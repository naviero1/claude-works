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1.jpg" ContentType="image/jpg"/>
  <Override PartName="/ppt/media/image-14-2.jpg" ContentType="image/jpg"/>
  <Override PartName="/ppt/media/image-14-3.jpg" ContentType="image/jpg"/>
  <Override PartName="/ppt/media/image-14-4.jpg" ContentType="image/jpg"/>
  <Override PartName="/ppt/media/image-29-2.jpg" ContentType="image/jpg"/>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6366e307a6824f7a" Type="http://schemas.openxmlformats.org/officeDocument/2006/relationships/extended-properties" Target="docProps/app.xml"/><Relationship Id="Rd4b2da102ee74711" Type="http://schemas.openxmlformats.org/package/2006/relationships/metadata/core-properties" Target="docProps/core.xml"/><Relationship Id="Rdbfa47da3ef442bc"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9" r:id="Rc8d585cd4e5649e6"/>
    <p:sldId xmlns:r="http://schemas.openxmlformats.org/officeDocument/2006/relationships" id="291" r:id="R72360af60b1244c5"/>
    <p:sldId xmlns:r="http://schemas.openxmlformats.org/officeDocument/2006/relationships" id="292" r:id="Rdb3d43f0242a4fac"/>
    <p:sldId xmlns:r="http://schemas.openxmlformats.org/officeDocument/2006/relationships" id="290" r:id="R93d4d1d0de584694"/>
    <p:sldId xmlns:r="http://schemas.openxmlformats.org/officeDocument/2006/relationships" id="294" r:id="Rc4414996e3934b5d"/>
    <p:sldId xmlns:r="http://schemas.openxmlformats.org/officeDocument/2006/relationships" id="295" r:id="R19fb9c5b0ac74759"/>
    <p:sldId xmlns:r="http://schemas.openxmlformats.org/officeDocument/2006/relationships" id="298" r:id="R774ece67fad84555"/>
    <p:sldId xmlns:r="http://schemas.openxmlformats.org/officeDocument/2006/relationships" id="296" r:id="R807c75ee14994fe2"/>
    <p:sldId xmlns:r="http://schemas.openxmlformats.org/officeDocument/2006/relationships" id="297" r:id="R186fa38805ad4cc8"/>
    <p:sldId xmlns:r="http://schemas.openxmlformats.org/officeDocument/2006/relationships" id="357" r:id="RnewSlide102"/>
    <p:sldId xmlns:r="http://schemas.openxmlformats.org/officeDocument/2006/relationships" id="358" r:id="RnewSlide103"/>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 xmlns:r="http://schemas.openxmlformats.org/officeDocument/2006/relationships" id="352" r:id="rId1"/>
    <p:sldId xmlns:r="http://schemas.openxmlformats.org/officeDocument/2006/relationships" id="353" r:id="rId2"/>
    <p:sldId xmlns:r="http://schemas.openxmlformats.org/officeDocument/2006/relationships" id="354" r:id="rId3"/>
    <p:sldId xmlns:r="http://schemas.openxmlformats.org/officeDocument/2006/relationships" id="355" r:id="rId4"/>
    <p:sldId xmlns:r="http://schemas.openxmlformats.org/officeDocument/2006/relationships" id="356" r:id="rId5"/>
    <p:sldId xmlns:r="http://schemas.openxmlformats.org/officeDocument/2006/relationships" id="288" r:id="R1fbfbc89ece44e43"/>
    <p:sldId xmlns:r="http://schemas.openxmlformats.org/officeDocument/2006/relationships" id="293" r:id="Rc671bf21a3eb43f1"/>
    <p:sldId xmlns:ns0="http://schemas.openxmlformats.org/officeDocument/2006/relationships" id="359" ns0:id="rId110"/>
    <p:sldId xmlns:ns0="http://schemas.openxmlformats.org/officeDocument/2006/relationships" id="360" ns0:id="rId111"/>
    <p:sldId xmlns:ns0="http://schemas.openxmlformats.org/officeDocument/2006/relationships" id="361" ns0:id="rId112"/>
    <p:sldId xmlns:ns0="http://schemas.openxmlformats.org/officeDocument/2006/relationships" id="362" ns0:id="rId113"/>
    <p:sldId xmlns:ns0="http://schemas.openxmlformats.org/officeDocument/2006/relationships" id="363" ns0:id="rId114"/>
    <p:sldId xmlns:ns0="http://schemas.openxmlformats.org/officeDocument/2006/relationships" id="364" ns0:id="rId115"/>
    <p:sldId xmlns:ns0="http://schemas.openxmlformats.org/officeDocument/2006/relationships" id="365" ns0:id="rId116"/>
    <p:sldId xmlns:ns0="http://schemas.openxmlformats.org/officeDocument/2006/relationships" id="366" ns0:id="rId1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136d999b07d4f0f" Type="http://schemas.openxmlformats.org/officeDocument/2006/relationships/slide" Target="slides/slide11.xml"/><Relationship Id="R02afab2e450c4195" Type="http://schemas.openxmlformats.org/officeDocument/2006/relationships/slide" Target="slides/slide78.xml"/><Relationship Id="R05855d706bc045fe" Type="http://schemas.openxmlformats.org/officeDocument/2006/relationships/slide" Target="slides/slide82.xml"/><Relationship Id="R069238ad314e4c27" Type="http://schemas.openxmlformats.org/officeDocument/2006/relationships/slide" Target="slides/slide20.xml"/><Relationship Id="R0ac1719f35204866" Type="http://schemas.openxmlformats.org/officeDocument/2006/relationships/slide" Target="slides/slide51.xml"/><Relationship Id="R0b89ffdaa91d419b" Type="http://schemas.openxmlformats.org/officeDocument/2006/relationships/notesMaster" Target="notesMasters/notesMaster1.xml"/><Relationship Id="R0c46244e8fb14028" Type="http://schemas.openxmlformats.org/officeDocument/2006/relationships/slide" Target="slides/slide18.xml"/><Relationship Id="R0c612231d0d14151" Type="http://schemas.openxmlformats.org/officeDocument/2006/relationships/slide" Target="slides/slide9.xml"/><Relationship Id="R0c8f4d29f8a04f60" Type="http://schemas.openxmlformats.org/officeDocument/2006/relationships/slide" Target="slides/slide58.xml"/><Relationship Id="R13501eca7a7549b6" Type="http://schemas.openxmlformats.org/officeDocument/2006/relationships/slide" Target="slides/slide4.xml"/><Relationship Id="R15145c6c7e234ba1" Type="http://schemas.openxmlformats.org/officeDocument/2006/relationships/slide" Target="slides/slide87.xml"/><Relationship Id="R186fa38805ad4cc8" Type="http://schemas.openxmlformats.org/officeDocument/2006/relationships/slide" Target="slides/slide41.xml"/><Relationship Id="R19fb9c5b0ac74759" Type="http://schemas.openxmlformats.org/officeDocument/2006/relationships/slide" Target="slides/slide38.xml"/><Relationship Id="R1d77e68a871f4474" Type="http://schemas.openxmlformats.org/officeDocument/2006/relationships/slide" Target="slides/slide91.xml"/><Relationship Id="R1e1b2aa1bb794464" Type="http://schemas.openxmlformats.org/officeDocument/2006/relationships/slide" Target="slides/slide49.xml"/><Relationship Id="R1fbfbc89ece44e43" Type="http://schemas.openxmlformats.org/officeDocument/2006/relationships/slide" Target="slides/slide102.xml"/><Relationship Id="R22c468c81ffa482e" Type="http://schemas.openxmlformats.org/officeDocument/2006/relationships/slide" Target="slides/slide62.xml"/><Relationship Id="R2b2e423f66a449ed" Type="http://schemas.openxmlformats.org/officeDocument/2006/relationships/slide" Target="slides/slide90.xml"/><Relationship Id="R2bcb4d96ecf8422d" Type="http://schemas.openxmlformats.org/officeDocument/2006/relationships/slide" Target="slides/slide55.xml"/><Relationship Id="R2de53fc756054224" Type="http://schemas.openxmlformats.org/officeDocument/2006/relationships/slide" Target="slides/slide45.xml"/><Relationship Id="R2e829fbd5b88413d" Type="http://schemas.openxmlformats.org/officeDocument/2006/relationships/slide" Target="slides/slide15.xml"/><Relationship Id="R2ea203b92871473d" Type="http://schemas.openxmlformats.org/officeDocument/2006/relationships/slide" Target="slides/slide5.xml"/><Relationship Id="R2f94eac98ebf4dcf" Type="http://schemas.openxmlformats.org/officeDocument/2006/relationships/slide" Target="slides/slide60.xml"/><Relationship Id="R33a496a507fc4955" Type="http://schemas.openxmlformats.org/officeDocument/2006/relationships/slide" Target="slides/slide8.xml"/><Relationship Id="R3b56dbb5e0334107" Type="http://schemas.openxmlformats.org/officeDocument/2006/relationships/slide" Target="slides/slide56.xml"/><Relationship Id="R3f248e2bf34e4ee7" Type="http://schemas.openxmlformats.org/officeDocument/2006/relationships/slide" Target="slides/slide29.xml"/><Relationship Id="R3fa5858789f04404" Type="http://schemas.openxmlformats.org/officeDocument/2006/relationships/slide" Target="slides/slide66.xml"/><Relationship Id="R3fff51fc7d614878" Type="http://schemas.openxmlformats.org/officeDocument/2006/relationships/slide" Target="slides/slide30.xml"/><Relationship Id="R40e1c79f179f4e8f" Type="http://schemas.openxmlformats.org/officeDocument/2006/relationships/slide" Target="slides/slide46.xml"/><Relationship Id="R42701428448d4235" Type="http://schemas.openxmlformats.org/officeDocument/2006/relationships/slide" Target="slides/slide32.xml"/><Relationship Id="R44780e2ebdb6403f" Type="http://schemas.openxmlformats.org/officeDocument/2006/relationships/slide" Target="slides/slide68.xml"/><Relationship Id="R458c038f106f42b3" Type="http://schemas.openxmlformats.org/officeDocument/2006/relationships/slide" Target="slides/slide22.xml"/><Relationship Id="R49126e58d84e4d17" Type="http://schemas.openxmlformats.org/officeDocument/2006/relationships/slide" Target="slides/slide2.xml"/><Relationship Id="R497eec08e90f4972" Type="http://schemas.openxmlformats.org/officeDocument/2006/relationships/slide" Target="slides/slide13.xml"/><Relationship Id="R49b805558b704520" Type="http://schemas.openxmlformats.org/officeDocument/2006/relationships/slide" Target="slides/slide95.xml"/><Relationship Id="R49c9e195f24045a4" Type="http://schemas.openxmlformats.org/officeDocument/2006/relationships/slide" Target="slides/slide10.xml"/><Relationship Id="R4c65dd02438d42f5" Type="http://schemas.openxmlformats.org/officeDocument/2006/relationships/slide" Target="slides/slide61.xml"/><Relationship Id="R4e11cd081d8c42cc" Type="http://schemas.openxmlformats.org/officeDocument/2006/relationships/slide" Target="slides/slide48.xml"/><Relationship Id="R5aa8b9bfd01543b2" Type="http://schemas.openxmlformats.org/officeDocument/2006/relationships/slideMaster" Target="slideMasters/slideMaster1.xml"/><Relationship Id="R5d1c473c62ac4960" Type="http://schemas.openxmlformats.org/officeDocument/2006/relationships/slide" Target="slides/slide86.xml"/><Relationship Id="R620ac1dbc6f14e53" Type="http://schemas.openxmlformats.org/officeDocument/2006/relationships/slide" Target="slides/slide71.xml"/><Relationship Id="R64d1fcab01954a83" Type="http://schemas.openxmlformats.org/officeDocument/2006/relationships/slide" Target="slides/slide83.xml"/><Relationship Id="R6ae5b62127bb4a3e" Type="http://schemas.openxmlformats.org/officeDocument/2006/relationships/slide" Target="slides/slide25.xml"/><Relationship Id="R6c515ce50f4e4f7f" Type="http://schemas.openxmlformats.org/officeDocument/2006/relationships/tableStyles" Target="tableStyles.xml"/><Relationship Id="R6f9e6b8c5b6d4ef6" Type="http://schemas.openxmlformats.org/officeDocument/2006/relationships/slide" Target="slides/slide73.xml"/><Relationship Id="R72360af60b1244c5" Type="http://schemas.openxmlformats.org/officeDocument/2006/relationships/slide" Target="slides/slide34.xml"/><Relationship Id="R72f4e34109924bff" Type="http://schemas.openxmlformats.org/officeDocument/2006/relationships/slide" Target="slides/slide94.xml"/><Relationship Id="R74a68a196bca4aa9" Type="http://schemas.openxmlformats.org/officeDocument/2006/relationships/slide" Target="slides/slide7.xml"/><Relationship Id="R7538f1ee4e264b12" Type="http://schemas.openxmlformats.org/officeDocument/2006/relationships/slide" Target="slides/slide53.xml"/><Relationship Id="R774ece67fad84555" Type="http://schemas.openxmlformats.org/officeDocument/2006/relationships/slide" Target="slides/slide39.xml"/><Relationship Id="R7ff20651f7f24b61" Type="http://schemas.openxmlformats.org/officeDocument/2006/relationships/slide" Target="slides/slide52.xml"/><Relationship Id="R807c75ee14994fe2" Type="http://schemas.openxmlformats.org/officeDocument/2006/relationships/slide" Target="slides/slide40.xml"/><Relationship Id="R80f7ed3959794549" Type="http://schemas.openxmlformats.org/officeDocument/2006/relationships/slide" Target="slides/slide93.xml"/><Relationship Id="R823c328ecb794c2b" Type="http://schemas.openxmlformats.org/officeDocument/2006/relationships/slide" Target="slides/slide76.xml"/><Relationship Id="R830a4c4d00184e7b" Type="http://schemas.openxmlformats.org/officeDocument/2006/relationships/viewProps" Target="viewProps.xml"/><Relationship Id="R87625dd8e0984c06" Type="http://schemas.openxmlformats.org/officeDocument/2006/relationships/slide" Target="slides/slide16.xml"/><Relationship Id="R88a5cc6292ea42b7" Type="http://schemas.openxmlformats.org/officeDocument/2006/relationships/slide" Target="slides/slide77.xml"/><Relationship Id="R8d8266f16f39499e" Type="http://schemas.openxmlformats.org/officeDocument/2006/relationships/slide" Target="slides/slide19.xml"/><Relationship Id="R8f44df3f995741be" Type="http://schemas.openxmlformats.org/officeDocument/2006/relationships/slide" Target="slides/slide12.xml"/><Relationship Id="R8f9157d733974967" Type="http://schemas.openxmlformats.org/officeDocument/2006/relationships/slide" Target="slides/slide79.xml"/><Relationship Id="R927cd8835efb4ab0" Type="http://schemas.openxmlformats.org/officeDocument/2006/relationships/slide" Target="slides/slide26.xml"/><Relationship Id="R93d4d1d0de584694" Type="http://schemas.openxmlformats.org/officeDocument/2006/relationships/slide" Target="slides/slide36.xml"/><Relationship Id="R99253aca67014940" Type="http://schemas.openxmlformats.org/officeDocument/2006/relationships/slide" Target="slides/slide96.xml"/><Relationship Id="Ra06c56ae3a56481f" Type="http://schemas.openxmlformats.org/officeDocument/2006/relationships/slide" Target="slides/slide50.xml"/><Relationship Id="Ra5ba5c8e347f44e1" Type="http://schemas.openxmlformats.org/officeDocument/2006/relationships/theme" Target="theme/theme1.xml"/><Relationship Id="Ra8c5ee05ff704923" Type="http://schemas.openxmlformats.org/officeDocument/2006/relationships/slide" Target="slides/slide1.xml"/><Relationship Id="Rab3fd1a7c8a84fb5" Type="http://schemas.openxmlformats.org/officeDocument/2006/relationships/slide" Target="slides/slide85.xml"/><Relationship Id="Rae84fa895e7748ca" Type="http://schemas.openxmlformats.org/officeDocument/2006/relationships/slide" Target="slides/slide31.xml"/><Relationship Id="Rb17885eb73d14520" Type="http://schemas.openxmlformats.org/officeDocument/2006/relationships/slide" Target="slides/slide88.xml"/><Relationship Id="Rbaa478a0935549e2" Type="http://schemas.openxmlformats.org/officeDocument/2006/relationships/slide" Target="slides/slide70.xml"/><Relationship Id="Rbb8266a8051248ab" Type="http://schemas.openxmlformats.org/officeDocument/2006/relationships/slide" Target="slides/slide67.xml"/><Relationship Id="Rc19ca91603b2489c" Type="http://schemas.openxmlformats.org/officeDocument/2006/relationships/slide" Target="slides/slide72.xml"/><Relationship Id="Rc1ab04196d404aed" Type="http://schemas.openxmlformats.org/officeDocument/2006/relationships/slide" Target="slides/slide28.xml"/><Relationship Id="Rc347af9a1dea4fa3" Type="http://schemas.openxmlformats.org/officeDocument/2006/relationships/slide" Target="slides/slide92.xml"/><Relationship Id="Rc38ef0b539dc41dd" Type="http://schemas.openxmlformats.org/officeDocument/2006/relationships/slide" Target="slides/slide75.xml"/><Relationship Id="Rc4414996e3934b5d" Type="http://schemas.openxmlformats.org/officeDocument/2006/relationships/slide" Target="slides/slide37.xml"/><Relationship Id="Rc5e85b598ee44992" Type="http://schemas.openxmlformats.org/officeDocument/2006/relationships/slide" Target="slides/slide63.xml"/><Relationship Id="Rc671bf21a3eb43f1" Type="http://schemas.openxmlformats.org/officeDocument/2006/relationships/slide" Target="slides/slide103.xml"/><Relationship Id="Rc75194e0feac4b09" Type="http://schemas.openxmlformats.org/officeDocument/2006/relationships/slide" Target="slides/slide6.xml"/><Relationship Id="Rc8d585cd4e5649e6" Type="http://schemas.openxmlformats.org/officeDocument/2006/relationships/slide" Target="slides/slide33.xml"/><Relationship Id="Rca6780869fc647e3" Type="http://schemas.openxmlformats.org/officeDocument/2006/relationships/slide" Target="slides/slide69.xml"/><Relationship Id="Rd125716ce4294b9c" Type="http://schemas.openxmlformats.org/officeDocument/2006/relationships/slide" Target="slides/slide59.xml"/><Relationship Id="Rd36e565f71ed490d" Type="http://schemas.openxmlformats.org/officeDocument/2006/relationships/presProps" Target="presProps.xml"/><Relationship Id="Rd9664eb4c866478d" Type="http://schemas.openxmlformats.org/officeDocument/2006/relationships/slide" Target="slides/slide89.xml"/><Relationship Id="Rdb3d43f0242a4fac" Type="http://schemas.openxmlformats.org/officeDocument/2006/relationships/slide" Target="slides/slide35.xml"/><Relationship Id="Rdbc23a86f4564870" Type="http://schemas.openxmlformats.org/officeDocument/2006/relationships/slide" Target="slides/slide14.xml"/><Relationship Id="Re16d95a845d14216" Type="http://schemas.openxmlformats.org/officeDocument/2006/relationships/slide" Target="slides/slide24.xml"/><Relationship Id="Re228b723b77d4a79" Type="http://schemas.openxmlformats.org/officeDocument/2006/relationships/slide" Target="slides/slide84.xml"/><Relationship Id="Re2e4afc3a8524f5b" Type="http://schemas.openxmlformats.org/officeDocument/2006/relationships/slide" Target="slides/slide74.xml"/><Relationship Id="Re62d8fa47a29432d" Type="http://schemas.openxmlformats.org/officeDocument/2006/relationships/slide" Target="slides/slide57.xml"/><Relationship Id="Re7739ca524004a50" Type="http://schemas.openxmlformats.org/officeDocument/2006/relationships/slide" Target="slides/slide17.xml"/><Relationship Id="Reb419e1bc7894222" Type="http://schemas.openxmlformats.org/officeDocument/2006/relationships/slide" Target="slides/slide80.xml"/><Relationship Id="Rf04d4de72cd24ec1" Type="http://schemas.openxmlformats.org/officeDocument/2006/relationships/slide" Target="slides/slide54.xml"/><Relationship Id="Rf1f0b08a68ab460c" Type="http://schemas.openxmlformats.org/officeDocument/2006/relationships/slide" Target="slides/slide3.xml"/><Relationship Id="Rf3e1268529fb4912" Type="http://schemas.openxmlformats.org/officeDocument/2006/relationships/slide" Target="slides/slide65.xml"/><Relationship Id="Rf55a94a8bf554d05" Type="http://schemas.openxmlformats.org/officeDocument/2006/relationships/slide" Target="slides/slide21.xml"/><Relationship Id="Rf617b4374eff49ab" Type="http://schemas.openxmlformats.org/officeDocument/2006/relationships/slide" Target="slides/slide27.xml"/><Relationship Id="Rf624d4e59fd34102" Type="http://schemas.openxmlformats.org/officeDocument/2006/relationships/slide" Target="slides/slide64.xml"/><Relationship Id="Rf67660129de8488f" Type="http://schemas.openxmlformats.org/officeDocument/2006/relationships/slide" Target="slides/slide47.xml"/><Relationship Id="Rf83dd77c14194f0b" Type="http://schemas.openxmlformats.org/officeDocument/2006/relationships/slide" Target="slides/slide44.xml"/><Relationship Id="Rf8ebba3d3d364e8e" Type="http://schemas.openxmlformats.org/officeDocument/2006/relationships/slide" Target="slides/slide81.xml"/><Relationship Id="Rfa30b3a8386f4027" Type="http://schemas.openxmlformats.org/officeDocument/2006/relationships/slide" Target="slides/slide23.xml"/><Relationship Id="RnewSlide102" Type="http://schemas.openxmlformats.org/officeDocument/2006/relationships/slide" Target="slides/slide42.xml"/><Relationship Id="RnewSlide103" Type="http://schemas.openxmlformats.org/officeDocument/2006/relationships/slide" Target="slides/slide43.xml"/><Relationship Id="rId1" Type="http://schemas.openxmlformats.org/officeDocument/2006/relationships/slide" Target="slides/slide97.xml"/><Relationship Id="rId2" Type="http://schemas.openxmlformats.org/officeDocument/2006/relationships/slide" Target="slides/slide98.xml"/><Relationship Id="rId3" Type="http://schemas.openxmlformats.org/officeDocument/2006/relationships/slide" Target="slides/slide99.xml"/><Relationship Id="rId4" Type="http://schemas.openxmlformats.org/officeDocument/2006/relationships/slide" Target="slides/slide100.xml"/><Relationship Id="rId5" Type="http://schemas.openxmlformats.org/officeDocument/2006/relationships/slide" Target="slides/slide101.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s>
</file>

<file path=ppt/notesMasters/_rels/notesMaster1.xml.rels><?xml version='1.0' encoding='UTF-8' standalone='yes'?>
<Relationships xmlns="http://schemas.openxmlformats.org/package/2006/relationships"><Relationship Id="R4e00250c248743a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960b5fa490454b7d" Type="http://schemas.openxmlformats.org/officeDocument/2006/relationships/slide" Target="../slides/slide1.xml"/><Relationship Id="Rd679826aad364a98"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61ad9b2be724522" Type="http://schemas.openxmlformats.org/officeDocument/2006/relationships/notesMaster" Target="../notesMasters/notesMaster1.xml"/><Relationship Id="R5356ddcddac3405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b48ce55e9744d8a" Type="http://schemas.openxmlformats.org/officeDocument/2006/relationships/notesMaster" Target="../notesMasters/notesMaster1.xml"/><Relationship Id="Ra28ffad69d1c4b4f"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0a892dac0557475b" Type="http://schemas.openxmlformats.org/officeDocument/2006/relationships/slide" Target="../slides/slide4.xml"/><Relationship Id="Re99e6977265b477b"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0da0268d4b154702" Type="http://schemas.openxmlformats.org/officeDocument/2006/relationships/notesMaster" Target="../notesMasters/notesMaster1.xml"/><Relationship Id="R7b5c05a2598f45f4"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a2de729047bf4070" Type="http://schemas.openxmlformats.org/officeDocument/2006/relationships/slide" Target="../slides/slide6.xml"/><Relationship Id="Rc1ef21a86bbb42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97838093a77544bf" Type="http://schemas.openxmlformats.org/officeDocument/2006/relationships/slide" Target="../slides/slide7.xml"/><Relationship Id="Red75b2521cb84506"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88c66eafec894e8a" Type="http://schemas.openxmlformats.org/officeDocument/2006/relationships/slide" Target="../slides/slide8.xml"/><Relationship Id="Ra866f93e1978478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79d8dae94094410d" Type="http://schemas.openxmlformats.org/officeDocument/2006/relationships/slide" Target="../slides/slide9.xml"/><Relationship Id="Rf75973ba8b514f0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b130205f9c404e5a" Type="http://schemas.openxmlformats.org/officeDocument/2006/relationships/notesMaster" Target="../notesMasters/notesMaster1.xml"/><Relationship Id="Rf9a908235dc8455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9c954a5ef9df447f" Type="http://schemas.openxmlformats.org/officeDocument/2006/relationships/slide" Target="../slides/slide11.xml"/><Relationship Id="R9dbb86cc415f478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134ae6e1a5484784" Type="http://schemas.openxmlformats.org/officeDocument/2006/relationships/slide" Target="../slides/slide12.xml"/><Relationship Id="R2635673221b54893"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d1f921db00724cb3" Type="http://schemas.openxmlformats.org/officeDocument/2006/relationships/slide" Target="../slides/slide13.xml"/><Relationship Id="Rf967b19574264e6d"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2faecdea6cac42ea" Type="http://schemas.openxmlformats.org/officeDocument/2006/relationships/notesMaster" Target="../notesMasters/notesMaster1.xml"/><Relationship Id="Rd2d67063ef6545e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2d34aa0b8fa4072" Type="http://schemas.openxmlformats.org/officeDocument/2006/relationships/slide" Target="../slides/slide15.xml"/><Relationship Id="R32c7b6642a40435c"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a9450be0f664a8e" Type="http://schemas.openxmlformats.org/officeDocument/2006/relationships/slide" Target="../slides/slide16.xml"/><Relationship Id="Rcd627e3788d74f24"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70b58f326a5946ab" Type="http://schemas.openxmlformats.org/officeDocument/2006/relationships/slide" Target="../slides/slide17.xml"/><Relationship Id="Re90050808e5f409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486b4804b0e4a91" Type="http://schemas.openxmlformats.org/officeDocument/2006/relationships/notesMaster" Target="../notesMasters/notesMaster1.xml"/><Relationship Id="Rea044946eb18482b"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3c9b903af69249df" Type="http://schemas.openxmlformats.org/officeDocument/2006/relationships/notesMaster" Target="../notesMasters/notesMaster1.xml"/><Relationship Id="R48783338d77c483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2d25fe1839434548" Type="http://schemas.openxmlformats.org/officeDocument/2006/relationships/notesMaster" Target="../notesMasters/notesMaster1.xml"/><Relationship Id="Rcd80406c52eb4549"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c03c8dad7df4731" Type="http://schemas.openxmlformats.org/officeDocument/2006/relationships/slide" Target="../slides/slide21.xml"/><Relationship Id="Reaa86c70516447ec"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07632645ace43b6" Type="http://schemas.openxmlformats.org/officeDocument/2006/relationships/notesMaster" Target="../notesMasters/notesMaster1.xml"/><Relationship Id="Rb6f5dbd166bb4b5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1462165cd6674388" Type="http://schemas.openxmlformats.org/officeDocument/2006/relationships/slide" Target="../slides/slide23.xml"/><Relationship Id="Rd82e0c57ee5f4aa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f16cefe1dc0d4360" Type="http://schemas.openxmlformats.org/officeDocument/2006/relationships/slide" Target="../slides/slide24.xml"/><Relationship Id="Rfb08a30fe7e640c6"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cdecfe3591154ceb" Type="http://schemas.openxmlformats.org/officeDocument/2006/relationships/notesMaster" Target="../notesMasters/notesMaster1.xml"/><Relationship Id="Re4120e24c7d84480"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7d793c0af7a84d70" Type="http://schemas.openxmlformats.org/officeDocument/2006/relationships/slide" Target="../slides/slide26.xml"/><Relationship Id="Rdf1c0ded2b0045f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c3e2392c96834965" Type="http://schemas.openxmlformats.org/officeDocument/2006/relationships/slide" Target="../slides/slide27.xml"/><Relationship Id="Rdaae0d90c0ea472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79ec7cdcdfac4cae" Type="http://schemas.openxmlformats.org/officeDocument/2006/relationships/notesMaster" Target="../notesMasters/notesMaster1.xml"/><Relationship Id="R79f50d7c965140c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540f4069a0ba4846" Type="http://schemas.openxmlformats.org/officeDocument/2006/relationships/notesMaster" Target="../notesMasters/notesMaster1.xml"/><Relationship Id="Rd53394353af14da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5c2f65de9e2f4cd4" Type="http://schemas.openxmlformats.org/officeDocument/2006/relationships/slide" Target="../slides/slide30.xml"/><Relationship Id="R6cdd93de03af4b26"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0e1945845837492c" Type="http://schemas.openxmlformats.org/officeDocument/2006/relationships/notesMaster" Target="../notesMasters/notesMaster1.xml"/><Relationship Id="R143a6ffc0b12435e"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6a4ad5943e2f42b2" Type="http://schemas.openxmlformats.org/officeDocument/2006/relationships/notesMaster" Target="../notesMasters/notesMaster1.xml"/><Relationship Id="R6bab416a1cc94fee"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3b4d700b8beb4e47" Type="http://schemas.openxmlformats.org/officeDocument/2006/relationships/notesMaster" Target="../notesMasters/notesMaster1.xml"/><Relationship Id="R634a0317259b4bc3" Type="http://schemas.openxmlformats.org/officeDocument/2006/relationships/slide" Target="../slides/slide102.xml"/></Relationships>
</file>

<file path=ppt/notesSlides/_rels/notesSlide34.xml.rels><?xml version='1.0' encoding='UTF-8' standalone='yes'?>
<Relationships xmlns="http://schemas.openxmlformats.org/package/2006/relationships"><Relationship Id="R3893bf7c252d41ca" Type="http://schemas.openxmlformats.org/officeDocument/2006/relationships/slide" Target="../slides/slide33.xml"/><Relationship Id="Raa053ceb8e264c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47b3a47286e34fcd" Type="http://schemas.openxmlformats.org/officeDocument/2006/relationships/slide" Target="../slides/slide36.xml"/><Relationship Id="Rb42cae1f2f3c42a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34.xml"/></Relationships>
</file>

<file path=ppt/notesSlides/_rels/notesSlide37.xml.rels><?xml version='1.0' encoding='UTF-8' standalone='yes'?>
<Relationships xmlns="http://schemas.openxmlformats.org/package/2006/relationships"><Relationship Id="R75ec955a610b4948" Type="http://schemas.openxmlformats.org/officeDocument/2006/relationships/notesMaster" Target="../notesMasters/notesMaster1.xml"/><Relationship Id="Rc70c5dd836804bde" Type="http://schemas.openxmlformats.org/officeDocument/2006/relationships/slide" Target="../slides/slide35.xml"/></Relationships>
</file>

<file path=ppt/notesSlides/_rels/notesSlide38.xml.rels><?xml version='1.0' encoding='UTF-8' standalone='yes'?>
<Relationships xmlns="http://schemas.openxmlformats.org/package/2006/relationships"><Relationship Id="R17837b23f89749ad" Type="http://schemas.openxmlformats.org/officeDocument/2006/relationships/notesMaster" Target="../notesMasters/notesMaster1.xml"/><Relationship Id="R8e1fe31f07174a6c" Type="http://schemas.openxmlformats.org/officeDocument/2006/relationships/slide" Target="../slides/slide103.xml"/></Relationships>
</file>

<file path=ppt/notesSlides/_rels/notesSlide39.xml.rels><?xml version='1.0' encoding='UTF-8' standalone='yes'?>
<Relationships xmlns="http://schemas.openxmlformats.org/package/2006/relationships"><Relationship Id="R3bc4e24c2a694832" Type="http://schemas.openxmlformats.org/officeDocument/2006/relationships/notesMaster" Target="../notesMasters/notesMaster1.xml"/><Relationship Id="Rf3125abe87314f1e" Type="http://schemas.openxmlformats.org/officeDocument/2006/relationships/slide" Target="../slides/slide37.xml"/></Relationships>
</file>

<file path=ppt/notesSlides/_rels/notesSlide40.xml.rels><?xml version='1.0' encoding='UTF-8' standalone='yes'?>
<Relationships xmlns="http://schemas.openxmlformats.org/package/2006/relationships"><Relationship Id="R78e41b06bc9b4b39" Type="http://schemas.openxmlformats.org/officeDocument/2006/relationships/notesMaster" Target="../notesMasters/notesMaster1.xml"/><Relationship Id="R7f66c3f113cc4d69"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7065282a64534a76" Type="http://schemas.openxmlformats.org/officeDocument/2006/relationships/notesMaster" Target="../notesMasters/notesMaster1.xml"/><Relationship Id="Ra130d57a331e4a79"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57eb3d6198404972" Type="http://schemas.openxmlformats.org/officeDocument/2006/relationships/slide" Target="../slides/slide41.xml"/><Relationship Id="R81b89b9a420248bf"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5066720ee89f4156" Type="http://schemas.openxmlformats.org/officeDocument/2006/relationships/notesMaster" Target="../notesMasters/notesMaster1.xml"/><Relationship Id="Raeffc3cd1198477e"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28ba7cdbc84e4bb4" Type="http://schemas.openxmlformats.org/officeDocument/2006/relationships/slide" Target="../slides/slide44.xml"/><Relationship Id="Rec9d8f86175f4f13"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5a4b0aa076d4c5d" Type="http://schemas.openxmlformats.org/officeDocument/2006/relationships/slide" Target="../slides/slide45.xml"/><Relationship Id="Rfe7cc245d03d4a43"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5a9d0660cd394a85" Type="http://schemas.openxmlformats.org/officeDocument/2006/relationships/slide" Target="../slides/slide46.xml"/><Relationship Id="Rda07e545f6584826"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1bbadd49319242da" Type="http://schemas.openxmlformats.org/officeDocument/2006/relationships/slide" Target="../slides/slide47.xml"/><Relationship Id="R379078e5983b4783"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dcb74d2549854410" Type="http://schemas.openxmlformats.org/officeDocument/2006/relationships/slide" Target="../slides/slide48.xml"/><Relationship Id="Rffdb9a657651404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1d9fef895e8b4d27" Type="http://schemas.openxmlformats.org/officeDocument/2006/relationships/slide" Target="../slides/slide49.xml"/><Relationship Id="R3efb796162c4488d"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f5f9c5a1e544e27" Type="http://schemas.openxmlformats.org/officeDocument/2006/relationships/slide" Target="../slides/slide50.xml"/><Relationship Id="Rd9881690890942ca"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7f364d1e40ab4749" Type="http://schemas.openxmlformats.org/officeDocument/2006/relationships/slide" Target="../slides/slide51.xml"/><Relationship Id="Rbae77249e91d4f80"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226856ff92584cae" Type="http://schemas.openxmlformats.org/officeDocument/2006/relationships/slide" Target="../slides/slide52.xml"/><Relationship Id="Rfadae8c2dda34b1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aa95e89698a64d44" Type="http://schemas.openxmlformats.org/officeDocument/2006/relationships/notesMaster" Target="../notesMasters/notesMaster1.xml"/><Relationship Id="Rc30d8c5a04844b5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0e3dfd119fcf4e70" Type="http://schemas.openxmlformats.org/officeDocument/2006/relationships/notesMaster" Target="../notesMasters/notesMaster1.xml"/><Relationship Id="R7030ba157fe5453c"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0408958da2814e90" Type="http://schemas.openxmlformats.org/officeDocument/2006/relationships/slide" Target="../slides/slide55.xml"/><Relationship Id="R0e2f01910adf4845"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d2df539136f64b57" Type="http://schemas.openxmlformats.org/officeDocument/2006/relationships/slide" Target="../slides/slide56.xml"/><Relationship Id="Rd5303681d7274a0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1425b38afc734677" Type="http://schemas.openxmlformats.org/officeDocument/2006/relationships/slide" Target="../slides/slide57.xml"/><Relationship Id="R15feff566cfe472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6eee810cf504c84" Type="http://schemas.openxmlformats.org/officeDocument/2006/relationships/notesMaster" Target="../notesMasters/notesMaster1.xml"/><Relationship Id="Re8549e58a1184425"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3556dacb75494c5b" Type="http://schemas.openxmlformats.org/officeDocument/2006/relationships/notesMaster" Target="../notesMasters/notesMaster1.xml"/><Relationship Id="R62e726fc26254657"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23b39a35086473f" Type="http://schemas.openxmlformats.org/officeDocument/2006/relationships/notesMaster" Target="../notesMasters/notesMaster1.xml"/><Relationship Id="Rc88b43f0ac3c44b6"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341a4c611c97447f" Type="http://schemas.openxmlformats.org/officeDocument/2006/relationships/slide" Target="../slides/slide61.xml"/><Relationship Id="R3b4fd3040fbe4dc4"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41119912ec7444b9" Type="http://schemas.openxmlformats.org/officeDocument/2006/relationships/notesMaster" Target="../notesMasters/notesMaster1.xml"/><Relationship Id="R6d9eb20126d044d9"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48045f6817614114" Type="http://schemas.openxmlformats.org/officeDocument/2006/relationships/notesMaster" Target="../notesMasters/notesMaster1.xml"/><Relationship Id="R5d2b399195a542ac"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e0c2da2a5dae4712" Type="http://schemas.openxmlformats.org/officeDocument/2006/relationships/notesMaster" Target="../notesMasters/notesMaster1.xml"/><Relationship Id="Re6ea97754b6d471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26ffcbf8538d46c6" Type="http://schemas.openxmlformats.org/officeDocument/2006/relationships/notesMaster" Target="../notesMasters/notesMaster1.xml"/><Relationship Id="Rb76bc7a36de54975"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84bca24b764e4c08" Type="http://schemas.openxmlformats.org/officeDocument/2006/relationships/notesMaster" Target="../notesMasters/notesMaster1.xml"/><Relationship Id="Re07519297a894eef"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a3f53e2680cc4518" Type="http://schemas.openxmlformats.org/officeDocument/2006/relationships/slide" Target="../slides/slide67.xml"/><Relationship Id="Rce8a5eb13ea94ae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3be4025c3c844c58" Type="http://schemas.openxmlformats.org/officeDocument/2006/relationships/notesMaster" Target="../notesMasters/notesMaster1.xml"/><Relationship Id="R955e610a773744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aaaddcbb3bf74a60" Type="http://schemas.openxmlformats.org/officeDocument/2006/relationships/slide" Target="../slides/slide69.xml"/><Relationship Id="Rdf01863948bf4b00"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3990352cd4eb44ea" Type="http://schemas.openxmlformats.org/officeDocument/2006/relationships/notesMaster" Target="../notesMasters/notesMaster1.xml"/><Relationship Id="R842f1df2135e4b39"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95d0500d1c2b4560" Type="http://schemas.openxmlformats.org/officeDocument/2006/relationships/slide" Target="../slides/slide71.xml"/><Relationship Id="Re9feee861317498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37f5c84111504e29" Type="http://schemas.openxmlformats.org/officeDocument/2006/relationships/notesMaster" Target="../notesMasters/notesMaster1.xml"/><Relationship Id="R543ab6481b43406e"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31bcd0be87bf42e2" Type="http://schemas.openxmlformats.org/officeDocument/2006/relationships/slide" Target="../slides/slide73.xml"/><Relationship Id="R5460456f55d24a10"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5cc5b5880f5c4fa8" Type="http://schemas.openxmlformats.org/officeDocument/2006/relationships/slide" Target="../slides/slide74.xml"/><Relationship Id="R61a7da78861041f6"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d870b0e5077a461e" Type="http://schemas.openxmlformats.org/officeDocument/2006/relationships/notesMaster" Target="../notesMasters/notesMaster1.xml"/><Relationship Id="Rdb9be715d23744a8"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a587b0797514258" Type="http://schemas.openxmlformats.org/officeDocument/2006/relationships/slide" Target="../slides/slide76.xml"/><Relationship Id="R6ed73bc869b44b63"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22b434fe07504cec" Type="http://schemas.openxmlformats.org/officeDocument/2006/relationships/notesMaster" Target="../notesMasters/notesMaster1.xml"/><Relationship Id="R98493015326046d0"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93156ff11add4c5d" Type="http://schemas.openxmlformats.org/officeDocument/2006/relationships/notesMaster" Target="../notesMasters/notesMaster1.xml"/><Relationship Id="Reda87b7cd15f4249"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41d386a2727c4cf1" Type="http://schemas.openxmlformats.org/officeDocument/2006/relationships/notesMaster" Target="../notesMasters/notesMaster1.xml"/><Relationship Id="R85fd7e194ac645f6"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1d140de2f60b4bc4" Type="http://schemas.openxmlformats.org/officeDocument/2006/relationships/notesMaster" Target="../notesMasters/notesMaster1.xml"/><Relationship Id="R7ed8e6633e774c7b"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60835b0d38c44070" Type="http://schemas.openxmlformats.org/officeDocument/2006/relationships/slide" Target="../slides/slide81.xml"/><Relationship Id="Ra3d294d5209d4237"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85aff9e9916c4feb" Type="http://schemas.openxmlformats.org/officeDocument/2006/relationships/slide" Target="../slides/slide82.xml"/><Relationship Id="Rb769aa50ff9f47d9"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1b311ee1c79940b9" Type="http://schemas.openxmlformats.org/officeDocument/2006/relationships/notesMaster" Target="../notesMasters/notesMaster1.xml"/><Relationship Id="Rfdce324a261f47ad"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0d045b1a04174820" Type="http://schemas.openxmlformats.org/officeDocument/2006/relationships/notesMaster" Target="../notesMasters/notesMaster1.xml"/><Relationship Id="Re22a64ef78a9467a"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48e9eedda5c64669" Type="http://schemas.openxmlformats.org/officeDocument/2006/relationships/notesMaster" Target="../notesMasters/notesMaster1.xml"/><Relationship Id="R69af459ce66d4900"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046da6c5bb404fd3" Type="http://schemas.openxmlformats.org/officeDocument/2006/relationships/notesMaster" Target="../notesMasters/notesMaster1.xml"/><Relationship Id="R9f844ebfd68345c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8423af190cdc47d6" Type="http://schemas.openxmlformats.org/officeDocument/2006/relationships/slide" Target="../slides/slide87.xml"/><Relationship Id="Rc49b3bfb38d94b37"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ba2245fddd6c4243" Type="http://schemas.openxmlformats.org/officeDocument/2006/relationships/slide" Target="../slides/slide88.xml"/><Relationship Id="Recfaa7a0af3540f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ca127c0af9bc4c5a" Type="http://schemas.openxmlformats.org/officeDocument/2006/relationships/notesMaster" Target="../notesMasters/notesMaster1.xml"/><Relationship Id="Rff893e5cc1eb4e2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400a4641e5c249b1" Type="http://schemas.openxmlformats.org/officeDocument/2006/relationships/slide" Target="../slides/slide90.xml"/><Relationship Id="Rf346d268952047fd"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28d57c2e4e0c4586" Type="http://schemas.openxmlformats.org/officeDocument/2006/relationships/slide" Target="../slides/slide91.xml"/><Relationship Id="R5101b85210fa4114"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a6ee436d4f9d4479" Type="http://schemas.openxmlformats.org/officeDocument/2006/relationships/slide" Target="../slides/slide92.xml"/><Relationship Id="Rb884bcdebf4241fa"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1949b961f84b4902" Type="http://schemas.openxmlformats.org/officeDocument/2006/relationships/slide" Target="../slides/slide93.xml"/><Relationship Id="R5ee388ec7f644174"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3ab38c8e73b645ae" Type="http://schemas.openxmlformats.org/officeDocument/2006/relationships/notesMaster" Target="../notesMasters/notesMaster1.xml"/><Relationship Id="R8a9f20689b8b4845"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d5e0fce6f5c04cfa" Type="http://schemas.openxmlformats.org/officeDocument/2006/relationships/notesMaster" Target="../notesMasters/notesMaster1.xml"/><Relationship Id="Rec5e0f5b1b50457f"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7f176c4207454ca8" Type="http://schemas.openxmlformats.org/officeDocument/2006/relationships/slide" Target="../slides/slide96.xml"/><Relationship Id="Rcab20e5eaea248fd"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2.xml"/></Relationships>
</file>

<file path=ppt/notesSlides/_rels/notesSlide103.xml.rels><?xml version='1.0' encoding='UTF-8' standalone='yes'?>
<Relationships xmlns="http://schemas.openxmlformats.org/package/2006/relationships"><Relationship Id="Raab9802c46044a46" Type="http://schemas.openxmlformats.org/officeDocument/2006/relationships/notesMaster" Target="../notesMasters/notesMaster1.xml"/><Relationship Id="Rab91c0b0bb4e4e93" Type="http://schemas.openxmlformats.org/officeDocument/2006/relationships/slide" Target="../slides/slide43.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Participants will learn one repeatable way to ask, check, and delegate.</a:t>
            </a:r>
          </a:p>
          <a:p xmlns:a="http://schemas.openxmlformats.org/drawingml/2006/main"/>
          <a:p xmlns:a="http://schemas.openxmlformats.org/drawingml/2006/main">
            <a:r>
              <a:t>SAY:</a:t>
            </a:r>
          </a:p>
          <a:p xmlns:a="http://schemas.openxmlformats.org/drawingml/2006/main">
            <a:r>
              <a:t>- Explain the 60-minute live path and the reference layer participants keep.</a:t>
            </a:r>
          </a:p>
          <a:p xmlns:a="http://schemas.openxmlformats.org/drawingml/2006/main">
            <a:r>
              <a:t>- Name the output: a checked prompt for a task they actually do.</a:t>
            </a:r>
          </a:p>
          <a:p xmlns:a="http://schemas.openxmlformats.org/drawingml/2006/main">
            <a:r>
              <a:t>- Preview ASK and DELEGATE without teaching the full distinction yet.</a:t>
            </a:r>
          </a:p>
          <a:p xmlns:a="http://schemas.openxmlformats.org/drawingml/2006/main"/>
          <a:p xmlns:a="http://schemas.openxmlformats.org/drawingml/2006/main">
            <a:r>
              <a:t>DO: Ask for a show of hands: who already uses an assistant for work? Keep this within the one-minute welcome.</a:t>
            </a:r>
          </a:p>
          <a:p xmlns:a="http://schemas.openxmlformats.org/drawingml/2006/main"/>
          <a:p xmlns:a="http://schemas.openxmlformats.org/drawingml/2006/main">
            <a:r>
              <a:t>BRIDGE: Move to “Part 1: foundations”.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WELCOME</a:t>
            </a:r>
          </a:p>
          <a:p xmlns:a="http://schemas.openxmlformats.org/drawingml/2006/main">
            <a:r>
              <a:t>2</a:t>
            </a:r>
          </a:p>
          <a:p xmlns:a="http://schemas.openxmlformats.org/drawingml/2006/main">
            <a:r>
              <a:t>WELCOME</a:t>
            </a:r>
          </a:p>
          <a:p xmlns:a="http://schemas.openxmlformats.org/drawingml/2006/main">
            <a:r>
              <a:t>Ask, or delegate — prompting does both</a:t>
            </a:r>
          </a:p>
          <a:p xmlns:a="http://schemas.openxmlformats.org/drawingml/2006/main">
            <a:r>
              <a:t>Prompting is the one AI skill that transfers everywhere: every assistant, every vendor, every year. Models change monthly; the craft compounds.</a:t>
            </a:r>
          </a:p>
          <a:p xmlns:a="http://schemas.openxmlformats.org/drawingml/2006/main">
            <a:r>
              <a:t>The same skill has two modes. Generative: you ask, it writes, you act. Agentic: you brief it, it plans, uses tools, checks itself, and delivers.</a:t>
            </a:r>
          </a:p>
          <a:p xmlns:a="http://schemas.openxmlformats.org/drawingml/2006/main">
            <a:r>
              <a:t>Each mode needs a different kind of prompt — that distinction is the backbone of this training.</a:t>
            </a:r>
          </a:p>
          <a:p xmlns:a="http://schemas.openxmlformats.org/drawingml/2006/main">
            <a:r>
              <a:t>The 10-second version: </a:t>
            </a:r>
          </a:p>
          <a:p xmlns:a="http://schemas.openxmlformats.org/drawingml/2006/main">
            <a:r>
              <a:t>a generative prompt describes what to write.</a:t>
            </a:r>
          </a:p>
          <a:p xmlns:a="http://schemas.openxmlformats.org/drawingml/2006/main">
            <a:r>
              <a:t>An agentic prompt describes a job to run — Part 5 teaches that mode properly.</a:t>
            </a:r>
          </a:p>
          <a:p xmlns:a="http://schemas.openxmlformats.org/drawingml/2006/main">
            <a:r>
              <a:t>PROMPT 1/7</a:t>
            </a:r>
          </a:p>
          <a:p xmlns:a="http://schemas.openxmlformats.org/drawingml/2006/main">
            <a:r>
              <a:t>Two modes, felt — opens your course log</a:t>
            </a:r>
          </a:p>
          <a:p xmlns:a="http://schemas.openxmlformats.org/drawingml/2006/main">
            <a:r>
              <a:t>STEP 1 · TYPE THIS → “This chat is my course log for a prompting course. Remember every prompt I run — at the end I’ll ask for a report.”</a:t>
            </a:r>
          </a:p>
          <a:p xmlns:a="http://schemas.openxmlformats.org/drawingml/2006/main">
            <a:r>
              <a:t>WHY → the log becomes the final exercise.</a:t>
            </a:r>
          </a:p>
          <a:p xmlns:a="http://schemas.openxmlformats.org/drawingml/2006/main">
            <a:r>
              <a:t>STEP 2 · TYPE THIS → “First job: write a farewell card for a coworker.”</a:t>
            </a:r>
          </a:p>
          <a:p xmlns:a="http://schemas.openxmlformats.org/drawingml/2006/main">
            <a:r>
              <a:t>WHY → generative mode — instant, guessing every unknown.</a:t>
            </a:r>
          </a:p>
          <a:p xmlns:a="http://schemas.openxmlformats.org/drawingml/2006/main">
            <a:r>
              <a:t>STEP 3 · TYPE THIS → “Now don’t write it — interview me first, then wait.”</a:t>
            </a:r>
          </a:p>
          <a:p xmlns:a="http://schemas.openxmlformats.org/drawingml/2006/main">
            <a:r>
              <a:t>WHY → delegate mode’s seed — the questions come to YOU.</a:t>
            </a:r>
          </a:p>
          <a:p xmlns:a="http://schemas.openxmlformats.org/drawingml/2006/main">
            <a:r>
              <a:t>✂ copy-paste, don’t retype: tab EX1-TwoModes of your Course Workbook</a:t>
            </a:r>
          </a:p>
          <a:p xmlns:a="http://schemas.openxmlformats.org/drawingml/2006/main">
            <a:r>
              <a:t>The map — three blocks, six parts</a:t>
            </a:r>
          </a:p>
          <a:p xmlns:a="http://schemas.openxmlformats.org/drawingml/2006/main">
            <a:r>
              <a:t>BLOCK 1 · FOUNDATIONS</a:t>
            </a:r>
          </a:p>
          <a:p xmlns:a="http://schemas.openxmlformats.org/drawingml/2006/main">
            <a:r>
              <a:t>1 · The primer — how this actually works</a:t>
            </a:r>
          </a:p>
          <a:p xmlns:a="http://schemas.openxmlformats.org/drawingml/2006/main">
            <a:r>
              <a:t>2 · Models &amp; tools — the landscape</a:t>
            </a:r>
          </a:p>
          <a:p xmlns:a="http://schemas.openxmlformats.org/drawingml/2006/main">
            <a:r>
              <a:t>BLOCK 2 · THE CRAFT</a:t>
            </a:r>
          </a:p>
          <a:p xmlns:a="http://schemas.openxmlformats.org/drawingml/2006/main">
            <a:r>
              <a:t>3 · Prompt engineering — anatomy + techniques</a:t>
            </a:r>
          </a:p>
          <a:p xmlns:a="http://schemas.openxmlformats.org/drawingml/2006/main">
            <a:r>
              <a:t>4 · The playbook — worked examples &amp; demos</a:t>
            </a:r>
          </a:p>
          <a:p xmlns:a="http://schemas.openxmlformats.org/drawingml/2006/main">
            <a:r>
              <a:t>BLOCK 3 · DELEGATION</a:t>
            </a:r>
          </a:p>
          <a:p xmlns:a="http://schemas.openxmlformats.org/drawingml/2006/main">
            <a:r>
              <a:t>5 · Agentic prompting — the mission brief</a:t>
            </a:r>
          </a:p>
          <a:p xmlns:a="http://schemas.openxmlformats.org/drawingml/2006/main">
            <a:r>
              <a:t>6 · Prompts as assets · wrap-up</a:t>
            </a:r>
          </a:p>
          <a:p xmlns:a="http://schemas.openxmlformats.org/drawingml/2006/main">
            <a:r>
              <a:t>You leave with:</a:t>
            </a:r>
          </a:p>
          <a:p xmlns:a="http://schemas.openxmlformats.org/drawingml/2006/main">
            <a:r>
              <a:t>•  Course Workbook — every exercise, copy-paste ready</a:t>
            </a:r>
          </a:p>
          <a:p xmlns:a="http://schemas.openxmlformats.org/drawingml/2006/main">
            <a:r>
              <a:t>•  13-template prompt library + Template Creator</a:t>
            </a:r>
          </a:p>
          <a:p xmlns:a="http://schemas.openxmlformats.org/drawingml/2006/main">
            <a:r>
              <a:t>•  Taxonomy reference + one-page cheat sheet</a:t>
            </a:r>
          </a:p>
          <a:p xmlns:a="http://schemas.openxmlformats.org/drawingml/2006/main">
            <a:r>
              <a:t>•  Field Guide — the elements + the works/myth/expired compendium</a:t>
            </a:r>
          </a:p>
          <a:p xmlns:a="http://schemas.openxmlformats.org/drawingml/2006/main">
            <a:r>
              <a:t>•  Team conventions for storing &amp; versioning prompts</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Say the bold line first: “Prompting is the one AI skill that transfers everywhere.”</a:t>
            </a:r>
          </a:p>
          <a:p xmlns:a="http://schemas.openxmlformats.org/drawingml/2006/main">
            <a:r>
              <a:t>2) Walk the three left bullets; land on “two modes” as the backbone.</a:t>
            </a:r>
          </a:p>
          <a:p xmlns:a="http://schemas.openxmlformats.org/drawingml/2006/main">
            <a:r>
              <a:t>3) Teal card: read the 10-second version VERBATIM — it is the thesis.</a:t>
            </a:r>
          </a:p>
          <a:p xmlns:a="http://schemas.openxmlformats.org/drawingml/2006/main">
            <a:r>
              <a:t>4) Map card: the three block names and six parts, quickly — no clock talk.</a:t>
            </a:r>
          </a:p>
          <a:p xmlns:a="http://schemas.openxmlformats.org/drawingml/2006/main">
            <a:r>
              <a:t>5) Amber card: the take-homes; hold up the handout pack and the Course Workbook.</a:t>
            </a:r>
          </a:p>
          <a:p xmlns:a="http://schemas.openxmlformats.org/drawingml/2006/main">
            <a:r>
              <a:t>6) Footer aside, one sentence: this is the TEXT wing; image/video/audio could become their own training.</a:t>
            </a:r>
          </a:p>
          <a:p xmlns:a="http://schemas.openxmlformats.org/drawingml/2006/main"/>
          <a:p xmlns:a="http://schemas.openxmlformats.org/drawingml/2006/main">
            <a:r>
              <a:t>TRY IT — PROMPT 1/7 (opens the course log; copy all three steps from tab EX1-TwoModes)</a:t>
            </a: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p>
          <a:p xmlns:a="http://schemas.openxmlformats.org/drawingml/2006/main">
            <a:r>
              <a:t>Everyone runs both steps in ONE chat they keep all course — their course log.</a:t>
            </a:r>
          </a:p>
          <a:p xmlns:a="http://schemas.openxmlformats.org/drawingml/2006/main">
            <a:r>
              <a:t>Sequence: open your AI → paste STEP 1 → read what it invented → paste STEP 2 → watch it interview you.</a:t>
            </a:r>
          </a:p>
          <a:p xmlns:a="http://schemas.openxmlformats.org/drawingml/2006/main">
            <a:r>
              <a:t>Debrief line: step 1 ran on guesses (invented names, blanks); step 2 asked YOU.</a:t>
            </a:r>
          </a:p>
          <a:p xmlns:a="http://schemas.openxmlformats.org/drawingml/2006/main">
            <a:r>
              <a:t>Recovery (a model asks questions in step 1 too): “asking is the delegate move — step 2 just makes it happen on purpose.”</a:t>
            </a:r>
          </a:p>
          <a:p xmlns:a="http://schemas.openxmlformats.org/drawingml/2006/main">
            <a:r>
              <a:t>Do NOT use agentic vocabulary yet (checks, gates, briefs) — Part 5 owns those words.</a:t>
            </a:r>
          </a:p>
          <a:p xmlns:a="http://schemas.openxmlformats.org/drawingml/2006/main"/>
          <a:p xmlns:a="http://schemas.openxmlformats.org/drawingml/2006/main">
            <a:r>
              <a:t>ACRONYMS —</a:t>
            </a:r>
          </a:p>
          <a:p xmlns:a="http://schemas.openxmlformats.org/drawingml/2006/main">
            <a:r>
              <a:t>LLM = Large Language Model — the text engine behind every assistant in this course.</a:t>
            </a:r>
          </a:p>
          <a:p xmlns:a="http://schemas.openxmlformats.org/drawingml/2006/main"/>
          <a:p xmlns:a="http://schemas.openxmlformats.org/drawingml/2006/main">
            <a:r>
              <a:t>CONTENT —</a:t>
            </a:r>
          </a:p>
          <a:p xmlns:a="http://schemas.openxmlformats.org/drawingml/2006/main">
            <a:r>
              <a:t>v1.6: prompt rebuilt to the R10 template (TYPE THIS/WHY, no untaught concepts).</a:t>
            </a:r>
          </a:p>
          <a:p xmlns:a="http://schemas.openxmlformats.org/drawingml/2006/main">
            <a:r>
              <a:t>The multimodal aside is deliberate: the Prompt Report counts 58 text + 40 other-modality techniques — a separate training if votes call for it.</a:t>
            </a:r>
          </a:p>
          <a:p xmlns:a="http://schemas.openxmlformats.org/drawingml/2006/main">
            <a:r>
              <a:t>The seven numbered PROMPT exercises run through Parts 1–2 in the trainees’ own AI window; Parts 3–4 carry the hands-on reps and walkthrough exercises. The one course-log thread doubles as their take-home record.</a:t>
            </a: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p>
          <a:p xmlns:a="http://schemas.openxmlformats.org/drawingml/2006/main">
            <a:r>
              <a:t>R14: the multimodal aside now lives only in these notes — the slide footer was removed (step 6 above: speak it, nothing to point at).</a:t>
            </a:r>
          </a:p>
          <a:p xmlns:a="http://schemas.openxmlformats.org/drawingml/2006/main">
            <a:r>
              <a:t>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1:00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 language model predicts useful continuations; it does not independently verify truth.</a:t>
            </a:r>
          </a:p>
          <a:p xmlns:a="http://schemas.openxmlformats.org/drawingml/2006/main"/>
          <a:p xmlns:a="http://schemas.openxmlformats.org/drawingml/2006/main">
            <a:r>
              <a:t>SAY:</a:t>
            </a:r>
          </a:p>
          <a:p xmlns:a="http://schemas.openxmlformats.org/drawingml/2006/main">
            <a:r>
              <a:t>- Explain prediction in familiar language; avoid a technical lecture on model architecture.</a:t>
            </a:r>
          </a:p>
          <a:p xmlns:a="http://schemas.openxmlformats.org/drawingml/2006/main">
            <a:r>
              <a:t>- Compare “Explain the delay” with “Explain the delay using these three dated messages.”</a:t>
            </a:r>
          </a:p>
          <a:p xmlns:a="http://schemas.openxmlformats.org/drawingml/2006/main">
            <a:r>
              <a:t>- Sources and tools can add current information; they do not automatically make an answer correct.</a:t>
            </a:r>
          </a:p>
          <a:p xmlns:a="http://schemas.openxmlformats.org/drawingml/2006/main"/>
          <a:p xmlns:a="http://schemas.openxmlformats.org/drawingml/2006/main">
            <a:r>
              <a:t>DO: None.</a:t>
            </a:r>
          </a:p>
          <a:p xmlns:a="http://schemas.openxmlformats.org/drawingml/2006/main"/>
          <a:p xmlns:a="http://schemas.openxmlformats.org/drawingml/2006/main">
            <a:r>
              <a:t>BRIDGE: Move to “Tokens and practical limits”.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HOW LLMS WORK</a:t>
            </a:r>
          </a:p>
          <a:p xmlns:a="http://schemas.openxmlformats.org/drawingml/2006/main">
            <a:r>
              <a:t>7</a:t>
            </a:r>
          </a:p>
          <a:p xmlns:a="http://schemas.openxmlformats.org/drawingml/2006/main">
            <a:r>
              <a:t>UNDER THE HOOD</a:t>
            </a:r>
          </a:p>
          <a:p xmlns:a="http://schemas.openxmlformats.org/drawingml/2006/main">
            <a:r>
              <a:t>A prediction engine, sent to finishing school</a:t>
            </a:r>
          </a:p>
          <a:p xmlns:a="http://schemas.openxmlformats.org/drawingml/2006/main">
            <a:r>
              <a:t>1 · Pretraining</a:t>
            </a:r>
          </a:p>
          <a:p xmlns:a="http://schemas.openxmlformats.org/drawingml/2006/main">
            <a:r>
              <a:t>Months, trillions of words: learn to predict the next token on internet-scale text. Language, facts, and reasoning patterns compress into billions of learned weights.</a:t>
            </a:r>
          </a:p>
          <a:p xmlns:a="http://schemas.openxmlformats.org/drawingml/2006/main">
            <a:r>
              <a:t>2 · Instruction tuning</a:t>
            </a:r>
          </a:p>
          <a:p xmlns:a="http://schemas.openxmlformats.org/drawingml/2006/main">
            <a:r>
              <a:t>Curated example dialogues teach it to follow instructions and answer questions — instead of just continuing your text.</a:t>
            </a:r>
          </a:p>
          <a:p xmlns:a="http://schemas.openxmlformats.org/drawingml/2006/main">
            <a:r>
              <a:t>3 · Human feedback (RLHF)</a:t>
            </a:r>
          </a:p>
          <a:p xmlns:a="http://schemas.openxmlformats.org/drawingml/2006/main">
            <a:r>
              <a:t>People rank outputs; the model is tuned toward helpful, honest, harmless. And it never stops: your thumbs-up today is preference data for the NEXT model.</a:t>
            </a:r>
          </a:p>
          <a:p xmlns:a="http://schemas.openxmlformats.org/drawingml/2006/main">
            <a:r>
              <a:t>Knowledge is frozen at the cutoff — with escape hatches. </a:t>
            </a:r>
          </a:p>
          <a:p xmlns:a="http://schemas.openxmlformats.org/drawingml/2006/main">
            <a:r>
              <a:t>Training ends months before release. Many assistants compensate: live web search pulls today’s pages into the prompt; RAG (concept 3) plugs in your own documents.</a:t>
            </a:r>
          </a:p>
          <a:p xmlns:a="http://schemas.openxmlformats.org/drawingml/2006/main">
            <a:r>
              <a:t>Why prompting exists: </a:t>
            </a:r>
          </a:p>
          <a:p xmlns:a="http://schemas.openxmlformats.org/drawingml/2006/main">
            <a:r>
              <a:t>the model completes your text — the prompt is the only steering wheel you have. A complete prompt doesn’t make the model smarter: it deletes wrong guesses.</a:t>
            </a:r>
          </a:p>
          <a:p xmlns:a="http://schemas.openxmlformats.org/drawingml/2006/main">
            <a:r>
              <a:t>PROMPT 2/7</a:t>
            </a:r>
          </a:p>
          <a:p xmlns:a="http://schemas.openxmlformats.org/drawingml/2006/main">
            <a:r>
              <a:t>Narrowing the guesses — two separate sends</a:t>
            </a:r>
          </a:p>
          <a:p xmlns:a="http://schemas.openxmlformats.org/drawingml/2006/main">
            <a:r>
              <a:t>STEP 1 · TYPE THIS → “Finish this sentence 5 different ways: We should move the launch date because”</a:t>
            </a:r>
          </a:p>
          <a:p xmlns:a="http://schemas.openxmlformats.org/drawingml/2006/main">
            <a:r>
              <a:t>WHY → no facts yet — watch it scatter across guesses.</a:t>
            </a:r>
          </a:p>
          <a:p xmlns:a="http://schemas.openxmlformats.org/drawingml/2006/main">
            <a:r>
              <a:t>STEP 2 · TYPE THIS → “Now 5 more ways, knowing: B2B software firm, competitor launches May 3, our beta ends April 20.”</a:t>
            </a:r>
          </a:p>
          <a:p xmlns:a="http://schemas.openxmlformats.org/drawingml/2006/main">
            <a:r>
              <a:t>WHY → your facts didn’t make it smarter — they deleted wrong guesses.</a:t>
            </a:r>
          </a:p>
          <a:p xmlns:a="http://schemas.openxmlformats.org/drawingml/2006/main">
            <a:r>
              <a:t>✂ copy-paste, don’t retype: tab EX2-Guesses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Title metaphor first: “a prediction engine, sent to finishing school.”</a:t>
            </a: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p>
          <a:p xmlns:a="http://schemas.openxmlformats.org/drawingml/2006/main">
            <a:r>
              <a:t>3) LEFT callout: the cutoff — AND its two escape hatches: live web search, and RAG for your own documents.</a:t>
            </a:r>
          </a:p>
          <a:p xmlns:a="http://schemas.openxmlformats.org/drawingml/2006/main">
            <a:r>
              <a:t>4) RIGHT callout, slowly — the thesis of the course: the prompt is the only steering wheel; a complete prompt DELETES WRONG GUESSES.</a:t>
            </a:r>
          </a:p>
          <a:p xmlns:a="http://schemas.openxmlformats.org/drawingml/2006/main"/>
          <a:p xmlns:a="http://schemas.openxmlformats.org/drawingml/2006/main">
            <a:r>
              <a:t>TRY IT — PROMPT 2/7 (two sends; copy from tab EX2-Guesses)</a:t>
            </a:r>
          </a:p>
          <a:p xmlns:a="http://schemas.openxmlformats.org/drawingml/2006/main">
            <a:r>
              <a:t>Send 1 scatters: budget, staffing, quality. Send 2 orbits May 3 and April 20.</a:t>
            </a:r>
          </a:p>
          <a:p xmlns:a="http://schemas.openxmlformats.org/drawingml/2006/main">
            <a:r>
              <a:t>Debrief line: “Grade the directions, not the sentences.”</a:t>
            </a:r>
          </a:p>
          <a:p xmlns:a="http://schemas.openxmlformats.org/drawingml/2006/main"/>
          <a:p xmlns:a="http://schemas.openxmlformats.org/drawingml/2006/main">
            <a:r>
              <a:t>BRIDGE —</a:t>
            </a:r>
          </a:p>
          <a:p xmlns:a="http://schemas.openxmlformats.org/drawingml/2006/main">
            <a:r>
              <a:t>“Six concepts, quick — starting with what the model actually reads.”</a:t>
            </a:r>
          </a:p>
          <a:p xmlns:a="http://schemas.openxmlformats.org/drawingml/2006/main"/>
          <a:p xmlns:a="http://schemas.openxmlformats.org/drawingml/2006/main">
            <a:r>
              <a:t>ACRONYMS —</a:t>
            </a:r>
          </a:p>
          <a:p xmlns:a="http://schemas.openxmlformats.org/drawingml/2006/main">
            <a:r>
              <a:t>RLHF = Reinforcement Learning from Human Feedback — card 3.</a:t>
            </a:r>
          </a:p>
          <a:p xmlns:a="http://schemas.openxmlformats.org/drawingml/2006/main">
            <a:r>
              <a:t>RAG = Retrieval-Augmented Generation — concept 3, shortly.</a:t>
            </a:r>
          </a:p>
          <a:p xmlns:a="http://schemas.openxmlformats.org/drawingml/2006/main"/>
          <a:p xmlns:a="http://schemas.openxmlformats.org/drawingml/2006/main">
            <a:r>
              <a:t>CONTENT —</a:t>
            </a:r>
          </a:p>
          <a:p xmlns:a="http://schemas.openxmlformats.org/drawingml/2006/main">
            <a:r>
              <a:t>InstructGPT fact worth telling: raters preferred a well-tuned 1.3B model over raw 175B GPT-3 — tuning beat 100× scale.</a:t>
            </a:r>
          </a:p>
          <a:p xmlns:a="http://schemas.openxmlformats.org/drawingml/2006/main">
            <a:r>
              <a:t>v1.6: cutoff callout gains the web-search/RAG escape hatches; RLHF card gains the after-ship story (owner request).</a:t>
            </a:r>
          </a:p>
          <a:p xmlns:a="http://schemas.openxmlformats.org/drawingml/2006/main">
            <a:r>
              <a:t>ART — the corner graduation robot is an owner-generated illustration (R16): the “finishing school” of the subtitle, literally.</a:t>
            </a:r>
          </a:p>
          <a:p xmlns:a="http://schemas.openxmlformats.org/drawingml/2006/main">
            <a:r>
              <a:t>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Saved history, active context, and cross-chat memory are different things.</a:t>
            </a:r>
          </a:p>
          <a:p xmlns:a="http://schemas.openxmlformats.org/drawingml/2006/main"/>
          <a:p xmlns:a="http://schemas.openxmlformats.org/drawingml/2006/main">
            <a:r>
              <a:t>SAY:</a:t>
            </a:r>
          </a:p>
          <a:p xmlns:a="http://schemas.openxmlformats.org/drawingml/2006/main">
            <a:r>
              <a:t>- Use the desk analogy only for active context.</a:t>
            </a:r>
          </a:p>
          <a:p xmlns:a="http://schemas.openxmlformats.org/drawingml/2006/main">
            <a:r>
              <a:t>- Closing a window does not necessarily delete a saved conversation.</a:t>
            </a:r>
          </a:p>
          <a:p xmlns:a="http://schemas.openxmlformats.org/drawingml/2006/main">
            <a:r>
              <a:t>- A long chat may omit or compress earlier material. Carry important requirements in a short handoff.</a:t>
            </a:r>
          </a:p>
          <a:p xmlns:a="http://schemas.openxmlformats.org/drawingml/2006/main"/>
          <a:p xmlns:a="http://schemas.openxmlformats.org/drawingml/2006/main">
            <a:r>
              <a:t>DO: None.</a:t>
            </a:r>
          </a:p>
          <a:p xmlns:a="http://schemas.openxmlformats.org/drawingml/2006/main"/>
          <a:p xmlns:a="http://schemas.openxmlformats.org/drawingml/2006/main">
            <a:r>
              <a:t>BRIDGE: Move to “Answers grounded in documents”.</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9</a:t>
            </a:r>
          </a:p>
          <a:p xmlns:a="http://schemas.openxmlformats.org/drawingml/2006/main">
            <a:r>
              <a:t>CONCEPT 2 · CONTEXT WINDOW</a:t>
            </a:r>
          </a:p>
          <a:p xmlns:a="http://schemas.openxmlformats.org/drawingml/2006/main">
            <a:r>
              <a:t>A desk, not a filing cabinet</a:t>
            </a:r>
          </a:p>
          <a:p xmlns:a="http://schemas.openxmlformats.org/drawingml/2006/main">
            <a:r>
              <a:t>The context window is working memory for one conversation: your question, the system prompt, chat history, attached files, and search results must all fit on the desk.</a:t>
            </a:r>
          </a:p>
          <a:p xmlns:a="http://schemas.openxmlformats.org/drawingml/2006/main">
            <a:r>
              <a:t>Close the chat and the desk is swept clean. Nothing persists unless a memory feature or a saved file re-loads it.</a:t>
            </a:r>
          </a:p>
          <a:p xmlns:a="http://schemas.openxmlformats.org/drawingml/2006/main">
            <a:r>
              <a:t>By 2026, ~1M tokens (≈750,000 words) is the flagship standard. Consumer apps often enforce smaller limits than the raw model.</a:t>
            </a:r>
          </a:p>
          <a:p xmlns:a="http://schemas.openxmlformats.org/drawingml/2006/main">
            <a:r>
              <a:t>In very long chats the middle gets skimmed — accuracy is highest at the start and the end (“lost in the middle”).</a:t>
            </a:r>
          </a:p>
          <a:p xmlns:a="http://schemas.openxmlformats.org/drawingml/2006/main">
            <a:r>
              <a:t>What’s on the desk right now</a:t>
            </a:r>
          </a:p>
          <a:p xmlns:a="http://schemas.openxmlformats.org/drawingml/2006/main">
            <a:r>
              <a:t>System prompt &amp; instructions</a:t>
            </a:r>
          </a:p>
          <a:p xmlns:a="http://schemas.openxmlformats.org/drawingml/2006/main">
            <a:r>
              <a:t>Every prior turn — both sides</a:t>
            </a:r>
          </a:p>
          <a:p xmlns:a="http://schemas.openxmlformats.org/drawingml/2006/main">
            <a:r>
              <a:t>Attached documents</a:t>
            </a:r>
          </a:p>
          <a:p xmlns:a="http://schemas.openxmlformats.org/drawingml/2006/main">
            <a:r>
              <a:t>Tool &amp; search results</a:t>
            </a:r>
          </a:p>
          <a:p xmlns:a="http://schemas.openxmlformats.org/drawingml/2006/main">
            <a:r>
              <a:t>Habits that exploit the desk: </a:t>
            </a:r>
          </a:p>
          <a:p xmlns:a="http://schemas.openxmlformats.org/drawingml/2006/main">
            <a:r>
              <a:t>① long documents at the TOP, question at the END (up to ~30% better answers) · ② label multiple documents · ③ new topic → new chat · ④ long thread → run the handoff move below.</a:t>
            </a: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p>
          <a:p xmlns:a="http://schemas.openxmlformats.org/drawingml/2006/main">
            <a:r>
              <a:t>PROMPT 4/7</a:t>
            </a:r>
          </a:p>
          <a:p xmlns:a="http://schemas.openxmlformats.org/drawingml/2006/main">
            <a:r>
              <a:t>The desk — explained, then carried</a:t>
            </a:r>
          </a:p>
          <a:p xmlns:a="http://schemas.openxmlformats.org/drawingml/2006/main">
            <a:r>
              <a:t>STEP 1 · TYPE THIS → “Explain your context window like I’m a 5th grader: the desk, what fits on it, and what happens when I close this chat. Under 100 words.”</a:t>
            </a:r>
          </a:p>
          <a:p xmlns:a="http://schemas.openxmlformats.org/drawingml/2006/main">
            <a:r>
              <a:t>WHY → the AI describes its own working memory, plainly.</a:t>
            </a:r>
          </a:p>
          <a:p xmlns:a="http://schemas.openxmlformats.org/drawingml/2006/main">
            <a:r>
              <a:t>STEP 2 · TYPE THIS → (homework) “Summarize our chat so far in under 80 words, titled HANDOFF.”</a:t>
            </a:r>
          </a:p>
          <a:p xmlns:a="http://schemas.openxmlformats.org/drawingml/2006/main">
            <a:r>
              <a:t>WHY → tonight, paste into a fresh chat, ask “where was I?” — it picks up your course.</a:t>
            </a:r>
          </a:p>
          <a:p xmlns:a="http://schemas.openxmlformats.org/drawingml/2006/main">
            <a:r>
              <a:t>✂ copy-paste, don’t retype: tab EX4-Handoff of your Course Workbook</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analogy first: “a desk, not a filing cabinet.”</a:t>
            </a:r>
          </a:p>
          <a:p xmlns:a="http://schemas.openxmlformats.org/drawingml/2006/main">
            <a:r>
              <a:t>2) Left bullets; on the bold one, draw the U-shape in the air — attention high at the start, sags in the middle, high at the end.</a:t>
            </a:r>
          </a:p>
          <a:p xmlns:a="http://schemas.openxmlformats.org/drawingml/2006/main">
            <a:r>
              <a:t>3) Right card: the four things on the desk right now.</a:t>
            </a:r>
          </a:p>
          <a:p xmlns:a="http://schemas.openxmlformats.org/drawingml/2006/main">
            <a:r>
              <a:t>4) Teal card: the four habits — habit ④ is about to be performed.</a:t>
            </a:r>
          </a:p>
          <a:p xmlns:a="http://schemas.openxmlformats.org/drawingml/2006/main">
            <a:r>
              <a:t>5) Amber card: one sentence — the filing-cabinet teaser for Part 5. Plant the seed, move on.</a:t>
            </a:r>
          </a:p>
          <a:p xmlns:a="http://schemas.openxmlformats.org/drawingml/2006/main"/>
          <a:p xmlns:a="http://schemas.openxmlformats.org/drawingml/2006/main">
            <a:r>
              <a:t>TRY IT — PROMPT 4/7 (copy from tab EX4-Handoff)</a:t>
            </a:r>
          </a:p>
          <a:p xmlns:a="http://schemas.openxmlformats.org/drawingml/2006/main">
            <a:r>
              <a:t>Step 1 in class; step 2 is homework in the same thread.</a:t>
            </a:r>
          </a:p>
          <a:p xmlns:a="http://schemas.openxmlformats.org/drawingml/2006/main">
            <a:r>
              <a:t>Recovery (someone’s fresh chat knows unpasted things): “your tool has a filing cabinet bolted to the desk — hold that thought for Part 5.”</a:t>
            </a:r>
          </a:p>
          <a:p xmlns:a="http://schemas.openxmlformats.org/drawingml/2006/main"/>
          <a:p xmlns:a="http://schemas.openxmlformats.org/drawingml/2006/main">
            <a:r>
              <a:t>BRIDGE —</a:t>
            </a:r>
          </a:p>
          <a:p xmlns:a="http://schemas.openxmlformats.org/drawingml/2006/main">
            <a:r>
              <a:t>“And what if what you need was never on the desk? RAG.”</a:t>
            </a:r>
          </a:p>
          <a:p xmlns:a="http://schemas.openxmlformats.org/drawingml/2006/main"/>
          <a:p xmlns:a="http://schemas.openxmlformats.org/drawingml/2006/main">
            <a:r>
              <a:t>ACRONYMS —</a:t>
            </a:r>
          </a:p>
          <a:p xmlns:a="http://schemas.openxmlformats.org/drawingml/2006/main">
            <a:r>
              <a:t>1M = one million tokens.</a:t>
            </a:r>
          </a:p>
          <a:p xmlns:a="http://schemas.openxmlformats.org/drawingml/2006/main"/>
          <a:p xmlns:a="http://schemas.openxmlformats.org/drawingml/2006/main">
            <a:r>
              <a:t>CONTENT —</a:t>
            </a:r>
          </a:p>
          <a:p xmlns:a="http://schemas.openxmlformats.org/drawingml/2006/main">
            <a:r>
              <a:t>“Lost in the middle” = Liu et al. 2023 (TACL). The up-to-~30% figure is Anthropic’s own long-context guidance.</a:t>
            </a:r>
          </a:p>
          <a:p xmlns:a="http://schemas.openxmlformats.org/drawingml/2006/main">
            <a:r>
              <a:t>1M-token flagship standard verified Aug 2026 across Claude, GPT-5.x, Gemini, and the Chinese open-weight flagships.</a:t>
            </a: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p>
          <a:p xmlns:a="http://schemas.openxmlformats.org/drawingml/2006/main">
            <a:r>
              <a:t>ART — the desk + filing-cabinet header in the right card is an owner-generated illustration (R16).</a:t>
            </a:r>
          </a:p>
          <a:p xmlns:a="http://schemas.openxmlformats.org/drawingml/2006/main">
            <a:r>
              <a:t>9</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Retrieval can ground an answer in documents, but the source and citation still need checking.</a:t>
            </a:r>
          </a:p>
          <a:p xmlns:a="http://schemas.openxmlformats.org/drawingml/2006/main"/>
          <a:p xmlns:a="http://schemas.openxmlformats.org/drawingml/2006/main">
            <a:r>
              <a:t>SAY:</a:t>
            </a:r>
          </a:p>
          <a:p xmlns:a="http://schemas.openxmlformats.org/drawingml/2006/main">
            <a:r>
              <a:t>- Introduce retrieval-augmented generation as looking up relevant passages before answering.</a:t>
            </a:r>
          </a:p>
          <a:p xmlns:a="http://schemas.openxmlformats.org/drawingml/2006/main">
            <a:r>
              <a:t>- An outdated agreement can support a well-cited but wrong answer for today’s decision.</a:t>
            </a:r>
          </a:p>
          <a:p xmlns:a="http://schemas.openxmlformats.org/drawingml/2006/main">
            <a:r>
              <a:t>- Retention, training use, and access controls depend on the actual service and configuration.</a:t>
            </a:r>
          </a:p>
          <a:p xmlns:a="http://schemas.openxmlformats.org/drawingml/2006/main"/>
          <a:p xmlns:a="http://schemas.openxmlformats.org/drawingml/2006/main">
            <a:r>
              <a:t>DO: None.</a:t>
            </a:r>
          </a:p>
          <a:p xmlns:a="http://schemas.openxmlformats.org/drawingml/2006/main"/>
          <a:p xmlns:a="http://schemas.openxmlformats.org/drawingml/2006/main">
            <a:r>
              <a:t>BRIDGE: Move to “Instructions, sources, and model adaptation”.</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10</a:t>
            </a:r>
          </a:p>
          <a:p xmlns:a="http://schemas.openxmlformats.org/drawingml/2006/main">
            <a:r>
              <a:t>CONCEPT 3 · RAG</a:t>
            </a:r>
          </a:p>
          <a:p xmlns:a="http://schemas.openxmlformats.org/drawingml/2006/main">
            <a:r>
              <a:t>An open-book exam — audit the librarian</a:t>
            </a:r>
          </a:p>
          <a:p xmlns:a="http://schemas.openxmlformats.org/drawingml/2006/main">
            <a:r>
              <a:t>The problem RAG solves: the model’s knowledge is frozen and public; your work runs on private documents it has never seen — and must never be trained on.</a:t>
            </a:r>
          </a:p>
          <a:p xmlns:a="http://schemas.openxmlformats.org/drawingml/2006/main">
            <a:r>
              <a:t>1 · Ask</a:t>
            </a:r>
          </a:p>
          <a:p xmlns:a="http://schemas.openxmlformats.org/drawingml/2006/main">
            <a:r>
              <a:t>Plain question: “What does the supplier agreement say about re-inspection?”</a:t>
            </a:r>
          </a:p>
          <a:p xmlns:a="http://schemas.openxmlformats.org/drawingml/2006/main">
            <a:r>
              <a:t>2 · Retrieve</a:t>
            </a:r>
          </a:p>
          <a:p xmlns:a="http://schemas.openxmlformats.org/drawingml/2006/main">
            <a:r>
              <a:t>Semantic search finds the most relevant passages — by meaning, not keywords.</a:t>
            </a:r>
          </a:p>
          <a:p xmlns:a="http://schemas.openxmlformats.org/drawingml/2006/main">
            <a:r>
              <a:t>3 · Augment</a:t>
            </a:r>
          </a:p>
          <a:p xmlns:a="http://schemas.openxmlformats.org/drawingml/2006/main">
            <a:r>
              <a:t>Those passages are placed on the model’s desk, behind the scenes.</a:t>
            </a:r>
          </a:p>
          <a:p xmlns:a="http://schemas.openxmlformats.org/drawingml/2006/main">
            <a:r>
              <a:t>4 · Generate</a:t>
            </a:r>
          </a:p>
          <a:p xmlns:a="http://schemas.openxmlformats.org/drawingml/2006/main">
            <a:r>
              <a:t>The model answers from the supplied text — and cites where it looked.</a:t>
            </a:r>
          </a:p>
          <a:p xmlns:a="http://schemas.openxmlformats.org/drawingml/2006/main">
            <a:r>
              <a:t>Why enterprises build on it: </a:t>
            </a:r>
          </a:p>
          <a:p xmlns:a="http://schemas.openxmlformats.org/drawingml/2006/main">
            <a:r>
              <a:t>current (re-index in minutes, no retraining) · checkable (citations to the exact passage) · private (retrieval feeds one answer, teaches the model nothing) · access-aware.</a:t>
            </a:r>
          </a:p>
          <a:p xmlns:a="http://schemas.openxmlformats.org/drawingml/2006/main">
            <a:r>
              <a:t>The failure mode to respect: </a:t>
            </a:r>
          </a:p>
          <a:p xmlns:a="http://schemas.openxmlformats.org/drawingml/2006/main">
            <a:r>
              <a:t>fetch the wrong page — an outdated revision, a near-miss document — and the model still writes a fluent, confident, CITED answer from it. Check the citation, not just the prose.</a:t>
            </a:r>
          </a:p>
          <a:p xmlns:a="http://schemas.openxmlformats.org/drawingml/2006/main">
            <a:r>
              <a:t>You already use this. Our internal company assistant — the one where you upload documentation and “talk” to it — is RAG in production. Every step on this slide happens each time you ask it a question.</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Expand the acronym ONCE, then the analogy: an open-book exam — a librarian fetches pages from YOUR documents; the student writes from those pages.</a:t>
            </a:r>
          </a:p>
          <a:p xmlns:a="http://schemas.openxmlformats.org/drawingml/2006/main">
            <a:r>
              <a:t>2) Four step cards LEFT TO RIGHT.</a:t>
            </a:r>
          </a:p>
          <a:p xmlns:a="http://schemas.openxmlformats.org/drawingml/2006/main">
            <a:r>
              <a:t>3) Green card: current, checkable, private, access-aware.</a:t>
            </a:r>
          </a:p>
          <a:p xmlns:a="http://schemas.openxmlformats.org/drawingml/2006/main">
            <a:r>
              <a:t>4) Red card, slowly: wrong page → fluent, confident, CITED, wrong. “Check the citation, not the prose.”</a:t>
            </a:r>
          </a:p>
          <a:p xmlns:a="http://schemas.openxmlformats.org/drawingml/2006/main">
            <a:r>
              <a:t>5) Teal band: “you’ve been running this loop all along” — keep it generic, no product names.</a:t>
            </a:r>
          </a:p>
          <a:p xmlns:a="http://schemas.openxmlformats.org/drawingml/2006/main"/>
          <a:p xmlns:a="http://schemas.openxmlformats.org/drawingml/2006/main">
            <a:r>
              <a:t>BRIDGE —</a:t>
            </a:r>
          </a:p>
          <a:p xmlns:a="http://schemas.openxmlformats.org/drawingml/2006/main">
            <a:r>
              <a:t>“When do you prompt, when do you retrieve, when do you fine-tune? The escalation ladder.”</a:t>
            </a:r>
          </a:p>
          <a:p xmlns:a="http://schemas.openxmlformats.org/drawingml/2006/main"/>
          <a:p xmlns:a="http://schemas.openxmlformats.org/drawingml/2006/main">
            <a:r>
              <a:t>ACRONYMS —</a:t>
            </a:r>
          </a:p>
          <a:p xmlns:a="http://schemas.openxmlformats.org/drawingml/2006/main">
            <a:r>
              <a:t>RAG = Retrieval-Augmented Generation.</a:t>
            </a:r>
          </a:p>
          <a:p xmlns:a="http://schemas.openxmlformats.org/drawingml/2006/main"/>
          <a:p xmlns:a="http://schemas.openxmlformats.org/drawingml/2006/main">
            <a:r>
              <a:t>CONTENT —</a:t>
            </a:r>
          </a:p>
          <a:p xmlns:a="http://schemas.openxmlformats.org/drawingml/2006/main">
            <a:r>
              <a:t>Retrieval ≠ training is the privacy point to repeat.</a:t>
            </a:r>
          </a:p>
          <a:p xmlns:a="http://schemas.openxmlformats.org/drawingml/2006/main">
            <a:r>
              <a:t>This is the engine behind internal document assistants and Copilot-over-SharePoint.</a:t>
            </a:r>
          </a:p>
          <a:p xmlns:a="http://schemas.openxmlformats.org/drawingml/2006/main">
            <a:r>
              <a:t>ART — the open-book-exam scene (robot writing from the book, librarian delivering a glowing page) is an owner-generated illustration (R16); gesture at it when you say the analogy.</a:t>
            </a:r>
          </a:p>
          <a:p xmlns:a="http://schemas.openxmlformats.org/drawingml/2006/main">
            <a:r>
              <a:t>10</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0:50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Fluent answers can be wrong, so verification belongs in the work design.</a:t>
            </a:r>
          </a:p>
          <a:p xmlns:a="http://schemas.openxmlformats.org/drawingml/2006/main"/>
          <a:p xmlns:a="http://schemas.openxmlformats.org/drawingml/2006/main">
            <a:r>
              <a:t>SAY:</a:t>
            </a:r>
          </a:p>
          <a:p xmlns:a="http://schemas.openxmlformats.org/drawingml/2006/main">
            <a:r>
              <a:t>- Distinguish plausible language from evidence.</a:t>
            </a:r>
          </a:p>
          <a:p xmlns:a="http://schemas.openxmlformats.org/drawingml/2006/main">
            <a:r>
              <a:t>- Asking the same model “Are you sure?” is not independent verification.</a:t>
            </a:r>
          </a:p>
          <a:p xmlns:a="http://schemas.openxmlformats.org/drawingml/2006/main">
            <a:r>
              <a:t>- Name the source or calculation that would settle the question.</a:t>
            </a:r>
          </a:p>
          <a:p xmlns:a="http://schemas.openxmlformats.org/drawingml/2006/main"/>
          <a:p xmlns:a="http://schemas.openxmlformats.org/drawingml/2006/main">
            <a:r>
              <a:t>DO: None.</a:t>
            </a:r>
          </a:p>
          <a:p xmlns:a="http://schemas.openxmlformats.org/drawingml/2006/main"/>
          <a:p xmlns:a="http://schemas.openxmlformats.org/drawingml/2006/main">
            <a:r>
              <a:t>BRIDGE: Move to “Failure patterns and the check they need”.</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1 · CORE CONCEPTS</a:t>
            </a:r>
          </a:p>
          <a:p xmlns:a="http://schemas.openxmlformats.org/drawingml/2006/main">
            <a:r>
              <a:t>14</a:t>
            </a:r>
          </a:p>
          <a:p xmlns:a="http://schemas.openxmlformats.org/drawingml/2006/main">
            <a:r>
              <a:t>CONCEPT 6 · HALLUCINATION</a:t>
            </a:r>
          </a:p>
          <a:p xmlns:a="http://schemas.openxmlformats.org/drawingml/2006/main">
            <a:r>
              <a:t>Fluency is not evidence</a:t>
            </a:r>
          </a:p>
          <a:p xmlns:a="http://schemas.openxmlformats.org/drawingml/2006/main">
            <a:r>
              <a:t>The mechanism: models are optimized for the most plausible next token, not the most true one. Trouble concentrates where training data is thin: rare facts, citations, numbers, names.</a:t>
            </a:r>
          </a:p>
          <a:p xmlns:a="http://schemas.openxmlformats.org/drawingml/2006/main">
            <a:r>
              <a:t>OpenAI’s own 2025 research: benchmarks reward confident guessing over “I don’t know” — models learn to be good test-takers.</a:t>
            </a:r>
          </a:p>
          <a:p xmlns:a="http://schemas.openxmlformats.org/drawingml/2006/main">
            <a:r>
              <a:t>The better word is confabulation: it fills gaps with plausible material, in-format — fake citations LOOK like citations.</a:t>
            </a:r>
          </a:p>
          <a:p xmlns:a="http://schemas.openxmlformats.org/drawingml/2006/main">
            <a:r>
              <a:t>The confident guess, measured</a:t>
            </a:r>
          </a:p>
          <a:p xmlns:a="http://schemas.openxmlformats.org/drawingml/2006/main">
            <a:r>
              <a:t>Older reasoning model (o4-mini)</a:t>
            </a:r>
          </a:p>
          <a:p xmlns:a="http://schemas.openxmlformats.org/drawingml/2006/main">
            <a:r>
              <a:t>24%</a:t>
            </a:r>
          </a:p>
          <a:p xmlns:a="http://schemas.openxmlformats.org/drawingml/2006/main">
            <a:r>
              <a:t>75%</a:t>
            </a:r>
          </a:p>
          <a:p xmlns:a="http://schemas.openxmlformats.org/drawingml/2006/main">
            <a:r>
              <a:t>Newer, trained to say “I don’t know”</a:t>
            </a:r>
          </a:p>
          <a:p xmlns:a="http://schemas.openxmlformats.org/drawingml/2006/main">
            <a:r>
              <a:t>22%</a:t>
            </a:r>
          </a:p>
          <a:p xmlns:a="http://schemas.openxmlformats.org/drawingml/2006/main">
            <a:r>
              <a:t>26%</a:t>
            </a:r>
          </a:p>
          <a:p xmlns:a="http://schemas.openxmlformats.org/drawingml/2006/main">
            <a:r>
              <a:t>52%</a:t>
            </a:r>
          </a:p>
          <a:p xmlns:a="http://schemas.openxmlformats.org/drawingml/2006/main">
            <a:r>
              <a:t>■ right  ■ wrong  ■ “I don’t know” — ~3× fewer false claims.</a:t>
            </a:r>
          </a:p>
          <a:p xmlns:a="http://schemas.openxmlformats.org/drawingml/2006/main">
            <a:r>
              <a:t>OpenAI’s own models &amp; benchmark (2025) — the mechanism, not a vendor ranking.</a:t>
            </a:r>
          </a:p>
          <a:p xmlns:a="http://schemas.openxmlformats.org/drawingml/2006/main">
            <a:r>
              <a:t>THE CONFIDENT GUESS  · Invented facts</a:t>
            </a:r>
          </a:p>
          <a:p xmlns:a="http://schemas.openxmlformats.org/drawingml/2006/main">
            <a:r>
              <a:t>Free recall where data was thin — a wrong fact, delivered with total certainty.</a:t>
            </a:r>
          </a:p>
          <a:p xmlns:a="http://schemas.openxmlformats.org/drawingml/2006/main">
            <a:r>
              <a:t>THE FAKE RECEIPT  · Invented sources</a:t>
            </a:r>
          </a:p>
          <a:p xmlns:a="http://schemas.openxmlformats.org/drawingml/2006/main">
            <a:r>
              <a:t>Citations, cases, book titles that look perfectly real — and don’t exist.</a:t>
            </a:r>
          </a:p>
          <a:p xmlns:a="http://schemas.openxmlformats.org/drawingml/2006/main">
            <a:r>
              <a:t>THE JOKE TAKEN SERIOUSLY  · Wrong source, confident answer</a:t>
            </a:r>
          </a:p>
          <a:p xmlns:a="http://schemas.openxmlformats.org/drawingml/2006/main">
            <a:r>
              <a:t>Fluent, cited — and built on a joke, a satire, or the wrong revision.</a:t>
            </a:r>
          </a:p>
          <a:p xmlns:a="http://schemas.openxmlformats.org/drawingml/2006/main">
            <a:r>
              <a:t>GARBAGE IN, GOSPEL OUT  · Runs with your false premise</a:t>
            </a:r>
          </a:p>
          <a:p xmlns:a="http://schemas.openxmlformats.org/drawingml/2006/main">
            <a:r>
              <a:t>It assumes your prompt is true: feed it a wrong “fact” and it politely builds on it.</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Open with the improv actor, spoken: “an improv actor never breaks character — the show must go on, so gaps get filled with the most plausible line. That is your AI on a thin-data day.”</a:t>
            </a:r>
          </a:p>
          <a:p xmlns:a="http://schemas.openxmlformats.org/drawingml/2006/main">
            <a:r>
              <a:t>2) Left bullets: the mechanism; the bold OpenAI 2025 finding — the vendor itself says benchmarks reward guessing; the vocabulary upgrade — CONFABULATION.</a:t>
            </a: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p>
          <a:p xmlns:a="http://schemas.openxmlformats.org/drawingml/2006/main">
            <a:r>
              <a:t>5) Presenter story for character 1 if you want one: Google Bard’s launch demo flubbed a telescope fact — details on the next slide’s notes.</a:t>
            </a:r>
          </a:p>
          <a:p xmlns:a="http://schemas.openxmlformats.org/drawingml/2006/main"/>
          <a:p xmlns:a="http://schemas.openxmlformats.org/drawingml/2006/main">
            <a:r>
              <a:t>BRIDGE —</a:t>
            </a:r>
          </a:p>
          <a:p xmlns:a="http://schemas.openxmlformats.org/drawingml/2006/main">
            <a:r>
              <a:t>“What do these characters look like in public? The hall of shame.”</a:t>
            </a:r>
          </a:p>
          <a:p xmlns:a="http://schemas.openxmlformats.org/drawingml/2006/main"/>
          <a:p xmlns:a="http://schemas.openxmlformats.org/drawingml/2006/main">
            <a:r>
              <a:t>ACRONYMS —</a:t>
            </a:r>
          </a:p>
          <a:p xmlns:a="http://schemas.openxmlformats.org/drawingml/2006/main">
            <a:r>
              <a:t>none new on this slide.</a:t>
            </a:r>
          </a:p>
          <a:p xmlns:a="http://schemas.openxmlformats.org/drawingml/2006/main"/>
          <a:p xmlns:a="http://schemas.openxmlformats.org/drawingml/2006/main">
            <a:r>
              <a:t>CONTENT —</a:t>
            </a:r>
          </a:p>
          <a:p xmlns:a="http://schemas.openxmlformats.org/drawingml/2006/main">
            <a:r>
              <a:t>v1.7: abstain-vs-guess chart added (r23: SimpleQA numbers from arXiv:2509.04664 + the GPT-5 system card — o4-mini 24/75/1 vs gpt-5-thinking-mini 22/26/52; the on-slide caveat is mandatory).</a:t>
            </a: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p>
          <a:p xmlns:a="http://schemas.openxmlformats.org/drawingml/2006/main">
            <a:r>
              <a:t>v1.6: the four kinds became named characters (owner: more engaging). Teaching frame grounded in r10/r2/r14 — not claimed as academic taxonomy.</a:t>
            </a:r>
          </a:p>
          <a:p xmlns:a="http://schemas.openxmlformats.org/drawingml/2006/main">
            <a:r>
              <a:t>OpenAI 2025 = “Why language models hallucinate” (arXiv:2509.04664).</a:t>
            </a:r>
          </a:p>
          <a:p xmlns:a="http://schemas.openxmlformats.org/drawingml/2006/main">
            <a:r>
              <a:t>R14: the italic footer (“Four characters — one root: the show must go on. Next slide: what they cost in public.”) was removed from the slide — speak it as the closing line before advancing.</a:t>
            </a:r>
          </a:p>
          <a:p xmlns:a="http://schemas.openxmlformats.org/drawingml/2006/main">
            <a:r>
              <a:t>14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et al., 2025; revised 2026 —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0:30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prompt defines the work; the improvement loop tests whether it worked.</a:t>
            </a:r>
          </a:p>
          <a:p xmlns:a="http://schemas.openxmlformats.org/drawingml/2006/main"/>
          <a:p xmlns:a="http://schemas.openxmlformats.org/drawingml/2006/main">
            <a:r>
              <a:t>SAY:</a:t>
            </a:r>
          </a:p>
          <a:p xmlns:a="http://schemas.openxmlformats.org/drawingml/2006/main">
            <a:r>
              <a:t>- Keep the example short so learners see cause and correction.</a:t>
            </a:r>
          </a:p>
          <a:p xmlns:a="http://schemas.openxmlformats.org/drawingml/2006/main">
            <a:r>
              <a:t>- The source total is an independent check only when the scope, filters, and units match.</a:t>
            </a:r>
          </a:p>
          <a:p xmlns:a="http://schemas.openxmlformats.org/drawingml/2006/main">
            <a:r>
              <a:t>- A successful test case supports reuse; it does not establish universal reliability.</a:t>
            </a:r>
          </a:p>
          <a:p xmlns:a="http://schemas.openxmlformats.org/drawingml/2006/main"/>
          <a:p xmlns:a="http://schemas.openxmlformats.org/drawingml/2006/main">
            <a:r>
              <a:t>DO: None.</a:t>
            </a:r>
          </a:p>
          <a:p xmlns:a="http://schemas.openxmlformats.org/drawingml/2006/main"/>
          <a:p xmlns:a="http://schemas.openxmlformats.org/drawingml/2006/main">
            <a:r>
              <a:t>BRIDGE: Move to “Prompt techniques to test on your task”.</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3 · THE DESIGN LAYER &amp; THE PROCESS LAYER</a:t>
            </a:r>
          </a:p>
          <a:p xmlns:a="http://schemas.openxmlformats.org/drawingml/2006/main">
            <a:r>
              <a:t>27</a:t>
            </a:r>
          </a:p>
          <a:p xmlns:a="http://schemas.openxmlformats.org/drawingml/2006/main">
            <a:r>
              <a:t>YOU WRITE WITH THE ANATOMY · YOU IMPROVE WITH THE LOOP</a:t>
            </a:r>
          </a:p>
          <a:p xmlns:a="http://schemas.openxmlformats.org/drawingml/2006/main">
            <a:r>
              <a:t>Two layers, one craft</a:t>
            </a:r>
          </a:p>
          <a:p xmlns:a="http://schemas.openxmlformats.org/drawingml/2006/main">
            <a:r>
              <a:t>THE ANATOMY — design layer. What a prompt CONTAINS: the seven elements. Ask: is it complete?</a:t>
            </a:r>
          </a:p>
          <a:p xmlns:a="http://schemas.openxmlformats.org/drawingml/2006/main">
            <a:r>
              <a:t>THE LOOP — process layer. What you DO with it: Plan, Do, Check, Act. Ask: how does it get — and stay — good?</a:t>
            </a:r>
          </a:p>
          <a:p xmlns:a="http://schemas.openxmlformats.org/drawingml/2006/main">
            <a:r>
              <a:t>P</a:t>
            </a:r>
          </a:p>
          <a:p xmlns:a="http://schemas.openxmlformats.org/drawingml/2006/main">
            <a:r>
              <a:t>PLAN — the anatomy, all seven elements</a:t>
            </a: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p>
          <a:p xmlns:a="http://schemas.openxmlformats.org/drawingml/2006/main">
            <a:r>
              <a:t>D</a:t>
            </a:r>
          </a:p>
          <a:p xmlns:a="http://schemas.openxmlformats.org/drawingml/2006/main">
            <a:r>
              <a:t>DO — numbered sequence, wait-gates</a:t>
            </a:r>
          </a:p>
          <a:p xmlns:a="http://schemas.openxmlformats.org/drawingml/2006/main">
            <a:r>
              <a:t>1) Read the export; list the columns you actually see. 2) WAIT for my OK. 3) Build the table. 4) Draft the summary.</a:t>
            </a:r>
          </a:p>
          <a:p xmlns:a="http://schemas.openxmlformats.org/drawingml/2006/main">
            <a:r>
              <a:t>C</a:t>
            </a:r>
          </a:p>
          <a:p xmlns:a="http://schemas.openxmlformats.org/drawingml/2006/main">
            <a:r>
              <a:t>CHECK — named verification, stop-on-fail</a:t>
            </a:r>
          </a:p>
          <a:p xmlns:a="http://schemas.openxmlformats.org/drawingml/2006/main">
            <a:r>
              <a:t>Before showing me anything: reconcile the table to the export TOTAL. If it doesn’t reconcile, STOP and report the gap.</a:t>
            </a:r>
          </a:p>
          <a:p xmlns:a="http://schemas.openxmlformats.org/drawingml/2006/main">
            <a:r>
              <a:t>A</a:t>
            </a:r>
          </a:p>
          <a:p xmlns:a="http://schemas.openxmlformats.org/drawingml/2006/main">
            <a:r>
              <a:t>ACT — deliver the final output + improve</a:t>
            </a:r>
          </a:p>
          <a:p xmlns:a="http://schemas.openxmlformats.org/drawingml/2006/main">
            <a:r>
              <a:t>Deliver the final report. Then list what was ambiguous in this brief, so I can fix it for next month.</a:t>
            </a:r>
          </a:p>
          <a:p xmlns:a="http://schemas.openxmlformats.org/drawingml/2006/main">
            <a:r>
              <a:t>One brief, four sections — the loop written INTO the prompt: a wait-gate is a Do you kept; a stop-on-fail Check is a verification you refused to delegate.</a:t>
            </a:r>
          </a:p>
          <a:p xmlns:a="http://schemas.openxmlformats.org/drawingml/2006/main">
            <a:r>
              <a:t>In chat, you run the loop by hand. In agentic work, you write the loop into the brief — which is why it works best there. Part 5’s mission-brief template is exactly these four sections, grown up.</a:t>
            </a:r>
          </a:p>
          <a:p xmlns:a="http://schemas.openxmlformats.org/drawingml/2006/main"/>
          <a:p xmlns:a="http://schemas.openxmlformats.org/drawingml/2006/main">
            <a:r>
              <a:t>ARCHIVED SOURCE NOTES</a:t>
            </a:r>
          </a:p>
          <a:p xmlns:a="http://schemas.openxmlformats.org/drawingml/2006/main">
            <a:r>
              <a:t>HOW TO PRESENT —</a:t>
            </a:r>
          </a:p>
          <a:p xmlns:a="http://schemas.openxmlformats.org/drawingml/2006/main">
            <a:r>
              <a:t>1) The one-sentence thesis, verbatim: “You write with the anatomy — you improve with the loop.” Anatomy = what a prompt contains (design). PDCA = what you do with it (process). They are not rivals; they are layers.</a:t>
            </a:r>
          </a:p>
          <a:p xmlns:a="http://schemas.openxmlformats.org/drawingml/2006/main">
            <a:r>
              <a:t>2) Point at the blueprint: the schematic robot is the anatomy — a design you can inspect for completeness; the amber ring around it is the loop — the process that runs around ANY design, forever.</a:t>
            </a: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p>
          <a:p xmlns:a="http://schemas.openxmlformats.org/drawingml/2006/main">
            <a:r>
              <a:t>4) The italic line under the brief: in agentic mode the loop lives INSIDE the prompt — a wait-gate is a Do you kept for yourself; a stop-on-fail Check is a verification you refused to delegate.</a:t>
            </a:r>
          </a:p>
          <a:p xmlns:a="http://schemas.openxmlformats.org/drawingml/2006/main">
            <a:r>
              <a:t>5) Close on the teal band, and tee Part 5: the mission brief is these four sections, grown up.</a:t>
            </a:r>
          </a:p>
          <a:p xmlns:a="http://schemas.openxmlformats.org/drawingml/2006/main"/>
          <a:p xmlns:a="http://schemas.openxmlformats.org/drawingml/2006/main">
            <a:r>
              <a:t>BRIDGE —</a:t>
            </a:r>
          </a:p>
          <a:p xmlns:a="http://schemas.openxmlformats.org/drawingml/2006/main">
            <a:r>
              <a:t>“Which of these methods survive scientific scrutiny — and which famous tricks don’t? The evidence corner.”</a:t>
            </a:r>
          </a:p>
          <a:p xmlns:a="http://schemas.openxmlformats.org/drawingml/2006/main"/>
          <a:p xmlns:a="http://schemas.openxmlformats.org/drawingml/2006/main">
            <a:r>
              <a:t>ACRONYMS —</a:t>
            </a:r>
          </a:p>
          <a:p xmlns:a="http://schemas.openxmlformats.org/drawingml/2006/main">
            <a:r>
              <a:t>PDCA = Plan-Do-Check-Act (previous slide).</a:t>
            </a:r>
          </a:p>
          <a:p xmlns:a="http://schemas.openxmlformats.org/drawingml/2006/main"/>
          <a:p xmlns:a="http://schemas.openxmlformats.org/drawingml/2006/main">
            <a:r>
              <a:t>CONTENT —</a:t>
            </a: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p>
          <a:p xmlns:a="http://schemas.openxmlformats.org/drawingml/2006/main">
            <a:r>
              <a:t>The returns-report brief is generic/fictional (R3) — no company data.</a:t>
            </a: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p>
          <a:p xmlns:a="http://schemas.openxmlformats.org/drawingml/2006/main">
            <a:r>
              <a:t>ART — the blueprint (robot schematic + amber loop) is an owner-generated illustration (R16): the anatomy drafted, the loop running around it.</a:t>
            </a:r>
          </a:p>
          <a:p xmlns:a="http://schemas.openxmlformats.org/drawingml/2006/main">
            <a:r>
              <a:t>27</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et al., 2025; revised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rPr/>
              <a:t>BRIDGE: Move to “Data Analytics Exercise”.</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et al., 2025; revised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TIME: 0:00 (Optional self-study; no live allocation. Formerly the live transition into the application block.)</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Generated reflection supports recall but does not prove skill.</a:t>
            </a:r>
          </a:p>
          <a:p xmlns:a="http://schemas.openxmlformats.org/drawingml/2006/main">
            <a:r>
              <a:t/>
            </a:r>
          </a:p>
          <a:p xmlns:a="http://schemas.openxmlformats.org/drawingml/2006/main">
            <a:r>
              <a:t>SAY:</a:t>
            </a:r>
          </a:p>
          <a:p xmlns:a="http://schemas.openxmlformats.org/drawingml/2006/main">
            <a:r>
              <a:t>- This optional activity turns a course log into a study aid.</a:t>
            </a:r>
          </a:p>
          <a:p xmlns:a="http://schemas.openxmlformats.org/drawingml/2006/main">
            <a:r>
              <a:t>- A generated summary supports recall but does not prove that the learner can do the task.</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“Part 4: Putting Prompts to Work”.</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SOURCE DETAIL FOR SELF-STUDY</a:t>
            </a:r>
          </a:p>
          <a:p xmlns:a="http://schemas.openxmlformats.org/drawingml/2006/main">
            <a:r>
              <a:t>THREE-MINUTE REP · PART 3</a:t>
            </a:r>
          </a:p>
          <a:p xmlns:a="http://schemas.openxmlformats.org/drawingml/2006/main">
            <a:r>
              <a:t>31</a:t>
            </a:r>
          </a:p>
          <a:p xmlns:a="http://schemas.openxmlformats.org/drawingml/2006/main">
            <a:r>
              <a:t>YOUR TURN — TURN YOUR COURSE LOG INTO A REPORT</a:t>
            </a:r>
          </a:p>
          <a:p xmlns:a="http://schemas.openxmlformats.org/drawingml/2006/main">
            <a:r>
              <a:t>One prompt, one keepsake report</a:t>
            </a:r>
          </a:p>
          <a:p xmlns:a="http://schemas.openxmlformats.org/drawingml/2006/main">
            <a:r>
              <a:t>3:00</a:t>
            </a:r>
          </a:p>
          <a:p xmlns:a="http://schemas.openxmlformats.org/drawingml/2006/main">
            <a:r>
              <a:t>STEP 1  ·  TYPE THIS → “List every prompt I have run in this course log, in order — one line each: what it did, and which element or move it taught.”</a:t>
            </a:r>
          </a:p>
          <a:p xmlns:a="http://schemas.openxmlformats.org/drawingml/2006/main">
            <a:r>
              <a:t>WHY → the log replays your whole course — every numbered prompt is in there.</a:t>
            </a: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p>
          <a:p xmlns:a="http://schemas.openxmlformats.org/drawingml/2006/main">
            <a:r>
              <a:t>WHY → your examples, your report — with the Out and the Stop doing their jobs.</a:t>
            </a:r>
          </a:p>
          <a:p xmlns:a="http://schemas.openxmlformats.org/drawingml/2006/main">
            <a:r>
              <a:t>Both prompts are in tab EX-Report of your Course Workbook — run them in the course log you opened with Prompt 1.</a:t>
            </a:r>
          </a:p>
          <a:p xmlns:a="http://schemas.openxmlformats.org/drawingml/2006/main">
            <a:r>
              <a:t>Why this is the closing rep</a:t>
            </a:r>
          </a:p>
          <a:p xmlns:a="http://schemas.openxmlformats.org/drawingml/2006/main">
            <a:r>
              <a:t>Every numbered prompt you ran taught one move — and your log kept them all. The report writes itself because the raw material is real, yours, and already in the chat.</a:t>
            </a:r>
          </a:p>
          <a:p xmlns:a="http://schemas.openxmlformats.org/drawingml/2006/main">
            <a:r>
              <a:t/>
            </a:r>
          </a:p>
          <a:p xmlns:a="http://schemas.openxmlformats.org/drawingml/2006/main">
            <a:r>
              <a:t>Step 1 opened the course by telling the AI to remember; this is the payoff. The report IS your first library entry: name it, date it, keep it.</a:t>
            </a:r>
          </a:p>
          <a:p xmlns:a="http://schemas.openxmlformats.org/drawingml/2006/main">
            <a:r>
              <a:t>Then compare with a neighbor: </a:t>
            </a:r>
          </a:p>
          <a:p xmlns:a="http://schemas.openxmlformats.org/drawingml/2006/main">
            <a:r>
              <a:t>same course, different logs — which three prompts made THEIR reuse list, and why? Different fills, same anatomy.</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3:00 badge. Frame the payoff: “your very first prompt today told the AI to remember everything — now you collect.” Both steps run in the SAME chat they have used all course (the course log).</a:t>
            </a:r>
          </a:p>
          <a:p xmlns:a="http://schemas.openxmlformats.org/drawingml/2006/main">
            <a:r>
              <a:t>2) STEP 1: the log lists every prompt it has seen, with what each taught. Let people scroll their own list — that quiet moment of “I did all that” is the point.</a:t>
            </a: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p>
          <a:p xmlns:a="http://schemas.openxmlformats.org/drawingml/2006/main">
            <a:r>
              <a:t>4) Neighbor compare: which three prompts made THEIR reuse list. Public commitment sticks.</a:t>
            </a: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p>
          <a:p xmlns:a="http://schemas.openxmlformats.org/drawingml/2006/main">
            <a:r>
              <a:t>6) Skip only under extreme time pressure — this rep converts the course into an artifact they keep.</a:t>
            </a:r>
          </a:p>
          <a:p xmlns:a="http://schemas.openxmlformats.org/drawingml/2006/main">
            <a:r>
              <a:t/>
            </a:r>
          </a:p>
          <a:p xmlns:a="http://schemas.openxmlformats.org/drawingml/2006/main">
            <a:r>
              <a:t>ACRONYMS —</a:t>
            </a:r>
          </a:p>
          <a:p xmlns:a="http://schemas.openxmlformats.org/drawingml/2006/main">
            <a:r>
              <a:t>none new on this slide.</a:t>
            </a:r>
          </a:p>
          <a:p xmlns:a="http://schemas.openxmlformats.org/drawingml/2006/main">
            <a:r>
              <a:t/>
            </a:r>
          </a:p>
          <a:p xmlns:a="http://schemas.openxmlformats.org/drawingml/2006/main">
            <a:r>
              <a:t>CONTENT —</a:t>
            </a: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p>
          <a:p xmlns:a="http://schemas.openxmlformats.org/drawingml/2006/main">
            <a:r>
              <a:t>The report doubles as Part 6 setup: it is literally their first library entry.</a:t>
            </a:r>
          </a:p>
          <a:p xmlns:a="http://schemas.openxmlformats.org/drawingml/2006/main">
            <a:r>
              <a:t>31</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0:40</a:t>
            </a:r>
          </a:p>
          <a:p xmlns:a="http://schemas.openxmlformats.org/drawingml/2006/main">
            <a:r>
              <a:t>PURPOSE: Open the application block with the whole arc in one breath.</a:t>
            </a:r>
          </a:p>
          <a:p xmlns:a="http://schemas.openxmlformats.org/drawingml/2006/main">
            <a:r>
              <a:t>LAND THIS: One dataset, uploaded once, becomes an analysis, charts, a returned file, a dashboard, and a presentation.</a:t>
            </a:r>
          </a:p>
          <a:p xmlns:a="http://schemas.openxmlformats.org/drawingml/2006/main">
            <a:r>
              <a:t>SAY: Everything in this block runs on one workbook you upload at the start. You will analyze it, question it, get it back with editable charts, feed the returned file to a dashboard, and end with a management mock-up.</a:t>
            </a:r>
          </a:p>
          <a:p xmlns:a="http://schemas.openxmlformats.org/drawingml/2006/main">
            <a:r>
              <a:t>SAY: Each added instruction in a prompt exists to resolve a specific ambiguity. A basic ask like "analyze the supplier data and tell me which supplier is worst" makes the model pick the rows, the metric, and "worst" for you, silently. The prompts you are about to run name the file, define the metric from sums, handle the missing value, and demand reconciliation - each line closes one gap. That lesson used to be its own slide; it now travels with every prompt you run today.</a:t>
            </a:r>
          </a:p>
          <a:p xmlns:a="http://schemas.openxmlformats.org/drawingml/2006/main">
            <a:r>
              <a:t>DO: Nothing yet - the upload comes on the next slide.</a:t>
            </a:r>
          </a:p>
          <a:p xmlns:a="http://schemas.openxmlformats.org/drawingml/2006/main">
            <a:r>
              <a:t>BRIDGE: Move to "Upload the Data File and Run These Two Prompts".</a:t>
            </a:r>
          </a:p>
          <a:p xmlns:a="http://schemas.openxmlformats.org/drawingml/2006/main">
            <a:r>
              <a:t>IF LATE: COMPRESS to the arc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assistant returns a real, editable artifact - and participants verify it is real.</a:t>
            </a:r>
          </a:p>
          <a:p xmlns:a="http://schemas.openxmlformats.org/drawingml/2006/main">
            <a:r>
              <a:t>LAND THIS: Native charts you can click and edit, formulas you can trace - not a picture of an analysis.</a:t>
            </a:r>
          </a:p>
          <a:p xmlns:a="http://schemas.openxmlformats.org/drawingml/2006/main">
            <a:r>
              <a:t>SAY: Run the full prompt from tab Excel-Charts. When the file comes back, we open it together.</a:t>
            </a:r>
          </a:p>
          <a:p xmlns:a="http://schemas.openxmlformats.org/drawingml/2006/main">
            <a:r>
              <a:t>DO: 2:00 run the prompt; 2:00 open the returned file, inspect Summary, click the column chart and show its editable source range; if generation stalls, open the prepared Supplier_Data_Analyzed.xlsx instead.</a:t>
            </a:r>
          </a:p>
          <a:p xmlns:a="http://schemas.openxmlformats.org/drawingml/2006/main">
            <a:r>
              <a:t>BRIDGE: Move to "Describe the Dashboard You Want" - the returned file is the dashboard's input.</a:t>
            </a:r>
          </a:p>
          <a:p xmlns:a="http://schemas.openxmlformats.org/drawingml/2006/main">
            <a:r>
              <a:t>IF LATE: Show the prepared fallback and click one chart; skip the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6:00</a:t>
            </a:r>
          </a:p>
          <a:p xmlns:a="http://schemas.openxmlformats.org/drawingml/2006/main">
            <a:r>
              <a:t>PURPOSE: The single intake for the whole block - inspect before calculating, then compute checked rates.</a:t>
            </a:r>
          </a:p>
          <a:p xmlns:a="http://schemas.openxmlformats.org/drawingml/2006/main">
            <a:r>
              <a:t>LAND THIS: Inspection is a separate prompt that ends with "then wait" - the model must not calculate until the scope is agreed.</a:t>
            </a:r>
          </a:p>
          <a:p xmlns:a="http://schemas.openxmlformats.org/drawingml/2006/main">
            <a:r>
              <a:t>SAY: Upload the exercise file, run the inspect prompt, and read what comes back before you let it calculate.</a:t>
            </a:r>
          </a:p>
          <a:p xmlns:a="http://schemas.openxmlformats.org/drawingml/2006/main">
            <a:r>
              <a:t>DO: 0:00-1:00 upload and run PROMPT 1; 1:00-2:30 compare inspection findings across the room; 2:30-5:00 run PROMPT 2; 5:00-6:00 check rankings and reconciliation together.</a:t>
            </a:r>
          </a:p>
          <a:p xmlns:a="http://schemas.openxmlformats.org/drawingml/2006/main">
            <a:r>
              <a:t>ANSWER KEY (instructor only - not shown to participants before they attempt): 144 detail rows plus one TOTAL row; one missing Inspection_Hours value (missing, not zero); 224,902 units shipped and 432 returns; Bravo Plastics highest at about 0.348 percent (262 / 75,184); Cardinal 0.129 percent; Alpha 0.099 percent; the data do not establish causation. Full key: workbook tab KEY-Analysis.</a:t>
            </a:r>
          </a:p>
          <a:p xmlns:a="http://schemas.openxmlformats.org/drawingml/2006/main">
            <a:r>
              <a:t>BRIDGE: Move to "Ask a Follow-Up Question".</a:t>
            </a:r>
          </a:p>
          <a:p xmlns:a="http://schemas.openxmlformats.org/drawingml/2006/main">
            <a:r>
              <a:t>IF LATE: KEEP - this is the anchor exercise of the block.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TIME: 2:30</a:t>
            </a:r>
          </a:p>
          <a:p xmlns:a="http://schemas.openxmlformats.org/drawingml/2006/main">
            <a:r>
              <a:t>PURPOSE: Business questioning of the same data - and the findings-versus-causes discipline.</a:t>
            </a:r>
          </a:p>
          <a:p xmlns:a="http://schemas.openxmlformats.org/drawingml/2006/main">
            <a:r>
              <a:t>LAND THIS: The model may offer explanations; the data only support patterns.</a:t>
            </a:r>
          </a:p>
          <a:p xmlns:a="http://schemas.openxmlformats.org/drawingml/2006/main">
            <a:r>
              <a:t>SAY: Ask the follow-up, then look for any causal language in the answer - that is the teaching moment.</a:t>
            </a:r>
          </a:p>
          <a:p xmlns:a="http://schemas.openxmlformats.org/drawingml/2006/main">
            <a:r>
              <a:t>DO: 1:30 run and read; 1:00 name one causal claim someone's answer made and strip it back to the finding.</a:t>
            </a:r>
          </a:p>
          <a:p xmlns:a="http://schemas.openxmlformats.org/drawingml/2006/main">
            <a:r>
              <a:t>BRIDGE: Move to "Add the Charts and Return the Excel File".</a:t>
            </a:r>
          </a:p>
          <a:p xmlns:a="http://schemas.openxmlformats.org/drawingml/2006/main">
            <a:r>
              <a:t>IF LATE: COMPRESS to the prompt and one example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TIME: 0:00 (Optional self-study; no live allocation. The live course now runs the quotation work as two steps (slides 42-43); this page keeps the original one-step version.)</a:t>
            </a:r>
          </a:p>
          <a:p xmlns:a="http://schemas.openxmlformats.org/drawingml/2006/main">
            <a:r>
              <a:t>MODE: REFERENCE</a:t>
            </a:r>
          </a:p>
          <a:p xmlns:a="http://schemas.openxmlformats.org/drawingml/2006/main">
            <a:r>
              <a:t/>
            </a:r>
          </a:p>
          <a:p xmlns:a="http://schemas.openxmlformats.org/drawingml/2006/main">
            <a:r>
              <a:t>TIME: 0:10</a:t>
            </a:r>
          </a:p>
          <a:p xmlns:a="http://schemas.openxmlformats.org/drawingml/2006/main">
            <a:r>
              <a:t/>
            </a:r>
          </a:p>
          <a:p xmlns:a="http://schemas.openxmlformats.org/drawingml/2006/main">
            <a:r>
              <a:t>PURPOSE: Preserve depth for self-study without consuming live practice time.</a:t>
            </a:r>
          </a:p>
          <a:p xmlns:a="http://schemas.openxmlformats.org/drawingml/2006/main">
            <a:r>
              <a:t/>
            </a:r>
          </a:p>
          <a:p xmlns:a="http://schemas.openxmlformats.org/drawingml/2006/main">
            <a:r>
              <a:t>LAND THIS: Quote comparison requires complete cost inputs or clearly marked gaps.</a:t>
            </a:r>
          </a:p>
          <a:p xmlns:a="http://schemas.openxmlformats.org/drawingml/2006/main">
            <a:r>
              <a:t/>
            </a:r>
          </a:p>
          <a:p xmlns:a="http://schemas.openxmlformats.org/drawingml/2006/main">
            <a:r>
              <a:t>SAY:</a:t>
            </a:r>
          </a:p>
          <a:p xmlns:a="http://schemas.openxmlformats.org/drawingml/2006/main">
            <a:r>
              <a:t>- Quote comparison requires normalization of price, quantity, currency, and commercial scope.</a:t>
            </a:r>
          </a:p>
          <a:p xmlns:a="http://schemas.openxmlformats.org/drawingml/2006/main">
            <a:r>
              <a:t>- The three fictional quotation PDFs and workbook tab EX-Quotes ship in this package; run it as optional self-study.</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Move to “A deliverable needs artifact requirements”.</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MATERIALS: Quote_Alpha_Components.pdf, Quote_Bravo_Plastics.pdf, Quote_Cardinal_Metals.pdf + workbook tab EX-Quotes (all in the pack).</a:t>
            </a:r>
          </a:p>
          <a:p xmlns:a="http://schemas.openxmlformats.org/drawingml/2006/main">
            <a:r>
              <a:t/>
            </a:r>
          </a:p>
          <a:p xmlns:a="http://schemas.openxmlformats.org/drawingml/2006/main">
            <a:r>
              <a:t>SOURCE DETAIL FOR SELF-STUDY</a:t>
            </a:r>
          </a:p>
          <a:p xmlns:a="http://schemas.openxmlformats.org/drawingml/2006/main">
            <a:r>
              <a:t>PART 4 · WALKTHROUGH 1 · DATA</a:t>
            </a:r>
          </a:p>
          <a:p xmlns:a="http://schemas.openxmlformats.org/drawingml/2006/main">
            <a:r>
              <a:t>36</a:t>
            </a:r>
          </a:p>
          <a:p xmlns:a="http://schemas.openxmlformats.org/drawingml/2006/main">
            <a:r>
              <a:t>WALKTHROUGH · THREE QUOTES, ONE TABLE</a:t>
            </a:r>
          </a:p>
          <a:p xmlns:a="http://schemas.openxmlformats.org/drawingml/2006/main">
            <a:r>
              <a:t>Messy documents in, decision-ready table out</a:t>
            </a:r>
          </a:p>
          <a:p xmlns:a="http://schemas.openxmlformats.org/drawingml/2006/main">
            <a:r>
              <a:t>The input (also in your pack)</a:t>
            </a:r>
          </a:p>
          <a:p xmlns:a="http://schemas.openxmlformats.org/drawingml/2006/main">
            <a:r>
              <a:t>Three fictional supplier quotations (PDFs) answering the same RFQ — Alpha Components, Bravo Plastics, Cardinal Metals.</a:t>
            </a:r>
          </a:p>
          <a:p xmlns:a="http://schemas.openxmlformats.org/drawingml/2006/main">
            <a:r>
              <a:t>Deliberately NOT comparable at first glance: one quotes in euros per 1,000 units, one excludes tooling, one includes shipping, warranties differ 6–24 months.</a:t>
            </a:r>
          </a:p>
          <a:p xmlns:a="http://schemas.openxmlformats.org/drawingml/2006/main">
            <a:r>
              <a:t>What the room should notice: </a:t>
            </a: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p>
          <a:p xmlns:a="http://schemas.openxmlformats.org/drawingml/2006/main">
            <a:r>
              <a:t>1</a:t>
            </a:r>
          </a:p>
          <a:p xmlns:a="http://schemas.openxmlformats.org/drawingml/2006/main">
            <a:r>
              <a:t>Extract &amp; normalize</a:t>
            </a: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p>
          <a:p xmlns:a="http://schemas.openxmlformats.org/drawingml/2006/main">
            <a:r>
              <a:t>2</a:t>
            </a:r>
          </a:p>
          <a:p xmlns:a="http://schemas.openxmlformats.org/drawingml/2006/main">
            <a:r>
              <a:t>Recommend, with caveats</a:t>
            </a: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p>
          <a:p xmlns:a="http://schemas.openxmlformats.org/drawingml/2006/main">
            <a:r>
              <a:t>Works the same in a chat upload, Copilot, or your company assistant — this is G8 grown teeth. ✂ Both prompts: tab EX-Quotes of your Course Workbook.</a:t>
            </a:r>
          </a:p>
          <a:p xmlns:a="http://schemas.openxmlformats.org/drawingml/2006/main">
            <a:r>
              <a:t/>
            </a:r>
          </a:p>
          <a:p xmlns:a="http://schemas.openxmlformats.org/drawingml/2006/main">
            <a:r>
              <a:t>ARCHIVED SOURCE NOTES</a:t>
            </a:r>
          </a:p>
          <a:p xmlns:a="http://schemas.openxmlformats.org/drawingml/2006/main">
            <a:r>
              <a:t>HOW TO PRESENT —</a:t>
            </a:r>
          </a:p>
          <a:p xmlns:a="http://schemas.openxmlformats.org/drawingml/2006/main">
            <a:r>
              <a:t>1) Frame: “same discipline, messier input: three PDFs answering one RFQ — and they don’t line up on purpose.”</a:t>
            </a: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p>
          <a:p xmlns:a="http://schemas.openxmlformats.org/drawingml/2006/main">
            <a:r>
              <a:t>3) Run STEP 1; check the table catches: per-1,000 → per-unit conversion, the flagged EUR assumption, tooling amortization, shipping inclusions.</a:t>
            </a:r>
          </a:p>
          <a:p xmlns:a="http://schemas.openxmlformats.org/drawingml/2006/main">
            <a:r>
              <a:t>4) STEP 2: the punchline — “cheapest” moves once terms are normalized; the negotiation question turns analysis into action.</a:t>
            </a:r>
          </a:p>
          <a:p xmlns:a="http://schemas.openxmlformats.org/drawingml/2006/main">
            <a:r>
              <a:t>5) Land the safety line: the exchange rate is an ASSUMPTION the AI must flag — and you must verify (house rule from Part 1).</a:t>
            </a:r>
          </a:p>
          <a:p xmlns:a="http://schemas.openxmlformats.org/drawingml/2006/main">
            <a:r>
              <a:t/>
            </a:r>
          </a:p>
          <a:p xmlns:a="http://schemas.openxmlformats.org/drawingml/2006/main">
            <a:r>
              <a:t>BRIDGE —</a:t>
            </a:r>
          </a:p>
          <a:p xmlns:a="http://schemas.openxmlformats.org/drawingml/2006/main">
            <a:r>
              <a:t>“Analysis is answers. Next: turning answers into a file you can circulate.”</a:t>
            </a:r>
          </a:p>
          <a:p xmlns:a="http://schemas.openxmlformats.org/drawingml/2006/main">
            <a:r>
              <a:t/>
            </a:r>
          </a:p>
          <a:p xmlns:a="http://schemas.openxmlformats.org/drawingml/2006/main">
            <a:r>
              <a:t>ACRONYMS —</a:t>
            </a:r>
          </a:p>
          <a:p xmlns:a="http://schemas.openxmlformats.org/drawingml/2006/main">
            <a:r>
              <a:t>RFQ = Request for Quotation. MOQ = Minimum Order Quantity.</a:t>
            </a:r>
          </a:p>
          <a:p xmlns:a="http://schemas.openxmlformats.org/drawingml/2006/main">
            <a:r>
              <a:t>EXW / FOB / DDP = shipping terms (Incoterms): EXW = buyer collects at the factory; FOB = seller loads, buyer ships; DDP = delivered to your dock, duties paid.</a:t>
            </a:r>
          </a:p>
          <a:p xmlns:a="http://schemas.openxmlformats.org/drawingml/2006/main">
            <a:r>
              <a:t/>
            </a:r>
          </a:p>
          <a:p xmlns:a="http://schemas.openxmlformats.org/drawingml/2006/main">
            <a:r>
              <a:t>CONTENT —</a:t>
            </a: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p>
          <a:p xmlns:a="http://schemas.openxmlformats.org/drawingml/2006/main">
            <a:r>
              <a:t>At ~1.08 USD/EUR: Bravo ≈ $12.85/u + $3.02/u tooling ≈ $15.87 + freight; Alpha ≈ $15.60 + freight; Cardinal $16.40 all-in with double warranty — the ranking genuinely depends on freight and terms, which is the point.</a:t>
            </a:r>
          </a:p>
          <a:p xmlns:a="http://schemas.openxmlformats.org/drawingml/2006/main">
            <a:r>
              <a:t>36</a:t>
            </a:r>
          </a:p>
          <a:p xmlns:a="http://schemas.openxmlformats.org/drawingml/2006/main">
            <a:r>
              <a:t/>
            </a:r>
          </a:p>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TIME: 1:00</a:t>
            </a:r>
          </a:p>
          <a:p xmlns:a="http://schemas.openxmlformats.org/drawingml/2006/main">
            <a:r>
              <a:t>PURPOSE: Requirements for interactive behavior, in plain language, before anything renders.</a:t>
            </a:r>
          </a:p>
          <a:p xmlns:a="http://schemas.openxmlformats.org/drawingml/2006/main">
            <a:r>
              <a:t>LAND THIS: You do not need to write the code. You need to describe the behavior.</a:t>
            </a:r>
          </a:p>
          <a:p xmlns:a="http://schemas.openxmlformats.org/drawingml/2006/main">
            <a:r>
              <a:t>SAY: Read the prompt aloud - every clause is a behavior you could check by clicking.</a:t>
            </a:r>
          </a:p>
          <a:p xmlns:a="http://schemas.openxmlformats.org/drawingml/2006/main">
            <a:r>
              <a:t>BRIDGE: Move to "Build and Test the Dashboard".</a:t>
            </a:r>
          </a:p>
          <a:p xmlns:a="http://schemas.openxmlformats.org/drawingml/2006/main">
            <a:r>
              <a:t>IF LATE: COMPRESS to the teaching 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4:00</a:t>
            </a:r>
          </a:p>
          <a:p xmlns:a="http://schemas.openxmlformats.org/drawingml/2006/main">
            <a:r>
              <a:t>PURPOSE: The dashboard consumes the verified workbook - and is trusted only after the filtered check.</a:t>
            </a:r>
          </a:p>
          <a:p xmlns:a="http://schemas.openxmlformats.org/drawingml/2006/main">
            <a:r>
              <a:t>LAND THIS: Same data, same definitions, same numbers - the dashboard is the analysis wearing a different interface.</a:t>
            </a:r>
          </a:p>
          <a:p xmlns:a="http://schemas.openxmlformats.org/drawingml/2006/main">
            <a:r>
              <a:t>SAY: Three actions only: open, filter, verify. Then you name one refinement.</a:t>
            </a:r>
          </a:p>
          <a:p xmlns:a="http://schemas.openxmlformats.org/drawingml/2006/main">
            <a:r>
              <a:t>DO: 1:30 generate or open the prepared references/exercise-data/Supplier_Quality_Dashboard.html; 1:30 run the three actions; 1:00 collect refinement asks from the room.</a:t>
            </a:r>
          </a:p>
          <a:p xmlns:a="http://schemas.openxmlformats.org/drawingml/2006/main">
            <a:r>
              <a:t>BRIDGE: Move to "Turn the Findings into a Five-Slide Management Mock-up".</a:t>
            </a:r>
          </a:p>
          <a:p xmlns:a="http://schemas.openxmlformats.org/drawingml/2006/main">
            <a:r>
              <a:t>IF LATE: Run the three actions on the prepared file; skip refinements.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TIME: 1:00</a:t>
            </a:r>
          </a:p>
          <a:p xmlns:a="http://schemas.openxmlformats.org/drawingml/2006/main">
            <a:r>
              <a:t>PURPOSE: One thread, five results - choosing the result IS the prompt.</a:t>
            </a:r>
          </a:p>
          <a:p xmlns:a="http://schemas.openxmlformats.org/drawingml/2006/main">
            <a:r>
              <a:t>LAND THIS: Pick the outcome first; the prompt is one sentence once you have.</a:t>
            </a:r>
          </a:p>
          <a:p xmlns:a="http://schemas.openxmlformats.org/drawingml/2006/main">
            <a:r>
              <a:t>SAY: Workflow: run Outlook's built-in Copilot summary first, then use Copilot to refine it with one of these. If that feature is unavailable, paste the supplied fictional thread into an approved assistant - same prompts, same results.</a:t>
            </a:r>
          </a:p>
          <a:p xmlns:a="http://schemas.openxmlformats.org/drawingml/2006/main">
            <a:r>
              <a:t>ACCOUNT NOTE (verified Sep 2026, notes/research/r28): the full Copilot-in-Outlook experience depends on the organization's Copilot license and current Outlook version; the pasted-text path always works. Never practice on real confidential threads.</a:t>
            </a:r>
          </a:p>
          <a:p xmlns:a="http://schemas.openxmlformats.org/drawingml/2006/main">
            <a:r>
              <a:t>BRIDGE: Move to "Outlook Exercise: Decisions, Actions, and Open Questions".</a:t>
            </a:r>
          </a:p>
          <a:p xmlns:a="http://schemas.openxmlformats.org/drawingml/2006/main">
            <a:r>
              <a:t>IF LATE: COMPRESS to Catch-me-up and Prepare-my-reply.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structured extraction on a thread with planted traps.</a:t>
            </a:r>
          </a:p>
          <a:p xmlns:a="http://schemas.openxmlformats.org/drawingml/2006/main">
            <a:r>
              <a:t>LAND THIS: "Not stated" and a citation per claim - the two habits that survive contact with a real inbox.</a:t>
            </a:r>
          </a:p>
          <a:p xmlns:a="http://schemas.openxmlformats.org/drawingml/2006/main">
            <a:r>
              <a:t>SAY: Run the structured prompt, then we check against the key.</a:t>
            </a:r>
          </a:p>
          <a:p xmlns:a="http://schemas.openxmlformats.org/drawingml/2006/main">
            <a:r>
              <a:t>DO: 1:30 run; 1:30 walk the key.</a:t>
            </a:r>
          </a:p>
          <a:p xmlns:a="http://schemas.openxmlformats.org/drawingml/2006/main">
            <a:r>
              <a:t>ANSWER KEY (instructor only): change date moved Sep 25 to Oct 2, conditional on quality sign-off · trial date Sep 25 supersedes Sep 18 · the 18,000 cap holds and freight is NOT approved · Luis's revised plan due Sep 16 · freight responsibility unresolved · the drawing is referenced but not accessible. Full key: tab KEY-Email + instructor-keys/Packaging_Change_Expected_Brief.md.</a:t>
            </a:r>
          </a:p>
          <a:p xmlns:a="http://schemas.openxmlformats.org/drawingml/2006/main">
            <a:r>
              <a:t>BRIDGE: Move to "Extract Supplier Quotes into Excel".</a:t>
            </a:r>
          </a:p>
          <a:p xmlns:a="http://schemas.openxmlformats.org/drawingml/2006/main">
            <a:r>
              <a:t>IF LATE: KEEP - this is the email anchor.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Close the data arc on a decision artifact built only from verified findings.</a:t>
            </a:r>
          </a:p>
          <a:p xmlns:a="http://schemas.openxmlformats.org/drawingml/2006/main">
            <a:r>
              <a:t>LAND THIS: Exploration and decision are different jobs - the same verified numbers wear two interfaces.</a:t>
            </a:r>
          </a:p>
          <a:p xmlns:a="http://schemas.openxmlformats.org/drawingml/2006/main">
            <a:r>
              <a:t>SAY: Fill the audience and the decision, run it, and open the fallback beside the result.</a:t>
            </a:r>
          </a:p>
          <a:p xmlns:a="http://schemas.openxmlformats.org/drawingml/2006/main">
            <a:r>
              <a:t>DO: 1:30 run with a chosen [audience]/[decision]; 1:00 compare one slide against the prepared mock deck's discipline (findings left, judgment right).</a:t>
            </a:r>
          </a:p>
          <a:p xmlns:a="http://schemas.openxmlformats.org/drawingml/2006/main">
            <a:r>
              <a:t>BRIDGE: Move to "Organize an Email Thread in Outlook".</a:t>
            </a:r>
          </a:p>
          <a:p xmlns:a="http://schemas.openxmlformats.org/drawingml/2006/main">
            <a:r>
              <a:t>IF LATE: Open the prepared mock deck and show slide 4's findings/recommendations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3:00</a:t>
            </a:r>
          </a:p>
          <a:p xmlns:a="http://schemas.openxmlformats.org/drawingml/2006/main">
            <a:r>
              <a:t>PURPOSE: The closing exercise: unstructured references become linear, traceable knowledge.</a:t>
            </a:r>
          </a:p>
          <a:p xmlns:a="http://schemas.openxmlformats.org/drawingml/2006/main">
            <a:r>
              <a:t>LAND THIS: Provenance survives - every row cites its file and page, conflicts stay visible, gaps say "Not stated".</a:t>
            </a:r>
          </a:p>
          <a:p xmlns:a="http://schemas.openxmlformats.org/drawingml/2006/main">
            <a:r>
              <a:t>SAY: The pack hides one deliberate conflict and several unstated details. A good workbook surfaces them instead of resolving them silently.</a:t>
            </a:r>
          </a:p>
          <a:p xmlns:a="http://schemas.openxmlformats.org/drawingml/2006/main">
            <a:r>
              <a:t>DO: 1:30 run on the pack; 1:30 open the prepared example - find the cadence conflict in the Synthesis and one "Not stated".</a:t>
            </a:r>
          </a:p>
          <a:p xmlns:a="http://schemas.openxmlformats.org/drawingml/2006/main">
            <a:r>
              <a:t>ANSWER SKETCH (instructor only): the planted conflict is review cadence - the manual (2026-02) says quarterly, the newsletter (2026-06) reports monthly; must be kept as two rows and surfaced, never merged. Key: instructor-keys/Research_Workbook_Key.md.</a:t>
            </a:r>
          </a:p>
          <a:p xmlns:a="http://schemas.openxmlformats.org/drawingml/2006/main">
            <a:r>
              <a:t>BRIDGE: Move to "Part 5: agentic work".</a:t>
            </a:r>
          </a:p>
          <a:p xmlns:a="http://schemas.openxmlformats.org/drawingml/2006/main">
            <a:r>
              <a:t>IF LATE: Open the prepared Research_Workbook.xlsx and show the Evidence and Synthesis sheets.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An agent combines a model with tools, an action loop, and a stopping condition.</a:t>
            </a:r>
          </a:p>
          <a:p xmlns:a="http://schemas.openxmlformats.org/drawingml/2006/main"/>
          <a:p xmlns:a="http://schemas.openxmlformats.org/drawingml/2006/main">
            <a:r>
              <a:t>SAY:</a:t>
            </a:r>
          </a:p>
          <a:p xmlns:a="http://schemas.openxmlformats.org/drawingml/2006/main">
            <a:r>
              <a:t>- Use the supplier task: inspect a file, calculate, check, then produce an artifact.</a:t>
            </a:r>
          </a:p>
          <a:p xmlns:a="http://schemas.openxmlformats.org/drawingml/2006/main">
            <a:r>
              <a:t>- The agent can choose steps within its authority; a person still defines the goal and reviews important outcomes.</a:t>
            </a:r>
          </a:p>
          <a:p xmlns:a="http://schemas.openxmlformats.org/drawingml/2006/main">
            <a:r>
              <a:t>- Distinguish a tool-using action loop from ordinary back-and-forth chat.</a:t>
            </a:r>
          </a:p>
          <a:p xmlns:a="http://schemas.openxmlformats.org/drawingml/2006/main"/>
          <a:p xmlns:a="http://schemas.openxmlformats.org/drawingml/2006/main">
            <a:r>
              <a:t>DO: None.</a:t>
            </a:r>
          </a:p>
          <a:p xmlns:a="http://schemas.openxmlformats.org/drawingml/2006/main"/>
          <a:p xmlns:a="http://schemas.openxmlformats.org/drawingml/2006/main">
            <a:r>
              <a:t>BRIDGE: Move to “ASK and DELEGATE”.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5 · WHAT AN AGENT IS</a:t>
            </a:r>
          </a:p>
          <a:p xmlns:a="http://schemas.openxmlformats.org/drawingml/2006/main">
            <a:r>
              <a:t>44</a:t>
            </a:r>
          </a:p>
          <a:p xmlns:a="http://schemas.openxmlformats.org/drawingml/2006/main">
            <a:r>
              <a:t>THE MECHANICS</a:t>
            </a:r>
          </a:p>
          <a:p xmlns:a="http://schemas.openxmlformats.org/drawingml/2006/main">
            <a:r>
              <a:t>An agent = model + tools + instructions, run in a loop</a:t>
            </a:r>
          </a:p>
          <a:p xmlns:a="http://schemas.openxmlformats.org/drawingml/2006/main">
            <a:r>
              <a:t>Gather</a:t>
            </a:r>
          </a:p>
          <a:p xmlns:a="http://schemas.openxmlformats.org/drawingml/2006/main">
            <a:r>
              <a:t>read files, search, state</a:t>
            </a:r>
          </a:p>
          <a:p xmlns:a="http://schemas.openxmlformats.org/drawingml/2006/main">
            <a:r>
              <a:t>Act</a:t>
            </a:r>
          </a:p>
          <a:p xmlns:a="http://schemas.openxmlformats.org/drawingml/2006/main">
            <a:r>
              <a:t>one step: edit, run, query</a:t>
            </a:r>
          </a:p>
          <a:p xmlns:a="http://schemas.openxmlformats.org/drawingml/2006/main">
            <a:r>
              <a:t>Verify</a:t>
            </a:r>
          </a:p>
          <a:p xmlns:a="http://schemas.openxmlformats.org/drawingml/2006/main">
            <a:r>
              <a:t>check result vs goal</a:t>
            </a:r>
          </a:p>
          <a:p xmlns:a="http://schemas.openxmlformats.org/drawingml/2006/main">
            <a:r>
              <a:t>Repeat</a:t>
            </a:r>
          </a:p>
          <a:p xmlns:a="http://schemas.openxmlformats.org/drawingml/2006/main">
            <a:r>
              <a:t>adjust — or stop</a:t>
            </a:r>
          </a:p>
          <a:p xmlns:a="http://schemas.openxmlformats.org/drawingml/2006/main">
            <a:r>
              <a:t>…until the goal is met, a check fails, or a guardrail says “ask the human”</a:t>
            </a:r>
          </a:p>
          <a:p xmlns:a="http://schemas.openxmlformats.org/drawingml/2006/main">
            <a:r>
              <a:t>In the vendors’ words</a:t>
            </a:r>
          </a:p>
          <a:p xmlns:a="http://schemas.openxmlformats.org/drawingml/2006/main">
            <a:r>
              <a:t>“Systems that independently accomplish tasks on your behalf” (OpenAI) · models that “dynamically direct their own processes and tool usage” (Anthropic) — a chatbot that answers and waits is not an agent.</a:t>
            </a:r>
          </a:p>
          <a:p xmlns:a="http://schemas.openxmlformats.org/drawingml/2006/main">
            <a:r>
              <a:t>Tools — the arms</a:t>
            </a:r>
          </a:p>
          <a:p xmlns:a="http://schemas.openxmlformats.org/drawingml/2006/main">
            <a:r>
              <a:t>files, shell, browsers, spreadsheets, email, code. The model requests; the harness executes.</a:t>
            </a:r>
          </a:p>
          <a:p xmlns:a="http://schemas.openxmlformats.org/drawingml/2006/main">
            <a:r>
              <a:t>MCP — the standard port</a:t>
            </a:r>
          </a:p>
          <a:p xmlns:a="http://schemas.openxmlformats.org/drawingml/2006/main">
            <a:r>
              <a:t>“USB-C of AI”: one open protocol to plug tools into any agent. Linux Foundation-governed since Dec 2025; ~half a billion SDK downloads/month.</a:t>
            </a:r>
          </a:p>
          <a:p xmlns:a="http://schemas.openxmlformats.org/drawingml/2006/main">
            <a:r>
              <a:t>Memory = files</a:t>
            </a:r>
          </a:p>
          <a:p xmlns:a="http://schemas.openxmlformats.org/drawingml/2006/main">
            <a:r>
              <a:t>Context window = short-term memory; notes, logs, and git = long-term. Nothing survives unless written down — Part 1’s HANDOFF move, run by the machine, is compaction.</a:t>
            </a:r>
          </a:p>
          <a:p xmlns:a="http://schemas.openxmlformats.org/drawingml/2006/main">
            <a:r>
              <a:t>Guardrails</a:t>
            </a:r>
          </a:p>
          <a:p xmlns:a="http://schemas.openxmlformats.org/drawingml/2006/main">
            <a:r>
              <a:t>permissions, sandboxes, approval gates for consequential actions — covered later this part.</a:t>
            </a:r>
          </a:p>
          <a:p xmlns:a="http://schemas.openxmlformats.org/drawingml/2006/main"/>
          <a:p xmlns:a="http://schemas.openxmlformats.org/drawingml/2006/main">
            <a:r>
              <a:t>ARCHIVED SOURCE NOTES</a:t>
            </a: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p>
          <a:p xmlns:a="http://schemas.openxmlformats.org/drawingml/2006/main">
            <a:r>
              <a:t>ACRONYMS — MCP = Model Context Protocol — the open standard for plugging tools into any agent (“USB-C of AI”). SDK = Software Development Kit. USB-C = the universal connector standard (the analogy).</a:t>
            </a:r>
          </a:p>
          <a:p xmlns:a="http://schemas.openxmlformats.org/drawingml/2006/main">
            <a:r>
              <a:t>CONTENT — Loop framing is vendor-verbatim (Anthropic Agent SDK: gather context → take action → verify work → repeat). MCP numbers as of Jul 2026 per the MCP project blog.</a:t>
            </a: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p>
          <a:p xmlns:a="http://schemas.openxmlformats.org/drawingml/2006/main">
            <a:r>
              <a:t>44</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Reuse grows from personal prompt to tested team asset with an owner.</a:t>
            </a:r>
          </a:p>
          <a:p xmlns:a="http://schemas.openxmlformats.org/drawingml/2006/main"/>
          <a:p xmlns:a="http://schemas.openxmlformats.org/drawingml/2006/main">
            <a:r>
              <a:t>SAY:</a:t>
            </a:r>
          </a:p>
          <a:p xmlns:a="http://schemas.openxmlformats.org/drawingml/2006/main">
            <a:r>
              <a:t>- The full progression from one-off prompt to managed code remains in the reference slide that follows.</a:t>
            </a:r>
          </a:p>
          <a:p xmlns:a="http://schemas.openxmlformats.org/drawingml/2006/main">
            <a:r>
              <a:t>- Do not package an unreliable prompt just because it is used often.</a:t>
            </a:r>
          </a:p>
          <a:p xmlns:a="http://schemas.openxmlformats.org/drawingml/2006/main">
            <a:r>
              <a:t>- Use a simple shared document when it meets the need.</a:t>
            </a:r>
          </a:p>
          <a:p xmlns:a="http://schemas.openxmlformats.org/drawingml/2006/main"/>
          <a:p xmlns:a="http://schemas.openxmlformats.org/drawingml/2006/main">
            <a:r>
              <a:t>DO: None.</a:t>
            </a:r>
          </a:p>
          <a:p xmlns:a="http://schemas.openxmlformats.org/drawingml/2006/main"/>
          <a:p xmlns:a="http://schemas.openxmlformats.org/drawingml/2006/main">
            <a:r>
              <a:t>BRIDGE: Move to “Where reusable prompts can live”.</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THE PROMOTION LADDER</a:t>
            </a:r>
          </a:p>
          <a:p xmlns:a="http://schemas.openxmlformats.org/drawingml/2006/main">
            <a:r>
              <a:t>56</a:t>
            </a:r>
          </a:p>
          <a:p xmlns:a="http://schemas.openxmlformats.org/drawingml/2006/main">
            <a:r>
              <a:t>FROM RETYPING TO ASSET</a:t>
            </a:r>
          </a:p>
          <a:p xmlns:a="http://schemas.openxmlformats.org/drawingml/2006/main">
            <a:r>
              <a:t>The promotion ladder — and when to climb it</a:t>
            </a:r>
          </a:p>
          <a:p xmlns:a="http://schemas.openxmlformats.org/drawingml/2006/main">
            <a:r>
              <a:t>1 · One-off prompt</a:t>
            </a:r>
          </a:p>
          <a:p xmlns:a="http://schemas.openxmlformats.org/drawingml/2006/main">
            <a:r>
              <a:t>Typed, used, gone. Fine for genuinely one-time asks.</a:t>
            </a:r>
          </a:p>
          <a:p xmlns:a="http://schemas.openxmlformats.org/drawingml/2006/main">
            <a:r>
              <a:t>2 · Personal library</a:t>
            </a:r>
          </a:p>
          <a:p xmlns:a="http://schemas.openxmlformats.org/drawingml/2006/main">
            <a:r>
              <a:t>A saved-prompts doc or text-expander snippets. Zero infrastructure; start today.</a:t>
            </a:r>
          </a:p>
          <a:p xmlns:a="http://schemas.openxmlformats.org/drawingml/2006/main">
            <a:r>
              <a:t>3 · Team library</a:t>
            </a:r>
          </a:p>
          <a:p xmlns:a="http://schemas.openxmlformats.org/drawingml/2006/main">
            <a:r>
              <a:t>A shared database — Notion, SharePoint, Copilot Prompt Gallery. One tested template, everyone’s baseline.</a:t>
            </a:r>
          </a:p>
          <a:p xmlns:a="http://schemas.openxmlformats.org/drawingml/2006/main">
            <a:r>
              <a:t>4 · Packaged &amp; auto-applied</a:t>
            </a:r>
          </a:p>
          <a:p xmlns:a="http://schemas.openxmlformats.org/drawingml/2006/main">
            <a:r>
              <a:t>Project instructions, Claude Skills, Gems, Copilot agents: the prompt loads itself when context matches.</a:t>
            </a:r>
          </a:p>
          <a:p xmlns:a="http://schemas.openxmlformats.org/drawingml/2006/main">
            <a:r>
              <a:t>5 · Prompts as code</a:t>
            </a:r>
          </a:p>
          <a:p xmlns:a="http://schemas.openxmlformats.org/drawingml/2006/main">
            <a:r>
              <a:t>CLAUDE.md / AGENTS.md / briefs in the repo, versioned in git, reviewed like code — where agentic briefs live.</a:t>
            </a:r>
          </a:p>
          <a:p xmlns:a="http://schemas.openxmlformats.org/drawingml/2006/main">
            <a:r>
              <a:t>sticky note → binder → library: the same prompt, promoted</a:t>
            </a:r>
          </a:p>
          <a:p xmlns:a="http://schemas.openxmlformats.org/drawingml/2006/main">
            <a:r>
              <a:t>The promotion trigger</a:t>
            </a:r>
          </a:p>
          <a:p xmlns:a="http://schemas.openxmlformats.org/drawingml/2006/main">
            <a:r>
              <a:t>Anthropic’s rule of thumb: explained the same task more than once? Package it — with its reference material.</a:t>
            </a:r>
          </a:p>
          <a:p xmlns:a="http://schemas.openxmlformats.org/drawingml/2006/main">
            <a:r>
              <a:t>A familiar discipline: run the library like controlled work instructions — name, owner, revision, review date.</a:t>
            </a:r>
          </a:p>
          <a:p xmlns:a="http://schemas.openxmlformats.org/drawingml/2006/main"/>
          <a:p xmlns:a="http://schemas.openxmlformats.org/drawingml/2006/main">
            <a:r>
              <a:t>ARCHIVED SOURCE NOTES</a:t>
            </a: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p>
          <a:p xmlns:a="http://schemas.openxmlformats.org/drawingml/2006/main">
            <a:r>
              <a:t>ACRONYMS — CLAUDE.md / AGENTS.md = standing-instruction files (rung 5). SOP (notes only) = Standard Operating Procedure.</a:t>
            </a: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p>
          <a:p xmlns:a="http://schemas.openxmlformats.org/drawingml/2006/main">
            <a:r>
              <a:t>ART — the risograph triptych (sticky note → binder → library) is an owner-generated illustration (R16).</a:t>
            </a:r>
          </a:p>
          <a:p xmlns:a="http://schemas.openxmlformats.org/drawingml/2006/main">
            <a:r>
              <a:t>56</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0:40</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Shared prompts need representative tests, ownership, and no critical regressions.</a:t>
            </a:r>
          </a:p>
          <a:p xmlns:a="http://schemas.openxmlformats.org/drawingml/2006/main"/>
          <a:p xmlns:a="http://schemas.openxmlformats.org/drawingml/2006/main">
            <a:r>
              <a:t>SAY:</a:t>
            </a:r>
          </a:p>
          <a:p xmlns:a="http://schemas.openxmlformats.org/drawingml/2006/main">
            <a:r>
              <a:t>- Define success before comparing versions.</a:t>
            </a:r>
          </a:p>
          <a:p xmlns:a="http://schemas.openxmlformats.org/drawingml/2006/main">
            <a:r>
              <a:t>- A new version should solve the intended problem without introducing critical regressions.</a:t>
            </a:r>
          </a:p>
          <a:p xmlns:a="http://schemas.openxmlformats.org/drawingml/2006/main">
            <a:r>
              <a:t>- Keep credentials and sensitive example data out of reusable templates.</a:t>
            </a:r>
          </a:p>
          <a:p xmlns:a="http://schemas.openxmlformats.org/drawingml/2006/main"/>
          <a:p xmlns:a="http://schemas.openxmlformats.org/drawingml/2006/main">
            <a:r>
              <a:t>DO: None.</a:t>
            </a:r>
          </a:p>
          <a:p xmlns:a="http://schemas.openxmlformats.org/drawingml/2006/main"/>
          <a:p xmlns:a="http://schemas.openxmlformats.org/drawingml/2006/main">
            <a:r>
              <a:t>BRIDGE: Move to “Exercise: save one prompt for Monday”.</a:t>
            </a:r>
          </a:p>
          <a:p xmlns:a="http://schemas.openxmlformats.org/drawingml/2006/main"/>
          <a:p xmlns:a="http://schemas.openxmlformats.org/drawingml/2006/main">
            <a:r>
              <a:t>IF LATE: COMPRESS</a:t>
            </a:r>
          </a:p>
          <a:p xmlns:a="http://schemas.openxmlformats.org/drawingml/2006/main"/>
          <a:p xmlns:a="http://schemas.openxmlformats.org/drawingml/2006/main">
            <a:r>
              <a:t>SOURCE DETAIL FOR SELF-STUDY</a:t>
            </a:r>
          </a:p>
          <a:p xmlns:a="http://schemas.openxmlformats.org/drawingml/2006/main">
            <a:r>
              <a:t>PART 6 · CONVENTIONS &amp; GOVERNANCE</a:t>
            </a:r>
          </a:p>
          <a:p xmlns:a="http://schemas.openxmlformats.org/drawingml/2006/main">
            <a:r>
              <a:t>58</a:t>
            </a:r>
          </a:p>
          <a:p xmlns:a="http://schemas.openxmlformats.org/drawingml/2006/main">
            <a:r>
              <a:t>HOUSE RULES</a:t>
            </a:r>
          </a:p>
          <a:p xmlns:a="http://schemas.openxmlformats.org/drawingml/2006/main">
            <a:r>
              <a:t>Conventions that keep a library alive — and safe</a:t>
            </a:r>
          </a:p>
          <a:p xmlns:a="http://schemas.openxmlformats.org/drawingml/2006/main">
            <a:r>
              <a:t>Conventions (this library uses them)</a:t>
            </a:r>
          </a:p>
          <a:p xmlns:a="http://schemas.openxmlformats.org/drawingml/2006/main">
            <a:r>
              <a:t>{{placeholders}} for everything that changes per run — mail-merge fields for prompts; search for “{{” before running</a:t>
            </a:r>
          </a:p>
          <a:p xmlns:a="http://schemas.openxmlformats.org/drawingml/2006/main">
            <a:r>
              <a:t>[optional] blocks you delete when unused</a:t>
            </a:r>
          </a:p>
          <a:p xmlns:a="http://schemas.openxmlformats.org/drawingml/2006/main">
            <a:r>
              <a:t>Version + one-line change note — Rev A/B/C discipline, lighter weight; note which model it was tested on</a:t>
            </a:r>
          </a:p>
          <a:p xmlns:a="http://schemas.openxmlformats.org/drawingml/2006/main">
            <a:r>
              <a:t>A filled example next to every blank template — the gold standard that shows what “good” looks like</a:t>
            </a:r>
          </a:p>
          <a:p xmlns:a="http://schemas.openxmlformats.org/drawingml/2006/main">
            <a:r>
              <a:t>EVAL LITE before “approved”: three gold cases — typical · edge · should-abstain — scored with G3; a new version must beat the current; re-run on model upgrades</a:t>
            </a:r>
          </a:p>
          <a:p xmlns:a="http://schemas.openxmlformats.org/drawingml/2006/main">
            <a:r>
              <a:t>Every approved prompt has a named owner and a review cadence</a:t>
            </a:r>
          </a:p>
          <a:p xmlns:a="http://schemas.openxmlformats.org/drawingml/2006/main">
            <a:r>
              <a:t>Governance: prompts contain data</a:t>
            </a:r>
          </a:p>
          <a:p xmlns:a="http://schemas.openxmlformats.org/drawingml/2006/main">
            <a:r>
              <a:t>A stored prompt often carries supplier names, pricing, findings, draft language — classify the library like the documents it quotes</a:t>
            </a:r>
          </a:p>
          <a:p xmlns:a="http://schemas.openxmlformats.org/drawingml/2006/main">
            <a:r>
              <a:t>Never store credentials, personal data, or patient-adjacent examples in a template — {{placeholders}} supply them at run time</a:t>
            </a:r>
          </a:p>
          <a:p xmlns:a="http://schemas.openxmlformats.org/drawingml/2006/main">
            <a:r>
              <a:t>Shared = distributed. Owner approval before team-wide sharing; treat third-party skills like installing software — audit first</a:t>
            </a:r>
          </a:p>
          <a:p xmlns:a="http://schemas.openxmlformats.org/drawingml/2006/main">
            <a:r>
              <a:t>Tools change; the practice doesn’t. </a:t>
            </a:r>
          </a:p>
          <a:p xmlns:a="http://schemas.openxmlformats.org/drawingml/2006/main">
            <a:r>
              <a:t>Prompt-tooling startups get acquired and shut down yearly. Version it, test it, own it — that discipline outlives every platform.</a:t>
            </a:r>
          </a:p>
          <a:p xmlns:a="http://schemas.openxmlformats.org/drawingml/2006/main"/>
          <a:p xmlns:a="http://schemas.openxmlformats.org/drawingml/2006/main">
            <a:r>
              <a:t>ARCHIVED SOURCE NOTES</a:t>
            </a: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p>
          <a:p xmlns:a="http://schemas.openxmlformats.org/drawingml/2006/main">
            <a:r>
              <a:t>ACRONYMS — Rev A/B/C = revision-letter discipline from document control. {{placeholders}} = fill-in-at-run-time fields (mail-merge for prompts).</a:t>
            </a: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p>
          <a:p xmlns:a="http://schemas.openxmlformats.org/drawingml/2006/main">
            <a:r>
              <a:t>58</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p xmlns:a="http://schemas.openxmlformats.org/drawingml/2006/main">
            <a:r>
              <a:t>TIME: 0:25</a:t>
            </a:r>
          </a:p>
          <a:p xmlns:a="http://schemas.openxmlformats.org/drawingml/2006/main"/>
          <a:p xmlns:a="http://schemas.openxmlformats.org/drawingml/2006/main">
            <a:r>
              <a:t>PURPOSE: Build a concept required for the next application.</a:t>
            </a:r>
          </a:p>
          <a:p xmlns:a="http://schemas.openxmlformats.org/drawingml/2006/main"/>
          <a:p xmlns:a="http://schemas.openxmlformats.org/drawingml/2006/main">
            <a:r>
              <a:t>LAND THIS: The durable habits are specify, verify, and delegate with appropriate authority.</a:t>
            </a:r>
          </a:p>
          <a:p xmlns:a="http://schemas.openxmlformats.org/drawingml/2006/main"/>
          <a:p xmlns:a="http://schemas.openxmlformats.org/drawingml/2006/main">
            <a:r>
              <a:t>SAY:</a:t>
            </a:r>
          </a:p>
          <a:p xmlns:a="http://schemas.openxmlformats.org/drawingml/2006/main">
            <a:r>
              <a:t>- Return to the requirements analogy without repeating the earlier explanation.</a:t>
            </a:r>
          </a:p>
          <a:p xmlns:a="http://schemas.openxmlformats.org/drawingml/2006/main">
            <a:r>
              <a:t>- Ask participants to recall one failure the workbook or email exercise exposed.</a:t>
            </a:r>
          </a:p>
          <a:p xmlns:a="http://schemas.openxmlformats.org/drawingml/2006/main">
            <a:r>
              <a:t>- Transition directly to their own application.</a:t>
            </a:r>
          </a:p>
          <a:p xmlns:a="http://schemas.openxmlformats.org/drawingml/2006/main"/>
          <a:p xmlns:a="http://schemas.openxmlformats.org/drawingml/2006/main">
            <a:r>
              <a:t>DO: None.</a:t>
            </a:r>
          </a:p>
          <a:p xmlns:a="http://schemas.openxmlformats.org/drawingml/2006/main"/>
          <a:p xmlns:a="http://schemas.openxmlformats.org/drawingml/2006/main">
            <a:r>
              <a:t>BRIDGE: Move to “Capstone: one task, one checked result”.</a:t>
            </a:r>
          </a:p>
          <a:p xmlns:a="http://schemas.openxmlformats.org/drawingml/2006/main"/>
          <a:p xmlns:a="http://schemas.openxmlformats.org/drawingml/2006/main">
            <a:r>
              <a:t>IF LATE: COMPRESS</a:t>
            </a:r>
          </a:p>
          <a:p xmlns:a="http://schemas.openxmlformats.org/drawingml/2006/main"/>
          <a:p xmlns:a="http://schemas.openxmlformats.org/drawingml/2006/main">
            <a:r>
              <a:t>CONNECTING INSIGHT</a:t>
            </a: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p>
          <a:p xmlns:a="http://schemas.openxmlformats.org/drawingml/2006/main"/>
          <a:p xmlns:a="http://schemas.openxmlformats.org/drawingml/2006/main">
            <a:r>
              <a:t>SOURCE DETAIL FOR SELF-STUDY</a:t>
            </a:r>
          </a:p>
          <a:p xmlns:a="http://schemas.openxmlformats.org/drawingml/2006/main">
            <a:r>
              <a:t>WRAP-UP</a:t>
            </a:r>
          </a:p>
          <a:p xmlns:a="http://schemas.openxmlformats.org/drawingml/2006/main">
            <a:r>
              <a:t>62</a:t>
            </a:r>
          </a:p>
          <a:p xmlns:a="http://schemas.openxmlformats.org/drawingml/2006/main">
            <a:r>
              <a:t>WRAP-UP</a:t>
            </a:r>
          </a:p>
          <a:p xmlns:a="http://schemas.openxmlformats.org/drawingml/2006/main">
            <a:r>
              <a:t>Ten things worth remembering</a:t>
            </a:r>
          </a:p>
          <a:p xmlns:a="http://schemas.openxmlformats.org/drawingml/2006/main">
            <a:r>
              <a:t>1</a:t>
            </a:r>
          </a:p>
          <a:p xmlns:a="http://schemas.openxmlformats.org/drawingml/2006/main">
            <a:r>
              <a:t>The prompt is the whole steering wheel — everything the model knows about your task must be in it (or in files it can read).</a:t>
            </a:r>
          </a:p>
          <a:p xmlns:a="http://schemas.openxmlformats.org/drawingml/2006/main">
            <a:r>
              <a:t>2</a:t>
            </a:r>
          </a:p>
          <a:p xmlns:a="http://schemas.openxmlformats.org/drawingml/2006/main">
            <a:r>
              <a:t>Anatomy beats inspiration: Role · Task · Context · Format · Examples — plus the Out and the Stop. A prompt is a requirement, new audience.</a:t>
            </a:r>
          </a:p>
          <a:p xmlns:a="http://schemas.openxmlformats.org/drawingml/2006/main">
            <a:r>
              <a:t>3</a:t>
            </a:r>
          </a:p>
          <a:p xmlns:a="http://schemas.openxmlformats.org/drawingml/2006/main">
            <a:r>
              <a:t>The context window is a desk, not a filing cabinet: documents at the top, question at the end, fresh chat per topic.</a:t>
            </a:r>
          </a:p>
          <a:p xmlns:a="http://schemas.openxmlformats.org/drawingml/2006/main">
            <a:r>
              <a:t>4</a:t>
            </a:r>
          </a:p>
          <a:p xmlns:a="http://schemas.openxmlformats.org/drawingml/2006/main">
            <a:r>
              <a:t>Numbers come from code execution, quotes come from documents, current facts come from search — never from free recall.</a:t>
            </a:r>
          </a:p>
          <a:p xmlns:a="http://schemas.openxmlformats.org/drawingml/2006/main">
            <a:r>
              <a:t>5</a:t>
            </a:r>
          </a:p>
          <a:p xmlns:a="http://schemas.openxmlformats.org/drawingml/2006/main">
            <a:r>
              <a:t>Fluency is not evidence. Uncited claims are drafts. Give the model an out and demand citations.</a:t>
            </a:r>
          </a:p>
          <a:p xmlns:a="http://schemas.openxmlformats.org/drawingml/2006/main">
            <a:r>
              <a:t>6</a:t>
            </a:r>
          </a:p>
          <a:p xmlns:a="http://schemas.openxmlformats.org/drawingml/2006/main">
            <a:r>
              <a:t>Never reveal your preferred answer when asking for judgment — AI affirms you ~49% more than a human would.</a:t>
            </a:r>
          </a:p>
          <a:p xmlns:a="http://schemas.openxmlformats.org/drawingml/2006/main">
            <a:r>
              <a:t>7</a:t>
            </a:r>
          </a:p>
          <a:p xmlns:a="http://schemas.openxmlformats.org/drawingml/2006/main">
            <a:r>
              <a:t>On thinking models: drop the step-by-step scripts, keep the clarity. Contradictions now cost real money.</a:t>
            </a:r>
          </a:p>
          <a:p xmlns:a="http://schemas.openxmlformats.org/drawingml/2006/main">
            <a:r>
              <a:t>8</a:t>
            </a:r>
          </a:p>
          <a:p xmlns:a="http://schemas.openxmlformats.org/drawingml/2006/main">
            <a:r>
              <a:t>A generative prompt says what to write; an agentic prompt is a work order: mission, environment, checks, gates, autonomy.</a:t>
            </a:r>
          </a:p>
          <a:p xmlns:a="http://schemas.openxmlformats.org/drawingml/2006/main">
            <a:r>
              <a:t>9</a:t>
            </a:r>
          </a:p>
          <a:p xmlns:a="http://schemas.openxmlformats.org/drawingml/2006/main">
            <a:r>
              <a:t>Gates catch errors cheapest: definitions before data, reconciliation before analysis, headlines before rendering.</a:t>
            </a:r>
          </a:p>
          <a:p xmlns:a="http://schemas.openxmlformats.org/drawingml/2006/main">
            <a:r>
              <a:t>10</a:t>
            </a:r>
          </a:p>
          <a:p xmlns:a="http://schemas.openxmlformats.org/drawingml/2006/main">
            <a:r>
              <a:t>Prompts that work are assets: name them, version them, store them where the team (and the agent) can find them.</a:t>
            </a:r>
          </a:p>
          <a:p xmlns:a="http://schemas.openxmlformats.org/drawingml/2006/main">
            <a:r>
              <a:t>And if you keep only one sentence: a prompt deletes wrong guesses, binds the job, and decides what sits on the desk.</a:t>
            </a:r>
          </a:p>
          <a:p xmlns:a="http://schemas.openxmlformats.org/drawingml/2006/main"/>
          <a:p xmlns:a="http://schemas.openxmlformats.org/drawingml/2006/main">
            <a:r>
              <a:t>ARCHIVED SOURCE NOTES</a:t>
            </a: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p>
          <a:p xmlns:a="http://schemas.openxmlformats.org/drawingml/2006/main">
            <a:r>
              <a:t>ACRONYMS — none new on this slide.</a:t>
            </a: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p>
          <a:p xmlns:a="http://schemas.openxmlformats.org/drawingml/2006/main">
            <a:r>
              <a:t>62</a:t>
            </a:r>
          </a:p>
          <a:p xmlns:a="http://schemas.openxmlformats.org/drawingml/2006/main"/>
          <a:p xmlns:a="http://schemas.openxmlformats.org/drawingml/2006/main">
            <a:r>
              <a:t>Use the current facilitation guidance above for timing and delivery. Historical numerical claims in the source notes retain their original scope and should not be treated as current product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 revised 2026)</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2025; revised 2026 — arXiv:2505.13360.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et al., 2025; revised 2026 —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0.348478%;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0.348%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Future applications follow the same source, output, and verification pattern.</a:t>
            </a:r>
          </a:p>
          <a:p/>
          <a:p>
            <a:r>
              <a:t>SAY:</a:t>
            </a:r>
          </a:p>
          <a:p>
            <a:r>
              <a:t>- This page lists candidate extensions for later sessions; each maps onto the same requirement types taught today.</a:t>
            </a:r>
          </a:p>
          <a:p/>
          <a:p>
            <a:r>
              <a:t>DO: None.</a:t>
            </a:r>
          </a:p>
          <a:p/>
          <a:p>
            <a:r>
              <a:t>BRIDGE: Optional self-study. Return to the related live slide or continue the reference material as needed.</a:t>
            </a:r>
          </a:p>
          <a:p/>
          <a:p>
            <a:r>
              <a:t>IF LATE: SKIP</a:t>
            </a:r>
          </a:p>
          <a:p/>
          <a:p>
            <a:r>
              <a:t>RELOCATED from the live sequence when the presentation demonstration took this content’s slot (that demonstration now sits at live slide 41).</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Interaction behavior is specified in plain language, control by control, with a checkable state rule.</a:t>
            </a:r>
          </a:p>
          <a:p/>
          <a:p>
            <a:r>
              <a:t>SAY:</a:t>
            </a:r>
          </a:p>
          <a:p>
            <a:r>
              <a:t>- The three prompt versions build on each other; the vocabulary table in workbook tab 2-Build-Dashboard names every control with reusable wording.</a:t>
            </a:r>
          </a:p>
          <a:p/>
          <a:p>
            <a:r>
              <a:t>DO: None.</a:t>
            </a:r>
          </a:p>
          <a:p/>
          <a:p>
            <a:r>
              <a:t>BRIDGE: Optional self-study. Return to the related live slide or continue the reference material as needed.</a:t>
            </a:r>
          </a:p>
          <a:p/>
          <a:p>
            <a:r>
              <a:t>IF LATE: SKIP</a:t>
            </a:r>
          </a:p>
          <a:p/>
          <a:p>
            <a:r>
              <a:rPr/>
              <a:t>RELATED: live demonstration slide 38; Supplier_Data_Analyzed.xlsx (the returned workbook); the dashboard’s footer self-check.</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 presentation is an artifact with narrative, fidelity, and delivery requirements — not decorated bullet points.</a:t>
            </a:r>
          </a:p>
          <a:p/>
          <a:p>
            <a:r>
              <a:t>SAY:</a:t>
            </a:r>
          </a:p>
          <a:p>
            <a:r>
              <a:t>- The mock deck is deliberately auditable: every number traces to the workbook and the limitations slide names what the data cannot say.</a:t>
            </a:r>
          </a:p>
          <a:p/>
          <a:p>
            <a:r>
              <a:t>DO: None.</a:t>
            </a:r>
          </a:p>
          <a:p/>
          <a:p>
            <a:r>
              <a:t>BRIDGE: Optional self-study. Return to the related live slide or continue the reference material as needed.</a:t>
            </a:r>
          </a:p>
          <a:p/>
          <a:p>
            <a:r>
              <a:t>IF LATE: SKIP</a:t>
            </a:r>
          </a:p>
          <a:p/>
          <a:p>
            <a:r>
              <a:rPr/>
              <a:t>RELATED: slide 39 (live orientation); workbook tab 3-Present-Findings.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Accessible language preserves meaning, conditions, and useful detail — fidelity is the hard requirement.</a:t>
            </a:r>
          </a:p>
          <a:p/>
          <a:p>
            <a:r>
              <a:t>SAY:</a:t>
            </a:r>
          </a:p>
          <a:p>
            <a:r>
              <a:t>- Each sample file shows the source, the sample output, and its own fidelity note — the note is part of the deliverable.</a:t>
            </a:r>
          </a:p>
          <a:p/>
          <a:p>
            <a:r>
              <a:t>DO: None.</a:t>
            </a:r>
          </a:p>
          <a:p/>
          <a:p>
            <a:r>
              <a:t>BRIDGE: Optional self-study. Return to the related live slide or continue the reference material as needed.</a:t>
            </a:r>
          </a:p>
          <a:p/>
          <a:p>
            <a:r>
              <a:t>IF LATE: SKIP</a:t>
            </a:r>
          </a:p>
          <a:p/>
          <a:p>
            <a:r>
              <a:rPr/>
              <a:t>RELATED: reference-layer exercise (no live slot); references/exercise-data/plain-language/.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 REFERENCE</a:t>
            </a:r>
          </a:p>
          <a:p/>
          <a:p>
            <a:r>
              <a:t>TIME: 0:00 (optional self-study; no live allocation)</a:t>
            </a:r>
          </a:p>
          <a:p/>
          <a:p>
            <a:r>
              <a:t>PURPOSE: Support independent study with the checked exercise material.</a:t>
            </a:r>
          </a:p>
          <a:p/>
          <a:p>
            <a:r>
              <a:t>LAND THIS: The email prompt is a portable specification: scope, extraction fields, evidence, and authority boundaries.</a:t>
            </a:r>
          </a:p>
          <a:p/>
          <a:p>
            <a:r>
              <a:t>SAY:</a:t>
            </a:r>
          </a:p>
          <a:p>
            <a:r>
              <a:t>- Verified Sep 2026 (r28): Outlook’s “Summary by Copilot” covers the native path with numbered citations; the supplied-text version works in any approved assistant; after the built-in summary, the custom prompt runs in the Copilot chat pane scoped to the same conversation.</a:t>
            </a:r>
          </a:p>
          <a:p/>
          <a:p>
            <a:r>
              <a:t>DO: None.</a:t>
            </a:r>
          </a:p>
          <a:p/>
          <a:p>
            <a:r>
              <a:t>BRIDGE: Optional self-study. Return to the related live slide or continue the reference material as needed.</a:t>
            </a:r>
          </a:p>
          <a:p/>
          <a:p>
            <a:r>
              <a:t>IF LATE: SKIP</a:t>
            </a:r>
          </a:p>
          <a:p/>
          <a:p>
            <a:r>
              <a:t>SOURCES: support.microsoft.com — Summarize an email thread with Copilot in Outlook; Draft an email message with Copilot in Outlook (retrieved 2026-09-16). The full trap answer key: slide 89 + instructor-keys/Packaging_Change_Expected_Brief.md.</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Documents-to-spreadsheet, step one: extraction with provenance, no judgment.</a:t>
            </a:r>
          </a:p>
          <a:p xmlns:a="http://schemas.openxmlformats.org/drawingml/2006/main">
            <a:r>
              <a:t>LAND THIS: Verbatim values, original currencies, "Not stated" for silence, a citation per value.</a:t>
            </a:r>
          </a:p>
          <a:p xmlns:a="http://schemas.openxmlformats.org/drawingml/2006/main">
            <a:r>
              <a:t>SAY: Attach the three PDFs and run it. Anything converted, ranked, or recommended at this step is a miss.</a:t>
            </a:r>
          </a:p>
          <a:p xmlns:a="http://schemas.openxmlformats.org/drawingml/2006/main">
            <a:r>
              <a:t>DO: 1:30 run; 1:00 spot-check two extracted values against the PDFs on screen.</a:t>
            </a:r>
          </a:p>
          <a:p xmlns:a="http://schemas.openxmlformats.org/drawingml/2006/main">
            <a:r>
              <a:t>BRIDGE: Move to "Normalize and Compare the Supplier Quotes".</a:t>
            </a:r>
          </a:p>
          <a:p xmlns:a="http://schemas.openxmlformats.org/drawingml/2006/main">
            <a:r>
              <a:t>IF LATE: SKIP to the prepared Quote_Comparison_Workbook.xlsx in the next slide's debrief.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p>
          <a:p xmlns:a="http://schemas.openxmlformats.org/drawingml/2006/main">
            <a:r>
              <a:t>TIME: 2:30</a:t>
            </a:r>
          </a:p>
          <a:p xmlns:a="http://schemas.openxmlformats.org/drawingml/2006/main">
            <a:r>
              <a:t>PURPOSE: Step two: normalize only what has a basis; refuse a premature winner.</a:t>
            </a:r>
          </a:p>
          <a:p xmlns:a="http://schemas.openxmlformats.org/drawingml/2006/main">
            <a:r>
              <a:t>LAND THIS: A fair comparison names its blocking gaps before it names a favorite.</a:t>
            </a:r>
          </a:p>
          <a:p xmlns:a="http://schemas.openxmlformats.org/drawingml/2006/main">
            <a:r>
              <a:t>SAY: Continue in the same chat from the extraction. Watch whether it converts euros without a rate - that is the discipline test.</a:t>
            </a:r>
          </a:p>
          <a:p xmlns:a="http://schemas.openxmlformats.org/drawingml/2006/main">
            <a:r>
              <a:t>DO: 1:30 run; 1:00 open the prepared workbook and read the blocking-gap list aloud.</a:t>
            </a:r>
          </a:p>
          <a:p xmlns:a="http://schemas.openxmlformats.org/drawingml/2006/main">
            <a:r>
              <a:t>ANSWER SKETCH (instructor only): at 5,000 units with tooling amortized - Alpha USD 15.60/unit (freight excluded), Bravo EUR 14.70/unit (not convertible without a supplied rate; freight, duties, VAT excluded), Cardinal USD 16.40/unit all-in (DDP, certs, longest warranty). Correct outcome: NO best quote yet. Key: instructor-keys/Quote_Comparison_Key.md.</a:t>
            </a:r>
          </a:p>
          <a:p xmlns:a="http://schemas.openxmlformats.org/drawingml/2006/main">
            <a:r>
              <a:t>BRIDGE: Move to "Turn Reference Files into a Research Spreadsheet".</a:t>
            </a:r>
          </a:p>
          <a:p xmlns:a="http://schemas.openxmlformats.org/drawingml/2006/main">
            <a:r>
              <a:t>IF LATE: Open the prepared workbook; skip live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69ebefd81964fb7"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6acb6a8878274cf9" Type="http://schemas.openxmlformats.org/officeDocument/2006/relationships/slideLayout" Target="../slideLayouts/slideLayout1.xml"/><Relationship Id="Rae79e7325118474b"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ca1d4914684602" Type="http://schemas.openxmlformats.org/officeDocument/2006/relationships/slideLayout" Target="../slideLayouts/slideLayout1.xml"/><Relationship Id="R66cbe264a66542e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78d222c0d9b04b30" Type="http://schemas.openxmlformats.org/officeDocument/2006/relationships/slideLayout" Target="../slideLayouts/slideLayout1.xml"/><Relationship Id="Rabbfdd075e10404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05c834d02e55409b" Type="http://schemas.openxmlformats.org/officeDocument/2006/relationships/slideLayout" Target="../slideLayouts/slideLayout1.xml"/><Relationship Id="R8530d5c9ad3347f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75554399d3f4a84" Type="http://schemas.openxmlformats.org/officeDocument/2006/relationships/notesSlide" Target="../notesSlides/notesSlide4.xml"/><Relationship Id="R0e7773c3650b472b" Type="http://schemas.openxmlformats.org/officeDocument/2006/relationships/image" Target="../media/image2.png"/><Relationship Id="R172c9a40f6e844f9" Type="http://schemas.openxmlformats.org/officeDocument/2006/relationships/slideLayout" Target="../slideLayouts/slideLayout1.xml"/><Relationship Id="R25922f78034f4f00" Type="http://schemas.openxmlformats.org/officeDocument/2006/relationships/image" Target="../media/image3.png"/><Relationship Id="R29b3c6c186e2442c" Type="http://schemas.openxmlformats.org/officeDocument/2006/relationships/image" Target="../media/image4.png"/><Relationship Id="Rd09ab84476d44959" Type="http://schemas.openxmlformats.org/officeDocument/2006/relationships/image" Target="../media/image.png"/><Relationship Id="Ree9b2c94d0dd404d" Type="http://schemas.openxmlformats.org/officeDocument/2006/relationships/image" Target="../media/image5.png"/></Relationships>
</file>

<file path=ppt/slides/_rels/slide5.xml.rels><?xml version='1.0' encoding='UTF-8' standalone='yes'?>
<Relationships xmlns="http://schemas.openxmlformats.org/package/2006/relationships"><Relationship Id="R6bab3a3620d94ede" Type="http://schemas.openxmlformats.org/officeDocument/2006/relationships/notesSlide" Target="../notesSlides/notesSlide5.xml"/><Relationship Id="R72ef1b755d244255"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2680133c79224739" Type="http://schemas.openxmlformats.org/officeDocument/2006/relationships/slideLayout" Target="../slideLayouts/slideLayout1.xml"/><Relationship Id="R4cee9ec1d2b6425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1fe845a3994741fd" Type="http://schemas.openxmlformats.org/officeDocument/2006/relationships/notesSlide" Target="../notesSlides/notesSlide7.xml"/><Relationship Id="Rdbffe7b69e644f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785a3ec45e6e4dec" Type="http://schemas.openxmlformats.org/officeDocument/2006/relationships/notesSlide" Target="../notesSlides/notesSlide8.xml"/><Relationship Id="R7f37b51b2cb941e8" Type="http://schemas.openxmlformats.org/officeDocument/2006/relationships/slideLayout" Target="../slideLayouts/slideLayout1.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0cc33ca1e60d447a" Type="http://schemas.openxmlformats.org/officeDocument/2006/relationships/slideLayout" Target="../slideLayouts/slideLayout1.xml"/><Relationship Id="Rd99606dfcc804f50" Type="http://schemas.openxmlformats.org/officeDocument/2006/relationships/notesSlide" Target="../notesSlides/notesSlide9.xml"/><Relationship Id="rId3" Type="http://schemas.openxmlformats.org/officeDocument/2006/relationships/image" Target="../media/image3.jpeg"/></Relationships>
</file>

<file path=ppt/slides/_rels/slide10.xml.rels><?xml version='1.0' encoding='UTF-8' standalone='yes'?>
<Relationships xmlns="http://schemas.openxmlformats.org/package/2006/relationships"><Relationship Id="R3e64f3af88ee4db1" Type="http://schemas.openxmlformats.org/officeDocument/2006/relationships/notesSlide" Target="../notesSlides/notesSlide10.xml"/><Relationship Id="R90ed3e70acaf4158" Type="http://schemas.openxmlformats.org/officeDocument/2006/relationships/slideLayout" Target="../slideLayouts/slideLayout1.xml"/><Relationship Id="rId3" Type="http://schemas.openxmlformats.org/officeDocument/2006/relationships/image" Target="../media/image4.jpeg"/></Relationships>
</file>

<file path=ppt/slides/_rels/slide11.xml.rels><?xml version='1.0' encoding='UTF-8' standalone='yes'?>
<Relationships xmlns="http://schemas.openxmlformats.org/package/2006/relationships"><Relationship Id="Rc0a7b46138e8485d" Type="http://schemas.openxmlformats.org/officeDocument/2006/relationships/notesSlide" Target="../notesSlides/notesSlide11.xml"/><Relationship Id="Rdc9259cdbc004a88"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56000295143443f7" Type="http://schemas.openxmlformats.org/officeDocument/2006/relationships/slideLayout" Target="../slideLayouts/slideLayout1.xml"/><Relationship Id="Re0ac05031f3849e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067cd5585bdf44ff" Type="http://schemas.openxmlformats.org/officeDocument/2006/relationships/slideLayout" Target="../slideLayouts/slideLayout1.xml"/><Relationship Id="R9b6d42ff476642e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2d169fb046614db3" Type="http://schemas.openxmlformats.org/officeDocument/2006/relationships/slideLayout" Target="../slideLayouts/slideLayout1.xml"/><Relationship Id="Raa150d328cd449b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b2e3af3bb36b4b35" Type="http://schemas.openxmlformats.org/officeDocument/2006/relationships/notesSlide" Target="../notesSlides/notesSlide15.xml"/><Relationship Id="Re4b6752e70864faa" Type="http://schemas.openxmlformats.org/officeDocument/2006/relationships/slideLayout" Target="../slideLayouts/slideLayout1.xml"/><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60.jpg"/></Relationships>
</file>

<file path=ppt/slides/_rels/slide16.xml.rels><?xml version='1.0' encoding='UTF-8' standalone='yes'?>
<Relationships xmlns="http://schemas.openxmlformats.org/package/2006/relationships"><Relationship Id="R0c68d456146743c0" Type="http://schemas.openxmlformats.org/officeDocument/2006/relationships/notesSlide" Target="../notesSlides/notesSlide16.xml"/><Relationship Id="R7908913665e0427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a11656f99734687" Type="http://schemas.openxmlformats.org/officeDocument/2006/relationships/notesSlide" Target="../notesSlides/notesSlide17.xml"/><Relationship Id="Rd38a0f0938c04df4"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05ca6ac46d1947e0" Type="http://schemas.openxmlformats.org/officeDocument/2006/relationships/image" Target="../media/image6.png"/><Relationship Id="R2b0659b3f76e4120" Type="http://schemas.openxmlformats.org/officeDocument/2006/relationships/slideLayout" Target="../slideLayouts/slideLayout1.xml"/><Relationship Id="R3066ea6f59654f03" Type="http://schemas.openxmlformats.org/officeDocument/2006/relationships/notesSlide" Target="../notesSlides/notesSlide18.xml"/><Relationship Id="Rca11f5b435e74076" Type="http://schemas.openxmlformats.org/officeDocument/2006/relationships/image" Target="../media/image.jpeg"/><Relationship Id="Rdb809389e5b34467" Type="http://schemas.openxmlformats.org/officeDocument/2006/relationships/image" Target="../media/image7.png"/></Relationships>
</file>

<file path=ppt/slides/_rels/slide19.xml.rels><?xml version='1.0' encoding='UTF-8' standalone='yes'?>
<Relationships xmlns="http://schemas.openxmlformats.org/package/2006/relationships"><Relationship Id="Ra079507bbd9e4f7e" Type="http://schemas.openxmlformats.org/officeDocument/2006/relationships/slideLayout" Target="../slideLayouts/slideLayout1.xml"/><Relationship Id="Ra4eb2d17b5a54d9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703d20a12ad74c34" Type="http://schemas.openxmlformats.org/officeDocument/2006/relationships/slideLayout" Target="../slideLayouts/slideLayout1.xml"/><Relationship Id="Rafcf64a55b8e4b6a"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734934f0585c4600" Type="http://schemas.openxmlformats.org/officeDocument/2006/relationships/slideLayout" Target="../slideLayouts/slideLayout1.xml"/><Relationship Id="R7621056db14b4f2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3739378e116e4d6c" Type="http://schemas.openxmlformats.org/officeDocument/2006/relationships/slideLayout" Target="../slideLayouts/slideLayout1.xml"/><Relationship Id="R893316e8128c478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8f5f3162b2c048a6" Type="http://schemas.openxmlformats.org/officeDocument/2006/relationships/slideLayout" Target="../slideLayouts/slideLayout1.xml"/><Relationship Id="Re061570656f7417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d1f757199d7d4d97" Type="http://schemas.openxmlformats.org/officeDocument/2006/relationships/slideLayout" Target="../slideLayouts/slideLayout1.xml"/><Relationship Id="Rd4966204782245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3a05174f3f54eaa" Type="http://schemas.openxmlformats.org/officeDocument/2006/relationships/slideLayout" Target="../slideLayouts/slideLayout1.xml"/><Relationship Id="Ra119d7fbb2e64a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167e3d7844f04442" Type="http://schemas.openxmlformats.org/officeDocument/2006/relationships/slideLayout" Target="../slideLayouts/slideLayout1.xml"/><Relationship Id="Rdfd8daa887134e9a"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0bda94135ada400b" Type="http://schemas.openxmlformats.org/officeDocument/2006/relationships/slideLayout" Target="../slideLayouts/slideLayout1.xml"/><Relationship Id="R7f8fdba478e94a5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a6ea923c87e04b3f" Type="http://schemas.openxmlformats.org/officeDocument/2006/relationships/notesSlide" Target="../notesSlides/notesSlide28.xml"/><Relationship Id="Rb5cb75334b40472e"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141d04f004054194" Type="http://schemas.openxmlformats.org/officeDocument/2006/relationships/slideLayout" Target="../slideLayouts/slideLayout1.xml"/><Relationship Id="R47a5cc8d66a94b2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e7fca35c971f4eb1" Type="http://schemas.openxmlformats.org/officeDocument/2006/relationships/slideLayout" Target="../slideLayouts/slideLayout1.xml"/><Relationship Id="Rebf832e2acef4dea"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5cccfc9fea2e4b3e" Type="http://schemas.openxmlformats.org/officeDocument/2006/relationships/notesSlide" Target="../notesSlides/notesSlide31.xml"/><Relationship Id="R734abacfc58a4ec5"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1f8ca452eefd430e" Type="http://schemas.openxmlformats.org/officeDocument/2006/relationships/slideLayout" Target="../slideLayouts/slideLayout1.xml"/><Relationship Id="Rda26c3f1d0ff46f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6dbd5c2a263742d7" Type="http://schemas.openxmlformats.org/officeDocument/2006/relationships/notesSlide" Target="../notesSlides/notesSlide34.xml"/><Relationship Id="Ra94058b3de434118"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01f32571ad43472f" Type="http://schemas.openxmlformats.org/officeDocument/2006/relationships/notesSlide" Target="../notesSlides/notesSlide36.xml"/><Relationship Id="R52e6fd8e759e4e92"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a75027bc5fe94562" Type="http://schemas.openxmlformats.org/officeDocument/2006/relationships/notesSlide" Target="../notesSlides/notesSlide37.xml"/><Relationship Id="Rb4a1524bb9ef4a3f"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815b42f102f04b2f" Type="http://schemas.openxmlformats.org/officeDocument/2006/relationships/slideLayout" Target="../slideLayouts/slideLayout1.xml"/><Relationship Id="Ra924d8f4f57f46d0"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27b3fad460464581" Type="http://schemas.openxmlformats.org/officeDocument/2006/relationships/notesSlide" Target="../notesSlides/notesSlide39.xml"/><Relationship Id="Rd82d4733be824a7f"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953d6ea2f40549bd" Type="http://schemas.openxmlformats.org/officeDocument/2006/relationships/notesSlide" Target="../notesSlides/notesSlide40.xml"/><Relationship Id="Rd938556534dd419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1bd1452a28e4133" Type="http://schemas.openxmlformats.org/officeDocument/2006/relationships/notesSlide" Target="../notesSlides/notesSlide43.xml"/><Relationship Id="Reb572ba3ce3d4615" Type="http://schemas.openxmlformats.org/officeDocument/2006/relationships/image" Target="../media/image13.png"/><Relationship Id="Rfc9978d38a194000"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13097a378f9149f8" Type="http://schemas.openxmlformats.org/officeDocument/2006/relationships/notesSlide" Target="../notesSlides/notesSlide41.xml"/><Relationship Id="R8eb05cbb7b7e4d24"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51ef3b8bd4b34897" Type="http://schemas.openxmlformats.org/officeDocument/2006/relationships/notesSlide" Target="../notesSlides/notesSlide42.xml"/><Relationship Id="Rfb37e766c1f14269"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1f32571ad43472f" Type="http://schemas.openxmlformats.org/officeDocument/2006/relationships/notesSlide" Target="../notesSlides/notesSlide102.xml"/><Relationship Id="R52e6fd8e759e4e92"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01f32571ad43472f" Type="http://schemas.openxmlformats.org/officeDocument/2006/relationships/notesSlide" Target="../notesSlides/notesSlide103.xml"/><Relationship Id="R52e6fd8e759e4e92"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052156c05e5046a1" Type="http://schemas.openxmlformats.org/officeDocument/2006/relationships/notesSlide" Target="../notesSlides/notesSlide44.xml"/><Relationship Id="R5a3a052be8574eff"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3befa8dec3794e99" Type="http://schemas.openxmlformats.org/officeDocument/2006/relationships/notesSlide" Target="../notesSlides/notesSlide45.xml"/><Relationship Id="R4f1b357c89d14799"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e753c76fe7ac4cb8" Type="http://schemas.openxmlformats.org/officeDocument/2006/relationships/slideLayout" Target="../slideLayouts/slideLayout1.xml"/><Relationship Id="Rf0171fee3a654ebb"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c5bc1bfe9624728" Type="http://schemas.openxmlformats.org/officeDocument/2006/relationships/slideLayout" Target="../slideLayouts/slideLayout1.xml"/><Relationship Id="Rb7eec770b3974a5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120ce8edcf364f6e" Type="http://schemas.openxmlformats.org/officeDocument/2006/relationships/notesSlide" Target="../notesSlides/notesSlide48.xml"/><Relationship Id="Rfb7bf9000edf4b40"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40598ef742264057" Type="http://schemas.openxmlformats.org/officeDocument/2006/relationships/notesSlide" Target="../notesSlides/notesSlide49.xml"/><Relationship Id="Rbfb2d6232c664814" Type="http://schemas.openxmlformats.org/officeDocument/2006/relationships/image" Target="../media/image15.png"/><Relationship Id="Rd6d26a14dc124cff"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d6c19e393c564505" Type="http://schemas.openxmlformats.org/officeDocument/2006/relationships/notesSlide" Target="../notesSlides/notesSlide50.xml"/><Relationship Id="Rf43403842052495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880cfbfdcf814968" Type="http://schemas.openxmlformats.org/officeDocument/2006/relationships/slideLayout" Target="../slideLayouts/slideLayout1.xml"/><Relationship Id="Rffa4a1bdfc32459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6e4d7406960419c" Type="http://schemas.openxmlformats.org/officeDocument/2006/relationships/slideLayout" Target="../slideLayouts/slideLayout1.xml"/><Relationship Id="R55b99455e6f64f4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a8d96fb213584e7e" Type="http://schemas.openxmlformats.org/officeDocument/2006/relationships/notesSlide" Target="../notesSlides/notesSlide53.xml"/><Relationship Id="Rc2104115db4442ba"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a1d3af670825425d" Type="http://schemas.openxmlformats.org/officeDocument/2006/relationships/notesSlide" Target="../notesSlides/notesSlide54.xml"/><Relationship Id="Rff95c155b23d4629"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c64842baf8fe48e2" Type="http://schemas.openxmlformats.org/officeDocument/2006/relationships/slideLayout" Target="../slideLayouts/slideLayout1.xml"/><Relationship Id="Rf475f2f90bce47cf"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885352a33d2b4b80" Type="http://schemas.openxmlformats.org/officeDocument/2006/relationships/slideLayout" Target="../slideLayouts/slideLayout1.xml"/><Relationship Id="Rf93e28280a654ece"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1681191b333b49d3" Type="http://schemas.openxmlformats.org/officeDocument/2006/relationships/slideLayout" Target="../slideLayouts/slideLayout1.xml"/><Relationship Id="Rc3fd2de5127b4060"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91b82896e57247f6" Type="http://schemas.openxmlformats.org/officeDocument/2006/relationships/notesSlide" Target="../notesSlides/notesSlide58.xml"/><Relationship Id="Rc305971a6e114726"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8ac9dd4ed78341c7" Type="http://schemas.openxmlformats.org/officeDocument/2006/relationships/notesSlide" Target="../notesSlides/notesSlide59.xml"/><Relationship Id="R98e83068ba3747ec"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4d1897889b9e4be8" Type="http://schemas.openxmlformats.org/officeDocument/2006/relationships/notesSlide" Target="../notesSlides/notesSlide60.xml"/><Relationship Id="Rca83ea6fced942ab"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50d6a72c1fd64c60" Type="http://schemas.openxmlformats.org/officeDocument/2006/relationships/notesSlide" Target="../notesSlides/notesSlide61.xml"/><Relationship Id="R5b4577168aa544f6"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4c4c8f2f61aa41c1" Type="http://schemas.openxmlformats.org/officeDocument/2006/relationships/slideLayout" Target="../slideLayouts/slideLayout1.xml"/><Relationship Id="R985bf25e86f745f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b90bd68c26ae478d" Type="http://schemas.openxmlformats.org/officeDocument/2006/relationships/notesSlide" Target="../notesSlides/notesSlide63.xml"/><Relationship Id="Rc7ade5b555e44706"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6ca05f1669ec4385" Type="http://schemas.openxmlformats.org/officeDocument/2006/relationships/slideLayout" Target="../slideLayouts/slideLayout1.xml"/><Relationship Id="Rbf544b88329c4dbf"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5439373b125849ef" Type="http://schemas.openxmlformats.org/officeDocument/2006/relationships/slideLayout" Target="../slideLayouts/slideLayout1.xml"/><Relationship Id="Ref85bbf4005e49b0"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158e0a13d98a43cd" Type="http://schemas.openxmlformats.org/officeDocument/2006/relationships/notesSlide" Target="../notesSlides/notesSlide66.xml"/><Relationship Id="R4138d1e543304868"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ad41e98e008c4f97" Type="http://schemas.openxmlformats.org/officeDocument/2006/relationships/slideLayout" Target="../slideLayouts/slideLayout1.xml"/><Relationship Id="Rb6aa5143559e4f0e"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37f7ab575a5b40a5" Type="http://schemas.openxmlformats.org/officeDocument/2006/relationships/notesSlide" Target="../notesSlides/notesSlide68.xml"/><Relationship Id="Rad53c7375a8c447e"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40f45daeb9cb47ba" Type="http://schemas.openxmlformats.org/officeDocument/2006/relationships/slideLayout" Target="../slideLayouts/slideLayout1.xml"/><Relationship Id="R428324da207046a3" Type="http://schemas.openxmlformats.org/officeDocument/2006/relationships/image" Target="../media/image16.png"/><Relationship Id="R679eeed3a066444d"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796cb99033604c2d" Type="http://schemas.openxmlformats.org/officeDocument/2006/relationships/slideLayout" Target="../slideLayouts/slideLayout1.xml"/><Relationship Id="R847898e513de4ee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6de60e5c154a4681" Type="http://schemas.openxmlformats.org/officeDocument/2006/relationships/slideLayout" Target="../slideLayouts/slideLayout1.xml"/><Relationship Id="Re32d8ac0e69c4e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0141c2ec0f27443f" Type="http://schemas.openxmlformats.org/officeDocument/2006/relationships/image" Target="../media/image21.png"/><Relationship Id="R07a8685f20a845b2" Type="http://schemas.openxmlformats.org/officeDocument/2006/relationships/image" Target="../media/image20.png"/><Relationship Id="R2774b373701e4bae" Type="http://schemas.openxmlformats.org/officeDocument/2006/relationships/image" Target="../media/image2.jpeg"/><Relationship Id="R50ac872fa3964e0c" Type="http://schemas.openxmlformats.org/officeDocument/2006/relationships/notesSlide" Target="../notesSlides/notesSlide72.xml"/><Relationship Id="R5cbacc548af44c83" Type="http://schemas.openxmlformats.org/officeDocument/2006/relationships/image" Target="../media/image17.png"/><Relationship Id="R755b236f4b434d6d" Type="http://schemas.openxmlformats.org/officeDocument/2006/relationships/image" Target="../media/image22.png"/><Relationship Id="Ra0b964cc29da458a" Type="http://schemas.openxmlformats.org/officeDocument/2006/relationships/image" Target="../media/image18.png"/><Relationship Id="Rb0726b2b54394202" Type="http://schemas.openxmlformats.org/officeDocument/2006/relationships/slideLayout" Target="../slideLayouts/slideLayout1.xml"/><Relationship Id="Rbc627074f8404d79" Type="http://schemas.openxmlformats.org/officeDocument/2006/relationships/image" Target="../media/image19.png"/></Relationships>
</file>

<file path=ppt/slides/_rels/slide73.xml.rels><?xml version='1.0' encoding='UTF-8' standalone='yes'?>
<Relationships xmlns="http://schemas.openxmlformats.org/package/2006/relationships"><Relationship Id="R22e2379260124089" Type="http://schemas.openxmlformats.org/officeDocument/2006/relationships/image" Target="../media/image24.png"/><Relationship Id="R3a43db5fbf6940a4" Type="http://schemas.openxmlformats.org/officeDocument/2006/relationships/image" Target="../media/image26.png"/><Relationship Id="R4a00229feef8494d" Type="http://schemas.openxmlformats.org/officeDocument/2006/relationships/image" Target="../media/image25.png"/><Relationship Id="R4f38091ca33a4e48" Type="http://schemas.openxmlformats.org/officeDocument/2006/relationships/image" Target="../media/image27.png"/><Relationship Id="R59388145ae914a79" Type="http://schemas.openxmlformats.org/officeDocument/2006/relationships/image" Target="../media/image28.png"/><Relationship Id="R7dbe8ed7ebd1441a" Type="http://schemas.openxmlformats.org/officeDocument/2006/relationships/notesSlide" Target="../notesSlides/notesSlide73.xml"/><Relationship Id="R8b9e4342e3564ba4" Type="http://schemas.openxmlformats.org/officeDocument/2006/relationships/image" Target="../media/image3.jpeg"/><Relationship Id="Rbc1e9b12c9cf4c2a" Type="http://schemas.openxmlformats.org/officeDocument/2006/relationships/slideLayout" Target="../slideLayouts/slideLayout1.xml"/><Relationship Id="Rbe73fa034f2b44db" Type="http://schemas.openxmlformats.org/officeDocument/2006/relationships/image" Target="../media/image23.png"/></Relationships>
</file>

<file path=ppt/slides/_rels/slide74.xml.rels><?xml version='1.0' encoding='UTF-8' standalone='yes'?>
<Relationships xmlns="http://schemas.openxmlformats.org/package/2006/relationships"><Relationship Id="R0ae4d9c424c24680" Type="http://schemas.openxmlformats.org/officeDocument/2006/relationships/image" Target="../media/image30.png"/><Relationship Id="R59a62d0068b44d9b" Type="http://schemas.openxmlformats.org/officeDocument/2006/relationships/image" Target="../media/image4.jpeg"/><Relationship Id="R5f28f3e660224820" Type="http://schemas.openxmlformats.org/officeDocument/2006/relationships/image" Target="../media/image31.png"/><Relationship Id="R6493c8a47ae34bba" Type="http://schemas.openxmlformats.org/officeDocument/2006/relationships/notesSlide" Target="../notesSlides/notesSlide74.xml"/><Relationship Id="R6e5af28766014c41" Type="http://schemas.openxmlformats.org/officeDocument/2006/relationships/image" Target="../media/image29.png"/><Relationship Id="Rae1c0273128a4589" Type="http://schemas.openxmlformats.org/officeDocument/2006/relationships/image" Target="../media/image32.png"/><Relationship Id="Rca2aa6edd5404f39" Type="http://schemas.openxmlformats.org/officeDocument/2006/relationships/slideLayout" Target="../slideLayouts/slideLayout1.xml"/><Relationship Id="Rcd3e473817204845" Type="http://schemas.openxmlformats.org/officeDocument/2006/relationships/image" Target="../media/image33.png"/></Relationships>
</file>

<file path=ppt/slides/_rels/slide75.xml.rels><?xml version='1.0' encoding='UTF-8' standalone='yes'?>
<Relationships xmlns="http://schemas.openxmlformats.org/package/2006/relationships"><Relationship Id="R2d35c1ec2d8c4ac6" Type="http://schemas.openxmlformats.org/officeDocument/2006/relationships/image" Target="../media/image5.jpeg"/><Relationship Id="R34124d0957c54541" Type="http://schemas.openxmlformats.org/officeDocument/2006/relationships/image" Target="../media/image34.png"/><Relationship Id="Rd7543522bda74e39" Type="http://schemas.openxmlformats.org/officeDocument/2006/relationships/notesSlide" Target="../notesSlides/notesSlide75.xml"/><Relationship Id="Rded4d388c3614a56"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24a174c29b544f81" Type="http://schemas.openxmlformats.org/officeDocument/2006/relationships/slideLayout" Target="../slideLayouts/slideLayout1.xml"/><Relationship Id="Rba007f66179745c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39e06100a0fc4632" Type="http://schemas.openxmlformats.org/officeDocument/2006/relationships/notesSlide" Target="../notesSlides/notesSlide77.xml"/><Relationship Id="Rce0a4a85862c4758"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5224d05bee124a3f" Type="http://schemas.openxmlformats.org/officeDocument/2006/relationships/notesSlide" Target="../notesSlides/notesSlide78.xml"/><Relationship Id="R6a23eb7e441641b0"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0d0615a9b41947c4" Type="http://schemas.openxmlformats.org/officeDocument/2006/relationships/image" Target="../media/image35.png"/><Relationship Id="R423d4e1fbf534315" Type="http://schemas.openxmlformats.org/officeDocument/2006/relationships/slideLayout" Target="../slideLayouts/slideLayout1.xml"/><Relationship Id="Rdda0141d3bb04978" Type="http://schemas.openxmlformats.org/officeDocument/2006/relationships/image" Target="../media/image6.jpeg"/><Relationship Id="Re0cfe3d344bc459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5a3c4a6ee4d443a0" Type="http://schemas.openxmlformats.org/officeDocument/2006/relationships/image" Target="../media/image36.png"/><Relationship Id="R9d42bbf7147f49d8" Type="http://schemas.openxmlformats.org/officeDocument/2006/relationships/image" Target="../media/image7.jpeg"/><Relationship Id="Re63904aad56e4e0a" Type="http://schemas.openxmlformats.org/officeDocument/2006/relationships/slideLayout" Target="../slideLayouts/slideLayout1.xml"/><Relationship Id="Rf536d69f8dc44700"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2f7859ca5adc4e8f" Type="http://schemas.openxmlformats.org/officeDocument/2006/relationships/slideLayout" Target="../slideLayouts/slideLayout1.xml"/><Relationship Id="R6227e77d28264fb1" Type="http://schemas.openxmlformats.org/officeDocument/2006/relationships/notesSlide" Target="../notesSlides/notesSlide81.xml"/><Relationship Id="R74b98aa575684f37" Type="http://schemas.openxmlformats.org/officeDocument/2006/relationships/image" Target="../media/image37.png"/></Relationships>
</file>

<file path=ppt/slides/_rels/slide82.xml.rels><?xml version='1.0' encoding='UTF-8' standalone='yes'?>
<Relationships xmlns="http://schemas.openxmlformats.org/package/2006/relationships"><Relationship Id="Rf5ff15121960412c" Type="http://schemas.openxmlformats.org/officeDocument/2006/relationships/slideLayout" Target="../slideLayouts/slideLayout1.xml"/><Relationship Id="Rf8474add539d4e0f"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28498f7a67374f64" Type="http://schemas.openxmlformats.org/officeDocument/2006/relationships/slideLayout" Target="../slideLayouts/slideLayout1.xml"/><Relationship Id="Rc082c2b25fca4a67"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26de7dcb854d4426" Type="http://schemas.openxmlformats.org/officeDocument/2006/relationships/notesSlide" Target="../notesSlides/notesSlide84.xml"/><Relationship Id="R5a05c4dea69542ed" Type="http://schemas.openxmlformats.org/officeDocument/2006/relationships/slideLayout" Target="../slideLayouts/slideLayout1.xml"/><Relationship Id="Ra81e8341e36445c1" Type="http://schemas.openxmlformats.org/officeDocument/2006/relationships/image" Target="../media/image38.png"/></Relationships>
</file>

<file path=ppt/slides/_rels/slide85.xml.rels><?xml version='1.0' encoding='UTF-8' standalone='yes'?>
<Relationships xmlns="http://schemas.openxmlformats.org/package/2006/relationships"><Relationship Id="R3cc64529b99a4e7c" Type="http://schemas.openxmlformats.org/officeDocument/2006/relationships/image" Target="../media/image40.png"/><Relationship Id="R509d3dbd17e84835" Type="http://schemas.openxmlformats.org/officeDocument/2006/relationships/image" Target="../media/image44.png"/><Relationship Id="R539d4abac68d4346" Type="http://schemas.openxmlformats.org/officeDocument/2006/relationships/slideLayout" Target="../slideLayouts/slideLayout1.xml"/><Relationship Id="R6db69403c9e34678" Type="http://schemas.openxmlformats.org/officeDocument/2006/relationships/image" Target="../media/image39.png"/><Relationship Id="R723f7c8863764f16" Type="http://schemas.openxmlformats.org/officeDocument/2006/relationships/notesSlide" Target="../notesSlides/notesSlide85.xml"/><Relationship Id="R920bd2d81cab4a63" Type="http://schemas.openxmlformats.org/officeDocument/2006/relationships/image" Target="../media/image42.png"/><Relationship Id="Ref0c33e539b74868" Type="http://schemas.openxmlformats.org/officeDocument/2006/relationships/image" Target="../media/image41.png"/><Relationship Id="Rf6fb71b9a0b048d3" Type="http://schemas.openxmlformats.org/officeDocument/2006/relationships/image" Target="../media/image43.png"/></Relationships>
</file>

<file path=ppt/slides/_rels/slide86.xml.rels><?xml version='1.0' encoding='UTF-8' standalone='yes'?>
<Relationships xmlns="http://schemas.openxmlformats.org/package/2006/relationships"><Relationship Id="R248fb03fa1424800" Type="http://schemas.openxmlformats.org/officeDocument/2006/relationships/image" Target="../media/image47.png"/><Relationship Id="R2ad18fc60f854c8e" Type="http://schemas.openxmlformats.org/officeDocument/2006/relationships/notesSlide" Target="../notesSlides/notesSlide86.xml"/><Relationship Id="R7464daf2defb4950" Type="http://schemas.openxmlformats.org/officeDocument/2006/relationships/image" Target="../media/image45.png"/><Relationship Id="R96dd7cbe7ae4465c" Type="http://schemas.openxmlformats.org/officeDocument/2006/relationships/slideLayout" Target="../slideLayouts/slideLayout1.xml"/><Relationship Id="Rca2a7fdbbe3748bc" Type="http://schemas.openxmlformats.org/officeDocument/2006/relationships/image" Target="../media/image46.png"/><Relationship Id="Re359d817ddf64c05" Type="http://schemas.openxmlformats.org/officeDocument/2006/relationships/image" Target="../media/image48.png"/><Relationship Id="Rf4dd9cc0863e476e" Type="http://schemas.openxmlformats.org/officeDocument/2006/relationships/image" Target="../media/image49.png"/><Relationship Id="Rf8bf6169ec804ed6" Type="http://schemas.openxmlformats.org/officeDocument/2006/relationships/image" Target="../media/image8.jpeg"/></Relationships>
</file>

<file path=ppt/slides/_rels/slide87.xml.rels><?xml version='1.0' encoding='UTF-8' standalone='yes'?>
<Relationships xmlns="http://schemas.openxmlformats.org/package/2006/relationships"><Relationship Id="R32b33a27b1534f2f" Type="http://schemas.openxmlformats.org/officeDocument/2006/relationships/notesSlide" Target="../notesSlides/notesSlide87.xml"/><Relationship Id="Rb65252efccac491b"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17b9a209b99e42c1" Type="http://schemas.openxmlformats.org/officeDocument/2006/relationships/slideLayout" Target="../slideLayouts/slideLayout1.xml"/><Relationship Id="R4b754b143bf54e50"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0ef3c7aea20848bc" Type="http://schemas.openxmlformats.org/officeDocument/2006/relationships/notesSlide" Target="../notesSlides/notesSlide89.xml"/><Relationship Id="R8d7eacfa6a924d33"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767ac444b2dc4a01" Type="http://schemas.openxmlformats.org/officeDocument/2006/relationships/notesSlide" Target="../notesSlides/notesSlide90.xml"/><Relationship Id="R8715e2882d5e41f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931f40ae076b49b1" Type="http://schemas.openxmlformats.org/officeDocument/2006/relationships/notesSlide" Target="../notesSlides/notesSlide91.xml"/><Relationship Id="Rac626d7108e04a22"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28074f8691304a08" Type="http://schemas.openxmlformats.org/officeDocument/2006/relationships/slideLayout" Target="../slideLayouts/slideLayout1.xml"/><Relationship Id="R7fb5ca461b3d4d0e"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a1dc6e1fb6724087" Type="http://schemas.openxmlformats.org/officeDocument/2006/relationships/notesSlide" Target="../notesSlides/notesSlide93.xml"/><Relationship Id="Ra83666ded7bd4b07"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6e9423e1225d48ce" Type="http://schemas.openxmlformats.org/officeDocument/2006/relationships/slideLayout" Target="../slideLayouts/slideLayout1.xml"/><Relationship Id="Rea077e80bd3143e0"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5d6d4d1d4ffa4c43" Type="http://schemas.openxmlformats.org/officeDocument/2006/relationships/notesSlide" Target="../notesSlides/notesSlide95.xml"/><Relationship Id="Rd69c7d9cf5e14c2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020d4d9d86f7478c" Type="http://schemas.openxmlformats.org/officeDocument/2006/relationships/notesSlide" Target="../notesSlides/notesSlide96.xml"/><Relationship Id="R1a66a959058747ad"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6286aff163f3457b" Type="http://schemas.openxmlformats.org/officeDocument/2006/relationships/image" Target="../media/image11.png"/><Relationship Id="R7e92b6984e584f84" Type="http://schemas.openxmlformats.org/officeDocument/2006/relationships/image" Target="../media/image8.png"/><Relationship Id="R9ac5ff60054f46ec" Type="http://schemas.openxmlformats.org/officeDocument/2006/relationships/image" Target="../media/image14.png"/><Relationship Id="R9b4eb7fd808b433e" Type="http://schemas.openxmlformats.org/officeDocument/2006/relationships/image" Target="../media/image10.png"/><Relationship Id="Ra1244a863b394269" Type="http://schemas.openxmlformats.org/officeDocument/2006/relationships/image" Target="../media/image9.png"/><Relationship Id="Rc010ed9d45554044" Type="http://schemas.openxmlformats.org/officeDocument/2006/relationships/image" Target="../media/image12.png"/><Relationship Id="Reb572ba3ce3d4615" Type="http://schemas.openxmlformats.org/officeDocument/2006/relationships/image" Target="../media/image13.png"/><Relationship Id="Rfc9978d38a194000" Type="http://schemas.openxmlformats.org/officeDocument/2006/relationships/slideLayout" Target="../slideLayouts/slideLayout1.xml"/><Relationship Id="rId9"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8715e2882d5e41fe"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d45b3f971334ed8" Type="http://schemas.openxmlformats.org/officeDocument/2006/relationships/slideLayout" Target="../slideLayouts/slideLayout1.xml"/><Relationship Id="R54c0bb417f114a1c" Type="http://schemas.openxmlformats.org/officeDocument/2006/relationships/notesSlide" Target="../notesSlides/notesSlide33.xml"/></Relationships>
</file>

<file path=ppt/slides/_rels/slide103.xml.rels><?xml version='1.0' encoding='UTF-8' standalone='yes'?>
<Relationships xmlns="http://schemas.openxmlformats.org/package/2006/relationships"><Relationship Id="R07ad813df4324693" Type="http://schemas.openxmlformats.org/officeDocument/2006/relationships/notesSlide" Target="../notesSlides/notesSlide38.xml"/><Relationship Id="R90418e06b500485d"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jpg"/><Relationship Id="rId5" Type="http://schemas.openxmlformats.org/officeDocument/2006/relationships/image" Target="../media/image-14-4.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1.png"/><Relationship Id="rId3"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image" Target="../media/image-15-4.png"/><Relationship Id="rId6" Type="http://schemas.openxmlformats.org/officeDocument/2006/relationships/image" Target="../media/image-15-5.png"/><Relationship Id="rId7" Type="http://schemas.openxmlformats.org/officeDocument/2006/relationships/image" Target="../media/image-15-6.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1.png"/><Relationship Id="rId3" Type="http://schemas.openxmlformats.org/officeDocument/2006/relationships/image" Target="../media/image-29-2.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image" Target="../media/image-17-6.png"/></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txBody xmlns:a="http://schemas.openxmlformats.org/drawingml/2006/main">
          <a:bodyPr/>
          <a:p/>
        </p:txBody>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txBody xmlns:a="http://schemas.openxmlformats.org/drawingml/2006/main">
          <a:bodyPr/>
          <a:p/>
        </p:txBody>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txBody xmlns:a="http://schemas.openxmlformats.org/drawingml/2006/main">
          <a:bodyPr/>
          <a:p/>
        </p:txBody>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txBody xmlns:a="http://schemas.openxmlformats.org/drawingml/2006/main">
          <a:bodyPr/>
          <a:p/>
        </p:txBody>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txBody xmlns:a="http://schemas.openxmlformats.org/drawingml/2006/main">
          <a:bodyPr/>
          <a:p/>
        </p:txBody>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txBody xmlns:a="http://schemas.openxmlformats.org/drawingml/2006/main">
          <a:bodyPr/>
          <a:p/>
        </p:txBody>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txBody xmlns:a="http://schemas.openxmlformats.org/drawingml/2006/main">
          <a:bodyPr/>
          <a:p/>
        </p:txBody>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txBody xmlns:a="http://schemas.openxmlformats.org/drawingml/2006/main">
          <a:bodyPr/>
          <a:p/>
        </p:txBody>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pic xmlns:a="http://schemas.openxmlformats.org/drawingml/2006/main" xmlns:r="http://schemas.openxmlformats.org/officeDocument/2006/relationships">
        <p:nvPicPr>
          <p:cNvPr id="15" name="Picture 14" descr="lego_tokens.jp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4" name="heritage-panel"/>
          <p:cNvSpPr/>
          <p:nvPr/>
        </p:nvSpPr>
        <p:spPr>
          <a:xfrm>
            <a:off x="8732520" y="2857985"/>
            <a:ext cx="2852928" cy="172724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904" y="1933956"/>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246120" y="1933956"/>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904" y="3150108"/>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246120" y="3150108"/>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904" y="4366260"/>
            <a:ext cx="2514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246120" y="4366260"/>
            <a:ext cx="534924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pic xmlns:a="http://schemas.openxmlformats.org/drawingml/2006/main" xmlns:r="http://schemas.openxmlformats.org/officeDocument/2006/relationships">
        <p:nvPicPr>
          <p:cNvPr id="15" name="Picture 14" descr="image.jpeg"/>
          <p:cNvPicPr>
            <a:picLocks noChangeAspect="1"/>
          </p:cNvPicPr>
          <p:nvPr/>
        </p:nvPicPr>
        <p:blipFill>
          <a:blip r:embed="rId3"/>
          <a:stretch>
            <a:fillRect/>
          </a:stretch>
        </p:blipFill>
        <p:spPr>
          <a:xfrm>
            <a:off x="8842248" y="2986001"/>
            <a:ext cx="2633472" cy="1471213"/>
          </a:xfrm>
          <a:prstGeom prst="rect">
            <a:avLst/>
          </a:prstGeom>
        </p:spPr>
      </p:pic>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1353312" y="193357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4343400" y="193357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1353312" y="280035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4343400" y="280035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1353312" y="3667125"/>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4343400" y="3667125"/>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1353312" y="4533900"/>
            <a:ext cx="288036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lIns="27432" rIns="18288">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4343400" y="4533900"/>
            <a:ext cx="7242048"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pic xmlns:a="http://schemas.openxmlformats.org/drawingml/2006/main" xmlns:r="http://schemas.openxmlformats.org/officeDocument/2006/relationships">
        <p:nvPicPr>
          <p:cNvPr id="16" name="Picture 15" descr="emblem_cue_card.jpg"/>
          <p:cNvPicPr>
            <a:picLocks noChangeAspect="1"/>
          </p:cNvPicPr>
          <p:nvPr/>
        </p:nvPicPr>
        <p:blipFill>
          <a:blip r:embed="rId3"/>
          <a:stretch>
            <a:fillRect/>
          </a:stretch>
        </p:blipFill>
        <p:spPr>
          <a:xfrm>
            <a:off x="609904" y="2027682"/>
            <a:ext cx="621792" cy="621792"/>
          </a:xfrm>
          <a:prstGeom prst="rect">
            <a:avLst/>
          </a:prstGeom>
        </p:spPr>
      </p:pic>
      <p:pic xmlns:a="http://schemas.openxmlformats.org/drawingml/2006/main" xmlns:r="http://schemas.openxmlformats.org/officeDocument/2006/relationships">
        <p:nvPicPr>
          <p:cNvPr id="17" name="Picture 16" descr="emblem_fake_receipt.jpg"/>
          <p:cNvPicPr>
            <a:picLocks noChangeAspect="1"/>
          </p:cNvPicPr>
          <p:nvPr/>
        </p:nvPicPr>
        <p:blipFill>
          <a:blip r:embed="rId4"/>
          <a:stretch>
            <a:fillRect/>
          </a:stretch>
        </p:blipFill>
        <p:spPr>
          <a:xfrm>
            <a:off x="609904" y="2893618"/>
            <a:ext cx="621792" cy="621792"/>
          </a:xfrm>
          <a:prstGeom prst="rect">
            <a:avLst/>
          </a:prstGeom>
        </p:spPr>
      </p:pic>
      <p:pic xmlns:a="http://schemas.openxmlformats.org/drawingml/2006/main" xmlns:r="http://schemas.openxmlformats.org/officeDocument/2006/relationships">
        <p:nvPicPr>
          <p:cNvPr id="18" name="Picture 17" descr="emblem_rubber_chicken.jpg"/>
          <p:cNvPicPr>
            <a:picLocks noChangeAspect="1"/>
          </p:cNvPicPr>
          <p:nvPr/>
        </p:nvPicPr>
        <p:blipFill>
          <a:blip r:embed="rId5"/>
          <a:stretch>
            <a:fillRect/>
          </a:stretch>
        </p:blipFill>
        <p:spPr>
          <a:xfrm>
            <a:off x="609904" y="3760470"/>
            <a:ext cx="621792" cy="621792"/>
          </a:xfrm>
          <a:prstGeom prst="rect">
            <a:avLst/>
          </a:prstGeom>
        </p:spPr>
      </p:pic>
      <p:pic xmlns:a="http://schemas.openxmlformats.org/drawingml/2006/main" xmlns:r="http://schemas.openxmlformats.org/officeDocument/2006/relationships">
        <p:nvPicPr>
          <p:cNvPr id="19" name="Picture 18" descr="emblem_gilded_frame.jpg"/>
          <p:cNvPicPr>
            <a:picLocks noChangeAspect="1"/>
          </p:cNvPicPr>
          <p:nvPr/>
        </p:nvPicPr>
        <p:blipFill>
          <a:blip r:embed="rId6"/>
          <a:stretch>
            <a:fillRect/>
          </a:stretch>
        </p:blipFill>
        <p:spPr>
          <a:xfrm>
            <a:off x="609904" y="4627321"/>
            <a:ext cx="621792" cy="621792"/>
          </a:xfrm>
          <a:prstGeom prst="rect">
            <a:avLst/>
          </a:prstGeom>
        </p:spPr>
      </p:pic>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txBody xmlns:a="http://schemas.openxmlformats.org/drawingml/2006/main">
          <a:bodyPr/>
          <a:p/>
        </p:txBody>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txBody xmlns:a="http://schemas.openxmlformats.org/drawingml/2006/main">
          <a:bodyPr/>
          <a:p/>
        </p:txBody>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txBody xmlns:a="http://schemas.openxmlformats.org/drawingml/2006/main">
          <a:bodyPr/>
          <a:p/>
        </p:txBody>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txBody xmlns:a="http://schemas.openxmlformats.org/drawingml/2006/main">
          <a:bodyPr/>
          <a:p/>
        </p:txBody>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txBody xmlns:a="http://schemas.openxmlformats.org/drawingml/2006/main">
          <a:bodyPr/>
          <a:p/>
        </p:txBody>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txBody xmlns:a="http://schemas.openxmlformats.org/drawingml/2006/main">
          <a:bodyPr/>
          <a:p/>
        </p:txBody>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txBody xmlns:a="http://schemas.openxmlformats.org/drawingml/2006/main">
          <a:bodyPr/>
          <a:p/>
        </p:txBody>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txBody xmlns:a="http://schemas.openxmlformats.org/drawingml/2006/main">
          <a:bodyPr/>
          <a:p/>
        </p:txBody>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9" name="pilot-spec-panel"/>
          <p:cNvSpPr/>
          <p:nvPr/>
        </p:nvSpPr>
        <p:spPr>
          <a:xfrm>
            <a:off x="2377440" y="1847088"/>
            <a:ext cx="9208008" cy="3511295"/>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 xmlns:a="http://schemas.openxmlformats.org/drawingml/2006/main">
        <p:nvSpPr>
          <p:cNvPr id="10" name="pilot-group-0"/>
          <p:cNvSpPr/>
          <p:nvPr/>
        </p:nvSpPr>
        <p:spPr>
          <a:xfrm>
            <a:off x="2514600" y="1938528"/>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highlight>
                  <a:srgbClr val="EAF3F2"/>
                </a:highlight>
                <a:latin typeface="Calibri"/>
              </a:rPr>
              <a:t>For a manager choosing supplier follow-up</a:t>
            </a:r>
            <a:r>
              <a:rPr sz="2400" b="0">
                <a:solidFill>
                  <a:srgbClr val="232A31"/>
                </a:solidFill>
                <a:latin typeface="Calibri"/>
              </a:rPr>
              <a:t>, calculate return rate from the </a:t>
            </a:r>
            <a:r>
              <a:rPr sz="2400" b="0">
                <a:solidFill>
                  <a:srgbClr val="232A31"/>
                </a:solidFill>
                <a:highlight>
                  <a:srgbClr val="EAF3F2"/>
                </a:highlight>
                <a:latin typeface="Calibri"/>
              </a:rPr>
              <a:t>supplied workbook</a:t>
            </a:r>
            <a:r>
              <a:rPr sz="2400" b="0">
                <a:solidFill>
                  <a:srgbClr val="232A31"/>
                </a:solidFill>
                <a:latin typeface="Calibri"/>
              </a:rPr>
              <a:t>.</a:t>
            </a:r>
          </a:p>
        </p:txBody>
      </p:sp>
      <p:sp xmlns:a="http://schemas.openxmlformats.org/drawingml/2006/main">
        <p:nvSpPr>
          <p:cNvPr id="11" name="pilot-bracket-0"/>
          <p:cNvSpPr/>
          <p:nvPr/>
        </p:nvSpPr>
        <p:spPr>
          <a:xfrm>
            <a:off x="2340864" y="1975104"/>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label-0"/>
          <p:cNvSpPr/>
          <p:nvPr/>
        </p:nvSpPr>
        <p:spPr>
          <a:xfrm>
            <a:off x="548640" y="1938528"/>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Audience + source</a:t>
            </a:r>
          </a:p>
        </p:txBody>
      </p:sp>
      <p:sp xmlns:a="http://schemas.openxmlformats.org/drawingml/2006/main">
        <p:nvSpPr>
          <p:cNvPr id="13" name="pilot-group-1"/>
          <p:cNvSpPr/>
          <p:nvPr/>
        </p:nvSpPr>
        <p:spPr>
          <a:xfrm>
            <a:off x="2514600" y="2971800"/>
            <a:ext cx="9070848" cy="8778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Use </a:t>
            </a:r>
            <a:r>
              <a:rPr sz="2400" b="0">
                <a:solidFill>
                  <a:srgbClr val="232A31"/>
                </a:solidFill>
                <a:highlight>
                  <a:srgbClr val="EAF3F2"/>
                </a:highlight>
                <a:latin typeface="Calibri"/>
              </a:rPr>
              <a:t>total returns ÷ total units shipped</a:t>
            </a:r>
            <a:r>
              <a:rPr sz="2400" b="0">
                <a:solidFill>
                  <a:srgbClr val="232A31"/>
                </a:solidFill>
                <a:latin typeface="Calibri"/>
              </a:rPr>
              <a:t>. </a:t>
            </a:r>
            <a:r>
              <a:rPr sz="2400" b="0">
                <a:solidFill>
                  <a:srgbClr val="232A31"/>
                </a:solidFill>
                <a:highlight>
                  <a:srgbClr val="EAF3F2"/>
                </a:highlight>
                <a:latin typeface="Calibri"/>
              </a:rPr>
              <a:t>Exclude the existing TOTAL row</a:t>
            </a:r>
            <a:r>
              <a:rPr sz="2400" b="0">
                <a:solidFill>
                  <a:srgbClr val="232A31"/>
                </a:solidFill>
                <a:latin typeface="Calibri"/>
              </a:rPr>
              <a:t>.</a:t>
            </a:r>
          </a:p>
        </p:txBody>
      </p:sp>
      <p:sp xmlns:a="http://schemas.openxmlformats.org/drawingml/2006/main">
        <p:nvSpPr>
          <p:cNvPr id="14" name="pilot-bracket-1"/>
          <p:cNvSpPr/>
          <p:nvPr/>
        </p:nvSpPr>
        <p:spPr>
          <a:xfrm>
            <a:off x="2340864" y="3008376"/>
            <a:ext cx="100584" cy="841247"/>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pilot-label-1"/>
          <p:cNvSpPr/>
          <p:nvPr/>
        </p:nvSpPr>
        <p:spPr>
          <a:xfrm>
            <a:off x="548640" y="2971800"/>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method</a:t>
            </a:r>
          </a:p>
        </p:txBody>
      </p:sp>
      <p:sp xmlns:a="http://schemas.openxmlformats.org/drawingml/2006/main">
        <p:nvSpPr>
          <p:cNvPr id="16" name="pilot-group-2"/>
          <p:cNvSpPr/>
          <p:nvPr/>
        </p:nvSpPr>
        <p:spPr>
          <a:xfrm>
            <a:off x="2514600" y="3968496"/>
            <a:ext cx="9070848" cy="12618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400" b="0">
                <a:solidFill>
                  <a:srgbClr val="232A31"/>
                </a:solidFill>
                <a:latin typeface="Calibri"/>
              </a:rPr>
              <a:t>Return a </a:t>
            </a:r>
            <a:r>
              <a:rPr sz="2400" b="0">
                <a:solidFill>
                  <a:srgbClr val="232A31"/>
                </a:solidFill>
                <a:highlight>
                  <a:srgbClr val="EAF3F2"/>
                </a:highlight>
                <a:latin typeface="Calibri"/>
              </a:rPr>
              <a:t>ranked table</a:t>
            </a:r>
            <a:r>
              <a:rPr sz="2400" b="0">
                <a:solidFill>
                  <a:srgbClr val="232A31"/>
                </a:solidFill>
                <a:latin typeface="Calibri"/>
              </a:rPr>
              <a:t> and a </a:t>
            </a:r>
            <a:r>
              <a:rPr sz="2400" b="0">
                <a:solidFill>
                  <a:srgbClr val="232A31"/>
                </a:solidFill>
                <a:highlight>
                  <a:srgbClr val="EAF3F2"/>
                </a:highlight>
                <a:latin typeface="Calibri"/>
              </a:rPr>
              <a:t>brief, neutral explanation</a:t>
            </a:r>
            <a:r>
              <a:rPr sz="2400" b="0">
                <a:solidFill>
                  <a:srgbClr val="232A31"/>
                </a:solidFill>
                <a:latin typeface="Calibri"/>
              </a:rPr>
              <a:t>. </a:t>
            </a:r>
            <a:r>
              <a:rPr sz="2400" b="0">
                <a:solidFill>
                  <a:srgbClr val="232A31"/>
                </a:solidFill>
                <a:highlight>
                  <a:srgbClr val="EAF3F2"/>
                </a:highlight>
                <a:latin typeface="Calibri"/>
              </a:rPr>
              <a:t>State missing information and reconcile totals</a:t>
            </a:r>
            <a:r>
              <a:rPr sz="2400" b="0">
                <a:solidFill>
                  <a:srgbClr val="232A31"/>
                </a:solidFill>
                <a:latin typeface="Calibri"/>
              </a:rPr>
              <a:t> to the source.</a:t>
            </a:r>
          </a:p>
        </p:txBody>
      </p:sp>
      <p:sp xmlns:a="http://schemas.openxmlformats.org/drawingml/2006/main">
        <p:nvSpPr>
          <p:cNvPr id="17" name="pilot-bracket-2"/>
          <p:cNvSpPr/>
          <p:nvPr/>
        </p:nvSpPr>
        <p:spPr>
          <a:xfrm>
            <a:off x="2340864" y="4005072"/>
            <a:ext cx="100584" cy="1225295"/>
          </a:xfrm>
          <a:prstGeom prst="leftBracket">
            <a:avLst>
              <a:gd name="adj" fmla="val 18000"/>
            </a:avLst>
          </a:prstGeom>
          <a:noFill/>
          <a:ln w="1905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pilot-label-2"/>
          <p:cNvSpPr/>
          <p:nvPr/>
        </p:nvSpPr>
        <p:spPr>
          <a:xfrm>
            <a:off x="548640" y="3968496"/>
            <a:ext cx="1755648" cy="9601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a:solidFill>
                  <a:srgbClr val="0A6261"/>
                </a:solidFill>
                <a:latin typeface="Calibri"/>
              </a:rPr>
              <a:t>format + tone + check</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25" name="pilot-card-ACT"/>
          <p:cNvSpPr/>
          <p:nvPr/>
        </p:nvSpPr>
        <p:spPr>
          <a:xfrm>
            <a:off x="61264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pilot-card-CHECK"/>
          <p:cNvSpPr/>
          <p:nvPr/>
        </p:nvSpPr>
        <p:spPr>
          <a:xfrm>
            <a:off x="6601968" y="3858768"/>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pilot-card-DO"/>
          <p:cNvSpPr/>
          <p:nvPr/>
        </p:nvSpPr>
        <p:spPr>
          <a:xfrm>
            <a:off x="660196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pilot-card-PLAN"/>
          <p:cNvSpPr/>
          <p:nvPr/>
        </p:nvSpPr>
        <p:spPr>
          <a:xfrm>
            <a:off x="612648" y="1901952"/>
            <a:ext cx="4983480" cy="155448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 xmlns:a="http://schemas.openxmlformats.org/drawingml/2006/main">
        <p:nvSpPr>
          <p:cNvPr id="17" name="pilot-card-PLAN-label"/>
          <p:cNvSpPr/>
          <p:nvPr/>
        </p:nvSpPr>
        <p:spPr>
          <a:xfrm>
            <a:off x="68580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PLAN</a:t>
            </a:r>
          </a:p>
        </p:txBody>
      </p:sp>
      <p:sp xmlns:a="http://schemas.openxmlformats.org/drawingml/2006/main">
        <p:nvSpPr>
          <p:cNvPr id="18" name="pilot-card-PLAN-body"/>
          <p:cNvSpPr/>
          <p:nvPr/>
        </p:nvSpPr>
        <p:spPr>
          <a:xfrm>
            <a:off x="667512"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Define the task and the success check.</a:t>
            </a:r>
          </a:p>
        </p:txBody>
      </p:sp>
      <p:sp xmlns:a="http://schemas.openxmlformats.org/drawingml/2006/main">
        <p:nvSpPr>
          <p:cNvPr id="20" name="pilot-card-DO-label"/>
          <p:cNvSpPr/>
          <p:nvPr/>
        </p:nvSpPr>
        <p:spPr>
          <a:xfrm>
            <a:off x="6675120" y="1947672"/>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DO</a:t>
            </a:r>
          </a:p>
        </p:txBody>
      </p:sp>
      <p:sp xmlns:a="http://schemas.openxmlformats.org/drawingml/2006/main">
        <p:nvSpPr>
          <p:cNvPr id="21" name="pilot-card-DO-body"/>
          <p:cNvSpPr/>
          <p:nvPr/>
        </p:nvSpPr>
        <p:spPr>
          <a:xfrm>
            <a:off x="6656831" y="2331720"/>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Run the prompt against the supplied source.</a:t>
            </a:r>
          </a:p>
        </p:txBody>
      </p:sp>
      <p:sp xmlns:a="http://schemas.openxmlformats.org/drawingml/2006/main">
        <p:nvSpPr>
          <p:cNvPr id="23" name="pilot-card-CHECK-label"/>
          <p:cNvSpPr/>
          <p:nvPr/>
        </p:nvSpPr>
        <p:spPr>
          <a:xfrm>
            <a:off x="667512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CHECK</a:t>
            </a:r>
          </a:p>
        </p:txBody>
      </p:sp>
      <p:sp xmlns:a="http://schemas.openxmlformats.org/drawingml/2006/main">
        <p:nvSpPr>
          <p:cNvPr id="24" name="pilot-card-CHECK-body"/>
          <p:cNvSpPr/>
          <p:nvPr/>
        </p:nvSpPr>
        <p:spPr>
          <a:xfrm>
            <a:off x="6656831"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Compare the result with evidence or a known calculation.</a:t>
            </a:r>
          </a:p>
        </p:txBody>
      </p:sp>
      <p:sp xmlns:a="http://schemas.openxmlformats.org/drawingml/2006/main">
        <p:nvSpPr>
          <p:cNvPr id="26" name="pilot-card-ACT-label"/>
          <p:cNvSpPr/>
          <p:nvPr/>
        </p:nvSpPr>
        <p:spPr>
          <a:xfrm>
            <a:off x="685800" y="3904487"/>
            <a:ext cx="219456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175" b="1">
                <a:solidFill>
                  <a:srgbClr val="0A6261"/>
                </a:solidFill>
                <a:latin typeface="Calibri"/>
              </a:rPr>
              <a:t>ACT</a:t>
            </a:r>
          </a:p>
        </p:txBody>
      </p:sp>
      <p:sp xmlns:a="http://schemas.openxmlformats.org/drawingml/2006/main">
        <p:nvSpPr>
          <p:cNvPr id="27" name="pilot-card-ACT-body"/>
          <p:cNvSpPr/>
          <p:nvPr/>
        </p:nvSpPr>
        <p:spPr>
          <a:xfrm>
            <a:off x="667512" y="4288536"/>
            <a:ext cx="4855464" cy="10789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2250" b="0">
                <a:solidFill>
                  <a:srgbClr val="232A31"/>
                </a:solidFill>
                <a:latin typeface="Calibri"/>
              </a:rPr>
              <a:t>Fix the specific failure and rerun the affected check.</a:t>
            </a:r>
          </a:p>
        </p:txBody>
      </p:sp>
      <p:cxnSp xmlns:a="http://schemas.openxmlformats.org/drawingml/2006/main">
        <p:nvCxnSpPr>
          <p:cNvPr id="28" name="pilot-arrow-plan-do"/>
          <p:cNvCxnSpPr/>
          <p:nvPr/>
        </p:nvCxnSpPr>
        <p:spPr>
          <a:xfrm>
            <a:off x="5669280" y="2679192"/>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29" name="pilot-arrow-do-check"/>
          <p:cNvCxnSpPr/>
          <p:nvPr/>
        </p:nvCxnSpPr>
        <p:spPr>
          <a:xfrm>
            <a:off x="909370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0" name="pilot-arrow-check-act"/>
          <p:cNvCxnSpPr/>
          <p:nvPr/>
        </p:nvCxnSpPr>
        <p:spPr>
          <a:xfrm flipH="1">
            <a:off x="5669280" y="4636008"/>
            <a:ext cx="859536" cy="0"/>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cxnSp xmlns:a="http://schemas.openxmlformats.org/drawingml/2006/main">
        <p:nvCxnSpPr>
          <p:cNvPr id="31" name="pilot-arrow-act-plan"/>
          <p:cNvCxnSpPr/>
          <p:nvPr/>
        </p:nvCxnSpPr>
        <p:spPr>
          <a:xfrm flipV="1">
            <a:off x="3104388" y="3511296"/>
            <a:ext cx="0" cy="292608"/>
          </a:xfrm>
          <a:prstGeom prst="line">
            <a:avLst/>
          </a:prstGeom>
          <a:ln w="25400">
            <a:solidFill>
              <a:srgbClr val="0E7C7B"/>
            </a:solidFill>
            <a:tailEnd type="triangl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 · APPLICATION</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Data Analytics Exercise</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One workbook. Questions. Charts. A returned file.</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00" b="0">
                <a:solidFill>
                  <a:srgbClr val="D6E0E2"/>
                </a:solidFill>
                <a:latin typeface="Calibri"/>
                <a:ea typeface="Calibri"/>
                <a:cs typeface="Calibri"/>
              </a:rPr>
              <a:t>Analyze the data in Excel, return the workbook with editable charts, then reuse it for the dashboard and presentation mock-up.</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TEACH  0:40</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33</a:t>
            </a:r>
          </a:p>
        </p:txBody>
      </p:sp>
    </p:spTree>
    <p:extLst>
      <p:ext uri="{BB962C8B-B14F-4D97-AF65-F5344CB8AC3E}">
        <p14:creationId xmlns:p14="http://schemas.microsoft.com/office/powerpoint/2010/main" val="1528682446"/>
      </p:ext>
    </p:extLst>
  </p:cSld>
</p:sld>
</file>

<file path=ppt/slides/slide34.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xmlns:a="http://schemas.openxmlformats.org/drawingml/2006/main">
        <p:nvSpPr>
          <p:cNvPr id="12" name="pilot-p2-panel"/>
          <p:cNvSpPr/>
          <p:nvPr/>
        </p:nvSpPr>
        <p:spPr>
          <a:xfrm>
            <a:off x="609904" y="3954018"/>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pilot-p1-panel"/>
          <p:cNvSpPr/>
          <p:nvPr/>
        </p:nvSpPr>
        <p:spPr>
          <a:xfrm>
            <a:off x="609904" y="2414016"/>
            <a:ext cx="10972800" cy="1320546"/>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6:00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Upload the Data File and Run These Two Prompts</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Attempt first — the verified key stays with the instructor and the workbook keys.</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34</a:t>
            </a:r>
          </a:p>
        </p:txBody>
      </p:sp>
      <p:sp xmlns:a="http://schemas.openxmlformats.org/drawingml/2006/main">
        <p:nvSpPr>
          <p:cNvPr id="9" name="pilot-file-line"/>
          <p:cNvSpPr/>
          <p:nvPr/>
        </p:nvSpPr>
        <p:spPr>
          <a:xfrm>
            <a:off x="609904" y="1901952"/>
            <a:ext cx="10972800" cy="4023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800" b="1" i="0">
                <a:solidFill>
                  <a:srgbClr val="232A31"/>
                </a:solidFill>
                <a:latin typeface="Calibri"/>
              </a:rPr>
              <a:t>File: Supplier_Data_Exercise.xlsx — upload it, attach nothing else.</a:t>
            </a:r>
          </a:p>
        </p:txBody>
      </p:sp>
      <p:sp xmlns:a="http://schemas.openxmlformats.org/drawingml/2006/main">
        <p:nvSpPr>
          <p:cNvPr id="11" name="pilot-p1"/>
          <p:cNvSpPr/>
          <p:nvPr/>
        </p:nvSpPr>
        <p:spPr>
          <a:xfrm>
            <a:off x="685800" y="2468880"/>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1 — INSPECT</a:t>
            </a:r>
          </a:p>
          <a:p>
            <a:pPr algn="l"/>
            <a:r>
              <a:rPr sz="1700" b="0" i="0">
                <a:solidFill>
                  <a:srgbClr val="232A31"/>
                </a:solidFill>
                <a:latin typeface="Calibri"/>
              </a:rPr>
              <a:t>“Before calculating anything, inspect the file. Tell me what one row represents, how many detail rows it contains, whether any values are missing, and whether any total or summary row could be counted twice. Tell me what you would include or exclude, then wait.”</a:t>
            </a:r>
          </a:p>
        </p:txBody>
      </p:sp>
      <p:sp xmlns:a="http://schemas.openxmlformats.org/drawingml/2006/main">
        <p:nvSpPr>
          <p:cNvPr id="13" name="pilot-p2"/>
          <p:cNvSpPr/>
          <p:nvPr/>
        </p:nvSpPr>
        <p:spPr>
          <a:xfrm>
            <a:off x="685800" y="4008881"/>
            <a:ext cx="10826496" cy="122910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a:noAutofit/>
          </a:bodyPr>
          <a:lstStyle/>
          <a:p>
            <a:pPr algn="l"/>
            <a:r>
              <a:rPr sz="1700" b="1" i="0">
                <a:solidFill>
                  <a:srgbClr val="875012"/>
                </a:solidFill>
                <a:latin typeface="Calibri"/>
              </a:rPr>
              <a:t>PROMPT 2 — ANALYZE</a:t>
            </a:r>
          </a:p>
          <a:p>
            <a:pPr algn="l"/>
            <a:r>
              <a:rPr sz="1700" b="0" i="0">
                <a:solidFill>
                  <a:srgbClr val="232A31"/>
                </a:solidFill>
                <a:latin typeface="Calibri"/>
              </a:rPr>
              <a:t>“Using detail rows only, calculate each supplier’s return rate as total Units_Returned divided by total Units_Shipped. Rank suppliers from highest to lowest. Show the totals used, reconcile the overall totals to the source file, and state one limitation of the comparison.”</a:t>
            </a:r>
          </a:p>
        </p:txBody>
      </p:sp>
    </p:spTree>
    <p:extLst>
      <p:ext uri="{BB962C8B-B14F-4D97-AF65-F5344CB8AC3E}">
        <p14:creationId xmlns:p14="http://schemas.microsoft.com/office/powerpoint/2010/main" val="52634781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Ask a Follow-Up Question</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Same chat, same data — one more prompt:</a:t>
            </a:r>
          </a:p>
          <a:p xmlns:a="http://schemas.openxmlformats.org/drawingml/2006/main">
            <a:r>
              <a:rPr sz="1800" b="0" i="0"/>
              <a:t>“Using the same data, compare return rate by month and site. Identify the clearest increase, decrease, or unusual pattern. Show the values behind it. Do not claim a cause. List the additional data needed to investigate why it happened.”</a:t>
            </a:r>
          </a:p>
          <a:p xmlns:a="http://schemas.openxmlformats.org/drawingml/2006/main">
            <a:r>
              <a:rPr sz="1700" b="0" i="1"/>
              <a:t>A finding names a pattern and shows its values. A cause needs data this file does not contain — the honest answer lists what to collect next.</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Findings, not causes — the pattern, its values, and the data you would need next.</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29586125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300" b="1">
                <a:solidFill>
                  <a:srgbClr val="0A6261"/>
                </a:solidFill>
                <a:latin typeface="Calibri"/>
              </a:rPr>
              <a:t>Add the Charts and Return the Excel File</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prompt</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Update the uploaded workbook and return an editable Excel file named Supplier_Data_Analyzed.xlsx — original data unchanged, analysis on a new Summary sheet.</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Summary sheet</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Comparison table: units shipped, returned, return rate, defect rate · native editable column chart (supplier rates) · native line chart (rate by month) · period, definitions, limitations note.</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The rules</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Traceable Excel logic — formulas or PivotTables, never hard-coded chart values · missing values stay missing · totals reconcile to the source before the file returns.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0A6261"/>
                </a:solidFill>
                <a:latin typeface="Calibri"/>
              </a:rPr>
              <a:t>Prove it</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Open the returned workbook, inspect the Summary sheet, click one chart — its source range or PivotTable must be editable.</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Full prompt: workbook tab Excel-Charts · prepared fallback: Supplier_Data_Analyzed.xlsx.</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36</a:t>
            </a:r>
          </a:p>
        </p:txBody>
      </p:sp>
    </p:spTree>
    <p:extLst>
      <p:ext uri="{BB962C8B-B14F-4D97-AF65-F5344CB8AC3E}">
        <p14:creationId xmlns:p14="http://schemas.microsoft.com/office/powerpoint/2010/main" val="14695760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300" b="1">
                <a:solidFill>
                  <a:srgbClr val="0A6261"/>
                </a:solidFill>
                <a:latin typeface="Calibri"/>
                <a:ea typeface="Calibri"/>
                <a:cs typeface="Calibri"/>
              </a:rPr>
              <a:t>Describe the Dashboard You Want</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prompt</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“Using the returned Supplier_Data_Analyzed.xlsx workbook and its verified definitions, create one self-contained HTML dashboard that works offline.”</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It must include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Date-range selector · supplier and site filters · metric selector · summary values · trend chart · sortable detail table · reset control. Every filter updates every view; show the selected period and metric definitions; display a clear message when no rows match.</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The teaching line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You do not need to write the code. You need to describe the behavior.</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Extended dashboard vocabulary: Course_Workbook.xlsx and the reference layer — not this slide.</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187541384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Build and Test the Dashboard</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1" i="0"/>
              <a:t>Input: Supplier_Data_Analyzed.xlsx — the returned workbook: same data, definitions, and period.</a:t>
            </a:r>
          </a:p>
          <a:p xmlns:a="http://schemas.openxmlformats.org/drawingml/2006/main">
            <a:r>
              <a:rPr sz="1800" b="0" i="0"/>
              <a:t>1  Open the generated HTML file.</a:t>
            </a:r>
          </a:p>
          <a:p xmlns:a="http://schemas.openxmlformats.org/drawingml/2006/main">
            <a:r>
              <a:rPr sz="1800" b="0" i="0"/>
              <a:t>2  Filter to Berlin, Bravo Plastics, March through August 2026.</a:t>
            </a:r>
          </a:p>
          <a:p xmlns:a="http://schemas.openxmlformats.org/drawingml/2006/main">
            <a:r>
              <a:rPr sz="1800" b="0" i="0"/>
              <a:t>3  Verify 8,575 units, 21 returns, and a 0.245 percent return rate against the source.</a:t>
            </a:r>
          </a:p>
          <a:p xmlns:a="http://schemas.openxmlformats.org/drawingml/2006/main">
            <a:r>
              <a:rPr sz="1700" b="0" i="1"/>
              <a:t>Then ask for ONE refinement using the vocabulary — a different date range, grouping, metric, drill-down, sort, or reset behavior.</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8,575 units · 21 returns · 0.245% — the same numbers, from the same verified file.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131037884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2:30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000" b="1">
                <a:solidFill>
                  <a:srgbClr val="232A31"/>
                </a:solidFill>
                <a:latin typeface="Calibri"/>
              </a:rPr>
              <a:t>Turn the Findings into a Five-Slide Management Mock-up</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“Using only the verified findings from this exercise, create an editable five-slide PowerPoint mock-up for [audience] to support [decision].”</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five slides</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1 Question and scope · 2 Supplier comparison · 3 The most important trend · 4 Recommended follow-up · 5 Limitations and next steps.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rules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main message per slide · readable charts, concise visible text, speaker notes · findings separated from recommendations · no invented causes or commitments.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Why it differs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The dashboard supports exploration; the presentation supports a management decision — the final step of the connected data exercise.</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Full prompt: workbook tab 3-Present-Findings · reference page 99 · fallback: Supplier_Quality_Mock_Presentation.pptx.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39</a:t>
            </a:r>
          </a:p>
        </p:txBody>
      </p:sp>
    </p:spTree>
    <p:extLst>
      <p:ext uri="{BB962C8B-B14F-4D97-AF65-F5344CB8AC3E}">
        <p14:creationId xmlns:p14="http://schemas.microsoft.com/office/powerpoint/2010/main" val="876740918"/>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200" b="1" i="0"/>
              <a:t>Organize an Email Thread in Outlook</a:t>
            </a:r>
          </a:p>
          <a:p xmlns:a="http://schemas.openxmlformats.org/drawingml/2006/main">
            <a:r>
              <a:rPr sz="1700" b="0" i="1"/>
              <a:t>Choose the result you need</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Catch me up</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“Summarize the current situation in three sentences.”</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changed · Who owes what</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changed dates or decisions and show the latest version.” · “Create a table with task, owner, due date, and dependency.”</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What remains open</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“List unanswered questions, approval conditions, and missing attachments.”</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1900" b="1">
                <a:solidFill>
                  <a:srgbClr val="0A6261"/>
                </a:solidFill>
                <a:latin typeface="Calibri"/>
                <a:ea typeface="Calibri"/>
                <a:cs typeface="Calibri"/>
              </a:rPr>
              <a:t>Prepare my reply</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1700" b="0">
                <a:solidFill>
                  <a:srgbClr val="232A31"/>
                </a:solidFill>
                <a:latin typeface="Calibri"/>
                <a:ea typeface="Calibri"/>
                <a:cs typeface="Calibri"/>
              </a:rPr>
              <a:t>“Draft a concise response. Use brackets where I still need to decide. Do not invent commitments.”</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Use only messages and attachments you can access · write “Not stated” instead of guessing · cite the supporting sender and date · do not send anything.</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82227215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2900" b="1">
                <a:solidFill>
                  <a:srgbClr val="232A31"/>
                </a:solidFill>
                <a:latin typeface="Calibri"/>
                <a:ea typeface="Calibri"/>
                <a:cs typeface="Calibri"/>
              </a:rPr>
              <a:t>Outlook Exercise: Decisions, Actions, and Open Questions</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800" b="0" i="0"/>
              <a:t>“Review this thread using only the messages and attachments you can access. Give me the current status, confirmed decisions and conditions, action items with owner and due date, changed dates or commitments, unanswered questions, missing attachments, and messages that need a reply. Write ‘Not stated’ when the thread does not say. Cite the supporting message by sender and date.”</a:t>
            </a:r>
          </a:p>
          <a:p xmlns:a="http://schemas.openxmlformats.org/drawingml/2006/main">
            <a:r>
              <a:rPr sz="1700" b="0" i="1"/>
              <a:t>Run it after the built-in summary, in the Copilot chat pane on the same conversation — or paste Packaging_Change_Thread.txt into an approved assistant.</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Your brief is checked against the instructor key — the thread has planted traps. Attempt first.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 · Packaging_Change_Thread.txt in your pack</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65831923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Extract Supplier Quotes into Excel</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“Review the attached supplier quotation files and create an editable Excel workbook. Create a Raw Extraction sheet with one row per quotation: supplier, quoted scope, currency, quoted quantity, unit price, tooling or other one-time charges, freight, taxes, lead time, payment terms, quote validity, exclusions, source file, source page, and missing information.”</a:t>
            </a:r>
          </a:p>
          <a:p xmlns:a="http://schemas.openxmlformats.org/drawingml/2006/main">
            <a:r>
              <a:rPr sz="1700" b="0" i="0"/>
              <a:t>“Copy values exactly as stated. Keep currencies, quantities, and units in their original form. Write ‘Not stated’ when a field is absent. Do not normalize, rank, or recommend yet. Cite the source file and page for every extracted commercial value.”</a:t>
            </a:r>
          </a:p>
          <a:p xmlns:a="http://schemas.openxmlformats.org/drawingml/2006/main">
            <a:r>
              <a:rPr sz="1700" b="0" i="1"/>
              <a:t>Step one is faithful extraction and traceability — judgment comes next.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Files: Quote_Alpha_Components.pdf · Quote_Bravo_Plastics.pdf · Quote_Cardinal_Metals.pdf — full prompt: workbook tab Quote-Extract.</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526347815"/>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2:30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300" b="1">
                <a:solidFill>
                  <a:srgbClr val="232A31"/>
                </a:solidFill>
                <a:latin typeface="Calibri"/>
                <a:ea typeface="Calibri"/>
                <a:cs typeface="Calibri"/>
              </a:rPr>
              <a:t>Normalize and Compare the Supplier Quotes</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1700" b="0" i="0"/>
              <a:t>“Using the Raw Extraction sheet, create a Normalized Comparison sheet. Normalize quantities, units, or currencies only when the conversion rule or basis is supplied. Keep every original extracted value visible. Flag differences in scope, assumptions, exclusions, and commercial terms. Show formulas for comparable totals.”</a:t>
            </a:r>
          </a:p>
          <a:p xmlns:a="http://schemas.openxmlformats.org/drawingml/2006/main">
            <a:r>
              <a:rPr sz="1700" b="0" i="0"/>
              <a:t>“Do not identify a best quote until the comparison basis is complete. List the missing information and unresolved questions that prevent a fair recommendation.”</a:t>
            </a:r>
          </a:p>
          <a:p xmlns:a="http://schemas.openxmlformats.org/drawingml/2006/main">
            <a:r>
              <a:rPr sz="1700" b="0" i="1"/>
              <a:t>The trap: the cheapest-looking quote stops looking cheapest once tooling, freight, currency, and scope are on the table.</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700" b="1">
                <a:solidFill>
                  <a:srgbClr val="3D4B50"/>
                </a:solidFill>
                <a:latin typeface="Calibri"/>
                <a:ea typeface="Calibri"/>
                <a:cs typeface="Calibri"/>
              </a:rPr>
              <a:t>No winner while the basis is incomplete — prepared example: Quote_Comparison_Workbook.xlsx · tab Quote-Compare.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43</a:t>
            </a:r>
          </a:p>
        </p:txBody>
      </p:sp>
    </p:spTree>
    <p:extLst>
      <p:ext uri="{BB962C8B-B14F-4D97-AF65-F5344CB8AC3E}">
        <p14:creationId xmlns:p14="http://schemas.microsoft.com/office/powerpoint/2010/main" val="52634781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875012"/>
                </a:solidFill>
                <a:latin typeface="Calibri"/>
              </a:rPr>
              <a:t>DO   3:00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100" b="1">
                <a:solidFill>
                  <a:srgbClr val="232A31"/>
                </a:solidFill>
                <a:latin typeface="Calibri"/>
              </a:rPr>
              <a:t>Turn Reference Files into a Research Spreadsheet</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“Review the attached reference files and build a research workbook using only information you can trace to a source.”</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Evidence sheet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One claim per row: ID · topic · claim · source file · author · date · page or section · short excerpt · plain-language interpretation · caveat · relevance to [research question] · confidence · open question.</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Synthesis + Sources</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Synthesis orders findings from foundations to implications — agreements, conflicts, gaps. Sources indexes every file. “Not stated” for gaps · conflicting claims stay separate · no invented citations.</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0">
                <a:solidFill>
                  <a:srgbClr val="232A31"/>
                </a:solidFill>
                <a:latin typeface="Calibri"/>
              </a:rPr>
              <a:t>Editable Excel workbook — filters, frozen header row, wrapped text; separate CSV tables if the tool cannot produce Excel.</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700" b="1">
                <a:solidFill>
                  <a:srgbClr val="3D4B50"/>
                </a:solidFill>
                <a:latin typeface="Calibri"/>
              </a:rPr>
              <a:t>Pack: references/exercise-data/research-pack/ · full prompt: workbook tab Research · prepared example: Research_Workbook.xlsx.</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From Prompts to Agents</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txBody xmlns:a="http://schemas.openxmlformats.org/drawingml/2006/main">
          <a:bodyPr/>
          <a:p/>
        </p:txBody>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7F8F6"/>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xmlns:a="http://schemas.openxmlformats.org/drawingml/2006/main">
        <p:nvSpPr>
          <p:cNvPr id="13" name="pilot-boundary"/>
          <p:cNvSpPr/>
          <p:nvPr/>
        </p:nvSpPr>
        <p:spPr>
          <a:xfrm>
            <a:off x="6217920" y="1837943"/>
            <a:ext cx="5504688" cy="3639312"/>
          </a:xfrm>
          <a:prstGeom prst="rect">
            <a:avLst/>
          </a:prstGeom>
          <a:solidFill>
            <a:srgbClr val="FFFFFF"/>
          </a:solidFill>
          <a:ln w="31750">
            <a:solidFill>
              <a:srgbClr val="3D4B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pilot-paper"/>
          <p:cNvSpPr/>
          <p:nvPr/>
        </p:nvSpPr>
        <p:spPr>
          <a:xfrm flipV="1">
            <a:off x="502920" y="1837943"/>
            <a:ext cx="5330952" cy="3639312"/>
          </a:xfrm>
          <a:prstGeom prst="foldedCorner">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 xmlns:a="http://schemas.openxmlformats.org/drawingml/2006/main">
        <p:nvSpPr>
          <p:cNvPr id="14" name="pilot-checkpoint"/>
          <p:cNvSpPr/>
          <p:nvPr/>
        </p:nvSpPr>
        <p:spPr>
          <a:xfrm>
            <a:off x="6254496" y="3044951"/>
            <a:ext cx="146304" cy="146304"/>
          </a:xfrm>
          <a:prstGeom prst="diamond">
            <a:avLst/>
          </a:prstGeom>
          <a:solidFill>
            <a:srgbClr val="FFFFFF"/>
          </a:solidFill>
          <a:ln w="19050">
            <a:solidFill>
              <a:srgbClr val="C47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txBody xmlns:a="http://schemas.openxmlformats.org/drawingml/2006/main">
          <a:bodyPr/>
          <a:p/>
        </p:txBody>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0:25</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txBody xmlns:a="http://schemas.openxmlformats.org/drawingml/2006/main">
          <a:bodyPr/>
          <a:p/>
        </p:txBody>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txBody xmlns:a="http://schemas.openxmlformats.org/drawingml/2006/main">
          <a:bodyPr/>
          <a:p/>
        </p:txBody>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txBody xmlns:a="http://schemas.openxmlformats.org/drawingml/2006/main">
          <a:bodyPr/>
          <a:p/>
        </p:txBody>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txBody xmlns:a="http://schemas.openxmlformats.org/drawingml/2006/main">
          <a:bodyPr/>
          <a:p/>
        </p:txBody>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txBody xmlns:a="http://schemas.openxmlformats.org/drawingml/2006/main">
          <a:bodyPr/>
          <a:p/>
        </p:txBody>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txBody xmlns:a="http://schemas.openxmlformats.org/drawingml/2006/main">
          <a:bodyPr/>
          <a:p/>
        </p:txBody>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txBody xmlns:a="http://schemas.openxmlformats.org/drawingml/2006/main">
          <a:bodyPr/>
          <a:p/>
        </p:txBody>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txBody xmlns:a="http://schemas.openxmlformats.org/drawingml/2006/main">
          <a:bodyPr/>
          <a:p/>
        </p:txBody>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txBody xmlns:a="http://schemas.openxmlformats.org/drawingml/2006/main">
          <a:bodyPr/>
          <a:p/>
        </p:txBody>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txBody xmlns:a="http://schemas.openxmlformats.org/drawingml/2006/main">
          <a:bodyPr/>
          <a:p/>
        </p:txBody>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txBody xmlns:a="http://schemas.openxmlformats.org/drawingml/2006/main">
          <a:bodyPr/>
          <a:p/>
        </p:txBody>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txBody xmlns:a="http://schemas.openxmlformats.org/drawingml/2006/main">
          <a:bodyPr/>
          <a:p/>
        </p:txBody>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txBody xmlns:a="http://schemas.openxmlformats.org/drawingml/2006/main">
          <a:bodyPr/>
          <a:p/>
        </p:txBody>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txBody xmlns:a="http://schemas.openxmlformats.org/drawingml/2006/main">
          <a:bodyPr/>
          <a:p/>
        </p:txBody>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txBody xmlns:a="http://schemas.openxmlformats.org/drawingml/2006/main">
          <a:bodyPr/>
          <a:p/>
        </p:txBody>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txBody xmlns:a="http://schemas.openxmlformats.org/drawingml/2006/main">
          <a:bodyPr/>
          <a:p/>
        </p:txBody>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 revised 2026)</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txBody xmlns:a="http://schemas.openxmlformats.org/drawingml/2006/main">
          <a:bodyPr/>
          <a:p/>
        </p:txBody>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txBody xmlns:a="http://schemas.openxmlformats.org/drawingml/2006/main">
          <a:bodyPr/>
          <a:p/>
        </p:txBody>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txBody xmlns:a="http://schemas.openxmlformats.org/drawingml/2006/main">
          <a:bodyP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txBody xmlns:a="http://schemas.openxmlformats.org/drawingml/2006/main">
          <a:bodyPr/>
          <a:p/>
        </p:txBody>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txBody xmlns:a="http://schemas.openxmlformats.org/drawingml/2006/main">
          <a:bodyPr/>
          <a:p/>
        </p:txBody>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txBody xmlns:a="http://schemas.openxmlformats.org/drawingml/2006/main">
          <a:bodyPr/>
          <a:p/>
        </p:txBody>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txBody xmlns:a="http://schemas.openxmlformats.org/drawingml/2006/main">
          <a:bodyPr/>
          <a:p/>
        </p:txBody>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txBody xmlns:a="http://schemas.openxmlformats.org/drawingml/2006/main">
          <a:bodyPr/>
          <a:p/>
        </p:txBody>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txBody xmlns:a="http://schemas.openxmlformats.org/drawingml/2006/main">
          <a:bodyPr/>
          <a:p/>
        </p:txBody>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txBody xmlns:a="http://schemas.openxmlformats.org/drawingml/2006/main">
          <a:bodyPr/>
          <a:p/>
        </p:txBody>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txBody xmlns:a="http://schemas.openxmlformats.org/drawingml/2006/main">
          <a:bodyPr/>
          <a:p/>
        </p:txBody>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txBody xmlns:a="http://schemas.openxmlformats.org/drawingml/2006/main">
          <a:bodyPr/>
          <a:p/>
        </p:txBody>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33</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40</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txBody xmlns:a="http://schemas.openxmlformats.org/drawingml/2006/main">
          <a:bodyPr/>
          <a:p/>
        </p:txBody>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txBody xmlns:a="http://schemas.openxmlformats.org/drawingml/2006/main">
          <a:bodyPr/>
          <a:p/>
        </p:txBody>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txBody xmlns:a="http://schemas.openxmlformats.org/drawingml/2006/main">
          <a:bodyPr/>
          <a:p/>
        </p:txBody>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txBody xmlns:a="http://schemas.openxmlformats.org/drawingml/2006/main">
          <a:bodyPr/>
          <a:p/>
        </p:txBody>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txBody xmlns:a="http://schemas.openxmlformats.org/drawingml/2006/main">
          <a:bodyPr/>
          <a:p/>
        </p:txBody>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txBody xmlns:a="http://schemas.openxmlformats.org/drawingml/2006/main">
          <a:bodyPr/>
          <a:p/>
        </p:txBody>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txBody xmlns:a="http://schemas.openxmlformats.org/drawingml/2006/main">
          <a:bodyPr/>
          <a:p/>
        </p:txBody>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txBody xmlns:a="http://schemas.openxmlformats.org/drawingml/2006/main">
          <a:bodyPr/>
          <a:p/>
        </p:txBody>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txBody xmlns:a="http://schemas.openxmlformats.org/drawingml/2006/main">
          <a:bodyPr/>
          <a:p/>
        </p:txBody>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txBody xmlns:a="http://schemas.openxmlformats.org/drawingml/2006/main">
          <a:bodyPr/>
          <a:p/>
        </p:txBody>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0.348%</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txBody xmlns:a="http://schemas.openxmlformats.org/drawingml/2006/main">
          <a:bodyPr/>
          <a:p/>
        </p:txBody>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txBody xmlns:a="http://schemas.openxmlformats.org/drawingml/2006/main">
          <a:bodyPr/>
          <a:p/>
        </p:txBody>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txBody xmlns:a="http://schemas.openxmlformats.org/drawingml/2006/main">
          <a:bodyPr/>
          <a:p/>
        </p:txBody>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r>
              <a:rPr sz="1150" b="1">
                <a:solidFill>
                  <a:srgbClr val="0A5B5A"/>
                </a:solidFill>
                <a:latin typeface="Calibri"/>
              </a:rPr>
              <a:t>Extensions to request after the course — each follows the same source → output → verification pattern as today’s five artifacts.</a:t>
            </a:r>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1">
                <a:solidFill>
                  <a:srgbClr val="526267"/>
                </a:solidFill>
                <a:latin typeface="Calibri"/>
              </a:rPr>
              <a:t>REFERENCE   SELF-STUDY</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97</a:t>
            </a:r>
          </a:p>
        </p:txBody>
      </p:sp>
    </p:spTree>
    <p:extLst>
      <p:ext uri="{BB962C8B-B14F-4D97-AF65-F5344CB8AC3E}">
        <p14:creationId xmlns:p14="http://schemas.microsoft.com/office/powerpoint/2010/main" val="1293824134"/>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build the supplier dashboard</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v1 — the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One self-contained offline HTML file from the returned Supplier_Data_Analyzed.xlsx workbook: summary tiles, one chart, a sortable table — data embedded, definitions and snapshot date visible.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v2 — behavior</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Add controls by name: month range (inclusive) · Supplier and Site multi-select · compare by supplier or site · monthly/quarterly trend · metric selector · drill-down · sort · Reset.</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Prompt v3 — the states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Active selections visible · one filter rule re-scopes every view · empty results explained · missing ≠ zero · zero denominators show “—”.</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checks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Berlin × Bravo Plastics, 2026-03..2026-08 → 8,575 units, 21 returns, 0.245%. Rates recomputed from filtered sums; every view must agree.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prompts: workbook tab 2-Build-Dashboard · prepared output: Supplier_Quality_Dashboard.html.</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98</a:t>
            </a:r>
          </a:p>
        </p:txBody>
      </p:sp>
    </p:spTree>
    <p:extLst>
      <p:ext uri="{BB962C8B-B14F-4D97-AF65-F5344CB8AC3E}">
        <p14:creationId xmlns:p14="http://schemas.microsoft.com/office/powerpoint/2010/main" val="40487522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the five-slide mock presentation</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Coverage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Question &amp; scope · supplier comparison · one time or site view · proposed follow-up · limitations and next steps — one main message per slide.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 rules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Only verified findings · units and period accurate · uncertainty and missing-data limits preserved · findings separated from recommendations · no invented causes or benefits.</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Delivery</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 editable .pptx with brief speaker notes; truthful, labeled charts; every number checked against the analysis; exported slides inspected for clipping and readability.</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prepared output</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Supplier_Quality_Mock_Presentation.pptx — the sample this prompt produced; audit it against this checklist before reusing the prompt.</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3-Present-Findings · live orientation: slide 39.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99</a:t>
            </a:r>
          </a:p>
        </p:txBody>
      </p:sp>
    </p:spTree>
    <p:extLst>
      <p:ext uri="{BB962C8B-B14F-4D97-AF65-F5344CB8AC3E}">
        <p14:creationId xmlns:p14="http://schemas.microsoft.com/office/powerpoint/2010/main" val="404875221"/>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Full exercise: explain a topic clearly</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prompt’s core</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Main idea first · familiar words, short sentences, meaningful headings · one concrete example · technical terms defined at first use · clear adult tone.</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Fidelity</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Analogies only when accurate, with the limit stated · conditions and uncertainty preserved · no invented facts · meaning-changing simplifications flagged.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learning check</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Three comprehension questions with a short answer key, answerable from the text alone. Readability scores are supporting evidence, not proof of understanding.</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Practice topics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Supplier quality (the live example) · household budgeting · the water cycle · how an internet message travels — sources and sample outputs in references/exercise-data/plain-language/.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prompt: workbook tab 5-Explain-Clearly · reference exercise (no live slot).</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100</a:t>
            </a:r>
          </a:p>
        </p:txBody>
      </p:sp>
    </p:spTree>
    <p:extLst>
      <p:ext uri="{BB962C8B-B14F-4D97-AF65-F5344CB8AC3E}">
        <p14:creationId xmlns:p14="http://schemas.microsoft.com/office/powerpoint/2010/main" val="404875221"/>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350" b="1">
                <a:solidFill>
                  <a:srgbClr val="5D6B70"/>
                </a:solidFill>
                <a:latin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3600" b="1">
                <a:solidFill>
                  <a:srgbClr val="232A31"/>
                </a:solidFill>
                <a:latin typeface="Calibri"/>
              </a:rPr>
              <a:t>The email-summary prompt, in full</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Scope &amp; brief</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Review the selected conversation about [topic] using only the messages and attachments you can access. Brief the current situation, then tables of decisions and actions.</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The tables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Decisions: status, conditions, supporting message. Actions: task, explicitly stated owner, due date, status, supporting message. Mark superseded dates as superseded.</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Honesty rules</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List unanswered questions, conflicts, missing information, and inaccessible attachments · “Not stated” for gaps · separate source facts from your interpretation.</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2175" b="1">
                <a:solidFill>
                  <a:srgbClr val="526267"/>
                </a:solidFill>
                <a:latin typeface="Calibri"/>
              </a:rPr>
              <a:t>Boundaries</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400" b="0">
                <a:solidFill>
                  <a:srgbClr val="232A31"/>
                </a:solidFill>
                <a:latin typeface="Calibri"/>
              </a:rPr>
              <a:t>End with the next clarification needed. A reply, if requested, is a draft for human review — never sent automatically. Copilot access depends on your license.</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800" b="1">
                <a:solidFill>
                  <a:srgbClr val="3D4B50"/>
                </a:solidFill>
                <a:latin typeface="Calibri"/>
              </a:rPr>
              <a:t>Copy-paste version: workbook tab 4-Summarize-Email · source thread: Packaging_Change_Thread.txt · key: slides 88–89.</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050" b="0">
                <a:solidFill>
                  <a:srgbClr val="657278"/>
                </a:solidFill>
                <a:latin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rPr sz="1275" b="0">
                <a:solidFill>
                  <a:srgbClr val="657278"/>
                </a:solidFill>
                <a:latin typeface="Calibri"/>
              </a:rPr>
              <a:t>101</a:t>
            </a:r>
          </a:p>
        </p:txBody>
      </p:sp>
    </p:spTree>
    <p:extLst>
      <p:ext uri="{BB962C8B-B14F-4D97-AF65-F5344CB8AC3E}">
        <p14:creationId xmlns:p14="http://schemas.microsoft.com/office/powerpoint/2010/main" val="404875221"/>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102</a:t>
            </a:r>
          </a:p>
        </p:txBody>
      </p:sp>
    </p:spTree>
    <p:extLst>
      <p:ext uri="{BB962C8B-B14F-4D97-AF65-F5344CB8AC3E}">
        <p14:creationId xmlns:p14="http://schemas.microsoft.com/office/powerpoint/2010/main" val="996966470"/>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txBody xmlns:a="http://schemas.openxmlformats.org/drawingml/2006/main">
          <a:bodyPr/>
          <a:p/>
        </p:txBody>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fictional quotations for the same commercial scope — the Quote_*.pdf files in your pack.</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Optional self-study: quotation PDFs + workbook tab EX-Quotes are in your pack — normalize before you compare.</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103</a:t>
            </a:r>
          </a:p>
        </p:txBody>
      </p:sp>
    </p:spTree>
    <p:extLst>
      <p:ext uri="{BB962C8B-B14F-4D97-AF65-F5344CB8AC3E}">
        <p14:creationId xmlns:p14="http://schemas.microsoft.com/office/powerpoint/2010/main" val="261249467"/>
      </p:ext>
    </p:extLst>
  </p:cSld>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PICK THE VEHICLE</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Chat, workflow, or agent — the path decides</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DETAILED REFERENCE · Related live slides 46–48</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104</a:t>
            </a:r>
          </a:p>
        </p:txBody>
      </p:sp>
      <p:sp>
        <p:nvSpPr>
          <p:cNvPr id="8" name="veh-card-0"/>
          <p:cNvSpPr/>
          <p:nvPr/>
        </p:nvSpPr>
        <p:spPr>
          <a:xfrm>
            <a:off x="502920"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veh-head-0"/>
          <p:cNvSpPr/>
          <p:nvPr/>
        </p:nvSpPr>
        <p:spPr>
          <a:xfrm>
            <a:off x="630936"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CHAT</a:t>
            </a:r>
          </a:p>
        </p:txBody>
      </p:sp>
      <p:sp>
        <p:nvSpPr>
          <p:cNvPr id="10" name="veh-tag-0"/>
          <p:cNvSpPr/>
          <p:nvPr/>
        </p:nvSpPr>
        <p:spPr>
          <a:xfrm>
            <a:off x="630936"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You are the loop.</a:t>
            </a:r>
          </a:p>
        </p:txBody>
      </p:sp>
      <p:sp>
        <p:nvSpPr>
          <p:cNvPr id="11" name="veh-body-0"/>
          <p:cNvSpPr/>
          <p:nvPr/>
        </p:nvSpPr>
        <p:spPr>
          <a:xfrm>
            <a:off x="630936"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Exploring, drafting, judging as you go. You read every answer and steer every turn — the prompting craft, live.</a:t>
            </a:r>
          </a:p>
        </p:txBody>
      </p:sp>
      <p:sp>
        <p:nvSpPr>
          <p:cNvPr id="12" name="veh-card-1"/>
          <p:cNvSpPr/>
          <p:nvPr/>
        </p:nvSpPr>
        <p:spPr>
          <a:xfrm>
            <a:off x="4279392"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veh-head-1"/>
          <p:cNvSpPr/>
          <p:nvPr/>
        </p:nvSpPr>
        <p:spPr>
          <a:xfrm>
            <a:off x="4407407"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WORKFLOW</a:t>
            </a:r>
          </a:p>
        </p:txBody>
      </p:sp>
      <p:sp>
        <p:nvSpPr>
          <p:cNvPr id="14" name="veh-tag-1"/>
          <p:cNvSpPr/>
          <p:nvPr/>
        </p:nvSpPr>
        <p:spPr>
          <a:xfrm>
            <a:off x="4407407"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is frozen.</a:t>
            </a:r>
          </a:p>
        </p:txBody>
      </p:sp>
      <p:sp>
        <p:nvSpPr>
          <p:cNvPr id="15" name="veh-body-1"/>
          <p:cNvSpPr/>
          <p:nvPr/>
        </p:nvSpPr>
        <p:spPr>
          <a:xfrm>
            <a:off x="4407407"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Known path, few tools, same steps every time — script it (n8n, Zapier, Power Automate). Cheaper, predictable, auditable. No judgment needed mid-run.</a:t>
            </a:r>
          </a:p>
        </p:txBody>
      </p:sp>
      <p:sp>
        <p:nvSpPr>
          <p:cNvPr id="16" name="veh-card-2"/>
          <p:cNvSpPr/>
          <p:nvPr/>
        </p:nvSpPr>
        <p:spPr>
          <a:xfrm>
            <a:off x="8055864" y="1481328"/>
            <a:ext cx="3611880" cy="2304288"/>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veh-head-2"/>
          <p:cNvSpPr/>
          <p:nvPr/>
        </p:nvSpPr>
        <p:spPr>
          <a:xfrm>
            <a:off x="8183880" y="1609344"/>
            <a:ext cx="32918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0E7C7B"/>
                </a:solidFill>
                <a:latin typeface="Calibri"/>
              </a:rPr>
              <a:t>AGENT</a:t>
            </a:r>
          </a:p>
        </p:txBody>
      </p:sp>
      <p:sp>
        <p:nvSpPr>
          <p:cNvPr id="18" name="veh-tag-2"/>
          <p:cNvSpPr/>
          <p:nvPr/>
        </p:nvSpPr>
        <p:spPr>
          <a:xfrm>
            <a:off x="8183880" y="1956816"/>
            <a:ext cx="329184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1">
                <a:solidFill>
                  <a:srgbClr val="232A31"/>
                </a:solidFill>
                <a:latin typeface="Calibri"/>
              </a:rPr>
              <a:t>The loop runs inside.</a:t>
            </a:r>
          </a:p>
        </p:txBody>
      </p:sp>
      <p:sp>
        <p:nvSpPr>
          <p:cNvPr id="19" name="veh-body-2"/>
          <p:cNvSpPr/>
          <p:nvPr/>
        </p:nvSpPr>
        <p:spPr>
          <a:xfrm>
            <a:off x="8183880" y="2304288"/>
            <a:ext cx="335584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0" i="0">
                <a:solidFill>
                  <a:srgbClr val="3D4B50"/>
                </a:solidFill>
                <a:latin typeface="Calibri"/>
              </a:rPr>
              <a:t>Unknown path — the next step depends on what it finds. Brief it, with gates where the judgment stays yours. Your control lives in the brief, not the conversation.</a:t>
            </a:r>
          </a:p>
        </p:txBody>
      </p:sp>
      <p:sp>
        <p:nvSpPr>
          <p:cNvPr id="20" name="veh-img-card"/>
          <p:cNvSpPr/>
          <p:nvPr/>
        </p:nvSpPr>
        <p:spPr>
          <a:xfrm>
            <a:off x="502920" y="4005072"/>
            <a:ext cx="2834640" cy="2331720"/>
          </a:xfrm>
          <a:prstGeom prst="rect">
            <a:avLst/>
          </a:prstGeom>
          <a:solidFill>
            <a:srgbClr val="FFFFFF"/>
          </a:solidFill>
          <a:ln w="12700">
            <a:solidFill>
              <a:srgbClr val="A7B0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courier_work_order.jpg"/>
          <p:cNvPicPr>
            <a:picLocks noChangeAspect="1"/>
          </p:cNvPicPr>
          <p:nvPr/>
        </p:nvPicPr>
        <p:blipFill>
          <a:blip r:embed="rId2"/>
          <a:stretch>
            <a:fillRect/>
          </a:stretch>
        </p:blipFill>
        <p:spPr>
          <a:xfrm>
            <a:off x="630936" y="4114800"/>
            <a:ext cx="2578608" cy="1438494"/>
          </a:xfrm>
          <a:prstGeom prst="rect">
            <a:avLst/>
          </a:prstGeom>
        </p:spPr>
      </p:pic>
      <p:sp>
        <p:nvSpPr>
          <p:cNvPr id="22" name="veh-img-cap"/>
          <p:cNvSpPr/>
          <p:nvPr/>
        </p:nvSpPr>
        <p:spPr>
          <a:xfrm>
            <a:off x="566928" y="5925312"/>
            <a:ext cx="2706624"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ctr"/>
            <a:r>
              <a:rPr sz="950" b="0" i="1">
                <a:solidFill>
                  <a:srgbClr val="657278"/>
                </a:solidFill>
                <a:latin typeface="Calibri"/>
              </a:rPr>
              <a:t>Don’t chat with an agent — hand it a work order.</a:t>
            </a:r>
          </a:p>
        </p:txBody>
      </p:sp>
      <p:sp>
        <p:nvSpPr>
          <p:cNvPr id="23" name="veh-rule"/>
          <p:cNvSpPr/>
          <p:nvPr/>
        </p:nvSpPr>
        <p:spPr>
          <a:xfrm>
            <a:off x="3520440" y="4005072"/>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veh-rule-t"/>
          <p:cNvSpPr/>
          <p:nvPr/>
        </p:nvSpPr>
        <p:spPr>
          <a:xfrm>
            <a:off x="3648456" y="4096512"/>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decision rule: </a:t>
            </a:r>
            <a:r>
              <a:rPr sz="1100" b="0" i="0">
                <a:solidFill>
                  <a:srgbClr val="3D4B50"/>
                </a:solidFill>
                <a:latin typeface="Calibri"/>
              </a:rPr>
              <a:t>known path + few tools → workflow. Unknown path, real judgment → agent, with gates. Still thinking it through → chat.</a:t>
            </a:r>
          </a:p>
        </p:txBody>
      </p:sp>
      <p:sp>
        <p:nvSpPr>
          <p:cNvPr id="25" name="veh-cost"/>
          <p:cNvSpPr/>
          <p:nvPr/>
        </p:nvSpPr>
        <p:spPr>
          <a:xfrm>
            <a:off x="3520440" y="5138928"/>
            <a:ext cx="8138160" cy="98755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eh-cost-t"/>
          <p:cNvSpPr/>
          <p:nvPr/>
        </p:nvSpPr>
        <p:spPr>
          <a:xfrm>
            <a:off x="3648456" y="5230368"/>
            <a:ext cx="7882127"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100" b="1" i="0">
                <a:solidFill>
                  <a:srgbClr val="232A31"/>
                </a:solidFill>
                <a:latin typeface="Calibri"/>
              </a:rPr>
              <a:t>The wrong vehicle costs: </a:t>
            </a:r>
            <a:r>
              <a:rPr sz="1100" b="0" i="0">
                <a:solidFill>
                  <a:srgbClr val="3D4B50"/>
                </a:solidFill>
                <a:latin typeface="Calibri"/>
              </a:rPr>
              <a:t>an agent on a known path pays judgment prices for clerk work; a workflow on an unknown path is a script that breaks on the first surprise.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 rIns="18288" tIns="9144" bIns="9144">
            <a:noAutofit/>
          </a:bodyPr>
          <a:lstStyle/>
          <a:p>
            <a:pPr algn="r"/>
            <a:r>
              <a:rPr sz="1050" b="1" i="0">
                <a:solidFill>
                  <a:srgbClr val="526267"/>
                </a:solidFill>
                <a:latin typeface="Calibri"/>
              </a:rPr>
              <a:t>REFERENCE  STUDY</a:t>
            </a:r>
          </a:p>
        </p:txBody>
      </p:sp>
      <p:sp>
        <p:nvSpPr>
          <p:cNvPr id="4" name="kicker"/>
          <p:cNvSpPr/>
          <p:nvPr/>
        </p:nvSpPr>
        <p:spPr>
          <a:xfrm>
            <a:off x="502920" y="274320"/>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100" b="1" i="0">
                <a:solidFill>
                  <a:srgbClr val="0E7C7B"/>
                </a:solidFill>
                <a:latin typeface="Calibri"/>
              </a:rPr>
              <a:t>WHEN THE RUN GOES WRONG</a:t>
            </a:r>
          </a:p>
        </p:txBody>
      </p:sp>
      <p:sp>
        <p:nvSpPr>
          <p:cNvPr id="5" name="title"/>
          <p:cNvSpPr/>
          <p:nvPr/>
        </p:nvSpPr>
        <p:spPr>
          <a:xfrm>
            <a:off x="502920" y="530352"/>
            <a:ext cx="11155680"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3000" b="1" i="0">
                <a:solidFill>
                  <a:srgbClr val="232A31"/>
                </a:solidFill>
                <a:latin typeface="Cambria"/>
              </a:rPr>
              <a:t>Four context failures — name it, then cure it</a:t>
            </a:r>
          </a:p>
        </p:txBody>
      </p:sp>
      <p:sp>
        <p:nvSpPr>
          <p:cNvPr id="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50" b="0" i="0">
                <a:solidFill>
                  <a:srgbClr val="526267"/>
                </a:solidFill>
                <a:latin typeface="Calibri"/>
              </a:rPr>
              <a:t>DETAILED REFERENCE · Related live slide 54</a:t>
            </a:r>
          </a:p>
        </p:txBody>
      </p:sp>
      <p:sp>
        <p:nvSpPr>
          <p:cNvPr id="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r"/>
            <a:r>
              <a:rPr sz="1050" b="0" i="0">
                <a:solidFill>
                  <a:srgbClr val="657278"/>
                </a:solidFill>
                <a:latin typeface="Calibri"/>
              </a:rPr>
              <a:t>105</a:t>
            </a:r>
          </a:p>
        </p:txBody>
      </p:sp>
      <p:sp>
        <p:nvSpPr>
          <p:cNvPr id="8" name="cf-card-0"/>
          <p:cNvSpPr/>
          <p:nvPr/>
        </p:nvSpPr>
        <p:spPr>
          <a:xfrm>
            <a:off x="502920" y="148132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f-label-0"/>
          <p:cNvSpPr/>
          <p:nvPr/>
        </p:nvSpPr>
        <p:spPr>
          <a:xfrm>
            <a:off x="630936" y="157276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POISONING</a:t>
            </a:r>
          </a:p>
        </p:txBody>
      </p:sp>
      <p:sp>
        <p:nvSpPr>
          <p:cNvPr id="10" name="cf-body-0"/>
          <p:cNvSpPr/>
          <p:nvPr/>
        </p:nvSpPr>
        <p:spPr>
          <a:xfrm>
            <a:off x="2194560" y="155448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One bad “fact” entered the log early — every later step politely builds on it.</a:t>
            </a:r>
          </a:p>
          <a:p>
            <a:pPr algn="l"/>
            <a:r>
              <a:rPr sz="1050" b="1" i="0">
                <a:solidFill>
                  <a:srgbClr val="875012"/>
                </a:solidFill>
                <a:latin typeface="Calibri"/>
              </a:rPr>
              <a:t>Cure: </a:t>
            </a:r>
            <a:r>
              <a:rPr sz="1050" b="0" i="0">
                <a:solidFill>
                  <a:srgbClr val="3D4B50"/>
                </a:solidFill>
                <a:latin typeface="Calibri"/>
              </a:rPr>
              <a:t>fresh session; re-load only what you trust — the standing brief + verified files.</a:t>
            </a:r>
          </a:p>
        </p:txBody>
      </p:sp>
      <p:sp>
        <p:nvSpPr>
          <p:cNvPr id="11" name="cf-card-1"/>
          <p:cNvSpPr/>
          <p:nvPr/>
        </p:nvSpPr>
        <p:spPr>
          <a:xfrm>
            <a:off x="502920" y="267004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f-label-1"/>
          <p:cNvSpPr/>
          <p:nvPr/>
        </p:nvSpPr>
        <p:spPr>
          <a:xfrm>
            <a:off x="630936" y="276148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DRIFT</a:t>
            </a:r>
          </a:p>
        </p:txBody>
      </p:sp>
      <p:sp>
        <p:nvSpPr>
          <p:cNvPr id="13" name="cf-body-1"/>
          <p:cNvSpPr/>
          <p:nvPr/>
        </p:nvSpPr>
        <p:spPr>
          <a:xfrm>
            <a:off x="2194560" y="274320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A long run wanders off the goal; the middle of a huge context gets skimmed.</a:t>
            </a:r>
          </a:p>
          <a:p>
            <a:pPr algn="l"/>
            <a:r>
              <a:rPr sz="1050" b="1" i="0">
                <a:solidFill>
                  <a:srgbClr val="875012"/>
                </a:solidFill>
                <a:latin typeface="Calibri"/>
              </a:rPr>
              <a:t>Cure: </a:t>
            </a:r>
            <a:r>
              <a:rPr sz="1050" b="0" i="0">
                <a:solidFill>
                  <a:srgbClr val="3D4B50"/>
                </a:solidFill>
                <a:latin typeface="Calibri"/>
              </a:rPr>
              <a:t>re-inject the mission; compact (the HANDOFF move); stop conditions in the brief.</a:t>
            </a:r>
          </a:p>
        </p:txBody>
      </p:sp>
      <p:sp>
        <p:nvSpPr>
          <p:cNvPr id="14" name="cf-card-2"/>
          <p:cNvSpPr/>
          <p:nvPr/>
        </p:nvSpPr>
        <p:spPr>
          <a:xfrm>
            <a:off x="502920" y="385876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f-label-2"/>
          <p:cNvSpPr/>
          <p:nvPr/>
        </p:nvSpPr>
        <p:spPr>
          <a:xfrm>
            <a:off x="630936" y="395020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CONFUSION</a:t>
            </a:r>
          </a:p>
        </p:txBody>
      </p:sp>
      <p:sp>
        <p:nvSpPr>
          <p:cNvPr id="16" name="cf-body-2"/>
          <p:cNvSpPr/>
          <p:nvPr/>
        </p:nvSpPr>
        <p:spPr>
          <a:xfrm>
            <a:off x="2194560" y="393192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Too many tools on the desk — it picks the wrong one, or dithers between them.</a:t>
            </a:r>
          </a:p>
          <a:p>
            <a:pPr algn="l"/>
            <a:r>
              <a:rPr sz="1050" b="1" i="0">
                <a:solidFill>
                  <a:srgbClr val="875012"/>
                </a:solidFill>
                <a:latin typeface="Calibri"/>
              </a:rPr>
              <a:t>Cure: </a:t>
            </a:r>
            <a:r>
              <a:rPr sz="1050" b="0" i="0">
                <a:solidFill>
                  <a:srgbClr val="3D4B50"/>
                </a:solidFill>
                <a:latin typeface="Calibri"/>
              </a:rPr>
              <a:t>fewer tools per phase; the &lt;plan&gt; names the methods allowed.</a:t>
            </a:r>
          </a:p>
        </p:txBody>
      </p:sp>
      <p:sp>
        <p:nvSpPr>
          <p:cNvPr id="17" name="cf-card-3"/>
          <p:cNvSpPr/>
          <p:nvPr/>
        </p:nvSpPr>
        <p:spPr>
          <a:xfrm>
            <a:off x="502920" y="5047488"/>
            <a:ext cx="6446520" cy="1078992"/>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f-label-3"/>
          <p:cNvSpPr/>
          <p:nvPr/>
        </p:nvSpPr>
        <p:spPr>
          <a:xfrm>
            <a:off x="630936" y="5138928"/>
            <a:ext cx="1508760" cy="89611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200" b="1" i="0">
                <a:solidFill>
                  <a:srgbClr val="232A31"/>
                </a:solidFill>
                <a:latin typeface="Calibri"/>
              </a:rPr>
              <a:t>CLASH</a:t>
            </a:r>
          </a:p>
        </p:txBody>
      </p:sp>
      <p:sp>
        <p:nvSpPr>
          <p:cNvPr id="19" name="cf-body-3"/>
          <p:cNvSpPr/>
          <p:nvPr/>
        </p:nvSpPr>
        <p:spPr>
          <a:xfrm>
            <a:off x="2194560" y="5120640"/>
            <a:ext cx="4663440" cy="9509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18288" bIns="18288">
            <a:noAutofit/>
          </a:bodyPr>
          <a:lstStyle/>
          <a:p>
            <a:pPr algn="l"/>
            <a:r>
              <a:rPr sz="1050" b="0" i="0">
                <a:solidFill>
                  <a:srgbClr val="3D4B50"/>
                </a:solidFill>
                <a:latin typeface="Calibri"/>
              </a:rPr>
              <a:t>Two sources disagree and the run silently picks one of them.</a:t>
            </a:r>
          </a:p>
          <a:p>
            <a:pPr algn="l"/>
            <a:r>
              <a:rPr sz="1050" b="1" i="0">
                <a:solidFill>
                  <a:srgbClr val="875012"/>
                </a:solidFill>
                <a:latin typeface="Calibri"/>
              </a:rPr>
              <a:t>Cure: </a:t>
            </a:r>
            <a:r>
              <a:rPr sz="1050" b="0" i="0">
                <a:solidFill>
                  <a:srgbClr val="3D4B50"/>
                </a:solidFill>
                <a:latin typeface="Calibri"/>
              </a:rPr>
              <a:t>one source of truth per fact, named in &lt;inputs&gt;; an explicit override order.</a:t>
            </a:r>
          </a:p>
        </p:txBody>
      </p:sp>
      <p:sp>
        <p:nvSpPr>
          <p:cNvPr id="20" name="cf-panel"/>
          <p:cNvSpPr/>
          <p:nvPr/>
        </p:nvSpPr>
        <p:spPr>
          <a:xfrm>
            <a:off x="7132320" y="1481328"/>
            <a:ext cx="4526280" cy="4901184"/>
          </a:xfrm>
          <a:prstGeom prst="rect">
            <a:avLst/>
          </a:prstGeom>
          <a:solidFill>
            <a:srgbClr val="F2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cf-panel-head"/>
          <p:cNvSpPr/>
          <p:nvPr/>
        </p:nvSpPr>
        <p:spPr>
          <a:xfrm>
            <a:off x="7278624" y="1609344"/>
            <a:ext cx="42062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300" b="1" i="0">
                <a:solidFill>
                  <a:srgbClr val="232A31"/>
                </a:solidFill>
                <a:latin typeface="Calibri"/>
              </a:rPr>
              <a:t>“Why did it ignore me?”</a:t>
            </a:r>
          </a:p>
        </p:txBody>
      </p:sp>
      <p:sp>
        <p:nvSpPr>
          <p:cNvPr id="22" name="cf-layer-0"/>
          <p:cNvSpPr/>
          <p:nvPr/>
        </p:nvSpPr>
        <p:spPr>
          <a:xfrm>
            <a:off x="7278624" y="2029968"/>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f-layer-t-0"/>
          <p:cNvSpPr/>
          <p:nvPr/>
        </p:nvSpPr>
        <p:spPr>
          <a:xfrm>
            <a:off x="7351775" y="2066544"/>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SYSTEM PROMPT  </a:t>
            </a:r>
            <a:r>
              <a:rPr sz="950" b="0" i="0">
                <a:solidFill>
                  <a:srgbClr val="3D4B50"/>
                </a:solidFill>
                <a:latin typeface="Calibri"/>
              </a:rPr>
              <a:t>the vendor’s standing orders</a:t>
            </a:r>
          </a:p>
        </p:txBody>
      </p:sp>
      <p:sp>
        <p:nvSpPr>
          <p:cNvPr id="24" name="cf-layer-1"/>
          <p:cNvSpPr/>
          <p:nvPr/>
        </p:nvSpPr>
        <p:spPr>
          <a:xfrm>
            <a:off x="7278624" y="2505456"/>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f-layer-t-1"/>
          <p:cNvSpPr/>
          <p:nvPr/>
        </p:nvSpPr>
        <p:spPr>
          <a:xfrm>
            <a:off x="7351775" y="2542032"/>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PROJECT FILE  </a:t>
            </a:r>
            <a:r>
              <a:rPr sz="950" b="0" i="0">
                <a:solidFill>
                  <a:srgbClr val="3D4B50"/>
                </a:solidFill>
                <a:latin typeface="Calibri"/>
              </a:rPr>
              <a:t>CLAUDE.md / AGENTS.md</a:t>
            </a:r>
          </a:p>
        </p:txBody>
      </p:sp>
      <p:sp>
        <p:nvSpPr>
          <p:cNvPr id="26" name="cf-layer-2"/>
          <p:cNvSpPr/>
          <p:nvPr/>
        </p:nvSpPr>
        <p:spPr>
          <a:xfrm>
            <a:off x="7278624" y="2980944"/>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f-layer-t-2"/>
          <p:cNvSpPr/>
          <p:nvPr/>
        </p:nvSpPr>
        <p:spPr>
          <a:xfrm>
            <a:off x="7351775" y="3017520"/>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SKILL  </a:t>
            </a:r>
            <a:r>
              <a:rPr sz="950" b="0" i="0">
                <a:solidFill>
                  <a:srgbClr val="3D4B50"/>
                </a:solidFill>
                <a:latin typeface="Calibri"/>
              </a:rPr>
              <a:t>loads when the task matches</a:t>
            </a:r>
          </a:p>
        </p:txBody>
      </p:sp>
      <p:sp>
        <p:nvSpPr>
          <p:cNvPr id="28" name="cf-layer-3"/>
          <p:cNvSpPr/>
          <p:nvPr/>
        </p:nvSpPr>
        <p:spPr>
          <a:xfrm>
            <a:off x="7278624" y="3456432"/>
            <a:ext cx="4224528" cy="384048"/>
          </a:xfrm>
          <a:prstGeom prst="rect">
            <a:avLst/>
          </a:prstGeom>
          <a:solidFill>
            <a:srgbClr val="FFFFFF"/>
          </a:solidFill>
          <a:ln w="12700">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f-layer-t-3"/>
          <p:cNvSpPr/>
          <p:nvPr/>
        </p:nvSpPr>
        <p:spPr>
          <a:xfrm>
            <a:off x="7351775" y="3493008"/>
            <a:ext cx="4096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9144" bIns="9144">
            <a:noAutofit/>
          </a:bodyPr>
          <a:lstStyle/>
          <a:p>
            <a:pPr algn="l"/>
            <a:r>
              <a:rPr sz="950" b="1" i="0">
                <a:solidFill>
                  <a:srgbClr val="232A31"/>
                </a:solidFill>
                <a:latin typeface="Calibri"/>
              </a:rPr>
              <a:t>YOUR MESSAGE  </a:t>
            </a:r>
            <a:r>
              <a:rPr sz="950" b="0" i="0">
                <a:solidFill>
                  <a:srgbClr val="3D4B50"/>
                </a:solidFill>
                <a:latin typeface="Calibri"/>
              </a:rPr>
              <a:t>today’s ask — easiest to lose</a:t>
            </a:r>
          </a:p>
        </p:txBody>
      </p:sp>
      <p:sp>
        <p:nvSpPr>
          <p:cNvPr id="30" name="cf-expl"/>
          <p:cNvSpPr/>
          <p:nvPr/>
        </p:nvSpPr>
        <p:spPr>
          <a:xfrm>
            <a:off x="7278624" y="4041648"/>
            <a:ext cx="4224528" cy="1417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1000" b="0" i="0">
                <a:solidFill>
                  <a:srgbClr val="3D4B50"/>
                </a:solidFill>
                <a:latin typeface="Calibri"/>
              </a:rPr>
              <a:t>Instructions stack in layers; conflicts resolve by precedence — the layer you typed is the easiest to lose. Find which layer said what before you blame the model. One-job rules belong in a SKILL, not another standing paragraph.</a:t>
            </a:r>
          </a:p>
        </p:txBody>
      </p:sp>
      <p:sp>
        <p:nvSpPr>
          <p:cNvPr id="31" name="cf-note"/>
          <p:cNvSpPr/>
          <p:nvPr/>
        </p:nvSpPr>
        <p:spPr>
          <a:xfrm>
            <a:off x="7278624" y="5577840"/>
            <a:ext cx="4224528" cy="65836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27432" bIns="27432">
            <a:noAutofit/>
          </a:bodyPr>
          <a:lstStyle/>
          <a:p>
            <a:pPr algn="l"/>
            <a:r>
              <a:rPr sz="950" b="0" i="1">
                <a:solidFill>
                  <a:srgbClr val="657278"/>
                </a:solidFill>
                <a:latin typeface="Calibri"/>
              </a:rPr>
              <a:t>Tool descriptions are prompts too — the agent reads them like a junior reads an API doc.</a:t>
            </a:r>
          </a:p>
        </p:txBody>
      </p:sp>
      <p:sp>
        <p:nvSpPr>
          <p:cNvPr id="32" name="cf-foot"/>
          <p:cNvSpPr/>
          <p:nvPr/>
        </p:nvSpPr>
        <p:spPr>
          <a:xfrm>
            <a:off x="502920" y="6272784"/>
            <a:ext cx="6400800"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noAutofit/>
          </a:bodyPr>
          <a:lstStyle/>
          <a:p>
            <a:pPr algn="l"/>
            <a:r>
              <a:rPr sz="1000" b="0" i="1">
                <a:solidFill>
                  <a:srgbClr val="657278"/>
                </a:solidFill>
                <a:latin typeface="Calibri"/>
              </a:rPr>
              <a:t>The requirements grid diagnosed the PROMPT; this grid diagnoses the RUN.</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HALLUCINATION</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Fluency is not evidence</a:t>
            </a:r>
            <a:endParaRPr lang="en-US" sz="3000" dirty="0"/>
          </a:p>
        </p:txBody>
      </p:sp>
      <p:sp>
        <p:nvSpPr>
          <p:cNvPr id="6" name="Text 4"/>
          <p:cNvSpPr/>
          <p:nvPr/>
        </p:nvSpPr>
        <p:spPr>
          <a:xfrm>
            <a:off x="502920" y="1481328"/>
            <a:ext cx="5120640" cy="2331720"/>
          </a:xfrm>
          <a:prstGeom prst="rect">
            <a:avLst/>
          </a:prstGeom>
          <a:noFill/>
          <a:ln/>
        </p:spPr>
        <p:txBody>
          <a:bodyPr wrap="square" lIns="0" tIns="0" rIns="0" bIns="0" rtlCol="0" anchor="t"/>
          <a:lstStyle/>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mechanism: models are optimized for the most plausible next token, not the most true one. Trouble concentrates where training data is thin: rare facts, citations, numbers, names.</a:t>
            </a:r>
            <a:endParaRPr lang="en-US" sz="1400" dirty="0"/>
          </a:p>
          <a:p>
            <a:pPr algn="l" marL="127000" indent="-127000">
              <a:lnSpc>
                <a:spcPct val="104000"/>
              </a:lnSpc>
              <a:spcAft>
                <a:spcPts val="600"/>
              </a:spcAft>
              <a:buSzPct val="100000"/>
              <a:buChar char="•"/>
            </a:pPr>
            <a:r>
              <a:rPr lang="en-US" sz="1400" b="1" dirty="0">
                <a:solidFill>
                  <a:srgbClr val="46545F"/>
                </a:solidFill>
                <a:latin typeface="Calibri" pitchFamily="34" charset="0"/>
                <a:ea typeface="Calibri" pitchFamily="34" charset="-122"/>
                <a:cs typeface="Calibri" pitchFamily="34" charset="-120"/>
              </a:rPr>
              <a:t>OpenAI’s own 2025 research: benchmarks reward confident guessing over “I don’t know” — models learn to be good test-takers.</a:t>
            </a:r>
            <a:endParaRPr lang="en-US" sz="1400" dirty="0"/>
          </a:p>
          <a:p>
            <a:pPr algn="l" marL="127000" indent="-127000">
              <a:lnSpc>
                <a:spcPct val="104000"/>
              </a:lnSpc>
              <a:spcAft>
                <a:spcPts val="600"/>
              </a:spcAft>
              <a:buSzPct val="100000"/>
              <a:buChar char="•"/>
            </a:pPr>
            <a:r>
              <a:rPr lang="en-US" sz="1400" dirty="0">
                <a:solidFill>
                  <a:srgbClr val="46545F"/>
                </a:solidFill>
                <a:latin typeface="Calibri" pitchFamily="34" charset="0"/>
                <a:ea typeface="Calibri" pitchFamily="34" charset="-122"/>
                <a:cs typeface="Calibri" pitchFamily="34" charset="-120"/>
              </a:rPr>
              <a:t>The better word is confabulation: it fills gaps with plausible material, in-format — fake citations LOOK like citations.</a:t>
            </a:r>
            <a:endParaRPr lang="en-US" sz="1400" dirty="0"/>
          </a:p>
        </p:txBody>
      </p:sp>
      <p:sp>
        <p:nvSpPr>
          <p:cNvPr id="7" name="Shape 5"/>
          <p:cNvSpPr/>
          <p:nvPr/>
        </p:nvSpPr>
        <p:spPr>
          <a:xfrm>
            <a:off x="502920" y="3950208"/>
            <a:ext cx="5120640" cy="2231136"/>
          </a:xfrm>
          <a:prstGeom prst="roundRect">
            <a:avLst>
              <a:gd name="adj" fmla="val 3279"/>
            </a:avLst>
          </a:prstGeom>
          <a:solidFill>
            <a:srgbClr val="F2F5F6"/>
          </a:solidFill>
          <a:ln/>
        </p:spPr>
        <p:txBody>
          <a:bodyPr/>
          <a:p/>
        </p:txBody>
      </p:sp>
      <p:sp>
        <p:nvSpPr>
          <p:cNvPr id="8" name="Text 6"/>
          <p:cNvSpPr/>
          <p:nvPr/>
        </p:nvSpPr>
        <p:spPr>
          <a:xfrm>
            <a:off x="749808" y="4078224"/>
            <a:ext cx="46634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The confident guess, measured</a:t>
            </a:r>
            <a:endParaRPr lang="en-US" sz="1350" dirty="0"/>
          </a:p>
        </p:txBody>
      </p:sp>
      <p:sp>
        <p:nvSpPr>
          <p:cNvPr id="9" name="Text 7"/>
          <p:cNvSpPr/>
          <p:nvPr/>
        </p:nvSpPr>
        <p:spPr>
          <a:xfrm>
            <a:off x="749808" y="4407408"/>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Older reasoning model (o4-mini)</a:t>
            </a:r>
            <a:endParaRPr lang="en-US" sz="950" dirty="0"/>
          </a:p>
        </p:txBody>
      </p:sp>
      <p:sp>
        <p:nvSpPr>
          <p:cNvPr id="10" name="Shape 8"/>
          <p:cNvSpPr/>
          <p:nvPr/>
        </p:nvSpPr>
        <p:spPr>
          <a:xfrm>
            <a:off x="749808" y="4626864"/>
            <a:ext cx="998525" cy="182880"/>
          </a:xfrm>
          <a:prstGeom prst="rect">
            <a:avLst/>
          </a:prstGeom>
          <a:solidFill>
            <a:srgbClr val="0E7C7B"/>
          </a:solidFill>
          <a:ln w="6350">
            <a:solidFill>
              <a:srgbClr val="FFFFFF"/>
            </a:solidFill>
            <a:prstDash val="solid"/>
          </a:ln>
        </p:spPr>
        <p:txBody>
          <a:bodyPr/>
          <a:p/>
        </p:txBody>
      </p:sp>
      <p:sp>
        <p:nvSpPr>
          <p:cNvPr id="11" name="Text 9"/>
          <p:cNvSpPr/>
          <p:nvPr/>
        </p:nvSpPr>
        <p:spPr>
          <a:xfrm>
            <a:off x="749808" y="4608576"/>
            <a:ext cx="99852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24%</a:t>
            </a:r>
            <a:endParaRPr lang="en-US" sz="850" dirty="0"/>
          </a:p>
        </p:txBody>
      </p:sp>
      <p:sp>
        <p:nvSpPr>
          <p:cNvPr id="12" name="Shape 10"/>
          <p:cNvSpPr/>
          <p:nvPr/>
        </p:nvSpPr>
        <p:spPr>
          <a:xfrm>
            <a:off x="1748333" y="4626864"/>
            <a:ext cx="3120390" cy="182880"/>
          </a:xfrm>
          <a:prstGeom prst="rect">
            <a:avLst/>
          </a:prstGeom>
          <a:solidFill>
            <a:srgbClr val="AF3230"/>
          </a:solidFill>
          <a:ln w="6350">
            <a:solidFill>
              <a:srgbClr val="FFFFFF"/>
            </a:solidFill>
            <a:prstDash val="solid"/>
          </a:ln>
        </p:spPr>
        <p:txBody>
          <a:bodyPr/>
          <a:p/>
        </p:txBody>
      </p:sp>
      <p:sp>
        <p:nvSpPr>
          <p:cNvPr id="13" name="Text 11"/>
          <p:cNvSpPr/>
          <p:nvPr/>
        </p:nvSpPr>
        <p:spPr>
          <a:xfrm>
            <a:off x="1748333" y="4608576"/>
            <a:ext cx="312039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75%</a:t>
            </a:r>
            <a:endParaRPr lang="en-US" sz="850" dirty="0"/>
          </a:p>
        </p:txBody>
      </p:sp>
      <p:sp>
        <p:nvSpPr>
          <p:cNvPr id="14" name="Shape 12"/>
          <p:cNvSpPr/>
          <p:nvPr/>
        </p:nvSpPr>
        <p:spPr>
          <a:xfrm>
            <a:off x="4868723" y="4626864"/>
            <a:ext cx="41605" cy="182880"/>
          </a:xfrm>
          <a:prstGeom prst="rect">
            <a:avLst/>
          </a:prstGeom>
          <a:solidFill>
            <a:srgbClr val="46545F"/>
          </a:solidFill>
          <a:ln w="6350">
            <a:solidFill>
              <a:srgbClr val="FFFFFF"/>
            </a:solidFill>
            <a:prstDash val="solid"/>
          </a:ln>
        </p:spPr>
        <p:txBody>
          <a:bodyPr/>
          <a:p/>
        </p:txBody>
      </p:sp>
      <p:sp>
        <p:nvSpPr>
          <p:cNvPr id="15" name="Text 13"/>
          <p:cNvSpPr/>
          <p:nvPr/>
        </p:nvSpPr>
        <p:spPr>
          <a:xfrm>
            <a:off x="749808" y="4974336"/>
            <a:ext cx="4572000" cy="219456"/>
          </a:xfrm>
          <a:prstGeom prst="rect">
            <a:avLst/>
          </a:prstGeom>
          <a:noFill/>
          <a:ln/>
        </p:spPr>
        <p:txBody>
          <a:bodyPr wrap="square" lIns="0" tIns="0" rIns="0" bIns="0" rtlCol="0" anchor="ctr"/>
          <a:lstStyle/>
          <a:p>
            <a:pPr indent="0" marL="0">
              <a:buNone/>
            </a:pPr>
            <a:r>
              <a:rPr lang="en-US" sz="950" b="1" dirty="0">
                <a:solidFill>
                  <a:srgbClr val="46545F"/>
                </a:solidFill>
                <a:latin typeface="Calibri" pitchFamily="34" charset="0"/>
                <a:ea typeface="Calibri" pitchFamily="34" charset="-122"/>
                <a:cs typeface="Calibri" pitchFamily="34" charset="-120"/>
              </a:rPr>
              <a:t>Newer, trained to say “I don’t know”</a:t>
            </a:r>
            <a:endParaRPr lang="en-US" sz="950" dirty="0"/>
          </a:p>
        </p:txBody>
      </p:sp>
      <p:sp>
        <p:nvSpPr>
          <p:cNvPr id="16" name="Shape 14"/>
          <p:cNvSpPr/>
          <p:nvPr/>
        </p:nvSpPr>
        <p:spPr>
          <a:xfrm>
            <a:off x="749808" y="5193792"/>
            <a:ext cx="915314" cy="182880"/>
          </a:xfrm>
          <a:prstGeom prst="rect">
            <a:avLst/>
          </a:prstGeom>
          <a:solidFill>
            <a:srgbClr val="0E7C7B"/>
          </a:solidFill>
          <a:ln w="6350">
            <a:solidFill>
              <a:srgbClr val="FFFFFF"/>
            </a:solidFill>
            <a:prstDash val="solid"/>
          </a:ln>
        </p:spPr>
        <p:txBody>
          <a:bodyPr/>
          <a:p/>
        </p:txBody>
      </p:sp>
      <p:sp>
        <p:nvSpPr>
          <p:cNvPr id="17" name="Text 15"/>
          <p:cNvSpPr/>
          <p:nvPr/>
        </p:nvSpPr>
        <p:spPr>
          <a:xfrm>
            <a:off x="749808" y="5175504"/>
            <a:ext cx="915314"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22%</a:t>
            </a:r>
            <a:endParaRPr lang="en-US" sz="850" dirty="0"/>
          </a:p>
        </p:txBody>
      </p:sp>
      <p:sp>
        <p:nvSpPr>
          <p:cNvPr id="18" name="Shape 16"/>
          <p:cNvSpPr/>
          <p:nvPr/>
        </p:nvSpPr>
        <p:spPr>
          <a:xfrm>
            <a:off x="1665122" y="5193792"/>
            <a:ext cx="1081735" cy="182880"/>
          </a:xfrm>
          <a:prstGeom prst="rect">
            <a:avLst/>
          </a:prstGeom>
          <a:solidFill>
            <a:srgbClr val="AF3230"/>
          </a:solidFill>
          <a:ln w="6350">
            <a:solidFill>
              <a:srgbClr val="FFFFFF"/>
            </a:solidFill>
            <a:prstDash val="solid"/>
          </a:ln>
        </p:spPr>
        <p:txBody>
          <a:bodyPr/>
          <a:p/>
        </p:txBody>
      </p:sp>
      <p:sp>
        <p:nvSpPr>
          <p:cNvPr id="19" name="Text 17"/>
          <p:cNvSpPr/>
          <p:nvPr/>
        </p:nvSpPr>
        <p:spPr>
          <a:xfrm>
            <a:off x="1665122" y="5175504"/>
            <a:ext cx="1081735"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26%</a:t>
            </a:r>
            <a:endParaRPr lang="en-US" sz="850" dirty="0"/>
          </a:p>
        </p:txBody>
      </p:sp>
      <p:sp>
        <p:nvSpPr>
          <p:cNvPr id="20" name="Shape 18"/>
          <p:cNvSpPr/>
          <p:nvPr/>
        </p:nvSpPr>
        <p:spPr>
          <a:xfrm>
            <a:off x="2746858" y="5193792"/>
            <a:ext cx="2163470" cy="182880"/>
          </a:xfrm>
          <a:prstGeom prst="rect">
            <a:avLst/>
          </a:prstGeom>
          <a:solidFill>
            <a:srgbClr val="46545F"/>
          </a:solidFill>
          <a:ln w="6350">
            <a:solidFill>
              <a:srgbClr val="FFFFFF"/>
            </a:solidFill>
            <a:prstDash val="solid"/>
          </a:ln>
        </p:spPr>
        <p:txBody>
          <a:bodyPr/>
          <a:p/>
        </p:txBody>
      </p:sp>
      <p:sp>
        <p:nvSpPr>
          <p:cNvPr id="21" name="Text 19"/>
          <p:cNvSpPr/>
          <p:nvPr/>
        </p:nvSpPr>
        <p:spPr>
          <a:xfrm>
            <a:off x="2746858" y="5175504"/>
            <a:ext cx="2163470" cy="219456"/>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52%</a:t>
            </a:r>
            <a:endParaRPr lang="en-US" sz="850" dirty="0"/>
          </a:p>
        </p:txBody>
      </p:sp>
      <p:sp>
        <p:nvSpPr>
          <p:cNvPr id="22" name="Text 20"/>
          <p:cNvSpPr/>
          <p:nvPr/>
        </p:nvSpPr>
        <p:spPr>
          <a:xfrm>
            <a:off x="749808" y="5541264"/>
            <a:ext cx="4663440" cy="310896"/>
          </a:xfrm>
          <a:prstGeom prst="rect">
            <a:avLst/>
          </a:prstGeom>
          <a:noFill/>
          <a:ln/>
        </p:spPr>
        <p:txBody>
          <a:bodyPr wrap="square" lIns="0" tIns="0" rIns="0" bIns="0" rtlCol="0" anchor="ctr"/>
          <a:lstStyle/>
          <a:p>
            <a:pPr indent="0" marL="0">
              <a:buNone/>
            </a:pPr>
            <a:r>
              <a:rPr lang="en-US" sz="900" dirty="0">
                <a:solidFill>
                  <a:srgbClr val="0E7C7B"/>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right  </a:t>
            </a:r>
            <a:pPr indent="0" marL="0">
              <a:buNone/>
            </a:pPr>
            <a:r>
              <a:rPr lang="en-US" sz="900" dirty="0">
                <a:solidFill>
                  <a:srgbClr val="AF3230"/>
                </a:solidFill>
                <a:latin typeface="Calibri" pitchFamily="34" charset="0"/>
                <a:ea typeface="Calibri" pitchFamily="34" charset="-122"/>
                <a:cs typeface="Calibri" pitchFamily="34" charset="-120"/>
              </a:rPr>
              <a:t>■</a:t>
            </a:r>
            <a:pPr indent="0" marL="0">
              <a:buNone/>
            </a:pPr>
            <a:r>
              <a:rPr lang="en-US" sz="900" dirty="0">
                <a:solidFill>
                  <a:srgbClr val="46545F"/>
                </a:solidFill>
                <a:latin typeface="Calibri" pitchFamily="34" charset="0"/>
                <a:ea typeface="Calibri" pitchFamily="34" charset="-122"/>
                <a:cs typeface="Calibri" pitchFamily="34" charset="-120"/>
              </a:rPr>
              <a:t> wrong  </a:t>
            </a:r>
            <a:pPr indent="0" marL="0">
              <a:buNone/>
            </a:pPr>
            <a:r>
              <a:rPr lang="en-US" sz="900" dirty="0">
                <a:solidFill>
                  <a:srgbClr val="46545F"/>
                </a:solidFill>
                <a:latin typeface="Calibri" pitchFamily="34" charset="0"/>
                <a:ea typeface="Calibri" pitchFamily="34" charset="-122"/>
                <a:cs typeface="Calibri" pitchFamily="34" charset="-120"/>
              </a:rPr>
              <a:t>■</a:t>
            </a:r>
            <a:pPr indent="0" marL="0">
              <a:buNone/>
            </a:pPr>
            <a:r>
              <a:rPr lang="en-US" sz="900" b="1" dirty="0">
                <a:solidFill>
                  <a:srgbClr val="46545F"/>
                </a:solidFill>
                <a:latin typeface="Calibri" pitchFamily="34" charset="0"/>
                <a:ea typeface="Calibri" pitchFamily="34" charset="-122"/>
                <a:cs typeface="Calibri" pitchFamily="34" charset="-120"/>
              </a:rPr>
              <a:t> “I don’t know” — ~3× fewer false claims.</a:t>
            </a:r>
            <a:endParaRPr lang="en-US" sz="900" dirty="0"/>
          </a:p>
        </p:txBody>
      </p:sp>
      <p:sp>
        <p:nvSpPr>
          <p:cNvPr id="23" name="Text 21"/>
          <p:cNvSpPr/>
          <p:nvPr/>
        </p:nvSpPr>
        <p:spPr>
          <a:xfrm>
            <a:off x="749808" y="5852160"/>
            <a:ext cx="4663440" cy="310896"/>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OpenAI’s own models &amp; benchmark (2025) — the mechanism, not a vendor ranking.</a:t>
            </a:r>
            <a:endParaRPr lang="en-US" sz="1000" dirty="0"/>
          </a:p>
        </p:txBody>
      </p:sp>
      <p:sp>
        <p:nvSpPr>
          <p:cNvPr id="24" name="Shape 22"/>
          <p:cNvSpPr/>
          <p:nvPr/>
        </p:nvSpPr>
        <p:spPr>
          <a:xfrm>
            <a:off x="5806440" y="1517904"/>
            <a:ext cx="5852160" cy="1024128"/>
          </a:xfrm>
          <a:prstGeom prst="roundRect">
            <a:avLst>
              <a:gd name="adj" fmla="val 7143"/>
            </a:avLst>
          </a:prstGeom>
          <a:solidFill>
            <a:srgbClr val="F2F5F6"/>
          </a:solidFill>
          <a:ln/>
        </p:spPr>
        <p:txBody>
          <a:bodyPr/>
          <a:p/>
        </p:txBody>
      </p:sp>
      <p:pic>
        <p:nvPicPr>
          <p:cNvPr id="25" name="Image 0" descr="/home/user/Claude-Works/ai-training-prompt-engineering/src/assets/images/emblem_cue_card.jpg">    </p:cNvPr>
          <p:cNvPicPr>
            <a:picLocks noChangeAspect="1"/>
          </p:cNvPicPr>
          <p:nvPr/>
        </p:nvPicPr>
        <p:blipFill>
          <a:blip r:embed="rId2"/>
          <a:srcRect l="0" r="0" t="0" b="0"/>
          <a:stretch/>
        </p:blipFill>
        <p:spPr>
          <a:xfrm>
            <a:off x="5952744" y="1600200"/>
            <a:ext cx="859536" cy="859536"/>
          </a:xfrm>
          <a:prstGeom prst="rect">
            <a:avLst/>
          </a:prstGeom>
        </p:spPr>
      </p:pic>
      <p:sp>
        <p:nvSpPr>
          <p:cNvPr id="26" name="Shape 23"/>
          <p:cNvSpPr/>
          <p:nvPr/>
        </p:nvSpPr>
        <p:spPr>
          <a:xfrm>
            <a:off x="5952744" y="1600200"/>
            <a:ext cx="859536" cy="859536"/>
          </a:xfrm>
          <a:prstGeom prst="roundRect">
            <a:avLst>
              <a:gd name="adj" fmla="val 5319"/>
            </a:avLst>
          </a:prstGeom>
          <a:ln w="9525">
            <a:solidFill>
              <a:srgbClr val="DCE3E6"/>
            </a:solidFill>
            <a:prstDash val="solid"/>
          </a:ln>
        </p:spPr>
        <p:txBody>
          <a:bodyPr/>
          <a:p/>
        </p:txBody>
      </p:sp>
      <p:sp>
        <p:nvSpPr>
          <p:cNvPr id="27" name="Text 24"/>
          <p:cNvSpPr/>
          <p:nvPr/>
        </p:nvSpPr>
        <p:spPr>
          <a:xfrm>
            <a:off x="6949440" y="1591056"/>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CONFIDENT GUESS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facts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Free recall where data was thin — a wrong fact, delivered with total certainty.</a:t>
            </a:r>
            <a:endParaRPr lang="en-US" sz="1300" dirty="0"/>
          </a:p>
        </p:txBody>
      </p:sp>
      <p:sp>
        <p:nvSpPr>
          <p:cNvPr id="28" name="Shape 25"/>
          <p:cNvSpPr/>
          <p:nvPr/>
        </p:nvSpPr>
        <p:spPr>
          <a:xfrm>
            <a:off x="5806440" y="2651760"/>
            <a:ext cx="5852160" cy="1024128"/>
          </a:xfrm>
          <a:prstGeom prst="roundRect">
            <a:avLst>
              <a:gd name="adj" fmla="val 7143"/>
            </a:avLst>
          </a:prstGeom>
          <a:solidFill>
            <a:srgbClr val="F2F5F6"/>
          </a:solidFill>
          <a:ln/>
        </p:spPr>
        <p:txBody>
          <a:bodyPr/>
          <a:p/>
        </p:txBody>
      </p:sp>
      <p:pic>
        <p:nvPicPr>
          <p:cNvPr id="29" name="Image 1" descr="/home/user/Claude-Works/ai-training-prompt-engineering/src/assets/images/emblem_fake_receipt.jpg">    </p:cNvPr>
          <p:cNvPicPr>
            <a:picLocks noChangeAspect="1"/>
          </p:cNvPicPr>
          <p:nvPr/>
        </p:nvPicPr>
        <p:blipFill>
          <a:blip r:embed="rId3"/>
          <a:srcRect l="0" r="0" t="0" b="0"/>
          <a:stretch/>
        </p:blipFill>
        <p:spPr>
          <a:xfrm>
            <a:off x="5952744" y="2734056"/>
            <a:ext cx="859536" cy="859536"/>
          </a:xfrm>
          <a:prstGeom prst="rect">
            <a:avLst/>
          </a:prstGeom>
        </p:spPr>
      </p:pic>
      <p:sp>
        <p:nvSpPr>
          <p:cNvPr id="30" name="Shape 26"/>
          <p:cNvSpPr/>
          <p:nvPr/>
        </p:nvSpPr>
        <p:spPr>
          <a:xfrm>
            <a:off x="5952744" y="2734056"/>
            <a:ext cx="859536" cy="859536"/>
          </a:xfrm>
          <a:prstGeom prst="roundRect">
            <a:avLst>
              <a:gd name="adj" fmla="val 5319"/>
            </a:avLst>
          </a:prstGeom>
          <a:ln w="9525">
            <a:solidFill>
              <a:srgbClr val="DCE3E6"/>
            </a:solidFill>
            <a:prstDash val="solid"/>
          </a:ln>
        </p:spPr>
        <p:txBody>
          <a:bodyPr/>
          <a:p/>
        </p:txBody>
      </p:sp>
      <p:sp>
        <p:nvSpPr>
          <p:cNvPr id="31" name="Text 27"/>
          <p:cNvSpPr/>
          <p:nvPr/>
        </p:nvSpPr>
        <p:spPr>
          <a:xfrm>
            <a:off x="6949440" y="2724912"/>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THE FAKE RECEIPT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Invented sources</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Citations, cases, book titles that look perfectly real — and don’t exist.</a:t>
            </a:r>
            <a:endParaRPr lang="en-US" sz="1300" dirty="0"/>
          </a:p>
        </p:txBody>
      </p:sp>
      <p:sp>
        <p:nvSpPr>
          <p:cNvPr id="32" name="Shape 28"/>
          <p:cNvSpPr/>
          <p:nvPr/>
        </p:nvSpPr>
        <p:spPr>
          <a:xfrm>
            <a:off x="5806440" y="3785616"/>
            <a:ext cx="5852160" cy="1024128"/>
          </a:xfrm>
          <a:prstGeom prst="roundRect">
            <a:avLst>
              <a:gd name="adj" fmla="val 7143"/>
            </a:avLst>
          </a:prstGeom>
          <a:solidFill>
            <a:srgbClr val="F9E9E8"/>
          </a:solidFill>
          <a:ln/>
        </p:spPr>
        <p:txBody>
          <a:bodyPr/>
          <a:p/>
        </p:txBody>
      </p:sp>
      <p:pic>
        <p:nvPicPr>
          <p:cNvPr id="33" name="Image 2" descr="/home/user/Claude-Works/ai-training-prompt-engineering/src/assets/images/emblem_rubber_chicken.jpg">    </p:cNvPr>
          <p:cNvPicPr>
            <a:picLocks noChangeAspect="1"/>
          </p:cNvPicPr>
          <p:nvPr/>
        </p:nvPicPr>
        <p:blipFill>
          <a:blip r:embed="rId4"/>
          <a:srcRect l="0" r="0" t="0" b="0"/>
          <a:stretch/>
        </p:blipFill>
        <p:spPr>
          <a:xfrm>
            <a:off x="5952744" y="3867912"/>
            <a:ext cx="859536" cy="859536"/>
          </a:xfrm>
          <a:prstGeom prst="rect">
            <a:avLst/>
          </a:prstGeom>
        </p:spPr>
      </p:pic>
      <p:sp>
        <p:nvSpPr>
          <p:cNvPr id="34" name="Shape 29"/>
          <p:cNvSpPr/>
          <p:nvPr/>
        </p:nvSpPr>
        <p:spPr>
          <a:xfrm>
            <a:off x="5952744" y="3867912"/>
            <a:ext cx="859536" cy="859536"/>
          </a:xfrm>
          <a:prstGeom prst="roundRect">
            <a:avLst>
              <a:gd name="adj" fmla="val 5319"/>
            </a:avLst>
          </a:prstGeom>
          <a:ln w="9525">
            <a:solidFill>
              <a:srgbClr val="DCE3E6"/>
            </a:solidFill>
            <a:prstDash val="solid"/>
          </a:ln>
        </p:spPr>
        <p:txBody>
          <a:bodyPr/>
          <a:p/>
        </p:txBody>
      </p:sp>
      <p:sp>
        <p:nvSpPr>
          <p:cNvPr id="35" name="Text 30"/>
          <p:cNvSpPr/>
          <p:nvPr/>
        </p:nvSpPr>
        <p:spPr>
          <a:xfrm>
            <a:off x="6949440" y="3858768"/>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AF3230"/>
                </a:solidFill>
                <a:latin typeface="Cambria" pitchFamily="34" charset="0"/>
                <a:ea typeface="Cambria" pitchFamily="34" charset="-122"/>
                <a:cs typeface="Cambria" pitchFamily="34" charset="-120"/>
              </a:rPr>
              <a:t>THE JOKE TAKEN SERIOUSLY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Wrong source, confident answer</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Fluent, cited — and built on a joke, a satire, or the wrong revision.</a:t>
            </a:r>
            <a:endParaRPr lang="en-US" sz="1300" dirty="0"/>
          </a:p>
        </p:txBody>
      </p:sp>
      <p:sp>
        <p:nvSpPr>
          <p:cNvPr id="36" name="Shape 31"/>
          <p:cNvSpPr/>
          <p:nvPr/>
        </p:nvSpPr>
        <p:spPr>
          <a:xfrm>
            <a:off x="5806440" y="4919472"/>
            <a:ext cx="5852160" cy="1024128"/>
          </a:xfrm>
          <a:prstGeom prst="roundRect">
            <a:avLst>
              <a:gd name="adj" fmla="val 7143"/>
            </a:avLst>
          </a:prstGeom>
          <a:solidFill>
            <a:srgbClr val="F2F5F6"/>
          </a:solidFill>
          <a:ln/>
        </p:spPr>
        <p:txBody>
          <a:bodyPr/>
          <a:p/>
        </p:txBody>
      </p:sp>
      <p:pic>
        <p:nvPicPr>
          <p:cNvPr id="37" name="Image 3" descr="/home/user/Claude-Works/ai-training-prompt-engineering/src/assets/images/emblem_gilded_frame.jpg">    </p:cNvPr>
          <p:cNvPicPr>
            <a:picLocks noChangeAspect="1"/>
          </p:cNvPicPr>
          <p:nvPr/>
        </p:nvPicPr>
        <p:blipFill>
          <a:blip r:embed="rId5"/>
          <a:srcRect l="0" r="0" t="0" b="0"/>
          <a:stretch/>
        </p:blipFill>
        <p:spPr>
          <a:xfrm>
            <a:off x="5952744" y="5001768"/>
            <a:ext cx="859536" cy="859536"/>
          </a:xfrm>
          <a:prstGeom prst="rect">
            <a:avLst/>
          </a:prstGeom>
        </p:spPr>
      </p:pic>
      <p:sp>
        <p:nvSpPr>
          <p:cNvPr id="38" name="Shape 32"/>
          <p:cNvSpPr/>
          <p:nvPr/>
        </p:nvSpPr>
        <p:spPr>
          <a:xfrm>
            <a:off x="5952744" y="5001768"/>
            <a:ext cx="859536" cy="859536"/>
          </a:xfrm>
          <a:prstGeom prst="roundRect">
            <a:avLst>
              <a:gd name="adj" fmla="val 5319"/>
            </a:avLst>
          </a:prstGeom>
          <a:ln w="9525">
            <a:solidFill>
              <a:srgbClr val="DCE3E6"/>
            </a:solidFill>
            <a:prstDash val="solid"/>
          </a:ln>
        </p:spPr>
        <p:txBody>
          <a:bodyPr/>
          <a:p/>
        </p:txBody>
      </p:sp>
      <p:sp>
        <p:nvSpPr>
          <p:cNvPr id="39" name="Text 33"/>
          <p:cNvSpPr/>
          <p:nvPr/>
        </p:nvSpPr>
        <p:spPr>
          <a:xfrm>
            <a:off x="6949440" y="4992624"/>
            <a:ext cx="4590288" cy="896112"/>
          </a:xfrm>
          <a:prstGeom prst="rect">
            <a:avLst/>
          </a:prstGeom>
          <a:noFill/>
          <a:ln/>
        </p:spPr>
        <p:txBody>
          <a:bodyPr wrap="square" lIns="0" tIns="0" rIns="0" bIns="0" rtlCol="0" anchor="ctr"/>
          <a:lstStyle/>
          <a:p>
            <a:pPr indent="0" marL="0">
              <a:lnSpc>
                <a:spcPct val="103000"/>
              </a:lnSpc>
              <a:buNone/>
            </a:pPr>
            <a:r>
              <a:rPr lang="en-US" sz="1300" b="1" dirty="0">
                <a:solidFill>
                  <a:srgbClr val="0A5B5A"/>
                </a:solidFill>
                <a:latin typeface="Cambria" pitchFamily="34" charset="0"/>
                <a:ea typeface="Cambria" pitchFamily="34" charset="-122"/>
                <a:cs typeface="Cambria" pitchFamily="34" charset="-120"/>
              </a:rPr>
              <a:t>GARBAGE IN, GOSPEL OUT  </a:t>
            </a:r>
            <a:pPr indent="0" marL="0">
              <a:lnSpc>
                <a:spcPct val="103000"/>
              </a:lnSpc>
              <a:spcAft>
                <a:spcPts val="200"/>
              </a:spcAft>
              <a:buNone/>
            </a:pPr>
            <a:r>
              <a:rPr lang="en-US" sz="1000" dirty="0">
                <a:solidFill>
                  <a:srgbClr val="7A8790"/>
                </a:solidFill>
                <a:latin typeface="Calibri" pitchFamily="34" charset="0"/>
                <a:ea typeface="Calibri" pitchFamily="34" charset="-122"/>
                <a:cs typeface="Calibri" pitchFamily="34" charset="-120"/>
              </a:rPr>
              <a:t>· Runs with your false premise</a:t>
            </a:r>
            <a:endParaRPr lang="en-US" sz="1300" dirty="0"/>
          </a:p>
          <a:p>
            <a:pPr indent="0" marL="0">
              <a:lnSpc>
                <a:spcPct val="103000"/>
              </a:lnSpc>
              <a:buNone/>
            </a:pPr>
            <a:r>
              <a:rPr lang="en-US" sz="1050" dirty="0">
                <a:solidFill>
                  <a:srgbClr val="46545F"/>
                </a:solidFill>
                <a:latin typeface="Calibri" pitchFamily="34" charset="0"/>
                <a:ea typeface="Calibri" pitchFamily="34" charset="-122"/>
                <a:cs typeface="Calibri" pitchFamily="34" charset="-120"/>
              </a:rPr>
              <a:t>It assumes your prompt is true: feed it a wrong “fact” and it politely builds on it.</a:t>
            </a:r>
            <a:endParaRPr lang="en-US" sz="1300" dirty="0"/>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slides 14–15</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CONCEPT 6 · THE HALL OF SHAME · CONTINUED</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Real, public, verified — and all avoidable</a:t>
            </a:r>
            <a:endParaRPr lang="en-US" sz="3000" dirty="0"/>
          </a:p>
        </p:txBody>
      </p:sp>
      <p:sp>
        <p:nvSpPr>
          <p:cNvPr id="6" name="Shape 4"/>
          <p:cNvSpPr/>
          <p:nvPr/>
        </p:nvSpPr>
        <p:spPr>
          <a:xfrm>
            <a:off x="502920" y="1481328"/>
            <a:ext cx="5440680" cy="1481328"/>
          </a:xfrm>
          <a:prstGeom prst="roundRect">
            <a:avLst>
              <a:gd name="adj" fmla="val 4938"/>
            </a:avLst>
          </a:prstGeom>
          <a:solidFill>
            <a:srgbClr val="F2F5F6"/>
          </a:solidFill>
          <a:ln/>
        </p:spPr>
        <p:txBody>
          <a:bodyPr/>
          <a:p/>
        </p:txBody>
      </p:sp>
      <p:sp>
        <p:nvSpPr>
          <p:cNvPr id="7" name="Shape 5"/>
          <p:cNvSpPr/>
          <p:nvPr/>
        </p:nvSpPr>
        <p:spPr>
          <a:xfrm>
            <a:off x="685800" y="1664208"/>
            <a:ext cx="402336" cy="402336"/>
          </a:xfrm>
          <a:prstGeom prst="ellipse">
            <a:avLst/>
          </a:prstGeom>
          <a:solidFill>
            <a:srgbClr val="B96A1B"/>
          </a:solidFill>
          <a:ln/>
        </p:spPr>
        <p:txBody>
          <a:bodyPr/>
          <a:p/>
        </p:txBody>
      </p:sp>
      <p:pic>
        <p:nvPicPr>
          <p:cNvPr id="8" name="Image 0" descr="/home/user/Claude-Works/ai-training-prompt-engineering/src/assets/icons/alert_w.png">    </p:cNvPr>
          <p:cNvPicPr>
            <a:picLocks noChangeAspect="1"/>
          </p:cNvPicPr>
          <p:nvPr/>
        </p:nvPicPr>
        <p:blipFill>
          <a:blip r:embed="rId2"/>
          <a:stretch>
            <a:fillRect/>
          </a:stretch>
        </p:blipFill>
        <p:spPr>
          <a:xfrm>
            <a:off x="790407" y="1768815"/>
            <a:ext cx="193121" cy="193121"/>
          </a:xfrm>
          <a:prstGeom prst="rect">
            <a:avLst/>
          </a:prstGeom>
        </p:spPr>
      </p:pic>
      <p:sp>
        <p:nvSpPr>
          <p:cNvPr id="9" name="Text 6"/>
          <p:cNvSpPr/>
          <p:nvPr/>
        </p:nvSpPr>
        <p:spPr>
          <a:xfrm>
            <a:off x="121615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Glue on pizza · May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Google’s AI search told users to put glue in pizza sauce and eat a rock a day — it had read a joke forum comment and satire as advice. Global mockery; scaled back within days.</a:t>
            </a:r>
            <a:endParaRPr lang="en-US" sz="1400" dirty="0"/>
          </a:p>
        </p:txBody>
      </p:sp>
      <p:sp>
        <p:nvSpPr>
          <p:cNvPr id="10" name="Shape 7"/>
          <p:cNvSpPr/>
          <p:nvPr/>
        </p:nvSpPr>
        <p:spPr>
          <a:xfrm>
            <a:off x="6172200" y="1481328"/>
            <a:ext cx="5440680" cy="1481328"/>
          </a:xfrm>
          <a:prstGeom prst="roundRect">
            <a:avLst>
              <a:gd name="adj" fmla="val 4938"/>
            </a:avLst>
          </a:prstGeom>
          <a:solidFill>
            <a:srgbClr val="F2F5F6"/>
          </a:solidFill>
          <a:ln/>
        </p:spPr>
        <p:txBody>
          <a:bodyPr/>
          <a:p/>
        </p:txBody>
      </p:sp>
      <p:sp>
        <p:nvSpPr>
          <p:cNvPr id="11" name="Shape 8"/>
          <p:cNvSpPr/>
          <p:nvPr/>
        </p:nvSpPr>
        <p:spPr>
          <a:xfrm>
            <a:off x="6355080" y="1664208"/>
            <a:ext cx="402336" cy="402336"/>
          </a:xfrm>
          <a:prstGeom prst="ellipse">
            <a:avLst/>
          </a:prstGeom>
          <a:solidFill>
            <a:srgbClr val="AF3230"/>
          </a:solidFill>
          <a:ln/>
        </p:spPr>
        <p:txBody>
          <a:bodyPr/>
          <a:p/>
        </p:txBody>
      </p:sp>
      <p:pic>
        <p:nvPicPr>
          <p:cNvPr id="12" name="Image 1" descr="/home/user/Claude-Works/ai-training-prompt-engineering/src/assets/icons/gavel_w.png">    </p:cNvPr>
          <p:cNvPicPr>
            <a:picLocks noChangeAspect="1"/>
          </p:cNvPicPr>
          <p:nvPr/>
        </p:nvPicPr>
        <p:blipFill>
          <a:blip r:embed="rId3"/>
          <a:stretch>
            <a:fillRect/>
          </a:stretch>
        </p:blipFill>
        <p:spPr>
          <a:xfrm>
            <a:off x="6459687" y="1768815"/>
            <a:ext cx="193121" cy="193121"/>
          </a:xfrm>
          <a:prstGeom prst="rect">
            <a:avLst/>
          </a:prstGeom>
        </p:spPr>
      </p:pic>
      <p:sp>
        <p:nvSpPr>
          <p:cNvPr id="13" name="Text 9"/>
          <p:cNvSpPr/>
          <p:nvPr/>
        </p:nvSpPr>
        <p:spPr>
          <a:xfrm>
            <a:off x="6885432" y="1554480"/>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ChatGPT lawyer · Jun 2023</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A New York lawyer filed six cases that didn’t exist — then asked ChatGPT if they were real. It said yes. $5,000 sanction, apology letters ordered (Mata v. Avianca).</a:t>
            </a:r>
            <a:endParaRPr lang="en-US" sz="1400" dirty="0"/>
          </a:p>
        </p:txBody>
      </p:sp>
      <p:sp>
        <p:nvSpPr>
          <p:cNvPr id="14" name="Shape 10"/>
          <p:cNvSpPr/>
          <p:nvPr/>
        </p:nvSpPr>
        <p:spPr>
          <a:xfrm>
            <a:off x="502920" y="3017520"/>
            <a:ext cx="5440680" cy="1481328"/>
          </a:xfrm>
          <a:prstGeom prst="roundRect">
            <a:avLst>
              <a:gd name="adj" fmla="val 4938"/>
            </a:avLst>
          </a:prstGeom>
          <a:solidFill>
            <a:srgbClr val="F2F5F6"/>
          </a:solidFill>
          <a:ln/>
        </p:spPr>
        <p:txBody>
          <a:bodyPr/>
          <a:p/>
        </p:txBody>
      </p:sp>
      <p:sp>
        <p:nvSpPr>
          <p:cNvPr id="15" name="Shape 11"/>
          <p:cNvSpPr/>
          <p:nvPr/>
        </p:nvSpPr>
        <p:spPr>
          <a:xfrm>
            <a:off x="685800" y="3200400"/>
            <a:ext cx="402336" cy="402336"/>
          </a:xfrm>
          <a:prstGeom prst="ellipse">
            <a:avLst/>
          </a:prstGeom>
          <a:solidFill>
            <a:srgbClr val="AF3230"/>
          </a:solidFill>
          <a:ln/>
        </p:spPr>
        <p:txBody>
          <a:bodyPr/>
          <a:p/>
        </p:txBody>
      </p:sp>
      <p:pic>
        <p:nvPicPr>
          <p:cNvPr id="16" name="Image 2" descr="/home/user/Claude-Works/ai-training-prompt-engineering/src/assets/icons/send_w.png">    </p:cNvPr>
          <p:cNvPicPr>
            <a:picLocks noChangeAspect="1"/>
          </p:cNvPicPr>
          <p:nvPr/>
        </p:nvPicPr>
        <p:blipFill>
          <a:blip r:embed="rId4"/>
          <a:stretch>
            <a:fillRect/>
          </a:stretch>
        </p:blipFill>
        <p:spPr>
          <a:xfrm>
            <a:off x="790407" y="3305007"/>
            <a:ext cx="193121" cy="193121"/>
          </a:xfrm>
          <a:prstGeom prst="rect">
            <a:avLst/>
          </a:prstGeom>
        </p:spPr>
      </p:pic>
      <p:sp>
        <p:nvSpPr>
          <p:cNvPr id="17" name="Text 12"/>
          <p:cNvSpPr/>
          <p:nvPr/>
        </p:nvSpPr>
        <p:spPr>
          <a:xfrm>
            <a:off x="121615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Air Canada’s chatbot · Feb 2024</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The website bot invented a bereavement refund policy. A tribunal made the airline honor it — rejecting “the bot is a separate legal entity.” Your company owns what its chatbot says.</a:t>
            </a:r>
            <a:endParaRPr lang="en-US" sz="1400" dirty="0"/>
          </a:p>
        </p:txBody>
      </p:sp>
      <p:sp>
        <p:nvSpPr>
          <p:cNvPr id="18" name="Shape 13"/>
          <p:cNvSpPr/>
          <p:nvPr/>
        </p:nvSpPr>
        <p:spPr>
          <a:xfrm>
            <a:off x="6172200" y="3017520"/>
            <a:ext cx="5440680" cy="1481328"/>
          </a:xfrm>
          <a:prstGeom prst="roundRect">
            <a:avLst>
              <a:gd name="adj" fmla="val 4938"/>
            </a:avLst>
          </a:prstGeom>
          <a:solidFill>
            <a:srgbClr val="F2F5F6"/>
          </a:solidFill>
          <a:ln/>
        </p:spPr>
        <p:txBody>
          <a:bodyPr/>
          <a:p/>
        </p:txBody>
      </p:sp>
      <p:sp>
        <p:nvSpPr>
          <p:cNvPr id="19" name="Shape 14"/>
          <p:cNvSpPr/>
          <p:nvPr/>
        </p:nvSpPr>
        <p:spPr>
          <a:xfrm>
            <a:off x="6355080" y="3200400"/>
            <a:ext cx="402336" cy="402336"/>
          </a:xfrm>
          <a:prstGeom prst="ellipse">
            <a:avLst/>
          </a:prstGeom>
          <a:solidFill>
            <a:srgbClr val="AF3230"/>
          </a:solidFill>
          <a:ln/>
        </p:spPr>
        <p:txBody>
          <a:bodyPr/>
          <a:p/>
        </p:txBody>
      </p:sp>
      <p:pic>
        <p:nvPicPr>
          <p:cNvPr id="20" name="Image 3" descr="/home/user/Claude-Works/ai-training-prompt-engineering/src/assets/icons/chart_w.png">    </p:cNvPr>
          <p:cNvPicPr>
            <a:picLocks noChangeAspect="1"/>
          </p:cNvPicPr>
          <p:nvPr/>
        </p:nvPicPr>
        <p:blipFill>
          <a:blip r:embed="rId5"/>
          <a:stretch>
            <a:fillRect/>
          </a:stretch>
        </p:blipFill>
        <p:spPr>
          <a:xfrm>
            <a:off x="6459687" y="3305007"/>
            <a:ext cx="193121" cy="193121"/>
          </a:xfrm>
          <a:prstGeom prst="rect">
            <a:avLst/>
          </a:prstGeom>
        </p:spPr>
      </p:pic>
      <p:sp>
        <p:nvSpPr>
          <p:cNvPr id="21" name="Text 15"/>
          <p:cNvSpPr/>
          <p:nvPr/>
        </p:nvSpPr>
        <p:spPr>
          <a:xfrm>
            <a:off x="6885432" y="3090672"/>
            <a:ext cx="4572000" cy="1353312"/>
          </a:xfrm>
          <a:prstGeom prst="rect">
            <a:avLst/>
          </a:prstGeom>
          <a:noFill/>
          <a:ln/>
        </p:spPr>
        <p:txBody>
          <a:bodyPr wrap="square" lIns="0" tIns="0" rIns="0" bIns="0" rtlCol="0" anchor="ctr"/>
          <a:lstStyle/>
          <a:p>
            <a:pPr indent="0" marL="0">
              <a:lnSpc>
                <a:spcPct val="98000"/>
              </a:lnSpc>
              <a:spcAft>
                <a:spcPts val="300"/>
              </a:spcAft>
              <a:buNone/>
            </a:pPr>
            <a:r>
              <a:rPr lang="en-US" sz="1400" b="1" dirty="0">
                <a:solidFill>
                  <a:srgbClr val="232A31"/>
                </a:solidFill>
                <a:latin typeface="Calibri" pitchFamily="34" charset="0"/>
                <a:ea typeface="Calibri" pitchFamily="34" charset="-122"/>
                <a:cs typeface="Calibri" pitchFamily="34" charset="-120"/>
              </a:rPr>
              <a:t>The Big Four arc · 2025–26</a:t>
            </a:r>
            <a:endParaRPr lang="en-US" sz="1400" dirty="0"/>
          </a:p>
          <a:p>
            <a:pPr indent="0" marL="0">
              <a:lnSpc>
                <a:spcPct val="98000"/>
              </a:lnSpc>
              <a:buNone/>
            </a:pPr>
            <a:r>
              <a:rPr lang="en-US" sz="1400" dirty="0">
                <a:solidFill>
                  <a:srgbClr val="46545F"/>
                </a:solidFill>
                <a:latin typeface="Calibri" pitchFamily="34" charset="0"/>
                <a:ea typeface="Calibri" pitchFamily="34" charset="-122"/>
                <a:cs typeface="Calibri" pitchFamily="34" charset="-120"/>
              </a:rPr>
              <a:t>Deloitte partially refunded a government report over invented citations; EY pulled one where 16 of 27 references failed; KPMG’s agentic-AI-excellence report: 5 of 45 citations checked out.</a:t>
            </a:r>
            <a:endParaRPr lang="en-US" sz="1400" dirty="0"/>
          </a:p>
        </p:txBody>
      </p:sp>
      <p:sp>
        <p:nvSpPr>
          <p:cNvPr id="22" name="Shape 16"/>
          <p:cNvSpPr/>
          <p:nvPr/>
        </p:nvSpPr>
        <p:spPr>
          <a:xfrm>
            <a:off x="502920" y="4608576"/>
            <a:ext cx="11155680" cy="548640"/>
          </a:xfrm>
          <a:prstGeom prst="roundRect">
            <a:avLst>
              <a:gd name="adj" fmla="val 13333"/>
            </a:avLst>
          </a:prstGeom>
          <a:solidFill>
            <a:srgbClr val="FBF0E0"/>
          </a:solidFill>
          <a:ln/>
        </p:spPr>
        <p:txBody>
          <a:bodyPr/>
          <a:p/>
        </p:txBody>
      </p:sp>
      <p:sp>
        <p:nvSpPr>
          <p:cNvPr id="23" name="Shape 17"/>
          <p:cNvSpPr/>
          <p:nvPr/>
        </p:nvSpPr>
        <p:spPr>
          <a:xfrm>
            <a:off x="667512" y="4690872"/>
            <a:ext cx="384048" cy="384048"/>
          </a:xfrm>
          <a:prstGeom prst="ellipse">
            <a:avLst/>
          </a:prstGeom>
          <a:solidFill>
            <a:srgbClr val="B96A1B"/>
          </a:solidFill>
          <a:ln/>
        </p:spPr>
        <p:txBody>
          <a:bodyPr/>
          <a:p/>
        </p:txBody>
      </p:sp>
      <p:pic>
        <p:nvPicPr>
          <p:cNvPr id="24" name="Image 4" descr="/home/user/Claude-Works/ai-training-prompt-engineering/src/assets/icons/scale_w.png">    </p:cNvPr>
          <p:cNvPicPr>
            <a:picLocks noChangeAspect="1"/>
          </p:cNvPicPr>
          <p:nvPr/>
        </p:nvPicPr>
        <p:blipFill>
          <a:blip r:embed="rId6"/>
          <a:stretch>
            <a:fillRect/>
          </a:stretch>
        </p:blipFill>
        <p:spPr>
          <a:xfrm>
            <a:off x="767364" y="4790724"/>
            <a:ext cx="184343" cy="184343"/>
          </a:xfrm>
          <a:prstGeom prst="rect">
            <a:avLst/>
          </a:prstGeom>
        </p:spPr>
      </p:pic>
      <p:sp>
        <p:nvSpPr>
          <p:cNvPr id="25" name="Text 18"/>
          <p:cNvSpPr/>
          <p:nvPr/>
        </p:nvSpPr>
        <p:spPr>
          <a:xfrm>
            <a:off x="1216152" y="4681728"/>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232A31"/>
                </a:solidFill>
                <a:latin typeface="Calibri" pitchFamily="34" charset="0"/>
                <a:ea typeface="Calibri" pitchFamily="34" charset="-122"/>
                <a:cs typeface="Calibri" pitchFamily="34" charset="-120"/>
              </a:rPr>
              <a:t>Not one-offs: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a legal tracker counted ~1,500 court decisions worldwide involving AI-fabricated citations by mid-2026.</a:t>
            </a:r>
            <a:endParaRPr lang="en-US" sz="1400" dirty="0"/>
          </a:p>
        </p:txBody>
      </p:sp>
      <p:sp>
        <p:nvSpPr>
          <p:cNvPr id="26" name="Shape 19"/>
          <p:cNvSpPr/>
          <p:nvPr/>
        </p:nvSpPr>
        <p:spPr>
          <a:xfrm>
            <a:off x="502920" y="5212080"/>
            <a:ext cx="11155680" cy="585216"/>
          </a:xfrm>
          <a:prstGeom prst="roundRect">
            <a:avLst>
              <a:gd name="adj" fmla="val 12500"/>
            </a:avLst>
          </a:prstGeom>
          <a:solidFill>
            <a:srgbClr val="E4F0EF"/>
          </a:solidFill>
          <a:ln/>
        </p:spPr>
        <p:txBody>
          <a:bodyPr/>
          <a:p/>
        </p:txBody>
      </p:sp>
      <p:sp>
        <p:nvSpPr>
          <p:cNvPr id="27" name="Shape 20"/>
          <p:cNvSpPr/>
          <p:nvPr/>
        </p:nvSpPr>
        <p:spPr>
          <a:xfrm>
            <a:off x="667512" y="5312664"/>
            <a:ext cx="384048" cy="384048"/>
          </a:xfrm>
          <a:prstGeom prst="ellipse">
            <a:avLst/>
          </a:prstGeom>
          <a:solidFill>
            <a:srgbClr val="0E7C7B"/>
          </a:solidFill>
          <a:ln/>
        </p:spPr>
        <p:txBody>
          <a:bodyPr/>
          <a:p/>
        </p:txBody>
      </p:sp>
      <p:pic>
        <p:nvPicPr>
          <p:cNvPr id="28" name="Image 5" descr="/home/user/Claude-Works/ai-training-prompt-engineering/src/assets/icons/check_w.png">    </p:cNvPr>
          <p:cNvPicPr>
            <a:picLocks noChangeAspect="1"/>
          </p:cNvPicPr>
          <p:nvPr/>
        </p:nvPicPr>
        <p:blipFill>
          <a:blip r:embed="rId7"/>
          <a:stretch>
            <a:fillRect/>
          </a:stretch>
        </p:blipFill>
        <p:spPr>
          <a:xfrm>
            <a:off x="767364" y="5412516"/>
            <a:ext cx="184343" cy="184343"/>
          </a:xfrm>
          <a:prstGeom prst="rect">
            <a:avLst/>
          </a:prstGeom>
        </p:spPr>
      </p:pic>
      <p:sp>
        <p:nvSpPr>
          <p:cNvPr id="29" name="Text 21"/>
          <p:cNvSpPr/>
          <p:nvPr/>
        </p:nvSpPr>
        <p:spPr>
          <a:xfrm>
            <a:off x="1216152" y="5285232"/>
            <a:ext cx="10213848" cy="438912"/>
          </a:xfrm>
          <a:prstGeom prst="rect">
            <a:avLst/>
          </a:prstGeom>
          <a:noFill/>
          <a:ln/>
        </p:spPr>
        <p:txBody>
          <a:bodyPr wrap="square" lIns="0" tIns="0" rIns="0" bIns="0" rtlCol="0" anchor="ctr"/>
          <a:lstStyle/>
          <a:p>
            <a:pPr indent="0" marL="0">
              <a:lnSpc>
                <a:spcPct val="106000"/>
              </a:lnSpc>
              <a:buNone/>
            </a:pPr>
            <a:r>
              <a:rPr lang="en-US" sz="1200" b="1" dirty="0">
                <a:solidFill>
                  <a:srgbClr val="0A5B5A"/>
                </a:solidFill>
                <a:latin typeface="Calibri" pitchFamily="34" charset="0"/>
                <a:ea typeface="Calibri" pitchFamily="34" charset="-122"/>
                <a:cs typeface="Calibri" pitchFamily="34" charset="-120"/>
              </a:rPr>
              <a:t>The cure hasn’t changed: </a:t>
            </a:r>
            <a:pPr indent="0" marL="0">
              <a:lnSpc>
                <a:spcPct val="106000"/>
              </a:lnSpc>
              <a:buNone/>
            </a:pPr>
            <a:r>
              <a:rPr lang="en-US" sz="1200" dirty="0">
                <a:solidFill>
                  <a:srgbClr val="46545F"/>
                </a:solidFill>
                <a:latin typeface="Calibri" pitchFamily="34" charset="0"/>
                <a:ea typeface="Calibri" pitchFamily="34" charset="-122"/>
                <a:cs typeface="Calibri" pitchFamily="34" charset="-120"/>
              </a:rPr>
              <a:t>Ground it (give it the source) · Cite it (demand receipts + an “I don’t know” escape hatch) · Verify it (check what matters before it ships).</a:t>
            </a:r>
            <a:endParaRPr lang="en-US" sz="1200" dirty="0"/>
          </a:p>
        </p:txBody>
      </p:sp>
      <p:sp>
        <p:nvSpPr>
          <p:cNvPr id="30" name="Shape 22"/>
          <p:cNvSpPr/>
          <p:nvPr/>
        </p:nvSpPr>
        <p:spPr>
          <a:xfrm>
            <a:off x="502920" y="5852160"/>
            <a:ext cx="11155680" cy="548640"/>
          </a:xfrm>
          <a:prstGeom prst="roundRect">
            <a:avLst>
              <a:gd name="adj" fmla="val 13333"/>
            </a:avLst>
          </a:prstGeom>
          <a:solidFill>
            <a:srgbClr val="F9E9E8"/>
          </a:solidFill>
          <a:ln/>
        </p:spPr>
        <p:txBody>
          <a:bodyPr/>
          <a:p/>
        </p:txBody>
      </p:sp>
      <p:sp>
        <p:nvSpPr>
          <p:cNvPr id="31" name="Shape 23"/>
          <p:cNvSpPr/>
          <p:nvPr/>
        </p:nvSpPr>
        <p:spPr>
          <a:xfrm>
            <a:off x="667512" y="5934456"/>
            <a:ext cx="384048" cy="384048"/>
          </a:xfrm>
          <a:prstGeom prst="ellipse">
            <a:avLst/>
          </a:prstGeom>
          <a:solidFill>
            <a:srgbClr val="AF3230"/>
          </a:solidFill>
          <a:ln/>
        </p:spPr>
        <p:txBody>
          <a:bodyPr/>
          <a:p/>
        </p:txBody>
      </p:sp>
      <p:pic>
        <p:nvPicPr>
          <p:cNvPr id="32" name="Image 6" descr="/home/user/Claude-Works/ai-training-prompt-engineering/src/assets/icons/alert_w.png">    </p:cNvPr>
          <p:cNvPicPr>
            <a:picLocks noChangeAspect="1"/>
          </p:cNvPicPr>
          <p:nvPr/>
        </p:nvPicPr>
        <p:blipFill>
          <a:blip r:embed="rId2"/>
          <a:stretch>
            <a:fillRect/>
          </a:stretch>
        </p:blipFill>
        <p:spPr>
          <a:xfrm>
            <a:off x="767364" y="6034308"/>
            <a:ext cx="184343" cy="184343"/>
          </a:xfrm>
          <a:prstGeom prst="rect">
            <a:avLst/>
          </a:prstGeom>
        </p:spPr>
      </p:pic>
      <p:sp>
        <p:nvSpPr>
          <p:cNvPr id="33" name="Text 24"/>
          <p:cNvSpPr/>
          <p:nvPr/>
        </p:nvSpPr>
        <p:spPr>
          <a:xfrm>
            <a:off x="1216152" y="5925312"/>
            <a:ext cx="10213848" cy="402336"/>
          </a:xfrm>
          <a:prstGeom prst="rect">
            <a:avLst/>
          </a:prstGeom>
          <a:noFill/>
          <a:ln/>
        </p:spPr>
        <p:txBody>
          <a:bodyPr wrap="square" lIns="0" tIns="0" rIns="0" bIns="0" rtlCol="0" anchor="ctr"/>
          <a:lstStyle/>
          <a:p>
            <a:pPr indent="0" marL="0">
              <a:lnSpc>
                <a:spcPct val="106000"/>
              </a:lnSpc>
              <a:buNone/>
            </a:pPr>
            <a:r>
              <a:rPr lang="en-US" sz="1400" b="1" dirty="0">
                <a:solidFill>
                  <a:srgbClr val="AF3230"/>
                </a:solidFill>
                <a:latin typeface="Calibri" pitchFamily="34" charset="0"/>
                <a:ea typeface="Calibri" pitchFamily="34" charset="-122"/>
                <a:cs typeface="Calibri" pitchFamily="34" charset="-120"/>
              </a:rPr>
              <a:t>House rule: </a:t>
            </a:r>
            <a:pPr indent="0" marL="0">
              <a:lnSpc>
                <a:spcPct val="106000"/>
              </a:lnSpc>
              <a:buNone/>
            </a:pPr>
            <a:r>
              <a:rPr lang="en-US" sz="1400" dirty="0">
                <a:solidFill>
                  <a:srgbClr val="46545F"/>
                </a:solidFill>
                <a:latin typeface="Calibri" pitchFamily="34" charset="0"/>
                <a:ea typeface="Calibri" pitchFamily="34" charset="-122"/>
                <a:cs typeface="Calibri" pitchFamily="34" charset="-120"/>
              </a:rPr>
              <a:t>every uncited standard clause, date, number, or quote is a draft until verified.</a:t>
            </a:r>
            <a:endParaRPr lang="en-US" sz="1400" dirty="0"/>
          </a:p>
        </p:txBody>
      </p:sp>
      <p:sp>
        <p:nvSpPr>
          <p:cNvPr id="34"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36"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 15</a:t>
            </a:r>
          </a:p>
        </p:txBody>
      </p:sp>
      <p:sp>
        <p:nvSpPr>
          <p:cNvPr id="37"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AI MIRRORS YOU</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flattery bias — measured, and all over the news</a:t>
            </a:r>
            <a:endParaRPr lang="en-US" sz="3000" dirty="0"/>
          </a:p>
        </p:txBody>
      </p:sp>
      <p:sp>
        <p:nvSpPr>
          <p:cNvPr id="6" name="Shape 4"/>
          <p:cNvSpPr/>
          <p:nvPr/>
        </p:nvSpPr>
        <p:spPr>
          <a:xfrm>
            <a:off x="502920" y="1444752"/>
            <a:ext cx="4114800" cy="2286000"/>
          </a:xfrm>
          <a:prstGeom prst="roundRect">
            <a:avLst>
              <a:gd name="adj" fmla="val 3200"/>
            </a:avLst>
          </a:prstGeom>
          <a:solidFill>
            <a:srgbClr val="F2F5F6"/>
          </a:solidFill>
          <a:ln/>
        </p:spPr>
        <p:txBody>
          <a:bodyPr/>
          <a:p/>
        </p:txBody>
      </p:sp>
      <p:sp>
        <p:nvSpPr>
          <p:cNvPr id="7" name="Text 5"/>
          <p:cNvSpPr/>
          <p:nvPr/>
        </p:nvSpPr>
        <p:spPr>
          <a:xfrm>
            <a:off x="777240" y="1517904"/>
            <a:ext cx="2377440" cy="713232"/>
          </a:xfrm>
          <a:prstGeom prst="rect">
            <a:avLst/>
          </a:prstGeom>
          <a:noFill/>
          <a:ln/>
        </p:spPr>
        <p:txBody>
          <a:bodyPr wrap="square" lIns="0" tIns="0" rIns="0" bIns="0" rtlCol="0" anchor="ctr"/>
          <a:lstStyle/>
          <a:p>
            <a:pPr indent="0" marL="0">
              <a:buNone/>
            </a:pPr>
            <a:r>
              <a:rPr lang="en-US" sz="4600" b="1" dirty="0">
                <a:solidFill>
                  <a:srgbClr val="AF3230"/>
                </a:solidFill>
                <a:latin typeface="Cambria" pitchFamily="34" charset="0"/>
                <a:ea typeface="Cambria" pitchFamily="34" charset="-122"/>
                <a:cs typeface="Cambria" pitchFamily="34" charset="-120"/>
              </a:rPr>
              <a:t>+49%</a:t>
            </a:r>
            <a:endParaRPr lang="en-US" sz="4600" dirty="0"/>
          </a:p>
        </p:txBody>
      </p:sp>
      <p:sp>
        <p:nvSpPr>
          <p:cNvPr id="8" name="Text 6"/>
          <p:cNvSpPr/>
          <p:nvPr/>
        </p:nvSpPr>
        <p:spPr>
          <a:xfrm>
            <a:off x="777240" y="2286000"/>
            <a:ext cx="3566160" cy="201168"/>
          </a:xfrm>
          <a:prstGeom prst="rect">
            <a:avLst/>
          </a:prstGeom>
          <a:noFill/>
          <a:ln/>
        </p:spPr>
        <p:txBody>
          <a:bodyPr wrap="square" lIns="0" tIns="0" rIns="0" bIns="0" rtlCol="0" anchor="ctr"/>
          <a:lstStyle/>
          <a:p>
            <a:pPr indent="0" marL="0">
              <a:buNone/>
            </a:pPr>
            <a:r>
              <a:rPr lang="en-US" sz="950" i="1" dirty="0">
                <a:solidFill>
                  <a:srgbClr val="7A8790"/>
                </a:solidFill>
                <a:latin typeface="Calibri" pitchFamily="34" charset="0"/>
                <a:ea typeface="Calibri" pitchFamily="34" charset="-122"/>
                <a:cs typeface="Calibri" pitchFamily="34" charset="-120"/>
              </a:rPr>
              <a:t>how often it says you’re right — a person = 100</a:t>
            </a:r>
            <a:endParaRPr lang="en-US" sz="950" dirty="0"/>
          </a:p>
        </p:txBody>
      </p:sp>
      <p:sp>
        <p:nvSpPr>
          <p:cNvPr id="9" name="Text 7"/>
          <p:cNvSpPr/>
          <p:nvPr/>
        </p:nvSpPr>
        <p:spPr>
          <a:xfrm>
            <a:off x="777240" y="2523744"/>
            <a:ext cx="868680" cy="219456"/>
          </a:xfrm>
          <a:prstGeom prst="rect">
            <a:avLst/>
          </a:prstGeom>
          <a:noFill/>
          <a:ln/>
        </p:spPr>
        <p:txBody>
          <a:bodyPr wrap="square" lIns="0" tIns="0" rIns="0" bIns="0" rtlCol="0" anchor="ctr"/>
          <a:lstStyle/>
          <a:p>
            <a:pPr indent="0" marL="0">
              <a:buNone/>
            </a:pPr>
            <a:r>
              <a:rPr lang="en-US" sz="950" dirty="0">
                <a:solidFill>
                  <a:srgbClr val="46545F"/>
                </a:solidFill>
                <a:latin typeface="Calibri" pitchFamily="34" charset="0"/>
                <a:ea typeface="Calibri" pitchFamily="34" charset="-122"/>
                <a:cs typeface="Calibri" pitchFamily="34" charset="-120"/>
              </a:rPr>
              <a:t>a person</a:t>
            </a:r>
            <a:endParaRPr lang="en-US" sz="950" dirty="0"/>
          </a:p>
        </p:txBody>
      </p:sp>
      <p:sp>
        <p:nvSpPr>
          <p:cNvPr id="10" name="Shape 8"/>
          <p:cNvSpPr/>
          <p:nvPr/>
        </p:nvSpPr>
        <p:spPr>
          <a:xfrm>
            <a:off x="1700784" y="2551176"/>
            <a:ext cx="1426464" cy="182880"/>
          </a:xfrm>
          <a:prstGeom prst="roundRect">
            <a:avLst>
              <a:gd name="adj" fmla="val 15000"/>
            </a:avLst>
          </a:prstGeom>
          <a:solidFill>
            <a:srgbClr val="46545F"/>
          </a:solidFill>
          <a:ln/>
        </p:spPr>
        <p:txBody>
          <a:bodyPr/>
          <a:p/>
        </p:txBody>
      </p:sp>
      <p:sp>
        <p:nvSpPr>
          <p:cNvPr id="11" name="Text 9"/>
          <p:cNvSpPr/>
          <p:nvPr/>
        </p:nvSpPr>
        <p:spPr>
          <a:xfrm>
            <a:off x="3172968" y="2523744"/>
            <a:ext cx="457200" cy="219456"/>
          </a:xfrm>
          <a:prstGeom prst="rect">
            <a:avLst/>
          </a:prstGeom>
          <a:noFill/>
          <a:ln/>
        </p:spPr>
        <p:txBody>
          <a:bodyPr wrap="square" lIns="0" tIns="0" rIns="0" bIns="0" rtlCol="0" anchor="ctr"/>
          <a:lstStyle/>
          <a:p>
            <a:pPr indent="0" marL="0">
              <a:buNone/>
            </a:pPr>
            <a:r>
              <a:rPr lang="en-US" sz="900" b="1" dirty="0">
                <a:solidFill>
                  <a:srgbClr val="46545F"/>
                </a:solidFill>
                <a:latin typeface="Calibri" pitchFamily="34" charset="0"/>
                <a:ea typeface="Calibri" pitchFamily="34" charset="-122"/>
                <a:cs typeface="Calibri" pitchFamily="34" charset="-120"/>
              </a:rPr>
              <a:t>100</a:t>
            </a:r>
            <a:endParaRPr lang="en-US" sz="900" dirty="0"/>
          </a:p>
        </p:txBody>
      </p:sp>
      <p:sp>
        <p:nvSpPr>
          <p:cNvPr id="12" name="Text 10"/>
          <p:cNvSpPr/>
          <p:nvPr/>
        </p:nvSpPr>
        <p:spPr>
          <a:xfrm>
            <a:off x="777240" y="2798064"/>
            <a:ext cx="868680" cy="219456"/>
          </a:xfrm>
          <a:prstGeom prst="rect">
            <a:avLst/>
          </a:prstGeom>
          <a:noFill/>
          <a:ln/>
        </p:spPr>
        <p:txBody>
          <a:bodyPr wrap="square" lIns="0" tIns="0" rIns="0" bIns="0" rtlCol="0" anchor="ctr"/>
          <a:lstStyle/>
          <a:p>
            <a:pPr indent="0" marL="0">
              <a:buNone/>
            </a:pPr>
            <a:r>
              <a:rPr lang="en-US" sz="950" b="1" dirty="0">
                <a:solidFill>
                  <a:srgbClr val="AF3230"/>
                </a:solidFill>
                <a:latin typeface="Calibri" pitchFamily="34" charset="0"/>
                <a:ea typeface="Calibri" pitchFamily="34" charset="-122"/>
                <a:cs typeface="Calibri" pitchFamily="34" charset="-120"/>
              </a:rPr>
              <a:t>the AI</a:t>
            </a:r>
            <a:endParaRPr lang="en-US" sz="950" dirty="0"/>
          </a:p>
        </p:txBody>
      </p:sp>
      <p:sp>
        <p:nvSpPr>
          <p:cNvPr id="13" name="Shape 11"/>
          <p:cNvSpPr/>
          <p:nvPr/>
        </p:nvSpPr>
        <p:spPr>
          <a:xfrm>
            <a:off x="1700784" y="2825496"/>
            <a:ext cx="2121408" cy="182880"/>
          </a:xfrm>
          <a:prstGeom prst="roundRect">
            <a:avLst>
              <a:gd name="adj" fmla="val 15000"/>
            </a:avLst>
          </a:prstGeom>
          <a:solidFill>
            <a:srgbClr val="AF3230"/>
          </a:solidFill>
          <a:ln/>
        </p:spPr>
        <p:txBody>
          <a:bodyPr/>
          <a:p/>
        </p:txBody>
      </p:sp>
      <p:sp>
        <p:nvSpPr>
          <p:cNvPr id="14" name="Text 12"/>
          <p:cNvSpPr/>
          <p:nvPr/>
        </p:nvSpPr>
        <p:spPr>
          <a:xfrm>
            <a:off x="3858768" y="2798064"/>
            <a:ext cx="457200" cy="219456"/>
          </a:xfrm>
          <a:prstGeom prst="rect">
            <a:avLst/>
          </a:prstGeom>
          <a:noFill/>
          <a:ln/>
        </p:spPr>
        <p:txBody>
          <a:bodyPr wrap="square" lIns="0" tIns="0" rIns="0" bIns="0" rtlCol="0" anchor="ctr"/>
          <a:lstStyle/>
          <a:p>
            <a:pPr indent="0" marL="0">
              <a:buNone/>
            </a:pPr>
            <a:r>
              <a:rPr lang="en-US" sz="900" b="1" dirty="0">
                <a:solidFill>
                  <a:srgbClr val="AF3230"/>
                </a:solidFill>
                <a:latin typeface="Calibri" pitchFamily="34" charset="0"/>
                <a:ea typeface="Calibri" pitchFamily="34" charset="-122"/>
                <a:cs typeface="Calibri" pitchFamily="34" charset="-120"/>
              </a:rPr>
              <a:t>149</a:t>
            </a:r>
            <a:endParaRPr lang="en-US" sz="900" dirty="0"/>
          </a:p>
        </p:txBody>
      </p:sp>
      <p:sp>
        <p:nvSpPr>
          <p:cNvPr id="15" name="Text 13"/>
          <p:cNvSpPr/>
          <p:nvPr/>
        </p:nvSpPr>
        <p:spPr>
          <a:xfrm>
            <a:off x="777240" y="3145536"/>
            <a:ext cx="3566160" cy="512064"/>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11 leading models (Stanford/CMU, Science 2026). Root cause: trained on human preferences — and we prefer agreement.</a:t>
            </a:r>
            <a:endParaRPr lang="en-US" sz="1000" dirty="0"/>
          </a:p>
        </p:txBody>
      </p:sp>
      <p:sp>
        <p:nvSpPr>
          <p:cNvPr id="16" name="Shape 14"/>
          <p:cNvSpPr/>
          <p:nvPr/>
        </p:nvSpPr>
        <p:spPr>
          <a:xfrm>
            <a:off x="4800600" y="1444752"/>
            <a:ext cx="6858000" cy="2286000"/>
          </a:xfrm>
          <a:prstGeom prst="roundRect">
            <a:avLst>
              <a:gd name="adj" fmla="val 3200"/>
            </a:avLst>
          </a:prstGeom>
          <a:solidFill>
            <a:srgbClr val="F2F5F6"/>
          </a:solidFill>
          <a:ln/>
        </p:spPr>
        <p:txBody>
          <a:bodyPr/>
          <a:p/>
        </p:txBody>
      </p:sp>
      <p:sp>
        <p:nvSpPr>
          <p:cNvPr id="17" name="Text 15"/>
          <p:cNvSpPr/>
          <p:nvPr/>
        </p:nvSpPr>
        <p:spPr>
          <a:xfrm>
            <a:off x="5047488" y="1554480"/>
            <a:ext cx="6309360" cy="292608"/>
          </a:xfrm>
          <a:prstGeom prst="rect">
            <a:avLst/>
          </a:prstGeom>
          <a:noFill/>
          <a:ln/>
        </p:spPr>
        <p:txBody>
          <a:bodyPr wrap="square" lIns="0" tIns="0" rIns="0" bIns="0" rtlCol="0" anchor="ctr"/>
          <a:lstStyle/>
          <a:p>
            <a:pPr indent="0" marL="0">
              <a:buNone/>
            </a:pPr>
            <a:r>
              <a:rPr lang="en-US" sz="1400" b="1" dirty="0">
                <a:solidFill>
                  <a:srgbClr val="232A31"/>
                </a:solidFill>
                <a:latin typeface="Cambria" pitchFamily="34" charset="0"/>
                <a:ea typeface="Cambria" pitchFamily="34" charset="-122"/>
                <a:cs typeface="Cambria" pitchFamily="34" charset="-120"/>
              </a:rPr>
              <a:t>It made the news</a:t>
            </a:r>
            <a:endParaRPr lang="en-US" sz="1400" dirty="0"/>
          </a:p>
        </p:txBody>
      </p:sp>
      <p:sp>
        <p:nvSpPr>
          <p:cNvPr id="18" name="Shape 16"/>
          <p:cNvSpPr/>
          <p:nvPr/>
        </p:nvSpPr>
        <p:spPr>
          <a:xfrm>
            <a:off x="5047488" y="1956816"/>
            <a:ext cx="777240" cy="274320"/>
          </a:xfrm>
          <a:prstGeom prst="roundRect">
            <a:avLst>
              <a:gd name="adj" fmla="val 16667"/>
            </a:avLst>
          </a:prstGeom>
          <a:solidFill>
            <a:srgbClr val="0E7C7B"/>
          </a:solidFill>
          <a:ln/>
        </p:spPr>
        <p:txBody>
          <a:bodyPr/>
          <a:p/>
        </p:txBody>
      </p:sp>
      <p:sp>
        <p:nvSpPr>
          <p:cNvPr id="19" name="Text 17"/>
          <p:cNvSpPr/>
          <p:nvPr/>
        </p:nvSpPr>
        <p:spPr>
          <a:xfrm>
            <a:off x="5047488" y="1965960"/>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APR 2025</a:t>
            </a:r>
            <a:endParaRPr lang="en-US" sz="900" dirty="0"/>
          </a:p>
        </p:txBody>
      </p:sp>
      <p:sp>
        <p:nvSpPr>
          <p:cNvPr id="20" name="Text 18"/>
          <p:cNvSpPr/>
          <p:nvPr/>
        </p:nvSpPr>
        <p:spPr>
          <a:xfrm>
            <a:off x="5943600" y="1920240"/>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OpenAI rolls back a ChatGPT update — its own words: “overly flattering or agreeable… sycophantic.” Its metrics had rewarded the mirror.</a:t>
            </a:r>
            <a:endParaRPr lang="en-US" sz="1000" dirty="0"/>
          </a:p>
        </p:txBody>
      </p:sp>
      <p:sp>
        <p:nvSpPr>
          <p:cNvPr id="21" name="Shape 19"/>
          <p:cNvSpPr/>
          <p:nvPr/>
        </p:nvSpPr>
        <p:spPr>
          <a:xfrm>
            <a:off x="5047488" y="2395728"/>
            <a:ext cx="777240" cy="274320"/>
          </a:xfrm>
          <a:prstGeom prst="roundRect">
            <a:avLst>
              <a:gd name="adj" fmla="val 16667"/>
            </a:avLst>
          </a:prstGeom>
          <a:solidFill>
            <a:srgbClr val="0E7C7B"/>
          </a:solidFill>
          <a:ln/>
        </p:spPr>
        <p:txBody>
          <a:bodyPr/>
          <a:p/>
        </p:txBody>
      </p:sp>
      <p:sp>
        <p:nvSpPr>
          <p:cNvPr id="22" name="Text 20"/>
          <p:cNvSpPr/>
          <p:nvPr/>
        </p:nvSpPr>
        <p:spPr>
          <a:xfrm>
            <a:off x="5047488" y="2404872"/>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JUN 2025</a:t>
            </a:r>
            <a:endParaRPr lang="en-US" sz="900" dirty="0"/>
          </a:p>
        </p:txBody>
      </p:sp>
      <p:sp>
        <p:nvSpPr>
          <p:cNvPr id="23" name="Text 21"/>
          <p:cNvSpPr/>
          <p:nvPr/>
        </p:nvSpPr>
        <p:spPr>
          <a:xfrm>
            <a:off x="5943600" y="2359152"/>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New York Times: chatbots validating false beliefs send some users “spiraling” — agreement as a safety problem.</a:t>
            </a:r>
            <a:endParaRPr lang="en-US" sz="1000" dirty="0"/>
          </a:p>
        </p:txBody>
      </p:sp>
      <p:sp>
        <p:nvSpPr>
          <p:cNvPr id="24" name="Shape 22"/>
          <p:cNvSpPr/>
          <p:nvPr/>
        </p:nvSpPr>
        <p:spPr>
          <a:xfrm>
            <a:off x="5047488" y="2834640"/>
            <a:ext cx="777240" cy="274320"/>
          </a:xfrm>
          <a:prstGeom prst="roundRect">
            <a:avLst>
              <a:gd name="adj" fmla="val 16667"/>
            </a:avLst>
          </a:prstGeom>
          <a:solidFill>
            <a:srgbClr val="0E7C7B"/>
          </a:solidFill>
          <a:ln/>
        </p:spPr>
        <p:txBody>
          <a:bodyPr/>
          <a:p/>
        </p:txBody>
      </p:sp>
      <p:sp>
        <p:nvSpPr>
          <p:cNvPr id="25" name="Text 23"/>
          <p:cNvSpPr/>
          <p:nvPr/>
        </p:nvSpPr>
        <p:spPr>
          <a:xfrm>
            <a:off x="5047488" y="2843784"/>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AUG 2025</a:t>
            </a:r>
            <a:endParaRPr lang="en-US" sz="900" dirty="0"/>
          </a:p>
        </p:txBody>
      </p:sp>
      <p:sp>
        <p:nvSpPr>
          <p:cNvPr id="26" name="Text 24"/>
          <p:cNvSpPr/>
          <p:nvPr/>
        </p:nvSpPr>
        <p:spPr>
          <a:xfrm>
            <a:off x="5943600" y="2798064"/>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Microsoft’s AI chief warns of unhealthy AI validation — “not confined to people already at risk.”</a:t>
            </a:r>
            <a:endParaRPr lang="en-US" sz="1000" dirty="0"/>
          </a:p>
        </p:txBody>
      </p:sp>
      <p:sp>
        <p:nvSpPr>
          <p:cNvPr id="27" name="Shape 25"/>
          <p:cNvSpPr/>
          <p:nvPr/>
        </p:nvSpPr>
        <p:spPr>
          <a:xfrm>
            <a:off x="5047488" y="3273552"/>
            <a:ext cx="777240" cy="274320"/>
          </a:xfrm>
          <a:prstGeom prst="roundRect">
            <a:avLst>
              <a:gd name="adj" fmla="val 16667"/>
            </a:avLst>
          </a:prstGeom>
          <a:solidFill>
            <a:srgbClr val="0E7C7B"/>
          </a:solidFill>
          <a:ln/>
        </p:spPr>
        <p:txBody>
          <a:bodyPr/>
          <a:p/>
        </p:txBody>
      </p:sp>
      <p:sp>
        <p:nvSpPr>
          <p:cNvPr id="28" name="Text 26"/>
          <p:cNvSpPr/>
          <p:nvPr/>
        </p:nvSpPr>
        <p:spPr>
          <a:xfrm>
            <a:off x="5047488" y="3282696"/>
            <a:ext cx="77724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29" name="Text 27"/>
          <p:cNvSpPr/>
          <p:nvPr/>
        </p:nvSpPr>
        <p:spPr>
          <a:xfrm>
            <a:off x="5943600" y="3236976"/>
            <a:ext cx="5577840" cy="420624"/>
          </a:xfrm>
          <a:prstGeom prst="rect">
            <a:avLst/>
          </a:prstGeom>
          <a:noFill/>
          <a:ln/>
        </p:spPr>
        <p:txBody>
          <a:bodyPr wrap="square" lIns="0" tIns="0" rIns="0" bIns="0" rtlCol="0" anchor="ctr"/>
          <a:lstStyle/>
          <a:p>
            <a:pPr indent="0" marL="0">
              <a:lnSpc>
                <a:spcPct val="95000"/>
              </a:lnSpc>
              <a:buNone/>
            </a:pPr>
            <a:r>
              <a:rPr lang="en-US" sz="1000" dirty="0">
                <a:solidFill>
                  <a:srgbClr val="46545F"/>
                </a:solidFill>
                <a:latin typeface="Calibri" pitchFamily="34" charset="0"/>
                <a:ea typeface="Calibri" pitchFamily="34" charset="-122"/>
                <a:cs typeface="Calibri" pitchFamily="34" charset="-120"/>
              </a:rPr>
              <a:t>The Science study measures it (+49%) — and the flattery bias draws regulatory attention.</a:t>
            </a:r>
            <a:endParaRPr lang="en-US" sz="1000" dirty="0"/>
          </a:p>
        </p:txBody>
      </p:sp>
      <p:sp>
        <p:nvSpPr>
          <p:cNvPr id="30" name="Shape 28"/>
          <p:cNvSpPr/>
          <p:nvPr/>
        </p:nvSpPr>
        <p:spPr>
          <a:xfrm>
            <a:off x="502920" y="3913632"/>
            <a:ext cx="6400800" cy="1188720"/>
          </a:xfrm>
          <a:prstGeom prst="roundRect">
            <a:avLst>
              <a:gd name="adj" fmla="val 6154"/>
            </a:avLst>
          </a:prstGeom>
          <a:solidFill>
            <a:srgbClr val="E4F0EF"/>
          </a:solidFill>
          <a:ln/>
        </p:spPr>
        <p:txBody>
          <a:bodyPr/>
          <a:p/>
        </p:txBody>
      </p:sp>
      <p:sp>
        <p:nvSpPr>
          <p:cNvPr id="31" name="Shape 29"/>
          <p:cNvSpPr/>
          <p:nvPr/>
        </p:nvSpPr>
        <p:spPr>
          <a:xfrm>
            <a:off x="667512" y="4315968"/>
            <a:ext cx="384048" cy="384048"/>
          </a:xfrm>
          <a:prstGeom prst="ellipse">
            <a:avLst/>
          </a:prstGeom>
          <a:solidFill>
            <a:srgbClr val="0E7C7B"/>
          </a:solidFill>
          <a:ln/>
        </p:spPr>
        <p:txBody>
          <a:bodyPr/>
          <a:p/>
        </p:txBody>
      </p:sp>
      <p:pic>
        <p:nvPicPr>
          <p:cNvPr id="32" name="Image 0" descr="/home/user/Claude-Works/ai-training-prompt-engineering/src/assets/icons/shield_w.png">    </p:cNvPr>
          <p:cNvPicPr>
            <a:picLocks noChangeAspect="1"/>
          </p:cNvPicPr>
          <p:nvPr/>
        </p:nvPicPr>
        <p:blipFill>
          <a:blip r:embed="rId2"/>
          <a:stretch>
            <a:fillRect/>
          </a:stretch>
        </p:blipFill>
        <p:spPr>
          <a:xfrm>
            <a:off x="767364" y="4415820"/>
            <a:ext cx="184343" cy="184343"/>
          </a:xfrm>
          <a:prstGeom prst="rect">
            <a:avLst/>
          </a:prstGeom>
        </p:spPr>
      </p:pic>
      <p:sp>
        <p:nvSpPr>
          <p:cNvPr id="33" name="Text 30"/>
          <p:cNvSpPr/>
          <p:nvPr/>
        </p:nvSpPr>
        <p:spPr>
          <a:xfrm>
            <a:off x="1216152" y="3986784"/>
            <a:ext cx="5458968" cy="1042416"/>
          </a:xfrm>
          <a:prstGeom prst="rect">
            <a:avLst/>
          </a:prstGeom>
          <a:noFill/>
          <a:ln/>
        </p:spPr>
        <p:txBody>
          <a:bodyPr wrap="square" lIns="0" tIns="0" rIns="0" bIns="0" rtlCol="0" anchor="ctr"/>
          <a:lstStyle/>
          <a:p>
            <a:pPr indent="0" marL="0">
              <a:lnSpc>
                <a:spcPct val="106000"/>
              </a:lnSpc>
              <a:buNone/>
            </a:pPr>
            <a:r>
              <a:rPr lang="en-US" sz="1100" b="1" dirty="0">
                <a:solidFill>
                  <a:srgbClr val="0A5B5A"/>
                </a:solidFill>
                <a:latin typeface="Calibri" pitchFamily="34" charset="0"/>
                <a:ea typeface="Calibri" pitchFamily="34" charset="-122"/>
                <a:cs typeface="Calibri" pitchFamily="34" charset="-120"/>
              </a:rPr>
              <a:t>The countermeasures — usable today: </a:t>
            </a:r>
            <a:endParaRPr lang="en-US" sz="1100" dirty="0"/>
          </a:p>
          <a:p>
            <a:pPr indent="0" marL="0">
              <a:lnSpc>
                <a:spcPct val="106000"/>
              </a:lnSpc>
              <a:buNone/>
            </a:pPr>
            <a:r>
              <a:rPr lang="en-US" sz="1050" dirty="0">
                <a:solidFill>
                  <a:srgbClr val="46545F"/>
                </a:solidFill>
                <a:latin typeface="Calibri" pitchFamily="34" charset="0"/>
                <a:ea typeface="Calibri" pitchFamily="34" charset="-122"/>
                <a:cs typeface="Calibri" pitchFamily="34" charset="-120"/>
              </a:rPr>
              <a:t>never reveal your preferred answer when asking for a review · ask for the case AGAINST (“three weakest points”) · paste your draft as “a colleague’s” · never treat “are you sure?” as verification.</a:t>
            </a:r>
            <a:endParaRPr lang="en-US" sz="1100" dirty="0"/>
          </a:p>
        </p:txBody>
      </p:sp>
      <p:sp>
        <p:nvSpPr>
          <p:cNvPr id="34" name="Shape 31"/>
          <p:cNvSpPr/>
          <p:nvPr/>
        </p:nvSpPr>
        <p:spPr>
          <a:xfrm>
            <a:off x="502920" y="5212080"/>
            <a:ext cx="6400800" cy="1261872"/>
          </a:xfrm>
          <a:prstGeom prst="roundRect">
            <a:avLst>
              <a:gd name="adj" fmla="val 5797"/>
            </a:avLst>
          </a:prstGeom>
          <a:solidFill>
            <a:srgbClr val="FFFFFF"/>
          </a:solidFill>
          <a:ln w="9525">
            <a:solidFill>
              <a:srgbClr val="DCE3E6"/>
            </a:solidFill>
            <a:prstDash val="solid"/>
          </a:ln>
        </p:spPr>
        <p:txBody>
          <a:bodyPr/>
          <a:p/>
        </p:txBody>
      </p:sp>
      <p:sp>
        <p:nvSpPr>
          <p:cNvPr id="35" name="Text 32"/>
          <p:cNvSpPr/>
          <p:nvPr/>
        </p:nvSpPr>
        <p:spPr>
          <a:xfrm>
            <a:off x="777240" y="5303520"/>
            <a:ext cx="5852160" cy="219456"/>
          </a:xfrm>
          <a:prstGeom prst="rect">
            <a:avLst/>
          </a:prstGeom>
          <a:noFill/>
          <a:ln/>
        </p:spPr>
        <p:txBody>
          <a:bodyPr wrap="square" lIns="0" tIns="0" rIns="0" bIns="0" rtlCol="0" anchor="ctr"/>
          <a:lstStyle/>
          <a:p>
            <a:pPr indent="0" marL="0">
              <a:buNone/>
            </a:pPr>
            <a:r>
              <a:rPr lang="en-US" sz="1000" b="1" spc="50" kern="0" dirty="0">
                <a:solidFill>
                  <a:srgbClr val="0A5B5A"/>
                </a:solidFill>
                <a:latin typeface="Calibri" pitchFamily="34" charset="0"/>
                <a:ea typeface="Calibri" pitchFamily="34" charset="-122"/>
                <a:cs typeface="Calibri" pitchFamily="34" charset="-120"/>
              </a:rPr>
              <a:t>SEE IT YOURSELF — two chats, same paragraph:</a:t>
            </a:r>
            <a:endParaRPr lang="en-US" sz="1000" dirty="0"/>
          </a:p>
        </p:txBody>
      </p:sp>
      <p:sp>
        <p:nvSpPr>
          <p:cNvPr id="36" name="Text 33"/>
          <p:cNvSpPr/>
          <p:nvPr/>
        </p:nvSpPr>
        <p:spPr>
          <a:xfrm>
            <a:off x="777240" y="5541264"/>
            <a:ext cx="5852160" cy="566928"/>
          </a:xfrm>
          <a:prstGeom prst="rect">
            <a:avLst/>
          </a:prstGeom>
          <a:noFill/>
          <a:ln/>
        </p:spPr>
        <p:txBody>
          <a:bodyPr wrap="square" lIns="0" tIns="0" rIns="0" bIns="0" rtlCol="0" anchor="ctr"/>
          <a:lstStyle/>
          <a:p>
            <a:pPr indent="0" marL="0">
              <a:lnSpc>
                <a:spcPct val="105000"/>
              </a:lnSpc>
              <a:buNone/>
            </a:pPr>
            <a:r>
              <a:rPr lang="en-US" sz="950" dirty="0">
                <a:solidFill>
                  <a:srgbClr val="0A5B5A"/>
                </a:solidFill>
                <a:latin typeface="Consolas" pitchFamily="34" charset="0"/>
                <a:ea typeface="Consolas" pitchFamily="34" charset="-122"/>
                <a:cs typeface="Consolas" pitchFamily="34" charset="-120"/>
              </a:rPr>
              <a:t>Chat 1: “A colleague wrote this — rate it 1–10 and list its three biggest weaknesses.”   Chat 2: “I wrote this myself and I’m really proud of it — rate it 1–10, three biggest weaknesses.”</a:t>
            </a:r>
            <a:endParaRPr lang="en-US" sz="950" dirty="0"/>
          </a:p>
        </p:txBody>
      </p:sp>
      <p:sp>
        <p:nvSpPr>
          <p:cNvPr id="37" name="Text 34"/>
          <p:cNvSpPr/>
          <p:nvPr/>
        </p:nvSpPr>
        <p:spPr>
          <a:xfrm>
            <a:off x="777240" y="6126480"/>
            <a:ext cx="5852160" cy="292608"/>
          </a:xfrm>
          <a:prstGeom prst="rect">
            <a:avLst/>
          </a:prstGeom>
          <a:noFill/>
          <a:ln/>
        </p:spPr>
        <p:txBody>
          <a:bodyPr wrap="square" lIns="0" tIns="0" rIns="0" bIns="0" rtlCol="0" anchor="ctr"/>
          <a:lstStyle/>
          <a:p>
            <a:pPr indent="0" marL="0">
              <a:lnSpc>
                <a:spcPct val="100000"/>
              </a:lnSpc>
              <a:buNone/>
            </a:pPr>
            <a:r>
              <a:rPr lang="en-US" sz="1000" i="1" dirty="0">
                <a:solidFill>
                  <a:srgbClr val="7A8790"/>
                </a:solidFill>
                <a:latin typeface="Calibri" pitchFamily="34" charset="0"/>
                <a:ea typeface="Calibri" pitchFamily="34" charset="-122"/>
                <a:cs typeface="Calibri" pitchFamily="34" charset="-120"/>
              </a:rPr>
              <a:t>Did the score move — and the criticism soften — once it knew you were the author?</a:t>
            </a:r>
            <a:endParaRPr lang="en-US" sz="1000" dirty="0"/>
          </a:p>
        </p:txBody>
      </p:sp>
      <p:pic>
        <p:nvPicPr>
          <p:cNvPr id="38" name="Image 1" descr="/home/user/Claude-Works/ai-training-prompt-engineering/src/assets/images/mirror_reflection.jpg">    </p:cNvPr>
          <p:cNvPicPr>
            <a:picLocks noChangeAspect="1"/>
          </p:cNvPicPr>
          <p:nvPr/>
        </p:nvPicPr>
        <p:blipFill>
          <a:blip r:embed="rId3"/>
          <a:srcRect l="0" r="0" t="0" b="0"/>
          <a:stretch/>
        </p:blipFill>
        <p:spPr>
          <a:xfrm>
            <a:off x="7086600" y="3913632"/>
            <a:ext cx="4572000" cy="2560320"/>
          </a:xfrm>
          <a:prstGeom prst="rect">
            <a:avLst/>
          </a:prstGeom>
        </p:spPr>
      </p:pic>
      <p:sp>
        <p:nvSpPr>
          <p:cNvPr id="39" name="Shape 35"/>
          <p:cNvSpPr/>
          <p:nvPr/>
        </p:nvSpPr>
        <p:spPr>
          <a:xfrm>
            <a:off x="7086600" y="3913632"/>
            <a:ext cx="4572000" cy="2560320"/>
          </a:xfrm>
          <a:prstGeom prst="roundRect">
            <a:avLst>
              <a:gd name="adj" fmla="val 2143"/>
            </a:avLst>
          </a:prstGeom>
          <a:ln w="12700">
            <a:solidFill>
              <a:srgbClr val="DCE3E6"/>
            </a:solidFill>
            <a:prstDash val="solid"/>
          </a:ln>
        </p:spPr>
        <p:txBody>
          <a:bodyPr/>
          <a:p/>
        </p:txBody>
      </p:sp>
      <p:sp>
        <p:nvSpPr>
          <p:cNvPr id="4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4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 14</a:t>
            </a:r>
          </a:p>
        </p:txBody>
      </p:sp>
      <p:sp>
        <p:nvSpPr>
          <p:cNvPr id="4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SEVENTY YEARS IN ONE SLIDE</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Four eras: rules → learning → generative → agentic</a:t>
            </a:r>
            <a:endParaRPr lang="en-US" sz="3000" dirty="0"/>
          </a:p>
        </p:txBody>
      </p:sp>
      <p:sp>
        <p:nvSpPr>
          <p:cNvPr id="6" name="Shape 4"/>
          <p:cNvSpPr/>
          <p:nvPr/>
        </p:nvSpPr>
        <p:spPr>
          <a:xfrm>
            <a:off x="502920" y="1554480"/>
            <a:ext cx="2697480" cy="3401568"/>
          </a:xfrm>
          <a:prstGeom prst="roundRect">
            <a:avLst>
              <a:gd name="adj" fmla="val 2712"/>
            </a:avLst>
          </a:prstGeom>
          <a:solidFill>
            <a:srgbClr val="F2F5F6"/>
          </a:solidFill>
          <a:ln/>
        </p:spPr>
        <p:txBody>
          <a:bodyPr/>
          <a:p/>
        </p:txBody>
      </p:sp>
      <p:sp>
        <p:nvSpPr>
          <p:cNvPr id="7" name="Shape 5"/>
          <p:cNvSpPr/>
          <p:nvPr/>
        </p:nvSpPr>
        <p:spPr>
          <a:xfrm>
            <a:off x="722376" y="1755648"/>
            <a:ext cx="457200" cy="457200"/>
          </a:xfrm>
          <a:prstGeom prst="ellipse">
            <a:avLst/>
          </a:prstGeom>
          <a:solidFill>
            <a:srgbClr val="0E7C7B"/>
          </a:solidFill>
          <a:ln/>
        </p:spPr>
        <p:txBody>
          <a:bodyPr/>
          <a:p/>
        </p:txBody>
      </p:sp>
      <p:pic>
        <p:nvPicPr>
          <p:cNvPr id="8" name="Image 0" descr="/home/user/Claude-Works/ai-training-prompt-engineering/src/assets/icons/edit_w.png">    </p:cNvPr>
          <p:cNvPicPr>
            <a:picLocks noChangeAspect="1"/>
          </p:cNvPicPr>
          <p:nvPr/>
        </p:nvPicPr>
        <p:blipFill>
          <a:blip r:embed="rId2"/>
          <a:stretch>
            <a:fillRect/>
          </a:stretch>
        </p:blipFill>
        <p:spPr>
          <a:xfrm>
            <a:off x="841248" y="1874520"/>
            <a:ext cx="219456" cy="219456"/>
          </a:xfrm>
          <a:prstGeom prst="rect">
            <a:avLst/>
          </a:prstGeom>
        </p:spPr>
      </p:pic>
      <p:sp>
        <p:nvSpPr>
          <p:cNvPr id="9" name="Text 6"/>
          <p:cNvSpPr/>
          <p:nvPr/>
        </p:nvSpPr>
        <p:spPr>
          <a:xfrm>
            <a:off x="1289304"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Rules</a:t>
            </a:r>
            <a:endParaRPr lang="en-US" sz="1500" dirty="0"/>
          </a:p>
        </p:txBody>
      </p:sp>
      <p:sp>
        <p:nvSpPr>
          <p:cNvPr id="10" name="Text 7"/>
          <p:cNvSpPr/>
          <p:nvPr/>
        </p:nvSpPr>
        <p:spPr>
          <a:xfrm>
            <a:off x="1289304"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1950s–1990s · symbolic AI, expert systems</a:t>
            </a:r>
            <a:endParaRPr lang="en-US" sz="900" dirty="0"/>
          </a:p>
        </p:txBody>
      </p:sp>
      <p:sp>
        <p:nvSpPr>
          <p:cNvPr id="11" name="Shape 8"/>
          <p:cNvSpPr/>
          <p:nvPr/>
        </p:nvSpPr>
        <p:spPr>
          <a:xfrm>
            <a:off x="1490472" y="2578608"/>
            <a:ext cx="731520" cy="201168"/>
          </a:xfrm>
          <a:prstGeom prst="roundRect">
            <a:avLst>
              <a:gd name="adj" fmla="val 18182"/>
            </a:avLst>
          </a:prstGeom>
          <a:solidFill>
            <a:srgbClr val="FFFFFF"/>
          </a:solidFill>
          <a:ln w="9525">
            <a:solidFill>
              <a:srgbClr val="0E7C7B"/>
            </a:solidFill>
            <a:prstDash val="solid"/>
          </a:ln>
        </p:spPr>
        <p:txBody>
          <a:bodyPr/>
          <a:p/>
        </p:txBody>
      </p:sp>
      <p:sp>
        <p:nvSpPr>
          <p:cNvPr id="12" name="Text 9"/>
          <p:cNvSpPr/>
          <p:nvPr/>
        </p:nvSpPr>
        <p:spPr>
          <a:xfrm>
            <a:off x="1490472" y="257860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if…?</a:t>
            </a:r>
            <a:endParaRPr lang="en-US" sz="800" dirty="0"/>
          </a:p>
        </p:txBody>
      </p:sp>
      <p:sp>
        <p:nvSpPr>
          <p:cNvPr id="13" name="Shape 10"/>
          <p:cNvSpPr/>
          <p:nvPr/>
        </p:nvSpPr>
        <p:spPr>
          <a:xfrm>
            <a:off x="850392"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4" name="Text 11"/>
          <p:cNvSpPr/>
          <p:nvPr/>
        </p:nvSpPr>
        <p:spPr>
          <a:xfrm>
            <a:off x="850392"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then A</a:t>
            </a:r>
            <a:endParaRPr lang="en-US" sz="800" dirty="0"/>
          </a:p>
        </p:txBody>
      </p:sp>
      <p:sp>
        <p:nvSpPr>
          <p:cNvPr id="15" name="Shape 12"/>
          <p:cNvSpPr/>
          <p:nvPr/>
        </p:nvSpPr>
        <p:spPr>
          <a:xfrm>
            <a:off x="2148840" y="2944368"/>
            <a:ext cx="731520" cy="201168"/>
          </a:xfrm>
          <a:prstGeom prst="roundRect">
            <a:avLst>
              <a:gd name="adj" fmla="val 18182"/>
            </a:avLst>
          </a:prstGeom>
          <a:solidFill>
            <a:srgbClr val="FFFFFF"/>
          </a:solidFill>
          <a:ln w="9525">
            <a:solidFill>
              <a:srgbClr val="0E7C7B"/>
            </a:solidFill>
            <a:prstDash val="solid"/>
          </a:ln>
        </p:spPr>
        <p:txBody>
          <a:bodyPr/>
          <a:p/>
        </p:txBody>
      </p:sp>
      <p:sp>
        <p:nvSpPr>
          <p:cNvPr id="16" name="Text 13"/>
          <p:cNvSpPr/>
          <p:nvPr/>
        </p:nvSpPr>
        <p:spPr>
          <a:xfrm>
            <a:off x="2148840" y="2944368"/>
            <a:ext cx="7315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else B</a:t>
            </a:r>
            <a:endParaRPr lang="en-US" sz="800" dirty="0"/>
          </a:p>
        </p:txBody>
      </p:sp>
      <p:sp>
        <p:nvSpPr>
          <p:cNvPr id="17" name="Shape 14"/>
          <p:cNvSpPr/>
          <p:nvPr/>
        </p:nvSpPr>
        <p:spPr>
          <a:xfrm flipH="1">
            <a:off x="1234440" y="2779776"/>
            <a:ext cx="502920" cy="164592"/>
          </a:xfrm>
          <a:prstGeom prst="line">
            <a:avLst/>
          </a:prstGeom>
          <a:noFill/>
          <a:ln w="12700">
            <a:solidFill>
              <a:srgbClr val="0E7C7B"/>
            </a:solidFill>
            <a:prstDash val="solid"/>
          </a:ln>
        </p:spPr>
        <p:txBody>
          <a:bodyPr/>
          <a:p/>
        </p:txBody>
      </p:sp>
      <p:sp>
        <p:nvSpPr>
          <p:cNvPr id="18" name="Shape 15"/>
          <p:cNvSpPr/>
          <p:nvPr/>
        </p:nvSpPr>
        <p:spPr>
          <a:xfrm>
            <a:off x="1984248" y="2779776"/>
            <a:ext cx="502920" cy="164592"/>
          </a:xfrm>
          <a:prstGeom prst="line">
            <a:avLst/>
          </a:prstGeom>
          <a:noFill/>
          <a:ln w="12700">
            <a:solidFill>
              <a:srgbClr val="0E7C7B"/>
            </a:solidFill>
            <a:prstDash val="solid"/>
          </a:ln>
        </p:spPr>
        <p:txBody>
          <a:bodyPr/>
          <a:p/>
        </p:txBody>
      </p:sp>
      <p:sp>
        <p:nvSpPr>
          <p:cNvPr id="19" name="Text 16"/>
          <p:cNvSpPr/>
          <p:nvPr/>
        </p:nvSpPr>
        <p:spPr>
          <a:xfrm>
            <a:off x="722376"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Humans hand-code the logic: “if X then Y.” Rules shine, then crack on messy reality. Hype outruns results twice: the “AI winters.”</a:t>
            </a:r>
            <a:endParaRPr lang="en-US" sz="1050" dirty="0"/>
          </a:p>
        </p:txBody>
      </p:sp>
      <p:sp>
        <p:nvSpPr>
          <p:cNvPr id="20" name="Text 17"/>
          <p:cNvSpPr/>
          <p:nvPr/>
        </p:nvSpPr>
        <p:spPr>
          <a:xfrm>
            <a:off x="722376"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expert systems doing real work — MYCIN diagnosing infections, XCON configuring computers.</a:t>
            </a:r>
            <a:endParaRPr lang="en-US" sz="950" dirty="0"/>
          </a:p>
        </p:txBody>
      </p:sp>
      <p:sp>
        <p:nvSpPr>
          <p:cNvPr id="21" name="Shape 18"/>
          <p:cNvSpPr/>
          <p:nvPr/>
        </p:nvSpPr>
        <p:spPr>
          <a:xfrm>
            <a:off x="3218688" y="3154680"/>
            <a:ext cx="182880" cy="0"/>
          </a:xfrm>
          <a:prstGeom prst="line">
            <a:avLst/>
          </a:prstGeom>
          <a:noFill/>
          <a:ln w="28575">
            <a:solidFill>
              <a:srgbClr val="0E7C7B"/>
            </a:solidFill>
            <a:prstDash val="solid"/>
            <a:tailEnd type="triangle"/>
          </a:ln>
        </p:spPr>
        <p:txBody>
          <a:bodyPr/>
          <a:p/>
        </p:txBody>
      </p:sp>
      <p:sp>
        <p:nvSpPr>
          <p:cNvPr id="22" name="Shape 19"/>
          <p:cNvSpPr/>
          <p:nvPr/>
        </p:nvSpPr>
        <p:spPr>
          <a:xfrm>
            <a:off x="3419856" y="1554480"/>
            <a:ext cx="2697480" cy="3401568"/>
          </a:xfrm>
          <a:prstGeom prst="roundRect">
            <a:avLst>
              <a:gd name="adj" fmla="val 2712"/>
            </a:avLst>
          </a:prstGeom>
          <a:solidFill>
            <a:srgbClr val="F2F5F6"/>
          </a:solidFill>
          <a:ln/>
        </p:spPr>
        <p:txBody>
          <a:bodyPr/>
          <a:p/>
        </p:txBody>
      </p:sp>
      <p:sp>
        <p:nvSpPr>
          <p:cNvPr id="23" name="Shape 20"/>
          <p:cNvSpPr/>
          <p:nvPr/>
        </p:nvSpPr>
        <p:spPr>
          <a:xfrm>
            <a:off x="3639312" y="1755648"/>
            <a:ext cx="457200" cy="457200"/>
          </a:xfrm>
          <a:prstGeom prst="ellipse">
            <a:avLst/>
          </a:prstGeom>
          <a:solidFill>
            <a:srgbClr val="0E7C7B"/>
          </a:solidFill>
          <a:ln/>
        </p:spPr>
        <p:txBody>
          <a:bodyPr/>
          <a:p/>
        </p:txBody>
      </p:sp>
      <p:pic>
        <p:nvPicPr>
          <p:cNvPr id="24" name="Image 1" descr="/home/user/Claude-Works/ai-training-prompt-engineering/src/assets/icons/chart_w.png">    </p:cNvPr>
          <p:cNvPicPr>
            <a:picLocks noChangeAspect="1"/>
          </p:cNvPicPr>
          <p:nvPr/>
        </p:nvPicPr>
        <p:blipFill>
          <a:blip r:embed="rId3"/>
          <a:stretch>
            <a:fillRect/>
          </a:stretch>
        </p:blipFill>
        <p:spPr>
          <a:xfrm>
            <a:off x="3758184" y="1874520"/>
            <a:ext cx="219456" cy="219456"/>
          </a:xfrm>
          <a:prstGeom prst="rect">
            <a:avLst/>
          </a:prstGeom>
        </p:spPr>
      </p:pic>
      <p:sp>
        <p:nvSpPr>
          <p:cNvPr id="25" name="Text 21"/>
          <p:cNvSpPr/>
          <p:nvPr/>
        </p:nvSpPr>
        <p:spPr>
          <a:xfrm>
            <a:off x="4206240"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Learning</a:t>
            </a:r>
            <a:endParaRPr lang="en-US" sz="1500" dirty="0"/>
          </a:p>
        </p:txBody>
      </p:sp>
      <p:sp>
        <p:nvSpPr>
          <p:cNvPr id="26" name="Text 22"/>
          <p:cNvSpPr/>
          <p:nvPr/>
        </p:nvSpPr>
        <p:spPr>
          <a:xfrm>
            <a:off x="4206240"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1990s–2010s · machine learning, neural networks</a:t>
            </a:r>
            <a:endParaRPr lang="en-US" sz="900" dirty="0"/>
          </a:p>
        </p:txBody>
      </p:sp>
      <p:sp>
        <p:nvSpPr>
          <p:cNvPr id="27" name="Shape 23"/>
          <p:cNvSpPr/>
          <p:nvPr/>
        </p:nvSpPr>
        <p:spPr>
          <a:xfrm>
            <a:off x="3968496" y="2642616"/>
            <a:ext cx="777240" cy="100584"/>
          </a:xfrm>
          <a:prstGeom prst="line">
            <a:avLst/>
          </a:prstGeom>
          <a:noFill/>
          <a:ln w="11430">
            <a:solidFill>
              <a:srgbClr val="DCE3E6"/>
            </a:solidFill>
            <a:prstDash val="solid"/>
          </a:ln>
        </p:spPr>
        <p:txBody>
          <a:bodyPr/>
          <a:p/>
        </p:txBody>
      </p:sp>
      <p:sp>
        <p:nvSpPr>
          <p:cNvPr id="28" name="Shape 24"/>
          <p:cNvSpPr/>
          <p:nvPr/>
        </p:nvSpPr>
        <p:spPr>
          <a:xfrm>
            <a:off x="3968496" y="2642616"/>
            <a:ext cx="777240" cy="301752"/>
          </a:xfrm>
          <a:prstGeom prst="line">
            <a:avLst/>
          </a:prstGeom>
          <a:noFill/>
          <a:ln w="11430">
            <a:solidFill>
              <a:srgbClr val="DCE3E6"/>
            </a:solidFill>
            <a:prstDash val="solid"/>
          </a:ln>
        </p:spPr>
        <p:txBody>
          <a:bodyPr/>
          <a:p/>
        </p:txBody>
      </p:sp>
      <p:sp>
        <p:nvSpPr>
          <p:cNvPr id="29" name="Shape 25"/>
          <p:cNvSpPr/>
          <p:nvPr/>
        </p:nvSpPr>
        <p:spPr>
          <a:xfrm flipV="1">
            <a:off x="3968496" y="2743200"/>
            <a:ext cx="777240" cy="100584"/>
          </a:xfrm>
          <a:prstGeom prst="line">
            <a:avLst/>
          </a:prstGeom>
          <a:noFill/>
          <a:ln w="11430">
            <a:solidFill>
              <a:srgbClr val="DCE3E6"/>
            </a:solidFill>
            <a:prstDash val="solid"/>
          </a:ln>
        </p:spPr>
        <p:txBody>
          <a:bodyPr/>
          <a:p/>
        </p:txBody>
      </p:sp>
      <p:sp>
        <p:nvSpPr>
          <p:cNvPr id="30" name="Shape 26"/>
          <p:cNvSpPr/>
          <p:nvPr/>
        </p:nvSpPr>
        <p:spPr>
          <a:xfrm>
            <a:off x="3968496" y="2843784"/>
            <a:ext cx="777240" cy="100584"/>
          </a:xfrm>
          <a:prstGeom prst="line">
            <a:avLst/>
          </a:prstGeom>
          <a:noFill/>
          <a:ln w="11430">
            <a:solidFill>
              <a:srgbClr val="DCE3E6"/>
            </a:solidFill>
            <a:prstDash val="solid"/>
          </a:ln>
        </p:spPr>
        <p:txBody>
          <a:bodyPr/>
          <a:p/>
        </p:txBody>
      </p:sp>
      <p:sp>
        <p:nvSpPr>
          <p:cNvPr id="31" name="Shape 27"/>
          <p:cNvSpPr/>
          <p:nvPr/>
        </p:nvSpPr>
        <p:spPr>
          <a:xfrm flipV="1">
            <a:off x="3968496" y="2743200"/>
            <a:ext cx="777240" cy="301752"/>
          </a:xfrm>
          <a:prstGeom prst="line">
            <a:avLst/>
          </a:prstGeom>
          <a:noFill/>
          <a:ln w="11430">
            <a:solidFill>
              <a:srgbClr val="DCE3E6"/>
            </a:solidFill>
            <a:prstDash val="solid"/>
          </a:ln>
        </p:spPr>
        <p:txBody>
          <a:bodyPr/>
          <a:p/>
        </p:txBody>
      </p:sp>
      <p:sp>
        <p:nvSpPr>
          <p:cNvPr id="32" name="Shape 28"/>
          <p:cNvSpPr/>
          <p:nvPr/>
        </p:nvSpPr>
        <p:spPr>
          <a:xfrm flipV="1">
            <a:off x="3968496" y="2944368"/>
            <a:ext cx="777240" cy="100584"/>
          </a:xfrm>
          <a:prstGeom prst="line">
            <a:avLst/>
          </a:prstGeom>
          <a:noFill/>
          <a:ln w="11430">
            <a:solidFill>
              <a:srgbClr val="DCE3E6"/>
            </a:solidFill>
            <a:prstDash val="solid"/>
          </a:ln>
        </p:spPr>
        <p:txBody>
          <a:bodyPr/>
          <a:p/>
        </p:txBody>
      </p:sp>
      <p:sp>
        <p:nvSpPr>
          <p:cNvPr id="33" name="Shape 29"/>
          <p:cNvSpPr/>
          <p:nvPr/>
        </p:nvSpPr>
        <p:spPr>
          <a:xfrm>
            <a:off x="4882896" y="2743200"/>
            <a:ext cx="685800" cy="100584"/>
          </a:xfrm>
          <a:prstGeom prst="line">
            <a:avLst/>
          </a:prstGeom>
          <a:noFill/>
          <a:ln w="11430">
            <a:solidFill>
              <a:srgbClr val="DCE3E6"/>
            </a:solidFill>
            <a:prstDash val="solid"/>
          </a:ln>
        </p:spPr>
        <p:txBody>
          <a:bodyPr/>
          <a:p/>
        </p:txBody>
      </p:sp>
      <p:sp>
        <p:nvSpPr>
          <p:cNvPr id="34" name="Shape 30"/>
          <p:cNvSpPr/>
          <p:nvPr/>
        </p:nvSpPr>
        <p:spPr>
          <a:xfrm flipV="1">
            <a:off x="4882896" y="2843784"/>
            <a:ext cx="685800" cy="100584"/>
          </a:xfrm>
          <a:prstGeom prst="line">
            <a:avLst/>
          </a:prstGeom>
          <a:noFill/>
          <a:ln w="11430">
            <a:solidFill>
              <a:srgbClr val="DCE3E6"/>
            </a:solidFill>
            <a:prstDash val="solid"/>
          </a:ln>
        </p:spPr>
        <p:txBody>
          <a:bodyPr/>
          <a:p/>
        </p:txBody>
      </p:sp>
      <p:sp>
        <p:nvSpPr>
          <p:cNvPr id="35" name="Shape 31"/>
          <p:cNvSpPr/>
          <p:nvPr/>
        </p:nvSpPr>
        <p:spPr>
          <a:xfrm>
            <a:off x="3840480" y="2578608"/>
            <a:ext cx="137160" cy="137160"/>
          </a:xfrm>
          <a:prstGeom prst="ellipse">
            <a:avLst/>
          </a:prstGeom>
          <a:solidFill>
            <a:srgbClr val="0E7C7B"/>
          </a:solidFill>
          <a:ln/>
        </p:spPr>
        <p:txBody>
          <a:bodyPr/>
          <a:p/>
        </p:txBody>
      </p:sp>
      <p:sp>
        <p:nvSpPr>
          <p:cNvPr id="36" name="Shape 32"/>
          <p:cNvSpPr/>
          <p:nvPr/>
        </p:nvSpPr>
        <p:spPr>
          <a:xfrm>
            <a:off x="3840480" y="2779776"/>
            <a:ext cx="137160" cy="137160"/>
          </a:xfrm>
          <a:prstGeom prst="ellipse">
            <a:avLst/>
          </a:prstGeom>
          <a:solidFill>
            <a:srgbClr val="0E7C7B"/>
          </a:solidFill>
          <a:ln/>
        </p:spPr>
        <p:txBody>
          <a:bodyPr/>
          <a:p/>
        </p:txBody>
      </p:sp>
      <p:sp>
        <p:nvSpPr>
          <p:cNvPr id="37" name="Shape 33"/>
          <p:cNvSpPr/>
          <p:nvPr/>
        </p:nvSpPr>
        <p:spPr>
          <a:xfrm>
            <a:off x="3840480" y="2980944"/>
            <a:ext cx="137160" cy="137160"/>
          </a:xfrm>
          <a:prstGeom prst="ellipse">
            <a:avLst/>
          </a:prstGeom>
          <a:solidFill>
            <a:srgbClr val="0E7C7B"/>
          </a:solidFill>
          <a:ln/>
        </p:spPr>
        <p:txBody>
          <a:bodyPr/>
          <a:p/>
        </p:txBody>
      </p:sp>
      <p:sp>
        <p:nvSpPr>
          <p:cNvPr id="38" name="Shape 34"/>
          <p:cNvSpPr/>
          <p:nvPr/>
        </p:nvSpPr>
        <p:spPr>
          <a:xfrm>
            <a:off x="4754880" y="2679192"/>
            <a:ext cx="137160" cy="137160"/>
          </a:xfrm>
          <a:prstGeom prst="ellipse">
            <a:avLst/>
          </a:prstGeom>
          <a:solidFill>
            <a:srgbClr val="0E7C7B"/>
          </a:solidFill>
          <a:ln/>
        </p:spPr>
        <p:txBody>
          <a:bodyPr/>
          <a:p/>
        </p:txBody>
      </p:sp>
      <p:sp>
        <p:nvSpPr>
          <p:cNvPr id="39" name="Shape 35"/>
          <p:cNvSpPr/>
          <p:nvPr/>
        </p:nvSpPr>
        <p:spPr>
          <a:xfrm>
            <a:off x="4754880" y="2880360"/>
            <a:ext cx="137160" cy="137160"/>
          </a:xfrm>
          <a:prstGeom prst="ellipse">
            <a:avLst/>
          </a:prstGeom>
          <a:solidFill>
            <a:srgbClr val="0E7C7B"/>
          </a:solidFill>
          <a:ln/>
        </p:spPr>
        <p:txBody>
          <a:bodyPr/>
          <a:p/>
        </p:txBody>
      </p:sp>
      <p:sp>
        <p:nvSpPr>
          <p:cNvPr id="40" name="Shape 36"/>
          <p:cNvSpPr/>
          <p:nvPr/>
        </p:nvSpPr>
        <p:spPr>
          <a:xfrm>
            <a:off x="5577840" y="2779776"/>
            <a:ext cx="137160" cy="137160"/>
          </a:xfrm>
          <a:prstGeom prst="ellipse">
            <a:avLst/>
          </a:prstGeom>
          <a:solidFill>
            <a:srgbClr val="B96A1B"/>
          </a:solidFill>
          <a:ln/>
        </p:spPr>
        <p:txBody>
          <a:bodyPr/>
          <a:p/>
        </p:txBody>
      </p:sp>
      <p:sp>
        <p:nvSpPr>
          <p:cNvPr id="41" name="Text 37"/>
          <p:cNvSpPr/>
          <p:nvPr/>
        </p:nvSpPr>
        <p:spPr>
          <a:xfrm>
            <a:off x="3639312"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Stop writing rules — let the system find patterns in examples. 2012: deep nets + GPUs crush image recognition (AlexNet: 15.3% error vs 26.2%).</a:t>
            </a:r>
            <a:endParaRPr lang="en-US" sz="1050" dirty="0"/>
          </a:p>
        </p:txBody>
      </p:sp>
      <p:sp>
        <p:nvSpPr>
          <p:cNvPr id="42" name="Text 38"/>
          <p:cNvSpPr/>
          <p:nvPr/>
        </p:nvSpPr>
        <p:spPr>
          <a:xfrm>
            <a:off x="3639312"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spam filters, search ranking, recommendations, image recognition.</a:t>
            </a:r>
            <a:endParaRPr lang="en-US" sz="950" dirty="0"/>
          </a:p>
        </p:txBody>
      </p:sp>
      <p:sp>
        <p:nvSpPr>
          <p:cNvPr id="43" name="Shape 39"/>
          <p:cNvSpPr/>
          <p:nvPr/>
        </p:nvSpPr>
        <p:spPr>
          <a:xfrm>
            <a:off x="6135624" y="3154680"/>
            <a:ext cx="182880" cy="0"/>
          </a:xfrm>
          <a:prstGeom prst="line">
            <a:avLst/>
          </a:prstGeom>
          <a:noFill/>
          <a:ln w="28575">
            <a:solidFill>
              <a:srgbClr val="0E7C7B"/>
            </a:solidFill>
            <a:prstDash val="solid"/>
            <a:tailEnd type="triangle"/>
          </a:ln>
        </p:spPr>
        <p:txBody>
          <a:bodyPr/>
          <a:p/>
        </p:txBody>
      </p:sp>
      <p:sp>
        <p:nvSpPr>
          <p:cNvPr id="44" name="Shape 40"/>
          <p:cNvSpPr/>
          <p:nvPr/>
        </p:nvSpPr>
        <p:spPr>
          <a:xfrm>
            <a:off x="6336792" y="1554480"/>
            <a:ext cx="2697480" cy="3401568"/>
          </a:xfrm>
          <a:prstGeom prst="roundRect">
            <a:avLst>
              <a:gd name="adj" fmla="val 2712"/>
            </a:avLst>
          </a:prstGeom>
          <a:solidFill>
            <a:srgbClr val="E4F0EF"/>
          </a:solidFill>
          <a:ln/>
        </p:spPr>
        <p:txBody>
          <a:bodyPr/>
          <a:p/>
        </p:txBody>
      </p:sp>
      <p:sp>
        <p:nvSpPr>
          <p:cNvPr id="45" name="Shape 41"/>
          <p:cNvSpPr/>
          <p:nvPr/>
        </p:nvSpPr>
        <p:spPr>
          <a:xfrm>
            <a:off x="6556248" y="1755648"/>
            <a:ext cx="457200" cy="457200"/>
          </a:xfrm>
          <a:prstGeom prst="ellipse">
            <a:avLst/>
          </a:prstGeom>
          <a:solidFill>
            <a:srgbClr val="0E7C7B"/>
          </a:solidFill>
          <a:ln/>
        </p:spPr>
        <p:txBody>
          <a:bodyPr/>
          <a:p/>
        </p:txBody>
      </p:sp>
      <p:pic>
        <p:nvPicPr>
          <p:cNvPr id="46" name="Image 2" descr="/home/user/Claude-Works/ai-training-prompt-engineering/src/assets/icons/brain_w.png">    </p:cNvPr>
          <p:cNvPicPr>
            <a:picLocks noChangeAspect="1"/>
          </p:cNvPicPr>
          <p:nvPr/>
        </p:nvPicPr>
        <p:blipFill>
          <a:blip r:embed="rId4"/>
          <a:stretch>
            <a:fillRect/>
          </a:stretch>
        </p:blipFill>
        <p:spPr>
          <a:xfrm>
            <a:off x="6675120" y="1874520"/>
            <a:ext cx="219456" cy="219456"/>
          </a:xfrm>
          <a:prstGeom prst="rect">
            <a:avLst/>
          </a:prstGeom>
        </p:spPr>
      </p:pic>
      <p:sp>
        <p:nvSpPr>
          <p:cNvPr id="47" name="Text 42"/>
          <p:cNvSpPr/>
          <p:nvPr/>
        </p:nvSpPr>
        <p:spPr>
          <a:xfrm>
            <a:off x="7123176"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Generative</a:t>
            </a:r>
            <a:endParaRPr lang="en-US" sz="1500" dirty="0"/>
          </a:p>
        </p:txBody>
      </p:sp>
      <p:sp>
        <p:nvSpPr>
          <p:cNvPr id="48" name="Text 43"/>
          <p:cNvSpPr/>
          <p:nvPr/>
        </p:nvSpPr>
        <p:spPr>
          <a:xfrm>
            <a:off x="7123176"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2017– · transformers, LLMs</a:t>
            </a:r>
            <a:endParaRPr lang="en-US" sz="900" dirty="0"/>
          </a:p>
        </p:txBody>
      </p:sp>
      <p:sp>
        <p:nvSpPr>
          <p:cNvPr id="49" name="Shape 44"/>
          <p:cNvSpPr/>
          <p:nvPr/>
        </p:nvSpPr>
        <p:spPr>
          <a:xfrm>
            <a:off x="6611112" y="2761488"/>
            <a:ext cx="502920" cy="201168"/>
          </a:xfrm>
          <a:prstGeom prst="roundRect">
            <a:avLst>
              <a:gd name="adj" fmla="val 18182"/>
            </a:avLst>
          </a:prstGeom>
          <a:solidFill>
            <a:srgbClr val="FFFFFF"/>
          </a:solidFill>
          <a:ln w="9525">
            <a:solidFill>
              <a:srgbClr val="0E7C7B"/>
            </a:solidFill>
            <a:prstDash val="solid"/>
          </a:ln>
        </p:spPr>
        <p:txBody>
          <a:bodyPr/>
          <a:p/>
        </p:txBody>
      </p:sp>
      <p:sp>
        <p:nvSpPr>
          <p:cNvPr id="50" name="Text 45"/>
          <p:cNvSpPr/>
          <p:nvPr/>
        </p:nvSpPr>
        <p:spPr>
          <a:xfrm>
            <a:off x="6611112" y="2761488"/>
            <a:ext cx="50292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The</a:t>
            </a:r>
            <a:endParaRPr lang="en-US" sz="800" dirty="0"/>
          </a:p>
        </p:txBody>
      </p:sp>
      <p:sp>
        <p:nvSpPr>
          <p:cNvPr id="51" name="Shape 46"/>
          <p:cNvSpPr/>
          <p:nvPr/>
        </p:nvSpPr>
        <p:spPr>
          <a:xfrm>
            <a:off x="7159752" y="2761488"/>
            <a:ext cx="548640" cy="201168"/>
          </a:xfrm>
          <a:prstGeom prst="roundRect">
            <a:avLst>
              <a:gd name="adj" fmla="val 18182"/>
            </a:avLst>
          </a:prstGeom>
          <a:solidFill>
            <a:srgbClr val="FFFFFF"/>
          </a:solidFill>
          <a:ln w="9525">
            <a:solidFill>
              <a:srgbClr val="0E7C7B"/>
            </a:solidFill>
            <a:prstDash val="solid"/>
          </a:ln>
        </p:spPr>
        <p:txBody>
          <a:bodyPr/>
          <a:p/>
        </p:txBody>
      </p:sp>
      <p:sp>
        <p:nvSpPr>
          <p:cNvPr id="52" name="Text 47"/>
          <p:cNvSpPr/>
          <p:nvPr/>
        </p:nvSpPr>
        <p:spPr>
          <a:xfrm>
            <a:off x="7159752" y="2761488"/>
            <a:ext cx="54864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audit</a:t>
            </a:r>
            <a:endParaRPr lang="en-US" sz="800" dirty="0"/>
          </a:p>
        </p:txBody>
      </p:sp>
      <p:sp>
        <p:nvSpPr>
          <p:cNvPr id="53" name="Shape 48"/>
          <p:cNvSpPr/>
          <p:nvPr/>
        </p:nvSpPr>
        <p:spPr>
          <a:xfrm>
            <a:off x="7754112" y="2761488"/>
            <a:ext cx="365760" cy="201168"/>
          </a:xfrm>
          <a:prstGeom prst="roundRect">
            <a:avLst>
              <a:gd name="adj" fmla="val 18182"/>
            </a:avLst>
          </a:prstGeom>
          <a:solidFill>
            <a:srgbClr val="FFFFFF"/>
          </a:solidFill>
          <a:ln w="9525">
            <a:solidFill>
              <a:srgbClr val="0E7C7B"/>
            </a:solidFill>
            <a:prstDash val="solid"/>
          </a:ln>
        </p:spPr>
        <p:txBody>
          <a:bodyPr/>
          <a:p/>
        </p:txBody>
      </p:sp>
      <p:sp>
        <p:nvSpPr>
          <p:cNvPr id="54" name="Text 49"/>
          <p:cNvSpPr/>
          <p:nvPr/>
        </p:nvSpPr>
        <p:spPr>
          <a:xfrm>
            <a:off x="7754112" y="2761488"/>
            <a:ext cx="365760"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is</a:t>
            </a:r>
            <a:endParaRPr lang="en-US" sz="800" dirty="0"/>
          </a:p>
        </p:txBody>
      </p:sp>
      <p:sp>
        <p:nvSpPr>
          <p:cNvPr id="55" name="Shape 50"/>
          <p:cNvSpPr/>
          <p:nvPr/>
        </p:nvSpPr>
        <p:spPr>
          <a:xfrm>
            <a:off x="8147304" y="2862072"/>
            <a:ext cx="228600" cy="0"/>
          </a:xfrm>
          <a:prstGeom prst="line">
            <a:avLst/>
          </a:prstGeom>
          <a:noFill/>
          <a:ln w="15875">
            <a:solidFill>
              <a:srgbClr val="0E7C7B"/>
            </a:solidFill>
            <a:prstDash val="solid"/>
            <a:tailEnd type="triangle"/>
          </a:ln>
        </p:spPr>
        <p:txBody>
          <a:bodyPr/>
          <a:p/>
        </p:txBody>
      </p:sp>
      <p:sp>
        <p:nvSpPr>
          <p:cNvPr id="56" name="Shape 51"/>
          <p:cNvSpPr/>
          <p:nvPr/>
        </p:nvSpPr>
        <p:spPr>
          <a:xfrm>
            <a:off x="8421624" y="2761488"/>
            <a:ext cx="384048" cy="201168"/>
          </a:xfrm>
          <a:prstGeom prst="roundRect">
            <a:avLst>
              <a:gd name="adj" fmla="val 18182"/>
            </a:avLst>
          </a:prstGeom>
          <a:solidFill>
            <a:srgbClr val="0E7C7B"/>
          </a:solidFill>
          <a:ln/>
        </p:spPr>
        <p:txBody>
          <a:bodyPr/>
          <a:p/>
        </p:txBody>
      </p:sp>
      <p:sp>
        <p:nvSpPr>
          <p:cNvPr id="57" name="Text 52"/>
          <p:cNvSpPr/>
          <p:nvPr/>
        </p:nvSpPr>
        <p:spPr>
          <a:xfrm>
            <a:off x="8421624" y="2761488"/>
            <a:ext cx="38404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58" name="Text 53"/>
          <p:cNvSpPr/>
          <p:nvPr/>
        </p:nvSpPr>
        <p:spPr>
          <a:xfrm>
            <a:off x="6556248"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The Transformer (2017) lets models train on the whole internet. Predict-the-next-word at that scale writes, summarizes, codes.</a:t>
            </a:r>
            <a:endParaRPr lang="en-US" sz="1050" dirty="0"/>
          </a:p>
        </p:txBody>
      </p:sp>
      <p:sp>
        <p:nvSpPr>
          <p:cNvPr id="59" name="Text 54"/>
          <p:cNvSpPr/>
          <p:nvPr/>
        </p:nvSpPr>
        <p:spPr>
          <a:xfrm>
            <a:off x="6556248"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Gave us: ChatGPT (2022), image generators — AI everyone can talk to.</a:t>
            </a:r>
            <a:endParaRPr lang="en-US" sz="950" dirty="0"/>
          </a:p>
        </p:txBody>
      </p:sp>
      <p:sp>
        <p:nvSpPr>
          <p:cNvPr id="60" name="Shape 55"/>
          <p:cNvSpPr/>
          <p:nvPr/>
        </p:nvSpPr>
        <p:spPr>
          <a:xfrm>
            <a:off x="9052560" y="3154680"/>
            <a:ext cx="182880" cy="0"/>
          </a:xfrm>
          <a:prstGeom prst="line">
            <a:avLst/>
          </a:prstGeom>
          <a:noFill/>
          <a:ln w="28575">
            <a:solidFill>
              <a:srgbClr val="0E7C7B"/>
            </a:solidFill>
            <a:prstDash val="solid"/>
            <a:tailEnd type="triangle"/>
          </a:ln>
        </p:spPr>
        <p:txBody>
          <a:bodyPr/>
          <a:p/>
        </p:txBody>
      </p:sp>
      <p:sp>
        <p:nvSpPr>
          <p:cNvPr id="61" name="Shape 56"/>
          <p:cNvSpPr/>
          <p:nvPr/>
        </p:nvSpPr>
        <p:spPr>
          <a:xfrm>
            <a:off x="9253728" y="1554480"/>
            <a:ext cx="2697480" cy="3401568"/>
          </a:xfrm>
          <a:prstGeom prst="roundRect">
            <a:avLst>
              <a:gd name="adj" fmla="val 2712"/>
            </a:avLst>
          </a:prstGeom>
          <a:solidFill>
            <a:srgbClr val="E4F0EF"/>
          </a:solidFill>
          <a:ln/>
        </p:spPr>
        <p:txBody>
          <a:bodyPr/>
          <a:p/>
        </p:txBody>
      </p:sp>
      <p:sp>
        <p:nvSpPr>
          <p:cNvPr id="62" name="Shape 57"/>
          <p:cNvSpPr/>
          <p:nvPr/>
        </p:nvSpPr>
        <p:spPr>
          <a:xfrm>
            <a:off x="9473184" y="1755648"/>
            <a:ext cx="457200" cy="457200"/>
          </a:xfrm>
          <a:prstGeom prst="ellipse">
            <a:avLst/>
          </a:prstGeom>
          <a:solidFill>
            <a:srgbClr val="0E7C7B"/>
          </a:solidFill>
          <a:ln/>
        </p:spPr>
        <p:txBody>
          <a:bodyPr/>
          <a:p/>
        </p:txBody>
      </p:sp>
      <p:pic>
        <p:nvPicPr>
          <p:cNvPr id="63" name="Image 3" descr="/home/user/Claude-Works/ai-training-prompt-engineering/src/assets/icons/robot_w.png">    </p:cNvPr>
          <p:cNvPicPr>
            <a:picLocks noChangeAspect="1"/>
          </p:cNvPicPr>
          <p:nvPr/>
        </p:nvPicPr>
        <p:blipFill>
          <a:blip r:embed="rId5"/>
          <a:stretch>
            <a:fillRect/>
          </a:stretch>
        </p:blipFill>
        <p:spPr>
          <a:xfrm>
            <a:off x="9592056" y="1874520"/>
            <a:ext cx="219456" cy="219456"/>
          </a:xfrm>
          <a:prstGeom prst="rect">
            <a:avLst/>
          </a:prstGeom>
        </p:spPr>
      </p:pic>
      <p:sp>
        <p:nvSpPr>
          <p:cNvPr id="64" name="Text 58"/>
          <p:cNvSpPr/>
          <p:nvPr/>
        </p:nvSpPr>
        <p:spPr>
          <a:xfrm>
            <a:off x="10040112" y="1773936"/>
            <a:ext cx="187452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Agentic</a:t>
            </a:r>
            <a:endParaRPr lang="en-US" sz="1500" dirty="0"/>
          </a:p>
        </p:txBody>
      </p:sp>
      <p:sp>
        <p:nvSpPr>
          <p:cNvPr id="65" name="Text 59"/>
          <p:cNvSpPr/>
          <p:nvPr/>
        </p:nvSpPr>
        <p:spPr>
          <a:xfrm>
            <a:off x="10040112" y="2075688"/>
            <a:ext cx="1874520" cy="384048"/>
          </a:xfrm>
          <a:prstGeom prst="rect">
            <a:avLst/>
          </a:prstGeom>
          <a:noFill/>
          <a:ln/>
        </p:spPr>
        <p:txBody>
          <a:bodyPr wrap="square" lIns="0" tIns="0" rIns="0" bIns="0" rtlCol="0" anchor="ctr"/>
          <a:lstStyle/>
          <a:p>
            <a:pPr indent="0" marL="0">
              <a:lnSpc>
                <a:spcPct val="98000"/>
              </a:lnSpc>
              <a:buNone/>
            </a:pPr>
            <a:r>
              <a:rPr lang="en-US" sz="900" b="1" dirty="0">
                <a:solidFill>
                  <a:srgbClr val="7A8790"/>
                </a:solidFill>
                <a:latin typeface="Calibri" pitchFamily="34" charset="0"/>
                <a:ea typeface="Calibri" pitchFamily="34" charset="-122"/>
                <a:cs typeface="Calibri" pitchFamily="34" charset="-120"/>
              </a:rPr>
              <a:t>2024– · reasoning models, tool use</a:t>
            </a:r>
            <a:endParaRPr lang="en-US" sz="900" dirty="0"/>
          </a:p>
        </p:txBody>
      </p:sp>
      <p:sp>
        <p:nvSpPr>
          <p:cNvPr id="66" name="Shape 60"/>
          <p:cNvSpPr/>
          <p:nvPr/>
        </p:nvSpPr>
        <p:spPr>
          <a:xfrm>
            <a:off x="9528048" y="2651760"/>
            <a:ext cx="621792" cy="201168"/>
          </a:xfrm>
          <a:prstGeom prst="roundRect">
            <a:avLst>
              <a:gd name="adj" fmla="val 18182"/>
            </a:avLst>
          </a:prstGeom>
          <a:solidFill>
            <a:srgbClr val="FFFFFF"/>
          </a:solidFill>
          <a:ln w="9525">
            <a:solidFill>
              <a:srgbClr val="0E7C7B"/>
            </a:solidFill>
            <a:prstDash val="solid"/>
          </a:ln>
        </p:spPr>
        <p:txBody>
          <a:bodyPr/>
          <a:p/>
        </p:txBody>
      </p:sp>
      <p:sp>
        <p:nvSpPr>
          <p:cNvPr id="67" name="Text 61"/>
          <p:cNvSpPr/>
          <p:nvPr/>
        </p:nvSpPr>
        <p:spPr>
          <a:xfrm>
            <a:off x="9528048" y="2651760"/>
            <a:ext cx="621792"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PLAN</a:t>
            </a:r>
            <a:endParaRPr lang="en-US" sz="800" dirty="0"/>
          </a:p>
        </p:txBody>
      </p:sp>
      <p:sp>
        <p:nvSpPr>
          <p:cNvPr id="68" name="Shape 62"/>
          <p:cNvSpPr/>
          <p:nvPr/>
        </p:nvSpPr>
        <p:spPr>
          <a:xfrm>
            <a:off x="10314432" y="2651760"/>
            <a:ext cx="566928" cy="201168"/>
          </a:xfrm>
          <a:prstGeom prst="roundRect">
            <a:avLst>
              <a:gd name="adj" fmla="val 18182"/>
            </a:avLst>
          </a:prstGeom>
          <a:solidFill>
            <a:srgbClr val="FFFFFF"/>
          </a:solidFill>
          <a:ln w="9525">
            <a:solidFill>
              <a:srgbClr val="0E7C7B"/>
            </a:solidFill>
            <a:prstDash val="solid"/>
          </a:ln>
        </p:spPr>
        <p:txBody>
          <a:bodyPr/>
          <a:p/>
        </p:txBody>
      </p:sp>
      <p:sp>
        <p:nvSpPr>
          <p:cNvPr id="69" name="Text 63"/>
          <p:cNvSpPr/>
          <p:nvPr/>
        </p:nvSpPr>
        <p:spPr>
          <a:xfrm>
            <a:off x="10314432" y="2651760"/>
            <a:ext cx="566928"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ACT</a:t>
            </a:r>
            <a:endParaRPr lang="en-US" sz="800" dirty="0"/>
          </a:p>
        </p:txBody>
      </p:sp>
      <p:sp>
        <p:nvSpPr>
          <p:cNvPr id="70" name="Shape 64"/>
          <p:cNvSpPr/>
          <p:nvPr/>
        </p:nvSpPr>
        <p:spPr>
          <a:xfrm>
            <a:off x="11045952" y="2651760"/>
            <a:ext cx="676656" cy="201168"/>
          </a:xfrm>
          <a:prstGeom prst="roundRect">
            <a:avLst>
              <a:gd name="adj" fmla="val 18182"/>
            </a:avLst>
          </a:prstGeom>
          <a:solidFill>
            <a:srgbClr val="FFFFFF"/>
          </a:solidFill>
          <a:ln w="9525">
            <a:solidFill>
              <a:srgbClr val="0E7C7B"/>
            </a:solidFill>
            <a:prstDash val="solid"/>
          </a:ln>
        </p:spPr>
        <p:txBody>
          <a:bodyPr/>
          <a:p/>
        </p:txBody>
      </p:sp>
      <p:sp>
        <p:nvSpPr>
          <p:cNvPr id="71" name="Text 65"/>
          <p:cNvSpPr/>
          <p:nvPr/>
        </p:nvSpPr>
        <p:spPr>
          <a:xfrm>
            <a:off x="11045952" y="2651760"/>
            <a:ext cx="676656" cy="201168"/>
          </a:xfrm>
          <a:prstGeom prst="rect">
            <a:avLst/>
          </a:prstGeom>
          <a:noFill/>
          <a:ln/>
        </p:spPr>
        <p:txBody>
          <a:bodyPr wrap="square" lIns="0" tIns="0" rIns="0" bIns="0" rtlCol="0" anchor="ctr"/>
          <a:lstStyle/>
          <a:p>
            <a:pPr algn="ctr" indent="0" marL="0">
              <a:buNone/>
            </a:pPr>
            <a:r>
              <a:rPr lang="en-US" sz="800" dirty="0">
                <a:solidFill>
                  <a:srgbClr val="0A5B5A"/>
                </a:solidFill>
                <a:latin typeface="Calibri" pitchFamily="34" charset="0"/>
                <a:ea typeface="Calibri" pitchFamily="34" charset="-122"/>
                <a:cs typeface="Calibri" pitchFamily="34" charset="-120"/>
              </a:rPr>
              <a:t>CHECK</a:t>
            </a:r>
            <a:endParaRPr lang="en-US" sz="800" dirty="0"/>
          </a:p>
        </p:txBody>
      </p:sp>
      <p:sp>
        <p:nvSpPr>
          <p:cNvPr id="72" name="Shape 66"/>
          <p:cNvSpPr/>
          <p:nvPr/>
        </p:nvSpPr>
        <p:spPr>
          <a:xfrm>
            <a:off x="10168128" y="2752344"/>
            <a:ext cx="128016" cy="0"/>
          </a:xfrm>
          <a:prstGeom prst="line">
            <a:avLst/>
          </a:prstGeom>
          <a:noFill/>
          <a:ln w="12700">
            <a:solidFill>
              <a:srgbClr val="0E7C7B"/>
            </a:solidFill>
            <a:prstDash val="solid"/>
            <a:tailEnd type="triangle"/>
          </a:ln>
        </p:spPr>
        <p:txBody>
          <a:bodyPr/>
          <a:p/>
        </p:txBody>
      </p:sp>
      <p:sp>
        <p:nvSpPr>
          <p:cNvPr id="73" name="Shape 67"/>
          <p:cNvSpPr/>
          <p:nvPr/>
        </p:nvSpPr>
        <p:spPr>
          <a:xfrm>
            <a:off x="10899648" y="2752344"/>
            <a:ext cx="128016" cy="0"/>
          </a:xfrm>
          <a:prstGeom prst="line">
            <a:avLst/>
          </a:prstGeom>
          <a:noFill/>
          <a:ln w="12700">
            <a:solidFill>
              <a:srgbClr val="0E7C7B"/>
            </a:solidFill>
            <a:prstDash val="solid"/>
            <a:tailEnd type="triangle"/>
          </a:ln>
        </p:spPr>
        <p:txBody>
          <a:bodyPr/>
          <a:p/>
        </p:txBody>
      </p:sp>
      <p:sp>
        <p:nvSpPr>
          <p:cNvPr id="74" name="Shape 68"/>
          <p:cNvSpPr/>
          <p:nvPr/>
        </p:nvSpPr>
        <p:spPr>
          <a:xfrm>
            <a:off x="9838944" y="3017520"/>
            <a:ext cx="1572768" cy="0"/>
          </a:xfrm>
          <a:prstGeom prst="line">
            <a:avLst/>
          </a:prstGeom>
          <a:noFill/>
          <a:ln w="12700">
            <a:solidFill>
              <a:srgbClr val="0E7C7B"/>
            </a:solidFill>
            <a:prstDash val="solid"/>
            <a:headEnd type="triangle"/>
          </a:ln>
        </p:spPr>
        <p:txBody>
          <a:bodyPr/>
          <a:p/>
        </p:txBody>
      </p:sp>
      <p:sp>
        <p:nvSpPr>
          <p:cNvPr id="75" name="Text 69"/>
          <p:cNvSpPr/>
          <p:nvPr/>
        </p:nvSpPr>
        <p:spPr>
          <a:xfrm>
            <a:off x="9473184" y="3218688"/>
            <a:ext cx="2286000" cy="1078992"/>
          </a:xfrm>
          <a:prstGeom prst="rect">
            <a:avLst/>
          </a:prstGeom>
          <a:noFill/>
          <a:ln/>
        </p:spPr>
        <p:txBody>
          <a:bodyPr wrap="square" lIns="0" tIns="0" rIns="0" bIns="0" rtlCol="0" anchor="ctr"/>
          <a:lstStyle/>
          <a:p>
            <a:pPr indent="0" marL="0">
              <a:lnSpc>
                <a:spcPct val="105000"/>
              </a:lnSpc>
              <a:buNone/>
            </a:pPr>
            <a:r>
              <a:rPr lang="en-US" sz="1050" dirty="0">
                <a:solidFill>
                  <a:srgbClr val="46545F"/>
                </a:solidFill>
                <a:latin typeface="Calibri" pitchFamily="34" charset="0"/>
                <a:ea typeface="Calibri" pitchFamily="34" charset="-122"/>
                <a:cs typeface="Calibri" pitchFamily="34" charset="-120"/>
              </a:rPr>
              <a:t>Models get “arms”: tools, browsers, files, code. Reasoning models plan multi-step work; agents execute with limited supervision.</a:t>
            </a:r>
            <a:endParaRPr lang="en-US" sz="1050" dirty="0"/>
          </a:p>
        </p:txBody>
      </p:sp>
      <p:sp>
        <p:nvSpPr>
          <p:cNvPr id="76" name="Text 70"/>
          <p:cNvSpPr/>
          <p:nvPr/>
        </p:nvSpPr>
        <p:spPr>
          <a:xfrm>
            <a:off x="9473184" y="4315968"/>
            <a:ext cx="2286000" cy="603504"/>
          </a:xfrm>
          <a:prstGeom prst="rect">
            <a:avLst/>
          </a:prstGeom>
          <a:noFill/>
          <a:ln/>
        </p:spPr>
        <p:txBody>
          <a:bodyPr wrap="square" lIns="0" tIns="0" rIns="0" bIns="0" rtlCol="0" anchor="ctr"/>
          <a:lstStyle/>
          <a:p>
            <a:pPr indent="0" marL="0">
              <a:lnSpc>
                <a:spcPct val="102000"/>
              </a:lnSpc>
              <a:buNone/>
            </a:pPr>
            <a:r>
              <a:rPr lang="en-US" sz="950" i="1" dirty="0">
                <a:solidFill>
                  <a:srgbClr val="0A5B5A"/>
                </a:solidFill>
                <a:latin typeface="Calibri" pitchFamily="34" charset="0"/>
                <a:ea typeface="Calibri" pitchFamily="34" charset="-122"/>
                <a:cs typeface="Calibri" pitchFamily="34" charset="-120"/>
              </a:rPr>
              <a:t>Giving us: coding agents, office agents, deep-research modes — AI you delegate to.</a:t>
            </a:r>
            <a:endParaRPr lang="en-US" sz="950" dirty="0"/>
          </a:p>
        </p:txBody>
      </p:sp>
      <p:sp>
        <p:nvSpPr>
          <p:cNvPr id="77" name="Shape 71"/>
          <p:cNvSpPr/>
          <p:nvPr/>
        </p:nvSpPr>
        <p:spPr>
          <a:xfrm>
            <a:off x="502920" y="5120640"/>
            <a:ext cx="11155680" cy="960120"/>
          </a:xfrm>
          <a:prstGeom prst="roundRect">
            <a:avLst>
              <a:gd name="adj" fmla="val 7619"/>
            </a:avLst>
          </a:prstGeom>
          <a:solidFill>
            <a:srgbClr val="FBF0E0"/>
          </a:solidFill>
          <a:ln/>
        </p:spPr>
        <p:txBody>
          <a:bodyPr/>
          <a:p/>
        </p:txBody>
      </p:sp>
      <p:sp>
        <p:nvSpPr>
          <p:cNvPr id="78" name="Shape 72"/>
          <p:cNvSpPr/>
          <p:nvPr/>
        </p:nvSpPr>
        <p:spPr>
          <a:xfrm>
            <a:off x="667512" y="5408676"/>
            <a:ext cx="384048" cy="384048"/>
          </a:xfrm>
          <a:prstGeom prst="ellipse">
            <a:avLst/>
          </a:prstGeom>
          <a:solidFill>
            <a:srgbClr val="B96A1B"/>
          </a:solidFill>
          <a:ln/>
        </p:spPr>
        <p:txBody>
          <a:bodyPr/>
          <a:p/>
        </p:txBody>
      </p:sp>
      <p:pic>
        <p:nvPicPr>
          <p:cNvPr id="79" name="Image 4" descr="/home/user/Claude-Works/ai-training-prompt-engineering/src/assets/icons/trend_w.png">    </p:cNvPr>
          <p:cNvPicPr>
            <a:picLocks noChangeAspect="1"/>
          </p:cNvPicPr>
          <p:nvPr/>
        </p:nvPicPr>
        <p:blipFill>
          <a:blip r:embed="rId6"/>
          <a:stretch>
            <a:fillRect/>
          </a:stretch>
        </p:blipFill>
        <p:spPr>
          <a:xfrm>
            <a:off x="767364" y="5508528"/>
            <a:ext cx="184343" cy="184343"/>
          </a:xfrm>
          <a:prstGeom prst="rect">
            <a:avLst/>
          </a:prstGeom>
        </p:spPr>
      </p:pic>
      <p:sp>
        <p:nvSpPr>
          <p:cNvPr id="80" name="Text 73"/>
          <p:cNvSpPr/>
          <p:nvPr/>
        </p:nvSpPr>
        <p:spPr>
          <a:xfrm>
            <a:off x="1216152" y="5193792"/>
            <a:ext cx="10213848" cy="813816"/>
          </a:xfrm>
          <a:prstGeom prst="rect">
            <a:avLst/>
          </a:prstGeom>
          <a:noFill/>
          <a:ln/>
        </p:spPr>
        <p:txBody>
          <a:bodyPr wrap="square" lIns="0" tIns="0" rIns="0" bIns="0" rtlCol="0" anchor="ctr"/>
          <a:lstStyle/>
          <a:p>
            <a:pPr indent="0" marL="0">
              <a:lnSpc>
                <a:spcPct val="106000"/>
              </a:lnSpc>
              <a:buNone/>
            </a:pPr>
            <a:r>
              <a:rPr lang="en-US" sz="1250" b="1" dirty="0">
                <a:solidFill>
                  <a:srgbClr val="232A31"/>
                </a:solidFill>
                <a:latin typeface="Calibri" pitchFamily="34" charset="0"/>
                <a:ea typeface="Calibri" pitchFamily="34" charset="-122"/>
                <a:cs typeface="Calibri" pitchFamily="34" charset="-120"/>
              </a:rPr>
              <a:t>Why the last decade exploded — scaling laws (2020): </a:t>
            </a:r>
            <a:pPr indent="0" marL="0">
              <a:lnSpc>
                <a:spcPct val="106000"/>
              </a:lnSpc>
              <a:buNone/>
            </a:pPr>
            <a:r>
              <a:rPr lang="en-US" sz="1250" dirty="0">
                <a:solidFill>
                  <a:srgbClr val="46545F"/>
                </a:solidFill>
                <a:latin typeface="Calibri" pitchFamily="34" charset="0"/>
                <a:ea typeface="Calibri" pitchFamily="34" charset="-122"/>
                <a:cs typeface="Calibri" pitchFamily="34" charset="-120"/>
              </a:rPr>
              <a:t>bigger model + more data + more compute = predictably better results. Progress stopped being a research gamble and became an investment roadmap.</a:t>
            </a:r>
            <a:endParaRPr lang="en-US" sz="1250" dirty="0"/>
          </a:p>
        </p:txBody>
      </p:sp>
      <p:sp>
        <p:nvSpPr>
          <p:cNvPr id="81"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83"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slides 4–5</a:t>
            </a:r>
          </a:p>
        </p:txBody>
      </p:sp>
      <p:sp>
        <p:nvSpPr>
          <p:cNvPr id="84"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WHY AI HAPPENED NOW</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The hardware story — chips, Nvidia, data centers</a:t>
            </a:r>
            <a:endParaRPr lang="en-US" sz="3000" dirty="0"/>
          </a:p>
        </p:txBody>
      </p:sp>
      <p:sp>
        <p:nvSpPr>
          <p:cNvPr id="6" name="Shape 4"/>
          <p:cNvSpPr/>
          <p:nvPr/>
        </p:nvSpPr>
        <p:spPr>
          <a:xfrm>
            <a:off x="502920" y="1481328"/>
            <a:ext cx="3291840" cy="2084832"/>
          </a:xfrm>
          <a:prstGeom prst="roundRect">
            <a:avLst>
              <a:gd name="adj" fmla="val 3509"/>
            </a:avLst>
          </a:prstGeom>
          <a:solidFill>
            <a:srgbClr val="F2F5F6"/>
          </a:solidFill>
          <a:ln/>
        </p:spPr>
        <p:txBody>
          <a:bodyPr/>
          <a:p/>
        </p:txBody>
      </p:sp>
      <p:sp>
        <p:nvSpPr>
          <p:cNvPr id="7" name="Text 5"/>
          <p:cNvSpPr/>
          <p:nvPr/>
        </p:nvSpPr>
        <p:spPr>
          <a:xfrm>
            <a:off x="731520" y="160934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① A 60-year tailwind</a:t>
            </a:r>
            <a:endParaRPr lang="en-US" sz="1350" dirty="0"/>
          </a:p>
        </p:txBody>
      </p:sp>
      <p:sp>
        <p:nvSpPr>
          <p:cNvPr id="8" name="Text 6"/>
          <p:cNvSpPr/>
          <p:nvPr/>
        </p:nvSpPr>
        <p:spPr>
          <a:xfrm>
            <a:off x="731520" y="193852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Moore’s law (1965):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chips double their transistors every ~2 years.</a:t>
            </a:r>
            <a:endParaRPr lang="en-US" sz="1100" dirty="0"/>
          </a:p>
          <a:p>
            <a:pPr indent="0" marL="0">
              <a:lnSpc>
                <a:spcPct val="106000"/>
              </a:lnSpc>
              <a:spcAft>
                <a:spcPts val="400"/>
              </a:spcAft>
              <a:buNone/>
            </a:pPr>
            <a:r>
              <a:rPr lang="en-US" sz="1150" b="1" dirty="0">
                <a:solidFill>
                  <a:srgbClr val="0A5B5A"/>
                </a:solidFill>
                <a:latin typeface="Calibri" pitchFamily="34" charset="0"/>
                <a:ea typeface="Calibri" pitchFamily="34" charset="-122"/>
                <a:cs typeface="Calibri" pitchFamily="34" charset="-120"/>
              </a:rPr>
              <a:t>1971: 2,300 → 2024: 208 billion</a:t>
            </a:r>
            <a:endParaRPr lang="en-US" sz="1100" dirty="0"/>
          </a:p>
          <a:p>
            <a:pPr indent="0" marL="0">
              <a:lnSpc>
                <a:spcPct val="106000"/>
              </a:lnSpc>
              <a:buNone/>
            </a:pPr>
            <a:r>
              <a:rPr lang="en-US" sz="1000" i="1" dirty="0">
                <a:solidFill>
                  <a:srgbClr val="46545F"/>
                </a:solidFill>
                <a:latin typeface="Calibri" pitchFamily="34" charset="0"/>
                <a:ea typeface="Calibri" pitchFamily="34" charset="-122"/>
                <a:cs typeface="Calibri" pitchFamily="34" charset="-120"/>
              </a:rPr>
              <a:t>2026 status: slowing to ~3-year doublings — not dead, no longer enough alone.</a:t>
            </a:r>
            <a:endParaRPr lang="en-US" sz="1100" dirty="0"/>
          </a:p>
        </p:txBody>
      </p:sp>
      <p:sp>
        <p:nvSpPr>
          <p:cNvPr id="9" name="Shape 7"/>
          <p:cNvSpPr/>
          <p:nvPr/>
        </p:nvSpPr>
        <p:spPr>
          <a:xfrm>
            <a:off x="502920" y="3675888"/>
            <a:ext cx="3291840" cy="2084832"/>
          </a:xfrm>
          <a:prstGeom prst="roundRect">
            <a:avLst>
              <a:gd name="adj" fmla="val 3509"/>
            </a:avLst>
          </a:prstGeom>
          <a:solidFill>
            <a:srgbClr val="E4F0EF"/>
          </a:solidFill>
          <a:ln/>
        </p:spPr>
        <p:txBody>
          <a:bodyPr/>
          <a:p/>
        </p:txBody>
      </p:sp>
      <p:sp>
        <p:nvSpPr>
          <p:cNvPr id="10" name="Text 8"/>
          <p:cNvSpPr/>
          <p:nvPr/>
        </p:nvSpPr>
        <p:spPr>
          <a:xfrm>
            <a:off x="731520" y="3803904"/>
            <a:ext cx="283464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② The accident</a:t>
            </a:r>
            <a:endParaRPr lang="en-US" sz="1350" dirty="0"/>
          </a:p>
        </p:txBody>
      </p:sp>
      <p:sp>
        <p:nvSpPr>
          <p:cNvPr id="11" name="Text 9"/>
          <p:cNvSpPr/>
          <p:nvPr/>
        </p:nvSpPr>
        <p:spPr>
          <a:xfrm>
            <a:off x="731520" y="4133088"/>
            <a:ext cx="2834640" cy="1554480"/>
          </a:xfrm>
          <a:prstGeom prst="rect">
            <a:avLst/>
          </a:prstGeom>
          <a:noFill/>
          <a:ln/>
        </p:spPr>
        <p:txBody>
          <a:bodyPr wrap="square" lIns="0" tIns="0" rIns="0" bIns="0" rtlCol="0" anchor="ctr"/>
          <a:lstStyle/>
          <a:p>
            <a:pPr indent="0" marL="0">
              <a:lnSpc>
                <a:spcPct val="106000"/>
              </a:lnSpc>
              <a:buNone/>
            </a:pPr>
            <a:r>
              <a:rPr lang="en-US" sz="1100" b="1" dirty="0">
                <a:solidFill>
                  <a:srgbClr val="232A31"/>
                </a:solidFill>
                <a:latin typeface="Calibri" pitchFamily="34" charset="0"/>
                <a:ea typeface="Calibri" pitchFamily="34" charset="-122"/>
                <a:cs typeface="Calibri" pitchFamily="34" charset="-120"/>
              </a:rPr>
              <a:t>Gaming chips WERE AI chips: </a:t>
            </a:r>
            <a:pPr indent="0" marL="0">
              <a:lnSpc>
                <a:spcPct val="106000"/>
              </a:lnSpc>
              <a:spcAft>
                <a:spcPts val="400"/>
              </a:spcAft>
              <a:buNone/>
            </a:pPr>
            <a:r>
              <a:rPr lang="en-US" sz="1100" dirty="0">
                <a:solidFill>
                  <a:srgbClr val="46545F"/>
                </a:solidFill>
                <a:latin typeface="Calibri" pitchFamily="34" charset="0"/>
                <a:ea typeface="Calibri" pitchFamily="34" charset="-122"/>
                <a:cs typeface="Calibri" pitchFamily="34" charset="-120"/>
              </a:rPr>
              <a:t>both need millions of tiny calculations at once.</a:t>
            </a:r>
            <a:endParaRPr lang="en-US" sz="1100" dirty="0"/>
          </a:p>
          <a:p>
            <a:pPr indent="0" marL="0">
              <a:lnSpc>
                <a:spcPct val="106000"/>
              </a:lnSpc>
              <a:spcAft>
                <a:spcPts val="400"/>
              </a:spcAft>
              <a:buNone/>
            </a:pPr>
            <a:r>
              <a:rPr lang="en-US" sz="1050" dirty="0">
                <a:solidFill>
                  <a:srgbClr val="46545F"/>
                </a:solidFill>
                <a:latin typeface="Calibri" pitchFamily="34" charset="0"/>
                <a:ea typeface="Calibri" pitchFamily="34" charset="-122"/>
                <a:cs typeface="Calibri" pitchFamily="34" charset="-120"/>
              </a:rPr>
              <a:t>2006 — Nvidia’s CUDA lets anyone program a graphics card.</a:t>
            </a:r>
            <a:endParaRPr lang="en-US" sz="1100" dirty="0"/>
          </a:p>
          <a:p>
            <a:pPr indent="0" marL="0">
              <a:lnSpc>
                <a:spcPct val="106000"/>
              </a:lnSpc>
              <a:buNone/>
            </a:pPr>
            <a:r>
              <a:rPr lang="en-US" sz="1050" b="1" dirty="0">
                <a:solidFill>
                  <a:srgbClr val="232A31"/>
                </a:solidFill>
                <a:latin typeface="Calibri" pitchFamily="34" charset="0"/>
                <a:ea typeface="Calibri" pitchFamily="34" charset="-122"/>
                <a:cs typeface="Calibri" pitchFamily="34" charset="-120"/>
              </a:rPr>
              <a:t>2012 — AlexNet: two consumer gaming cards, six days, beats 30 years of hand-built AI.</a:t>
            </a:r>
            <a:endParaRPr lang="en-US" sz="1100" dirty="0"/>
          </a:p>
        </p:txBody>
      </p:sp>
      <p:sp>
        <p:nvSpPr>
          <p:cNvPr id="12" name="Shape 10"/>
          <p:cNvSpPr/>
          <p:nvPr/>
        </p:nvSpPr>
        <p:spPr>
          <a:xfrm>
            <a:off x="3931920" y="1481328"/>
            <a:ext cx="4160520" cy="4279392"/>
          </a:xfrm>
          <a:prstGeom prst="roundRect">
            <a:avLst>
              <a:gd name="adj" fmla="val 1758"/>
            </a:avLst>
          </a:prstGeom>
          <a:solidFill>
            <a:srgbClr val="F2F5F6"/>
          </a:solidFill>
          <a:ln/>
        </p:spPr>
        <p:txBody>
          <a:bodyPr/>
          <a:p/>
        </p:txBody>
      </p:sp>
      <p:sp>
        <p:nvSpPr>
          <p:cNvPr id="13" name="Text 11"/>
          <p:cNvSpPr/>
          <p:nvPr/>
        </p:nvSpPr>
        <p:spPr>
          <a:xfrm>
            <a:off x="4160520" y="1609344"/>
            <a:ext cx="3749040" cy="292608"/>
          </a:xfrm>
          <a:prstGeom prst="rect">
            <a:avLst/>
          </a:prstGeom>
          <a:noFill/>
          <a:ln/>
        </p:spPr>
        <p:txBody>
          <a:bodyPr wrap="square" lIns="0" tIns="0" rIns="0" bIns="0" rtlCol="0" anchor="ctr"/>
          <a:lstStyle/>
          <a:p>
            <a:pPr indent="0" marL="0">
              <a:buNone/>
            </a:pPr>
            <a:r>
              <a:rPr lang="en-US" sz="1350" b="1" dirty="0">
                <a:solidFill>
                  <a:srgbClr val="232A31"/>
                </a:solidFill>
                <a:latin typeface="Cambria" pitchFamily="34" charset="0"/>
                <a:ea typeface="Cambria" pitchFamily="34" charset="-122"/>
                <a:cs typeface="Cambria" pitchFamily="34" charset="-120"/>
              </a:rPr>
              <a:t>③ Moore’s pace vs AI’s appetite</a:t>
            </a:r>
            <a:endParaRPr lang="en-US" sz="1350" dirty="0"/>
          </a:p>
        </p:txBody>
      </p:sp>
      <p:sp>
        <p:nvSpPr>
          <p:cNvPr id="14" name="Text 12"/>
          <p:cNvSpPr/>
          <p:nvPr/>
        </p:nvSpPr>
        <p:spPr>
          <a:xfrm>
            <a:off x="4160520" y="1901952"/>
            <a:ext cx="3794760" cy="384048"/>
          </a:xfrm>
          <a:prstGeom prst="rect">
            <a:avLst/>
          </a:prstGeom>
          <a:noFill/>
          <a:ln/>
        </p:spPr>
        <p:txBody>
          <a:bodyPr wrap="square" lIns="0" tIns="0" rIns="0" bIns="0" rtlCol="0" anchor="ctr"/>
          <a:lstStyle/>
          <a:p>
            <a:pPr indent="0" marL="0">
              <a:lnSpc>
                <a:spcPct val="98000"/>
              </a:lnSpc>
              <a:buNone/>
            </a:pPr>
            <a:r>
              <a:rPr lang="en-US" sz="1000" dirty="0">
                <a:solidFill>
                  <a:srgbClr val="46545F"/>
                </a:solidFill>
                <a:latin typeface="Calibri" pitchFamily="34" charset="0"/>
                <a:ea typeface="Calibri" pitchFamily="34" charset="-122"/>
                <a:cs typeface="Calibri" pitchFamily="34" charset="-120"/>
              </a:rPr>
              <a:t>Y axis: training compute per model, in FLOP (one FLOP = one arithmetic operation) — log scale</a:t>
            </a:r>
            <a:endParaRPr lang="en-US" sz="1000" dirty="0"/>
          </a:p>
        </p:txBody>
      </p:sp>
      <p:sp>
        <p:nvSpPr>
          <p:cNvPr id="15" name="Shape 13"/>
          <p:cNvSpPr/>
          <p:nvPr/>
        </p:nvSpPr>
        <p:spPr>
          <a:xfrm>
            <a:off x="4334256" y="4666488"/>
            <a:ext cx="54864" cy="0"/>
          </a:xfrm>
          <a:prstGeom prst="line">
            <a:avLst/>
          </a:prstGeom>
          <a:noFill/>
          <a:ln w="12700">
            <a:solidFill>
              <a:srgbClr val="7A8790"/>
            </a:solidFill>
            <a:prstDash val="solid"/>
          </a:ln>
        </p:spPr>
        <p:txBody>
          <a:bodyPr/>
          <a:p/>
        </p:txBody>
      </p:sp>
      <p:sp>
        <p:nvSpPr>
          <p:cNvPr id="16" name="Text 14"/>
          <p:cNvSpPr/>
          <p:nvPr/>
        </p:nvSpPr>
        <p:spPr>
          <a:xfrm>
            <a:off x="3931920" y="457504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10¹⁸</a:t>
            </a:r>
            <a:endParaRPr lang="en-US" sz="850" dirty="0"/>
          </a:p>
        </p:txBody>
      </p:sp>
      <p:sp>
        <p:nvSpPr>
          <p:cNvPr id="17" name="Shape 15"/>
          <p:cNvSpPr/>
          <p:nvPr/>
        </p:nvSpPr>
        <p:spPr>
          <a:xfrm>
            <a:off x="4334256" y="3797808"/>
            <a:ext cx="54864" cy="0"/>
          </a:xfrm>
          <a:prstGeom prst="line">
            <a:avLst/>
          </a:prstGeom>
          <a:noFill/>
          <a:ln w="12700">
            <a:solidFill>
              <a:srgbClr val="7A8790"/>
            </a:solidFill>
            <a:prstDash val="solid"/>
          </a:ln>
        </p:spPr>
        <p:txBody>
          <a:bodyPr/>
          <a:p/>
        </p:txBody>
      </p:sp>
      <p:sp>
        <p:nvSpPr>
          <p:cNvPr id="18" name="Text 16"/>
          <p:cNvSpPr/>
          <p:nvPr/>
        </p:nvSpPr>
        <p:spPr>
          <a:xfrm>
            <a:off x="3931920" y="370636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10²¹</a:t>
            </a:r>
            <a:endParaRPr lang="en-US" sz="850" dirty="0"/>
          </a:p>
        </p:txBody>
      </p:sp>
      <p:sp>
        <p:nvSpPr>
          <p:cNvPr id="19" name="Shape 17"/>
          <p:cNvSpPr/>
          <p:nvPr/>
        </p:nvSpPr>
        <p:spPr>
          <a:xfrm>
            <a:off x="4334256" y="2929128"/>
            <a:ext cx="54864" cy="0"/>
          </a:xfrm>
          <a:prstGeom prst="line">
            <a:avLst/>
          </a:prstGeom>
          <a:noFill/>
          <a:ln w="12700">
            <a:solidFill>
              <a:srgbClr val="7A8790"/>
            </a:solidFill>
            <a:prstDash val="solid"/>
          </a:ln>
        </p:spPr>
        <p:txBody>
          <a:bodyPr/>
          <a:p/>
        </p:txBody>
      </p:sp>
      <p:sp>
        <p:nvSpPr>
          <p:cNvPr id="20" name="Text 18"/>
          <p:cNvSpPr/>
          <p:nvPr/>
        </p:nvSpPr>
        <p:spPr>
          <a:xfrm>
            <a:off x="3931920" y="2837688"/>
            <a:ext cx="384048" cy="182880"/>
          </a:xfrm>
          <a:prstGeom prst="rect">
            <a:avLst/>
          </a:prstGeom>
          <a:noFill/>
          <a:ln/>
        </p:spPr>
        <p:txBody>
          <a:bodyPr wrap="square" lIns="0" tIns="0" rIns="0" bIns="0" rtlCol="0" anchor="ctr"/>
          <a:lstStyle/>
          <a:p>
            <a:pPr algn="r" indent="0" marL="0">
              <a:buNone/>
            </a:pPr>
            <a:r>
              <a:rPr lang="en-US" sz="850" dirty="0">
                <a:solidFill>
                  <a:srgbClr val="7A8790"/>
                </a:solidFill>
                <a:latin typeface="Calibri" pitchFamily="34" charset="0"/>
                <a:ea typeface="Calibri" pitchFamily="34" charset="-122"/>
                <a:cs typeface="Calibri" pitchFamily="34" charset="-120"/>
              </a:rPr>
              <a:t>10²⁴</a:t>
            </a:r>
            <a:endParaRPr lang="en-US" sz="850" dirty="0"/>
          </a:p>
        </p:txBody>
      </p:sp>
      <p:sp>
        <p:nvSpPr>
          <p:cNvPr id="21" name="Shape 19"/>
          <p:cNvSpPr/>
          <p:nvPr/>
        </p:nvSpPr>
        <p:spPr>
          <a:xfrm flipV="1">
            <a:off x="4370832" y="4281373"/>
            <a:ext cx="3200400" cy="480670"/>
          </a:xfrm>
          <a:prstGeom prst="line">
            <a:avLst/>
          </a:prstGeom>
          <a:noFill/>
          <a:ln w="19050">
            <a:solidFill>
              <a:srgbClr val="7A8790"/>
            </a:solidFill>
            <a:prstDash val="dash"/>
          </a:ln>
        </p:spPr>
        <p:txBody>
          <a:bodyPr/>
          <a:p/>
        </p:txBody>
      </p:sp>
      <p:sp>
        <p:nvSpPr>
          <p:cNvPr id="22" name="Shape 20"/>
          <p:cNvSpPr/>
          <p:nvPr/>
        </p:nvSpPr>
        <p:spPr>
          <a:xfrm flipV="1">
            <a:off x="4370832" y="3716731"/>
            <a:ext cx="2036618" cy="1045312"/>
          </a:xfrm>
          <a:prstGeom prst="line">
            <a:avLst/>
          </a:prstGeom>
          <a:noFill/>
          <a:ln w="25400">
            <a:solidFill>
              <a:srgbClr val="0E7C7B"/>
            </a:solidFill>
            <a:prstDash val="solid"/>
          </a:ln>
        </p:spPr>
        <p:txBody>
          <a:bodyPr/>
          <a:p/>
        </p:txBody>
      </p:sp>
      <p:sp>
        <p:nvSpPr>
          <p:cNvPr id="23" name="Shape 21"/>
          <p:cNvSpPr/>
          <p:nvPr/>
        </p:nvSpPr>
        <p:spPr>
          <a:xfrm flipV="1">
            <a:off x="6407450" y="3076804"/>
            <a:ext cx="290945" cy="639928"/>
          </a:xfrm>
          <a:prstGeom prst="line">
            <a:avLst/>
          </a:prstGeom>
          <a:noFill/>
          <a:ln w="25400">
            <a:solidFill>
              <a:srgbClr val="0E7C7B"/>
            </a:solidFill>
            <a:prstDash val="solid"/>
          </a:ln>
        </p:spPr>
        <p:txBody>
          <a:bodyPr/>
          <a:p/>
        </p:txBody>
      </p:sp>
      <p:sp>
        <p:nvSpPr>
          <p:cNvPr id="24" name="Shape 22"/>
          <p:cNvSpPr/>
          <p:nvPr/>
        </p:nvSpPr>
        <p:spPr>
          <a:xfrm flipV="1">
            <a:off x="6698396" y="2546909"/>
            <a:ext cx="872836" cy="529895"/>
          </a:xfrm>
          <a:prstGeom prst="line">
            <a:avLst/>
          </a:prstGeom>
          <a:noFill/>
          <a:ln w="25400">
            <a:solidFill>
              <a:srgbClr val="0E7C7B"/>
            </a:solidFill>
            <a:prstDash val="solid"/>
          </a:ln>
        </p:spPr>
        <p:txBody>
          <a:bodyPr/>
          <a:p/>
        </p:txBody>
      </p:sp>
      <p:sp>
        <p:nvSpPr>
          <p:cNvPr id="25" name="Shape 23"/>
          <p:cNvSpPr/>
          <p:nvPr/>
        </p:nvSpPr>
        <p:spPr>
          <a:xfrm>
            <a:off x="4315968" y="4707179"/>
            <a:ext cx="109728" cy="109728"/>
          </a:xfrm>
          <a:prstGeom prst="ellipse">
            <a:avLst/>
          </a:prstGeom>
          <a:solidFill>
            <a:srgbClr val="0A5B5A"/>
          </a:solidFill>
          <a:ln/>
        </p:spPr>
        <p:txBody>
          <a:bodyPr/>
          <a:p/>
        </p:txBody>
      </p:sp>
      <p:sp>
        <p:nvSpPr>
          <p:cNvPr id="26" name="Text 24"/>
          <p:cNvSpPr/>
          <p:nvPr/>
        </p:nvSpPr>
        <p:spPr>
          <a:xfrm>
            <a:off x="4462272" y="4506011"/>
            <a:ext cx="914400" cy="201168"/>
          </a:xfrm>
          <a:prstGeom prst="rect">
            <a:avLst/>
          </a:prstGeom>
          <a:noFill/>
          <a:ln/>
        </p:spPr>
        <p:txBody>
          <a:bodyPr wrap="square" lIns="0" tIns="0" rIns="0" bIns="0" rtlCol="0" anchor="ctr"/>
          <a:lstStyle/>
          <a:p>
            <a:pPr indent="0" marL="0">
              <a:buNone/>
            </a:pPr>
            <a:r>
              <a:rPr lang="en-US" sz="850" b="1" dirty="0">
                <a:solidFill>
                  <a:srgbClr val="0A5B5A"/>
                </a:solidFill>
                <a:latin typeface="Calibri" pitchFamily="34" charset="0"/>
                <a:ea typeface="Calibri" pitchFamily="34" charset="-122"/>
                <a:cs typeface="Calibri" pitchFamily="34" charset="-120"/>
              </a:rPr>
              <a:t>AlexNet</a:t>
            </a:r>
            <a:endParaRPr lang="en-US" sz="850" dirty="0"/>
          </a:p>
        </p:txBody>
      </p:sp>
      <p:sp>
        <p:nvSpPr>
          <p:cNvPr id="27" name="Shape 25"/>
          <p:cNvSpPr/>
          <p:nvPr/>
        </p:nvSpPr>
        <p:spPr>
          <a:xfrm>
            <a:off x="6352586" y="3661867"/>
            <a:ext cx="109728" cy="109728"/>
          </a:xfrm>
          <a:prstGeom prst="ellipse">
            <a:avLst/>
          </a:prstGeom>
          <a:solidFill>
            <a:srgbClr val="0A5B5A"/>
          </a:solidFill>
          <a:ln/>
        </p:spPr>
        <p:txBody>
          <a:bodyPr/>
          <a:p/>
        </p:txBody>
      </p:sp>
      <p:sp>
        <p:nvSpPr>
          <p:cNvPr id="28" name="Text 26"/>
          <p:cNvSpPr/>
          <p:nvPr/>
        </p:nvSpPr>
        <p:spPr>
          <a:xfrm>
            <a:off x="5538770" y="3442411"/>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GPT-2</a:t>
            </a:r>
            <a:endParaRPr lang="en-US" sz="850" dirty="0"/>
          </a:p>
        </p:txBody>
      </p:sp>
      <p:sp>
        <p:nvSpPr>
          <p:cNvPr id="29" name="Shape 27"/>
          <p:cNvSpPr/>
          <p:nvPr/>
        </p:nvSpPr>
        <p:spPr>
          <a:xfrm>
            <a:off x="6643532" y="3021940"/>
            <a:ext cx="109728" cy="109728"/>
          </a:xfrm>
          <a:prstGeom prst="ellipse">
            <a:avLst/>
          </a:prstGeom>
          <a:solidFill>
            <a:srgbClr val="0A5B5A"/>
          </a:solidFill>
          <a:ln/>
        </p:spPr>
        <p:txBody>
          <a:bodyPr/>
          <a:p/>
        </p:txBody>
      </p:sp>
      <p:sp>
        <p:nvSpPr>
          <p:cNvPr id="30" name="Text 28"/>
          <p:cNvSpPr/>
          <p:nvPr/>
        </p:nvSpPr>
        <p:spPr>
          <a:xfrm>
            <a:off x="5829716" y="2802484"/>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GPT-3</a:t>
            </a:r>
            <a:endParaRPr lang="en-US" sz="850" dirty="0"/>
          </a:p>
        </p:txBody>
      </p:sp>
      <p:sp>
        <p:nvSpPr>
          <p:cNvPr id="31" name="Shape 29"/>
          <p:cNvSpPr/>
          <p:nvPr/>
        </p:nvSpPr>
        <p:spPr>
          <a:xfrm>
            <a:off x="7516368" y="2492045"/>
            <a:ext cx="109728" cy="109728"/>
          </a:xfrm>
          <a:prstGeom prst="ellipse">
            <a:avLst/>
          </a:prstGeom>
          <a:solidFill>
            <a:srgbClr val="0A5B5A"/>
          </a:solidFill>
          <a:ln/>
        </p:spPr>
        <p:txBody>
          <a:bodyPr/>
          <a:p/>
        </p:txBody>
      </p:sp>
      <p:sp>
        <p:nvSpPr>
          <p:cNvPr id="32" name="Text 30"/>
          <p:cNvSpPr/>
          <p:nvPr/>
        </p:nvSpPr>
        <p:spPr>
          <a:xfrm>
            <a:off x="6702552" y="2272589"/>
            <a:ext cx="914400" cy="201168"/>
          </a:xfrm>
          <a:prstGeom prst="rect">
            <a:avLst/>
          </a:prstGeom>
          <a:noFill/>
          <a:ln/>
        </p:spPr>
        <p:txBody>
          <a:bodyPr wrap="square" lIns="0" tIns="0" rIns="0" bIns="0" rtlCol="0" anchor="ctr"/>
          <a:lstStyle/>
          <a:p>
            <a:pPr algn="r" indent="0" marL="0">
              <a:buNone/>
            </a:pPr>
            <a:r>
              <a:rPr lang="en-US" sz="850" b="1" dirty="0">
                <a:solidFill>
                  <a:srgbClr val="0A5B5A"/>
                </a:solidFill>
                <a:latin typeface="Calibri" pitchFamily="34" charset="0"/>
                <a:ea typeface="Calibri" pitchFamily="34" charset="-122"/>
                <a:cs typeface="Calibri" pitchFamily="34" charset="-120"/>
              </a:rPr>
              <a:t>GPT-4 (est.)</a:t>
            </a:r>
            <a:endParaRPr lang="en-US" sz="850" dirty="0"/>
          </a:p>
        </p:txBody>
      </p:sp>
      <p:sp>
        <p:nvSpPr>
          <p:cNvPr id="33" name="Text 31"/>
          <p:cNvSpPr/>
          <p:nvPr/>
        </p:nvSpPr>
        <p:spPr>
          <a:xfrm>
            <a:off x="6656832" y="4327093"/>
            <a:ext cx="1005840" cy="182880"/>
          </a:xfrm>
          <a:prstGeom prst="rect">
            <a:avLst/>
          </a:prstGeom>
          <a:noFill/>
          <a:ln/>
        </p:spPr>
        <p:txBody>
          <a:bodyPr wrap="square" lIns="0" tIns="0" rIns="0" bIns="0" rtlCol="0" anchor="ctr"/>
          <a:lstStyle/>
          <a:p>
            <a:pPr algn="r" indent="0" marL="0">
              <a:buNone/>
            </a:pPr>
            <a:r>
              <a:rPr lang="en-US" sz="850" i="1" dirty="0">
                <a:solidFill>
                  <a:srgbClr val="7A8790"/>
                </a:solidFill>
                <a:latin typeface="Calibri" pitchFamily="34" charset="0"/>
                <a:ea typeface="Calibri" pitchFamily="34" charset="-122"/>
                <a:cs typeface="Calibri" pitchFamily="34" charset="-120"/>
              </a:rPr>
              <a:t>Moore’s pace</a:t>
            </a:r>
            <a:endParaRPr lang="en-US" sz="850" dirty="0"/>
          </a:p>
        </p:txBody>
      </p:sp>
      <p:sp>
        <p:nvSpPr>
          <p:cNvPr id="34" name="Text 32"/>
          <p:cNvSpPr/>
          <p:nvPr/>
        </p:nvSpPr>
        <p:spPr>
          <a:xfrm>
            <a:off x="418795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2012</a:t>
            </a:r>
            <a:endParaRPr lang="en-US" sz="850" dirty="0"/>
          </a:p>
        </p:txBody>
      </p:sp>
      <p:sp>
        <p:nvSpPr>
          <p:cNvPr id="35" name="Text 33"/>
          <p:cNvSpPr/>
          <p:nvPr/>
        </p:nvSpPr>
        <p:spPr>
          <a:xfrm>
            <a:off x="7342632" y="5029200"/>
            <a:ext cx="457200" cy="182880"/>
          </a:xfrm>
          <a:prstGeom prst="rect">
            <a:avLst/>
          </a:prstGeom>
          <a:noFill/>
          <a:ln/>
        </p:spPr>
        <p:txBody>
          <a:bodyPr wrap="square" lIns="0" tIns="0" rIns="0" bIns="0" rtlCol="0" anchor="ctr"/>
          <a:lstStyle/>
          <a:p>
            <a:pPr indent="0" marL="0">
              <a:buNone/>
            </a:pPr>
            <a:r>
              <a:rPr lang="en-US" sz="850" dirty="0">
                <a:solidFill>
                  <a:srgbClr val="7A8790"/>
                </a:solidFill>
                <a:latin typeface="Calibri" pitchFamily="34" charset="0"/>
                <a:ea typeface="Calibri" pitchFamily="34" charset="-122"/>
                <a:cs typeface="Calibri" pitchFamily="34" charset="-120"/>
              </a:rPr>
              <a:t>2023</a:t>
            </a:r>
            <a:endParaRPr lang="en-US" sz="850" dirty="0"/>
          </a:p>
        </p:txBody>
      </p:sp>
      <p:sp>
        <p:nvSpPr>
          <p:cNvPr id="36" name="Text 34"/>
          <p:cNvSpPr/>
          <p:nvPr/>
        </p:nvSpPr>
        <p:spPr>
          <a:xfrm>
            <a:off x="4160520" y="5193792"/>
            <a:ext cx="3794760" cy="548640"/>
          </a:xfrm>
          <a:prstGeom prst="rect">
            <a:avLst/>
          </a:prstGeom>
          <a:noFill/>
          <a:ln/>
        </p:spPr>
        <p:txBody>
          <a:bodyPr wrap="square" lIns="0" tIns="0" rIns="0" bIns="0" rtlCol="0" anchor="ctr"/>
          <a:lstStyle/>
          <a:p>
            <a:pPr indent="0" marL="0">
              <a:lnSpc>
                <a:spcPct val="102000"/>
              </a:lnSpc>
              <a:buNone/>
            </a:pPr>
            <a:r>
              <a:rPr lang="en-US" sz="1000" dirty="0">
                <a:solidFill>
                  <a:srgbClr val="46545F"/>
                </a:solidFill>
                <a:latin typeface="Calibri" pitchFamily="34" charset="0"/>
                <a:ea typeface="Calibri" pitchFamily="34" charset="-122"/>
                <a:cs typeface="Calibri" pitchFamily="34" charset="-120"/>
              </a:rPr>
              <a:t>At Moore’s pace since 2012: ×45.  </a:t>
            </a:r>
            <a:pPr indent="0" marL="0">
              <a:lnSpc>
                <a:spcPct val="102000"/>
              </a:lnSpc>
              <a:buNone/>
            </a:pPr>
            <a:r>
              <a:rPr lang="en-US" sz="1150" b="1" dirty="0">
                <a:solidFill>
                  <a:srgbClr val="AF3230"/>
                </a:solidFill>
                <a:latin typeface="Calibri" pitchFamily="34" charset="0"/>
                <a:ea typeface="Calibri" pitchFamily="34" charset="-122"/>
                <a:cs typeface="Calibri" pitchFamily="34" charset="-120"/>
              </a:rPr>
              <a:t>Actual: ×45,000,000.</a:t>
            </a:r>
            <a:endParaRPr lang="en-US" sz="1000" dirty="0"/>
          </a:p>
          <a:p>
            <a:pPr indent="0" marL="0">
              <a:lnSpc>
                <a:spcPct val="102000"/>
              </a:lnSpc>
              <a:buNone/>
            </a:pPr>
            <a:r>
              <a:rPr lang="en-US" sz="950" dirty="0">
                <a:solidFill>
                  <a:srgbClr val="46545F"/>
                </a:solidFill>
                <a:latin typeface="Calibri" pitchFamily="34" charset="0"/>
                <a:ea typeface="Calibri" pitchFamily="34" charset="-122"/>
                <a:cs typeface="Calibri" pitchFamily="34" charset="-120"/>
              </a:rPr>
              <a:t>GPT-4 ≈ 2×10²⁵ FLOP: ~200,000 years on AlexNet’s two cards — a ~25,000-GPU data-center hall: ~3 months.</a:t>
            </a:r>
            <a:endParaRPr lang="en-US" sz="1000" dirty="0"/>
          </a:p>
        </p:txBody>
      </p:sp>
      <p:sp>
        <p:nvSpPr>
          <p:cNvPr id="37" name="Shape 35"/>
          <p:cNvSpPr/>
          <p:nvPr/>
        </p:nvSpPr>
        <p:spPr>
          <a:xfrm>
            <a:off x="8321040" y="1481328"/>
            <a:ext cx="3337560" cy="4279392"/>
          </a:xfrm>
          <a:prstGeom prst="roundRect">
            <a:avLst>
              <a:gd name="adj" fmla="val 2192"/>
            </a:avLst>
          </a:prstGeom>
          <a:solidFill>
            <a:srgbClr val="F2F5F6"/>
          </a:solidFill>
          <a:ln/>
        </p:spPr>
        <p:txBody>
          <a:bodyPr/>
          <a:p/>
        </p:txBody>
      </p:sp>
      <p:sp>
        <p:nvSpPr>
          <p:cNvPr id="38" name="Text 36"/>
          <p:cNvSpPr/>
          <p:nvPr/>
        </p:nvSpPr>
        <p:spPr>
          <a:xfrm>
            <a:off x="8549640" y="1609344"/>
            <a:ext cx="2926080" cy="292608"/>
          </a:xfrm>
          <a:prstGeom prst="rect">
            <a:avLst/>
          </a:prstGeom>
          <a:noFill/>
          <a:ln/>
        </p:spPr>
        <p:txBody>
          <a:bodyPr wrap="square" lIns="0" tIns="0" rIns="0" bIns="0" rtlCol="0" anchor="ctr"/>
          <a:lstStyle/>
          <a:p>
            <a:pPr indent="0" marL="0">
              <a:buNone/>
            </a:pPr>
            <a:r>
              <a:rPr lang="en-US" sz="1350" b="1" dirty="0">
                <a:solidFill>
                  <a:srgbClr val="0A5B5A"/>
                </a:solidFill>
                <a:latin typeface="Cambria" pitchFamily="34" charset="0"/>
                <a:ea typeface="Cambria" pitchFamily="34" charset="-122"/>
                <a:cs typeface="Cambria" pitchFamily="34" charset="-120"/>
              </a:rPr>
              <a:t>④ Why the data centers</a:t>
            </a:r>
            <a:endParaRPr lang="en-US" sz="1350" dirty="0"/>
          </a:p>
        </p:txBody>
      </p:sp>
      <p:sp>
        <p:nvSpPr>
          <p:cNvPr id="39" name="Shape 37"/>
          <p:cNvSpPr/>
          <p:nvPr/>
        </p:nvSpPr>
        <p:spPr>
          <a:xfrm>
            <a:off x="8549640" y="2011680"/>
            <a:ext cx="420624" cy="420624"/>
          </a:xfrm>
          <a:prstGeom prst="ellipse">
            <a:avLst/>
          </a:prstGeom>
          <a:solidFill>
            <a:srgbClr val="0E7C7B"/>
          </a:solidFill>
          <a:ln/>
        </p:spPr>
        <p:txBody>
          <a:bodyPr/>
          <a:p/>
        </p:txBody>
      </p:sp>
      <p:pic>
        <p:nvPicPr>
          <p:cNvPr id="40" name="Image 0" descr="/home/user/Claude-Works/ai-training-prompt-engineering/src/assets/icons/cpu_w.png">    </p:cNvPr>
          <p:cNvPicPr>
            <a:picLocks noChangeAspect="1"/>
          </p:cNvPicPr>
          <p:nvPr/>
        </p:nvPicPr>
        <p:blipFill>
          <a:blip r:embed="rId2"/>
          <a:stretch>
            <a:fillRect/>
          </a:stretch>
        </p:blipFill>
        <p:spPr>
          <a:xfrm>
            <a:off x="8659002" y="2121042"/>
            <a:ext cx="201900" cy="201900"/>
          </a:xfrm>
          <a:prstGeom prst="rect">
            <a:avLst/>
          </a:prstGeom>
        </p:spPr>
      </p:pic>
      <p:sp>
        <p:nvSpPr>
          <p:cNvPr id="41" name="Text 38"/>
          <p:cNvSpPr/>
          <p:nvPr/>
        </p:nvSpPr>
        <p:spPr>
          <a:xfrm>
            <a:off x="9079992" y="1920240"/>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TRAIN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frontier model: 16,000+ GPUs running for months (Llama 3.1, 2024).</a:t>
            </a:r>
            <a:endParaRPr lang="en-US" sz="1100" dirty="0"/>
          </a:p>
        </p:txBody>
      </p:sp>
      <p:sp>
        <p:nvSpPr>
          <p:cNvPr id="42" name="Shape 39"/>
          <p:cNvSpPr/>
          <p:nvPr/>
        </p:nvSpPr>
        <p:spPr>
          <a:xfrm>
            <a:off x="8549640" y="3182112"/>
            <a:ext cx="420624" cy="420624"/>
          </a:xfrm>
          <a:prstGeom prst="ellipse">
            <a:avLst/>
          </a:prstGeom>
          <a:solidFill>
            <a:srgbClr val="0E7C7B"/>
          </a:solidFill>
          <a:ln/>
        </p:spPr>
        <p:txBody>
          <a:bodyPr/>
          <a:p/>
        </p:txBody>
      </p:sp>
      <p:pic>
        <p:nvPicPr>
          <p:cNvPr id="43" name="Image 1" descr="/home/user/Claude-Works/ai-training-prompt-engineering/src/assets/icons/users_w.png">    </p:cNvPr>
          <p:cNvPicPr>
            <a:picLocks noChangeAspect="1"/>
          </p:cNvPicPr>
          <p:nvPr/>
        </p:nvPicPr>
        <p:blipFill>
          <a:blip r:embed="rId3"/>
          <a:stretch>
            <a:fillRect/>
          </a:stretch>
        </p:blipFill>
        <p:spPr>
          <a:xfrm>
            <a:off x="8659002" y="3291474"/>
            <a:ext cx="201900" cy="201900"/>
          </a:xfrm>
          <a:prstGeom prst="rect">
            <a:avLst/>
          </a:prstGeom>
        </p:spPr>
      </p:pic>
      <p:sp>
        <p:nvSpPr>
          <p:cNvPr id="44" name="Text 40"/>
          <p:cNvSpPr/>
          <p:nvPr/>
        </p:nvSpPr>
        <p:spPr>
          <a:xfrm>
            <a:off x="9079992" y="3090672"/>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SERVE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Then a billion people use it — around the clock, every day.</a:t>
            </a:r>
            <a:endParaRPr lang="en-US" sz="1100" dirty="0"/>
          </a:p>
        </p:txBody>
      </p:sp>
      <p:sp>
        <p:nvSpPr>
          <p:cNvPr id="45" name="Shape 41"/>
          <p:cNvSpPr/>
          <p:nvPr/>
        </p:nvSpPr>
        <p:spPr>
          <a:xfrm>
            <a:off x="8549640" y="4352544"/>
            <a:ext cx="420624" cy="420624"/>
          </a:xfrm>
          <a:prstGeom prst="ellipse">
            <a:avLst/>
          </a:prstGeom>
          <a:solidFill>
            <a:srgbClr val="0E7C7B"/>
          </a:solidFill>
          <a:ln/>
        </p:spPr>
        <p:txBody>
          <a:bodyPr/>
          <a:p/>
        </p:txBody>
      </p:sp>
      <p:pic>
        <p:nvPicPr>
          <p:cNvPr id="46" name="Image 2" descr="/home/user/Claude-Works/ai-training-prompt-engineering/src/assets/icons/zap_w.png">    </p:cNvPr>
          <p:cNvPicPr>
            <a:picLocks noChangeAspect="1"/>
          </p:cNvPicPr>
          <p:nvPr/>
        </p:nvPicPr>
        <p:blipFill>
          <a:blip r:embed="rId4"/>
          <a:stretch>
            <a:fillRect/>
          </a:stretch>
        </p:blipFill>
        <p:spPr>
          <a:xfrm>
            <a:off x="8659002" y="4461906"/>
            <a:ext cx="201900" cy="201900"/>
          </a:xfrm>
          <a:prstGeom prst="rect">
            <a:avLst/>
          </a:prstGeom>
        </p:spPr>
      </p:pic>
      <p:sp>
        <p:nvSpPr>
          <p:cNvPr id="47" name="Text 42"/>
          <p:cNvSpPr/>
          <p:nvPr/>
        </p:nvSpPr>
        <p:spPr>
          <a:xfrm>
            <a:off x="9079992" y="4261104"/>
            <a:ext cx="2468880" cy="1097280"/>
          </a:xfrm>
          <a:prstGeom prst="rect">
            <a:avLst/>
          </a:prstGeom>
          <a:noFill/>
          <a:ln/>
        </p:spPr>
        <p:txBody>
          <a:bodyPr wrap="square" lIns="0" tIns="0" rIns="0" bIns="0" rtlCol="0" anchor="ctr"/>
          <a:lstStyle/>
          <a:p>
            <a:pPr indent="0" marL="0">
              <a:lnSpc>
                <a:spcPct val="104000"/>
              </a:lnSpc>
              <a:buNone/>
            </a:pPr>
            <a:r>
              <a:rPr lang="en-US" sz="1100" b="1" dirty="0">
                <a:solidFill>
                  <a:srgbClr val="232A31"/>
                </a:solidFill>
                <a:latin typeface="Calibri" pitchFamily="34" charset="0"/>
                <a:ea typeface="Calibri" pitchFamily="34" charset="-122"/>
                <a:cs typeface="Calibri" pitchFamily="34" charset="-120"/>
              </a:rPr>
              <a:t>POWER — </a:t>
            </a:r>
            <a:pPr indent="0" marL="0">
              <a:lnSpc>
                <a:spcPct val="104000"/>
              </a:lnSpc>
              <a:buNone/>
            </a:pPr>
            <a:r>
              <a:rPr lang="en-US" sz="1050" dirty="0">
                <a:solidFill>
                  <a:srgbClr val="46545F"/>
                </a:solidFill>
                <a:latin typeface="Calibri" pitchFamily="34" charset="0"/>
                <a:ea typeface="Calibri" pitchFamily="34" charset="-122"/>
                <a:cs typeface="Calibri" pitchFamily="34" charset="-120"/>
              </a:rPr>
              <a:t>One large AI data center ≈ the electricity of 100,000 homes; the biggest under construction ≈ 2 million (IEA).</a:t>
            </a:r>
            <a:endParaRPr lang="en-US" sz="1100" dirty="0"/>
          </a:p>
        </p:txBody>
      </p:sp>
      <p:sp>
        <p:nvSpPr>
          <p:cNvPr id="48" name="Text 43"/>
          <p:cNvSpPr/>
          <p:nvPr/>
        </p:nvSpPr>
        <p:spPr>
          <a:xfrm>
            <a:off x="8549640" y="5394960"/>
            <a:ext cx="2926080" cy="457200"/>
          </a:xfrm>
          <a:prstGeom prst="rect">
            <a:avLst/>
          </a:prstGeom>
          <a:noFill/>
          <a:ln/>
        </p:spPr>
        <p:txBody>
          <a:bodyPr wrap="square" lIns="0" tIns="0" rIns="0" bIns="0" rtlCol="0" anchor="ctr"/>
          <a:lstStyle/>
          <a:p>
            <a:pPr indent="0" marL="0">
              <a:lnSpc>
                <a:spcPct val="102000"/>
              </a:lnSpc>
              <a:buNone/>
            </a:pPr>
            <a:r>
              <a:rPr lang="en-US" sz="1000" i="1" dirty="0">
                <a:solidFill>
                  <a:srgbClr val="7A8790"/>
                </a:solidFill>
                <a:latin typeface="Calibri" pitchFamily="34" charset="0"/>
                <a:ea typeface="Calibri" pitchFamily="34" charset="-122"/>
                <a:cs typeface="Calibri" pitchFamily="34" charset="-120"/>
              </a:rPr>
              <a:t>~$700B of build-out planned for 2026 — much announced, not yet built.</a:t>
            </a:r>
            <a:endParaRPr lang="en-US" sz="1000" dirty="0"/>
          </a:p>
        </p:txBody>
      </p:sp>
      <p:sp>
        <p:nvSpPr>
          <p:cNvPr id="49" name="Shape 44"/>
          <p:cNvSpPr/>
          <p:nvPr/>
        </p:nvSpPr>
        <p:spPr>
          <a:xfrm>
            <a:off x="502920" y="5870448"/>
            <a:ext cx="11155680" cy="621792"/>
          </a:xfrm>
          <a:prstGeom prst="roundRect">
            <a:avLst>
              <a:gd name="adj" fmla="val 11765"/>
            </a:avLst>
          </a:prstGeom>
          <a:solidFill>
            <a:srgbClr val="FBF0E0"/>
          </a:solidFill>
          <a:ln/>
        </p:spPr>
        <p:txBody>
          <a:bodyPr/>
          <a:p/>
        </p:txBody>
      </p:sp>
      <p:sp>
        <p:nvSpPr>
          <p:cNvPr id="50" name="Shape 45"/>
          <p:cNvSpPr/>
          <p:nvPr/>
        </p:nvSpPr>
        <p:spPr>
          <a:xfrm>
            <a:off x="658368" y="5989320"/>
            <a:ext cx="384048" cy="384048"/>
          </a:xfrm>
          <a:prstGeom prst="roundRect">
            <a:avLst>
              <a:gd name="adj" fmla="val 21429"/>
            </a:avLst>
          </a:prstGeom>
          <a:solidFill>
            <a:srgbClr val="FFFFFF"/>
          </a:solidFill>
          <a:ln w="9525">
            <a:solidFill>
              <a:srgbClr val="DCE3E6"/>
            </a:solidFill>
            <a:prstDash val="solid"/>
          </a:ln>
        </p:spPr>
        <p:txBody>
          <a:bodyPr/>
          <a:p/>
        </p:txBody>
      </p:sp>
      <p:pic>
        <p:nvPicPr>
          <p:cNvPr id="51" name="Image 3" descr="/home/user/Claude-Works/ai-training-prompt-engineering/src/assets/logos/nvidia.png">    </p:cNvPr>
          <p:cNvPicPr>
            <a:picLocks noChangeAspect="1"/>
          </p:cNvPicPr>
          <p:nvPr/>
        </p:nvPicPr>
        <p:blipFill>
          <a:blip r:embed="rId5"/>
          <a:stretch>
            <a:fillRect/>
          </a:stretch>
        </p:blipFill>
        <p:spPr>
          <a:xfrm>
            <a:off x="712135" y="6043087"/>
            <a:ext cx="276515" cy="276515"/>
          </a:xfrm>
          <a:prstGeom prst="rect">
            <a:avLst/>
          </a:prstGeom>
        </p:spPr>
      </p:pic>
      <p:sp>
        <p:nvSpPr>
          <p:cNvPr id="52" name="Text 46"/>
          <p:cNvSpPr/>
          <p:nvPr/>
        </p:nvSpPr>
        <p:spPr>
          <a:xfrm>
            <a:off x="1170432" y="5943600"/>
            <a:ext cx="10332720" cy="475488"/>
          </a:xfrm>
          <a:prstGeom prst="rect">
            <a:avLst/>
          </a:prstGeom>
          <a:noFill/>
          <a:ln/>
        </p:spPr>
        <p:txBody>
          <a:bodyPr wrap="square" lIns="0" tIns="0" rIns="0" bIns="0" rtlCol="0" anchor="ctr"/>
          <a:lstStyle/>
          <a:p>
            <a:pPr indent="0" marL="0">
              <a:lnSpc>
                <a:spcPct val="102000"/>
              </a:lnSpc>
              <a:buNone/>
            </a:pPr>
            <a:r>
              <a:rPr lang="en-US" sz="1150" b="1" dirty="0">
                <a:solidFill>
                  <a:srgbClr val="232A31"/>
                </a:solidFill>
                <a:latin typeface="Calibri" pitchFamily="34" charset="0"/>
                <a:ea typeface="Calibri" pitchFamily="34" charset="-122"/>
                <a:cs typeface="Calibri" pitchFamily="34" charset="-120"/>
              </a:rPr>
              <a:t>The shovel-seller: </a:t>
            </a:r>
            <a:pPr indent="0" marL="0">
              <a:lnSpc>
                <a:spcPct val="102000"/>
              </a:lnSpc>
              <a:buNone/>
            </a:pPr>
            <a:r>
              <a:rPr lang="en-US" sz="1100" dirty="0">
                <a:solidFill>
                  <a:srgbClr val="46545F"/>
                </a:solidFill>
                <a:latin typeface="Calibri" pitchFamily="34" charset="0"/>
                <a:ea typeface="Calibri" pitchFamily="34" charset="-122"/>
                <a:cs typeface="Calibri" pitchFamily="34" charset="-120"/>
              </a:rPr>
              <a:t>Nvidia — first reached $1T May 2023 · $4T Jul 2025 · $5T Oct 2025 · ~$5.6T today: the world’s most valuable company, and 92% of its revenue is now AI data centers.</a:t>
            </a:r>
            <a:endParaRPr lang="en-US" sz="1150" dirty="0"/>
          </a:p>
        </p:txBody>
      </p:sp>
      <p:sp>
        <p:nvSpPr>
          <p:cNvPr id="53"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55"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 6</a:t>
            </a:r>
          </a:p>
        </p:txBody>
      </p:sp>
      <p:sp>
        <p:nvSpPr>
          <p:cNvPr id="56"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2"/>
          <p:cNvSpPr/>
          <p:nvPr/>
        </p:nvSpPr>
        <p:spPr>
          <a:xfrm>
            <a:off x="502920" y="274320"/>
            <a:ext cx="11155680" cy="274320"/>
          </a:xfrm>
          <a:prstGeom prst="rect">
            <a:avLst/>
          </a:prstGeom>
          <a:noFill/>
          <a:ln/>
        </p:spPr>
        <p:txBody>
          <a:bodyPr wrap="square" lIns="0" tIns="0" rIns="0" bIns="0" rtlCol="0" anchor="ctr"/>
          <a:lstStyle/>
          <a:p>
            <a:pPr indent="0" marL="0">
              <a:buNone/>
            </a:pPr>
            <a:r>
              <a:rPr lang="en-US" sz="1100" b="1" spc="200" kern="0" dirty="0">
                <a:solidFill>
                  <a:srgbClr val="0E7C7B"/>
                </a:solidFill>
                <a:latin typeface="Calibri" pitchFamily="34" charset="0"/>
                <a:ea typeface="Calibri" pitchFamily="34" charset="-122"/>
                <a:cs typeface="Calibri" pitchFamily="34" charset="-120"/>
              </a:rPr>
              <a:t>SIX ASSISTANTS, SIX DIFFERENT JOBS</a:t>
            </a:r>
            <a:endParaRPr lang="en-US" sz="1100" dirty="0"/>
          </a:p>
        </p:txBody>
      </p:sp>
      <p:sp>
        <p:nvSpPr>
          <p:cNvPr id="5" name="Text 3"/>
          <p:cNvSpPr/>
          <p:nvPr/>
        </p:nvSpPr>
        <p:spPr>
          <a:xfrm>
            <a:off x="502920" y="530352"/>
            <a:ext cx="11155680" cy="685800"/>
          </a:xfrm>
          <a:prstGeom prst="rect">
            <a:avLst/>
          </a:prstGeom>
          <a:noFill/>
          <a:ln/>
        </p:spPr>
        <p:txBody>
          <a:bodyPr wrap="square" lIns="0" tIns="0" rIns="0" bIns="0" rtlCol="0" anchor="ctr"/>
          <a:lstStyle/>
          <a:p>
            <a:pPr indent="0" marL="0">
              <a:buNone/>
            </a:pPr>
            <a:r>
              <a:rPr lang="en-US" sz="3000" b="1" dirty="0">
                <a:solidFill>
                  <a:srgbClr val="232A31"/>
                </a:solidFill>
                <a:latin typeface="Cambria" pitchFamily="34" charset="0"/>
                <a:ea typeface="Cambria" pitchFamily="34" charset="-122"/>
                <a:cs typeface="Cambria" pitchFamily="34" charset="-120"/>
              </a:rPr>
              <a:t>Pick by task, not habit — September 2026</a:t>
            </a:r>
            <a:endParaRPr lang="en-US" sz="3000" dirty="0"/>
          </a:p>
        </p:txBody>
      </p:sp>
      <p:sp>
        <p:nvSpPr>
          <p:cNvPr id="6" name="Shape 4"/>
          <p:cNvSpPr/>
          <p:nvPr/>
        </p:nvSpPr>
        <p:spPr>
          <a:xfrm>
            <a:off x="502920" y="1444752"/>
            <a:ext cx="3611880" cy="2212848"/>
          </a:xfrm>
          <a:prstGeom prst="roundRect">
            <a:avLst>
              <a:gd name="adj" fmla="val 3306"/>
            </a:avLst>
          </a:prstGeom>
          <a:solidFill>
            <a:srgbClr val="F2F5F6"/>
          </a:solidFill>
          <a:ln/>
        </p:spPr>
        <p:txBody>
          <a:bodyPr/>
          <a:p/>
        </p:txBody>
      </p:sp>
      <p:sp>
        <p:nvSpPr>
          <p:cNvPr id="7" name="Shape 5"/>
          <p:cNvSpPr/>
          <p:nvPr/>
        </p:nvSpPr>
        <p:spPr>
          <a:xfrm>
            <a:off x="502920"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8" name="Shape 6"/>
          <p:cNvSpPr/>
          <p:nvPr/>
        </p:nvSpPr>
        <p:spPr>
          <a:xfrm>
            <a:off x="630936"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9" name="Image 0" descr="/home/user/Claude-Works/ai-training-prompt-engineering/src/assets/logos/openai.png">    </p:cNvPr>
          <p:cNvPicPr>
            <a:picLocks noChangeAspect="1"/>
          </p:cNvPicPr>
          <p:nvPr/>
        </p:nvPicPr>
        <p:blipFill>
          <a:blip r:embed="rId2"/>
          <a:stretch>
            <a:fillRect/>
          </a:stretch>
        </p:blipFill>
        <p:spPr>
          <a:xfrm>
            <a:off x="682142" y="1596542"/>
            <a:ext cx="263347" cy="263347"/>
          </a:xfrm>
          <a:prstGeom prst="rect">
            <a:avLst/>
          </a:prstGeom>
        </p:spPr>
      </p:pic>
      <p:sp>
        <p:nvSpPr>
          <p:cNvPr id="10" name="Text 7"/>
          <p:cNvSpPr/>
          <p:nvPr/>
        </p:nvSpPr>
        <p:spPr>
          <a:xfrm>
            <a:off x="1088136"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ChatGPT</a:t>
            </a:r>
            <a:endParaRPr lang="en-US" sz="1500" dirty="0"/>
          </a:p>
        </p:txBody>
      </p:sp>
      <p:sp>
        <p:nvSpPr>
          <p:cNvPr id="11" name="Text 8"/>
          <p:cNvSpPr/>
          <p:nvPr/>
        </p:nvSpPr>
        <p:spPr>
          <a:xfrm>
            <a:off x="1088136"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OpenAI · GPT-5.6 (Sol / Terra / Luna)</a:t>
            </a:r>
            <a:endParaRPr lang="en-US" sz="900" dirty="0"/>
          </a:p>
        </p:txBody>
      </p:sp>
      <p:sp>
        <p:nvSpPr>
          <p:cNvPr id="12" name="Text 9"/>
          <p:cNvSpPr/>
          <p:nvPr/>
        </p:nvSpPr>
        <p:spPr>
          <a:xfrm>
            <a:off x="685800"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everything assistant</a:t>
            </a:r>
            <a:endParaRPr lang="en-US" sz="1350" dirty="0"/>
          </a:p>
        </p:txBody>
      </p:sp>
      <p:sp>
        <p:nvSpPr>
          <p:cNvPr id="13" name="Text 10"/>
          <p:cNvSpPr/>
          <p:nvPr/>
        </p:nvSpPr>
        <p:spPr>
          <a:xfrm>
            <a:off x="685800"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Largest user base; fastest at drafts, options and marketing copy; images, voice, agent mode.</a:t>
            </a:r>
            <a:endParaRPr lang="en-US" sz="1100" dirty="0"/>
          </a:p>
        </p:txBody>
      </p:sp>
      <p:sp>
        <p:nvSpPr>
          <p:cNvPr id="14" name="Text 11"/>
          <p:cNvSpPr/>
          <p:nvPr/>
        </p:nvSpPr>
        <p:spPr>
          <a:xfrm>
            <a:off x="685800"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Fast model churn and renaming; check data settings before regulated content.</a:t>
            </a:r>
            <a:endParaRPr lang="en-US" sz="1050" dirty="0"/>
          </a:p>
        </p:txBody>
      </p:sp>
      <p:sp>
        <p:nvSpPr>
          <p:cNvPr id="15" name="Shape 12"/>
          <p:cNvSpPr/>
          <p:nvPr/>
        </p:nvSpPr>
        <p:spPr>
          <a:xfrm>
            <a:off x="4325112" y="1444752"/>
            <a:ext cx="3611880" cy="2212848"/>
          </a:xfrm>
          <a:prstGeom prst="roundRect">
            <a:avLst>
              <a:gd name="adj" fmla="val 3306"/>
            </a:avLst>
          </a:prstGeom>
          <a:solidFill>
            <a:srgbClr val="F2F5F6"/>
          </a:solidFill>
          <a:ln/>
        </p:spPr>
        <p:txBody>
          <a:bodyPr/>
          <a:p/>
        </p:txBody>
      </p:sp>
      <p:sp>
        <p:nvSpPr>
          <p:cNvPr id="16" name="Shape 13"/>
          <p:cNvSpPr/>
          <p:nvPr/>
        </p:nvSpPr>
        <p:spPr>
          <a:xfrm>
            <a:off x="4325112"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17" name="Shape 14"/>
          <p:cNvSpPr/>
          <p:nvPr/>
        </p:nvSpPr>
        <p:spPr>
          <a:xfrm>
            <a:off x="4453128"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18" name="Image 1" descr="/home/user/Claude-Works/ai-training-prompt-engineering/src/assets/logos/gemini.png">    </p:cNvPr>
          <p:cNvPicPr>
            <a:picLocks noChangeAspect="1"/>
          </p:cNvPicPr>
          <p:nvPr/>
        </p:nvPicPr>
        <p:blipFill>
          <a:blip r:embed="rId3"/>
          <a:stretch>
            <a:fillRect/>
          </a:stretch>
        </p:blipFill>
        <p:spPr>
          <a:xfrm>
            <a:off x="4504334" y="1596542"/>
            <a:ext cx="263347" cy="263347"/>
          </a:xfrm>
          <a:prstGeom prst="rect">
            <a:avLst/>
          </a:prstGeom>
        </p:spPr>
      </p:pic>
      <p:sp>
        <p:nvSpPr>
          <p:cNvPr id="19" name="Text 15"/>
          <p:cNvSpPr/>
          <p:nvPr/>
        </p:nvSpPr>
        <p:spPr>
          <a:xfrm>
            <a:off x="4910328"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Gemini</a:t>
            </a:r>
            <a:endParaRPr lang="en-US" sz="1500" dirty="0"/>
          </a:p>
        </p:txBody>
      </p:sp>
      <p:sp>
        <p:nvSpPr>
          <p:cNvPr id="20" name="Text 16"/>
          <p:cNvSpPr/>
          <p:nvPr/>
        </p:nvSpPr>
        <p:spPr>
          <a:xfrm>
            <a:off x="4910328"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Google · Gemini 3 / 3.1 Pro / 3.6 Flash</a:t>
            </a:r>
            <a:endParaRPr lang="en-US" sz="900" dirty="0"/>
          </a:p>
        </p:txBody>
      </p:sp>
      <p:sp>
        <p:nvSpPr>
          <p:cNvPr id="21" name="Text 17"/>
          <p:cNvSpPr/>
          <p:nvPr/>
        </p:nvSpPr>
        <p:spPr>
          <a:xfrm>
            <a:off x="4507992"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Everywhere Google is</a:t>
            </a:r>
            <a:endParaRPr lang="en-US" sz="1350" dirty="0"/>
          </a:p>
        </p:txBody>
      </p:sp>
      <p:sp>
        <p:nvSpPr>
          <p:cNvPr id="22" name="Text 18"/>
          <p:cNvSpPr/>
          <p:nvPr/>
        </p:nvSpPr>
        <p:spPr>
          <a:xfrm>
            <a:off x="4507992"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Multimodal breadth + the deepest Workspace integration — 1B+ monthly users; default AI in Gmail, Docs, Meet.</a:t>
            </a:r>
            <a:endParaRPr lang="en-US" sz="1100" dirty="0"/>
          </a:p>
        </p:txBody>
      </p:sp>
      <p:sp>
        <p:nvSpPr>
          <p:cNvPr id="23" name="Text 19"/>
          <p:cNvSpPr/>
          <p:nvPr/>
        </p:nvSpPr>
        <p:spPr>
          <a:xfrm>
            <a:off x="4507992"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Model-name sprawl; the best reasoning (Deep Think) sits behind the Ultra tier.</a:t>
            </a:r>
            <a:endParaRPr lang="en-US" sz="1050" dirty="0"/>
          </a:p>
        </p:txBody>
      </p:sp>
      <p:sp>
        <p:nvSpPr>
          <p:cNvPr id="24" name="Shape 20"/>
          <p:cNvSpPr/>
          <p:nvPr/>
        </p:nvSpPr>
        <p:spPr>
          <a:xfrm>
            <a:off x="8147304" y="1444752"/>
            <a:ext cx="3611880" cy="2212848"/>
          </a:xfrm>
          <a:prstGeom prst="roundRect">
            <a:avLst>
              <a:gd name="adj" fmla="val 3306"/>
            </a:avLst>
          </a:prstGeom>
          <a:solidFill>
            <a:srgbClr val="F2F5F6"/>
          </a:solidFill>
          <a:ln/>
        </p:spPr>
        <p:txBody>
          <a:bodyPr/>
          <a:p/>
        </p:txBody>
      </p:sp>
      <p:sp>
        <p:nvSpPr>
          <p:cNvPr id="25" name="Shape 21"/>
          <p:cNvSpPr/>
          <p:nvPr/>
        </p:nvSpPr>
        <p:spPr>
          <a:xfrm>
            <a:off x="8147304" y="1444752"/>
            <a:ext cx="3611880" cy="566928"/>
          </a:xfrm>
          <a:prstGeom prst="roundRect">
            <a:avLst>
              <a:gd name="adj" fmla="val 9677"/>
            </a:avLst>
          </a:prstGeom>
          <a:solidFill>
            <a:srgbClr val="FFFFFF"/>
          </a:solidFill>
          <a:ln w="9525">
            <a:solidFill>
              <a:srgbClr val="DCE3E6"/>
            </a:solidFill>
            <a:prstDash val="solid"/>
          </a:ln>
        </p:spPr>
        <p:txBody>
          <a:bodyPr/>
          <a:p/>
        </p:txBody>
      </p:sp>
      <p:sp>
        <p:nvSpPr>
          <p:cNvPr id="26" name="Shape 22"/>
          <p:cNvSpPr/>
          <p:nvPr/>
        </p:nvSpPr>
        <p:spPr>
          <a:xfrm>
            <a:off x="8275320" y="1545336"/>
            <a:ext cx="365760" cy="365760"/>
          </a:xfrm>
          <a:prstGeom prst="roundRect">
            <a:avLst>
              <a:gd name="adj" fmla="val 22500"/>
            </a:avLst>
          </a:prstGeom>
          <a:solidFill>
            <a:srgbClr val="FFFFFF"/>
          </a:solidFill>
          <a:ln w="9525">
            <a:solidFill>
              <a:srgbClr val="DCE3E6"/>
            </a:solidFill>
            <a:prstDash val="solid"/>
          </a:ln>
        </p:spPr>
        <p:txBody>
          <a:bodyPr/>
          <a:p/>
        </p:txBody>
      </p:sp>
      <p:pic>
        <p:nvPicPr>
          <p:cNvPr id="27" name="Image 2" descr="/home/user/Claude-Works/ai-training-prompt-engineering/src/assets/logos/copilot.png">    </p:cNvPr>
          <p:cNvPicPr>
            <a:picLocks noChangeAspect="1"/>
          </p:cNvPicPr>
          <p:nvPr/>
        </p:nvPicPr>
        <p:blipFill>
          <a:blip r:embed="rId4"/>
          <a:stretch>
            <a:fillRect/>
          </a:stretch>
        </p:blipFill>
        <p:spPr>
          <a:xfrm>
            <a:off x="8326526" y="1596542"/>
            <a:ext cx="263347" cy="263347"/>
          </a:xfrm>
          <a:prstGeom prst="rect">
            <a:avLst/>
          </a:prstGeom>
        </p:spPr>
      </p:pic>
      <p:sp>
        <p:nvSpPr>
          <p:cNvPr id="28" name="Text 23"/>
          <p:cNvSpPr/>
          <p:nvPr/>
        </p:nvSpPr>
        <p:spPr>
          <a:xfrm>
            <a:off x="8732520" y="1490472"/>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Copilot</a:t>
            </a:r>
            <a:endParaRPr lang="en-US" sz="1500" dirty="0"/>
          </a:p>
        </p:txBody>
      </p:sp>
      <p:sp>
        <p:nvSpPr>
          <p:cNvPr id="29" name="Text 24"/>
          <p:cNvSpPr/>
          <p:nvPr/>
        </p:nvSpPr>
        <p:spPr>
          <a:xfrm>
            <a:off x="8732520" y="1773936"/>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Microsoft · GPT-5.6 + Claude selectable</a:t>
            </a:r>
            <a:endParaRPr lang="en-US" sz="900" dirty="0"/>
          </a:p>
        </p:txBody>
      </p:sp>
      <p:sp>
        <p:nvSpPr>
          <p:cNvPr id="30" name="Text 25"/>
          <p:cNvSpPr/>
          <p:nvPr/>
        </p:nvSpPr>
        <p:spPr>
          <a:xfrm>
            <a:off x="8330184" y="2084832"/>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The governed one — inside your tenant</a:t>
            </a:r>
            <a:endParaRPr lang="en-US" sz="1350" dirty="0"/>
          </a:p>
        </p:txBody>
      </p:sp>
      <p:sp>
        <p:nvSpPr>
          <p:cNvPr id="31" name="Text 26"/>
          <p:cNvSpPr/>
          <p:nvPr/>
        </p:nvSpPr>
        <p:spPr>
          <a:xfrm>
            <a:off x="8330184" y="2578608"/>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30M+ paid seats inside the M365 compliance boundary IT already audits; its Cowork agent runs on Claude technology.</a:t>
            </a:r>
            <a:endParaRPr lang="en-US" sz="1100" dirty="0"/>
          </a:p>
        </p:txBody>
      </p:sp>
      <p:sp>
        <p:nvSpPr>
          <p:cNvPr id="32" name="Text 27"/>
          <p:cNvSpPr/>
          <p:nvPr/>
        </p:nvSpPr>
        <p:spPr>
          <a:xfrm>
            <a:off x="8330184" y="3291840"/>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Licenses others’ models; admin flags mean colleagues get different capabilities.</a:t>
            </a:r>
            <a:endParaRPr lang="en-US" sz="1050" dirty="0"/>
          </a:p>
        </p:txBody>
      </p:sp>
      <p:sp>
        <p:nvSpPr>
          <p:cNvPr id="33" name="Shape 28"/>
          <p:cNvSpPr/>
          <p:nvPr/>
        </p:nvSpPr>
        <p:spPr>
          <a:xfrm>
            <a:off x="502920" y="3785616"/>
            <a:ext cx="3611880" cy="2212848"/>
          </a:xfrm>
          <a:prstGeom prst="roundRect">
            <a:avLst>
              <a:gd name="adj" fmla="val 3306"/>
            </a:avLst>
          </a:prstGeom>
          <a:solidFill>
            <a:srgbClr val="F2F5F6"/>
          </a:solidFill>
          <a:ln/>
        </p:spPr>
        <p:txBody>
          <a:bodyPr/>
          <a:p/>
        </p:txBody>
      </p:sp>
      <p:sp>
        <p:nvSpPr>
          <p:cNvPr id="34" name="Shape 29"/>
          <p:cNvSpPr/>
          <p:nvPr/>
        </p:nvSpPr>
        <p:spPr>
          <a:xfrm>
            <a:off x="502920"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35" name="Shape 30"/>
          <p:cNvSpPr/>
          <p:nvPr/>
        </p:nvSpPr>
        <p:spPr>
          <a:xfrm>
            <a:off x="630936"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36" name="Image 3" descr="/home/user/Claude-Works/ai-training-prompt-engineering/src/assets/logos/claude.png">    </p:cNvPr>
          <p:cNvPicPr>
            <a:picLocks noChangeAspect="1"/>
          </p:cNvPicPr>
          <p:nvPr/>
        </p:nvPicPr>
        <p:blipFill>
          <a:blip r:embed="rId5"/>
          <a:stretch>
            <a:fillRect/>
          </a:stretch>
        </p:blipFill>
        <p:spPr>
          <a:xfrm>
            <a:off x="682142" y="3937406"/>
            <a:ext cx="263347" cy="263347"/>
          </a:xfrm>
          <a:prstGeom prst="rect">
            <a:avLst/>
          </a:prstGeom>
        </p:spPr>
      </p:pic>
      <p:sp>
        <p:nvSpPr>
          <p:cNvPr id="37" name="Text 31"/>
          <p:cNvSpPr/>
          <p:nvPr/>
        </p:nvSpPr>
        <p:spPr>
          <a:xfrm>
            <a:off x="1088136"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Claude</a:t>
            </a:r>
            <a:endParaRPr lang="en-US" sz="1500" dirty="0"/>
          </a:p>
        </p:txBody>
      </p:sp>
      <p:sp>
        <p:nvSpPr>
          <p:cNvPr id="38" name="Text 32"/>
          <p:cNvSpPr/>
          <p:nvPr/>
        </p:nvSpPr>
        <p:spPr>
          <a:xfrm>
            <a:off x="1088136"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Anthropic · Fable/Opus/Sonnet 5 + Haiku</a:t>
            </a:r>
            <a:endParaRPr lang="en-US" sz="900" dirty="0"/>
          </a:p>
        </p:txBody>
      </p:sp>
      <p:sp>
        <p:nvSpPr>
          <p:cNvPr id="39" name="Text 33"/>
          <p:cNvSpPr/>
          <p:nvPr/>
        </p:nvSpPr>
        <p:spPr>
          <a:xfrm>
            <a:off x="685800"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Best-in-class coding &amp; agentic work</a:t>
            </a:r>
            <a:endParaRPr lang="en-US" sz="1350" dirty="0"/>
          </a:p>
        </p:txBody>
      </p:sp>
      <p:sp>
        <p:nvSpPr>
          <p:cNvPr id="40" name="Text 34"/>
          <p:cNvSpPr/>
          <p:nvPr/>
        </p:nvSpPr>
        <p:spPr>
          <a:xfrm>
            <a:off x="685800"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Tops SWE-bench AND OpenAI’s own real-work eval (GDPval); 2026 writing evals rank its prose #1; 1M-token documents.</a:t>
            </a:r>
            <a:endParaRPr lang="en-US" sz="1100" dirty="0"/>
          </a:p>
        </p:txBody>
      </p:sp>
      <p:sp>
        <p:nvSpPr>
          <p:cNvPr id="41" name="Text 35"/>
          <p:cNvSpPr/>
          <p:nvPr/>
        </p:nvSpPr>
        <p:spPr>
          <a:xfrm>
            <a:off x="685800"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Premium pricing at the top; the flagship can refuse high-risk domains by design.</a:t>
            </a:r>
            <a:endParaRPr lang="en-US" sz="1050" dirty="0"/>
          </a:p>
        </p:txBody>
      </p:sp>
      <p:sp>
        <p:nvSpPr>
          <p:cNvPr id="42" name="Shape 36"/>
          <p:cNvSpPr/>
          <p:nvPr/>
        </p:nvSpPr>
        <p:spPr>
          <a:xfrm>
            <a:off x="4325112" y="3785616"/>
            <a:ext cx="3611880" cy="2212848"/>
          </a:xfrm>
          <a:prstGeom prst="roundRect">
            <a:avLst>
              <a:gd name="adj" fmla="val 3306"/>
            </a:avLst>
          </a:prstGeom>
          <a:solidFill>
            <a:srgbClr val="F2F5F6"/>
          </a:solidFill>
          <a:ln/>
        </p:spPr>
        <p:txBody>
          <a:bodyPr/>
          <a:p/>
        </p:txBody>
      </p:sp>
      <p:sp>
        <p:nvSpPr>
          <p:cNvPr id="43" name="Shape 37"/>
          <p:cNvSpPr/>
          <p:nvPr/>
        </p:nvSpPr>
        <p:spPr>
          <a:xfrm>
            <a:off x="4325112"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44" name="Shape 38"/>
          <p:cNvSpPr/>
          <p:nvPr/>
        </p:nvSpPr>
        <p:spPr>
          <a:xfrm>
            <a:off x="4453128"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45" name="Image 4" descr="/home/user/Claude-Works/ai-training-prompt-engineering/src/assets/logos/perplexity.png">    </p:cNvPr>
          <p:cNvPicPr>
            <a:picLocks noChangeAspect="1"/>
          </p:cNvPicPr>
          <p:nvPr/>
        </p:nvPicPr>
        <p:blipFill>
          <a:blip r:embed="rId6"/>
          <a:stretch>
            <a:fillRect/>
          </a:stretch>
        </p:blipFill>
        <p:spPr>
          <a:xfrm>
            <a:off x="4504334" y="3937406"/>
            <a:ext cx="263347" cy="263347"/>
          </a:xfrm>
          <a:prstGeom prst="rect">
            <a:avLst/>
          </a:prstGeom>
        </p:spPr>
      </p:pic>
      <p:sp>
        <p:nvSpPr>
          <p:cNvPr id="46" name="Text 39"/>
          <p:cNvSpPr/>
          <p:nvPr/>
        </p:nvSpPr>
        <p:spPr>
          <a:xfrm>
            <a:off x="4910328"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Perplexity</a:t>
            </a:r>
            <a:endParaRPr lang="en-US" sz="1500" dirty="0"/>
          </a:p>
        </p:txBody>
      </p:sp>
      <p:sp>
        <p:nvSpPr>
          <p:cNvPr id="47" name="Text 40"/>
          <p:cNvSpPr/>
          <p:nvPr/>
        </p:nvSpPr>
        <p:spPr>
          <a:xfrm>
            <a:off x="4910328"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Perplexity · own stack + Model Council</a:t>
            </a:r>
            <a:endParaRPr lang="en-US" sz="900" dirty="0"/>
          </a:p>
        </p:txBody>
      </p:sp>
      <p:sp>
        <p:nvSpPr>
          <p:cNvPr id="48" name="Text 41"/>
          <p:cNvSpPr/>
          <p:nvPr/>
        </p:nvSpPr>
        <p:spPr>
          <a:xfrm>
            <a:off x="4507992"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Research with receipts</a:t>
            </a:r>
            <a:endParaRPr lang="en-US" sz="1350" dirty="0"/>
          </a:p>
        </p:txBody>
      </p:sp>
      <p:sp>
        <p:nvSpPr>
          <p:cNvPr id="49" name="Text 42"/>
          <p:cNvSpPr/>
          <p:nvPr/>
        </p:nvSpPr>
        <p:spPr>
          <a:xfrm>
            <a:off x="4507992"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Inline citations by default; the lowest citation-error rate in CJR’s AI-search testing — 37%, vs 67% for ChatGPT Search.</a:t>
            </a:r>
            <a:endParaRPr lang="en-US" sz="1100" dirty="0"/>
          </a:p>
        </p:txBody>
      </p:sp>
      <p:sp>
        <p:nvSpPr>
          <p:cNvPr id="50" name="Text 43"/>
          <p:cNvSpPr/>
          <p:nvPr/>
        </p:nvSpPr>
        <p:spPr>
          <a:xfrm>
            <a:off x="4507992"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A citation isn’t proof — click through before quoting anywhere formal.</a:t>
            </a:r>
            <a:endParaRPr lang="en-US" sz="1050" dirty="0"/>
          </a:p>
        </p:txBody>
      </p:sp>
      <p:sp>
        <p:nvSpPr>
          <p:cNvPr id="51" name="Shape 44"/>
          <p:cNvSpPr/>
          <p:nvPr/>
        </p:nvSpPr>
        <p:spPr>
          <a:xfrm>
            <a:off x="8147304" y="3785616"/>
            <a:ext cx="3611880" cy="2212848"/>
          </a:xfrm>
          <a:prstGeom prst="roundRect">
            <a:avLst>
              <a:gd name="adj" fmla="val 3306"/>
            </a:avLst>
          </a:prstGeom>
          <a:solidFill>
            <a:srgbClr val="F2F5F6"/>
          </a:solidFill>
          <a:ln/>
        </p:spPr>
        <p:txBody>
          <a:bodyPr/>
          <a:p/>
        </p:txBody>
      </p:sp>
      <p:sp>
        <p:nvSpPr>
          <p:cNvPr id="52" name="Shape 45"/>
          <p:cNvSpPr/>
          <p:nvPr/>
        </p:nvSpPr>
        <p:spPr>
          <a:xfrm>
            <a:off x="8147304" y="3785616"/>
            <a:ext cx="3611880" cy="566928"/>
          </a:xfrm>
          <a:prstGeom prst="roundRect">
            <a:avLst>
              <a:gd name="adj" fmla="val 9677"/>
            </a:avLst>
          </a:prstGeom>
          <a:solidFill>
            <a:srgbClr val="FFFFFF"/>
          </a:solidFill>
          <a:ln w="9525">
            <a:solidFill>
              <a:srgbClr val="DCE3E6"/>
            </a:solidFill>
            <a:prstDash val="solid"/>
          </a:ln>
        </p:spPr>
        <p:txBody>
          <a:bodyPr/>
          <a:p/>
        </p:txBody>
      </p:sp>
      <p:sp>
        <p:nvSpPr>
          <p:cNvPr id="53" name="Shape 46"/>
          <p:cNvSpPr/>
          <p:nvPr/>
        </p:nvSpPr>
        <p:spPr>
          <a:xfrm>
            <a:off x="8275320" y="3886200"/>
            <a:ext cx="365760" cy="365760"/>
          </a:xfrm>
          <a:prstGeom prst="roundRect">
            <a:avLst>
              <a:gd name="adj" fmla="val 22500"/>
            </a:avLst>
          </a:prstGeom>
          <a:solidFill>
            <a:srgbClr val="FFFFFF"/>
          </a:solidFill>
          <a:ln w="9525">
            <a:solidFill>
              <a:srgbClr val="DCE3E6"/>
            </a:solidFill>
            <a:prstDash val="solid"/>
          </a:ln>
        </p:spPr>
        <p:txBody>
          <a:bodyPr/>
          <a:p/>
        </p:txBody>
      </p:sp>
      <p:pic>
        <p:nvPicPr>
          <p:cNvPr id="54" name="Image 5" descr="/home/user/Claude-Works/ai-training-prompt-engineering/src/assets/logos/grok.png">    </p:cNvPr>
          <p:cNvPicPr>
            <a:picLocks noChangeAspect="1"/>
          </p:cNvPicPr>
          <p:nvPr/>
        </p:nvPicPr>
        <p:blipFill>
          <a:blip r:embed="rId7"/>
          <a:stretch>
            <a:fillRect/>
          </a:stretch>
        </p:blipFill>
        <p:spPr>
          <a:xfrm>
            <a:off x="8326526" y="3937406"/>
            <a:ext cx="263347" cy="263347"/>
          </a:xfrm>
          <a:prstGeom prst="rect">
            <a:avLst/>
          </a:prstGeom>
        </p:spPr>
      </p:pic>
      <p:sp>
        <p:nvSpPr>
          <p:cNvPr id="55" name="Text 47"/>
          <p:cNvSpPr/>
          <p:nvPr/>
        </p:nvSpPr>
        <p:spPr>
          <a:xfrm>
            <a:off x="8732520" y="3831336"/>
            <a:ext cx="1920240" cy="310896"/>
          </a:xfrm>
          <a:prstGeom prst="rect">
            <a:avLst/>
          </a:prstGeom>
          <a:noFill/>
          <a:ln/>
        </p:spPr>
        <p:txBody>
          <a:bodyPr wrap="square" lIns="0" tIns="0" rIns="0" bIns="0" rtlCol="0" anchor="ctr"/>
          <a:lstStyle/>
          <a:p>
            <a:pPr indent="0" marL="0">
              <a:buNone/>
            </a:pPr>
            <a:r>
              <a:rPr lang="en-US" sz="1500" b="1" dirty="0">
                <a:solidFill>
                  <a:srgbClr val="232A31"/>
                </a:solidFill>
                <a:latin typeface="Cambria" pitchFamily="34" charset="0"/>
                <a:ea typeface="Cambria" pitchFamily="34" charset="-122"/>
                <a:cs typeface="Cambria" pitchFamily="34" charset="-120"/>
              </a:rPr>
              <a:t>Grok</a:t>
            </a:r>
            <a:endParaRPr lang="en-US" sz="1500" dirty="0"/>
          </a:p>
        </p:txBody>
      </p:sp>
      <p:sp>
        <p:nvSpPr>
          <p:cNvPr id="56" name="Text 48"/>
          <p:cNvSpPr/>
          <p:nvPr/>
        </p:nvSpPr>
        <p:spPr>
          <a:xfrm>
            <a:off x="8732520" y="4114800"/>
            <a:ext cx="2980944" cy="219456"/>
          </a:xfrm>
          <a:prstGeom prst="rect">
            <a:avLst/>
          </a:prstGeom>
          <a:noFill/>
          <a:ln/>
        </p:spPr>
        <p:txBody>
          <a:bodyPr wrap="square" lIns="0" tIns="0" rIns="0" bIns="0" rtlCol="0" anchor="ctr"/>
          <a:lstStyle/>
          <a:p>
            <a:pPr indent="0" marL="0">
              <a:buNone/>
            </a:pPr>
            <a:r>
              <a:rPr lang="en-US" sz="900" b="1" spc="30" kern="0" dirty="0">
                <a:solidFill>
                  <a:srgbClr val="7A8790"/>
                </a:solidFill>
                <a:latin typeface="Calibri" pitchFamily="34" charset="0"/>
                <a:ea typeface="Calibri" pitchFamily="34" charset="-122"/>
                <a:cs typeface="Calibri" pitchFamily="34" charset="-120"/>
              </a:rPr>
              <a:t>xAI (SpaceX) · Grok 4.6</a:t>
            </a:r>
            <a:endParaRPr lang="en-US" sz="900" dirty="0"/>
          </a:p>
        </p:txBody>
      </p:sp>
      <p:sp>
        <p:nvSpPr>
          <p:cNvPr id="57" name="Text 49"/>
          <p:cNvSpPr/>
          <p:nvPr/>
        </p:nvSpPr>
        <p:spPr>
          <a:xfrm>
            <a:off x="8330184" y="4425696"/>
            <a:ext cx="3246120" cy="475488"/>
          </a:xfrm>
          <a:prstGeom prst="rect">
            <a:avLst/>
          </a:prstGeom>
          <a:noFill/>
          <a:ln/>
        </p:spPr>
        <p:txBody>
          <a:bodyPr wrap="square" lIns="0" tIns="0" rIns="0" bIns="0" rtlCol="0" anchor="ctr"/>
          <a:lstStyle/>
          <a:p>
            <a:pPr indent="0" marL="0">
              <a:lnSpc>
                <a:spcPct val="96000"/>
              </a:lnSpc>
              <a:buNone/>
            </a:pPr>
            <a:r>
              <a:rPr lang="en-US" sz="1350" b="1" dirty="0">
                <a:solidFill>
                  <a:srgbClr val="0A5B5A"/>
                </a:solidFill>
                <a:latin typeface="Cambria" pitchFamily="34" charset="0"/>
                <a:ea typeface="Cambria" pitchFamily="34" charset="-122"/>
                <a:cs typeface="Cambria" pitchFamily="34" charset="-120"/>
              </a:rPr>
              <a:t>Blunt on purpose</a:t>
            </a:r>
            <a:endParaRPr lang="en-US" sz="1350" dirty="0"/>
          </a:p>
        </p:txBody>
      </p:sp>
      <p:sp>
        <p:nvSpPr>
          <p:cNvPr id="58" name="Text 50"/>
          <p:cNvSpPr/>
          <p:nvPr/>
        </p:nvSpPr>
        <p:spPr>
          <a:xfrm>
            <a:off x="8330184" y="4919472"/>
            <a:ext cx="3273552" cy="694944"/>
          </a:xfrm>
          <a:prstGeom prst="rect">
            <a:avLst/>
          </a:prstGeom>
          <a:noFill/>
          <a:ln/>
        </p:spPr>
        <p:txBody>
          <a:bodyPr wrap="square" lIns="0" tIns="0" rIns="0" bIns="0" rtlCol="0" anchor="ctr"/>
          <a:lstStyle/>
          <a:p>
            <a:pPr indent="0" marL="0">
              <a:lnSpc>
                <a:spcPct val="98000"/>
              </a:lnSpc>
              <a:buNone/>
            </a:pPr>
            <a:r>
              <a:rPr lang="en-US" sz="1100" dirty="0">
                <a:solidFill>
                  <a:srgbClr val="46545F"/>
                </a:solidFill>
                <a:latin typeface="Calibri" pitchFamily="34" charset="0"/>
                <a:ea typeface="Calibri" pitchFamily="34" charset="-122"/>
                <a:cs typeface="Calibri" pitchFamily="34" charset="-120"/>
              </a:rPr>
              <a:t>“Unhinged” is a literal voice mode; real-time X data; aggressive price-performance.</a:t>
            </a:r>
            <a:endParaRPr lang="en-US" sz="1100" dirty="0"/>
          </a:p>
        </p:txBody>
      </p:sp>
      <p:sp>
        <p:nvSpPr>
          <p:cNvPr id="59" name="Text 51"/>
          <p:cNvSpPr/>
          <p:nvPr/>
        </p:nvSpPr>
        <p:spPr>
          <a:xfrm>
            <a:off x="8330184" y="5632704"/>
            <a:ext cx="3273552" cy="347472"/>
          </a:xfrm>
          <a:prstGeom prst="rect">
            <a:avLst/>
          </a:prstGeom>
          <a:noFill/>
          <a:ln/>
        </p:spPr>
        <p:txBody>
          <a:bodyPr wrap="square" lIns="0" tIns="0" rIns="0" bIns="0" rtlCol="0" anchor="ctr"/>
          <a:lstStyle/>
          <a:p>
            <a:pPr indent="0" marL="0">
              <a:lnSpc>
                <a:spcPct val="92000"/>
              </a:lnSpc>
              <a:buNone/>
            </a:pPr>
            <a:r>
              <a:rPr lang="en-US" sz="1050" i="1" dirty="0">
                <a:solidFill>
                  <a:srgbClr val="B96A1B"/>
                </a:solidFill>
                <a:latin typeface="Calibri" pitchFamily="34" charset="0"/>
                <a:ea typeface="Calibri" pitchFamily="34" charset="-122"/>
                <a:cs typeface="Calibri" pitchFamily="34" charset="-120"/>
              </a:rPr>
              <a:t>Fewer guardrails, real incidents (Jul 2025 apology) — mind brand-sensitive work.</a:t>
            </a:r>
            <a:endParaRPr lang="en-US" sz="1050" dirty="0"/>
          </a:p>
        </p:txBody>
      </p:sp>
      <p:sp>
        <p:nvSpPr>
          <p:cNvPr id="60" name="FACILITATION_MODE_BAR"/>
          <p:cNvSpPr/>
          <p:nvPr/>
        </p:nvSpPr>
        <p:spPr>
          <a:xfrm>
            <a:off x="0" y="0"/>
            <a:ext cx="12191695" cy="38404"/>
          </a:xfrm>
          <a:prstGeom prst="rect">
            <a:avLst/>
          </a:prstGeom>
          <a:solidFill>
            <a:srgbClr val="A7B0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FACILITATION_MODE_LABEL"/>
          <p:cNvSpPr/>
          <p:nvPr/>
        </p:nvSpPr>
        <p:spPr>
          <a:xfrm>
            <a:off x="9525304" y="161848"/>
            <a:ext cx="2333548" cy="28529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1">
                <a:solidFill>
                  <a:srgbClr val="526267"/>
                </a:solidFill>
                <a:latin typeface="Calibri"/>
              </a:rPr>
              <a:t>REFERENCE  STUDY</a:t>
            </a:r>
          </a:p>
        </p:txBody>
      </p:sp>
      <p:sp>
        <p:nvSpPr>
          <p:cNvPr id="62" name="detail-link"/>
          <p:cNvSpPr/>
          <p:nvPr/>
        </p:nvSpPr>
        <p:spPr>
          <a:xfrm>
            <a:off x="504748" y="6534302"/>
            <a:ext cx="10287000"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l"/>
            <a:r>
              <a:rPr sz="1050" b="0">
                <a:solidFill>
                  <a:srgbClr val="526267"/>
                </a:solidFill>
                <a:latin typeface="Calibri"/>
              </a:rPr>
              <a:t>DETAILED REFERENCE · Restored classic · Related live slides 13, 16–17</a:t>
            </a:r>
          </a:p>
        </p:txBody>
      </p:sp>
      <p:sp>
        <p:nvSpPr>
          <p:cNvPr id="63" name="page-number"/>
          <p:cNvSpPr/>
          <p:nvPr/>
        </p:nvSpPr>
        <p:spPr>
          <a:xfrm>
            <a:off x="11382451" y="6534302"/>
            <a:ext cx="476402" cy="25694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r"/>
            <a:r>
              <a:rPr sz="1050" b="0">
                <a:solidFill>
                  <a:srgbClr val="657278"/>
                </a:solidFill>
                <a:latin typeface="Calibri"/>
              </a:rPr>
              <a:t>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