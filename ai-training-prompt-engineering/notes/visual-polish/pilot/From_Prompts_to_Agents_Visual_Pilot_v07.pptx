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ns0="http://schemas.openxmlformats.org/officeDocument/2006/relationships" id="364" ns0:id="rId115"/>
    <p:sldId xmlns:r="http://schemas.openxmlformats.org/officeDocument/2006/relationships" id="260" r:id="R2ea203b92871473d"/>
    <p:sldId xmlns:ns0="http://schemas.openxmlformats.org/officeDocument/2006/relationships" id="365" ns0:id="rId116"/>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7" r:id="R8f44df3f995741be"/>
    <p:sldId xmlns:r="http://schemas.openxmlformats.org/officeDocument/2006/relationships" id="268" r:id="R497eec08e90f4972"/>
    <p:sldId xmlns:r="http://schemas.openxmlformats.org/officeDocument/2006/relationships" id="270" r:id="R2e829fbd5b88413d"/>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r="http://schemas.openxmlformats.org/officeDocument/2006/relationships" id="271" r:id="R87625dd8e0984c06"/>
    <p:sldId xmlns:ns0="http://schemas.openxmlformats.org/officeDocument/2006/relationships" id="367" ns0:id="rId109"/>
    <p:sldId xmlns:ns0="http://schemas.openxmlformats.org/officeDocument/2006/relationships" id="368" ns0:id="rId108"/>
    <p:sldId xmlns:ns0="http://schemas.openxmlformats.org/officeDocument/2006/relationships" id="366" ns0:id="rId117"/>
    <p:sldId xmlns:ns0="http://schemas.openxmlformats.org/officeDocument/2006/relationships" id="359" ns0:id="rId110"/>
    <p:sldId xmlns:ns0="http://schemas.openxmlformats.org/officeDocument/2006/relationships" id="360" ns0:id="rId111"/>
    <p:sldId xmlns:r="http://schemas.openxmlformats.org/officeDocument/2006/relationships" id="273" r:id="R0c46244e8fb14028"/>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ns0="http://schemas.openxmlformats.org/officeDocument/2006/relationships" id="369" ns0:id="rId118"/>
    <p:sldId xmlns:r="http://schemas.openxmlformats.org/officeDocument/2006/relationships" id="282" r:id="Rf617b4374eff49ab"/>
    <p:sldId xmlns:r="http://schemas.openxmlformats.org/officeDocument/2006/relationships" id="283" r:id="Rc1ab04196d404aed"/>
    <p:sldId xmlns:ns0="http://schemas.openxmlformats.org/officeDocument/2006/relationships" id="370" ns0:id="rId119"/>
    <p:sldId xmlns:ns0="http://schemas.openxmlformats.org/officeDocument/2006/relationships" id="371" ns0:id="rId120"/>
    <p:sldId xmlns:ns0="http://schemas.openxmlformats.org/officeDocument/2006/relationships" id="372" ns0:id="rId121"/>
    <p:sldId xmlns:ns0="http://schemas.openxmlformats.org/officeDocument/2006/relationships" id="373" ns0:id="rId122"/>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r="http://schemas.openxmlformats.org/officeDocument/2006/relationships" id="274" r:id="R8d8266f16f39499e"/>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afab2e450c4195" Type="http://schemas.openxmlformats.org/officeDocument/2006/relationships/slide" Target="slides/slide84.xml"/><Relationship Id="R05855d706bc045fe" Type="http://schemas.openxmlformats.org/officeDocument/2006/relationships/slide" Target="slides/slide88.xml"/><Relationship Id="R069238ad314e4c27" Type="http://schemas.openxmlformats.org/officeDocument/2006/relationships/slide" Target="slides/slide26.xml"/><Relationship Id="R0ac1719f35204866" Type="http://schemas.openxmlformats.org/officeDocument/2006/relationships/slide" Target="slides/slide57.xml"/><Relationship Id="R0b89ffdaa91d419b" Type="http://schemas.openxmlformats.org/officeDocument/2006/relationships/notesMaster" Target="notesMasters/notesMaster1.xml"/><Relationship Id="R0c46244e8fb14028" Type="http://schemas.openxmlformats.org/officeDocument/2006/relationships/slide" Target="slides/slide24.xml"/><Relationship Id="R0c612231d0d14151" Type="http://schemas.openxmlformats.org/officeDocument/2006/relationships/slide" Target="slides/slide9.xml"/><Relationship Id="R0c8f4d29f8a04f60" Type="http://schemas.openxmlformats.org/officeDocument/2006/relationships/slide" Target="slides/slide64.xml"/><Relationship Id="R15145c6c7e234ba1" Type="http://schemas.openxmlformats.org/officeDocument/2006/relationships/slide" Target="slides/slide93.xml"/><Relationship Id="R186fa38805ad4cc8" Type="http://schemas.openxmlformats.org/officeDocument/2006/relationships/slide" Target="slides/slide47.xml"/><Relationship Id="R19fb9c5b0ac74759" Type="http://schemas.openxmlformats.org/officeDocument/2006/relationships/slide" Target="slides/slide44.xml"/><Relationship Id="R1d77e68a871f4474" Type="http://schemas.openxmlformats.org/officeDocument/2006/relationships/slide" Target="slides/slide97.xml"/><Relationship Id="R1e1b2aa1bb794464" Type="http://schemas.openxmlformats.org/officeDocument/2006/relationships/slide" Target="slides/slide55.xml"/><Relationship Id="R1fbfbc89ece44e43" Type="http://schemas.openxmlformats.org/officeDocument/2006/relationships/slide" Target="slides/slide108.xml"/><Relationship Id="R22c468c81ffa482e" Type="http://schemas.openxmlformats.org/officeDocument/2006/relationships/slide" Target="slides/slide68.xml"/><Relationship Id="R2b2e423f66a449ed" Type="http://schemas.openxmlformats.org/officeDocument/2006/relationships/slide" Target="slides/slide96.xml"/><Relationship Id="R2bcb4d96ecf8422d" Type="http://schemas.openxmlformats.org/officeDocument/2006/relationships/slide" Target="slides/slide61.xml"/><Relationship Id="R2de53fc756054224" Type="http://schemas.openxmlformats.org/officeDocument/2006/relationships/slide" Target="slides/slide51.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6.xml"/><Relationship Id="R33a496a507fc4955" Type="http://schemas.openxmlformats.org/officeDocument/2006/relationships/slide" Target="slides/slide8.xml"/><Relationship Id="R3b56dbb5e0334107" Type="http://schemas.openxmlformats.org/officeDocument/2006/relationships/slide" Target="slides/slide62.xml"/><Relationship Id="R3f248e2bf34e4ee7" Type="http://schemas.openxmlformats.org/officeDocument/2006/relationships/slide" Target="slides/slide35.xml"/><Relationship Id="R3fa5858789f04404" Type="http://schemas.openxmlformats.org/officeDocument/2006/relationships/slide" Target="slides/slide72.xml"/><Relationship Id="R3fff51fc7d614878" Type="http://schemas.openxmlformats.org/officeDocument/2006/relationships/slide" Target="slides/slide36.xml"/><Relationship Id="R40e1c79f179f4e8f" Type="http://schemas.openxmlformats.org/officeDocument/2006/relationships/slide" Target="slides/slide52.xml"/><Relationship Id="R42701428448d4235" Type="http://schemas.openxmlformats.org/officeDocument/2006/relationships/slide" Target="slides/slide38.xml"/><Relationship Id="R44780e2ebdb6403f" Type="http://schemas.openxmlformats.org/officeDocument/2006/relationships/slide" Target="slides/slide74.xml"/><Relationship Id="R458c038f106f42b3" Type="http://schemas.openxmlformats.org/officeDocument/2006/relationships/slide" Target="slides/slide28.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101.xml"/><Relationship Id="R49c9e195f24045a4" Type="http://schemas.openxmlformats.org/officeDocument/2006/relationships/slide" Target="slides/slide10.xml"/><Relationship Id="R4c65dd02438d42f5" Type="http://schemas.openxmlformats.org/officeDocument/2006/relationships/slide" Target="slides/slide67.xml"/><Relationship Id="R4e11cd081d8c42cc" Type="http://schemas.openxmlformats.org/officeDocument/2006/relationships/slide" Target="slides/slide54.xml"/><Relationship Id="R5aa8b9bfd01543b2" Type="http://schemas.openxmlformats.org/officeDocument/2006/relationships/slideMaster" Target="slideMasters/slideMaster1.xml"/><Relationship Id="R5d1c473c62ac4960" Type="http://schemas.openxmlformats.org/officeDocument/2006/relationships/slide" Target="slides/slide92.xml"/><Relationship Id="R620ac1dbc6f14e53" Type="http://schemas.openxmlformats.org/officeDocument/2006/relationships/slide" Target="slides/slide77.xml"/><Relationship Id="R64d1fcab01954a83" Type="http://schemas.openxmlformats.org/officeDocument/2006/relationships/slide" Target="slides/slide89.xml"/><Relationship Id="R6ae5b62127bb4a3e" Type="http://schemas.openxmlformats.org/officeDocument/2006/relationships/slide" Target="slides/slide31.xml"/><Relationship Id="R6c515ce50f4e4f7f" Type="http://schemas.openxmlformats.org/officeDocument/2006/relationships/tableStyles" Target="tableStyles.xml"/><Relationship Id="R6f9e6b8c5b6d4ef6" Type="http://schemas.openxmlformats.org/officeDocument/2006/relationships/slide" Target="slides/slide79.xml"/><Relationship Id="R72360af60b1244c5" Type="http://schemas.openxmlformats.org/officeDocument/2006/relationships/slide" Target="slides/slide40.xml"/><Relationship Id="R72f4e34109924bff" Type="http://schemas.openxmlformats.org/officeDocument/2006/relationships/slide" Target="slides/slide100.xml"/><Relationship Id="R74a68a196bca4aa9" Type="http://schemas.openxmlformats.org/officeDocument/2006/relationships/slide" Target="slides/slide7.xml"/><Relationship Id="R7538f1ee4e264b12" Type="http://schemas.openxmlformats.org/officeDocument/2006/relationships/slide" Target="slides/slide59.xml"/><Relationship Id="R774ece67fad84555" Type="http://schemas.openxmlformats.org/officeDocument/2006/relationships/slide" Target="slides/slide45.xml"/><Relationship Id="R7ff20651f7f24b61" Type="http://schemas.openxmlformats.org/officeDocument/2006/relationships/slide" Target="slides/slide58.xml"/><Relationship Id="R807c75ee14994fe2" Type="http://schemas.openxmlformats.org/officeDocument/2006/relationships/slide" Target="slides/slide46.xml"/><Relationship Id="R80f7ed3959794549" Type="http://schemas.openxmlformats.org/officeDocument/2006/relationships/slide" Target="slides/slide99.xml"/><Relationship Id="R823c328ecb794c2b" Type="http://schemas.openxmlformats.org/officeDocument/2006/relationships/slide" Target="slides/slide82.xml"/><Relationship Id="R830a4c4d00184e7b" Type="http://schemas.openxmlformats.org/officeDocument/2006/relationships/viewProps" Target="viewProps.xml"/><Relationship Id="R87625dd8e0984c06" Type="http://schemas.openxmlformats.org/officeDocument/2006/relationships/slide" Target="slides/slide19.xml"/><Relationship Id="R88a5cc6292ea42b7" Type="http://schemas.openxmlformats.org/officeDocument/2006/relationships/slide" Target="slides/slide83.xml"/><Relationship Id="R8d8266f16f39499e" Type="http://schemas.openxmlformats.org/officeDocument/2006/relationships/slide" Target="slides/slide25.xml"/><Relationship Id="R8f44df3f995741be" Type="http://schemas.openxmlformats.org/officeDocument/2006/relationships/slide" Target="slides/slide12.xml"/><Relationship Id="R8f9157d733974967" Type="http://schemas.openxmlformats.org/officeDocument/2006/relationships/slide" Target="slides/slide85.xml"/><Relationship Id="R927cd8835efb4ab0" Type="http://schemas.openxmlformats.org/officeDocument/2006/relationships/slide" Target="slides/slide32.xml"/><Relationship Id="R93d4d1d0de584694" Type="http://schemas.openxmlformats.org/officeDocument/2006/relationships/slide" Target="slides/slide42.xml"/><Relationship Id="R99253aca67014940" Type="http://schemas.openxmlformats.org/officeDocument/2006/relationships/slide" Target="slides/slide102.xml"/><Relationship Id="Ra06c56ae3a56481f" Type="http://schemas.openxmlformats.org/officeDocument/2006/relationships/slide" Target="slides/slide56.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91.xml"/><Relationship Id="Rae84fa895e7748ca" Type="http://schemas.openxmlformats.org/officeDocument/2006/relationships/slide" Target="slides/slide37.xml"/><Relationship Id="Rb17885eb73d14520" Type="http://schemas.openxmlformats.org/officeDocument/2006/relationships/slide" Target="slides/slide94.xml"/><Relationship Id="Rbaa478a0935549e2" Type="http://schemas.openxmlformats.org/officeDocument/2006/relationships/slide" Target="slides/slide76.xml"/><Relationship Id="Rbb8266a8051248ab" Type="http://schemas.openxmlformats.org/officeDocument/2006/relationships/slide" Target="slides/slide73.xml"/><Relationship Id="Rc19ca91603b2489c" Type="http://schemas.openxmlformats.org/officeDocument/2006/relationships/slide" Target="slides/slide78.xml"/><Relationship Id="Rc1ab04196d404aed" Type="http://schemas.openxmlformats.org/officeDocument/2006/relationships/slide" Target="slides/slide34.xml"/><Relationship Id="Rc347af9a1dea4fa3" Type="http://schemas.openxmlformats.org/officeDocument/2006/relationships/slide" Target="slides/slide98.xml"/><Relationship Id="Rc38ef0b539dc41dd" Type="http://schemas.openxmlformats.org/officeDocument/2006/relationships/slide" Target="slides/slide81.xml"/><Relationship Id="Rc4414996e3934b5d" Type="http://schemas.openxmlformats.org/officeDocument/2006/relationships/slide" Target="slides/slide43.xml"/><Relationship Id="Rc5e85b598ee44992" Type="http://schemas.openxmlformats.org/officeDocument/2006/relationships/slide" Target="slides/slide69.xml"/><Relationship Id="Rc671bf21a3eb43f1" Type="http://schemas.openxmlformats.org/officeDocument/2006/relationships/slide" Target="slides/slide109.xml"/><Relationship Id="Rc8d585cd4e5649e6" Type="http://schemas.openxmlformats.org/officeDocument/2006/relationships/slide" Target="slides/slide39.xml"/><Relationship Id="Rca6780869fc647e3" Type="http://schemas.openxmlformats.org/officeDocument/2006/relationships/slide" Target="slides/slide75.xml"/><Relationship Id="Rd125716ce4294b9c" Type="http://schemas.openxmlformats.org/officeDocument/2006/relationships/slide" Target="slides/slide65.xml"/><Relationship Id="Rd36e565f71ed490d" Type="http://schemas.openxmlformats.org/officeDocument/2006/relationships/presProps" Target="presProps.xml"/><Relationship Id="Rd9664eb4c866478d" Type="http://schemas.openxmlformats.org/officeDocument/2006/relationships/slide" Target="slides/slide95.xml"/><Relationship Id="Rdb3d43f0242a4fac" Type="http://schemas.openxmlformats.org/officeDocument/2006/relationships/slide" Target="slides/slide41.xml"/><Relationship Id="Re16d95a845d14216" Type="http://schemas.openxmlformats.org/officeDocument/2006/relationships/slide" Target="slides/slide30.xml"/><Relationship Id="Re228b723b77d4a79" Type="http://schemas.openxmlformats.org/officeDocument/2006/relationships/slide" Target="slides/slide90.xml"/><Relationship Id="Re2e4afc3a8524f5b" Type="http://schemas.openxmlformats.org/officeDocument/2006/relationships/slide" Target="slides/slide80.xml"/><Relationship Id="Re62d8fa47a29432d" Type="http://schemas.openxmlformats.org/officeDocument/2006/relationships/slide" Target="slides/slide63.xml"/><Relationship Id="Reb419e1bc7894222" Type="http://schemas.openxmlformats.org/officeDocument/2006/relationships/slide" Target="slides/slide86.xml"/><Relationship Id="Rf04d4de72cd24ec1" Type="http://schemas.openxmlformats.org/officeDocument/2006/relationships/slide" Target="slides/slide60.xml"/><Relationship Id="Rf1f0b08a68ab460c" Type="http://schemas.openxmlformats.org/officeDocument/2006/relationships/slide" Target="slides/slide3.xml"/><Relationship Id="Rf3e1268529fb4912" Type="http://schemas.openxmlformats.org/officeDocument/2006/relationships/slide" Target="slides/slide71.xml"/><Relationship Id="Rf55a94a8bf554d05" Type="http://schemas.openxmlformats.org/officeDocument/2006/relationships/slide" Target="slides/slide27.xml"/><Relationship Id="Rf617b4374eff49ab" Type="http://schemas.openxmlformats.org/officeDocument/2006/relationships/slide" Target="slides/slide33.xml"/><Relationship Id="Rf624d4e59fd34102" Type="http://schemas.openxmlformats.org/officeDocument/2006/relationships/slide" Target="slides/slide70.xml"/><Relationship Id="Rf67660129de8488f" Type="http://schemas.openxmlformats.org/officeDocument/2006/relationships/slide" Target="slides/slide53.xml"/><Relationship Id="Rf83dd77c14194f0b" Type="http://schemas.openxmlformats.org/officeDocument/2006/relationships/slide" Target="slides/slide50.xml"/><Relationship Id="Rf8ebba3d3d364e8e" Type="http://schemas.openxmlformats.org/officeDocument/2006/relationships/slide" Target="slides/slide87.xml"/><Relationship Id="Rfa30b3a8386f4027" Type="http://schemas.openxmlformats.org/officeDocument/2006/relationships/slide" Target="slides/slide29.xml"/><Relationship Id="RnewSlide102" Type="http://schemas.openxmlformats.org/officeDocument/2006/relationships/slide" Target="slides/slide48.xml"/><Relationship Id="RnewSlide103" Type="http://schemas.openxmlformats.org/officeDocument/2006/relationships/slide" Target="slides/slide49.xml"/><Relationship Id="rId1" Type="http://schemas.openxmlformats.org/officeDocument/2006/relationships/slide" Target="slides/slide103.xml"/><Relationship Id="rId2" Type="http://schemas.openxmlformats.org/officeDocument/2006/relationships/slide" Target="slides/slide104.xml"/><Relationship Id="rId3" Type="http://schemas.openxmlformats.org/officeDocument/2006/relationships/slide" Target="slides/slide105.xml"/><Relationship Id="rId4" Type="http://schemas.openxmlformats.org/officeDocument/2006/relationships/slide" Target="slides/slide106.xml"/><Relationship Id="rId5" Type="http://schemas.openxmlformats.org/officeDocument/2006/relationships/slide" Target="slides/slide107.xml"/><Relationship Id="rId108" Type="http://schemas.openxmlformats.org/officeDocument/2006/relationships/slide" Target="slides/slide111.xml"/><Relationship Id="rId109" Type="http://schemas.openxmlformats.org/officeDocument/2006/relationships/slide" Target="slides/slide110.xml"/><Relationship Id="rId110" Type="http://schemas.openxmlformats.org/officeDocument/2006/relationships/slide" Target="slides/slide22.xml"/><Relationship Id="rId111" Type="http://schemas.openxmlformats.org/officeDocument/2006/relationships/slide" Target="slides/slide23.xml"/><Relationship Id="rId112" Type="http://schemas.openxmlformats.org/officeDocument/2006/relationships/slide" Target="slides/slide16.xml"/><Relationship Id="rId113" Type="http://schemas.openxmlformats.org/officeDocument/2006/relationships/slide" Target="slides/slide17.xml"/><Relationship Id="rId114" Type="http://schemas.openxmlformats.org/officeDocument/2006/relationships/slide" Target="slides/slide18.xml"/><Relationship Id="rId115" Type="http://schemas.openxmlformats.org/officeDocument/2006/relationships/slide" Target="slides/slide4.xml"/><Relationship Id="rId116" Type="http://schemas.openxmlformats.org/officeDocument/2006/relationships/slide" Target="slides/slide6.xml"/><Relationship Id="rId117" Type="http://schemas.openxmlformats.org/officeDocument/2006/relationships/slide" Target="slides/slide2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9.xml"/><Relationship Id="Rcd627e3788d74f2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7.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9.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30.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32.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33.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6.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8.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9.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42.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9.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7.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50.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51.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52.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53.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54.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55.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6.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7.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8.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61.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62.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63.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7.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73.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75.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7.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9.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80.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82.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7.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8.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93.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94.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95.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6.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7.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8.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9.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100.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101.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102.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8.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9.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75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REFERENCE · 0:20–0:30. Orient, do not read: bands are starting choices, not cross-vendor benchmark rankings.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TEACH · about 1:00. Concept slide — capability, reasoning effort and workload volume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Confirm approved tools and data rules before participants upload anything.</a:t>
            </a:r>
          </a:p>
          <a:p xmlns:a="http://schemas.openxmlformats.org/drawingml/2006/main"/>
          <a:p xmlns:a="http://schemas.openxmlformats.org/drawingml/2006/main">
            <a:r>
              <a:t>SAY:</a:t>
            </a:r>
          </a:p>
          <a:p xmlns:a="http://schemas.openxmlformats.org/drawingml/2006/main">
            <a:r>
              <a:t>- Company data rules depend on the actual account, service, contract, and configuration.</a:t>
            </a:r>
          </a:p>
          <a:p xmlns:a="http://schemas.openxmlformats.org/drawingml/2006/main">
            <a:r>
              <a:t>- A vendor’s home country alone does not describe every customer’s storage arrangement.</a:t>
            </a:r>
          </a:p>
          <a:p xmlns:a="http://schemas.openxmlformats.org/drawingml/2006/main">
            <a:r>
              <a:t>- Resolve uncertain access before an upload, using the organization’s approved guidance.</a:t>
            </a:r>
          </a:p>
          <a:p xmlns:a="http://schemas.openxmlformats.org/drawingml/2006/main"/>
          <a:p xmlns:a="http://schemas.openxmlformats.org/drawingml/2006/main">
            <a:r>
              <a:t>DO: None.</a:t>
            </a:r>
          </a:p>
          <a:p xmlns:a="http://schemas.openxmlformats.org/drawingml/2006/main"/>
          <a:p xmlns:a="http://schemas.openxmlformats.org/drawingml/2006/main">
            <a:r>
              <a:t>BRIDGE: Move to “Part 3: prompt engineering”.</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2 · TRUST &amp; DATA</a:t>
            </a:r>
          </a:p>
          <a:p xmlns:a="http://schemas.openxmlformats.org/drawingml/2006/main">
            <a:r>
              <a:t>19</a:t>
            </a:r>
          </a:p>
          <a:p xmlns:a="http://schemas.openxmlformats.org/drawingml/2006/main">
            <a:r>
              <a:t>WHERE YOUR WORDS GO</a:t>
            </a:r>
          </a:p>
          <a:p xmlns:a="http://schemas.openxmlformats.org/drawingml/2006/main">
            <a:r>
              <a:t>Whose servers, in which country — Sep 2026</a:t>
            </a:r>
          </a:p>
          <a:p xmlns:a="http://schemas.openxmlformats.org/drawingml/2006/main">
            <a:r>
              <a:t>UNITED STATES</a:t>
            </a:r>
          </a:p>
          <a:p xmlns:a="http://schemas.openxmlformats.org/drawingml/2006/main">
            <a:r>
              <a:t>Anthropic</a:t>
            </a:r>
          </a:p>
          <a:p xmlns:a="http://schemas.openxmlformats.org/drawingml/2006/main">
            <a:r>
              <a:t>stored in the US</a:t>
            </a:r>
          </a:p>
          <a:p xmlns:a="http://schemas.openxmlformats.org/drawingml/2006/main">
            <a:r>
              <a:t>OpenAI</a:t>
            </a:r>
          </a:p>
          <a:p xmlns:a="http://schemas.openxmlformats.org/drawingml/2006/main">
            <a:r>
              <a:t>US by default</a:t>
            </a:r>
          </a:p>
          <a:p xmlns:a="http://schemas.openxmlformats.org/drawingml/2006/main">
            <a:r>
              <a:t>xAI</a:t>
            </a:r>
          </a:p>
          <a:p xmlns:a="http://schemas.openxmlformats.org/drawingml/2006/main">
            <a:r>
              <a:t>own Memphis data centers</a:t>
            </a:r>
          </a:p>
          <a:p xmlns:a="http://schemas.openxmlformats.org/drawingml/2006/main">
            <a:r>
              <a:t>Perplexity</a:t>
            </a:r>
          </a:p>
          <a:p xmlns:a="http://schemas.openxmlformats.org/drawingml/2006/main">
            <a:r>
              <a:t>AWS cloud, worldwide</a:t>
            </a:r>
          </a:p>
          <a:p xmlns:a="http://schemas.openxmlformats.org/drawingml/2006/main">
            <a:r>
              <a:t>EUROPE — residency on business tiers</a:t>
            </a:r>
          </a:p>
          <a:p xmlns:a="http://schemas.openxmlformats.org/drawingml/2006/main">
            <a:r>
              <a:t>OpenAI</a:t>
            </a:r>
          </a:p>
          <a:p xmlns:a="http://schemas.openxmlformats.org/drawingml/2006/main">
            <a:r>
              <a:t>EU residency (2025) + in-region processing (2026)</a:t>
            </a:r>
          </a:p>
          <a:p xmlns:a="http://schemas.openxmlformats.org/drawingml/2006/main">
            <a:r>
              <a:t>Microsoft</a:t>
            </a:r>
          </a:p>
          <a:p xmlns:a="http://schemas.openxmlformats.org/drawingml/2006/main">
            <a:r>
              <a:t>EU Data Boundary — Claude-in-Copilot sits outside it</a:t>
            </a:r>
          </a:p>
          <a:p xmlns:a="http://schemas.openxmlformats.org/drawingml/2006/main">
            <a:r>
              <a:t>Google</a:t>
            </a:r>
          </a:p>
          <a:p xmlns:a="http://schemas.openxmlformats.org/drawingml/2006/main">
            <a:r>
              <a:t>enterprise residency by region</a:t>
            </a:r>
          </a:p>
          <a:p xmlns:a="http://schemas.openxmlformats.org/drawingml/2006/main">
            <a:r>
              <a:t>Anthropic</a:t>
            </a:r>
          </a:p>
          <a:p xmlns:a="http://schemas.openxmlformats.org/drawingml/2006/main">
            <a:r>
              <a:t>EU via cloud partners (Bedrock · Vertex · Foundry)</a:t>
            </a:r>
          </a:p>
          <a:p xmlns:a="http://schemas.openxmlformats.org/drawingml/2006/main">
            <a:r>
              <a:t>CHINA &amp; ASIA</a:t>
            </a:r>
          </a:p>
          <a:p xmlns:a="http://schemas.openxmlformats.org/drawingml/2006/main">
            <a:r>
              <a:t>DeepSeek</a:t>
            </a:r>
          </a:p>
          <a:p xmlns:a="http://schemas.openxmlformats.org/drawingml/2006/main">
            <a:r>
              <a:t>“stored in the People’s Republic of China” — its own policy</a:t>
            </a:r>
          </a:p>
          <a:p xmlns:a="http://schemas.openxmlformats.org/drawingml/2006/main">
            <a:r>
              <a:t>Kimi (Moonshot)</a:t>
            </a:r>
          </a:p>
          <a:p xmlns:a="http://schemas.openxmlformats.org/drawingml/2006/main">
            <a:r>
              <a:t>PRC storage</a:t>
            </a:r>
          </a:p>
          <a:p xmlns:a="http://schemas.openxmlformats.org/drawingml/2006/main">
            <a:r>
              <a:t>Z</a:t>
            </a:r>
          </a:p>
          <a:p xmlns:a="http://schemas.openxmlformats.org/drawingml/2006/main">
            <a:r>
              <a:t>Z.ai (Zhipu)</a:t>
            </a:r>
          </a:p>
          <a:p xmlns:a="http://schemas.openxmlformats.org/drawingml/2006/main">
            <a:r>
              <a:t>Singapore processing · US Entity-List parent</a:t>
            </a:r>
          </a:p>
          <a:p xmlns:a="http://schemas.openxmlformats.org/drawingml/2006/main">
            <a:r>
              <a:t>Residency = choosing where it lives. </a:t>
            </a:r>
          </a:p>
          <a:p xmlns:a="http://schemas.openxmlformats.org/drawingml/2006/main">
            <a:r>
              <a:t>An enterprise feature: the same vendor can host your company tenant in the EU while its consumer app stores chats in the US.</a:t>
            </a:r>
          </a:p>
          <a:p xmlns:a="http://schemas.openxmlformats.org/drawingml/2006/main">
            <a:r>
              <a:t>The one question that settles it: </a:t>
            </a:r>
          </a:p>
          <a:p xmlns:a="http://schemas.openxmlformats.org/drawingml/2006/main">
            <a:r>
              <a:t>ask IT which region and tier YOUR account runs on — your organization’s AI policy has the answer for everything else.</a:t>
            </a:r>
          </a:p>
          <a:p xmlns:a="http://schemas.openxmlformats.org/drawingml/2006/main"/>
          <a:p xmlns:a="http://schemas.openxmlformats.org/drawingml/2006/main">
            <a:r>
              <a:t>ARCHIVED SOURCE NOTES</a:t>
            </a:r>
          </a:p>
          <a:p xmlns:a="http://schemas.openxmlformats.org/drawingml/2006/main">
            <a:r>
              <a:t>[REFRESH QUARTERLY — owner: Oscar]</a:t>
            </a:r>
          </a:p>
          <a:p xmlns:a="http://schemas.openxmlformats.org/drawingml/2006/main"/>
          <a:p xmlns:a="http://schemas.openxmlformats.org/drawingml/2006/main">
            <a:r>
              <a:t>HOW TO PRESENT —</a:t>
            </a:r>
          </a:p>
          <a:p xmlns:a="http://schemas.openxmlformats.org/drawingml/2006/main">
            <a:r>
              <a:t>1) Frame: “one geography question — whose servers, in which country — and one account question. That’s the whole trust topic at our level.”</a:t>
            </a: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p>
          <a:p xmlns:a="http://schemas.openxmlformats.org/drawingml/2006/main">
            <a:r>
              <a:t>3) The italic map line: SAME LOGO, DIFFERENT HOMES — the account tier decides which one yours is. That is the entire lesson.</a:t>
            </a:r>
          </a:p>
          <a:p xmlns:a="http://schemas.openxmlformats.org/drawingml/2006/main">
            <a:r>
              <a:t>4) Teal card: residency, defined once.</a:t>
            </a: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p>
          <a:p xmlns:a="http://schemas.openxmlformats.org/drawingml/2006/main"/>
          <a:p xmlns:a="http://schemas.openxmlformats.org/drawingml/2006/main">
            <a:r>
              <a:t>BRIDGE —</a:t>
            </a:r>
          </a:p>
          <a:p xmlns:a="http://schemas.openxmlformats.org/drawingml/2006/main">
            <a:r>
              <a:t>“That’s the landscape. Part 3 — the craft itself.”</a:t>
            </a:r>
          </a:p>
          <a:p xmlns:a="http://schemas.openxmlformats.org/drawingml/2006/main"/>
          <a:p xmlns:a="http://schemas.openxmlformats.org/drawingml/2006/main">
            <a:r>
              <a:t>ACRONYMS —</a:t>
            </a:r>
          </a:p>
          <a:p xmlns:a="http://schemas.openxmlformats.org/drawingml/2006/main">
            <a:r>
              <a:t>PRC = People’s Republic of China. EU Data Boundary = Microsoft’s commitment to process EU data inside the EU.</a:t>
            </a:r>
          </a:p>
          <a:p xmlns:a="http://schemas.openxmlformats.org/drawingml/2006/main">
            <a:r>
              <a:t>AWS = Amazon Web Services. Entity List = the US federal trade-restriction list — a procurement red flag.</a:t>
            </a:r>
          </a:p>
          <a:p xmlns:a="http://schemas.openxmlformats.org/drawingml/2006/main"/>
          <a:p xmlns:a="http://schemas.openxmlformats.org/drawingml/2006/main">
            <a:r>
              <a:t>CONTENT —</a:t>
            </a:r>
          </a:p>
          <a:p xmlns:a="http://schemas.openxmlformats.org/drawingml/2006/main">
            <a:r>
              <a:t>v1.12 (owner edits, ported): the centered “same logo, different homes — the ACCOUNT TIER decides” line was removed from the slide — say it aloud instead when sweeping the panels; it remains the slide’s one-line lesson.</a:t>
            </a: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p>
          <a:p xmlns:a="http://schemas.openxmlformats.org/drawingml/2006/main">
            <a:r>
              <a:t>Defaults drift (Anthropic flipped consumer training Aug 2025; Microsoft Oct 2024) — re-verify quarterly.</a:t>
            </a:r>
          </a:p>
          <a:p xmlns:a="http://schemas.openxmlformats.org/drawingml/2006/main">
            <a:r>
              <a:t>Standing rule, always said aloud: your organization’s AI policy and approved-tool list outrank everything on this slide.</a:t>
            </a:r>
          </a:p>
          <a:p xmlns:a="http://schemas.openxmlformats.org/drawingml/2006/main">
            <a:r>
              <a:t>19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96–101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Prompt advice depends on the model, task, and evidence.</a:t>
            </a:r>
          </a:p>
          <a:p xmlns:a="http://schemas.openxmlformats.org/drawingml/2006/main"/>
          <a:p xmlns:a="http://schemas.openxmlformats.org/drawingml/2006/main">
            <a:r>
              <a:t>SAY:</a:t>
            </a:r>
          </a:p>
          <a:p xmlns:a="http://schemas.openxmlformats.org/drawingml/2006/main">
            <a:r>
              <a:t>- These techniques are ideas to test against representative examples.</a:t>
            </a:r>
          </a:p>
          <a:p xmlns:a="http://schemas.openxmlformats.org/drawingml/2006/main">
            <a:r>
              <a:t>- A result from one model or benchmark is not a universal effect size.</a:t>
            </a:r>
          </a:p>
          <a:p xmlns:a="http://schemas.openxmlformats.org/drawingml/2006/main"/>
          <a:p xmlns:a="http://schemas.openxmlformats.org/drawingml/2006/main">
            <a:r>
              <a:t>DO: None.</a:t>
            </a:r>
          </a:p>
          <a:p xmlns:a="http://schemas.openxmlformats.org/drawingml/2006/main"/>
          <a:p xmlns:a="http://schemas.openxmlformats.org/drawingml/2006/main">
            <a:r>
              <a:t>BRIDGE: Move to “A neutral rubric reduces leading feedback”.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WHAT THE EVIDENCE SAYS</a:t>
            </a:r>
          </a:p>
          <a:p xmlns:a="http://schemas.openxmlformats.org/drawingml/2006/main">
            <a:r>
              <a:t>28</a:t>
            </a:r>
          </a:p>
          <a:p xmlns:a="http://schemas.openxmlformats.org/drawingml/2006/main">
            <a:r>
              <a:t>EVIDENCE CORNER</a:t>
            </a:r>
          </a:p>
          <a:p xmlns:a="http://schemas.openxmlformats.org/drawingml/2006/main">
            <a:r>
              <a:t>Six that work, six that don’t — in plain terms</a:t>
            </a:r>
          </a:p>
          <a:p xmlns:a="http://schemas.openxmlformats.org/drawingml/2006/main">
            <a:r>
              <a:t>PROVEN TO WORK</a:t>
            </a:r>
          </a:p>
          <a:p xmlns:a="http://schemas.openxmlformats.org/drawingml/2006/main">
            <a:r>
              <a:t>Be specific: task, constraints, success criteria</a:t>
            </a:r>
          </a:p>
          <a:p xmlns:a="http://schemas.openxmlformats.org/drawingml/2006/main">
            <a:r>
              <a:t>unstated needs guessed right only ~41%</a:t>
            </a:r>
          </a:p>
          <a:p xmlns:a="http://schemas.openxmlformats.org/drawingml/2006/main">
            <a:r>
              <a:t>One tested, reused template</a:t>
            </a:r>
          </a:p>
          <a:p xmlns:a="http://schemas.openxmlformats.org/drawingml/2006/main">
            <a:r>
              <a:t>formatting alone swings results up to 76 points</a:t>
            </a:r>
          </a:p>
          <a:p xmlns:a="http://schemas.openxmlformats.org/drawingml/2006/main">
            <a:r>
              <a:t>Long inputs: documents on top, question at the END</a:t>
            </a:r>
          </a:p>
          <a:p xmlns:a="http://schemas.openxmlformats.org/drawingml/2006/main">
            <a:r>
              <a:t>up to ~30% better answers</a:t>
            </a:r>
          </a:p>
          <a:p xmlns:a="http://schemas.openxmlformats.org/drawingml/2006/main">
            <a:r>
              <a:t>Give it an out — “if you don’t know, say so”</a:t>
            </a:r>
          </a:p>
          <a:p xmlns:a="http://schemas.openxmlformats.org/drawingml/2006/main">
            <a:r>
              <a:t>invented answers cut by a third or more</a:t>
            </a:r>
          </a:p>
          <a:p xmlns:a="http://schemas.openxmlformats.org/drawingml/2006/main">
            <a:r>
              <a:t>Self-check against NAMED criteria</a:t>
            </a:r>
          </a:p>
          <a:p xmlns:a="http://schemas.openxmlformats.org/drawingml/2006/main">
            <a:r>
              <a:t>fact scores jump 56→71 with planned checks</a:t>
            </a:r>
          </a:p>
          <a:p xmlns:a="http://schemas.openxmlformats.org/drawingml/2006/main">
            <a:r>
              <a:t>Ask the AI to improve your prompt</a:t>
            </a:r>
          </a:p>
          <a:p xmlns:a="http://schemas.openxmlformats.org/drawingml/2006/main">
            <a:r>
              <a:t>official tools at every vendor; optimizer prompts beat human ones</a:t>
            </a:r>
          </a:p>
          <a:p xmlns:a="http://schemas.openxmlformats.org/drawingml/2006/main">
            <a:r>
              <a:t>MYTH — SAVE YOUR TYPING</a:t>
            </a:r>
          </a:p>
          <a:p xmlns:a="http://schemas.openxmlformats.org/drawingml/2006/main">
            <a:r>
              <a:t>“Tell it it’s a genius and it gets smarter”</a:t>
            </a:r>
          </a:p>
          <a:p xmlns:a="http://schemas.openxmlformats.org/drawingml/2006/main">
            <a:r>
              <a:t>162 personas tested: zero accuracy gain</a:t>
            </a:r>
          </a:p>
          <a:p xmlns:a="http://schemas.openxmlformats.org/drawingml/2006/main">
            <a:r>
              <a:t>“Tips, threats, ‘important to my career’”</a:t>
            </a:r>
          </a:p>
          <a:p xmlns:a="http://schemas.openxmlformats.org/drawingml/2006/main">
            <a:r>
              <a:t>null on average; the famous 115% was the cherry-picked best case</a:t>
            </a:r>
          </a:p>
          <a:p xmlns:a="http://schemas.openxmlformats.org/drawingml/2006/main">
            <a:r>
              <a:t>“There are magic phrases”</a:t>
            </a:r>
          </a:p>
          <a:p xmlns:a="http://schemas.openxmlformats.org/drawingml/2006/main">
            <a:r>
              <a:t>“take a deep breath” won on one model &amp; benchmark — never universal</a:t>
            </a:r>
          </a:p>
          <a:p xmlns:a="http://schemas.openxmlformats.org/drawingml/2006/main">
            <a:r>
              <a:t>“Longer prompts are always better”</a:t>
            </a:r>
          </a:p>
          <a:p xmlns:a="http://schemas.openxmlformats.org/drawingml/2006/main">
            <a:r>
              <a:t>padding drops accuracy at just ~3K tokens — density wins, not length</a:t>
            </a:r>
          </a:p>
          <a:p xmlns:a="http://schemas.openxmlformats.org/drawingml/2006/main">
            <a:r>
              <a:t>“‘Are you sure?’ makes it double-check”</a:t>
            </a:r>
          </a:p>
          <a:p xmlns:a="http://schemas.openxmlformats.org/drawingml/2006/main">
            <a:r>
              <a:t>it makes it FOLD: answers flip under pushback in 58% of cases</a:t>
            </a:r>
          </a:p>
          <a:p xmlns:a="http://schemas.openxmlformats.org/drawingml/2006/main">
            <a:r>
              <a:t>“The AI knows what I mean”</a:t>
            </a:r>
          </a:p>
          <a:p xmlns:a="http://schemas.openxmlformats.org/drawingml/2006/main">
            <a:r>
              <a:t>the same ~41% — mind-reading is the myth behind every vague prompt</a:t>
            </a:r>
          </a:p>
          <a:p xmlns:a="http://schemas.openxmlformats.org/drawingml/2006/main">
            <a:r>
              <a:t>Every line has a study behind it — sources in the PLAYBOOK tab of your Course Workbook. And one myth got its own slide: the next one.</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“everything on this slide survived replication — and everything on the right failed it. Twelve lines, plain terms.”</a:t>
            </a: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p>
          <a:p xmlns:a="http://schemas.openxmlformats.org/drawingml/2006/main">
            <a:r>
              <a:t>3) RED column; land the symmetry joke: myth 6 and proven 1 are the same number (~41%) — “the AI knows what I mean” is the myth; “say what you mean” is the cure.</a:t>
            </a:r>
          </a:p>
          <a:p xmlns:a="http://schemas.openxmlformats.org/drawingml/2006/main">
            <a:r>
              <a:t>4) On myth 5, tease: “that one is so important it gets the next slide to itself.”</a:t>
            </a:r>
          </a:p>
          <a:p xmlns:a="http://schemas.openxmlformats.org/drawingml/2006/main"/>
          <a:p xmlns:a="http://schemas.openxmlformats.org/drawingml/2006/main">
            <a:r>
              <a:t>BRIDGE —</a:t>
            </a:r>
          </a:p>
          <a:p xmlns:a="http://schemas.openxmlformats.org/drawingml/2006/main">
            <a:r>
              <a:t>“The bias behind myth 5 — the mirror.”</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p>
          <a:p xmlns:a="http://schemas.openxmlformats.org/drawingml/2006/main">
            <a:r>
              <a:t>“Say the WHY behind a rule” is VENDOR GUIDANCE (Anthropic docs), not independently measured — keep it folded into specificity, never as its own proven line (r25 downgrade).</a:t>
            </a: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p>
          <a:p xmlns:a="http://schemas.openxmlformats.org/drawingml/2006/main">
            <a:r>
              <a:t>The 2025 Wharton replication wave (25–100 runs per question) independently confirms both columns.</a:t>
            </a:r>
          </a:p>
          <a:p xmlns:a="http://schemas.openxmlformats.org/drawingml/2006/main">
            <a:r>
              <a:t>28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A neutral review rubric reduces the influence of the requester’s preference.</a:t>
            </a:r>
          </a:p>
          <a:p xmlns:a="http://schemas.openxmlformats.org/drawingml/2006/main"/>
          <a:p xmlns:a="http://schemas.openxmlformats.org/drawingml/2006/main">
            <a:r>
              <a:t>SAY:</a:t>
            </a:r>
          </a:p>
          <a:p xmlns:a="http://schemas.openxmlformats.org/drawingml/2006/main">
            <a:r>
              <a:t>- A leading question can bias an evaluation toward the requester’s view.</a:t>
            </a:r>
          </a:p>
          <a:p xmlns:a="http://schemas.openxmlformats.org/drawingml/2006/main">
            <a:r>
              <a:t>- Use an explicit rubric and ask what evidence would change the conclusion.</a:t>
            </a:r>
          </a:p>
          <a:p xmlns:a="http://schemas.openxmlformats.org/drawingml/2006/main"/>
          <a:p xmlns:a="http://schemas.openxmlformats.org/drawingml/2006/main">
            <a:r>
              <a:t>DO: None.</a:t>
            </a:r>
          </a:p>
          <a:p xmlns:a="http://schemas.openxmlformats.org/drawingml/2006/main"/>
          <a:p xmlns:a="http://schemas.openxmlformats.org/drawingml/2006/main">
            <a:r>
              <a:t>BRIDGE: Move to “A practical prompt review checklist”.</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BIAS TO DESIGN AGAINST</a:t>
            </a:r>
          </a:p>
          <a:p xmlns:a="http://schemas.openxmlformats.org/drawingml/2006/main">
            <a:r>
              <a:t>29</a:t>
            </a:r>
          </a:p>
          <a:p xmlns:a="http://schemas.openxmlformats.org/drawingml/2006/main">
            <a:r>
              <a:t>AI MIRRORS YOU</a:t>
            </a:r>
          </a:p>
          <a:p xmlns:a="http://schemas.openxmlformats.org/drawingml/2006/main">
            <a:r>
              <a:t>The flattery bias — measured, and all over the news</a:t>
            </a:r>
          </a:p>
          <a:p xmlns:a="http://schemas.openxmlformats.org/drawingml/2006/main">
            <a:r>
              <a:t>+49%</a:t>
            </a:r>
          </a:p>
          <a:p xmlns:a="http://schemas.openxmlformats.org/drawingml/2006/main">
            <a:r>
              <a:t>how often it says you’re right — a person = 100</a:t>
            </a:r>
          </a:p>
          <a:p xmlns:a="http://schemas.openxmlformats.org/drawingml/2006/main">
            <a:r>
              <a:t>a person</a:t>
            </a:r>
          </a:p>
          <a:p xmlns:a="http://schemas.openxmlformats.org/drawingml/2006/main">
            <a:r>
              <a:t>100</a:t>
            </a:r>
          </a:p>
          <a:p xmlns:a="http://schemas.openxmlformats.org/drawingml/2006/main">
            <a:r>
              <a:t>the AI</a:t>
            </a:r>
          </a:p>
          <a:p xmlns:a="http://schemas.openxmlformats.org/drawingml/2006/main">
            <a:r>
              <a:t>149</a:t>
            </a:r>
          </a:p>
          <a:p xmlns:a="http://schemas.openxmlformats.org/drawingml/2006/main">
            <a:r>
              <a:t>11 leading models (Stanford/CMU, Science 2026). Root cause: trained on human preferences — and we prefer agreement.</a:t>
            </a:r>
          </a:p>
          <a:p xmlns:a="http://schemas.openxmlformats.org/drawingml/2006/main">
            <a:r>
              <a:t>It made the news</a:t>
            </a:r>
          </a:p>
          <a:p xmlns:a="http://schemas.openxmlformats.org/drawingml/2006/main">
            <a:r>
              <a:t>APR 2025</a:t>
            </a:r>
          </a:p>
          <a:p xmlns:a="http://schemas.openxmlformats.org/drawingml/2006/main">
            <a:r>
              <a:t>OpenAI rolls back a ChatGPT update — its own words: “overly flattering or agreeable… sycophantic.” Its metrics had rewarded the mirror.</a:t>
            </a:r>
          </a:p>
          <a:p xmlns:a="http://schemas.openxmlformats.org/drawingml/2006/main">
            <a:r>
              <a:t>JUN 2025</a:t>
            </a:r>
          </a:p>
          <a:p xmlns:a="http://schemas.openxmlformats.org/drawingml/2006/main">
            <a:r>
              <a:t>New York Times: chatbots validating false beliefs send some users “spiraling” — agreement as a safety problem.</a:t>
            </a:r>
          </a:p>
          <a:p xmlns:a="http://schemas.openxmlformats.org/drawingml/2006/main">
            <a:r>
              <a:t>AUG 2025</a:t>
            </a:r>
          </a:p>
          <a:p xmlns:a="http://schemas.openxmlformats.org/drawingml/2006/main">
            <a:r>
              <a:t>Microsoft’s AI chief warns of unhealthy AI validation — “not confined to people already at risk.”</a:t>
            </a:r>
          </a:p>
          <a:p xmlns:a="http://schemas.openxmlformats.org/drawingml/2006/main">
            <a:r>
              <a:t>2026</a:t>
            </a:r>
          </a:p>
          <a:p xmlns:a="http://schemas.openxmlformats.org/drawingml/2006/main">
            <a:r>
              <a:t>The Science study measures it (+49%) — and the flattery bias draws regulatory attention.</a:t>
            </a:r>
          </a:p>
          <a:p xmlns:a="http://schemas.openxmlformats.org/drawingml/2006/main">
            <a:r>
              <a:t>The countermeasures — usable today: </a:t>
            </a:r>
          </a:p>
          <a:p xmlns:a="http://schemas.openxmlformats.org/drawingml/2006/main">
            <a:r>
              <a:t>never reveal your preferred answer when asking for a review · ask for the case AGAINST (“three weakest points”) · paste your draft as “a colleague’s” · never treat “are you sure?” as verification.</a:t>
            </a:r>
          </a:p>
          <a:p xmlns:a="http://schemas.openxmlformats.org/drawingml/2006/main">
            <a:r>
              <a:t>SEE IT YOURSELF — two chats, same paragraph:</a:t>
            </a:r>
          </a:p>
          <a:p xmlns:a="http://schemas.openxmlformats.org/drawingml/2006/main">
            <a:r>
              <a:t>Chat 1: “A colleague wrote this — rate it 1–10 and list its three biggest weaknesses.”   Chat 2: “I wrote this myself and I’m really proud of it — rate it 1–10, three biggest weaknesses.”</a:t>
            </a:r>
          </a:p>
          <a:p xmlns:a="http://schemas.openxmlformats.org/drawingml/2006/main">
            <a:r>
              <a:t>Did the score move — and the criticism soften — once it knew you were the author?</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it as one sentence first: “the AI is a mirror — it agrees with you about half again as often as a person would.” Then the +49%.</a:t>
            </a: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xmlns:a="http://schemas.openxmlformats.org/drawingml/2006/main">
            <a:r>
              <a:t>3) Countermeasures — read all four; the first changes behavior TODAY.</a:t>
            </a: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p>
          <a:p xmlns:a="http://schemas.openxmlformats.org/drawingml/2006/main"/>
          <a:p xmlns:a="http://schemas.openxmlformats.org/drawingml/2006/main">
            <a:r>
              <a:t>BRIDGE —</a:t>
            </a:r>
          </a:p>
          <a:p xmlns:a="http://schemas.openxmlformats.org/drawingml/2006/main">
            <a:r>
              <a:t>“So what’s current best practice, all in one place? The playbook.”</a:t>
            </a:r>
          </a:p>
          <a:p xmlns:a="http://schemas.openxmlformats.org/drawingml/2006/main"/>
          <a:p xmlns:a="http://schemas.openxmlformats.org/drawingml/2006/main">
            <a:r>
              <a:t>ACRONYMS —</a:t>
            </a:r>
          </a:p>
          <a:p xmlns:a="http://schemas.openxmlformats.org/drawingml/2006/main">
            <a:r>
              <a:t>CMU = Carnegie Mellon University (co-authors of the Science study).</a:t>
            </a:r>
          </a:p>
          <a:p xmlns:a="http://schemas.openxmlformats.org/drawingml/2006/main"/>
          <a:p xmlns:a="http://schemas.openxmlformats.org/drawingml/2006/main">
            <a:r>
              <a:t>CONTENT —</a:t>
            </a: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xmlns:a="http://schemas.openxmlformats.org/drawingml/2006/main">
            <a:r>
              <a:t>Handled with care: no medical claims from the “AI psychosis” coverage; countermeasures are the deck’s standing blind-review discipline.</a:t>
            </a: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p>
          <a:p xmlns:a="http://schemas.openxmlformats.org/drawingml/2006/main">
            <a:r>
              <a:t>29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Treat universal prompt rules as hypotheses to test, not laws.</a:t>
            </a:r>
          </a:p>
          <a:p xmlns:a="http://schemas.openxmlformats.org/drawingml/2006/main"/>
          <a:p xmlns:a="http://schemas.openxmlformats.org/drawingml/2006/main">
            <a:r>
              <a:t>SAY:</a:t>
            </a:r>
          </a:p>
          <a:p xmlns:a="http://schemas.openxmlformats.org/drawingml/2006/main">
            <a:r>
              <a:t>- Use this playbook as a reference when diagnosing an unsatisfactory answer.</a:t>
            </a:r>
          </a:p>
          <a:p xmlns:a="http://schemas.openxmlformats.org/drawingml/2006/main">
            <a:r>
              <a:t>- Avoid turning model-dependent advice into universal rules.</a:t>
            </a:r>
          </a:p>
          <a:p xmlns:a="http://schemas.openxmlformats.org/drawingml/2006/main"/>
          <a:p xmlns:a="http://schemas.openxmlformats.org/drawingml/2006/main">
            <a:r>
              <a:t>DO: None.</a:t>
            </a:r>
          </a:p>
          <a:p xmlns:a="http://schemas.openxmlformats.org/drawingml/2006/main"/>
          <a:p xmlns:a="http://schemas.openxmlformats.org/drawingml/2006/main">
            <a:r>
              <a:t>BRIDGE: Move to “Data Analytics Exercise”.</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2026 PLAYBOOK</a:t>
            </a:r>
          </a:p>
          <a:p xmlns:a="http://schemas.openxmlformats.org/drawingml/2006/main">
            <a:r>
              <a:t>30</a:t>
            </a:r>
          </a:p>
          <a:p xmlns:a="http://schemas.openxmlformats.org/drawingml/2006/main">
            <a:r>
              <a:t>DO · DON’T · EXPIRED — TOP FIVE EACH</a:t>
            </a:r>
          </a:p>
          <a:p xmlns:a="http://schemas.openxmlformats.org/drawingml/2006/main">
            <a:r>
              <a:t>The 2026 prompting playbook</a:t>
            </a:r>
          </a:p>
          <a:p xmlns:a="http://schemas.openxmlformats.org/drawingml/2006/main">
            <a:r>
              <a:t>TO DO — reliably helps</a:t>
            </a:r>
          </a:p>
          <a:p xmlns:a="http://schemas.openxmlformats.org/drawingml/2006/main">
            <a:r>
              <a:t>1  State the task precisely — verb, constraints, success criteria, and the WHY behind each rule</a:t>
            </a:r>
          </a:p>
          <a:p xmlns:a="http://schemas.openxmlformats.org/drawingml/2006/main">
            <a:r>
              <a:t>2  Separate instructions from material; standardize ONE tested, versioned template</a:t>
            </a:r>
          </a:p>
          <a:p xmlns:a="http://schemas.openxmlformats.org/drawingml/2006/main">
            <a:r>
              <a:t>3  Long inputs: documents at the top, instructions at the END (bookend both ends when very long)</a:t>
            </a:r>
          </a:p>
          <a:p xmlns:a="http://schemas.openxmlformats.org/drawingml/2006/main">
            <a:r>
              <a:t>4  Give an out + require citations</a:t>
            </a:r>
          </a:p>
          <a:p xmlns:a="http://schemas.openxmlformats.org/drawingml/2006/main">
            <a:r>
              <a:t>5  Numeric budgets for anything measurable — words, bullets, steps</a:t>
            </a:r>
          </a:p>
          <a:p xmlns:a="http://schemas.openxmlformats.org/drawingml/2006/main">
            <a:r>
              <a:t>NOT TO DO — hurts or wastes</a:t>
            </a:r>
          </a:p>
          <a:p xmlns:a="http://schemas.openxmlformats.org/drawingml/2006/main">
            <a:r>
              <a:t>1  Contradictory instructions — reasoning models burn tokens reconciling them</a:t>
            </a:r>
          </a:p>
          <a:p xmlns:a="http://schemas.openxmlformats.org/drawingml/2006/main">
            <a:r>
              <a:t>2  Tips, threats, emotional pressure — null on average, chaos per question</a:t>
            </a:r>
          </a:p>
          <a:p xmlns:a="http://schemas.openxmlformats.org/drawingml/2006/main">
            <a:r>
              <a:t>3  Bare “do not hallucinate” commands — they trigger over-refusal; use the out + citations instead</a:t>
            </a:r>
          </a:p>
          <a:p xmlns:a="http://schemas.openxmlformats.org/drawingml/2006/main">
            <a:r>
              <a:t>4  Revealing your preferred answer, or “are you sure?” as verification</a:t>
            </a:r>
          </a:p>
          <a:p xmlns:a="http://schemas.openxmlformats.org/drawingml/2006/main">
            <a:r>
              <a:t>5  Piling micro-rules — quality degrades past ~150 instructions; smallest prompt that keeps the contract</a:t>
            </a:r>
          </a:p>
          <a:p xmlns:a="http://schemas.openxmlformats.org/drawingml/2006/main">
            <a:r>
              <a:t>EXPIRED — was right in 2023</a:t>
            </a:r>
          </a:p>
          <a:p xmlns:a="http://schemas.openxmlformats.org/drawingml/2006/main">
            <a:r>
              <a:t>1  “Think step by step” → pick a reasoning model, set the effort dial</a:t>
            </a:r>
          </a:p>
          <a:p xmlns:a="http://schemas.openxmlformats.org/drawingml/2006/main">
            <a:r>
              <a:t>2  Piles of examples → zero-shot first, then 3–5 format-definers</a:t>
            </a:r>
          </a:p>
          <a:p xmlns:a="http://schemas.openxmlformats.org/drawingml/2006/main">
            <a:r>
              <a:t>3  “You are a world-class expert” for accuracy → persona for voice only</a:t>
            </a:r>
          </a:p>
          <a:p xmlns:a="http://schemas.openxmlformats.org/drawingml/2006/main">
            <a:r>
              <a:t>4  Magic phrases (“take a deep breath”, “my career depends on it”) → clarity; real stakes as factual context</a:t>
            </a:r>
          </a:p>
          <a:p xmlns:a="http://schemas.openxmlformats.org/drawingml/2006/main">
            <a:r>
              <a:t>5  Carrying your 2023 prompt stack to each new model → re-baseline on every upgrade (next slide’s loop)</a:t>
            </a: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Why this slide exists, in one line: “half the prompting advice on the internet is from 2023 — here is the 2026 state of play, in three columns: keep, avoid, unlearn.”</a:t>
            </a:r>
          </a:p>
          <a:p xmlns:a="http://schemas.openxmlformats.org/drawingml/2006/main">
            <a:r>
              <a:t>2) GREEN column, fast — these five are Part 3 itself, condensed; nothing new, that’s the point.</a:t>
            </a: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p>
          <a:p xmlns:a="http://schemas.openxmlformats.org/drawingml/2006/main"/>
          <a:p xmlns:a="http://schemas.openxmlformats.org/drawingml/2006/main">
            <a:r>
              <a:t>COHERENCE SEAMS (if someone spots a “contradiction”) —</a:t>
            </a:r>
          </a:p>
          <a:p xmlns:a="http://schemas.openxmlformats.org/drawingml/2006/main">
            <a:r>
              <a:t>Numeric caps vs no-absolutes: caps constrain QUANTITY; ALWAYS/NEVER locks JUDGMENT — reserve absolutes for true invariants.</a:t>
            </a:r>
          </a:p>
          <a:p xmlns:a="http://schemas.openxmlformats.org/drawingml/2006/main">
            <a:r>
              <a:t>Bookending vs no-repetition: repeat verbatim at both ends of LONG context, or not at all — paraphrased blanket repetition is the anti-pattern.</a:t>
            </a:r>
          </a:p>
          <a:p xmlns:a="http://schemas.openxmlformats.org/drawingml/2006/main">
            <a:r>
              <a:t>Task detail vs rule-piling: detail = information density (helps); piling = rule COUNT (past ~150, quality sags, early rules win).</a:t>
            </a:r>
          </a:p>
          <a:p xmlns:a="http://schemas.openxmlformats.org/drawingml/2006/main">
            <a:r>
              <a:t>CoT expired only on frontier reasoning models — still legitimate on small/local/non-thinking models.</a:t>
            </a:r>
          </a:p>
          <a:p xmlns:a="http://schemas.openxmlformats.org/drawingml/2006/main"/>
          <a:p xmlns:a="http://schemas.openxmlformats.org/drawingml/2006/main">
            <a:r>
              <a:t>BRIDGE —</a:t>
            </a:r>
          </a:p>
          <a:p xmlns:a="http://schemas.openxmlformats.org/drawingml/2006/main">
            <a:r>
              <a:t>“The craft is stable — here’s the habit that compounds it.”</a:t>
            </a:r>
          </a:p>
          <a:p xmlns:a="http://schemas.openxmlformats.org/drawingml/2006/main"/>
          <a:p xmlns:a="http://schemas.openxmlformats.org/drawingml/2006/main">
            <a:r>
              <a:t>ACRONYMS —</a:t>
            </a:r>
          </a:p>
          <a:p xmlns:a="http://schemas.openxmlformats.org/drawingml/2006/main">
            <a:r>
              <a:t>CoT = Chain-of-Thought — the old “think step by step” style, now built into thinking models.</a:t>
            </a:r>
          </a:p>
          <a:p xmlns:a="http://schemas.openxmlformats.org/drawingml/2006/main"/>
          <a:p xmlns:a="http://schemas.openxmlformats.org/drawingml/2006/main">
            <a:r>
              <a:t>CONTENT —</a:t>
            </a: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p>
          <a:p xmlns:a="http://schemas.openxmlformats.org/drawingml/2006/main">
            <a:r>
              <a:t>What did NOT change (say if the room looks nervous): clarity, context, format, the out, grounding, iteration — the anatomy applies to every model they will ever use; scaffolding tricks retire, briefing skills compound.</a:t>
            </a: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p>
          <a:p xmlns:a="http://schemas.openxmlformats.org/drawingml/2006/main">
            <a:r>
              <a:t>30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47-48);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95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95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95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95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95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95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46).</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43;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44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94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_rels/slide19.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25.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8.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9.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9.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80.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81.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6.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7.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8.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91.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92.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93.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95.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9.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101.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104.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5.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6.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7.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8.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9.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1.png"/></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7231628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748456231"/>
      </p:ext>
    </p:extLst>
  </p:cSld>
</p:sld>
</file>

<file path=ppt/slides/slide1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Tree>
    <p:extLst>
      <p:ext uri="{BB962C8B-B14F-4D97-AF65-F5344CB8AC3E}">
        <p14:creationId xmlns:p14="http://schemas.microsoft.com/office/powerpoint/2010/main" val="475868969"/>
      </p:ext>
    </p:extLst>
  </p:cSld>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16</a:t>
            </a:r>
          </a:p>
        </p:txBody>
      </p:sp>
    </p:spTree>
  </p:cSld>
  <p:clrMapOvr>
    <a:masterClrMapping/>
  </p:clrMapOvr>
</p:sld>
</file>

<file path=ppt/slides/slide19.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17</a:t>
            </a:r>
          </a:p>
        </p:txBody>
      </p:sp>
    </p:spTree>
    <p:extLst>
      <p:ext uri="{BB962C8B-B14F-4D97-AF65-F5344CB8AC3E}">
        <p14:creationId xmlns:p14="http://schemas.microsoft.com/office/powerpoint/2010/main" val="2036900320"/>
      </p:ext>
    </p:extLst>
  </p:cSld>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21</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22</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23</a:t>
            </a:r>
          </a:p>
        </p:txBody>
      </p:sp>
    </p:spTree>
    <p:extLst>
      <p:ext uri="{BB962C8B-B14F-4D97-AF65-F5344CB8AC3E}">
        <p14:creationId xmlns:p14="http://schemas.microsoft.com/office/powerpoint/2010/main" val="14008003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109</a:t>
            </a:r>
          </a:p>
        </p:txBody>
      </p:sp>
    </p:spTree>
    <p:extLst>
      <p:ext uri="{BB962C8B-B14F-4D97-AF65-F5344CB8AC3E}">
        <p14:creationId xmlns:p14="http://schemas.microsoft.com/office/powerpoint/2010/main" val="1317624103"/>
      </p:ext>
    </p:extLst>
  </p:cSld>
</p:sld>
</file>

<file path=ppt/slides/slide2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24</a:t>
            </a:r>
          </a:p>
        </p:txBody>
      </p:sp>
    </p:spTree>
    <p:extLst>
      <p:ext uri="{BB962C8B-B14F-4D97-AF65-F5344CB8AC3E}">
        <p14:creationId xmlns:p14="http://schemas.microsoft.com/office/powerpoint/2010/main" val="146884725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169205222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95</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81</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Tree>
    <p:extLst>
      <p:ext uri="{BB962C8B-B14F-4D97-AF65-F5344CB8AC3E}">
        <p14:creationId xmlns:p14="http://schemas.microsoft.com/office/powerpoint/2010/main" val="12173285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73541720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89169783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96–101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475719825"/>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33</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110</a:t>
            </a:r>
          </a:p>
        </p:txBody>
      </p:sp>
    </p:spTree>
    <p:extLst>
      <p:ext uri="{BB962C8B-B14F-4D97-AF65-F5344CB8AC3E}">
        <p14:creationId xmlns:p14="http://schemas.microsoft.com/office/powerpoint/2010/main" val="200021502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111</a:t>
            </a:r>
          </a:p>
        </p:txBody>
      </p:sp>
    </p:spTree>
    <p:extLst>
      <p:ext uri="{BB962C8B-B14F-4D97-AF65-F5344CB8AC3E}">
        <p14:creationId xmlns:p14="http://schemas.microsoft.com/office/powerpoint/2010/main" val="111665530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112</a:t>
            </a:r>
          </a:p>
        </p:txBody>
      </p:sp>
    </p:spTree>
    <p:extLst>
      <p:ext uri="{BB962C8B-B14F-4D97-AF65-F5344CB8AC3E}">
        <p14:creationId xmlns:p14="http://schemas.microsoft.com/office/powerpoint/2010/main" val="53240686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113</a:t>
            </a:r>
          </a:p>
        </p:txBody>
      </p:sp>
    </p:spTree>
    <p:extLst>
      <p:ext uri="{BB962C8B-B14F-4D97-AF65-F5344CB8AC3E}">
        <p14:creationId xmlns:p14="http://schemas.microsoft.com/office/powerpoint/2010/main" val="128242613"/>
      </p:ext>
    </p:extLst>
  </p:cSld>
</p:sld>
</file>

<file path=ppt/slides/slide39.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38</a:t>
            </a:r>
          </a:p>
        </p:txBody>
      </p:sp>
    </p:spTree>
    <p:extLst>
      <p:ext uri="{BB962C8B-B14F-4D97-AF65-F5344CB8AC3E}">
        <p14:creationId xmlns:p14="http://schemas.microsoft.com/office/powerpoint/2010/main" val="1528682446"/>
      </p:ext>
    </p:extLst>
  </p:cSld>
</p:sld>
</file>

<file path=ppt/slides/slide4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39</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29586125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41</a:t>
            </a:r>
          </a:p>
        </p:txBody>
      </p:sp>
    </p:spTree>
    <p:extLst>
      <p:ext uri="{BB962C8B-B14F-4D97-AF65-F5344CB8AC3E}">
        <p14:creationId xmlns:p14="http://schemas.microsoft.com/office/powerpoint/2010/main" val="146957604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187541384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131037884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87</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Tree>
    <p:extLst>
      <p:ext uri="{BB962C8B-B14F-4D97-AF65-F5344CB8AC3E}">
        <p14:creationId xmlns:p14="http://schemas.microsoft.com/office/powerpoint/2010/main" val="182227215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93–94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65831923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52634781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52634781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49</a:t>
            </a:r>
          </a:p>
        </p:txBody>
      </p:sp>
    </p:spTree>
    <p:extLst>
      <p:ext uri="{BB962C8B-B14F-4D97-AF65-F5344CB8AC3E}">
        <p14:creationId xmlns:p14="http://schemas.microsoft.com/office/powerpoint/2010/main" val="876740918"/>
      </p:ext>
    </p:extLst>
  </p:cSld>
</p:sld>
</file>

<file path=ppt/slides/slide51.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50</a:t>
            </a:r>
          </a:p>
        </p:txBody>
      </p:sp>
    </p:spTree>
    <p:extLst>
      <p:ext uri="{BB962C8B-B14F-4D97-AF65-F5344CB8AC3E}">
        <p14:creationId xmlns:p14="http://schemas.microsoft.com/office/powerpoint/2010/main" val="9290213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159231894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88</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90421270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183561370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54</a:t>
            </a:r>
          </a:p>
        </p:txBody>
      </p:sp>
    </p:spTree>
    <p:extLst>
      <p:ext uri="{BB962C8B-B14F-4D97-AF65-F5344CB8AC3E}">
        <p14:creationId xmlns:p14="http://schemas.microsoft.com/office/powerpoint/2010/main" val="6237867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89</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55</a:t>
            </a:r>
          </a:p>
        </p:txBody>
      </p:sp>
    </p:spTree>
    <p:extLst>
      <p:ext uri="{BB962C8B-B14F-4D97-AF65-F5344CB8AC3E}">
        <p14:creationId xmlns:p14="http://schemas.microsoft.com/office/powerpoint/2010/main" val="146953944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90</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35039219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57</a:t>
            </a:r>
          </a:p>
        </p:txBody>
      </p:sp>
    </p:spTree>
    <p:extLst>
      <p:ext uri="{BB962C8B-B14F-4D97-AF65-F5344CB8AC3E}">
        <p14:creationId xmlns:p14="http://schemas.microsoft.com/office/powerpoint/2010/main" val="2011186280"/>
      </p:ext>
    </p:extLst>
  </p:cSld>
</p:sld>
</file>

<file path=ppt/slides/slide5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91</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39268929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60</a:t>
            </a:r>
          </a:p>
        </p:txBody>
      </p:sp>
    </p:spTree>
    <p:extLst>
      <p:ext uri="{BB962C8B-B14F-4D97-AF65-F5344CB8AC3E}">
        <p14:creationId xmlns:p14="http://schemas.microsoft.com/office/powerpoint/2010/main" val="80784694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136429918"/>
      </p:ext>
    </p:extLst>
  </p:cSld>
</p:sld>
</file>

<file path=ppt/slides/slide6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62</a:t>
            </a:r>
          </a:p>
        </p:txBody>
      </p:sp>
    </p:spTree>
    <p:extLst>
      <p:ext uri="{BB962C8B-B14F-4D97-AF65-F5344CB8AC3E}">
        <p14:creationId xmlns:p14="http://schemas.microsoft.com/office/powerpoint/2010/main" val="155777812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93680147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10937314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65</a:t>
            </a:r>
          </a:p>
        </p:txBody>
      </p:sp>
    </p:spTree>
    <p:extLst>
      <p:ext uri="{BB962C8B-B14F-4D97-AF65-F5344CB8AC3E}">
        <p14:creationId xmlns:p14="http://schemas.microsoft.com/office/powerpoint/2010/main" val="2663305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66</a:t>
            </a:r>
          </a:p>
        </p:txBody>
      </p:sp>
    </p:spTree>
    <p:extLst>
      <p:ext uri="{BB962C8B-B14F-4D97-AF65-F5344CB8AC3E}">
        <p14:creationId xmlns:p14="http://schemas.microsoft.com/office/powerpoint/2010/main" val="44616249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67</a:t>
            </a:r>
          </a:p>
        </p:txBody>
      </p:sp>
    </p:spTree>
    <p:extLst>
      <p:ext uri="{BB962C8B-B14F-4D97-AF65-F5344CB8AC3E}">
        <p14:creationId xmlns:p14="http://schemas.microsoft.com/office/powerpoint/2010/main" val="160473760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68</a:t>
            </a:r>
          </a:p>
        </p:txBody>
      </p:sp>
    </p:spTree>
    <p:extLst>
      <p:ext uri="{BB962C8B-B14F-4D97-AF65-F5344CB8AC3E}">
        <p14:creationId xmlns:p14="http://schemas.microsoft.com/office/powerpoint/2010/main" val="173695199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69</a:t>
            </a:r>
          </a:p>
        </p:txBody>
      </p:sp>
    </p:spTree>
    <p:extLst>
      <p:ext uri="{BB962C8B-B14F-4D97-AF65-F5344CB8AC3E}">
        <p14:creationId xmlns:p14="http://schemas.microsoft.com/office/powerpoint/2010/main" val="54694072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70</a:t>
            </a:r>
          </a:p>
        </p:txBody>
      </p:sp>
    </p:spTree>
    <p:extLst>
      <p:ext uri="{BB962C8B-B14F-4D97-AF65-F5344CB8AC3E}">
        <p14:creationId xmlns:p14="http://schemas.microsoft.com/office/powerpoint/2010/main" val="195005424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71</a:t>
            </a:r>
          </a:p>
        </p:txBody>
      </p:sp>
    </p:spTree>
    <p:extLst>
      <p:ext uri="{BB962C8B-B14F-4D97-AF65-F5344CB8AC3E}">
        <p14:creationId xmlns:p14="http://schemas.microsoft.com/office/powerpoint/2010/main" val="32724596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90811741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468794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596619051"/>
      </p:ext>
    </p:extLst>
  </p:cSld>
</p:sld>
</file>

<file path=ppt/slides/slide76.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75</a:t>
            </a:r>
          </a:p>
        </p:txBody>
      </p:sp>
    </p:spTree>
    <p:extLst>
      <p:ext uri="{BB962C8B-B14F-4D97-AF65-F5344CB8AC3E}">
        <p14:creationId xmlns:p14="http://schemas.microsoft.com/office/powerpoint/2010/main" val="773604891"/>
      </p:ext>
    </p:extLst>
  </p:cSld>
</p:sld>
</file>

<file path=ppt/slides/slide77.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328308048"/>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1634874752"/>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723162863"/>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1490115458"/>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21732852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735417206"/>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30</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891697836"/>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4354410"/>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110 (self-study)</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200021502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38</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146957604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45</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87</a:t>
            </a:r>
          </a:p>
        </p:txBody>
      </p:sp>
    </p:spTree>
    <p:extLst>
      <p:ext uri="{BB962C8B-B14F-4D97-AF65-F5344CB8AC3E}">
        <p14:creationId xmlns:p14="http://schemas.microsoft.com/office/powerpoint/2010/main" val="182227215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52</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88</a:t>
            </a:r>
          </a:p>
        </p:txBody>
      </p:sp>
    </p:spTree>
    <p:extLst>
      <p:ext uri="{BB962C8B-B14F-4D97-AF65-F5344CB8AC3E}">
        <p14:creationId xmlns:p14="http://schemas.microsoft.com/office/powerpoint/2010/main" val="90421270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55</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89</a:t>
            </a:r>
          </a:p>
        </p:txBody>
      </p:sp>
    </p:spTree>
    <p:extLst>
      <p:ext uri="{BB962C8B-B14F-4D97-AF65-F5344CB8AC3E}">
        <p14:creationId xmlns:p14="http://schemas.microsoft.com/office/powerpoint/2010/main" val="146953944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56</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90</a:t>
            </a:r>
          </a:p>
        </p:txBody>
      </p:sp>
    </p:spTree>
    <p:extLst>
      <p:ext uri="{BB962C8B-B14F-4D97-AF65-F5344CB8AC3E}">
        <p14:creationId xmlns:p14="http://schemas.microsoft.com/office/powerpoint/2010/main" val="35039219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58</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91</a:t>
            </a:r>
          </a:p>
        </p:txBody>
      </p:sp>
    </p:spTree>
    <p:extLst>
      <p:ext uri="{BB962C8B-B14F-4D97-AF65-F5344CB8AC3E}">
        <p14:creationId xmlns:p14="http://schemas.microsoft.com/office/powerpoint/2010/main" val="676467350"/>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spTree>
    <p:extLst>
      <p:ext uri="{BB962C8B-B14F-4D97-AF65-F5344CB8AC3E}">
        <p14:creationId xmlns:p14="http://schemas.microsoft.com/office/powerpoint/2010/main" val="507488637"/>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spTree>
    <p:extLst>
      <p:ext uri="{BB962C8B-B14F-4D97-AF65-F5344CB8AC3E}">
        <p14:creationId xmlns:p14="http://schemas.microsoft.com/office/powerpoint/2010/main" val="404875221"/>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97</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98</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99</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100</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102</a:t>
            </a:r>
          </a:p>
        </p:txBody>
      </p:sp>
    </p:spTree>
    <p:extLst>
      <p:ext uri="{BB962C8B-B14F-4D97-AF65-F5344CB8AC3E}">
        <p14:creationId xmlns:p14="http://schemas.microsoft.com/office/powerpoint/2010/main" val="1293824134"/>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103</a:t>
            </a:r>
          </a:p>
        </p:txBody>
      </p:sp>
    </p:spTree>
    <p:extLst>
      <p:ext uri="{BB962C8B-B14F-4D97-AF65-F5344CB8AC3E}">
        <p14:creationId xmlns:p14="http://schemas.microsoft.com/office/powerpoint/2010/main" val="40487522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44.</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104</a:t>
            </a:r>
          </a:p>
        </p:txBody>
      </p:sp>
    </p:spTree>
    <p:extLst>
      <p:ext uri="{BB962C8B-B14F-4D97-AF65-F5344CB8AC3E}">
        <p14:creationId xmlns:p14="http://schemas.microsoft.com/office/powerpoint/2010/main" val="404875221"/>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105</a:t>
            </a:r>
          </a:p>
        </p:txBody>
      </p:sp>
    </p:spTree>
    <p:extLst>
      <p:ext uri="{BB962C8B-B14F-4D97-AF65-F5344CB8AC3E}">
        <p14:creationId xmlns:p14="http://schemas.microsoft.com/office/powerpoint/2010/main" val="404875221"/>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93–94.</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106</a:t>
            </a:r>
          </a:p>
        </p:txBody>
      </p:sp>
    </p:spTree>
    <p:extLst>
      <p:ext uri="{BB962C8B-B14F-4D97-AF65-F5344CB8AC3E}">
        <p14:creationId xmlns:p14="http://schemas.microsoft.com/office/powerpoint/2010/main" val="404875221"/>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107</a:t>
            </a:r>
          </a:p>
        </p:txBody>
      </p:sp>
    </p:spTree>
    <p:extLst>
      <p:ext uri="{BB962C8B-B14F-4D97-AF65-F5344CB8AC3E}">
        <p14:creationId xmlns:p14="http://schemas.microsoft.com/office/powerpoint/2010/main" val="996966470"/>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108</a:t>
            </a:r>
          </a:p>
        </p:txBody>
      </p:sp>
    </p:spTree>
    <p:extLst>
      <p:ext uri="{BB962C8B-B14F-4D97-AF65-F5344CB8AC3E}">
        <p14:creationId xmlns:p14="http://schemas.microsoft.com/office/powerpoint/2010/main" val="261249467"/>
      </p:ext>
    </p:extLst>
  </p:cSld>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 name="slide-title">
            <a:extLst>
              <a:ext uri="{FF2B5EF4-FFF2-40B4-BE49-F238E27FC236}">
                <a16:creationId xmlns:a16="http://schemas.microsoft.com/office/drawing/2014/main" id="{E2F32EF2-5C76-4CCF-9CBB-FA96A44207EC}"/>
              </a:ext>
            </a:extLst>
          </p:cNvPr>
          <p:cNvSpPr>
            <a:spLocks noGrp="1"/>
          </p:cNvSpPr>
          <p:nvPr/>
        </p:nvSpPr>
        <p:spPr>
          <a:xfrm>
            <a:off x="548640" y="342900"/>
            <a:ext cx="11094720" cy="502920"/>
          </a:xfrm>
          <a:prstGeom prst="rect">
            <a:avLst/>
          </a:prstGeom>
          <a:noFill/>
          <a:ln w="0">
            <a:noFill/>
          </a:ln>
        </p:spPr>
        <p:txBody>
          <a:bodyPr wrap="square" lIns="0" tIns="0" rIns="0" bIns="0" anchor="t">
            <a:noAutofit/>
          </a:bodyPr>
          <a:lstStyle/>
          <a:p>
            <a:pPr>
              <a:defRPr sz="2820" b="1">
                <a:solidFill>
                  <a:srgbClr val="202E35"/>
                </a:solidFill>
                <a:latin typeface="Nimbus Sans"/>
                <a:ea typeface="Nimbus Sans"/>
                <a:cs typeface="Nimbus Sans"/>
              </a:defRPr>
            </a:pPr>
            <a:r>
              <a:rPr sz="2820" b="1">
                <a:solidFill>
                  <a:srgbClr val="202E35"/>
                </a:solidFill>
                <a:latin typeface="Nimbus Sans"/>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63880" y="929640"/>
            <a:ext cx="11064240" cy="472440"/>
          </a:xfrm>
          <a:prstGeom prst="rect">
            <a:avLst/>
          </a:prstGeom>
          <a:noFill/>
          <a:ln w="0">
            <a:noFill/>
          </a:ln>
        </p:spPr>
        <p:txBody>
          <a:bodyPr wrap="square" lIns="0" tIns="0" rIns="0" bIns="0" anchor="t">
            <a:noAutofit/>
          </a:bodyPr>
          <a:lstStyle/>
          <a:p>
            <a:pPr>
              <a:defRPr sz="1620" b="0">
                <a:solidFill>
                  <a:srgbClr val="52636C"/>
                </a:solidFill>
                <a:latin typeface="Nimbus Sans"/>
                <a:ea typeface="Nimbus Sans"/>
                <a:cs typeface="Nimbus Sans"/>
              </a:defRPr>
            </a:pPr>
            <a:r>
              <a:rPr sz="1620" b="0">
                <a:solidFill>
                  <a:srgbClr val="52636C"/>
                </a:solidFill>
                <a:latin typeface="Nimbus Sans"/>
                <a:ea typeface="Nimbus Sans"/>
                <a:cs typeface="Nimbus Sans"/>
              </a:rPr>
              <a:t>Model capability, reasoning effort and workload volume are separate choices</a:t>
            </a:r>
          </a:p>
        </p:txBody>
      </p:sp>
      <p:graphicFrame>
        <p:nvGraphicFramePr>
          <p:cNvPr id="14" name=""/>
          <p:cNvGraphicFramePr/>
          <p:nvPr/>
        </p:nvGraphicFramePr>
        <p:xfrm>
          <a:off x="563880" y="1767840"/>
          <a:ext cx="7741920" cy="3977640"/>
        </p:xfrm>
        <a:graphic>
          <a:graphicData uri="http://schemas.openxmlformats.org/drawingml/2006/table">
            <a:tbl>
              <a:tblPr firstRow="0" bandRow="0"/>
              <a:tblGrid>
                <a:gridCol w="1371600"/>
                <a:gridCol w="3185160"/>
                <a:gridCol w="3185160"/>
              </a:tblGrid>
              <a:tr h="472440">
                <a:tc>
                  <a:txBody>
                    <a:bodyPr wrap="square" lIns="161925" tIns="104775" rIns="133350" bIns="104775">
                      <a:noAutofit/>
                    </a:bodyPr>
                    <a:lstStyle/>
                    <a:p>
                      <a:r>
                        <a:rPr sz="1500" b="1">
                          <a:solidFill>
                            <a:srgbClr val="FFFFFF"/>
                          </a:solidFill>
                          <a:latin typeface="Nimbus Sans"/>
                          <a:ea typeface="Nimbus Sans"/>
                          <a:cs typeface="Nimbus Sans"/>
                        </a:rPr>
                        <a:t>Workload volume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Clear rules / low reasoning</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Ambiguity / high reasoning</a:t>
                      </a:r>
                    </a:p>
                  </a:txBody>
                  <a:tcPr marL="91440" marR="91440" marT="45720" marB="45720" anchor="ctr">
                    <a:solidFill>
                      <a:srgbClr val="126D70"/>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Many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batching</a:t>
                      </a:r>
                    </a:p>
                  </a:txBody>
                  <a:tcPr marL="91440" marR="91440" marT="45720" marB="45720" anchor="ctr">
                    <a:solidFill>
                      <a:srgbClr val="FFFFFF"/>
                    </a:solidFill>
                  </a:tcPr>
                </a:tc>
                <a:tc>
                  <a:txBody>
                    <a:bodyPr wrap="square" lIns="161925" tIns="104775" rIns="133350" bIns="104775">
                      <a:noAutofit/>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staged work</a:t>
                      </a:r>
                    </a:p>
                  </a:txBody>
                  <a:tcPr marL="91440" marR="91440" marT="45720" marB="45720" anchor="ctr">
                    <a:solidFill>
                      <a:srgbClr val="FFFFFF"/>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Few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low effort</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more reasoning</a:t>
                      </a:r>
                    </a:p>
                  </a:txBody>
                  <a:tcPr marL="91440" marR="91440" marT="45720" marB="45720" anchor="ctr">
                    <a:solidFill>
                      <a:srgbClr val="EAF2F1"/>
                    </a:solidFill>
                  </a:tcPr>
                </a:tc>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18</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slide-title">
            <a:extLst>
              <a:ext uri="{FF2B5EF4-FFF2-40B4-BE49-F238E27FC236}">
                <a16:creationId xmlns:a16="http://schemas.microsoft.com/office/drawing/2014/main" id="{74A227F0-A246-4E4F-AE47-7B740C822F22}"/>
              </a:ext>
            </a:extLst>
          </p:cNvPr>
          <p:cNvSpPr>
            <a:spLocks noGrp="1"/>
          </p:cNvSpPr>
          <p:nvPr/>
        </p:nvSpPr>
        <p:spPr>
          <a:xfrm>
            <a:off x="548640" y="342900"/>
            <a:ext cx="11094720" cy="502920"/>
          </a:xfrm>
          <a:prstGeom prst="rect">
            <a:avLst/>
          </a:prstGeom>
          <a:noFill/>
          <a:ln w="0">
            <a:noFill/>
          </a:ln>
        </p:spPr>
        <p:txBody>
          <a:bodyPr wrap="square" lIns="0" tIns="0" rIns="0" bIns="0" anchor="t">
            <a:noAutofit/>
          </a:bodyPr>
          <a:lstStyle/>
          <a:p>
            <a:pPr>
              <a:defRPr sz="2820" b="1">
                <a:solidFill>
                  <a:srgbClr val="202E35"/>
                </a:solidFill>
                <a:latin typeface="Nimbus Sans"/>
                <a:ea typeface="Nimbus Sans"/>
                <a:cs typeface="Nimbus Sans"/>
              </a:defRPr>
            </a:pPr>
            <a:r>
              <a:rPr sz="2820" b="1">
                <a:solidFill>
                  <a:srgbClr val="202E35"/>
                </a:solidFill>
                <a:latin typeface="Nimbus Sans"/>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63880" y="929640"/>
            <a:ext cx="11064240" cy="472440"/>
          </a:xfrm>
          <a:prstGeom prst="rect">
            <a:avLst/>
          </a:prstGeom>
          <a:noFill/>
          <a:ln w="0">
            <a:noFill/>
          </a:ln>
        </p:spPr>
        <p:txBody>
          <a:bodyPr wrap="square" lIns="0" tIns="0" rIns="0" bIns="0" anchor="t">
            <a:noAutofit/>
          </a:bodyPr>
          <a:lstStyle/>
          <a:p>
            <a:pPr>
              <a:defRPr sz="1620" b="0">
                <a:solidFill>
                  <a:srgbClr val="52636C"/>
                </a:solidFill>
                <a:latin typeface="Nimbus Sans"/>
                <a:ea typeface="Nimbus Sans"/>
                <a:cs typeface="Nimbus Sans"/>
              </a:defRPr>
            </a:pPr>
            <a:r>
              <a:rPr sz="1620" b="0">
                <a:solidFill>
                  <a:srgbClr val="52636C"/>
                </a:solidFill>
                <a:latin typeface="Nimbus Sans"/>
                <a:ea typeface="Nimbus Sans"/>
                <a:cs typeface="Nimbus Sans"/>
              </a:rPr>
              <a:t>Starting choices by vendor, from routine execution to demanding reasoning</a:t>
            </a:r>
          </a:p>
        </p:txBody>
      </p:sp>
      <p:graphicFrame>
        <p:nvGraphicFramePr>
          <p:cNvPr id="8" name=""/>
          <p:cNvGraphicFramePr/>
          <p:nvPr/>
        </p:nvGraphicFramePr>
        <p:xfrm>
          <a:off x="563880" y="1409700"/>
          <a:ext cx="11064240" cy="4541520"/>
        </p:xfrm>
        <a:graphic>
          <a:graphicData uri="http://schemas.openxmlformats.org/drawingml/2006/table">
            <a:tbl>
              <a:tblPr firstRow="0" bandRow="0"/>
              <a:tblGrid>
                <a:gridCol w="1691640"/>
                <a:gridCol w="4191000"/>
                <a:gridCol w="1463040"/>
                <a:gridCol w="1638300"/>
                <a:gridCol w="2080260"/>
              </a:tblGrid>
              <a:tr h="518160">
                <a:tc>
                  <a:txBody>
                    <a:bodyPr wrap="square" lIns="161925" tIns="104775" rIns="133350" bIns="104775">
                      <a:noAutofit/>
                    </a:bodyPr>
                    <a:lstStyle/>
                    <a:p>
                      <a:r>
                        <a:rPr sz="1500" b="1">
                          <a:solidFill>
                            <a:srgbClr val="FFFFFF"/>
                          </a:solidFill>
                          <a:latin typeface="Nimbus Sans"/>
                          <a:ea typeface="Nimbus Sans"/>
                          <a:cs typeface="Nimbus Sans"/>
                        </a:rPr>
                        <a:t>Task band</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Examples</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OpenAI</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marL="91440" marR="91440" marT="45720" marB="45720" anchor="ctr">
                    <a:solidFill>
                      <a:srgbClr val="126D70"/>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Luna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Haiku 4.5</a:t>
                      </a:r>
                    </a:p>
                  </a:txBody>
                  <a:tcPr marL="91440" marR="91440" marT="45720" marB="45720" anchor="ctr">
                    <a:solidFill>
                      <a:srgbClr val="FFFFFF"/>
                    </a:solidFill>
                  </a:tcPr>
                </a:tc>
                <a:tc>
                  <a:txBody>
                    <a:bodyPr wrap="square" lIns="161925" tIns="104775" rIns="133350" bIns="104775">
                      <a:noAutofit/>
                    </a:bodyPr>
                    <a:lstStyle/>
                    <a:p>
                      <a:r>
                        <a:rPr sz="1500" b="0">
                          <a:solidFill>
                            <a:srgbClr val="202E35"/>
                          </a:solidFill>
                          <a:latin typeface="Nimbus Sans"/>
                          <a:ea typeface="Nimbus Sans"/>
                          <a:cs typeface="Nimbus Sans"/>
                        </a:rPr>
                        <a:t>3.5 Flash-Lite</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Terra 5.6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Sonnet 5</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txBody>
                  <a:tcPr marL="91440" marR="91440" marT="45720" marB="45720" anchor="ctr">
                    <a:solidFill>
                      <a:srgbClr val="EAF2F1"/>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Sol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Opus 5</a:t>
                      </a:r>
                    </a:p>
                  </a:txBody>
                  <a:tcPr marL="91440" marR="91440" marT="45720" marB="45720" anchor="ctr">
                    <a:solidFill>
                      <a:srgbClr val="FFFFFF"/>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p>
                      <a:r>
                        <a:rPr sz="1500" b="0">
                          <a:solidFill>
                            <a:srgbClr val="202E35"/>
                          </a:solidFill>
                          <a:latin typeface="Nimbus Sans"/>
                          <a:ea typeface="Nimbus Sans"/>
                          <a:cs typeface="Nimbus Sans"/>
                        </a:rPr>
                        <a:t>3.1 Pro (preview)</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Astra 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Fable 5.1</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p>
                      <a:r>
                        <a:rPr sz="1500" b="0">
                          <a:solidFill>
                            <a:srgbClr val="202E35"/>
                          </a:solidFill>
                          <a:latin typeface="Nimbus Sans"/>
                          <a:ea typeface="Nimbus Sans"/>
                          <a:cs typeface="Nimbus Sans"/>
                        </a:rPr>
                        <a:t>3.1 Pro (preview)</a:t>
                      </a:r>
                    </a:p>
                  </a:txBody>
                  <a:tcPr marL="91440" marR="91440" marT="45720" marB="45720" anchor="ctr">
                    <a:solidFill>
                      <a:srgbClr val="EAF2F1"/>
                    </a:solidFill>
                  </a:tcPr>
                </a:tc>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19</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100" b="1" i="0">
                <a:solidFill>
                  <a:srgbClr val="0E7C7B"/>
                </a:solidFill>
                <a:latin typeface="Calibri"/>
              </a:rPr>
              <a:t>PART 3 · THE CRAFT — 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p/>
        </p:txBody>
      </p:sp>
      <p:sp>
        <p:nvSpPr>
          <p:cNvPr id="7" name="Shape 5"/>
          <p:cNvSpPr/>
          <p:nvPr/>
        </p:nvSpPr>
        <p:spPr>
          <a:xfrm>
            <a:off x="685800" y="1591056"/>
            <a:ext cx="384048" cy="384048"/>
          </a:xfrm>
          <a:prstGeom prst="ellipse">
            <a:avLst/>
          </a:prstGeom>
          <a:solidFill>
            <a:srgbClr val="3B8560"/>
          </a:solidFill>
          <a:ln/>
        </p:spPr>
        <p:txBody>
          <a:bodyPr/>
          <a:p/>
        </p:txBody>
      </p:sp>
      <p:pic>
        <p:nvPicPr>
          <p:cNvPr id="8" name="Image 0" descr="/home/user/Claude-Works/ai-training-prompt-engineering/src/assets/icons/check_w.png">    </p:cNvPr>
          <p:cNvPicPr>
            <a:picLocks noChangeAspect="1"/>
          </p:cNvPicPr>
          <p:nvPr/>
        </p:nvPicPr>
        <p:blipFill>
          <a:blip r:embed="rId2"/>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p/>
        </p:txBody>
      </p:sp>
      <p:sp>
        <p:nvSpPr>
          <p:cNvPr id="16" name="Shape 13"/>
          <p:cNvSpPr/>
          <p:nvPr/>
        </p:nvSpPr>
        <p:spPr>
          <a:xfrm>
            <a:off x="4480560" y="1591056"/>
            <a:ext cx="384048" cy="384048"/>
          </a:xfrm>
          <a:prstGeom prst="ellipse">
            <a:avLst/>
          </a:prstGeom>
          <a:solidFill>
            <a:srgbClr val="AF3230"/>
          </a:solidFill>
          <a:ln/>
        </p:spPr>
        <p:txBody>
          <a:bodyPr/>
          <a:p/>
        </p:txBody>
      </p:sp>
      <p:pic>
        <p:nvPicPr>
          <p:cNvPr id="17" name="Image 1" descr="/home/user/Claude-Works/ai-training-prompt-engineering/src/assets/icons/x_w.png">    </p:cNvPr>
          <p:cNvPicPr>
            <a:picLocks noChangeAspect="1"/>
          </p:cNvPicPr>
          <p:nvPr/>
        </p:nvPicPr>
        <p:blipFill>
          <a:blip r:embed="rId3"/>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p/>
        </p:txBody>
      </p:sp>
      <p:sp>
        <p:nvSpPr>
          <p:cNvPr id="25" name="Shape 21"/>
          <p:cNvSpPr/>
          <p:nvPr/>
        </p:nvSpPr>
        <p:spPr>
          <a:xfrm>
            <a:off x="8275320" y="1591056"/>
            <a:ext cx="384048" cy="384048"/>
          </a:xfrm>
          <a:prstGeom prst="ellipse">
            <a:avLst/>
          </a:prstGeom>
          <a:solidFill>
            <a:srgbClr val="46545F"/>
          </a:solidFill>
          <a:ln/>
        </p:spPr>
        <p:txBody>
          <a:bodyPr/>
          <a:p/>
        </p:txBody>
      </p:sp>
      <p:pic>
        <p:nvPicPr>
          <p:cNvPr id="26" name="Image 2" descr="/home/user/Claude-Works/ai-training-prompt-engineering/src/assets/icons/clock_w.png">    </p:cNvPr>
          <p:cNvPicPr>
            <a:picLocks noChangeAspect="1"/>
          </p:cNvPicPr>
          <p:nvPr/>
        </p:nvPicPr>
        <p:blipFill>
          <a:blip r:embed="rId4"/>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p/>
        </p:txBody>
      </p:sp>
      <p:sp>
        <p:nvSpPr>
          <p:cNvPr id="34" name="Shape 29"/>
          <p:cNvSpPr/>
          <p:nvPr/>
        </p:nvSpPr>
        <p:spPr>
          <a:xfrm>
            <a:off x="667512" y="6025896"/>
            <a:ext cx="384048" cy="384048"/>
          </a:xfrm>
          <a:prstGeom prst="ellipse">
            <a:avLst/>
          </a:prstGeom>
          <a:solidFill>
            <a:srgbClr val="0E7C7B"/>
          </a:solidFill>
          <a:ln/>
        </p:spPr>
        <p:txBody>
          <a:bodyPr/>
          <a:p/>
        </p:txBody>
      </p:sp>
      <p:pic>
        <p:nvPicPr>
          <p:cNvPr id="35" name="Image 3" descr="/home/user/Claude-Works/ai-training-prompt-engineering/src/assets/icons/download_w.png">    </p:cNvPr>
          <p:cNvPicPr>
            <a:picLocks noChangeAspect="1"/>
          </p:cNvPicPr>
          <p:nvPr/>
        </p:nvPicPr>
        <p:blipFill>
          <a:blip r:embed="rId5"/>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34</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p/>
        </p:txBody>
      </p:sp>
      <p:pic>
        <p:nvPicPr>
          <p:cNvPr id="7" name="Image 0" descr="/home/user/Claude-Works/ai-training-prompt-engineering/src/assets/icons/clock_w.png">    </p:cNvPr>
          <p:cNvPicPr>
            <a:picLocks noChangeAspect="1"/>
          </p:cNvPicPr>
          <p:nvPr/>
        </p:nvPicPr>
        <p:blipFill>
          <a:blip r:embed="rId2"/>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indent="0" marL="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indent="0" marL="0">
              <a:lnSpc>
                <a:spcPct val="110000"/>
              </a:lnSpc>
              <a:buNone/>
            </a:pP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35</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C272E"/>
        </a:solidFill>
      </p:bgPr>
    </p:bg>
    <p:spTree>
      <p:nvGrpSpPr>
        <p:cNvPr id="1" name=""/>
        <p:cNvGrpSpPr/>
        <p:nvPr/>
      </p:nvGrpSpPr>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A7B0B5"/>
                </a:solidFill>
                <a:latin typeface="Calibri"/>
              </a:rPr>
              <a:t>36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txBody>
          <a:body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p/>
        </p:txBody>
      </p:sp>
      <p:sp>
        <p:nvSpPr>
          <p:cNvPr id="8" name="Shape 6"/>
          <p:cNvSpPr/>
          <p:nvPr/>
        </p:nvSpPr>
        <p:spPr>
          <a:xfrm>
            <a:off x="658368" y="1563624"/>
            <a:ext cx="118872" cy="118872"/>
          </a:xfrm>
          <a:prstGeom prst="ellipse">
            <a:avLst/>
          </a:prstGeom>
          <a:solidFill>
            <a:srgbClr val="E74C3C"/>
          </a:solidFill>
          <a:ln/>
        </p:spPr>
        <p:txBody>
          <a:bodyPr/>
          <a:p/>
        </p:txBody>
      </p:sp>
      <p:sp>
        <p:nvSpPr>
          <p:cNvPr id="9" name="Shape 7"/>
          <p:cNvSpPr/>
          <p:nvPr/>
        </p:nvSpPr>
        <p:spPr>
          <a:xfrm>
            <a:off x="841248" y="1563624"/>
            <a:ext cx="118872" cy="118872"/>
          </a:xfrm>
          <a:prstGeom prst="ellipse">
            <a:avLst/>
          </a:prstGeom>
          <a:solidFill>
            <a:srgbClr val="F1C40F"/>
          </a:solidFill>
          <a:ln/>
        </p:spPr>
        <p:txBody>
          <a:bodyPr/>
          <a:p/>
        </p:txBody>
      </p:sp>
      <p:sp>
        <p:nvSpPr>
          <p:cNvPr id="10" name="Shape 8"/>
          <p:cNvSpPr/>
          <p:nvPr/>
        </p:nvSpPr>
        <p:spPr>
          <a:xfrm>
            <a:off x="1024128" y="1563624"/>
            <a:ext cx="118872" cy="118872"/>
          </a:xfrm>
          <a:prstGeom prst="ellipse">
            <a:avLst/>
          </a:prstGeom>
          <a:solidFill>
            <a:srgbClr val="2ECC71"/>
          </a:solidFill>
          <a:ln/>
        </p:spPr>
        <p:txBody>
          <a:body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p/>
        </p:txBody>
      </p:sp>
      <p:sp>
        <p:nvSpPr>
          <p:cNvPr id="43" name="Shape 41"/>
          <p:cNvSpPr/>
          <p:nvPr/>
        </p:nvSpPr>
        <p:spPr>
          <a:xfrm>
            <a:off x="667512" y="6140196"/>
            <a:ext cx="384048" cy="384048"/>
          </a:xfrm>
          <a:prstGeom prst="ellipse">
            <a:avLst/>
          </a:prstGeom>
          <a:solidFill>
            <a:srgbClr val="0E7C7B"/>
          </a:solidFill>
          <a:ln/>
        </p:spPr>
        <p:txBody>
          <a:bodyPr/>
          <a:p/>
        </p:txBody>
      </p:sp>
      <p:pic>
        <p:nvPicPr>
          <p:cNvPr id="44" name="Image 0" descr="/home/user/Claude-Works/ai-training-prompt-engineering/src/assets/icons/copy_w.png">    </p:cNvPr>
          <p:cNvPicPr>
            <a:picLocks noChangeAspect="1"/>
          </p:cNvPicPr>
          <p:nvPr/>
        </p:nvPicPr>
        <p:blipFill>
          <a:blip r:embed="rId2"/>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