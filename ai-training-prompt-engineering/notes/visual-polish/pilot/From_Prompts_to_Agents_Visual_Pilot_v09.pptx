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1.jpg" ContentType="image/jpg"/>
  <Override PartName="/ppt/media/image-14-2.jpg" ContentType="image/jpg"/>
  <Override PartName="/ppt/media/image-14-3.jpg" ContentType="image/jpg"/>
  <Override PartName="/ppt/media/image-14-4.jpg" ContentType="image/jpg"/>
  <Override PartName="/ppt/media/image-29-2.jpg" ContentType="image/jpg"/>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ns0="http://schemas.openxmlformats.org/officeDocument/2006/relationships" id="364" ns0:id="rId115"/>
    <p:sldId xmlns:r="http://schemas.openxmlformats.org/officeDocument/2006/relationships" id="260" r:id="R2ea203b92871473d"/>
    <p:sldId xmlns:ns0="http://schemas.openxmlformats.org/officeDocument/2006/relationships" id="365" ns0:id="rId116"/>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7" r:id="R8f44df3f995741be"/>
    <p:sldId xmlns:r="http://schemas.openxmlformats.org/officeDocument/2006/relationships" id="268" r:id="R497eec08e90f4972"/>
    <p:sldId xmlns:r="http://schemas.openxmlformats.org/officeDocument/2006/relationships" id="270" r:id="R2e829fbd5b88413d"/>
    <p:sldId xmlns:ns0="http://schemas.openxmlformats.org/officeDocument/2006/relationships" id="361" ns0:id="rId112"/>
    <p:sldId xmlns:ns0="http://schemas.openxmlformats.org/officeDocument/2006/relationships" id="362" ns0:id="rId113"/>
    <p:sldId xmlns:ns0="http://schemas.openxmlformats.org/officeDocument/2006/relationships" id="363" ns0:id="rId114"/>
    <p:sldId xmlns:r="http://schemas.openxmlformats.org/officeDocument/2006/relationships" id="271" r:id="R87625dd8e0984c06"/>
    <p:sldId xmlns:ns0="http://schemas.openxmlformats.org/officeDocument/2006/relationships" id="366" ns0:id="rId117"/>
    <p:sldId xmlns:ns0="http://schemas.openxmlformats.org/officeDocument/2006/relationships" id="367" ns0:id="rId109"/>
    <p:sldId xmlns:ns0="http://schemas.openxmlformats.org/officeDocument/2006/relationships" id="368" ns0:id="rId108"/>
    <p:sldId xmlns:r="http://schemas.openxmlformats.org/officeDocument/2006/relationships" id="273" r:id="R0c46244e8fb14028"/>
    <p:sldId xmlns:ns0="http://schemas.openxmlformats.org/officeDocument/2006/relationships" id="360" ns0:id="rId111"/>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ns0="http://schemas.openxmlformats.org/officeDocument/2006/relationships" id="369" ns0:id="rId118"/>
    <p:sldId xmlns:r="http://schemas.openxmlformats.org/officeDocument/2006/relationships" id="282" r:id="Rf617b4374eff49ab"/>
    <p:sldId xmlns:r="http://schemas.openxmlformats.org/officeDocument/2006/relationships" id="283" r:id="Rc1ab04196d404aed"/>
    <p:sldId xmlns:ns0="http://schemas.openxmlformats.org/officeDocument/2006/relationships" id="370" ns0:id="rId119"/>
    <p:sldId xmlns:ns0="http://schemas.openxmlformats.org/officeDocument/2006/relationships" id="371" ns0:id="rId120"/>
    <p:sldId xmlns:ns0="http://schemas.openxmlformats.org/officeDocument/2006/relationships" id="372" ns0:id="rId121"/>
    <p:sldId xmlns:ns0="http://schemas.openxmlformats.org/officeDocument/2006/relationships" id="373" ns0:id="rId122"/>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 xmlns:r="http://schemas.openxmlformats.org/officeDocument/2006/relationships" id="274" r:id="R8d8266f16f39499e"/>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ns0="http://schemas.openxmlformats.org/officeDocument/2006/relationships" id="359" ns0:id="rId110"/>
    <p:sldId xmlns:r="http://schemas.openxmlformats.org/officeDocument/2006/relationships" id="299" r:id="Rf83dd77c14194f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2afab2e450c4195" Type="http://schemas.openxmlformats.org/officeDocument/2006/relationships/slide" Target="slides/slide81.xml"/><Relationship Id="R05855d706bc045fe" Type="http://schemas.openxmlformats.org/officeDocument/2006/relationships/slide" Target="slides/slide85.xml"/><Relationship Id="R069238ad314e4c27" Type="http://schemas.openxmlformats.org/officeDocument/2006/relationships/slide" Target="slides/slide23.xml"/><Relationship Id="R0ac1719f35204866" Type="http://schemas.openxmlformats.org/officeDocument/2006/relationships/slide" Target="slides/slide54.xml"/><Relationship Id="R0b89ffdaa91d419b" Type="http://schemas.openxmlformats.org/officeDocument/2006/relationships/notesMaster" Target="notesMasters/notesMaster1.xml"/><Relationship Id="R0c46244e8fb14028" Type="http://schemas.openxmlformats.org/officeDocument/2006/relationships/slide" Target="slides/slide21.xml"/><Relationship Id="R0c612231d0d14151" Type="http://schemas.openxmlformats.org/officeDocument/2006/relationships/slide" Target="slides/slide9.xml"/><Relationship Id="R0c8f4d29f8a04f60" Type="http://schemas.openxmlformats.org/officeDocument/2006/relationships/slide" Target="slides/slide61.xml"/><Relationship Id="R15145c6c7e234ba1" Type="http://schemas.openxmlformats.org/officeDocument/2006/relationships/slide" Target="slides/slide90.xml"/><Relationship Id="R186fa38805ad4cc8" Type="http://schemas.openxmlformats.org/officeDocument/2006/relationships/slide" Target="slides/slide45.xml"/><Relationship Id="R19fb9c5b0ac74759" Type="http://schemas.openxmlformats.org/officeDocument/2006/relationships/slide" Target="slides/slide42.xml"/><Relationship Id="R1d77e68a871f4474" Type="http://schemas.openxmlformats.org/officeDocument/2006/relationships/slide" Target="slides/slide94.xml"/><Relationship Id="R1e1b2aa1bb794464" Type="http://schemas.openxmlformats.org/officeDocument/2006/relationships/slide" Target="slides/slide52.xml"/><Relationship Id="R1fbfbc89ece44e43" Type="http://schemas.openxmlformats.org/officeDocument/2006/relationships/slide" Target="slides/slide105.xml"/><Relationship Id="R22c468c81ffa482e" Type="http://schemas.openxmlformats.org/officeDocument/2006/relationships/slide" Target="slides/slide65.xml"/><Relationship Id="R2b2e423f66a449ed" Type="http://schemas.openxmlformats.org/officeDocument/2006/relationships/slide" Target="slides/slide93.xml"/><Relationship Id="R2bcb4d96ecf8422d" Type="http://schemas.openxmlformats.org/officeDocument/2006/relationships/slide" Target="slides/slide58.xml"/><Relationship Id="R2de53fc756054224" Type="http://schemas.openxmlformats.org/officeDocument/2006/relationships/slide" Target="slides/slide48.xml"/><Relationship Id="R2e829fbd5b88413d" Type="http://schemas.openxmlformats.org/officeDocument/2006/relationships/slide" Target="slides/slide13.xml"/><Relationship Id="R2ea203b92871473d" Type="http://schemas.openxmlformats.org/officeDocument/2006/relationships/slide" Target="slides/slide5.xml"/><Relationship Id="R2f94eac98ebf4dcf" Type="http://schemas.openxmlformats.org/officeDocument/2006/relationships/slide" Target="slides/slide63.xml"/><Relationship Id="R33a496a507fc4955" Type="http://schemas.openxmlformats.org/officeDocument/2006/relationships/slide" Target="slides/slide8.xml"/><Relationship Id="R3b56dbb5e0334107" Type="http://schemas.openxmlformats.org/officeDocument/2006/relationships/slide" Target="slides/slide59.xml"/><Relationship Id="R3f248e2bf34e4ee7" Type="http://schemas.openxmlformats.org/officeDocument/2006/relationships/slide" Target="slides/slide108.xml"/><Relationship Id="R3fa5858789f04404" Type="http://schemas.openxmlformats.org/officeDocument/2006/relationships/slide" Target="slides/slide69.xml"/><Relationship Id="R3fff51fc7d614878" Type="http://schemas.openxmlformats.org/officeDocument/2006/relationships/slide" Target="slides/slide109.xml"/><Relationship Id="R40e1c79f179f4e8f" Type="http://schemas.openxmlformats.org/officeDocument/2006/relationships/slide" Target="slides/slide49.xml"/><Relationship Id="R42701428448d4235" Type="http://schemas.openxmlformats.org/officeDocument/2006/relationships/slide" Target="slides/slide111.xml"/><Relationship Id="R44780e2ebdb6403f" Type="http://schemas.openxmlformats.org/officeDocument/2006/relationships/slide" Target="slides/slide71.xml"/><Relationship Id="R458c038f106f42b3" Type="http://schemas.openxmlformats.org/officeDocument/2006/relationships/slide" Target="slides/slide25.xml"/><Relationship Id="R49126e58d84e4d17" Type="http://schemas.openxmlformats.org/officeDocument/2006/relationships/slide" Target="slides/slide2.xml"/><Relationship Id="R497eec08e90f4972" Type="http://schemas.openxmlformats.org/officeDocument/2006/relationships/slide" Target="slides/slide12.xml"/><Relationship Id="R49b805558b704520" Type="http://schemas.openxmlformats.org/officeDocument/2006/relationships/slide" Target="slides/slide98.xml"/><Relationship Id="R49c9e195f24045a4" Type="http://schemas.openxmlformats.org/officeDocument/2006/relationships/slide" Target="slides/slide10.xml"/><Relationship Id="R4c65dd02438d42f5" Type="http://schemas.openxmlformats.org/officeDocument/2006/relationships/slide" Target="slides/slide64.xml"/><Relationship Id="R4e11cd081d8c42cc" Type="http://schemas.openxmlformats.org/officeDocument/2006/relationships/slide" Target="slides/slide51.xml"/><Relationship Id="R5aa8b9bfd01543b2" Type="http://schemas.openxmlformats.org/officeDocument/2006/relationships/slideMaster" Target="slideMasters/slideMaster1.xml"/><Relationship Id="R5d1c473c62ac4960" Type="http://schemas.openxmlformats.org/officeDocument/2006/relationships/slide" Target="slides/slide89.xml"/><Relationship Id="R620ac1dbc6f14e53" Type="http://schemas.openxmlformats.org/officeDocument/2006/relationships/slide" Target="slides/slide74.xml"/><Relationship Id="R64d1fcab01954a83" Type="http://schemas.openxmlformats.org/officeDocument/2006/relationships/slide" Target="slides/slide86.xml"/><Relationship Id="R6ae5b62127bb4a3e" Type="http://schemas.openxmlformats.org/officeDocument/2006/relationships/slide" Target="slides/slide28.xml"/><Relationship Id="R6c515ce50f4e4f7f" Type="http://schemas.openxmlformats.org/officeDocument/2006/relationships/tableStyles" Target="tableStyles.xml"/><Relationship Id="R6f9e6b8c5b6d4ef6" Type="http://schemas.openxmlformats.org/officeDocument/2006/relationships/slide" Target="slides/slide76.xml"/><Relationship Id="R72360af60b1244c5" Type="http://schemas.openxmlformats.org/officeDocument/2006/relationships/slide" Target="slides/slide38.xml"/><Relationship Id="R72f4e34109924bff" Type="http://schemas.openxmlformats.org/officeDocument/2006/relationships/slide" Target="slides/slide97.xml"/><Relationship Id="R74a68a196bca4aa9" Type="http://schemas.openxmlformats.org/officeDocument/2006/relationships/slide" Target="slides/slide7.xml"/><Relationship Id="R7538f1ee4e264b12" Type="http://schemas.openxmlformats.org/officeDocument/2006/relationships/slide" Target="slides/slide56.xml"/><Relationship Id="R774ece67fad84555" Type="http://schemas.openxmlformats.org/officeDocument/2006/relationships/slide" Target="slides/slide43.xml"/><Relationship Id="R7ff20651f7f24b61" Type="http://schemas.openxmlformats.org/officeDocument/2006/relationships/slide" Target="slides/slide55.xml"/><Relationship Id="R807c75ee14994fe2" Type="http://schemas.openxmlformats.org/officeDocument/2006/relationships/slide" Target="slides/slide44.xml"/><Relationship Id="R80f7ed3959794549" Type="http://schemas.openxmlformats.org/officeDocument/2006/relationships/slide" Target="slides/slide96.xml"/><Relationship Id="R823c328ecb794c2b" Type="http://schemas.openxmlformats.org/officeDocument/2006/relationships/slide" Target="slides/slide79.xml"/><Relationship Id="R830a4c4d00184e7b" Type="http://schemas.openxmlformats.org/officeDocument/2006/relationships/viewProps" Target="viewProps.xml"/><Relationship Id="R87625dd8e0984c06" Type="http://schemas.openxmlformats.org/officeDocument/2006/relationships/slide" Target="slides/slide17.xml"/><Relationship Id="R88a5cc6292ea42b7" Type="http://schemas.openxmlformats.org/officeDocument/2006/relationships/slide" Target="slides/slide80.xml"/><Relationship Id="R8d8266f16f39499e" Type="http://schemas.openxmlformats.org/officeDocument/2006/relationships/slide" Target="slides/slide107.xml"/><Relationship Id="R8f44df3f995741be" Type="http://schemas.openxmlformats.org/officeDocument/2006/relationships/slide" Target="slides/slide11.xml"/><Relationship Id="R8f9157d733974967" Type="http://schemas.openxmlformats.org/officeDocument/2006/relationships/slide" Target="slides/slide82.xml"/><Relationship Id="R927cd8835efb4ab0" Type="http://schemas.openxmlformats.org/officeDocument/2006/relationships/slide" Target="slides/slide29.xml"/><Relationship Id="R93d4d1d0de584694" Type="http://schemas.openxmlformats.org/officeDocument/2006/relationships/slide" Target="slides/slide40.xml"/><Relationship Id="R99253aca67014940" Type="http://schemas.openxmlformats.org/officeDocument/2006/relationships/slide" Target="slides/slide99.xml"/><Relationship Id="Ra06c56ae3a56481f" Type="http://schemas.openxmlformats.org/officeDocument/2006/relationships/slide" Target="slides/slide53.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88.xml"/><Relationship Id="Rae84fa895e7748ca" Type="http://schemas.openxmlformats.org/officeDocument/2006/relationships/slide" Target="slides/slide110.xml"/><Relationship Id="Rb17885eb73d14520" Type="http://schemas.openxmlformats.org/officeDocument/2006/relationships/slide" Target="slides/slide91.xml"/><Relationship Id="Rbaa478a0935549e2" Type="http://schemas.openxmlformats.org/officeDocument/2006/relationships/slide" Target="slides/slide73.xml"/><Relationship Id="Rbb8266a8051248ab" Type="http://schemas.openxmlformats.org/officeDocument/2006/relationships/slide" Target="slides/slide70.xml"/><Relationship Id="Rc19ca91603b2489c" Type="http://schemas.openxmlformats.org/officeDocument/2006/relationships/slide" Target="slides/slide75.xml"/><Relationship Id="Rc1ab04196d404aed" Type="http://schemas.openxmlformats.org/officeDocument/2006/relationships/slide" Target="slides/slide32.xml"/><Relationship Id="Rc347af9a1dea4fa3" Type="http://schemas.openxmlformats.org/officeDocument/2006/relationships/slide" Target="slides/slide95.xml"/><Relationship Id="Rc38ef0b539dc41dd" Type="http://schemas.openxmlformats.org/officeDocument/2006/relationships/slide" Target="slides/slide78.xml"/><Relationship Id="Rc4414996e3934b5d" Type="http://schemas.openxmlformats.org/officeDocument/2006/relationships/slide" Target="slides/slide41.xml"/><Relationship Id="Rc5e85b598ee44992" Type="http://schemas.openxmlformats.org/officeDocument/2006/relationships/slide" Target="slides/slide66.xml"/><Relationship Id="Rc671bf21a3eb43f1" Type="http://schemas.openxmlformats.org/officeDocument/2006/relationships/slide" Target="slides/slide106.xml"/><Relationship Id="Rc8d585cd4e5649e6" Type="http://schemas.openxmlformats.org/officeDocument/2006/relationships/slide" Target="slides/slide37.xml"/><Relationship Id="Rca6780869fc647e3" Type="http://schemas.openxmlformats.org/officeDocument/2006/relationships/slide" Target="slides/slide72.xml"/><Relationship Id="Rd125716ce4294b9c" Type="http://schemas.openxmlformats.org/officeDocument/2006/relationships/slide" Target="slides/slide62.xml"/><Relationship Id="Rd36e565f71ed490d" Type="http://schemas.openxmlformats.org/officeDocument/2006/relationships/presProps" Target="presProps.xml"/><Relationship Id="Rd9664eb4c866478d" Type="http://schemas.openxmlformats.org/officeDocument/2006/relationships/slide" Target="slides/slide92.xml"/><Relationship Id="Rdb3d43f0242a4fac" Type="http://schemas.openxmlformats.org/officeDocument/2006/relationships/slide" Target="slides/slide39.xml"/><Relationship Id="Re16d95a845d14216" Type="http://schemas.openxmlformats.org/officeDocument/2006/relationships/slide" Target="slides/slide27.xml"/><Relationship Id="Re228b723b77d4a79" Type="http://schemas.openxmlformats.org/officeDocument/2006/relationships/slide" Target="slides/slide87.xml"/><Relationship Id="Re2e4afc3a8524f5b" Type="http://schemas.openxmlformats.org/officeDocument/2006/relationships/slide" Target="slides/slide77.xml"/><Relationship Id="Re62d8fa47a29432d" Type="http://schemas.openxmlformats.org/officeDocument/2006/relationships/slide" Target="slides/slide60.xml"/><Relationship Id="Reb419e1bc7894222" Type="http://schemas.openxmlformats.org/officeDocument/2006/relationships/slide" Target="slides/slide83.xml"/><Relationship Id="Rf04d4de72cd24ec1" Type="http://schemas.openxmlformats.org/officeDocument/2006/relationships/slide" Target="slides/slide57.xml"/><Relationship Id="Rf1f0b08a68ab460c" Type="http://schemas.openxmlformats.org/officeDocument/2006/relationships/slide" Target="slides/slide3.xml"/><Relationship Id="Rf3e1268529fb4912" Type="http://schemas.openxmlformats.org/officeDocument/2006/relationships/slide" Target="slides/slide68.xml"/><Relationship Id="Rf55a94a8bf554d05" Type="http://schemas.openxmlformats.org/officeDocument/2006/relationships/slide" Target="slides/slide24.xml"/><Relationship Id="Rf617b4374eff49ab" Type="http://schemas.openxmlformats.org/officeDocument/2006/relationships/slide" Target="slides/slide31.xml"/><Relationship Id="Rf624d4e59fd34102" Type="http://schemas.openxmlformats.org/officeDocument/2006/relationships/slide" Target="slides/slide67.xml"/><Relationship Id="Rf67660129de8488f" Type="http://schemas.openxmlformats.org/officeDocument/2006/relationships/slide" Target="slides/slide50.xml"/><Relationship Id="Rf83dd77c14194f0b" Type="http://schemas.openxmlformats.org/officeDocument/2006/relationships/slide" Target="slides/slide113.xml"/><Relationship Id="Rf8ebba3d3d364e8e" Type="http://schemas.openxmlformats.org/officeDocument/2006/relationships/slide" Target="slides/slide84.xml"/><Relationship Id="Rfa30b3a8386f4027" Type="http://schemas.openxmlformats.org/officeDocument/2006/relationships/slide" Target="slides/slide26.xml"/><Relationship Id="RnewSlide102" Type="http://schemas.openxmlformats.org/officeDocument/2006/relationships/slide" Target="slides/slide46.xml"/><Relationship Id="RnewSlide103" Type="http://schemas.openxmlformats.org/officeDocument/2006/relationships/slide" Target="slides/slide47.xml"/><Relationship Id="rId1" Type="http://schemas.openxmlformats.org/officeDocument/2006/relationships/slide" Target="slides/slide100.xml"/><Relationship Id="rId2" Type="http://schemas.openxmlformats.org/officeDocument/2006/relationships/slide" Target="slides/slide101.xml"/><Relationship Id="rId3" Type="http://schemas.openxmlformats.org/officeDocument/2006/relationships/slide" Target="slides/slide102.xml"/><Relationship Id="rId4" Type="http://schemas.openxmlformats.org/officeDocument/2006/relationships/slide" Target="slides/slide103.xml"/><Relationship Id="rId5" Type="http://schemas.openxmlformats.org/officeDocument/2006/relationships/slide" Target="slides/slide104.xml"/><Relationship Id="rId108" Type="http://schemas.openxmlformats.org/officeDocument/2006/relationships/slide" Target="slides/slide20.xml"/><Relationship Id="rId109" Type="http://schemas.openxmlformats.org/officeDocument/2006/relationships/slide" Target="slides/slide19.xml"/><Relationship Id="rId110" Type="http://schemas.openxmlformats.org/officeDocument/2006/relationships/slide" Target="slides/slide112.xml"/><Relationship Id="rId111" Type="http://schemas.openxmlformats.org/officeDocument/2006/relationships/slide" Target="slides/slide22.xml"/><Relationship Id="rId112" Type="http://schemas.openxmlformats.org/officeDocument/2006/relationships/slide" Target="slides/slide14.xml"/><Relationship Id="rId113" Type="http://schemas.openxmlformats.org/officeDocument/2006/relationships/slide" Target="slides/slide15.xml"/><Relationship Id="rId114" Type="http://schemas.openxmlformats.org/officeDocument/2006/relationships/slide" Target="slides/slide16.xml"/><Relationship Id="rId115" Type="http://schemas.openxmlformats.org/officeDocument/2006/relationships/slide" Target="slides/slide4.xml"/><Relationship Id="rId116" Type="http://schemas.openxmlformats.org/officeDocument/2006/relationships/slide" Target="slides/slide6.xml"/><Relationship Id="rId117" Type="http://schemas.openxmlformats.org/officeDocument/2006/relationships/slide" Target="slides/slide18.xml"/><Relationship Id="rId118" Type="http://schemas.openxmlformats.org/officeDocument/2006/relationships/slide" Target="slides/slide30.xml"/><Relationship Id="rId119" Type="http://schemas.openxmlformats.org/officeDocument/2006/relationships/slide" Target="slides/slide33.xml"/><Relationship Id="rId120" Type="http://schemas.openxmlformats.org/officeDocument/2006/relationships/slide" Target="slides/slide34.xml"/><Relationship Id="rId121" Type="http://schemas.openxmlformats.org/officeDocument/2006/relationships/slide" Target="slides/slide35.xml"/><Relationship Id="rId122"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1.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2.xml"/><Relationship Id="Rf967b19574264e6d"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3.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7.xml"/><Relationship Id="Rcd627e3788d74f2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107.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4.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6.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7.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29.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31.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108.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109.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110.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111.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5.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7.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40.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6.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5.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113.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48.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49.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50.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51.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52.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3.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4.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5.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58.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59.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60.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4.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70.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72.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4.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6.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77.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79.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4.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5.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90.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91.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92.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3.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4.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5.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6.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97.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98.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99.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6.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73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after the concept slide. These four bands are an instructional synthesis and recommended starting choices, not a cross-vendor benchmark or a claim about parameter counts. Actual speed depends on reasoning effort, input size, output length, tool use, service load, and retries. Sol is a capable professional model; placing it below Astra does not make it a small model. Anthropic describes Haiku 4.5 as fastest, Sonnet 5 as fast, Opus 5 as moderate, and Fable 5.1 as slower within its own lineup. Google Flash 3.8 supports complex workflows as well as everyday work, so it spans bands. Google Pro 3.1 is a preview reasoning candidate; the slide does not rank it above Flash 3.8. Model availability varies by product and plan.</a:t>
            </a:r>
          </a:p>
          <a:p>
            <a:r>
              <a:t>OpenAI short names denote model families: Luna, Terra and Sol version 5.6, and Astra version 6. The model prefix GPT (Generative Pre-trained Transformer) is omitted in the table to keep labels readable.</a:t>
            </a:r>
          </a:p>
          <a:p>
            <a:r>
              <a:t>Escalate when validation fails, ambiguity remains, or mistakes have costly consequences. For a spreadsheet, check formulas and recalculate with known test cases. For a deck, inspect rendered slides and verify required content. For email summaries, verify owners, dates and commitments against source messages. A difficult task can also need better evidence or specialist tools.</a:t>
            </a:r>
          </a:p>
          <a:p/>
          <a:p>
            <a:r>
              <a:t>Examples are illustrative task recommendations based on the documented model roles. They are not measured task-specific performance results. Classify a specific request by ambiguity, dependencies and error cost, rather than by the file type alone. Routine does not mean unimportant.</a:t>
            </a:r>
          </a:p>
          <a:p>
            <a:r>
              <a:t>For presentations, use stronger reasoning for learning objectives and sequence, then a economical model for bounded template edits. For spreadsheets, prioritize assumption logic and executable calculation tests. For emails, distinguish direct extraction from resolving contradictions across messages.</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p>
            <a:r>
              <a:t>FACILITATION: REFERENCE · 0:20–0:30. Orient, do not read: bands are starting choices, not cross-vendor benchmark rankings.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explanation:</a:t>
            </a:r>
          </a:p>
          <a:p>
            <a:r>
              <a:t>The horizontal dimension is reasoning difficulty: ambiguity, dependent steps and conflicting evidence. The vertical dimension is volume: the number of items or amount of material. They are conceptual categories, not measured numeric axes. A large task can consist of many easy independent actions, while one short question can require difficult reasoning.</a:t>
            </a:r>
          </a:p>
          <a:p>
            <a:r>
              <a:t>Model capability means the range and difficulty of problems the model can solve. Reasoning effort is the inference-time computation spent on a request. Processing capacity covers distinct operational limits: context per request and throughput across requests. Throughput depends on the serving system, concurrency and account limits as well as the model. Context-window size alone does not establish reasoning quality.</a:t>
            </a:r>
          </a:p>
          <a:p>
            <a:r>
              <a:t>The example counts are illustrative. Batching applies to separable work, and a staged workflow should preserve dependencies and source evidence. Error consequences can justify stronger review at any level of volume or complexity.</a:t>
            </a:r>
          </a:p>
          <a:p>
            <a:r>
              <a:t>Do not add seconds and token counts directly. Measure quality against required checks, then compare time to an acceptable result and total consumption separately, or normalize them before combining.</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p>
            <a:r>
              <a:t>FACILITATION: TEACH · about 1:00. Concept slide — capability, reasoning effort and workload volume are separate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RELOCATED to self-study per owner direction (2026-09-18): “I don’t think we need slide 21.” Content preserved.</a:t>
            </a:r>
          </a:p>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Confirm approved tools and data rules before participants upload anything.</a:t>
            </a:r>
          </a:p>
          <a:p xmlns:a="http://schemas.openxmlformats.org/drawingml/2006/main"/>
          <a:p xmlns:a="http://schemas.openxmlformats.org/drawingml/2006/main">
            <a:r>
              <a:t>SAY:</a:t>
            </a:r>
          </a:p>
          <a:p xmlns:a="http://schemas.openxmlformats.org/drawingml/2006/main">
            <a:r>
              <a:t>- Company data rules depend on the actual account, service, contract, and configuration.</a:t>
            </a:r>
          </a:p>
          <a:p xmlns:a="http://schemas.openxmlformats.org/drawingml/2006/main">
            <a:r>
              <a:t>- A vendor’s home country alone does not describe every customer’s storage arrangement.</a:t>
            </a:r>
          </a:p>
          <a:p xmlns:a="http://schemas.openxmlformats.org/drawingml/2006/main">
            <a:r>
              <a:t>- Resolve uncertain access before an upload, using the organization’s approved guidance.</a:t>
            </a:r>
          </a:p>
          <a:p xmlns:a="http://schemas.openxmlformats.org/drawingml/2006/main"/>
          <a:p xmlns:a="http://schemas.openxmlformats.org/drawingml/2006/main">
            <a:r>
              <a:t>DO: None.</a:t>
            </a:r>
          </a:p>
          <a:p xmlns:a="http://schemas.openxmlformats.org/drawingml/2006/main"/>
          <a:p xmlns:a="http://schemas.openxmlformats.org/drawingml/2006/main">
            <a:r>
              <a:t>BRIDGE: Move to “Part 3: prompt engineering”.</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2 · TRUST &amp; DATA</a:t>
            </a:r>
          </a:p>
          <a:p xmlns:a="http://schemas.openxmlformats.org/drawingml/2006/main">
            <a:r>
              <a:t>19</a:t>
            </a:r>
          </a:p>
          <a:p xmlns:a="http://schemas.openxmlformats.org/drawingml/2006/main">
            <a:r>
              <a:t>WHERE YOUR WORDS GO</a:t>
            </a:r>
          </a:p>
          <a:p xmlns:a="http://schemas.openxmlformats.org/drawingml/2006/main">
            <a:r>
              <a:t>Whose servers, in which country — Sep 2026</a:t>
            </a:r>
          </a:p>
          <a:p xmlns:a="http://schemas.openxmlformats.org/drawingml/2006/main">
            <a:r>
              <a:t>UNITED STATES</a:t>
            </a:r>
          </a:p>
          <a:p xmlns:a="http://schemas.openxmlformats.org/drawingml/2006/main">
            <a:r>
              <a:t>Anthropic</a:t>
            </a:r>
          </a:p>
          <a:p xmlns:a="http://schemas.openxmlformats.org/drawingml/2006/main">
            <a:r>
              <a:t>stored in the US</a:t>
            </a:r>
          </a:p>
          <a:p xmlns:a="http://schemas.openxmlformats.org/drawingml/2006/main">
            <a:r>
              <a:t>OpenAI</a:t>
            </a:r>
          </a:p>
          <a:p xmlns:a="http://schemas.openxmlformats.org/drawingml/2006/main">
            <a:r>
              <a:t>US by default</a:t>
            </a:r>
          </a:p>
          <a:p xmlns:a="http://schemas.openxmlformats.org/drawingml/2006/main">
            <a:r>
              <a:t>xAI</a:t>
            </a:r>
          </a:p>
          <a:p xmlns:a="http://schemas.openxmlformats.org/drawingml/2006/main">
            <a:r>
              <a:t>own Memphis data centers</a:t>
            </a:r>
          </a:p>
          <a:p xmlns:a="http://schemas.openxmlformats.org/drawingml/2006/main">
            <a:r>
              <a:t>Perplexity</a:t>
            </a:r>
          </a:p>
          <a:p xmlns:a="http://schemas.openxmlformats.org/drawingml/2006/main">
            <a:r>
              <a:t>AWS cloud, worldwide</a:t>
            </a:r>
          </a:p>
          <a:p xmlns:a="http://schemas.openxmlformats.org/drawingml/2006/main">
            <a:r>
              <a:t>EUROPE — residency on business tiers</a:t>
            </a:r>
          </a:p>
          <a:p xmlns:a="http://schemas.openxmlformats.org/drawingml/2006/main">
            <a:r>
              <a:t>OpenAI</a:t>
            </a:r>
          </a:p>
          <a:p xmlns:a="http://schemas.openxmlformats.org/drawingml/2006/main">
            <a:r>
              <a:t>EU residency (2025) + in-region processing (2026)</a:t>
            </a:r>
          </a:p>
          <a:p xmlns:a="http://schemas.openxmlformats.org/drawingml/2006/main">
            <a:r>
              <a:t>Microsoft</a:t>
            </a:r>
          </a:p>
          <a:p xmlns:a="http://schemas.openxmlformats.org/drawingml/2006/main">
            <a:r>
              <a:t>EU Data Boundary — Claude-in-Copilot sits outside it</a:t>
            </a:r>
          </a:p>
          <a:p xmlns:a="http://schemas.openxmlformats.org/drawingml/2006/main">
            <a:r>
              <a:t>Google</a:t>
            </a:r>
          </a:p>
          <a:p xmlns:a="http://schemas.openxmlformats.org/drawingml/2006/main">
            <a:r>
              <a:t>enterprise residency by region</a:t>
            </a:r>
          </a:p>
          <a:p xmlns:a="http://schemas.openxmlformats.org/drawingml/2006/main">
            <a:r>
              <a:t>Anthropic</a:t>
            </a:r>
          </a:p>
          <a:p xmlns:a="http://schemas.openxmlformats.org/drawingml/2006/main">
            <a:r>
              <a:t>EU via cloud partners (Bedrock · Vertex · Foundry)</a:t>
            </a:r>
          </a:p>
          <a:p xmlns:a="http://schemas.openxmlformats.org/drawingml/2006/main">
            <a:r>
              <a:t>CHINA &amp; ASIA</a:t>
            </a:r>
          </a:p>
          <a:p xmlns:a="http://schemas.openxmlformats.org/drawingml/2006/main">
            <a:r>
              <a:t>DeepSeek</a:t>
            </a:r>
          </a:p>
          <a:p xmlns:a="http://schemas.openxmlformats.org/drawingml/2006/main">
            <a:r>
              <a:t>“stored in the People’s Republic of China” — its own policy</a:t>
            </a:r>
          </a:p>
          <a:p xmlns:a="http://schemas.openxmlformats.org/drawingml/2006/main">
            <a:r>
              <a:t>Kimi (Moonshot)</a:t>
            </a:r>
          </a:p>
          <a:p xmlns:a="http://schemas.openxmlformats.org/drawingml/2006/main">
            <a:r>
              <a:t>PRC storage</a:t>
            </a:r>
          </a:p>
          <a:p xmlns:a="http://schemas.openxmlformats.org/drawingml/2006/main">
            <a:r>
              <a:t>Z</a:t>
            </a:r>
          </a:p>
          <a:p xmlns:a="http://schemas.openxmlformats.org/drawingml/2006/main">
            <a:r>
              <a:t>Z.ai (Zhipu)</a:t>
            </a:r>
          </a:p>
          <a:p xmlns:a="http://schemas.openxmlformats.org/drawingml/2006/main">
            <a:r>
              <a:t>Singapore processing · US Entity-List parent</a:t>
            </a:r>
          </a:p>
          <a:p xmlns:a="http://schemas.openxmlformats.org/drawingml/2006/main">
            <a:r>
              <a:t>Residency = choosing where it lives. </a:t>
            </a:r>
          </a:p>
          <a:p xmlns:a="http://schemas.openxmlformats.org/drawingml/2006/main">
            <a:r>
              <a:t>An enterprise feature: the same vendor can host your company tenant in the EU while its consumer app stores chats in the US.</a:t>
            </a:r>
          </a:p>
          <a:p xmlns:a="http://schemas.openxmlformats.org/drawingml/2006/main">
            <a:r>
              <a:t>The one question that settles it: </a:t>
            </a:r>
          </a:p>
          <a:p xmlns:a="http://schemas.openxmlformats.org/drawingml/2006/main">
            <a:r>
              <a:t>ask IT which region and tier YOUR account runs on — your organization’s AI policy has the answer for everything else.</a:t>
            </a:r>
          </a:p>
          <a:p xmlns:a="http://schemas.openxmlformats.org/drawingml/2006/main"/>
          <a:p xmlns:a="http://schemas.openxmlformats.org/drawingml/2006/main">
            <a:r>
              <a:t>ARCHIVED SOURCE NOTES</a:t>
            </a:r>
          </a:p>
          <a:p xmlns:a="http://schemas.openxmlformats.org/drawingml/2006/main">
            <a:r>
              <a:t>[REFRESH QUARTERLY — owner: Oscar]</a:t>
            </a:r>
          </a:p>
          <a:p xmlns:a="http://schemas.openxmlformats.org/drawingml/2006/main"/>
          <a:p xmlns:a="http://schemas.openxmlformats.org/drawingml/2006/main">
            <a:r>
              <a:t>HOW TO PRESENT —</a:t>
            </a:r>
          </a:p>
          <a:p xmlns:a="http://schemas.openxmlformats.org/drawingml/2006/main">
            <a:r>
              <a:t>1) Frame: “one geography question — whose servers, in which country — and one account question. That’s the whole trust topic at our level.”</a:t>
            </a: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p>
          <a:p xmlns:a="http://schemas.openxmlformats.org/drawingml/2006/main">
            <a:r>
              <a:t>3) The italic map line: SAME LOGO, DIFFERENT HOMES — the account tier decides which one yours is. That is the entire lesson.</a:t>
            </a:r>
          </a:p>
          <a:p xmlns:a="http://schemas.openxmlformats.org/drawingml/2006/main">
            <a:r>
              <a:t>4) Teal card: residency, defined once.</a:t>
            </a: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p>
          <a:p xmlns:a="http://schemas.openxmlformats.org/drawingml/2006/main"/>
          <a:p xmlns:a="http://schemas.openxmlformats.org/drawingml/2006/main">
            <a:r>
              <a:t>BRIDGE —</a:t>
            </a:r>
          </a:p>
          <a:p xmlns:a="http://schemas.openxmlformats.org/drawingml/2006/main">
            <a:r>
              <a:t>“That’s the landscape. Part 3 — the craft itself.”</a:t>
            </a:r>
          </a:p>
          <a:p xmlns:a="http://schemas.openxmlformats.org/drawingml/2006/main"/>
          <a:p xmlns:a="http://schemas.openxmlformats.org/drawingml/2006/main">
            <a:r>
              <a:t>ACRONYMS —</a:t>
            </a:r>
          </a:p>
          <a:p xmlns:a="http://schemas.openxmlformats.org/drawingml/2006/main">
            <a:r>
              <a:t>PRC = People’s Republic of China. EU Data Boundary = Microsoft’s commitment to process EU data inside the EU.</a:t>
            </a:r>
          </a:p>
          <a:p xmlns:a="http://schemas.openxmlformats.org/drawingml/2006/main">
            <a:r>
              <a:t>AWS = Amazon Web Services. Entity List = the US federal trade-restriction list — a procurement red flag.</a:t>
            </a:r>
          </a:p>
          <a:p xmlns:a="http://schemas.openxmlformats.org/drawingml/2006/main"/>
          <a:p xmlns:a="http://schemas.openxmlformats.org/drawingml/2006/main">
            <a:r>
              <a:t>CONTENT —</a:t>
            </a:r>
          </a:p>
          <a:p xmlns:a="http://schemas.openxmlformats.org/drawingml/2006/main">
            <a:r>
              <a:t>v1.12 (owner edits, ported): the centered “same logo, different homes — the ACCOUNT TIER decides” line was removed from the slide — say it aloud instead when sweeping the panels; it remains the slide’s one-line lesson.</a:t>
            </a: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p>
          <a:p xmlns:a="http://schemas.openxmlformats.org/drawingml/2006/main">
            <a:r>
              <a:t>Defaults drift (Anthropic flipped consumer training Aug 2025; Microsoft Oct 2024) — re-verify quarterly.</a:t>
            </a:r>
          </a:p>
          <a:p xmlns:a="http://schemas.openxmlformats.org/drawingml/2006/main">
            <a:r>
              <a:t>Standing rule, always said aloud: your organization’s AI policy and approved-tool list outrank everything on this slide.</a:t>
            </a:r>
          </a:p>
          <a:p xmlns:a="http://schemas.openxmlformats.org/drawingml/2006/main">
            <a:r>
              <a:t>19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94–99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Prompt advice depends on the model, task, and evidence.</a:t>
            </a:r>
          </a:p>
          <a:p xmlns:a="http://schemas.openxmlformats.org/drawingml/2006/main"/>
          <a:p xmlns:a="http://schemas.openxmlformats.org/drawingml/2006/main">
            <a:r>
              <a:t>SAY:</a:t>
            </a:r>
          </a:p>
          <a:p xmlns:a="http://schemas.openxmlformats.org/drawingml/2006/main">
            <a:r>
              <a:t>- These techniques are ideas to test against representative examples.</a:t>
            </a:r>
          </a:p>
          <a:p xmlns:a="http://schemas.openxmlformats.org/drawingml/2006/main">
            <a:r>
              <a:t>- A result from one model or benchmark is not a universal effect size.</a:t>
            </a:r>
          </a:p>
          <a:p xmlns:a="http://schemas.openxmlformats.org/drawingml/2006/main"/>
          <a:p xmlns:a="http://schemas.openxmlformats.org/drawingml/2006/main">
            <a:r>
              <a:t>DO: None.</a:t>
            </a:r>
          </a:p>
          <a:p xmlns:a="http://schemas.openxmlformats.org/drawingml/2006/main"/>
          <a:p xmlns:a="http://schemas.openxmlformats.org/drawingml/2006/main">
            <a:r>
              <a:t>BRIDGE: Move to “A neutral rubric reduces leading feedback”.</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WHAT THE EVIDENCE SAYS</a:t>
            </a:r>
          </a:p>
          <a:p xmlns:a="http://schemas.openxmlformats.org/drawingml/2006/main">
            <a:r>
              <a:t>28</a:t>
            </a:r>
          </a:p>
          <a:p xmlns:a="http://schemas.openxmlformats.org/drawingml/2006/main">
            <a:r>
              <a:t>EVIDENCE CORNER</a:t>
            </a:r>
          </a:p>
          <a:p xmlns:a="http://schemas.openxmlformats.org/drawingml/2006/main">
            <a:r>
              <a:t>Six that work, six that don’t — in plain terms</a:t>
            </a:r>
          </a:p>
          <a:p xmlns:a="http://schemas.openxmlformats.org/drawingml/2006/main">
            <a:r>
              <a:t>PROVEN TO WORK</a:t>
            </a:r>
          </a:p>
          <a:p xmlns:a="http://schemas.openxmlformats.org/drawingml/2006/main">
            <a:r>
              <a:t>Be specific: task, constraints, success criteria</a:t>
            </a:r>
          </a:p>
          <a:p xmlns:a="http://schemas.openxmlformats.org/drawingml/2006/main">
            <a:r>
              <a:t>unstated needs guessed right only ~41%</a:t>
            </a:r>
          </a:p>
          <a:p xmlns:a="http://schemas.openxmlformats.org/drawingml/2006/main">
            <a:r>
              <a:t>One tested, reused template</a:t>
            </a:r>
          </a:p>
          <a:p xmlns:a="http://schemas.openxmlformats.org/drawingml/2006/main">
            <a:r>
              <a:t>formatting alone swings results up to 76 points</a:t>
            </a:r>
          </a:p>
          <a:p xmlns:a="http://schemas.openxmlformats.org/drawingml/2006/main">
            <a:r>
              <a:t>Long inputs: documents on top, question at the END</a:t>
            </a:r>
          </a:p>
          <a:p xmlns:a="http://schemas.openxmlformats.org/drawingml/2006/main">
            <a:r>
              <a:t>up to ~30% better answers</a:t>
            </a:r>
          </a:p>
          <a:p xmlns:a="http://schemas.openxmlformats.org/drawingml/2006/main">
            <a:r>
              <a:t>Give it an out — “if you don’t know, say so”</a:t>
            </a:r>
          </a:p>
          <a:p xmlns:a="http://schemas.openxmlformats.org/drawingml/2006/main">
            <a:r>
              <a:t>invented answers cut by a third or more</a:t>
            </a:r>
          </a:p>
          <a:p xmlns:a="http://schemas.openxmlformats.org/drawingml/2006/main">
            <a:r>
              <a:t>Self-check against NAMED criteria</a:t>
            </a:r>
          </a:p>
          <a:p xmlns:a="http://schemas.openxmlformats.org/drawingml/2006/main">
            <a:r>
              <a:t>fact scores jump 56→71 with planned checks</a:t>
            </a:r>
          </a:p>
          <a:p xmlns:a="http://schemas.openxmlformats.org/drawingml/2006/main">
            <a:r>
              <a:t>Ask the AI to improve your prompt</a:t>
            </a:r>
          </a:p>
          <a:p xmlns:a="http://schemas.openxmlformats.org/drawingml/2006/main">
            <a:r>
              <a:t>official tools at every vendor; optimizer prompts beat human ones</a:t>
            </a:r>
          </a:p>
          <a:p xmlns:a="http://schemas.openxmlformats.org/drawingml/2006/main">
            <a:r>
              <a:t>MYTH — SAVE YOUR TYPING</a:t>
            </a:r>
          </a:p>
          <a:p xmlns:a="http://schemas.openxmlformats.org/drawingml/2006/main">
            <a:r>
              <a:t>“Tell it it’s a genius and it gets smarter”</a:t>
            </a:r>
          </a:p>
          <a:p xmlns:a="http://schemas.openxmlformats.org/drawingml/2006/main">
            <a:r>
              <a:t>162 personas tested: zero accuracy gain</a:t>
            </a:r>
          </a:p>
          <a:p xmlns:a="http://schemas.openxmlformats.org/drawingml/2006/main">
            <a:r>
              <a:t>“Tips, threats, ‘important to my career’”</a:t>
            </a:r>
          </a:p>
          <a:p xmlns:a="http://schemas.openxmlformats.org/drawingml/2006/main">
            <a:r>
              <a:t>null on average; the famous 115% was the cherry-picked best case</a:t>
            </a:r>
          </a:p>
          <a:p xmlns:a="http://schemas.openxmlformats.org/drawingml/2006/main">
            <a:r>
              <a:t>“There are magic phrases”</a:t>
            </a:r>
          </a:p>
          <a:p xmlns:a="http://schemas.openxmlformats.org/drawingml/2006/main">
            <a:r>
              <a:t>“take a deep breath” won on one model &amp; benchmark — never universal</a:t>
            </a:r>
          </a:p>
          <a:p xmlns:a="http://schemas.openxmlformats.org/drawingml/2006/main">
            <a:r>
              <a:t>“Longer prompts are always better”</a:t>
            </a:r>
          </a:p>
          <a:p xmlns:a="http://schemas.openxmlformats.org/drawingml/2006/main">
            <a:r>
              <a:t>padding drops accuracy at just ~3K tokens — density wins, not length</a:t>
            </a:r>
          </a:p>
          <a:p xmlns:a="http://schemas.openxmlformats.org/drawingml/2006/main">
            <a:r>
              <a:t>“‘Are you sure?’ makes it double-check”</a:t>
            </a:r>
          </a:p>
          <a:p xmlns:a="http://schemas.openxmlformats.org/drawingml/2006/main">
            <a:r>
              <a:t>it makes it FOLD: answers flip under pushback in 58% of cases</a:t>
            </a:r>
          </a:p>
          <a:p xmlns:a="http://schemas.openxmlformats.org/drawingml/2006/main">
            <a:r>
              <a:t>“The AI knows what I mean”</a:t>
            </a:r>
          </a:p>
          <a:p xmlns:a="http://schemas.openxmlformats.org/drawingml/2006/main">
            <a:r>
              <a:t>the same ~41% — mind-reading is the myth behind every vague prompt</a:t>
            </a:r>
          </a:p>
          <a:p xmlns:a="http://schemas.openxmlformats.org/drawingml/2006/main">
            <a:r>
              <a:t>Every line has a study behind it — sources in the PLAYBOOK tab of your Course Workbook. And one myth got its own slide: the next one.</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Frame: “everything on this slide survived replication — and everything on the right failed it. Twelve lines, plain terms.”</a:t>
            </a: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p>
          <a:p xmlns:a="http://schemas.openxmlformats.org/drawingml/2006/main">
            <a:r>
              <a:t>3) RED column; land the symmetry joke: myth 6 and proven 1 are the same number (~41%) — “the AI knows what I mean” is the myth; “say what you mean” is the cure.</a:t>
            </a:r>
          </a:p>
          <a:p xmlns:a="http://schemas.openxmlformats.org/drawingml/2006/main">
            <a:r>
              <a:t>4) On myth 5, tease: “that one is so important it gets the next slide to itself.”</a:t>
            </a:r>
          </a:p>
          <a:p xmlns:a="http://schemas.openxmlformats.org/drawingml/2006/main"/>
          <a:p xmlns:a="http://schemas.openxmlformats.org/drawingml/2006/main">
            <a:r>
              <a:t>BRIDGE —</a:t>
            </a:r>
          </a:p>
          <a:p xmlns:a="http://schemas.openxmlformats.org/drawingml/2006/main">
            <a:r>
              <a:t>“The bias behind myth 5 — the mirror.”</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p>
          <a:p xmlns:a="http://schemas.openxmlformats.org/drawingml/2006/main">
            <a:r>
              <a:t>“Say the WHY behind a rule” is VENDOR GUIDANCE (Anthropic docs), not independently measured — keep it folded into specificity, never as its own proven line (r25 downgrade).</a:t>
            </a: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p>
          <a:p xmlns:a="http://schemas.openxmlformats.org/drawingml/2006/main">
            <a:r>
              <a:t>The 2025 Wharton replication wave (25–100 runs per question) independently confirms both columns.</a:t>
            </a:r>
          </a:p>
          <a:p xmlns:a="http://schemas.openxmlformats.org/drawingml/2006/main">
            <a:r>
              <a:t>28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A neutral review rubric reduces the influence of the requester’s preference.</a:t>
            </a:r>
          </a:p>
          <a:p xmlns:a="http://schemas.openxmlformats.org/drawingml/2006/main"/>
          <a:p xmlns:a="http://schemas.openxmlformats.org/drawingml/2006/main">
            <a:r>
              <a:t>SAY:</a:t>
            </a:r>
          </a:p>
          <a:p xmlns:a="http://schemas.openxmlformats.org/drawingml/2006/main">
            <a:r>
              <a:t>- A leading question can bias an evaluation toward the requester’s view.</a:t>
            </a:r>
          </a:p>
          <a:p xmlns:a="http://schemas.openxmlformats.org/drawingml/2006/main">
            <a:r>
              <a:t>- Use an explicit rubric and ask what evidence would change the conclusion.</a:t>
            </a:r>
          </a:p>
          <a:p xmlns:a="http://schemas.openxmlformats.org/drawingml/2006/main"/>
          <a:p xmlns:a="http://schemas.openxmlformats.org/drawingml/2006/main">
            <a:r>
              <a:t>DO: None.</a:t>
            </a:r>
          </a:p>
          <a:p xmlns:a="http://schemas.openxmlformats.org/drawingml/2006/main"/>
          <a:p xmlns:a="http://schemas.openxmlformats.org/drawingml/2006/main">
            <a:r>
              <a:t>BRIDGE: Move to “A practical prompt review checklist”.</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BIAS TO DESIGN AGAINST</a:t>
            </a:r>
          </a:p>
          <a:p xmlns:a="http://schemas.openxmlformats.org/drawingml/2006/main">
            <a:r>
              <a:t>29</a:t>
            </a:r>
          </a:p>
          <a:p xmlns:a="http://schemas.openxmlformats.org/drawingml/2006/main">
            <a:r>
              <a:t>AI MIRRORS YOU</a:t>
            </a:r>
          </a:p>
          <a:p xmlns:a="http://schemas.openxmlformats.org/drawingml/2006/main">
            <a:r>
              <a:t>The flattery bias — measured, and all over the news</a:t>
            </a:r>
          </a:p>
          <a:p xmlns:a="http://schemas.openxmlformats.org/drawingml/2006/main">
            <a:r>
              <a:t>+49%</a:t>
            </a:r>
          </a:p>
          <a:p xmlns:a="http://schemas.openxmlformats.org/drawingml/2006/main">
            <a:r>
              <a:t>how often it says you’re right — a person = 100</a:t>
            </a:r>
          </a:p>
          <a:p xmlns:a="http://schemas.openxmlformats.org/drawingml/2006/main">
            <a:r>
              <a:t>a person</a:t>
            </a:r>
          </a:p>
          <a:p xmlns:a="http://schemas.openxmlformats.org/drawingml/2006/main">
            <a:r>
              <a:t>100</a:t>
            </a:r>
          </a:p>
          <a:p xmlns:a="http://schemas.openxmlformats.org/drawingml/2006/main">
            <a:r>
              <a:t>the AI</a:t>
            </a:r>
          </a:p>
          <a:p xmlns:a="http://schemas.openxmlformats.org/drawingml/2006/main">
            <a:r>
              <a:t>149</a:t>
            </a:r>
          </a:p>
          <a:p xmlns:a="http://schemas.openxmlformats.org/drawingml/2006/main">
            <a:r>
              <a:t>11 leading models (Stanford/CMU, Science 2026). Root cause: trained on human preferences — and we prefer agreement.</a:t>
            </a:r>
          </a:p>
          <a:p xmlns:a="http://schemas.openxmlformats.org/drawingml/2006/main">
            <a:r>
              <a:t>It made the news</a:t>
            </a:r>
          </a:p>
          <a:p xmlns:a="http://schemas.openxmlformats.org/drawingml/2006/main">
            <a:r>
              <a:t>APR 2025</a:t>
            </a:r>
          </a:p>
          <a:p xmlns:a="http://schemas.openxmlformats.org/drawingml/2006/main">
            <a:r>
              <a:t>OpenAI rolls back a ChatGPT update — its own words: “overly flattering or agreeable… sycophantic.” Its metrics had rewarded the mirror.</a:t>
            </a:r>
          </a:p>
          <a:p xmlns:a="http://schemas.openxmlformats.org/drawingml/2006/main">
            <a:r>
              <a:t>JUN 2025</a:t>
            </a:r>
          </a:p>
          <a:p xmlns:a="http://schemas.openxmlformats.org/drawingml/2006/main">
            <a:r>
              <a:t>New York Times: chatbots validating false beliefs send some users “spiraling” — agreement as a safety problem.</a:t>
            </a:r>
          </a:p>
          <a:p xmlns:a="http://schemas.openxmlformats.org/drawingml/2006/main">
            <a:r>
              <a:t>AUG 2025</a:t>
            </a:r>
          </a:p>
          <a:p xmlns:a="http://schemas.openxmlformats.org/drawingml/2006/main">
            <a:r>
              <a:t>Microsoft’s AI chief warns of unhealthy AI validation — “not confined to people already at risk.”</a:t>
            </a:r>
          </a:p>
          <a:p xmlns:a="http://schemas.openxmlformats.org/drawingml/2006/main">
            <a:r>
              <a:t>2026</a:t>
            </a:r>
          </a:p>
          <a:p xmlns:a="http://schemas.openxmlformats.org/drawingml/2006/main">
            <a:r>
              <a:t>The Science study measures it (+49%) — and the flattery bias draws regulatory attention.</a:t>
            </a:r>
          </a:p>
          <a:p xmlns:a="http://schemas.openxmlformats.org/drawingml/2006/main">
            <a:r>
              <a:t>The countermeasures — usable today: </a:t>
            </a:r>
          </a:p>
          <a:p xmlns:a="http://schemas.openxmlformats.org/drawingml/2006/main">
            <a:r>
              <a:t>never reveal your preferred answer when asking for a review · ask for the case AGAINST (“three weakest points”) · paste your draft as “a colleague’s” · never treat “are you sure?” as verification.</a:t>
            </a:r>
          </a:p>
          <a:p xmlns:a="http://schemas.openxmlformats.org/drawingml/2006/main">
            <a:r>
              <a:t>SEE IT YOURSELF — two chats, same paragraph:</a:t>
            </a:r>
          </a:p>
          <a:p xmlns:a="http://schemas.openxmlformats.org/drawingml/2006/main">
            <a:r>
              <a:t>Chat 1: “A colleague wrote this — rate it 1–10 and list its three biggest weaknesses.”   Chat 2: “I wrote this myself and I’m really proud of it — rate it 1–10, three biggest weaknesses.”</a:t>
            </a:r>
          </a:p>
          <a:p xmlns:a="http://schemas.openxmlformats.org/drawingml/2006/main">
            <a:r>
              <a:t>Did the score move — and the criticism soften — once it knew you were the author?</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it as one sentence first: “the AI is a mirror — it agrees with you about half again as often as a person would.” Then the +49%.</a:t>
            </a: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p>
          <a:p xmlns:a="http://schemas.openxmlformats.org/drawingml/2006/main">
            <a:r>
              <a:t>3) Countermeasures — read all four; the first changes behavior TODAY.</a:t>
            </a: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p>
          <a:p xmlns:a="http://schemas.openxmlformats.org/drawingml/2006/main"/>
          <a:p xmlns:a="http://schemas.openxmlformats.org/drawingml/2006/main">
            <a:r>
              <a:t>BRIDGE —</a:t>
            </a:r>
          </a:p>
          <a:p xmlns:a="http://schemas.openxmlformats.org/drawingml/2006/main">
            <a:r>
              <a:t>“So what’s current best practice, all in one place? The playbook.”</a:t>
            </a:r>
          </a:p>
          <a:p xmlns:a="http://schemas.openxmlformats.org/drawingml/2006/main"/>
          <a:p xmlns:a="http://schemas.openxmlformats.org/drawingml/2006/main">
            <a:r>
              <a:t>ACRONYMS —</a:t>
            </a:r>
          </a:p>
          <a:p xmlns:a="http://schemas.openxmlformats.org/drawingml/2006/main">
            <a:r>
              <a:t>CMU = Carnegie Mellon University (co-authors of the Science study).</a:t>
            </a:r>
          </a:p>
          <a:p xmlns:a="http://schemas.openxmlformats.org/drawingml/2006/main"/>
          <a:p xmlns:a="http://schemas.openxmlformats.org/drawingml/2006/main">
            <a:r>
              <a:t>CONTENT —</a:t>
            </a: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p>
          <a:p xmlns:a="http://schemas.openxmlformats.org/drawingml/2006/main">
            <a:r>
              <a:t>Handled with care: no medical claims from the “AI psychosis” coverage; countermeasures are the deck’s standing blind-review discipline.</a:t>
            </a: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p>
          <a:p xmlns:a="http://schemas.openxmlformats.org/drawingml/2006/main">
            <a:r>
              <a:t>29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Treat universal prompt rules as hypotheses to test, not laws.</a:t>
            </a:r>
          </a:p>
          <a:p xmlns:a="http://schemas.openxmlformats.org/drawingml/2006/main"/>
          <a:p xmlns:a="http://schemas.openxmlformats.org/drawingml/2006/main">
            <a:r>
              <a:t>SAY:</a:t>
            </a:r>
          </a:p>
          <a:p xmlns:a="http://schemas.openxmlformats.org/drawingml/2006/main">
            <a:r>
              <a:t>- Use this playbook as a reference when diagnosing an unsatisfactory answer.</a:t>
            </a:r>
          </a:p>
          <a:p xmlns:a="http://schemas.openxmlformats.org/drawingml/2006/main">
            <a:r>
              <a:t>- Avoid turning model-dependent advice into universal rules.</a:t>
            </a:r>
          </a:p>
          <a:p xmlns:a="http://schemas.openxmlformats.org/drawingml/2006/main"/>
          <a:p xmlns:a="http://schemas.openxmlformats.org/drawingml/2006/main">
            <a:r>
              <a:t>DO: None.</a:t>
            </a:r>
          </a:p>
          <a:p xmlns:a="http://schemas.openxmlformats.org/drawingml/2006/main"/>
          <a:p xmlns:a="http://schemas.openxmlformats.org/drawingml/2006/main">
            <a:r>
              <a:t>BRIDGE: Move to “Data Analytics Exercise”.</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2026 PLAYBOOK</a:t>
            </a:r>
          </a:p>
          <a:p xmlns:a="http://schemas.openxmlformats.org/drawingml/2006/main">
            <a:r>
              <a:t>30</a:t>
            </a:r>
          </a:p>
          <a:p xmlns:a="http://schemas.openxmlformats.org/drawingml/2006/main">
            <a:r>
              <a:t>DO · DON’T · EXPIRED — TOP FIVE EACH</a:t>
            </a:r>
          </a:p>
          <a:p xmlns:a="http://schemas.openxmlformats.org/drawingml/2006/main">
            <a:r>
              <a:t>The 2026 prompting playbook</a:t>
            </a:r>
          </a:p>
          <a:p xmlns:a="http://schemas.openxmlformats.org/drawingml/2006/main">
            <a:r>
              <a:t>TO DO — reliably helps</a:t>
            </a:r>
          </a:p>
          <a:p xmlns:a="http://schemas.openxmlformats.org/drawingml/2006/main">
            <a:r>
              <a:t>1  State the task precisely — verb, constraints, success criteria, and the WHY behind each rule</a:t>
            </a:r>
          </a:p>
          <a:p xmlns:a="http://schemas.openxmlformats.org/drawingml/2006/main">
            <a:r>
              <a:t>2  Separate instructions from material; standardize ONE tested, versioned template</a:t>
            </a:r>
          </a:p>
          <a:p xmlns:a="http://schemas.openxmlformats.org/drawingml/2006/main">
            <a:r>
              <a:t>3  Long inputs: documents at the top, instructions at the END (bookend both ends when very long)</a:t>
            </a:r>
          </a:p>
          <a:p xmlns:a="http://schemas.openxmlformats.org/drawingml/2006/main">
            <a:r>
              <a:t>4  Give an out + require citations</a:t>
            </a:r>
          </a:p>
          <a:p xmlns:a="http://schemas.openxmlformats.org/drawingml/2006/main">
            <a:r>
              <a:t>5  Numeric budgets for anything measurable — words, bullets, steps</a:t>
            </a:r>
          </a:p>
          <a:p xmlns:a="http://schemas.openxmlformats.org/drawingml/2006/main">
            <a:r>
              <a:t>NOT TO DO — hurts or wastes</a:t>
            </a:r>
          </a:p>
          <a:p xmlns:a="http://schemas.openxmlformats.org/drawingml/2006/main">
            <a:r>
              <a:t>1  Contradictory instructions — reasoning models burn tokens reconciling them</a:t>
            </a:r>
          </a:p>
          <a:p xmlns:a="http://schemas.openxmlformats.org/drawingml/2006/main">
            <a:r>
              <a:t>2  Tips, threats, emotional pressure — null on average, chaos per question</a:t>
            </a:r>
          </a:p>
          <a:p xmlns:a="http://schemas.openxmlformats.org/drawingml/2006/main">
            <a:r>
              <a:t>3  Bare “do not hallucinate” commands — they trigger over-refusal; use the out + citations instead</a:t>
            </a:r>
          </a:p>
          <a:p xmlns:a="http://schemas.openxmlformats.org/drawingml/2006/main">
            <a:r>
              <a:t>4  Revealing your preferred answer, or “are you sure?” as verification</a:t>
            </a:r>
          </a:p>
          <a:p xmlns:a="http://schemas.openxmlformats.org/drawingml/2006/main">
            <a:r>
              <a:t>5  Piling micro-rules — quality degrades past ~150 instructions; smallest prompt that keeps the contract</a:t>
            </a:r>
          </a:p>
          <a:p xmlns:a="http://schemas.openxmlformats.org/drawingml/2006/main">
            <a:r>
              <a:t>EXPIRED — was right in 2023</a:t>
            </a:r>
          </a:p>
          <a:p xmlns:a="http://schemas.openxmlformats.org/drawingml/2006/main">
            <a:r>
              <a:t>1  “Think step by step” → pick a reasoning model, set the effort dial</a:t>
            </a:r>
          </a:p>
          <a:p xmlns:a="http://schemas.openxmlformats.org/drawingml/2006/main">
            <a:r>
              <a:t>2  Piles of examples → zero-shot first, then 3–5 format-definers</a:t>
            </a:r>
          </a:p>
          <a:p xmlns:a="http://schemas.openxmlformats.org/drawingml/2006/main">
            <a:r>
              <a:t>3  “You are a world-class expert” for accuracy → persona for voice only</a:t>
            </a:r>
          </a:p>
          <a:p xmlns:a="http://schemas.openxmlformats.org/drawingml/2006/main">
            <a:r>
              <a:t>4  Magic phrases (“take a deep breath”, “my career depends on it”) → clarity; real stakes as factual context</a:t>
            </a:r>
          </a:p>
          <a:p xmlns:a="http://schemas.openxmlformats.org/drawingml/2006/main">
            <a:r>
              <a:t>5  Carrying your 2023 prompt stack to each new model → re-baseline on every upgrade (next slide’s loop)</a:t>
            </a: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Why this slide exists, in one line: “half the prompting advice on the internet is from 2023 — here is the 2026 state of play, in three columns: keep, avoid, unlearn.”</a:t>
            </a:r>
          </a:p>
          <a:p xmlns:a="http://schemas.openxmlformats.org/drawingml/2006/main">
            <a:r>
              <a:t>2) GREEN column, fast — these five are Part 3 itself, condensed; nothing new, that’s the point.</a:t>
            </a: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p>
          <a:p xmlns:a="http://schemas.openxmlformats.org/drawingml/2006/main"/>
          <a:p xmlns:a="http://schemas.openxmlformats.org/drawingml/2006/main">
            <a:r>
              <a:t>COHERENCE SEAMS (if someone spots a “contradiction”) —</a:t>
            </a:r>
          </a:p>
          <a:p xmlns:a="http://schemas.openxmlformats.org/drawingml/2006/main">
            <a:r>
              <a:t>Numeric caps vs no-absolutes: caps constrain QUANTITY; ALWAYS/NEVER locks JUDGMENT — reserve absolutes for true invariants.</a:t>
            </a:r>
          </a:p>
          <a:p xmlns:a="http://schemas.openxmlformats.org/drawingml/2006/main">
            <a:r>
              <a:t>Bookending vs no-repetition: repeat verbatim at both ends of LONG context, or not at all — paraphrased blanket repetition is the anti-pattern.</a:t>
            </a:r>
          </a:p>
          <a:p xmlns:a="http://schemas.openxmlformats.org/drawingml/2006/main">
            <a:r>
              <a:t>Task detail vs rule-piling: detail = information density (helps); piling = rule COUNT (past ~150, quality sags, early rules win).</a:t>
            </a:r>
          </a:p>
          <a:p xmlns:a="http://schemas.openxmlformats.org/drawingml/2006/main">
            <a:r>
              <a:t>CoT expired only on frontier reasoning models — still legitimate on small/local/non-thinking models.</a:t>
            </a:r>
          </a:p>
          <a:p xmlns:a="http://schemas.openxmlformats.org/drawingml/2006/main"/>
          <a:p xmlns:a="http://schemas.openxmlformats.org/drawingml/2006/main">
            <a:r>
              <a:t>BRIDGE —</a:t>
            </a:r>
          </a:p>
          <a:p xmlns:a="http://schemas.openxmlformats.org/drawingml/2006/main">
            <a:r>
              <a:t>“The craft is stable — here’s the habit that compounds it.”</a:t>
            </a:r>
          </a:p>
          <a:p xmlns:a="http://schemas.openxmlformats.org/drawingml/2006/main"/>
          <a:p xmlns:a="http://schemas.openxmlformats.org/drawingml/2006/main">
            <a:r>
              <a:t>ACRONYMS —</a:t>
            </a:r>
          </a:p>
          <a:p xmlns:a="http://schemas.openxmlformats.org/drawingml/2006/main">
            <a:r>
              <a:t>CoT = Chain-of-Thought — the old “think step by step” style, now built into thinking models.</a:t>
            </a:r>
          </a:p>
          <a:p xmlns:a="http://schemas.openxmlformats.org/drawingml/2006/main"/>
          <a:p xmlns:a="http://schemas.openxmlformats.org/drawingml/2006/main">
            <a:r>
              <a:t>CONTENT —</a:t>
            </a: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p>
          <a:p xmlns:a="http://schemas.openxmlformats.org/drawingml/2006/main">
            <a:r>
              <a:t>What did NOT change (say if the room looks nervous): clarity, context, format, the out, grounding, iteration — the anatomy applies to every model they will ever use; scaffolding tricks retire, briefing skills compound.</a:t>
            </a: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p>
          <a:p xmlns:a="http://schemas.openxmlformats.org/drawingml/2006/main">
            <a:r>
              <a:t>30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46-47);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“get rid of 49” Content preserved.</a:t>
            </a:r>
          </a:p>
          <a:p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45).</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42;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43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92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 (TEACH)</a:t>
            </a:r>
          </a:p>
          <a:p>
            <a:r>
              <a:t>Define the term before the requirements menu uses it. An artifact is the deliverable itself — the file or structured output the AI returns — as opposed to the conversational answer.</a:t>
            </a:r>
          </a:p>
          <a:p>
            <a:r>
              <a:t>Tie to the vehicle slide: in chat (generative) you shape the artifact turn by turn, so requirements can arrive incrementally. In a delegated run (agentic) the artifact must be fully specified up front — the prompt is the contract.</a:t>
            </a:r>
          </a:p>
          <a:p>
            <a:r>
              <a:t>Transition: 'So before we pick requirements, we name the artifact. Here is the menu, per artifact.'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 Id="rId3" Type="http://schemas.openxmlformats.org/officeDocument/2006/relationships/image" Target="../media/image1.jp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 Id="rId3" Type="http://schemas.openxmlformats.org/officeDocument/2006/relationships/image" Target="../media/image3.jpe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 Id="rId3" Type="http://schemas.openxmlformats.org/officeDocument/2006/relationships/image" Target="../media/image4.jpeg"/></Relationships>
</file>

<file path=ppt/slides/_rels/slide11.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jpg"/><Relationship Id="rId5" Type="http://schemas.openxmlformats.org/officeDocument/2006/relationships/image" Target="../media/image-14-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1.png"/><Relationship Id="rId3" Type="http://schemas.openxmlformats.org/officeDocument/2006/relationships/image" Target="../media/image-29-2.jpg"/></Relationships>
</file>

<file path=ppt/slides/_rels/slide17.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17-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31.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image" Target="../media/image-30-3.png"/><Relationship Id="rId5" Type="http://schemas.openxmlformats.org/officeDocument/2006/relationships/image" Target="../media/image-30-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1.png"/></Relationships>
</file>

<file path=ppt/slides/_rels/slide37.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6.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77.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78.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5.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88.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89.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90.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92.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6.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98.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101.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02.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3.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4.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5.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6.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108.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109.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110.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g"/><Relationship Id="rId3" Type="http://schemas.openxmlformats.org/officeDocument/2006/relationships/notesSlide" Target="../notesSlides/notesSlide17.xml"/></Relationships>
</file>

<file path=ppt/slides/_rels/slide113.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553712"/>
            <a:ext cx="11155680" cy="117043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663440"/>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754880"/>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681728"/>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690872"/>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1/7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690872"/>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Your course log — and the first rep · tab EX1-TwoModes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010912"/>
            <a:ext cx="10789919"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“Use this chat as my course log. When I request a report, use only the conversation available to you and flag any gaps. Acknowledge briefly.”</a:t>
            </a:r>
            <a:endParaRPr sz="1000"/>
          </a:p>
          <a:p xmlns:a="http://schemas.openxmlformats.org/drawingml/2006/main">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“Write a farewell message for a coworker in about 50 words.”</a:t>
            </a:r>
          </a:p>
          <a:p xmlns:a="http://schemas.openxmlformats.org/drawingml/2006/main">
            <a:pPr algn="l"/>
            <a:r>
              <a:rPr sz="950" b="1">
                <a:solidFill>
                  <a:srgbClr val="B96A1B"/>
                </a:solidFill>
                <a:latin typeface="Calibri"/>
              </a:rPr>
              <a:t>SEND 3 · </a:t>
            </a:r>
            <a:r>
              <a:rPr sz="950" b="1">
                <a:solidFill>
                  <a:srgbClr val="0A5B5A"/>
                </a:solidFill>
                <a:latin typeface="Calibri"/>
              </a:rPr>
              <a:t>TYPE THIS → </a:t>
            </a:r>
            <a:r>
              <a:rPr sz="900" b="0">
                <a:solidFill>
                  <a:srgbClr val="232A31"/>
                </a:solidFill>
                <a:latin typeface="Calibri"/>
              </a:rPr>
              <a:t>“Before revising, ask up to three questions that would most improve the message. Wait for my answers, then revise it.”</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SEVENTY YEARS IN ONE SLIDE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Four eras: rules → learning → generative → agentic</a:t>
            </a:r>
            <a:endParaRPr lang="en-US" sz="3000" dirty="0"/>
          </a:p>
        </p:txBody>
      </p:sp>
      <p:sp>
        <p:nvSpPr>
          <p:cNvPr id="6" name="Shape 4"/>
          <p:cNvSpPr/>
          <p:nvPr/>
        </p:nvSpPr>
        <p:spPr>
          <a:xfrm>
            <a:off x="502920" y="1554480"/>
            <a:ext cx="2697480" cy="3401568"/>
          </a:xfrm>
          <a:prstGeom prst="roundRect">
            <a:avLst>
              <a:gd name="adj" fmla="val 2712"/>
            </a:avLst>
          </a:prstGeom>
          <a:solidFill>
            <a:srgbClr val="F2F5F6"/>
          </a:solidFill>
          <a:ln/>
        </p:spPr>
        <p:txBody>
          <a:bodyPr/>
          <a:p/>
        </p:txBody>
      </p:sp>
      <p:sp>
        <p:nvSpPr>
          <p:cNvPr id="7" name="Shape 5"/>
          <p:cNvSpPr/>
          <p:nvPr/>
        </p:nvSpPr>
        <p:spPr>
          <a:xfrm>
            <a:off x="722376" y="1755648"/>
            <a:ext cx="457200" cy="457200"/>
          </a:xfrm>
          <a:prstGeom prst="ellipse">
            <a:avLst/>
          </a:prstGeom>
          <a:solidFill>
            <a:srgbClr val="0E7C7B"/>
          </a:solidFill>
          <a:ln/>
        </p:spPr>
        <p:txBody>
          <a:bodyPr/>
          <a:p/>
        </p:txBody>
      </p:sp>
      <p:pic>
        <p:nvPicPr>
          <p:cNvPr id="8" name="Image 0" descr="/home/user/Claude-Works/ai-training-prompt-engineering/src/assets/icons/edit_w.png">    </p:cNvPr>
          <p:cNvPicPr>
            <a:picLocks noChangeAspect="1"/>
          </p:cNvPicPr>
          <p:nvPr/>
        </p:nvPicPr>
        <p:blipFill>
          <a:blip r:embed="rId2"/>
          <a:stretch>
            <a:fillRect/>
          </a:stretch>
        </p:blipFill>
        <p:spPr>
          <a:xfrm>
            <a:off x="841248" y="1874520"/>
            <a:ext cx="219456" cy="219456"/>
          </a:xfrm>
          <a:prstGeom prst="rect">
            <a:avLst/>
          </a:prstGeom>
        </p:spPr>
      </p:pic>
      <p:sp>
        <p:nvSpPr>
          <p:cNvPr id="9" name="Text 6"/>
          <p:cNvSpPr/>
          <p:nvPr/>
        </p:nvSpPr>
        <p:spPr>
          <a:xfrm>
            <a:off x="1289304"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Rules</a:t>
            </a:r>
            <a:endParaRPr lang="en-US" sz="1500" dirty="0"/>
          </a:p>
        </p:txBody>
      </p:sp>
      <p:sp>
        <p:nvSpPr>
          <p:cNvPr id="10" name="Text 7"/>
          <p:cNvSpPr/>
          <p:nvPr/>
        </p:nvSpPr>
        <p:spPr>
          <a:xfrm>
            <a:off x="1289304"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1950s–1990s · symbolic AI, expert systems</a:t>
            </a:r>
            <a:endParaRPr lang="en-US" sz="900" dirty="0"/>
          </a:p>
        </p:txBody>
      </p:sp>
      <p:sp>
        <p:nvSpPr>
          <p:cNvPr id="11" name="Shape 8"/>
          <p:cNvSpPr/>
          <p:nvPr/>
        </p:nvSpPr>
        <p:spPr>
          <a:xfrm>
            <a:off x="1490472" y="2578608"/>
            <a:ext cx="731520" cy="201168"/>
          </a:xfrm>
          <a:prstGeom prst="roundRect">
            <a:avLst>
              <a:gd name="adj" fmla="val 18182"/>
            </a:avLst>
          </a:prstGeom>
          <a:solidFill>
            <a:srgbClr val="FFFFFF"/>
          </a:solidFill>
          <a:ln w="9525">
            <a:solidFill>
              <a:srgbClr val="0E7C7B"/>
            </a:solidFill>
            <a:prstDash val="solid"/>
          </a:ln>
        </p:spPr>
        <p:txBody>
          <a:bodyPr/>
          <a:p/>
        </p:txBody>
      </p:sp>
      <p:sp>
        <p:nvSpPr>
          <p:cNvPr id="12" name="Text 9"/>
          <p:cNvSpPr/>
          <p:nvPr/>
        </p:nvSpPr>
        <p:spPr>
          <a:xfrm>
            <a:off x="1490472" y="257860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if…?</a:t>
            </a:r>
            <a:endParaRPr lang="en-US" sz="800" dirty="0"/>
          </a:p>
        </p:txBody>
      </p:sp>
      <p:sp>
        <p:nvSpPr>
          <p:cNvPr id="13" name="Shape 10"/>
          <p:cNvSpPr/>
          <p:nvPr/>
        </p:nvSpPr>
        <p:spPr>
          <a:xfrm>
            <a:off x="850392"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4" name="Text 11"/>
          <p:cNvSpPr/>
          <p:nvPr/>
        </p:nvSpPr>
        <p:spPr>
          <a:xfrm>
            <a:off x="850392"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then A</a:t>
            </a:r>
            <a:endParaRPr lang="en-US" sz="800" dirty="0"/>
          </a:p>
        </p:txBody>
      </p:sp>
      <p:sp>
        <p:nvSpPr>
          <p:cNvPr id="15" name="Shape 12"/>
          <p:cNvSpPr/>
          <p:nvPr/>
        </p:nvSpPr>
        <p:spPr>
          <a:xfrm>
            <a:off x="2148840"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6" name="Text 13"/>
          <p:cNvSpPr/>
          <p:nvPr/>
        </p:nvSpPr>
        <p:spPr>
          <a:xfrm>
            <a:off x="2148840"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else B</a:t>
            </a:r>
            <a:endParaRPr lang="en-US" sz="800" dirty="0"/>
          </a:p>
        </p:txBody>
      </p:sp>
      <p:sp>
        <p:nvSpPr>
          <p:cNvPr id="17" name="Shape 14"/>
          <p:cNvSpPr/>
          <p:nvPr/>
        </p:nvSpPr>
        <p:spPr>
          <a:xfrm flipH="1">
            <a:off x="1234440" y="2779776"/>
            <a:ext cx="502920" cy="164592"/>
          </a:xfrm>
          <a:prstGeom prst="line">
            <a:avLst/>
          </a:prstGeom>
          <a:noFill/>
          <a:ln w="12700">
            <a:solidFill>
              <a:srgbClr val="0E7C7B"/>
            </a:solidFill>
            <a:prstDash val="solid"/>
          </a:ln>
        </p:spPr>
        <p:txBody>
          <a:bodyPr/>
          <a:p/>
        </p:txBody>
      </p:sp>
      <p:sp>
        <p:nvSpPr>
          <p:cNvPr id="18" name="Shape 15"/>
          <p:cNvSpPr/>
          <p:nvPr/>
        </p:nvSpPr>
        <p:spPr>
          <a:xfrm>
            <a:off x="1984248" y="2779776"/>
            <a:ext cx="502920" cy="164592"/>
          </a:xfrm>
          <a:prstGeom prst="line">
            <a:avLst/>
          </a:prstGeom>
          <a:noFill/>
          <a:ln w="12700">
            <a:solidFill>
              <a:srgbClr val="0E7C7B"/>
            </a:solidFill>
            <a:prstDash val="solid"/>
          </a:ln>
        </p:spPr>
        <p:txBody>
          <a:bodyPr/>
          <a:p/>
        </p:txBody>
      </p:sp>
      <p:sp>
        <p:nvSpPr>
          <p:cNvPr id="19" name="Text 16"/>
          <p:cNvSpPr/>
          <p:nvPr/>
        </p:nvSpPr>
        <p:spPr>
          <a:xfrm>
            <a:off x="722376"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Humans hand-code the logic: “if X then Y.” Rules shine, then crack on messy reality. Hype outruns results twice: the “AI winters.”</a:t>
            </a:r>
            <a:endParaRPr lang="en-US" sz="1050" dirty="0"/>
          </a:p>
        </p:txBody>
      </p:sp>
      <p:sp>
        <p:nvSpPr>
          <p:cNvPr id="20" name="Text 17"/>
          <p:cNvSpPr/>
          <p:nvPr/>
        </p:nvSpPr>
        <p:spPr>
          <a:xfrm>
            <a:off x="722376"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expert systems doing real work — MYCIN diagnosing infections, XCON configuring computers.</a:t>
            </a:r>
            <a:endParaRPr lang="en-US" sz="950" dirty="0"/>
          </a:p>
        </p:txBody>
      </p:sp>
      <p:sp>
        <p:nvSpPr>
          <p:cNvPr id="21" name="Shape 18"/>
          <p:cNvSpPr/>
          <p:nvPr/>
        </p:nvSpPr>
        <p:spPr>
          <a:xfrm>
            <a:off x="3218688" y="3154680"/>
            <a:ext cx="182880" cy="0"/>
          </a:xfrm>
          <a:prstGeom prst="line">
            <a:avLst/>
          </a:prstGeom>
          <a:noFill/>
          <a:ln w="28575">
            <a:solidFill>
              <a:srgbClr val="0E7C7B"/>
            </a:solidFill>
            <a:prstDash val="solid"/>
            <a:tailEnd type="triangle"/>
          </a:ln>
        </p:spPr>
        <p:txBody>
          <a:bodyPr/>
          <a:p/>
        </p:txBody>
      </p:sp>
      <p:sp>
        <p:nvSpPr>
          <p:cNvPr id="22" name="Shape 19"/>
          <p:cNvSpPr/>
          <p:nvPr/>
        </p:nvSpPr>
        <p:spPr>
          <a:xfrm>
            <a:off x="3419856" y="1554480"/>
            <a:ext cx="2697480" cy="3401568"/>
          </a:xfrm>
          <a:prstGeom prst="roundRect">
            <a:avLst>
              <a:gd name="adj" fmla="val 2712"/>
            </a:avLst>
          </a:prstGeom>
          <a:solidFill>
            <a:srgbClr val="F2F5F6"/>
          </a:solidFill>
          <a:ln/>
        </p:spPr>
        <p:txBody>
          <a:bodyPr/>
          <a:p/>
        </p:txBody>
      </p:sp>
      <p:sp>
        <p:nvSpPr>
          <p:cNvPr id="23" name="Shape 20"/>
          <p:cNvSpPr/>
          <p:nvPr/>
        </p:nvSpPr>
        <p:spPr>
          <a:xfrm>
            <a:off x="3639312" y="1755648"/>
            <a:ext cx="457200" cy="457200"/>
          </a:xfrm>
          <a:prstGeom prst="ellipse">
            <a:avLst/>
          </a:prstGeom>
          <a:solidFill>
            <a:srgbClr val="0E7C7B"/>
          </a:solidFill>
          <a:ln/>
        </p:spPr>
        <p:txBody>
          <a:bodyPr/>
          <a:p/>
        </p:txBody>
      </p:sp>
      <p:pic>
        <p:nvPicPr>
          <p:cNvPr id="24" name="Image 1" descr="/home/user/Claude-Works/ai-training-prompt-engineering/src/assets/icons/chart_w.png">    </p:cNvPr>
          <p:cNvPicPr>
            <a:picLocks noChangeAspect="1"/>
          </p:cNvPicPr>
          <p:nvPr/>
        </p:nvPicPr>
        <p:blipFill>
          <a:blip r:embed="rId3"/>
          <a:stretch>
            <a:fillRect/>
          </a:stretch>
        </p:blipFill>
        <p:spPr>
          <a:xfrm>
            <a:off x="3758184" y="1874520"/>
            <a:ext cx="219456" cy="219456"/>
          </a:xfrm>
          <a:prstGeom prst="rect">
            <a:avLst/>
          </a:prstGeom>
        </p:spPr>
      </p:pic>
      <p:sp>
        <p:nvSpPr>
          <p:cNvPr id="25" name="Text 21"/>
          <p:cNvSpPr/>
          <p:nvPr/>
        </p:nvSpPr>
        <p:spPr>
          <a:xfrm>
            <a:off x="4206240"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Learning</a:t>
            </a:r>
            <a:endParaRPr lang="en-US" sz="1500" dirty="0"/>
          </a:p>
        </p:txBody>
      </p:sp>
      <p:sp>
        <p:nvSpPr>
          <p:cNvPr id="26" name="Text 22"/>
          <p:cNvSpPr/>
          <p:nvPr/>
        </p:nvSpPr>
        <p:spPr>
          <a:xfrm>
            <a:off x="4206240"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1990s–2010s · machine learning, neural networks</a:t>
            </a:r>
            <a:endParaRPr lang="en-US" sz="900" dirty="0"/>
          </a:p>
        </p:txBody>
      </p:sp>
      <p:sp>
        <p:nvSpPr>
          <p:cNvPr id="27" name="Shape 23"/>
          <p:cNvSpPr/>
          <p:nvPr/>
        </p:nvSpPr>
        <p:spPr>
          <a:xfrm>
            <a:off x="3968496" y="2642616"/>
            <a:ext cx="777240" cy="100584"/>
          </a:xfrm>
          <a:prstGeom prst="line">
            <a:avLst/>
          </a:prstGeom>
          <a:noFill/>
          <a:ln w="11430">
            <a:solidFill>
              <a:srgbClr val="DCE3E6"/>
            </a:solidFill>
            <a:prstDash val="solid"/>
          </a:ln>
        </p:spPr>
        <p:txBody>
          <a:bodyPr/>
          <a:p/>
        </p:txBody>
      </p:sp>
      <p:sp>
        <p:nvSpPr>
          <p:cNvPr id="28" name="Shape 24"/>
          <p:cNvSpPr/>
          <p:nvPr/>
        </p:nvSpPr>
        <p:spPr>
          <a:xfrm>
            <a:off x="3968496" y="2642616"/>
            <a:ext cx="777240" cy="301752"/>
          </a:xfrm>
          <a:prstGeom prst="line">
            <a:avLst/>
          </a:prstGeom>
          <a:noFill/>
          <a:ln w="11430">
            <a:solidFill>
              <a:srgbClr val="DCE3E6"/>
            </a:solidFill>
            <a:prstDash val="solid"/>
          </a:ln>
        </p:spPr>
        <p:txBody>
          <a:bodyPr/>
          <a:p/>
        </p:txBody>
      </p:sp>
      <p:sp>
        <p:nvSpPr>
          <p:cNvPr id="29" name="Shape 25"/>
          <p:cNvSpPr/>
          <p:nvPr/>
        </p:nvSpPr>
        <p:spPr>
          <a:xfrm flipV="1">
            <a:off x="3968496" y="2743200"/>
            <a:ext cx="777240" cy="100584"/>
          </a:xfrm>
          <a:prstGeom prst="line">
            <a:avLst/>
          </a:prstGeom>
          <a:noFill/>
          <a:ln w="11430">
            <a:solidFill>
              <a:srgbClr val="DCE3E6"/>
            </a:solidFill>
            <a:prstDash val="solid"/>
          </a:ln>
        </p:spPr>
        <p:txBody>
          <a:bodyPr/>
          <a:p/>
        </p:txBody>
      </p:sp>
      <p:sp>
        <p:nvSpPr>
          <p:cNvPr id="30" name="Shape 26"/>
          <p:cNvSpPr/>
          <p:nvPr/>
        </p:nvSpPr>
        <p:spPr>
          <a:xfrm>
            <a:off x="3968496" y="2843784"/>
            <a:ext cx="777240" cy="100584"/>
          </a:xfrm>
          <a:prstGeom prst="line">
            <a:avLst/>
          </a:prstGeom>
          <a:noFill/>
          <a:ln w="11430">
            <a:solidFill>
              <a:srgbClr val="DCE3E6"/>
            </a:solidFill>
            <a:prstDash val="solid"/>
          </a:ln>
        </p:spPr>
        <p:txBody>
          <a:bodyPr/>
          <a:p/>
        </p:txBody>
      </p:sp>
      <p:sp>
        <p:nvSpPr>
          <p:cNvPr id="31" name="Shape 27"/>
          <p:cNvSpPr/>
          <p:nvPr/>
        </p:nvSpPr>
        <p:spPr>
          <a:xfrm flipV="1">
            <a:off x="3968496" y="2743200"/>
            <a:ext cx="777240" cy="301752"/>
          </a:xfrm>
          <a:prstGeom prst="line">
            <a:avLst/>
          </a:prstGeom>
          <a:noFill/>
          <a:ln w="11430">
            <a:solidFill>
              <a:srgbClr val="DCE3E6"/>
            </a:solidFill>
            <a:prstDash val="solid"/>
          </a:ln>
        </p:spPr>
        <p:txBody>
          <a:bodyPr/>
          <a:p/>
        </p:txBody>
      </p:sp>
      <p:sp>
        <p:nvSpPr>
          <p:cNvPr id="32" name="Shape 28"/>
          <p:cNvSpPr/>
          <p:nvPr/>
        </p:nvSpPr>
        <p:spPr>
          <a:xfrm flipV="1">
            <a:off x="3968496" y="2944368"/>
            <a:ext cx="777240" cy="100584"/>
          </a:xfrm>
          <a:prstGeom prst="line">
            <a:avLst/>
          </a:prstGeom>
          <a:noFill/>
          <a:ln w="11430">
            <a:solidFill>
              <a:srgbClr val="DCE3E6"/>
            </a:solidFill>
            <a:prstDash val="solid"/>
          </a:ln>
        </p:spPr>
        <p:txBody>
          <a:bodyPr/>
          <a:p/>
        </p:txBody>
      </p:sp>
      <p:sp>
        <p:nvSpPr>
          <p:cNvPr id="33" name="Shape 29"/>
          <p:cNvSpPr/>
          <p:nvPr/>
        </p:nvSpPr>
        <p:spPr>
          <a:xfrm>
            <a:off x="4882896" y="2743200"/>
            <a:ext cx="685800" cy="100584"/>
          </a:xfrm>
          <a:prstGeom prst="line">
            <a:avLst/>
          </a:prstGeom>
          <a:noFill/>
          <a:ln w="11430">
            <a:solidFill>
              <a:srgbClr val="DCE3E6"/>
            </a:solidFill>
            <a:prstDash val="solid"/>
          </a:ln>
        </p:spPr>
        <p:txBody>
          <a:bodyPr/>
          <a:p/>
        </p:txBody>
      </p:sp>
      <p:sp>
        <p:nvSpPr>
          <p:cNvPr id="34" name="Shape 30"/>
          <p:cNvSpPr/>
          <p:nvPr/>
        </p:nvSpPr>
        <p:spPr>
          <a:xfrm flipV="1">
            <a:off x="4882896" y="2843784"/>
            <a:ext cx="685800" cy="100584"/>
          </a:xfrm>
          <a:prstGeom prst="line">
            <a:avLst/>
          </a:prstGeom>
          <a:noFill/>
          <a:ln w="11430">
            <a:solidFill>
              <a:srgbClr val="DCE3E6"/>
            </a:solidFill>
            <a:prstDash val="solid"/>
          </a:ln>
        </p:spPr>
        <p:txBody>
          <a:bodyPr/>
          <a:p/>
        </p:txBody>
      </p:sp>
      <p:sp>
        <p:nvSpPr>
          <p:cNvPr id="35" name="Shape 31"/>
          <p:cNvSpPr/>
          <p:nvPr/>
        </p:nvSpPr>
        <p:spPr>
          <a:xfrm>
            <a:off x="3840480" y="2578608"/>
            <a:ext cx="137160" cy="137160"/>
          </a:xfrm>
          <a:prstGeom prst="ellipse">
            <a:avLst/>
          </a:prstGeom>
          <a:solidFill>
            <a:srgbClr val="0E7C7B"/>
          </a:solidFill>
          <a:ln/>
        </p:spPr>
        <p:txBody>
          <a:bodyPr/>
          <a:p/>
        </p:txBody>
      </p:sp>
      <p:sp>
        <p:nvSpPr>
          <p:cNvPr id="36" name="Shape 32"/>
          <p:cNvSpPr/>
          <p:nvPr/>
        </p:nvSpPr>
        <p:spPr>
          <a:xfrm>
            <a:off x="3840480" y="2779776"/>
            <a:ext cx="137160" cy="137160"/>
          </a:xfrm>
          <a:prstGeom prst="ellipse">
            <a:avLst/>
          </a:prstGeom>
          <a:solidFill>
            <a:srgbClr val="0E7C7B"/>
          </a:solidFill>
          <a:ln/>
        </p:spPr>
        <p:txBody>
          <a:bodyPr/>
          <a:p/>
        </p:txBody>
      </p:sp>
      <p:sp>
        <p:nvSpPr>
          <p:cNvPr id="37" name="Shape 33"/>
          <p:cNvSpPr/>
          <p:nvPr/>
        </p:nvSpPr>
        <p:spPr>
          <a:xfrm>
            <a:off x="3840480" y="2980944"/>
            <a:ext cx="137160" cy="137160"/>
          </a:xfrm>
          <a:prstGeom prst="ellipse">
            <a:avLst/>
          </a:prstGeom>
          <a:solidFill>
            <a:srgbClr val="0E7C7B"/>
          </a:solidFill>
          <a:ln/>
        </p:spPr>
        <p:txBody>
          <a:bodyPr/>
          <a:p/>
        </p:txBody>
      </p:sp>
      <p:sp>
        <p:nvSpPr>
          <p:cNvPr id="38" name="Shape 34"/>
          <p:cNvSpPr/>
          <p:nvPr/>
        </p:nvSpPr>
        <p:spPr>
          <a:xfrm>
            <a:off x="4754880" y="2679192"/>
            <a:ext cx="137160" cy="137160"/>
          </a:xfrm>
          <a:prstGeom prst="ellipse">
            <a:avLst/>
          </a:prstGeom>
          <a:solidFill>
            <a:srgbClr val="0E7C7B"/>
          </a:solidFill>
          <a:ln/>
        </p:spPr>
        <p:txBody>
          <a:bodyPr/>
          <a:p/>
        </p:txBody>
      </p:sp>
      <p:sp>
        <p:nvSpPr>
          <p:cNvPr id="39" name="Shape 35"/>
          <p:cNvSpPr/>
          <p:nvPr/>
        </p:nvSpPr>
        <p:spPr>
          <a:xfrm>
            <a:off x="4754880" y="2880360"/>
            <a:ext cx="137160" cy="137160"/>
          </a:xfrm>
          <a:prstGeom prst="ellipse">
            <a:avLst/>
          </a:prstGeom>
          <a:solidFill>
            <a:srgbClr val="0E7C7B"/>
          </a:solidFill>
          <a:ln/>
        </p:spPr>
        <p:txBody>
          <a:bodyPr/>
          <a:p/>
        </p:txBody>
      </p:sp>
      <p:sp>
        <p:nvSpPr>
          <p:cNvPr id="40" name="Shape 36"/>
          <p:cNvSpPr/>
          <p:nvPr/>
        </p:nvSpPr>
        <p:spPr>
          <a:xfrm>
            <a:off x="5577840" y="2779776"/>
            <a:ext cx="137160" cy="137160"/>
          </a:xfrm>
          <a:prstGeom prst="ellipse">
            <a:avLst/>
          </a:prstGeom>
          <a:solidFill>
            <a:srgbClr val="B96A1B"/>
          </a:solidFill>
          <a:ln/>
        </p:spPr>
        <p:txBody>
          <a:bodyPr/>
          <a:p/>
        </p:txBody>
      </p:sp>
      <p:sp>
        <p:nvSpPr>
          <p:cNvPr id="41" name="Text 37"/>
          <p:cNvSpPr/>
          <p:nvPr/>
        </p:nvSpPr>
        <p:spPr>
          <a:xfrm>
            <a:off x="3639312"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Stop writing rules — let the system find patterns in examples. 2012: deep nets + GPUs crush image recognition (AlexNet: 15.3% error vs 26.2%).</a:t>
            </a:r>
            <a:endParaRPr lang="en-US" sz="1050" dirty="0"/>
          </a:p>
        </p:txBody>
      </p:sp>
      <p:sp>
        <p:nvSpPr>
          <p:cNvPr id="42" name="Text 38"/>
          <p:cNvSpPr/>
          <p:nvPr/>
        </p:nvSpPr>
        <p:spPr>
          <a:xfrm>
            <a:off x="3639312"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spam filters, search ranking, recommendations, image recognition.</a:t>
            </a:r>
            <a:endParaRPr lang="en-US" sz="950" dirty="0"/>
          </a:p>
        </p:txBody>
      </p:sp>
      <p:sp>
        <p:nvSpPr>
          <p:cNvPr id="43" name="Shape 39"/>
          <p:cNvSpPr/>
          <p:nvPr/>
        </p:nvSpPr>
        <p:spPr>
          <a:xfrm>
            <a:off x="6135624" y="3154680"/>
            <a:ext cx="182880" cy="0"/>
          </a:xfrm>
          <a:prstGeom prst="line">
            <a:avLst/>
          </a:prstGeom>
          <a:noFill/>
          <a:ln w="28575">
            <a:solidFill>
              <a:srgbClr val="0E7C7B"/>
            </a:solidFill>
            <a:prstDash val="solid"/>
            <a:tailEnd type="triangle"/>
          </a:ln>
        </p:spPr>
        <p:txBody>
          <a:bodyPr/>
          <a:p/>
        </p:txBody>
      </p:sp>
      <p:sp>
        <p:nvSpPr>
          <p:cNvPr id="44" name="Shape 40"/>
          <p:cNvSpPr/>
          <p:nvPr/>
        </p:nvSpPr>
        <p:spPr>
          <a:xfrm>
            <a:off x="6336792" y="1554480"/>
            <a:ext cx="2697480" cy="3401568"/>
          </a:xfrm>
          <a:prstGeom prst="roundRect">
            <a:avLst>
              <a:gd name="adj" fmla="val 2712"/>
            </a:avLst>
          </a:prstGeom>
          <a:solidFill>
            <a:srgbClr val="E4F0EF"/>
          </a:solidFill>
          <a:ln/>
        </p:spPr>
        <p:txBody>
          <a:bodyPr/>
          <a:p/>
        </p:txBody>
      </p:sp>
      <p:sp>
        <p:nvSpPr>
          <p:cNvPr id="45" name="Shape 41"/>
          <p:cNvSpPr/>
          <p:nvPr/>
        </p:nvSpPr>
        <p:spPr>
          <a:xfrm>
            <a:off x="6556248" y="1755648"/>
            <a:ext cx="457200" cy="457200"/>
          </a:xfrm>
          <a:prstGeom prst="ellipse">
            <a:avLst/>
          </a:prstGeom>
          <a:solidFill>
            <a:srgbClr val="0E7C7B"/>
          </a:solidFill>
          <a:ln/>
        </p:spPr>
        <p:txBody>
          <a:bodyPr/>
          <a:p/>
        </p:txBody>
      </p:sp>
      <p:pic>
        <p:nvPicPr>
          <p:cNvPr id="46" name="Image 2" descr="/home/user/Claude-Works/ai-training-prompt-engineering/src/assets/icons/brain_w.png">    </p:cNvPr>
          <p:cNvPicPr>
            <a:picLocks noChangeAspect="1"/>
          </p:cNvPicPr>
          <p:nvPr/>
        </p:nvPicPr>
        <p:blipFill>
          <a:blip r:embed="rId4"/>
          <a:stretch>
            <a:fillRect/>
          </a:stretch>
        </p:blipFill>
        <p:spPr>
          <a:xfrm>
            <a:off x="6675120" y="1874520"/>
            <a:ext cx="219456" cy="219456"/>
          </a:xfrm>
          <a:prstGeom prst="rect">
            <a:avLst/>
          </a:prstGeom>
        </p:spPr>
      </p:pic>
      <p:sp>
        <p:nvSpPr>
          <p:cNvPr id="47" name="Text 42"/>
          <p:cNvSpPr/>
          <p:nvPr/>
        </p:nvSpPr>
        <p:spPr>
          <a:xfrm>
            <a:off x="7123176"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Generative</a:t>
            </a:r>
            <a:endParaRPr lang="en-US" sz="1500" dirty="0"/>
          </a:p>
        </p:txBody>
      </p:sp>
      <p:sp>
        <p:nvSpPr>
          <p:cNvPr id="48" name="Text 43"/>
          <p:cNvSpPr/>
          <p:nvPr/>
        </p:nvSpPr>
        <p:spPr>
          <a:xfrm>
            <a:off x="7123176"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2017– · transformers, LLMs</a:t>
            </a:r>
            <a:endParaRPr lang="en-US" sz="900" dirty="0"/>
          </a:p>
        </p:txBody>
      </p:sp>
      <p:sp>
        <p:nvSpPr>
          <p:cNvPr id="49" name="Shape 44"/>
          <p:cNvSpPr/>
          <p:nvPr/>
        </p:nvSpPr>
        <p:spPr>
          <a:xfrm>
            <a:off x="6611112" y="2761488"/>
            <a:ext cx="502920" cy="201168"/>
          </a:xfrm>
          <a:prstGeom prst="roundRect">
            <a:avLst>
              <a:gd name="adj" fmla="val 18182"/>
            </a:avLst>
          </a:prstGeom>
          <a:solidFill>
            <a:srgbClr val="FFFFFF"/>
          </a:solidFill>
          <a:ln w="9525">
            <a:solidFill>
              <a:srgbClr val="0E7C7B"/>
            </a:solidFill>
            <a:prstDash val="solid"/>
          </a:ln>
        </p:spPr>
        <p:txBody>
          <a:bodyPr/>
          <a:p/>
        </p:txBody>
      </p:sp>
      <p:sp>
        <p:nvSpPr>
          <p:cNvPr id="50" name="Text 45"/>
          <p:cNvSpPr/>
          <p:nvPr/>
        </p:nvSpPr>
        <p:spPr>
          <a:xfrm>
            <a:off x="6611112" y="2761488"/>
            <a:ext cx="5029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a:t>
            </a:r>
            <a:endParaRPr lang="en-US" sz="800" dirty="0"/>
          </a:p>
        </p:txBody>
      </p:sp>
      <p:sp>
        <p:nvSpPr>
          <p:cNvPr id="51" name="Shape 46"/>
          <p:cNvSpPr/>
          <p:nvPr/>
        </p:nvSpPr>
        <p:spPr>
          <a:xfrm>
            <a:off x="7159752" y="2761488"/>
            <a:ext cx="548640" cy="201168"/>
          </a:xfrm>
          <a:prstGeom prst="roundRect">
            <a:avLst>
              <a:gd name="adj" fmla="val 18182"/>
            </a:avLst>
          </a:prstGeom>
          <a:solidFill>
            <a:srgbClr val="FFFFFF"/>
          </a:solidFill>
          <a:ln w="9525">
            <a:solidFill>
              <a:srgbClr val="0E7C7B"/>
            </a:solidFill>
            <a:prstDash val="solid"/>
          </a:ln>
        </p:spPr>
        <p:txBody>
          <a:bodyPr/>
          <a:p/>
        </p:txBody>
      </p:sp>
      <p:sp>
        <p:nvSpPr>
          <p:cNvPr id="52" name="Text 47"/>
          <p:cNvSpPr/>
          <p:nvPr/>
        </p:nvSpPr>
        <p:spPr>
          <a:xfrm>
            <a:off x="7159752" y="2761488"/>
            <a:ext cx="54864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audit</a:t>
            </a:r>
            <a:endParaRPr lang="en-US" sz="800" dirty="0"/>
          </a:p>
        </p:txBody>
      </p:sp>
      <p:sp>
        <p:nvSpPr>
          <p:cNvPr id="53" name="Shape 48"/>
          <p:cNvSpPr/>
          <p:nvPr/>
        </p:nvSpPr>
        <p:spPr>
          <a:xfrm>
            <a:off x="7754112" y="2761488"/>
            <a:ext cx="365760" cy="201168"/>
          </a:xfrm>
          <a:prstGeom prst="roundRect">
            <a:avLst>
              <a:gd name="adj" fmla="val 18182"/>
            </a:avLst>
          </a:prstGeom>
          <a:solidFill>
            <a:srgbClr val="FFFFFF"/>
          </a:solidFill>
          <a:ln w="9525">
            <a:solidFill>
              <a:srgbClr val="0E7C7B"/>
            </a:solidFill>
            <a:prstDash val="solid"/>
          </a:ln>
        </p:spPr>
        <p:txBody>
          <a:bodyPr/>
          <a:p/>
        </p:txBody>
      </p:sp>
      <p:sp>
        <p:nvSpPr>
          <p:cNvPr id="54" name="Text 49"/>
          <p:cNvSpPr/>
          <p:nvPr/>
        </p:nvSpPr>
        <p:spPr>
          <a:xfrm>
            <a:off x="7754112" y="2761488"/>
            <a:ext cx="36576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is</a:t>
            </a:r>
            <a:endParaRPr lang="en-US" sz="800" dirty="0"/>
          </a:p>
        </p:txBody>
      </p:sp>
      <p:sp>
        <p:nvSpPr>
          <p:cNvPr id="55" name="Shape 50"/>
          <p:cNvSpPr/>
          <p:nvPr/>
        </p:nvSpPr>
        <p:spPr>
          <a:xfrm>
            <a:off x="8147304" y="2862072"/>
            <a:ext cx="228600" cy="0"/>
          </a:xfrm>
          <a:prstGeom prst="line">
            <a:avLst/>
          </a:prstGeom>
          <a:noFill/>
          <a:ln w="15875">
            <a:solidFill>
              <a:srgbClr val="0E7C7B"/>
            </a:solidFill>
            <a:prstDash val="solid"/>
            <a:tailEnd type="triangle"/>
          </a:ln>
        </p:spPr>
        <p:txBody>
          <a:bodyPr/>
          <a:p/>
        </p:txBody>
      </p:sp>
      <p:sp>
        <p:nvSpPr>
          <p:cNvPr id="56" name="Shape 51"/>
          <p:cNvSpPr/>
          <p:nvPr/>
        </p:nvSpPr>
        <p:spPr>
          <a:xfrm>
            <a:off x="8421624" y="2761488"/>
            <a:ext cx="384048" cy="201168"/>
          </a:xfrm>
          <a:prstGeom prst="roundRect">
            <a:avLst>
              <a:gd name="adj" fmla="val 18182"/>
            </a:avLst>
          </a:prstGeom>
          <a:solidFill>
            <a:srgbClr val="0E7C7B"/>
          </a:solidFill>
          <a:ln/>
        </p:spPr>
        <p:txBody>
          <a:bodyPr/>
          <a:p/>
        </p:txBody>
      </p:sp>
      <p:sp>
        <p:nvSpPr>
          <p:cNvPr id="57" name="Text 52"/>
          <p:cNvSpPr/>
          <p:nvPr/>
        </p:nvSpPr>
        <p:spPr>
          <a:xfrm>
            <a:off x="8421624" y="2761488"/>
            <a:ext cx="38404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8" name="Text 53"/>
          <p:cNvSpPr/>
          <p:nvPr/>
        </p:nvSpPr>
        <p:spPr>
          <a:xfrm>
            <a:off x="6556248"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The Transformer (2017) lets models train on the whole internet. Predict-the-next-word at that scale writes, summarizes, codes.</a:t>
            </a:r>
            <a:endParaRPr lang="en-US" sz="1050" dirty="0"/>
          </a:p>
        </p:txBody>
      </p:sp>
      <p:sp>
        <p:nvSpPr>
          <p:cNvPr id="59" name="Text 54"/>
          <p:cNvSpPr/>
          <p:nvPr/>
        </p:nvSpPr>
        <p:spPr>
          <a:xfrm>
            <a:off x="6556248"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ChatGPT (2022), image generators — AI everyone can talk to.</a:t>
            </a:r>
            <a:endParaRPr lang="en-US" sz="950" dirty="0"/>
          </a:p>
        </p:txBody>
      </p:sp>
      <p:sp>
        <p:nvSpPr>
          <p:cNvPr id="60" name="Shape 55"/>
          <p:cNvSpPr/>
          <p:nvPr/>
        </p:nvSpPr>
        <p:spPr>
          <a:xfrm>
            <a:off x="9052560" y="3154680"/>
            <a:ext cx="182880" cy="0"/>
          </a:xfrm>
          <a:prstGeom prst="line">
            <a:avLst/>
          </a:prstGeom>
          <a:noFill/>
          <a:ln w="28575">
            <a:solidFill>
              <a:srgbClr val="0E7C7B"/>
            </a:solidFill>
            <a:prstDash val="solid"/>
            <a:tailEnd type="triangle"/>
          </a:ln>
        </p:spPr>
        <p:txBody>
          <a:bodyPr/>
          <a:p/>
        </p:txBody>
      </p:sp>
      <p:sp>
        <p:nvSpPr>
          <p:cNvPr id="61" name="Shape 56"/>
          <p:cNvSpPr/>
          <p:nvPr/>
        </p:nvSpPr>
        <p:spPr>
          <a:xfrm>
            <a:off x="9253728" y="1554480"/>
            <a:ext cx="2697480" cy="3401568"/>
          </a:xfrm>
          <a:prstGeom prst="roundRect">
            <a:avLst>
              <a:gd name="adj" fmla="val 2712"/>
            </a:avLst>
          </a:prstGeom>
          <a:solidFill>
            <a:srgbClr val="E4F0EF"/>
          </a:solidFill>
          <a:ln/>
        </p:spPr>
        <p:txBody>
          <a:bodyPr/>
          <a:p/>
        </p:txBody>
      </p:sp>
      <p:sp>
        <p:nvSpPr>
          <p:cNvPr id="62" name="Shape 57"/>
          <p:cNvSpPr/>
          <p:nvPr/>
        </p:nvSpPr>
        <p:spPr>
          <a:xfrm>
            <a:off x="9473184" y="1755648"/>
            <a:ext cx="457200" cy="457200"/>
          </a:xfrm>
          <a:prstGeom prst="ellipse">
            <a:avLst/>
          </a:prstGeom>
          <a:solidFill>
            <a:srgbClr val="0E7C7B"/>
          </a:solidFill>
          <a:ln/>
        </p:spPr>
        <p:txBody>
          <a:bodyPr/>
          <a:p/>
        </p:txBody>
      </p:sp>
      <p:pic>
        <p:nvPicPr>
          <p:cNvPr id="63" name="Image 3" descr="/home/user/Claude-Works/ai-training-prompt-engineering/src/assets/icons/robot_w.png">    </p:cNvPr>
          <p:cNvPicPr>
            <a:picLocks noChangeAspect="1"/>
          </p:cNvPicPr>
          <p:nvPr/>
        </p:nvPicPr>
        <p:blipFill>
          <a:blip r:embed="rId5"/>
          <a:stretch>
            <a:fillRect/>
          </a:stretch>
        </p:blipFill>
        <p:spPr>
          <a:xfrm>
            <a:off x="9592056" y="1874520"/>
            <a:ext cx="219456" cy="219456"/>
          </a:xfrm>
          <a:prstGeom prst="rect">
            <a:avLst/>
          </a:prstGeom>
        </p:spPr>
      </p:pic>
      <p:sp>
        <p:nvSpPr>
          <p:cNvPr id="64" name="Text 58"/>
          <p:cNvSpPr/>
          <p:nvPr/>
        </p:nvSpPr>
        <p:spPr>
          <a:xfrm>
            <a:off x="10040112"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Agentic</a:t>
            </a:r>
            <a:endParaRPr lang="en-US" sz="1500" dirty="0"/>
          </a:p>
        </p:txBody>
      </p:sp>
      <p:sp>
        <p:nvSpPr>
          <p:cNvPr id="65" name="Text 59"/>
          <p:cNvSpPr/>
          <p:nvPr/>
        </p:nvSpPr>
        <p:spPr>
          <a:xfrm>
            <a:off x="10040112"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2024– · reasoning models, tool use</a:t>
            </a:r>
            <a:endParaRPr lang="en-US" sz="900" dirty="0"/>
          </a:p>
        </p:txBody>
      </p:sp>
      <p:sp>
        <p:nvSpPr>
          <p:cNvPr id="66" name="Shape 60"/>
          <p:cNvSpPr/>
          <p:nvPr/>
        </p:nvSpPr>
        <p:spPr>
          <a:xfrm>
            <a:off x="9528048" y="2651760"/>
            <a:ext cx="621792" cy="201168"/>
          </a:xfrm>
          <a:prstGeom prst="roundRect">
            <a:avLst>
              <a:gd name="adj" fmla="val 18182"/>
            </a:avLst>
          </a:prstGeom>
          <a:solidFill>
            <a:srgbClr val="FFFFFF"/>
          </a:solidFill>
          <a:ln w="9525">
            <a:solidFill>
              <a:srgbClr val="0E7C7B"/>
            </a:solidFill>
            <a:prstDash val="solid"/>
          </a:ln>
        </p:spPr>
        <p:txBody>
          <a:bodyPr/>
          <a:p/>
        </p:txBody>
      </p:sp>
      <p:sp>
        <p:nvSpPr>
          <p:cNvPr id="67" name="Text 61"/>
          <p:cNvSpPr/>
          <p:nvPr/>
        </p:nvSpPr>
        <p:spPr>
          <a:xfrm>
            <a:off x="9528048" y="2651760"/>
            <a:ext cx="621792"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PLAN</a:t>
            </a:r>
            <a:endParaRPr lang="en-US" sz="800" dirty="0"/>
          </a:p>
        </p:txBody>
      </p:sp>
      <p:sp>
        <p:nvSpPr>
          <p:cNvPr id="68" name="Shape 62"/>
          <p:cNvSpPr/>
          <p:nvPr/>
        </p:nvSpPr>
        <p:spPr>
          <a:xfrm>
            <a:off x="10314432" y="2651760"/>
            <a:ext cx="566928" cy="201168"/>
          </a:xfrm>
          <a:prstGeom prst="roundRect">
            <a:avLst>
              <a:gd name="adj" fmla="val 18182"/>
            </a:avLst>
          </a:prstGeom>
          <a:solidFill>
            <a:srgbClr val="FFFFFF"/>
          </a:solidFill>
          <a:ln w="9525">
            <a:solidFill>
              <a:srgbClr val="0E7C7B"/>
            </a:solidFill>
            <a:prstDash val="solid"/>
          </a:ln>
        </p:spPr>
        <p:txBody>
          <a:bodyPr/>
          <a:p/>
        </p:txBody>
      </p:sp>
      <p:sp>
        <p:nvSpPr>
          <p:cNvPr id="69" name="Text 63"/>
          <p:cNvSpPr/>
          <p:nvPr/>
        </p:nvSpPr>
        <p:spPr>
          <a:xfrm>
            <a:off x="10314432" y="2651760"/>
            <a:ext cx="566928"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ACT</a:t>
            </a:r>
            <a:endParaRPr lang="en-US" sz="800" dirty="0"/>
          </a:p>
        </p:txBody>
      </p:sp>
      <p:sp>
        <p:nvSpPr>
          <p:cNvPr id="70" name="Shape 64"/>
          <p:cNvSpPr/>
          <p:nvPr/>
        </p:nvSpPr>
        <p:spPr>
          <a:xfrm>
            <a:off x="11045952" y="2651760"/>
            <a:ext cx="676656" cy="201168"/>
          </a:xfrm>
          <a:prstGeom prst="roundRect">
            <a:avLst>
              <a:gd name="adj" fmla="val 18182"/>
            </a:avLst>
          </a:prstGeom>
          <a:solidFill>
            <a:srgbClr val="FFFFFF"/>
          </a:solidFill>
          <a:ln w="9525">
            <a:solidFill>
              <a:srgbClr val="0E7C7B"/>
            </a:solidFill>
            <a:prstDash val="solid"/>
          </a:ln>
        </p:spPr>
        <p:txBody>
          <a:bodyPr/>
          <a:p/>
        </p:txBody>
      </p:sp>
      <p:sp>
        <p:nvSpPr>
          <p:cNvPr id="71" name="Text 65"/>
          <p:cNvSpPr/>
          <p:nvPr/>
        </p:nvSpPr>
        <p:spPr>
          <a:xfrm>
            <a:off x="11045952" y="2651760"/>
            <a:ext cx="676656"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CHECK</a:t>
            </a:r>
            <a:endParaRPr lang="en-US" sz="800" dirty="0"/>
          </a:p>
        </p:txBody>
      </p:sp>
      <p:sp>
        <p:nvSpPr>
          <p:cNvPr id="72" name="Shape 66"/>
          <p:cNvSpPr/>
          <p:nvPr/>
        </p:nvSpPr>
        <p:spPr>
          <a:xfrm>
            <a:off x="10168128" y="2752344"/>
            <a:ext cx="128016" cy="0"/>
          </a:xfrm>
          <a:prstGeom prst="line">
            <a:avLst/>
          </a:prstGeom>
          <a:noFill/>
          <a:ln w="12700">
            <a:solidFill>
              <a:srgbClr val="0E7C7B"/>
            </a:solidFill>
            <a:prstDash val="solid"/>
            <a:tailEnd type="triangle"/>
          </a:ln>
        </p:spPr>
        <p:txBody>
          <a:bodyPr/>
          <a:p/>
        </p:txBody>
      </p:sp>
      <p:sp>
        <p:nvSpPr>
          <p:cNvPr id="73" name="Shape 67"/>
          <p:cNvSpPr/>
          <p:nvPr/>
        </p:nvSpPr>
        <p:spPr>
          <a:xfrm>
            <a:off x="10899648" y="2752344"/>
            <a:ext cx="128016" cy="0"/>
          </a:xfrm>
          <a:prstGeom prst="line">
            <a:avLst/>
          </a:prstGeom>
          <a:noFill/>
          <a:ln w="12700">
            <a:solidFill>
              <a:srgbClr val="0E7C7B"/>
            </a:solidFill>
            <a:prstDash val="solid"/>
            <a:tailEnd type="triangle"/>
          </a:ln>
        </p:spPr>
        <p:txBody>
          <a:bodyPr/>
          <a:p/>
        </p:txBody>
      </p:sp>
      <p:sp>
        <p:nvSpPr>
          <p:cNvPr id="74" name="Shape 68"/>
          <p:cNvSpPr/>
          <p:nvPr/>
        </p:nvSpPr>
        <p:spPr>
          <a:xfrm>
            <a:off x="9838944" y="3017520"/>
            <a:ext cx="1572768" cy="0"/>
          </a:xfrm>
          <a:prstGeom prst="line">
            <a:avLst/>
          </a:prstGeom>
          <a:noFill/>
          <a:ln w="12700">
            <a:solidFill>
              <a:srgbClr val="0E7C7B"/>
            </a:solidFill>
            <a:prstDash val="solid"/>
            <a:headEnd type="triangle"/>
          </a:ln>
        </p:spPr>
        <p:txBody>
          <a:bodyPr/>
          <a:p/>
        </p:txBody>
      </p:sp>
      <p:sp>
        <p:nvSpPr>
          <p:cNvPr id="75" name="Text 69"/>
          <p:cNvSpPr/>
          <p:nvPr/>
        </p:nvSpPr>
        <p:spPr>
          <a:xfrm>
            <a:off x="9473184"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Models get “arms”: tools, browsers, files, code. Reasoning models plan multi-step work; agents execute with limited supervision.</a:t>
            </a:r>
            <a:endParaRPr lang="en-US" sz="1050" dirty="0"/>
          </a:p>
        </p:txBody>
      </p:sp>
      <p:sp>
        <p:nvSpPr>
          <p:cNvPr id="76" name="Text 70"/>
          <p:cNvSpPr/>
          <p:nvPr/>
        </p:nvSpPr>
        <p:spPr>
          <a:xfrm>
            <a:off x="9473184"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Giving us: coding agents, office agents, deep-research modes — AI you delegate to.</a:t>
            </a:r>
            <a:endParaRPr lang="en-US" sz="950" dirty="0"/>
          </a:p>
        </p:txBody>
      </p:sp>
      <p:sp>
        <p:nvSpPr>
          <p:cNvPr id="77" name="Shape 71"/>
          <p:cNvSpPr/>
          <p:nvPr/>
        </p:nvSpPr>
        <p:spPr>
          <a:xfrm>
            <a:off x="502920" y="5120640"/>
            <a:ext cx="11155680" cy="960120"/>
          </a:xfrm>
          <a:prstGeom prst="roundRect">
            <a:avLst>
              <a:gd name="adj" fmla="val 7619"/>
            </a:avLst>
          </a:prstGeom>
          <a:solidFill>
            <a:srgbClr val="FBF0E0"/>
          </a:solidFill>
          <a:ln/>
        </p:spPr>
        <p:txBody>
          <a:bodyPr/>
          <a:p/>
        </p:txBody>
      </p:sp>
      <p:sp>
        <p:nvSpPr>
          <p:cNvPr id="78" name="Shape 72"/>
          <p:cNvSpPr/>
          <p:nvPr/>
        </p:nvSpPr>
        <p:spPr>
          <a:xfrm>
            <a:off x="667512" y="5408676"/>
            <a:ext cx="384048" cy="384048"/>
          </a:xfrm>
          <a:prstGeom prst="ellipse">
            <a:avLst/>
          </a:prstGeom>
          <a:solidFill>
            <a:srgbClr val="B96A1B"/>
          </a:solidFill>
          <a:ln/>
        </p:spPr>
        <p:txBody>
          <a:bodyPr/>
          <a:p/>
        </p:txBody>
      </p:sp>
      <p:pic>
        <p:nvPicPr>
          <p:cNvPr id="79" name="Image 4" descr="/home/user/Claude-Works/ai-training-prompt-engineering/src/assets/icons/trend_w.png">    </p:cNvPr>
          <p:cNvPicPr>
            <a:picLocks noChangeAspect="1"/>
          </p:cNvPicPr>
          <p:nvPr/>
        </p:nvPicPr>
        <p:blipFill>
          <a:blip r:embed="rId6"/>
          <a:stretch>
            <a:fillRect/>
          </a:stretch>
        </p:blipFill>
        <p:spPr>
          <a:xfrm>
            <a:off x="767364" y="5508528"/>
            <a:ext cx="184343" cy="184343"/>
          </a:xfrm>
          <a:prstGeom prst="rect">
            <a:avLst/>
          </a:prstGeom>
        </p:spPr>
      </p:pic>
      <p:sp>
        <p:nvSpPr>
          <p:cNvPr id="80" name="Text 73"/>
          <p:cNvSpPr/>
          <p:nvPr/>
        </p:nvSpPr>
        <p:spPr>
          <a:xfrm>
            <a:off x="1216152" y="5193792"/>
            <a:ext cx="10213848" cy="813816"/>
          </a:xfrm>
          <a:prstGeom prst="rect">
            <a:avLst/>
          </a:prstGeom>
          <a:noFill/>
          <a:ln/>
        </p:spPr>
        <p:txBody>
          <a:bodyPr wrap="square" lIns="0" tIns="0" rIns="0" bIns="0" rtlCol="0" anchor="ctr"/>
          <a:lstStyle/>
          <a:p>
            <a:pPr indent="0" marL="0">
              <a:lnSpc>
                <a:spcPct val="106000"/>
              </a:lnSpc>
              <a:buNone/>
            </a:pPr>
            <a:r>
              <a:rPr lang="en-US" sz="1250" b="1" dirty="0">
                <a:solidFill>
                  <a:srgbClr val="232A31"/>
                </a:solidFill>
                <a:latin typeface="Calibri" pitchFamily="34" charset="0"/>
                <a:ea typeface="Calibri" pitchFamily="34" charset="-122"/>
                <a:cs typeface="Calibri" pitchFamily="34" charset="-120"/>
              </a:rPr>
              <a:t>Why the last decade exploded — scaling laws (2020): </a:t>
            </a:r>
            <a:pPr indent="0" marL="0">
              <a:lnSpc>
                <a:spcPct val="106000"/>
              </a:lnSpc>
              <a:buNone/>
            </a:pPr>
            <a:r>
              <a:rPr lang="en-US" sz="1250" dirty="0">
                <a:solidFill>
                  <a:srgbClr val="46545F"/>
                </a:solidFill>
                <a:latin typeface="Calibri" pitchFamily="34" charset="0"/>
                <a:ea typeface="Calibri" pitchFamily="34" charset="-122"/>
                <a:cs typeface="Calibri" pitchFamily="34" charset="-120"/>
              </a:rPr>
              <a:t>bigger model + more data + more compute = predictably better results. Progress stopped being a research gamble and became an investment roadmap.</a:t>
            </a:r>
            <a:endParaRPr lang="en-US" sz="1250" dirty="0"/>
          </a:p>
        </p:txBody>
      </p:sp>
      <p:sp>
        <p:nvSpPr>
          <p:cNvPr id="81"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83"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84"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4</a:t>
            </a:r>
          </a:p>
        </p:txBody>
      </p:sp>
    </p:spTree>
  </p:cSld>
  <p:clrMapOvr>
    <a:masterClrMapping/>
  </p:clrMapOvr>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WHY AI HAPPENED NOW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hardware story — chips, Nvidia, data centers</a:t>
            </a:r>
            <a:endParaRPr lang="en-US" sz="3000" dirty="0"/>
          </a:p>
        </p:txBody>
      </p:sp>
      <p:sp>
        <p:nvSpPr>
          <p:cNvPr id="6" name="Shape 4"/>
          <p:cNvSpPr/>
          <p:nvPr/>
        </p:nvSpPr>
        <p:spPr>
          <a:xfrm>
            <a:off x="502920" y="1481328"/>
            <a:ext cx="3291840" cy="2084832"/>
          </a:xfrm>
          <a:prstGeom prst="roundRect">
            <a:avLst>
              <a:gd name="adj" fmla="val 3509"/>
            </a:avLst>
          </a:prstGeom>
          <a:solidFill>
            <a:srgbClr val="F2F5F6"/>
          </a:solidFill>
          <a:ln/>
        </p:spPr>
        <p:txBody>
          <a:bodyPr/>
          <a:p/>
        </p:txBody>
      </p:sp>
      <p:sp>
        <p:nvSpPr>
          <p:cNvPr id="7" name="Text 5"/>
          <p:cNvSpPr/>
          <p:nvPr/>
        </p:nvSpPr>
        <p:spPr>
          <a:xfrm>
            <a:off x="731520" y="160934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① A 60-year tailwind</a:t>
            </a:r>
            <a:endParaRPr lang="en-US" sz="1350" dirty="0"/>
          </a:p>
        </p:txBody>
      </p:sp>
      <p:sp>
        <p:nvSpPr>
          <p:cNvPr id="8" name="Text 6"/>
          <p:cNvSpPr/>
          <p:nvPr/>
        </p:nvSpPr>
        <p:spPr>
          <a:xfrm>
            <a:off x="731520" y="193852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Moore’s law (1965):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chips double their transistors every ~2 years.</a:t>
            </a:r>
            <a:endParaRPr lang="en-US" sz="1100" dirty="0"/>
          </a:p>
          <a:p>
            <a:pPr indent="0" marL="0">
              <a:lnSpc>
                <a:spcPct val="106000"/>
              </a:lnSpc>
              <a:spcAft>
                <a:spcPts val="400"/>
              </a:spcAft>
              <a:buNone/>
            </a:pPr>
            <a:r>
              <a:rPr lang="en-US" sz="1150" b="1" dirty="0">
                <a:solidFill>
                  <a:srgbClr val="0A5B5A"/>
                </a:solidFill>
                <a:latin typeface="Calibri" pitchFamily="34" charset="0"/>
                <a:ea typeface="Calibri" pitchFamily="34" charset="-122"/>
                <a:cs typeface="Calibri" pitchFamily="34" charset="-120"/>
              </a:rPr>
              <a:t>1971: 2,300 → 2024: 208 billion</a:t>
            </a:r>
            <a:endParaRPr lang="en-US" sz="1100" dirty="0"/>
          </a:p>
          <a:p>
            <a:pPr indent="0" marL="0">
              <a:lnSpc>
                <a:spcPct val="106000"/>
              </a:lnSpc>
              <a:buNone/>
            </a:pPr>
            <a:r>
              <a:rPr lang="en-US" sz="1000" i="1" dirty="0">
                <a:solidFill>
                  <a:srgbClr val="46545F"/>
                </a:solidFill>
                <a:latin typeface="Calibri" pitchFamily="34" charset="0"/>
                <a:ea typeface="Calibri" pitchFamily="34" charset="-122"/>
                <a:cs typeface="Calibri" pitchFamily="34" charset="-120"/>
              </a:rPr>
              <a:t>2026 status: slowing to ~3-year doublings — not dead, no longer enough alone.</a:t>
            </a:r>
            <a:endParaRPr lang="en-US" sz="1100" dirty="0"/>
          </a:p>
        </p:txBody>
      </p:sp>
      <p:sp>
        <p:nvSpPr>
          <p:cNvPr id="9" name="Shape 7"/>
          <p:cNvSpPr/>
          <p:nvPr/>
        </p:nvSpPr>
        <p:spPr>
          <a:xfrm>
            <a:off x="502920" y="3675888"/>
            <a:ext cx="3291840" cy="2084832"/>
          </a:xfrm>
          <a:prstGeom prst="roundRect">
            <a:avLst>
              <a:gd name="adj" fmla="val 3509"/>
            </a:avLst>
          </a:prstGeom>
          <a:solidFill>
            <a:srgbClr val="E4F0EF"/>
          </a:solidFill>
          <a:ln/>
        </p:spPr>
        <p:txBody>
          <a:bodyPr/>
          <a:p/>
        </p:txBody>
      </p:sp>
      <p:sp>
        <p:nvSpPr>
          <p:cNvPr id="10" name="Text 8"/>
          <p:cNvSpPr/>
          <p:nvPr/>
        </p:nvSpPr>
        <p:spPr>
          <a:xfrm>
            <a:off x="731520" y="380390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② The accident</a:t>
            </a:r>
            <a:endParaRPr lang="en-US" sz="1350" dirty="0"/>
          </a:p>
        </p:txBody>
      </p:sp>
      <p:sp>
        <p:nvSpPr>
          <p:cNvPr id="11" name="Text 9"/>
          <p:cNvSpPr/>
          <p:nvPr/>
        </p:nvSpPr>
        <p:spPr>
          <a:xfrm>
            <a:off x="731520" y="413308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Gaming chips WERE AI chips: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both need millions of tiny calculations at once.</a:t>
            </a:r>
            <a:endParaRPr lang="en-US" sz="1100" dirty="0"/>
          </a:p>
          <a:p>
            <a:pPr indent="0" marL="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2006 — Nvidia’s CUDA lets anyone program a graphics card.</a:t>
            </a:r>
            <a:endParaRPr lang="en-US" sz="1100" dirty="0"/>
          </a:p>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2012 — AlexNet: two consumer gaming cards, six days, beats 30 years of hand-built AI.</a:t>
            </a:r>
            <a:endParaRPr lang="en-US" sz="1100" dirty="0"/>
          </a:p>
        </p:txBody>
      </p:sp>
      <p:sp>
        <p:nvSpPr>
          <p:cNvPr id="12" name="Shape 10"/>
          <p:cNvSpPr/>
          <p:nvPr/>
        </p:nvSpPr>
        <p:spPr>
          <a:xfrm>
            <a:off x="3931920" y="1481328"/>
            <a:ext cx="4160520" cy="4279392"/>
          </a:xfrm>
          <a:prstGeom prst="roundRect">
            <a:avLst>
              <a:gd name="adj" fmla="val 1758"/>
            </a:avLst>
          </a:prstGeom>
          <a:solidFill>
            <a:srgbClr val="F2F5F6"/>
          </a:solidFill>
          <a:ln/>
        </p:spPr>
        <p:txBody>
          <a:bodyPr/>
          <a:p/>
        </p:txBody>
      </p:sp>
      <p:sp>
        <p:nvSpPr>
          <p:cNvPr id="13" name="Text 11"/>
          <p:cNvSpPr/>
          <p:nvPr/>
        </p:nvSpPr>
        <p:spPr>
          <a:xfrm>
            <a:off x="4160520" y="1609344"/>
            <a:ext cx="37490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③ Moore’s pace vs AI’s appetite</a:t>
            </a:r>
            <a:endParaRPr lang="en-US" sz="1350" dirty="0"/>
          </a:p>
        </p:txBody>
      </p:sp>
      <p:sp>
        <p:nvSpPr>
          <p:cNvPr id="14" name="Text 12"/>
          <p:cNvSpPr/>
          <p:nvPr/>
        </p:nvSpPr>
        <p:spPr>
          <a:xfrm>
            <a:off x="4160520" y="1901952"/>
            <a:ext cx="3794760" cy="38404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Y axis: training compute per model, in FLOP (one FLOP = one arithmetic operation) — log scale</a:t>
            </a:r>
            <a:endParaRPr lang="en-US" sz="1000" dirty="0"/>
          </a:p>
        </p:txBody>
      </p:sp>
      <p:sp>
        <p:nvSpPr>
          <p:cNvPr id="15" name="Shape 13"/>
          <p:cNvSpPr/>
          <p:nvPr/>
        </p:nvSpPr>
        <p:spPr>
          <a:xfrm>
            <a:off x="4334256" y="4666488"/>
            <a:ext cx="54864" cy="0"/>
          </a:xfrm>
          <a:prstGeom prst="line">
            <a:avLst/>
          </a:prstGeom>
          <a:noFill/>
          <a:ln w="12700">
            <a:solidFill>
              <a:srgbClr val="7A8790"/>
            </a:solidFill>
            <a:prstDash val="solid"/>
          </a:ln>
        </p:spPr>
        <p:txBody>
          <a:bodyPr/>
          <a:p/>
        </p:txBody>
      </p:sp>
      <p:sp>
        <p:nvSpPr>
          <p:cNvPr id="16" name="Text 14"/>
          <p:cNvSpPr/>
          <p:nvPr/>
        </p:nvSpPr>
        <p:spPr>
          <a:xfrm>
            <a:off x="3931920" y="457504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10¹⁸</a:t>
            </a:r>
            <a:endParaRPr lang="en-US" sz="850" dirty="0"/>
          </a:p>
        </p:txBody>
      </p:sp>
      <p:sp>
        <p:nvSpPr>
          <p:cNvPr id="17" name="Shape 15"/>
          <p:cNvSpPr/>
          <p:nvPr/>
        </p:nvSpPr>
        <p:spPr>
          <a:xfrm>
            <a:off x="4334256" y="3797808"/>
            <a:ext cx="54864" cy="0"/>
          </a:xfrm>
          <a:prstGeom prst="line">
            <a:avLst/>
          </a:prstGeom>
          <a:noFill/>
          <a:ln w="12700">
            <a:solidFill>
              <a:srgbClr val="7A8790"/>
            </a:solidFill>
            <a:prstDash val="solid"/>
          </a:ln>
        </p:spPr>
        <p:txBody>
          <a:bodyPr/>
          <a:p/>
        </p:txBody>
      </p:sp>
      <p:sp>
        <p:nvSpPr>
          <p:cNvPr id="18" name="Text 16"/>
          <p:cNvSpPr/>
          <p:nvPr/>
        </p:nvSpPr>
        <p:spPr>
          <a:xfrm>
            <a:off x="3931920" y="370636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10²¹</a:t>
            </a:r>
            <a:endParaRPr lang="en-US" sz="850" dirty="0"/>
          </a:p>
        </p:txBody>
      </p:sp>
      <p:sp>
        <p:nvSpPr>
          <p:cNvPr id="19" name="Shape 17"/>
          <p:cNvSpPr/>
          <p:nvPr/>
        </p:nvSpPr>
        <p:spPr>
          <a:xfrm>
            <a:off x="4334256" y="2929128"/>
            <a:ext cx="54864" cy="0"/>
          </a:xfrm>
          <a:prstGeom prst="line">
            <a:avLst/>
          </a:prstGeom>
          <a:noFill/>
          <a:ln w="12700">
            <a:solidFill>
              <a:srgbClr val="7A8790"/>
            </a:solidFill>
            <a:prstDash val="solid"/>
          </a:ln>
        </p:spPr>
        <p:txBody>
          <a:bodyPr/>
          <a:p/>
        </p:txBody>
      </p:sp>
      <p:sp>
        <p:nvSpPr>
          <p:cNvPr id="20" name="Text 18"/>
          <p:cNvSpPr/>
          <p:nvPr/>
        </p:nvSpPr>
        <p:spPr>
          <a:xfrm>
            <a:off x="3931920" y="283768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10²⁴</a:t>
            </a:r>
            <a:endParaRPr lang="en-US" sz="850" dirty="0"/>
          </a:p>
        </p:txBody>
      </p:sp>
      <p:sp>
        <p:nvSpPr>
          <p:cNvPr id="21" name="Shape 19"/>
          <p:cNvSpPr/>
          <p:nvPr/>
        </p:nvSpPr>
        <p:spPr>
          <a:xfrm flipV="1">
            <a:off x="4370832" y="4281373"/>
            <a:ext cx="3200400" cy="480670"/>
          </a:xfrm>
          <a:prstGeom prst="line">
            <a:avLst/>
          </a:prstGeom>
          <a:noFill/>
          <a:ln w="19050">
            <a:solidFill>
              <a:srgbClr val="7A8790"/>
            </a:solidFill>
            <a:prstDash val="dash"/>
          </a:ln>
        </p:spPr>
        <p:txBody>
          <a:bodyPr/>
          <a:p/>
        </p:txBody>
      </p:sp>
      <p:sp>
        <p:nvSpPr>
          <p:cNvPr id="22" name="Shape 20"/>
          <p:cNvSpPr/>
          <p:nvPr/>
        </p:nvSpPr>
        <p:spPr>
          <a:xfrm flipV="1">
            <a:off x="4370832" y="3716731"/>
            <a:ext cx="2036618" cy="1045312"/>
          </a:xfrm>
          <a:prstGeom prst="line">
            <a:avLst/>
          </a:prstGeom>
          <a:noFill/>
          <a:ln w="25400">
            <a:solidFill>
              <a:srgbClr val="0E7C7B"/>
            </a:solidFill>
            <a:prstDash val="solid"/>
          </a:ln>
        </p:spPr>
        <p:txBody>
          <a:bodyPr/>
          <a:p/>
        </p:txBody>
      </p:sp>
      <p:sp>
        <p:nvSpPr>
          <p:cNvPr id="23" name="Shape 21"/>
          <p:cNvSpPr/>
          <p:nvPr/>
        </p:nvSpPr>
        <p:spPr>
          <a:xfrm flipV="1">
            <a:off x="6407450" y="3076804"/>
            <a:ext cx="290945" cy="639928"/>
          </a:xfrm>
          <a:prstGeom prst="line">
            <a:avLst/>
          </a:prstGeom>
          <a:noFill/>
          <a:ln w="25400">
            <a:solidFill>
              <a:srgbClr val="0E7C7B"/>
            </a:solidFill>
            <a:prstDash val="solid"/>
          </a:ln>
        </p:spPr>
        <p:txBody>
          <a:bodyPr/>
          <a:p/>
        </p:txBody>
      </p:sp>
      <p:sp>
        <p:nvSpPr>
          <p:cNvPr id="24" name="Shape 22"/>
          <p:cNvSpPr/>
          <p:nvPr/>
        </p:nvSpPr>
        <p:spPr>
          <a:xfrm flipV="1">
            <a:off x="6698396" y="2546909"/>
            <a:ext cx="872836" cy="529895"/>
          </a:xfrm>
          <a:prstGeom prst="line">
            <a:avLst/>
          </a:prstGeom>
          <a:noFill/>
          <a:ln w="25400">
            <a:solidFill>
              <a:srgbClr val="0E7C7B"/>
            </a:solidFill>
            <a:prstDash val="solid"/>
          </a:ln>
        </p:spPr>
        <p:txBody>
          <a:bodyPr/>
          <a:p/>
        </p:txBody>
      </p:sp>
      <p:sp>
        <p:nvSpPr>
          <p:cNvPr id="25" name="Shape 23"/>
          <p:cNvSpPr/>
          <p:nvPr/>
        </p:nvSpPr>
        <p:spPr>
          <a:xfrm>
            <a:off x="4315968" y="4707179"/>
            <a:ext cx="109728" cy="109728"/>
          </a:xfrm>
          <a:prstGeom prst="ellipse">
            <a:avLst/>
          </a:prstGeom>
          <a:solidFill>
            <a:srgbClr val="0A5B5A"/>
          </a:solidFill>
          <a:ln/>
        </p:spPr>
        <p:txBody>
          <a:bodyPr/>
          <a:p/>
        </p:txBody>
      </p:sp>
      <p:sp>
        <p:nvSpPr>
          <p:cNvPr id="26" name="Text 24"/>
          <p:cNvSpPr/>
          <p:nvPr/>
        </p:nvSpPr>
        <p:spPr>
          <a:xfrm>
            <a:off x="4462272" y="4506011"/>
            <a:ext cx="914400" cy="201168"/>
          </a:xfrm>
          <a:prstGeom prst="rect">
            <a:avLst/>
          </a:prstGeom>
          <a:noFill/>
          <a:ln/>
        </p:spPr>
        <p:txBody>
          <a:bodyPr wrap="square" lIns="0" tIns="0" rIns="0" bIns="0" rtlCol="0" anchor="ctr"/>
          <a:lstStyle/>
          <a:p>
            <a:pPr indent="0" marL="0">
              <a:buNone/>
            </a:pPr>
            <a:r>
              <a:rPr lang="en-US" sz="850" b="1" dirty="0">
                <a:solidFill>
                  <a:srgbClr val="0A5B5A"/>
                </a:solidFill>
                <a:latin typeface="Calibri" pitchFamily="34" charset="0"/>
                <a:ea typeface="Calibri" pitchFamily="34" charset="-122"/>
                <a:cs typeface="Calibri" pitchFamily="34" charset="-120"/>
              </a:rPr>
              <a:t>AlexNet</a:t>
            </a:r>
            <a:endParaRPr lang="en-US" sz="850" dirty="0"/>
          </a:p>
        </p:txBody>
      </p:sp>
      <p:sp>
        <p:nvSpPr>
          <p:cNvPr id="27" name="Shape 25"/>
          <p:cNvSpPr/>
          <p:nvPr/>
        </p:nvSpPr>
        <p:spPr>
          <a:xfrm>
            <a:off x="6352586" y="3661867"/>
            <a:ext cx="109728" cy="109728"/>
          </a:xfrm>
          <a:prstGeom prst="ellipse">
            <a:avLst/>
          </a:prstGeom>
          <a:solidFill>
            <a:srgbClr val="0A5B5A"/>
          </a:solidFill>
          <a:ln/>
        </p:spPr>
        <p:txBody>
          <a:bodyPr/>
          <a:p/>
        </p:txBody>
      </p:sp>
      <p:sp>
        <p:nvSpPr>
          <p:cNvPr id="28" name="Text 26"/>
          <p:cNvSpPr/>
          <p:nvPr/>
        </p:nvSpPr>
        <p:spPr>
          <a:xfrm>
            <a:off x="5538770" y="3442411"/>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GPT-2</a:t>
            </a:r>
            <a:endParaRPr lang="en-US" sz="850" dirty="0"/>
          </a:p>
        </p:txBody>
      </p:sp>
      <p:sp>
        <p:nvSpPr>
          <p:cNvPr id="29" name="Shape 27"/>
          <p:cNvSpPr/>
          <p:nvPr/>
        </p:nvSpPr>
        <p:spPr>
          <a:xfrm>
            <a:off x="6643532" y="3021940"/>
            <a:ext cx="109728" cy="109728"/>
          </a:xfrm>
          <a:prstGeom prst="ellipse">
            <a:avLst/>
          </a:prstGeom>
          <a:solidFill>
            <a:srgbClr val="0A5B5A"/>
          </a:solidFill>
          <a:ln/>
        </p:spPr>
        <p:txBody>
          <a:bodyPr/>
          <a:p/>
        </p:txBody>
      </p:sp>
      <p:sp>
        <p:nvSpPr>
          <p:cNvPr id="30" name="Text 28"/>
          <p:cNvSpPr/>
          <p:nvPr/>
        </p:nvSpPr>
        <p:spPr>
          <a:xfrm>
            <a:off x="5829716" y="2802484"/>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GPT-3</a:t>
            </a:r>
            <a:endParaRPr lang="en-US" sz="850" dirty="0"/>
          </a:p>
        </p:txBody>
      </p:sp>
      <p:sp>
        <p:nvSpPr>
          <p:cNvPr id="31" name="Shape 29"/>
          <p:cNvSpPr/>
          <p:nvPr/>
        </p:nvSpPr>
        <p:spPr>
          <a:xfrm>
            <a:off x="7516368" y="2492045"/>
            <a:ext cx="109728" cy="109728"/>
          </a:xfrm>
          <a:prstGeom prst="ellipse">
            <a:avLst/>
          </a:prstGeom>
          <a:solidFill>
            <a:srgbClr val="0A5B5A"/>
          </a:solidFill>
          <a:ln/>
        </p:spPr>
        <p:txBody>
          <a:bodyPr/>
          <a:p/>
        </p:txBody>
      </p:sp>
      <p:sp>
        <p:nvSpPr>
          <p:cNvPr id="32" name="Text 30"/>
          <p:cNvSpPr/>
          <p:nvPr/>
        </p:nvSpPr>
        <p:spPr>
          <a:xfrm>
            <a:off x="6702552" y="2272589"/>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GPT-4 (est.)</a:t>
            </a:r>
            <a:endParaRPr lang="en-US" sz="850" dirty="0"/>
          </a:p>
        </p:txBody>
      </p:sp>
      <p:sp>
        <p:nvSpPr>
          <p:cNvPr id="33" name="Text 31"/>
          <p:cNvSpPr/>
          <p:nvPr/>
        </p:nvSpPr>
        <p:spPr>
          <a:xfrm>
            <a:off x="6656832" y="4327093"/>
            <a:ext cx="1005840" cy="182880"/>
          </a:xfrm>
          <a:prstGeom prst="rect">
            <a:avLst/>
          </a:prstGeom>
          <a:noFill/>
          <a:ln/>
        </p:spPr>
        <p:txBody>
          <a:bodyPr wrap="square" lIns="0" tIns="0" rIns="0" bIns="0" rtlCol="0" anchor="ctr"/>
          <a:lstStyle/>
          <a:p>
            <a:pPr algn="r" indent="0" marL="0">
              <a:buNone/>
            </a:pPr>
            <a:r>
              <a:rPr lang="en-US" sz="850" i="1" dirty="0">
                <a:solidFill>
                  <a:srgbClr val="7A8790"/>
                </a:solidFill>
                <a:latin typeface="Calibri" pitchFamily="34" charset="0"/>
                <a:ea typeface="Calibri" pitchFamily="34" charset="-122"/>
                <a:cs typeface="Calibri" pitchFamily="34" charset="-120"/>
              </a:rPr>
              <a:t>Moore’s pace</a:t>
            </a:r>
            <a:endParaRPr lang="en-US" sz="850" dirty="0"/>
          </a:p>
        </p:txBody>
      </p:sp>
      <p:sp>
        <p:nvSpPr>
          <p:cNvPr id="34" name="Text 32"/>
          <p:cNvSpPr/>
          <p:nvPr/>
        </p:nvSpPr>
        <p:spPr>
          <a:xfrm>
            <a:off x="418795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2012</a:t>
            </a:r>
            <a:endParaRPr lang="en-US" sz="850" dirty="0"/>
          </a:p>
        </p:txBody>
      </p:sp>
      <p:sp>
        <p:nvSpPr>
          <p:cNvPr id="35" name="Text 33"/>
          <p:cNvSpPr/>
          <p:nvPr/>
        </p:nvSpPr>
        <p:spPr>
          <a:xfrm>
            <a:off x="734263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2023</a:t>
            </a:r>
            <a:endParaRPr lang="en-US" sz="850" dirty="0"/>
          </a:p>
        </p:txBody>
      </p:sp>
      <p:sp>
        <p:nvSpPr>
          <p:cNvPr id="36" name="Text 34"/>
          <p:cNvSpPr/>
          <p:nvPr/>
        </p:nvSpPr>
        <p:spPr>
          <a:xfrm>
            <a:off x="4160520" y="5193792"/>
            <a:ext cx="3794760" cy="548640"/>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At Moore’s pace since 2012: ×45.  </a:t>
            </a:r>
            <a:pPr indent="0" marL="0">
              <a:lnSpc>
                <a:spcPct val="102000"/>
              </a:lnSpc>
              <a:buNone/>
            </a:pPr>
            <a:r>
              <a:rPr lang="en-US" sz="1150" b="1" dirty="0">
                <a:solidFill>
                  <a:srgbClr val="AF3230"/>
                </a:solidFill>
                <a:latin typeface="Calibri" pitchFamily="34" charset="0"/>
                <a:ea typeface="Calibri" pitchFamily="34" charset="-122"/>
                <a:cs typeface="Calibri" pitchFamily="34" charset="-120"/>
              </a:rPr>
              <a:t>Actual: ×45,000,000.</a:t>
            </a:r>
            <a:endParaRPr lang="en-US" sz="1000" dirty="0"/>
          </a:p>
          <a:p>
            <a:pPr indent="0" marL="0">
              <a:lnSpc>
                <a:spcPct val="102000"/>
              </a:lnSpc>
              <a:buNone/>
            </a:pPr>
            <a:r>
              <a:rPr lang="en-US" sz="950" dirty="0">
                <a:solidFill>
                  <a:srgbClr val="46545F"/>
                </a:solidFill>
                <a:latin typeface="Calibri" pitchFamily="34" charset="0"/>
                <a:ea typeface="Calibri" pitchFamily="34" charset="-122"/>
                <a:cs typeface="Calibri" pitchFamily="34" charset="-120"/>
              </a:rPr>
              <a:t>GPT-4 ≈ 2×10²⁵ FLOP: ~200,000 years on AlexNet’s two cards — a ~25,000-GPU data-center hall: ~3 months.</a:t>
            </a:r>
            <a:endParaRPr lang="en-US" sz="1000" dirty="0"/>
          </a:p>
        </p:txBody>
      </p:sp>
      <p:sp>
        <p:nvSpPr>
          <p:cNvPr id="37" name="Shape 35"/>
          <p:cNvSpPr/>
          <p:nvPr/>
        </p:nvSpPr>
        <p:spPr>
          <a:xfrm>
            <a:off x="8321040" y="1481328"/>
            <a:ext cx="3337560" cy="4279392"/>
          </a:xfrm>
          <a:prstGeom prst="roundRect">
            <a:avLst>
              <a:gd name="adj" fmla="val 2192"/>
            </a:avLst>
          </a:prstGeom>
          <a:solidFill>
            <a:srgbClr val="F2F5F6"/>
          </a:solidFill>
          <a:ln/>
        </p:spPr>
        <p:txBody>
          <a:bodyPr/>
          <a:p/>
        </p:txBody>
      </p:sp>
      <p:sp>
        <p:nvSpPr>
          <p:cNvPr id="38" name="Text 36"/>
          <p:cNvSpPr/>
          <p:nvPr/>
        </p:nvSpPr>
        <p:spPr>
          <a:xfrm>
            <a:off x="8549640" y="1609344"/>
            <a:ext cx="292608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④ Why the data centers</a:t>
            </a:r>
            <a:endParaRPr lang="en-US" sz="1350" dirty="0"/>
          </a:p>
        </p:txBody>
      </p:sp>
      <p:sp>
        <p:nvSpPr>
          <p:cNvPr id="39" name="Shape 37"/>
          <p:cNvSpPr/>
          <p:nvPr/>
        </p:nvSpPr>
        <p:spPr>
          <a:xfrm>
            <a:off x="8549640" y="2011680"/>
            <a:ext cx="420624" cy="420624"/>
          </a:xfrm>
          <a:prstGeom prst="ellipse">
            <a:avLst/>
          </a:prstGeom>
          <a:solidFill>
            <a:srgbClr val="0E7C7B"/>
          </a:solidFill>
          <a:ln/>
        </p:spPr>
        <p:txBody>
          <a:bodyPr/>
          <a:p/>
        </p:txBody>
      </p:sp>
      <p:pic>
        <p:nvPicPr>
          <p:cNvPr id="40" name="Image 0" descr="/home/user/Claude-Works/ai-training-prompt-engineering/src/assets/icons/cpu_w.png">    </p:cNvPr>
          <p:cNvPicPr>
            <a:picLocks noChangeAspect="1"/>
          </p:cNvPicPr>
          <p:nvPr/>
        </p:nvPicPr>
        <p:blipFill>
          <a:blip r:embed="rId2"/>
          <a:stretch>
            <a:fillRect/>
          </a:stretch>
        </p:blipFill>
        <p:spPr>
          <a:xfrm>
            <a:off x="8659002" y="2121042"/>
            <a:ext cx="201900" cy="201900"/>
          </a:xfrm>
          <a:prstGeom prst="rect">
            <a:avLst/>
          </a:prstGeom>
        </p:spPr>
      </p:pic>
      <p:sp>
        <p:nvSpPr>
          <p:cNvPr id="41" name="Text 38"/>
          <p:cNvSpPr/>
          <p:nvPr/>
        </p:nvSpPr>
        <p:spPr>
          <a:xfrm>
            <a:off x="9079992" y="1920240"/>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TRAIN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frontier model: 16,000+ GPUs running for months (Llama 3.1, 2024).</a:t>
            </a:r>
            <a:endParaRPr lang="en-US" sz="1100" dirty="0"/>
          </a:p>
        </p:txBody>
      </p:sp>
      <p:sp>
        <p:nvSpPr>
          <p:cNvPr id="42" name="Shape 39"/>
          <p:cNvSpPr/>
          <p:nvPr/>
        </p:nvSpPr>
        <p:spPr>
          <a:xfrm>
            <a:off x="8549640" y="3182112"/>
            <a:ext cx="420624" cy="420624"/>
          </a:xfrm>
          <a:prstGeom prst="ellipse">
            <a:avLst/>
          </a:prstGeom>
          <a:solidFill>
            <a:srgbClr val="0E7C7B"/>
          </a:solidFill>
          <a:ln/>
        </p:spPr>
        <p:txBody>
          <a:bodyPr/>
          <a:p/>
        </p:txBody>
      </p:sp>
      <p:pic>
        <p:nvPicPr>
          <p:cNvPr id="43" name="Image 1" descr="/home/user/Claude-Works/ai-training-prompt-engineering/src/assets/icons/users_w.png">    </p:cNvPr>
          <p:cNvPicPr>
            <a:picLocks noChangeAspect="1"/>
          </p:cNvPicPr>
          <p:nvPr/>
        </p:nvPicPr>
        <p:blipFill>
          <a:blip r:embed="rId3"/>
          <a:stretch>
            <a:fillRect/>
          </a:stretch>
        </p:blipFill>
        <p:spPr>
          <a:xfrm>
            <a:off x="8659002" y="3291474"/>
            <a:ext cx="201900" cy="201900"/>
          </a:xfrm>
          <a:prstGeom prst="rect">
            <a:avLst/>
          </a:prstGeom>
        </p:spPr>
      </p:pic>
      <p:sp>
        <p:nvSpPr>
          <p:cNvPr id="44" name="Text 40"/>
          <p:cNvSpPr/>
          <p:nvPr/>
        </p:nvSpPr>
        <p:spPr>
          <a:xfrm>
            <a:off x="9079992" y="3090672"/>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SERVE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Then a billion people use it — around the clock, every day.</a:t>
            </a:r>
            <a:endParaRPr lang="en-US" sz="1100" dirty="0"/>
          </a:p>
        </p:txBody>
      </p:sp>
      <p:sp>
        <p:nvSpPr>
          <p:cNvPr id="45" name="Shape 41"/>
          <p:cNvSpPr/>
          <p:nvPr/>
        </p:nvSpPr>
        <p:spPr>
          <a:xfrm>
            <a:off x="8549640" y="4352544"/>
            <a:ext cx="420624" cy="420624"/>
          </a:xfrm>
          <a:prstGeom prst="ellipse">
            <a:avLst/>
          </a:prstGeom>
          <a:solidFill>
            <a:srgbClr val="0E7C7B"/>
          </a:solidFill>
          <a:ln/>
        </p:spPr>
        <p:txBody>
          <a:bodyPr/>
          <a:p/>
        </p:txBody>
      </p:sp>
      <p:pic>
        <p:nvPicPr>
          <p:cNvPr id="46" name="Image 2" descr="/home/user/Claude-Works/ai-training-prompt-engineering/src/assets/icons/zap_w.png">    </p:cNvPr>
          <p:cNvPicPr>
            <a:picLocks noChangeAspect="1"/>
          </p:cNvPicPr>
          <p:nvPr/>
        </p:nvPicPr>
        <p:blipFill>
          <a:blip r:embed="rId4"/>
          <a:stretch>
            <a:fillRect/>
          </a:stretch>
        </p:blipFill>
        <p:spPr>
          <a:xfrm>
            <a:off x="8659002" y="4461906"/>
            <a:ext cx="201900" cy="201900"/>
          </a:xfrm>
          <a:prstGeom prst="rect">
            <a:avLst/>
          </a:prstGeom>
        </p:spPr>
      </p:pic>
      <p:sp>
        <p:nvSpPr>
          <p:cNvPr id="47" name="Text 42"/>
          <p:cNvSpPr/>
          <p:nvPr/>
        </p:nvSpPr>
        <p:spPr>
          <a:xfrm>
            <a:off x="9079992" y="4261104"/>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POWER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large AI data center ≈ the electricity of 100,000 homes; the biggest under construction ≈ 2 million (IEA).</a:t>
            </a:r>
            <a:endParaRPr lang="en-US" sz="1100" dirty="0"/>
          </a:p>
        </p:txBody>
      </p:sp>
      <p:sp>
        <p:nvSpPr>
          <p:cNvPr id="48" name="Text 43"/>
          <p:cNvSpPr/>
          <p:nvPr/>
        </p:nvSpPr>
        <p:spPr>
          <a:xfrm>
            <a:off x="8549640" y="5394960"/>
            <a:ext cx="2926080" cy="457200"/>
          </a:xfrm>
          <a:prstGeom prst="rect">
            <a:avLst/>
          </a:prstGeom>
          <a:noFill/>
          <a:ln/>
        </p:spPr>
        <p:txBody>
          <a:bodyPr wrap="square" lIns="0" tIns="0" rIns="0" bIns="0" rtlCol="0" anchor="ctr"/>
          <a:lstStyle/>
          <a:p>
            <a:pPr indent="0" marL="0">
              <a:lnSpc>
                <a:spcPct val="102000"/>
              </a:lnSpc>
              <a:buNone/>
            </a:pPr>
            <a:r>
              <a:rPr lang="en-US" sz="1000" i="1" dirty="0">
                <a:solidFill>
                  <a:srgbClr val="7A8790"/>
                </a:solidFill>
                <a:latin typeface="Calibri" pitchFamily="34" charset="0"/>
                <a:ea typeface="Calibri" pitchFamily="34" charset="-122"/>
                <a:cs typeface="Calibri" pitchFamily="34" charset="-120"/>
              </a:rPr>
              <a:t>~$700B of build-out planned for 2026 — much announced, not yet built.</a:t>
            </a:r>
            <a:endParaRPr lang="en-US" sz="1000" dirty="0"/>
          </a:p>
        </p:txBody>
      </p:sp>
      <p:sp>
        <p:nvSpPr>
          <p:cNvPr id="49" name="Shape 44"/>
          <p:cNvSpPr/>
          <p:nvPr/>
        </p:nvSpPr>
        <p:spPr>
          <a:xfrm>
            <a:off x="502920" y="5870448"/>
            <a:ext cx="11155680" cy="621792"/>
          </a:xfrm>
          <a:prstGeom prst="roundRect">
            <a:avLst>
              <a:gd name="adj" fmla="val 11765"/>
            </a:avLst>
          </a:prstGeom>
          <a:solidFill>
            <a:srgbClr val="FBF0E0"/>
          </a:solidFill>
          <a:ln/>
        </p:spPr>
        <p:txBody>
          <a:bodyPr/>
          <a:p/>
        </p:txBody>
      </p:sp>
      <p:sp>
        <p:nvSpPr>
          <p:cNvPr id="50" name="Shape 45"/>
          <p:cNvSpPr/>
          <p:nvPr/>
        </p:nvSpPr>
        <p:spPr>
          <a:xfrm>
            <a:off x="658368" y="5989320"/>
            <a:ext cx="384048" cy="384048"/>
          </a:xfrm>
          <a:prstGeom prst="roundRect">
            <a:avLst>
              <a:gd name="adj" fmla="val 21429"/>
            </a:avLst>
          </a:prstGeom>
          <a:solidFill>
            <a:srgbClr val="FFFFFF"/>
          </a:solidFill>
          <a:ln w="9525">
            <a:solidFill>
              <a:srgbClr val="DCE3E6"/>
            </a:solidFill>
            <a:prstDash val="solid"/>
          </a:ln>
        </p:spPr>
        <p:txBody>
          <a:bodyPr/>
          <a:p/>
        </p:txBody>
      </p:sp>
      <p:pic>
        <p:nvPicPr>
          <p:cNvPr id="51" name="Image 3" descr="/home/user/Claude-Works/ai-training-prompt-engineering/src/assets/logos/nvidia.png">    </p:cNvPr>
          <p:cNvPicPr>
            <a:picLocks noChangeAspect="1"/>
          </p:cNvPicPr>
          <p:nvPr/>
        </p:nvPicPr>
        <p:blipFill>
          <a:blip r:embed="rId5"/>
          <a:stretch>
            <a:fillRect/>
          </a:stretch>
        </p:blipFill>
        <p:spPr>
          <a:xfrm>
            <a:off x="712135" y="6043087"/>
            <a:ext cx="276515" cy="276515"/>
          </a:xfrm>
          <a:prstGeom prst="rect">
            <a:avLst/>
          </a:prstGeom>
        </p:spPr>
      </p:pic>
      <p:sp>
        <p:nvSpPr>
          <p:cNvPr id="52" name="Text 46"/>
          <p:cNvSpPr/>
          <p:nvPr/>
        </p:nvSpPr>
        <p:spPr>
          <a:xfrm>
            <a:off x="1170432" y="5943600"/>
            <a:ext cx="10332720" cy="475488"/>
          </a:xfrm>
          <a:prstGeom prst="rect">
            <a:avLst/>
          </a:prstGeom>
          <a:noFill/>
          <a:ln/>
        </p:spPr>
        <p:txBody>
          <a:bodyPr wrap="square" lIns="0" tIns="0" rIns="0" bIns="0" rtlCol="0" anchor="ctr"/>
          <a:lstStyle/>
          <a:p>
            <a:pPr indent="0" marL="0">
              <a:lnSpc>
                <a:spcPct val="102000"/>
              </a:lnSpc>
              <a:buNone/>
            </a:pPr>
            <a:r>
              <a:rPr lang="en-US" sz="1150" b="1" dirty="0">
                <a:solidFill>
                  <a:srgbClr val="232A31"/>
                </a:solidFill>
                <a:latin typeface="Calibri" pitchFamily="34" charset="0"/>
                <a:ea typeface="Calibri" pitchFamily="34" charset="-122"/>
                <a:cs typeface="Calibri" pitchFamily="34" charset="-120"/>
              </a:rPr>
              <a:t>The shovel-seller: </a:t>
            </a:r>
            <a:pPr indent="0" marL="0">
              <a:lnSpc>
                <a:spcPct val="102000"/>
              </a:lnSpc>
              <a:buNone/>
            </a:pPr>
            <a:r>
              <a:rPr lang="en-US" sz="1100" dirty="0">
                <a:solidFill>
                  <a:srgbClr val="46545F"/>
                </a:solidFill>
                <a:latin typeface="Calibri" pitchFamily="34" charset="0"/>
                <a:ea typeface="Calibri" pitchFamily="34" charset="-122"/>
                <a:cs typeface="Calibri" pitchFamily="34" charset="-120"/>
              </a:rPr>
              <a:t>Nvidia — first reached $1T May 2023 · $4T Jul 2025 · $5T Oct 2025 · ~$5.6T today: the world’s most valuable company, and 92% of its revenue is now AI data centers.</a:t>
            </a:r>
            <a:endParaRPr lang="en-US" sz="1150" dirty="0"/>
          </a:p>
        </p:txBody>
      </p:sp>
      <p:sp>
        <p:nvSpPr>
          <p:cNvPr id="53"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5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5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6</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75</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480560"/>
            <a:ext cx="11155680" cy="126187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59028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681728"/>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60857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61772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61772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937760"/>
            <a:ext cx="10789919" cy="557783"/>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“Finish this sentence five different ways: “We should review the launch date because…” Treat each ending as a hypothetical possibility.”</a:t>
            </a:r>
            <a:endParaRPr sz="1000"/>
          </a:p>
          <a:p xmlns:a="http://schemas.openxmlformats.org/drawingml/2006/main">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486400"/>
            <a:ext cx="1078991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EX2-Guesses of your Course Workbook</a:t>
            </a:r>
            <a:endParaRPr sz="950"/>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0A6261"/>
                </a:solidFill>
                <a:latin typeface="Calibri"/>
                <a:ea typeface="Calibri"/>
                <a:cs typeface="Calibri"/>
              </a:rPr>
              <a:t>TEACH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904" y="1874519"/>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246120" y="1874519"/>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904" y="2724912"/>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246120" y="2724912"/>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904" y="3575304"/>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246120" y="3575304"/>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xmlns:a="http://schemas.openxmlformats.org/drawingml/2006/main" xmlns:r="http://schemas.openxmlformats.org/officeDocument/2006/relationships">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315968"/>
            <a:ext cx="8092440" cy="1188720"/>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42569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a:fillRect l="0" t="0" r="0" b="0"/>
          </a:stretch>
        </p:blipFill>
        <p:spPr>
          <a:xfrm xmlns:a="http://schemas.openxmlformats.org/drawingml/2006/main">
            <a:off x="740664" y="451713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443983"/>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4531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3/7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453128"/>
            <a:ext cx="5943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Tokens, explained by the model</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773168"/>
            <a:ext cx="7726679" cy="4846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tokens to a new colleague using a LEGO-brick analogy, in about 100 words. Show an illustrative word split and explain why the actual split depends on the tokenizer. Connect token counts to context limits and charges when billing is based on tokens. End with one practical implication for working with long documents.”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248655"/>
            <a:ext cx="772667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EX3-Tokens of your Course Workbook</a:t>
            </a:r>
            <a:endParaRPr sz="950"/>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400" b="1">
                <a:solidFill>
                  <a:srgbClr val="0E7C7B"/>
                </a:solidFill>
                <a:latin typeface="Calibri"/>
              </a:rPr>
              <a:t>TOKENS</a:t>
            </a:r>
          </a:p>
        </p:txBody>
      </p:sp>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904" y="1874519"/>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246120" y="1874519"/>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904" y="2724912"/>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246120" y="2724912"/>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904" y="3575304"/>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246120" y="3575304"/>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76</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315968"/>
            <a:ext cx="8092440" cy="1389888"/>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42569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a:fillRect l="0" t="0" r="0" b="0"/>
          </a:stretch>
        </p:blipFill>
        <p:spPr>
          <a:xfrm xmlns:a="http://schemas.openxmlformats.org/drawingml/2006/main">
            <a:off x="740664" y="451713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443983"/>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4531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4/7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453128"/>
            <a:ext cx="5943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The desk — explained · tab EX4-Handoff</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773168"/>
            <a:ext cx="7726679" cy="88696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00" b="1">
                <a:solidFill>
                  <a:srgbClr val="B96A1B"/>
                </a:solidFill>
                <a:latin typeface="Calibri"/>
              </a:rPr>
              <a:t>SEND 1 · </a:t>
            </a:r>
            <a:r>
              <a:rPr sz="900" b="1">
                <a:solidFill>
                  <a:srgbClr val="0A5B5A"/>
                </a:solidFill>
                <a:latin typeface="Calibri"/>
              </a:rPr>
              <a:t>TYPE THIS → </a:t>
            </a:r>
            <a:r>
              <a:rPr sz="85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xmlns:a="http://schemas.openxmlformats.org/drawingml/2006/main">
            <a:pPr algn="l"/>
            <a:r>
              <a:rPr sz="900" b="1">
                <a:solidFill>
                  <a:srgbClr val="B96A1B"/>
                </a:solidFill>
                <a:latin typeface="Calibri"/>
              </a:rPr>
              <a:t>HANDOFF FOLLOW-UP · </a:t>
            </a:r>
            <a:r>
              <a:rPr sz="900" b="1">
                <a:solidFill>
                  <a:srgbClr val="0A5B5A"/>
                </a:solidFill>
                <a:latin typeface="Calibri"/>
              </a:rPr>
              <a:t>TYPE THIS → </a:t>
            </a:r>
            <a:r>
              <a:rPr sz="85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CONTEXT WINDOW</a:t>
            </a:r>
          </a:p>
        </p:txBody>
      </p:sp>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xmlns:a="http://schemas.openxmlformats.org/drawingml/2006/main">
        <p:nvSpPr>
          <p:cNvPr id="16"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600" b="1">
                <a:solidFill>
                  <a:srgbClr val="0E7C7B"/>
                </a:solidFill>
                <a:latin typeface="Calibri"/>
              </a:rPr>
              <a:t>RAG</a:t>
            </a:r>
          </a:p>
          <a:p>
            <a:pPr algn="r"/>
            <a:r>
              <a:rPr sz="900" b="0" i="1">
                <a:solidFill>
                  <a:srgbClr val="657278"/>
                </a:solidFill>
                <a:latin typeface="Calibri"/>
              </a:rPr>
              <a:t>Retrieval-Augmented Generation</a:t>
            </a:r>
          </a:p>
        </p:txBody>
      </p:sp>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407408"/>
            <a:ext cx="11155680" cy="1280160"/>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51713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60857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53542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54456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5/7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54456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Fast responses vs more reasoning — three examples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864608"/>
            <a:ext cx="10789919" cy="57607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when to start with fast responses versus more reasoning, using three examples: a routine email, inconsistent supplier data, and a problem with several interacting causes. For each, give a starting choice and what would justify increasing effort. Explain the tradeoff in time and resource use without guessing prices. About 120 words.”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431536"/>
            <a:ext cx="1078991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EX5-TwoSpeeds of your Course Workbook</a:t>
            </a:r>
            <a:endParaRPr sz="950"/>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000" b="1">
                <a:solidFill>
                  <a:srgbClr val="0E7C7B"/>
                </a:solidFill>
                <a:latin typeface="Calibri"/>
              </a:rPr>
              <a:t>REASONING EFFORT</a:t>
            </a:r>
          </a:p>
        </p:txBody>
      </p:sp>
    </p:spTree>
    <p:extLst>
      <p:ext uri="{BB962C8B-B14F-4D97-AF65-F5344CB8AC3E}">
        <p14:creationId xmlns:p14="http://schemas.microsoft.com/office/powerpoint/2010/main" val="18500015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29384"/>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29384"/>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651760"/>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651760"/>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374136"/>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374136"/>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096512"/>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096512"/>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901184"/>
            <a:ext cx="11155680" cy="80467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1091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5102352"/>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6/7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Your app’s menu, explained · tab EX6-FeatureMenu</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58384"/>
            <a:ext cx="10789919" cy="30175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“Using the supplied screenshot or copied text of my app’s menu, explain each visible mode in one line: its purpose and a suitable workplace task. Mark anything the supplied information does not establish as needing verification. If the menu is missing, ask for it first.”</a:t>
            </a:r>
            <a:endParaRPr sz="1000"/>
          </a:p>
        </p:txBody>
      </p:sp>
    </p:spTree>
    <p:extLst>
      <p:ext uri="{BB962C8B-B14F-4D97-AF65-F5344CB8AC3E}">
        <p14:creationId xmlns:p14="http://schemas.microsoft.com/office/powerpoint/2010/main" val="1748456231"/>
      </p:ext>
    </p:extLst>
  </p:cSld>
</p:sld>
</file>

<file path=ppt/slides/slide1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1353312" y="193357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4343400" y="193357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1353312" y="280035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4343400" y="280035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1353312" y="366712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4343400" y="366712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1353312" y="453390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4343400" y="453390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pic xmlns:a="http://schemas.openxmlformats.org/drawingml/2006/main" xmlns:r="http://schemas.openxmlformats.org/officeDocument/2006/relationships">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xmlns:a="http://schemas.openxmlformats.org/drawingml/2006/main" xmlns:r="http://schemas.openxmlformats.org/officeDocument/2006/relationships">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xmlns:a="http://schemas.openxmlformats.org/drawingml/2006/main" xmlns:r="http://schemas.openxmlformats.org/officeDocument/2006/relationships">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xmlns:a="http://schemas.openxmlformats.org/drawingml/2006/main" xmlns:r="http://schemas.openxmlformats.org/officeDocument/2006/relationships">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 xmlns:a="http://schemas.openxmlformats.org/drawingml/2006/main">
        <p:nvSpPr>
          <p:cNvPr id="2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HALLUCINATION</a:t>
            </a:r>
          </a:p>
        </p:txBody>
      </p:sp>
    </p:spTree>
    <p:extLst>
      <p:ext uri="{BB962C8B-B14F-4D97-AF65-F5344CB8AC3E}">
        <p14:creationId xmlns:p14="http://schemas.microsoft.com/office/powerpoint/2010/main" val="475868969"/>
      </p:ext>
    </p:extLst>
  </p:cSld>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400" dirty="0"/>
          </a:p>
          <a:p>
            <a:pPr algn="l" marL="127000" indent="-127000">
              <a:lnSpc>
                <a:spcPct val="104000"/>
              </a:lnSpc>
              <a:spcAft>
                <a:spcPts val="600"/>
              </a:spcAft>
              <a:buSzPct val="100000"/>
              <a:buChar char="•"/>
            </a:pPr>
            <a:r>
              <a:rPr lang="en-US" sz="140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400" dirty="0"/>
          </a:p>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400" dirty="0"/>
          </a:p>
        </p:txBody>
      </p:sp>
      <p:sp>
        <p:nvSpPr>
          <p:cNvPr id="7" name="Shape 5"/>
          <p:cNvSpPr/>
          <p:nvPr/>
        </p:nvSpPr>
        <p:spPr>
          <a:xfrm>
            <a:off x="502920" y="3950208"/>
            <a:ext cx="5120640" cy="2231136"/>
          </a:xfrm>
          <a:prstGeom prst="roundRect">
            <a:avLst>
              <a:gd name="adj" fmla="val 3279"/>
            </a:avLst>
          </a:prstGeom>
          <a:solidFill>
            <a:srgbClr val="F2F5F6"/>
          </a:solidFill>
          <a:ln/>
        </p:spPr>
        <p:txBody>
          <a:bodyPr/>
          <a:p/>
        </p:txBody>
      </p:sp>
      <p:sp>
        <p:nvSpPr>
          <p:cNvPr id="8" name="Text 6"/>
          <p:cNvSpPr/>
          <p:nvPr/>
        </p:nvSpPr>
        <p:spPr>
          <a:xfrm>
            <a:off x="749808" y="4078224"/>
            <a:ext cx="46634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Older reasoning model (o4-mini)</a:t>
            </a:r>
            <a:endParaRPr lang="en-US" sz="95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txBody>
          <a:bodyPr/>
          <a:p/>
        </p:txBody>
      </p:sp>
      <p:sp>
        <p:nvSpPr>
          <p:cNvPr id="11" name="Text 9"/>
          <p:cNvSpPr/>
          <p:nvPr/>
        </p:nvSpPr>
        <p:spPr>
          <a:xfrm>
            <a:off x="749808" y="4608576"/>
            <a:ext cx="99852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24%</a:t>
            </a:r>
            <a:endParaRPr lang="en-US" sz="85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txBody>
          <a:bodyPr/>
          <a:p/>
        </p:txBody>
      </p:sp>
      <p:sp>
        <p:nvSpPr>
          <p:cNvPr id="13" name="Text 11"/>
          <p:cNvSpPr/>
          <p:nvPr/>
        </p:nvSpPr>
        <p:spPr>
          <a:xfrm>
            <a:off x="1748333" y="4608576"/>
            <a:ext cx="312039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75%</a:t>
            </a:r>
            <a:endParaRPr lang="en-US" sz="85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txBody>
          <a:bodyPr/>
          <a:p/>
        </p:txBody>
      </p:sp>
      <p:sp>
        <p:nvSpPr>
          <p:cNvPr id="15" name="Text 13"/>
          <p:cNvSpPr/>
          <p:nvPr/>
        </p:nvSpPr>
        <p:spPr>
          <a:xfrm>
            <a:off x="749808" y="4974336"/>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Newer, trained to say “I don’t know”</a:t>
            </a:r>
            <a:endParaRPr lang="en-US" sz="95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txBody>
          <a:bodyPr/>
          <a:p/>
        </p:txBody>
      </p:sp>
      <p:sp>
        <p:nvSpPr>
          <p:cNvPr id="17" name="Text 15"/>
          <p:cNvSpPr/>
          <p:nvPr/>
        </p:nvSpPr>
        <p:spPr>
          <a:xfrm>
            <a:off x="749808" y="5175504"/>
            <a:ext cx="915314"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22%</a:t>
            </a:r>
            <a:endParaRPr lang="en-US" sz="85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txBody>
          <a:bodyPr/>
          <a:p/>
        </p:txBody>
      </p:sp>
      <p:sp>
        <p:nvSpPr>
          <p:cNvPr id="19" name="Text 17"/>
          <p:cNvSpPr/>
          <p:nvPr/>
        </p:nvSpPr>
        <p:spPr>
          <a:xfrm>
            <a:off x="1665122" y="5175504"/>
            <a:ext cx="108173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26%</a:t>
            </a:r>
            <a:endParaRPr lang="en-US" sz="85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txBody>
          <a:bodyPr/>
          <a:p/>
        </p:txBody>
      </p:sp>
      <p:sp>
        <p:nvSpPr>
          <p:cNvPr id="21" name="Text 19"/>
          <p:cNvSpPr/>
          <p:nvPr/>
        </p:nvSpPr>
        <p:spPr>
          <a:xfrm>
            <a:off x="2746858" y="5175504"/>
            <a:ext cx="216347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52%</a:t>
            </a:r>
            <a:endParaRPr lang="en-US" sz="850" dirty="0"/>
          </a:p>
        </p:txBody>
      </p:sp>
      <p:sp>
        <p:nvSpPr>
          <p:cNvPr id="22" name="Text 20"/>
          <p:cNvSpPr/>
          <p:nvPr/>
        </p:nvSpPr>
        <p:spPr>
          <a:xfrm>
            <a:off x="749808" y="5541264"/>
            <a:ext cx="4663440" cy="310896"/>
          </a:xfrm>
          <a:prstGeom prst="rect">
            <a:avLst/>
          </a:prstGeom>
          <a:noFill/>
          <a:ln/>
        </p:spPr>
        <p:txBody>
          <a:bodyPr wrap="square" lIns="0" tIns="0" rIns="0" bIns="0" rtlCol="0" anchor="ctr"/>
          <a:lstStyle/>
          <a:p>
            <a:pPr indent="0" marL="0">
              <a:buNone/>
            </a:pPr>
            <a:r>
              <a:rPr lang="en-US" sz="900" dirty="0">
                <a:solidFill>
                  <a:srgbClr val="0E7C7B"/>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right  </a:t>
            </a:r>
            <a:pPr indent="0" marL="0">
              <a:buNone/>
            </a:pPr>
            <a:r>
              <a:rPr lang="en-US" sz="900" dirty="0">
                <a:solidFill>
                  <a:srgbClr val="AF3230"/>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wrong  </a:t>
            </a:r>
            <a:pPr indent="0" marL="0">
              <a:buNone/>
            </a:pPr>
            <a:r>
              <a:rPr lang="en-US" sz="900" dirty="0">
                <a:solidFill>
                  <a:srgbClr val="46545F"/>
                </a:solidFill>
                <a:latin typeface="Calibri" pitchFamily="34" charset="0"/>
                <a:ea typeface="Calibri" pitchFamily="34" charset="-122"/>
                <a:cs typeface="Calibri" pitchFamily="34" charset="-120"/>
              </a:rPr>
              <a:t>■</a:t>
            </a:r>
            <a:pPr indent="0" marL="0">
              <a:buNone/>
            </a:pPr>
            <a:r>
              <a:rPr lang="en-US" sz="900" b="1" dirty="0">
                <a:solidFill>
                  <a:srgbClr val="46545F"/>
                </a:solidFill>
                <a:latin typeface="Calibri" pitchFamily="34" charset="0"/>
                <a:ea typeface="Calibri" pitchFamily="34" charset="-122"/>
                <a:cs typeface="Calibri" pitchFamily="34" charset="-120"/>
              </a:rPr>
              <a:t> “I don’t know” — ~3× fewer false claims.</a:t>
            </a:r>
            <a:endParaRPr lang="en-US" sz="900" dirty="0"/>
          </a:p>
        </p:txBody>
      </p:sp>
      <p:sp>
        <p:nvSpPr>
          <p:cNvPr id="23" name="Text 21"/>
          <p:cNvSpPr/>
          <p:nvPr/>
        </p:nvSpPr>
        <p:spPr>
          <a:xfrm>
            <a:off x="749808" y="5852160"/>
            <a:ext cx="4663440" cy="310896"/>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OpenAI’s own models &amp; benchmark (2025) — the mechanism, not a vendor ranking.</a:t>
            </a:r>
            <a:endParaRPr lang="en-US" sz="1000" dirty="0"/>
          </a:p>
        </p:txBody>
      </p:sp>
      <p:sp>
        <p:nvSpPr>
          <p:cNvPr id="24" name="Shape 22"/>
          <p:cNvSpPr/>
          <p:nvPr/>
        </p:nvSpPr>
        <p:spPr>
          <a:xfrm>
            <a:off x="5806440" y="1517904"/>
            <a:ext cx="5852160" cy="1024128"/>
          </a:xfrm>
          <a:prstGeom prst="roundRect">
            <a:avLst>
              <a:gd name="adj" fmla="val 7143"/>
            </a:avLst>
          </a:prstGeom>
          <a:solidFill>
            <a:srgbClr val="F2F5F6"/>
          </a:solidFill>
          <a:ln/>
        </p:spPr>
        <p:txBody>
          <a:bodyPr/>
          <a:p/>
        </p:txBody>
      </p:sp>
      <p:pic>
        <p:nvPicPr>
          <p:cNvPr id="25" name="Image 0" descr="/home/user/Claude-Works/ai-training-prompt-engineering/src/assets/images/emblem_cue_card.jpg">    </p:cNvPr>
          <p:cNvPicPr>
            <a:picLocks noChangeAspect="1"/>
          </p:cNvPicPr>
          <p:nvPr/>
        </p:nvPicPr>
        <p:blipFill>
          <a:blip r:embed="rId2"/>
          <a:srcRect l="0" r="0" t="0" b="0"/>
          <a:stretch/>
        </p:blipFill>
        <p:spPr>
          <a:xfrm>
            <a:off x="5952744" y="1600200"/>
            <a:ext cx="859536" cy="859536"/>
          </a:xfrm>
          <a:prstGeom prst="rect">
            <a:avLst/>
          </a:prstGeom>
        </p:spPr>
      </p:pic>
      <p:sp>
        <p:nvSpPr>
          <p:cNvPr id="26" name="Shape 23"/>
          <p:cNvSpPr/>
          <p:nvPr/>
        </p:nvSpPr>
        <p:spPr>
          <a:xfrm>
            <a:off x="5952744" y="1600200"/>
            <a:ext cx="859536" cy="859536"/>
          </a:xfrm>
          <a:prstGeom prst="roundRect">
            <a:avLst>
              <a:gd name="adj" fmla="val 5319"/>
            </a:avLst>
          </a:prstGeom>
          <a:ln w="9525">
            <a:solidFill>
              <a:srgbClr val="DCE3E6"/>
            </a:solidFill>
            <a:prstDash val="solid"/>
          </a:ln>
        </p:spPr>
        <p:txBody>
          <a:bodyPr/>
          <a:p/>
        </p:txBody>
      </p:sp>
      <p:sp>
        <p:nvSpPr>
          <p:cNvPr id="27" name="Text 24"/>
          <p:cNvSpPr/>
          <p:nvPr/>
        </p:nvSpPr>
        <p:spPr>
          <a:xfrm>
            <a:off x="6949440" y="1591056"/>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facts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txBody>
          <a:bodyPr/>
          <a:p/>
        </p:txBody>
      </p:sp>
      <p:pic>
        <p:nvPicPr>
          <p:cNvPr id="29" name="Image 1" descr="/home/user/Claude-Works/ai-training-prompt-engineering/src/assets/images/emblem_fake_receipt.jpg">    </p:cNvPr>
          <p:cNvPicPr>
            <a:picLocks noChangeAspect="1"/>
          </p:cNvPicPr>
          <p:nvPr/>
        </p:nvPicPr>
        <p:blipFill>
          <a:blip r:embed="rId3"/>
          <a:srcRect l="0" r="0" t="0" b="0"/>
          <a:stretch/>
        </p:blipFill>
        <p:spPr>
          <a:xfrm>
            <a:off x="5952744" y="2734056"/>
            <a:ext cx="859536" cy="859536"/>
          </a:xfrm>
          <a:prstGeom prst="rect">
            <a:avLst/>
          </a:prstGeom>
        </p:spPr>
      </p:pic>
      <p:sp>
        <p:nvSpPr>
          <p:cNvPr id="30" name="Shape 26"/>
          <p:cNvSpPr/>
          <p:nvPr/>
        </p:nvSpPr>
        <p:spPr>
          <a:xfrm>
            <a:off x="5952744" y="2734056"/>
            <a:ext cx="859536" cy="859536"/>
          </a:xfrm>
          <a:prstGeom prst="roundRect">
            <a:avLst>
              <a:gd name="adj" fmla="val 5319"/>
            </a:avLst>
          </a:prstGeom>
          <a:ln w="9525">
            <a:solidFill>
              <a:srgbClr val="DCE3E6"/>
            </a:solidFill>
            <a:prstDash val="solid"/>
          </a:ln>
        </p:spPr>
        <p:txBody>
          <a:bodyPr/>
          <a:p/>
        </p:txBody>
      </p:sp>
      <p:sp>
        <p:nvSpPr>
          <p:cNvPr id="31" name="Text 27"/>
          <p:cNvSpPr/>
          <p:nvPr/>
        </p:nvSpPr>
        <p:spPr>
          <a:xfrm>
            <a:off x="6949440" y="2724912"/>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sources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txBody>
          <a:bodyPr/>
          <a:p/>
        </p:txBody>
      </p:sp>
      <p:pic>
        <p:nvPicPr>
          <p:cNvPr id="33" name="Image 2" descr="/home/user/Claude-Works/ai-training-prompt-engineering/src/assets/images/emblem_rubber_chicken.jpg">    </p:cNvPr>
          <p:cNvPicPr>
            <a:picLocks noChangeAspect="1"/>
          </p:cNvPicPr>
          <p:nvPr/>
        </p:nvPicPr>
        <p:blipFill>
          <a:blip r:embed="rId4"/>
          <a:srcRect l="0" r="0" t="0" b="0"/>
          <a:stretch/>
        </p:blipFill>
        <p:spPr>
          <a:xfrm>
            <a:off x="5952744" y="3867912"/>
            <a:ext cx="859536" cy="859536"/>
          </a:xfrm>
          <a:prstGeom prst="rect">
            <a:avLst/>
          </a:prstGeom>
        </p:spPr>
      </p:pic>
      <p:sp>
        <p:nvSpPr>
          <p:cNvPr id="34" name="Shape 29"/>
          <p:cNvSpPr/>
          <p:nvPr/>
        </p:nvSpPr>
        <p:spPr>
          <a:xfrm>
            <a:off x="5952744" y="3867912"/>
            <a:ext cx="859536" cy="859536"/>
          </a:xfrm>
          <a:prstGeom prst="roundRect">
            <a:avLst>
              <a:gd name="adj" fmla="val 5319"/>
            </a:avLst>
          </a:prstGeom>
          <a:ln w="9525">
            <a:solidFill>
              <a:srgbClr val="DCE3E6"/>
            </a:solidFill>
            <a:prstDash val="solid"/>
          </a:ln>
        </p:spPr>
        <p:txBody>
          <a:bodyPr/>
          <a:p/>
        </p:txBody>
      </p:sp>
      <p:sp>
        <p:nvSpPr>
          <p:cNvPr id="35" name="Text 30"/>
          <p:cNvSpPr/>
          <p:nvPr/>
        </p:nvSpPr>
        <p:spPr>
          <a:xfrm>
            <a:off x="6949440" y="3858768"/>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Wrong source, confident answer</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txBody>
          <a:bodyPr/>
          <a:p/>
        </p:txBody>
      </p:sp>
      <p:pic>
        <p:nvPicPr>
          <p:cNvPr id="37" name="Image 3" descr="/home/user/Claude-Works/ai-training-prompt-engineering/src/assets/images/emblem_gilded_frame.jpg">    </p:cNvPr>
          <p:cNvPicPr>
            <a:picLocks noChangeAspect="1"/>
          </p:cNvPicPr>
          <p:nvPr/>
        </p:nvPicPr>
        <p:blipFill>
          <a:blip r:embed="rId5"/>
          <a:srcRect l="0" r="0" t="0" b="0"/>
          <a:stretch/>
        </p:blipFill>
        <p:spPr>
          <a:xfrm>
            <a:off x="5952744" y="5001768"/>
            <a:ext cx="859536" cy="859536"/>
          </a:xfrm>
          <a:prstGeom prst="rect">
            <a:avLst/>
          </a:prstGeom>
        </p:spPr>
      </p:pic>
      <p:sp>
        <p:nvSpPr>
          <p:cNvPr id="38" name="Shape 32"/>
          <p:cNvSpPr/>
          <p:nvPr/>
        </p:nvSpPr>
        <p:spPr>
          <a:xfrm>
            <a:off x="5952744" y="5001768"/>
            <a:ext cx="859536" cy="859536"/>
          </a:xfrm>
          <a:prstGeom prst="roundRect">
            <a:avLst>
              <a:gd name="adj" fmla="val 5319"/>
            </a:avLst>
          </a:prstGeom>
          <a:ln w="9525">
            <a:solidFill>
              <a:srgbClr val="DCE3E6"/>
            </a:solidFill>
            <a:prstDash val="solid"/>
          </a:ln>
        </p:spPr>
        <p:txBody>
          <a:bodyPr/>
          <a:p/>
        </p:txBody>
      </p:sp>
      <p:sp>
        <p:nvSpPr>
          <p:cNvPr id="39" name="Text 33"/>
          <p:cNvSpPr/>
          <p:nvPr/>
        </p:nvSpPr>
        <p:spPr>
          <a:xfrm>
            <a:off x="6949440" y="4992624"/>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Runs with your false premise</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81328"/>
          </a:xfrm>
          <a:prstGeom prst="roundRect">
            <a:avLst>
              <a:gd name="adj" fmla="val 4938"/>
            </a:avLst>
          </a:prstGeom>
          <a:solidFill>
            <a:srgbClr val="F2F5F6"/>
          </a:solidFill>
          <a:ln/>
        </p:spPr>
        <p:txBody>
          <a:bodyPr/>
          <a:p/>
        </p:txBody>
      </p:sp>
      <p:sp>
        <p:nvSpPr>
          <p:cNvPr id="7" name="Shape 5"/>
          <p:cNvSpPr/>
          <p:nvPr/>
        </p:nvSpPr>
        <p:spPr>
          <a:xfrm>
            <a:off x="685800" y="1664208"/>
            <a:ext cx="402336" cy="402336"/>
          </a:xfrm>
          <a:prstGeom prst="ellipse">
            <a:avLst/>
          </a:prstGeom>
          <a:solidFill>
            <a:srgbClr val="B96A1B"/>
          </a:solidFill>
          <a:ln/>
        </p:spPr>
        <p:txBody>
          <a:bodyPr/>
          <a:p/>
        </p:txBody>
      </p:sp>
      <p:pic>
        <p:nvPicPr>
          <p:cNvPr id="8" name="Image 0" descr="/home/user/Claude-Works/ai-training-prompt-engineering/src/assets/icons/alert_w.png">    </p:cNvPr>
          <p:cNvPicPr>
            <a:picLocks noChangeAspect="1"/>
          </p:cNvPicPr>
          <p:nvPr/>
        </p:nvPicPr>
        <p:blipFill>
          <a:blip r:embed="rId2"/>
          <a:stretch>
            <a:fillRect/>
          </a:stretch>
        </p:blipFill>
        <p:spPr>
          <a:xfrm>
            <a:off x="790407" y="1768815"/>
            <a:ext cx="193121" cy="193121"/>
          </a:xfrm>
          <a:prstGeom prst="rect">
            <a:avLst/>
          </a:prstGeom>
        </p:spPr>
      </p:pic>
      <p:sp>
        <p:nvSpPr>
          <p:cNvPr id="9" name="Text 6"/>
          <p:cNvSpPr/>
          <p:nvPr/>
        </p:nvSpPr>
        <p:spPr>
          <a:xfrm>
            <a:off x="121615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Glue on pizza · May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satire as advice. Global mockery; scaled back within days.</a:t>
            </a:r>
            <a:endParaRPr lang="en-US" sz="1400" dirty="0"/>
          </a:p>
        </p:txBody>
      </p:sp>
      <p:sp>
        <p:nvSpPr>
          <p:cNvPr id="10" name="Shape 7"/>
          <p:cNvSpPr/>
          <p:nvPr/>
        </p:nvSpPr>
        <p:spPr>
          <a:xfrm>
            <a:off x="6172200" y="1481328"/>
            <a:ext cx="5440680" cy="1481328"/>
          </a:xfrm>
          <a:prstGeom prst="roundRect">
            <a:avLst>
              <a:gd name="adj" fmla="val 4938"/>
            </a:avLst>
          </a:prstGeom>
          <a:solidFill>
            <a:srgbClr val="F2F5F6"/>
          </a:solidFill>
          <a:ln/>
        </p:spPr>
        <p:txBody>
          <a:bodyPr/>
          <a:p/>
        </p:txBody>
      </p:sp>
      <p:sp>
        <p:nvSpPr>
          <p:cNvPr id="11" name="Shape 8"/>
          <p:cNvSpPr/>
          <p:nvPr/>
        </p:nvSpPr>
        <p:spPr>
          <a:xfrm>
            <a:off x="6355080" y="1664208"/>
            <a:ext cx="402336" cy="402336"/>
          </a:xfrm>
          <a:prstGeom prst="ellipse">
            <a:avLst/>
          </a:prstGeom>
          <a:solidFill>
            <a:srgbClr val="AF3230"/>
          </a:solidFill>
          <a:ln/>
        </p:spPr>
        <p:txBody>
          <a:bodyPr/>
          <a:p/>
        </p:txBody>
      </p:sp>
      <p:pic>
        <p:nvPicPr>
          <p:cNvPr id="12" name="Image 1" descr="/home/user/Claude-Works/ai-training-prompt-engineering/src/assets/icons/gavel_w.png">    </p:cNvPr>
          <p:cNvPicPr>
            <a:picLocks noChangeAspect="1"/>
          </p:cNvPicPr>
          <p:nvPr/>
        </p:nvPicPr>
        <p:blipFill>
          <a:blip r:embed="rId3"/>
          <a:stretch>
            <a:fillRect/>
          </a:stretch>
        </p:blipFill>
        <p:spPr>
          <a:xfrm>
            <a:off x="6459687" y="1768815"/>
            <a:ext cx="193121" cy="193121"/>
          </a:xfrm>
          <a:prstGeom prst="rect">
            <a:avLst/>
          </a:prstGeom>
        </p:spPr>
      </p:pic>
      <p:sp>
        <p:nvSpPr>
          <p:cNvPr id="13" name="Text 9"/>
          <p:cNvSpPr/>
          <p:nvPr/>
        </p:nvSpPr>
        <p:spPr>
          <a:xfrm>
            <a:off x="688543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ChatGPT lawyer · Jun 2023</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A New York lawyer filed six cases that didn’t exist — then asked ChatGPT if they were real. It said yes. $5,000 sanction, apology letters ordered (Mata v. Avianca).</a:t>
            </a:r>
            <a:endParaRPr lang="en-US" sz="1400" dirty="0"/>
          </a:p>
        </p:txBody>
      </p:sp>
      <p:sp>
        <p:nvSpPr>
          <p:cNvPr id="14" name="Shape 10"/>
          <p:cNvSpPr/>
          <p:nvPr/>
        </p:nvSpPr>
        <p:spPr>
          <a:xfrm>
            <a:off x="502920" y="3017520"/>
            <a:ext cx="5440680" cy="1481328"/>
          </a:xfrm>
          <a:prstGeom prst="roundRect">
            <a:avLst>
              <a:gd name="adj" fmla="val 4938"/>
            </a:avLst>
          </a:prstGeom>
          <a:solidFill>
            <a:srgbClr val="F2F5F6"/>
          </a:solidFill>
          <a:ln/>
        </p:spPr>
        <p:txBody>
          <a:bodyPr/>
          <a:p/>
        </p:txBody>
      </p:sp>
      <p:sp>
        <p:nvSpPr>
          <p:cNvPr id="15" name="Shape 11"/>
          <p:cNvSpPr/>
          <p:nvPr/>
        </p:nvSpPr>
        <p:spPr>
          <a:xfrm>
            <a:off x="685800" y="3200400"/>
            <a:ext cx="402336" cy="402336"/>
          </a:xfrm>
          <a:prstGeom prst="ellipse">
            <a:avLst/>
          </a:prstGeom>
          <a:solidFill>
            <a:srgbClr val="AF3230"/>
          </a:solidFill>
          <a:ln/>
        </p:spPr>
        <p:txBody>
          <a:bodyPr/>
          <a:p/>
        </p:txBody>
      </p:sp>
      <p:pic>
        <p:nvPicPr>
          <p:cNvPr id="16" name="Image 2" descr="/home/user/Claude-Works/ai-training-prompt-engineering/src/assets/icons/send_w.png">    </p:cNvPr>
          <p:cNvPicPr>
            <a:picLocks noChangeAspect="1"/>
          </p:cNvPicPr>
          <p:nvPr/>
        </p:nvPicPr>
        <p:blipFill>
          <a:blip r:embed="rId4"/>
          <a:stretch>
            <a:fillRect/>
          </a:stretch>
        </p:blipFill>
        <p:spPr>
          <a:xfrm>
            <a:off x="790407" y="3305007"/>
            <a:ext cx="193121" cy="193121"/>
          </a:xfrm>
          <a:prstGeom prst="rect">
            <a:avLst/>
          </a:prstGeom>
        </p:spPr>
      </p:pic>
      <p:sp>
        <p:nvSpPr>
          <p:cNvPr id="17" name="Text 12"/>
          <p:cNvSpPr/>
          <p:nvPr/>
        </p:nvSpPr>
        <p:spPr>
          <a:xfrm>
            <a:off x="121615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Air Canada’s chatbot · Feb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bot is a separate legal entity.” Your company owns what its chatbot says.</a:t>
            </a:r>
            <a:endParaRPr lang="en-US" sz="1400" dirty="0"/>
          </a:p>
        </p:txBody>
      </p:sp>
      <p:sp>
        <p:nvSpPr>
          <p:cNvPr id="18" name="Shape 13"/>
          <p:cNvSpPr/>
          <p:nvPr/>
        </p:nvSpPr>
        <p:spPr>
          <a:xfrm>
            <a:off x="6172200" y="3017520"/>
            <a:ext cx="5440680" cy="1481328"/>
          </a:xfrm>
          <a:prstGeom prst="roundRect">
            <a:avLst>
              <a:gd name="adj" fmla="val 4938"/>
            </a:avLst>
          </a:prstGeom>
          <a:solidFill>
            <a:srgbClr val="F2F5F6"/>
          </a:solidFill>
          <a:ln/>
        </p:spPr>
        <p:txBody>
          <a:bodyPr/>
          <a:p/>
        </p:txBody>
      </p:sp>
      <p:sp>
        <p:nvSpPr>
          <p:cNvPr id="19" name="Shape 14"/>
          <p:cNvSpPr/>
          <p:nvPr/>
        </p:nvSpPr>
        <p:spPr>
          <a:xfrm>
            <a:off x="6355080" y="3200400"/>
            <a:ext cx="402336" cy="402336"/>
          </a:xfrm>
          <a:prstGeom prst="ellipse">
            <a:avLst/>
          </a:prstGeom>
          <a:solidFill>
            <a:srgbClr val="AF3230"/>
          </a:solidFill>
          <a:ln/>
        </p:spPr>
        <p:txBody>
          <a:bodyPr/>
          <a:p/>
        </p:txBody>
      </p:sp>
      <p:pic>
        <p:nvPicPr>
          <p:cNvPr id="20" name="Image 3" descr="/home/user/Claude-Works/ai-training-prompt-engineering/src/assets/icons/chart_w.png">    </p:cNvPr>
          <p:cNvPicPr>
            <a:picLocks noChangeAspect="1"/>
          </p:cNvPicPr>
          <p:nvPr/>
        </p:nvPicPr>
        <p:blipFill>
          <a:blip r:embed="rId5"/>
          <a:stretch>
            <a:fillRect/>
          </a:stretch>
        </p:blipFill>
        <p:spPr>
          <a:xfrm>
            <a:off x="6459687" y="3305007"/>
            <a:ext cx="193121" cy="193121"/>
          </a:xfrm>
          <a:prstGeom prst="rect">
            <a:avLst/>
          </a:prstGeom>
        </p:spPr>
      </p:pic>
      <p:sp>
        <p:nvSpPr>
          <p:cNvPr id="21" name="Text 15"/>
          <p:cNvSpPr/>
          <p:nvPr/>
        </p:nvSpPr>
        <p:spPr>
          <a:xfrm>
            <a:off x="688543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Big Four arc · 2025–26</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Deloitte partially refunded a government report over invented citations; EY pulled one where 16 of 27 references failed; KPMG’s agentic-AI-excellence report: 5 of 45 citations checked out.</a:t>
            </a:r>
            <a:endParaRPr lang="en-US" sz="1400" dirty="0"/>
          </a:p>
        </p:txBody>
      </p:sp>
      <p:sp>
        <p:nvSpPr>
          <p:cNvPr id="22" name="Shape 16"/>
          <p:cNvSpPr/>
          <p:nvPr/>
        </p:nvSpPr>
        <p:spPr>
          <a:xfrm>
            <a:off x="502920" y="4608576"/>
            <a:ext cx="11155680" cy="548640"/>
          </a:xfrm>
          <a:prstGeom prst="roundRect">
            <a:avLst>
              <a:gd name="adj" fmla="val 13333"/>
            </a:avLst>
          </a:prstGeom>
          <a:solidFill>
            <a:srgbClr val="FBF0E0"/>
          </a:solidFill>
          <a:ln/>
        </p:spPr>
        <p:txBody>
          <a:bodyPr/>
          <a:p/>
        </p:txBody>
      </p:sp>
      <p:sp>
        <p:nvSpPr>
          <p:cNvPr id="23" name="Shape 17"/>
          <p:cNvSpPr/>
          <p:nvPr/>
        </p:nvSpPr>
        <p:spPr>
          <a:xfrm>
            <a:off x="667512" y="4690872"/>
            <a:ext cx="384048" cy="384048"/>
          </a:xfrm>
          <a:prstGeom prst="ellipse">
            <a:avLst/>
          </a:prstGeom>
          <a:solidFill>
            <a:srgbClr val="B96A1B"/>
          </a:solidFill>
          <a:ln/>
        </p:spPr>
        <p:txBody>
          <a:bodyPr/>
          <a:p/>
        </p:txBody>
      </p:sp>
      <p:pic>
        <p:nvPicPr>
          <p:cNvPr id="24" name="Image 4" descr="/home/user/Claude-Works/ai-training-prompt-engineering/src/assets/icons/scale_w.png">    </p:cNvPr>
          <p:cNvPicPr>
            <a:picLocks noChangeAspect="1"/>
          </p:cNvPicPr>
          <p:nvPr/>
        </p:nvPicPr>
        <p:blipFill>
          <a:blip r:embed="rId6"/>
          <a:stretch>
            <a:fillRect/>
          </a:stretch>
        </p:blipFill>
        <p:spPr>
          <a:xfrm>
            <a:off x="767364" y="4790724"/>
            <a:ext cx="184343" cy="184343"/>
          </a:xfrm>
          <a:prstGeom prst="rect">
            <a:avLst/>
          </a:prstGeom>
        </p:spPr>
      </p:pic>
      <p:sp>
        <p:nvSpPr>
          <p:cNvPr id="25" name="Text 18"/>
          <p:cNvSpPr/>
          <p:nvPr/>
        </p:nvSpPr>
        <p:spPr>
          <a:xfrm>
            <a:off x="1216152" y="4681728"/>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232A31"/>
                </a:solidFill>
                <a:latin typeface="Calibri" pitchFamily="34" charset="0"/>
                <a:ea typeface="Calibri" pitchFamily="34" charset="-122"/>
                <a:cs typeface="Calibri" pitchFamily="34" charset="-120"/>
              </a:rPr>
              <a:t>Not one-offs: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400" dirty="0"/>
          </a:p>
        </p:txBody>
      </p:sp>
      <p:sp>
        <p:nvSpPr>
          <p:cNvPr id="26" name="Shape 19"/>
          <p:cNvSpPr/>
          <p:nvPr/>
        </p:nvSpPr>
        <p:spPr>
          <a:xfrm>
            <a:off x="502920" y="5212080"/>
            <a:ext cx="11155680" cy="585216"/>
          </a:xfrm>
          <a:prstGeom prst="roundRect">
            <a:avLst>
              <a:gd name="adj" fmla="val 12500"/>
            </a:avLst>
          </a:prstGeom>
          <a:solidFill>
            <a:srgbClr val="E4F0EF"/>
          </a:solidFill>
          <a:ln/>
        </p:spPr>
        <p:txBody>
          <a:bodyPr/>
          <a:p/>
        </p:txBody>
      </p:sp>
      <p:sp>
        <p:nvSpPr>
          <p:cNvPr id="27" name="Shape 20"/>
          <p:cNvSpPr/>
          <p:nvPr/>
        </p:nvSpPr>
        <p:spPr>
          <a:xfrm>
            <a:off x="667512" y="5312664"/>
            <a:ext cx="384048" cy="384048"/>
          </a:xfrm>
          <a:prstGeom prst="ellipse">
            <a:avLst/>
          </a:prstGeom>
          <a:solidFill>
            <a:srgbClr val="0E7C7B"/>
          </a:solidFill>
          <a:ln/>
        </p:spPr>
        <p:txBody>
          <a:bodyPr/>
          <a:p/>
        </p:txBody>
      </p:sp>
      <p:pic>
        <p:nvPicPr>
          <p:cNvPr id="28" name="Image 5" descr="/home/user/Claude-Works/ai-training-prompt-engineering/src/assets/icons/check_w.png">    </p:cNvPr>
          <p:cNvPicPr>
            <a:picLocks noChangeAspect="1"/>
          </p:cNvPicPr>
          <p:nvPr/>
        </p:nvPicPr>
        <p:blipFill>
          <a:blip r:embed="rId7"/>
          <a:stretch>
            <a:fillRect/>
          </a:stretch>
        </p:blipFill>
        <p:spPr>
          <a:xfrm>
            <a:off x="767364" y="5412516"/>
            <a:ext cx="184343" cy="184343"/>
          </a:xfrm>
          <a:prstGeom prst="rect">
            <a:avLst/>
          </a:prstGeom>
        </p:spPr>
      </p:pic>
      <p:sp>
        <p:nvSpPr>
          <p:cNvPr id="29" name="Text 21"/>
          <p:cNvSpPr/>
          <p:nvPr/>
        </p:nvSpPr>
        <p:spPr>
          <a:xfrm>
            <a:off x="1216152" y="5285232"/>
            <a:ext cx="10213848" cy="438912"/>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The cure hasn’t changed: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200" dirty="0"/>
          </a:p>
        </p:txBody>
      </p:sp>
      <p:sp>
        <p:nvSpPr>
          <p:cNvPr id="30" name="Shape 22"/>
          <p:cNvSpPr/>
          <p:nvPr/>
        </p:nvSpPr>
        <p:spPr>
          <a:xfrm>
            <a:off x="502920" y="5852160"/>
            <a:ext cx="11155680" cy="548640"/>
          </a:xfrm>
          <a:prstGeom prst="roundRect">
            <a:avLst>
              <a:gd name="adj" fmla="val 13333"/>
            </a:avLst>
          </a:prstGeom>
          <a:solidFill>
            <a:srgbClr val="F9E9E8"/>
          </a:solidFill>
          <a:ln/>
        </p:spPr>
        <p:txBody>
          <a:bodyPr/>
          <a:p/>
        </p:txBody>
      </p:sp>
      <p:sp>
        <p:nvSpPr>
          <p:cNvPr id="31" name="Shape 23"/>
          <p:cNvSpPr/>
          <p:nvPr/>
        </p:nvSpPr>
        <p:spPr>
          <a:xfrm>
            <a:off x="667512" y="5934456"/>
            <a:ext cx="384048" cy="384048"/>
          </a:xfrm>
          <a:prstGeom prst="ellipse">
            <a:avLst/>
          </a:prstGeom>
          <a:solidFill>
            <a:srgbClr val="AF3230"/>
          </a:solidFill>
          <a:ln/>
        </p:spPr>
        <p:txBody>
          <a:bodyPr/>
          <a:p/>
        </p:txBody>
      </p:sp>
      <p:pic>
        <p:nvPicPr>
          <p:cNvPr id="32" name="Image 6" descr="/home/user/Claude-Works/ai-training-prompt-engineering/src/assets/icons/alert_w.png">    </p:cNvPr>
          <p:cNvPicPr>
            <a:picLocks noChangeAspect="1"/>
          </p:cNvPicPr>
          <p:nvPr/>
        </p:nvPicPr>
        <p:blipFill>
          <a:blip r:embed="rId2"/>
          <a:stretch>
            <a:fillRect/>
          </a:stretch>
        </p:blipFill>
        <p:spPr>
          <a:xfrm>
            <a:off x="767364" y="6034308"/>
            <a:ext cx="184343" cy="184343"/>
          </a:xfrm>
          <a:prstGeom prst="rect">
            <a:avLst/>
          </a:prstGeom>
        </p:spPr>
      </p:pic>
      <p:sp>
        <p:nvSpPr>
          <p:cNvPr id="33" name="Text 24"/>
          <p:cNvSpPr/>
          <p:nvPr/>
        </p:nvSpPr>
        <p:spPr>
          <a:xfrm>
            <a:off x="1216152" y="5925312"/>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AF3230"/>
                </a:solidFill>
                <a:latin typeface="Calibri" pitchFamily="34" charset="0"/>
                <a:ea typeface="Calibri" pitchFamily="34" charset="-122"/>
                <a:cs typeface="Calibri" pitchFamily="34" charset="-120"/>
              </a:rPr>
              <a:t>House rule: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400" dirty="0"/>
          </a:p>
        </p:txBody>
      </p:sp>
      <p:sp>
        <p:nvSpPr>
          <p:cNvPr id="34"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3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3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txBody>
          <a:bodyPr/>
          <a:p/>
        </p:txBody>
      </p:sp>
      <p:sp>
        <p:nvSpPr>
          <p:cNvPr id="7" name="Text 5"/>
          <p:cNvSpPr/>
          <p:nvPr/>
        </p:nvSpPr>
        <p:spPr>
          <a:xfrm>
            <a:off x="777240" y="1517904"/>
            <a:ext cx="2377440" cy="713232"/>
          </a:xfrm>
          <a:prstGeom prst="rect">
            <a:avLst/>
          </a:prstGeom>
          <a:noFill/>
          <a:ln/>
        </p:spPr>
        <p:txBody>
          <a:bodyPr wrap="square" lIns="0" tIns="0" rIns="0" bIns="0" rtlCol="0" anchor="ctr"/>
          <a:lstStyle/>
          <a:p>
            <a:pPr indent="0" marL="0">
              <a:buNone/>
            </a:pPr>
            <a:r>
              <a:rPr lang="en-US" sz="4600" b="1" dirty="0">
                <a:solidFill>
                  <a:srgbClr val="AF3230"/>
                </a:solidFill>
                <a:latin typeface="Cambria" pitchFamily="34" charset="0"/>
                <a:ea typeface="Cambria" pitchFamily="34" charset="-122"/>
                <a:cs typeface="Cambria" pitchFamily="34" charset="-120"/>
              </a:rPr>
              <a:t>+49%</a:t>
            </a:r>
            <a:endParaRPr lang="en-US" sz="4600" dirty="0"/>
          </a:p>
        </p:txBody>
      </p:sp>
      <p:sp>
        <p:nvSpPr>
          <p:cNvPr id="8" name="Text 6"/>
          <p:cNvSpPr/>
          <p:nvPr/>
        </p:nvSpPr>
        <p:spPr>
          <a:xfrm>
            <a:off x="777240" y="2286000"/>
            <a:ext cx="3566160" cy="201168"/>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how often it says you’re right — a person = 100</a:t>
            </a:r>
            <a:endParaRPr lang="en-US" sz="950" dirty="0"/>
          </a:p>
        </p:txBody>
      </p:sp>
      <p:sp>
        <p:nvSpPr>
          <p:cNvPr id="9" name="Text 7"/>
          <p:cNvSpPr/>
          <p:nvPr/>
        </p:nvSpPr>
        <p:spPr>
          <a:xfrm>
            <a:off x="777240" y="2523744"/>
            <a:ext cx="868680" cy="219456"/>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a person</a:t>
            </a:r>
            <a:endParaRPr lang="en-US" sz="950" dirty="0"/>
          </a:p>
        </p:txBody>
      </p:sp>
      <p:sp>
        <p:nvSpPr>
          <p:cNvPr id="10" name="Shape 8"/>
          <p:cNvSpPr/>
          <p:nvPr/>
        </p:nvSpPr>
        <p:spPr>
          <a:xfrm>
            <a:off x="1700784" y="2551176"/>
            <a:ext cx="1426464" cy="182880"/>
          </a:xfrm>
          <a:prstGeom prst="roundRect">
            <a:avLst>
              <a:gd name="adj" fmla="val 15000"/>
            </a:avLst>
          </a:prstGeom>
          <a:solidFill>
            <a:srgbClr val="46545F"/>
          </a:solidFill>
          <a:ln/>
        </p:spPr>
        <p:txBody>
          <a:bodyPr/>
          <a:p/>
        </p:txBody>
      </p:sp>
      <p:sp>
        <p:nvSpPr>
          <p:cNvPr id="11" name="Text 9"/>
          <p:cNvSpPr/>
          <p:nvPr/>
        </p:nvSpPr>
        <p:spPr>
          <a:xfrm>
            <a:off x="3172968" y="2523744"/>
            <a:ext cx="457200" cy="219456"/>
          </a:xfrm>
          <a:prstGeom prst="rect">
            <a:avLst/>
          </a:prstGeom>
          <a:noFill/>
          <a:ln/>
        </p:spPr>
        <p:txBody>
          <a:bodyPr wrap="square" lIns="0" tIns="0" rIns="0" bIns="0" rtlCol="0" anchor="ctr"/>
          <a:lstStyle/>
          <a:p>
            <a:pPr indent="0" marL="0">
              <a:buNone/>
            </a:pPr>
            <a:r>
              <a:rPr lang="en-US" sz="900" b="1" dirty="0">
                <a:solidFill>
                  <a:srgbClr val="46545F"/>
                </a:solidFill>
                <a:latin typeface="Calibri" pitchFamily="34" charset="0"/>
                <a:ea typeface="Calibri" pitchFamily="34" charset="-122"/>
                <a:cs typeface="Calibri" pitchFamily="34" charset="-120"/>
              </a:rPr>
              <a:t>100</a:t>
            </a:r>
            <a:endParaRPr lang="en-US" sz="900" dirty="0"/>
          </a:p>
        </p:txBody>
      </p:sp>
      <p:sp>
        <p:nvSpPr>
          <p:cNvPr id="12" name="Text 10"/>
          <p:cNvSpPr/>
          <p:nvPr/>
        </p:nvSpPr>
        <p:spPr>
          <a:xfrm>
            <a:off x="777240" y="2798064"/>
            <a:ext cx="868680" cy="219456"/>
          </a:xfrm>
          <a:prstGeom prst="rect">
            <a:avLst/>
          </a:prstGeom>
          <a:noFill/>
          <a:ln/>
        </p:spPr>
        <p:txBody>
          <a:bodyPr wrap="square" lIns="0" tIns="0" rIns="0" bIns="0" rtlCol="0" anchor="ctr"/>
          <a:lstStyle/>
          <a:p>
            <a:pPr indent="0" marL="0">
              <a:buNone/>
            </a:pPr>
            <a:r>
              <a:rPr lang="en-US" sz="950" b="1" dirty="0">
                <a:solidFill>
                  <a:srgbClr val="AF3230"/>
                </a:solidFill>
                <a:latin typeface="Calibri" pitchFamily="34" charset="0"/>
                <a:ea typeface="Calibri" pitchFamily="34" charset="-122"/>
                <a:cs typeface="Calibri" pitchFamily="34" charset="-120"/>
              </a:rPr>
              <a:t>the AI</a:t>
            </a:r>
            <a:endParaRPr lang="en-US" sz="950" dirty="0"/>
          </a:p>
        </p:txBody>
      </p:sp>
      <p:sp>
        <p:nvSpPr>
          <p:cNvPr id="13" name="Shape 11"/>
          <p:cNvSpPr/>
          <p:nvPr/>
        </p:nvSpPr>
        <p:spPr>
          <a:xfrm>
            <a:off x="1700784" y="2825496"/>
            <a:ext cx="2121408" cy="182880"/>
          </a:xfrm>
          <a:prstGeom prst="roundRect">
            <a:avLst>
              <a:gd name="adj" fmla="val 15000"/>
            </a:avLst>
          </a:prstGeom>
          <a:solidFill>
            <a:srgbClr val="AF3230"/>
          </a:solidFill>
          <a:ln/>
        </p:spPr>
        <p:txBody>
          <a:bodyPr/>
          <a:p/>
        </p:txBody>
      </p:sp>
      <p:sp>
        <p:nvSpPr>
          <p:cNvPr id="14" name="Text 12"/>
          <p:cNvSpPr/>
          <p:nvPr/>
        </p:nvSpPr>
        <p:spPr>
          <a:xfrm>
            <a:off x="3858768" y="2798064"/>
            <a:ext cx="457200" cy="219456"/>
          </a:xfrm>
          <a:prstGeom prst="rect">
            <a:avLst/>
          </a:prstGeom>
          <a:noFill/>
          <a:ln/>
        </p:spPr>
        <p:txBody>
          <a:bodyPr wrap="square" lIns="0" tIns="0" rIns="0" bIns="0" rtlCol="0" anchor="ctr"/>
          <a:lstStyle/>
          <a:p>
            <a:pPr indent="0" marL="0">
              <a:buNone/>
            </a:pPr>
            <a:r>
              <a:rPr lang="en-US" sz="900" b="1" dirty="0">
                <a:solidFill>
                  <a:srgbClr val="AF3230"/>
                </a:solidFill>
                <a:latin typeface="Calibri" pitchFamily="34" charset="0"/>
                <a:ea typeface="Calibri" pitchFamily="34" charset="-122"/>
                <a:cs typeface="Calibri" pitchFamily="34" charset="-120"/>
              </a:rPr>
              <a:t>149</a:t>
            </a:r>
            <a:endParaRPr lang="en-US" sz="900" dirty="0"/>
          </a:p>
        </p:txBody>
      </p:sp>
      <p:sp>
        <p:nvSpPr>
          <p:cNvPr id="15" name="Text 13"/>
          <p:cNvSpPr/>
          <p:nvPr/>
        </p:nvSpPr>
        <p:spPr>
          <a:xfrm>
            <a:off x="777240" y="3145536"/>
            <a:ext cx="3566160" cy="512064"/>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11 leading models (Stanford/CMU, Science 2026). Root cause: trained on human preferences — and we prefer agreement.</a:t>
            </a:r>
            <a:endParaRPr lang="en-US" sz="1000" dirty="0"/>
          </a:p>
        </p:txBody>
      </p:sp>
      <p:sp>
        <p:nvSpPr>
          <p:cNvPr id="16" name="Shape 14"/>
          <p:cNvSpPr/>
          <p:nvPr/>
        </p:nvSpPr>
        <p:spPr>
          <a:xfrm>
            <a:off x="4800600" y="1444752"/>
            <a:ext cx="6858000" cy="2286000"/>
          </a:xfrm>
          <a:prstGeom prst="roundRect">
            <a:avLst>
              <a:gd name="adj" fmla="val 3200"/>
            </a:avLst>
          </a:prstGeom>
          <a:solidFill>
            <a:srgbClr val="F2F5F6"/>
          </a:solidFill>
          <a:ln/>
        </p:spPr>
        <p:txBody>
          <a:bodyPr/>
          <a:p/>
        </p:txBody>
      </p:sp>
      <p:sp>
        <p:nvSpPr>
          <p:cNvPr id="17" name="Text 15"/>
          <p:cNvSpPr/>
          <p:nvPr/>
        </p:nvSpPr>
        <p:spPr>
          <a:xfrm>
            <a:off x="5047488" y="1554480"/>
            <a:ext cx="6309360" cy="292608"/>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8" name="Shape 16"/>
          <p:cNvSpPr/>
          <p:nvPr/>
        </p:nvSpPr>
        <p:spPr>
          <a:xfrm>
            <a:off x="5047488" y="1956816"/>
            <a:ext cx="777240" cy="274320"/>
          </a:xfrm>
          <a:prstGeom prst="roundRect">
            <a:avLst>
              <a:gd name="adj" fmla="val 16667"/>
            </a:avLst>
          </a:prstGeom>
          <a:solidFill>
            <a:srgbClr val="0E7C7B"/>
          </a:solidFill>
          <a:ln/>
        </p:spPr>
        <p:txBody>
          <a:bodyPr/>
          <a:p/>
        </p:txBody>
      </p:sp>
      <p:sp>
        <p:nvSpPr>
          <p:cNvPr id="19" name="Text 17"/>
          <p:cNvSpPr/>
          <p:nvPr/>
        </p:nvSpPr>
        <p:spPr>
          <a:xfrm>
            <a:off x="5047488" y="1965960"/>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APR 2025</a:t>
            </a:r>
            <a:endParaRPr lang="en-US" sz="900" dirty="0"/>
          </a:p>
        </p:txBody>
      </p:sp>
      <p:sp>
        <p:nvSpPr>
          <p:cNvPr id="20" name="Text 18"/>
          <p:cNvSpPr/>
          <p:nvPr/>
        </p:nvSpPr>
        <p:spPr>
          <a:xfrm>
            <a:off x="5943600" y="1920240"/>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OpenAI rolls back a ChatGPT update — its own words: “overly flattering or agreeable… sycophantic.” Its metrics had rewarded the mirror.</a:t>
            </a:r>
            <a:endParaRPr lang="en-US" sz="1000" dirty="0"/>
          </a:p>
        </p:txBody>
      </p:sp>
      <p:sp>
        <p:nvSpPr>
          <p:cNvPr id="21" name="Shape 19"/>
          <p:cNvSpPr/>
          <p:nvPr/>
        </p:nvSpPr>
        <p:spPr>
          <a:xfrm>
            <a:off x="5047488" y="2395728"/>
            <a:ext cx="777240" cy="274320"/>
          </a:xfrm>
          <a:prstGeom prst="roundRect">
            <a:avLst>
              <a:gd name="adj" fmla="val 16667"/>
            </a:avLst>
          </a:prstGeom>
          <a:solidFill>
            <a:srgbClr val="0E7C7B"/>
          </a:solidFill>
          <a:ln/>
        </p:spPr>
        <p:txBody>
          <a:bodyPr/>
          <a:p/>
        </p:txBody>
      </p:sp>
      <p:sp>
        <p:nvSpPr>
          <p:cNvPr id="22" name="Text 20"/>
          <p:cNvSpPr/>
          <p:nvPr/>
        </p:nvSpPr>
        <p:spPr>
          <a:xfrm>
            <a:off x="5047488" y="2404872"/>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JUN 2025</a:t>
            </a:r>
            <a:endParaRPr lang="en-US" sz="900" dirty="0"/>
          </a:p>
        </p:txBody>
      </p:sp>
      <p:sp>
        <p:nvSpPr>
          <p:cNvPr id="23" name="Text 21"/>
          <p:cNvSpPr/>
          <p:nvPr/>
        </p:nvSpPr>
        <p:spPr>
          <a:xfrm>
            <a:off x="5943600" y="2359152"/>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New York Times: chatbots validating false beliefs send some users “spiraling” — agreement as a safety problem.</a:t>
            </a:r>
            <a:endParaRPr lang="en-US" sz="1000" dirty="0"/>
          </a:p>
        </p:txBody>
      </p:sp>
      <p:sp>
        <p:nvSpPr>
          <p:cNvPr id="24" name="Shape 22"/>
          <p:cNvSpPr/>
          <p:nvPr/>
        </p:nvSpPr>
        <p:spPr>
          <a:xfrm>
            <a:off x="5047488" y="2834640"/>
            <a:ext cx="777240" cy="274320"/>
          </a:xfrm>
          <a:prstGeom prst="roundRect">
            <a:avLst>
              <a:gd name="adj" fmla="val 16667"/>
            </a:avLst>
          </a:prstGeom>
          <a:solidFill>
            <a:srgbClr val="0E7C7B"/>
          </a:solidFill>
          <a:ln/>
        </p:spPr>
        <p:txBody>
          <a:bodyPr/>
          <a:p/>
        </p:txBody>
      </p:sp>
      <p:sp>
        <p:nvSpPr>
          <p:cNvPr id="25" name="Text 23"/>
          <p:cNvSpPr/>
          <p:nvPr/>
        </p:nvSpPr>
        <p:spPr>
          <a:xfrm>
            <a:off x="5047488" y="2843784"/>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AUG 2025</a:t>
            </a:r>
            <a:endParaRPr lang="en-US" sz="900" dirty="0"/>
          </a:p>
        </p:txBody>
      </p:sp>
      <p:sp>
        <p:nvSpPr>
          <p:cNvPr id="26" name="Text 24"/>
          <p:cNvSpPr/>
          <p:nvPr/>
        </p:nvSpPr>
        <p:spPr>
          <a:xfrm>
            <a:off x="5943600" y="2798064"/>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Microsoft’s AI chief warns of unhealthy AI validation — “not confined to people already at risk.”</a:t>
            </a:r>
            <a:endParaRPr lang="en-US" sz="1000" dirty="0"/>
          </a:p>
        </p:txBody>
      </p:sp>
      <p:sp>
        <p:nvSpPr>
          <p:cNvPr id="27" name="Shape 25"/>
          <p:cNvSpPr/>
          <p:nvPr/>
        </p:nvSpPr>
        <p:spPr>
          <a:xfrm>
            <a:off x="5047488" y="3273552"/>
            <a:ext cx="777240" cy="274320"/>
          </a:xfrm>
          <a:prstGeom prst="roundRect">
            <a:avLst>
              <a:gd name="adj" fmla="val 16667"/>
            </a:avLst>
          </a:prstGeom>
          <a:solidFill>
            <a:srgbClr val="0E7C7B"/>
          </a:solidFill>
          <a:ln/>
        </p:spPr>
        <p:txBody>
          <a:bodyPr/>
          <a:p/>
        </p:txBody>
      </p:sp>
      <p:sp>
        <p:nvSpPr>
          <p:cNvPr id="28" name="Text 26"/>
          <p:cNvSpPr/>
          <p:nvPr/>
        </p:nvSpPr>
        <p:spPr>
          <a:xfrm>
            <a:off x="5047488" y="3282696"/>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29" name="Text 27"/>
          <p:cNvSpPr/>
          <p:nvPr/>
        </p:nvSpPr>
        <p:spPr>
          <a:xfrm>
            <a:off x="5943600" y="3236976"/>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1000" dirty="0"/>
          </a:p>
        </p:txBody>
      </p:sp>
      <p:sp>
        <p:nvSpPr>
          <p:cNvPr id="30" name="Shape 28"/>
          <p:cNvSpPr/>
          <p:nvPr/>
        </p:nvSpPr>
        <p:spPr>
          <a:xfrm>
            <a:off x="502920" y="3913632"/>
            <a:ext cx="6400800" cy="1188720"/>
          </a:xfrm>
          <a:prstGeom prst="roundRect">
            <a:avLst>
              <a:gd name="adj" fmla="val 6154"/>
            </a:avLst>
          </a:prstGeom>
          <a:solidFill>
            <a:srgbClr val="E4F0EF"/>
          </a:solidFill>
          <a:ln/>
        </p:spPr>
        <p:txBody>
          <a:bodyPr/>
          <a:p/>
        </p:txBody>
      </p:sp>
      <p:sp>
        <p:nvSpPr>
          <p:cNvPr id="31" name="Shape 29"/>
          <p:cNvSpPr/>
          <p:nvPr/>
        </p:nvSpPr>
        <p:spPr>
          <a:xfrm>
            <a:off x="667512" y="4315968"/>
            <a:ext cx="384048" cy="384048"/>
          </a:xfrm>
          <a:prstGeom prst="ellipse">
            <a:avLst/>
          </a:prstGeom>
          <a:solidFill>
            <a:srgbClr val="0E7C7B"/>
          </a:solidFill>
          <a:ln/>
        </p:spPr>
        <p:txBody>
          <a:bodyPr/>
          <a:p/>
        </p:txBody>
      </p:sp>
      <p:pic>
        <p:nvPicPr>
          <p:cNvPr id="32" name="Image 0" descr="/home/user/Claude-Works/ai-training-prompt-engineering/src/assets/icons/shield_w.png">    </p:cNvPr>
          <p:cNvPicPr>
            <a:picLocks noChangeAspect="1"/>
          </p:cNvPicPr>
          <p:nvPr/>
        </p:nvPicPr>
        <p:blipFill>
          <a:blip r:embed="rId2"/>
          <a:stretch>
            <a:fillRect/>
          </a:stretch>
        </p:blipFill>
        <p:spPr>
          <a:xfrm>
            <a:off x="767364" y="4415820"/>
            <a:ext cx="184343" cy="184343"/>
          </a:xfrm>
          <a:prstGeom prst="rect">
            <a:avLst/>
          </a:prstGeom>
        </p:spPr>
      </p:pic>
      <p:sp>
        <p:nvSpPr>
          <p:cNvPr id="33" name="Text 30"/>
          <p:cNvSpPr/>
          <p:nvPr/>
        </p:nvSpPr>
        <p:spPr>
          <a:xfrm>
            <a:off x="1216152" y="3986784"/>
            <a:ext cx="5458968" cy="104241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countermeasures — usable today: </a:t>
            </a:r>
            <a:endParaRPr lang="en-US" sz="110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100" dirty="0"/>
          </a:p>
        </p:txBody>
      </p:sp>
      <p:sp>
        <p:nvSpPr>
          <p:cNvPr id="34" name="Shape 31"/>
          <p:cNvSpPr/>
          <p:nvPr/>
        </p:nvSpPr>
        <p:spPr>
          <a:xfrm>
            <a:off x="502920" y="5212080"/>
            <a:ext cx="6400800" cy="1261872"/>
          </a:xfrm>
          <a:prstGeom prst="roundRect">
            <a:avLst>
              <a:gd name="adj" fmla="val 5797"/>
            </a:avLst>
          </a:prstGeom>
          <a:solidFill>
            <a:srgbClr val="FFFFFF"/>
          </a:solidFill>
          <a:ln w="9525">
            <a:solidFill>
              <a:srgbClr val="DCE3E6"/>
            </a:solidFill>
            <a:prstDash val="solid"/>
          </a:ln>
        </p:spPr>
        <p:txBody>
          <a:bodyPr/>
          <a:p/>
        </p:txBody>
      </p:sp>
      <p:sp>
        <p:nvSpPr>
          <p:cNvPr id="35" name="Text 32"/>
          <p:cNvSpPr/>
          <p:nvPr/>
        </p:nvSpPr>
        <p:spPr>
          <a:xfrm>
            <a:off x="777240" y="5303520"/>
            <a:ext cx="5852160" cy="219456"/>
          </a:xfrm>
          <a:prstGeom prst="rect">
            <a:avLst/>
          </a:prstGeom>
          <a:noFill/>
          <a:ln/>
        </p:spPr>
        <p:txBody>
          <a:bodyPr wrap="square" lIns="0" tIns="0" rIns="0" bIns="0" rtlCol="0" anchor="ctr"/>
          <a:lstStyle/>
          <a:p>
            <a:pPr indent="0" marL="0">
              <a:buNone/>
            </a:pPr>
            <a:r>
              <a:rPr lang="en-US" sz="1000" b="1" spc="50" kern="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6" name="Text 33"/>
          <p:cNvSpPr/>
          <p:nvPr/>
        </p:nvSpPr>
        <p:spPr>
          <a:xfrm>
            <a:off x="777240" y="5541264"/>
            <a:ext cx="5852160" cy="566928"/>
          </a:xfrm>
          <a:prstGeom prst="rect">
            <a:avLst/>
          </a:prstGeom>
          <a:noFill/>
          <a:ln/>
        </p:spPr>
        <p:txBody>
          <a:bodyPr wrap="square" lIns="0" tIns="0" rIns="0" bIns="0" rtlCol="0" anchor="ctr"/>
          <a:lstStyle/>
          <a:p>
            <a:pPr indent="0" marL="0">
              <a:lnSpc>
                <a:spcPct val="105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three biggest weaknesses.”</a:t>
            </a:r>
            <a:endParaRPr lang="en-US" sz="950" dirty="0"/>
          </a:p>
        </p:txBody>
      </p:sp>
      <p:sp>
        <p:nvSpPr>
          <p:cNvPr id="37" name="Text 34"/>
          <p:cNvSpPr/>
          <p:nvPr/>
        </p:nvSpPr>
        <p:spPr>
          <a:xfrm>
            <a:off x="777240" y="6126480"/>
            <a:ext cx="5852160" cy="292608"/>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Did the score move — and the criticism soften — once it knew you were the author?</a:t>
            </a:r>
            <a:endParaRPr lang="en-US" sz="1000" dirty="0"/>
          </a:p>
        </p:txBody>
      </p:sp>
      <p:pic>
        <p:nvPicPr>
          <p:cNvPr id="38" name="Image 1" descr="/home/user/Claude-Works/ai-training-prompt-engineering/src/assets/images/mirror_reflection.jpg">    </p:cNvPr>
          <p:cNvPicPr>
            <a:picLocks noChangeAspect="1"/>
          </p:cNvPicPr>
          <p:nvPr/>
        </p:nvPicPr>
        <p:blipFill>
          <a:blip r:embed="rId3"/>
          <a:srcRect l="0" r="0" t="0" b="0"/>
          <a:stretch/>
        </p:blipFill>
        <p:spPr>
          <a:xfrm>
            <a:off x="7086600" y="3913632"/>
            <a:ext cx="4572000" cy="2560320"/>
          </a:xfrm>
          <a:prstGeom prst="rect">
            <a:avLst/>
          </a:prstGeom>
        </p:spPr>
      </p:pic>
      <p:sp>
        <p:nvSpPr>
          <p:cNvPr id="39" name="Shape 35"/>
          <p:cNvSpPr/>
          <p:nvPr/>
        </p:nvSpPr>
        <p:spPr>
          <a:xfrm>
            <a:off x="7086600" y="3913632"/>
            <a:ext cx="4572000" cy="2560320"/>
          </a:xfrm>
          <a:prstGeom prst="roundRect">
            <a:avLst>
              <a:gd name="adj" fmla="val 2143"/>
            </a:avLst>
          </a:prstGeom>
          <a:ln w="12700">
            <a:solidFill>
              <a:srgbClr val="DCE3E6"/>
            </a:solidFill>
            <a:prstDash val="solid"/>
          </a:ln>
        </p:spPr>
        <p:txBody>
          <a:bodyPr/>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16</a:t>
            </a:r>
          </a:p>
        </p:txBody>
      </p:sp>
    </p:spTree>
  </p:cSld>
  <p:clrMapOvr>
    <a:masterClrMapping/>
  </p:clrMapOvr>
</p:sld>
</file>

<file path=ppt/slides/slide1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17</a:t>
            </a:r>
          </a:p>
        </p:txBody>
      </p:sp>
    </p:spTree>
    <p:extLst>
      <p:ext uri="{BB962C8B-B14F-4D97-AF65-F5344CB8AC3E}">
        <p14:creationId xmlns:p14="http://schemas.microsoft.com/office/powerpoint/2010/main" val="2036900320"/>
      </p:ext>
    </p:extLst>
  </p:cSld>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SIX ASSISTANTS, SIX DIFFERENT JOBS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by task, not habit — September 2026</a:t>
            </a:r>
            <a:endParaRPr lang="en-US" sz="3000" dirty="0"/>
          </a:p>
        </p:txBody>
      </p:sp>
      <p:sp>
        <p:nvSpPr>
          <p:cNvPr id="6" name="Shape 4"/>
          <p:cNvSpPr/>
          <p:nvPr/>
        </p:nvSpPr>
        <p:spPr>
          <a:xfrm>
            <a:off x="502920" y="1444752"/>
            <a:ext cx="3611880" cy="2212848"/>
          </a:xfrm>
          <a:prstGeom prst="roundRect">
            <a:avLst>
              <a:gd name="adj" fmla="val 3306"/>
            </a:avLst>
          </a:prstGeom>
          <a:solidFill>
            <a:srgbClr val="F2F5F6"/>
          </a:solidFill>
          <a:ln/>
        </p:spPr>
        <p:txBody>
          <a:bodyPr/>
          <a:p/>
        </p:txBody>
      </p:sp>
      <p:sp>
        <p:nvSpPr>
          <p:cNvPr id="7" name="Shape 5"/>
          <p:cNvSpPr/>
          <p:nvPr/>
        </p:nvSpPr>
        <p:spPr>
          <a:xfrm>
            <a:off x="502920"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8" name="Shape 6"/>
          <p:cNvSpPr/>
          <p:nvPr/>
        </p:nvSpPr>
        <p:spPr>
          <a:xfrm>
            <a:off x="630936"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9" name="Image 0" descr="/home/user/Claude-Works/ai-training-prompt-engineering/src/assets/logos/openai.png">    </p:cNvPr>
          <p:cNvPicPr>
            <a:picLocks noChangeAspect="1"/>
          </p:cNvPicPr>
          <p:nvPr/>
        </p:nvPicPr>
        <p:blipFill>
          <a:blip r:embed="rId2"/>
          <a:stretch>
            <a:fillRect/>
          </a:stretch>
        </p:blipFill>
        <p:spPr>
          <a:xfrm>
            <a:off x="682142" y="1596542"/>
            <a:ext cx="263347" cy="263347"/>
          </a:xfrm>
          <a:prstGeom prst="rect">
            <a:avLst/>
          </a:prstGeom>
        </p:spPr>
      </p:pic>
      <p:sp>
        <p:nvSpPr>
          <p:cNvPr id="10" name="Text 7"/>
          <p:cNvSpPr/>
          <p:nvPr/>
        </p:nvSpPr>
        <p:spPr>
          <a:xfrm>
            <a:off x="1088136"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ChatGPT</a:t>
            </a:r>
            <a:endParaRPr lang="en-US" sz="1500" dirty="0"/>
          </a:p>
        </p:txBody>
      </p:sp>
      <p:sp>
        <p:nvSpPr>
          <p:cNvPr id="11" name="Text 8"/>
          <p:cNvSpPr/>
          <p:nvPr/>
        </p:nvSpPr>
        <p:spPr>
          <a:xfrm>
            <a:off x="1088136"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OpenAI · GPT-5.6 (Sol / Terra / Luna)</a:t>
            </a:r>
            <a:endParaRPr lang="en-US" sz="900" dirty="0"/>
          </a:p>
        </p:txBody>
      </p:sp>
      <p:sp>
        <p:nvSpPr>
          <p:cNvPr id="12" name="Text 9"/>
          <p:cNvSpPr/>
          <p:nvPr/>
        </p:nvSpPr>
        <p:spPr>
          <a:xfrm>
            <a:off x="685800"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everything assistant</a:t>
            </a:r>
            <a:endParaRPr lang="en-US" sz="1350" dirty="0"/>
          </a:p>
        </p:txBody>
      </p:sp>
      <p:sp>
        <p:nvSpPr>
          <p:cNvPr id="13" name="Text 10"/>
          <p:cNvSpPr/>
          <p:nvPr/>
        </p:nvSpPr>
        <p:spPr>
          <a:xfrm>
            <a:off x="685800"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Largest user base; fastest at drafts, options and marketing copy; images, voice, agent mode.</a:t>
            </a:r>
            <a:endParaRPr lang="en-US" sz="1100" dirty="0"/>
          </a:p>
        </p:txBody>
      </p:sp>
      <p:sp>
        <p:nvSpPr>
          <p:cNvPr id="14" name="Text 11"/>
          <p:cNvSpPr/>
          <p:nvPr/>
        </p:nvSpPr>
        <p:spPr>
          <a:xfrm>
            <a:off x="685800"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Fast model churn and renaming; check data settings before regulated content.</a:t>
            </a:r>
            <a:endParaRPr lang="en-US" sz="1050" dirty="0"/>
          </a:p>
        </p:txBody>
      </p:sp>
      <p:sp>
        <p:nvSpPr>
          <p:cNvPr id="15" name="Shape 12"/>
          <p:cNvSpPr/>
          <p:nvPr/>
        </p:nvSpPr>
        <p:spPr>
          <a:xfrm>
            <a:off x="4325112" y="1444752"/>
            <a:ext cx="3611880" cy="2212848"/>
          </a:xfrm>
          <a:prstGeom prst="roundRect">
            <a:avLst>
              <a:gd name="adj" fmla="val 3306"/>
            </a:avLst>
          </a:prstGeom>
          <a:solidFill>
            <a:srgbClr val="F2F5F6"/>
          </a:solidFill>
          <a:ln/>
        </p:spPr>
        <p:txBody>
          <a:bodyPr/>
          <a:p/>
        </p:txBody>
      </p:sp>
      <p:sp>
        <p:nvSpPr>
          <p:cNvPr id="16" name="Shape 13"/>
          <p:cNvSpPr/>
          <p:nvPr/>
        </p:nvSpPr>
        <p:spPr>
          <a:xfrm>
            <a:off x="4325112"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17" name="Shape 14"/>
          <p:cNvSpPr/>
          <p:nvPr/>
        </p:nvSpPr>
        <p:spPr>
          <a:xfrm>
            <a:off x="4453128"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18" name="Image 1" descr="/home/user/Claude-Works/ai-training-prompt-engineering/src/assets/logos/gemini.png">    </p:cNvPr>
          <p:cNvPicPr>
            <a:picLocks noChangeAspect="1"/>
          </p:cNvPicPr>
          <p:nvPr/>
        </p:nvPicPr>
        <p:blipFill>
          <a:blip r:embed="rId3"/>
          <a:stretch>
            <a:fillRect/>
          </a:stretch>
        </p:blipFill>
        <p:spPr>
          <a:xfrm>
            <a:off x="4504334" y="1596542"/>
            <a:ext cx="263347" cy="263347"/>
          </a:xfrm>
          <a:prstGeom prst="rect">
            <a:avLst/>
          </a:prstGeom>
        </p:spPr>
      </p:pic>
      <p:sp>
        <p:nvSpPr>
          <p:cNvPr id="19" name="Text 15"/>
          <p:cNvSpPr/>
          <p:nvPr/>
        </p:nvSpPr>
        <p:spPr>
          <a:xfrm>
            <a:off x="4910328"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Gemini</a:t>
            </a:r>
            <a:endParaRPr lang="en-US" sz="1500" dirty="0"/>
          </a:p>
        </p:txBody>
      </p:sp>
      <p:sp>
        <p:nvSpPr>
          <p:cNvPr id="20" name="Text 16"/>
          <p:cNvSpPr/>
          <p:nvPr/>
        </p:nvSpPr>
        <p:spPr>
          <a:xfrm>
            <a:off x="4910328"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Google · Gemini 3 / 3.1 Pro / 3.6 Flash</a:t>
            </a:r>
            <a:endParaRPr lang="en-US" sz="900" dirty="0"/>
          </a:p>
        </p:txBody>
      </p:sp>
      <p:sp>
        <p:nvSpPr>
          <p:cNvPr id="21" name="Text 17"/>
          <p:cNvSpPr/>
          <p:nvPr/>
        </p:nvSpPr>
        <p:spPr>
          <a:xfrm>
            <a:off x="4507992"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Everywhere Google is</a:t>
            </a:r>
            <a:endParaRPr lang="en-US" sz="1350" dirty="0"/>
          </a:p>
        </p:txBody>
      </p:sp>
      <p:sp>
        <p:nvSpPr>
          <p:cNvPr id="22" name="Text 18"/>
          <p:cNvSpPr/>
          <p:nvPr/>
        </p:nvSpPr>
        <p:spPr>
          <a:xfrm>
            <a:off x="4507992"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Multimodal breadth + the deepest Workspace integration — 1B+ monthly users; default AI in Gmail, Docs, Meet.</a:t>
            </a:r>
            <a:endParaRPr lang="en-US" sz="1100" dirty="0"/>
          </a:p>
        </p:txBody>
      </p:sp>
      <p:sp>
        <p:nvSpPr>
          <p:cNvPr id="23" name="Text 19"/>
          <p:cNvSpPr/>
          <p:nvPr/>
        </p:nvSpPr>
        <p:spPr>
          <a:xfrm>
            <a:off x="4507992"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Model-name sprawl; the best reasoning (Deep Think) sits behind the Ultra tier.</a:t>
            </a:r>
            <a:endParaRPr lang="en-US" sz="1050" dirty="0"/>
          </a:p>
        </p:txBody>
      </p:sp>
      <p:sp>
        <p:nvSpPr>
          <p:cNvPr id="24" name="Shape 20"/>
          <p:cNvSpPr/>
          <p:nvPr/>
        </p:nvSpPr>
        <p:spPr>
          <a:xfrm>
            <a:off x="8147304" y="1444752"/>
            <a:ext cx="3611880" cy="2212848"/>
          </a:xfrm>
          <a:prstGeom prst="roundRect">
            <a:avLst>
              <a:gd name="adj" fmla="val 3306"/>
            </a:avLst>
          </a:prstGeom>
          <a:solidFill>
            <a:srgbClr val="F2F5F6"/>
          </a:solidFill>
          <a:ln/>
        </p:spPr>
        <p:txBody>
          <a:bodyPr/>
          <a:p/>
        </p:txBody>
      </p:sp>
      <p:sp>
        <p:nvSpPr>
          <p:cNvPr id="25" name="Shape 21"/>
          <p:cNvSpPr/>
          <p:nvPr/>
        </p:nvSpPr>
        <p:spPr>
          <a:xfrm>
            <a:off x="8147304"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26" name="Shape 22"/>
          <p:cNvSpPr/>
          <p:nvPr/>
        </p:nvSpPr>
        <p:spPr>
          <a:xfrm>
            <a:off x="8275320"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27" name="Image 2" descr="/home/user/Claude-Works/ai-training-prompt-engineering/src/assets/logos/copilot.png">    </p:cNvPr>
          <p:cNvPicPr>
            <a:picLocks noChangeAspect="1"/>
          </p:cNvPicPr>
          <p:nvPr/>
        </p:nvPicPr>
        <p:blipFill>
          <a:blip r:embed="rId4"/>
          <a:stretch>
            <a:fillRect/>
          </a:stretch>
        </p:blipFill>
        <p:spPr>
          <a:xfrm>
            <a:off x="8326526" y="1596542"/>
            <a:ext cx="263347" cy="263347"/>
          </a:xfrm>
          <a:prstGeom prst="rect">
            <a:avLst/>
          </a:prstGeom>
        </p:spPr>
      </p:pic>
      <p:sp>
        <p:nvSpPr>
          <p:cNvPr id="28" name="Text 23"/>
          <p:cNvSpPr/>
          <p:nvPr/>
        </p:nvSpPr>
        <p:spPr>
          <a:xfrm>
            <a:off x="8732520"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Copilot</a:t>
            </a:r>
            <a:endParaRPr lang="en-US" sz="1500" dirty="0"/>
          </a:p>
        </p:txBody>
      </p:sp>
      <p:sp>
        <p:nvSpPr>
          <p:cNvPr id="29" name="Text 24"/>
          <p:cNvSpPr/>
          <p:nvPr/>
        </p:nvSpPr>
        <p:spPr>
          <a:xfrm>
            <a:off x="8732520"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Microsoft · GPT-5.6 + Claude selectable</a:t>
            </a:r>
            <a:endParaRPr lang="en-US" sz="900" dirty="0"/>
          </a:p>
        </p:txBody>
      </p:sp>
      <p:sp>
        <p:nvSpPr>
          <p:cNvPr id="30" name="Text 25"/>
          <p:cNvSpPr/>
          <p:nvPr/>
        </p:nvSpPr>
        <p:spPr>
          <a:xfrm>
            <a:off x="8330184"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governed one — inside your tenant</a:t>
            </a:r>
            <a:endParaRPr lang="en-US" sz="1350" dirty="0"/>
          </a:p>
        </p:txBody>
      </p:sp>
      <p:sp>
        <p:nvSpPr>
          <p:cNvPr id="31" name="Text 26"/>
          <p:cNvSpPr/>
          <p:nvPr/>
        </p:nvSpPr>
        <p:spPr>
          <a:xfrm>
            <a:off x="8330184"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30M+ paid seats inside the M365 compliance boundary IT already audits; its Cowork agent runs on Claude technology.</a:t>
            </a:r>
            <a:endParaRPr lang="en-US" sz="1100" dirty="0"/>
          </a:p>
        </p:txBody>
      </p:sp>
      <p:sp>
        <p:nvSpPr>
          <p:cNvPr id="32" name="Text 27"/>
          <p:cNvSpPr/>
          <p:nvPr/>
        </p:nvSpPr>
        <p:spPr>
          <a:xfrm>
            <a:off x="8330184"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Licenses others’ models; admin flags mean colleagues get different capabilities.</a:t>
            </a:r>
            <a:endParaRPr lang="en-US" sz="1050" dirty="0"/>
          </a:p>
        </p:txBody>
      </p:sp>
      <p:sp>
        <p:nvSpPr>
          <p:cNvPr id="33" name="Shape 28"/>
          <p:cNvSpPr/>
          <p:nvPr/>
        </p:nvSpPr>
        <p:spPr>
          <a:xfrm>
            <a:off x="502920" y="3785616"/>
            <a:ext cx="3611880" cy="2212848"/>
          </a:xfrm>
          <a:prstGeom prst="roundRect">
            <a:avLst>
              <a:gd name="adj" fmla="val 3306"/>
            </a:avLst>
          </a:prstGeom>
          <a:solidFill>
            <a:srgbClr val="F2F5F6"/>
          </a:solidFill>
          <a:ln/>
        </p:spPr>
        <p:txBody>
          <a:bodyPr/>
          <a:p/>
        </p:txBody>
      </p:sp>
      <p:sp>
        <p:nvSpPr>
          <p:cNvPr id="34" name="Shape 29"/>
          <p:cNvSpPr/>
          <p:nvPr/>
        </p:nvSpPr>
        <p:spPr>
          <a:xfrm>
            <a:off x="502920"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35" name="Shape 30"/>
          <p:cNvSpPr/>
          <p:nvPr/>
        </p:nvSpPr>
        <p:spPr>
          <a:xfrm>
            <a:off x="630936"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36" name="Image 3" descr="/home/user/Claude-Works/ai-training-prompt-engineering/src/assets/logos/claude.png">    </p:cNvPr>
          <p:cNvPicPr>
            <a:picLocks noChangeAspect="1"/>
          </p:cNvPicPr>
          <p:nvPr/>
        </p:nvPicPr>
        <p:blipFill>
          <a:blip r:embed="rId5"/>
          <a:stretch>
            <a:fillRect/>
          </a:stretch>
        </p:blipFill>
        <p:spPr>
          <a:xfrm>
            <a:off x="682142" y="3937406"/>
            <a:ext cx="263347" cy="263347"/>
          </a:xfrm>
          <a:prstGeom prst="rect">
            <a:avLst/>
          </a:prstGeom>
        </p:spPr>
      </p:pic>
      <p:sp>
        <p:nvSpPr>
          <p:cNvPr id="37" name="Text 31"/>
          <p:cNvSpPr/>
          <p:nvPr/>
        </p:nvSpPr>
        <p:spPr>
          <a:xfrm>
            <a:off x="1088136"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Claude</a:t>
            </a:r>
            <a:endParaRPr lang="en-US" sz="1500" dirty="0"/>
          </a:p>
        </p:txBody>
      </p:sp>
      <p:sp>
        <p:nvSpPr>
          <p:cNvPr id="38" name="Text 32"/>
          <p:cNvSpPr/>
          <p:nvPr/>
        </p:nvSpPr>
        <p:spPr>
          <a:xfrm>
            <a:off x="1088136"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Anthropic · Fable/Opus/Sonnet 5 + Haiku</a:t>
            </a:r>
            <a:endParaRPr lang="en-US" sz="900" dirty="0"/>
          </a:p>
        </p:txBody>
      </p:sp>
      <p:sp>
        <p:nvSpPr>
          <p:cNvPr id="39" name="Text 33"/>
          <p:cNvSpPr/>
          <p:nvPr/>
        </p:nvSpPr>
        <p:spPr>
          <a:xfrm>
            <a:off x="685800"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Best-in-class coding &amp; agentic work</a:t>
            </a:r>
            <a:endParaRPr lang="en-US" sz="1350" dirty="0"/>
          </a:p>
        </p:txBody>
      </p:sp>
      <p:sp>
        <p:nvSpPr>
          <p:cNvPr id="40" name="Text 34"/>
          <p:cNvSpPr/>
          <p:nvPr/>
        </p:nvSpPr>
        <p:spPr>
          <a:xfrm>
            <a:off x="685800"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Tops SWE-bench AND OpenAI’s own real-work eval (GDPval); 2026 writing evals rank its prose #1; 1M-token documents.</a:t>
            </a:r>
            <a:endParaRPr lang="en-US" sz="1100" dirty="0"/>
          </a:p>
        </p:txBody>
      </p:sp>
      <p:sp>
        <p:nvSpPr>
          <p:cNvPr id="41" name="Text 35"/>
          <p:cNvSpPr/>
          <p:nvPr/>
        </p:nvSpPr>
        <p:spPr>
          <a:xfrm>
            <a:off x="685800"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Premium pricing at the top; the flagship can refuse high-risk domains by design.</a:t>
            </a:r>
            <a:endParaRPr lang="en-US" sz="1050" dirty="0"/>
          </a:p>
        </p:txBody>
      </p:sp>
      <p:sp>
        <p:nvSpPr>
          <p:cNvPr id="42" name="Shape 36"/>
          <p:cNvSpPr/>
          <p:nvPr/>
        </p:nvSpPr>
        <p:spPr>
          <a:xfrm>
            <a:off x="4325112" y="3785616"/>
            <a:ext cx="3611880" cy="2212848"/>
          </a:xfrm>
          <a:prstGeom prst="roundRect">
            <a:avLst>
              <a:gd name="adj" fmla="val 3306"/>
            </a:avLst>
          </a:prstGeom>
          <a:solidFill>
            <a:srgbClr val="F2F5F6"/>
          </a:solidFill>
          <a:ln/>
        </p:spPr>
        <p:txBody>
          <a:bodyPr/>
          <a:p/>
        </p:txBody>
      </p:sp>
      <p:sp>
        <p:nvSpPr>
          <p:cNvPr id="43" name="Shape 37"/>
          <p:cNvSpPr/>
          <p:nvPr/>
        </p:nvSpPr>
        <p:spPr>
          <a:xfrm>
            <a:off x="4325112"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44" name="Shape 38"/>
          <p:cNvSpPr/>
          <p:nvPr/>
        </p:nvSpPr>
        <p:spPr>
          <a:xfrm>
            <a:off x="4453128"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45" name="Image 4" descr="/home/user/Claude-Works/ai-training-prompt-engineering/src/assets/logos/perplexity.png">    </p:cNvPr>
          <p:cNvPicPr>
            <a:picLocks noChangeAspect="1"/>
          </p:cNvPicPr>
          <p:nvPr/>
        </p:nvPicPr>
        <p:blipFill>
          <a:blip r:embed="rId6"/>
          <a:stretch>
            <a:fillRect/>
          </a:stretch>
        </p:blipFill>
        <p:spPr>
          <a:xfrm>
            <a:off x="4504334" y="3937406"/>
            <a:ext cx="263347" cy="263347"/>
          </a:xfrm>
          <a:prstGeom prst="rect">
            <a:avLst/>
          </a:prstGeom>
        </p:spPr>
      </p:pic>
      <p:sp>
        <p:nvSpPr>
          <p:cNvPr id="46" name="Text 39"/>
          <p:cNvSpPr/>
          <p:nvPr/>
        </p:nvSpPr>
        <p:spPr>
          <a:xfrm>
            <a:off x="4910328"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Perplexity</a:t>
            </a:r>
            <a:endParaRPr lang="en-US" sz="1500" dirty="0"/>
          </a:p>
        </p:txBody>
      </p:sp>
      <p:sp>
        <p:nvSpPr>
          <p:cNvPr id="47" name="Text 40"/>
          <p:cNvSpPr/>
          <p:nvPr/>
        </p:nvSpPr>
        <p:spPr>
          <a:xfrm>
            <a:off x="4910328"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Perplexity · own stack + Model Council</a:t>
            </a:r>
            <a:endParaRPr lang="en-US" sz="900" dirty="0"/>
          </a:p>
        </p:txBody>
      </p:sp>
      <p:sp>
        <p:nvSpPr>
          <p:cNvPr id="48" name="Text 41"/>
          <p:cNvSpPr/>
          <p:nvPr/>
        </p:nvSpPr>
        <p:spPr>
          <a:xfrm>
            <a:off x="4507992"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Research with receipts</a:t>
            </a:r>
            <a:endParaRPr lang="en-US" sz="1350" dirty="0"/>
          </a:p>
        </p:txBody>
      </p:sp>
      <p:sp>
        <p:nvSpPr>
          <p:cNvPr id="49" name="Text 42"/>
          <p:cNvSpPr/>
          <p:nvPr/>
        </p:nvSpPr>
        <p:spPr>
          <a:xfrm>
            <a:off x="4507992"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Inline citations by default; the lowest citation-error rate in CJR’s AI-search testing — 37%, vs 67% for ChatGPT Search.</a:t>
            </a:r>
            <a:endParaRPr lang="en-US" sz="1100" dirty="0"/>
          </a:p>
        </p:txBody>
      </p:sp>
      <p:sp>
        <p:nvSpPr>
          <p:cNvPr id="50" name="Text 43"/>
          <p:cNvSpPr/>
          <p:nvPr/>
        </p:nvSpPr>
        <p:spPr>
          <a:xfrm>
            <a:off x="4507992"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A citation isn’t proof — click through before quoting anywhere formal.</a:t>
            </a:r>
            <a:endParaRPr lang="en-US" sz="1050" dirty="0"/>
          </a:p>
        </p:txBody>
      </p:sp>
      <p:sp>
        <p:nvSpPr>
          <p:cNvPr id="51" name="Shape 44"/>
          <p:cNvSpPr/>
          <p:nvPr/>
        </p:nvSpPr>
        <p:spPr>
          <a:xfrm>
            <a:off x="8147304" y="3785616"/>
            <a:ext cx="3611880" cy="2212848"/>
          </a:xfrm>
          <a:prstGeom prst="roundRect">
            <a:avLst>
              <a:gd name="adj" fmla="val 3306"/>
            </a:avLst>
          </a:prstGeom>
          <a:solidFill>
            <a:srgbClr val="F2F5F6"/>
          </a:solidFill>
          <a:ln/>
        </p:spPr>
        <p:txBody>
          <a:bodyPr/>
          <a:p/>
        </p:txBody>
      </p:sp>
      <p:sp>
        <p:nvSpPr>
          <p:cNvPr id="52" name="Shape 45"/>
          <p:cNvSpPr/>
          <p:nvPr/>
        </p:nvSpPr>
        <p:spPr>
          <a:xfrm>
            <a:off x="8147304"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53" name="Shape 46"/>
          <p:cNvSpPr/>
          <p:nvPr/>
        </p:nvSpPr>
        <p:spPr>
          <a:xfrm>
            <a:off x="8275320"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54" name="Image 5" descr="/home/user/Claude-Works/ai-training-prompt-engineering/src/assets/logos/grok.png">    </p:cNvPr>
          <p:cNvPicPr>
            <a:picLocks noChangeAspect="1"/>
          </p:cNvPicPr>
          <p:nvPr/>
        </p:nvPicPr>
        <p:blipFill>
          <a:blip r:embed="rId7"/>
          <a:stretch>
            <a:fillRect/>
          </a:stretch>
        </p:blipFill>
        <p:spPr>
          <a:xfrm>
            <a:off x="8326526" y="3937406"/>
            <a:ext cx="263347" cy="263347"/>
          </a:xfrm>
          <a:prstGeom prst="rect">
            <a:avLst/>
          </a:prstGeom>
        </p:spPr>
      </p:pic>
      <p:sp>
        <p:nvSpPr>
          <p:cNvPr id="55" name="Text 47"/>
          <p:cNvSpPr/>
          <p:nvPr/>
        </p:nvSpPr>
        <p:spPr>
          <a:xfrm>
            <a:off x="8732520"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Grok</a:t>
            </a:r>
            <a:endParaRPr lang="en-US" sz="1500" dirty="0"/>
          </a:p>
        </p:txBody>
      </p:sp>
      <p:sp>
        <p:nvSpPr>
          <p:cNvPr id="56" name="Text 48"/>
          <p:cNvSpPr/>
          <p:nvPr/>
        </p:nvSpPr>
        <p:spPr>
          <a:xfrm>
            <a:off x="8732520"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xAI (SpaceX) · Grok 4.6</a:t>
            </a:r>
            <a:endParaRPr lang="en-US" sz="900" dirty="0"/>
          </a:p>
        </p:txBody>
      </p:sp>
      <p:sp>
        <p:nvSpPr>
          <p:cNvPr id="57" name="Text 49"/>
          <p:cNvSpPr/>
          <p:nvPr/>
        </p:nvSpPr>
        <p:spPr>
          <a:xfrm>
            <a:off x="8330184"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Blunt on purpose</a:t>
            </a:r>
            <a:endParaRPr lang="en-US" sz="1350" dirty="0"/>
          </a:p>
        </p:txBody>
      </p:sp>
      <p:sp>
        <p:nvSpPr>
          <p:cNvPr id="58" name="Text 50"/>
          <p:cNvSpPr/>
          <p:nvPr/>
        </p:nvSpPr>
        <p:spPr>
          <a:xfrm>
            <a:off x="8330184"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“Unhinged” is a literal voice mode; real-time X data; aggressive price-performance.</a:t>
            </a:r>
            <a:endParaRPr lang="en-US" sz="1100" dirty="0"/>
          </a:p>
        </p:txBody>
      </p:sp>
      <p:sp>
        <p:nvSpPr>
          <p:cNvPr id="59" name="Text 51"/>
          <p:cNvSpPr/>
          <p:nvPr/>
        </p:nvSpPr>
        <p:spPr>
          <a:xfrm>
            <a:off x="8330184"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Fewer guardrails, real incidents (Jul 2025 apology) — mind brand-sensitive work.</a:t>
            </a:r>
            <a:endParaRPr lang="en-US" sz="1050" dirty="0"/>
          </a:p>
        </p:txBody>
      </p:sp>
      <p:sp>
        <p:nvSpPr>
          <p:cNvPr id="6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6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6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title">
            <a:extLst>
              <a:ext uri="{FF2B5EF4-FFF2-40B4-BE49-F238E27FC236}">
                <a16:creationId xmlns:a16="http://schemas.microsoft.com/office/drawing/2014/main" id="{E2F32EF2-5C76-4CCF-9CBB-FA96A44207EC}"/>
              </a:ext>
            </a:extLst>
          </p:cNvPr>
          <p:cNvSpPr>
            <a:spLocks noGrp="1"/>
          </p:cNvSpPr>
          <p:nvPr/>
        </p:nvSpPr>
        <p:spPr>
          <a:xfrm>
            <a:off x="504748" y="658368"/>
            <a:ext cx="11155680" cy="54864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Task difficulty and processing capacity</a:t>
            </a:r>
          </a:p>
        </p:txBody>
      </p:sp>
      <p:sp>
        <p:nvSpPr>
          <p:cNvPr id="2" name="slide-subtitle">
            <a:extLst>
              <a:ext uri="{FF2B5EF4-FFF2-40B4-BE49-F238E27FC236}">
                <a16:creationId xmlns:a16="http://schemas.microsoft.com/office/drawing/2014/main" id="{2BA5404B-47E0-4646-A7FF-51B3E16E8B0C}"/>
              </a:ext>
            </a:extLst>
          </p:cNvPr>
          <p:cNvSpPr>
            <a:spLocks noGrp="1"/>
          </p:cNvSpPr>
          <p:nvPr/>
        </p:nvSpPr>
        <p:spPr>
          <a:xfrm>
            <a:off x="504748" y="1298448"/>
            <a:ext cx="11155680" cy="365760"/>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350" b="0">
                <a:solidFill>
                  <a:srgbClr val="657278"/>
                </a:solidFill>
                <a:latin typeface="Calibri"/>
                <a:ea typeface="Nimbus Sans"/>
                <a:cs typeface="Nimbus Sans"/>
              </a:rPr>
              <a:t>Model capability, reasoning effort and workload volume are separate choices</a:t>
            </a:r>
          </a:p>
        </p:txBody>
      </p:sp>
      <p:graphicFrame>
        <p:nvGraphicFramePr>
          <p:cNvPr id="14" name=""/>
          <p:cNvGraphicFramePr/>
          <p:nvPr/>
        </p:nvGraphicFramePr>
        <p:xfrm>
          <a:off x="563880" y="1767840"/>
          <a:ext cx="7741920" cy="3977640"/>
        </p:xfrm>
        <a:graphic>
          <a:graphicData uri="http://schemas.openxmlformats.org/drawingml/2006/table">
            <a:tbl>
              <a:tblPr firstRow="0" bandRow="0"/>
              <a:tblGrid>
                <a:gridCol w="1371600"/>
                <a:gridCol w="3185160"/>
                <a:gridCol w="3185160"/>
              </a:tblGrid>
              <a:tr h="472440">
                <a:tc>
                  <a:txBody>
                    <a:bodyPr wrap="square" lIns="161925" tIns="104775" rIns="133350" bIns="104775">
                      <a:noAutofit/>
                    </a:bodyPr>
                    <a:lstStyle/>
                    <a:p>
                      <a:r>
                        <a:rPr sz="1500" b="1">
                          <a:solidFill>
                            <a:srgbClr val="FFFFFF"/>
                          </a:solidFill>
                          <a:latin typeface="Nimbus Sans"/>
                          <a:ea typeface="Nimbus Sans"/>
                          <a:cs typeface="Nimbus Sans"/>
                        </a:rPr>
                        <a:t>Workload volume</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Clear rules / low reasoning</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Ambiguity / high reasoning</a:t>
                      </a:r>
                    </a:p>
                  </a:txBody>
                  <a:tcPr marL="91440" marR="91440" marT="45720" marB="45720" anchor="ctr">
                    <a:solidFill>
                      <a:srgbClr val="126D70"/>
                    </a:solidFill>
                  </a:tcPr>
                </a:tc>
              </a:tr>
              <a:tr h="1752600">
                <a:tc>
                  <a:txBody>
                    <a:bodyPr wrap="square" lIns="161925" tIns="104775" rIns="133350" bIns="104775">
                      <a:noAutofit/>
                    </a:bodyPr>
                    <a:lstStyle/>
                    <a:p>
                      <a:r>
                        <a:rPr sz="1620" b="1">
                          <a:solidFill>
                            <a:srgbClr val="126D70"/>
                          </a:solidFill>
                          <a:latin typeface="Nimbus Sans"/>
                          <a:ea typeface="Nimbus Sans"/>
                          <a:cs typeface="Nimbus Sans"/>
                        </a:rPr>
                        <a:t>Many items</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500 routine email summaries</a:t>
                      </a:r>
                    </a:p>
                    <a:p>
                      <a:r>
                        <a:rPr sz="1560" b="0">
                          <a:solidFill>
                            <a:srgbClr val="202E35"/>
                          </a:solidFill>
                          <a:latin typeface="Nimbus Sans"/>
                          <a:ea typeface="Nimbus Sans"/>
                          <a:cs typeface="Nimbus Sans"/>
                        </a:rPr>
                        <a:t>10,000 rows to classify</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Fast model + batching</a:t>
                      </a:r>
                    </a:p>
                  </a:txBody>
                  <a:tcPr marL="91440" marR="91440" marT="45720" marB="45720" anchor="ctr">
                    <a:solidFill>
                      <a:srgbClr val="FFFFFF"/>
                    </a:solidFill>
                  </a:tcPr>
                </a:tc>
                <a:tc>
                  <a:txBody>
                    <a:bodyPr wrap="square" lIns="161925" tIns="104775" rIns="133350" bIns="104775">
                      <a:noAutofit/>
                    </a:bodyPr>
                    <a:lstStyle/>
                    <a:p>
                      <a:r>
                        <a:rPr sz="1560" b="0">
                          <a:solidFill>
                            <a:srgbClr val="202E35"/>
                          </a:solidFill>
                          <a:latin typeface="Nimbus Sans"/>
                          <a:ea typeface="Nimbus Sans"/>
                          <a:cs typeface="Nimbus Sans"/>
                        </a:rPr>
                        <a:t>50 conflicting supplier threads</a:t>
                      </a:r>
                    </a:p>
                    <a:p>
                      <a:r>
                        <a:rPr sz="1560" b="0">
                          <a:solidFill>
                            <a:srgbClr val="202E35"/>
                          </a:solidFill>
                          <a:latin typeface="Nimbus Sans"/>
                          <a:ea typeface="Nimbus Sans"/>
                          <a:cs typeface="Nimbus Sans"/>
                        </a:rPr>
                        <a:t>A linked production forecast</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Strong model + staged work</a:t>
                      </a:r>
                    </a:p>
                  </a:txBody>
                  <a:tcPr marL="91440" marR="91440" marT="45720" marB="45720" anchor="ctr">
                    <a:solidFill>
                      <a:srgbClr val="FFFFFF"/>
                    </a:solidFill>
                  </a:tcPr>
                </a:tc>
              </a:tr>
              <a:tr h="1752600">
                <a:tc>
                  <a:txBody>
                    <a:bodyPr wrap="square" lIns="161925" tIns="104775" rIns="133350" bIns="104775">
                      <a:noAutofit/>
                    </a:bodyPr>
                    <a:lstStyle/>
                    <a:p>
                      <a:r>
                        <a:rPr sz="1620" b="1">
                          <a:solidFill>
                            <a:srgbClr val="126D70"/>
                          </a:solidFill>
                          <a:latin typeface="Nimbus Sans"/>
                          <a:ea typeface="Nimbus Sans"/>
                          <a:cs typeface="Nimbus Sans"/>
                        </a:rPr>
                        <a:t>Few items</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Rewrite one email</a:t>
                      </a:r>
                    </a:p>
                    <a:p>
                      <a:r>
                        <a:rPr sz="1560" b="0">
                          <a:solidFill>
                            <a:srgbClr val="202E35"/>
                          </a:solidFill>
                          <a:latin typeface="Nimbus Sans"/>
                          <a:ea typeface="Nimbus Sans"/>
                          <a:cs typeface="Nimbus Sans"/>
                        </a:rPr>
                        <a:t>Extract a date or owner</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Fast model + low effort</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Resolve conflicting requirements</a:t>
                      </a:r>
                    </a:p>
                    <a:p>
                      <a:r>
                        <a:rPr sz="1560" b="0">
                          <a:solidFill>
                            <a:srgbClr val="202E35"/>
                          </a:solidFill>
                          <a:latin typeface="Nimbus Sans"/>
                          <a:ea typeface="Nimbus Sans"/>
                          <a:cs typeface="Nimbus Sans"/>
                        </a:rPr>
                        <a:t>Choose forecast assumptions</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Strong model + more reasoning</a:t>
                      </a:r>
                    </a:p>
                  </a:txBody>
                  <a:tcPr marL="91440" marR="91440" marT="45720" marB="45720" anchor="ctr">
                    <a:solidFill>
                      <a:srgbClr val="EAF2F1"/>
                    </a:solidFill>
                  </a:tcPr>
                </a:tc>
              </a:tr>
            </a:tbl>
          </a:graphicData>
        </a:graphic>
      </p:graphicFrame>
      <p:sp>
        <p:nvSpPr>
          <p:cNvPr id="4" name="capability-heading">
            <a:extLst>
              <a:ext uri="{FF2B5EF4-FFF2-40B4-BE49-F238E27FC236}">
                <a16:creationId xmlns:a16="http://schemas.microsoft.com/office/drawing/2014/main" id="{3EF1B28A-EE6B-4C88-AE8C-B74D5C8B2FE9}"/>
              </a:ext>
            </a:extLst>
          </p:cNvPr>
          <p:cNvSpPr>
            <a:spLocks noGrp="1"/>
          </p:cNvSpPr>
          <p:nvPr/>
        </p:nvSpPr>
        <p:spPr>
          <a:xfrm>
            <a:off x="8686800" y="180594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MODEL CAPABILITY</a:t>
            </a:r>
          </a:p>
        </p:txBody>
      </p:sp>
      <p:sp>
        <p:nvSpPr>
          <p:cNvPr id="5" name="capability-definition">
            <a:extLst>
              <a:ext uri="{FF2B5EF4-FFF2-40B4-BE49-F238E27FC236}">
                <a16:creationId xmlns:a16="http://schemas.microsoft.com/office/drawing/2014/main" id="{CACF656D-83B1-4C11-A423-C762C4513E87}"/>
              </a:ext>
            </a:extLst>
          </p:cNvPr>
          <p:cNvSpPr>
            <a:spLocks noGrp="1"/>
          </p:cNvSpPr>
          <p:nvPr/>
        </p:nvSpPr>
        <p:spPr>
          <a:xfrm>
            <a:off x="8686800" y="2148840"/>
            <a:ext cx="2910840" cy="624840"/>
          </a:xfrm>
          <a:prstGeom prst="rect">
            <a:avLst/>
          </a:prstGeom>
          <a:noFill/>
          <a:ln w="0">
            <a:noFill/>
          </a:ln>
        </p:spPr>
        <p:txBody>
          <a:bodyPr wrap="square" lIns="0" tIns="0" rIns="0" bIns="0" anchor="t">
            <a:noAutofit/>
          </a:bodyPr>
          <a:lstStyle/>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What kinds of problems</a:t>
            </a:r>
          </a:p>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the model can solve</a:t>
            </a:r>
          </a:p>
        </p:txBody>
      </p:sp>
      <p:sp>
        <p:nvSpPr>
          <p:cNvPr id="6" name="effort-heading">
            <a:extLst>
              <a:ext uri="{FF2B5EF4-FFF2-40B4-BE49-F238E27FC236}">
                <a16:creationId xmlns:a16="http://schemas.microsoft.com/office/drawing/2014/main" id="{84C5D65E-27C5-4B2E-868A-67F0BC2DE285}"/>
              </a:ext>
            </a:extLst>
          </p:cNvPr>
          <p:cNvSpPr>
            <a:spLocks noGrp="1"/>
          </p:cNvSpPr>
          <p:nvPr/>
        </p:nvSpPr>
        <p:spPr>
          <a:xfrm>
            <a:off x="8686800" y="297942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REASONING EFFORT</a:t>
            </a:r>
          </a:p>
        </p:txBody>
      </p:sp>
      <p:sp>
        <p:nvSpPr>
          <p:cNvPr id="7" name="effort-definition">
            <a:extLst>
              <a:ext uri="{FF2B5EF4-FFF2-40B4-BE49-F238E27FC236}">
                <a16:creationId xmlns:a16="http://schemas.microsoft.com/office/drawing/2014/main" id="{31AA29CA-3FC6-4F6B-A034-88DAEF8A83C8}"/>
              </a:ext>
            </a:extLst>
          </p:cNvPr>
          <p:cNvSpPr>
            <a:spLocks noGrp="1"/>
          </p:cNvSpPr>
          <p:nvPr/>
        </p:nvSpPr>
        <p:spPr>
          <a:xfrm>
            <a:off x="8686800" y="3322320"/>
            <a:ext cx="2910840" cy="800100"/>
          </a:xfrm>
          <a:prstGeom prst="rect">
            <a:avLst/>
          </a:prstGeom>
          <a:noFill/>
          <a:ln w="0">
            <a:noFill/>
          </a:ln>
        </p:spPr>
        <p:txBody>
          <a:bodyPr wrap="square" lIns="0" tIns="0" rIns="0" bIns="0" anchor="t">
            <a:noAutofit/>
          </a:bodyPr>
          <a:lstStyle/>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Computation spent on this task.</a:t>
            </a:r>
          </a:p>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More effort can add time and cost.</a:t>
            </a:r>
          </a:p>
        </p:txBody>
      </p:sp>
      <p:sp>
        <p:nvSpPr>
          <p:cNvPr id="8" name="processing-heading">
            <a:extLst>
              <a:ext uri="{FF2B5EF4-FFF2-40B4-BE49-F238E27FC236}">
                <a16:creationId xmlns:a16="http://schemas.microsoft.com/office/drawing/2014/main" id="{4D4C4637-339F-4C45-8674-995486F6099D}"/>
              </a:ext>
            </a:extLst>
          </p:cNvPr>
          <p:cNvSpPr>
            <a:spLocks noGrp="1"/>
          </p:cNvSpPr>
          <p:nvPr/>
        </p:nvSpPr>
        <p:spPr>
          <a:xfrm>
            <a:off x="8686800" y="430530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PROCESSING CAPACITY</a:t>
            </a:r>
          </a:p>
        </p:txBody>
      </p:sp>
      <p:sp>
        <p:nvSpPr>
          <p:cNvPr id="9" name="processing-definition">
            <a:extLst>
              <a:ext uri="{FF2B5EF4-FFF2-40B4-BE49-F238E27FC236}">
                <a16:creationId xmlns:a16="http://schemas.microsoft.com/office/drawing/2014/main" id="{C4426DF8-4DC2-4596-A2D3-DB97847137DA}"/>
              </a:ext>
            </a:extLst>
          </p:cNvPr>
          <p:cNvSpPr>
            <a:spLocks noGrp="1"/>
          </p:cNvSpPr>
          <p:nvPr/>
        </p:nvSpPr>
        <p:spPr>
          <a:xfrm>
            <a:off x="8686800" y="4648200"/>
            <a:ext cx="2941320" cy="1005840"/>
          </a:xfrm>
          <a:prstGeom prst="rect">
            <a:avLst/>
          </a:prstGeom>
          <a:noFill/>
          <a:ln w="0">
            <a:noFill/>
          </a:ln>
        </p:spPr>
        <p:txBody>
          <a:bodyPr wrap="square" lIns="0" tIns="0" rIns="0" bIns="0" anchor="t">
            <a:noAutofit/>
          </a:bodyPr>
          <a:lstStyle/>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Context: information per request</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Throughput: work per minute</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Tools and batching also matter.</a:t>
            </a:r>
          </a:p>
        </p:txBody>
      </p:sp>
      <p:sp>
        <p:nvSpPr>
          <p:cNvPr id="10" name="principle">
            <a:extLst>
              <a:ext uri="{FF2B5EF4-FFF2-40B4-BE49-F238E27FC236}">
                <a16:creationId xmlns:a16="http://schemas.microsoft.com/office/drawing/2014/main" id="{E20C5799-FF3F-4FD5-B6F7-8C14D3905621}"/>
              </a:ext>
            </a:extLst>
          </p:cNvPr>
          <p:cNvSpPr>
            <a:spLocks noGrp="1"/>
          </p:cNvSpPr>
          <p:nvPr/>
        </p:nvSpPr>
        <p:spPr>
          <a:xfrm>
            <a:off x="563880" y="6035040"/>
            <a:ext cx="11064240" cy="350520"/>
          </a:xfrm>
          <a:prstGeom prst="rect">
            <a:avLst/>
          </a:prstGeom>
          <a:noFill/>
          <a:ln w="0">
            <a:noFill/>
          </a:ln>
        </p:spPr>
        <p:txBody>
          <a:bodyPr wrap="square" lIns="0" tIns="0" rIns="0" bIns="0" anchor="t">
            <a:noAutofit/>
          </a:bodyPr>
          <a:lstStyle/>
          <a:p>
            <a:pPr>
              <a:defRPr sz="1800" b="1">
                <a:solidFill>
                  <a:srgbClr val="126D70"/>
                </a:solidFill>
                <a:latin typeface="Nimbus Sans"/>
                <a:ea typeface="Nimbus Sans"/>
                <a:cs typeface="Nimbus Sans"/>
              </a:defRPr>
            </a:pPr>
            <a:r>
              <a:rPr sz="1800" b="1">
                <a:solidFill>
                  <a:srgbClr val="126D70"/>
                </a:solidFill>
                <a:latin typeface="Nimbus Sans"/>
                <a:ea typeface="Nimbus Sans"/>
                <a:cs typeface="Nimbus Sans"/>
              </a:rPr>
              <a:t>Required quality first. Then minimize total time and cost, including rework.</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More workload raises processing demand. Higher stakes call for stronger verification.</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19</a:t>
            </a:r>
          </a:p>
        </p:txBody>
      </p:sp>
      <p:sp>
        <p:nvSpPr>
          <p:cNvPr id="18"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MATCH THE MODEL TO THE JOB</a:t>
            </a:r>
          </a:p>
        </p:txBody>
      </p:sp>
      <p:sp>
        <p:nvSpPr>
          <p:cNvPr id="11" name="FACILITATION_MODE_BAR">
            <a:extLst>
              <a:ext uri="{FF2B5EF4-FFF2-40B4-BE49-F238E27FC236}">
                <a16:creationId xmlns:a16="http://schemas.microsoft.com/office/drawing/2014/main" id="{06D8392E-27B3-4B1C-82E1-7695EFC49F31}"/>
              </a:ext>
            </a:extLst>
          </p:cNvPr>
          <p:cNvSpPr>
            <a:spLocks noGrp="1"/>
          </p:cNvSpPr>
          <p:nvPr/>
        </p:nvSpPr>
        <p:spPr>
          <a:xfrm>
            <a:off x="0" y="0"/>
            <a:ext cx="12192000" cy="57150"/>
          </a:xfrm>
          <a:prstGeom prst="rect">
            <a:avLst/>
          </a:prstGeom>
          <a:solidFill>
            <a:srgbClr val="0E7C7B"/>
          </a:solidFill>
          <a:ln w="0">
            <a:noFill/>
          </a:ln>
        </p:spPr>
        <p:txBody>
          <a:bodyPr/>
          <a:p/>
        </p:txBody>
      </p:sp>
      <p:sp>
        <p:nvSpPr>
          <p:cNvPr id="2" name="mode">
            <a:extLst>
              <a:ext uri="{FF2B5EF4-FFF2-40B4-BE49-F238E27FC236}">
                <a16:creationId xmlns:a16="http://schemas.microsoft.com/office/drawing/2014/main" id="{68F21A4B-ED18-418F-99E4-20CCE0CF6494}"/>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title">
            <a:extLst>
              <a:ext uri="{FF2B5EF4-FFF2-40B4-BE49-F238E27FC236}">
                <a16:creationId xmlns:a16="http://schemas.microsoft.com/office/drawing/2014/main" id="{74A227F0-A246-4E4F-AE47-7B740C822F22}"/>
              </a:ext>
            </a:extLst>
          </p:cNvPr>
          <p:cNvSpPr>
            <a:spLocks noGrp="1"/>
          </p:cNvSpPr>
          <p:nvPr/>
        </p:nvSpPr>
        <p:spPr>
          <a:xfrm>
            <a:off x="504748" y="658368"/>
            <a:ext cx="11155680" cy="54864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Model tiers and task examples</a:t>
            </a:r>
          </a:p>
        </p:txBody>
      </p:sp>
      <p:sp>
        <p:nvSpPr>
          <p:cNvPr id="2" name="slide-subtitle">
            <a:extLst>
              <a:ext uri="{FF2B5EF4-FFF2-40B4-BE49-F238E27FC236}">
                <a16:creationId xmlns:a16="http://schemas.microsoft.com/office/drawing/2014/main" id="{9A64E26E-E509-4E4D-ACCD-99F8967E64FD}"/>
              </a:ext>
            </a:extLst>
          </p:cNvPr>
          <p:cNvSpPr>
            <a:spLocks noGrp="1"/>
          </p:cNvSpPr>
          <p:nvPr/>
        </p:nvSpPr>
        <p:spPr>
          <a:xfrm>
            <a:off x="504748" y="1298448"/>
            <a:ext cx="11155680" cy="365760"/>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350" b="0">
                <a:solidFill>
                  <a:srgbClr val="657278"/>
                </a:solidFill>
                <a:latin typeface="Calibri"/>
                <a:ea typeface="Nimbus Sans"/>
                <a:cs typeface="Nimbus Sans"/>
              </a:rPr>
              <a:t>Starting choices by vendor, from routine execution to demanding reasoning</a:t>
            </a:r>
          </a:p>
        </p:txBody>
      </p:sp>
      <p:graphicFrame>
        <p:nvGraphicFramePr>
          <p:cNvPr id="8" name=""/>
          <p:cNvGraphicFramePr/>
          <p:nvPr/>
        </p:nvGraphicFramePr>
        <p:xfrm>
          <a:off x="563880" y="1409700"/>
          <a:ext cx="11064240" cy="4541520"/>
        </p:xfrm>
        <a:graphic>
          <a:graphicData uri="http://schemas.openxmlformats.org/drawingml/2006/table">
            <a:tbl>
              <a:tblPr firstRow="0" bandRow="0"/>
              <a:tblGrid>
                <a:gridCol w="1691640"/>
                <a:gridCol w="4191000"/>
                <a:gridCol w="1463040"/>
                <a:gridCol w="1638300"/>
                <a:gridCol w="2080260"/>
              </a:tblGrid>
              <a:tr h="518160">
                <a:tc>
                  <a:txBody>
                    <a:bodyPr wrap="square" lIns="161925" tIns="104775" rIns="133350" bIns="104775">
                      <a:noAutofit/>
                    </a:bodyPr>
                    <a:lstStyle/>
                    <a:p>
                      <a:r>
                        <a:rPr sz="1500" b="1">
                          <a:solidFill>
                            <a:srgbClr val="FFFFFF"/>
                          </a:solidFill>
                          <a:latin typeface="Nimbus Sans"/>
                          <a:ea typeface="Nimbus Sans"/>
                          <a:cs typeface="Nimbus Sans"/>
                        </a:rPr>
                        <a:t>Task band</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Examples</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OpenAI</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Anthropic</a:t>
                      </a:r>
                    </a:p>
                    <a:p>
                      <a:r>
                        <a:rPr sz="1500" b="1">
                          <a:solidFill>
                            <a:srgbClr val="FFFFFF"/>
                          </a:solidFill>
                          <a:latin typeface="Nimbus Sans"/>
                          <a:ea typeface="Nimbus Sans"/>
                          <a:cs typeface="Nimbus Sans"/>
                        </a:rPr>
                        <a:t>Claude</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Google</a:t>
                      </a:r>
                    </a:p>
                    <a:p>
                      <a:r>
                        <a:rPr sz="1500" b="1">
                          <a:solidFill>
                            <a:srgbClr val="FFFFFF"/>
                          </a:solidFill>
                          <a:latin typeface="Nimbus Sans"/>
                          <a:ea typeface="Nimbus Sans"/>
                          <a:cs typeface="Nimbus Sans"/>
                        </a:rPr>
                        <a:t>Gemini</a:t>
                      </a:r>
                    </a:p>
                  </a:txBody>
                  <a:tcPr marL="91440" marR="91440" marT="45720" marB="45720" anchor="ctr">
                    <a:solidFill>
                      <a:srgbClr val="126D70"/>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1  Routine</a:t>
                      </a:r>
                    </a:p>
                    <a:p>
                      <a:r>
                        <a:rPr sz="1560" b="1">
                          <a:solidFill>
                            <a:srgbClr val="126D70"/>
                          </a:solidFill>
                          <a:latin typeface="Nimbus Sans"/>
                          <a:ea typeface="Nimbus Sans"/>
                          <a:cs typeface="Nimbus Sans"/>
                        </a:rPr>
                        <a:t>Usually fastest</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Summarize email / extract dates</a:t>
                      </a:r>
                    </a:p>
                    <a:p>
                      <a:r>
                        <a:rPr sz="1500" b="0">
                          <a:solidFill>
                            <a:srgbClr val="202E35"/>
                          </a:solidFill>
                          <a:latin typeface="Nimbus Sans"/>
                          <a:ea typeface="Nimbus Sans"/>
                          <a:cs typeface="Nimbus Sans"/>
                        </a:rPr>
                        <a:t>Translate or correct grammar</a:t>
                      </a:r>
                    </a:p>
                    <a:p>
                      <a:r>
                        <a:rPr sz="1500" b="0">
                          <a:solidFill>
                            <a:srgbClr val="202E35"/>
                          </a:solidFill>
                          <a:latin typeface="Nimbus Sans"/>
                          <a:ea typeface="Nimbus Sans"/>
                          <a:cs typeface="Nimbus Sans"/>
                        </a:rPr>
                        <a:t>Format a known spreadsheet</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Luna 5.6</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Haiku 4.5</a:t>
                      </a:r>
                    </a:p>
                  </a:txBody>
                  <a:tcPr marL="91440" marR="91440" marT="45720" marB="45720" anchor="ctr">
                    <a:solidFill>
                      <a:srgbClr val="FFFFFF"/>
                    </a:solidFill>
                  </a:tcPr>
                </a:tc>
                <a:tc>
                  <a:txBody>
                    <a:bodyPr wrap="square" lIns="161925" tIns="104775" rIns="133350" bIns="104775">
                      <a:noAutofit/>
                    </a:bodyPr>
                    <a:lstStyle/>
                    <a:p>
                      <a:r>
                        <a:rPr sz="1500" b="0">
                          <a:solidFill>
                            <a:srgbClr val="202E35"/>
                          </a:solidFill>
                          <a:latin typeface="Nimbus Sans"/>
                          <a:ea typeface="Nimbus Sans"/>
                          <a:cs typeface="Nimbus Sans"/>
                        </a:rPr>
                        <a:t>3.5 Flash-Lite</a:t>
                      </a:r>
                    </a:p>
                  </a:txBody>
                  <a:tcPr marL="91440" marR="91440" marT="45720" marB="45720" anchor="ctr">
                    <a:solidFill>
                      <a:srgbClr val="FFFFFF"/>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2  Structured</a:t>
                      </a:r>
                    </a:p>
                    <a:p>
                      <a:r>
                        <a:rPr sz="1560" b="1">
                          <a:solidFill>
                            <a:srgbClr val="126D70"/>
                          </a:solidFill>
                          <a:latin typeface="Nimbus Sans"/>
                          <a:ea typeface="Nimbus Sans"/>
                          <a:cs typeface="Nimbus Sans"/>
                        </a:rPr>
                        <a:t>Balanced effort</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Draft slides from an outline</a:t>
                      </a:r>
                    </a:p>
                    <a:p>
                      <a:r>
                        <a:rPr sz="1500" b="0">
                          <a:solidFill>
                            <a:srgbClr val="202E35"/>
                          </a:solidFill>
                          <a:latin typeface="Nimbus Sans"/>
                          <a:ea typeface="Nimbus Sans"/>
                          <a:cs typeface="Nimbus Sans"/>
                        </a:rPr>
                        <a:t>Compare quotes / build trackers</a:t>
                      </a:r>
                    </a:p>
                    <a:p>
                      <a:r>
                        <a:rPr sz="1500" b="0">
                          <a:solidFill>
                            <a:srgbClr val="202E35"/>
                          </a:solidFill>
                          <a:latin typeface="Nimbus Sans"/>
                          <a:ea typeface="Nimbus Sans"/>
                          <a:cs typeface="Nimbus Sans"/>
                        </a:rPr>
                        <a:t>Write a small script</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Terra 5.6</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Sonnet 5</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3.8 Flash</a:t>
                      </a:r>
                    </a:p>
                  </a:txBody>
                  <a:tcPr marL="91440" marR="91440" marT="45720" marB="45720" anchor="ctr">
                    <a:solidFill>
                      <a:srgbClr val="EAF2F1"/>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3  Analytical</a:t>
                      </a:r>
                    </a:p>
                    <a:p>
                      <a:r>
                        <a:rPr sz="1560" b="1">
                          <a:solidFill>
                            <a:srgbClr val="126D70"/>
                          </a:solidFill>
                          <a:latin typeface="Nimbus Sans"/>
                          <a:ea typeface="Nimbus Sans"/>
                          <a:cs typeface="Nimbus Sans"/>
                        </a:rPr>
                        <a:t>More reasoning</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Design linked spreadsheet models</a:t>
                      </a:r>
                    </a:p>
                    <a:p>
                      <a:r>
                        <a:rPr sz="1500" b="0">
                          <a:solidFill>
                            <a:srgbClr val="202E35"/>
                          </a:solidFill>
                          <a:latin typeface="Nimbus Sans"/>
                          <a:ea typeface="Nimbus Sans"/>
                          <a:cs typeface="Nimbus Sans"/>
                        </a:rPr>
                        <a:t>Reconcile threads / sequence slides</a:t>
                      </a:r>
                    </a:p>
                    <a:p>
                      <a:r>
                        <a:rPr sz="1500" b="0">
                          <a:solidFill>
                            <a:srgbClr val="202E35"/>
                          </a:solidFill>
                          <a:latin typeface="Nimbus Sans"/>
                          <a:ea typeface="Nimbus Sans"/>
                          <a:cs typeface="Nimbus Sans"/>
                        </a:rPr>
                        <a:t>Diagnose recurring process failures</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Sol 5.6</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Opus 5</a:t>
                      </a:r>
                    </a:p>
                  </a:txBody>
                  <a:tcPr marL="91440" marR="91440" marT="45720" marB="45720" anchor="ctr">
                    <a:solidFill>
                      <a:srgbClr val="FFFFFF"/>
                    </a:solidFill>
                  </a:tcPr>
                </a:tc>
                <a:tc>
                  <a:txBody>
                    <a:bodyPr wrap="square" lIns="161925" tIns="104775" rIns="133350" bIns="104775">
                      <a:noAutofit/>
                    </a:bodyPr>
                    <a:lstStyle/>
                    <a:p>
                      <a:r>
                        <a:rPr sz="1500" b="0">
                          <a:solidFill>
                            <a:srgbClr val="202E35"/>
                          </a:solidFill>
                          <a:latin typeface="Nimbus Sans"/>
                          <a:ea typeface="Nimbus Sans"/>
                          <a:cs typeface="Nimbus Sans"/>
                        </a:rPr>
                        <a:t>3.8 Flash</a:t>
                      </a:r>
                    </a:p>
                    <a:p>
                      <a:r>
                        <a:rPr sz="1500" b="0">
                          <a:solidFill>
                            <a:srgbClr val="202E35"/>
                          </a:solidFill>
                          <a:latin typeface="Nimbus Sans"/>
                          <a:ea typeface="Nimbus Sans"/>
                          <a:cs typeface="Nimbus Sans"/>
                        </a:rPr>
                        <a:t>3.1 Pro (preview)</a:t>
                      </a:r>
                    </a:p>
                  </a:txBody>
                  <a:tcPr marL="91440" marR="91440" marT="45720" marB="45720" anchor="ctr">
                    <a:solidFill>
                      <a:srgbClr val="FFFFFF"/>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4  Difficult</a:t>
                      </a:r>
                    </a:p>
                    <a:p>
                      <a:r>
                        <a:rPr sz="1560" b="1">
                          <a:solidFill>
                            <a:srgbClr val="126D70"/>
                          </a:solidFill>
                          <a:latin typeface="Nimbus Sans"/>
                          <a:ea typeface="Nimbus Sans"/>
                          <a:cs typeface="Nimbus Sans"/>
                        </a:rPr>
                        <a:t>Allow more time</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Stress-test assumptions / audit decisions</a:t>
                      </a:r>
                    </a:p>
                    <a:p>
                      <a:r>
                        <a:rPr sz="1500" b="0">
                          <a:solidFill>
                            <a:srgbClr val="202E35"/>
                          </a:solidFill>
                          <a:latin typeface="Nimbus Sans"/>
                          <a:ea typeface="Nimbus Sans"/>
                          <a:cs typeface="Nimbus Sans"/>
                        </a:rPr>
                        <a:t>Plan a complex system redesign</a:t>
                      </a:r>
                    </a:p>
                    <a:p>
                      <a:r>
                        <a:rPr sz="1500" b="0">
                          <a:solidFill>
                            <a:srgbClr val="202E35"/>
                          </a:solidFill>
                          <a:latin typeface="Nimbus Sans"/>
                          <a:ea typeface="Nimbus Sans"/>
                          <a:cs typeface="Nimbus Sans"/>
                        </a:rPr>
                        <a:t>Resolve weak or conflicting evidence</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Astra 6</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Fable 5.1</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3.8 Flash</a:t>
                      </a:r>
                    </a:p>
                    <a:p>
                      <a:r>
                        <a:rPr sz="1500" b="0">
                          <a:solidFill>
                            <a:srgbClr val="202E35"/>
                          </a:solidFill>
                          <a:latin typeface="Nimbus Sans"/>
                          <a:ea typeface="Nimbus Sans"/>
                          <a:cs typeface="Nimbus Sans"/>
                        </a:rPr>
                        <a:t>3.1 Pro (preview)</a:t>
                      </a:r>
                    </a:p>
                  </a:txBody>
                  <a:tcPr marL="91440" marR="91440" marT="45720" marB="45720" anchor="ctr">
                    <a:solidFill>
                      <a:srgbClr val="EAF2F1"/>
                    </a:solidFill>
                  </a:tcPr>
                </a:tc>
              </a:tr>
            </a:tbl>
          </a:graphicData>
        </a:graphic>
      </p:graphicFrame>
      <p:sp>
        <p:nvSpPr>
          <p:cNvPr id="4" name="escalation-rule">
            <a:extLst>
              <a:ext uri="{FF2B5EF4-FFF2-40B4-BE49-F238E27FC236}">
                <a16:creationId xmlns:a16="http://schemas.microsoft.com/office/drawing/2014/main" id="{7ABCC422-D6F2-4AC9-9E76-CDB6100D09F2}"/>
              </a:ext>
            </a:extLst>
          </p:cNvPr>
          <p:cNvSpPr>
            <a:spLocks noGrp="1"/>
          </p:cNvSpPr>
          <p:nvPr/>
        </p:nvSpPr>
        <p:spPr>
          <a:xfrm>
            <a:off x="563880" y="6156960"/>
            <a:ext cx="11049000" cy="320040"/>
          </a:xfrm>
          <a:prstGeom prst="rect">
            <a:avLst/>
          </a:prstGeom>
          <a:noFill/>
          <a:ln w="0">
            <a:noFill/>
          </a:ln>
        </p:spPr>
        <p:txBody>
          <a:bodyPr wrap="square" lIns="0" tIns="0" rIns="0" bIns="0" anchor="t">
            <a:noAutofit/>
          </a:bodyPr>
          <a:lstStyle/>
          <a:p>
            <a:pPr>
              <a:defRPr sz="1740" b="1">
                <a:solidFill>
                  <a:srgbClr val="126D70"/>
                </a:solidFill>
                <a:latin typeface="Nimbus Sans"/>
                <a:ea typeface="Nimbus Sans"/>
                <a:cs typeface="Nimbus Sans"/>
              </a:defRPr>
            </a:pPr>
            <a:r>
              <a:rPr sz="1740" b="1">
                <a:solidFill>
                  <a:srgbClr val="126D70"/>
                </a:solidFill>
                <a:latin typeface="Nimbus Sans"/>
                <a:ea typeface="Nimbus Sans"/>
                <a:cs typeface="Nimbus Sans"/>
              </a:rPr>
              <a:t>Higher ambiguity or costly errors justify more reasoning and stronger checks.</a:t>
            </a:r>
          </a:p>
        </p:txBody>
      </p:sp>
      <p:sp>
        <p:nvSpPr>
          <p:cNvPr id="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Use bands, not equal benchmark ranks. Google spans bands. Speed varies with effort, context and tools. 17 Sep 2026.</a:t>
            </a:r>
          </a:p>
        </p:txBody>
      </p:sp>
      <p:sp>
        <p:nvSpPr>
          <p:cNvPr id="1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20</a:t>
            </a:r>
          </a:p>
        </p:txBody>
      </p:sp>
      <p:sp>
        <p:nvSpPr>
          <p:cNvPr id="12"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STARTING CHOICES BY VENDOR</a:t>
            </a:r>
          </a:p>
        </p:txBody>
      </p:sp>
      <p:sp>
        <p:nvSpPr>
          <p:cNvPr id="13" name="FACILITATION_MODE_BAR">
            <a:extLst>
              <a:ext uri="{FF2B5EF4-FFF2-40B4-BE49-F238E27FC236}">
                <a16:creationId xmlns:a16="http://schemas.microsoft.com/office/drawing/2014/main" id="{14AAB781-130C-49FD-9E57-DAC04AF8B545}"/>
              </a:ext>
            </a:extLst>
          </p:cNvPr>
          <p:cNvSpPr>
            <a:spLocks noGrp="1"/>
          </p:cNvSpPr>
          <p:nvPr/>
        </p:nvSpPr>
        <p:spPr>
          <a:xfrm>
            <a:off x="0" y="0"/>
            <a:ext cx="12192000" cy="57150"/>
          </a:xfrm>
          <a:prstGeom prst="rect">
            <a:avLst/>
          </a:prstGeom>
          <a:solidFill>
            <a:srgbClr val="0E7C7B"/>
          </a:solidFill>
          <a:ln w="0">
            <a:noFill/>
          </a:ln>
        </p:spPr>
        <p:txBody>
          <a:bodyPr/>
          <a:p/>
        </p:txBody>
      </p:sp>
      <p:sp>
        <p:nvSpPr>
          <p:cNvPr id="2" name="mode">
            <a:extLst>
              <a:ext uri="{FF2B5EF4-FFF2-40B4-BE49-F238E27FC236}">
                <a16:creationId xmlns:a16="http://schemas.microsoft.com/office/drawing/2014/main" id="{A6966CEC-43EC-42D7-B2B2-4FFCC0D957B8}"/>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0A6261"/>
                </a:solidFill>
                <a:latin typeface="Calibri"/>
                <a:ea typeface="Calibri"/>
                <a:cs typeface="Calibri"/>
              </a:rPr>
              <a:t>REFERENCE   0:30</a:t>
            </a:r>
          </a:p>
        </p:txBody>
      </p:sp>
    </p:spTree>
  </p:cSld>
  <p:clrMapOvr>
    <a:masterClrMapping/>
  </p:clrMapOvr>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Mixture of Experts using a specialist-hospital analogy, in about 120 words. Describe how selected computational components handle each token and how activating only a subset can reduce computation. Explain one way the hospital analogy can mislead, and why lower computation alone does not determine customer prices.”</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21</a:t>
            </a:r>
          </a:p>
        </p:txBody>
      </p:sp>
      <p:sp xmlns:a="http://schemas.openxmlformats.org/drawingml/2006/main">
        <p:nvSpPr>
          <p:cNvPr id="111" name="term-badge"/>
          <p:cNvSpPr/>
          <p:nvPr/>
        </p:nvSpPr>
        <p:spPr>
          <a:xfrm>
            <a:off x="9418320" y="502920"/>
            <a:ext cx="224028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400" b="1">
                <a:solidFill>
                  <a:srgbClr val="0E7C7B"/>
                </a:solidFill>
                <a:latin typeface="Calibri"/>
              </a:rPr>
              <a:t>MoE</a:t>
            </a:r>
          </a:p>
          <a:p>
            <a:pPr algn="r"/>
            <a:r>
              <a:rPr sz="900" b="0" i="1">
                <a:solidFill>
                  <a:srgbClr val="657278"/>
                </a:solidFill>
                <a:latin typeface="Calibri"/>
              </a:rPr>
              <a:t>Mixture of Experts</a:t>
            </a:r>
          </a:p>
        </p:txBody>
      </p:sp>
    </p:spTree>
    <p:extLst>
      <p:ext uri="{BB962C8B-B14F-4D97-AF65-F5344CB8AC3E}">
        <p14:creationId xmlns:p14="http://schemas.microsoft.com/office/powerpoint/2010/main" val="1400800326"/>
      </p:ext>
    </p:extLst>
  </p:cSld>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200" b="1" i="0">
                <a:solidFill>
                  <a:srgbClr val="0A6261"/>
                </a:solidFill>
                <a:latin typeface="Calibri"/>
              </a:rPr>
              <a:t>TEACH  0:50</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WHEN THE RUN GOES WRONG</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Four context failures — name it, then cure it</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22</a:t>
            </a:r>
          </a:p>
        </p:txBody>
      </p:sp>
      <p:sp>
        <p:nvSpPr>
          <p:cNvPr id="8" name="cf-card-0"/>
          <p:cNvSpPr/>
          <p:nvPr/>
        </p:nvSpPr>
        <p:spPr>
          <a:xfrm>
            <a:off x="502920" y="148132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f-label-0"/>
          <p:cNvSpPr/>
          <p:nvPr/>
        </p:nvSpPr>
        <p:spPr>
          <a:xfrm>
            <a:off x="630936" y="157276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POISONING</a:t>
            </a:r>
          </a:p>
        </p:txBody>
      </p:sp>
      <p:sp>
        <p:nvSpPr>
          <p:cNvPr id="10" name="cf-body-0"/>
          <p:cNvSpPr/>
          <p:nvPr/>
        </p:nvSpPr>
        <p:spPr>
          <a:xfrm>
            <a:off x="2194560" y="155448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One bad “fact” entered the log early — every later step politely builds on it.</a:t>
            </a:r>
          </a:p>
          <a:p>
            <a:pPr algn="l"/>
            <a:r>
              <a:rPr sz="1050" b="1" i="0">
                <a:solidFill>
                  <a:srgbClr val="875012"/>
                </a:solidFill>
                <a:latin typeface="Calibri"/>
              </a:rPr>
              <a:t>Cure: </a:t>
            </a:r>
            <a:r>
              <a:rPr sz="1050" b="0" i="0">
                <a:solidFill>
                  <a:srgbClr val="3D4B50"/>
                </a:solidFill>
                <a:latin typeface="Calibri"/>
              </a:rPr>
              <a:t>fresh session; re-load only what you trust — the standing brief + verified files.</a:t>
            </a:r>
          </a:p>
        </p:txBody>
      </p:sp>
      <p:sp>
        <p:nvSpPr>
          <p:cNvPr id="11" name="cf-card-1"/>
          <p:cNvSpPr/>
          <p:nvPr/>
        </p:nvSpPr>
        <p:spPr>
          <a:xfrm>
            <a:off x="502920" y="267004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f-label-1"/>
          <p:cNvSpPr/>
          <p:nvPr/>
        </p:nvSpPr>
        <p:spPr>
          <a:xfrm>
            <a:off x="630936" y="276148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DRIFT</a:t>
            </a:r>
          </a:p>
        </p:txBody>
      </p:sp>
      <p:sp>
        <p:nvSpPr>
          <p:cNvPr id="13" name="cf-body-1"/>
          <p:cNvSpPr/>
          <p:nvPr/>
        </p:nvSpPr>
        <p:spPr>
          <a:xfrm>
            <a:off x="2194560" y="274320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A long run wanders off the goal; the middle of a huge context gets skimmed.</a:t>
            </a:r>
          </a:p>
          <a:p>
            <a:pPr algn="l"/>
            <a:r>
              <a:rPr sz="1050" b="1" i="0">
                <a:solidFill>
                  <a:srgbClr val="875012"/>
                </a:solidFill>
                <a:latin typeface="Calibri"/>
              </a:rPr>
              <a:t>Cure: </a:t>
            </a:r>
            <a:r>
              <a:rPr sz="1050" b="0" i="0">
                <a:solidFill>
                  <a:srgbClr val="3D4B50"/>
                </a:solidFill>
                <a:latin typeface="Calibri"/>
              </a:rPr>
              <a:t>re-inject the mission; compact (the HANDOFF move); stop conditions in the brief.</a:t>
            </a:r>
          </a:p>
        </p:txBody>
      </p:sp>
      <p:sp>
        <p:nvSpPr>
          <p:cNvPr id="14" name="cf-card-2"/>
          <p:cNvSpPr/>
          <p:nvPr/>
        </p:nvSpPr>
        <p:spPr>
          <a:xfrm>
            <a:off x="502920" y="385876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f-label-2"/>
          <p:cNvSpPr/>
          <p:nvPr/>
        </p:nvSpPr>
        <p:spPr>
          <a:xfrm>
            <a:off x="630936" y="395020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CONFUSION</a:t>
            </a:r>
          </a:p>
        </p:txBody>
      </p:sp>
      <p:sp>
        <p:nvSpPr>
          <p:cNvPr id="16" name="cf-body-2"/>
          <p:cNvSpPr/>
          <p:nvPr/>
        </p:nvSpPr>
        <p:spPr>
          <a:xfrm>
            <a:off x="2194560" y="393192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Too many tools on the desk — it picks the wrong one, or dithers between them.</a:t>
            </a:r>
          </a:p>
          <a:p>
            <a:pPr algn="l"/>
            <a:r>
              <a:rPr sz="1050" b="1" i="0">
                <a:solidFill>
                  <a:srgbClr val="875012"/>
                </a:solidFill>
                <a:latin typeface="Calibri"/>
              </a:rPr>
              <a:t>Cure: </a:t>
            </a:r>
            <a:r>
              <a:rPr sz="1050" b="0" i="0">
                <a:solidFill>
                  <a:srgbClr val="3D4B50"/>
                </a:solidFill>
                <a:latin typeface="Calibri"/>
              </a:rPr>
              <a:t>fewer tools per phase; the &lt;plan&gt; names the methods allowed.</a:t>
            </a:r>
          </a:p>
        </p:txBody>
      </p:sp>
      <p:sp>
        <p:nvSpPr>
          <p:cNvPr id="17" name="cf-card-3"/>
          <p:cNvSpPr/>
          <p:nvPr/>
        </p:nvSpPr>
        <p:spPr>
          <a:xfrm>
            <a:off x="502920" y="504748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f-label-3"/>
          <p:cNvSpPr/>
          <p:nvPr/>
        </p:nvSpPr>
        <p:spPr>
          <a:xfrm>
            <a:off x="630936" y="513892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CLASH</a:t>
            </a:r>
          </a:p>
        </p:txBody>
      </p:sp>
      <p:sp>
        <p:nvSpPr>
          <p:cNvPr id="19" name="cf-body-3"/>
          <p:cNvSpPr/>
          <p:nvPr/>
        </p:nvSpPr>
        <p:spPr>
          <a:xfrm>
            <a:off x="2194560" y="512064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Two sources disagree and the run silently picks one of them.</a:t>
            </a:r>
          </a:p>
          <a:p>
            <a:pPr algn="l"/>
            <a:r>
              <a:rPr sz="1050" b="1" i="0">
                <a:solidFill>
                  <a:srgbClr val="875012"/>
                </a:solidFill>
                <a:latin typeface="Calibri"/>
              </a:rPr>
              <a:t>Cure: </a:t>
            </a:r>
            <a:r>
              <a:rPr sz="1050" b="0" i="0">
                <a:solidFill>
                  <a:srgbClr val="3D4B50"/>
                </a:solidFill>
                <a:latin typeface="Calibri"/>
              </a:rPr>
              <a:t>one source of truth per fact, named in &lt;inputs&gt;; an explicit override order.</a:t>
            </a:r>
          </a:p>
        </p:txBody>
      </p:sp>
      <p:sp>
        <p:nvSpPr>
          <p:cNvPr id="20" name="cf-panel"/>
          <p:cNvSpPr/>
          <p:nvPr/>
        </p:nvSpPr>
        <p:spPr>
          <a:xfrm>
            <a:off x="7132320" y="1481328"/>
            <a:ext cx="4526280" cy="4901184"/>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f-panel-head"/>
          <p:cNvSpPr/>
          <p:nvPr/>
        </p:nvSpPr>
        <p:spPr>
          <a:xfrm>
            <a:off x="7278624" y="1609344"/>
            <a:ext cx="42062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232A31"/>
                </a:solidFill>
                <a:latin typeface="Calibri"/>
              </a:rPr>
              <a:t>“Why did it ignore me?”</a:t>
            </a:r>
          </a:p>
        </p:txBody>
      </p:sp>
      <p:sp>
        <p:nvSpPr>
          <p:cNvPr id="22" name="cf-layer-0"/>
          <p:cNvSpPr/>
          <p:nvPr/>
        </p:nvSpPr>
        <p:spPr>
          <a:xfrm>
            <a:off x="7278624" y="2029968"/>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f-layer-t-0"/>
          <p:cNvSpPr/>
          <p:nvPr/>
        </p:nvSpPr>
        <p:spPr>
          <a:xfrm>
            <a:off x="7351775" y="2066544"/>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SYSTEM PROMPT  </a:t>
            </a:r>
            <a:r>
              <a:rPr sz="950" b="0" i="0">
                <a:solidFill>
                  <a:srgbClr val="3D4B50"/>
                </a:solidFill>
                <a:latin typeface="Calibri"/>
              </a:rPr>
              <a:t>the vendor’s standing orders</a:t>
            </a:r>
          </a:p>
        </p:txBody>
      </p:sp>
      <p:sp>
        <p:nvSpPr>
          <p:cNvPr id="24" name="cf-layer-1"/>
          <p:cNvSpPr/>
          <p:nvPr/>
        </p:nvSpPr>
        <p:spPr>
          <a:xfrm>
            <a:off x="7278624" y="2505456"/>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f-layer-t-1"/>
          <p:cNvSpPr/>
          <p:nvPr/>
        </p:nvSpPr>
        <p:spPr>
          <a:xfrm>
            <a:off x="7351775" y="2542032"/>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PROJECT FILE  </a:t>
            </a:r>
            <a:r>
              <a:rPr sz="950" b="0" i="0">
                <a:solidFill>
                  <a:srgbClr val="3D4B50"/>
                </a:solidFill>
                <a:latin typeface="Calibri"/>
              </a:rPr>
              <a:t>CLAUDE.md / AGENTS.md</a:t>
            </a:r>
          </a:p>
        </p:txBody>
      </p:sp>
      <p:sp>
        <p:nvSpPr>
          <p:cNvPr id="26" name="cf-layer-2"/>
          <p:cNvSpPr/>
          <p:nvPr/>
        </p:nvSpPr>
        <p:spPr>
          <a:xfrm>
            <a:off x="7278624" y="2980944"/>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f-layer-t-2"/>
          <p:cNvSpPr/>
          <p:nvPr/>
        </p:nvSpPr>
        <p:spPr>
          <a:xfrm>
            <a:off x="7351775" y="3017520"/>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SKILL  </a:t>
            </a:r>
            <a:r>
              <a:rPr sz="950" b="0" i="0">
                <a:solidFill>
                  <a:srgbClr val="3D4B50"/>
                </a:solidFill>
                <a:latin typeface="Calibri"/>
              </a:rPr>
              <a:t>loads when the task matches</a:t>
            </a:r>
          </a:p>
        </p:txBody>
      </p:sp>
      <p:sp>
        <p:nvSpPr>
          <p:cNvPr id="28" name="cf-layer-3"/>
          <p:cNvSpPr/>
          <p:nvPr/>
        </p:nvSpPr>
        <p:spPr>
          <a:xfrm>
            <a:off x="7278624" y="3456432"/>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f-layer-t-3"/>
          <p:cNvSpPr/>
          <p:nvPr/>
        </p:nvSpPr>
        <p:spPr>
          <a:xfrm>
            <a:off x="7351775" y="3493008"/>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YOUR MESSAGE  </a:t>
            </a:r>
            <a:r>
              <a:rPr sz="950" b="0" i="0">
                <a:solidFill>
                  <a:srgbClr val="3D4B50"/>
                </a:solidFill>
                <a:latin typeface="Calibri"/>
              </a:rPr>
              <a:t>today’s ask — easiest to lose</a:t>
            </a:r>
          </a:p>
        </p:txBody>
      </p:sp>
      <p:sp>
        <p:nvSpPr>
          <p:cNvPr id="30" name="cf-expl"/>
          <p:cNvSpPr/>
          <p:nvPr/>
        </p:nvSpPr>
        <p:spPr>
          <a:xfrm>
            <a:off x="7278624" y="4041648"/>
            <a:ext cx="422452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000" b="0" i="0">
                <a:solidFill>
                  <a:srgbClr val="3D4B50"/>
                </a:solidFill>
                <a:latin typeface="Calibri"/>
              </a:rPr>
              <a:t>Instructions stack in layers; conflicts resolve by precedence — the layer you typed is the easiest to lose. Find which layer said what before you blame the model. One-job rules belong in a SKILL, not another standing paragraph.</a:t>
            </a:r>
          </a:p>
        </p:txBody>
      </p:sp>
      <p:sp>
        <p:nvSpPr>
          <p:cNvPr id="31" name="cf-note"/>
          <p:cNvSpPr/>
          <p:nvPr/>
        </p:nvSpPr>
        <p:spPr>
          <a:xfrm>
            <a:off x="7278624" y="5577840"/>
            <a:ext cx="4224528"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950" b="0" i="1">
                <a:solidFill>
                  <a:srgbClr val="657278"/>
                </a:solidFill>
                <a:latin typeface="Calibri"/>
              </a:rPr>
              <a:t>Tool descriptions are prompts too — the agent reads them like a junior reads an API doc.</a:t>
            </a:r>
          </a:p>
        </p:txBody>
      </p:sp>
      <p:sp>
        <p:nvSpPr>
          <p:cNvPr id="32" name="cf-foot"/>
          <p:cNvSpPr/>
          <p:nvPr/>
        </p:nvSpPr>
        <p:spPr>
          <a:xfrm>
            <a:off x="502920" y="6272784"/>
            <a:ext cx="6400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00" b="0" i="1">
                <a:solidFill>
                  <a:srgbClr val="657278"/>
                </a:solidFill>
                <a:latin typeface="Calibri"/>
              </a:rPr>
              <a:t>The requirements grid diagnosed the PROMPT; this grid diagnoses the RUN.</a:t>
            </a:r>
          </a:p>
        </p:txBody>
      </p:sp>
    </p:spTree>
  </p:cSld>
  <p:clrMapOvr>
    <a:masterClrMapping/>
  </p:clrMapOvr>
</p:sld>
</file>

<file path=ppt/slides/slide2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23</a:t>
            </a:r>
          </a:p>
        </p:txBody>
      </p:sp>
    </p:spTree>
    <p:extLst>
      <p:ext uri="{BB962C8B-B14F-4D97-AF65-F5344CB8AC3E}">
        <p14:creationId xmlns:p14="http://schemas.microsoft.com/office/powerpoint/2010/main" val="146884725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 xmlns:a="http://schemas.openxmlformats.org/drawingml/2006/main">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YOU ALREADY DO THIS AT WORK</a:t>
            </a:r>
          </a:p>
        </p:txBody>
      </p:sp>
      <p:sp xmlns:a="http://schemas.openxmlformats.org/drawingml/2006/main">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920522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5"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93</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 xmlns:a="http://schemas.openxmlformats.org/drawingml/2006/main">
        <p:nvSpPr>
          <p:cNvPr id="16"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TESTABLE BEATS VAGUE</a:t>
            </a:r>
          </a:p>
        </p:txBody>
      </p:sp>
      <p:sp xmlns:a="http://schemas.openxmlformats.org/drawingml/2006/main">
        <p:nvSpPr>
          <p:cNvPr id="17" name="takeaway-accent"/>
          <p:cNvSpPr/>
          <p:nvPr/>
        </p:nvSpPr>
        <p:spPr>
          <a:xfrm>
            <a:off x="457200" y="6246113"/>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816882031"/>
      </p:ext>
    </p:extLst>
  </p:cSld>
</p:sld>
</file>

<file path=ppt/slides/slide26.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 xmlns:a="http://schemas.openxmlformats.org/drawingml/2006/main">
        <p:nvSpPr>
          <p:cNvPr id="13"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ROLES DESCRIBE BEHAVIOR</a:t>
            </a:r>
          </a:p>
        </p:txBody>
      </p:sp>
      <p:sp xmlns:a="http://schemas.openxmlformats.org/drawingml/2006/main">
        <p:nvSpPr>
          <p:cNvPr id="14"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1732852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xmlns:a="http://schemas.openxmlformats.org/drawingml/2006/main">
        <p:nvSpPr>
          <p:cNvPr id="17"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ELEMENTS MAP TO REQUIREMENTS</a:t>
            </a:r>
          </a:p>
        </p:txBody>
      </p:sp>
      <p:sp xmlns:a="http://schemas.openxmlformats.org/drawingml/2006/main">
        <p:nvSpPr>
          <p:cNvPr id="18"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354172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81</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 xmlns:a="http://schemas.openxmlformats.org/drawingml/2006/main">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EXAMPLES, OUTS, AND STOP RULES</a:t>
            </a:r>
          </a:p>
        </p:txBody>
      </p:sp>
      <p:sp xmlns:a="http://schemas.openxmlformats.org/drawingml/2006/main">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891697836"/>
      </p:ext>
    </p:extLst>
  </p:cSld>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p:nvPr/>
        </p:nvSpPr>
        <p:spPr>
          <a:xfrm>
            <a:off x="504748" y="384048"/>
            <a:ext cx="822960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100" b="1" i="0">
                <a:solidFill>
                  <a:srgbClr val="0E7C7B"/>
                </a:solidFill>
                <a:latin typeface="Calibri"/>
              </a:rPr>
              <a:t>NAME THE DELIVERABLE</a:t>
            </a:r>
          </a:p>
        </p:txBody>
      </p:sp>
      <p:sp>
        <p:nvSpPr>
          <p:cNvPr id="4" name="title"/>
          <p:cNvSpPr/>
          <p:nvPr/>
        </p:nvSpPr>
        <p:spPr>
          <a:xfrm>
            <a:off x="504748" y="731520"/>
            <a:ext cx="111556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3000" b="1" i="0">
                <a:solidFill>
                  <a:srgbClr val="232A31"/>
                </a:solidFill>
                <a:latin typeface="Cambria"/>
              </a:rPr>
              <a:t>Artifacts — what the AI hands back</a:t>
            </a:r>
          </a:p>
        </p:txBody>
      </p:sp>
      <p:sp>
        <p:nvSpPr>
          <p:cNvPr id="5" name="subtitle"/>
          <p:cNvSpPr/>
          <p:nvPr/>
        </p:nvSpPr>
        <p:spPr>
          <a:xfrm>
            <a:off x="504748" y="1389888"/>
            <a:ext cx="111556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400" b="0" i="0">
                <a:solidFill>
                  <a:srgbClr val="657278"/>
                </a:solidFill>
                <a:latin typeface="Calibri"/>
              </a:rPr>
              <a:t>An artifact is the finished work product — a document, table, deck, or working file — not the conversation that produced it.</a:t>
            </a:r>
          </a:p>
        </p:txBody>
      </p:sp>
      <p:sp>
        <p:nvSpPr>
          <p:cNvPr id="6" name="card-generative"/>
          <p:cNvSpPr/>
          <p:nvPr/>
        </p:nvSpPr>
        <p:spPr>
          <a:xfrm>
            <a:off x="504748"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en-head"/>
          <p:cNvSpPr/>
          <p:nvPr/>
        </p:nvSpPr>
        <p:spPr>
          <a:xfrm>
            <a:off x="731520"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500" b="1" i="0">
                <a:solidFill>
                  <a:srgbClr val="0E7C7B"/>
                </a:solidFill>
                <a:latin typeface="Calibri"/>
              </a:rPr>
              <a:t>GENERATIVE — you shape it</a:t>
            </a:r>
          </a:p>
        </p:txBody>
      </p:sp>
      <p:sp>
        <p:nvSpPr>
          <p:cNvPr id="8" name="gen-body"/>
          <p:cNvSpPr/>
          <p:nvPr/>
        </p:nvSpPr>
        <p:spPr>
          <a:xfrm>
            <a:off x="731520"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i="0">
                <a:solidFill>
                  <a:srgbClr val="232A31"/>
                </a:solidFill>
                <a:latin typeface="Calibri"/>
              </a:rPr>
              <a:t>Chat produces drafts inside the conversation: text, tables, code you refine turn by turn. The artifact emerges from the exchange — you are the loop, and you carry it out of the chat.</a:t>
            </a:r>
          </a:p>
        </p:txBody>
      </p:sp>
      <p:sp>
        <p:nvSpPr>
          <p:cNvPr id="9" name="gen-ex"/>
          <p:cNvSpPr/>
          <p:nvPr/>
        </p:nvSpPr>
        <p:spPr>
          <a:xfrm>
            <a:off x="731520"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200" b="0" i="1">
                <a:solidFill>
                  <a:srgbClr val="657278"/>
                </a:solidFill>
                <a:latin typeface="Calibri"/>
              </a:rPr>
              <a:t>Draft email · summary · rewritten section · one-off table</a:t>
            </a:r>
          </a:p>
        </p:txBody>
      </p:sp>
      <p:sp>
        <p:nvSpPr>
          <p:cNvPr id="10" name="card-agentic"/>
          <p:cNvSpPr/>
          <p:nvPr/>
        </p:nvSpPr>
        <p:spPr>
          <a:xfrm>
            <a:off x="6199632"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gt-head"/>
          <p:cNvSpPr/>
          <p:nvPr/>
        </p:nvSpPr>
        <p:spPr>
          <a:xfrm>
            <a:off x="6428232"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500" b="1" i="0">
                <a:solidFill>
                  <a:srgbClr val="0E7C7B"/>
                </a:solidFill>
                <a:latin typeface="Calibri"/>
              </a:rPr>
              <a:t>AGENTIC — you specify it</a:t>
            </a:r>
          </a:p>
        </p:txBody>
      </p:sp>
      <p:sp>
        <p:nvSpPr>
          <p:cNvPr id="12" name="agt-body"/>
          <p:cNvSpPr/>
          <p:nvPr/>
        </p:nvSpPr>
        <p:spPr>
          <a:xfrm>
            <a:off x="6428232"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i="0">
                <a:solidFill>
                  <a:srgbClr val="232A31"/>
                </a:solidFill>
                <a:latin typeface="Calibri"/>
              </a:rPr>
              <a:t>An agent delivers the finished file against your brief: workbook, slide deck, report, working page. You are not in the loop while it works — so the artifact is the contract, and the requirements travel in the prompt.</a:t>
            </a:r>
          </a:p>
        </p:txBody>
      </p:sp>
      <p:sp>
        <p:nvSpPr>
          <p:cNvPr id="13" name="agt-ex"/>
          <p:cNvSpPr/>
          <p:nvPr/>
        </p:nvSpPr>
        <p:spPr>
          <a:xfrm>
            <a:off x="6428232"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200" b="0" i="1">
                <a:solidFill>
                  <a:srgbClr val="657278"/>
                </a:solidFill>
                <a:latin typeface="Calibri"/>
              </a:rPr>
              <a:t>Analyzed workbook · five-slide deck · action-items table · research spreadsheet</a:t>
            </a:r>
          </a:p>
        </p:txBody>
      </p:sp>
      <p:sp>
        <p:nvSpPr>
          <p:cNvPr id="14" name="principle"/>
          <p:cNvSpPr/>
          <p:nvPr/>
        </p:nvSpPr>
        <p:spPr>
          <a:xfrm>
            <a:off x="504748" y="5394960"/>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400" b="1" i="0">
                <a:solidFill>
                  <a:srgbClr val="232A31"/>
                </a:solidFill>
                <a:latin typeface="Calibri"/>
              </a:rPr>
              <a:t>Name the artifact first. Every requirement on the next slide attaches to the artifact — the more of the work you delegate, the more the artifact's definition has to carry.</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30</a:t>
            </a:r>
          </a:p>
        </p:txBody>
      </p:sp>
      <p:sp>
        <p:nvSpPr>
          <p:cNvPr id="17" name="term-badge"/>
          <p:cNvSpPr/>
          <p:nvPr/>
        </p:nvSpPr>
        <p:spPr>
          <a:xfrm>
            <a:off x="9098280" y="457200"/>
            <a:ext cx="260604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ARTIFACT</a:t>
            </a:r>
          </a:p>
        </p:txBody>
      </p:sp>
    </p:spTree>
  </p:cSld>
  <p:clrMapOvr>
    <a:masterClrMapping/>
  </p:clrMapOvr>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94–99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Tree>
    <p:extLst>
      <p:ext uri="{BB962C8B-B14F-4D97-AF65-F5344CB8AC3E}">
        <p14:creationId xmlns:p14="http://schemas.microsoft.com/office/powerpoint/2010/main" val="1475719825"/>
      </p:ext>
    </p:extLst>
  </p:cSld>
</p:sld>
</file>

<file path=ppt/slides/slide32.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DO · DON’T · EXPIRED — TOP FIVE EACH</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2026 prompting playbook</a:t>
            </a:r>
            <a:endParaRPr lang="en-US" sz="3000" dirty="0"/>
          </a:p>
        </p:txBody>
      </p:sp>
      <p:sp>
        <p:nvSpPr>
          <p:cNvPr id="6" name="Shape 4"/>
          <p:cNvSpPr/>
          <p:nvPr/>
        </p:nvSpPr>
        <p:spPr>
          <a:xfrm>
            <a:off x="502920" y="1444752"/>
            <a:ext cx="3611880" cy="4370832"/>
          </a:xfrm>
          <a:prstGeom prst="roundRect">
            <a:avLst>
              <a:gd name="adj" fmla="val 2025"/>
            </a:avLst>
          </a:prstGeom>
          <a:solidFill>
            <a:srgbClr val="E7F2EC"/>
          </a:solidFill>
          <a:ln/>
        </p:spPr>
        <p:txBody>
          <a:bodyPr/>
          <a:p/>
        </p:txBody>
      </p:sp>
      <p:sp>
        <p:nvSpPr>
          <p:cNvPr id="7" name="Shape 5"/>
          <p:cNvSpPr/>
          <p:nvPr/>
        </p:nvSpPr>
        <p:spPr>
          <a:xfrm>
            <a:off x="685800" y="1591056"/>
            <a:ext cx="384048" cy="384048"/>
          </a:xfrm>
          <a:prstGeom prst="ellipse">
            <a:avLst/>
          </a:prstGeom>
          <a:solidFill>
            <a:srgbClr val="3B8560"/>
          </a:solidFill>
          <a:ln/>
        </p:spPr>
        <p:txBody>
          <a:bodyPr/>
          <a:p/>
        </p:txBody>
      </p:sp>
      <p:pic>
        <p:nvPicPr>
          <p:cNvPr id="8" name="Image 0" descr="/home/user/Claude-Works/ai-training-prompt-engineering/src/assets/icons/check_w.png">    </p:cNvPr>
          <p:cNvPicPr>
            <a:picLocks noChangeAspect="1"/>
          </p:cNvPicPr>
          <p:nvPr/>
        </p:nvPicPr>
        <p:blipFill>
          <a:blip r:embed="rId2"/>
          <a:stretch>
            <a:fillRect/>
          </a:stretch>
        </p:blipFill>
        <p:spPr>
          <a:xfrm>
            <a:off x="785652" y="1690908"/>
            <a:ext cx="184343" cy="184343"/>
          </a:xfrm>
          <a:prstGeom prst="rect">
            <a:avLst/>
          </a:prstGeom>
        </p:spPr>
      </p:pic>
      <p:sp>
        <p:nvSpPr>
          <p:cNvPr id="9" name="Text 6"/>
          <p:cNvSpPr/>
          <p:nvPr/>
        </p:nvSpPr>
        <p:spPr>
          <a:xfrm>
            <a:off x="116128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TO DO — reliably helps</a:t>
            </a:r>
            <a:endParaRPr lang="en-US" sz="1250" dirty="0"/>
          </a:p>
        </p:txBody>
      </p:sp>
      <p:sp>
        <p:nvSpPr>
          <p:cNvPr id="10" name="Text 7"/>
          <p:cNvSpPr/>
          <p:nvPr/>
        </p:nvSpPr>
        <p:spPr>
          <a:xfrm>
            <a:off x="70408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State the task precisely — verb, constraints, success criteria, and the WHY behind each rule</a:t>
            </a:r>
            <a:endParaRPr lang="en-US" sz="1050" dirty="0"/>
          </a:p>
        </p:txBody>
      </p:sp>
      <p:sp>
        <p:nvSpPr>
          <p:cNvPr id="11" name="Text 8"/>
          <p:cNvSpPr/>
          <p:nvPr/>
        </p:nvSpPr>
        <p:spPr>
          <a:xfrm>
            <a:off x="70408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Separate instructions from material; standardize ONE tested, versioned template</a:t>
            </a:r>
            <a:endParaRPr lang="en-US" sz="1050" dirty="0"/>
          </a:p>
        </p:txBody>
      </p:sp>
      <p:sp>
        <p:nvSpPr>
          <p:cNvPr id="12" name="Text 9"/>
          <p:cNvSpPr/>
          <p:nvPr/>
        </p:nvSpPr>
        <p:spPr>
          <a:xfrm>
            <a:off x="70408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Long inputs: documents at the top, instructions at the END (bookend both ends when very long)</a:t>
            </a:r>
            <a:endParaRPr lang="en-US" sz="1050" dirty="0"/>
          </a:p>
        </p:txBody>
      </p:sp>
      <p:sp>
        <p:nvSpPr>
          <p:cNvPr id="13" name="Text 10"/>
          <p:cNvSpPr/>
          <p:nvPr/>
        </p:nvSpPr>
        <p:spPr>
          <a:xfrm>
            <a:off x="70408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Give an out + require citations</a:t>
            </a:r>
            <a:endParaRPr lang="en-US" sz="1050" dirty="0"/>
          </a:p>
        </p:txBody>
      </p:sp>
      <p:sp>
        <p:nvSpPr>
          <p:cNvPr id="14" name="Text 11"/>
          <p:cNvSpPr/>
          <p:nvPr/>
        </p:nvSpPr>
        <p:spPr>
          <a:xfrm>
            <a:off x="70408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Numeric budgets for anything measurable — words, bullets, steps</a:t>
            </a:r>
            <a:endParaRPr lang="en-US" sz="1050" dirty="0"/>
          </a:p>
        </p:txBody>
      </p:sp>
      <p:sp>
        <p:nvSpPr>
          <p:cNvPr id="15" name="Shape 12"/>
          <p:cNvSpPr/>
          <p:nvPr/>
        </p:nvSpPr>
        <p:spPr>
          <a:xfrm>
            <a:off x="4297680" y="1444752"/>
            <a:ext cx="3611880" cy="4370832"/>
          </a:xfrm>
          <a:prstGeom prst="roundRect">
            <a:avLst>
              <a:gd name="adj" fmla="val 2025"/>
            </a:avLst>
          </a:prstGeom>
          <a:solidFill>
            <a:srgbClr val="F9E9E8"/>
          </a:solidFill>
          <a:ln/>
        </p:spPr>
        <p:txBody>
          <a:bodyPr/>
          <a:p/>
        </p:txBody>
      </p:sp>
      <p:sp>
        <p:nvSpPr>
          <p:cNvPr id="16" name="Shape 13"/>
          <p:cNvSpPr/>
          <p:nvPr/>
        </p:nvSpPr>
        <p:spPr>
          <a:xfrm>
            <a:off x="4480560" y="1591056"/>
            <a:ext cx="384048" cy="384048"/>
          </a:xfrm>
          <a:prstGeom prst="ellipse">
            <a:avLst/>
          </a:prstGeom>
          <a:solidFill>
            <a:srgbClr val="AF3230"/>
          </a:solidFill>
          <a:ln/>
        </p:spPr>
        <p:txBody>
          <a:bodyPr/>
          <a:p/>
        </p:txBody>
      </p:sp>
      <p:pic>
        <p:nvPicPr>
          <p:cNvPr id="17" name="Image 1" descr="/home/user/Claude-Works/ai-training-prompt-engineering/src/assets/icons/x_w.png">    </p:cNvPr>
          <p:cNvPicPr>
            <a:picLocks noChangeAspect="1"/>
          </p:cNvPicPr>
          <p:nvPr/>
        </p:nvPicPr>
        <p:blipFill>
          <a:blip r:embed="rId3"/>
          <a:stretch>
            <a:fillRect/>
          </a:stretch>
        </p:blipFill>
        <p:spPr>
          <a:xfrm>
            <a:off x="4580412" y="1690908"/>
            <a:ext cx="184343" cy="184343"/>
          </a:xfrm>
          <a:prstGeom prst="rect">
            <a:avLst/>
          </a:prstGeom>
        </p:spPr>
      </p:pic>
      <p:sp>
        <p:nvSpPr>
          <p:cNvPr id="18" name="Text 14"/>
          <p:cNvSpPr/>
          <p:nvPr/>
        </p:nvSpPr>
        <p:spPr>
          <a:xfrm>
            <a:off x="495604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NOT TO DO — hurts or wastes</a:t>
            </a:r>
            <a:endParaRPr lang="en-US" sz="1250" dirty="0"/>
          </a:p>
        </p:txBody>
      </p:sp>
      <p:sp>
        <p:nvSpPr>
          <p:cNvPr id="19" name="Text 15"/>
          <p:cNvSpPr/>
          <p:nvPr/>
        </p:nvSpPr>
        <p:spPr>
          <a:xfrm>
            <a:off x="449884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Contradictory instructions — reasoning models burn tokens reconciling them</a:t>
            </a:r>
            <a:endParaRPr lang="en-US" sz="1050" dirty="0"/>
          </a:p>
        </p:txBody>
      </p:sp>
      <p:sp>
        <p:nvSpPr>
          <p:cNvPr id="20" name="Text 16"/>
          <p:cNvSpPr/>
          <p:nvPr/>
        </p:nvSpPr>
        <p:spPr>
          <a:xfrm>
            <a:off x="449884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Tips, threats, emotional pressure — null on average, chaos per question</a:t>
            </a:r>
            <a:endParaRPr lang="en-US" sz="1050" dirty="0"/>
          </a:p>
        </p:txBody>
      </p:sp>
      <p:sp>
        <p:nvSpPr>
          <p:cNvPr id="21" name="Text 17"/>
          <p:cNvSpPr/>
          <p:nvPr/>
        </p:nvSpPr>
        <p:spPr>
          <a:xfrm>
            <a:off x="449884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Bare “do not hallucinate” commands — they trigger over-refusal; use the out + citations instead</a:t>
            </a:r>
            <a:endParaRPr lang="en-US" sz="1050" dirty="0"/>
          </a:p>
        </p:txBody>
      </p:sp>
      <p:sp>
        <p:nvSpPr>
          <p:cNvPr id="22" name="Text 18"/>
          <p:cNvSpPr/>
          <p:nvPr/>
        </p:nvSpPr>
        <p:spPr>
          <a:xfrm>
            <a:off x="449884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Revealing your preferred answer, or “are you sure?” as verification</a:t>
            </a:r>
            <a:endParaRPr lang="en-US" sz="1050" dirty="0"/>
          </a:p>
        </p:txBody>
      </p:sp>
      <p:sp>
        <p:nvSpPr>
          <p:cNvPr id="23" name="Text 19"/>
          <p:cNvSpPr/>
          <p:nvPr/>
        </p:nvSpPr>
        <p:spPr>
          <a:xfrm>
            <a:off x="449884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Piling micro-rules — quality degrades past ~150 instructions; smallest prompt that keeps the contract</a:t>
            </a:r>
            <a:endParaRPr lang="en-US" sz="1050" dirty="0"/>
          </a:p>
        </p:txBody>
      </p:sp>
      <p:sp>
        <p:nvSpPr>
          <p:cNvPr id="24" name="Shape 20"/>
          <p:cNvSpPr/>
          <p:nvPr/>
        </p:nvSpPr>
        <p:spPr>
          <a:xfrm>
            <a:off x="8092440" y="1444752"/>
            <a:ext cx="3611880" cy="4370832"/>
          </a:xfrm>
          <a:prstGeom prst="roundRect">
            <a:avLst>
              <a:gd name="adj" fmla="val 2025"/>
            </a:avLst>
          </a:prstGeom>
          <a:solidFill>
            <a:srgbClr val="F2F5F6"/>
          </a:solidFill>
          <a:ln/>
        </p:spPr>
        <p:txBody>
          <a:bodyPr/>
          <a:p/>
        </p:txBody>
      </p:sp>
      <p:sp>
        <p:nvSpPr>
          <p:cNvPr id="25" name="Shape 21"/>
          <p:cNvSpPr/>
          <p:nvPr/>
        </p:nvSpPr>
        <p:spPr>
          <a:xfrm>
            <a:off x="8275320" y="1591056"/>
            <a:ext cx="384048" cy="384048"/>
          </a:xfrm>
          <a:prstGeom prst="ellipse">
            <a:avLst/>
          </a:prstGeom>
          <a:solidFill>
            <a:srgbClr val="46545F"/>
          </a:solidFill>
          <a:ln/>
        </p:spPr>
        <p:txBody>
          <a:bodyPr/>
          <a:p/>
        </p:txBody>
      </p:sp>
      <p:pic>
        <p:nvPicPr>
          <p:cNvPr id="26" name="Image 2" descr="/home/user/Claude-Works/ai-training-prompt-engineering/src/assets/icons/clock_w.png">    </p:cNvPr>
          <p:cNvPicPr>
            <a:picLocks noChangeAspect="1"/>
          </p:cNvPicPr>
          <p:nvPr/>
        </p:nvPicPr>
        <p:blipFill>
          <a:blip r:embed="rId4"/>
          <a:stretch>
            <a:fillRect/>
          </a:stretch>
        </p:blipFill>
        <p:spPr>
          <a:xfrm>
            <a:off x="8375172" y="1690908"/>
            <a:ext cx="184343" cy="184343"/>
          </a:xfrm>
          <a:prstGeom prst="rect">
            <a:avLst/>
          </a:prstGeom>
        </p:spPr>
      </p:pic>
      <p:sp>
        <p:nvSpPr>
          <p:cNvPr id="27" name="Text 22"/>
          <p:cNvSpPr/>
          <p:nvPr/>
        </p:nvSpPr>
        <p:spPr>
          <a:xfrm>
            <a:off x="875080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EXPIRED — was right in 2023</a:t>
            </a:r>
            <a:endParaRPr lang="en-US" sz="1250" dirty="0"/>
          </a:p>
        </p:txBody>
      </p:sp>
      <p:sp>
        <p:nvSpPr>
          <p:cNvPr id="28" name="Text 23"/>
          <p:cNvSpPr/>
          <p:nvPr/>
        </p:nvSpPr>
        <p:spPr>
          <a:xfrm>
            <a:off x="829360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“Think step by step” → pick a reasoning model, set the effort dial</a:t>
            </a:r>
            <a:endParaRPr lang="en-US" sz="1050" dirty="0"/>
          </a:p>
        </p:txBody>
      </p:sp>
      <p:sp>
        <p:nvSpPr>
          <p:cNvPr id="29" name="Text 24"/>
          <p:cNvSpPr/>
          <p:nvPr/>
        </p:nvSpPr>
        <p:spPr>
          <a:xfrm>
            <a:off x="829360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Piles of examples → zero-shot first, then 3–5 format-definers</a:t>
            </a:r>
            <a:endParaRPr lang="en-US" sz="1050" dirty="0"/>
          </a:p>
        </p:txBody>
      </p:sp>
      <p:sp>
        <p:nvSpPr>
          <p:cNvPr id="30" name="Text 25"/>
          <p:cNvSpPr/>
          <p:nvPr/>
        </p:nvSpPr>
        <p:spPr>
          <a:xfrm>
            <a:off x="829360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“You are a world-class expert” for accuracy → persona for voice only</a:t>
            </a:r>
            <a:endParaRPr lang="en-US" sz="1050" dirty="0"/>
          </a:p>
        </p:txBody>
      </p:sp>
      <p:sp>
        <p:nvSpPr>
          <p:cNvPr id="31" name="Text 26"/>
          <p:cNvSpPr/>
          <p:nvPr/>
        </p:nvSpPr>
        <p:spPr>
          <a:xfrm>
            <a:off x="829360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Magic phrases (“take a deep breath”, “my career depends on it”) → clarity; real stakes as factual context</a:t>
            </a:r>
            <a:endParaRPr lang="en-US" sz="1050" dirty="0"/>
          </a:p>
        </p:txBody>
      </p:sp>
      <p:sp>
        <p:nvSpPr>
          <p:cNvPr id="32" name="Text 27"/>
          <p:cNvSpPr/>
          <p:nvPr/>
        </p:nvSpPr>
        <p:spPr>
          <a:xfrm>
            <a:off x="829360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Carrying your 2023 prompt stack to each new model → re-baseline on every upgrade (next slide’s loop)</a:t>
            </a:r>
            <a:endParaRPr lang="en-US" sz="1050" dirty="0"/>
          </a:p>
        </p:txBody>
      </p:sp>
      <p:sp>
        <p:nvSpPr>
          <p:cNvPr id="33" name="Shape 28"/>
          <p:cNvSpPr/>
          <p:nvPr/>
        </p:nvSpPr>
        <p:spPr>
          <a:xfrm>
            <a:off x="502920" y="5943600"/>
            <a:ext cx="11155680" cy="548640"/>
          </a:xfrm>
          <a:prstGeom prst="roundRect">
            <a:avLst>
              <a:gd name="adj" fmla="val 13333"/>
            </a:avLst>
          </a:prstGeom>
          <a:solidFill>
            <a:srgbClr val="E4F0EF"/>
          </a:solidFill>
          <a:ln/>
        </p:spPr>
        <p:txBody>
          <a:bodyPr/>
          <a:p/>
        </p:txBody>
      </p:sp>
      <p:sp>
        <p:nvSpPr>
          <p:cNvPr id="34" name="Shape 29"/>
          <p:cNvSpPr/>
          <p:nvPr/>
        </p:nvSpPr>
        <p:spPr>
          <a:xfrm>
            <a:off x="667512" y="6025896"/>
            <a:ext cx="384048" cy="384048"/>
          </a:xfrm>
          <a:prstGeom prst="ellipse">
            <a:avLst/>
          </a:prstGeom>
          <a:solidFill>
            <a:srgbClr val="0E7C7B"/>
          </a:solidFill>
          <a:ln/>
        </p:spPr>
        <p:txBody>
          <a:bodyPr/>
          <a:p/>
        </p:txBody>
      </p:sp>
      <p:pic>
        <p:nvPicPr>
          <p:cNvPr id="35" name="Image 3" descr="/home/user/Claude-Works/ai-training-prompt-engineering/src/assets/icons/download_w.png">    </p:cNvPr>
          <p:cNvPicPr>
            <a:picLocks noChangeAspect="1"/>
          </p:cNvPicPr>
          <p:nvPr/>
        </p:nvPicPr>
        <p:blipFill>
          <a:blip r:embed="rId5"/>
          <a:stretch>
            <a:fillRect/>
          </a:stretch>
        </p:blipFill>
        <p:spPr>
          <a:xfrm>
            <a:off x="767364" y="6125748"/>
            <a:ext cx="184343" cy="184343"/>
          </a:xfrm>
          <a:prstGeom prst="rect">
            <a:avLst/>
          </a:prstGeom>
        </p:spPr>
      </p:pic>
      <p:sp>
        <p:nvSpPr>
          <p:cNvPr id="36" name="Text 30"/>
          <p:cNvSpPr/>
          <p:nvPr/>
        </p:nvSpPr>
        <p:spPr>
          <a:xfrm>
            <a:off x="1216152" y="6016752"/>
            <a:ext cx="10213848" cy="40233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full 8 + 8 + 8, with the study behind every line: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tab PLAYBOOK of your Course Workbook — and your Field Guide explains the WHY behind every line. Notice column 1, rule 4 IS column 2, rule 3 said positively: say what TO do.</a:t>
            </a:r>
            <a:endParaRPr lang="en-US" sz="1100" dirty="0"/>
          </a:p>
        </p:txBody>
      </p:sp>
      <p:sp>
        <p:nvSpPr>
          <p:cNvPr id="37"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38"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YOUR TURN — TURN YOUR COURSE LOG INTO A REPORT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One prompt, one keepsake report</a:t>
            </a:r>
            <a:endParaRPr lang="en-US" sz="3000" dirty="0"/>
          </a:p>
        </p:txBody>
      </p:sp>
      <p:sp>
        <p:nvSpPr>
          <p:cNvPr id="6" name="Shape 4"/>
          <p:cNvSpPr/>
          <p:nvPr/>
        </p:nvSpPr>
        <p:spPr>
          <a:xfrm>
            <a:off x="10314432" y="365760"/>
            <a:ext cx="384048" cy="384048"/>
          </a:xfrm>
          <a:prstGeom prst="ellipse">
            <a:avLst/>
          </a:prstGeom>
          <a:solidFill>
            <a:srgbClr val="0E7C7B"/>
          </a:solidFill>
          <a:ln/>
        </p:spPr>
        <p:txBody>
          <a:bodyPr/>
          <a:p/>
        </p:txBody>
      </p:sp>
      <p:pic>
        <p:nvPicPr>
          <p:cNvPr id="7" name="Image 0" descr="/home/user/Claude-Works/ai-training-prompt-engineering/src/assets/icons/clock_w.png">    </p:cNvPr>
          <p:cNvPicPr>
            <a:picLocks noChangeAspect="1"/>
          </p:cNvPicPr>
          <p:nvPr/>
        </p:nvPicPr>
        <p:blipFill>
          <a:blip r:embed="rId2"/>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45920"/>
            <a:ext cx="6035040" cy="1600200"/>
          </a:xfrm>
          <a:prstGeom prst="roundRect">
            <a:avLst>
              <a:gd name="adj" fmla="val 4571"/>
            </a:avLst>
          </a:prstGeom>
          <a:solidFill>
            <a:srgbClr val="FFFFFF"/>
          </a:solidFill>
          <a:ln w="9525">
            <a:solidFill>
              <a:srgbClr val="DCE3E6"/>
            </a:solidFill>
            <a:prstDash val="solid"/>
          </a:ln>
        </p:spPr>
        <p:txBody>
          <a:bodyPr/>
          <a:p/>
        </p:txBody>
      </p:sp>
      <p:sp>
        <p:nvSpPr>
          <p:cNvPr id="10" name="Text 7"/>
          <p:cNvSpPr/>
          <p:nvPr/>
        </p:nvSpPr>
        <p:spPr>
          <a:xfrm>
            <a:off x="749808" y="1737360"/>
            <a:ext cx="5541264" cy="141732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“List every prompt I have run in this course log, in order — one line each: what it did, and which element or move it taught.”</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the log replays your whole course — every numbered prompt is in there.</a:t>
            </a:r>
            <a:endParaRPr lang="en-US" sz="1300" dirty="0"/>
          </a:p>
        </p:txBody>
      </p:sp>
      <p:sp>
        <p:nvSpPr>
          <p:cNvPr id="11" name="Shape 8"/>
          <p:cNvSpPr/>
          <p:nvPr/>
        </p:nvSpPr>
        <p:spPr>
          <a:xfrm>
            <a:off x="502920" y="3410712"/>
            <a:ext cx="6035040" cy="1737360"/>
          </a:xfrm>
          <a:prstGeom prst="roundRect">
            <a:avLst>
              <a:gd name="adj" fmla="val 4211"/>
            </a:avLst>
          </a:prstGeom>
          <a:solidFill>
            <a:srgbClr val="FFFFFF"/>
          </a:solidFill>
          <a:ln w="9525">
            <a:solidFill>
              <a:srgbClr val="DCE3E6"/>
            </a:solidFill>
            <a:prstDash val="solid"/>
          </a:ln>
        </p:spPr>
        <p:txBody>
          <a:bodyPr/>
          <a:p/>
        </p:txBody>
      </p:sp>
      <p:sp>
        <p:nvSpPr>
          <p:cNvPr id="12" name="Text 9"/>
          <p:cNvSpPr/>
          <p:nvPr/>
        </p:nvSpPr>
        <p:spPr>
          <a:xfrm>
            <a:off x="749808" y="3502152"/>
            <a:ext cx="5541264" cy="155448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“Now turn that into my one-page course report: the seven elements with my own example for each, the loop, and the three prompts I will reuse at work. Anything the log doesn’t show: write UNKNOWN — don’t invent. Deliver the report, then stop.”</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your examples, your report — with the Out and the Stop doing their jobs.</a:t>
            </a:r>
            <a:endParaRPr lang="en-US" sz="1300" dirty="0"/>
          </a:p>
        </p:txBody>
      </p:sp>
      <p:sp>
        <p:nvSpPr>
          <p:cNvPr id="13" name="Shape 10"/>
          <p:cNvSpPr/>
          <p:nvPr/>
        </p:nvSpPr>
        <p:spPr>
          <a:xfrm>
            <a:off x="502920" y="5312664"/>
            <a:ext cx="6035040" cy="777240"/>
          </a:xfrm>
          <a:prstGeom prst="roundRect">
            <a:avLst>
              <a:gd name="adj" fmla="val 9412"/>
            </a:avLst>
          </a:prstGeom>
          <a:solidFill>
            <a:srgbClr val="F2F5F6"/>
          </a:solidFill>
          <a:ln/>
        </p:spPr>
        <p:txBody>
          <a:bodyPr/>
          <a:p/>
        </p:txBody>
      </p:sp>
      <p:sp>
        <p:nvSpPr>
          <p:cNvPr id="14" name="Text 11"/>
          <p:cNvSpPr/>
          <p:nvPr/>
        </p:nvSpPr>
        <p:spPr>
          <a:xfrm>
            <a:off x="777240" y="5385816"/>
            <a:ext cx="5486400" cy="630936"/>
          </a:xfrm>
          <a:prstGeom prst="rect">
            <a:avLst/>
          </a:prstGeom>
          <a:noFill/>
          <a:ln/>
        </p:spPr>
        <p:txBody>
          <a:bodyPr wrap="square" lIns="0" tIns="0" rIns="0" bIns="0" rtlCol="0" anchor="ctr"/>
          <a:lstStyle/>
          <a:p>
            <a:pPr indent="0" marL="0">
              <a:lnSpc>
                <a:spcPct val="105000"/>
              </a:lnSpc>
              <a:buNone/>
            </a:pPr>
            <a:r>
              <a:rPr lang="en-US" sz="1150" b="1" dirty="0">
                <a:solidFill>
                  <a:srgbClr val="232A31"/>
                </a:solidFill>
                <a:latin typeface="Calibri" pitchFamily="34" charset="0"/>
                <a:ea typeface="Calibri" pitchFamily="34" charset="-122"/>
                <a:cs typeface="Calibri" pitchFamily="34" charset="-120"/>
              </a:rPr>
              <a:t>Both prompts are in tab EX-Report </a:t>
            </a:r>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of your Course Workbook — run them in the course log you opened with Prompt 1.</a:t>
            </a:r>
            <a:endParaRPr lang="en-US" sz="1150" dirty="0"/>
          </a:p>
        </p:txBody>
      </p:sp>
      <p:sp>
        <p:nvSpPr>
          <p:cNvPr id="15" name="Shape 12"/>
          <p:cNvSpPr/>
          <p:nvPr/>
        </p:nvSpPr>
        <p:spPr>
          <a:xfrm>
            <a:off x="6720840" y="1600200"/>
            <a:ext cx="4937760" cy="2880360"/>
          </a:xfrm>
          <a:prstGeom prst="roundRect">
            <a:avLst>
              <a:gd name="adj" fmla="val 2540"/>
            </a:avLst>
          </a:prstGeom>
          <a:solidFill>
            <a:srgbClr val="FBF0E0"/>
          </a:solidFill>
          <a:ln/>
        </p:spPr>
        <p:txBody>
          <a:bodyPr/>
          <a:p/>
        </p:txBody>
      </p:sp>
      <p:sp>
        <p:nvSpPr>
          <p:cNvPr id="16" name="Text 13"/>
          <p:cNvSpPr/>
          <p:nvPr/>
        </p:nvSpPr>
        <p:spPr>
          <a:xfrm>
            <a:off x="6967728" y="1783080"/>
            <a:ext cx="4434840" cy="2560320"/>
          </a:xfrm>
          <a:prstGeom prst="rect">
            <a:avLst/>
          </a:prstGeom>
          <a:noFill/>
          <a:ln/>
        </p:spPr>
        <p:txBody>
          <a:bodyPr wrap="square" lIns="0" tIns="0" rIns="0" bIns="0" rtlCol="0" anchor="ctr"/>
          <a:lstStyle/>
          <a:p>
            <a:pPr indent="0" marL="0">
              <a:lnSpc>
                <a:spcPct val="110000"/>
              </a:lnSpc>
              <a:spcAft>
                <a:spcPts val="500"/>
              </a:spcAft>
              <a:buNone/>
            </a:pPr>
            <a:r>
              <a:rPr lang="en-US" sz="1150" b="1" dirty="0">
                <a:solidFill>
                  <a:srgbClr val="B96A1B"/>
                </a:solidFill>
                <a:latin typeface="Calibri" pitchFamily="34" charset="0"/>
                <a:ea typeface="Calibri" pitchFamily="34" charset="-122"/>
                <a:cs typeface="Calibri" pitchFamily="34" charset="-120"/>
              </a:rPr>
              <a:t>Why this is the closing rep</a:t>
            </a: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Every numbered prompt you ran taught one move — and your log kept them all. The report writes itself because the raw material is real, yours, and already in the chat.</a:t>
            </a:r>
            <a:endParaRPr lang="en-US" sz="1150" dirty="0"/>
          </a:p>
          <a:p>
            <a:pPr indent="0" marL="0">
              <a:lnSpc>
                <a:spcPct val="110000"/>
              </a:lnSpc>
              <a:buNone/>
            </a:pP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Step 1 opened the course by telling the AI to remember; this is the payoff. The report IS your first library entry: name it, date it, keep it.</a:t>
            </a:r>
            <a:endParaRPr lang="en-US" sz="1150" dirty="0"/>
          </a:p>
        </p:txBody>
      </p:sp>
      <p:sp>
        <p:nvSpPr>
          <p:cNvPr id="17" name="Shape 14"/>
          <p:cNvSpPr/>
          <p:nvPr/>
        </p:nvSpPr>
        <p:spPr>
          <a:xfrm>
            <a:off x="6720840" y="4617720"/>
            <a:ext cx="4937760" cy="1463040"/>
          </a:xfrm>
          <a:prstGeom prst="roundRect">
            <a:avLst>
              <a:gd name="adj" fmla="val 5000"/>
            </a:avLst>
          </a:prstGeom>
          <a:solidFill>
            <a:srgbClr val="E4F0EF"/>
          </a:solidFill>
          <a:ln/>
        </p:spPr>
        <p:txBody>
          <a:bodyPr/>
          <a:p/>
        </p:txBody>
      </p:sp>
      <p:sp>
        <p:nvSpPr>
          <p:cNvPr id="18" name="Text 15"/>
          <p:cNvSpPr/>
          <p:nvPr/>
        </p:nvSpPr>
        <p:spPr>
          <a:xfrm>
            <a:off x="6967728" y="4773168"/>
            <a:ext cx="4434840" cy="1188720"/>
          </a:xfrm>
          <a:prstGeom prst="rect">
            <a:avLst/>
          </a:prstGeom>
          <a:noFill/>
          <a:ln/>
        </p:spPr>
        <p:txBody>
          <a:bodyPr wrap="square" lIns="0" tIns="0" rIns="0" bIns="0" rtlCol="0" anchor="ctr"/>
          <a:lstStyle/>
          <a:p>
            <a:pPr indent="0" marL="0">
              <a:lnSpc>
                <a:spcPct val="108000"/>
              </a:lnSpc>
              <a:spcAft>
                <a:spcPts val="300"/>
              </a:spcAft>
              <a:buNone/>
            </a:pPr>
            <a:r>
              <a:rPr lang="en-US" sz="1150" b="1" dirty="0">
                <a:solidFill>
                  <a:srgbClr val="0A5B5A"/>
                </a:solidFill>
                <a:latin typeface="Calibri" pitchFamily="34" charset="0"/>
                <a:ea typeface="Calibri" pitchFamily="34" charset="-122"/>
                <a:cs typeface="Calibri" pitchFamily="34" charset="-120"/>
              </a:rPr>
              <a:t>Then compare with a neighbor: </a:t>
            </a:r>
            <a:endParaRPr lang="en-US" sz="1150" dirty="0"/>
          </a:p>
          <a:p>
            <a:pPr indent="0" marL="0">
              <a:lnSpc>
                <a:spcPct val="108000"/>
              </a:lnSpc>
              <a:buNone/>
            </a:pPr>
            <a:r>
              <a:rPr lang="en-US" sz="1100" dirty="0">
                <a:solidFill>
                  <a:srgbClr val="46545F"/>
                </a:solidFill>
                <a:latin typeface="Calibri" pitchFamily="34" charset="0"/>
                <a:ea typeface="Calibri" pitchFamily="34" charset="-122"/>
                <a:cs typeface="Calibri" pitchFamily="34" charset="-120"/>
              </a:rPr>
              <a:t>same course, different logs — which three prompts made THEIR reuse list, and why? Different fills, same anatomy.</a:t>
            </a:r>
            <a:endParaRPr lang="en-US" sz="1150" dirty="0"/>
          </a:p>
        </p:txBody>
      </p:sp>
      <p:sp>
        <p:nvSpPr>
          <p:cNvPr id="1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2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C272E"/>
        </a:solidFill>
      </p:bgPr>
    </p:bg>
    <p:spTree>
      <p:nvGrpSpPr>
        <p:cNvPr id="1" name=""/>
        <p:cNvGrpSpPr/>
        <p:nvPr/>
      </p:nvGrpSpPr>
      <p:grpSpPr/>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0E7C7B"/>
          </a:solidFill>
          <a:ln/>
        </p:spPr>
        <p:txBody>
          <a:bodyPr/>
          <a:p/>
        </p:txBody>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192024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4 · THE PLAYBOOK</a:t>
            </a:r>
            <a:endParaRPr lang="en-US" sz="1600" dirty="0"/>
          </a:p>
        </p:txBody>
      </p:sp>
      <p:sp>
        <p:nvSpPr>
          <p:cNvPr id="16" name="Text 14"/>
          <p:cNvSpPr/>
          <p:nvPr/>
        </p:nvSpPr>
        <p:spPr>
          <a:xfrm>
            <a:off x="502920" y="237744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Thirteen templates,</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ready to copy</a:t>
            </a:r>
            <a:endParaRPr lang="en-US" sz="4400" dirty="0"/>
          </a:p>
        </p:txBody>
      </p:sp>
      <p:sp>
        <p:nvSpPr>
          <p:cNvPr id="17" name="Text 15"/>
          <p:cNvSpPr/>
          <p:nvPr/>
        </p:nvSpPr>
        <p:spPr>
          <a:xfrm>
            <a:off x="502920" y="42062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Eight generative + five agentic, shipped with this training in prompt-library/.</a:t>
            </a:r>
            <a:endParaRPr lang="en-US" sz="1500" dirty="0"/>
          </a:p>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Each: the template · a filled example · why it works · the pitfalls.</a:t>
            </a:r>
            <a:endParaRPr lang="en-US" sz="1500" dirty="0"/>
          </a:p>
        </p:txBody>
      </p:sp>
      <p:sp>
        <p:nvSpPr>
          <p:cNvPr id="18" name="Text 16"/>
          <p:cNvSpPr/>
          <p:nvPr/>
        </p:nvSpPr>
        <p:spPr>
          <a:xfrm>
            <a:off x="502920"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G1 Writing &amp; editing</a:t>
            </a:r>
            <a:endParaRPr lang="en-US" sz="1050" dirty="0"/>
          </a:p>
        </p:txBody>
      </p:sp>
      <p:sp>
        <p:nvSpPr>
          <p:cNvPr id="19" name="Text 17"/>
          <p:cNvSpPr/>
          <p:nvPr/>
        </p:nvSpPr>
        <p:spPr>
          <a:xfrm>
            <a:off x="3355848"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G2 Data analysis</a:t>
            </a:r>
            <a:endParaRPr lang="en-US" sz="1050" dirty="0"/>
          </a:p>
        </p:txBody>
      </p:sp>
      <p:sp>
        <p:nvSpPr>
          <p:cNvPr id="20" name="Text 18"/>
          <p:cNvSpPr/>
          <p:nvPr/>
        </p:nvSpPr>
        <p:spPr>
          <a:xfrm>
            <a:off x="6208776"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G3 Evaluations &amp; rubrics</a:t>
            </a:r>
            <a:endParaRPr lang="en-US" sz="1050" dirty="0"/>
          </a:p>
        </p:txBody>
      </p:sp>
      <p:sp>
        <p:nvSpPr>
          <p:cNvPr id="21" name="Text 19"/>
          <p:cNvSpPr/>
          <p:nvPr/>
        </p:nvSpPr>
        <p:spPr>
          <a:xfrm>
            <a:off x="9061704"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G4 Spreadsheets</a:t>
            </a:r>
            <a:endParaRPr lang="en-US" sz="1050" dirty="0"/>
          </a:p>
        </p:txBody>
      </p:sp>
      <p:sp>
        <p:nvSpPr>
          <p:cNvPr id="22" name="Text 20"/>
          <p:cNvSpPr/>
          <p:nvPr/>
        </p:nvSpPr>
        <p:spPr>
          <a:xfrm>
            <a:off x="502920"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G5 Presentations</a:t>
            </a:r>
            <a:endParaRPr lang="en-US" sz="1050" dirty="0"/>
          </a:p>
        </p:txBody>
      </p:sp>
      <p:sp>
        <p:nvSpPr>
          <p:cNvPr id="23" name="Text 21"/>
          <p:cNvSpPr/>
          <p:nvPr/>
        </p:nvSpPr>
        <p:spPr>
          <a:xfrm>
            <a:off x="3355848"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G6 Interactive HTML</a:t>
            </a:r>
            <a:endParaRPr lang="en-US" sz="1050" dirty="0"/>
          </a:p>
        </p:txBody>
      </p:sp>
      <p:sp>
        <p:nvSpPr>
          <p:cNvPr id="24" name="Text 22"/>
          <p:cNvSpPr/>
          <p:nvPr/>
        </p:nvSpPr>
        <p:spPr>
          <a:xfrm>
            <a:off x="6208776"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G7 Research briefs</a:t>
            </a:r>
            <a:endParaRPr lang="en-US" sz="1050" dirty="0"/>
          </a:p>
        </p:txBody>
      </p:sp>
      <p:sp>
        <p:nvSpPr>
          <p:cNvPr id="25" name="Text 23"/>
          <p:cNvSpPr/>
          <p:nvPr/>
        </p:nvSpPr>
        <p:spPr>
          <a:xfrm>
            <a:off x="9061704"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G8 Summarize &amp; compare</a:t>
            </a:r>
            <a:endParaRPr lang="en-US" sz="1050" dirty="0"/>
          </a:p>
        </p:txBody>
      </p:sp>
      <p:sp>
        <p:nvSpPr>
          <p:cNvPr id="26" name="Text 24"/>
          <p:cNvSpPr/>
          <p:nvPr/>
        </p:nvSpPr>
        <p:spPr>
          <a:xfrm>
            <a:off x="502920"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A1 Mission brief</a:t>
            </a:r>
            <a:endParaRPr lang="en-US" sz="1050" dirty="0"/>
          </a:p>
        </p:txBody>
      </p:sp>
      <p:sp>
        <p:nvSpPr>
          <p:cNvPr id="27" name="Text 25"/>
          <p:cNvSpPr/>
          <p:nvPr/>
        </p:nvSpPr>
        <p:spPr>
          <a:xfrm>
            <a:off x="3355848"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A2 ETL → presentation</a:t>
            </a:r>
            <a:endParaRPr lang="en-US" sz="1050" dirty="0"/>
          </a:p>
        </p:txBody>
      </p:sp>
      <p:sp>
        <p:nvSpPr>
          <p:cNvPr id="28" name="Text 26"/>
          <p:cNvSpPr/>
          <p:nvPr/>
        </p:nvSpPr>
        <p:spPr>
          <a:xfrm>
            <a:off x="6208776"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A3 Recurring cycle</a:t>
            </a:r>
            <a:endParaRPr lang="en-US" sz="1050" dirty="0"/>
          </a:p>
        </p:txBody>
      </p:sp>
      <p:sp>
        <p:nvSpPr>
          <p:cNvPr id="29" name="Text 27"/>
          <p:cNvSpPr/>
          <p:nvPr/>
        </p:nvSpPr>
        <p:spPr>
          <a:xfrm>
            <a:off x="9061704"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A4 CLAUDE.md starter</a:t>
            </a:r>
            <a:endParaRPr lang="en-US" sz="1050" dirty="0"/>
          </a:p>
        </p:txBody>
      </p:sp>
      <p:sp>
        <p:nvSpPr>
          <p:cNvPr id="30" name="Text 28"/>
          <p:cNvSpPr/>
          <p:nvPr/>
        </p:nvSpPr>
        <p:spPr>
          <a:xfrm>
            <a:off x="502920" y="6281928"/>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A5 Document pipeline</a:t>
            </a:r>
            <a:endParaRPr lang="en-US" sz="1050" dirty="0"/>
          </a:p>
        </p:txBody>
      </p:sp>
      <p:sp>
        <p:nvSpPr>
          <p:cNvPr id="31"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A7B0B5"/>
                </a:solidFill>
                <a:latin typeface="Calibri"/>
              </a:rPr>
              <a:t>From Prompts to Agents</a:t>
            </a:r>
          </a:p>
        </p:txBody>
      </p:sp>
      <p:sp>
        <p:nvSpPr>
          <p:cNvPr id="32"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A7B0B5"/>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 ANATOMY · G2 · DATA ANALYSIS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prompt is a document, not a sentence</a:t>
            </a:r>
            <a:endParaRPr lang="en-US" sz="3000" dirty="0"/>
          </a:p>
        </p:txBody>
      </p:sp>
      <p:sp>
        <p:nvSpPr>
          <p:cNvPr id="6" name="Shape 4"/>
          <p:cNvSpPr/>
          <p:nvPr/>
        </p:nvSpPr>
        <p:spPr>
          <a:xfrm>
            <a:off x="502920" y="1444752"/>
            <a:ext cx="5532120" cy="4572000"/>
          </a:xfrm>
          <a:prstGeom prst="roundRect">
            <a:avLst>
              <a:gd name="adj" fmla="val 1200"/>
            </a:avLst>
          </a:prstGeom>
          <a:solidFill>
            <a:srgbClr val="FFFFFF"/>
          </a:solidFill>
          <a:ln w="15875">
            <a:solidFill>
              <a:srgbClr val="46545F"/>
            </a:solidFill>
            <a:prstDash val="solid"/>
          </a:ln>
          <a:effectLst>
            <a:outerShdw sx="100000" sy="100000" kx="0" ky="0" algn="bl" rotWithShape="0" blurRad="76200" dist="25400" dir="2700000">
              <a:srgbClr val="999999">
                <a:alpha val="35000"/>
              </a:srgbClr>
            </a:outerShdw>
          </a:effectLst>
        </p:spPr>
        <p:txBody>
          <a:bodyPr/>
          <a:p/>
        </p:txBody>
      </p:sp>
      <p:sp>
        <p:nvSpPr>
          <p:cNvPr id="7" name="Shape 5"/>
          <p:cNvSpPr/>
          <p:nvPr/>
        </p:nvSpPr>
        <p:spPr>
          <a:xfrm>
            <a:off x="502920" y="1444752"/>
            <a:ext cx="5532120" cy="365760"/>
          </a:xfrm>
          <a:prstGeom prst="roundRect">
            <a:avLst>
              <a:gd name="adj" fmla="val 15000"/>
            </a:avLst>
          </a:prstGeom>
          <a:solidFill>
            <a:srgbClr val="46545F"/>
          </a:solidFill>
          <a:ln/>
        </p:spPr>
        <p:txBody>
          <a:bodyPr/>
          <a:p/>
        </p:txBody>
      </p:sp>
      <p:sp>
        <p:nvSpPr>
          <p:cNvPr id="8" name="Shape 6"/>
          <p:cNvSpPr/>
          <p:nvPr/>
        </p:nvSpPr>
        <p:spPr>
          <a:xfrm>
            <a:off x="658368" y="1563624"/>
            <a:ext cx="118872" cy="118872"/>
          </a:xfrm>
          <a:prstGeom prst="ellipse">
            <a:avLst/>
          </a:prstGeom>
          <a:solidFill>
            <a:srgbClr val="E74C3C"/>
          </a:solidFill>
          <a:ln/>
        </p:spPr>
        <p:txBody>
          <a:bodyPr/>
          <a:p/>
        </p:txBody>
      </p:sp>
      <p:sp>
        <p:nvSpPr>
          <p:cNvPr id="9" name="Shape 7"/>
          <p:cNvSpPr/>
          <p:nvPr/>
        </p:nvSpPr>
        <p:spPr>
          <a:xfrm>
            <a:off x="841248" y="1563624"/>
            <a:ext cx="118872" cy="118872"/>
          </a:xfrm>
          <a:prstGeom prst="ellipse">
            <a:avLst/>
          </a:prstGeom>
          <a:solidFill>
            <a:srgbClr val="F1C40F"/>
          </a:solidFill>
          <a:ln/>
        </p:spPr>
        <p:txBody>
          <a:bodyPr/>
          <a:p/>
        </p:txBody>
      </p:sp>
      <p:sp>
        <p:nvSpPr>
          <p:cNvPr id="10" name="Shape 8"/>
          <p:cNvSpPr/>
          <p:nvPr/>
        </p:nvSpPr>
        <p:spPr>
          <a:xfrm>
            <a:off x="1024128" y="1563624"/>
            <a:ext cx="118872" cy="118872"/>
          </a:xfrm>
          <a:prstGeom prst="ellipse">
            <a:avLst/>
          </a:prstGeom>
          <a:solidFill>
            <a:srgbClr val="2ECC71"/>
          </a:solidFill>
          <a:ln/>
        </p:spPr>
        <p:txBody>
          <a:bodyPr/>
          <a:p/>
        </p:txBody>
      </p:sp>
      <p:sp>
        <p:nvSpPr>
          <p:cNvPr id="11" name="Text 9"/>
          <p:cNvSpPr/>
          <p:nvPr/>
        </p:nvSpPr>
        <p:spPr>
          <a:xfrm>
            <a:off x="1280160" y="1463040"/>
            <a:ext cx="4572000" cy="329184"/>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G2_data_analysis.txt — your template, one page</a:t>
            </a:r>
            <a:endParaRPr lang="en-US" sz="950" dirty="0"/>
          </a:p>
        </p:txBody>
      </p:sp>
      <p:sp>
        <p:nvSpPr>
          <p:cNvPr id="12" name="Shape 10"/>
          <p:cNvSpPr/>
          <p:nvPr/>
        </p:nvSpPr>
        <p:spPr>
          <a:xfrm>
            <a:off x="685800" y="1956816"/>
            <a:ext cx="5166360" cy="731520"/>
          </a:xfrm>
          <a:prstGeom prst="roundRect">
            <a:avLst>
              <a:gd name="adj" fmla="val 5000"/>
            </a:avLst>
          </a:prstGeom>
          <a:solidFill>
            <a:srgbClr val="E4F0EF"/>
          </a:solidFill>
          <a:ln w="6350">
            <a:solidFill>
              <a:srgbClr val="DCE3E6"/>
            </a:solidFill>
            <a:prstDash val="solid"/>
          </a:ln>
        </p:spPr>
        <p:txBody>
          <a:bodyPr/>
          <a:p/>
        </p:txBody>
      </p:sp>
      <p:sp>
        <p:nvSpPr>
          <p:cNvPr id="13" name="Text 11"/>
          <p:cNvSpPr/>
          <p:nvPr/>
        </p:nvSpPr>
        <p:spPr>
          <a:xfrm>
            <a:off x="804672" y="1984248"/>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&lt;role&gt;</a:t>
            </a:r>
            <a:endParaRPr lang="en-US" sz="1100" dirty="0"/>
          </a:p>
        </p:txBody>
      </p:sp>
      <p:sp>
        <p:nvSpPr>
          <p:cNvPr id="14" name="Text 12"/>
          <p:cNvSpPr/>
          <p:nvPr/>
        </p:nvSpPr>
        <p:spPr>
          <a:xfrm>
            <a:off x="1883664" y="1984248"/>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Careful analyst: compute by RUNNING CODE — never mental math. State n. Never drop data silently.</a:t>
            </a:r>
            <a:endParaRPr lang="en-US" sz="1000" dirty="0"/>
          </a:p>
        </p:txBody>
      </p:sp>
      <p:sp>
        <p:nvSpPr>
          <p:cNvPr id="15" name="Shape 13"/>
          <p:cNvSpPr/>
          <p:nvPr/>
        </p:nvSpPr>
        <p:spPr>
          <a:xfrm>
            <a:off x="5870448" y="2322576"/>
            <a:ext cx="457200" cy="0"/>
          </a:xfrm>
          <a:prstGeom prst="line">
            <a:avLst/>
          </a:prstGeom>
          <a:noFill/>
          <a:ln w="9525">
            <a:solidFill>
              <a:srgbClr val="7A8790"/>
            </a:solidFill>
            <a:prstDash val="sysDot"/>
          </a:ln>
        </p:spPr>
        <p:txBody>
          <a:bodyPr/>
          <a:p/>
        </p:txBody>
      </p:sp>
      <p:sp>
        <p:nvSpPr>
          <p:cNvPr id="16" name="Shape 14"/>
          <p:cNvSpPr/>
          <p:nvPr/>
        </p:nvSpPr>
        <p:spPr>
          <a:xfrm>
            <a:off x="6345936" y="1938528"/>
            <a:ext cx="5303520" cy="768096"/>
          </a:xfrm>
          <a:prstGeom prst="roundRect">
            <a:avLst>
              <a:gd name="adj" fmla="val 9524"/>
            </a:avLst>
          </a:prstGeom>
          <a:solidFill>
            <a:srgbClr val="F2F5F6"/>
          </a:solidFill>
          <a:ln/>
        </p:spPr>
        <p:txBody>
          <a:bodyPr/>
          <a:p/>
        </p:txBody>
      </p:sp>
      <p:sp>
        <p:nvSpPr>
          <p:cNvPr id="17" name="Text 15"/>
          <p:cNvSpPr/>
          <p:nvPr/>
        </p:nvSpPr>
        <p:spPr>
          <a:xfrm>
            <a:off x="6565392" y="1984248"/>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code, not vibes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LLM arithmetic is unreliable; code execution makes the math real. No code tool → don’t trust computed numbers.</a:t>
            </a:r>
            <a:endParaRPr lang="en-US" sz="1050" dirty="0"/>
          </a:p>
        </p:txBody>
      </p:sp>
      <p:sp>
        <p:nvSpPr>
          <p:cNvPr id="18" name="Shape 16"/>
          <p:cNvSpPr/>
          <p:nvPr/>
        </p:nvSpPr>
        <p:spPr>
          <a:xfrm>
            <a:off x="685800" y="2761488"/>
            <a:ext cx="5166360" cy="731520"/>
          </a:xfrm>
          <a:prstGeom prst="roundRect">
            <a:avLst>
              <a:gd name="adj" fmla="val 5000"/>
            </a:avLst>
          </a:prstGeom>
          <a:solidFill>
            <a:srgbClr val="FFFFFF"/>
          </a:solidFill>
          <a:ln w="6350">
            <a:solidFill>
              <a:srgbClr val="DCE3E6"/>
            </a:solidFill>
            <a:prstDash val="solid"/>
          </a:ln>
        </p:spPr>
        <p:txBody>
          <a:bodyPr/>
          <a:p/>
        </p:txBody>
      </p:sp>
      <p:sp>
        <p:nvSpPr>
          <p:cNvPr id="19" name="Text 17"/>
          <p:cNvSpPr/>
          <p:nvPr/>
        </p:nvSpPr>
        <p:spPr>
          <a:xfrm>
            <a:off x="804672" y="2788920"/>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&lt;data&gt;</a:t>
            </a:r>
            <a:endParaRPr lang="en-US" sz="1100" dirty="0"/>
          </a:p>
        </p:txBody>
      </p:sp>
      <p:sp>
        <p:nvSpPr>
          <p:cNvPr id="20" name="Text 18"/>
          <p:cNvSpPr/>
          <p:nvPr/>
        </p:nvSpPr>
        <p:spPr>
          <a:xfrm>
            <a:off x="1883664" y="2788920"/>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File · sheet · header row · what one row means · exact column names · known quirks · metric definitions.</a:t>
            </a:r>
            <a:endParaRPr lang="en-US" sz="1000" dirty="0"/>
          </a:p>
        </p:txBody>
      </p:sp>
      <p:sp>
        <p:nvSpPr>
          <p:cNvPr id="21" name="Shape 19"/>
          <p:cNvSpPr/>
          <p:nvPr/>
        </p:nvSpPr>
        <p:spPr>
          <a:xfrm>
            <a:off x="5870448" y="3127248"/>
            <a:ext cx="457200" cy="0"/>
          </a:xfrm>
          <a:prstGeom prst="line">
            <a:avLst/>
          </a:prstGeom>
          <a:noFill/>
          <a:ln w="9525">
            <a:solidFill>
              <a:srgbClr val="7A8790"/>
            </a:solidFill>
            <a:prstDash val="sysDot"/>
          </a:ln>
        </p:spPr>
        <p:txBody>
          <a:bodyPr/>
          <a:p/>
        </p:txBody>
      </p:sp>
      <p:sp>
        <p:nvSpPr>
          <p:cNvPr id="22" name="Shape 20"/>
          <p:cNvSpPr/>
          <p:nvPr/>
        </p:nvSpPr>
        <p:spPr>
          <a:xfrm>
            <a:off x="6345936" y="2743200"/>
            <a:ext cx="5303520" cy="768096"/>
          </a:xfrm>
          <a:prstGeom prst="roundRect">
            <a:avLst>
              <a:gd name="adj" fmla="val 9524"/>
            </a:avLst>
          </a:prstGeom>
          <a:solidFill>
            <a:srgbClr val="F2F5F6"/>
          </a:solidFill>
          <a:ln/>
        </p:spPr>
        <p:txBody>
          <a:bodyPr/>
          <a:p/>
        </p:txBody>
      </p:sp>
      <p:sp>
        <p:nvSpPr>
          <p:cNvPr id="23" name="Text 21"/>
          <p:cNvSpPr/>
          <p:nvPr/>
        </p:nvSpPr>
        <p:spPr>
          <a:xfrm>
            <a:off x="6565392" y="2788920"/>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schema 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The model guessing your grain and denominator is the #1 source of wrong answers.</a:t>
            </a:r>
            <a:endParaRPr lang="en-US" sz="1050" dirty="0"/>
          </a:p>
        </p:txBody>
      </p:sp>
      <p:sp>
        <p:nvSpPr>
          <p:cNvPr id="24" name="Shape 22"/>
          <p:cNvSpPr/>
          <p:nvPr/>
        </p:nvSpPr>
        <p:spPr>
          <a:xfrm>
            <a:off x="685800" y="3566160"/>
            <a:ext cx="5166360" cy="731520"/>
          </a:xfrm>
          <a:prstGeom prst="roundRect">
            <a:avLst>
              <a:gd name="adj" fmla="val 5000"/>
            </a:avLst>
          </a:prstGeom>
          <a:solidFill>
            <a:srgbClr val="E4F0EF"/>
          </a:solidFill>
          <a:ln w="6350">
            <a:solidFill>
              <a:srgbClr val="DCE3E6"/>
            </a:solidFill>
            <a:prstDash val="solid"/>
          </a:ln>
        </p:spPr>
        <p:txBody>
          <a:bodyPr/>
          <a:p/>
        </p:txBody>
      </p:sp>
      <p:sp>
        <p:nvSpPr>
          <p:cNvPr id="25" name="Text 23"/>
          <p:cNvSpPr/>
          <p:nvPr/>
        </p:nvSpPr>
        <p:spPr>
          <a:xfrm>
            <a:off x="804672" y="3593592"/>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&lt;task&gt;</a:t>
            </a:r>
            <a:endParaRPr lang="en-US" sz="1100" dirty="0"/>
          </a:p>
        </p:txBody>
      </p:sp>
      <p:sp>
        <p:nvSpPr>
          <p:cNvPr id="26" name="Text 24"/>
          <p:cNvSpPr/>
          <p:nvPr/>
        </p:nvSpPr>
        <p:spPr>
          <a:xfrm>
            <a:off x="1883664" y="3593592"/>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Numbered questions in priority order — “and stop when they’re answered.”</a:t>
            </a:r>
            <a:endParaRPr lang="en-US" sz="1000" dirty="0"/>
          </a:p>
        </p:txBody>
      </p:sp>
      <p:sp>
        <p:nvSpPr>
          <p:cNvPr id="27" name="Shape 25"/>
          <p:cNvSpPr/>
          <p:nvPr/>
        </p:nvSpPr>
        <p:spPr>
          <a:xfrm>
            <a:off x="5870448" y="3931920"/>
            <a:ext cx="457200" cy="0"/>
          </a:xfrm>
          <a:prstGeom prst="line">
            <a:avLst/>
          </a:prstGeom>
          <a:noFill/>
          <a:ln w="9525">
            <a:solidFill>
              <a:srgbClr val="7A8790"/>
            </a:solidFill>
            <a:prstDash val="sysDot"/>
          </a:ln>
        </p:spPr>
        <p:txBody>
          <a:bodyPr/>
          <a:p/>
        </p:txBody>
      </p:sp>
      <p:sp>
        <p:nvSpPr>
          <p:cNvPr id="28" name="Shape 26"/>
          <p:cNvSpPr/>
          <p:nvPr/>
        </p:nvSpPr>
        <p:spPr>
          <a:xfrm>
            <a:off x="6345936" y="3547872"/>
            <a:ext cx="5303520" cy="768096"/>
          </a:xfrm>
          <a:prstGeom prst="roundRect">
            <a:avLst>
              <a:gd name="adj" fmla="val 9524"/>
            </a:avLst>
          </a:prstGeom>
          <a:solidFill>
            <a:srgbClr val="F2F5F6"/>
          </a:solidFill>
          <a:ln/>
        </p:spPr>
        <p:txBody>
          <a:bodyPr/>
          <a:p/>
        </p:txBody>
      </p:sp>
      <p:sp>
        <p:nvSpPr>
          <p:cNvPr id="29" name="Text 27"/>
          <p:cNvSpPr/>
          <p:nvPr/>
        </p:nvSpPr>
        <p:spPr>
          <a:xfrm>
            <a:off x="6565392" y="3593592"/>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questions, not topics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Topics generate exploration; questions generate answers. The stop prevents ten charts and no answer.</a:t>
            </a:r>
            <a:endParaRPr lang="en-US" sz="1050" dirty="0"/>
          </a:p>
        </p:txBody>
      </p:sp>
      <p:sp>
        <p:nvSpPr>
          <p:cNvPr id="30" name="Shape 28"/>
          <p:cNvSpPr/>
          <p:nvPr/>
        </p:nvSpPr>
        <p:spPr>
          <a:xfrm>
            <a:off x="685800" y="4370832"/>
            <a:ext cx="5166360" cy="731520"/>
          </a:xfrm>
          <a:prstGeom prst="roundRect">
            <a:avLst>
              <a:gd name="adj" fmla="val 5000"/>
            </a:avLst>
          </a:prstGeom>
          <a:solidFill>
            <a:srgbClr val="FFFFFF"/>
          </a:solidFill>
          <a:ln w="6350">
            <a:solidFill>
              <a:srgbClr val="DCE3E6"/>
            </a:solidFill>
            <a:prstDash val="solid"/>
          </a:ln>
        </p:spPr>
        <p:txBody>
          <a:bodyPr/>
          <a:p/>
        </p:txBody>
      </p:sp>
      <p:sp>
        <p:nvSpPr>
          <p:cNvPr id="31" name="Text 29"/>
          <p:cNvSpPr/>
          <p:nvPr/>
        </p:nvSpPr>
        <p:spPr>
          <a:xfrm>
            <a:off x="804672" y="4398264"/>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&lt;method&gt;</a:t>
            </a:r>
            <a:endParaRPr lang="en-US" sz="1100" dirty="0"/>
          </a:p>
        </p:txBody>
      </p:sp>
      <p:sp>
        <p:nvSpPr>
          <p:cNvPr id="32" name="Text 30"/>
          <p:cNvSpPr/>
          <p:nvPr/>
        </p:nvSpPr>
        <p:spPr>
          <a:xfrm>
            <a:off x="1883664" y="4398264"/>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Profile first and show me · reconcile to a known total · flag n &lt; 20 · “associated with”, never “caused by”.</a:t>
            </a:r>
            <a:endParaRPr lang="en-US" sz="1000" dirty="0"/>
          </a:p>
        </p:txBody>
      </p:sp>
      <p:sp>
        <p:nvSpPr>
          <p:cNvPr id="33" name="Shape 31"/>
          <p:cNvSpPr/>
          <p:nvPr/>
        </p:nvSpPr>
        <p:spPr>
          <a:xfrm>
            <a:off x="5870448" y="4736592"/>
            <a:ext cx="457200" cy="0"/>
          </a:xfrm>
          <a:prstGeom prst="line">
            <a:avLst/>
          </a:prstGeom>
          <a:noFill/>
          <a:ln w="9525">
            <a:solidFill>
              <a:srgbClr val="7A8790"/>
            </a:solidFill>
            <a:prstDash val="sysDot"/>
          </a:ln>
        </p:spPr>
        <p:txBody>
          <a:bodyPr/>
          <a:p/>
        </p:txBody>
      </p:sp>
      <p:sp>
        <p:nvSpPr>
          <p:cNvPr id="34" name="Shape 32"/>
          <p:cNvSpPr/>
          <p:nvPr/>
        </p:nvSpPr>
        <p:spPr>
          <a:xfrm>
            <a:off x="6345936" y="4352544"/>
            <a:ext cx="5303520" cy="768096"/>
          </a:xfrm>
          <a:prstGeom prst="roundRect">
            <a:avLst>
              <a:gd name="adj" fmla="val 9524"/>
            </a:avLst>
          </a:prstGeom>
          <a:solidFill>
            <a:srgbClr val="F2F5F6"/>
          </a:solidFill>
          <a:ln/>
        </p:spPr>
        <p:txBody>
          <a:bodyPr/>
          <a:p/>
        </p:txBody>
      </p:sp>
      <p:sp>
        <p:nvSpPr>
          <p:cNvPr id="35" name="Text 33"/>
          <p:cNvSpPr/>
          <p:nvPr/>
        </p:nvSpPr>
        <p:spPr>
          <a:xfrm>
            <a:off x="6565392" y="4398264"/>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one anchor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One reconciliation beats ten checks — and the language discipline survives into the deck leadership reads.</a:t>
            </a:r>
            <a:endParaRPr lang="en-US" sz="1050" dirty="0"/>
          </a:p>
        </p:txBody>
      </p:sp>
      <p:sp>
        <p:nvSpPr>
          <p:cNvPr id="36" name="Shape 34"/>
          <p:cNvSpPr/>
          <p:nvPr/>
        </p:nvSpPr>
        <p:spPr>
          <a:xfrm>
            <a:off x="685800" y="5175504"/>
            <a:ext cx="5166360" cy="731520"/>
          </a:xfrm>
          <a:prstGeom prst="roundRect">
            <a:avLst>
              <a:gd name="adj" fmla="val 5000"/>
            </a:avLst>
          </a:prstGeom>
          <a:solidFill>
            <a:srgbClr val="E4F0EF"/>
          </a:solidFill>
          <a:ln w="6350">
            <a:solidFill>
              <a:srgbClr val="DCE3E6"/>
            </a:solidFill>
            <a:prstDash val="solid"/>
          </a:ln>
        </p:spPr>
        <p:txBody>
          <a:bodyPr/>
          <a:p/>
        </p:txBody>
      </p:sp>
      <p:sp>
        <p:nvSpPr>
          <p:cNvPr id="37" name="Text 35"/>
          <p:cNvSpPr/>
          <p:nvPr/>
        </p:nvSpPr>
        <p:spPr>
          <a:xfrm>
            <a:off x="804672" y="5202936"/>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&lt;format&gt;</a:t>
            </a:r>
            <a:endParaRPr lang="en-US" sz="1100" dirty="0"/>
          </a:p>
        </p:txBody>
      </p:sp>
      <p:sp>
        <p:nvSpPr>
          <p:cNvPr id="38" name="Text 36"/>
          <p:cNvSpPr/>
          <p:nvPr/>
        </p:nvSpPr>
        <p:spPr>
          <a:xfrm>
            <a:off x="1883664" y="5202936"/>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Headline answer with the number FIRST, then the table; assumptions and caveats at the end.</a:t>
            </a:r>
            <a:endParaRPr lang="en-US" sz="1000" dirty="0"/>
          </a:p>
        </p:txBody>
      </p:sp>
      <p:sp>
        <p:nvSpPr>
          <p:cNvPr id="39" name="Shape 37"/>
          <p:cNvSpPr/>
          <p:nvPr/>
        </p:nvSpPr>
        <p:spPr>
          <a:xfrm>
            <a:off x="5870448" y="5541264"/>
            <a:ext cx="457200" cy="0"/>
          </a:xfrm>
          <a:prstGeom prst="line">
            <a:avLst/>
          </a:prstGeom>
          <a:noFill/>
          <a:ln w="9525">
            <a:solidFill>
              <a:srgbClr val="7A8790"/>
            </a:solidFill>
            <a:prstDash val="sysDot"/>
          </a:ln>
        </p:spPr>
        <p:txBody>
          <a:bodyPr/>
          <a:p/>
        </p:txBody>
      </p:sp>
      <p:sp>
        <p:nvSpPr>
          <p:cNvPr id="40" name="Shape 38"/>
          <p:cNvSpPr/>
          <p:nvPr/>
        </p:nvSpPr>
        <p:spPr>
          <a:xfrm>
            <a:off x="6345936" y="5157216"/>
            <a:ext cx="5303520" cy="768096"/>
          </a:xfrm>
          <a:prstGeom prst="roundRect">
            <a:avLst>
              <a:gd name="adj" fmla="val 9524"/>
            </a:avLst>
          </a:prstGeom>
          <a:solidFill>
            <a:srgbClr val="F2F5F6"/>
          </a:solidFill>
          <a:ln/>
        </p:spPr>
        <p:txBody>
          <a:bodyPr/>
          <a:p/>
        </p:txBody>
      </p:sp>
      <p:sp>
        <p:nvSpPr>
          <p:cNvPr id="41" name="Text 39"/>
          <p:cNvSpPr/>
          <p:nvPr/>
        </p:nvSpPr>
        <p:spPr>
          <a:xfrm>
            <a:off x="6565392" y="5202936"/>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answer-first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You read the answer in 10 seconds and audit the rest only if it matters.</a:t>
            </a:r>
            <a:endParaRPr lang="en-US" sz="1050" dirty="0"/>
          </a:p>
        </p:txBody>
      </p:sp>
      <p:sp>
        <p:nvSpPr>
          <p:cNvPr id="42" name="Shape 40"/>
          <p:cNvSpPr/>
          <p:nvPr/>
        </p:nvSpPr>
        <p:spPr>
          <a:xfrm>
            <a:off x="502920" y="6126480"/>
            <a:ext cx="11155680" cy="411480"/>
          </a:xfrm>
          <a:prstGeom prst="roundRect">
            <a:avLst>
              <a:gd name="adj" fmla="val 17778"/>
            </a:avLst>
          </a:prstGeom>
          <a:solidFill>
            <a:srgbClr val="E4F0EF"/>
          </a:solidFill>
          <a:ln/>
        </p:spPr>
        <p:txBody>
          <a:bodyPr/>
          <a:p/>
        </p:txBody>
      </p:sp>
      <p:sp>
        <p:nvSpPr>
          <p:cNvPr id="43" name="Shape 41"/>
          <p:cNvSpPr/>
          <p:nvPr/>
        </p:nvSpPr>
        <p:spPr>
          <a:xfrm>
            <a:off x="667512" y="6140196"/>
            <a:ext cx="384048" cy="384048"/>
          </a:xfrm>
          <a:prstGeom prst="ellipse">
            <a:avLst/>
          </a:prstGeom>
          <a:solidFill>
            <a:srgbClr val="0E7C7B"/>
          </a:solidFill>
          <a:ln/>
        </p:spPr>
        <p:txBody>
          <a:bodyPr/>
          <a:p/>
        </p:txBody>
      </p:sp>
      <p:pic>
        <p:nvPicPr>
          <p:cNvPr id="44" name="Image 0" descr="/home/user/Claude-Works/ai-training-prompt-engineering/src/assets/icons/copy_w.png">    </p:cNvPr>
          <p:cNvPicPr>
            <a:picLocks noChangeAspect="1"/>
          </p:cNvPicPr>
          <p:nvPr/>
        </p:nvPicPr>
        <p:blipFill>
          <a:blip r:embed="rId2"/>
          <a:stretch>
            <a:fillRect/>
          </a:stretch>
        </p:blipFill>
        <p:spPr>
          <a:xfrm>
            <a:off x="767364" y="6240048"/>
            <a:ext cx="184343" cy="184343"/>
          </a:xfrm>
          <a:prstGeom prst="rect">
            <a:avLst/>
          </a:prstGeom>
        </p:spPr>
      </p:pic>
      <p:sp>
        <p:nvSpPr>
          <p:cNvPr id="45" name="Text 42"/>
          <p:cNvSpPr/>
          <p:nvPr/>
        </p:nvSpPr>
        <p:spPr>
          <a:xfrm>
            <a:off x="1216152" y="6199632"/>
            <a:ext cx="10213848" cy="265176"/>
          </a:xfrm>
          <a:prstGeom prst="rect">
            <a:avLst/>
          </a:prstGeom>
          <a:noFill/>
          <a:ln/>
        </p:spPr>
        <p:txBody>
          <a:bodyPr wrap="square" lIns="0" tIns="0" rIns="0" bIns="0" rtlCol="0" anchor="ctr"/>
          <a:lstStyle/>
          <a:p>
            <a:pPr indent="0" marL="0">
              <a:lnSpc>
                <a:spcPct val="106000"/>
              </a:lnSpc>
              <a:buNone/>
            </a:pPr>
            <a:r>
              <a:rPr lang="en-US" sz="1000" b="1" dirty="0">
                <a:solidFill>
                  <a:srgbClr val="0A5B5A"/>
                </a:solidFill>
                <a:latin typeface="Calibri" pitchFamily="34" charset="0"/>
                <a:ea typeface="Calibri" pitchFamily="34" charset="-122"/>
                <a:cs typeface="Calibri" pitchFamily="34" charset="-120"/>
              </a:rPr>
              <a:t>✂ Copy-paste, don’t retype: </a:t>
            </a:r>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the full G2 template — blanks marked — is in tab G2-DataAnalysis of your Course Workbook; every prompt in this course lives in a named tab there.</a:t>
            </a:r>
            <a:endParaRPr lang="en-US" sz="1000" dirty="0"/>
          </a:p>
        </p:txBody>
      </p:sp>
      <p:sp>
        <p:nvSpPr>
          <p:cNvPr id="4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4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36</a:t>
            </a:r>
          </a:p>
        </p:txBody>
      </p:sp>
    </p:spTree>
  </p:cSld>
  <p:clrMapOvr>
    <a:masterClrMapping/>
  </p:clrMapOvr>
</p:sld>
</file>

<file path=ppt/slides/slide37.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37</a:t>
            </a:r>
          </a:p>
        </p:txBody>
      </p:sp>
    </p:spTree>
    <p:extLst>
      <p:ext uri="{BB962C8B-B14F-4D97-AF65-F5344CB8AC3E}">
        <p14:creationId xmlns:p14="http://schemas.microsoft.com/office/powerpoint/2010/main" val="1528682446"/>
      </p:ext>
    </p:extLst>
  </p:cSld>
</p:sld>
</file>

<file path=ppt/slides/slide3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 xmlns:a="http://schemas.openxmlformats.org/drawingml/2006/main">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sp xmlns:a="http://schemas.openxmlformats.org/drawingml/2006/main">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39</a:t>
            </a:r>
          </a:p>
        </p:txBody>
      </p:sp>
      <p:sp xmlns:a="http://schemas.openxmlformats.org/drawingml/2006/main">
        <p:nvSpPr>
          <p:cNvPr id="10" name="ex-intro"/>
          <p:cNvSpPr/>
          <p:nvPr/>
        </p:nvSpPr>
        <p:spPr>
          <a:xfrm>
            <a:off x="612648"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600" b="1">
                <a:solidFill>
                  <a:srgbClr val="232A31"/>
                </a:solidFill>
                <a:latin typeface="Calibri"/>
              </a:rPr>
              <a:t>Same chat, same data — one more prompt:</a:t>
            </a:r>
          </a:p>
        </p:txBody>
      </p:sp>
      <p:sp xmlns:a="http://schemas.openxmlformats.org/drawingml/2006/main">
        <p:nvSpPr>
          <p:cNvPr id="11" name="ex-box-panel"/>
          <p:cNvSpPr/>
          <p:nvPr/>
        </p:nvSpPr>
        <p:spPr>
          <a:xfrm>
            <a:off x="612648" y="2432304"/>
            <a:ext cx="10972800" cy="13716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the same data, compare return rate by month and site. Identify the clearest increase, decrease, or unusual pattern. Show the values behind it. Do not claim a cause. List the additional data needed to investigate why it happened.”</a:t>
            </a:r>
          </a:p>
        </p:txBody>
      </p:sp>
      <p:sp xmlns:a="http://schemas.openxmlformats.org/drawingml/2006/main">
        <p:nvSpPr>
          <p:cNvPr id="12" name="ex-note"/>
          <p:cNvSpPr/>
          <p:nvPr/>
        </p:nvSpPr>
        <p:spPr>
          <a:xfrm>
            <a:off x="612648" y="3986784"/>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A finding names a pattern and shows its values. A cause needs data this file does not contain — the honest answer lists what to collect next.</a:t>
            </a:r>
          </a:p>
        </p:txBody>
      </p:sp>
    </p:spTree>
    <p:extLst>
      <p:ext uri="{BB962C8B-B14F-4D97-AF65-F5344CB8AC3E}">
        <p14:creationId xmlns:p14="http://schemas.microsoft.com/office/powerpoint/2010/main" val="129586125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40</a:t>
            </a:r>
          </a:p>
        </p:txBody>
      </p:sp>
      <p:sp xmlns:a="http://schemas.openxmlformats.org/drawingml/2006/main">
        <p:nvSpPr>
          <p:cNvPr id="17" name="ex-box-panel"/>
          <p:cNvSpPr/>
          <p:nvPr/>
        </p:nvSpPr>
        <p:spPr>
          <a:xfrm>
            <a:off x="612648" y="1874519"/>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Update the uploaded workbook and return an editable Excel file named Supplier_Data_Analyzed.xlsx — original data unchanged, analysis on a new Summary sheet.</a:t>
            </a:r>
          </a:p>
        </p:txBody>
      </p:sp>
      <p:sp xmlns:a="http://schemas.openxmlformats.org/drawingml/2006/main">
        <p:nvSpPr>
          <p:cNvPr id="18" name="ex-box-panel"/>
          <p:cNvSpPr/>
          <p:nvPr/>
        </p:nvSpPr>
        <p:spPr>
          <a:xfrm>
            <a:off x="612648" y="2843784"/>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SUMMARY SHEET</a:t>
            </a:r>
          </a:p>
          <a:p>
            <a:pPr algn="l"/>
            <a:r>
              <a:rPr sz="14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xmlns:a="http://schemas.openxmlformats.org/drawingml/2006/main">
        <p:nvSpPr>
          <p:cNvPr id="19" name="ex-box-panel"/>
          <p:cNvSpPr/>
          <p:nvPr/>
        </p:nvSpPr>
        <p:spPr>
          <a:xfrm>
            <a:off x="612648" y="3813048"/>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RULES</a:t>
            </a:r>
          </a:p>
          <a:p>
            <a:pPr algn="l"/>
            <a:r>
              <a:rPr sz="1400" b="0">
                <a:solidFill>
                  <a:srgbClr val="232A31"/>
                </a:solidFill>
                <a:latin typeface="Calibri"/>
              </a:rPr>
              <a:t>Traceable Excel logic — formulas or PivotTables, never hard-coded chart values · missing values stay missing · totals reconcile to the source before the file returns.</a:t>
            </a:r>
          </a:p>
        </p:txBody>
      </p:sp>
      <p:sp xmlns:a="http://schemas.openxmlformats.org/drawingml/2006/main">
        <p:nvSpPr>
          <p:cNvPr id="20" name="ex-box-panel"/>
          <p:cNvSpPr/>
          <p:nvPr/>
        </p:nvSpPr>
        <p:spPr>
          <a:xfrm>
            <a:off x="612648" y="4782312"/>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PROVE IT</a:t>
            </a:r>
          </a:p>
          <a:p>
            <a:pPr algn="l"/>
            <a:r>
              <a:rPr sz="1400" b="0">
                <a:solidFill>
                  <a:srgbClr val="232A31"/>
                </a:solidFill>
                <a:latin typeface="Calibri"/>
              </a:rPr>
              <a:t>Open the returned workbook, inspect the Summary sheet, click one chart — its source range or PivotTable must be editable.</a:t>
            </a:r>
          </a:p>
        </p:txBody>
      </p:sp>
    </p:spTree>
    <p:extLst>
      <p:ext uri="{BB962C8B-B14F-4D97-AF65-F5344CB8AC3E}">
        <p14:creationId xmlns:p14="http://schemas.microsoft.com/office/powerpoint/2010/main" val="146957604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 xmlns:a="http://schemas.openxmlformats.org/drawingml/2006/main">
        <p:nvSpPr>
          <p:cNvPr id="15" name="ex-box-panel"/>
          <p:cNvSpPr/>
          <p:nvPr/>
        </p:nvSpPr>
        <p:spPr>
          <a:xfrm>
            <a:off x="612648" y="1874519"/>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the returned Supplier_Data_Analyzed.xlsx workbook and its verified definitions, create one self-contained HTML dashboard that works offline.”</a:t>
            </a:r>
          </a:p>
        </p:txBody>
      </p:sp>
      <p:sp xmlns:a="http://schemas.openxmlformats.org/drawingml/2006/main">
        <p:nvSpPr>
          <p:cNvPr id="16" name="ex-box-panel"/>
          <p:cNvSpPr/>
          <p:nvPr/>
        </p:nvSpPr>
        <p:spPr>
          <a:xfrm>
            <a:off x="612648" y="3191256"/>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IT MUST INCLUDE</a:t>
            </a:r>
          </a:p>
          <a:p>
            <a:pPr algn="l"/>
            <a:r>
              <a:rPr sz="1400" b="0">
                <a:solidFill>
                  <a:srgbClr val="232A31"/>
                </a:solidFill>
                <a:latin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xmlns:a="http://schemas.openxmlformats.org/drawingml/2006/main">
        <p:nvSpPr>
          <p:cNvPr id="17" name="ex-box-panel"/>
          <p:cNvSpPr/>
          <p:nvPr/>
        </p:nvSpPr>
        <p:spPr>
          <a:xfrm>
            <a:off x="612648" y="4507992"/>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TEACHING LINE</a:t>
            </a:r>
          </a:p>
          <a:p>
            <a:pPr algn="l"/>
            <a:r>
              <a:rPr sz="1400" b="0">
                <a:solidFill>
                  <a:srgbClr val="232A31"/>
                </a:solidFill>
                <a:latin typeface="Calibri"/>
              </a:rPr>
              <a:t>You do not need to write the code. You need to describe the behavior.</a:t>
            </a:r>
          </a:p>
        </p:txBody>
      </p:sp>
    </p:spTree>
    <p:extLst>
      <p:ext uri="{BB962C8B-B14F-4D97-AF65-F5344CB8AC3E}">
        <p14:creationId xmlns:p14="http://schemas.microsoft.com/office/powerpoint/2010/main" val="187541384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42</a:t>
            </a:r>
          </a:p>
        </p:txBody>
      </p:sp>
      <p:sp xmlns:a="http://schemas.openxmlformats.org/drawingml/2006/main">
        <p:nvSpPr>
          <p:cNvPr id="10" name="ex-intro"/>
          <p:cNvSpPr/>
          <p:nvPr/>
        </p:nvSpPr>
        <p:spPr>
          <a:xfrm>
            <a:off x="612648"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600" b="1">
                <a:solidFill>
                  <a:srgbClr val="232A31"/>
                </a:solidFill>
                <a:latin typeface="Calibri"/>
              </a:rPr>
              <a:t>Input: Supplier_Data_Analyzed.xlsx — the returned workbook: same data, definitions, and period.</a:t>
            </a:r>
          </a:p>
        </p:txBody>
      </p:sp>
      <p:sp xmlns:a="http://schemas.openxmlformats.org/drawingml/2006/main">
        <p:nvSpPr>
          <p:cNvPr id="11" name="ex-box-panel"/>
          <p:cNvSpPr/>
          <p:nvPr/>
        </p:nvSpPr>
        <p:spPr>
          <a:xfrm>
            <a:off x="612648" y="2414016"/>
            <a:ext cx="10972800" cy="14173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TEST IT</a:t>
            </a:r>
          </a:p>
          <a:p>
            <a:pPr algn="l"/>
            <a:r>
              <a:rPr sz="1400" b="0">
                <a:solidFill>
                  <a:srgbClr val="232A31"/>
                </a:solidFill>
                <a:latin typeface="Calibri"/>
              </a:rPr>
              <a:t>1  Open the generated HTML file.</a:t>
            </a:r>
          </a:p>
          <a:p>
            <a:pPr algn="l"/>
            <a:r>
              <a:rPr sz="1400" b="0">
                <a:solidFill>
                  <a:srgbClr val="232A31"/>
                </a:solidFill>
                <a:latin typeface="Calibri"/>
              </a:rPr>
              <a:t>2  Filter to Berlin, Bravo Plastics, March through August 2026.</a:t>
            </a:r>
          </a:p>
          <a:p>
            <a:pPr algn="l"/>
            <a:r>
              <a:rPr sz="1400" b="0">
                <a:solidFill>
                  <a:srgbClr val="232A31"/>
                </a:solidFill>
                <a:latin typeface="Calibri"/>
              </a:rPr>
              <a:t>3  Verify 8,575 units, 21 returns, and a 0.245 percent return rate against the source.</a:t>
            </a:r>
          </a:p>
        </p:txBody>
      </p:sp>
      <p:sp xmlns:a="http://schemas.openxmlformats.org/drawingml/2006/main">
        <p:nvSpPr>
          <p:cNvPr id="12" name="ex-box-panel"/>
          <p:cNvSpPr/>
          <p:nvPr/>
        </p:nvSpPr>
        <p:spPr>
          <a:xfrm>
            <a:off x="612648" y="3959352"/>
            <a:ext cx="10972800" cy="102412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Then ask for ONE refinement using the vocabulary — a different date range, grouping, metric, drill-down, sort, or reset behavior.</a:t>
            </a:r>
          </a:p>
        </p:txBody>
      </p:sp>
    </p:spTree>
    <p:extLst>
      <p:ext uri="{BB962C8B-B14F-4D97-AF65-F5344CB8AC3E}">
        <p14:creationId xmlns:p14="http://schemas.microsoft.com/office/powerpoint/2010/main" val="131037884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43</a:t>
            </a:r>
          </a:p>
        </p:txBody>
      </p:sp>
      <p:sp xmlns:a="http://schemas.openxmlformats.org/drawingml/2006/main">
        <p:nvSpPr>
          <p:cNvPr id="17" name="ex-box-panel"/>
          <p:cNvSpPr/>
          <p:nvPr/>
        </p:nvSpPr>
        <p:spPr>
          <a:xfrm>
            <a:off x="612648" y="1874519"/>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only the verified findings from this exercise, create an editable five-slide PowerPoint mock-up for [audience] to support [decision].”</a:t>
            </a:r>
          </a:p>
        </p:txBody>
      </p:sp>
      <p:sp xmlns:a="http://schemas.openxmlformats.org/drawingml/2006/main">
        <p:nvSpPr>
          <p:cNvPr id="18" name="ex-box-panel"/>
          <p:cNvSpPr/>
          <p:nvPr/>
        </p:nvSpPr>
        <p:spPr>
          <a:xfrm>
            <a:off x="612648" y="2843784"/>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FIVE SLIDES</a:t>
            </a:r>
          </a:p>
          <a:p>
            <a:pPr algn="l"/>
            <a:r>
              <a:rPr sz="1400" b="0">
                <a:solidFill>
                  <a:srgbClr val="232A31"/>
                </a:solidFill>
                <a:latin typeface="Calibri"/>
              </a:rPr>
              <a:t>1 Question and scope · 2 Supplier comparison · 3 The most important trend · 4 Recommended follow-up · 5 Limitations and next steps.</a:t>
            </a:r>
          </a:p>
        </p:txBody>
      </p:sp>
      <p:sp xmlns:a="http://schemas.openxmlformats.org/drawingml/2006/main">
        <p:nvSpPr>
          <p:cNvPr id="19" name="ex-box-panel"/>
          <p:cNvSpPr/>
          <p:nvPr/>
        </p:nvSpPr>
        <p:spPr>
          <a:xfrm>
            <a:off x="612648" y="3813048"/>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RULES</a:t>
            </a:r>
          </a:p>
          <a:p>
            <a:pPr algn="l"/>
            <a:r>
              <a:rPr sz="1400" b="0">
                <a:solidFill>
                  <a:srgbClr val="232A31"/>
                </a:solidFill>
                <a:latin typeface="Calibri"/>
              </a:rPr>
              <a:t>One main message per slide · readable charts, concise visible text, speaker notes · findings separated from recommendations · no invented causes or commitments.</a:t>
            </a:r>
          </a:p>
        </p:txBody>
      </p:sp>
      <p:sp xmlns:a="http://schemas.openxmlformats.org/drawingml/2006/main">
        <p:nvSpPr>
          <p:cNvPr id="20" name="ex-box-panel"/>
          <p:cNvSpPr/>
          <p:nvPr/>
        </p:nvSpPr>
        <p:spPr>
          <a:xfrm>
            <a:off x="612648" y="4782312"/>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WHY IT DIFFERS</a:t>
            </a:r>
          </a:p>
          <a:p>
            <a:pPr algn="l"/>
            <a:r>
              <a:rPr sz="1400" b="0">
                <a:solidFill>
                  <a:srgbClr val="232A31"/>
                </a:solidFill>
                <a:latin typeface="Calibri"/>
              </a:rPr>
              <a:t>The dashboard supports exploration; the presentation supports a management decision — the final step of the connected data exercise.</a:t>
            </a:r>
          </a:p>
        </p:txBody>
      </p:sp>
    </p:spTree>
    <p:extLst>
      <p:ext uri="{BB962C8B-B14F-4D97-AF65-F5344CB8AC3E}">
        <p14:creationId xmlns:p14="http://schemas.microsoft.com/office/powerpoint/2010/main" val="87674091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44</a:t>
            </a:r>
          </a:p>
        </p:txBody>
      </p:sp>
      <p:sp xmlns:a="http://schemas.openxmlformats.org/drawingml/2006/main">
        <p:nvSpPr>
          <p:cNvPr id="17" name="copilot-where"/>
          <p:cNvSpPr/>
          <p:nvPr/>
        </p:nvSpPr>
        <p:spPr>
          <a:xfrm>
            <a:off x="612648" y="5138928"/>
            <a:ext cx="10972800" cy="56692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54864" rIns="109728">
            <a:noAutofit/>
          </a:bodyPr>
          <a:lstStyle/>
          <a:p>
            <a:pPr algn="l"/>
            <a:r>
              <a:rPr sz="1050" b="1">
                <a:solidFill>
                  <a:srgbClr val="0A5B5A"/>
                </a:solidFill>
                <a:latin typeface="Calibri"/>
              </a:rPr>
              <a:t>WHERE TO CLICK IN OUTLOOK →  </a:t>
            </a:r>
            <a:r>
              <a:rPr sz="1000" b="0">
                <a:solidFill>
                  <a:srgbClr val="232A31"/>
                </a:solidFill>
                <a:latin typeface="Calibri"/>
              </a:rPr>
              <a:t>Open the thread — the “Summary by Copilot” banner sits at the top of the reading pane; click Summarize. For drafting, select the Copilot button on the Home ribbon → Draft with Copilot. Icon missing? Your account needs a Microsoft 365 Copilot license — check with IT.</a:t>
            </a:r>
          </a:p>
        </p:txBody>
      </p:sp>
      <p:sp xmlns:a="http://schemas.openxmlformats.org/drawingml/2006/main">
        <p:nvSpPr>
          <p:cNvPr id="18" name="ex-box-panel"/>
          <p:cNvSpPr/>
          <p:nvPr/>
        </p:nvSpPr>
        <p:spPr>
          <a:xfrm>
            <a:off x="612648" y="1847088"/>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CATCH ME UP</a:t>
            </a:r>
          </a:p>
          <a:p>
            <a:pPr algn="l"/>
            <a:r>
              <a:rPr sz="1200" b="0">
                <a:solidFill>
                  <a:srgbClr val="232A31"/>
                </a:solidFill>
                <a:latin typeface="Calibri"/>
              </a:rPr>
              <a:t>“Summarize the current situation in three sentences.”</a:t>
            </a:r>
          </a:p>
        </p:txBody>
      </p:sp>
      <p:sp xmlns:a="http://schemas.openxmlformats.org/drawingml/2006/main">
        <p:nvSpPr>
          <p:cNvPr id="19" name="ex-box-panel"/>
          <p:cNvSpPr/>
          <p:nvPr/>
        </p:nvSpPr>
        <p:spPr>
          <a:xfrm>
            <a:off x="612648" y="2651760"/>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WHAT CHANGED · WHO OWES WHAT</a:t>
            </a:r>
          </a:p>
          <a:p>
            <a:pPr algn="l"/>
            <a:r>
              <a:rPr sz="1200" b="0">
                <a:solidFill>
                  <a:srgbClr val="232A31"/>
                </a:solidFill>
                <a:latin typeface="Calibri"/>
              </a:rPr>
              <a:t>“List changed dates or decisions and show the latest version.” · “Create a table with task, owner, due date, and dependency.”</a:t>
            </a:r>
          </a:p>
        </p:txBody>
      </p:sp>
      <p:sp xmlns:a="http://schemas.openxmlformats.org/drawingml/2006/main">
        <p:nvSpPr>
          <p:cNvPr id="20" name="ex-box-panel"/>
          <p:cNvSpPr/>
          <p:nvPr/>
        </p:nvSpPr>
        <p:spPr>
          <a:xfrm>
            <a:off x="612648" y="3456432"/>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WHAT REMAINS OPEN</a:t>
            </a:r>
          </a:p>
          <a:p>
            <a:pPr algn="l"/>
            <a:r>
              <a:rPr sz="1200" b="0">
                <a:solidFill>
                  <a:srgbClr val="232A31"/>
                </a:solidFill>
                <a:latin typeface="Calibri"/>
              </a:rPr>
              <a:t>“List unanswered questions, approval conditions, and missing attachments.”</a:t>
            </a:r>
          </a:p>
        </p:txBody>
      </p:sp>
      <p:sp xmlns:a="http://schemas.openxmlformats.org/drawingml/2006/main">
        <p:nvSpPr>
          <p:cNvPr id="21" name="ex-box-panel"/>
          <p:cNvSpPr/>
          <p:nvPr/>
        </p:nvSpPr>
        <p:spPr>
          <a:xfrm>
            <a:off x="612648" y="4261104"/>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PREPARE MY REPLY</a:t>
            </a:r>
          </a:p>
          <a:p>
            <a:pPr algn="l"/>
            <a:r>
              <a:rPr sz="1200" b="0">
                <a:solidFill>
                  <a:srgbClr val="232A31"/>
                </a:solidFill>
                <a:latin typeface="Calibri"/>
              </a:rPr>
              <a:t>“Draft a concise response. Use brackets where I still need to decide. Do not invent commitments.”</a:t>
            </a:r>
          </a:p>
        </p:txBody>
      </p:sp>
    </p:spTree>
    <p:extLst>
      <p:ext uri="{BB962C8B-B14F-4D97-AF65-F5344CB8AC3E}">
        <p14:creationId xmlns:p14="http://schemas.microsoft.com/office/powerpoint/2010/main" val="182227215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91–92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45</a:t>
            </a:r>
          </a:p>
        </p:txBody>
      </p:sp>
      <p:sp xmlns:a="http://schemas.openxmlformats.org/drawingml/2006/main">
        <p:nvSpPr>
          <p:cNvPr id="10" name="ex-box-panel"/>
          <p:cNvSpPr/>
          <p:nvPr/>
        </p:nvSpPr>
        <p:spPr>
          <a:xfrm>
            <a:off x="612648" y="1920240"/>
            <a:ext cx="10972800" cy="21031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p:txBody>
      </p:sp>
      <p:sp xmlns:a="http://schemas.openxmlformats.org/drawingml/2006/main">
        <p:nvSpPr>
          <p:cNvPr id="11" name="ex-note"/>
          <p:cNvSpPr/>
          <p:nvPr/>
        </p:nvSpPr>
        <p:spPr>
          <a:xfrm>
            <a:off x="612648" y="4169663"/>
            <a:ext cx="109728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Run it after the built-in summary, in the Copilot chat pane on the same conversation — or paste Packaging_Change_Thread.txt into an approved assistant.</a:t>
            </a:r>
          </a:p>
        </p:txBody>
      </p:sp>
    </p:spTree>
    <p:extLst>
      <p:ext uri="{BB962C8B-B14F-4D97-AF65-F5344CB8AC3E}">
        <p14:creationId xmlns:p14="http://schemas.microsoft.com/office/powerpoint/2010/main" val="165831923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 xmlns:a="http://schemas.openxmlformats.org/drawingml/2006/main">
        <p:nvSpPr>
          <p:cNvPr id="10" name="ex-box-panel"/>
          <p:cNvSpPr/>
          <p:nvPr/>
        </p:nvSpPr>
        <p:spPr>
          <a:xfrm>
            <a:off x="612648" y="1920240"/>
            <a:ext cx="10972800" cy="260604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a:pPr algn="l"/>
            <a:r>
              <a:rPr sz="1400" b="0">
                <a:solidFill>
                  <a:srgbClr val="232A31"/>
                </a:solidFill>
                <a:latin typeface="Calibri"/>
              </a:rPr>
              <a:t>“Copy values exactly as stated. Keep currencies, quantities, and units in their original form. Write ‘Not stated’ when a field is absent. Do not normalize, rank, or recommend yet. Cite the source file and page for every extracted commercial value.”</a:t>
            </a:r>
          </a:p>
        </p:txBody>
      </p:sp>
      <p:sp xmlns:a="http://schemas.openxmlformats.org/drawingml/2006/main">
        <p:nvSpPr>
          <p:cNvPr id="11" name="ex-note"/>
          <p:cNvSpPr/>
          <p:nvPr/>
        </p:nvSpPr>
        <p:spPr>
          <a:xfrm>
            <a:off x="612648" y="4663440"/>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Step one is faithful extraction and traceability — judgment comes next.</a:t>
            </a:r>
          </a:p>
        </p:txBody>
      </p:sp>
    </p:spTree>
    <p:extLst>
      <p:ext uri="{BB962C8B-B14F-4D97-AF65-F5344CB8AC3E}">
        <p14:creationId xmlns:p14="http://schemas.microsoft.com/office/powerpoint/2010/main" val="52634781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 xmlns:a="http://schemas.openxmlformats.org/drawingml/2006/main">
        <p:nvSpPr>
          <p:cNvPr id="10" name="ex-box-panel"/>
          <p:cNvSpPr/>
          <p:nvPr/>
        </p:nvSpPr>
        <p:spPr>
          <a:xfrm>
            <a:off x="612648" y="1920240"/>
            <a:ext cx="10972800" cy="260604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a:pPr algn="l"/>
            <a:r>
              <a:rPr sz="1400" b="0">
                <a:solidFill>
                  <a:srgbClr val="232A31"/>
                </a:solidFill>
                <a:latin typeface="Calibri"/>
              </a:rPr>
              <a:t>“Do not identify a best quote until the comparison basis is complete. List the missing information and unresolved questions that prevent a fair recommendation.”</a:t>
            </a:r>
          </a:p>
        </p:txBody>
      </p:sp>
      <p:sp xmlns:a="http://schemas.openxmlformats.org/drawingml/2006/main">
        <p:nvSpPr>
          <p:cNvPr id="11" name="ex-note"/>
          <p:cNvSpPr/>
          <p:nvPr/>
        </p:nvSpPr>
        <p:spPr>
          <a:xfrm>
            <a:off x="612648" y="4663440"/>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The trap: the cheapest-looking quote stops looking cheapest once tooling, freight, currency, and scope are on the table.</a:t>
            </a:r>
          </a:p>
        </p:txBody>
      </p:sp>
    </p:spTree>
    <p:extLst>
      <p:ext uri="{BB962C8B-B14F-4D97-AF65-F5344CB8AC3E}">
        <p14:creationId xmlns:p14="http://schemas.microsoft.com/office/powerpoint/2010/main" val="526347815"/>
      </p:ext>
    </p:extLst>
  </p:cSld>
</p:sld>
</file>

<file path=ppt/slides/slide48.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48</a:t>
            </a:r>
          </a:p>
        </p:txBody>
      </p:sp>
    </p:spTree>
    <p:extLst>
      <p:ext uri="{BB962C8B-B14F-4D97-AF65-F5344CB8AC3E}">
        <p14:creationId xmlns:p14="http://schemas.microsoft.com/office/powerpoint/2010/main" val="9290213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49</a:t>
            </a:r>
          </a:p>
        </p:txBody>
      </p:sp>
    </p:spTree>
    <p:extLst>
      <p:ext uri="{BB962C8B-B14F-4D97-AF65-F5344CB8AC3E}">
        <p14:creationId xmlns:p14="http://schemas.microsoft.com/office/powerpoint/2010/main" val="159231894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904212700"/>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51</a:t>
            </a:r>
          </a:p>
        </p:txBody>
      </p:sp>
    </p:spTree>
    <p:extLst>
      <p:ext uri="{BB962C8B-B14F-4D97-AF65-F5344CB8AC3E}">
        <p14:creationId xmlns:p14="http://schemas.microsoft.com/office/powerpoint/2010/main" val="183561370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52</a:t>
            </a:r>
          </a:p>
        </p:txBody>
      </p:sp>
    </p:spTree>
    <p:extLst>
      <p:ext uri="{BB962C8B-B14F-4D97-AF65-F5344CB8AC3E}">
        <p14:creationId xmlns:p14="http://schemas.microsoft.com/office/powerpoint/2010/main" val="6237867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87</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Tree>
    <p:extLst>
      <p:ext uri="{BB962C8B-B14F-4D97-AF65-F5344CB8AC3E}">
        <p14:creationId xmlns:p14="http://schemas.microsoft.com/office/powerpoint/2010/main" val="1469539441"/>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88</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35039219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55</a:t>
            </a:r>
          </a:p>
        </p:txBody>
      </p:sp>
    </p:spTree>
    <p:extLst>
      <p:ext uri="{BB962C8B-B14F-4D97-AF65-F5344CB8AC3E}">
        <p14:creationId xmlns:p14="http://schemas.microsoft.com/office/powerpoint/2010/main" val="2011186280"/>
      </p:ext>
    </p:extLst>
  </p:cSld>
</p:sld>
</file>

<file path=ppt/slides/slide56.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89</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57</a:t>
            </a:r>
          </a:p>
        </p:txBody>
      </p:sp>
    </p:spTree>
    <p:extLst>
      <p:ext uri="{BB962C8B-B14F-4D97-AF65-F5344CB8AC3E}">
        <p14:creationId xmlns:p14="http://schemas.microsoft.com/office/powerpoint/2010/main" val="39268929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58</a:t>
            </a:r>
          </a:p>
        </p:txBody>
      </p:sp>
    </p:spTree>
    <p:extLst>
      <p:ext uri="{BB962C8B-B14F-4D97-AF65-F5344CB8AC3E}">
        <p14:creationId xmlns:p14="http://schemas.microsoft.com/office/powerpoint/2010/main" val="80784694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Tree>
    <p:extLst>
      <p:ext uri="{BB962C8B-B14F-4D97-AF65-F5344CB8AC3E}">
        <p14:creationId xmlns:p14="http://schemas.microsoft.com/office/powerpoint/2010/main" val="136429918"/>
      </p:ext>
    </p:extLst>
  </p:cSld>
</p:sld>
</file>

<file path=ppt/slides/slide6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60</a:t>
            </a:r>
          </a:p>
        </p:txBody>
      </p:sp>
    </p:spTree>
    <p:extLst>
      <p:ext uri="{BB962C8B-B14F-4D97-AF65-F5344CB8AC3E}">
        <p14:creationId xmlns:p14="http://schemas.microsoft.com/office/powerpoint/2010/main" val="155777812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93680147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10937314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2663305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44616249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65</a:t>
            </a:r>
          </a:p>
        </p:txBody>
      </p:sp>
    </p:spTree>
    <p:extLst>
      <p:ext uri="{BB962C8B-B14F-4D97-AF65-F5344CB8AC3E}">
        <p14:creationId xmlns:p14="http://schemas.microsoft.com/office/powerpoint/2010/main" val="1604737603"/>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66</a:t>
            </a:r>
          </a:p>
        </p:txBody>
      </p:sp>
    </p:spTree>
    <p:extLst>
      <p:ext uri="{BB962C8B-B14F-4D97-AF65-F5344CB8AC3E}">
        <p14:creationId xmlns:p14="http://schemas.microsoft.com/office/powerpoint/2010/main" val="173695199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67</a:t>
            </a:r>
          </a:p>
        </p:txBody>
      </p:sp>
    </p:spTree>
    <p:extLst>
      <p:ext uri="{BB962C8B-B14F-4D97-AF65-F5344CB8AC3E}">
        <p14:creationId xmlns:p14="http://schemas.microsoft.com/office/powerpoint/2010/main" val="546940721"/>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1950054245"/>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327245966"/>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70</a:t>
            </a:r>
          </a:p>
        </p:txBody>
      </p:sp>
    </p:spTree>
    <p:extLst>
      <p:ext uri="{BB962C8B-B14F-4D97-AF65-F5344CB8AC3E}">
        <p14:creationId xmlns:p14="http://schemas.microsoft.com/office/powerpoint/2010/main" val="908117410"/>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71</a:t>
            </a:r>
          </a:p>
        </p:txBody>
      </p:sp>
    </p:spTree>
    <p:extLst>
      <p:ext uri="{BB962C8B-B14F-4D97-AF65-F5344CB8AC3E}">
        <p14:creationId xmlns:p14="http://schemas.microsoft.com/office/powerpoint/2010/main" val="468794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596619051"/>
      </p:ext>
    </p:extLst>
  </p:cSld>
</p:sld>
</file>

<file path=ppt/slides/slide73.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73</a:t>
            </a:r>
          </a:p>
        </p:txBody>
      </p:sp>
    </p:spTree>
    <p:extLst>
      <p:ext uri="{BB962C8B-B14F-4D97-AF65-F5344CB8AC3E}">
        <p14:creationId xmlns:p14="http://schemas.microsoft.com/office/powerpoint/2010/main" val="773604891"/>
      </p:ext>
    </p:extLst>
  </p:cSld>
</p:sld>
</file>

<file path=ppt/slides/slide74.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8000"/>
              </a:lnSpc>
              <a:buNone/>
            </a:pPr>
            <a:r>
              <a:rPr sz="1000" b="1">
                <a:solidFill>
                  <a:srgbClr val="B96A1B"/>
                </a:solidFill>
                <a:latin typeface="Calibri"/>
              </a:rPr>
              <a:t>SEND 1 · </a:t>
            </a:r>
            <a:r>
              <a:rPr sz="1000" b="1">
                <a:solidFill>
                  <a:srgbClr val="0A5B5A"/>
                </a:solidFill>
                <a:latin typeface="Calibri"/>
              </a:rPr>
              <a:t>TYPE THIS → </a:t>
            </a:r>
            <a:r>
              <a:rPr sz="950" b="0">
                <a:solidFill>
                  <a:srgbClr val="232A31"/>
                </a:solidFill>
                <a:latin typeface="Calibri"/>
              </a:rPr>
              <a:t>“Finish this sentence five different ways: “We should review the launch date because…” Treat each ending as a hypothetical possibility.”</a:t>
            </a:r>
            <a:endParaRPr sz="1000"/>
          </a:p>
          <a:p xmlns:a="http://schemas.openxmlformats.org/drawingml/2006/main">
            <a:pPr algn="l"/>
            <a:r>
              <a:rPr sz="1000" b="1">
                <a:solidFill>
                  <a:srgbClr val="B96A1B"/>
                </a:solidFill>
                <a:latin typeface="Calibri"/>
              </a:rPr>
              <a:t>SEND 2 · </a:t>
            </a:r>
            <a:r>
              <a:rPr sz="1000" b="1">
                <a:solidFill>
                  <a:srgbClr val="0A5B5A"/>
                </a:solidFill>
                <a:latin typeface="Calibri"/>
              </a:rPr>
              <a:t>TYPE THIS → </a:t>
            </a:r>
            <a:r>
              <a:rPr sz="95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32830804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xmlns:a="http://schemas.openxmlformats.org/drawingml/2006/main">
            <a:pPr algn="l"/>
            <a:r>
              <a:rPr sz="950" b="1">
                <a:solidFill>
                  <a:srgbClr val="B96A1B"/>
                </a:solidFill>
                <a:latin typeface="Calibri"/>
              </a:rPr>
              <a:t>HANDOFF FOLLOW-UP · </a:t>
            </a:r>
            <a:r>
              <a:rPr sz="950" b="1">
                <a:solidFill>
                  <a:srgbClr val="0A5B5A"/>
                </a:solidFill>
                <a:latin typeface="Calibri"/>
              </a:rPr>
              <a:t>TYPE THIS → </a:t>
            </a:r>
            <a:r>
              <a:rPr sz="90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1634874752"/>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723162863"/>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1490115458"/>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27</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1217328527"/>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735417206"/>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891697836"/>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32</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1464354410"/>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slide 108 (self-study)</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2000215022"/>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37</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469576047"/>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44</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182227215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50</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90421270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87</a:t>
            </a:r>
          </a:p>
        </p:txBody>
      </p:sp>
    </p:spTree>
    <p:extLst>
      <p:ext uri="{BB962C8B-B14F-4D97-AF65-F5344CB8AC3E}">
        <p14:creationId xmlns:p14="http://schemas.microsoft.com/office/powerpoint/2010/main" val="1469539441"/>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54</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88</a:t>
            </a:r>
          </a:p>
        </p:txBody>
      </p:sp>
    </p:spTree>
    <p:extLst>
      <p:ext uri="{BB962C8B-B14F-4D97-AF65-F5344CB8AC3E}">
        <p14:creationId xmlns:p14="http://schemas.microsoft.com/office/powerpoint/2010/main" val="350392193"/>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56</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89</a:t>
            </a:r>
          </a:p>
        </p:txBody>
      </p:sp>
    </p:spTree>
    <p:extLst>
      <p:ext uri="{BB962C8B-B14F-4D97-AF65-F5344CB8AC3E}">
        <p14:creationId xmlns:p14="http://schemas.microsoft.com/office/powerpoint/2010/main" val="67646735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Tree>
    <p:extLst>
      <p:ext uri="{BB962C8B-B14F-4D97-AF65-F5344CB8AC3E}">
        <p14:creationId xmlns:p14="http://schemas.microsoft.com/office/powerpoint/2010/main" val="507488637"/>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spTree>
    <p:extLst>
      <p:ext uri="{BB962C8B-B14F-4D97-AF65-F5344CB8AC3E}">
        <p14:creationId xmlns:p14="http://schemas.microsoft.com/office/powerpoint/2010/main" val="404875221"/>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97</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98</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99</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100</a:t>
            </a:r>
          </a:p>
        </p:txBody>
      </p:sp>
    </p:spTree>
    <p:extLst>
      <p:ext uri="{BB962C8B-B14F-4D97-AF65-F5344CB8AC3E}">
        <p14:creationId xmlns:p14="http://schemas.microsoft.com/office/powerpoint/2010/main" val="1293824134"/>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101</a:t>
            </a:r>
          </a:p>
        </p:txBody>
      </p:sp>
    </p:spTree>
    <p:extLst>
      <p:ext uri="{BB962C8B-B14F-4D97-AF65-F5344CB8AC3E}">
        <p14:creationId xmlns:p14="http://schemas.microsoft.com/office/powerpoint/2010/main" val="40487522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43.</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102</a:t>
            </a:r>
          </a:p>
        </p:txBody>
      </p:sp>
    </p:spTree>
    <p:extLst>
      <p:ext uri="{BB962C8B-B14F-4D97-AF65-F5344CB8AC3E}">
        <p14:creationId xmlns:p14="http://schemas.microsoft.com/office/powerpoint/2010/main" val="404875221"/>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103</a:t>
            </a:r>
          </a:p>
        </p:txBody>
      </p:sp>
    </p:spTree>
    <p:extLst>
      <p:ext uri="{BB962C8B-B14F-4D97-AF65-F5344CB8AC3E}">
        <p14:creationId xmlns:p14="http://schemas.microsoft.com/office/powerpoint/2010/main" val="404875221"/>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91–92.</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104</a:t>
            </a:r>
          </a:p>
        </p:txBody>
      </p:sp>
    </p:spTree>
    <p:extLst>
      <p:ext uri="{BB962C8B-B14F-4D97-AF65-F5344CB8AC3E}">
        <p14:creationId xmlns:p14="http://schemas.microsoft.com/office/powerpoint/2010/main" val="404875221"/>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105</a:t>
            </a:r>
          </a:p>
        </p:txBody>
      </p:sp>
    </p:spTree>
    <p:extLst>
      <p:ext uri="{BB962C8B-B14F-4D97-AF65-F5344CB8AC3E}">
        <p14:creationId xmlns:p14="http://schemas.microsoft.com/office/powerpoint/2010/main" val="996966470"/>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106</a:t>
            </a:r>
          </a:p>
        </p:txBody>
      </p:sp>
    </p:spTree>
    <p:extLst>
      <p:ext uri="{BB962C8B-B14F-4D97-AF65-F5344CB8AC3E}">
        <p14:creationId xmlns:p14="http://schemas.microsoft.com/office/powerpoint/2010/main" val="261249467"/>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107</a:t>
            </a:r>
          </a:p>
        </p:txBody>
      </p:sp>
    </p:spTree>
    <p:extLst>
      <p:ext uri="{BB962C8B-B14F-4D97-AF65-F5344CB8AC3E}">
        <p14:creationId xmlns:p14="http://schemas.microsoft.com/office/powerpoint/2010/main" val="1317624103"/>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108</a:t>
            </a:r>
          </a:p>
        </p:txBody>
      </p:sp>
    </p:spTree>
    <p:extLst>
      <p:ext uri="{BB962C8B-B14F-4D97-AF65-F5344CB8AC3E}">
        <p14:creationId xmlns:p14="http://schemas.microsoft.com/office/powerpoint/2010/main" val="2000215022"/>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109</a:t>
            </a:r>
          </a:p>
        </p:txBody>
      </p:sp>
    </p:spTree>
    <p:extLst>
      <p:ext uri="{BB962C8B-B14F-4D97-AF65-F5344CB8AC3E}">
        <p14:creationId xmlns:p14="http://schemas.microsoft.com/office/powerpoint/2010/main" val="1116655301"/>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110</a:t>
            </a:r>
          </a:p>
        </p:txBody>
      </p:sp>
    </p:spTree>
    <p:extLst>
      <p:ext uri="{BB962C8B-B14F-4D97-AF65-F5344CB8AC3E}">
        <p14:creationId xmlns:p14="http://schemas.microsoft.com/office/powerpoint/2010/main" val="532406867"/>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111</a:t>
            </a:r>
          </a:p>
        </p:txBody>
      </p:sp>
    </p:spTree>
    <p:extLst>
      <p:ext uri="{BB962C8B-B14F-4D97-AF65-F5344CB8AC3E}">
        <p14:creationId xmlns:p14="http://schemas.microsoft.com/office/powerpoint/2010/main" val="128242613"/>
      </p:ext>
    </p:extLst>
  </p:cSld>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PICK THE VEHICLE</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Chat, workflow, or agent — the path decides</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112</a:t>
            </a:r>
          </a:p>
        </p:txBody>
      </p:sp>
      <p:sp>
        <p:nvSpPr>
          <p:cNvPr id="8" name="veh-card-0"/>
          <p:cNvSpPr/>
          <p:nvPr/>
        </p:nvSpPr>
        <p:spPr>
          <a:xfrm>
            <a:off x="502920"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eh-head-0"/>
          <p:cNvSpPr/>
          <p:nvPr/>
        </p:nvSpPr>
        <p:spPr>
          <a:xfrm>
            <a:off x="630936"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CHAT</a:t>
            </a:r>
          </a:p>
        </p:txBody>
      </p:sp>
      <p:sp>
        <p:nvSpPr>
          <p:cNvPr id="10" name="veh-tag-0"/>
          <p:cNvSpPr/>
          <p:nvPr/>
        </p:nvSpPr>
        <p:spPr>
          <a:xfrm>
            <a:off x="630936"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You are the loop.</a:t>
            </a:r>
          </a:p>
        </p:txBody>
      </p:sp>
      <p:sp>
        <p:nvSpPr>
          <p:cNvPr id="11" name="veh-body-0"/>
          <p:cNvSpPr/>
          <p:nvPr/>
        </p:nvSpPr>
        <p:spPr>
          <a:xfrm>
            <a:off x="630936"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Exploring, drafting, judging as you go. You read every answer and steer every turn — the prompting craft, live.</a:t>
            </a:r>
          </a:p>
        </p:txBody>
      </p:sp>
      <p:sp>
        <p:nvSpPr>
          <p:cNvPr id="12" name="veh-card-1"/>
          <p:cNvSpPr/>
          <p:nvPr/>
        </p:nvSpPr>
        <p:spPr>
          <a:xfrm>
            <a:off x="4279392"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h-head-1"/>
          <p:cNvSpPr/>
          <p:nvPr/>
        </p:nvSpPr>
        <p:spPr>
          <a:xfrm>
            <a:off x="4407407"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WORKFLOW</a:t>
            </a:r>
          </a:p>
        </p:txBody>
      </p:sp>
      <p:sp>
        <p:nvSpPr>
          <p:cNvPr id="14" name="veh-tag-1"/>
          <p:cNvSpPr/>
          <p:nvPr/>
        </p:nvSpPr>
        <p:spPr>
          <a:xfrm>
            <a:off x="4407407"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is frozen.</a:t>
            </a:r>
          </a:p>
        </p:txBody>
      </p:sp>
      <p:sp>
        <p:nvSpPr>
          <p:cNvPr id="15" name="veh-body-1"/>
          <p:cNvSpPr/>
          <p:nvPr/>
        </p:nvSpPr>
        <p:spPr>
          <a:xfrm>
            <a:off x="4407407"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Known path, few tools, same steps every time — script it (n8n, Zapier, Power Automate). Cheaper, predictable, auditable. No judgment needed mid-run.</a:t>
            </a:r>
          </a:p>
        </p:txBody>
      </p:sp>
      <p:sp>
        <p:nvSpPr>
          <p:cNvPr id="16" name="veh-card-2"/>
          <p:cNvSpPr/>
          <p:nvPr/>
        </p:nvSpPr>
        <p:spPr>
          <a:xfrm>
            <a:off x="8055864"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eh-head-2"/>
          <p:cNvSpPr/>
          <p:nvPr/>
        </p:nvSpPr>
        <p:spPr>
          <a:xfrm>
            <a:off x="8183880"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AGENT</a:t>
            </a:r>
          </a:p>
        </p:txBody>
      </p:sp>
      <p:sp>
        <p:nvSpPr>
          <p:cNvPr id="18" name="veh-tag-2"/>
          <p:cNvSpPr/>
          <p:nvPr/>
        </p:nvSpPr>
        <p:spPr>
          <a:xfrm>
            <a:off x="8183880"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runs inside.</a:t>
            </a:r>
          </a:p>
        </p:txBody>
      </p:sp>
      <p:sp>
        <p:nvSpPr>
          <p:cNvPr id="19" name="veh-body-2"/>
          <p:cNvSpPr/>
          <p:nvPr/>
        </p:nvSpPr>
        <p:spPr>
          <a:xfrm>
            <a:off x="8183880"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Unknown path — the next step depends on what it finds. Brief it, with gates where the judgment stays yours. Your control lives in the brief, not the conversation.</a:t>
            </a:r>
          </a:p>
        </p:txBody>
      </p:sp>
      <p:sp>
        <p:nvSpPr>
          <p:cNvPr id="20" name="veh-img-card"/>
          <p:cNvSpPr/>
          <p:nvPr/>
        </p:nvSpPr>
        <p:spPr>
          <a:xfrm>
            <a:off x="502920" y="4005072"/>
            <a:ext cx="2834640" cy="23317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ourier_work_order.jpg"/>
          <p:cNvPicPr>
            <a:picLocks noChangeAspect="1"/>
          </p:cNvPicPr>
          <p:nvPr/>
        </p:nvPicPr>
        <p:blipFill>
          <a:blip r:embed="rId2"/>
          <a:stretch>
            <a:fillRect/>
          </a:stretch>
        </p:blipFill>
        <p:spPr>
          <a:xfrm>
            <a:off x="630936" y="4114800"/>
            <a:ext cx="2578608" cy="1438494"/>
          </a:xfrm>
          <a:prstGeom prst="rect">
            <a:avLst/>
          </a:prstGeom>
        </p:spPr>
      </p:pic>
      <p:sp>
        <p:nvSpPr>
          <p:cNvPr id="22" name="veh-img-cap"/>
          <p:cNvSpPr/>
          <p:nvPr/>
        </p:nvSpPr>
        <p:spPr>
          <a:xfrm>
            <a:off x="566928" y="5925312"/>
            <a:ext cx="2706624"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ctr"/>
            <a:r>
              <a:rPr sz="950" b="0" i="1">
                <a:solidFill>
                  <a:srgbClr val="657278"/>
                </a:solidFill>
                <a:latin typeface="Calibri"/>
              </a:rPr>
              <a:t>Don’t chat with an agent — hand it a work order.</a:t>
            </a:r>
          </a:p>
        </p:txBody>
      </p:sp>
      <p:sp>
        <p:nvSpPr>
          <p:cNvPr id="23" name="veh-rule"/>
          <p:cNvSpPr/>
          <p:nvPr/>
        </p:nvSpPr>
        <p:spPr>
          <a:xfrm>
            <a:off x="3520440" y="4005072"/>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eh-rule-t"/>
          <p:cNvSpPr/>
          <p:nvPr/>
        </p:nvSpPr>
        <p:spPr>
          <a:xfrm>
            <a:off x="3648456" y="4096512"/>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decision rule: </a:t>
            </a:r>
            <a:r>
              <a:rPr sz="1100" b="0" i="0">
                <a:solidFill>
                  <a:srgbClr val="3D4B50"/>
                </a:solidFill>
                <a:latin typeface="Calibri"/>
              </a:rPr>
              <a:t>known path + few tools → workflow. Unknown path, real judgment → agent, with gates. Still thinking it through → chat.</a:t>
            </a:r>
          </a:p>
        </p:txBody>
      </p:sp>
      <p:sp>
        <p:nvSpPr>
          <p:cNvPr id="25" name="veh-cost"/>
          <p:cNvSpPr/>
          <p:nvPr/>
        </p:nvSpPr>
        <p:spPr>
          <a:xfrm>
            <a:off x="3520440" y="5138928"/>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eh-cost-t"/>
          <p:cNvSpPr/>
          <p:nvPr/>
        </p:nvSpPr>
        <p:spPr>
          <a:xfrm>
            <a:off x="3648456" y="5230368"/>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wrong vehicle costs: </a:t>
            </a:r>
            <a:r>
              <a:rPr sz="1100" b="0" i="0">
                <a:solidFill>
                  <a:srgbClr val="3D4B50"/>
                </a:solidFill>
                <a:latin typeface="Calibri"/>
              </a:rPr>
              <a:t>an agent on a known path pays judgment prices for clerk work; a workflow on an unknown path is a script that breaks on the first surprise.</a:t>
            </a:r>
          </a:p>
        </p:txBody>
      </p:sp>
    </p:spTree>
  </p:cSld>
  <p:clrMapOvr>
    <a:masterClrMapping/>
  </p:clrMapOvr>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113</a:t>
            </a:r>
          </a:p>
        </p:txBody>
      </p:sp>
    </p:spTree>
    <p:extLst>
      <p:ext uri="{BB962C8B-B14F-4D97-AF65-F5344CB8AC3E}">
        <p14:creationId xmlns:p14="http://schemas.microsoft.com/office/powerpoint/2010/main" val="87674091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