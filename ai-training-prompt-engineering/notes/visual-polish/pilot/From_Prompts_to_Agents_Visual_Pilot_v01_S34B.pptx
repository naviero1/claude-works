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r="http://schemas.openxmlformats.org/officeDocument/2006/relationships" id="259" r:id="R13501eca7a7549b6"/>
    <p:sldId xmlns:r="http://schemas.openxmlformats.org/officeDocument/2006/relationships" id="260" r:id="R2ea203b92871473d"/>
    <p:sldId xmlns:r="http://schemas.openxmlformats.org/officeDocument/2006/relationships" id="261" r:id="Rc75194e0feac4b09"/>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6" r:id="R0136d999b07d4f0f"/>
    <p:sldId xmlns:r="http://schemas.openxmlformats.org/officeDocument/2006/relationships" id="267" r:id="R8f44df3f995741be"/>
    <p:sldId xmlns:r="http://schemas.openxmlformats.org/officeDocument/2006/relationships" id="268" r:id="R497eec08e90f4972"/>
    <p:sldId xmlns:r="http://schemas.openxmlformats.org/officeDocument/2006/relationships" id="269" r:id="Rdbc23a86f4564870"/>
    <p:sldId xmlns:r="http://schemas.openxmlformats.org/officeDocument/2006/relationships" id="270" r:id="R2e829fbd5b88413d"/>
    <p:sldId xmlns:r="http://schemas.openxmlformats.org/officeDocument/2006/relationships" id="271" r:id="R87625dd8e0984c06"/>
    <p:sldId xmlns:r="http://schemas.openxmlformats.org/officeDocument/2006/relationships" id="272" r:id="Re7739ca524004a50"/>
    <p:sldId xmlns:r="http://schemas.openxmlformats.org/officeDocument/2006/relationships" id="273" r:id="R0c46244e8fb14028"/>
    <p:sldId xmlns:r="http://schemas.openxmlformats.org/officeDocument/2006/relationships" id="274" r:id="R8d8266f16f39499e"/>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r="http://schemas.openxmlformats.org/officeDocument/2006/relationships" id="282" r:id="Rf617b4374eff49ab"/>
    <p:sldId xmlns:r="http://schemas.openxmlformats.org/officeDocument/2006/relationships" id="283" r:id="Rc1ab04196d404aed"/>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299" r:id="Rf83dd77c14194f0b"/>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136d999b07d4f0f" Type="http://schemas.openxmlformats.org/officeDocument/2006/relationships/slide" Target="slides/slide11.xml"/><Relationship Id="R02afab2e450c4195" Type="http://schemas.openxmlformats.org/officeDocument/2006/relationships/slide" Target="slides/slide78.xml"/><Relationship Id="R05855d706bc045fe" Type="http://schemas.openxmlformats.org/officeDocument/2006/relationships/slide" Target="slides/slide82.xml"/><Relationship Id="R069238ad314e4c27" Type="http://schemas.openxmlformats.org/officeDocument/2006/relationships/slide" Target="slides/slide20.xml"/><Relationship Id="R0ac1719f35204866" Type="http://schemas.openxmlformats.org/officeDocument/2006/relationships/slide" Target="slides/slide51.xml"/><Relationship Id="R0b89ffdaa91d419b" Type="http://schemas.openxmlformats.org/officeDocument/2006/relationships/notesMaster" Target="notesMasters/notesMaster1.xml"/><Relationship Id="R0c46244e8fb14028" Type="http://schemas.openxmlformats.org/officeDocument/2006/relationships/slide" Target="slides/slide18.xml"/><Relationship Id="R0c612231d0d14151" Type="http://schemas.openxmlformats.org/officeDocument/2006/relationships/slide" Target="slides/slide9.xml"/><Relationship Id="R0c8f4d29f8a04f60" Type="http://schemas.openxmlformats.org/officeDocument/2006/relationships/slide" Target="slides/slide58.xml"/><Relationship Id="R13501eca7a7549b6" Type="http://schemas.openxmlformats.org/officeDocument/2006/relationships/slide" Target="slides/slide4.xml"/><Relationship Id="R15145c6c7e234ba1" Type="http://schemas.openxmlformats.org/officeDocument/2006/relationships/slide" Target="slides/slide87.xml"/><Relationship Id="R186fa38805ad4cc8" Type="http://schemas.openxmlformats.org/officeDocument/2006/relationships/slide" Target="slides/slide41.xml"/><Relationship Id="R19fb9c5b0ac74759" Type="http://schemas.openxmlformats.org/officeDocument/2006/relationships/slide" Target="slides/slide38.xml"/><Relationship Id="R1d77e68a871f4474" Type="http://schemas.openxmlformats.org/officeDocument/2006/relationships/slide" Target="slides/slide91.xml"/><Relationship Id="R1e1b2aa1bb794464" Type="http://schemas.openxmlformats.org/officeDocument/2006/relationships/slide" Target="slides/slide49.xml"/><Relationship Id="R1fbfbc89ece44e43" Type="http://schemas.openxmlformats.org/officeDocument/2006/relationships/slide" Target="slides/slide102.xml"/><Relationship Id="R22c468c81ffa482e" Type="http://schemas.openxmlformats.org/officeDocument/2006/relationships/slide" Target="slides/slide62.xml"/><Relationship Id="R2b2e423f66a449ed" Type="http://schemas.openxmlformats.org/officeDocument/2006/relationships/slide" Target="slides/slide90.xml"/><Relationship Id="R2bcb4d96ecf8422d" Type="http://schemas.openxmlformats.org/officeDocument/2006/relationships/slide" Target="slides/slide55.xml"/><Relationship Id="R2de53fc756054224" Type="http://schemas.openxmlformats.org/officeDocument/2006/relationships/slide" Target="slides/slide45.xml"/><Relationship Id="R2e829fbd5b88413d" Type="http://schemas.openxmlformats.org/officeDocument/2006/relationships/slide" Target="slides/slide15.xml"/><Relationship Id="R2ea203b92871473d" Type="http://schemas.openxmlformats.org/officeDocument/2006/relationships/slide" Target="slides/slide5.xml"/><Relationship Id="R2f94eac98ebf4dcf" Type="http://schemas.openxmlformats.org/officeDocument/2006/relationships/slide" Target="slides/slide60.xml"/><Relationship Id="R33a496a507fc4955" Type="http://schemas.openxmlformats.org/officeDocument/2006/relationships/slide" Target="slides/slide8.xml"/><Relationship Id="R3b56dbb5e0334107" Type="http://schemas.openxmlformats.org/officeDocument/2006/relationships/slide" Target="slides/slide56.xml"/><Relationship Id="R3f248e2bf34e4ee7" Type="http://schemas.openxmlformats.org/officeDocument/2006/relationships/slide" Target="slides/slide29.xml"/><Relationship Id="R3fa5858789f04404" Type="http://schemas.openxmlformats.org/officeDocument/2006/relationships/slide" Target="slides/slide66.xml"/><Relationship Id="R3fff51fc7d614878" Type="http://schemas.openxmlformats.org/officeDocument/2006/relationships/slide" Target="slides/slide30.xml"/><Relationship Id="R40e1c79f179f4e8f" Type="http://schemas.openxmlformats.org/officeDocument/2006/relationships/slide" Target="slides/slide46.xml"/><Relationship Id="R42701428448d4235" Type="http://schemas.openxmlformats.org/officeDocument/2006/relationships/slide" Target="slides/slide32.xml"/><Relationship Id="R44780e2ebdb6403f" Type="http://schemas.openxmlformats.org/officeDocument/2006/relationships/slide" Target="slides/slide68.xml"/><Relationship Id="R458c038f106f42b3" Type="http://schemas.openxmlformats.org/officeDocument/2006/relationships/slide" Target="slides/slide22.xml"/><Relationship Id="R49126e58d84e4d17" Type="http://schemas.openxmlformats.org/officeDocument/2006/relationships/slide" Target="slides/slide2.xml"/><Relationship Id="R497eec08e90f4972" Type="http://schemas.openxmlformats.org/officeDocument/2006/relationships/slide" Target="slides/slide13.xml"/><Relationship Id="R49b805558b704520" Type="http://schemas.openxmlformats.org/officeDocument/2006/relationships/slide" Target="slides/slide95.xml"/><Relationship Id="R49c9e195f24045a4" Type="http://schemas.openxmlformats.org/officeDocument/2006/relationships/slide" Target="slides/slide10.xml"/><Relationship Id="R4c65dd02438d42f5" Type="http://schemas.openxmlformats.org/officeDocument/2006/relationships/slide" Target="slides/slide61.xml"/><Relationship Id="R4e11cd081d8c42cc" Type="http://schemas.openxmlformats.org/officeDocument/2006/relationships/slide" Target="slides/slide48.xml"/><Relationship Id="R5aa8b9bfd01543b2" Type="http://schemas.openxmlformats.org/officeDocument/2006/relationships/slideMaster" Target="slideMasters/slideMaster1.xml"/><Relationship Id="R5d1c473c62ac4960" Type="http://schemas.openxmlformats.org/officeDocument/2006/relationships/slide" Target="slides/slide86.xml"/><Relationship Id="R620ac1dbc6f14e53" Type="http://schemas.openxmlformats.org/officeDocument/2006/relationships/slide" Target="slides/slide71.xml"/><Relationship Id="R64d1fcab01954a83" Type="http://schemas.openxmlformats.org/officeDocument/2006/relationships/slide" Target="slides/slide83.xml"/><Relationship Id="R6ae5b62127bb4a3e" Type="http://schemas.openxmlformats.org/officeDocument/2006/relationships/slide" Target="slides/slide25.xml"/><Relationship Id="R6c515ce50f4e4f7f" Type="http://schemas.openxmlformats.org/officeDocument/2006/relationships/tableStyles" Target="tableStyles.xml"/><Relationship Id="R6f9e6b8c5b6d4ef6" Type="http://schemas.openxmlformats.org/officeDocument/2006/relationships/slide" Target="slides/slide73.xml"/><Relationship Id="R72360af60b1244c5" Type="http://schemas.openxmlformats.org/officeDocument/2006/relationships/slide" Target="slides/slide34.xml"/><Relationship Id="R72f4e34109924bff" Type="http://schemas.openxmlformats.org/officeDocument/2006/relationships/slide" Target="slides/slide94.xml"/><Relationship Id="R74a68a196bca4aa9" Type="http://schemas.openxmlformats.org/officeDocument/2006/relationships/slide" Target="slides/slide7.xml"/><Relationship Id="R7538f1ee4e264b12" Type="http://schemas.openxmlformats.org/officeDocument/2006/relationships/slide" Target="slides/slide53.xml"/><Relationship Id="R774ece67fad84555" Type="http://schemas.openxmlformats.org/officeDocument/2006/relationships/slide" Target="slides/slide39.xml"/><Relationship Id="R7ff20651f7f24b61" Type="http://schemas.openxmlformats.org/officeDocument/2006/relationships/slide" Target="slides/slide52.xml"/><Relationship Id="R807c75ee14994fe2" Type="http://schemas.openxmlformats.org/officeDocument/2006/relationships/slide" Target="slides/slide40.xml"/><Relationship Id="R80f7ed3959794549" Type="http://schemas.openxmlformats.org/officeDocument/2006/relationships/slide" Target="slides/slide93.xml"/><Relationship Id="R823c328ecb794c2b" Type="http://schemas.openxmlformats.org/officeDocument/2006/relationships/slide" Target="slides/slide76.xml"/><Relationship Id="R830a4c4d00184e7b" Type="http://schemas.openxmlformats.org/officeDocument/2006/relationships/viewProps" Target="viewProps.xml"/><Relationship Id="R87625dd8e0984c06" Type="http://schemas.openxmlformats.org/officeDocument/2006/relationships/slide" Target="slides/slide16.xml"/><Relationship Id="R88a5cc6292ea42b7" Type="http://schemas.openxmlformats.org/officeDocument/2006/relationships/slide" Target="slides/slide77.xml"/><Relationship Id="R8d8266f16f39499e" Type="http://schemas.openxmlformats.org/officeDocument/2006/relationships/slide" Target="slides/slide19.xml"/><Relationship Id="R8f44df3f995741be" Type="http://schemas.openxmlformats.org/officeDocument/2006/relationships/slide" Target="slides/slide12.xml"/><Relationship Id="R8f9157d733974967" Type="http://schemas.openxmlformats.org/officeDocument/2006/relationships/slide" Target="slides/slide79.xml"/><Relationship Id="R927cd8835efb4ab0" Type="http://schemas.openxmlformats.org/officeDocument/2006/relationships/slide" Target="slides/slide26.xml"/><Relationship Id="R93d4d1d0de584694" Type="http://schemas.openxmlformats.org/officeDocument/2006/relationships/slide" Target="slides/slide36.xml"/><Relationship Id="R99253aca67014940" Type="http://schemas.openxmlformats.org/officeDocument/2006/relationships/slide" Target="slides/slide96.xml"/><Relationship Id="Ra06c56ae3a56481f" Type="http://schemas.openxmlformats.org/officeDocument/2006/relationships/slide" Target="slides/slide50.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85.xml"/><Relationship Id="Rae84fa895e7748ca" Type="http://schemas.openxmlformats.org/officeDocument/2006/relationships/slide" Target="slides/slide31.xml"/><Relationship Id="Rb17885eb73d14520" Type="http://schemas.openxmlformats.org/officeDocument/2006/relationships/slide" Target="slides/slide88.xml"/><Relationship Id="Rbaa478a0935549e2" Type="http://schemas.openxmlformats.org/officeDocument/2006/relationships/slide" Target="slides/slide70.xml"/><Relationship Id="Rbb8266a8051248ab" Type="http://schemas.openxmlformats.org/officeDocument/2006/relationships/slide" Target="slides/slide67.xml"/><Relationship Id="Rc19ca91603b2489c" Type="http://schemas.openxmlformats.org/officeDocument/2006/relationships/slide" Target="slides/slide72.xml"/><Relationship Id="Rc1ab04196d404aed" Type="http://schemas.openxmlformats.org/officeDocument/2006/relationships/slide" Target="slides/slide28.xml"/><Relationship Id="Rc347af9a1dea4fa3" Type="http://schemas.openxmlformats.org/officeDocument/2006/relationships/slide" Target="slides/slide92.xml"/><Relationship Id="Rc38ef0b539dc41dd" Type="http://schemas.openxmlformats.org/officeDocument/2006/relationships/slide" Target="slides/slide75.xml"/><Relationship Id="Rc4414996e3934b5d" Type="http://schemas.openxmlformats.org/officeDocument/2006/relationships/slide" Target="slides/slide37.xml"/><Relationship Id="Rc5e85b598ee44992" Type="http://schemas.openxmlformats.org/officeDocument/2006/relationships/slide" Target="slides/slide63.xml"/><Relationship Id="Rc671bf21a3eb43f1" Type="http://schemas.openxmlformats.org/officeDocument/2006/relationships/slide" Target="slides/slide103.xml"/><Relationship Id="Rc75194e0feac4b09" Type="http://schemas.openxmlformats.org/officeDocument/2006/relationships/slide" Target="slides/slide6.xml"/><Relationship Id="Rc8d585cd4e5649e6" Type="http://schemas.openxmlformats.org/officeDocument/2006/relationships/slide" Target="slides/slide33.xml"/><Relationship Id="Rca6780869fc647e3" Type="http://schemas.openxmlformats.org/officeDocument/2006/relationships/slide" Target="slides/slide69.xml"/><Relationship Id="Rd125716ce4294b9c" Type="http://schemas.openxmlformats.org/officeDocument/2006/relationships/slide" Target="slides/slide59.xml"/><Relationship Id="Rd36e565f71ed490d" Type="http://schemas.openxmlformats.org/officeDocument/2006/relationships/presProps" Target="presProps.xml"/><Relationship Id="Rd9664eb4c866478d" Type="http://schemas.openxmlformats.org/officeDocument/2006/relationships/slide" Target="slides/slide89.xml"/><Relationship Id="Rdb3d43f0242a4fac" Type="http://schemas.openxmlformats.org/officeDocument/2006/relationships/slide" Target="slides/slide35.xml"/><Relationship Id="Rdbc23a86f4564870" Type="http://schemas.openxmlformats.org/officeDocument/2006/relationships/slide" Target="slides/slide14.xml"/><Relationship Id="Re16d95a845d14216" Type="http://schemas.openxmlformats.org/officeDocument/2006/relationships/slide" Target="slides/slide24.xml"/><Relationship Id="Re228b723b77d4a79" Type="http://schemas.openxmlformats.org/officeDocument/2006/relationships/slide" Target="slides/slide84.xml"/><Relationship Id="Re2e4afc3a8524f5b" Type="http://schemas.openxmlformats.org/officeDocument/2006/relationships/slide" Target="slides/slide74.xml"/><Relationship Id="Re62d8fa47a29432d" Type="http://schemas.openxmlformats.org/officeDocument/2006/relationships/slide" Target="slides/slide57.xml"/><Relationship Id="Re7739ca524004a50" Type="http://schemas.openxmlformats.org/officeDocument/2006/relationships/slide" Target="slides/slide17.xml"/><Relationship Id="Reb419e1bc7894222" Type="http://schemas.openxmlformats.org/officeDocument/2006/relationships/slide" Target="slides/slide80.xml"/><Relationship Id="Rf04d4de72cd24ec1" Type="http://schemas.openxmlformats.org/officeDocument/2006/relationships/slide" Target="slides/slide54.xml"/><Relationship Id="Rf1f0b08a68ab460c" Type="http://schemas.openxmlformats.org/officeDocument/2006/relationships/slide" Target="slides/slide3.xml"/><Relationship Id="Rf3e1268529fb4912" Type="http://schemas.openxmlformats.org/officeDocument/2006/relationships/slide" Target="slides/slide65.xml"/><Relationship Id="Rf55a94a8bf554d05" Type="http://schemas.openxmlformats.org/officeDocument/2006/relationships/slide" Target="slides/slide21.xml"/><Relationship Id="Rf617b4374eff49ab" Type="http://schemas.openxmlformats.org/officeDocument/2006/relationships/slide" Target="slides/slide27.xml"/><Relationship Id="Rf624d4e59fd34102" Type="http://schemas.openxmlformats.org/officeDocument/2006/relationships/slide" Target="slides/slide64.xml"/><Relationship Id="Rf67660129de8488f" Type="http://schemas.openxmlformats.org/officeDocument/2006/relationships/slide" Target="slides/slide47.xml"/><Relationship Id="Rf83dd77c14194f0b" Type="http://schemas.openxmlformats.org/officeDocument/2006/relationships/slide" Target="slides/slide44.xml"/><Relationship Id="Rf8ebba3d3d364e8e" Type="http://schemas.openxmlformats.org/officeDocument/2006/relationships/slide" Target="slides/slide81.xml"/><Relationship Id="Rfa30b3a8386f4027" Type="http://schemas.openxmlformats.org/officeDocument/2006/relationships/slide" Target="slides/slide23.xml"/><Relationship Id="RnewSlide102" Type="http://schemas.openxmlformats.org/officeDocument/2006/relationships/slide" Target="slides/slide42.xml"/><Relationship Id="RnewSlide103" Type="http://schemas.openxmlformats.org/officeDocument/2006/relationships/slide" Target="slides/slide43.xml"/><Relationship Id="rId1" Type="http://schemas.openxmlformats.org/officeDocument/2006/relationships/slide" Target="slides/slide97.xml"/><Relationship Id="rId2" Type="http://schemas.openxmlformats.org/officeDocument/2006/relationships/slide" Target="slides/slide98.xml"/><Relationship Id="rId3" Type="http://schemas.openxmlformats.org/officeDocument/2006/relationships/slide" Target="slides/slide99.xml"/><Relationship Id="rId4" Type="http://schemas.openxmlformats.org/officeDocument/2006/relationships/slide" Target="slides/slide100.xml"/><Relationship Id="rId5"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a892dac0557475b" Type="http://schemas.openxmlformats.org/officeDocument/2006/relationships/slide" Target="../slides/slide4.xml"/><Relationship Id="Re99e6977265b477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a2de729047bf4070" Type="http://schemas.openxmlformats.org/officeDocument/2006/relationships/slide" Target="../slides/slide6.xml"/><Relationship Id="Rc1ef21a86bbb42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9c954a5ef9df447f" Type="http://schemas.openxmlformats.org/officeDocument/2006/relationships/slide" Target="../slides/slide11.xml"/><Relationship Id="R9dbb86cc415f478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2.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3.xml"/><Relationship Id="Rf967b19574264e6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faecdea6cac42ea" Type="http://schemas.openxmlformats.org/officeDocument/2006/relationships/notesMaster" Target="../notesMasters/notesMaster1.xml"/><Relationship Id="Rd2d67063ef6545eb"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5.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6.xml"/><Relationship Id="Rcd627e3788d74f2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70b58f326a5946ab" Type="http://schemas.openxmlformats.org/officeDocument/2006/relationships/slide" Target="../slides/slide17.xml"/><Relationship Id="Re90050808e5f409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1.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3.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4.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26.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27.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30.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2.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3.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36.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3.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1.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44.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45.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46.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47.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48.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49.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0.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1.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2.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55.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56.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57.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1.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67.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69.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1.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3.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74.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76.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1.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2.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87.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88.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0.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1.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2.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3.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96.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2.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70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history explains today’s tools, but it is not required for today’s practice.</a:t>
            </a:r>
            <a:endParaRPr/>
          </a:p>
          <a:p xmlns:a="http://schemas.openxmlformats.org/drawingml/2006/main">
            <a:r>
              <a:t/>
            </a:r>
            <a:endParaRPr/>
          </a:p>
          <a:p xmlns:a="http://schemas.openxmlformats.org/drawingml/2006/main">
            <a:r>
              <a:t>SAY:</a:t>
            </a:r>
            <a:endParaRPr/>
          </a:p>
          <a:p xmlns:a="http://schemas.openxmlformats.org/drawingml/2006/main">
            <a:r>
              <a:t>- This timeline explains the transition from rules to learned models and tool-using systems.</a:t>
            </a:r>
            <a:endParaRPr/>
          </a:p>
          <a:p xmlns:a="http://schemas.openxmlformats.org/drawingml/2006/main">
            <a:r>
              <a:t>- Return to it after the course; the history is not a prerequisite for the exercise.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“Each leap has a name — 2017 → 2026”.</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4</a:t>
            </a:r>
            <a:endParaRPr/>
          </a:p>
          <a:p xmlns:a="http://schemas.openxmlformats.org/drawingml/2006/main">
            <a:r>
              <a:t>SEVENTY YEARS IN ONE SLIDE</a:t>
            </a:r>
            <a:endParaRPr/>
          </a:p>
          <a:p xmlns:a="http://schemas.openxmlformats.org/drawingml/2006/main">
            <a:r>
              <a:t>Four eras: rules → learning → generative → agentic</a:t>
            </a:r>
            <a:endParaRPr/>
          </a:p>
          <a:p xmlns:a="http://schemas.openxmlformats.org/drawingml/2006/main">
            <a:r>
              <a:t>Rules</a:t>
            </a:r>
            <a:endParaRPr/>
          </a:p>
          <a:p xmlns:a="http://schemas.openxmlformats.org/drawingml/2006/main">
            <a:r>
              <a:t>1950s–1990s · symbolic AI, expert systems</a:t>
            </a:r>
            <a:endParaRPr/>
          </a:p>
          <a:p xmlns:a="http://schemas.openxmlformats.org/drawingml/2006/main">
            <a:r>
              <a:t>if…?</a:t>
            </a:r>
            <a:endParaRPr/>
          </a:p>
          <a:p xmlns:a="http://schemas.openxmlformats.org/drawingml/2006/main">
            <a:r>
              <a:t>then A</a:t>
            </a:r>
            <a:endParaRPr/>
          </a:p>
          <a:p xmlns:a="http://schemas.openxmlformats.org/drawingml/2006/main">
            <a:r>
              <a:t>else B</a:t>
            </a:r>
            <a:endParaRPr/>
          </a:p>
          <a:p xmlns:a="http://schemas.openxmlformats.org/drawingml/2006/main">
            <a:r>
              <a:t>Humans hand-code the logic: “if X then Y.” Rules shine, then crack on messy reality. Hype outruns results twice: the “AI winters.”</a:t>
            </a:r>
            <a:endParaRPr/>
          </a:p>
          <a:p xmlns:a="http://schemas.openxmlformats.org/drawingml/2006/main">
            <a:r>
              <a:t>Gave us: expert systems doing real work — MYCIN diagnosing infections, XCON configuring computers.</a:t>
            </a:r>
            <a:endParaRPr/>
          </a:p>
          <a:p xmlns:a="http://schemas.openxmlformats.org/drawingml/2006/main">
            <a:r>
              <a:t>Learning</a:t>
            </a:r>
            <a:endParaRPr/>
          </a:p>
          <a:p xmlns:a="http://schemas.openxmlformats.org/drawingml/2006/main">
            <a:r>
              <a:t>1990s–2010s · machine learning, neural networks</a:t>
            </a:r>
            <a:endParaRPr/>
          </a:p>
          <a:p xmlns:a="http://schemas.openxmlformats.org/drawingml/2006/main">
            <a:r>
              <a:t>Stop writing rules — let the system find patterns in examples. 2012: deep nets + GPUs crush image recognition (AlexNet: 15.3% error vs 26.2%).</a:t>
            </a:r>
            <a:endParaRPr/>
          </a:p>
          <a:p xmlns:a="http://schemas.openxmlformats.org/drawingml/2006/main">
            <a:r>
              <a:t>Gave us: spam filters, search ranking, recommendations, image recognition.</a:t>
            </a:r>
            <a:endParaRPr/>
          </a:p>
          <a:p xmlns:a="http://schemas.openxmlformats.org/drawingml/2006/main">
            <a:r>
              <a:t>Generative</a:t>
            </a:r>
            <a:endParaRPr/>
          </a:p>
          <a:p xmlns:a="http://schemas.openxmlformats.org/drawingml/2006/main">
            <a:r>
              <a:t>2017– · transformers, LLMs</a:t>
            </a:r>
            <a:endParaRPr/>
          </a:p>
          <a:p xmlns:a="http://schemas.openxmlformats.org/drawingml/2006/main">
            <a:r>
              <a:t>The</a:t>
            </a:r>
            <a:endParaRPr/>
          </a:p>
          <a:p xmlns:a="http://schemas.openxmlformats.org/drawingml/2006/main">
            <a:r>
              <a:t>audit</a:t>
            </a:r>
            <a:endParaRPr/>
          </a:p>
          <a:p xmlns:a="http://schemas.openxmlformats.org/drawingml/2006/main">
            <a:r>
              <a:t>is</a:t>
            </a:r>
            <a:endParaRPr/>
          </a:p>
          <a:p xmlns:a="http://schemas.openxmlformats.org/drawingml/2006/main">
            <a:r>
              <a:t>…?</a:t>
            </a:r>
            <a:endParaRPr/>
          </a:p>
          <a:p xmlns:a="http://schemas.openxmlformats.org/drawingml/2006/main">
            <a:r>
              <a:t>The Transformer (2017) lets models train on the whole internet. Predict-the-next-word at that scale writes, summarizes, codes.</a:t>
            </a:r>
            <a:endParaRPr/>
          </a:p>
          <a:p xmlns:a="http://schemas.openxmlformats.org/drawingml/2006/main">
            <a:r>
              <a:t>Gave us: ChatGPT (2022), image generators — AI everyone can talk to.</a:t>
            </a:r>
            <a:endParaRPr/>
          </a:p>
          <a:p xmlns:a="http://schemas.openxmlformats.org/drawingml/2006/main">
            <a:r>
              <a:t>Agentic</a:t>
            </a:r>
            <a:endParaRPr/>
          </a:p>
          <a:p xmlns:a="http://schemas.openxmlformats.org/drawingml/2006/main">
            <a:r>
              <a:t>2024– · reasoning models, tool use</a:t>
            </a:r>
            <a:endParaRPr/>
          </a:p>
          <a:p xmlns:a="http://schemas.openxmlformats.org/drawingml/2006/main">
            <a:r>
              <a:t>PLAN</a:t>
            </a:r>
            <a:endParaRPr/>
          </a:p>
          <a:p xmlns:a="http://schemas.openxmlformats.org/drawingml/2006/main">
            <a:r>
              <a:t>ACT</a:t>
            </a:r>
            <a:endParaRPr/>
          </a:p>
          <a:p xmlns:a="http://schemas.openxmlformats.org/drawingml/2006/main">
            <a:r>
              <a:t>CHECK</a:t>
            </a:r>
            <a:endParaRPr/>
          </a:p>
          <a:p xmlns:a="http://schemas.openxmlformats.org/drawingml/2006/main">
            <a:r>
              <a:t>Models get “arms”: tools, browsers, files, code. Reasoning models plan multi-step work; agents execute with limited supervision.</a:t>
            </a:r>
            <a:endParaRPr/>
          </a:p>
          <a:p xmlns:a="http://schemas.openxmlformats.org/drawingml/2006/main">
            <a:r>
              <a:t>Giving us: coding agents, office agents, deep-research modes — AI you delegate to.</a:t>
            </a:r>
            <a:endParaRPr/>
          </a:p>
          <a:p xmlns:a="http://schemas.openxmlformats.org/drawingml/2006/main">
            <a:r>
              <a:t>Why the last decade exploded — scaling laws (2020): bigger model + more data + more compute = predictably better results. Progress stopped being a research gamble and became an investment roadmap.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“Seventy years in one slide — as four eras.”</a:t>
            </a:r>
            <a:endParaRPr/>
          </a:p>
          <a:p xmlns:a="http://schemas.openxmlformats.org/drawingml/2006/main">
            <a:r>
              <a:t>2) Per card LEFT TO RIGHT: name the era → point at the little diagram (a hand-typed rulebook · circles passing signals, tuned from examples · predict-the-next-word · plan-act-check on a loop) → one sentence of story → the italic “gave us” line, which is the era’s legacy in products.</a:t>
            </a:r>
            <a:endParaRPr/>
          </a:p>
          <a:p xmlns:a="http://schemas.openxmlformats.org/drawingml/2006/main">
            <a:r>
              <a:t>3) Pause once on “AI winters”: over-promising collapsed funding twice — skepticism is historically earned.</a:t>
            </a:r>
            <a:endParaRPr/>
          </a:p>
          <a:p xmlns:a="http://schemas.openxmlformats.org/drawingml/2006/main">
            <a:r>
              <a:t>4) Close on the amber band: scaling laws.</a:t>
            </a:r>
            <a:endParaRPr/>
          </a:p>
          <a:p xmlns:a="http://schemas.openxmlformats.org/drawingml/2006/main">
            <a:r>
              <a:t/>
            </a:r>
            <a:endParaRPr/>
          </a:p>
          <a:p xmlns:a="http://schemas.openxmlformats.org/drawingml/2006/main">
            <a:r>
              <a:t>BRIDGE —</a:t>
            </a:r>
            <a:endParaRPr/>
          </a:p>
          <a:p xmlns:a="http://schemas.openxmlformats.org/drawingml/2006/main">
            <a:r>
              <a:t>“Zoom into the decade that changed work.”</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the graphics chip class perfect for training neural networks (AlexNet, 2012).</a:t>
            </a:r>
            <a:endParaRPr/>
          </a:p>
          <a:p xmlns:a="http://schemas.openxmlformats.org/drawingml/2006/main">
            <a:r>
              <a:t>LLM = Large Language Model.</a:t>
            </a:r>
            <a:endParaRPr/>
          </a:p>
          <a:p xmlns:a="http://schemas.openxmlformats.org/drawingml/2006/main">
            <a:r>
              <a:t/>
            </a:r>
            <a:endParaRPr/>
          </a:p>
          <a:p xmlns:a="http://schemas.openxmlformats.org/drawingml/2006/main">
            <a:r>
              <a:t>CONTENT —</a:t>
            </a:r>
            <a:endParaRPr/>
          </a:p>
          <a:p xmlns:a="http://schemas.openxmlformats.org/drawingml/2006/main">
            <a:r>
              <a:t>v1.6: “gave us” outcome lines added per era (owner request), verified items only — MYCIN/XCON, spam/search/recommendations/AlexNet, ChatGPT/image generation, coding &amp; office agents (r1, r2).</a:t>
            </a:r>
            <a:endParaRPr/>
          </a:p>
          <a:p xmlns:a="http://schemas.openxmlformats.org/drawingml/2006/main">
            <a:r>
              <a:t>The eras framing is a teaching synthesis — “a useful way to see 70 years,” not official taxonomy.</a:t>
            </a:r>
            <a:endParaRPr/>
          </a:p>
          <a:p xmlns:a="http://schemas.openxmlformats.org/drawingml/2006/main">
            <a:r>
              <a:t>Rules era = writing the SOP yourself; learning era = deriving the SOP from a thousand examples. (SOP = Standard Operating Procedure.)</a:t>
            </a:r>
            <a:endParaRPr/>
          </a:p>
          <a:p xmlns:a="http://schemas.openxmlformats.org/drawingml/2006/main">
            <a:r>
              <a:t>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Scale, data, and computing made modern systems practical.</a:t>
            </a:r>
            <a:endParaRPr/>
          </a:p>
          <a:p xmlns:a="http://schemas.openxmlformats.org/drawingml/2006/main">
            <a:r>
              <a:t/>
            </a:r>
            <a:endParaRPr/>
          </a:p>
          <a:p xmlns:a="http://schemas.openxmlformats.org/drawingml/2006/main">
            <a:r>
              <a:t>SAY:</a:t>
            </a:r>
            <a:endParaRPr/>
          </a:p>
          <a:p xmlns:a="http://schemas.openxmlformats.org/drawingml/2006/main">
            <a:r>
              <a:t>- Computing, data, and model design jointly supported progress.</a:t>
            </a:r>
            <a:endParaRPr/>
          </a:p>
          <a:p xmlns:a="http://schemas.openxmlformats.org/drawingml/2006/main">
            <a:r>
              <a:t>- The hardware details are reference material, not today’s learning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“How a language model produces an answer”.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6</a:t>
            </a:r>
            <a:endParaRPr/>
          </a:p>
          <a:p xmlns:a="http://schemas.openxmlformats.org/drawingml/2006/main">
            <a:r>
              <a:t>WHY AI HAPPENED NOW</a:t>
            </a:r>
            <a:endParaRPr/>
          </a:p>
          <a:p xmlns:a="http://schemas.openxmlformats.org/drawingml/2006/main">
            <a:r>
              <a:t>The hardware story — chips, Nvidia, data centers</a:t>
            </a:r>
            <a:endParaRPr/>
          </a:p>
          <a:p xmlns:a="http://schemas.openxmlformats.org/drawingml/2006/main">
            <a:r>
              <a:t>① A 60-year tailwind</a:t>
            </a:r>
            <a:endParaRPr/>
          </a:p>
          <a:p xmlns:a="http://schemas.openxmlformats.org/drawingml/2006/main">
            <a:r>
              <a:t>Moore’s law (1965): chips double their transistors every ~2 years.</a:t>
            </a:r>
            <a:endParaRPr/>
          </a:p>
          <a:p xmlns:a="http://schemas.openxmlformats.org/drawingml/2006/main">
            <a:r>
              <a:t>1971: 2,300 → 2024: 208 billion</a:t>
            </a:r>
            <a:endParaRPr/>
          </a:p>
          <a:p xmlns:a="http://schemas.openxmlformats.org/drawingml/2006/main">
            <a:r>
              <a:t>2026 status: slowing to ~3-year doublings — not dead, no longer enough alone.</a:t>
            </a:r>
            <a:endParaRPr/>
          </a:p>
          <a:p xmlns:a="http://schemas.openxmlformats.org/drawingml/2006/main">
            <a:r>
              <a:t>② The accident</a:t>
            </a:r>
            <a:endParaRPr/>
          </a:p>
          <a:p xmlns:a="http://schemas.openxmlformats.org/drawingml/2006/main">
            <a:r>
              <a:t>Gaming chips WERE AI chips: both need millions of tiny calculations at once.</a:t>
            </a:r>
            <a:endParaRPr/>
          </a:p>
          <a:p xmlns:a="http://schemas.openxmlformats.org/drawingml/2006/main">
            <a:r>
              <a:t>2006 — Nvidia’s CUDA lets anyone program a graphics card.</a:t>
            </a:r>
            <a:endParaRPr/>
          </a:p>
          <a:p xmlns:a="http://schemas.openxmlformats.org/drawingml/2006/main">
            <a:r>
              <a:t>2012 — AlexNet: two consumer gaming cards, six days, beats 30 years of hand-built AI.</a:t>
            </a:r>
            <a:endParaRPr/>
          </a:p>
          <a:p xmlns:a="http://schemas.openxmlformats.org/drawingml/2006/main">
            <a:r>
              <a:t>③ Moore’s pace vs AI’s appetite</a:t>
            </a:r>
            <a:endParaRPr/>
          </a:p>
          <a:p xmlns:a="http://schemas.openxmlformats.org/drawingml/2006/main">
            <a:r>
              <a:t>Y axis: training compute per model, in FLOP (one FLOP = one arithmetic operation) — log scale</a:t>
            </a:r>
            <a:endParaRPr/>
          </a:p>
          <a:p xmlns:a="http://schemas.openxmlformats.org/drawingml/2006/main">
            <a:r>
              <a:t>10¹⁸</a:t>
            </a:r>
            <a:endParaRPr/>
          </a:p>
          <a:p xmlns:a="http://schemas.openxmlformats.org/drawingml/2006/main">
            <a:r>
              <a:t>10²¹</a:t>
            </a:r>
            <a:endParaRPr/>
          </a:p>
          <a:p xmlns:a="http://schemas.openxmlformats.org/drawingml/2006/main">
            <a:r>
              <a:t>10²⁴</a:t>
            </a:r>
            <a:endParaRPr/>
          </a:p>
          <a:p xmlns:a="http://schemas.openxmlformats.org/drawingml/2006/main">
            <a:r>
              <a:t>AlexNet</a:t>
            </a:r>
            <a:endParaRPr/>
          </a:p>
          <a:p xmlns:a="http://schemas.openxmlformats.org/drawingml/2006/main">
            <a:r>
              <a:t>GPT-2</a:t>
            </a:r>
            <a:endParaRPr/>
          </a:p>
          <a:p xmlns:a="http://schemas.openxmlformats.org/drawingml/2006/main">
            <a:r>
              <a:t>GPT-3</a:t>
            </a:r>
            <a:endParaRPr/>
          </a:p>
          <a:p xmlns:a="http://schemas.openxmlformats.org/drawingml/2006/main">
            <a:r>
              <a:t>GPT-4 (est.)</a:t>
            </a:r>
            <a:endParaRPr/>
          </a:p>
          <a:p xmlns:a="http://schemas.openxmlformats.org/drawingml/2006/main">
            <a:r>
              <a:t>Moore’s pace</a:t>
            </a:r>
            <a:endParaRPr/>
          </a:p>
          <a:p xmlns:a="http://schemas.openxmlformats.org/drawingml/2006/main">
            <a:r>
              <a:t>2012</a:t>
            </a:r>
            <a:endParaRPr/>
          </a:p>
          <a:p xmlns:a="http://schemas.openxmlformats.org/drawingml/2006/main">
            <a:r>
              <a:t>2023</a:t>
            </a:r>
            <a:endParaRPr/>
          </a:p>
          <a:p xmlns:a="http://schemas.openxmlformats.org/drawingml/2006/main">
            <a:r>
              <a:t>At Moore’s pace since 2012: ×45.  Actual: ×45,000,000.</a:t>
            </a:r>
            <a:endParaRPr/>
          </a:p>
          <a:p xmlns:a="http://schemas.openxmlformats.org/drawingml/2006/main">
            <a:r>
              <a:t>GPT-4 ≈ 2×10²⁵ FLOP: ~200,000 years on AlexNet’s two cards — a ~25,000-GPU data-center hall: ~3 months.</a:t>
            </a:r>
            <a:endParaRPr/>
          </a:p>
          <a:p xmlns:a="http://schemas.openxmlformats.org/drawingml/2006/main">
            <a:r>
              <a:t>④ Why the data centers</a:t>
            </a:r>
            <a:endParaRPr/>
          </a:p>
          <a:p xmlns:a="http://schemas.openxmlformats.org/drawingml/2006/main">
            <a:r>
              <a:t>TRAIN — One frontier model: 16,000+ GPUs running for months (Llama 3.1, 2024).</a:t>
            </a:r>
            <a:endParaRPr/>
          </a:p>
          <a:p xmlns:a="http://schemas.openxmlformats.org/drawingml/2006/main">
            <a:r>
              <a:t>SERVE — Then a billion people use it — around the clock, every day.</a:t>
            </a:r>
            <a:endParaRPr/>
          </a:p>
          <a:p xmlns:a="http://schemas.openxmlformats.org/drawingml/2006/main">
            <a:r>
              <a:t>POWER — One large AI data center ≈ the electricity of 100,000 homes; the biggest under construction ≈ 2 million (IEA).</a:t>
            </a:r>
            <a:endParaRPr/>
          </a:p>
          <a:p xmlns:a="http://schemas.openxmlformats.org/drawingml/2006/main">
            <a:r>
              <a:t>~$700B of build-out planned for 2026 — much announced, not yet built.</a:t>
            </a:r>
            <a:endParaRPr/>
          </a:p>
          <a:p xmlns:a="http://schemas.openxmlformats.org/drawingml/2006/main">
            <a:r>
              <a:t>The shovel-seller: Nvidia — first reached $1T May 2023 · $4T Jul 2025 · $5T Oct 2025 · ~$5.6T today: the world’s most valuable company, and 92% of its revenue is now AI data centers.</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“software got the headlines — hardware made it possible. Four beats, left to right.”</a:t>
            </a:r>
            <a:endParaRPr/>
          </a:p>
          <a:p xmlns:a="http://schemas.openxmlformats.org/drawingml/2006/main">
            <a:r>
              <a:t>2) ① Moore’s law in one sentence: chips doubled their transistors every ~2 years for 50 years — 1971: 2,300; 2024: 208 billion, ~90 million times more. Status 2026: slowing to ~3-year doublings, not dead.</a:t>
            </a:r>
            <a:endParaRPr/>
          </a:p>
          <a:p xmlns:a="http://schemas.openxmlformats.org/drawingml/2006/main">
            <a:r>
              <a:t>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a:t>
            </a:r>
            <a:endParaRPr/>
          </a:p>
          <a:p xmlns:a="http://schemas.openxmlformats.org/drawingml/2006/main">
            <a:r>
              <a:t>4) ③ The chart — the punchline of the slide: if AI compute had grown at Moore’s pace since 2012 it would be ~45× bigger. It is ~45 MILLION times bigger. The gap was bought with chips, clusters, and electricity — that gap IS the data-center boom.</a:t>
            </a:r>
            <a:endParaRPr/>
          </a:p>
          <a:p xmlns:a="http://schemas.openxmlformats.org/drawingml/2006/main">
            <a:r>
              <a:t>5) ④ Train / serve / power — and the honest caveat aloud: a lot of what you read about is ANNOUNCED, not built.</a:t>
            </a:r>
            <a:endParaRPr/>
          </a:p>
          <a:p xmlns:a="http://schemas.openxmlformats.org/drawingml/2006/main">
            <a:r>
              <a:t>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a:t>
            </a:r>
            <a:endParaRPr/>
          </a:p>
          <a:p xmlns:a="http://schemas.openxmlformats.org/drawingml/2006/main">
            <a:r>
              <a:t/>
            </a:r>
            <a:endParaRPr/>
          </a:p>
          <a:p xmlns:a="http://schemas.openxmlformats.org/drawingml/2006/main">
            <a:r>
              <a:t>BRIDGE —</a:t>
            </a:r>
            <a:endParaRPr/>
          </a:p>
          <a:p xmlns:a="http://schemas.openxmlformats.org/drawingml/2006/main">
            <a:r>
              <a:t>“That’s the machinery. Now — what is the model itself actually doing? Under the hood.”</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thousands of simple cores doing the same math at once (a CPU: a few smart cores, one task at a time).</a:t>
            </a:r>
            <a:endParaRPr/>
          </a:p>
          <a:p xmlns:a="http://schemas.openxmlformats.org/drawingml/2006/main">
            <a:r>
              <a:t>CUDA = Nvidia’s software for running ANY computation on its graphics chips (2006) — the moat is the software, not just the chips.</a:t>
            </a:r>
            <a:endParaRPr/>
          </a:p>
          <a:p xmlns:a="http://schemas.openxmlformats.org/drawingml/2006/main">
            <a:r>
              <a:t>IEA = International Energy Agency. FLOP = floating-point operation (the compute unit behind the chart).</a:t>
            </a:r>
            <a:endParaRPr/>
          </a:p>
          <a:p xmlns:a="http://schemas.openxmlformats.org/drawingml/2006/main">
            <a:r>
              <a:t/>
            </a:r>
            <a:endParaRPr/>
          </a:p>
          <a:p xmlns:a="http://schemas.openxmlformats.org/drawingml/2006/main">
            <a:r>
              <a:t>CONTENT —</a:t>
            </a:r>
            <a:endParaRPr/>
          </a:p>
          <a:p xmlns:a="http://schemas.openxmlformats.org/drawingml/2006/main">
            <a:r>
              <a:t>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a:t>
            </a:r>
            <a:endParaRPr/>
          </a:p>
          <a:p xmlns:a="http://schemas.openxmlformats.org/drawingml/2006/main">
            <a:r>
              <a:t>If asked about “Huang’s law” (AI chips beating Moore’s law): Nvidia’s claim for whole SYSTEMS; independent measurement (Epoch) puts GPU price-performance doubling at ~2.5 years — say “the marketing outruns the measurement.”</a:t>
            </a:r>
            <a:endParaRPr/>
          </a:p>
          <a:p xmlns:a="http://schemas.openxmlformats.org/drawingml/2006/main">
            <a:r>
              <a:t>Stargate, if asked: announced Jan 2025 at “up to $500B”; by mid-2026 ~7 GW PLANNED across 7 US sites, first campus (Abilene, TX) partially live — announced ≠ built.</a:t>
            </a:r>
            <a:endParaRPr/>
          </a:p>
          <a:p xmlns:a="http://schemas.openxmlformats.org/drawingml/2006/main">
            <a:r>
              <a:t>US–China chip angle, one line if asked: US export restrictions since Oct 2022; an Apr 2025 license rule forced Nvidia to write down $5.5B on its China-market chip.</a:t>
            </a:r>
            <a:endParaRPr/>
          </a:p>
          <a:p xmlns:a="http://schemas.openxmlformats.org/drawingml/2006/main">
            <a:r>
              <a:t>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endParaRPr/>
          </a:p>
          <a:p xmlns:a="http://schemas.openxmlformats.org/drawingml/2006/main">
            <a:r>
              <a:t>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smallest intervention that solves the problem before changing the model.</a:t>
            </a:r>
            <a:endParaRPr/>
          </a:p>
          <a:p xmlns:a="http://schemas.openxmlformats.org/drawingml/2006/main">
            <a:r>
              <a:t/>
            </a:r>
            <a:endParaRPr/>
          </a:p>
          <a:p xmlns:a="http://schemas.openxmlformats.org/drawingml/2006/main">
            <a:r>
              <a:t>SAY:</a:t>
            </a:r>
            <a:endParaRPr/>
          </a:p>
          <a:p xmlns:a="http://schemas.openxmlformats.org/drawingml/2006/main">
            <a:r>
              <a:t>- A clearer prompt or better source material may solve the problem without retraining.</a:t>
            </a:r>
            <a:endParaRPr/>
          </a:p>
          <a:p xmlns:a="http://schemas.openxmlformats.org/drawingml/2006/main">
            <a:r>
              <a:t>- Choose the intervention based on the actual failure.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“Reasoning effort and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11</a:t>
            </a:r>
            <a:endParaRPr/>
          </a:p>
          <a:p xmlns:a="http://schemas.openxmlformats.org/drawingml/2006/main">
            <a:r>
              <a:t>CONCEPT 4 · THE ESCALATION LADDER</a:t>
            </a:r>
            <a:endParaRPr/>
          </a:p>
          <a:p xmlns:a="http://schemas.openxmlformats.org/drawingml/2006/main">
            <a:r>
              <a:t>Prompt it → feed it documents → retrain it</a:t>
            </a:r>
            <a:endParaRPr/>
          </a:p>
          <a:p xmlns:a="http://schemas.openxmlformats.org/drawingml/2006/main">
            <a:r>
              <a:t>1 · PROMPT IT</a:t>
            </a:r>
            <a:endParaRPr/>
          </a:p>
          <a:p xmlns:a="http://schemas.openxmlformats.org/drawingml/2006/main">
            <a:r>
              <a:t>instructions to a skilled temp</a:t>
            </a:r>
            <a:endParaRPr/>
          </a:p>
          <a:p xmlns:a="http://schemas.openxmlformats.org/drawingml/2006/main">
            <a:r>
              <a:t>Fixes BEHAVIOR — tone, format, focus, approach.</a:t>
            </a:r>
            <a:endParaRPr/>
          </a:p>
          <a:p xmlns:a="http://schemas.openxmlformats.org/drawingml/2006/main">
            <a:r>
              <a:t>Free · instant · every model. 90% of the value — this course.</a:t>
            </a:r>
            <a:endParaRPr/>
          </a:p>
          <a:p xmlns:a="http://schemas.openxmlformats.org/drawingml/2006/main">
            <a:r>
              <a:t>2 · FEED IT DOCUMENTS</a:t>
            </a:r>
            <a:endParaRPr/>
          </a:p>
          <a:p xmlns:a="http://schemas.openxmlformats.org/drawingml/2006/main">
            <a:r>
              <a:t>hand the temp your binder (RAG)</a:t>
            </a:r>
            <a:endParaRPr/>
          </a:p>
          <a:p xmlns:a="http://schemas.openxmlformats.org/drawingml/2006/main">
            <a:r>
              <a:t>Fixes MISSING KNOWLEDGE — your policies, your data, current facts.</a:t>
            </a:r>
            <a:endParaRPr/>
          </a:p>
          <a:p xmlns:a="http://schemas.openxmlformats.org/drawingml/2006/main">
            <a:r>
              <a:t>Minutes to set up · citable · private. Most real cases end here.</a:t>
            </a:r>
            <a:endParaRPr/>
          </a:p>
          <a:p xmlns:a="http://schemas.openxmlformats.org/drawingml/2006/main">
            <a:r>
              <a:t>3 · RETRAIN IT</a:t>
            </a:r>
            <a:endParaRPr/>
          </a:p>
          <a:p xmlns:a="http://schemas.openxmlformats.org/drawingml/2006/main">
            <a:r>
              <a:t>send it back to school (fine-tuning)</a:t>
            </a:r>
            <a:endParaRPr/>
          </a:p>
          <a:p xmlns:a="http://schemas.openxmlformats.org/drawingml/2006/main">
            <a:r>
              <a:t>Changes deep HABITS — permanently.</a:t>
            </a:r>
            <a:endParaRPr/>
          </a:p>
          <a:p xmlns:a="http://schemas.openxmlformats.org/drawingml/2006/main">
            <a:r>
              <a:t>Slow · expensive · per-model. Rare: an IT project, not a prompt.</a:t>
            </a:r>
            <a:endParaRPr/>
          </a:p>
          <a:p xmlns:a="http://schemas.openxmlformats.org/drawingml/2006/main">
            <a:r>
              <a:t>One topic, up the ladder — “answer customer questions about our warranty policy”</a:t>
            </a:r>
            <a:endParaRPr/>
          </a:p>
          <a:p xmlns:a="http://schemas.openxmlformats.org/drawingml/2006/main">
            <a:r>
              <a:t>①  “Answer in plain language and quote the exact clause.” Answers get clear and consistent — but it doesn’t KNOW our policy, so the details are guesses.</a:t>
            </a:r>
            <a:endParaRPr/>
          </a:p>
          <a:p xmlns:a="http://schemas.openxmlformats.org/drawingml/2006/main">
            <a:r>
              <a:t>②  Upload the warranty documents (or use the company assistant). Now: current, cited answers from the real text. This is where you stop.</a:t>
            </a:r>
            <a:endParaRPr/>
          </a:p>
          <a:p xmlns:a="http://schemas.openxmlformats.org/drawingml/2006/main">
            <a:r>
              <a:t>③  Retrain — only if millions of chats must carry a deep habit with no room for instructions. An IT decision, not a prompt.</a:t>
            </a:r>
            <a:endParaRPr/>
          </a:p>
          <a:p xmlns:a="http://schemas.openxmlformats.org/drawingml/2006/main">
            <a:r>
              <a:t>One question picks the rung: is the AI missing knowledge → feed it documents. Misbehaving with knowledge it has → prompt it. Retraining stays rare.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three big cards LEFT TO RIGHT — say the verbs: prompt it, feed it documents, retrain it. The temp analogies carry it: instructions → binder → back to school.</a:t>
            </a:r>
            <a:endParaRPr/>
          </a:p>
          <a:p xmlns:a="http://schemas.openxmlformats.org/drawingml/2006/main">
            <a:r>
              <a:t>2) Then the worked topic, ① → ② → ③, warranty questions: prompting fixes the HOW, documents fix the WHAT, and step ② is where almost every real workplace case ends. Step ③ exists so the room knows what it is — and that it isn’t their job.</a:t>
            </a:r>
            <a:endParaRPr/>
          </a:p>
          <a:p xmlns:a="http://schemas.openxmlformats.org/drawingml/2006/main">
            <a:r>
              <a:t>3) Amber band — the takeaway question, verbatim: missing knowledge → documents; misbehaving → prompt.</a:t>
            </a:r>
            <a:endParaRPr/>
          </a:p>
          <a:p xmlns:a="http://schemas.openxmlformats.org/drawingml/2006/main">
            <a:r>
              <a:t/>
            </a:r>
            <a:endParaRPr/>
          </a:p>
          <a:p xmlns:a="http://schemas.openxmlformats.org/drawingml/2006/main">
            <a:r>
              <a:t>BRIDGE —</a:t>
            </a:r>
            <a:endParaRPr/>
          </a:p>
          <a:p xmlns:a="http://schemas.openxmlformats.org/drawingml/2006/main">
            <a:r>
              <a:t>“Two concepts left — the next one is all about the bill.”</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(rung 2 — the open-book exam from the previous slide).</a:t>
            </a:r>
            <a:endParaRPr/>
          </a:p>
          <a:p xmlns:a="http://schemas.openxmlformats.org/drawingml/2006/main">
            <a:r>
              <a:t/>
            </a:r>
            <a:endParaRPr/>
          </a:p>
          <a:p xmlns:a="http://schemas.openxmlformats.org/drawingml/2006/main">
            <a:r>
              <a:t>CONTENT —</a:t>
            </a:r>
            <a:endParaRPr/>
          </a:p>
          <a:p xmlns:a="http://schemas.openxmlformats.org/drawingml/2006/main">
            <a:r>
              <a:t>v1.7: rebuilt as three big sequential steps + one worked topic (owner request); the guided-prompt chip and on-slide drill were cut — the six-problem triage drill survives in workbook tab BONUS-Ladder for self-study (answers: 1 P · 2 R · 3 P · 4 R · 5 F · 6 defensible either way).</a:t>
            </a:r>
            <a:endParaRPr/>
          </a:p>
          <a:p xmlns:a="http://schemas.openxmlformats.org/drawingml/2006/main">
            <a:r>
              <a:t>“Let’s fine-tune on our procedures” → first ask: knowledge problem (→documents) or behavior problem (→prompt)? Most enterprise cases are knowledge problems.</a:t>
            </a:r>
            <a:endParaRPr/>
          </a:p>
          <a:p xmlns:a="http://schemas.openxmlformats.org/drawingml/2006/main">
            <a:r>
              <a:t>Frontier flagships mostly aren’t fine-tunable (2026); open-weight models are.</a:t>
            </a:r>
            <a:endParaRPr/>
          </a:p>
          <a:p xmlns:a="http://schemas.openxmlformats.org/drawingml/2006/main">
            <a:r>
              <a:t>NOTE: this is the ESCALATION ladder (capability). Part 6’s PROMOTION ladder (where prompts live) is a different ladder — name them fully.</a:t>
            </a:r>
            <a:endParaRPr/>
          </a:p>
          <a:p xmlns:a="http://schemas.openxmlformats.org/drawingml/2006/main">
            <a:r>
              <a:t>11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Fluent answers can be wrong, so verification belongs in the work design.</a:t>
            </a:r>
          </a:p>
          <a:p xmlns:a="http://schemas.openxmlformats.org/drawingml/2006/main"/>
          <a:p xmlns:a="http://schemas.openxmlformats.org/drawingml/2006/main">
            <a:r>
              <a:t>SAY:</a:t>
            </a:r>
          </a:p>
          <a:p xmlns:a="http://schemas.openxmlformats.org/drawingml/2006/main">
            <a:r>
              <a:t>- Distinguish plausible language from evidence.</a:t>
            </a:r>
          </a:p>
          <a:p xmlns:a="http://schemas.openxmlformats.org/drawingml/2006/main">
            <a:r>
              <a:t>- Asking the same model “Are you sure?” is not independent verification.</a:t>
            </a:r>
          </a:p>
          <a:p xmlns:a="http://schemas.openxmlformats.org/drawingml/2006/main">
            <a:r>
              <a:t>- Name the source or calculation that would settle the question.</a:t>
            </a:r>
          </a:p>
          <a:p xmlns:a="http://schemas.openxmlformats.org/drawingml/2006/main"/>
          <a:p xmlns:a="http://schemas.openxmlformats.org/drawingml/2006/main">
            <a:r>
              <a:t>DO: None.</a:t>
            </a:r>
          </a:p>
          <a:p xmlns:a="http://schemas.openxmlformats.org/drawingml/2006/main"/>
          <a:p xmlns:a="http://schemas.openxmlformats.org/drawingml/2006/main">
            <a:r>
              <a:t>BRIDGE: Move to “Failure patterns and the check they need”.</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14</a:t>
            </a:r>
          </a:p>
          <a:p xmlns:a="http://schemas.openxmlformats.org/drawingml/2006/main">
            <a:r>
              <a:t>CONCEPT 6 · HALLUCINATION</a:t>
            </a:r>
          </a:p>
          <a:p xmlns:a="http://schemas.openxmlformats.org/drawingml/2006/main">
            <a:r>
              <a:t>Fluency is not evidence</a:t>
            </a:r>
          </a:p>
          <a:p xmlns:a="http://schemas.openxmlformats.org/drawingml/2006/main">
            <a:r>
              <a:t>The mechanism: models are optimized for the most plausible next token, not the most true one. Trouble concentrates where training data is thin: rare facts, citations, numbers, names.</a:t>
            </a:r>
          </a:p>
          <a:p xmlns:a="http://schemas.openxmlformats.org/drawingml/2006/main">
            <a:r>
              <a:t>OpenAI’s own 2025 research: benchmarks reward confident guessing over “I don’t know” — models learn to be good test-takers.</a:t>
            </a:r>
          </a:p>
          <a:p xmlns:a="http://schemas.openxmlformats.org/drawingml/2006/main">
            <a:r>
              <a:t>The better word is confabulation: it fills gaps with plausible material, in-format — fake citations LOOK like citations.</a:t>
            </a:r>
          </a:p>
          <a:p xmlns:a="http://schemas.openxmlformats.org/drawingml/2006/main">
            <a:r>
              <a:t>The confident guess, measured</a:t>
            </a:r>
          </a:p>
          <a:p xmlns:a="http://schemas.openxmlformats.org/drawingml/2006/main">
            <a:r>
              <a:t>Older reasoning model (o4-mini)</a:t>
            </a:r>
          </a:p>
          <a:p xmlns:a="http://schemas.openxmlformats.org/drawingml/2006/main">
            <a:r>
              <a:t>24%</a:t>
            </a:r>
          </a:p>
          <a:p xmlns:a="http://schemas.openxmlformats.org/drawingml/2006/main">
            <a:r>
              <a:t>75%</a:t>
            </a:r>
          </a:p>
          <a:p xmlns:a="http://schemas.openxmlformats.org/drawingml/2006/main">
            <a:r>
              <a:t>Newer, trained to say “I don’t know”</a:t>
            </a:r>
          </a:p>
          <a:p xmlns:a="http://schemas.openxmlformats.org/drawingml/2006/main">
            <a:r>
              <a:t>22%</a:t>
            </a:r>
          </a:p>
          <a:p xmlns:a="http://schemas.openxmlformats.org/drawingml/2006/main">
            <a:r>
              <a:t>26%</a:t>
            </a:r>
          </a:p>
          <a:p xmlns:a="http://schemas.openxmlformats.org/drawingml/2006/main">
            <a:r>
              <a:t>52%</a:t>
            </a:r>
          </a:p>
          <a:p xmlns:a="http://schemas.openxmlformats.org/drawingml/2006/main">
            <a:r>
              <a:t>■ right  ■ wrong  ■ “I don’t know” — ~3× fewer false claims.</a:t>
            </a:r>
          </a:p>
          <a:p xmlns:a="http://schemas.openxmlformats.org/drawingml/2006/main">
            <a:r>
              <a:t>OpenAI’s own models &amp; benchmark (2025) — the mechanism, not a vendor ranking.</a:t>
            </a:r>
          </a:p>
          <a:p xmlns:a="http://schemas.openxmlformats.org/drawingml/2006/main">
            <a:r>
              <a:t>THE CONFIDENT GUESS  · Invented facts</a:t>
            </a:r>
          </a:p>
          <a:p xmlns:a="http://schemas.openxmlformats.org/drawingml/2006/main">
            <a:r>
              <a:t>Free recall where data was thin — a wrong fact, delivered with total certainty.</a:t>
            </a:r>
          </a:p>
          <a:p xmlns:a="http://schemas.openxmlformats.org/drawingml/2006/main">
            <a:r>
              <a:t>THE FAKE RECEIPT  · Invented sources</a:t>
            </a:r>
          </a:p>
          <a:p xmlns:a="http://schemas.openxmlformats.org/drawingml/2006/main">
            <a:r>
              <a:t>Citations, cases, book titles that look perfectly real — and don’t exist.</a:t>
            </a:r>
          </a:p>
          <a:p xmlns:a="http://schemas.openxmlformats.org/drawingml/2006/main">
            <a:r>
              <a:t>THE JOKE TAKEN SERIOUSLY  · Wrong source, confident answer</a:t>
            </a:r>
          </a:p>
          <a:p xmlns:a="http://schemas.openxmlformats.org/drawingml/2006/main">
            <a:r>
              <a:t>Fluent, cited — and built on a joke, a satire, or the wrong revision.</a:t>
            </a:r>
          </a:p>
          <a:p xmlns:a="http://schemas.openxmlformats.org/drawingml/2006/main">
            <a:r>
              <a:t>GARBAGE IN, GOSPEL OUT  · Runs with your false premise</a:t>
            </a:r>
          </a:p>
          <a:p xmlns:a="http://schemas.openxmlformats.org/drawingml/2006/main">
            <a:r>
              <a:t>It assumes your prompt is true: feed it a wrong “fact” and it politely builds on it.</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Open with the improv actor, spoken: “an improv actor never breaks character — the show must go on, so gaps get filled with the most plausible line. That is your AI on a thin-data day.”</a:t>
            </a:r>
          </a:p>
          <a:p xmlns:a="http://schemas.openxmlformats.org/drawingml/2006/main">
            <a:r>
              <a:t>2) Left bullets: the mechanism; the bold OpenAI 2025 finding — the vendor itself says benchmarks reward guessing; the vocabulary upgrade — CONFABULATION.</a:t>
            </a:r>
          </a:p>
          <a:p xmlns:a="http://schemas.openxmlformats.org/drawingml/2006/main">
            <a:r>
              <a:t>3) Right: meet the four CHARACTERS — say the nicknames with theater: the confident guess · the fake receipt · the joke taken seriously · garbage in, gospel out. One line each; each returns as a real incident on the next slide.</a:t>
            </a:r>
          </a:p>
          <a:p xmlns:a="http://schemas.openxmlformats.org/drawingml/2006/main">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p>
          <a:p xmlns:a="http://schemas.openxmlformats.org/drawingml/2006/main">
            <a:r>
              <a:t>5) Presenter story for character 1 if you want one: Google Bard’s launch demo flubbed a telescope fact — details on the next slide’s notes.</a:t>
            </a:r>
          </a:p>
          <a:p xmlns:a="http://schemas.openxmlformats.org/drawingml/2006/main"/>
          <a:p xmlns:a="http://schemas.openxmlformats.org/drawingml/2006/main">
            <a:r>
              <a:t>BRIDGE —</a:t>
            </a:r>
          </a:p>
          <a:p xmlns:a="http://schemas.openxmlformats.org/drawingml/2006/main">
            <a:r>
              <a:t>“What do these characters look like in public? The hall of shame.”</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abstain-vs-guess chart added (r23: SimpleQA numbers from arXiv:2509.04664 + the GPT-5 system card — o4-mini 24/75/1 vs gpt-5-thinking-mini 22/26/52; the on-slide caveat is mandatory).</a:t>
            </a:r>
          </a:p>
          <a:p xmlns:a="http://schemas.openxmlformats.org/drawingml/2006/main">
            <a:r>
              <a:t>v1.8 ART — the four character cards now carry the owner-generated object emblems (R16): blank cue card in a spotlight · sealed receipt dissolving into pixels · rubber chicken on a specimen tray · crumpled paper in a gilded frame. Point at each emblem as you name its character.</a:t>
            </a:r>
          </a:p>
          <a:p xmlns:a="http://schemas.openxmlformats.org/drawingml/2006/main">
            <a:r>
              <a:t>v1.6: the four kinds became named characters (owner: more engaging). Teaching frame grounded in r10/r2/r14 — not claimed as academic taxonomy.</a:t>
            </a:r>
          </a:p>
          <a:p xmlns:a="http://schemas.openxmlformats.org/drawingml/2006/main">
            <a:r>
              <a:t>OpenAI 2025 = “Why language models hallucinate” (arXiv:2509.04664).</a:t>
            </a:r>
          </a:p>
          <a:p xmlns:a="http://schemas.openxmlformats.org/drawingml/2006/main">
            <a:r>
              <a:t>R14: the italic footer (“Four characters — one root: the show must go on. Next slide: what they cost in public.”) was removed from the slide — speak it as the closing line before advancing.</a:t>
            </a:r>
          </a:p>
          <a:p xmlns:a="http://schemas.openxmlformats.org/drawingml/2006/main">
            <a:r>
              <a:t>14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Different assistants expose different capabilities and controls.</a:t>
            </a:r>
            <a:endParaRPr/>
          </a:p>
          <a:p xmlns:a="http://schemas.openxmlformats.org/drawingml/2006/main">
            <a:r>
              <a:t/>
            </a:r>
            <a:endParaRPr/>
          </a:p>
          <a:p xmlns:a="http://schemas.openxmlformats.org/drawingml/2006/main">
            <a:r>
              <a:t>SAY:</a:t>
            </a:r>
            <a:endParaRPr/>
          </a:p>
          <a:p xmlns:a="http://schemas.openxmlformats.org/drawingml/2006/main">
            <a:r>
              <a:t>- Compare assistants by required capabilities and approved data access.</a:t>
            </a:r>
            <a:endParaRPr/>
          </a:p>
          <a:p xmlns:a="http://schemas.openxmlformats.org/drawingml/2006/main">
            <a:r>
              <a:t>- Treat dated model names and rankings as reference context, not a purchasing guide.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“January 2025: frontier ability, ~27× cheaper”.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ASSISTANTS</a:t>
            </a:r>
            <a:endParaRPr/>
          </a:p>
          <a:p xmlns:a="http://schemas.openxmlformats.org/drawingml/2006/main">
            <a:r>
              <a:t>17</a:t>
            </a:r>
            <a:endParaRPr/>
          </a:p>
          <a:p xmlns:a="http://schemas.openxmlformats.org/drawingml/2006/main">
            <a:r>
              <a:t>SIX ASSISTANTS, SIX DIFFERENT JOBS</a:t>
            </a:r>
            <a:endParaRPr/>
          </a:p>
          <a:p xmlns:a="http://schemas.openxmlformats.org/drawingml/2006/main">
            <a:r>
              <a:t>Pick by task, not habit — September 2026</a:t>
            </a:r>
            <a:endParaRPr/>
          </a:p>
          <a:p xmlns:a="http://schemas.openxmlformats.org/drawingml/2006/main">
            <a:r>
              <a:t>ChatGPT</a:t>
            </a:r>
            <a:endParaRPr/>
          </a:p>
          <a:p xmlns:a="http://schemas.openxmlformats.org/drawingml/2006/main">
            <a:r>
              <a:t>OpenAI · GPT-5.6 (Sol / Terra / Luna)</a:t>
            </a:r>
            <a:endParaRPr/>
          </a:p>
          <a:p xmlns:a="http://schemas.openxmlformats.org/drawingml/2006/main">
            <a:r>
              <a:t>The everything assistant</a:t>
            </a:r>
            <a:endParaRPr/>
          </a:p>
          <a:p xmlns:a="http://schemas.openxmlformats.org/drawingml/2006/main">
            <a:r>
              <a:t>Largest user base; fastest at drafts, options and marketing copy; images, voice, agent mode.</a:t>
            </a:r>
            <a:endParaRPr/>
          </a:p>
          <a:p xmlns:a="http://schemas.openxmlformats.org/drawingml/2006/main">
            <a:r>
              <a:t>Fast model churn and renaming; check data settings before regulated content.</a:t>
            </a:r>
            <a:endParaRPr/>
          </a:p>
          <a:p xmlns:a="http://schemas.openxmlformats.org/drawingml/2006/main">
            <a:r>
              <a:t>Gemini</a:t>
            </a:r>
            <a:endParaRPr/>
          </a:p>
          <a:p xmlns:a="http://schemas.openxmlformats.org/drawingml/2006/main">
            <a:r>
              <a:t>Google · Gemini 3 / 3.1 Pro / 3.6 Flash</a:t>
            </a:r>
            <a:endParaRPr/>
          </a:p>
          <a:p xmlns:a="http://schemas.openxmlformats.org/drawingml/2006/main">
            <a:r>
              <a:t>Everywhere Google is</a:t>
            </a:r>
            <a:endParaRPr/>
          </a:p>
          <a:p xmlns:a="http://schemas.openxmlformats.org/drawingml/2006/main">
            <a:r>
              <a:t>Multimodal breadth + the deepest Workspace integration — 1B+ monthly users; default AI in Gmail, Docs, Meet.</a:t>
            </a:r>
            <a:endParaRPr/>
          </a:p>
          <a:p xmlns:a="http://schemas.openxmlformats.org/drawingml/2006/main">
            <a:r>
              <a:t>Model-name sprawl; the best reasoning (Deep Think) sits behind the Ultra tier.</a:t>
            </a:r>
            <a:endParaRPr/>
          </a:p>
          <a:p xmlns:a="http://schemas.openxmlformats.org/drawingml/2006/main">
            <a:r>
              <a:t>Copilot</a:t>
            </a:r>
            <a:endParaRPr/>
          </a:p>
          <a:p xmlns:a="http://schemas.openxmlformats.org/drawingml/2006/main">
            <a:r>
              <a:t>Microsoft · GPT-5.6 + Claude selectable</a:t>
            </a:r>
            <a:endParaRPr/>
          </a:p>
          <a:p xmlns:a="http://schemas.openxmlformats.org/drawingml/2006/main">
            <a:r>
              <a:t>The governed one — inside your tenant</a:t>
            </a:r>
            <a:endParaRPr/>
          </a:p>
          <a:p xmlns:a="http://schemas.openxmlformats.org/drawingml/2006/main">
            <a:r>
              <a:t>30M+ paid seats inside the M365 compliance boundary IT already audits; its Cowork agent runs on Claude technology.</a:t>
            </a:r>
            <a:endParaRPr/>
          </a:p>
          <a:p xmlns:a="http://schemas.openxmlformats.org/drawingml/2006/main">
            <a:r>
              <a:t>Licenses others’ models; admin flags mean colleagues get different capabilities.</a:t>
            </a:r>
            <a:endParaRPr/>
          </a:p>
          <a:p xmlns:a="http://schemas.openxmlformats.org/drawingml/2006/main">
            <a:r>
              <a:t>Claude</a:t>
            </a:r>
            <a:endParaRPr/>
          </a:p>
          <a:p xmlns:a="http://schemas.openxmlformats.org/drawingml/2006/main">
            <a:r>
              <a:t>Anthropic · Fable/Opus/Sonnet 5 + Haiku</a:t>
            </a:r>
            <a:endParaRPr/>
          </a:p>
          <a:p xmlns:a="http://schemas.openxmlformats.org/drawingml/2006/main">
            <a:r>
              <a:t>Best-in-class coding &amp; agentic work</a:t>
            </a:r>
            <a:endParaRPr/>
          </a:p>
          <a:p xmlns:a="http://schemas.openxmlformats.org/drawingml/2006/main">
            <a:r>
              <a:t>Tops SWE-bench AND OpenAI’s own real-work eval (GDPval); 2026 writing evals rank its prose #1; 1M-token documents.</a:t>
            </a:r>
            <a:endParaRPr/>
          </a:p>
          <a:p xmlns:a="http://schemas.openxmlformats.org/drawingml/2006/main">
            <a:r>
              <a:t>Premium pricing at the top; the flagship can refuse high-risk domains by design.</a:t>
            </a:r>
            <a:endParaRPr/>
          </a:p>
          <a:p xmlns:a="http://schemas.openxmlformats.org/drawingml/2006/main">
            <a:r>
              <a:t>Perplexity</a:t>
            </a:r>
            <a:endParaRPr/>
          </a:p>
          <a:p xmlns:a="http://schemas.openxmlformats.org/drawingml/2006/main">
            <a:r>
              <a:t>Perplexity · own stack + Model Council</a:t>
            </a:r>
            <a:endParaRPr/>
          </a:p>
          <a:p xmlns:a="http://schemas.openxmlformats.org/drawingml/2006/main">
            <a:r>
              <a:t>Research with receipts</a:t>
            </a:r>
            <a:endParaRPr/>
          </a:p>
          <a:p xmlns:a="http://schemas.openxmlformats.org/drawingml/2006/main">
            <a:r>
              <a:t>Inline citations by default; the lowest citation-error rate in CJR’s AI-search testing — 37%, vs 67% for ChatGPT Search.</a:t>
            </a:r>
            <a:endParaRPr/>
          </a:p>
          <a:p xmlns:a="http://schemas.openxmlformats.org/drawingml/2006/main">
            <a:r>
              <a:t>A citation isn’t proof — click through before quoting anywhere formal.</a:t>
            </a:r>
            <a:endParaRPr/>
          </a:p>
          <a:p xmlns:a="http://schemas.openxmlformats.org/drawingml/2006/main">
            <a:r>
              <a:t>Grok</a:t>
            </a:r>
            <a:endParaRPr/>
          </a:p>
          <a:p xmlns:a="http://schemas.openxmlformats.org/drawingml/2006/main">
            <a:r>
              <a:t>xAI (SpaceX) · Grok 4.6</a:t>
            </a:r>
            <a:endParaRPr/>
          </a:p>
          <a:p xmlns:a="http://schemas.openxmlformats.org/drawingml/2006/main">
            <a:r>
              <a:t>Blunt on purpose</a:t>
            </a:r>
            <a:endParaRPr/>
          </a:p>
          <a:p xmlns:a="http://schemas.openxmlformats.org/drawingml/2006/main">
            <a:r>
              <a:t>“Unhinged” is a literal voice mode; real-time X data; aggressive price-performance.</a:t>
            </a:r>
            <a:endParaRPr/>
          </a:p>
          <a:p xmlns:a="http://schemas.openxmlformats.org/drawingml/2006/main">
            <a:r>
              <a:t>Fewer guardrails, real incidents (Jul 2025 apology) — mind brand-sensitive work.</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“six trading cards — the big bold line on each is what that assistant is genuinely KNOWN FOR. Pick by task, not habit.”</a:t>
            </a:r>
            <a:endParaRPr/>
          </a:p>
          <a:p xmlns:a="http://schemas.openxmlformats.org/drawingml/2006/main">
            <a:r>
              <a:t>2) Walk the Z: ChatGPT → Gemini → Copilot (the three everyone already has), then Claude → Perplexity → Grok. Say the bold line, one evidence beat, move on; let the amber caveats be read, not spoken.</a:t>
            </a:r>
            <a:endParaRPr/>
          </a:p>
          <a:p xmlns:a="http://schemas.openxmlformats.org/drawingml/2006/main">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endParaRPr/>
          </a:p>
          <a:p xmlns:a="http://schemas.openxmlformats.org/drawingml/2006/main">
            <a:r>
              <a:t>4) On Copilot, land the licensing fact: Microsoft’s Cowork agent runs on Claude technology — tiers matter more than brand wars.</a:t>
            </a:r>
            <a:endParaRPr/>
          </a:p>
          <a:p xmlns:a="http://schemas.openxmlformats.org/drawingml/2006/main">
            <a:r>
              <a:t>5) Footer: the trust question is TWO SLIDES AHEAD; fortes verified Sep 9, 2026 and they WILL move.</a:t>
            </a:r>
            <a:endParaRPr/>
          </a:p>
          <a:p xmlns:a="http://schemas.openxmlformats.org/drawingml/2006/main">
            <a:r>
              <a:t/>
            </a:r>
            <a:endParaRPr/>
          </a:p>
          <a:p xmlns:a="http://schemas.openxmlformats.org/drawingml/2006/main">
            <a:r>
              <a:t>BRIDGE —</a:t>
            </a:r>
            <a:endParaRPr/>
          </a:p>
          <a:p xmlns:a="http://schemas.openxmlformats.org/drawingml/2006/main">
            <a:r>
              <a:t>“One force reshaped this list — the Chinese open-weight wave.”</a:t>
            </a:r>
            <a:endParaRPr/>
          </a:p>
          <a:p xmlns:a="http://schemas.openxmlformats.org/drawingml/2006/main">
            <a:r>
              <a:t/>
            </a:r>
            <a:endParaRPr/>
          </a:p>
          <a:p xmlns:a="http://schemas.openxmlformats.org/drawingml/2006/main">
            <a:r>
              <a:t>ACRONYMS —</a:t>
            </a:r>
            <a:endParaRPr/>
          </a:p>
          <a:p xmlns:a="http://schemas.openxmlformats.org/drawingml/2006/main">
            <a:r>
              <a:t>SWE-bench = Software Engineering benchmark — the standard test of coding-agent ability.</a:t>
            </a:r>
            <a:endParaRPr/>
          </a:p>
          <a:p xmlns:a="http://schemas.openxmlformats.org/drawingml/2006/main">
            <a:r>
              <a:t>GDPval = OpenAI’s benchmark of 220 real knowledge-work tasks across 44 occupations.</a:t>
            </a:r>
            <a:endParaRPr/>
          </a:p>
          <a:p xmlns:a="http://schemas.openxmlformats.org/drawingml/2006/main">
            <a:r>
              <a:t>CJR = Columbia Journalism Review (its Tow Center tested AI search citation accuracy).</a:t>
            </a:r>
            <a:endParaRPr/>
          </a:p>
          <a:p xmlns:a="http://schemas.openxmlformats.org/drawingml/2006/main">
            <a:r>
              <a:t>X = the social platform (Grok’s data source).</a:t>
            </a:r>
            <a:endParaRPr/>
          </a:p>
          <a:p xmlns:a="http://schemas.openxmlformats.org/drawingml/2006/main">
            <a:r>
              <a:t/>
            </a:r>
            <a:endParaRPr/>
          </a:p>
          <a:p xmlns:a="http://schemas.openxmlformats.org/drawingml/2006/main">
            <a:r>
              <a:t>CONTENT —</a:t>
            </a:r>
            <a:endParaRPr/>
          </a:p>
          <a:p xmlns:a="http://schemas.openxmlformats.org/drawingml/2006/main">
            <a:r>
              <a:t>v1.12 (owner edits, ported): evidence lines enlarged (his 14pt did not fit the fixed cards — set to the max that does, 11pt; caveats 10.5) and the “Fortes verified Sep 9, 2026 — they will move” footer removed from the slide: say it from point 5 instead.</a:t>
            </a:r>
            <a:endParaRPr/>
          </a:p>
          <a:p xmlns:a="http://schemas.openxmlformats.org/drawingml/2006/main">
            <a:r>
              <a:t>v1.6: rebuilt as identity trading cards (assertion-evidence layout, r19) with real product logos; Perplexity’s known-for now leads with the CJR error-rate comparison (the ~94%-with-citations figure was less meaningful — audit H3).</a:t>
            </a:r>
            <a:endParaRPr/>
          </a:p>
          <a:p xmlns:a="http://schemas.openxmlformats.org/drawingml/2006/main">
            <a:r>
              <a:t>Every claim evidence-backed in notes/research/r13_reputations_r1.md:</a:t>
            </a:r>
            <a:endParaRPr/>
          </a:p>
          <a:p xmlns:a="http://schemas.openxmlformats.org/drawingml/2006/main">
            <a:r>
              <a:t>Writing: owner’s hunch was “ChatGPT writes better” — 2026 evals say otherwise (LMArena creative-writing June 2026: Anthropic six of top ten, #1; EQ-Bench Aug 2026 agrees). ChatGPT’s honest forte is speed, options, marketing copy.</a:t>
            </a:r>
            <a:endParaRPr/>
          </a:p>
          <a:p xmlns:a="http://schemas.openxmlformats.org/drawingml/2006/main">
            <a:r>
              <a:t>Claude: SWE-bench ~96% (Sept 2026); GDPval winner (OpenAI’s own eval, Sept 2025); GDPval-AA v2 leader Sept 2026.</a:t>
            </a:r>
            <a:endParaRPr/>
          </a:p>
          <a:p xmlns:a="http://schemas.openxmlformats.org/drawingml/2006/main">
            <a:r>
              <a:t>Copilot: 30M+ paid seats (Microsoft FY26 Q4, Jul 2026); Copilot Cowork licenses Claude Cowork technology (Mar 2026).</a:t>
            </a:r>
            <a:endParaRPr/>
          </a:p>
          <a:p xmlns:a="http://schemas.openxmlformats.org/drawingml/2006/main">
            <a:r>
              <a:t>Vendor benchmark numbers are marketing until independently reproduced — read them as claims.</a:t>
            </a:r>
            <a:endParaRPr/>
          </a:p>
          <a:p xmlns:a="http://schemas.openxmlformats.org/drawingml/2006/main">
            <a:r>
              <a:t>Grok note: xAI was acquired by SpaceX (Feb 2026).</a:t>
            </a:r>
            <a:endParaRPr/>
          </a:p>
          <a:p xmlns:a="http://schemas.openxmlformats.org/drawingml/2006/main">
            <a:r>
              <a:t>Logos: official site favicons (assets/logos/) — referential brand use inside an internal training deck.</a:t>
            </a:r>
            <a:endParaRPr/>
          </a:p>
          <a:p xmlns:a="http://schemas.openxmlformats.org/drawingml/2006/main">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endParaRPr/>
          </a:p>
          <a:p xmlns:a="http://schemas.openxmlformats.org/drawingml/2006/main">
            <a:r>
              <a:t>R14 type pass: sub-labels trimmed to fit 9pt — Perplexity’s Model Council = GPT+Claude+Gemini; footer teaser (“whose servers? two slides ahead — the account tier decides, not the logo”) now spoken from point 5, not printed.</a:t>
            </a:r>
            <a:endParaRPr/>
          </a:p>
          <a:p xmlns:a="http://schemas.openxmlformats.org/drawingml/2006/main">
            <a:r>
              <a:t>17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0:50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Confirm approved tools and data rules before participants upload anything.</a:t>
            </a:r>
            <a:endParaRPr/>
          </a:p>
          <a:p xmlns:a="http://schemas.openxmlformats.org/drawingml/2006/main">
            <a:r>
              <a:t/>
            </a:r>
            <a:endParaRPr/>
          </a:p>
          <a:p xmlns:a="http://schemas.openxmlformats.org/drawingml/2006/main">
            <a:r>
              <a:t>SAY:</a:t>
            </a:r>
            <a:endParaRPr/>
          </a:p>
          <a:p xmlns:a="http://schemas.openxmlformats.org/drawingml/2006/main">
            <a:r>
              <a:t>- Company data rules depend on the actual account, service, contract, and configuration.</a:t>
            </a:r>
            <a:endParaRPr/>
          </a:p>
          <a:p xmlns:a="http://schemas.openxmlformats.org/drawingml/2006/main">
            <a:r>
              <a:t>- A vendor’s home country alone does not describe every customer’s storage arrangement.</a:t>
            </a:r>
            <a:endParaRPr/>
          </a:p>
          <a:p xmlns:a="http://schemas.openxmlformats.org/drawingml/2006/main">
            <a:r>
              <a:t>- Resolve uncertain access before an upload, using the organization’s approved guidance.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3: prompt engineering”.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2 · TRUST &amp; DATA</a:t>
            </a:r>
            <a:endParaRPr/>
          </a:p>
          <a:p xmlns:a="http://schemas.openxmlformats.org/drawingml/2006/main">
            <a:r>
              <a:t>19</a:t>
            </a:r>
            <a:endParaRPr/>
          </a:p>
          <a:p xmlns:a="http://schemas.openxmlformats.org/drawingml/2006/main">
            <a:r>
              <a:t>WHERE YOUR WORDS GO</a:t>
            </a:r>
            <a:endParaRPr/>
          </a:p>
          <a:p xmlns:a="http://schemas.openxmlformats.org/drawingml/2006/main">
            <a:r>
              <a:t>Whose servers, in which country — Sep 2026</a:t>
            </a:r>
            <a:endParaRPr/>
          </a:p>
          <a:p xmlns:a="http://schemas.openxmlformats.org/drawingml/2006/main">
            <a:r>
              <a:t>UNITED STATES</a:t>
            </a:r>
            <a:endParaRPr/>
          </a:p>
          <a:p xmlns:a="http://schemas.openxmlformats.org/drawingml/2006/main">
            <a:r>
              <a:t>Anthropic</a:t>
            </a:r>
            <a:endParaRPr/>
          </a:p>
          <a:p xmlns:a="http://schemas.openxmlformats.org/drawingml/2006/main">
            <a:r>
              <a:t>stored in the US</a:t>
            </a:r>
            <a:endParaRPr/>
          </a:p>
          <a:p xmlns:a="http://schemas.openxmlformats.org/drawingml/2006/main">
            <a:r>
              <a:t>OpenAI</a:t>
            </a:r>
            <a:endParaRPr/>
          </a:p>
          <a:p xmlns:a="http://schemas.openxmlformats.org/drawingml/2006/main">
            <a:r>
              <a:t>US by default</a:t>
            </a:r>
            <a:endParaRPr/>
          </a:p>
          <a:p xmlns:a="http://schemas.openxmlformats.org/drawingml/2006/main">
            <a:r>
              <a:t>xAI</a:t>
            </a:r>
            <a:endParaRPr/>
          </a:p>
          <a:p xmlns:a="http://schemas.openxmlformats.org/drawingml/2006/main">
            <a:r>
              <a:t>own Memphis data centers</a:t>
            </a:r>
            <a:endParaRPr/>
          </a:p>
          <a:p xmlns:a="http://schemas.openxmlformats.org/drawingml/2006/main">
            <a:r>
              <a:t>Perplexity</a:t>
            </a:r>
            <a:endParaRPr/>
          </a:p>
          <a:p xmlns:a="http://schemas.openxmlformats.org/drawingml/2006/main">
            <a:r>
              <a:t>AWS cloud, worldwide</a:t>
            </a:r>
            <a:endParaRPr/>
          </a:p>
          <a:p xmlns:a="http://schemas.openxmlformats.org/drawingml/2006/main">
            <a:r>
              <a:t>EUROPE — residency on business tiers</a:t>
            </a:r>
            <a:endParaRPr/>
          </a:p>
          <a:p xmlns:a="http://schemas.openxmlformats.org/drawingml/2006/main">
            <a:r>
              <a:t>OpenAI</a:t>
            </a:r>
            <a:endParaRPr/>
          </a:p>
          <a:p xmlns:a="http://schemas.openxmlformats.org/drawingml/2006/main">
            <a:r>
              <a:t>EU residency (2025) + in-region processing (2026)</a:t>
            </a:r>
            <a:endParaRPr/>
          </a:p>
          <a:p xmlns:a="http://schemas.openxmlformats.org/drawingml/2006/main">
            <a:r>
              <a:t>Microsoft</a:t>
            </a:r>
            <a:endParaRPr/>
          </a:p>
          <a:p xmlns:a="http://schemas.openxmlformats.org/drawingml/2006/main">
            <a:r>
              <a:t>EU Data Boundary — Claude-in-Copilot sits outside it</a:t>
            </a:r>
            <a:endParaRPr/>
          </a:p>
          <a:p xmlns:a="http://schemas.openxmlformats.org/drawingml/2006/main">
            <a:r>
              <a:t>Google</a:t>
            </a:r>
            <a:endParaRPr/>
          </a:p>
          <a:p xmlns:a="http://schemas.openxmlformats.org/drawingml/2006/main">
            <a:r>
              <a:t>enterprise residency by region</a:t>
            </a:r>
            <a:endParaRPr/>
          </a:p>
          <a:p xmlns:a="http://schemas.openxmlformats.org/drawingml/2006/main">
            <a:r>
              <a:t>Anthropic</a:t>
            </a:r>
            <a:endParaRPr/>
          </a:p>
          <a:p xmlns:a="http://schemas.openxmlformats.org/drawingml/2006/main">
            <a:r>
              <a:t>EU via cloud partners (Bedrock · Vertex · Foundry)</a:t>
            </a:r>
            <a:endParaRPr/>
          </a:p>
          <a:p xmlns:a="http://schemas.openxmlformats.org/drawingml/2006/main">
            <a:r>
              <a:t>CHINA &amp; ASIA</a:t>
            </a:r>
            <a:endParaRPr/>
          </a:p>
          <a:p xmlns:a="http://schemas.openxmlformats.org/drawingml/2006/main">
            <a:r>
              <a:t>DeepSeek</a:t>
            </a:r>
            <a:endParaRPr/>
          </a:p>
          <a:p xmlns:a="http://schemas.openxmlformats.org/drawingml/2006/main">
            <a:r>
              <a:t>“stored in the People’s Republic of China” — its own policy</a:t>
            </a:r>
            <a:endParaRPr/>
          </a:p>
          <a:p xmlns:a="http://schemas.openxmlformats.org/drawingml/2006/main">
            <a:r>
              <a:t>Kimi (Moonshot)</a:t>
            </a:r>
            <a:endParaRPr/>
          </a:p>
          <a:p xmlns:a="http://schemas.openxmlformats.org/drawingml/2006/main">
            <a:r>
              <a:t>PRC storage</a:t>
            </a:r>
            <a:endParaRPr/>
          </a:p>
          <a:p xmlns:a="http://schemas.openxmlformats.org/drawingml/2006/main">
            <a:r>
              <a:t>Z</a:t>
            </a:r>
            <a:endParaRPr/>
          </a:p>
          <a:p xmlns:a="http://schemas.openxmlformats.org/drawingml/2006/main">
            <a:r>
              <a:t>Z.ai (Zhipu)</a:t>
            </a:r>
            <a:endParaRPr/>
          </a:p>
          <a:p xmlns:a="http://schemas.openxmlformats.org/drawingml/2006/main">
            <a:r>
              <a:t>Singapore processing · US Entity-List parent</a:t>
            </a:r>
            <a:endParaRPr/>
          </a:p>
          <a:p xmlns:a="http://schemas.openxmlformats.org/drawingml/2006/main">
            <a:r>
              <a:t>Residency = choosing where it lives. </a:t>
            </a:r>
            <a:endParaRPr/>
          </a:p>
          <a:p xmlns:a="http://schemas.openxmlformats.org/drawingml/2006/main">
            <a:r>
              <a:t>An enterprise feature: the same vendor can host your company tenant in the EU while its consumer app stores chats in the US.</a:t>
            </a:r>
            <a:endParaRPr/>
          </a:p>
          <a:p xmlns:a="http://schemas.openxmlformats.org/drawingml/2006/main">
            <a:r>
              <a:t>The one question that settles it: </a:t>
            </a:r>
            <a:endParaRPr/>
          </a:p>
          <a:p xmlns:a="http://schemas.openxmlformats.org/drawingml/2006/main">
            <a:r>
              <a:t>ask IT which region and tier YOUR account runs on — your organization’s AI policy has the answer for everything else.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“one geography question — whose servers, in which country — and one account question. That’s the whole trust topic at our level.”</a:t>
            </a:r>
            <a:endParaRP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endParaRPr/>
          </a:p>
          <a:p xmlns:a="http://schemas.openxmlformats.org/drawingml/2006/main">
            <a:r>
              <a:t>3) The italic map line: SAME LOGO, DIFFERENT HOMES — the account tier decides which one yours is. That is the entire lesson.</a:t>
            </a:r>
            <a:endParaRPr/>
          </a:p>
          <a:p xmlns:a="http://schemas.openxmlformats.org/drawingml/2006/main">
            <a:r>
              <a:t>4) Teal card: residency, defined once.</a:t>
            </a:r>
            <a:endParaRP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endParaRP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endParaRPr/>
          </a:p>
          <a:p xmlns:a="http://schemas.openxmlformats.org/drawingml/2006/main">
            <a:r>
              <a:t/>
            </a:r>
            <a:endParaRPr/>
          </a:p>
          <a:p xmlns:a="http://schemas.openxmlformats.org/drawingml/2006/main">
            <a:r>
              <a:t>BRIDGE —</a:t>
            </a:r>
            <a:endParaRPr/>
          </a:p>
          <a:p xmlns:a="http://schemas.openxmlformats.org/drawingml/2006/main">
            <a:r>
              <a:t>“That’s the landscape. Part 3 — the craft itself.”</a:t>
            </a:r>
            <a:endParaRPr/>
          </a:p>
          <a:p xmlns:a="http://schemas.openxmlformats.org/drawingml/2006/main">
            <a:r>
              <a:t/>
            </a:r>
            <a:endParaRPr/>
          </a:p>
          <a:p xmlns:a="http://schemas.openxmlformats.org/drawingml/2006/main">
            <a:r>
              <a:t>ACRONYMS —</a:t>
            </a:r>
            <a:endParaRPr/>
          </a:p>
          <a:p xmlns:a="http://schemas.openxmlformats.org/drawingml/2006/main">
            <a:r>
              <a:t>PRC = People’s Republic of China. EU Data Boundary = Microsoft’s commitment to process EU data inside the EU.</a:t>
            </a:r>
            <a:endParaRPr/>
          </a:p>
          <a:p xmlns:a="http://schemas.openxmlformats.org/drawingml/2006/main">
            <a:r>
              <a:t>AWS = Amazon Web Services. Entity List = the US federal trade-restriction list — a procurement red flag.</a:t>
            </a:r>
            <a:endParaRPr/>
          </a:p>
          <a:p xmlns:a="http://schemas.openxmlformats.org/drawingml/2006/main">
            <a:r>
              <a:t/>
            </a:r>
            <a:endParaRPr/>
          </a:p>
          <a:p xmlns:a="http://schemas.openxmlformats.org/drawingml/2006/main">
            <a:r>
              <a:t>CONTENT —</a:t>
            </a:r>
            <a:endParaRPr/>
          </a:p>
          <a:p xmlns:a="http://schemas.openxmlformats.org/drawingml/2006/main">
            <a:r>
              <a:t>v1.12 (owner edits, ported): the centered “same logo, different homes — the ACCOUNT TIER decides” line was removed from the slide — say it aloud instead when sweeping the panels; it remains the slide’s one-line lesson.</a:t>
            </a:r>
            <a:endParaRP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endParaRP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endParaRPr/>
          </a:p>
          <a:p xmlns:a="http://schemas.openxmlformats.org/drawingml/2006/main">
            <a:r>
              <a:t>Defaults drift (Anthropic flipped consumer training Aug 2025; Microsoft Oct 2024) — re-verify quarterly.</a:t>
            </a:r>
            <a:endParaRPr/>
          </a:p>
          <a:p xmlns:a="http://schemas.openxmlformats.org/drawingml/2006/main">
            <a:r>
              <a:t>Standing rule, always said aloud: your organization’s AI policy and approved-tool list outrank everything on this slide.</a:t>
            </a:r>
            <a:endParaRPr/>
          </a:p>
          <a:p xmlns:a="http://schemas.openxmlformats.org/drawingml/2006/main">
            <a:r>
              <a:t>19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91–96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Prompt advice depends on the model, task, and evidence.</a:t>
            </a:r>
            <a:endParaRPr/>
          </a:p>
          <a:p xmlns:a="http://schemas.openxmlformats.org/drawingml/2006/main">
            <a:r>
              <a:t/>
            </a:r>
            <a:endParaRPr/>
          </a:p>
          <a:p xmlns:a="http://schemas.openxmlformats.org/drawingml/2006/main">
            <a:r>
              <a:t>SAY:</a:t>
            </a:r>
            <a:endParaRPr/>
          </a:p>
          <a:p xmlns:a="http://schemas.openxmlformats.org/drawingml/2006/main">
            <a:r>
              <a:t>- These techniques are ideas to test against representative examples.</a:t>
            </a:r>
            <a:endParaRPr/>
          </a:p>
          <a:p xmlns:a="http://schemas.openxmlformats.org/drawingml/2006/main">
            <a:r>
              <a:t>- A result from one model or benchmark is not a universal effect size.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neutral rubric reduces leading feedback”.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WHAT THE EVIDENCE SAYS</a:t>
            </a:r>
            <a:endParaRPr/>
          </a:p>
          <a:p xmlns:a="http://schemas.openxmlformats.org/drawingml/2006/main">
            <a:r>
              <a:t>28</a:t>
            </a:r>
            <a:endParaRPr/>
          </a:p>
          <a:p xmlns:a="http://schemas.openxmlformats.org/drawingml/2006/main">
            <a:r>
              <a:t>EVIDENCE CORNER</a:t>
            </a:r>
            <a:endParaRPr/>
          </a:p>
          <a:p xmlns:a="http://schemas.openxmlformats.org/drawingml/2006/main">
            <a:r>
              <a:t>Six that work, six that don’t — in plain terms</a:t>
            </a:r>
            <a:endParaRPr/>
          </a:p>
          <a:p xmlns:a="http://schemas.openxmlformats.org/drawingml/2006/main">
            <a:r>
              <a:t>PROVEN TO WORK</a:t>
            </a:r>
            <a:endParaRPr/>
          </a:p>
          <a:p xmlns:a="http://schemas.openxmlformats.org/drawingml/2006/main">
            <a:r>
              <a:t>Be specific: task, constraints, success criteria</a:t>
            </a:r>
            <a:endParaRPr/>
          </a:p>
          <a:p xmlns:a="http://schemas.openxmlformats.org/drawingml/2006/main">
            <a:r>
              <a:t>unstated needs guessed right only ~41%</a:t>
            </a:r>
            <a:endParaRPr/>
          </a:p>
          <a:p xmlns:a="http://schemas.openxmlformats.org/drawingml/2006/main">
            <a:r>
              <a:t>One tested, reused template</a:t>
            </a:r>
            <a:endParaRPr/>
          </a:p>
          <a:p xmlns:a="http://schemas.openxmlformats.org/drawingml/2006/main">
            <a:r>
              <a:t>formatting alone swings results up to 76 points</a:t>
            </a:r>
            <a:endParaRPr/>
          </a:p>
          <a:p xmlns:a="http://schemas.openxmlformats.org/drawingml/2006/main">
            <a:r>
              <a:t>Long inputs: documents on top, question at the END</a:t>
            </a:r>
            <a:endParaRPr/>
          </a:p>
          <a:p xmlns:a="http://schemas.openxmlformats.org/drawingml/2006/main">
            <a:r>
              <a:t>up to ~30% better answers</a:t>
            </a:r>
            <a:endParaRPr/>
          </a:p>
          <a:p xmlns:a="http://schemas.openxmlformats.org/drawingml/2006/main">
            <a:r>
              <a:t>Give it an out — “if you don’t know, say so”</a:t>
            </a:r>
            <a:endParaRPr/>
          </a:p>
          <a:p xmlns:a="http://schemas.openxmlformats.org/drawingml/2006/main">
            <a:r>
              <a:t>invented answers cut by a third or more</a:t>
            </a:r>
            <a:endParaRPr/>
          </a:p>
          <a:p xmlns:a="http://schemas.openxmlformats.org/drawingml/2006/main">
            <a:r>
              <a:t>Self-check against NAMED criteria</a:t>
            </a:r>
            <a:endParaRPr/>
          </a:p>
          <a:p xmlns:a="http://schemas.openxmlformats.org/drawingml/2006/main">
            <a:r>
              <a:t>fact scores jump 56→71 with planned checks</a:t>
            </a:r>
            <a:endParaRPr/>
          </a:p>
          <a:p xmlns:a="http://schemas.openxmlformats.org/drawingml/2006/main">
            <a:r>
              <a:t>Ask the AI to improve your prompt</a:t>
            </a:r>
            <a:endParaRPr/>
          </a:p>
          <a:p xmlns:a="http://schemas.openxmlformats.org/drawingml/2006/main">
            <a:r>
              <a:t>official tools at every vendor; optimizer prompts beat human ones</a:t>
            </a:r>
            <a:endParaRPr/>
          </a:p>
          <a:p xmlns:a="http://schemas.openxmlformats.org/drawingml/2006/main">
            <a:r>
              <a:t>MYTH — SAVE YOUR TYPING</a:t>
            </a:r>
            <a:endParaRPr/>
          </a:p>
          <a:p xmlns:a="http://schemas.openxmlformats.org/drawingml/2006/main">
            <a:r>
              <a:t>“Tell it it’s a genius and it gets smarter”</a:t>
            </a:r>
            <a:endParaRPr/>
          </a:p>
          <a:p xmlns:a="http://schemas.openxmlformats.org/drawingml/2006/main">
            <a:r>
              <a:t>162 personas tested: zero accuracy gain</a:t>
            </a:r>
            <a:endParaRPr/>
          </a:p>
          <a:p xmlns:a="http://schemas.openxmlformats.org/drawingml/2006/main">
            <a:r>
              <a:t>“Tips, threats, ‘important to my career’”</a:t>
            </a:r>
            <a:endParaRPr/>
          </a:p>
          <a:p xmlns:a="http://schemas.openxmlformats.org/drawingml/2006/main">
            <a:r>
              <a:t>null on average; the famous 115% was the cherry-picked best case</a:t>
            </a:r>
            <a:endParaRPr/>
          </a:p>
          <a:p xmlns:a="http://schemas.openxmlformats.org/drawingml/2006/main">
            <a:r>
              <a:t>“There are magic phrases”</a:t>
            </a:r>
            <a:endParaRPr/>
          </a:p>
          <a:p xmlns:a="http://schemas.openxmlformats.org/drawingml/2006/main">
            <a:r>
              <a:t>“take a deep breath” won on one model &amp; benchmark — never universal</a:t>
            </a:r>
            <a:endParaRPr/>
          </a:p>
          <a:p xmlns:a="http://schemas.openxmlformats.org/drawingml/2006/main">
            <a:r>
              <a:t>“Longer prompts are always better”</a:t>
            </a:r>
            <a:endParaRPr/>
          </a:p>
          <a:p xmlns:a="http://schemas.openxmlformats.org/drawingml/2006/main">
            <a:r>
              <a:t>padding drops accuracy at just ~3K tokens — density wins, not length</a:t>
            </a:r>
            <a:endParaRPr/>
          </a:p>
          <a:p xmlns:a="http://schemas.openxmlformats.org/drawingml/2006/main">
            <a:r>
              <a:t>“‘Are you sure?’ makes it double-check”</a:t>
            </a:r>
            <a:endParaRPr/>
          </a:p>
          <a:p xmlns:a="http://schemas.openxmlformats.org/drawingml/2006/main">
            <a:r>
              <a:t>it makes it FOLD: answers flip under pushback in 58% of cases</a:t>
            </a:r>
            <a:endParaRPr/>
          </a:p>
          <a:p xmlns:a="http://schemas.openxmlformats.org/drawingml/2006/main">
            <a:r>
              <a:t>“The AI knows what I mean”</a:t>
            </a:r>
            <a:endParaRPr/>
          </a:p>
          <a:p xmlns:a="http://schemas.openxmlformats.org/drawingml/2006/main">
            <a:r>
              <a:t>the same ~41% — mind-reading is the myth behind every vague prompt</a:t>
            </a:r>
            <a:endParaRPr/>
          </a:p>
          <a:p xmlns:a="http://schemas.openxmlformats.org/drawingml/2006/main">
            <a:r>
              <a:t>Every line has a study behind it — sources in the PLAYBOOK tab of your Course Workbook. And one myth got its own slide: the next one.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“everything on this slide survived replication — and everything on the right failed it. Twelve lines, plain terms.”</a:t>
            </a:r>
            <a:endParaRP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endParaRPr/>
          </a:p>
          <a:p xmlns:a="http://schemas.openxmlformats.org/drawingml/2006/main">
            <a:r>
              <a:t>3) RED column; land the symmetry joke: myth 6 and proven 1 are the same number (~41%) — “the AI knows what I mean” is the myth; “say what you mean” is the cure.</a:t>
            </a:r>
            <a:endParaRPr/>
          </a:p>
          <a:p xmlns:a="http://schemas.openxmlformats.org/drawingml/2006/main">
            <a:r>
              <a:t>4) On myth 5, tease: “that one is so important it gets the next slide to itself.”</a:t>
            </a:r>
            <a:endParaRPr/>
          </a:p>
          <a:p xmlns:a="http://schemas.openxmlformats.org/drawingml/2006/main">
            <a:r>
              <a:t/>
            </a:r>
            <a:endParaRPr/>
          </a:p>
          <a:p xmlns:a="http://schemas.openxmlformats.org/drawingml/2006/main">
            <a:r>
              <a:t>BRIDGE —</a:t>
            </a:r>
            <a:endParaRPr/>
          </a:p>
          <a:p xmlns:a="http://schemas.openxmlformats.org/drawingml/2006/main">
            <a:r>
              <a:t>“The bias behind myth 5 — the mirror.”</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endParaRPr/>
          </a:p>
          <a:p xmlns:a="http://schemas.openxmlformats.org/drawingml/2006/main">
            <a:r>
              <a:t>“Say the WHY behind a rule” is VENDOR GUIDANCE (Anthropic docs), not independently measured — keep it folded into specificity, never as its own proven line (r25 downgrade).</a:t>
            </a:r>
            <a:endParaRP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endParaRPr/>
          </a:p>
          <a:p xmlns:a="http://schemas.openxmlformats.org/drawingml/2006/main">
            <a:r>
              <a:t>The 2025 Wharton replication wave (25–100 runs per question) independently confirms both columns.</a:t>
            </a:r>
            <a:endParaRPr/>
          </a:p>
          <a:p xmlns:a="http://schemas.openxmlformats.org/drawingml/2006/main">
            <a:r>
              <a:t>28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neutral review rubric reduces the influence of the requester’s preference.</a:t>
            </a:r>
            <a:endParaRPr/>
          </a:p>
          <a:p xmlns:a="http://schemas.openxmlformats.org/drawingml/2006/main">
            <a:r>
              <a:t/>
            </a:r>
            <a:endParaRPr/>
          </a:p>
          <a:p xmlns:a="http://schemas.openxmlformats.org/drawingml/2006/main">
            <a:r>
              <a:t>SAY:</a:t>
            </a:r>
            <a:endParaRPr/>
          </a:p>
          <a:p xmlns:a="http://schemas.openxmlformats.org/drawingml/2006/main">
            <a:r>
              <a:t>- A leading question can bias an evaluation toward the requester’s view.</a:t>
            </a:r>
            <a:endParaRPr/>
          </a:p>
          <a:p xmlns:a="http://schemas.openxmlformats.org/drawingml/2006/main">
            <a:r>
              <a:t>- Use an explicit rubric and ask what evidence would change the conclusion.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practical prompt review checklist”.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BIAS TO DESIGN AGAINST</a:t>
            </a:r>
            <a:endParaRPr/>
          </a:p>
          <a:p xmlns:a="http://schemas.openxmlformats.org/drawingml/2006/main">
            <a:r>
              <a:t>29</a:t>
            </a:r>
            <a:endParaRPr/>
          </a:p>
          <a:p xmlns:a="http://schemas.openxmlformats.org/drawingml/2006/main">
            <a:r>
              <a:t>AI MIRRORS YOU</a:t>
            </a:r>
            <a:endParaRPr/>
          </a:p>
          <a:p xmlns:a="http://schemas.openxmlformats.org/drawingml/2006/main">
            <a:r>
              <a:t>The flattery bias — measured, and all over the news</a:t>
            </a:r>
            <a:endParaRPr/>
          </a:p>
          <a:p xmlns:a="http://schemas.openxmlformats.org/drawingml/2006/main">
            <a:r>
              <a:t>+49%</a:t>
            </a:r>
            <a:endParaRPr/>
          </a:p>
          <a:p xmlns:a="http://schemas.openxmlformats.org/drawingml/2006/main">
            <a:r>
              <a:t>how often it says you’re right — a person = 100</a:t>
            </a:r>
            <a:endParaRPr/>
          </a:p>
          <a:p xmlns:a="http://schemas.openxmlformats.org/drawingml/2006/main">
            <a:r>
              <a:t>a person</a:t>
            </a:r>
            <a:endParaRPr/>
          </a:p>
          <a:p xmlns:a="http://schemas.openxmlformats.org/drawingml/2006/main">
            <a:r>
              <a:t>100</a:t>
            </a:r>
            <a:endParaRPr/>
          </a:p>
          <a:p xmlns:a="http://schemas.openxmlformats.org/drawingml/2006/main">
            <a:r>
              <a:t>the AI</a:t>
            </a:r>
            <a:endParaRPr/>
          </a:p>
          <a:p xmlns:a="http://schemas.openxmlformats.org/drawingml/2006/main">
            <a:r>
              <a:t>149</a:t>
            </a:r>
            <a:endParaRPr/>
          </a:p>
          <a:p xmlns:a="http://schemas.openxmlformats.org/drawingml/2006/main">
            <a:r>
              <a:t>11 leading models (Stanford/CMU, Science 2026). Root cause: trained on human preferences — and we prefer agreement.</a:t>
            </a:r>
            <a:endParaRPr/>
          </a:p>
          <a:p xmlns:a="http://schemas.openxmlformats.org/drawingml/2006/main">
            <a:r>
              <a:t>It made the news</a:t>
            </a:r>
            <a:endParaRPr/>
          </a:p>
          <a:p xmlns:a="http://schemas.openxmlformats.org/drawingml/2006/main">
            <a:r>
              <a:t>APR 2025</a:t>
            </a:r>
            <a:endParaRPr/>
          </a:p>
          <a:p xmlns:a="http://schemas.openxmlformats.org/drawingml/2006/main">
            <a:r>
              <a:t>OpenAI rolls back a ChatGPT update — its own words: “overly flattering or agreeable… sycophantic.” Its metrics had rewarded the mirror.</a:t>
            </a:r>
            <a:endParaRPr/>
          </a:p>
          <a:p xmlns:a="http://schemas.openxmlformats.org/drawingml/2006/main">
            <a:r>
              <a:t>JUN 2025</a:t>
            </a:r>
            <a:endParaRPr/>
          </a:p>
          <a:p xmlns:a="http://schemas.openxmlformats.org/drawingml/2006/main">
            <a:r>
              <a:t>New York Times: chatbots validating false beliefs send some users “spiraling” — agreement as a safety problem.</a:t>
            </a:r>
            <a:endParaRPr/>
          </a:p>
          <a:p xmlns:a="http://schemas.openxmlformats.org/drawingml/2006/main">
            <a:r>
              <a:t>AUG 2025</a:t>
            </a:r>
            <a:endParaRPr/>
          </a:p>
          <a:p xmlns:a="http://schemas.openxmlformats.org/drawingml/2006/main">
            <a:r>
              <a:t>Microsoft’s AI chief warns of unhealthy AI validation — “not confined to people already at risk.”</a:t>
            </a:r>
            <a:endParaRPr/>
          </a:p>
          <a:p xmlns:a="http://schemas.openxmlformats.org/drawingml/2006/main">
            <a:r>
              <a:t>2026</a:t>
            </a:r>
            <a:endParaRPr/>
          </a:p>
          <a:p xmlns:a="http://schemas.openxmlformats.org/drawingml/2006/main">
            <a:r>
              <a:t>The Science study measures it (+49%) — and the flattery bias draws regulatory attention.</a:t>
            </a:r>
            <a:endParaRPr/>
          </a:p>
          <a:p xmlns:a="http://schemas.openxmlformats.org/drawingml/2006/main">
            <a:r>
              <a:t>The countermeasures — usable today: </a:t>
            </a:r>
            <a:endParaRPr/>
          </a:p>
          <a:p xmlns:a="http://schemas.openxmlformats.org/drawingml/2006/main">
            <a:r>
              <a:t>never reveal your preferred answer when asking for a review · ask for the case AGAINST (“three weakest points”) · paste your draft as “a colleague’s” · never treat “are you sure?” as verification.</a:t>
            </a:r>
            <a:endParaRPr/>
          </a:p>
          <a:p xmlns:a="http://schemas.openxmlformats.org/drawingml/2006/main">
            <a:r>
              <a:t>SEE IT YOURSELF — two chats, same paragraph:</a:t>
            </a:r>
            <a:endParaRPr/>
          </a:p>
          <a:p xmlns:a="http://schemas.openxmlformats.org/drawingml/2006/main">
            <a:r>
              <a:t>Chat 1: “A colleague wrote this — rate it 1–10 and list its three biggest weaknesses.”   Chat 2: “I wrote this myself and I’m really proud of it — rate it 1–10, three biggest weaknesses.”</a:t>
            </a:r>
            <a:endParaRPr/>
          </a:p>
          <a:p xmlns:a="http://schemas.openxmlformats.org/drawingml/2006/main">
            <a:r>
              <a:t>Did the score move — and the criticism soften — once it knew you were the author?</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Say it as one sentence first: “the AI is a mirror — it agrees with you about half again as often as a person would.” Then the +49%.</a:t>
            </a:r>
            <a:endParaRP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endParaRPr/>
          </a:p>
          <a:p xmlns:a="http://schemas.openxmlformats.org/drawingml/2006/main">
            <a:r>
              <a:t>3) Countermeasures — read all four; the first changes behavior TODAY.</a:t>
            </a:r>
            <a:endParaRP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endParaRPr/>
          </a:p>
          <a:p xmlns:a="http://schemas.openxmlformats.org/drawingml/2006/main">
            <a:r>
              <a:t/>
            </a:r>
            <a:endParaRPr/>
          </a:p>
          <a:p xmlns:a="http://schemas.openxmlformats.org/drawingml/2006/main">
            <a:r>
              <a:t>BRIDGE —</a:t>
            </a:r>
            <a:endParaRPr/>
          </a:p>
          <a:p xmlns:a="http://schemas.openxmlformats.org/drawingml/2006/main">
            <a:r>
              <a:t>“So what’s current best practice, all in one place? The playbook.”</a:t>
            </a:r>
            <a:endParaRPr/>
          </a:p>
          <a:p xmlns:a="http://schemas.openxmlformats.org/drawingml/2006/main">
            <a:r>
              <a:t/>
            </a:r>
            <a:endParaRPr/>
          </a:p>
          <a:p xmlns:a="http://schemas.openxmlformats.org/drawingml/2006/main">
            <a:r>
              <a:t>ACRONYMS —</a:t>
            </a:r>
            <a:endParaRPr/>
          </a:p>
          <a:p xmlns:a="http://schemas.openxmlformats.org/drawingml/2006/main">
            <a:r>
              <a:t>CMU = Carnegie Mellon University (co-authors of the Science study).</a:t>
            </a:r>
            <a:endParaRPr/>
          </a:p>
          <a:p xmlns:a="http://schemas.openxmlformats.org/drawingml/2006/main">
            <a:r>
              <a:t/>
            </a:r>
            <a:endParaRPr/>
          </a:p>
          <a:p xmlns:a="http://schemas.openxmlformats.org/drawingml/2006/main">
            <a:r>
              <a:t>CONTENT —</a:t>
            </a:r>
            <a:endParaRP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endParaRP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endParaRP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endParaRPr/>
          </a:p>
          <a:p xmlns:a="http://schemas.openxmlformats.org/drawingml/2006/main">
            <a:r>
              <a:t>Handled with care: no medical claims from the “AI psychosis” coverage; countermeasures are the deck’s standing blind-review discipline.</a:t>
            </a:r>
            <a:endParaRP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endParaRP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endParaRPr/>
          </a:p>
          <a:p xmlns:a="http://schemas.openxmlformats.org/drawingml/2006/main">
            <a:r>
              <a:t>29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Treat universal prompt rules as hypotheses to test, not laws.</a:t>
            </a:r>
            <a:endParaRPr/>
          </a:p>
          <a:p xmlns:a="http://schemas.openxmlformats.org/drawingml/2006/main">
            <a:r>
              <a:t/>
            </a:r>
            <a:endParaRPr/>
          </a:p>
          <a:p xmlns:a="http://schemas.openxmlformats.org/drawingml/2006/main">
            <a:r>
              <a:t>SAY:</a:t>
            </a:r>
            <a:endParaRPr/>
          </a:p>
          <a:p xmlns:a="http://schemas.openxmlformats.org/drawingml/2006/main">
            <a:r>
              <a:t>- Use this playbook as a reference when diagnosing an unsatisfactory answer.</a:t>
            </a:r>
            <a:endParaRPr/>
          </a:p>
          <a:p xmlns:a="http://schemas.openxmlformats.org/drawingml/2006/main">
            <a:r>
              <a:t>- Avoid turning model-dependent advice into universal rules.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rPr/>
              <a:t>BRIDGE: Move to “Data Analytics Exercise”.</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2026 PLAYBOOK</a:t>
            </a:r>
            <a:endParaRPr/>
          </a:p>
          <a:p xmlns:a="http://schemas.openxmlformats.org/drawingml/2006/main">
            <a:r>
              <a:t>30</a:t>
            </a:r>
            <a:endParaRPr/>
          </a:p>
          <a:p xmlns:a="http://schemas.openxmlformats.org/drawingml/2006/main">
            <a:r>
              <a:t>DO · DON’T · EXPIRED — TOP FIVE EACH</a:t>
            </a:r>
            <a:endParaRPr/>
          </a:p>
          <a:p xmlns:a="http://schemas.openxmlformats.org/drawingml/2006/main">
            <a:r>
              <a:t>The 2026 prompting playbook</a:t>
            </a:r>
            <a:endParaRPr/>
          </a:p>
          <a:p xmlns:a="http://schemas.openxmlformats.org/drawingml/2006/main">
            <a:r>
              <a:t>TO DO — reliably helps</a:t>
            </a:r>
            <a:endParaRPr/>
          </a:p>
          <a:p xmlns:a="http://schemas.openxmlformats.org/drawingml/2006/main">
            <a:r>
              <a:t>1  State the task precisely — verb, constraints, success criteria, and the WHY behind each rule</a:t>
            </a:r>
            <a:endParaRPr/>
          </a:p>
          <a:p xmlns:a="http://schemas.openxmlformats.org/drawingml/2006/main">
            <a:r>
              <a:t>2  Separate instructions from material; standardize ONE tested, versioned template</a:t>
            </a:r>
            <a:endParaRPr/>
          </a:p>
          <a:p xmlns:a="http://schemas.openxmlformats.org/drawingml/2006/main">
            <a:r>
              <a:t>3  Long inputs: documents at the top, instructions at the END (bookend both ends when very long)</a:t>
            </a:r>
            <a:endParaRPr/>
          </a:p>
          <a:p xmlns:a="http://schemas.openxmlformats.org/drawingml/2006/main">
            <a:r>
              <a:t>4  Give an out + require citations</a:t>
            </a:r>
            <a:endParaRPr/>
          </a:p>
          <a:p xmlns:a="http://schemas.openxmlformats.org/drawingml/2006/main">
            <a:r>
              <a:t>5  Numeric budgets for anything measurable — words, bullets, steps</a:t>
            </a:r>
            <a:endParaRPr/>
          </a:p>
          <a:p xmlns:a="http://schemas.openxmlformats.org/drawingml/2006/main">
            <a:r>
              <a:t>NOT TO DO — hurts or wastes</a:t>
            </a:r>
            <a:endParaRPr/>
          </a:p>
          <a:p xmlns:a="http://schemas.openxmlformats.org/drawingml/2006/main">
            <a:r>
              <a:t>1  Contradictory instructions — reasoning models burn tokens reconciling them</a:t>
            </a:r>
            <a:endParaRPr/>
          </a:p>
          <a:p xmlns:a="http://schemas.openxmlformats.org/drawingml/2006/main">
            <a:r>
              <a:t>2  Tips, threats, emotional pressure — null on average, chaos per question</a:t>
            </a:r>
            <a:endParaRPr/>
          </a:p>
          <a:p xmlns:a="http://schemas.openxmlformats.org/drawingml/2006/main">
            <a:r>
              <a:t>3  Bare “do not hallucinate” commands — they trigger over-refusal; use the out + citations instead</a:t>
            </a:r>
            <a:endParaRPr/>
          </a:p>
          <a:p xmlns:a="http://schemas.openxmlformats.org/drawingml/2006/main">
            <a:r>
              <a:t>4  Revealing your preferred answer, or “are you sure?” as verification</a:t>
            </a:r>
            <a:endParaRPr/>
          </a:p>
          <a:p xmlns:a="http://schemas.openxmlformats.org/drawingml/2006/main">
            <a:r>
              <a:t>5  Piling micro-rules — quality degrades past ~150 instructions; smallest prompt that keeps the contract</a:t>
            </a:r>
            <a:endParaRPr/>
          </a:p>
          <a:p xmlns:a="http://schemas.openxmlformats.org/drawingml/2006/main">
            <a:r>
              <a:t>EXPIRED — was right in 2023</a:t>
            </a:r>
            <a:endParaRPr/>
          </a:p>
          <a:p xmlns:a="http://schemas.openxmlformats.org/drawingml/2006/main">
            <a:r>
              <a:t>1  “Think step by step” → pick a reasoning model, set the effort dial</a:t>
            </a:r>
            <a:endParaRPr/>
          </a:p>
          <a:p xmlns:a="http://schemas.openxmlformats.org/drawingml/2006/main">
            <a:r>
              <a:t>2  Piles of examples → zero-shot first, then 3–5 format-definers</a:t>
            </a:r>
            <a:endParaRPr/>
          </a:p>
          <a:p xmlns:a="http://schemas.openxmlformats.org/drawingml/2006/main">
            <a:r>
              <a:t>3  “You are a world-class expert” for accuracy → persona for voice only</a:t>
            </a:r>
            <a:endParaRPr/>
          </a:p>
          <a:p xmlns:a="http://schemas.openxmlformats.org/drawingml/2006/main">
            <a:r>
              <a:t>4  Magic phrases (“take a deep breath”, “my career depends on it”) → clarity; real stakes as factual context</a:t>
            </a:r>
            <a:endParaRPr/>
          </a:p>
          <a:p xmlns:a="http://schemas.openxmlformats.org/drawingml/2006/main">
            <a:r>
              <a:t>5  Carrying your 2023 prompt stack to each new model → re-baseline on every upgrade (next slide’s loop)</a:t>
            </a:r>
            <a:endParaRP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Why this slide exists, in one line: “half the prompting advice on the internet is from 2023 — here is the 2026 state of play, in three columns: keep, avoid, unlearn.”</a:t>
            </a:r>
            <a:endParaRPr/>
          </a:p>
          <a:p xmlns:a="http://schemas.openxmlformats.org/drawingml/2006/main">
            <a:r>
              <a:t>2) GREEN column, fast — these five are Part 3 itself, condensed; nothing new, that’s the point.</a:t>
            </a:r>
            <a:endParaRP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endParaRP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endParaRP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endParaRPr/>
          </a:p>
          <a:p xmlns:a="http://schemas.openxmlformats.org/drawingml/2006/main">
            <a:r>
              <a:t/>
            </a:r>
            <a:endParaRPr/>
          </a:p>
          <a:p xmlns:a="http://schemas.openxmlformats.org/drawingml/2006/main">
            <a:r>
              <a:t>COHERENCE SEAMS (if someone spots a “contradiction”) —</a:t>
            </a:r>
            <a:endParaRPr/>
          </a:p>
          <a:p xmlns:a="http://schemas.openxmlformats.org/drawingml/2006/main">
            <a:r>
              <a:t>Numeric caps vs no-absolutes: caps constrain QUANTITY; ALWAYS/NEVER locks JUDGMENT — reserve absolutes for true invariants.</a:t>
            </a:r>
            <a:endParaRPr/>
          </a:p>
          <a:p xmlns:a="http://schemas.openxmlformats.org/drawingml/2006/main">
            <a:r>
              <a:t>Bookending vs no-repetition: repeat verbatim at both ends of LONG context, or not at all — paraphrased blanket repetition is the anti-pattern.</a:t>
            </a:r>
            <a:endParaRPr/>
          </a:p>
          <a:p xmlns:a="http://schemas.openxmlformats.org/drawingml/2006/main">
            <a:r>
              <a:t>Task detail vs rule-piling: detail = information density (helps); piling = rule COUNT (past ~150, quality sags, early rules win).</a:t>
            </a:r>
            <a:endParaRPr/>
          </a:p>
          <a:p xmlns:a="http://schemas.openxmlformats.org/drawingml/2006/main">
            <a:r>
              <a:t>CoT expired only on frontier reasoning models — still legitimate on small/local/non-thinking models.</a:t>
            </a:r>
            <a:endParaRPr/>
          </a:p>
          <a:p xmlns:a="http://schemas.openxmlformats.org/drawingml/2006/main">
            <a:r>
              <a:t/>
            </a:r>
            <a:endParaRPr/>
          </a:p>
          <a:p xmlns:a="http://schemas.openxmlformats.org/drawingml/2006/main">
            <a:r>
              <a:t>BRIDGE —</a:t>
            </a:r>
            <a:endParaRPr/>
          </a:p>
          <a:p xmlns:a="http://schemas.openxmlformats.org/drawingml/2006/main">
            <a:r>
              <a:t>“The craft is stable — here’s the habit that compounds it.”</a:t>
            </a:r>
            <a:endParaRPr/>
          </a:p>
          <a:p xmlns:a="http://schemas.openxmlformats.org/drawingml/2006/main">
            <a:r>
              <a:t/>
            </a:r>
            <a:endParaRPr/>
          </a:p>
          <a:p xmlns:a="http://schemas.openxmlformats.org/drawingml/2006/main">
            <a:r>
              <a:t>ACRONYMS —</a:t>
            </a:r>
            <a:endParaRPr/>
          </a:p>
          <a:p xmlns:a="http://schemas.openxmlformats.org/drawingml/2006/main">
            <a:r>
              <a:t>CoT = Chain-of-Thought — the old “think step by step” style, now built into thinking models.</a:t>
            </a:r>
            <a:endParaRPr/>
          </a:p>
          <a:p xmlns:a="http://schemas.openxmlformats.org/drawingml/2006/main">
            <a:r>
              <a:t/>
            </a:r>
            <a:endParaRPr/>
          </a:p>
          <a:p xmlns:a="http://schemas.openxmlformats.org/drawingml/2006/main">
            <a:r>
              <a:t>CONTENT —</a:t>
            </a:r>
            <a:endParaRP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endParaRPr/>
          </a:p>
          <a:p xmlns:a="http://schemas.openxmlformats.org/drawingml/2006/main">
            <a:r>
              <a:t>What did NOT change (say if the room looks nervous): clarity, context, format, the out, grounding, iteration — the anatomy applies to every model they will ever use; scaffolding tricks retire, briefing skills compound.</a:t>
            </a:r>
            <a:endParaRP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endParaRPr/>
          </a:p>
          <a:p xmlns:a="http://schemas.openxmlformats.org/drawingml/2006/main">
            <a:r>
              <a:t>30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42-43);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41).</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38;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39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89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75554399d3f4a84" Type="http://schemas.openxmlformats.org/officeDocument/2006/relationships/notesSlide" Target="../notesSlides/notesSlide4.xml"/><Relationship Id="R0e7773c3650b472b" Type="http://schemas.openxmlformats.org/officeDocument/2006/relationships/image" Target="../media/image2.png"/><Relationship Id="R172c9a40f6e844f9" Type="http://schemas.openxmlformats.org/officeDocument/2006/relationships/slideLayout" Target="../slideLayouts/slideLayout1.xml"/><Relationship Id="R25922f78034f4f00" Type="http://schemas.openxmlformats.org/officeDocument/2006/relationships/image" Target="../media/image3.png"/><Relationship Id="R29b3c6c186e2442c" Type="http://schemas.openxmlformats.org/officeDocument/2006/relationships/image" Target="../media/image4.png"/><Relationship Id="Rd09ab84476d44959" Type="http://schemas.openxmlformats.org/officeDocument/2006/relationships/image" Target="../media/image.png"/><Relationship Id="Ree9b2c94d0dd404d" Type="http://schemas.openxmlformats.org/officeDocument/2006/relationships/image" Target="../media/image5.png"/></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2680133c79224739" Type="http://schemas.openxmlformats.org/officeDocument/2006/relationships/slideLayout" Target="../slideLayouts/slideLayout1.xml"/><Relationship Id="R4cee9ec1d2b6425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c0a7b46138e8485d" Type="http://schemas.openxmlformats.org/officeDocument/2006/relationships/notesSlide" Target="../notesSlides/notesSlide11.xml"/><Relationship Id="Rdc9259cdbc004a8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d169fb046614db3" Type="http://schemas.openxmlformats.org/officeDocument/2006/relationships/slideLayout" Target="../slideLayouts/slideLayout1.xml"/><Relationship Id="Raa150d328cd449b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ba11656f99734687" Type="http://schemas.openxmlformats.org/officeDocument/2006/relationships/notesSlide" Target="../notesSlides/notesSlide17.xml"/><Relationship Id="Rd38a0f0938c04df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19.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3.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74.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75.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2.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85.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86.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87.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3.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5C011B2-C364-4766-A801-9E509B5008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SEVENTY YEARS IN ONE SLIDE</a:t>
            </a:r>
            <a:endParaRPr sz="1100"/>
          </a:p>
        </p:txBody>
      </p:sp>
      <p:sp>
        <p:nvSpPr>
          <p:cNvPr id="5" name="Text 3">
            <a:extLst xmlns:a="http://schemas.openxmlformats.org/drawingml/2006/main">
              <a:ext uri="{FF2B5EF4-FFF2-40B4-BE49-F238E27FC236}">
                <a16:creationId xmlns:a16="http://schemas.microsoft.com/office/drawing/2014/main" id="{35320126-C91F-4B36-82B2-AC82D15A1E17}"/>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Four eras: rules → learning → generative → agentic</a:t>
            </a:r>
            <a:endParaRPr sz="3000"/>
          </a:p>
        </p:txBody>
      </p:sp>
      <p:sp>
        <p:nvSpPr>
          <p:cNvPr id="6" name="Shape 4">
            <a:extLst xmlns:a="http://schemas.openxmlformats.org/drawingml/2006/main">
              <a:ext uri="{FF2B5EF4-FFF2-40B4-BE49-F238E27FC236}">
                <a16:creationId xmlns:a16="http://schemas.microsoft.com/office/drawing/2014/main" id="{9FEB0A24-FA37-4EAA-BAEB-E23710333399}"/>
              </a:ext>
            </a:extLst>
          </p:cNvPr>
          <p:cNvSpPr>
            <a:spLocks xmlns:a="http://schemas.openxmlformats.org/drawingml/2006/main" noGrp="1"/>
          </p:cNvSpPr>
          <p:nvPr/>
        </p:nvSpPr>
        <p:spPr>
          <a:xfrm xmlns:a="http://schemas.openxmlformats.org/drawingml/2006/main">
            <a:off x="502920"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EF09118F-4070-44A9-AA0D-99DBDF839656}"/>
              </a:ext>
            </a:extLst>
          </p:cNvPr>
          <p:cNvSpPr>
            <a:spLocks xmlns:a="http://schemas.openxmlformats.org/drawingml/2006/main" noGrp="1"/>
          </p:cNvSpPr>
          <p:nvPr/>
        </p:nvSpPr>
        <p:spPr>
          <a:xfrm xmlns:a="http://schemas.openxmlformats.org/drawingml/2006/main">
            <a:off x="722376"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5" name="Image 0"/>
          <p:cNvPicPr>
            <a:picLocks xmlns:a="http://schemas.openxmlformats.org/drawingml/2006/main" noChangeAspect="1"/>
          </p:cNvPicPr>
          <p:nvPr/>
        </p:nvPicPr>
        <p:blipFill>
          <a:blip xmlns:r="http://schemas.openxmlformats.org/officeDocument/2006/relationships" xmlns:a="http://schemas.openxmlformats.org/drawingml/2006/main" r:embed="Rd09ab84476d44959"/>
          <a:stretch xmlns:a="http://schemas.openxmlformats.org/drawingml/2006/main">
            <a:fillRect l="0" t="0" r="0" b="0"/>
          </a:stretch>
        </p:blipFill>
        <p:spPr>
          <a:xfrm xmlns:a="http://schemas.openxmlformats.org/drawingml/2006/main">
            <a:off x="841248"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C65F7DE-B24A-4832-9CD5-5032F730818E}"/>
              </a:ext>
            </a:extLst>
          </p:cNvPr>
          <p:cNvSpPr>
            <a:spLocks xmlns:a="http://schemas.openxmlformats.org/drawingml/2006/main" noGrp="1"/>
          </p:cNvSpPr>
          <p:nvPr/>
        </p:nvSpPr>
        <p:spPr>
          <a:xfrm xmlns:a="http://schemas.openxmlformats.org/drawingml/2006/main">
            <a:off x="1289304"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Rules</a:t>
            </a:r>
            <a:endParaRPr sz="1500"/>
          </a:p>
        </p:txBody>
      </p:sp>
      <p:sp>
        <p:nvSpPr>
          <p:cNvPr id="10" name="Text 7">
            <a:extLst xmlns:a="http://schemas.openxmlformats.org/drawingml/2006/main">
              <a:ext uri="{FF2B5EF4-FFF2-40B4-BE49-F238E27FC236}">
                <a16:creationId xmlns:a16="http://schemas.microsoft.com/office/drawing/2014/main" id="{F63B3A37-EF17-4692-8122-45013540513C}"/>
              </a:ext>
            </a:extLst>
          </p:cNvPr>
          <p:cNvSpPr>
            <a:spLocks xmlns:a="http://schemas.openxmlformats.org/drawingml/2006/main" noGrp="1"/>
          </p:cNvSpPr>
          <p:nvPr/>
        </p:nvSpPr>
        <p:spPr>
          <a:xfrm xmlns:a="http://schemas.openxmlformats.org/drawingml/2006/main">
            <a:off x="1289304"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1950s–1990s · symbolic AI, expert systems</a:t>
            </a:r>
            <a:endParaRPr sz="900"/>
          </a:p>
        </p:txBody>
      </p:sp>
      <p:sp>
        <p:nvSpPr>
          <p:cNvPr id="11" name="Shape 8">
            <a:extLst xmlns:a="http://schemas.openxmlformats.org/drawingml/2006/main">
              <a:ext uri="{FF2B5EF4-FFF2-40B4-BE49-F238E27FC236}">
                <a16:creationId xmlns:a16="http://schemas.microsoft.com/office/drawing/2014/main" id="{451CA052-8CF1-4B09-AE54-6AC36A7FC3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743D0FFC-D5FA-4FAF-964C-5C0CD0B13E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if…?</a:t>
            </a:r>
            <a:endParaRPr sz="800"/>
          </a:p>
        </p:txBody>
      </p:sp>
      <p:sp>
        <p:nvSpPr>
          <p:cNvPr id="13" name="Shape 10">
            <a:extLst xmlns:a="http://schemas.openxmlformats.org/drawingml/2006/main">
              <a:ext uri="{FF2B5EF4-FFF2-40B4-BE49-F238E27FC236}">
                <a16:creationId xmlns:a16="http://schemas.microsoft.com/office/drawing/2014/main" id="{D6FE4F7D-C963-4CBA-BA16-F05EA9D9E6B2}"/>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7D3EBC05-80F9-41C7-B994-4E0F63C5AA26}"/>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then A</a:t>
            </a:r>
            <a:endParaRPr sz="800"/>
          </a:p>
        </p:txBody>
      </p:sp>
      <p:sp>
        <p:nvSpPr>
          <p:cNvPr id="15" name="Shape 12">
            <a:extLst xmlns:a="http://schemas.openxmlformats.org/drawingml/2006/main">
              <a:ext uri="{FF2B5EF4-FFF2-40B4-BE49-F238E27FC236}">
                <a16:creationId xmlns:a16="http://schemas.microsoft.com/office/drawing/2014/main" id="{9DEBA2EA-4248-447A-840E-0529437E87F3}"/>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54B6958F-5D85-4267-BB02-33284CC5617C}"/>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else B</a:t>
            </a:r>
            <a:endParaRPr sz="800"/>
          </a:p>
        </p:txBody>
      </p:sp>
      <p:sp>
        <p:nvSpPr>
          <p:cNvPr id="17" name="Shape 14">
            <a:extLst xmlns:a="http://schemas.openxmlformats.org/drawingml/2006/main">
              <a:ext uri="{FF2B5EF4-FFF2-40B4-BE49-F238E27FC236}">
                <a16:creationId xmlns:a16="http://schemas.microsoft.com/office/drawing/2014/main" id="{D82EB1F4-79B7-4683-96DC-62B04406B4A5}"/>
              </a:ext>
            </a:extLst>
          </p:cNvPr>
          <p:cNvSpPr>
            <a:spLocks xmlns:a="http://schemas.openxmlformats.org/drawingml/2006/main" noGrp="1"/>
          </p:cNvSpPr>
          <p:nvPr/>
        </p:nvSpPr>
        <p:spPr>
          <a:xfrm xmlns:a="http://schemas.openxmlformats.org/drawingml/2006/main" flipH="1">
            <a:off x="1234440"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8" name="Shape 15">
            <a:extLst xmlns:a="http://schemas.openxmlformats.org/drawingml/2006/main">
              <a:ext uri="{FF2B5EF4-FFF2-40B4-BE49-F238E27FC236}">
                <a16:creationId xmlns:a16="http://schemas.microsoft.com/office/drawing/2014/main" id="{3864634F-00A6-407D-9559-7B09AF2717B6}"/>
              </a:ext>
            </a:extLst>
          </p:cNvPr>
          <p:cNvSpPr>
            <a:spLocks xmlns:a="http://schemas.openxmlformats.org/drawingml/2006/main" noGrp="1"/>
          </p:cNvSpPr>
          <p:nvPr/>
        </p:nvSpPr>
        <p:spPr>
          <a:xfrm xmlns:a="http://schemas.openxmlformats.org/drawingml/2006/main">
            <a:off x="1984248"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F7F69052-CBC9-4EC0-9B2C-9E1CC32FF06A}"/>
              </a:ext>
            </a:extLst>
          </p:cNvPr>
          <p:cNvSpPr>
            <a:spLocks xmlns:a="http://schemas.openxmlformats.org/drawingml/2006/main" noGrp="1"/>
          </p:cNvSpPr>
          <p:nvPr/>
        </p:nvSpPr>
        <p:spPr>
          <a:xfrm xmlns:a="http://schemas.openxmlformats.org/drawingml/2006/main">
            <a:off x="722376"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Humans hand-code the logic: “if X then Y.” Rules shine, then crack on messy reality. Hype outruns results twice: the “AI winters.”</a:t>
            </a:r>
            <a:endParaRPr sz="1050"/>
          </a:p>
        </p:txBody>
      </p:sp>
      <p:sp>
        <p:nvSpPr>
          <p:cNvPr id="20" name="Text 17">
            <a:extLst xmlns:a="http://schemas.openxmlformats.org/drawingml/2006/main">
              <a:ext uri="{FF2B5EF4-FFF2-40B4-BE49-F238E27FC236}">
                <a16:creationId xmlns:a16="http://schemas.microsoft.com/office/drawing/2014/main" id="{D5C2368D-E2CF-4ED6-9AEA-BF90F54257F3}"/>
              </a:ext>
            </a:extLst>
          </p:cNvPr>
          <p:cNvSpPr>
            <a:spLocks xmlns:a="http://schemas.openxmlformats.org/drawingml/2006/main" noGrp="1"/>
          </p:cNvSpPr>
          <p:nvPr/>
        </p:nvSpPr>
        <p:spPr>
          <a:xfrm xmlns:a="http://schemas.openxmlformats.org/drawingml/2006/main">
            <a:off x="722376"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expert systems doing real work — MYCIN diagnosing infections, XCON configuring computers.</a:t>
            </a:r>
            <a:endParaRPr sz="950"/>
          </a:p>
        </p:txBody>
      </p:sp>
      <p:sp>
        <p:nvSpPr>
          <p:cNvPr id="21" name="Shape 18">
            <a:extLst xmlns:a="http://schemas.openxmlformats.org/drawingml/2006/main">
              <a:ext uri="{FF2B5EF4-FFF2-40B4-BE49-F238E27FC236}">
                <a16:creationId xmlns:a16="http://schemas.microsoft.com/office/drawing/2014/main" id="{D8F2BBE9-B699-4C1A-8079-F8290773C69D}"/>
              </a:ext>
            </a:extLst>
          </p:cNvPr>
          <p:cNvSpPr>
            <a:spLocks xmlns:a="http://schemas.openxmlformats.org/drawingml/2006/main" noGrp="1"/>
          </p:cNvSpPr>
          <p:nvPr/>
        </p:nvSpPr>
        <p:spPr>
          <a:xfrm xmlns:a="http://schemas.openxmlformats.org/drawingml/2006/main">
            <a:off x="3218688"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2" name="Shape 19">
            <a:extLst xmlns:a="http://schemas.openxmlformats.org/drawingml/2006/main">
              <a:ext uri="{FF2B5EF4-FFF2-40B4-BE49-F238E27FC236}">
                <a16:creationId xmlns:a16="http://schemas.microsoft.com/office/drawing/2014/main" id="{484AF9B0-F76F-4340-A502-A236B39C72B8}"/>
              </a:ext>
            </a:extLst>
          </p:cNvPr>
          <p:cNvSpPr>
            <a:spLocks xmlns:a="http://schemas.openxmlformats.org/drawingml/2006/main" noGrp="1"/>
          </p:cNvSpPr>
          <p:nvPr/>
        </p:nvSpPr>
        <p:spPr>
          <a:xfrm xmlns:a="http://schemas.openxmlformats.org/drawingml/2006/main">
            <a:off x="3419856"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23" name="Shape 20">
            <a:extLst xmlns:a="http://schemas.openxmlformats.org/drawingml/2006/main">
              <a:ext uri="{FF2B5EF4-FFF2-40B4-BE49-F238E27FC236}">
                <a16:creationId xmlns:a16="http://schemas.microsoft.com/office/drawing/2014/main" id="{F1E133D3-7BAF-4153-8CF2-5974DB9AEB1D}"/>
              </a:ext>
            </a:extLst>
          </p:cNvPr>
          <p:cNvSpPr>
            <a:spLocks xmlns:a="http://schemas.openxmlformats.org/drawingml/2006/main" noGrp="1"/>
          </p:cNvSpPr>
          <p:nvPr/>
        </p:nvSpPr>
        <p:spPr>
          <a:xfrm xmlns:a="http://schemas.openxmlformats.org/drawingml/2006/main">
            <a:off x="3639312"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21" name="Image 1"/>
          <p:cNvPicPr>
            <a:picLocks xmlns:a="http://schemas.openxmlformats.org/drawingml/2006/main" noChangeAspect="1"/>
          </p:cNvPicPr>
          <p:nvPr/>
        </p:nvPicPr>
        <p:blipFill>
          <a:blip xmlns:r="http://schemas.openxmlformats.org/officeDocument/2006/relationships" xmlns:a="http://schemas.openxmlformats.org/drawingml/2006/main" r:embed="R0e7773c3650b472b"/>
          <a:stretch xmlns:a="http://schemas.openxmlformats.org/drawingml/2006/main">
            <a:fillRect l="0" t="0" r="0" b="0"/>
          </a:stretch>
        </p:blipFill>
        <p:spPr>
          <a:xfrm xmlns:a="http://schemas.openxmlformats.org/drawingml/2006/main">
            <a:off x="3758184" y="1874520"/>
            <a:ext cx="219456" cy="219456"/>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8C105322-CC3F-4BF4-9F01-8CA29DAA3AE5}"/>
              </a:ext>
            </a:extLst>
          </p:cNvPr>
          <p:cNvSpPr>
            <a:spLocks xmlns:a="http://schemas.openxmlformats.org/drawingml/2006/main" noGrp="1"/>
          </p:cNvSpPr>
          <p:nvPr/>
        </p:nvSpPr>
        <p:spPr>
          <a:xfrm xmlns:a="http://schemas.openxmlformats.org/drawingml/2006/main">
            <a:off x="4206240"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Learning</a:t>
            </a:r>
            <a:endParaRPr sz="1500"/>
          </a:p>
        </p:txBody>
      </p:sp>
      <p:sp>
        <p:nvSpPr>
          <p:cNvPr id="26" name="Text 22">
            <a:extLst xmlns:a="http://schemas.openxmlformats.org/drawingml/2006/main">
              <a:ext uri="{FF2B5EF4-FFF2-40B4-BE49-F238E27FC236}">
                <a16:creationId xmlns:a16="http://schemas.microsoft.com/office/drawing/2014/main" id="{BA7F73F9-0717-4CA5-A8CB-AF29B3BBAA5D}"/>
              </a:ext>
            </a:extLst>
          </p:cNvPr>
          <p:cNvSpPr>
            <a:spLocks xmlns:a="http://schemas.openxmlformats.org/drawingml/2006/main" noGrp="1"/>
          </p:cNvSpPr>
          <p:nvPr/>
        </p:nvSpPr>
        <p:spPr>
          <a:xfrm xmlns:a="http://schemas.openxmlformats.org/drawingml/2006/main">
            <a:off x="4206240"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1990s–2010s · machine learning, neural networks</a:t>
            </a:r>
            <a:endParaRPr sz="900"/>
          </a:p>
        </p:txBody>
      </p:sp>
      <p:sp>
        <p:nvSpPr>
          <p:cNvPr id="27" name="Shape 23">
            <a:extLst xmlns:a="http://schemas.openxmlformats.org/drawingml/2006/main">
              <a:ext uri="{FF2B5EF4-FFF2-40B4-BE49-F238E27FC236}">
                <a16:creationId xmlns:a16="http://schemas.microsoft.com/office/drawing/2014/main" id="{68E10DA9-0BA7-41D1-A935-A4EA18F15D25}"/>
              </a:ext>
            </a:extLst>
          </p:cNvPr>
          <p:cNvSpPr>
            <a:spLocks xmlns:a="http://schemas.openxmlformats.org/drawingml/2006/main" noGrp="1"/>
          </p:cNvSpPr>
          <p:nvPr/>
        </p:nvSpPr>
        <p:spPr>
          <a:xfrm xmlns:a="http://schemas.openxmlformats.org/drawingml/2006/main">
            <a:off x="3968496" y="2642616"/>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8" name="Shape 24">
            <a:extLst xmlns:a="http://schemas.openxmlformats.org/drawingml/2006/main">
              <a:ext uri="{FF2B5EF4-FFF2-40B4-BE49-F238E27FC236}">
                <a16:creationId xmlns:a16="http://schemas.microsoft.com/office/drawing/2014/main" id="{7E7B09E6-57AD-4E4C-8819-AFE91561BB4D}"/>
              </a:ext>
            </a:extLst>
          </p:cNvPr>
          <p:cNvSpPr>
            <a:spLocks xmlns:a="http://schemas.openxmlformats.org/drawingml/2006/main" noGrp="1"/>
          </p:cNvSpPr>
          <p:nvPr/>
        </p:nvSpPr>
        <p:spPr>
          <a:xfrm xmlns:a="http://schemas.openxmlformats.org/drawingml/2006/main">
            <a:off x="3968496" y="2642616"/>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9" name="Shape 25">
            <a:extLst xmlns:a="http://schemas.openxmlformats.org/drawingml/2006/main">
              <a:ext uri="{FF2B5EF4-FFF2-40B4-BE49-F238E27FC236}">
                <a16:creationId xmlns:a16="http://schemas.microsoft.com/office/drawing/2014/main" id="{6FC528E1-319C-477E-82E4-0985565D1A59}"/>
              </a:ext>
            </a:extLst>
          </p:cNvPr>
          <p:cNvSpPr>
            <a:spLocks xmlns:a="http://schemas.openxmlformats.org/drawingml/2006/main" noGrp="1"/>
          </p:cNvSpPr>
          <p:nvPr/>
        </p:nvSpPr>
        <p:spPr>
          <a:xfrm xmlns:a="http://schemas.openxmlformats.org/drawingml/2006/main" flipV="1">
            <a:off x="3968496" y="2743200"/>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0" name="Shape 26">
            <a:extLst xmlns:a="http://schemas.openxmlformats.org/drawingml/2006/main">
              <a:ext uri="{FF2B5EF4-FFF2-40B4-BE49-F238E27FC236}">
                <a16:creationId xmlns:a16="http://schemas.microsoft.com/office/drawing/2014/main" id="{0DDAB7B7-5AB3-4163-996F-B8282E3D48D8}"/>
              </a:ext>
            </a:extLst>
          </p:cNvPr>
          <p:cNvSpPr>
            <a:spLocks xmlns:a="http://schemas.openxmlformats.org/drawingml/2006/main" noGrp="1"/>
          </p:cNvSpPr>
          <p:nvPr/>
        </p:nvSpPr>
        <p:spPr>
          <a:xfrm xmlns:a="http://schemas.openxmlformats.org/drawingml/2006/main">
            <a:off x="3968496" y="2843784"/>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1" name="Shape 27">
            <a:extLst xmlns:a="http://schemas.openxmlformats.org/drawingml/2006/main">
              <a:ext uri="{FF2B5EF4-FFF2-40B4-BE49-F238E27FC236}">
                <a16:creationId xmlns:a16="http://schemas.microsoft.com/office/drawing/2014/main" id="{277F5337-08B9-40A2-878A-7340423E13BD}"/>
              </a:ext>
            </a:extLst>
          </p:cNvPr>
          <p:cNvSpPr>
            <a:spLocks xmlns:a="http://schemas.openxmlformats.org/drawingml/2006/main" noGrp="1"/>
          </p:cNvSpPr>
          <p:nvPr/>
        </p:nvSpPr>
        <p:spPr>
          <a:xfrm xmlns:a="http://schemas.openxmlformats.org/drawingml/2006/main" flipV="1">
            <a:off x="3968496" y="2743200"/>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2" name="Shape 28">
            <a:extLst xmlns:a="http://schemas.openxmlformats.org/drawingml/2006/main">
              <a:ext uri="{FF2B5EF4-FFF2-40B4-BE49-F238E27FC236}">
                <a16:creationId xmlns:a16="http://schemas.microsoft.com/office/drawing/2014/main" id="{268317BA-0CCC-4A14-96FF-66F1A7A03ED3}"/>
              </a:ext>
            </a:extLst>
          </p:cNvPr>
          <p:cNvSpPr>
            <a:spLocks xmlns:a="http://schemas.openxmlformats.org/drawingml/2006/main" noGrp="1"/>
          </p:cNvSpPr>
          <p:nvPr/>
        </p:nvSpPr>
        <p:spPr>
          <a:xfrm xmlns:a="http://schemas.openxmlformats.org/drawingml/2006/main" flipV="1">
            <a:off x="3968496" y="2944368"/>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3" name="Shape 29">
            <a:extLst xmlns:a="http://schemas.openxmlformats.org/drawingml/2006/main">
              <a:ext uri="{FF2B5EF4-FFF2-40B4-BE49-F238E27FC236}">
                <a16:creationId xmlns:a16="http://schemas.microsoft.com/office/drawing/2014/main" id="{9CEA9ED2-EE8E-464A-9121-EF6CDD0CDD62}"/>
              </a:ext>
            </a:extLst>
          </p:cNvPr>
          <p:cNvSpPr>
            <a:spLocks xmlns:a="http://schemas.openxmlformats.org/drawingml/2006/main" noGrp="1"/>
          </p:cNvSpPr>
          <p:nvPr/>
        </p:nvSpPr>
        <p:spPr>
          <a:xfrm xmlns:a="http://schemas.openxmlformats.org/drawingml/2006/main">
            <a:off x="4882896" y="2743200"/>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4" name="Shape 30">
            <a:extLst xmlns:a="http://schemas.openxmlformats.org/drawingml/2006/main">
              <a:ext uri="{FF2B5EF4-FFF2-40B4-BE49-F238E27FC236}">
                <a16:creationId xmlns:a16="http://schemas.microsoft.com/office/drawing/2014/main" id="{E586D03B-060E-4294-BDA0-0CC5F2687B78}"/>
              </a:ext>
            </a:extLst>
          </p:cNvPr>
          <p:cNvSpPr>
            <a:spLocks xmlns:a="http://schemas.openxmlformats.org/drawingml/2006/main" noGrp="1"/>
          </p:cNvSpPr>
          <p:nvPr/>
        </p:nvSpPr>
        <p:spPr>
          <a:xfrm xmlns:a="http://schemas.openxmlformats.org/drawingml/2006/main" flipV="1">
            <a:off x="4882896" y="2843784"/>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5" name="Shape 31">
            <a:extLst xmlns:a="http://schemas.openxmlformats.org/drawingml/2006/main">
              <a:ext uri="{FF2B5EF4-FFF2-40B4-BE49-F238E27FC236}">
                <a16:creationId xmlns:a16="http://schemas.microsoft.com/office/drawing/2014/main" id="{26D4FE99-BEAE-4F6D-95C2-4BB26797C8B1}"/>
              </a:ext>
            </a:extLst>
          </p:cNvPr>
          <p:cNvSpPr>
            <a:spLocks xmlns:a="http://schemas.openxmlformats.org/drawingml/2006/main" noGrp="1"/>
          </p:cNvSpPr>
          <p:nvPr/>
        </p:nvSpPr>
        <p:spPr>
          <a:xfrm xmlns:a="http://schemas.openxmlformats.org/drawingml/2006/main">
            <a:off x="3840480" y="2578608"/>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6" name="Shape 32">
            <a:extLst xmlns:a="http://schemas.openxmlformats.org/drawingml/2006/main">
              <a:ext uri="{FF2B5EF4-FFF2-40B4-BE49-F238E27FC236}">
                <a16:creationId xmlns:a16="http://schemas.microsoft.com/office/drawing/2014/main" id="{F23C1C19-4893-41F2-AE2A-357C4CD27413}"/>
              </a:ext>
            </a:extLst>
          </p:cNvPr>
          <p:cNvSpPr>
            <a:spLocks xmlns:a="http://schemas.openxmlformats.org/drawingml/2006/main" noGrp="1"/>
          </p:cNvSpPr>
          <p:nvPr/>
        </p:nvSpPr>
        <p:spPr>
          <a:xfrm xmlns:a="http://schemas.openxmlformats.org/drawingml/2006/main">
            <a:off x="3840480" y="2779776"/>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7" name="Shape 33">
            <a:extLst xmlns:a="http://schemas.openxmlformats.org/drawingml/2006/main">
              <a:ext uri="{FF2B5EF4-FFF2-40B4-BE49-F238E27FC236}">
                <a16:creationId xmlns:a16="http://schemas.microsoft.com/office/drawing/2014/main" id="{E02E5910-1B76-4F31-94CF-A17F6E26B624}"/>
              </a:ext>
            </a:extLst>
          </p:cNvPr>
          <p:cNvSpPr>
            <a:spLocks xmlns:a="http://schemas.openxmlformats.org/drawingml/2006/main" noGrp="1"/>
          </p:cNvSpPr>
          <p:nvPr/>
        </p:nvSpPr>
        <p:spPr>
          <a:xfrm xmlns:a="http://schemas.openxmlformats.org/drawingml/2006/main">
            <a:off x="3840480" y="2980944"/>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8" name="Shape 34">
            <a:extLst xmlns:a="http://schemas.openxmlformats.org/drawingml/2006/main">
              <a:ext uri="{FF2B5EF4-FFF2-40B4-BE49-F238E27FC236}">
                <a16:creationId xmlns:a16="http://schemas.microsoft.com/office/drawing/2014/main" id="{EA35D082-5165-42CE-ADCC-86D2E587E835}"/>
              </a:ext>
            </a:extLst>
          </p:cNvPr>
          <p:cNvSpPr>
            <a:spLocks xmlns:a="http://schemas.openxmlformats.org/drawingml/2006/main" noGrp="1"/>
          </p:cNvSpPr>
          <p:nvPr/>
        </p:nvSpPr>
        <p:spPr>
          <a:xfrm xmlns:a="http://schemas.openxmlformats.org/drawingml/2006/main">
            <a:off x="4754880" y="2679192"/>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9" name="Shape 35">
            <a:extLst xmlns:a="http://schemas.openxmlformats.org/drawingml/2006/main">
              <a:ext uri="{FF2B5EF4-FFF2-40B4-BE49-F238E27FC236}">
                <a16:creationId xmlns:a16="http://schemas.microsoft.com/office/drawing/2014/main" id="{A15D561F-E9DA-46F4-B361-95E78F561AD0}"/>
              </a:ext>
            </a:extLst>
          </p:cNvPr>
          <p:cNvSpPr>
            <a:spLocks xmlns:a="http://schemas.openxmlformats.org/drawingml/2006/main" noGrp="1"/>
          </p:cNvSpPr>
          <p:nvPr/>
        </p:nvSpPr>
        <p:spPr>
          <a:xfrm xmlns:a="http://schemas.openxmlformats.org/drawingml/2006/main">
            <a:off x="4754880" y="2880360"/>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40" name="Shape 36">
            <a:extLst xmlns:a="http://schemas.openxmlformats.org/drawingml/2006/main">
              <a:ext uri="{FF2B5EF4-FFF2-40B4-BE49-F238E27FC236}">
                <a16:creationId xmlns:a16="http://schemas.microsoft.com/office/drawing/2014/main" id="{F41FE780-0F18-4E02-88B3-BFD423978DAE}"/>
              </a:ext>
            </a:extLst>
          </p:cNvPr>
          <p:cNvSpPr>
            <a:spLocks xmlns:a="http://schemas.openxmlformats.org/drawingml/2006/main" noGrp="1"/>
          </p:cNvSpPr>
          <p:nvPr/>
        </p:nvSpPr>
        <p:spPr>
          <a:xfrm xmlns:a="http://schemas.openxmlformats.org/drawingml/2006/main">
            <a:off x="5577840" y="2779776"/>
            <a:ext cx="137160" cy="13716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59C8134-6070-46B2-89A6-272551EB99F4}"/>
              </a:ext>
            </a:extLst>
          </p:cNvPr>
          <p:cNvSpPr>
            <a:spLocks xmlns:a="http://schemas.openxmlformats.org/drawingml/2006/main" noGrp="1"/>
          </p:cNvSpPr>
          <p:nvPr/>
        </p:nvSpPr>
        <p:spPr>
          <a:xfrm xmlns:a="http://schemas.openxmlformats.org/drawingml/2006/main">
            <a:off x="3639312"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Stop writing rules — let the system find patterns in examples. 2012: deep nets + GPUs crush image recognition (AlexNet: 15.3% error vs 26.2%).</a:t>
            </a:r>
            <a:endParaRPr sz="1050"/>
          </a:p>
        </p:txBody>
      </p:sp>
      <p:sp>
        <p:nvSpPr>
          <p:cNvPr id="42" name="Text 38">
            <a:extLst xmlns:a="http://schemas.openxmlformats.org/drawingml/2006/main">
              <a:ext uri="{FF2B5EF4-FFF2-40B4-BE49-F238E27FC236}">
                <a16:creationId xmlns:a16="http://schemas.microsoft.com/office/drawing/2014/main" id="{5F86F64D-F23C-4A73-A2FD-0A0B4436E053}"/>
              </a:ext>
            </a:extLst>
          </p:cNvPr>
          <p:cNvSpPr>
            <a:spLocks xmlns:a="http://schemas.openxmlformats.org/drawingml/2006/main" noGrp="1"/>
          </p:cNvSpPr>
          <p:nvPr/>
        </p:nvSpPr>
        <p:spPr>
          <a:xfrm xmlns:a="http://schemas.openxmlformats.org/drawingml/2006/main">
            <a:off x="3639312"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spam filters, search ranking, recommendations, image recognition.</a:t>
            </a:r>
            <a:endParaRPr sz="950"/>
          </a:p>
        </p:txBody>
      </p:sp>
      <p:sp>
        <p:nvSpPr>
          <p:cNvPr id="43" name="Shape 39">
            <a:extLst xmlns:a="http://schemas.openxmlformats.org/drawingml/2006/main">
              <a:ext uri="{FF2B5EF4-FFF2-40B4-BE49-F238E27FC236}">
                <a16:creationId xmlns:a16="http://schemas.microsoft.com/office/drawing/2014/main" id="{3CDA4407-C716-4418-96B2-3A9BF6FE6754}"/>
              </a:ext>
            </a:extLst>
          </p:cNvPr>
          <p:cNvSpPr>
            <a:spLocks xmlns:a="http://schemas.openxmlformats.org/drawingml/2006/main" noGrp="1"/>
          </p:cNvSpPr>
          <p:nvPr/>
        </p:nvSpPr>
        <p:spPr>
          <a:xfrm xmlns:a="http://schemas.openxmlformats.org/drawingml/2006/main">
            <a:off x="6135624"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44" name="Shape 40">
            <a:extLst xmlns:a="http://schemas.openxmlformats.org/drawingml/2006/main">
              <a:ext uri="{FF2B5EF4-FFF2-40B4-BE49-F238E27FC236}">
                <a16:creationId xmlns:a16="http://schemas.microsoft.com/office/drawing/2014/main" id="{217C02D3-3581-454A-AD1A-7CEDD6E2C163}"/>
              </a:ext>
            </a:extLst>
          </p:cNvPr>
          <p:cNvSpPr>
            <a:spLocks xmlns:a="http://schemas.openxmlformats.org/drawingml/2006/main" noGrp="1"/>
          </p:cNvSpPr>
          <p:nvPr/>
        </p:nvSpPr>
        <p:spPr>
          <a:xfrm xmlns:a="http://schemas.openxmlformats.org/drawingml/2006/main">
            <a:off x="6336792"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45" name="Shape 41">
            <a:extLst xmlns:a="http://schemas.openxmlformats.org/drawingml/2006/main">
              <a:ext uri="{FF2B5EF4-FFF2-40B4-BE49-F238E27FC236}">
                <a16:creationId xmlns:a16="http://schemas.microsoft.com/office/drawing/2014/main" id="{1E60FA4D-7E1F-4419-828C-90832342E5C8}"/>
              </a:ext>
            </a:extLst>
          </p:cNvPr>
          <p:cNvSpPr>
            <a:spLocks xmlns:a="http://schemas.openxmlformats.org/drawingml/2006/main" noGrp="1"/>
          </p:cNvSpPr>
          <p:nvPr/>
        </p:nvSpPr>
        <p:spPr>
          <a:xfrm xmlns:a="http://schemas.openxmlformats.org/drawingml/2006/main">
            <a:off x="6556248"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43" name="Image 2"/>
          <p:cNvPicPr>
            <a:picLocks xmlns:a="http://schemas.openxmlformats.org/drawingml/2006/main" noChangeAspect="1"/>
          </p:cNvPicPr>
          <p:nvPr/>
        </p:nvPicPr>
        <p:blipFill>
          <a:blip xmlns:r="http://schemas.openxmlformats.org/officeDocument/2006/relationships" xmlns:a="http://schemas.openxmlformats.org/drawingml/2006/main" r:embed="R25922f78034f4f00"/>
          <a:stretch xmlns:a="http://schemas.openxmlformats.org/drawingml/2006/main">
            <a:fillRect l="0" t="0" r="0" b="0"/>
          </a:stretch>
        </p:blipFill>
        <p:spPr>
          <a:xfrm xmlns:a="http://schemas.openxmlformats.org/drawingml/2006/main">
            <a:off x="6675120" y="1874520"/>
            <a:ext cx="219456" cy="219456"/>
          </a:xfrm>
          <a:prstGeom xmlns:a="http://schemas.openxmlformats.org/drawingml/2006/main" prst="rect">
            <a:avLst/>
          </a:prstGeom>
        </p:spPr>
      </p:pic>
      <p:sp>
        <p:nvSpPr>
          <p:cNvPr id="47" name="Text 42">
            <a:extLst xmlns:a="http://schemas.openxmlformats.org/drawingml/2006/main">
              <a:ext uri="{FF2B5EF4-FFF2-40B4-BE49-F238E27FC236}">
                <a16:creationId xmlns:a16="http://schemas.microsoft.com/office/drawing/2014/main" id="{EDAEDDBD-87E8-46A7-A8E1-D25B718F146D}"/>
              </a:ext>
            </a:extLst>
          </p:cNvPr>
          <p:cNvSpPr>
            <a:spLocks xmlns:a="http://schemas.openxmlformats.org/drawingml/2006/main" noGrp="1"/>
          </p:cNvSpPr>
          <p:nvPr/>
        </p:nvSpPr>
        <p:spPr>
          <a:xfrm xmlns:a="http://schemas.openxmlformats.org/drawingml/2006/main">
            <a:off x="7123176"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Generative</a:t>
            </a:r>
            <a:endParaRPr sz="1500"/>
          </a:p>
        </p:txBody>
      </p:sp>
      <p:sp>
        <p:nvSpPr>
          <p:cNvPr id="48" name="Text 43">
            <a:extLst xmlns:a="http://schemas.openxmlformats.org/drawingml/2006/main">
              <a:ext uri="{FF2B5EF4-FFF2-40B4-BE49-F238E27FC236}">
                <a16:creationId xmlns:a16="http://schemas.microsoft.com/office/drawing/2014/main" id="{90FD024C-13A4-494E-AA53-1C3C0F1F16F1}"/>
              </a:ext>
            </a:extLst>
          </p:cNvPr>
          <p:cNvSpPr>
            <a:spLocks xmlns:a="http://schemas.openxmlformats.org/drawingml/2006/main" noGrp="1"/>
          </p:cNvSpPr>
          <p:nvPr/>
        </p:nvSpPr>
        <p:spPr>
          <a:xfrm xmlns:a="http://schemas.openxmlformats.org/drawingml/2006/main">
            <a:off x="7123176"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2017– · transformers, LLMs</a:t>
            </a:r>
            <a:endParaRPr sz="900"/>
          </a:p>
        </p:txBody>
      </p:sp>
      <p:sp>
        <p:nvSpPr>
          <p:cNvPr id="49" name="Shape 44">
            <a:extLst xmlns:a="http://schemas.openxmlformats.org/drawingml/2006/main">
              <a:ext uri="{FF2B5EF4-FFF2-40B4-BE49-F238E27FC236}">
                <a16:creationId xmlns:a16="http://schemas.microsoft.com/office/drawing/2014/main" id="{B654EBFE-FBA9-44B7-AB44-5CAED171485E}"/>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0" name="Text 45">
            <a:extLst xmlns:a="http://schemas.openxmlformats.org/drawingml/2006/main">
              <a:ext uri="{FF2B5EF4-FFF2-40B4-BE49-F238E27FC236}">
                <a16:creationId xmlns:a16="http://schemas.microsoft.com/office/drawing/2014/main" id="{8C7C7AC4-1BDF-4B44-B2B6-87EDD8E6AB91}"/>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a:t>
            </a:r>
            <a:endParaRPr sz="800"/>
          </a:p>
        </p:txBody>
      </p:sp>
      <p:sp>
        <p:nvSpPr>
          <p:cNvPr id="51" name="Shape 46">
            <a:extLst xmlns:a="http://schemas.openxmlformats.org/drawingml/2006/main">
              <a:ext uri="{FF2B5EF4-FFF2-40B4-BE49-F238E27FC236}">
                <a16:creationId xmlns:a16="http://schemas.microsoft.com/office/drawing/2014/main" id="{C0481106-7FD2-47A5-87EE-8924F052D517}"/>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2" name="Text 47">
            <a:extLst xmlns:a="http://schemas.openxmlformats.org/drawingml/2006/main">
              <a:ext uri="{FF2B5EF4-FFF2-40B4-BE49-F238E27FC236}">
                <a16:creationId xmlns:a16="http://schemas.microsoft.com/office/drawing/2014/main" id="{015DF4BF-A479-4FE7-A1FC-38463C829938}"/>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audit</a:t>
            </a:r>
            <a:endParaRPr sz="800"/>
          </a:p>
        </p:txBody>
      </p:sp>
      <p:sp>
        <p:nvSpPr>
          <p:cNvPr id="53" name="Shape 48">
            <a:extLst xmlns:a="http://schemas.openxmlformats.org/drawingml/2006/main">
              <a:ext uri="{FF2B5EF4-FFF2-40B4-BE49-F238E27FC236}">
                <a16:creationId xmlns:a16="http://schemas.microsoft.com/office/drawing/2014/main" id="{EEF48A7A-3BD6-44AF-BA8F-28AE8B2BDF67}"/>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4" name="Text 49">
            <a:extLst xmlns:a="http://schemas.openxmlformats.org/drawingml/2006/main">
              <a:ext uri="{FF2B5EF4-FFF2-40B4-BE49-F238E27FC236}">
                <a16:creationId xmlns:a16="http://schemas.microsoft.com/office/drawing/2014/main" id="{824E6943-C7F4-483D-B0FD-2386A15574CB}"/>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is</a:t>
            </a:r>
            <a:endParaRPr sz="800"/>
          </a:p>
        </p:txBody>
      </p:sp>
      <p:sp>
        <p:nvSpPr>
          <p:cNvPr id="55" name="Shape 50">
            <a:extLst xmlns:a="http://schemas.openxmlformats.org/drawingml/2006/main">
              <a:ext uri="{FF2B5EF4-FFF2-40B4-BE49-F238E27FC236}">
                <a16:creationId xmlns:a16="http://schemas.microsoft.com/office/drawing/2014/main" id="{9D638383-466B-4C16-AF51-116D3F2183A9}"/>
              </a:ext>
            </a:extLst>
          </p:cNvPr>
          <p:cNvSpPr>
            <a:spLocks xmlns:a="http://schemas.openxmlformats.org/drawingml/2006/main" noGrp="1"/>
          </p:cNvSpPr>
          <p:nvPr/>
        </p:nvSpPr>
        <p:spPr>
          <a:xfrm xmlns:a="http://schemas.openxmlformats.org/drawingml/2006/main">
            <a:off x="8147304" y="2862072"/>
            <a:ext cx="228600" cy="0"/>
          </a:xfrm>
          <a:prstGeom xmlns:a="http://schemas.openxmlformats.org/drawingml/2006/main" prst="line">
            <a:avLst/>
          </a:prstGeom>
          <a:noFill xmlns:a="http://schemas.openxmlformats.org/drawingml/2006/main"/>
          <a:ln xmlns:a="http://schemas.openxmlformats.org/drawingml/2006/main" w="15875">
            <a:solidFill>
              <a:srgbClr val="0E7C7B"/>
            </a:solidFill>
            <a:prstDash val="solid"/>
            <a:tailEnd type="triangle"/>
          </a:ln>
        </p:spPr>
        <p:txBody xmlns:a="http://schemas.openxmlformats.org/drawingml/2006/main">
          <a:bodyPr/>
          <a:p/>
        </p:txBody>
      </p:sp>
      <p:sp>
        <p:nvSpPr>
          <p:cNvPr id="56" name="Shape 51">
            <a:extLst xmlns:a="http://schemas.openxmlformats.org/drawingml/2006/main">
              <a:ext uri="{FF2B5EF4-FFF2-40B4-BE49-F238E27FC236}">
                <a16:creationId xmlns:a16="http://schemas.microsoft.com/office/drawing/2014/main" id="{3D242BE8-F06E-4277-8496-990C8A09F7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57" name="Text 52">
            <a:extLst xmlns:a="http://schemas.openxmlformats.org/drawingml/2006/main">
              <a:ext uri="{FF2B5EF4-FFF2-40B4-BE49-F238E27FC236}">
                <a16:creationId xmlns:a16="http://schemas.microsoft.com/office/drawing/2014/main" id="{1C0F7E18-DD33-4C27-BB87-E4D889E37B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a:t>
            </a:r>
            <a:endParaRPr sz="800"/>
          </a:p>
        </p:txBody>
      </p:sp>
      <p:sp>
        <p:nvSpPr>
          <p:cNvPr id="58" name="Text 53">
            <a:extLst xmlns:a="http://schemas.openxmlformats.org/drawingml/2006/main">
              <a:ext uri="{FF2B5EF4-FFF2-40B4-BE49-F238E27FC236}">
                <a16:creationId xmlns:a16="http://schemas.microsoft.com/office/drawing/2014/main" id="{546494E8-FF41-4E55-9A1C-7A392C032B0F}"/>
              </a:ext>
            </a:extLst>
          </p:cNvPr>
          <p:cNvSpPr>
            <a:spLocks xmlns:a="http://schemas.openxmlformats.org/drawingml/2006/main" noGrp="1"/>
          </p:cNvSpPr>
          <p:nvPr/>
        </p:nvSpPr>
        <p:spPr>
          <a:xfrm xmlns:a="http://schemas.openxmlformats.org/drawingml/2006/main">
            <a:off x="6556248"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The Transformer (2017) lets models </a:t>
            </a:r>
            <a:r>
              <a:rPr sz="1050">
                <a:solidFill>
                  <a:srgbClr val="46545F"/>
                </a:solidFill>
                <a:latin typeface="Calibri"/>
                <a:ea typeface="Calibri"/>
                <a:cs typeface="Calibri"/>
              </a:rPr>
              <a:t>learn patterns from large datasets</a:t>
            </a:r>
            <a:r>
              <a:rPr sz="1050">
                <a:solidFill>
                  <a:srgbClr val="46545F"/>
                </a:solidFill>
                <a:latin typeface="Calibri"/>
                <a:ea typeface="Calibri"/>
                <a:cs typeface="Calibri"/>
              </a:rPr>
              <a:t>. Predict-the-next-word at that scale writes, summarizes, codes.</a:t>
            </a:r>
            <a:endParaRPr sz="1050"/>
          </a:p>
        </p:txBody>
      </p:sp>
      <p:sp>
        <p:nvSpPr>
          <p:cNvPr id="59" name="Text 54">
            <a:extLst xmlns:a="http://schemas.openxmlformats.org/drawingml/2006/main">
              <a:ext uri="{FF2B5EF4-FFF2-40B4-BE49-F238E27FC236}">
                <a16:creationId xmlns:a16="http://schemas.microsoft.com/office/drawing/2014/main" id="{B4DBCAA7-B323-4215-A6F1-324A6579F655}"/>
              </a:ext>
            </a:extLst>
          </p:cNvPr>
          <p:cNvSpPr>
            <a:spLocks xmlns:a="http://schemas.openxmlformats.org/drawingml/2006/main" noGrp="1"/>
          </p:cNvSpPr>
          <p:nvPr/>
        </p:nvSpPr>
        <p:spPr>
          <a:xfrm xmlns:a="http://schemas.openxmlformats.org/drawingml/2006/main">
            <a:off x="6556248"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ChatGPT (2022), image generators — AI everyone can talk to.</a:t>
            </a:r>
            <a:endParaRPr sz="950"/>
          </a:p>
        </p:txBody>
      </p:sp>
      <p:sp>
        <p:nvSpPr>
          <p:cNvPr id="60" name="Shape 55">
            <a:extLst xmlns:a="http://schemas.openxmlformats.org/drawingml/2006/main">
              <a:ext uri="{FF2B5EF4-FFF2-40B4-BE49-F238E27FC236}">
                <a16:creationId xmlns:a16="http://schemas.microsoft.com/office/drawing/2014/main" id="{B1D34B1F-655E-46AC-9170-6206D9B2D383}"/>
              </a:ext>
            </a:extLst>
          </p:cNvPr>
          <p:cNvSpPr>
            <a:spLocks xmlns:a="http://schemas.openxmlformats.org/drawingml/2006/main" noGrp="1"/>
          </p:cNvSpPr>
          <p:nvPr/>
        </p:nvSpPr>
        <p:spPr>
          <a:xfrm xmlns:a="http://schemas.openxmlformats.org/drawingml/2006/main">
            <a:off x="9052560"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61" name="Shape 56">
            <a:extLst xmlns:a="http://schemas.openxmlformats.org/drawingml/2006/main">
              <a:ext uri="{FF2B5EF4-FFF2-40B4-BE49-F238E27FC236}">
                <a16:creationId xmlns:a16="http://schemas.microsoft.com/office/drawing/2014/main" id="{068A4789-82AC-4AEB-945B-DBD3B1B4531B}"/>
              </a:ext>
            </a:extLst>
          </p:cNvPr>
          <p:cNvSpPr>
            <a:spLocks xmlns:a="http://schemas.openxmlformats.org/drawingml/2006/main" noGrp="1"/>
          </p:cNvSpPr>
          <p:nvPr/>
        </p:nvSpPr>
        <p:spPr>
          <a:xfrm xmlns:a="http://schemas.openxmlformats.org/drawingml/2006/main">
            <a:off x="9253728"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62" name="Shape 57">
            <a:extLst xmlns:a="http://schemas.openxmlformats.org/drawingml/2006/main">
              <a:ext uri="{FF2B5EF4-FFF2-40B4-BE49-F238E27FC236}">
                <a16:creationId xmlns:a16="http://schemas.microsoft.com/office/drawing/2014/main" id="{B975BC9D-458E-48F0-B3EF-A3DEF506CC91}"/>
              </a:ext>
            </a:extLst>
          </p:cNvPr>
          <p:cNvSpPr>
            <a:spLocks xmlns:a="http://schemas.openxmlformats.org/drawingml/2006/main" noGrp="1"/>
          </p:cNvSpPr>
          <p:nvPr/>
        </p:nvSpPr>
        <p:spPr>
          <a:xfrm xmlns:a="http://schemas.openxmlformats.org/drawingml/2006/main">
            <a:off x="9473184"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60" name="Image 3"/>
          <p:cNvPicPr>
            <a:picLocks xmlns:a="http://schemas.openxmlformats.org/drawingml/2006/main" noChangeAspect="1"/>
          </p:cNvPicPr>
          <p:nvPr/>
        </p:nvPicPr>
        <p:blipFill>
          <a:blip xmlns:r="http://schemas.openxmlformats.org/officeDocument/2006/relationships" xmlns:a="http://schemas.openxmlformats.org/drawingml/2006/main" r:embed="R29b3c6c186e2442c"/>
          <a:stretch xmlns:a="http://schemas.openxmlformats.org/drawingml/2006/main">
            <a:fillRect l="0" t="0" r="0" b="0"/>
          </a:stretch>
        </p:blipFill>
        <p:spPr>
          <a:xfrm xmlns:a="http://schemas.openxmlformats.org/drawingml/2006/main">
            <a:off x="9592056" y="1874520"/>
            <a:ext cx="219456" cy="219456"/>
          </a:xfrm>
          <a:prstGeom xmlns:a="http://schemas.openxmlformats.org/drawingml/2006/main" prst="rect">
            <a:avLst/>
          </a:prstGeom>
        </p:spPr>
      </p:pic>
      <p:sp>
        <p:nvSpPr>
          <p:cNvPr id="64" name="Text 58">
            <a:extLst xmlns:a="http://schemas.openxmlformats.org/drawingml/2006/main">
              <a:ext uri="{FF2B5EF4-FFF2-40B4-BE49-F238E27FC236}">
                <a16:creationId xmlns:a16="http://schemas.microsoft.com/office/drawing/2014/main" id="{51B787C9-DE4C-4B47-AEBA-E55EF01107EF}"/>
              </a:ext>
            </a:extLst>
          </p:cNvPr>
          <p:cNvSpPr>
            <a:spLocks xmlns:a="http://schemas.openxmlformats.org/drawingml/2006/main" noGrp="1"/>
          </p:cNvSpPr>
          <p:nvPr/>
        </p:nvSpPr>
        <p:spPr>
          <a:xfrm xmlns:a="http://schemas.openxmlformats.org/drawingml/2006/main">
            <a:off x="10040112"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Agentic</a:t>
            </a:r>
            <a:endParaRPr sz="1500"/>
          </a:p>
        </p:txBody>
      </p:sp>
      <p:sp>
        <p:nvSpPr>
          <p:cNvPr id="65" name="Text 59">
            <a:extLst xmlns:a="http://schemas.openxmlformats.org/drawingml/2006/main">
              <a:ext uri="{FF2B5EF4-FFF2-40B4-BE49-F238E27FC236}">
                <a16:creationId xmlns:a16="http://schemas.microsoft.com/office/drawing/2014/main" id="{18DF60FA-25AD-4DDA-9566-4F2DA1E0EF8B}"/>
              </a:ext>
            </a:extLst>
          </p:cNvPr>
          <p:cNvSpPr>
            <a:spLocks xmlns:a="http://schemas.openxmlformats.org/drawingml/2006/main" noGrp="1"/>
          </p:cNvSpPr>
          <p:nvPr/>
        </p:nvSpPr>
        <p:spPr>
          <a:xfrm xmlns:a="http://schemas.openxmlformats.org/drawingml/2006/main">
            <a:off x="10040112"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2024– · reasoning models, tool use</a:t>
            </a:r>
            <a:endParaRPr sz="900"/>
          </a:p>
        </p:txBody>
      </p:sp>
      <p:sp>
        <p:nvSpPr>
          <p:cNvPr id="66" name="Shape 60">
            <a:extLst xmlns:a="http://schemas.openxmlformats.org/drawingml/2006/main">
              <a:ext uri="{FF2B5EF4-FFF2-40B4-BE49-F238E27FC236}">
                <a16:creationId xmlns:a16="http://schemas.microsoft.com/office/drawing/2014/main" id="{A3724810-D926-424B-B1AA-DFBBA127A8D2}"/>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7" name="Text 61">
            <a:extLst xmlns:a="http://schemas.openxmlformats.org/drawingml/2006/main">
              <a:ext uri="{FF2B5EF4-FFF2-40B4-BE49-F238E27FC236}">
                <a16:creationId xmlns:a16="http://schemas.microsoft.com/office/drawing/2014/main" id="{8C253282-BC08-45EE-ACDF-CA39C245C25F}"/>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PLAN</a:t>
            </a:r>
            <a:endParaRPr sz="800"/>
          </a:p>
        </p:txBody>
      </p:sp>
      <p:sp>
        <p:nvSpPr>
          <p:cNvPr id="68" name="Shape 62">
            <a:extLst xmlns:a="http://schemas.openxmlformats.org/drawingml/2006/main">
              <a:ext uri="{FF2B5EF4-FFF2-40B4-BE49-F238E27FC236}">
                <a16:creationId xmlns:a16="http://schemas.microsoft.com/office/drawing/2014/main" id="{9F6D8612-E666-47AA-BC10-80DCE33DA5D0}"/>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9" name="Text 63">
            <a:extLst xmlns:a="http://schemas.openxmlformats.org/drawingml/2006/main">
              <a:ext uri="{FF2B5EF4-FFF2-40B4-BE49-F238E27FC236}">
                <a16:creationId xmlns:a16="http://schemas.microsoft.com/office/drawing/2014/main" id="{E167774D-A1D8-4E35-8CDA-155372312616}"/>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ACT</a:t>
            </a:r>
            <a:endParaRPr sz="800"/>
          </a:p>
        </p:txBody>
      </p:sp>
      <p:sp>
        <p:nvSpPr>
          <p:cNvPr id="70" name="Shape 64">
            <a:extLst xmlns:a="http://schemas.openxmlformats.org/drawingml/2006/main">
              <a:ext uri="{FF2B5EF4-FFF2-40B4-BE49-F238E27FC236}">
                <a16:creationId xmlns:a16="http://schemas.microsoft.com/office/drawing/2014/main" id="{8A5082F8-3CD6-46C7-9808-669E84E8CCCA}"/>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71" name="Text 65">
            <a:extLst xmlns:a="http://schemas.openxmlformats.org/drawingml/2006/main">
              <a:ext uri="{FF2B5EF4-FFF2-40B4-BE49-F238E27FC236}">
                <a16:creationId xmlns:a16="http://schemas.microsoft.com/office/drawing/2014/main" id="{38E3AF9F-87E4-4F1D-B485-D5AB8C16E786}"/>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CHECK</a:t>
            </a:r>
            <a:endParaRPr sz="800"/>
          </a:p>
        </p:txBody>
      </p:sp>
      <p:sp>
        <p:nvSpPr>
          <p:cNvPr id="72" name="Shape 66">
            <a:extLst xmlns:a="http://schemas.openxmlformats.org/drawingml/2006/main">
              <a:ext uri="{FF2B5EF4-FFF2-40B4-BE49-F238E27FC236}">
                <a16:creationId xmlns:a16="http://schemas.microsoft.com/office/drawing/2014/main" id="{AB99E3F3-7105-4847-A888-7747B61CB325}"/>
              </a:ext>
            </a:extLst>
          </p:cNvPr>
          <p:cNvSpPr>
            <a:spLocks xmlns:a="http://schemas.openxmlformats.org/drawingml/2006/main" noGrp="1"/>
          </p:cNvSpPr>
          <p:nvPr/>
        </p:nvSpPr>
        <p:spPr>
          <a:xfrm xmlns:a="http://schemas.openxmlformats.org/drawingml/2006/main">
            <a:off x="1016812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3" name="Shape 67">
            <a:extLst xmlns:a="http://schemas.openxmlformats.org/drawingml/2006/main">
              <a:ext uri="{FF2B5EF4-FFF2-40B4-BE49-F238E27FC236}">
                <a16:creationId xmlns:a16="http://schemas.microsoft.com/office/drawing/2014/main" id="{E45D8EA0-2852-48DF-B7F9-85BD72F73783}"/>
              </a:ext>
            </a:extLst>
          </p:cNvPr>
          <p:cNvSpPr>
            <a:spLocks xmlns:a="http://schemas.openxmlformats.org/drawingml/2006/main" noGrp="1"/>
          </p:cNvSpPr>
          <p:nvPr/>
        </p:nvSpPr>
        <p:spPr>
          <a:xfrm xmlns:a="http://schemas.openxmlformats.org/drawingml/2006/main">
            <a:off x="1089964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4" name="Shape 68">
            <a:extLst xmlns:a="http://schemas.openxmlformats.org/drawingml/2006/main">
              <a:ext uri="{FF2B5EF4-FFF2-40B4-BE49-F238E27FC236}">
                <a16:creationId xmlns:a16="http://schemas.microsoft.com/office/drawing/2014/main" id="{9BB44BBB-2985-4A14-AF3C-F8606AF763DE}"/>
              </a:ext>
            </a:extLst>
          </p:cNvPr>
          <p:cNvSpPr>
            <a:spLocks xmlns:a="http://schemas.openxmlformats.org/drawingml/2006/main" noGrp="1"/>
          </p:cNvSpPr>
          <p:nvPr/>
        </p:nvSpPr>
        <p:spPr>
          <a:xfrm xmlns:a="http://schemas.openxmlformats.org/drawingml/2006/main">
            <a:off x="9838944" y="3017520"/>
            <a:ext cx="1572768"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headEnd type="triangle"/>
          </a:ln>
        </p:spPr>
        <p:txBody xmlns:a="http://schemas.openxmlformats.org/drawingml/2006/main">
          <a:bodyPr/>
          <a:p/>
        </p:txBody>
      </p:sp>
      <p:sp>
        <p:nvSpPr>
          <p:cNvPr id="75" name="Text 69">
            <a:extLst xmlns:a="http://schemas.openxmlformats.org/drawingml/2006/main">
              <a:ext uri="{FF2B5EF4-FFF2-40B4-BE49-F238E27FC236}">
                <a16:creationId xmlns:a16="http://schemas.microsoft.com/office/drawing/2014/main" id="{395F1F60-DF82-44ED-8C49-19D90686276E}"/>
              </a:ext>
            </a:extLst>
          </p:cNvPr>
          <p:cNvSpPr>
            <a:spLocks xmlns:a="http://schemas.openxmlformats.org/drawingml/2006/main" noGrp="1"/>
          </p:cNvSpPr>
          <p:nvPr/>
        </p:nvSpPr>
        <p:spPr>
          <a:xfrm xmlns:a="http://schemas.openxmlformats.org/drawingml/2006/main">
            <a:off x="9473184"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Models get “arms”: tools, browsers, files, code. Reasoning models plan multi-step work; agents execute with limited supervision.</a:t>
            </a:r>
            <a:endParaRPr sz="1050"/>
          </a:p>
        </p:txBody>
      </p:sp>
      <p:sp>
        <p:nvSpPr>
          <p:cNvPr id="76" name="Text 70">
            <a:extLst xmlns:a="http://schemas.openxmlformats.org/drawingml/2006/main">
              <a:ext uri="{FF2B5EF4-FFF2-40B4-BE49-F238E27FC236}">
                <a16:creationId xmlns:a16="http://schemas.microsoft.com/office/drawing/2014/main" id="{E993C337-C517-491F-AACB-CB9A0E142FC8}"/>
              </a:ext>
            </a:extLst>
          </p:cNvPr>
          <p:cNvSpPr>
            <a:spLocks xmlns:a="http://schemas.openxmlformats.org/drawingml/2006/main" noGrp="1"/>
          </p:cNvSpPr>
          <p:nvPr/>
        </p:nvSpPr>
        <p:spPr>
          <a:xfrm xmlns:a="http://schemas.openxmlformats.org/drawingml/2006/main">
            <a:off x="9473184"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Giving us: coding agents, office agents, deep-research modes — AI you delegate to.</a:t>
            </a:r>
            <a:endParaRPr sz="950"/>
          </a:p>
        </p:txBody>
      </p:sp>
      <p:sp>
        <p:nvSpPr>
          <p:cNvPr id="77" name="Shape 71">
            <a:extLst xmlns:a="http://schemas.openxmlformats.org/drawingml/2006/main">
              <a:ext uri="{FF2B5EF4-FFF2-40B4-BE49-F238E27FC236}">
                <a16:creationId xmlns:a16="http://schemas.microsoft.com/office/drawing/2014/main" id="{A42983CE-468D-4365-A812-6C8E50CD5482}"/>
              </a:ext>
            </a:extLst>
          </p:cNvPr>
          <p:cNvSpPr>
            <a:spLocks xmlns:a="http://schemas.openxmlformats.org/drawingml/2006/main" noGrp="1"/>
          </p:cNvSpPr>
          <p:nvPr/>
        </p:nvSpPr>
        <p:spPr>
          <a:xfrm xmlns:a="http://schemas.openxmlformats.org/drawingml/2006/main">
            <a:off x="502920" y="5120640"/>
            <a:ext cx="11155680" cy="960120"/>
          </a:xfrm>
          <a:prstGeom xmlns:a="http://schemas.openxmlformats.org/drawingml/2006/main" prst="roundRect">
            <a:avLst>
              <a:gd name="adj" fmla="val 7619"/>
            </a:avLst>
          </a:prstGeom>
          <a:solidFill xmlns:a="http://schemas.openxmlformats.org/drawingml/2006/main">
            <a:srgbClr val="FBF0E0"/>
          </a:solidFill>
        </p:spPr>
        <p:txBody xmlns:a="http://schemas.openxmlformats.org/drawingml/2006/main">
          <a:bodyPr/>
          <a:p/>
        </p:txBody>
      </p:sp>
      <p:sp>
        <p:nvSpPr>
          <p:cNvPr id="78" name="Shape 72">
            <a:extLst xmlns:a="http://schemas.openxmlformats.org/drawingml/2006/main">
              <a:ext uri="{FF2B5EF4-FFF2-40B4-BE49-F238E27FC236}">
                <a16:creationId xmlns:a16="http://schemas.microsoft.com/office/drawing/2014/main" id="{3F989C26-D557-48C2-A43D-703A2BCB75FC}"/>
              </a:ext>
            </a:extLst>
          </p:cNvPr>
          <p:cNvSpPr>
            <a:spLocks xmlns:a="http://schemas.openxmlformats.org/drawingml/2006/main" noGrp="1"/>
          </p:cNvSpPr>
          <p:nvPr/>
        </p:nvSpPr>
        <p:spPr>
          <a:xfrm xmlns:a="http://schemas.openxmlformats.org/drawingml/2006/main">
            <a:off x="667512" y="54086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176" name="Image 4"/>
          <p:cNvPicPr>
            <a:picLocks xmlns:a="http://schemas.openxmlformats.org/drawingml/2006/main" noChangeAspect="1"/>
          </p:cNvPicPr>
          <p:nvPr/>
        </p:nvPicPr>
        <p:blipFill>
          <a:blip xmlns:r="http://schemas.openxmlformats.org/officeDocument/2006/relationships" xmlns:a="http://schemas.openxmlformats.org/drawingml/2006/main" r:embed="Ree9b2c94d0dd404d"/>
          <a:stretch xmlns:a="http://schemas.openxmlformats.org/drawingml/2006/main">
            <a:fillRect l="0" t="0" r="0" b="0"/>
          </a:stretch>
        </p:blipFill>
        <p:spPr>
          <a:xfrm xmlns:a="http://schemas.openxmlformats.org/drawingml/2006/main">
            <a:off x="767364" y="5508528"/>
            <a:ext cx="184343" cy="184343"/>
          </a:xfrm>
          <a:prstGeom xmlns:a="http://schemas.openxmlformats.org/drawingml/2006/main" prst="rect">
            <a:avLst/>
          </a:prstGeom>
        </p:spPr>
      </p:pic>
      <p:sp>
        <p:nvSpPr>
          <p:cNvPr id="80" name="Text 73">
            <a:extLst xmlns:a="http://schemas.openxmlformats.org/drawingml/2006/main">
              <a:ext uri="{FF2B5EF4-FFF2-40B4-BE49-F238E27FC236}">
                <a16:creationId xmlns:a16="http://schemas.microsoft.com/office/drawing/2014/main" id="{CE645797-4D6B-4B3D-A3C1-BCFDE04A4A3C}"/>
              </a:ext>
            </a:extLst>
          </p:cNvPr>
          <p:cNvSpPr>
            <a:spLocks xmlns:a="http://schemas.openxmlformats.org/drawingml/2006/main" noGrp="1"/>
          </p:cNvSpPr>
          <p:nvPr/>
        </p:nvSpPr>
        <p:spPr>
          <a:xfrm xmlns:a="http://schemas.openxmlformats.org/drawingml/2006/main">
            <a:off x="1216152" y="5193792"/>
            <a:ext cx="10213848"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50" b="1">
                <a:solidFill>
                  <a:srgbClr val="232A31"/>
                </a:solidFill>
                <a:latin typeface="Calibri"/>
                <a:ea typeface="Calibri"/>
                <a:cs typeface="Calibri"/>
              </a:rPr>
              <a:t>Why the last decade exploded — scaling laws (2020): </a:t>
            </a:r>
            <a:r>
              <a:rPr sz="1250">
                <a:solidFill>
                  <a:srgbClr val="46545F"/>
                </a:solidFill>
                <a:latin typeface="Calibri"/>
                <a:ea typeface="Calibri"/>
                <a:cs typeface="Calibri"/>
              </a:rPr>
              <a:t>bigger model + more data + more compute = </a:t>
            </a:r>
            <a:r>
              <a:rPr sz="1250">
                <a:solidFill>
                  <a:srgbClr val="46545F"/>
                </a:solidFill>
                <a:latin typeface="Calibri"/>
                <a:ea typeface="Calibri"/>
                <a:cs typeface="Calibri"/>
              </a:rPr>
              <a:t>improved measured performance under studied conditions</a:t>
            </a:r>
            <a:r>
              <a:rPr sz="1250">
                <a:solidFill>
                  <a:srgbClr val="46545F"/>
                </a:solidFill>
                <a:latin typeface="Calibri"/>
                <a:ea typeface="Calibri"/>
                <a:cs typeface="Calibri"/>
              </a:rPr>
              <a:t>. Progress stopped being a research gamble and became an investment roadmap.</a:t>
            </a:r>
            <a:endParaRPr sz="1250"/>
          </a:p>
        </p:txBody>
      </p:sp>
      <p:sp>
        <p:nvSpPr>
          <p:cNvPr id="93" name="FACILITATION_MODE_BAR">
            <a:extLst xmlns:a="http://schemas.openxmlformats.org/drawingml/2006/main">
              <a:ext uri="{FF2B5EF4-FFF2-40B4-BE49-F238E27FC236}">
                <a16:creationId xmlns:a16="http://schemas.microsoft.com/office/drawing/2014/main" id="{B09E3200-22A2-4D58-B1A5-EA571E6877C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94" name="FACILITATION_MODE_LABEL">
            <a:extLst xmlns:a="http://schemas.openxmlformats.org/drawingml/2006/main">
              <a:ext uri="{FF2B5EF4-FFF2-40B4-BE49-F238E27FC236}">
                <a16:creationId xmlns:a16="http://schemas.microsoft.com/office/drawing/2014/main" id="{9130C4B9-CCBF-4806-B3A9-49421DB6D98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95" name="page-number">
            <a:extLst xmlns:a="http://schemas.openxmlformats.org/drawingml/2006/main">
              <a:ext uri="{FF2B5EF4-FFF2-40B4-BE49-F238E27FC236}">
                <a16:creationId xmlns:a16="http://schemas.microsoft.com/office/drawing/2014/main" id="{67A3F13D-0E3B-438C-AAEA-1AD1FAE53B8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a:t>
            </a:r>
          </a:p>
        </p:txBody>
      </p:sp>
    </p:spTree>
    <p:extLst>
      <p:ext uri="{BB962C8B-B14F-4D97-AF65-F5344CB8AC3E}">
        <p14:creationId xmlns:p14="http://schemas.microsoft.com/office/powerpoint/2010/main" val="13354847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11F86D50-C30E-4D9C-9895-1592DA92603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558C0AA-5D79-49E4-B688-EA1FEF895DC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329DECF-6E9C-46A2-B756-66927118202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The hardware behind model development</a:t>
            </a:r>
          </a:p>
        </p:txBody>
      </p:sp>
      <p:sp>
        <p:nvSpPr>
          <p:cNvPr id="4" name="left-label">
            <a:extLst xmlns:a="http://schemas.openxmlformats.org/drawingml/2006/main">
              <a:ext uri="{FF2B5EF4-FFF2-40B4-BE49-F238E27FC236}">
                <a16:creationId xmlns:a16="http://schemas.microsoft.com/office/drawing/2014/main" id="{9DA1C148-1D80-450E-A314-A6019FBA1215}"/>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TRAINING</a:t>
            </a:r>
          </a:p>
        </p:txBody>
      </p:sp>
      <p:sp>
        <p:nvSpPr>
          <p:cNvPr id="5" name="right-label">
            <a:extLst xmlns:a="http://schemas.openxmlformats.org/drawingml/2006/main">
              <a:ext uri="{FF2B5EF4-FFF2-40B4-BE49-F238E27FC236}">
                <a16:creationId xmlns:a16="http://schemas.microsoft.com/office/drawing/2014/main" id="{6D765777-97EA-44BF-95A0-5B50B25AC2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SERVING</a:t>
            </a:r>
          </a:p>
        </p:txBody>
      </p:sp>
      <p:sp>
        <p:nvSpPr>
          <p:cNvPr id="6" name="left-body">
            <a:extLst xmlns:a="http://schemas.openxmlformats.org/drawingml/2006/main">
              <a:ext uri="{FF2B5EF4-FFF2-40B4-BE49-F238E27FC236}">
                <a16:creationId xmlns:a16="http://schemas.microsoft.com/office/drawing/2014/main" id="{F207CB76-D368-4319-BC5E-164B9F073ED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Large models learn from repeated computations over data. Parallel processors, memory, and data movement all affect what can be trained.</a:t>
            </a:r>
          </a:p>
        </p:txBody>
      </p:sp>
      <p:sp>
        <p:nvSpPr>
          <p:cNvPr id="7" name="right-body">
            <a:extLst xmlns:a="http://schemas.openxmlformats.org/drawingml/2006/main">
              <a:ext uri="{FF2B5EF4-FFF2-40B4-BE49-F238E27FC236}">
                <a16:creationId xmlns:a16="http://schemas.microsoft.com/office/drawing/2014/main" id="{DED97D71-8BCB-49C6-A6A9-BEB57896202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Each user request also requires computation. Model design, requested effort, and workload affect response time and operating cost.</a:t>
            </a:r>
          </a:p>
        </p:txBody>
      </p:sp>
      <p:sp>
        <p:nvSpPr>
          <p:cNvPr id="8" name="takeaway">
            <a:extLst xmlns:a="http://schemas.openxmlformats.org/drawingml/2006/main">
              <a:ext uri="{FF2B5EF4-FFF2-40B4-BE49-F238E27FC236}">
                <a16:creationId xmlns:a16="http://schemas.microsoft.com/office/drawing/2014/main" id="{C0493285-78C2-4A13-B219-A0C3C9E66D8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Separate measured results, estimates, and announced investments when comparing hardware claims.</a:t>
            </a:r>
          </a:p>
        </p:txBody>
      </p:sp>
      <p:sp>
        <p:nvSpPr>
          <p:cNvPr id="9" name="footer">
            <a:extLst xmlns:a="http://schemas.openxmlformats.org/drawingml/2006/main">
              <a:ext uri="{FF2B5EF4-FFF2-40B4-BE49-F238E27FC236}">
                <a16:creationId xmlns:a16="http://schemas.microsoft.com/office/drawing/2014/main" id="{8B2EB209-B69C-4C6E-B1CE-20826C7DEF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A5BE188-87CB-4D7B-B113-11BA40FABB2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a:t>
            </a:r>
          </a:p>
        </p:txBody>
      </p:sp>
    </p:spTree>
    <p:extLst>
      <p:ext uri="{BB962C8B-B14F-4D97-AF65-F5344CB8AC3E}">
        <p14:creationId xmlns:p14="http://schemas.microsoft.com/office/powerpoint/2010/main" val="14200442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72</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73</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74</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261DFFD1-D241-48CD-BAC3-47112DD0CCB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CD55A21-E2E6-4AAF-A24B-48D41DB5FC0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420E6D82-70FF-49E1-A6C0-04DE7A93EF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Instructions, sources, and model adaptation</a:t>
            </a:r>
          </a:p>
        </p:txBody>
      </p:sp>
      <p:sp>
        <p:nvSpPr>
          <p:cNvPr id="4" name="row-0-label">
            <a:extLst xmlns:a="http://schemas.openxmlformats.org/drawingml/2006/main">
              <a:ext uri="{FF2B5EF4-FFF2-40B4-BE49-F238E27FC236}">
                <a16:creationId xmlns:a16="http://schemas.microsoft.com/office/drawing/2014/main" id="{A44B39BB-81C0-40A3-9936-15334C2F79A4}"/>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Instructions</a:t>
            </a:r>
          </a:p>
        </p:txBody>
      </p:sp>
      <p:sp>
        <p:nvSpPr>
          <p:cNvPr id="5" name="row-0-body">
            <a:extLst xmlns:a="http://schemas.openxmlformats.org/drawingml/2006/main">
              <a:ext uri="{FF2B5EF4-FFF2-40B4-BE49-F238E27FC236}">
                <a16:creationId xmlns:a16="http://schemas.microsoft.com/office/drawing/2014/main" id="{2944D289-9E71-4ED2-9C68-8F47E3892972}"/>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required task, behavior, output, and acceptance criteria.</a:t>
            </a:r>
          </a:p>
        </p:txBody>
      </p:sp>
      <p:sp>
        <p:nvSpPr>
          <p:cNvPr id="6" name="row-1-label">
            <a:extLst xmlns:a="http://schemas.openxmlformats.org/drawingml/2006/main">
              <a:ext uri="{FF2B5EF4-FFF2-40B4-BE49-F238E27FC236}">
                <a16:creationId xmlns:a16="http://schemas.microsoft.com/office/drawing/2014/main" id="{37362CDF-57A7-48B9-B9DB-C42BF07049B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material</a:t>
            </a:r>
          </a:p>
        </p:txBody>
      </p:sp>
      <p:sp>
        <p:nvSpPr>
          <p:cNvPr id="7" name="row-1-body">
            <a:extLst xmlns:a="http://schemas.openxmlformats.org/drawingml/2006/main">
              <a:ext uri="{FF2B5EF4-FFF2-40B4-BE49-F238E27FC236}">
                <a16:creationId xmlns:a16="http://schemas.microsoft.com/office/drawing/2014/main" id="{2716FEA6-8F87-4804-997D-A7066E3B398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Supply or retrieve the documents needed to support the answer.</a:t>
            </a:r>
          </a:p>
        </p:txBody>
      </p:sp>
      <p:sp>
        <p:nvSpPr>
          <p:cNvPr id="8" name="row-2-label">
            <a:extLst xmlns:a="http://schemas.openxmlformats.org/drawingml/2006/main">
              <a:ext uri="{FF2B5EF4-FFF2-40B4-BE49-F238E27FC236}">
                <a16:creationId xmlns:a16="http://schemas.microsoft.com/office/drawing/2014/main" id="{435FF835-5E4A-40BA-BFA9-C42C7FAD5D21}"/>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Model adaptation</a:t>
            </a:r>
          </a:p>
        </p:txBody>
      </p:sp>
      <p:sp>
        <p:nvSpPr>
          <p:cNvPr id="9" name="row-2-body">
            <a:extLst xmlns:a="http://schemas.openxmlformats.org/drawingml/2006/main">
              <a:ext uri="{FF2B5EF4-FFF2-40B4-BE49-F238E27FC236}">
                <a16:creationId xmlns:a16="http://schemas.microsoft.com/office/drawing/2014/main" id="{E0A91807-C55C-460A-979B-508A6D3D8CC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training changes only when evaluation shows a recurring need that simpler changes do not address.</a:t>
            </a:r>
          </a:p>
        </p:txBody>
      </p:sp>
      <p:sp>
        <p:nvSpPr>
          <p:cNvPr id="10" name="takeaway">
            <a:extLst xmlns:a="http://schemas.openxmlformats.org/drawingml/2006/main">
              <a:ext uri="{FF2B5EF4-FFF2-40B4-BE49-F238E27FC236}">
                <a16:creationId xmlns:a16="http://schemas.microsoft.com/office/drawing/2014/main" id="{DC5108B1-A1C2-4508-98C1-F6B9867CC84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Diagnose the failure first. More documents or training do not automatically solve unclear requirements.</a:t>
            </a:r>
          </a:p>
        </p:txBody>
      </p:sp>
      <p:sp>
        <p:nvSpPr>
          <p:cNvPr id="11" name="footer">
            <a:extLst xmlns:a="http://schemas.openxmlformats.org/drawingml/2006/main">
              <a:ext uri="{FF2B5EF4-FFF2-40B4-BE49-F238E27FC236}">
                <a16:creationId xmlns:a16="http://schemas.microsoft.com/office/drawing/2014/main" id="{BB883EBC-D765-4615-A53A-9C8E19858C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4DB98128-CB89-48B2-9E96-20487E9C32E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Tree>
    <p:extLst>
      <p:ext uri="{BB962C8B-B14F-4D97-AF65-F5344CB8AC3E}">
        <p14:creationId xmlns:p14="http://schemas.microsoft.com/office/powerpoint/2010/main" val="3084855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Tree>
    <p:extLst>
      <p:ext uri="{BB962C8B-B14F-4D97-AF65-F5344CB8AC3E}">
        <p14:creationId xmlns:p14="http://schemas.microsoft.com/office/powerpoint/2010/main" val="18500015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spTree>
    <p:extLst>
      <p:ext uri="{BB962C8B-B14F-4D97-AF65-F5344CB8AC3E}">
        <p14:creationId xmlns:p14="http://schemas.microsoft.com/office/powerpoint/2010/main" val="17484562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B8DEEEDE-A989-4B96-8F96-D54DE47927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525EA3-2515-42EE-8867-AB0FC68178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088C3E64-A409-43F2-BC81-D222E4E2856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Verification belongs in the task</a:t>
            </a:r>
          </a:p>
        </p:txBody>
      </p:sp>
      <p:sp>
        <p:nvSpPr>
          <p:cNvPr id="4" name="left-label">
            <a:extLst xmlns:a="http://schemas.openxmlformats.org/drawingml/2006/main">
              <a:ext uri="{FF2B5EF4-FFF2-40B4-BE49-F238E27FC236}">
                <a16:creationId xmlns:a16="http://schemas.microsoft.com/office/drawing/2014/main" id="{933EA192-4230-412C-8D30-869BF879A32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AN UNSUPPORTED ANSWER</a:t>
            </a:r>
          </a:p>
        </p:txBody>
      </p:sp>
      <p:sp>
        <p:nvSpPr>
          <p:cNvPr id="5" name="right-label">
            <a:extLst xmlns:a="http://schemas.openxmlformats.org/drawingml/2006/main">
              <a:ext uri="{FF2B5EF4-FFF2-40B4-BE49-F238E27FC236}">
                <a16:creationId xmlns:a16="http://schemas.microsoft.com/office/drawing/2014/main" id="{2C04C9E0-F74A-48BE-A99B-077AE9C0546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CHECKABLE ANSWER</a:t>
            </a:r>
          </a:p>
        </p:txBody>
      </p:sp>
      <p:sp>
        <p:nvSpPr>
          <p:cNvPr id="6" name="left-body">
            <a:extLst xmlns:a="http://schemas.openxmlformats.org/drawingml/2006/main">
              <a:ext uri="{FF2B5EF4-FFF2-40B4-BE49-F238E27FC236}">
                <a16:creationId xmlns:a16="http://schemas.microsoft.com/office/drawing/2014/main" id="{CFC453EE-1CFC-4080-B3A4-84F88959B20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supplier approved the change.”</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What message supports that claim?</a:t>
            </a:r>
          </a:p>
        </p:txBody>
      </p:sp>
      <p:sp>
        <p:nvSpPr>
          <p:cNvPr id="7" name="right-body">
            <a:extLst xmlns:a="http://schemas.openxmlformats.org/drawingml/2006/main">
              <a:ext uri="{FF2B5EF4-FFF2-40B4-BE49-F238E27FC236}">
                <a16:creationId xmlns:a16="http://schemas.microsoft.com/office/drawing/2014/main" id="{A9B1B65E-6987-4C7F-8934-19AC8AB864F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“Approval is conditional on the cost cap.”</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Show the message and preserve the condition.</a:t>
            </a:r>
          </a:p>
        </p:txBody>
      </p:sp>
      <p:sp>
        <p:nvSpPr>
          <p:cNvPr id="8" name="takeaway">
            <a:extLst xmlns:a="http://schemas.openxmlformats.org/drawingml/2006/main">
              <a:ext uri="{FF2B5EF4-FFF2-40B4-BE49-F238E27FC236}">
                <a16:creationId xmlns:a16="http://schemas.microsoft.com/office/drawing/2014/main" id="{3CC83CDD-A405-48D9-9E4D-D582255E890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numbers, recompute. For claims, inspect the source. For actions, inspect the result.</a:t>
            </a:r>
          </a:p>
        </p:txBody>
      </p:sp>
      <p:sp>
        <p:nvSpPr>
          <p:cNvPr id="9" name="footer">
            <a:extLst xmlns:a="http://schemas.openxmlformats.org/drawingml/2006/main">
              <a:ext uri="{FF2B5EF4-FFF2-40B4-BE49-F238E27FC236}">
                <a16:creationId xmlns:a16="http://schemas.microsoft.com/office/drawing/2014/main" id="{52A4BBCD-328E-41EB-9F98-109E17F042A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ACB0CE47-40B2-4AB4-8A9C-358A73E125C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14</a:t>
            </a:r>
          </a:p>
        </p:txBody>
      </p:sp>
    </p:spTree>
    <p:extLst>
      <p:ext uri="{BB962C8B-B14F-4D97-AF65-F5344CB8AC3E}">
        <p14:creationId xmlns:p14="http://schemas.microsoft.com/office/powerpoint/2010/main" val="16351551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15</a:t>
            </a:r>
          </a:p>
        </p:txBody>
      </p:sp>
    </p:spTree>
    <p:extLst>
      <p:ext uri="{BB962C8B-B14F-4D97-AF65-F5344CB8AC3E}">
        <p14:creationId xmlns:p14="http://schemas.microsoft.com/office/powerpoint/2010/main" val="475868969"/>
      </p:ext>
    </p:extLst>
  </p:cSld>
</p:sld>
</file>

<file path=ppt/slides/slide16.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F645F60F-93BF-4A7C-BC8B-890A1BA01A0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D31EFF-2AB5-4B8D-8F9C-743CC96C4C9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114D9ED5-E71D-4BD5-92D2-331B6B7F900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task-based way to compare assistants</a:t>
            </a:r>
          </a:p>
        </p:txBody>
      </p:sp>
      <p:sp>
        <p:nvSpPr>
          <p:cNvPr id="4" name="row-0-label">
            <a:extLst xmlns:a="http://schemas.openxmlformats.org/drawingml/2006/main">
              <a:ext uri="{FF2B5EF4-FFF2-40B4-BE49-F238E27FC236}">
                <a16:creationId xmlns:a16="http://schemas.microsoft.com/office/drawing/2014/main" id="{C838F2BB-2F4D-4692-BBCD-AAE9C15D1BB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Required output</a:t>
            </a:r>
          </a:p>
        </p:txBody>
      </p:sp>
      <p:sp>
        <p:nvSpPr>
          <p:cNvPr id="5" name="row-0-body">
            <a:extLst xmlns:a="http://schemas.openxmlformats.org/drawingml/2006/main">
              <a:ext uri="{FF2B5EF4-FFF2-40B4-BE49-F238E27FC236}">
                <a16:creationId xmlns:a16="http://schemas.microsoft.com/office/drawing/2014/main" id="{DB9EDE25-B579-4C00-9C88-E6D99D2D7EA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this account produce the text, calculation, file, or action you need?</a:t>
            </a:r>
          </a:p>
        </p:txBody>
      </p:sp>
      <p:sp>
        <p:nvSpPr>
          <p:cNvPr id="6" name="row-1-label">
            <a:extLst xmlns:a="http://schemas.openxmlformats.org/drawingml/2006/main">
              <a:ext uri="{FF2B5EF4-FFF2-40B4-BE49-F238E27FC236}">
                <a16:creationId xmlns:a16="http://schemas.microsoft.com/office/drawing/2014/main" id="{E9C370AC-A8CD-47FA-8748-62DE163BD875}"/>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access</a:t>
            </a:r>
          </a:p>
        </p:txBody>
      </p:sp>
      <p:sp>
        <p:nvSpPr>
          <p:cNvPr id="7" name="row-1-body">
            <a:extLst xmlns:a="http://schemas.openxmlformats.org/drawingml/2006/main">
              <a:ext uri="{FF2B5EF4-FFF2-40B4-BE49-F238E27FC236}">
                <a16:creationId xmlns:a16="http://schemas.microsoft.com/office/drawing/2014/main" id="{568FCF08-4F66-428A-B2F4-A863FACA95C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it use the right documents and show supporting evidence?</a:t>
            </a:r>
          </a:p>
        </p:txBody>
      </p:sp>
      <p:sp>
        <p:nvSpPr>
          <p:cNvPr id="8" name="row-2-label">
            <a:extLst xmlns:a="http://schemas.openxmlformats.org/drawingml/2006/main">
              <a:ext uri="{FF2B5EF4-FFF2-40B4-BE49-F238E27FC236}">
                <a16:creationId xmlns:a16="http://schemas.microsoft.com/office/drawing/2014/main" id="{4386F819-D162-4B21-AE18-E868E8169020}"/>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 environment</a:t>
            </a:r>
          </a:p>
        </p:txBody>
      </p:sp>
      <p:sp>
        <p:nvSpPr>
          <p:cNvPr id="9" name="row-2-body">
            <a:extLst xmlns:a="http://schemas.openxmlformats.org/drawingml/2006/main">
              <a:ext uri="{FF2B5EF4-FFF2-40B4-BE49-F238E27FC236}">
                <a16:creationId xmlns:a16="http://schemas.microsoft.com/office/drawing/2014/main" id="{9569F177-D2D5-49FE-AF3C-103CC8131B7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fit the approved workspace and collaboration process?</a:t>
            </a:r>
          </a:p>
        </p:txBody>
      </p:sp>
      <p:sp>
        <p:nvSpPr>
          <p:cNvPr id="10" name="row-3-label">
            <a:extLst xmlns:a="http://schemas.openxmlformats.org/drawingml/2006/main">
              <a:ext uri="{FF2B5EF4-FFF2-40B4-BE49-F238E27FC236}">
                <a16:creationId xmlns:a16="http://schemas.microsoft.com/office/drawing/2014/main" id="{C71392E6-B5EF-4F5E-9B1B-0754C0C6B2B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02D8AFA3-C9BC-4A70-8BAD-C4B8968E6704}"/>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Run the same representative task and compare correctness, effort, and cost.</a:t>
            </a:r>
          </a:p>
        </p:txBody>
      </p:sp>
      <p:sp>
        <p:nvSpPr>
          <p:cNvPr id="12" name="takeaway">
            <a:extLst xmlns:a="http://schemas.openxmlformats.org/drawingml/2006/main">
              <a:ext uri="{FF2B5EF4-FFF2-40B4-BE49-F238E27FC236}">
                <a16:creationId xmlns:a16="http://schemas.microsoft.com/office/drawing/2014/main" id="{C95B7288-1099-4099-982A-9C2D2F98524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Examples in the source course include ChatGPT, Claude, Copilot, Gemini, Perplexity, and Grok. Verify current offerings.</a:t>
            </a:r>
          </a:p>
        </p:txBody>
      </p:sp>
      <p:sp>
        <p:nvSpPr>
          <p:cNvPr id="13" name="footer">
            <a:extLst xmlns:a="http://schemas.openxmlformats.org/drawingml/2006/main">
              <a:ext uri="{FF2B5EF4-FFF2-40B4-BE49-F238E27FC236}">
                <a16:creationId xmlns:a16="http://schemas.microsoft.com/office/drawing/2014/main" id="{A8DB6601-BC00-4BBE-A527-CAEE3674D15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3C22283F-C79D-4D5A-B2D4-CE1BE3C9925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17</a:t>
            </a:r>
          </a:p>
        </p:txBody>
      </p:sp>
    </p:spTree>
    <p:extLst>
      <p:ext uri="{BB962C8B-B14F-4D97-AF65-F5344CB8AC3E}">
        <p14:creationId xmlns:p14="http://schemas.microsoft.com/office/powerpoint/2010/main" val="1635609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Mixture of Experts like a colleague: a specialist hospital where only the relevant departments wake up per question — and why that made AI dramatically cheaper in 2025. Under 120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MoE cheat-note lands in your course log.</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18</a:t>
            </a:r>
          </a:p>
        </p:txBody>
      </p:sp>
    </p:spTree>
    <p:extLst>
      <p:ext uri="{BB962C8B-B14F-4D97-AF65-F5344CB8AC3E}">
        <p14:creationId xmlns:p14="http://schemas.microsoft.com/office/powerpoint/2010/main" val="14008003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19</a:t>
            </a:r>
          </a:p>
        </p:txBody>
      </p:sp>
    </p:spTree>
    <p:extLst>
      <p:ext uri="{BB962C8B-B14F-4D97-AF65-F5344CB8AC3E}">
        <p14:creationId xmlns:p14="http://schemas.microsoft.com/office/powerpoint/2010/main" val="1317624103"/>
      </p:ext>
    </p:extLst>
  </p:cSld>
</p:sld>
</file>

<file path=ppt/slides/slide2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20</a:t>
            </a:r>
          </a:p>
        </p:txBody>
      </p:sp>
    </p:spTree>
    <p:extLst>
      <p:ext uri="{BB962C8B-B14F-4D97-AF65-F5344CB8AC3E}">
        <p14:creationId xmlns:p14="http://schemas.microsoft.com/office/powerpoint/2010/main" val="14688472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21</a:t>
            </a:r>
          </a:p>
        </p:txBody>
      </p:sp>
    </p:spTree>
    <p:extLst>
      <p:ext uri="{BB962C8B-B14F-4D97-AF65-F5344CB8AC3E}">
        <p14:creationId xmlns:p14="http://schemas.microsoft.com/office/powerpoint/2010/main" val="16920522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90</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22</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Tree>
    <p:extLst>
      <p:ext uri="{BB962C8B-B14F-4D97-AF65-F5344CB8AC3E}">
        <p14:creationId xmlns:p14="http://schemas.microsoft.com/office/powerpoint/2010/main" val="1816882031"/>
      </p:ext>
    </p:extLst>
  </p:cSld>
</p:sld>
</file>

<file path=ppt/slides/slide2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75</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76</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Tree>
    <p:extLst>
      <p:ext uri="{BB962C8B-B14F-4D97-AF65-F5344CB8AC3E}">
        <p14:creationId xmlns:p14="http://schemas.microsoft.com/office/powerpoint/2010/main" val="12173285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Tree>
    <p:extLst>
      <p:ext uri="{BB962C8B-B14F-4D97-AF65-F5344CB8AC3E}">
        <p14:creationId xmlns:p14="http://schemas.microsoft.com/office/powerpoint/2010/main" val="7354172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Tree>
    <p:extLst>
      <p:ext uri="{BB962C8B-B14F-4D97-AF65-F5344CB8AC3E}">
        <p14:creationId xmlns:p14="http://schemas.microsoft.com/office/powerpoint/2010/main" val="891697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91–96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Tree>
    <p:extLst>
      <p:ext uri="{BB962C8B-B14F-4D97-AF65-F5344CB8AC3E}">
        <p14:creationId xmlns:p14="http://schemas.microsoft.com/office/powerpoint/2010/main" val="1475719825"/>
      </p:ext>
    </p:extLst>
  </p:cSld>
</p:sld>
</file>

<file path=ppt/slides/slide2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Tree>
    <p:extLst>
      <p:ext uri="{BB962C8B-B14F-4D97-AF65-F5344CB8AC3E}">
        <p14:creationId xmlns:p14="http://schemas.microsoft.com/office/powerpoint/2010/main" val="20002150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11166553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Tree>
    <p:extLst>
      <p:ext uri="{BB962C8B-B14F-4D97-AF65-F5344CB8AC3E}">
        <p14:creationId xmlns:p14="http://schemas.microsoft.com/office/powerpoint/2010/main" val="5324068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Tree>
    <p:extLst>
      <p:ext uri="{BB962C8B-B14F-4D97-AF65-F5344CB8AC3E}">
        <p14:creationId xmlns:p14="http://schemas.microsoft.com/office/powerpoint/2010/main" val="128242613"/>
      </p:ext>
    </p:extLst>
  </p:cSld>
</p:sld>
</file>

<file path=ppt/slides/slide33.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33</a:t>
            </a:r>
          </a:p>
        </p:txBody>
      </p:sp>
    </p:spTree>
    <p:extLst>
      <p:ext uri="{BB962C8B-B14F-4D97-AF65-F5344CB8AC3E}">
        <p14:creationId xmlns:p14="http://schemas.microsoft.com/office/powerpoint/2010/main" val="1528682446"/>
      </p:ext>
    </p:extLst>
  </p:cSld>
</p:sld>
</file>

<file path=ppt/slides/slide3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5" name="pilot-p2-panel"/>
          <p:cNvSpPr/>
          <p:nvPr/>
        </p:nvSpPr>
        <p:spPr>
          <a:xfrm>
            <a:off x="609904" y="4306823"/>
            <a:ext cx="10972800" cy="11430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pilot-p1-panel"/>
          <p:cNvSpPr/>
          <p:nvPr/>
        </p:nvSpPr>
        <p:spPr>
          <a:xfrm>
            <a:off x="609904" y="3072384"/>
            <a:ext cx="10972800" cy="11430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crop-panel"/>
          <p:cNvSpPr/>
          <p:nvPr/>
        </p:nvSpPr>
        <p:spPr>
          <a:xfrm>
            <a:off x="5321808" y="1847088"/>
            <a:ext cx="6263640" cy="113385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34</a:t>
            </a:r>
          </a:p>
        </p:txBody>
      </p:sp>
      <p:sp xmlns:a="http://schemas.openxmlformats.org/drawingml/2006/main">
        <p:nvSpPr>
          <p:cNvPr id="9" name="pilot-file-line"/>
          <p:cNvSpPr/>
          <p:nvPr/>
        </p:nvSpPr>
        <p:spPr>
          <a:xfrm>
            <a:off x="609904" y="1883664"/>
            <a:ext cx="4663440" cy="10607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pic xmlns:a="http://schemas.openxmlformats.org/drawingml/2006/main" xmlns:r="http://schemas.openxmlformats.org/officeDocument/2006/relationships">
        <p:nvPicPr>
          <p:cNvPr id="11" name="Picture 10" descr="s34b_workbook_crop.png"/>
          <p:cNvPicPr>
            <a:picLocks noChangeAspect="1"/>
          </p:cNvPicPr>
          <p:nvPr/>
        </p:nvPicPr>
        <p:blipFill>
          <a:blip r:embed="rId3"/>
          <a:stretch>
            <a:fillRect/>
          </a:stretch>
        </p:blipFill>
        <p:spPr>
          <a:xfrm>
            <a:off x="5828664" y="1901952"/>
            <a:ext cx="5249927" cy="841247"/>
          </a:xfrm>
          <a:prstGeom prst="rect">
            <a:avLst/>
          </a:prstGeom>
        </p:spPr>
      </p:pic>
      <p:sp xmlns:a="http://schemas.openxmlformats.org/drawingml/2006/main">
        <p:nvSpPr>
          <p:cNvPr id="12" name="pilot-crop-caption"/>
          <p:cNvSpPr/>
          <p:nvPr/>
        </p:nvSpPr>
        <p:spPr>
          <a:xfrm>
            <a:off x="5431536" y="2724911"/>
            <a:ext cx="6044183"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ctr"/>
            <a:r>
              <a:rPr sz="1050" b="0">
                <a:solidFill>
                  <a:srgbClr val="657278"/>
                </a:solidFill>
                <a:latin typeface="Calibri"/>
              </a:rPr>
              <a:t>Supplier_Data_Exercise.xlsx</a:t>
            </a:r>
          </a:p>
        </p:txBody>
      </p:sp>
      <p:sp xmlns:a="http://schemas.openxmlformats.org/drawingml/2006/main">
        <p:nvSpPr>
          <p:cNvPr id="14" name="pilot-p1"/>
          <p:cNvSpPr/>
          <p:nvPr/>
        </p:nvSpPr>
        <p:spPr>
          <a:xfrm>
            <a:off x="685800" y="3099815"/>
            <a:ext cx="10826496"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tIns="18288">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6" name="pilot-p2"/>
          <p:cNvSpPr/>
          <p:nvPr/>
        </p:nvSpPr>
        <p:spPr>
          <a:xfrm>
            <a:off x="685800" y="4334255"/>
            <a:ext cx="10826496"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tIns="18288">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4" name="main-prompt">
            <a:extLst xmlns:a="http://schemas.openxmlformats.org/drawingml/2006/main">
              <a:ext uri="{FF2B5EF4-FFF2-40B4-BE49-F238E27FC236}">
                <a16:creationId xmlns:a16="http://schemas.microsoft.com/office/drawing/2014/main" id="{B4503409-FA1F-486D-9A5E-264748FFD6B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Same chat, same data — one more prompt:</a:t>
            </a:r>
          </a:p>
          <a:p xmlns:a="http://schemas.openxmlformats.org/drawingml/2006/main">
            <a:r>
              <a:rPr sz="1800" b="0" i="0"/>
              <a:t>“Using the same data, compare return rate by month and site. Identify the clearest increase, decrease, or unusual pattern. Show the values behind it. Do not claim a cause. List the additional data needed to investigate why it happened.”</a:t>
            </a:r>
          </a:p>
          <a:p xmlns:a="http://schemas.openxmlformats.org/drawingml/2006/main">
            <a:r>
              <a:rPr sz="1700" b="0" i="1"/>
              <a:t>A finding names a pattern and shows its values. A cause needs data this file does not contain — the honest answer lists what to collect next.</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35</a:t>
            </a:r>
          </a:p>
        </p:txBody>
      </p:sp>
    </p:spTree>
    <p:extLst>
      <p:ext uri="{BB962C8B-B14F-4D97-AF65-F5344CB8AC3E}">
        <p14:creationId xmlns:p14="http://schemas.microsoft.com/office/powerpoint/2010/main" val="129586125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4" name="row-0-label">
            <a:extLst xmlns:a="http://schemas.openxmlformats.org/drawingml/2006/main">
              <a:ext uri="{FF2B5EF4-FFF2-40B4-BE49-F238E27FC236}">
                <a16:creationId xmlns:a16="http://schemas.microsoft.com/office/drawing/2014/main" id="{5D696E32-616F-4844-98DC-3AA4D087CA4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prompt</a:t>
            </a:r>
          </a:p>
        </p:txBody>
      </p:sp>
      <p:sp>
        <p:nvSpPr>
          <p:cNvPr id="5" name="row-0-body">
            <a:extLst xmlns:a="http://schemas.openxmlformats.org/drawingml/2006/main">
              <a:ext uri="{FF2B5EF4-FFF2-40B4-BE49-F238E27FC236}">
                <a16:creationId xmlns:a16="http://schemas.microsoft.com/office/drawing/2014/main" id="{0BEB3DDA-0513-488A-B905-87CE921F46C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Update the uploaded workbook and return an editable Excel file named Supplier_Data_Analyzed.xlsx — original data unchanged, analysis on a new Summary sheet.</a:t>
            </a:r>
          </a:p>
        </p:txBody>
      </p:sp>
      <p:sp>
        <p:nvSpPr>
          <p:cNvPr id="6" name="row-1-label">
            <a:extLst xmlns:a="http://schemas.openxmlformats.org/drawingml/2006/main">
              <a:ext uri="{FF2B5EF4-FFF2-40B4-BE49-F238E27FC236}">
                <a16:creationId xmlns:a16="http://schemas.microsoft.com/office/drawing/2014/main" id="{02E6CB45-2526-447E-9193-5FD679C4B321}"/>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Summary sheet</a:t>
            </a:r>
          </a:p>
        </p:txBody>
      </p:sp>
      <p:sp>
        <p:nvSpPr>
          <p:cNvPr id="7" name="row-1-body">
            <a:extLst xmlns:a="http://schemas.openxmlformats.org/drawingml/2006/main">
              <a:ext uri="{FF2B5EF4-FFF2-40B4-BE49-F238E27FC236}">
                <a16:creationId xmlns:a16="http://schemas.microsoft.com/office/drawing/2014/main" id="{669F5F8D-B56C-4458-A567-5AF6107A4CD3}"/>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8" name="row-2-label">
            <a:extLst xmlns:a="http://schemas.openxmlformats.org/drawingml/2006/main">
              <a:ext uri="{FF2B5EF4-FFF2-40B4-BE49-F238E27FC236}">
                <a16:creationId xmlns:a16="http://schemas.microsoft.com/office/drawing/2014/main" id="{43ED4E6E-F9BC-42D4-9126-E90374FEC596}"/>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rules</a:t>
            </a:r>
          </a:p>
        </p:txBody>
      </p:sp>
      <p:sp>
        <p:nvSpPr>
          <p:cNvPr id="9" name="row-2-body">
            <a:extLst xmlns:a="http://schemas.openxmlformats.org/drawingml/2006/main">
              <a:ext uri="{FF2B5EF4-FFF2-40B4-BE49-F238E27FC236}">
                <a16:creationId xmlns:a16="http://schemas.microsoft.com/office/drawing/2014/main" id="{D470CB55-D049-434D-8025-B03AD0D295F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Traceable Excel logic — formulas or PivotTables, never hard-coded chart values · missing values stay missing · totals reconcile to the source before the file returns.</a:t>
            </a:r>
          </a:p>
        </p:txBody>
      </p:sp>
      <p:sp>
        <p:nvSpPr>
          <p:cNvPr id="10" name="row-3-label">
            <a:extLst xmlns:a="http://schemas.openxmlformats.org/drawingml/2006/main">
              <a:ext uri="{FF2B5EF4-FFF2-40B4-BE49-F238E27FC236}">
                <a16:creationId xmlns:a16="http://schemas.microsoft.com/office/drawing/2014/main" id="{416FA6AB-9924-4CAF-BA16-D19FF9F8704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Prove it</a:t>
            </a:r>
          </a:p>
        </p:txBody>
      </p:sp>
      <p:sp>
        <p:nvSpPr>
          <p:cNvPr id="11" name="row-3-body">
            <a:extLst xmlns:a="http://schemas.openxmlformats.org/drawingml/2006/main">
              <a:ext uri="{FF2B5EF4-FFF2-40B4-BE49-F238E27FC236}">
                <a16:creationId xmlns:a16="http://schemas.microsoft.com/office/drawing/2014/main" id="{334BE129-66A3-451B-A89D-7607A1D07739}"/>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Open the returned workbook, inspect the Summary sheet, click one chart — its source range or PivotTable must be editable.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36</a:t>
            </a:r>
          </a:p>
        </p:txBody>
      </p:sp>
    </p:spTree>
    <p:extLst>
      <p:ext uri="{BB962C8B-B14F-4D97-AF65-F5344CB8AC3E}">
        <p14:creationId xmlns:p14="http://schemas.microsoft.com/office/powerpoint/2010/main" val="1469576047"/>
      </p:ext>
    </p:extLst>
  </p:cSld>
</p:sld>
</file>

<file path=ppt/slides/slide37.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8" name="pilot-wf-panel"/>
          <p:cNvSpPr/>
          <p:nvPr/>
        </p:nvSpPr>
        <p:spPr>
          <a:xfrm>
            <a:off x="7150608" y="2743200"/>
            <a:ext cx="4416552" cy="2706624"/>
          </a:xfrm>
          <a:prstGeom prst="rect">
            <a:avLst/>
          </a:prstGeom>
          <a:solidFill>
            <a:srgbClr val="FFFFFF"/>
          </a:solidFill>
          <a:ln w="15875">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4" name="row-0-label">
            <a:extLst xmlns:a="http://schemas.openxmlformats.org/drawingml/2006/main">
              <a:ext uri="{FF2B5EF4-FFF2-40B4-BE49-F238E27FC236}">
                <a16:creationId xmlns:a16="http://schemas.microsoft.com/office/drawing/2014/main" id="{50352599-684B-433E-A8D9-A92915A06A7C}"/>
              </a:ext>
            </a:extLst>
          </p:cNvPr>
          <p:cNvSpPr>
            <a:spLocks xmlns:a="http://schemas.openxmlformats.org/drawingml/2006/main" noGrp="1"/>
          </p:cNvSpPr>
          <p:nvPr/>
        </p:nvSpPr>
        <p:spPr>
          <a:xfrm xmlns:a="http://schemas.openxmlformats.org/drawingml/2006/main">
            <a:off x="609600" y="1600200"/>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prompt</a:t>
            </a:r>
          </a:p>
        </p:txBody>
      </p:sp>
      <p:sp>
        <p:nvSpPr>
          <p:cNvPr id="5" name="row-0-body">
            <a:extLst xmlns:a="http://schemas.openxmlformats.org/drawingml/2006/main">
              <a:ext uri="{FF2B5EF4-FFF2-40B4-BE49-F238E27FC236}">
                <a16:creationId xmlns:a16="http://schemas.microsoft.com/office/drawing/2014/main" id="{0F6C647E-CB34-412F-AE5F-B3AA8A38781B}"/>
              </a:ext>
            </a:extLst>
          </p:cNvPr>
          <p:cNvSpPr>
            <a:spLocks xmlns:a="http://schemas.openxmlformats.org/drawingml/2006/main" noGrp="1"/>
          </p:cNvSpPr>
          <p:nvPr/>
        </p:nvSpPr>
        <p:spPr>
          <a:xfrm xmlns:a="http://schemas.openxmlformats.org/drawingml/2006/main">
            <a:off x="3638550" y="1600200"/>
            <a:ext cx="7943850" cy="96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800" b="0">
                <a:solidFill>
                  <a:srgbClr val="232A31"/>
                </a:solidFill>
                <a:latin typeface="Calibri"/>
                <a:ea typeface="Calibri"/>
                <a:cs typeface="Calibri"/>
              </a:rPr>
              <a:t>“Using the returned Supplier_Data_Analyzed.xlsx workbook and its verified definitions, create one self-contained HTML dashboard that works offline.”</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 xmlns:a="http://schemas.openxmlformats.org/drawingml/2006/main">
        <p:nvSpPr>
          <p:cNvPr id="14" name="pilot-req-label"/>
          <p:cNvSpPr/>
          <p:nvPr/>
        </p:nvSpPr>
        <p:spPr>
          <a:xfrm>
            <a:off x="609904" y="2615184"/>
            <a:ext cx="29260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It must include</a:t>
            </a:r>
          </a:p>
        </p:txBody>
      </p:sp>
      <p:sp xmlns:a="http://schemas.openxmlformats.org/drawingml/2006/main">
        <p:nvSpPr>
          <p:cNvPr id="15" name="pilot-req-body"/>
          <p:cNvSpPr/>
          <p:nvPr/>
        </p:nvSpPr>
        <p:spPr>
          <a:xfrm>
            <a:off x="609904" y="2980944"/>
            <a:ext cx="6355080" cy="1691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0">
                <a:solidFill>
                  <a:srgbClr val="232A31"/>
                </a:solidFill>
                <a:latin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xmlns:a="http://schemas.openxmlformats.org/drawingml/2006/main">
        <p:nvSpPr>
          <p:cNvPr id="16" name="pilot-tl-label"/>
          <p:cNvSpPr/>
          <p:nvPr/>
        </p:nvSpPr>
        <p:spPr>
          <a:xfrm>
            <a:off x="609904" y="4773168"/>
            <a:ext cx="29260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The teaching line</a:t>
            </a:r>
          </a:p>
        </p:txBody>
      </p:sp>
      <p:sp xmlns:a="http://schemas.openxmlformats.org/drawingml/2006/main">
        <p:nvSpPr>
          <p:cNvPr id="17" name="pilot-tl-body"/>
          <p:cNvSpPr/>
          <p:nvPr/>
        </p:nvSpPr>
        <p:spPr>
          <a:xfrm>
            <a:off x="609904" y="5138928"/>
            <a:ext cx="635508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0">
                <a:solidFill>
                  <a:srgbClr val="232A31"/>
                </a:solidFill>
                <a:latin typeface="Calibri"/>
              </a:rPr>
              <a:t>You do not need to write the code. You need to describe the behavior.</a:t>
            </a:r>
          </a:p>
        </p:txBody>
      </p:sp>
      <p:sp xmlns:a="http://schemas.openxmlformats.org/drawingml/2006/main">
        <p:nvSpPr>
          <p:cNvPr id="19" name="pilot-wf-schematic"/>
          <p:cNvSpPr/>
          <p:nvPr/>
        </p:nvSpPr>
        <p:spPr>
          <a:xfrm>
            <a:off x="7205472" y="2752344"/>
            <a:ext cx="201168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a:solidFill>
                  <a:srgbClr val="5D6B70"/>
                </a:solidFill>
                <a:latin typeface="Calibri"/>
              </a:rPr>
              <a:t>Schematic</a:t>
            </a:r>
          </a:p>
        </p:txBody>
      </p:sp>
      <p:sp xmlns:a="http://schemas.openxmlformats.org/drawingml/2006/main">
        <p:nvSpPr>
          <p:cNvPr id="20" name="pilot-wf-date"/>
          <p:cNvSpPr/>
          <p:nvPr/>
        </p:nvSpPr>
        <p:spPr>
          <a:xfrm>
            <a:off x="7278624" y="3072384"/>
            <a:ext cx="1605686" cy="530352"/>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pilot-wf-date-t"/>
          <p:cNvSpPr/>
          <p:nvPr/>
        </p:nvSpPr>
        <p:spPr>
          <a:xfrm>
            <a:off x="7296912" y="3072384"/>
            <a:ext cx="156911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Date-range selector</a:t>
            </a:r>
          </a:p>
        </p:txBody>
      </p:sp>
      <p:sp xmlns:a="http://schemas.openxmlformats.org/drawingml/2006/main">
        <p:nvSpPr>
          <p:cNvPr id="22" name="pilot-wf-metric"/>
          <p:cNvSpPr/>
          <p:nvPr/>
        </p:nvSpPr>
        <p:spPr>
          <a:xfrm>
            <a:off x="8957462" y="3072384"/>
            <a:ext cx="1364833" cy="530352"/>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pilot-wf-metric-t"/>
          <p:cNvSpPr/>
          <p:nvPr/>
        </p:nvSpPr>
        <p:spPr>
          <a:xfrm>
            <a:off x="8975750" y="3072384"/>
            <a:ext cx="1328257"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metric selector</a:t>
            </a:r>
          </a:p>
        </p:txBody>
      </p:sp>
      <p:sp xmlns:a="http://schemas.openxmlformats.org/drawingml/2006/main">
        <p:nvSpPr>
          <p:cNvPr id="24" name="pilot-wf-reset"/>
          <p:cNvSpPr/>
          <p:nvPr/>
        </p:nvSpPr>
        <p:spPr>
          <a:xfrm>
            <a:off x="10395447" y="3072384"/>
            <a:ext cx="1043696" cy="530352"/>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pilot-wf-reset-t"/>
          <p:cNvSpPr/>
          <p:nvPr/>
        </p:nvSpPr>
        <p:spPr>
          <a:xfrm>
            <a:off x="10413735" y="3072384"/>
            <a:ext cx="100712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reset control</a:t>
            </a:r>
          </a:p>
        </p:txBody>
      </p:sp>
      <p:sp xmlns:a="http://schemas.openxmlformats.org/drawingml/2006/main">
        <p:nvSpPr>
          <p:cNvPr id="26" name="pilot-wf-reset-return"/>
          <p:cNvSpPr/>
          <p:nvPr/>
        </p:nvSpPr>
        <p:spPr>
          <a:xfrm>
            <a:off x="10807567" y="2788920"/>
            <a:ext cx="219456" cy="219456"/>
          </a:xfrm>
          <a:prstGeom prst="circularArrow">
            <a:avLst/>
          </a:prstGeom>
          <a:solidFill>
            <a:srgbClr val="8A9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pilot-wf-supplier"/>
          <p:cNvSpPr/>
          <p:nvPr/>
        </p:nvSpPr>
        <p:spPr>
          <a:xfrm>
            <a:off x="7278624" y="3694176"/>
            <a:ext cx="4160520" cy="365760"/>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pilot-wf-supplier-t"/>
          <p:cNvSpPr/>
          <p:nvPr/>
        </p:nvSpPr>
        <p:spPr>
          <a:xfrm>
            <a:off x="7333488" y="3694176"/>
            <a:ext cx="2916935"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r>
              <a:rPr sz="1700" b="0">
                <a:solidFill>
                  <a:srgbClr val="3D4B50"/>
                </a:solidFill>
                <a:latin typeface="Calibri"/>
              </a:rPr>
              <a:t>supplier and site filters</a:t>
            </a:r>
          </a:p>
        </p:txBody>
      </p:sp>
      <p:sp xmlns:a="http://schemas.openxmlformats.org/drawingml/2006/main">
        <p:nvSpPr>
          <p:cNvPr id="29" name="pilot-wf-selbox-0"/>
          <p:cNvSpPr/>
          <p:nvPr/>
        </p:nvSpPr>
        <p:spPr>
          <a:xfrm>
            <a:off x="10305288" y="3767328"/>
            <a:ext cx="512064" cy="219456"/>
          </a:xfrm>
          <a:prstGeom prst="rect">
            <a:avLst/>
          </a:prstGeom>
          <a:solidFill>
            <a:srgbClr val="FFFFFF"/>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pilot-wf-selbox-1"/>
          <p:cNvSpPr/>
          <p:nvPr/>
        </p:nvSpPr>
        <p:spPr>
          <a:xfrm>
            <a:off x="10890504" y="3767328"/>
            <a:ext cx="512064" cy="219456"/>
          </a:xfrm>
          <a:prstGeom prst="rect">
            <a:avLst/>
          </a:prstGeom>
          <a:solidFill>
            <a:srgbClr val="FFFFFF"/>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1" name="pilot-wf-drop-summary"/>
          <p:cNvCxnSpPr/>
          <p:nvPr/>
        </p:nvCxnSpPr>
        <p:spPr>
          <a:xfrm>
            <a:off x="9358884" y="4059936"/>
            <a:ext cx="0" cy="146304"/>
          </a:xfrm>
          <a:prstGeom prst="line">
            <a:avLst/>
          </a:prstGeom>
          <a:ln w="15875">
            <a:solidFill>
              <a:srgbClr val="8A9BA3"/>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pilot-wf-drop-chart"/>
          <p:cNvCxnSpPr/>
          <p:nvPr/>
        </p:nvCxnSpPr>
        <p:spPr>
          <a:xfrm>
            <a:off x="7388352" y="4059936"/>
            <a:ext cx="0" cy="530352"/>
          </a:xfrm>
          <a:prstGeom prst="line">
            <a:avLst/>
          </a:prstGeom>
          <a:ln w="15875">
            <a:solidFill>
              <a:srgbClr val="8A9BA3"/>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pilot-wf-drop-table"/>
          <p:cNvCxnSpPr/>
          <p:nvPr/>
        </p:nvCxnSpPr>
        <p:spPr>
          <a:xfrm>
            <a:off x="11329416" y="4059936"/>
            <a:ext cx="0" cy="530352"/>
          </a:xfrm>
          <a:prstGeom prst="line">
            <a:avLst/>
          </a:prstGeom>
          <a:ln w="15875">
            <a:solidFill>
              <a:srgbClr val="8A9BA3"/>
            </a:solidFill>
            <a:tailEnd type="triangle" w="med" len="med"/>
          </a:ln>
          <a:effectLst/>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4" name="pilot-wf-summary"/>
          <p:cNvSpPr/>
          <p:nvPr/>
        </p:nvSpPr>
        <p:spPr>
          <a:xfrm>
            <a:off x="7552944" y="4206240"/>
            <a:ext cx="3611879" cy="310896"/>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pilot-wf-summary-t"/>
          <p:cNvSpPr/>
          <p:nvPr/>
        </p:nvSpPr>
        <p:spPr>
          <a:xfrm>
            <a:off x="7571231" y="4206240"/>
            <a:ext cx="3575303"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summary values</a:t>
            </a:r>
          </a:p>
        </p:txBody>
      </p:sp>
      <p:sp xmlns:a="http://schemas.openxmlformats.org/drawingml/2006/main">
        <p:nvSpPr>
          <p:cNvPr id="36" name="pilot-wf-chart"/>
          <p:cNvSpPr/>
          <p:nvPr/>
        </p:nvSpPr>
        <p:spPr>
          <a:xfrm>
            <a:off x="7278624" y="4590288"/>
            <a:ext cx="1997049" cy="749807"/>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pilot-wf-chart-t"/>
          <p:cNvSpPr/>
          <p:nvPr/>
        </p:nvSpPr>
        <p:spPr>
          <a:xfrm>
            <a:off x="7296912" y="4590288"/>
            <a:ext cx="1960473" cy="74980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trend chart</a:t>
            </a:r>
          </a:p>
        </p:txBody>
      </p:sp>
      <p:sp xmlns:a="http://schemas.openxmlformats.org/drawingml/2006/main">
        <p:nvSpPr>
          <p:cNvPr id="38" name="pilot-wf-table"/>
          <p:cNvSpPr/>
          <p:nvPr/>
        </p:nvSpPr>
        <p:spPr>
          <a:xfrm>
            <a:off x="9348825" y="4590288"/>
            <a:ext cx="2090318" cy="749807"/>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pilot-wf-table-t"/>
          <p:cNvSpPr/>
          <p:nvPr/>
        </p:nvSpPr>
        <p:spPr>
          <a:xfrm>
            <a:off x="9367113" y="4590288"/>
            <a:ext cx="2053742" cy="74980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sortable detail table</a:t>
            </a:r>
          </a:p>
        </p:txBody>
      </p:sp>
    </p:spTree>
    <p:extLst>
      <p:ext uri="{BB962C8B-B14F-4D97-AF65-F5344CB8AC3E}">
        <p14:creationId xmlns:p14="http://schemas.microsoft.com/office/powerpoint/2010/main" val="187541384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4" name="main-prompt">
            <a:extLst xmlns:a="http://schemas.openxmlformats.org/drawingml/2006/main">
              <a:ext uri="{FF2B5EF4-FFF2-40B4-BE49-F238E27FC236}">
                <a16:creationId xmlns:a16="http://schemas.microsoft.com/office/drawing/2014/main" id="{75C0866B-DFA9-48DE-9E61-F680B4E717E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Input: Supplier_Data_Analyzed.xlsx — the returned workbook: same data, definitions, and period.</a:t>
            </a:r>
          </a:p>
          <a:p xmlns:a="http://schemas.openxmlformats.org/drawingml/2006/main">
            <a:r>
              <a:rPr sz="1800" b="0" i="0"/>
              <a:t>1  Open the generated HTML file.</a:t>
            </a:r>
          </a:p>
          <a:p xmlns:a="http://schemas.openxmlformats.org/drawingml/2006/main">
            <a:r>
              <a:rPr sz="1800" b="0" i="0"/>
              <a:t>2  Filter to Berlin, Bravo Plastics, March through August 2026.</a:t>
            </a:r>
          </a:p>
          <a:p xmlns:a="http://schemas.openxmlformats.org/drawingml/2006/main">
            <a:r>
              <a:rPr sz="1800" b="0" i="0"/>
              <a:t>3  Verify 8,575 units, 21 returns, and a 0.245 percent return rate against the source.</a:t>
            </a:r>
          </a:p>
          <a:p xmlns:a="http://schemas.openxmlformats.org/drawingml/2006/main">
            <a:r>
              <a:rPr sz="1700" b="0" i="1"/>
              <a:t>Then ask for ONE refinement using the vocabulary — a different date range, grouping, metric, drill-down, sort, or reset behavior.</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Tree>
    <p:extLst>
      <p:ext uri="{BB962C8B-B14F-4D97-AF65-F5344CB8AC3E}">
        <p14:creationId xmlns:p14="http://schemas.microsoft.com/office/powerpoint/2010/main" val="131037884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“Using only the verified findings from this exercise, create an editable five-slide PowerPoint mock-up for [audience] to support [decision].”</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five slides</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1 Question and scope · 2 Supplier comparison · 3 The most important trend · 4 Recommended follow-up · 5 Limitations and next steps.</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rules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main message per slide · readable charts, concise visible text, speaker notes · findings separated from recommendations · no invented causes or commitments.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Why it differs</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The dashboard supports exploration; the presentation supports a management decision — the final step of the connected data exercise.</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39</a:t>
            </a:r>
          </a:p>
        </p:txBody>
      </p:sp>
    </p:spTree>
    <p:extLst>
      <p:ext uri="{BB962C8B-B14F-4D97-AF65-F5344CB8AC3E}">
        <p14:creationId xmlns:p14="http://schemas.microsoft.com/office/powerpoint/2010/main" val="87674091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4" name="row-0-label">
            <a:extLst xmlns:a="http://schemas.openxmlformats.org/drawingml/2006/main">
              <a:ext uri="{FF2B5EF4-FFF2-40B4-BE49-F238E27FC236}">
                <a16:creationId xmlns:a16="http://schemas.microsoft.com/office/drawing/2014/main" id="{BCF9B55F-031B-4E4D-9AE3-486552DD532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Catch me up</a:t>
            </a:r>
          </a:p>
        </p:txBody>
      </p:sp>
      <p:sp>
        <p:nvSpPr>
          <p:cNvPr id="5" name="row-0-body">
            <a:extLst xmlns:a="http://schemas.openxmlformats.org/drawingml/2006/main">
              <a:ext uri="{FF2B5EF4-FFF2-40B4-BE49-F238E27FC236}">
                <a16:creationId xmlns:a16="http://schemas.microsoft.com/office/drawing/2014/main" id="{47A8CCC4-0AD7-406C-921B-E43E1219EDA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“Summarize the current situation in three sentences.”</a:t>
            </a:r>
          </a:p>
        </p:txBody>
      </p:sp>
      <p:sp>
        <p:nvSpPr>
          <p:cNvPr id="6" name="row-1-label">
            <a:extLst xmlns:a="http://schemas.openxmlformats.org/drawingml/2006/main">
              <a:ext uri="{FF2B5EF4-FFF2-40B4-BE49-F238E27FC236}">
                <a16:creationId xmlns:a16="http://schemas.microsoft.com/office/drawing/2014/main" id="{A026C0FA-2930-4D4C-8CF4-0A73B12AFD3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changed · Who owes what</a:t>
            </a:r>
          </a:p>
        </p:txBody>
      </p:sp>
      <p:sp>
        <p:nvSpPr>
          <p:cNvPr id="7" name="row-1-body">
            <a:extLst xmlns:a="http://schemas.openxmlformats.org/drawingml/2006/main">
              <a:ext uri="{FF2B5EF4-FFF2-40B4-BE49-F238E27FC236}">
                <a16:creationId xmlns:a16="http://schemas.microsoft.com/office/drawing/2014/main" id="{3FA6167B-BE2B-448F-A39E-E643C5DA355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changed dates or decisions and show the latest version.” · “Create a table with task, owner, due date, and dependency.”</a:t>
            </a:r>
          </a:p>
        </p:txBody>
      </p:sp>
      <p:sp>
        <p:nvSpPr>
          <p:cNvPr id="8" name="row-2-label">
            <a:extLst xmlns:a="http://schemas.openxmlformats.org/drawingml/2006/main">
              <a:ext uri="{FF2B5EF4-FFF2-40B4-BE49-F238E27FC236}">
                <a16:creationId xmlns:a16="http://schemas.microsoft.com/office/drawing/2014/main" id="{FA051395-D138-446C-98E9-17ACE5C734A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remains open</a:t>
            </a:r>
          </a:p>
        </p:txBody>
      </p:sp>
      <p:sp>
        <p:nvSpPr>
          <p:cNvPr id="9" name="row-2-body">
            <a:extLst xmlns:a="http://schemas.openxmlformats.org/drawingml/2006/main">
              <a:ext uri="{FF2B5EF4-FFF2-40B4-BE49-F238E27FC236}">
                <a16:creationId xmlns:a16="http://schemas.microsoft.com/office/drawing/2014/main" id="{7D096F2F-95E0-44B5-A0C2-4D93C94D6DD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unanswered questions, approval conditions, and missing attachments.”</a:t>
            </a:r>
          </a:p>
        </p:txBody>
      </p:sp>
      <p:sp>
        <p:nvSpPr>
          <p:cNvPr id="10" name="row-3-label">
            <a:extLst xmlns:a="http://schemas.openxmlformats.org/drawingml/2006/main">
              <a:ext uri="{FF2B5EF4-FFF2-40B4-BE49-F238E27FC236}">
                <a16:creationId xmlns:a16="http://schemas.microsoft.com/office/drawing/2014/main" id="{239F453C-C095-43ED-B6CE-6E746245520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Prepare my reply</a:t>
            </a:r>
          </a:p>
        </p:txBody>
      </p:sp>
      <p:sp>
        <p:nvSpPr>
          <p:cNvPr id="11" name="row-3-body">
            <a:extLst xmlns:a="http://schemas.openxmlformats.org/drawingml/2006/main">
              <a:ext uri="{FF2B5EF4-FFF2-40B4-BE49-F238E27FC236}">
                <a16:creationId xmlns:a16="http://schemas.microsoft.com/office/drawing/2014/main" id="{78CE5F93-A885-4907-93DA-2D3878623EA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“Draft a concise response. Use brackets where I still need to decide. Do not invent commitments.”</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Tree>
    <p:extLst>
      <p:ext uri="{BB962C8B-B14F-4D97-AF65-F5344CB8AC3E}">
        <p14:creationId xmlns:p14="http://schemas.microsoft.com/office/powerpoint/2010/main" val="182227215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4" name="main-prompt">
            <a:extLst xmlns:a="http://schemas.openxmlformats.org/drawingml/2006/main">
              <a:ext uri="{FF2B5EF4-FFF2-40B4-BE49-F238E27FC236}">
                <a16:creationId xmlns:a16="http://schemas.microsoft.com/office/drawing/2014/main" id="{049FF19E-D549-4EF2-BFBA-9C24236939F7}"/>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0" i="0"/>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a:p xmlns:a="http://schemas.openxmlformats.org/drawingml/2006/main">
            <a:r>
              <a:rPr sz="1700" b="0" i="1"/>
              <a:t>Run it after the built-in summary, in the Copilot chat pane on the same conversation — or paste Packaging_Change_Thread.txt into an approved assistant.</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88–89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Tree>
    <p:extLst>
      <p:ext uri="{BB962C8B-B14F-4D97-AF65-F5344CB8AC3E}">
        <p14:creationId xmlns:p14="http://schemas.microsoft.com/office/powerpoint/2010/main" val="165831923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xmlns:a="http://schemas.openxmlformats.org/drawingml/2006/main">
            <a:r>
              <a:rPr sz="1700" b="0" i="0"/>
              <a:t>“Copy values exactly as stated. Keep currencies, quantities, and units in their original form. Write ‘Not stated’ when a field is absent. Do not normalize, rank, or recommend yet. Cite the source file and page for every extracted commercial value.”</a:t>
            </a:r>
          </a:p>
          <a:p xmlns:a="http://schemas.openxmlformats.org/drawingml/2006/main">
            <a:r>
              <a:rPr sz="1700" b="0" i="1"/>
              <a:t>Step one is faithful extraction and traceability — judgment comes next.</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42</a:t>
            </a:r>
          </a:p>
        </p:txBody>
      </p:sp>
    </p:spTree>
    <p:extLst>
      <p:ext uri="{BB962C8B-B14F-4D97-AF65-F5344CB8AC3E}">
        <p14:creationId xmlns:p14="http://schemas.microsoft.com/office/powerpoint/2010/main" val="52634781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xmlns:a="http://schemas.openxmlformats.org/drawingml/2006/main">
            <a:r>
              <a:rPr sz="1700" b="0" i="0"/>
              <a:t>“Do not identify a best quote until the comparison basis is complete. List the missing information and unresolved questions that prevent a fair recommendation.”</a:t>
            </a:r>
          </a:p>
          <a:p xmlns:a="http://schemas.openxmlformats.org/drawingml/2006/main">
            <a:r>
              <a:rPr sz="1700" b="0" i="1"/>
              <a:t>The trap: the cheapest-looking quote stops looking cheapest once tooling, freight, currency, and scope are on the table.</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Tree>
    <p:extLst>
      <p:ext uri="{BB962C8B-B14F-4D97-AF65-F5344CB8AC3E}">
        <p14:creationId xmlns:p14="http://schemas.microsoft.com/office/powerpoint/2010/main" val="52634781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44</a:t>
            </a:r>
          </a:p>
        </p:txBody>
      </p:sp>
    </p:spTree>
    <p:extLst>
      <p:ext uri="{BB962C8B-B14F-4D97-AF65-F5344CB8AC3E}">
        <p14:creationId xmlns:p14="http://schemas.microsoft.com/office/powerpoint/2010/main" val="876740918"/>
      </p:ext>
    </p:extLst>
  </p:cSld>
</p:sld>
</file>

<file path=ppt/slides/slide45.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45</a:t>
            </a:r>
          </a:p>
        </p:txBody>
      </p:sp>
    </p:spTree>
    <p:extLst>
      <p:ext uri="{BB962C8B-B14F-4D97-AF65-F5344CB8AC3E}">
        <p14:creationId xmlns:p14="http://schemas.microsoft.com/office/powerpoint/2010/main" val="929021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Tree>
    <p:extLst>
      <p:ext uri="{BB962C8B-B14F-4D97-AF65-F5344CB8AC3E}">
        <p14:creationId xmlns:p14="http://schemas.microsoft.com/office/powerpoint/2010/main" val="159231894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Tree>
    <p:extLst>
      <p:ext uri="{BB962C8B-B14F-4D97-AF65-F5344CB8AC3E}">
        <p14:creationId xmlns:p14="http://schemas.microsoft.com/office/powerpoint/2010/main" val="90421270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183561370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49</a:t>
            </a:r>
          </a:p>
        </p:txBody>
      </p:sp>
    </p:spTree>
    <p:extLst>
      <p:ext uri="{BB962C8B-B14F-4D97-AF65-F5344CB8AC3E}">
        <p14:creationId xmlns:p14="http://schemas.microsoft.com/office/powerpoint/2010/main" val="6237867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84</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146953944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51</a:t>
            </a:r>
          </a:p>
        </p:txBody>
      </p:sp>
    </p:spTree>
    <p:extLst>
      <p:ext uri="{BB962C8B-B14F-4D97-AF65-F5344CB8AC3E}">
        <p14:creationId xmlns:p14="http://schemas.microsoft.com/office/powerpoint/2010/main" val="35039219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2011186280"/>
      </p:ext>
    </p:extLst>
  </p:cSld>
</p:sld>
</file>

<file path=ppt/slides/slide5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39268929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80784694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136429918"/>
      </p:ext>
    </p:extLst>
  </p:cSld>
</p:sld>
</file>

<file path=ppt/slides/slide5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57</a:t>
            </a:r>
          </a:p>
        </p:txBody>
      </p:sp>
    </p:spTree>
    <p:extLst>
      <p:ext uri="{BB962C8B-B14F-4D97-AF65-F5344CB8AC3E}">
        <p14:creationId xmlns:p14="http://schemas.microsoft.com/office/powerpoint/2010/main" val="155777812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Tree>
    <p:extLst>
      <p:ext uri="{BB962C8B-B14F-4D97-AF65-F5344CB8AC3E}">
        <p14:creationId xmlns:p14="http://schemas.microsoft.com/office/powerpoint/2010/main" val="93680147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Tree>
    <p:extLst>
      <p:ext uri="{BB962C8B-B14F-4D97-AF65-F5344CB8AC3E}">
        <p14:creationId xmlns:p14="http://schemas.microsoft.com/office/powerpoint/2010/main" val="10937314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60</a:t>
            </a:r>
          </a:p>
        </p:txBody>
      </p:sp>
    </p:spTree>
    <p:extLst>
      <p:ext uri="{BB962C8B-B14F-4D97-AF65-F5344CB8AC3E}">
        <p14:creationId xmlns:p14="http://schemas.microsoft.com/office/powerpoint/2010/main" val="2663305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44616249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160473760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173695199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54694072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65</a:t>
            </a:r>
          </a:p>
        </p:txBody>
      </p:sp>
    </p:spTree>
    <p:extLst>
      <p:ext uri="{BB962C8B-B14F-4D97-AF65-F5344CB8AC3E}">
        <p14:creationId xmlns:p14="http://schemas.microsoft.com/office/powerpoint/2010/main" val="195005424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66</a:t>
            </a:r>
          </a:p>
        </p:txBody>
      </p:sp>
    </p:spTree>
    <p:extLst>
      <p:ext uri="{BB962C8B-B14F-4D97-AF65-F5344CB8AC3E}">
        <p14:creationId xmlns:p14="http://schemas.microsoft.com/office/powerpoint/2010/main" val="3272459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67</a:t>
            </a:r>
          </a:p>
        </p:txBody>
      </p:sp>
    </p:spTree>
    <p:extLst>
      <p:ext uri="{BB962C8B-B14F-4D97-AF65-F5344CB8AC3E}">
        <p14:creationId xmlns:p14="http://schemas.microsoft.com/office/powerpoint/2010/main" val="90811741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468794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596619051"/>
      </p:ext>
    </p:extLst>
  </p:cSld>
</p:sld>
</file>

<file path=ppt/slides/slide70.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70</a:t>
            </a:r>
          </a:p>
        </p:txBody>
      </p:sp>
    </p:spTree>
    <p:extLst>
      <p:ext uri="{BB962C8B-B14F-4D97-AF65-F5344CB8AC3E}">
        <p14:creationId xmlns:p14="http://schemas.microsoft.com/office/powerpoint/2010/main" val="773604891"/>
      </p:ext>
    </p:extLst>
  </p:cSld>
</p:sld>
</file>

<file path=ppt/slides/slide7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“Finish this sentence 5 different ways: We should move the launch date because”</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no facts yet — watch it scatter across guesses.</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“Now 5 more ways, knowing: B2B software firm, competitor launches May 3, our beta ends April 20.”</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your facts didn’t make it smarter — they deleted wrong guesses.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32830804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your context window like I’m a 5th grader: the desk, what fits on it, and what happens when I close this chat. Under 100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AI describes its own working memory, plainly.</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(homework) “Summarize our chat so far in under 80 words, titled HANDOFF.”</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tonight, paste into a fresh chat, ask “where was I?” — it picks up your course.</a:t>
            </a:r>
            <a:endParaRPr sz="1000"/>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73</a:t>
            </a:r>
          </a:p>
        </p:txBody>
      </p:sp>
    </p:spTree>
    <p:extLst>
      <p:ext uri="{BB962C8B-B14F-4D97-AF65-F5344CB8AC3E}">
        <p14:creationId xmlns:p14="http://schemas.microsoft.com/office/powerpoint/2010/main" val="163487475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72316286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23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149011545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24</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121732852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73541720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89169783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146435441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200021502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33</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46957604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40</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182227215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47</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90421270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50</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46953944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51</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35039219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676467350"/>
      </p:ext>
    </p:extLst>
  </p:cSld>
</p:sld>
</file>

<file path=ppt/slides/slide87.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87</a:t>
            </a:r>
          </a:p>
        </p:txBody>
      </p:sp>
      <p:sp xmlns:a="http://schemas.openxmlformats.org/drawingml/2006/main">
        <p:nvSpPr>
          <p:cNvPr id="14" name="pilot-bar-Alpha"/>
          <p:cNvSpPr/>
          <p:nvPr/>
        </p:nvSpPr>
        <p:spPr>
          <a:xfrm>
            <a:off x="10168128" y="2836068"/>
            <a:ext cx="247908" cy="1828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bar-Bravo"/>
          <p:cNvSpPr/>
          <p:nvPr/>
        </p:nvSpPr>
        <p:spPr>
          <a:xfrm>
            <a:off x="10168128" y="3550443"/>
            <a:ext cx="876283" cy="1828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bar-Cardinal"/>
          <p:cNvSpPr/>
          <p:nvPr/>
        </p:nvSpPr>
        <p:spPr>
          <a:xfrm>
            <a:off x="10168128" y="4264818"/>
            <a:ext cx="323343" cy="1828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50748863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88</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89</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Tree>
    <p:extLst>
      <p:ext uri="{BB962C8B-B14F-4D97-AF65-F5344CB8AC3E}">
        <p14:creationId xmlns:p14="http://schemas.microsoft.com/office/powerpoint/2010/main" val="404875221"/>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97</a:t>
            </a:r>
          </a:p>
        </p:txBody>
      </p:sp>
    </p:spTree>
    <p:extLst>
      <p:ext uri="{BB962C8B-B14F-4D97-AF65-F5344CB8AC3E}">
        <p14:creationId xmlns:p14="http://schemas.microsoft.com/office/powerpoint/2010/main" val="1293824134"/>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98</a:t>
            </a:r>
          </a:p>
        </p:txBody>
      </p:sp>
    </p:spTree>
    <p:extLst>
      <p:ext uri="{BB962C8B-B14F-4D97-AF65-F5344CB8AC3E}">
        <p14:creationId xmlns:p14="http://schemas.microsoft.com/office/powerpoint/2010/main" val="40487522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39.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99</a:t>
            </a:r>
          </a:p>
        </p:txBody>
      </p:sp>
    </p:spTree>
    <p:extLst>
      <p:ext uri="{BB962C8B-B14F-4D97-AF65-F5344CB8AC3E}">
        <p14:creationId xmlns:p14="http://schemas.microsoft.com/office/powerpoint/2010/main" val="40487522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100</a:t>
            </a:r>
          </a:p>
        </p:txBody>
      </p:sp>
    </p:spTree>
    <p:extLst>
      <p:ext uri="{BB962C8B-B14F-4D97-AF65-F5344CB8AC3E}">
        <p14:creationId xmlns:p14="http://schemas.microsoft.com/office/powerpoint/2010/main" val="40487522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88–89.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101</a:t>
            </a:r>
          </a:p>
        </p:txBody>
      </p:sp>
    </p:spTree>
    <p:extLst>
      <p:ext uri="{BB962C8B-B14F-4D97-AF65-F5344CB8AC3E}">
        <p14:creationId xmlns:p14="http://schemas.microsoft.com/office/powerpoint/2010/main" val="40487522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102</a:t>
            </a:r>
          </a:p>
        </p:txBody>
      </p:sp>
    </p:spTree>
    <p:extLst>
      <p:ext uri="{BB962C8B-B14F-4D97-AF65-F5344CB8AC3E}">
        <p14:creationId xmlns:p14="http://schemas.microsoft.com/office/powerpoint/2010/main" val="996966470"/>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103</a:t>
            </a:r>
          </a:p>
        </p:txBody>
      </p:sp>
    </p:spTree>
    <p:extLst>
      <p:ext uri="{BB962C8B-B14F-4D97-AF65-F5344CB8AC3E}">
        <p14:creationId xmlns:p14="http://schemas.microsoft.com/office/powerpoint/2010/main" val="26124946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