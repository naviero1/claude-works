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r="http://schemas.openxmlformats.org/officeDocument/2006/relationships" id="259" r:id="R13501eca7a7549b6"/>
    <p:sldId xmlns:r="http://schemas.openxmlformats.org/officeDocument/2006/relationships" id="260" r:id="R2ea203b92871473d"/>
    <p:sldId xmlns:r="http://schemas.openxmlformats.org/officeDocument/2006/relationships" id="261" r:id="Rc75194e0feac4b09"/>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6" r:id="R0136d999b07d4f0f"/>
    <p:sldId xmlns:r="http://schemas.openxmlformats.org/officeDocument/2006/relationships" id="267" r:id="R8f44df3f995741be"/>
    <p:sldId xmlns:r="http://schemas.openxmlformats.org/officeDocument/2006/relationships" id="268" r:id="R497eec08e90f4972"/>
    <p:sldId xmlns:r="http://schemas.openxmlformats.org/officeDocument/2006/relationships" id="269" r:id="Rdbc23a86f4564870"/>
    <p:sldId xmlns:r="http://schemas.openxmlformats.org/officeDocument/2006/relationships" id="270" r:id="R2e829fbd5b88413d"/>
    <p:sldId xmlns:r="http://schemas.openxmlformats.org/officeDocument/2006/relationships" id="271" r:id="R87625dd8e0984c06"/>
    <p:sldId xmlns:r="http://schemas.openxmlformats.org/officeDocument/2006/relationships" id="272" r:id="Re7739ca524004a50"/>
    <p:sldId xmlns:r="http://schemas.openxmlformats.org/officeDocument/2006/relationships" id="273" r:id="R0c46244e8fb14028"/>
    <p:sldId xmlns:r="http://schemas.openxmlformats.org/officeDocument/2006/relationships" id="274" r:id="R8d8266f16f39499e"/>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r="http://schemas.openxmlformats.org/officeDocument/2006/relationships" id="282" r:id="Rf617b4374eff49ab"/>
    <p:sldId xmlns:r="http://schemas.openxmlformats.org/officeDocument/2006/relationships" id="283" r:id="Rc1ab04196d404aed"/>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r="http://schemas.openxmlformats.org/officeDocument/2006/relationships" id="289" r:id="Rc8d585cd4e5649e6"/>
    <p:sldId xmlns:r="http://schemas.openxmlformats.org/officeDocument/2006/relationships" id="291" r:id="R72360af60b1244c5"/>
    <p:sldId xmlns:r="http://schemas.openxmlformats.org/officeDocument/2006/relationships" id="292" r:id="Rdb3d43f0242a4fac"/>
    <p:sldId xmlns:r="http://schemas.openxmlformats.org/officeDocument/2006/relationships" id="290" r:id="R93d4d1d0de584694"/>
    <p:sldId xmlns:r="http://schemas.openxmlformats.org/officeDocument/2006/relationships" id="294" r:id="Rc4414996e3934b5d"/>
    <p:sldId xmlns:r="http://schemas.openxmlformats.org/officeDocument/2006/relationships" id="295" r:id="R19fb9c5b0ac74759"/>
    <p:sldId xmlns:r="http://schemas.openxmlformats.org/officeDocument/2006/relationships" id="298" r:id="R774ece67fad84555"/>
    <p:sldId xmlns:r="http://schemas.openxmlformats.org/officeDocument/2006/relationships" id="296" r:id="R807c75ee14994fe2"/>
    <p:sldId xmlns:r="http://schemas.openxmlformats.org/officeDocument/2006/relationships" id="297" r:id="R186fa38805ad4cc8"/>
    <p:sldId xmlns:r="http://schemas.openxmlformats.org/officeDocument/2006/relationships" id="357" r:id="RnewSlide102"/>
    <p:sldId xmlns:r="http://schemas.openxmlformats.org/officeDocument/2006/relationships" id="358" r:id="RnewSlide103"/>
    <p:sldId xmlns:r="http://schemas.openxmlformats.org/officeDocument/2006/relationships" id="299" r:id="Rf83dd77c14194f0b"/>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 xmlns:r="http://schemas.openxmlformats.org/officeDocument/2006/relationships" id="288" r:id="R1fbfbc89ece44e43"/>
    <p:sldId xmlns:r="http://schemas.openxmlformats.org/officeDocument/2006/relationships" id="293" r:id="Rc671bf21a3eb43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136d999b07d4f0f" Type="http://schemas.openxmlformats.org/officeDocument/2006/relationships/slide" Target="slides/slide11.xml"/><Relationship Id="R02afab2e450c4195" Type="http://schemas.openxmlformats.org/officeDocument/2006/relationships/slide" Target="slides/slide78.xml"/><Relationship Id="R05855d706bc045fe" Type="http://schemas.openxmlformats.org/officeDocument/2006/relationships/slide" Target="slides/slide82.xml"/><Relationship Id="R069238ad314e4c27" Type="http://schemas.openxmlformats.org/officeDocument/2006/relationships/slide" Target="slides/slide20.xml"/><Relationship Id="R0ac1719f35204866" Type="http://schemas.openxmlformats.org/officeDocument/2006/relationships/slide" Target="slides/slide51.xml"/><Relationship Id="R0b89ffdaa91d419b" Type="http://schemas.openxmlformats.org/officeDocument/2006/relationships/notesMaster" Target="notesMasters/notesMaster1.xml"/><Relationship Id="R0c46244e8fb14028" Type="http://schemas.openxmlformats.org/officeDocument/2006/relationships/slide" Target="slides/slide18.xml"/><Relationship Id="R0c612231d0d14151" Type="http://schemas.openxmlformats.org/officeDocument/2006/relationships/slide" Target="slides/slide9.xml"/><Relationship Id="R0c8f4d29f8a04f60" Type="http://schemas.openxmlformats.org/officeDocument/2006/relationships/slide" Target="slides/slide58.xml"/><Relationship Id="R13501eca7a7549b6" Type="http://schemas.openxmlformats.org/officeDocument/2006/relationships/slide" Target="slides/slide4.xml"/><Relationship Id="R15145c6c7e234ba1" Type="http://schemas.openxmlformats.org/officeDocument/2006/relationships/slide" Target="slides/slide87.xml"/><Relationship Id="R186fa38805ad4cc8" Type="http://schemas.openxmlformats.org/officeDocument/2006/relationships/slide" Target="slides/slide41.xml"/><Relationship Id="R19fb9c5b0ac74759" Type="http://schemas.openxmlformats.org/officeDocument/2006/relationships/slide" Target="slides/slide38.xml"/><Relationship Id="R1d77e68a871f4474" Type="http://schemas.openxmlformats.org/officeDocument/2006/relationships/slide" Target="slides/slide91.xml"/><Relationship Id="R1e1b2aa1bb794464" Type="http://schemas.openxmlformats.org/officeDocument/2006/relationships/slide" Target="slides/slide49.xml"/><Relationship Id="R1fbfbc89ece44e43" Type="http://schemas.openxmlformats.org/officeDocument/2006/relationships/slide" Target="slides/slide102.xml"/><Relationship Id="R22c468c81ffa482e" Type="http://schemas.openxmlformats.org/officeDocument/2006/relationships/slide" Target="slides/slide62.xml"/><Relationship Id="R2b2e423f66a449ed" Type="http://schemas.openxmlformats.org/officeDocument/2006/relationships/slide" Target="slides/slide90.xml"/><Relationship Id="R2bcb4d96ecf8422d" Type="http://schemas.openxmlformats.org/officeDocument/2006/relationships/slide" Target="slides/slide55.xml"/><Relationship Id="R2de53fc756054224" Type="http://schemas.openxmlformats.org/officeDocument/2006/relationships/slide" Target="slides/slide45.xml"/><Relationship Id="R2e829fbd5b88413d" Type="http://schemas.openxmlformats.org/officeDocument/2006/relationships/slide" Target="slides/slide15.xml"/><Relationship Id="R2ea203b92871473d" Type="http://schemas.openxmlformats.org/officeDocument/2006/relationships/slide" Target="slides/slide5.xml"/><Relationship Id="R2f94eac98ebf4dcf" Type="http://schemas.openxmlformats.org/officeDocument/2006/relationships/slide" Target="slides/slide60.xml"/><Relationship Id="R33a496a507fc4955" Type="http://schemas.openxmlformats.org/officeDocument/2006/relationships/slide" Target="slides/slide8.xml"/><Relationship Id="R3b56dbb5e0334107" Type="http://schemas.openxmlformats.org/officeDocument/2006/relationships/slide" Target="slides/slide56.xml"/><Relationship Id="R3f248e2bf34e4ee7" Type="http://schemas.openxmlformats.org/officeDocument/2006/relationships/slide" Target="slides/slide29.xml"/><Relationship Id="R3fa5858789f04404" Type="http://schemas.openxmlformats.org/officeDocument/2006/relationships/slide" Target="slides/slide66.xml"/><Relationship Id="R3fff51fc7d614878" Type="http://schemas.openxmlformats.org/officeDocument/2006/relationships/slide" Target="slides/slide30.xml"/><Relationship Id="R40e1c79f179f4e8f" Type="http://schemas.openxmlformats.org/officeDocument/2006/relationships/slide" Target="slides/slide46.xml"/><Relationship Id="R42701428448d4235" Type="http://schemas.openxmlformats.org/officeDocument/2006/relationships/slide" Target="slides/slide32.xml"/><Relationship Id="R44780e2ebdb6403f" Type="http://schemas.openxmlformats.org/officeDocument/2006/relationships/slide" Target="slides/slide68.xml"/><Relationship Id="R458c038f106f42b3" Type="http://schemas.openxmlformats.org/officeDocument/2006/relationships/slide" Target="slides/slide22.xml"/><Relationship Id="R49126e58d84e4d17" Type="http://schemas.openxmlformats.org/officeDocument/2006/relationships/slide" Target="slides/slide2.xml"/><Relationship Id="R497eec08e90f4972" Type="http://schemas.openxmlformats.org/officeDocument/2006/relationships/slide" Target="slides/slide13.xml"/><Relationship Id="R49b805558b704520" Type="http://schemas.openxmlformats.org/officeDocument/2006/relationships/slide" Target="slides/slide95.xml"/><Relationship Id="R49c9e195f24045a4" Type="http://schemas.openxmlformats.org/officeDocument/2006/relationships/slide" Target="slides/slide10.xml"/><Relationship Id="R4c65dd02438d42f5" Type="http://schemas.openxmlformats.org/officeDocument/2006/relationships/slide" Target="slides/slide61.xml"/><Relationship Id="R4e11cd081d8c42cc" Type="http://schemas.openxmlformats.org/officeDocument/2006/relationships/slide" Target="slides/slide48.xml"/><Relationship Id="R5aa8b9bfd01543b2" Type="http://schemas.openxmlformats.org/officeDocument/2006/relationships/slideMaster" Target="slideMasters/slideMaster1.xml"/><Relationship Id="R5d1c473c62ac4960" Type="http://schemas.openxmlformats.org/officeDocument/2006/relationships/slide" Target="slides/slide86.xml"/><Relationship Id="R620ac1dbc6f14e53" Type="http://schemas.openxmlformats.org/officeDocument/2006/relationships/slide" Target="slides/slide71.xml"/><Relationship Id="R64d1fcab01954a83" Type="http://schemas.openxmlformats.org/officeDocument/2006/relationships/slide" Target="slides/slide83.xml"/><Relationship Id="R6ae5b62127bb4a3e" Type="http://schemas.openxmlformats.org/officeDocument/2006/relationships/slide" Target="slides/slide25.xml"/><Relationship Id="R6c515ce50f4e4f7f" Type="http://schemas.openxmlformats.org/officeDocument/2006/relationships/tableStyles" Target="tableStyles.xml"/><Relationship Id="R6f9e6b8c5b6d4ef6" Type="http://schemas.openxmlformats.org/officeDocument/2006/relationships/slide" Target="slides/slide73.xml"/><Relationship Id="R72360af60b1244c5" Type="http://schemas.openxmlformats.org/officeDocument/2006/relationships/slide" Target="slides/slide34.xml"/><Relationship Id="R72f4e34109924bff" Type="http://schemas.openxmlformats.org/officeDocument/2006/relationships/slide" Target="slides/slide94.xml"/><Relationship Id="R74a68a196bca4aa9" Type="http://schemas.openxmlformats.org/officeDocument/2006/relationships/slide" Target="slides/slide7.xml"/><Relationship Id="R7538f1ee4e264b12" Type="http://schemas.openxmlformats.org/officeDocument/2006/relationships/slide" Target="slides/slide53.xml"/><Relationship Id="R774ece67fad84555" Type="http://schemas.openxmlformats.org/officeDocument/2006/relationships/slide" Target="slides/slide39.xml"/><Relationship Id="R7ff20651f7f24b61" Type="http://schemas.openxmlformats.org/officeDocument/2006/relationships/slide" Target="slides/slide52.xml"/><Relationship Id="R807c75ee14994fe2" Type="http://schemas.openxmlformats.org/officeDocument/2006/relationships/slide" Target="slides/slide40.xml"/><Relationship Id="R80f7ed3959794549" Type="http://schemas.openxmlformats.org/officeDocument/2006/relationships/slide" Target="slides/slide93.xml"/><Relationship Id="R823c328ecb794c2b" Type="http://schemas.openxmlformats.org/officeDocument/2006/relationships/slide" Target="slides/slide76.xml"/><Relationship Id="R830a4c4d00184e7b" Type="http://schemas.openxmlformats.org/officeDocument/2006/relationships/viewProps" Target="viewProps.xml"/><Relationship Id="R87625dd8e0984c06" Type="http://schemas.openxmlformats.org/officeDocument/2006/relationships/slide" Target="slides/slide16.xml"/><Relationship Id="R88a5cc6292ea42b7" Type="http://schemas.openxmlformats.org/officeDocument/2006/relationships/slide" Target="slides/slide77.xml"/><Relationship Id="R8d8266f16f39499e" Type="http://schemas.openxmlformats.org/officeDocument/2006/relationships/slide" Target="slides/slide19.xml"/><Relationship Id="R8f44df3f995741be" Type="http://schemas.openxmlformats.org/officeDocument/2006/relationships/slide" Target="slides/slide12.xml"/><Relationship Id="R8f9157d733974967" Type="http://schemas.openxmlformats.org/officeDocument/2006/relationships/slide" Target="slides/slide79.xml"/><Relationship Id="R927cd8835efb4ab0" Type="http://schemas.openxmlformats.org/officeDocument/2006/relationships/slide" Target="slides/slide26.xml"/><Relationship Id="R93d4d1d0de584694" Type="http://schemas.openxmlformats.org/officeDocument/2006/relationships/slide" Target="slides/slide36.xml"/><Relationship Id="R99253aca67014940" Type="http://schemas.openxmlformats.org/officeDocument/2006/relationships/slide" Target="slides/slide96.xml"/><Relationship Id="Ra06c56ae3a56481f" Type="http://schemas.openxmlformats.org/officeDocument/2006/relationships/slide" Target="slides/slide50.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5.xml"/><Relationship Id="Rae84fa895e7748ca" Type="http://schemas.openxmlformats.org/officeDocument/2006/relationships/slide" Target="slides/slide31.xml"/><Relationship Id="Rb17885eb73d14520" Type="http://schemas.openxmlformats.org/officeDocument/2006/relationships/slide" Target="slides/slide88.xml"/><Relationship Id="Rbaa478a0935549e2" Type="http://schemas.openxmlformats.org/officeDocument/2006/relationships/slide" Target="slides/slide70.xml"/><Relationship Id="Rbb8266a8051248ab" Type="http://schemas.openxmlformats.org/officeDocument/2006/relationships/slide" Target="slides/slide67.xml"/><Relationship Id="Rc19ca91603b2489c" Type="http://schemas.openxmlformats.org/officeDocument/2006/relationships/slide" Target="slides/slide72.xml"/><Relationship Id="Rc1ab04196d404aed" Type="http://schemas.openxmlformats.org/officeDocument/2006/relationships/slide" Target="slides/slide28.xml"/><Relationship Id="Rc347af9a1dea4fa3" Type="http://schemas.openxmlformats.org/officeDocument/2006/relationships/slide" Target="slides/slide92.xml"/><Relationship Id="Rc38ef0b539dc41dd" Type="http://schemas.openxmlformats.org/officeDocument/2006/relationships/slide" Target="slides/slide75.xml"/><Relationship Id="Rc4414996e3934b5d" Type="http://schemas.openxmlformats.org/officeDocument/2006/relationships/slide" Target="slides/slide37.xml"/><Relationship Id="Rc5e85b598ee44992" Type="http://schemas.openxmlformats.org/officeDocument/2006/relationships/slide" Target="slides/slide63.xml"/><Relationship Id="Rc671bf21a3eb43f1" Type="http://schemas.openxmlformats.org/officeDocument/2006/relationships/slide" Target="slides/slide103.xml"/><Relationship Id="Rc75194e0feac4b09" Type="http://schemas.openxmlformats.org/officeDocument/2006/relationships/slide" Target="slides/slide6.xml"/><Relationship Id="Rc8d585cd4e5649e6" Type="http://schemas.openxmlformats.org/officeDocument/2006/relationships/slide" Target="slides/slide33.xml"/><Relationship Id="Rca6780869fc647e3" Type="http://schemas.openxmlformats.org/officeDocument/2006/relationships/slide" Target="slides/slide69.xml"/><Relationship Id="Rd125716ce4294b9c" Type="http://schemas.openxmlformats.org/officeDocument/2006/relationships/slide" Target="slides/slide59.xml"/><Relationship Id="Rd36e565f71ed490d" Type="http://schemas.openxmlformats.org/officeDocument/2006/relationships/presProps" Target="presProps.xml"/><Relationship Id="Rd9664eb4c866478d" Type="http://schemas.openxmlformats.org/officeDocument/2006/relationships/slide" Target="slides/slide89.xml"/><Relationship Id="Rdb3d43f0242a4fac" Type="http://schemas.openxmlformats.org/officeDocument/2006/relationships/slide" Target="slides/slide35.xml"/><Relationship Id="Rdbc23a86f4564870" Type="http://schemas.openxmlformats.org/officeDocument/2006/relationships/slide" Target="slides/slide14.xml"/><Relationship Id="Re16d95a845d14216" Type="http://schemas.openxmlformats.org/officeDocument/2006/relationships/slide" Target="slides/slide24.xml"/><Relationship Id="Re228b723b77d4a79" Type="http://schemas.openxmlformats.org/officeDocument/2006/relationships/slide" Target="slides/slide84.xml"/><Relationship Id="Re2e4afc3a8524f5b" Type="http://schemas.openxmlformats.org/officeDocument/2006/relationships/slide" Target="slides/slide74.xml"/><Relationship Id="Re62d8fa47a29432d" Type="http://schemas.openxmlformats.org/officeDocument/2006/relationships/slide" Target="slides/slide57.xml"/><Relationship Id="Re7739ca524004a50" Type="http://schemas.openxmlformats.org/officeDocument/2006/relationships/slide" Target="slides/slide17.xml"/><Relationship Id="Reb419e1bc7894222" Type="http://schemas.openxmlformats.org/officeDocument/2006/relationships/slide" Target="slides/slide80.xml"/><Relationship Id="Rf04d4de72cd24ec1" Type="http://schemas.openxmlformats.org/officeDocument/2006/relationships/slide" Target="slides/slide54.xml"/><Relationship Id="Rf1f0b08a68ab460c" Type="http://schemas.openxmlformats.org/officeDocument/2006/relationships/slide" Target="slides/slide3.xml"/><Relationship Id="Rf3e1268529fb4912" Type="http://schemas.openxmlformats.org/officeDocument/2006/relationships/slide" Target="slides/slide65.xml"/><Relationship Id="Rf55a94a8bf554d05" Type="http://schemas.openxmlformats.org/officeDocument/2006/relationships/slide" Target="slides/slide21.xml"/><Relationship Id="Rf617b4374eff49ab" Type="http://schemas.openxmlformats.org/officeDocument/2006/relationships/slide" Target="slides/slide27.xml"/><Relationship Id="Rf624d4e59fd34102" Type="http://schemas.openxmlformats.org/officeDocument/2006/relationships/slide" Target="slides/slide64.xml"/><Relationship Id="Rf67660129de8488f" Type="http://schemas.openxmlformats.org/officeDocument/2006/relationships/slide" Target="slides/slide47.xml"/><Relationship Id="Rf83dd77c14194f0b" Type="http://schemas.openxmlformats.org/officeDocument/2006/relationships/slide" Target="slides/slide44.xml"/><Relationship Id="Rf8ebba3d3d364e8e" Type="http://schemas.openxmlformats.org/officeDocument/2006/relationships/slide" Target="slides/slide81.xml"/><Relationship Id="Rfa30b3a8386f4027" Type="http://schemas.openxmlformats.org/officeDocument/2006/relationships/slide" Target="slides/slide23.xml"/><Relationship Id="RnewSlide102" Type="http://schemas.openxmlformats.org/officeDocument/2006/relationships/slide" Target="slides/slide42.xml"/><Relationship Id="RnewSlide103" Type="http://schemas.openxmlformats.org/officeDocument/2006/relationships/slide" Target="slides/slide43.xml"/><Relationship Id="rId1" Type="http://schemas.openxmlformats.org/officeDocument/2006/relationships/slide" Target="slides/slide97.xml"/><Relationship Id="rId2" Type="http://schemas.openxmlformats.org/officeDocument/2006/relationships/slide" Target="slides/slide98.xml"/><Relationship Id="rId3" Type="http://schemas.openxmlformats.org/officeDocument/2006/relationships/slide" Target="slides/slide99.xml"/><Relationship Id="rId4" Type="http://schemas.openxmlformats.org/officeDocument/2006/relationships/slide" Target="slides/slide100.xml"/><Relationship Id="rId5"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a892dac0557475b" Type="http://schemas.openxmlformats.org/officeDocument/2006/relationships/slide" Target="../slides/slide4.xml"/><Relationship Id="Re99e6977265b477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2de729047bf4070" Type="http://schemas.openxmlformats.org/officeDocument/2006/relationships/slide" Target="../slides/slide6.xml"/><Relationship Id="Rc1ef21a86bbb42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c954a5ef9df447f" Type="http://schemas.openxmlformats.org/officeDocument/2006/relationships/slide" Target="../slides/slide11.xml"/><Relationship Id="R9dbb86cc415f478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2.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3.xml"/><Relationship Id="Rf967b19574264e6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faecdea6cac42ea" Type="http://schemas.openxmlformats.org/officeDocument/2006/relationships/notesMaster" Target="../notesMasters/notesMaster1.xml"/><Relationship Id="Rd2d67063ef6545e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5.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70b58f326a5946ab" Type="http://schemas.openxmlformats.org/officeDocument/2006/relationships/slide" Target="../slides/slide17.xml"/><Relationship Id="Re90050808e5f409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1.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3.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4.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6.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27.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30.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102.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3.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6.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103.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38.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1.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39.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44.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5.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6.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7.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48.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49.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0.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1.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2.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5.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6.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7.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1.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7.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69.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1.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3.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4.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6.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1.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2.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7.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88.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0.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1.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2.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3.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6.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2.xml"/></Relationships>
</file>

<file path=ppt/notesSlides/_rels/notesSlide103.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70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history explains today’s tools, but it is not required for today’s practice.</a:t>
            </a:r>
            <a:endParaRPr/>
          </a:p>
          <a:p xmlns:a="http://schemas.openxmlformats.org/drawingml/2006/main">
            <a:r>
              <a:t/>
            </a:r>
            <a:endParaRPr/>
          </a:p>
          <a:p xmlns:a="http://schemas.openxmlformats.org/drawingml/2006/main">
            <a:r>
              <a:t>SAY:</a:t>
            </a:r>
            <a:endParaRPr/>
          </a:p>
          <a:p xmlns:a="http://schemas.openxmlformats.org/drawingml/2006/main">
            <a:r>
              <a:t>- This timeline explains the transition from rules to learned models and tool-using systems.</a:t>
            </a:r>
            <a:endParaRPr/>
          </a:p>
          <a:p xmlns:a="http://schemas.openxmlformats.org/drawingml/2006/main">
            <a:r>
              <a:t>- Return to it after the course; the history is not a prerequisite for the exercise.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“Each leap has a name — 2017 → 2026”.</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4</a:t>
            </a:r>
            <a:endParaRPr/>
          </a:p>
          <a:p xmlns:a="http://schemas.openxmlformats.org/drawingml/2006/main">
            <a:r>
              <a:t>SEVENTY YEARS IN ONE SLIDE</a:t>
            </a:r>
            <a:endParaRPr/>
          </a:p>
          <a:p xmlns:a="http://schemas.openxmlformats.org/drawingml/2006/main">
            <a:r>
              <a:t>Four eras: rules → learning → generative → agentic</a:t>
            </a:r>
            <a:endParaRPr/>
          </a:p>
          <a:p xmlns:a="http://schemas.openxmlformats.org/drawingml/2006/main">
            <a:r>
              <a:t>Rules</a:t>
            </a:r>
            <a:endParaRPr/>
          </a:p>
          <a:p xmlns:a="http://schemas.openxmlformats.org/drawingml/2006/main">
            <a:r>
              <a:t>1950s–1990s · symbolic AI, expert systems</a:t>
            </a:r>
            <a:endParaRPr/>
          </a:p>
          <a:p xmlns:a="http://schemas.openxmlformats.org/drawingml/2006/main">
            <a:r>
              <a:t>if…?</a:t>
            </a:r>
            <a:endParaRPr/>
          </a:p>
          <a:p xmlns:a="http://schemas.openxmlformats.org/drawingml/2006/main">
            <a:r>
              <a:t>then A</a:t>
            </a:r>
            <a:endParaRPr/>
          </a:p>
          <a:p xmlns:a="http://schemas.openxmlformats.org/drawingml/2006/main">
            <a:r>
              <a:t>else B</a:t>
            </a:r>
            <a:endParaRPr/>
          </a:p>
          <a:p xmlns:a="http://schemas.openxmlformats.org/drawingml/2006/main">
            <a:r>
              <a:t>Humans hand-code the logic: “if X then Y.” Rules shine, then crack on messy reality. Hype outruns results twice: the “AI winters.”</a:t>
            </a:r>
            <a:endParaRPr/>
          </a:p>
          <a:p xmlns:a="http://schemas.openxmlformats.org/drawingml/2006/main">
            <a:r>
              <a:t>Gave us: expert systems doing real work — MYCIN diagnosing infections, XCON configuring computers.</a:t>
            </a:r>
            <a:endParaRPr/>
          </a:p>
          <a:p xmlns:a="http://schemas.openxmlformats.org/drawingml/2006/main">
            <a:r>
              <a:t>Learning</a:t>
            </a:r>
            <a:endParaRPr/>
          </a:p>
          <a:p xmlns:a="http://schemas.openxmlformats.org/drawingml/2006/main">
            <a:r>
              <a:t>1990s–2010s · machine learning, neural networks</a:t>
            </a:r>
            <a:endParaRPr/>
          </a:p>
          <a:p xmlns:a="http://schemas.openxmlformats.org/drawingml/2006/main">
            <a:r>
              <a:t>Stop writing rules — let the system find patterns in examples. 2012: deep nets + GPUs crush image recognition (AlexNet: 15.3% error vs 26.2%).</a:t>
            </a:r>
            <a:endParaRPr/>
          </a:p>
          <a:p xmlns:a="http://schemas.openxmlformats.org/drawingml/2006/main">
            <a:r>
              <a:t>Gave us: spam filters, search ranking, recommendations, image recognition.</a:t>
            </a:r>
            <a:endParaRPr/>
          </a:p>
          <a:p xmlns:a="http://schemas.openxmlformats.org/drawingml/2006/main">
            <a:r>
              <a:t>Generative</a:t>
            </a:r>
            <a:endParaRPr/>
          </a:p>
          <a:p xmlns:a="http://schemas.openxmlformats.org/drawingml/2006/main">
            <a:r>
              <a:t>2017– · transformers, LLMs</a:t>
            </a:r>
            <a:endParaRPr/>
          </a:p>
          <a:p xmlns:a="http://schemas.openxmlformats.org/drawingml/2006/main">
            <a:r>
              <a:t>The</a:t>
            </a:r>
            <a:endParaRPr/>
          </a:p>
          <a:p xmlns:a="http://schemas.openxmlformats.org/drawingml/2006/main">
            <a:r>
              <a:t>audit</a:t>
            </a:r>
            <a:endParaRPr/>
          </a:p>
          <a:p xmlns:a="http://schemas.openxmlformats.org/drawingml/2006/main">
            <a:r>
              <a:t>is</a:t>
            </a:r>
            <a:endParaRPr/>
          </a:p>
          <a:p xmlns:a="http://schemas.openxmlformats.org/drawingml/2006/main">
            <a:r>
              <a:t>…?</a:t>
            </a:r>
            <a:endParaRPr/>
          </a:p>
          <a:p xmlns:a="http://schemas.openxmlformats.org/drawingml/2006/main">
            <a:r>
              <a:t>The Transformer (2017) lets models train on the whole internet. Predict-the-next-word at that scale writes, summarizes, codes.</a:t>
            </a:r>
            <a:endParaRPr/>
          </a:p>
          <a:p xmlns:a="http://schemas.openxmlformats.org/drawingml/2006/main">
            <a:r>
              <a:t>Gave us: ChatGPT (2022), image generators — AI everyone can talk to.</a:t>
            </a:r>
            <a:endParaRPr/>
          </a:p>
          <a:p xmlns:a="http://schemas.openxmlformats.org/drawingml/2006/main">
            <a:r>
              <a:t>Agentic</a:t>
            </a:r>
            <a:endParaRPr/>
          </a:p>
          <a:p xmlns:a="http://schemas.openxmlformats.org/drawingml/2006/main">
            <a:r>
              <a:t>2024– · reasoning models, tool use</a:t>
            </a:r>
            <a:endParaRPr/>
          </a:p>
          <a:p xmlns:a="http://schemas.openxmlformats.org/drawingml/2006/main">
            <a:r>
              <a:t>PLAN</a:t>
            </a:r>
            <a:endParaRPr/>
          </a:p>
          <a:p xmlns:a="http://schemas.openxmlformats.org/drawingml/2006/main">
            <a:r>
              <a:t>ACT</a:t>
            </a:r>
            <a:endParaRPr/>
          </a:p>
          <a:p xmlns:a="http://schemas.openxmlformats.org/drawingml/2006/main">
            <a:r>
              <a:t>CHECK</a:t>
            </a:r>
            <a:endParaRPr/>
          </a:p>
          <a:p xmlns:a="http://schemas.openxmlformats.org/drawingml/2006/main">
            <a:r>
              <a:t>Models get “arms”: tools, browsers, files, code. Reasoning models plan multi-step work; agents execute with limited supervision.</a:t>
            </a:r>
            <a:endParaRPr/>
          </a:p>
          <a:p xmlns:a="http://schemas.openxmlformats.org/drawingml/2006/main">
            <a:r>
              <a:t>Giving us: coding agents, office agents, deep-research modes — AI you delegate to.</a:t>
            </a:r>
            <a:endParaRPr/>
          </a:p>
          <a:p xmlns:a="http://schemas.openxmlformats.org/drawingml/2006/main">
            <a:r>
              <a:t>Why the last decade exploded — scaling laws (2020): bigger model + more data + more compute = predictably better results. Progress stopped being a research gamble and became an investment roadmap.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“Seventy years in one slide — as four eras.”</a:t>
            </a:r>
            <a:endParaRPr/>
          </a:p>
          <a:p xmlns:a="http://schemas.openxmlformats.org/drawingml/2006/main">
            <a:r>
              <a:t>2) Per card LEFT TO RIGHT: name the era → point at the little diagram (a hand-typed rulebook · circles passing signals, tuned from examples · predict-the-next-word · plan-act-check on a loop) → one sentence of story → the italic “gave us” line, which is the era’s legacy in products.</a:t>
            </a:r>
            <a:endParaRPr/>
          </a:p>
          <a:p xmlns:a="http://schemas.openxmlformats.org/drawingml/2006/main">
            <a:r>
              <a:t>3) Pause once on “AI winters”: over-promising collapsed funding twice — skepticism is historically earned.</a:t>
            </a:r>
            <a:endParaRPr/>
          </a:p>
          <a:p xmlns:a="http://schemas.openxmlformats.org/drawingml/2006/main">
            <a:r>
              <a:t>4) Close on the amber band: scaling laws.</a:t>
            </a:r>
            <a:endParaRPr/>
          </a:p>
          <a:p xmlns:a="http://schemas.openxmlformats.org/drawingml/2006/main">
            <a:r>
              <a:t/>
            </a:r>
            <a:endParaRPr/>
          </a:p>
          <a:p xmlns:a="http://schemas.openxmlformats.org/drawingml/2006/main">
            <a:r>
              <a:t>BRIDGE —</a:t>
            </a:r>
            <a:endParaRPr/>
          </a:p>
          <a:p xmlns:a="http://schemas.openxmlformats.org/drawingml/2006/main">
            <a:r>
              <a:t>“Zoom into the decade that changed work.”</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the graphics chip class perfect for training neural networks (AlexNet, 2012).</a:t>
            </a:r>
            <a:endParaRPr/>
          </a:p>
          <a:p xmlns:a="http://schemas.openxmlformats.org/drawingml/2006/main">
            <a:r>
              <a:t>LLM = Large Language Model.</a:t>
            </a:r>
            <a:endParaRPr/>
          </a:p>
          <a:p xmlns:a="http://schemas.openxmlformats.org/drawingml/2006/main">
            <a:r>
              <a:t/>
            </a:r>
            <a:endParaRPr/>
          </a:p>
          <a:p xmlns:a="http://schemas.openxmlformats.org/drawingml/2006/main">
            <a:r>
              <a:t>CONTENT —</a:t>
            </a:r>
            <a:endParaRPr/>
          </a:p>
          <a:p xmlns:a="http://schemas.openxmlformats.org/drawingml/2006/main">
            <a:r>
              <a:t>v1.6: “gave us” outcome lines added per era (owner request), verified items only — MYCIN/XCON, spam/search/recommendations/AlexNet, ChatGPT/image generation, coding &amp; office agents (r1, r2).</a:t>
            </a:r>
            <a:endParaRPr/>
          </a:p>
          <a:p xmlns:a="http://schemas.openxmlformats.org/drawingml/2006/main">
            <a:r>
              <a:t>The eras framing is a teaching synthesis — “a useful way to see 70 years,” not official taxonomy.</a:t>
            </a:r>
            <a:endParaRPr/>
          </a:p>
          <a:p xmlns:a="http://schemas.openxmlformats.org/drawingml/2006/main">
            <a:r>
              <a:t>Rules era = writing the SOP yourself; learning era = deriving the SOP from a thousand examples. (SOP = Standard Operating Procedure.)</a:t>
            </a:r>
            <a:endParaRPr/>
          </a:p>
          <a:p xmlns:a="http://schemas.openxmlformats.org/drawingml/2006/main">
            <a:r>
              <a:t>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Scale, data, and computing made modern systems practical.</a:t>
            </a:r>
            <a:endParaRPr/>
          </a:p>
          <a:p xmlns:a="http://schemas.openxmlformats.org/drawingml/2006/main">
            <a:r>
              <a:t/>
            </a:r>
            <a:endParaRPr/>
          </a:p>
          <a:p xmlns:a="http://schemas.openxmlformats.org/drawingml/2006/main">
            <a:r>
              <a:t>SAY:</a:t>
            </a:r>
            <a:endParaRPr/>
          </a:p>
          <a:p xmlns:a="http://schemas.openxmlformats.org/drawingml/2006/main">
            <a:r>
              <a:t>- Computing, data, and model design jointly supported progress.</a:t>
            </a:r>
            <a:endParaRPr/>
          </a:p>
          <a:p xmlns:a="http://schemas.openxmlformats.org/drawingml/2006/main">
            <a:r>
              <a:t>- The hardware details are reference material, not today’s learning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“How a language model produces an answer”.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6</a:t>
            </a:r>
            <a:endParaRPr/>
          </a:p>
          <a:p xmlns:a="http://schemas.openxmlformats.org/drawingml/2006/main">
            <a:r>
              <a:t>WHY AI HAPPENED NOW</a:t>
            </a:r>
            <a:endParaRPr/>
          </a:p>
          <a:p xmlns:a="http://schemas.openxmlformats.org/drawingml/2006/main">
            <a:r>
              <a:t>The hardware story — chips, Nvidia, data centers</a:t>
            </a:r>
            <a:endParaRPr/>
          </a:p>
          <a:p xmlns:a="http://schemas.openxmlformats.org/drawingml/2006/main">
            <a:r>
              <a:t>① A 60-year tailwind</a:t>
            </a:r>
            <a:endParaRPr/>
          </a:p>
          <a:p xmlns:a="http://schemas.openxmlformats.org/drawingml/2006/main">
            <a:r>
              <a:t>Moore’s law (1965): chips double their transistors every ~2 years.</a:t>
            </a:r>
            <a:endParaRPr/>
          </a:p>
          <a:p xmlns:a="http://schemas.openxmlformats.org/drawingml/2006/main">
            <a:r>
              <a:t>1971: 2,300 → 2024: 208 billion</a:t>
            </a:r>
            <a:endParaRPr/>
          </a:p>
          <a:p xmlns:a="http://schemas.openxmlformats.org/drawingml/2006/main">
            <a:r>
              <a:t>2026 status: slowing to ~3-year doublings — not dead, no longer enough alone.</a:t>
            </a:r>
            <a:endParaRPr/>
          </a:p>
          <a:p xmlns:a="http://schemas.openxmlformats.org/drawingml/2006/main">
            <a:r>
              <a:t>② The accident</a:t>
            </a:r>
            <a:endParaRPr/>
          </a:p>
          <a:p xmlns:a="http://schemas.openxmlformats.org/drawingml/2006/main">
            <a:r>
              <a:t>Gaming chips WERE AI chips: both need millions of tiny calculations at once.</a:t>
            </a:r>
            <a:endParaRPr/>
          </a:p>
          <a:p xmlns:a="http://schemas.openxmlformats.org/drawingml/2006/main">
            <a:r>
              <a:t>2006 — Nvidia’s CUDA lets anyone program a graphics card.</a:t>
            </a:r>
            <a:endParaRPr/>
          </a:p>
          <a:p xmlns:a="http://schemas.openxmlformats.org/drawingml/2006/main">
            <a:r>
              <a:t>2012 — AlexNet: two consumer gaming cards, six days, beats 30 years of hand-built AI.</a:t>
            </a:r>
            <a:endParaRPr/>
          </a:p>
          <a:p xmlns:a="http://schemas.openxmlformats.org/drawingml/2006/main">
            <a:r>
              <a:t>③ Moore’s pace vs AI’s appetite</a:t>
            </a:r>
            <a:endParaRPr/>
          </a:p>
          <a:p xmlns:a="http://schemas.openxmlformats.org/drawingml/2006/main">
            <a:r>
              <a:t>Y axis: training compute per model, in FLOP (one FLOP = one arithmetic operation) — log scale</a:t>
            </a:r>
            <a:endParaRPr/>
          </a:p>
          <a:p xmlns:a="http://schemas.openxmlformats.org/drawingml/2006/main">
            <a:r>
              <a:t>10¹⁸</a:t>
            </a:r>
            <a:endParaRPr/>
          </a:p>
          <a:p xmlns:a="http://schemas.openxmlformats.org/drawingml/2006/main">
            <a:r>
              <a:t>10²¹</a:t>
            </a:r>
            <a:endParaRPr/>
          </a:p>
          <a:p xmlns:a="http://schemas.openxmlformats.org/drawingml/2006/main">
            <a:r>
              <a:t>10²⁴</a:t>
            </a:r>
            <a:endParaRPr/>
          </a:p>
          <a:p xmlns:a="http://schemas.openxmlformats.org/drawingml/2006/main">
            <a:r>
              <a:t>AlexNet</a:t>
            </a:r>
            <a:endParaRPr/>
          </a:p>
          <a:p xmlns:a="http://schemas.openxmlformats.org/drawingml/2006/main">
            <a:r>
              <a:t>GPT-2</a:t>
            </a:r>
            <a:endParaRPr/>
          </a:p>
          <a:p xmlns:a="http://schemas.openxmlformats.org/drawingml/2006/main">
            <a:r>
              <a:t>GPT-3</a:t>
            </a:r>
            <a:endParaRPr/>
          </a:p>
          <a:p xmlns:a="http://schemas.openxmlformats.org/drawingml/2006/main">
            <a:r>
              <a:t>GPT-4 (est.)</a:t>
            </a:r>
            <a:endParaRPr/>
          </a:p>
          <a:p xmlns:a="http://schemas.openxmlformats.org/drawingml/2006/main">
            <a:r>
              <a:t>Moore’s pace</a:t>
            </a:r>
            <a:endParaRPr/>
          </a:p>
          <a:p xmlns:a="http://schemas.openxmlformats.org/drawingml/2006/main">
            <a:r>
              <a:t>2012</a:t>
            </a:r>
            <a:endParaRPr/>
          </a:p>
          <a:p xmlns:a="http://schemas.openxmlformats.org/drawingml/2006/main">
            <a:r>
              <a:t>2023</a:t>
            </a:r>
            <a:endParaRPr/>
          </a:p>
          <a:p xmlns:a="http://schemas.openxmlformats.org/drawingml/2006/main">
            <a:r>
              <a:t>At Moore’s pace since 2012: ×45.  Actual: ×45,000,000.</a:t>
            </a:r>
            <a:endParaRPr/>
          </a:p>
          <a:p xmlns:a="http://schemas.openxmlformats.org/drawingml/2006/main">
            <a:r>
              <a:t>GPT-4 ≈ 2×10²⁵ FLOP: ~200,000 years on AlexNet’s two cards — a ~25,000-GPU data-center hall: ~3 months.</a:t>
            </a:r>
            <a:endParaRPr/>
          </a:p>
          <a:p xmlns:a="http://schemas.openxmlformats.org/drawingml/2006/main">
            <a:r>
              <a:t>④ Why the data centers</a:t>
            </a:r>
            <a:endParaRPr/>
          </a:p>
          <a:p xmlns:a="http://schemas.openxmlformats.org/drawingml/2006/main">
            <a:r>
              <a:t>TRAIN — One frontier model: 16,000+ GPUs running for months (Llama 3.1, 2024).</a:t>
            </a:r>
            <a:endParaRPr/>
          </a:p>
          <a:p xmlns:a="http://schemas.openxmlformats.org/drawingml/2006/main">
            <a:r>
              <a:t>SERVE — Then a billion people use it — around the clock, every day.</a:t>
            </a:r>
            <a:endParaRPr/>
          </a:p>
          <a:p xmlns:a="http://schemas.openxmlformats.org/drawingml/2006/main">
            <a:r>
              <a:t>POWER — One large AI data center ≈ the electricity of 100,000 homes; the biggest under construction ≈ 2 million (IEA).</a:t>
            </a:r>
            <a:endParaRPr/>
          </a:p>
          <a:p xmlns:a="http://schemas.openxmlformats.org/drawingml/2006/main">
            <a:r>
              <a:t>~$700B of build-out planned for 2026 — much announced, not yet built.</a:t>
            </a:r>
            <a:endParaRPr/>
          </a:p>
          <a:p xmlns:a="http://schemas.openxmlformats.org/drawingml/2006/main">
            <a:r>
              <a:t>The shovel-seller: Nvidia — first reached $1T May 2023 · $4T Jul 2025 · $5T Oct 2025 · ~$5.6T today: the world’s most valuable company, and 92% of its revenue is now AI data centers.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“software got the headlines — hardware made it possible. Four beats, left to right.”</a:t>
            </a:r>
            <a:endParaRPr/>
          </a:p>
          <a:p xmlns:a="http://schemas.openxmlformats.org/drawingml/2006/main">
            <a:r>
              <a:t>2) ① Moore’s law in one sentence: chips doubled their transistors every ~2 years for 50 years — 1971: 2,300; 2024: 208 billion, ~90 million times more. Status 2026: slowing to ~3-year doublings, not dead.</a:t>
            </a:r>
            <a:endParaRPr/>
          </a:p>
          <a:p xmlns:a="http://schemas.openxmlformats.org/drawingml/2006/main">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endParaRPr/>
          </a:p>
          <a:p xmlns:a="http://schemas.openxmlformats.org/drawingml/2006/main">
            <a:r>
              <a:t>4) ③ The chart — the punchline of the slide: if AI compute had grown at Moore’s pace since 2012 it would be ~45× bigger. It is ~45 MILLION times bigger. The gap was bought with chips, clusters, and electricity — that gap IS the data-center boom.</a:t>
            </a:r>
            <a:endParaRPr/>
          </a:p>
          <a:p xmlns:a="http://schemas.openxmlformats.org/drawingml/2006/main">
            <a:r>
              <a:t>5) ④ Train / serve / power — and the honest caveat aloud: a lot of what you read about is ANNOUNCED, not built.</a:t>
            </a:r>
            <a:endParaRPr/>
          </a:p>
          <a:p xmlns:a="http://schemas.openxmlformats.org/drawingml/2006/main">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endParaRPr/>
          </a:p>
          <a:p xmlns:a="http://schemas.openxmlformats.org/drawingml/2006/main">
            <a:r>
              <a:t/>
            </a:r>
            <a:endParaRPr/>
          </a:p>
          <a:p xmlns:a="http://schemas.openxmlformats.org/drawingml/2006/main">
            <a:r>
              <a:t>BRIDGE —</a:t>
            </a:r>
            <a:endParaRPr/>
          </a:p>
          <a:p xmlns:a="http://schemas.openxmlformats.org/drawingml/2006/main">
            <a:r>
              <a:t>“That’s the machinery. Now — what is the model itself actually doing? Under the hood.”</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thousands of simple cores doing the same math at once (a CPU: a few smart cores, one task at a time).</a:t>
            </a:r>
            <a:endParaRPr/>
          </a:p>
          <a:p xmlns:a="http://schemas.openxmlformats.org/drawingml/2006/main">
            <a:r>
              <a:t>CUDA = Nvidia’s software for running ANY computation on its graphics chips (2006) — the moat is the software, not just the chips.</a:t>
            </a:r>
            <a:endParaRPr/>
          </a:p>
          <a:p xmlns:a="http://schemas.openxmlformats.org/drawingml/2006/main">
            <a:r>
              <a:t>IEA = International Energy Agency. FLOP = floating-point operation (the compute unit behind the chart).</a:t>
            </a:r>
            <a:endParaRPr/>
          </a:p>
          <a:p xmlns:a="http://schemas.openxmlformats.org/drawingml/2006/main">
            <a:r>
              <a:t/>
            </a:r>
            <a:endParaRPr/>
          </a:p>
          <a:p xmlns:a="http://schemas.openxmlformats.org/drawingml/2006/main">
            <a:r>
              <a:t>CONTENT —</a:t>
            </a:r>
            <a:endParaRPr/>
          </a:p>
          <a:p xmlns:a="http://schemas.openxmlformats.org/drawingml/2006/main">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endParaRPr/>
          </a:p>
          <a:p xmlns:a="http://schemas.openxmlformats.org/drawingml/2006/main">
            <a:r>
              <a:t>If asked about “Huang’s law” (AI chips beating Moore’s law): Nvidia’s claim for whole SYSTEMS; independent measurement (Epoch) puts GPU price-performance doubling at ~2.5 years — say “the marketing outruns the measurement.”</a:t>
            </a:r>
            <a:endParaRPr/>
          </a:p>
          <a:p xmlns:a="http://schemas.openxmlformats.org/drawingml/2006/main">
            <a:r>
              <a:t>Stargate, if asked: announced Jan 2025 at “up to $500B”; by mid-2026 ~7 GW PLANNED across 7 US sites, first campus (Abilene, TX) partially live — announced ≠ built.</a:t>
            </a:r>
            <a:endParaRPr/>
          </a:p>
          <a:p xmlns:a="http://schemas.openxmlformats.org/drawingml/2006/main">
            <a:r>
              <a:t>US–China chip angle, one line if asked: US export restrictions since Oct 2022; an Apr 2025 license rule forced Nvidia to write down $5.5B on its China-market chip.</a:t>
            </a:r>
            <a:endParaRPr/>
          </a:p>
          <a:p xmlns:a="http://schemas.openxmlformats.org/drawingml/2006/main">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a:p>
          <a:p xmlns:a="http://schemas.openxmlformats.org/drawingml/2006/main">
            <a:r>
              <a:t>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smallest intervention that solves the problem before changing the model.</a:t>
            </a:r>
            <a:endParaRPr/>
          </a:p>
          <a:p xmlns:a="http://schemas.openxmlformats.org/drawingml/2006/main">
            <a:r>
              <a:t/>
            </a:r>
            <a:endParaRPr/>
          </a:p>
          <a:p xmlns:a="http://schemas.openxmlformats.org/drawingml/2006/main">
            <a:r>
              <a:t>SAY:</a:t>
            </a:r>
            <a:endParaRPr/>
          </a:p>
          <a:p xmlns:a="http://schemas.openxmlformats.org/drawingml/2006/main">
            <a:r>
              <a:t>- A clearer prompt or better source material may solve the problem without retraining.</a:t>
            </a:r>
            <a:endParaRPr/>
          </a:p>
          <a:p xmlns:a="http://schemas.openxmlformats.org/drawingml/2006/main">
            <a:r>
              <a:t>- Choose the intervention based on the actual failure.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“Reasoning effort and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11</a:t>
            </a:r>
            <a:endParaRPr/>
          </a:p>
          <a:p xmlns:a="http://schemas.openxmlformats.org/drawingml/2006/main">
            <a:r>
              <a:t>CONCEPT 4 · THE ESCALATION LADDER</a:t>
            </a:r>
            <a:endParaRPr/>
          </a:p>
          <a:p xmlns:a="http://schemas.openxmlformats.org/drawingml/2006/main">
            <a:r>
              <a:t>Prompt it → feed it documents → retrain it</a:t>
            </a:r>
            <a:endParaRPr/>
          </a:p>
          <a:p xmlns:a="http://schemas.openxmlformats.org/drawingml/2006/main">
            <a:r>
              <a:t>1 · PROMPT IT</a:t>
            </a:r>
            <a:endParaRPr/>
          </a:p>
          <a:p xmlns:a="http://schemas.openxmlformats.org/drawingml/2006/main">
            <a:r>
              <a:t>instructions to a skilled temp</a:t>
            </a:r>
            <a:endParaRPr/>
          </a:p>
          <a:p xmlns:a="http://schemas.openxmlformats.org/drawingml/2006/main">
            <a:r>
              <a:t>Fixes BEHAVIOR — tone, format, focus, approach.</a:t>
            </a:r>
            <a:endParaRPr/>
          </a:p>
          <a:p xmlns:a="http://schemas.openxmlformats.org/drawingml/2006/main">
            <a:r>
              <a:t>Free · instant · every model. 90% of the value — this course.</a:t>
            </a:r>
            <a:endParaRPr/>
          </a:p>
          <a:p xmlns:a="http://schemas.openxmlformats.org/drawingml/2006/main">
            <a:r>
              <a:t>2 · FEED IT DOCUMENTS</a:t>
            </a:r>
            <a:endParaRPr/>
          </a:p>
          <a:p xmlns:a="http://schemas.openxmlformats.org/drawingml/2006/main">
            <a:r>
              <a:t>hand the temp your binder (RAG)</a:t>
            </a:r>
            <a:endParaRPr/>
          </a:p>
          <a:p xmlns:a="http://schemas.openxmlformats.org/drawingml/2006/main">
            <a:r>
              <a:t>Fixes MISSING KNOWLEDGE — your policies, your data, current facts.</a:t>
            </a:r>
            <a:endParaRPr/>
          </a:p>
          <a:p xmlns:a="http://schemas.openxmlformats.org/drawingml/2006/main">
            <a:r>
              <a:t>Minutes to set up · citable · private. Most real cases end here.</a:t>
            </a:r>
            <a:endParaRPr/>
          </a:p>
          <a:p xmlns:a="http://schemas.openxmlformats.org/drawingml/2006/main">
            <a:r>
              <a:t>3 · RETRAIN IT</a:t>
            </a:r>
            <a:endParaRPr/>
          </a:p>
          <a:p xmlns:a="http://schemas.openxmlformats.org/drawingml/2006/main">
            <a:r>
              <a:t>send it back to school (fine-tuning)</a:t>
            </a:r>
            <a:endParaRPr/>
          </a:p>
          <a:p xmlns:a="http://schemas.openxmlformats.org/drawingml/2006/main">
            <a:r>
              <a:t>Changes deep HABITS — permanently.</a:t>
            </a:r>
            <a:endParaRPr/>
          </a:p>
          <a:p xmlns:a="http://schemas.openxmlformats.org/drawingml/2006/main">
            <a:r>
              <a:t>Slow · expensive · per-model. Rare: an IT project, not a prompt.</a:t>
            </a:r>
            <a:endParaRPr/>
          </a:p>
          <a:p xmlns:a="http://schemas.openxmlformats.org/drawingml/2006/main">
            <a:r>
              <a:t>One topic, up the ladder — “answer customer questions about our warranty policy”</a:t>
            </a:r>
            <a:endParaRPr/>
          </a:p>
          <a:p xmlns:a="http://schemas.openxmlformats.org/drawingml/2006/main">
            <a:r>
              <a:t>①  “Answer in plain language and quote the exact clause.” Answers get clear and consistent — but it doesn’t KNOW our policy, so the details are guesses.</a:t>
            </a:r>
            <a:endParaRPr/>
          </a:p>
          <a:p xmlns:a="http://schemas.openxmlformats.org/drawingml/2006/main">
            <a:r>
              <a:t>②  Upload the warranty documents (or use the company assistant). Now: current, cited answers from the real text. This is where you stop.</a:t>
            </a:r>
            <a:endParaRPr/>
          </a:p>
          <a:p xmlns:a="http://schemas.openxmlformats.org/drawingml/2006/main">
            <a:r>
              <a:t>③  Retrain — only if millions of chats must carry a deep habit with no room for instructions. An IT decision, not a prompt.</a:t>
            </a:r>
            <a:endParaRPr/>
          </a:p>
          <a:p xmlns:a="http://schemas.openxmlformats.org/drawingml/2006/main">
            <a:r>
              <a:t>One question picks the rung: is the AI missing knowledge → feed it documents. Misbehaving with knowledge it has → prompt it. Retraining stays rare.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three big cards LEFT TO RIGHT — say the verbs: prompt it, feed it documents, retrain it. The temp analogies carry it: instructions → binder → back to school.</a:t>
            </a:r>
            <a:endParaRPr/>
          </a:p>
          <a:p xmlns:a="http://schemas.openxmlformats.org/drawingml/2006/main">
            <a:r>
              <a:t>2) Then the worked topic, ① → ② → ③, warranty questions: prompting fixes the HOW, documents fix the WHAT, and step ② is where almost every real workplace case ends. Step ③ exists so the room knows what it is — and that it isn’t their job.</a:t>
            </a:r>
            <a:endParaRPr/>
          </a:p>
          <a:p xmlns:a="http://schemas.openxmlformats.org/drawingml/2006/main">
            <a:r>
              <a:t>3) Amber band — the takeaway question, verbatim: missing knowledge → documents; misbehaving → prompt.</a:t>
            </a:r>
            <a:endParaRPr/>
          </a:p>
          <a:p xmlns:a="http://schemas.openxmlformats.org/drawingml/2006/main">
            <a:r>
              <a:t/>
            </a:r>
            <a:endParaRPr/>
          </a:p>
          <a:p xmlns:a="http://schemas.openxmlformats.org/drawingml/2006/main">
            <a:r>
              <a:t>BRIDGE —</a:t>
            </a:r>
            <a:endParaRPr/>
          </a:p>
          <a:p xmlns:a="http://schemas.openxmlformats.org/drawingml/2006/main">
            <a:r>
              <a:t>“Two concepts left — the next one is all about the bill.”</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(rung 2 — the open-book exam from the previous slide).</a:t>
            </a:r>
            <a:endParaRPr/>
          </a:p>
          <a:p xmlns:a="http://schemas.openxmlformats.org/drawingml/2006/main">
            <a:r>
              <a:t/>
            </a:r>
            <a:endParaRPr/>
          </a:p>
          <a:p xmlns:a="http://schemas.openxmlformats.org/drawingml/2006/main">
            <a:r>
              <a:t>CONTENT —</a:t>
            </a:r>
            <a:endParaRPr/>
          </a:p>
          <a:p xmlns:a="http://schemas.openxmlformats.org/drawingml/2006/main">
            <a:r>
              <a:t>v1.7: rebuilt as three big sequential steps + one worked topic (owner request); the guided-prompt chip and on-slide drill were cut — the six-problem triage drill survives in workbook tab BONUS-Ladder for self-study (answers: 1 P · 2 R · 3 P · 4 R · 5 F · 6 defensible either way).</a:t>
            </a:r>
            <a:endParaRPr/>
          </a:p>
          <a:p xmlns:a="http://schemas.openxmlformats.org/drawingml/2006/main">
            <a:r>
              <a:t>“Let’s fine-tune on our procedures” → first ask: knowledge problem (→documents) or behavior problem (→prompt)? Most enterprise cases are knowledge problems.</a:t>
            </a:r>
            <a:endParaRPr/>
          </a:p>
          <a:p xmlns:a="http://schemas.openxmlformats.org/drawingml/2006/main">
            <a:r>
              <a:t>Frontier flagships mostly aren’t fine-tunable (2026); open-weight models are.</a:t>
            </a:r>
            <a:endParaRPr/>
          </a:p>
          <a:p xmlns:a="http://schemas.openxmlformats.org/drawingml/2006/main">
            <a:r>
              <a:t>NOTE: this is the ESCALATION ladder (capability). Part 6’s PROMOTION ladder (where prompts live) is a different ladder — name them fully.</a:t>
            </a:r>
            <a:endParaRPr/>
          </a:p>
          <a:p xmlns:a="http://schemas.openxmlformats.org/drawingml/2006/main">
            <a:r>
              <a:t>11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Product menus change; verify current access rather than memorizing a catalog.</a:t>
            </a:r>
            <a:endParaRPr/>
          </a:p>
          <a:p xmlns:a="http://schemas.openxmlformats.org/drawingml/2006/main">
            <a:r>
              <a:t/>
            </a:r>
            <a:endParaRPr/>
          </a:p>
          <a:p xmlns:a="http://schemas.openxmlformats.org/drawingml/2006/main">
            <a:r>
              <a:t>SAY:</a:t>
            </a:r>
            <a:endParaRPr/>
          </a:p>
          <a:p xmlns:a="http://schemas.openxmlformats.org/drawingml/2006/main">
            <a:r>
              <a:t>- Feature names and availability change.</a:t>
            </a:r>
            <a:endParaRPr/>
          </a:p>
          <a:p xmlns:a="http://schemas.openxmlformats.org/drawingml/2006/main">
            <a:r>
              <a:t>- Verify the current product documentation rather than relying on a model’s description of itself.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“Verification belongs in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13</a:t>
            </a:r>
            <a:endParaRPr/>
          </a:p>
          <a:p xmlns:a="http://schemas.openxmlformats.org/drawingml/2006/main">
            <a:r>
              <a:t>CONCEPT 5 · THE FEATURE MENU · CONTINUED</a:t>
            </a:r>
            <a:endParaRPr/>
          </a:p>
          <a:p xmlns:a="http://schemas.openxmlformats.org/drawingml/2006/main">
            <a:r>
              <a:t>Where your tokens go</a:t>
            </a:r>
            <a:endParaRPr/>
          </a:p>
          <a:p xmlns:a="http://schemas.openxmlformats.org/drawingml/2006/main">
            <a:r>
              <a:t>The cost ladder — every vendor sells it</a:t>
            </a:r>
            <a:endParaRPr/>
          </a:p>
          <a:p xmlns:a="http://schemas.openxmlformats.org/drawingml/2006/main">
            <a:r>
              <a:t>Quick answer</a:t>
            </a:r>
            <a:endParaRPr/>
          </a:p>
          <a:p xmlns:a="http://schemas.openxmlformats.org/drawingml/2006/main">
            <a:r>
              <a:t>1×  one pass, instant</a:t>
            </a:r>
            <a:endParaRPr/>
          </a:p>
          <a:p xmlns:a="http://schemas.openxmlformats.org/drawingml/2006/main">
            <a:r>
              <a:t>Thinking / extended reasoning</a:t>
            </a:r>
            <a:endParaRPr/>
          </a:p>
          <a:p xmlns:a="http://schemas.openxmlformats.org/drawingml/2006/main">
            <a:r>
              <a:t>5–20×  drafts and checks before answering</a:t>
            </a:r>
            <a:endParaRPr/>
          </a:p>
          <a:p xmlns:a="http://schemas.openxmlformats.org/drawingml/2006/main">
            <a:r>
              <a:t>Web search</a:t>
            </a:r>
            <a:endParaRPr/>
          </a:p>
          <a:p xmlns:a="http://schemas.openxmlformats.org/drawingml/2006/main">
            <a:r>
              <a:t>+sources  grounds the answer in live pages</a:t>
            </a:r>
            <a:endParaRPr/>
          </a:p>
          <a:p xmlns:a="http://schemas.openxmlformats.org/drawingml/2006/main">
            <a:r>
              <a:t>Deep research</a:t>
            </a:r>
            <a:endParaRPr/>
          </a:p>
          <a:p xmlns:a="http://schemas.openxmlformats.org/drawingml/2006/main">
            <a:r>
              <a:t>100×+  browses for minutes, cited report</a:t>
            </a:r>
            <a:endParaRPr/>
          </a:p>
          <a:p xmlns:a="http://schemas.openxmlformats.org/drawingml/2006/main">
            <a:r>
              <a:t>Agent modes</a:t>
            </a:r>
            <a:endParaRPr/>
          </a:p>
          <a:p xmlns:a="http://schemas.openxmlformats.org/drawingml/2006/main">
            <a:r>
              <a:t>the most  plans and acts across many steps</a:t>
            </a:r>
            <a:endParaRPr/>
          </a:p>
          <a:p xmlns:a="http://schemas.openxmlformats.org/drawingml/2006/main">
            <a:r>
              <a:t>What it’s called where you are (Sep 2026)</a:t>
            </a:r>
            <a:endParaRPr/>
          </a:p>
          <a:p xmlns:a="http://schemas.openxmlformats.org/drawingml/2006/main">
            <a:r>
              <a:t>ChatGPT</a:t>
            </a:r>
            <a:endParaRPr/>
          </a:p>
          <a:p xmlns:a="http://schemas.openxmlformats.org/drawingml/2006/main">
            <a:r>
              <a:t>deep research · thinking slider (paid) · “Think” button (free)</a:t>
            </a:r>
            <a:endParaRPr/>
          </a:p>
          <a:p xmlns:a="http://schemas.openxmlformats.org/drawingml/2006/main">
            <a:r>
              <a:t>Gemini</a:t>
            </a:r>
            <a:endParaRPr/>
          </a:p>
          <a:p xmlns:a="http://schemas.openxmlformats.org/drawingml/2006/main">
            <a:r>
              <a:t>Deep Research (all tiers) · Deep Think = separate hard-reasoning mode (Ultra)</a:t>
            </a:r>
            <a:endParaRPr/>
          </a:p>
          <a:p xmlns:a="http://schemas.openxmlformats.org/drawingml/2006/main">
            <a:r>
              <a:t>Claude</a:t>
            </a:r>
            <a:endParaRPr/>
          </a:p>
          <a:p xmlns:a="http://schemas.openxmlformats.org/drawingml/2006/main">
            <a:r>
              <a:t>Research (paid plans) · extended thinking</a:t>
            </a:r>
            <a:endParaRPr/>
          </a:p>
          <a:p xmlns:a="http://schemas.openxmlformats.org/drawingml/2006/main">
            <a:r>
              <a:t>Copilot</a:t>
            </a:r>
            <a:endParaRPr/>
          </a:p>
          <a:p xmlns:a="http://schemas.openxmlformats.org/drawingml/2006/main">
            <a:r>
              <a:t>Quick response · Think Deeper · Smart (GPT-5) · Researcher agent</a:t>
            </a:r>
            <a:endParaRPr/>
          </a:p>
          <a:p xmlns:a="http://schemas.openxmlformats.org/drawingml/2006/main">
            <a:r>
              <a:t>Perplexity</a:t>
            </a:r>
            <a:endParaRPr/>
          </a:p>
          <a:p xmlns:a="http://schemas.openxmlformats.org/drawingml/2006/main">
            <a:r>
              <a:t>Search · Research · Create files and apps</a:t>
            </a:r>
            <a:endParaRPr/>
          </a:p>
          <a:p xmlns:a="http://schemas.openxmlformats.org/drawingml/2006/main">
            <a:r>
              <a:t>Grok</a:t>
            </a:r>
            <a:endParaRPr/>
          </a:p>
          <a:p xmlns:a="http://schemas.openxmlformats.org/drawingml/2006/main">
            <a:r>
              <a:t>Auto · Fast · Expert · Heavy (multi-agent, $300 tier) — Think/DeepSearch retired</a:t>
            </a:r>
            <a:endParaRPr/>
          </a:p>
          <a:p xmlns:a="http://schemas.openxmlformats.org/drawingml/2006/main">
            <a:r>
              <a:t>Deep research, demystified: a reasoning model given a browser and time — it plans, reads sources for minutes, and synthesizes a cited report. The MoE story in Part 2 is why that became affordable.</a:t>
            </a:r>
            <a:endParaRPr/>
          </a:p>
          <a:p xmlns:a="http://schemas.openxmlformats.org/drawingml/2006/main">
            <a:r>
              <a:t>PROMPT 6/7</a:t>
            </a:r>
            <a:endParaRPr/>
          </a:p>
          <a:p xmlns:a="http://schemas.openxmlformats.org/drawingml/2006/main">
            <a:r>
              <a:t>Ask your own product for its menu</a:t>
            </a:r>
            <a:endParaRPr/>
          </a:p>
          <a:p xmlns:a="http://schemas.openxmlformats.org/drawingml/2006/main">
            <a:r>
              <a:t>TYPE THIS → “List the modes this app gives me — quick answer, thinking, web search, deep research, agent — one line each on what it does differently and its rough effort. Say ‘unsure’ rather than guess.”</a:t>
            </a:r>
            <a:endParaRPr/>
          </a:p>
          <a:p xmlns:a="http://schemas.openxmlformats.org/drawingml/2006/main">
            <a:r>
              <a:t>WHY → your own product hands you its menu; ask again the day it changes.</a:t>
            </a:r>
            <a:endParaRPr/>
          </a:p>
          <a:p xmlns:a="http://schemas.openxmlformats.org/drawingml/2006/main">
            <a:r>
              <a:t>✂ copy-paste, don’t retype: tab EX6-FeatureMenu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Left card: climb the staircase — 1× quick answer up to agent modes. The discipline: pick the SMALLEST mode that can succeed; escalate deliberately.</a:t>
            </a:r>
            <a:endParaRP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endParaRPr/>
          </a:p>
          <a:p xmlns:a="http://schemas.openxmlformats.org/drawingml/2006/main">
            <a:r>
              <a:t>3) Italic line: deep research demystified.</a:t>
            </a:r>
            <a:endParaRPr/>
          </a:p>
          <a:p xmlns:a="http://schemas.openxmlformats.org/drawingml/2006/main">
            <a:r>
              <a:t/>
            </a:r>
            <a:endParaRPr/>
          </a:p>
          <a:p xmlns:a="http://schemas.openxmlformats.org/drawingml/2006/main">
            <a:r>
              <a:t>TRY IT — PROMPT 6/7 (copy from tab EX6-FeatureMenu)</a:t>
            </a:r>
            <a:endParaRPr/>
          </a:p>
          <a:p xmlns:a="http://schemas.openxmlformats.org/drawingml/2006/main">
            <a:r>
              <a:t>Self-updating — the answer regenerates the day any vendor renames a button. The extended 6-column table version lives in the tab.</a:t>
            </a:r>
            <a:endParaRPr/>
          </a:p>
          <a:p xmlns:a="http://schemas.openxmlformats.org/drawingml/2006/main">
            <a:r>
              <a:t>Recovery (model misstates its own toggles): “it knows what its modes DO better than where the buttons live — keep the ladder, verify toggles with your eyes.”</a:t>
            </a:r>
            <a:endParaRPr/>
          </a:p>
          <a:p xmlns:a="http://schemas.openxmlformats.org/drawingml/2006/main">
            <a:r>
              <a:t/>
            </a:r>
            <a:endParaRPr/>
          </a:p>
          <a:p xmlns:a="http://schemas.openxmlformats.org/drawingml/2006/main">
            <a:r>
              <a:t>BRIDGE —</a:t>
            </a:r>
            <a:endParaRPr/>
          </a:p>
          <a:p xmlns:a="http://schemas.openxmlformats.org/drawingml/2006/main">
            <a:r>
              <a:t>“Last concept — the one everyone asks about first.”</a:t>
            </a:r>
            <a:endParaRPr/>
          </a:p>
          <a:p xmlns:a="http://schemas.openxmlformats.org/drawingml/2006/main">
            <a:r>
              <a:t/>
            </a:r>
            <a:endParaRPr/>
          </a:p>
          <a:p xmlns:a="http://schemas.openxmlformats.org/drawingml/2006/main">
            <a:r>
              <a:t>ACRONYMS —</a:t>
            </a:r>
            <a:endParaRPr/>
          </a:p>
          <a:p xmlns:a="http://schemas.openxmlformats.org/drawingml/2006/main">
            <a:r>
              <a:t>MoE = Mixture of Experts (Part 2).</a:t>
            </a:r>
            <a:endParaRPr/>
          </a:p>
          <a:p xmlns:a="http://schemas.openxmlformats.org/drawingml/2006/main">
            <a:r>
              <a:t/>
            </a:r>
            <a:endParaRPr/>
          </a:p>
          <a:p xmlns:a="http://schemas.openxmlformats.org/drawingml/2006/main">
            <a:r>
              <a:t>CONTENT —</a:t>
            </a:r>
            <a:endParaRP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endParaRPr/>
          </a:p>
          <a:p xmlns:a="http://schemas.openxmlformats.org/drawingml/2006/main">
            <a:r>
              <a:t>The 5–20× multiplier is sourced (r2); the 100×+ deep-research figure is an order-of-magnitude illustration, not a billed rate.</a:t>
            </a:r>
            <a:endParaRPr/>
          </a:p>
          <a:p xmlns:a="http://schemas.openxmlformats.org/drawingml/2006/main">
            <a:r>
              <a:t>Scaling anecdote for questions: one fast prompt vs an orchestrated multi-agent research run = hundreds of quick answers’ worth of tokens.</a:t>
            </a:r>
            <a:endParaRPr/>
          </a:p>
          <a:p xmlns:a="http://schemas.openxmlformats.org/drawingml/2006/main">
            <a:r>
              <a:t>13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Fluent answers can be wrong, so verification belongs in the work design.</a:t>
            </a:r>
          </a:p>
          <a:p xmlns:a="http://schemas.openxmlformats.org/drawingml/2006/main"/>
          <a:p xmlns:a="http://schemas.openxmlformats.org/drawingml/2006/main">
            <a:r>
              <a:t>SAY:</a:t>
            </a:r>
          </a:p>
          <a:p xmlns:a="http://schemas.openxmlformats.org/drawingml/2006/main">
            <a:r>
              <a:t>- Distinguish plausible language from evidence.</a:t>
            </a:r>
          </a:p>
          <a:p xmlns:a="http://schemas.openxmlformats.org/drawingml/2006/main">
            <a:r>
              <a:t>- Asking the same model “Are you sure?” is not independent verification.</a:t>
            </a:r>
          </a:p>
          <a:p xmlns:a="http://schemas.openxmlformats.org/drawingml/2006/main">
            <a:r>
              <a:t>- Name the source or calculation that would settle the question.</a:t>
            </a:r>
          </a:p>
          <a:p xmlns:a="http://schemas.openxmlformats.org/drawingml/2006/main"/>
          <a:p xmlns:a="http://schemas.openxmlformats.org/drawingml/2006/main">
            <a:r>
              <a:t>DO: None.</a:t>
            </a:r>
          </a:p>
          <a:p xmlns:a="http://schemas.openxmlformats.org/drawingml/2006/main"/>
          <a:p xmlns:a="http://schemas.openxmlformats.org/drawingml/2006/main">
            <a:r>
              <a:t>BRIDGE: Move to “Failure patterns and the check they need”.</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14</a:t>
            </a:r>
          </a:p>
          <a:p xmlns:a="http://schemas.openxmlformats.org/drawingml/2006/main">
            <a:r>
              <a:t>CONCEPT 6 · HALLUCINATION</a:t>
            </a:r>
          </a:p>
          <a:p xmlns:a="http://schemas.openxmlformats.org/drawingml/2006/main">
            <a:r>
              <a:t>Fluency is not evidence</a:t>
            </a:r>
          </a:p>
          <a:p xmlns:a="http://schemas.openxmlformats.org/drawingml/2006/main">
            <a:r>
              <a:t>The mechanism: models are optimized for the most plausible next token, not the most true one. Trouble concentrates where training data is thin: rare facts, citations, numbers, names.</a:t>
            </a:r>
          </a:p>
          <a:p xmlns:a="http://schemas.openxmlformats.org/drawingml/2006/main">
            <a:r>
              <a:t>OpenAI’s own 2025 research: benchmarks reward confident guessing over “I don’t know” — models learn to be good test-takers.</a:t>
            </a:r>
          </a:p>
          <a:p xmlns:a="http://schemas.openxmlformats.org/drawingml/2006/main">
            <a:r>
              <a:t>The better word is confabulation: it fills gaps with plausible material, in-format — fake citations LOOK like citations.</a:t>
            </a:r>
          </a:p>
          <a:p xmlns:a="http://schemas.openxmlformats.org/drawingml/2006/main">
            <a:r>
              <a:t>The confident guess, measured</a:t>
            </a:r>
          </a:p>
          <a:p xmlns:a="http://schemas.openxmlformats.org/drawingml/2006/main">
            <a:r>
              <a:t>Older reasoning model (o4-mini)</a:t>
            </a:r>
          </a:p>
          <a:p xmlns:a="http://schemas.openxmlformats.org/drawingml/2006/main">
            <a:r>
              <a:t>24%</a:t>
            </a:r>
          </a:p>
          <a:p xmlns:a="http://schemas.openxmlformats.org/drawingml/2006/main">
            <a:r>
              <a:t>75%</a:t>
            </a:r>
          </a:p>
          <a:p xmlns:a="http://schemas.openxmlformats.org/drawingml/2006/main">
            <a:r>
              <a:t>Newer, trained to say “I don’t know”</a:t>
            </a:r>
          </a:p>
          <a:p xmlns:a="http://schemas.openxmlformats.org/drawingml/2006/main">
            <a:r>
              <a:t>22%</a:t>
            </a:r>
          </a:p>
          <a:p xmlns:a="http://schemas.openxmlformats.org/drawingml/2006/main">
            <a:r>
              <a:t>26%</a:t>
            </a:r>
          </a:p>
          <a:p xmlns:a="http://schemas.openxmlformats.org/drawingml/2006/main">
            <a:r>
              <a:t>52%</a:t>
            </a:r>
          </a:p>
          <a:p xmlns:a="http://schemas.openxmlformats.org/drawingml/2006/main">
            <a:r>
              <a:t>■ right  ■ wrong  ■ “I don’t know” — ~3× fewer false claims.</a:t>
            </a:r>
          </a:p>
          <a:p xmlns:a="http://schemas.openxmlformats.org/drawingml/2006/main">
            <a:r>
              <a:t>OpenAI’s own models &amp; benchmark (2025) — the mechanism, not a vendor ranking.</a:t>
            </a:r>
          </a:p>
          <a:p xmlns:a="http://schemas.openxmlformats.org/drawingml/2006/main">
            <a:r>
              <a:t>THE CONFIDENT GUESS  · Invented facts</a:t>
            </a:r>
          </a:p>
          <a:p xmlns:a="http://schemas.openxmlformats.org/drawingml/2006/main">
            <a:r>
              <a:t>Free recall where data was thin — a wrong fact, delivered with total certainty.</a:t>
            </a:r>
          </a:p>
          <a:p xmlns:a="http://schemas.openxmlformats.org/drawingml/2006/main">
            <a:r>
              <a:t>THE FAKE RECEIPT  · Invented sources</a:t>
            </a:r>
          </a:p>
          <a:p xmlns:a="http://schemas.openxmlformats.org/drawingml/2006/main">
            <a:r>
              <a:t>Citations, cases, book titles that look perfectly real — and don’t exist.</a:t>
            </a:r>
          </a:p>
          <a:p xmlns:a="http://schemas.openxmlformats.org/drawingml/2006/main">
            <a:r>
              <a:t>THE JOKE TAKEN SERIOUSLY  · Wrong source, confident answer</a:t>
            </a:r>
          </a:p>
          <a:p xmlns:a="http://schemas.openxmlformats.org/drawingml/2006/main">
            <a:r>
              <a:t>Fluent, cited — and built on a joke, a satire, or the wrong revision.</a:t>
            </a:r>
          </a:p>
          <a:p xmlns:a="http://schemas.openxmlformats.org/drawingml/2006/main">
            <a:r>
              <a:t>GARBAGE IN, GOSPEL OUT  · Runs with your false premise</a:t>
            </a:r>
          </a:p>
          <a:p xmlns:a="http://schemas.openxmlformats.org/drawingml/2006/main">
            <a:r>
              <a:t>It assumes your prompt is true: feed it a wrong “fact” and it politely builds on it.</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Open with the improv actor, spoken: “an improv actor never breaks character — the show must go on, so gaps get filled with the most plausible line. That is your AI on a thin-data day.”</a:t>
            </a:r>
          </a:p>
          <a:p xmlns:a="http://schemas.openxmlformats.org/drawingml/2006/main">
            <a:r>
              <a:t>2) Left bullets: the mechanism; the bold OpenAI 2025 finding — the vendor itself says benchmarks reward guessing; the vocabulary upgrade — CONFABULATION.</a:t>
            </a:r>
          </a:p>
          <a:p xmlns:a="http://schemas.openxmlformats.org/drawingml/2006/main">
            <a:r>
              <a:t>3) Right: meet the four CHARACTERS — say the nicknames with theater: the confident guess · the fake receipt · the joke taken seriously · garbage in, gospel out. One line each; each returns as a real incident on the next slide.</a:t>
            </a:r>
          </a:p>
          <a:p xmlns:a="http://schemas.openxmlformats.org/drawingml/2006/main">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xmlns:a="http://schemas.openxmlformats.org/drawingml/2006/main">
            <a:r>
              <a:t>5) Presenter story for character 1 if you want one: Google Bard’s launch demo flubbed a telescope fact — details on the next slide’s notes.</a:t>
            </a:r>
          </a:p>
          <a:p xmlns:a="http://schemas.openxmlformats.org/drawingml/2006/main"/>
          <a:p xmlns:a="http://schemas.openxmlformats.org/drawingml/2006/main">
            <a:r>
              <a:t>BRIDGE —</a:t>
            </a:r>
          </a:p>
          <a:p xmlns:a="http://schemas.openxmlformats.org/drawingml/2006/main">
            <a:r>
              <a:t>“What do these characters look like in public? The hall of shame.”</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abstain-vs-guess chart added (r23: SimpleQA numbers from arXiv:2509.04664 + the GPT-5 system card — o4-mini 24/75/1 vs gpt-5-thinking-mini 22/26/52; the on-slide caveat is mandatory).</a:t>
            </a:r>
          </a:p>
          <a:p xmlns:a="http://schemas.openxmlformats.org/drawingml/2006/main">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xmlns:a="http://schemas.openxmlformats.org/drawingml/2006/main">
            <a:r>
              <a:t>v1.6: the four kinds became named characters (owner: more engaging). Teaching frame grounded in r10/r2/r14 — not claimed as academic taxonomy.</a:t>
            </a:r>
          </a:p>
          <a:p xmlns:a="http://schemas.openxmlformats.org/drawingml/2006/main">
            <a:r>
              <a:t>OpenAI 2025 = “Why language models hallucinate” (arXiv:2509.04664).</a:t>
            </a:r>
          </a:p>
          <a:p xmlns:a="http://schemas.openxmlformats.org/drawingml/2006/main">
            <a:r>
              <a:t>R14: the italic footer (“Four characters — one root: the show must go on. Next slide: what they cost in public.”) was removed from the slide — speak it as the closing line before advancing.</a:t>
            </a:r>
          </a:p>
          <a:p xmlns:a="http://schemas.openxmlformats.org/drawingml/2006/main">
            <a:r>
              <a:t>14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Different assistants expose different capabilities and controls.</a:t>
            </a:r>
            <a:endParaRPr/>
          </a:p>
          <a:p xmlns:a="http://schemas.openxmlformats.org/drawingml/2006/main">
            <a:r>
              <a:t/>
            </a:r>
            <a:endParaRPr/>
          </a:p>
          <a:p xmlns:a="http://schemas.openxmlformats.org/drawingml/2006/main">
            <a:r>
              <a:t>SAY:</a:t>
            </a:r>
            <a:endParaRPr/>
          </a:p>
          <a:p xmlns:a="http://schemas.openxmlformats.org/drawingml/2006/main">
            <a:r>
              <a:t>- Compare assistants by required capabilities and approved data access.</a:t>
            </a:r>
            <a:endParaRPr/>
          </a:p>
          <a:p xmlns:a="http://schemas.openxmlformats.org/drawingml/2006/main">
            <a:r>
              <a:t>- Treat dated model names and rankings as reference context, not a purchasing guide.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“January 2025: frontier ability, ~27× cheaper”.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ASSISTANTS</a:t>
            </a:r>
            <a:endParaRPr/>
          </a:p>
          <a:p xmlns:a="http://schemas.openxmlformats.org/drawingml/2006/main">
            <a:r>
              <a:t>17</a:t>
            </a:r>
            <a:endParaRPr/>
          </a:p>
          <a:p xmlns:a="http://schemas.openxmlformats.org/drawingml/2006/main">
            <a:r>
              <a:t>SIX ASSISTANTS, SIX DIFFERENT JOBS</a:t>
            </a:r>
            <a:endParaRPr/>
          </a:p>
          <a:p xmlns:a="http://schemas.openxmlformats.org/drawingml/2006/main">
            <a:r>
              <a:t>Pick by task, not habit — September 2026</a:t>
            </a:r>
            <a:endParaRPr/>
          </a:p>
          <a:p xmlns:a="http://schemas.openxmlformats.org/drawingml/2006/main">
            <a:r>
              <a:t>ChatGPT</a:t>
            </a:r>
            <a:endParaRPr/>
          </a:p>
          <a:p xmlns:a="http://schemas.openxmlformats.org/drawingml/2006/main">
            <a:r>
              <a:t>OpenAI · GPT-5.6 (Sol / Terra / Luna)</a:t>
            </a:r>
            <a:endParaRPr/>
          </a:p>
          <a:p xmlns:a="http://schemas.openxmlformats.org/drawingml/2006/main">
            <a:r>
              <a:t>The everything assistant</a:t>
            </a:r>
            <a:endParaRPr/>
          </a:p>
          <a:p xmlns:a="http://schemas.openxmlformats.org/drawingml/2006/main">
            <a:r>
              <a:t>Largest user base; fastest at drafts, options and marketing copy; images, voice, agent mode.</a:t>
            </a:r>
            <a:endParaRPr/>
          </a:p>
          <a:p xmlns:a="http://schemas.openxmlformats.org/drawingml/2006/main">
            <a:r>
              <a:t>Fast model churn and renaming; check data settings before regulated content.</a:t>
            </a:r>
            <a:endParaRPr/>
          </a:p>
          <a:p xmlns:a="http://schemas.openxmlformats.org/drawingml/2006/main">
            <a:r>
              <a:t>Gemini</a:t>
            </a:r>
            <a:endParaRPr/>
          </a:p>
          <a:p xmlns:a="http://schemas.openxmlformats.org/drawingml/2006/main">
            <a:r>
              <a:t>Google · Gemini 3 / 3.1 Pro / 3.6 Flash</a:t>
            </a:r>
            <a:endParaRPr/>
          </a:p>
          <a:p xmlns:a="http://schemas.openxmlformats.org/drawingml/2006/main">
            <a:r>
              <a:t>Everywhere Google is</a:t>
            </a:r>
            <a:endParaRPr/>
          </a:p>
          <a:p xmlns:a="http://schemas.openxmlformats.org/drawingml/2006/main">
            <a:r>
              <a:t>Multimodal breadth + the deepest Workspace integration — 1B+ monthly users; default AI in Gmail, Docs, Meet.</a:t>
            </a:r>
            <a:endParaRPr/>
          </a:p>
          <a:p xmlns:a="http://schemas.openxmlformats.org/drawingml/2006/main">
            <a:r>
              <a:t>Model-name sprawl; the best reasoning (Deep Think) sits behind the Ultra tier.</a:t>
            </a:r>
            <a:endParaRPr/>
          </a:p>
          <a:p xmlns:a="http://schemas.openxmlformats.org/drawingml/2006/main">
            <a:r>
              <a:t>Copilot</a:t>
            </a:r>
            <a:endParaRPr/>
          </a:p>
          <a:p xmlns:a="http://schemas.openxmlformats.org/drawingml/2006/main">
            <a:r>
              <a:t>Microsoft · GPT-5.6 + Claude selectable</a:t>
            </a:r>
            <a:endParaRPr/>
          </a:p>
          <a:p xmlns:a="http://schemas.openxmlformats.org/drawingml/2006/main">
            <a:r>
              <a:t>The governed one — inside your tenant</a:t>
            </a:r>
            <a:endParaRPr/>
          </a:p>
          <a:p xmlns:a="http://schemas.openxmlformats.org/drawingml/2006/main">
            <a:r>
              <a:t>30M+ paid seats inside the M365 compliance boundary IT already audits; its Cowork agent runs on Claude technology.</a:t>
            </a:r>
            <a:endParaRPr/>
          </a:p>
          <a:p xmlns:a="http://schemas.openxmlformats.org/drawingml/2006/main">
            <a:r>
              <a:t>Licenses others’ models; admin flags mean colleagues get different capabilities.</a:t>
            </a:r>
            <a:endParaRPr/>
          </a:p>
          <a:p xmlns:a="http://schemas.openxmlformats.org/drawingml/2006/main">
            <a:r>
              <a:t>Claude</a:t>
            </a:r>
            <a:endParaRPr/>
          </a:p>
          <a:p xmlns:a="http://schemas.openxmlformats.org/drawingml/2006/main">
            <a:r>
              <a:t>Anthropic · Fable/Opus/Sonnet 5 + Haiku</a:t>
            </a:r>
            <a:endParaRPr/>
          </a:p>
          <a:p xmlns:a="http://schemas.openxmlformats.org/drawingml/2006/main">
            <a:r>
              <a:t>Best-in-class coding &amp; agentic work</a:t>
            </a:r>
            <a:endParaRPr/>
          </a:p>
          <a:p xmlns:a="http://schemas.openxmlformats.org/drawingml/2006/main">
            <a:r>
              <a:t>Tops SWE-bench AND OpenAI’s own real-work eval (GDPval); 2026 writing evals rank its prose #1; 1M-token documents.</a:t>
            </a:r>
            <a:endParaRPr/>
          </a:p>
          <a:p xmlns:a="http://schemas.openxmlformats.org/drawingml/2006/main">
            <a:r>
              <a:t>Premium pricing at the top; the flagship can refuse high-risk domains by design.</a:t>
            </a:r>
            <a:endParaRPr/>
          </a:p>
          <a:p xmlns:a="http://schemas.openxmlformats.org/drawingml/2006/main">
            <a:r>
              <a:t>Perplexity</a:t>
            </a:r>
            <a:endParaRPr/>
          </a:p>
          <a:p xmlns:a="http://schemas.openxmlformats.org/drawingml/2006/main">
            <a:r>
              <a:t>Perplexity · own stack + Model Council</a:t>
            </a:r>
            <a:endParaRPr/>
          </a:p>
          <a:p xmlns:a="http://schemas.openxmlformats.org/drawingml/2006/main">
            <a:r>
              <a:t>Research with receipts</a:t>
            </a:r>
            <a:endParaRPr/>
          </a:p>
          <a:p xmlns:a="http://schemas.openxmlformats.org/drawingml/2006/main">
            <a:r>
              <a:t>Inline citations by default; the lowest citation-error rate in CJR’s AI-search testing — 37%, vs 67% for ChatGPT Search.</a:t>
            </a:r>
            <a:endParaRPr/>
          </a:p>
          <a:p xmlns:a="http://schemas.openxmlformats.org/drawingml/2006/main">
            <a:r>
              <a:t>A citation isn’t proof — click through before quoting anywhere formal.</a:t>
            </a:r>
            <a:endParaRPr/>
          </a:p>
          <a:p xmlns:a="http://schemas.openxmlformats.org/drawingml/2006/main">
            <a:r>
              <a:t>Grok</a:t>
            </a:r>
            <a:endParaRPr/>
          </a:p>
          <a:p xmlns:a="http://schemas.openxmlformats.org/drawingml/2006/main">
            <a:r>
              <a:t>xAI (SpaceX) · Grok 4.6</a:t>
            </a:r>
            <a:endParaRPr/>
          </a:p>
          <a:p xmlns:a="http://schemas.openxmlformats.org/drawingml/2006/main">
            <a:r>
              <a:t>Blunt on purpose</a:t>
            </a:r>
            <a:endParaRPr/>
          </a:p>
          <a:p xmlns:a="http://schemas.openxmlformats.org/drawingml/2006/main">
            <a:r>
              <a:t>“Unhinged” is a literal voice mode; real-time X data; aggressive price-performance.</a:t>
            </a:r>
            <a:endParaRPr/>
          </a:p>
          <a:p xmlns:a="http://schemas.openxmlformats.org/drawingml/2006/main">
            <a:r>
              <a:t>Fewer guardrails, real incidents (Jul 2025 apology) — mind brand-sensitive work.</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“six trading cards — the big bold line on each is what that assistant is genuinely KNOWN FOR. Pick by task, not habit.”</a:t>
            </a:r>
            <a:endParaRPr/>
          </a:p>
          <a:p xmlns:a="http://schemas.openxmlformats.org/drawingml/2006/main">
            <a:r>
              <a:t>2) Walk the Z: ChatGPT → Gemini → Copilot (the three everyone already has), then Claude → Perplexity → Grok. Say the bold line, one evidence beat, move on; let the amber caveats be read, not spoken.</a:t>
            </a:r>
            <a:endParaRPr/>
          </a:p>
          <a:p xmlns:a="http://schemas.openxmlformats.org/drawingml/2006/main">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endParaRPr/>
          </a:p>
          <a:p xmlns:a="http://schemas.openxmlformats.org/drawingml/2006/main">
            <a:r>
              <a:t>4) On Copilot, land the licensing fact: Microsoft’s Cowork agent runs on Claude technology — tiers matter more than brand wars.</a:t>
            </a:r>
            <a:endParaRPr/>
          </a:p>
          <a:p xmlns:a="http://schemas.openxmlformats.org/drawingml/2006/main">
            <a:r>
              <a:t>5) Footer: the trust question is TWO SLIDES AHEAD; fortes verified Sep 9, 2026 and they WILL move.</a:t>
            </a:r>
            <a:endParaRPr/>
          </a:p>
          <a:p xmlns:a="http://schemas.openxmlformats.org/drawingml/2006/main">
            <a:r>
              <a:t/>
            </a:r>
            <a:endParaRPr/>
          </a:p>
          <a:p xmlns:a="http://schemas.openxmlformats.org/drawingml/2006/main">
            <a:r>
              <a:t>BRIDGE —</a:t>
            </a:r>
            <a:endParaRPr/>
          </a:p>
          <a:p xmlns:a="http://schemas.openxmlformats.org/drawingml/2006/main">
            <a:r>
              <a:t>“One force reshaped this list — the Chinese open-weight wave.”</a:t>
            </a:r>
            <a:endParaRPr/>
          </a:p>
          <a:p xmlns:a="http://schemas.openxmlformats.org/drawingml/2006/main">
            <a:r>
              <a:t/>
            </a:r>
            <a:endParaRPr/>
          </a:p>
          <a:p xmlns:a="http://schemas.openxmlformats.org/drawingml/2006/main">
            <a:r>
              <a:t>ACRONYMS —</a:t>
            </a:r>
            <a:endParaRPr/>
          </a:p>
          <a:p xmlns:a="http://schemas.openxmlformats.org/drawingml/2006/main">
            <a:r>
              <a:t>SWE-bench = Software Engineering benchmark — the standard test of coding-agent ability.</a:t>
            </a:r>
            <a:endParaRPr/>
          </a:p>
          <a:p xmlns:a="http://schemas.openxmlformats.org/drawingml/2006/main">
            <a:r>
              <a:t>GDPval = OpenAI’s benchmark of 220 real knowledge-work tasks across 44 occupations.</a:t>
            </a:r>
            <a:endParaRPr/>
          </a:p>
          <a:p xmlns:a="http://schemas.openxmlformats.org/drawingml/2006/main">
            <a:r>
              <a:t>CJR = Columbia Journalism Review (its Tow Center tested AI search citation accuracy).</a:t>
            </a:r>
            <a:endParaRPr/>
          </a:p>
          <a:p xmlns:a="http://schemas.openxmlformats.org/drawingml/2006/main">
            <a:r>
              <a:t>X = the social platform (Grok’s data source).</a:t>
            </a:r>
            <a:endParaRPr/>
          </a:p>
          <a:p xmlns:a="http://schemas.openxmlformats.org/drawingml/2006/main">
            <a:r>
              <a:t/>
            </a:r>
            <a:endParaRPr/>
          </a:p>
          <a:p xmlns:a="http://schemas.openxmlformats.org/drawingml/2006/main">
            <a:r>
              <a:t>CONTENT —</a:t>
            </a:r>
            <a:endParaRPr/>
          </a:p>
          <a:p xmlns:a="http://schemas.openxmlformats.org/drawingml/2006/main">
            <a:r>
              <a:t>v1.12 (owner edits, ported): evidence lines enlarged (his 14pt did not fit the fixed cards — set to the max that does, 11pt; caveats 10.5) and the “Fortes verified Sep 9, 2026 — they will move” footer removed from the slide: say it from point 5 instead.</a:t>
            </a:r>
            <a:endParaRPr/>
          </a:p>
          <a:p xmlns:a="http://schemas.openxmlformats.org/drawingml/2006/main">
            <a:r>
              <a:t>v1.6: rebuilt as identity trading cards (assertion-evidence layout, r19) with real product logos; Perplexity’s known-for now leads with the CJR error-rate comparison (the ~94%-with-citations figure was less meaningful — audit H3).</a:t>
            </a:r>
            <a:endParaRPr/>
          </a:p>
          <a:p xmlns:a="http://schemas.openxmlformats.org/drawingml/2006/main">
            <a:r>
              <a:t>Every claim evidence-backed in notes/research/r13_reputations_r1.md:</a:t>
            </a:r>
            <a:endParaRPr/>
          </a:p>
          <a:p xmlns:a="http://schemas.openxmlformats.org/drawingml/2006/main">
            <a:r>
              <a:t>Writing: owner’s hunch was “ChatGPT writes better” — 2026 evals say otherwise (LMArena creative-writing June 2026: Anthropic six of top ten, #1; EQ-Bench Aug 2026 agrees). ChatGPT’s honest forte is speed, options, marketing copy.</a:t>
            </a:r>
            <a:endParaRPr/>
          </a:p>
          <a:p xmlns:a="http://schemas.openxmlformats.org/drawingml/2006/main">
            <a:r>
              <a:t>Claude: SWE-bench ~96% (Sept 2026); GDPval winner (OpenAI’s own eval, Sept 2025); GDPval-AA v2 leader Sept 2026.</a:t>
            </a:r>
            <a:endParaRPr/>
          </a:p>
          <a:p xmlns:a="http://schemas.openxmlformats.org/drawingml/2006/main">
            <a:r>
              <a:t>Copilot: 30M+ paid seats (Microsoft FY26 Q4, Jul 2026); Copilot Cowork licenses Claude Cowork technology (Mar 2026).</a:t>
            </a:r>
            <a:endParaRPr/>
          </a:p>
          <a:p xmlns:a="http://schemas.openxmlformats.org/drawingml/2006/main">
            <a:r>
              <a:t>Vendor benchmark numbers are marketing until independently reproduced — read them as claims.</a:t>
            </a:r>
            <a:endParaRPr/>
          </a:p>
          <a:p xmlns:a="http://schemas.openxmlformats.org/drawingml/2006/main">
            <a:r>
              <a:t>Grok note: xAI was acquired by SpaceX (Feb 2026).</a:t>
            </a:r>
            <a:endParaRPr/>
          </a:p>
          <a:p xmlns:a="http://schemas.openxmlformats.org/drawingml/2006/main">
            <a:r>
              <a:t>Logos: official site favicons (assets/logos/) — referential brand use inside an internal training deck.</a:t>
            </a:r>
            <a:endParaRPr/>
          </a:p>
          <a:p xmlns:a="http://schemas.openxmlformats.org/drawingml/2006/main">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endParaRPr/>
          </a:p>
          <a:p xmlns:a="http://schemas.openxmlformats.org/drawingml/2006/main">
            <a:r>
              <a:t>R14 type pass: sub-labels trimmed to fit 9pt — Perplexity’s Model Council = GPT+Claude+Gemini; footer teaser (“whose servers? two slides ahead — the account tier decides, not the logo”) now spoken from point 5, not printed.</a:t>
            </a:r>
            <a:endParaRPr/>
          </a:p>
          <a:p xmlns:a="http://schemas.openxmlformats.org/drawingml/2006/main">
            <a:r>
              <a:t>17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0:50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Confirm approved tools and data rules before participants upload anything.</a:t>
            </a:r>
            <a:endParaRPr/>
          </a:p>
          <a:p xmlns:a="http://schemas.openxmlformats.org/drawingml/2006/main">
            <a:r>
              <a:t/>
            </a:r>
            <a:endParaRPr/>
          </a:p>
          <a:p xmlns:a="http://schemas.openxmlformats.org/drawingml/2006/main">
            <a:r>
              <a:t>SAY:</a:t>
            </a:r>
            <a:endParaRPr/>
          </a:p>
          <a:p xmlns:a="http://schemas.openxmlformats.org/drawingml/2006/main">
            <a:r>
              <a:t>- Company data rules depend on the actual account, service, contract, and configuration.</a:t>
            </a:r>
            <a:endParaRPr/>
          </a:p>
          <a:p xmlns:a="http://schemas.openxmlformats.org/drawingml/2006/main">
            <a:r>
              <a:t>- A vendor’s home country alone does not describe every customer’s storage arrangement.</a:t>
            </a:r>
            <a:endParaRPr/>
          </a:p>
          <a:p xmlns:a="http://schemas.openxmlformats.org/drawingml/2006/main">
            <a:r>
              <a:t>- Resolve uncertain access before an upload, using the organization’s approved guidance.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3: prompt engineering”.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2 · TRUST &amp; DATA</a:t>
            </a:r>
            <a:endParaRPr/>
          </a:p>
          <a:p xmlns:a="http://schemas.openxmlformats.org/drawingml/2006/main">
            <a:r>
              <a:t>19</a:t>
            </a:r>
            <a:endParaRPr/>
          </a:p>
          <a:p xmlns:a="http://schemas.openxmlformats.org/drawingml/2006/main">
            <a:r>
              <a:t>WHERE YOUR WORDS GO</a:t>
            </a:r>
            <a:endParaRPr/>
          </a:p>
          <a:p xmlns:a="http://schemas.openxmlformats.org/drawingml/2006/main">
            <a:r>
              <a:t>Whose servers, in which country — Sep 2026</a:t>
            </a:r>
            <a:endParaRPr/>
          </a:p>
          <a:p xmlns:a="http://schemas.openxmlformats.org/drawingml/2006/main">
            <a:r>
              <a:t>UNITED STATES</a:t>
            </a:r>
            <a:endParaRPr/>
          </a:p>
          <a:p xmlns:a="http://schemas.openxmlformats.org/drawingml/2006/main">
            <a:r>
              <a:t>Anthropic</a:t>
            </a:r>
            <a:endParaRPr/>
          </a:p>
          <a:p xmlns:a="http://schemas.openxmlformats.org/drawingml/2006/main">
            <a:r>
              <a:t>stored in the US</a:t>
            </a:r>
            <a:endParaRPr/>
          </a:p>
          <a:p xmlns:a="http://schemas.openxmlformats.org/drawingml/2006/main">
            <a:r>
              <a:t>OpenAI</a:t>
            </a:r>
            <a:endParaRPr/>
          </a:p>
          <a:p xmlns:a="http://schemas.openxmlformats.org/drawingml/2006/main">
            <a:r>
              <a:t>US by default</a:t>
            </a:r>
            <a:endParaRPr/>
          </a:p>
          <a:p xmlns:a="http://schemas.openxmlformats.org/drawingml/2006/main">
            <a:r>
              <a:t>xAI</a:t>
            </a:r>
            <a:endParaRPr/>
          </a:p>
          <a:p xmlns:a="http://schemas.openxmlformats.org/drawingml/2006/main">
            <a:r>
              <a:t>own Memphis data centers</a:t>
            </a:r>
            <a:endParaRPr/>
          </a:p>
          <a:p xmlns:a="http://schemas.openxmlformats.org/drawingml/2006/main">
            <a:r>
              <a:t>Perplexity</a:t>
            </a:r>
            <a:endParaRPr/>
          </a:p>
          <a:p xmlns:a="http://schemas.openxmlformats.org/drawingml/2006/main">
            <a:r>
              <a:t>AWS cloud, worldwide</a:t>
            </a:r>
            <a:endParaRPr/>
          </a:p>
          <a:p xmlns:a="http://schemas.openxmlformats.org/drawingml/2006/main">
            <a:r>
              <a:t>EUROPE — residency on business tiers</a:t>
            </a:r>
            <a:endParaRPr/>
          </a:p>
          <a:p xmlns:a="http://schemas.openxmlformats.org/drawingml/2006/main">
            <a:r>
              <a:t>OpenAI</a:t>
            </a:r>
            <a:endParaRPr/>
          </a:p>
          <a:p xmlns:a="http://schemas.openxmlformats.org/drawingml/2006/main">
            <a:r>
              <a:t>EU residency (2025) + in-region processing (2026)</a:t>
            </a:r>
            <a:endParaRPr/>
          </a:p>
          <a:p xmlns:a="http://schemas.openxmlformats.org/drawingml/2006/main">
            <a:r>
              <a:t>Microsoft</a:t>
            </a:r>
            <a:endParaRPr/>
          </a:p>
          <a:p xmlns:a="http://schemas.openxmlformats.org/drawingml/2006/main">
            <a:r>
              <a:t>EU Data Boundary — Claude-in-Copilot sits outside it</a:t>
            </a:r>
            <a:endParaRPr/>
          </a:p>
          <a:p xmlns:a="http://schemas.openxmlformats.org/drawingml/2006/main">
            <a:r>
              <a:t>Google</a:t>
            </a:r>
            <a:endParaRPr/>
          </a:p>
          <a:p xmlns:a="http://schemas.openxmlformats.org/drawingml/2006/main">
            <a:r>
              <a:t>enterprise residency by region</a:t>
            </a:r>
            <a:endParaRPr/>
          </a:p>
          <a:p xmlns:a="http://schemas.openxmlformats.org/drawingml/2006/main">
            <a:r>
              <a:t>Anthropic</a:t>
            </a:r>
            <a:endParaRPr/>
          </a:p>
          <a:p xmlns:a="http://schemas.openxmlformats.org/drawingml/2006/main">
            <a:r>
              <a:t>EU via cloud partners (Bedrock · Vertex · Foundry)</a:t>
            </a:r>
            <a:endParaRPr/>
          </a:p>
          <a:p xmlns:a="http://schemas.openxmlformats.org/drawingml/2006/main">
            <a:r>
              <a:t>CHINA &amp; ASIA</a:t>
            </a:r>
            <a:endParaRPr/>
          </a:p>
          <a:p xmlns:a="http://schemas.openxmlformats.org/drawingml/2006/main">
            <a:r>
              <a:t>DeepSeek</a:t>
            </a:r>
            <a:endParaRPr/>
          </a:p>
          <a:p xmlns:a="http://schemas.openxmlformats.org/drawingml/2006/main">
            <a:r>
              <a:t>“stored in the People’s Republic of China” — its own policy</a:t>
            </a:r>
            <a:endParaRPr/>
          </a:p>
          <a:p xmlns:a="http://schemas.openxmlformats.org/drawingml/2006/main">
            <a:r>
              <a:t>Kimi (Moonshot)</a:t>
            </a:r>
            <a:endParaRPr/>
          </a:p>
          <a:p xmlns:a="http://schemas.openxmlformats.org/drawingml/2006/main">
            <a:r>
              <a:t>PRC storage</a:t>
            </a:r>
            <a:endParaRPr/>
          </a:p>
          <a:p xmlns:a="http://schemas.openxmlformats.org/drawingml/2006/main">
            <a:r>
              <a:t>Z</a:t>
            </a:r>
            <a:endParaRPr/>
          </a:p>
          <a:p xmlns:a="http://schemas.openxmlformats.org/drawingml/2006/main">
            <a:r>
              <a:t>Z.ai (Zhipu)</a:t>
            </a:r>
            <a:endParaRPr/>
          </a:p>
          <a:p xmlns:a="http://schemas.openxmlformats.org/drawingml/2006/main">
            <a:r>
              <a:t>Singapore processing · US Entity-List parent</a:t>
            </a:r>
            <a:endParaRPr/>
          </a:p>
          <a:p xmlns:a="http://schemas.openxmlformats.org/drawingml/2006/main">
            <a:r>
              <a:t>Residency = choosing where it lives. </a:t>
            </a:r>
            <a:endParaRPr/>
          </a:p>
          <a:p xmlns:a="http://schemas.openxmlformats.org/drawingml/2006/main">
            <a:r>
              <a:t>An enterprise feature: the same vendor can host your company tenant in the EU while its consumer app stores chats in the US.</a:t>
            </a:r>
            <a:endParaRPr/>
          </a:p>
          <a:p xmlns:a="http://schemas.openxmlformats.org/drawingml/2006/main">
            <a:r>
              <a:t>The one question that settles it: </a:t>
            </a:r>
            <a:endParaRPr/>
          </a:p>
          <a:p xmlns:a="http://schemas.openxmlformats.org/drawingml/2006/main">
            <a:r>
              <a:t>ask IT which region and tier YOUR account runs on — your organization’s AI policy has the answer for everything else.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“one geography question — whose servers, in which country — and one account question. That’s the whole trust topic at our level.”</a:t>
            </a:r>
            <a:endParaRP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endParaRPr/>
          </a:p>
          <a:p xmlns:a="http://schemas.openxmlformats.org/drawingml/2006/main">
            <a:r>
              <a:t>3) The italic map line: SAME LOGO, DIFFERENT HOMES — the account tier decides which one yours is. That is the entire lesson.</a:t>
            </a:r>
            <a:endParaRPr/>
          </a:p>
          <a:p xmlns:a="http://schemas.openxmlformats.org/drawingml/2006/main">
            <a:r>
              <a:t>4) Teal card: residency, defined once.</a:t>
            </a:r>
            <a:endParaRP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endParaRP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endParaRPr/>
          </a:p>
          <a:p xmlns:a="http://schemas.openxmlformats.org/drawingml/2006/main">
            <a:r>
              <a:t/>
            </a:r>
            <a:endParaRPr/>
          </a:p>
          <a:p xmlns:a="http://schemas.openxmlformats.org/drawingml/2006/main">
            <a:r>
              <a:t>BRIDGE —</a:t>
            </a:r>
            <a:endParaRPr/>
          </a:p>
          <a:p xmlns:a="http://schemas.openxmlformats.org/drawingml/2006/main">
            <a:r>
              <a:t>“That’s the landscape. Part 3 — the craft itself.”</a:t>
            </a:r>
            <a:endParaRPr/>
          </a:p>
          <a:p xmlns:a="http://schemas.openxmlformats.org/drawingml/2006/main">
            <a:r>
              <a:t/>
            </a:r>
            <a:endParaRPr/>
          </a:p>
          <a:p xmlns:a="http://schemas.openxmlformats.org/drawingml/2006/main">
            <a:r>
              <a:t>ACRONYMS —</a:t>
            </a:r>
            <a:endParaRPr/>
          </a:p>
          <a:p xmlns:a="http://schemas.openxmlformats.org/drawingml/2006/main">
            <a:r>
              <a:t>PRC = People’s Republic of China. EU Data Boundary = Microsoft’s commitment to process EU data inside the EU.</a:t>
            </a:r>
            <a:endParaRPr/>
          </a:p>
          <a:p xmlns:a="http://schemas.openxmlformats.org/drawingml/2006/main">
            <a:r>
              <a:t>AWS = Amazon Web Services. Entity List = the US federal trade-restriction list — a procurement red flag.</a:t>
            </a:r>
            <a:endParaRPr/>
          </a:p>
          <a:p xmlns:a="http://schemas.openxmlformats.org/drawingml/2006/main">
            <a:r>
              <a:t/>
            </a:r>
            <a:endParaRPr/>
          </a:p>
          <a:p xmlns:a="http://schemas.openxmlformats.org/drawingml/2006/main">
            <a:r>
              <a:t>CONTENT —</a:t>
            </a:r>
            <a:endParaRPr/>
          </a:p>
          <a:p xmlns:a="http://schemas.openxmlformats.org/drawingml/2006/main">
            <a:r>
              <a:t>v1.12 (owner edits, ported): the centered “same logo, different homes — the ACCOUNT TIER decides” line was removed from the slide — say it aloud instead when sweeping the panels; it remains the slide’s one-line lesson.</a:t>
            </a:r>
            <a:endParaRP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endParaRP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endParaRPr/>
          </a:p>
          <a:p xmlns:a="http://schemas.openxmlformats.org/drawingml/2006/main">
            <a:r>
              <a:t>Defaults drift (Anthropic flipped consumer training Aug 2025; Microsoft Oct 2024) — re-verify quarterly.</a:t>
            </a:r>
            <a:endParaRPr/>
          </a:p>
          <a:p xmlns:a="http://schemas.openxmlformats.org/drawingml/2006/main">
            <a:r>
              <a:t>Standing rule, always said aloud: your organization’s AI policy and approved-tool list outrank everything on this slide.</a:t>
            </a:r>
            <a:endParaRPr/>
          </a:p>
          <a:p xmlns:a="http://schemas.openxmlformats.org/drawingml/2006/main">
            <a:r>
              <a:t>19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et al., 2025; revised 2026 —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91–96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Prompt advice depends on the model, task, and evidence.</a:t>
            </a:r>
            <a:endParaRPr/>
          </a:p>
          <a:p xmlns:a="http://schemas.openxmlformats.org/drawingml/2006/main">
            <a:r>
              <a:t/>
            </a:r>
            <a:endParaRPr/>
          </a:p>
          <a:p xmlns:a="http://schemas.openxmlformats.org/drawingml/2006/main">
            <a:r>
              <a:t>SAY:</a:t>
            </a:r>
            <a:endParaRPr/>
          </a:p>
          <a:p xmlns:a="http://schemas.openxmlformats.org/drawingml/2006/main">
            <a:r>
              <a:t>- These techniques are ideas to test against representative examples.</a:t>
            </a:r>
            <a:endParaRPr/>
          </a:p>
          <a:p xmlns:a="http://schemas.openxmlformats.org/drawingml/2006/main">
            <a:r>
              <a:t>- A result from one model or benchmark is not a universal effect size.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neutral rubric reduces leading feedback”.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WHAT THE EVIDENCE SAYS</a:t>
            </a:r>
            <a:endParaRPr/>
          </a:p>
          <a:p xmlns:a="http://schemas.openxmlformats.org/drawingml/2006/main">
            <a:r>
              <a:t>28</a:t>
            </a:r>
            <a:endParaRPr/>
          </a:p>
          <a:p xmlns:a="http://schemas.openxmlformats.org/drawingml/2006/main">
            <a:r>
              <a:t>EVIDENCE CORNER</a:t>
            </a:r>
            <a:endParaRPr/>
          </a:p>
          <a:p xmlns:a="http://schemas.openxmlformats.org/drawingml/2006/main">
            <a:r>
              <a:t>Six that work, six that don’t — in plain terms</a:t>
            </a:r>
            <a:endParaRPr/>
          </a:p>
          <a:p xmlns:a="http://schemas.openxmlformats.org/drawingml/2006/main">
            <a:r>
              <a:t>PROVEN TO WORK</a:t>
            </a:r>
            <a:endParaRPr/>
          </a:p>
          <a:p xmlns:a="http://schemas.openxmlformats.org/drawingml/2006/main">
            <a:r>
              <a:t>Be specific: task, constraints, success criteria</a:t>
            </a:r>
            <a:endParaRPr/>
          </a:p>
          <a:p xmlns:a="http://schemas.openxmlformats.org/drawingml/2006/main">
            <a:r>
              <a:t>unstated needs guessed right only ~41%</a:t>
            </a:r>
            <a:endParaRPr/>
          </a:p>
          <a:p xmlns:a="http://schemas.openxmlformats.org/drawingml/2006/main">
            <a:r>
              <a:t>One tested, reused template</a:t>
            </a:r>
            <a:endParaRPr/>
          </a:p>
          <a:p xmlns:a="http://schemas.openxmlformats.org/drawingml/2006/main">
            <a:r>
              <a:t>formatting alone swings results up to 76 points</a:t>
            </a:r>
            <a:endParaRPr/>
          </a:p>
          <a:p xmlns:a="http://schemas.openxmlformats.org/drawingml/2006/main">
            <a:r>
              <a:t>Long inputs: documents on top, question at the END</a:t>
            </a:r>
            <a:endParaRPr/>
          </a:p>
          <a:p xmlns:a="http://schemas.openxmlformats.org/drawingml/2006/main">
            <a:r>
              <a:t>up to ~30% better answers</a:t>
            </a:r>
            <a:endParaRPr/>
          </a:p>
          <a:p xmlns:a="http://schemas.openxmlformats.org/drawingml/2006/main">
            <a:r>
              <a:t>Give it an out — “if you don’t know, say so”</a:t>
            </a:r>
            <a:endParaRPr/>
          </a:p>
          <a:p xmlns:a="http://schemas.openxmlformats.org/drawingml/2006/main">
            <a:r>
              <a:t>invented answers cut by a third or more</a:t>
            </a:r>
            <a:endParaRPr/>
          </a:p>
          <a:p xmlns:a="http://schemas.openxmlformats.org/drawingml/2006/main">
            <a:r>
              <a:t>Self-check against NAMED criteria</a:t>
            </a:r>
            <a:endParaRPr/>
          </a:p>
          <a:p xmlns:a="http://schemas.openxmlformats.org/drawingml/2006/main">
            <a:r>
              <a:t>fact scores jump 56→71 with planned checks</a:t>
            </a:r>
            <a:endParaRPr/>
          </a:p>
          <a:p xmlns:a="http://schemas.openxmlformats.org/drawingml/2006/main">
            <a:r>
              <a:t>Ask the AI to improve your prompt</a:t>
            </a:r>
            <a:endParaRPr/>
          </a:p>
          <a:p xmlns:a="http://schemas.openxmlformats.org/drawingml/2006/main">
            <a:r>
              <a:t>official tools at every vendor; optimizer prompts beat human ones</a:t>
            </a:r>
            <a:endParaRPr/>
          </a:p>
          <a:p xmlns:a="http://schemas.openxmlformats.org/drawingml/2006/main">
            <a:r>
              <a:t>MYTH — SAVE YOUR TYPING</a:t>
            </a:r>
            <a:endParaRPr/>
          </a:p>
          <a:p xmlns:a="http://schemas.openxmlformats.org/drawingml/2006/main">
            <a:r>
              <a:t>“Tell it it’s a genius and it gets smarter”</a:t>
            </a:r>
            <a:endParaRPr/>
          </a:p>
          <a:p xmlns:a="http://schemas.openxmlformats.org/drawingml/2006/main">
            <a:r>
              <a:t>162 personas tested: zero accuracy gain</a:t>
            </a:r>
            <a:endParaRPr/>
          </a:p>
          <a:p xmlns:a="http://schemas.openxmlformats.org/drawingml/2006/main">
            <a:r>
              <a:t>“Tips, threats, ‘important to my career’”</a:t>
            </a:r>
            <a:endParaRPr/>
          </a:p>
          <a:p xmlns:a="http://schemas.openxmlformats.org/drawingml/2006/main">
            <a:r>
              <a:t>null on average; the famous 115% was the cherry-picked best case</a:t>
            </a:r>
            <a:endParaRPr/>
          </a:p>
          <a:p xmlns:a="http://schemas.openxmlformats.org/drawingml/2006/main">
            <a:r>
              <a:t>“There are magic phrases”</a:t>
            </a:r>
            <a:endParaRPr/>
          </a:p>
          <a:p xmlns:a="http://schemas.openxmlformats.org/drawingml/2006/main">
            <a:r>
              <a:t>“take a deep breath” won on one model &amp; benchmark — never universal</a:t>
            </a:r>
            <a:endParaRPr/>
          </a:p>
          <a:p xmlns:a="http://schemas.openxmlformats.org/drawingml/2006/main">
            <a:r>
              <a:t>“Longer prompts are always better”</a:t>
            </a:r>
            <a:endParaRPr/>
          </a:p>
          <a:p xmlns:a="http://schemas.openxmlformats.org/drawingml/2006/main">
            <a:r>
              <a:t>padding drops accuracy at just ~3K tokens — density wins, not length</a:t>
            </a:r>
            <a:endParaRPr/>
          </a:p>
          <a:p xmlns:a="http://schemas.openxmlformats.org/drawingml/2006/main">
            <a:r>
              <a:t>“‘Are you sure?’ makes it double-check”</a:t>
            </a:r>
            <a:endParaRPr/>
          </a:p>
          <a:p xmlns:a="http://schemas.openxmlformats.org/drawingml/2006/main">
            <a:r>
              <a:t>it makes it FOLD: answers flip under pushback in 58% of cases</a:t>
            </a:r>
            <a:endParaRPr/>
          </a:p>
          <a:p xmlns:a="http://schemas.openxmlformats.org/drawingml/2006/main">
            <a:r>
              <a:t>“The AI knows what I mean”</a:t>
            </a:r>
            <a:endParaRPr/>
          </a:p>
          <a:p xmlns:a="http://schemas.openxmlformats.org/drawingml/2006/main">
            <a:r>
              <a:t>the same ~41% — mind-reading is the myth behind every vague prompt</a:t>
            </a:r>
            <a:endParaRPr/>
          </a:p>
          <a:p xmlns:a="http://schemas.openxmlformats.org/drawingml/2006/main">
            <a:r>
              <a:t>Every line has a study behind it — sources in the PLAYBOOK tab of your Course Workbook. And one myth got its own slide: the next one.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“everything on this slide survived replication — and everything on the right failed it. Twelve lines, plain terms.”</a:t>
            </a:r>
            <a:endParaRP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endParaRPr/>
          </a:p>
          <a:p xmlns:a="http://schemas.openxmlformats.org/drawingml/2006/main">
            <a:r>
              <a:t>3) RED column; land the symmetry joke: myth 6 and proven 1 are the same number (~41%) — “the AI knows what I mean” is the myth; “say what you mean” is the cure.</a:t>
            </a:r>
            <a:endParaRPr/>
          </a:p>
          <a:p xmlns:a="http://schemas.openxmlformats.org/drawingml/2006/main">
            <a:r>
              <a:t>4) On myth 5, tease: “that one is so important it gets the next slide to itself.”</a:t>
            </a:r>
            <a:endParaRPr/>
          </a:p>
          <a:p xmlns:a="http://schemas.openxmlformats.org/drawingml/2006/main">
            <a:r>
              <a:t/>
            </a:r>
            <a:endParaRPr/>
          </a:p>
          <a:p xmlns:a="http://schemas.openxmlformats.org/drawingml/2006/main">
            <a:r>
              <a:t>BRIDGE —</a:t>
            </a:r>
            <a:endParaRPr/>
          </a:p>
          <a:p xmlns:a="http://schemas.openxmlformats.org/drawingml/2006/main">
            <a:r>
              <a:t>“The bias behind myth 5 — the mirror.”</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v1.7: expanded to a full 6+6 slide (owner request); evidence per line in notes/research/r25_proven_myth_mirror.md + r20/r15: specificity = Yang et al., 2025; revised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endParaRPr/>
          </a:p>
          <a:p xmlns:a="http://schemas.openxmlformats.org/drawingml/2006/main">
            <a:r>
              <a:t>“Say the WHY behind a rule” is VENDOR GUIDANCE (Anthropic docs), not independently measured — keep it folded into specificity, never as its own proven line (r25 downgrade).</a:t>
            </a:r>
            <a:endParaRP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endParaRPr/>
          </a:p>
          <a:p xmlns:a="http://schemas.openxmlformats.org/drawingml/2006/main">
            <a:r>
              <a:t>The 2025 Wharton replication wave (25–100 runs per question) independently confirms both columns.</a:t>
            </a:r>
            <a:endParaRPr/>
          </a:p>
          <a:p xmlns:a="http://schemas.openxmlformats.org/drawingml/2006/main">
            <a:r>
              <a:t>28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neutral review rubric reduces the influence of the requester’s preference.</a:t>
            </a:r>
            <a:endParaRPr/>
          </a:p>
          <a:p xmlns:a="http://schemas.openxmlformats.org/drawingml/2006/main">
            <a:r>
              <a:t/>
            </a:r>
            <a:endParaRPr/>
          </a:p>
          <a:p xmlns:a="http://schemas.openxmlformats.org/drawingml/2006/main">
            <a:r>
              <a:t>SAY:</a:t>
            </a:r>
            <a:endParaRPr/>
          </a:p>
          <a:p xmlns:a="http://schemas.openxmlformats.org/drawingml/2006/main">
            <a:r>
              <a:t>- A leading question can bias an evaluation toward the requester’s view.</a:t>
            </a:r>
            <a:endParaRPr/>
          </a:p>
          <a:p xmlns:a="http://schemas.openxmlformats.org/drawingml/2006/main">
            <a:r>
              <a:t>- Use an explicit rubric and ask what evidence would change the conclusion.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practical prompt review checklist”.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BIAS TO DESIGN AGAINST</a:t>
            </a:r>
            <a:endParaRPr/>
          </a:p>
          <a:p xmlns:a="http://schemas.openxmlformats.org/drawingml/2006/main">
            <a:r>
              <a:t>29</a:t>
            </a:r>
            <a:endParaRPr/>
          </a:p>
          <a:p xmlns:a="http://schemas.openxmlformats.org/drawingml/2006/main">
            <a:r>
              <a:t>AI MIRRORS YOU</a:t>
            </a:r>
            <a:endParaRPr/>
          </a:p>
          <a:p xmlns:a="http://schemas.openxmlformats.org/drawingml/2006/main">
            <a:r>
              <a:t>The flattery bias — measured, and all over the news</a:t>
            </a:r>
            <a:endParaRPr/>
          </a:p>
          <a:p xmlns:a="http://schemas.openxmlformats.org/drawingml/2006/main">
            <a:r>
              <a:t>+49%</a:t>
            </a:r>
            <a:endParaRPr/>
          </a:p>
          <a:p xmlns:a="http://schemas.openxmlformats.org/drawingml/2006/main">
            <a:r>
              <a:t>how often it says you’re right — a person = 100</a:t>
            </a:r>
            <a:endParaRPr/>
          </a:p>
          <a:p xmlns:a="http://schemas.openxmlformats.org/drawingml/2006/main">
            <a:r>
              <a:t>a person</a:t>
            </a:r>
            <a:endParaRPr/>
          </a:p>
          <a:p xmlns:a="http://schemas.openxmlformats.org/drawingml/2006/main">
            <a:r>
              <a:t>100</a:t>
            </a:r>
            <a:endParaRPr/>
          </a:p>
          <a:p xmlns:a="http://schemas.openxmlformats.org/drawingml/2006/main">
            <a:r>
              <a:t>the AI</a:t>
            </a:r>
            <a:endParaRPr/>
          </a:p>
          <a:p xmlns:a="http://schemas.openxmlformats.org/drawingml/2006/main">
            <a:r>
              <a:t>149</a:t>
            </a:r>
            <a:endParaRPr/>
          </a:p>
          <a:p xmlns:a="http://schemas.openxmlformats.org/drawingml/2006/main">
            <a:r>
              <a:t>11 leading models (Stanford/CMU, Science 2026). Root cause: trained on human preferences — and we prefer agreement.</a:t>
            </a:r>
            <a:endParaRPr/>
          </a:p>
          <a:p xmlns:a="http://schemas.openxmlformats.org/drawingml/2006/main">
            <a:r>
              <a:t>It made the news</a:t>
            </a:r>
            <a:endParaRPr/>
          </a:p>
          <a:p xmlns:a="http://schemas.openxmlformats.org/drawingml/2006/main">
            <a:r>
              <a:t>APR 2025</a:t>
            </a:r>
            <a:endParaRPr/>
          </a:p>
          <a:p xmlns:a="http://schemas.openxmlformats.org/drawingml/2006/main">
            <a:r>
              <a:t>OpenAI rolls back a ChatGPT update — its own words: “overly flattering or agreeable… sycophantic.” Its metrics had rewarded the mirror.</a:t>
            </a:r>
            <a:endParaRPr/>
          </a:p>
          <a:p xmlns:a="http://schemas.openxmlformats.org/drawingml/2006/main">
            <a:r>
              <a:t>JUN 2025</a:t>
            </a:r>
            <a:endParaRPr/>
          </a:p>
          <a:p xmlns:a="http://schemas.openxmlformats.org/drawingml/2006/main">
            <a:r>
              <a:t>New York Times: chatbots validating false beliefs send some users “spiraling” — agreement as a safety problem.</a:t>
            </a:r>
            <a:endParaRPr/>
          </a:p>
          <a:p xmlns:a="http://schemas.openxmlformats.org/drawingml/2006/main">
            <a:r>
              <a:t>AUG 2025</a:t>
            </a:r>
            <a:endParaRPr/>
          </a:p>
          <a:p xmlns:a="http://schemas.openxmlformats.org/drawingml/2006/main">
            <a:r>
              <a:t>Microsoft’s AI chief warns of unhealthy AI validation — “not confined to people already at risk.”</a:t>
            </a:r>
            <a:endParaRPr/>
          </a:p>
          <a:p xmlns:a="http://schemas.openxmlformats.org/drawingml/2006/main">
            <a:r>
              <a:t>2026</a:t>
            </a:r>
            <a:endParaRPr/>
          </a:p>
          <a:p xmlns:a="http://schemas.openxmlformats.org/drawingml/2006/main">
            <a:r>
              <a:t>The Science study measures it (+49%) — and the flattery bias draws regulatory attention.</a:t>
            </a:r>
            <a:endParaRPr/>
          </a:p>
          <a:p xmlns:a="http://schemas.openxmlformats.org/drawingml/2006/main">
            <a:r>
              <a:t>The countermeasures — usable today: </a:t>
            </a:r>
            <a:endParaRPr/>
          </a:p>
          <a:p xmlns:a="http://schemas.openxmlformats.org/drawingml/2006/main">
            <a:r>
              <a:t>never reveal your preferred answer when asking for a review · ask for the case AGAINST (“three weakest points”) · paste your draft as “a colleague’s” · never treat “are you sure?” as verification.</a:t>
            </a:r>
            <a:endParaRPr/>
          </a:p>
          <a:p xmlns:a="http://schemas.openxmlformats.org/drawingml/2006/main">
            <a:r>
              <a:t>SEE IT YOURSELF — two chats, same paragraph:</a:t>
            </a:r>
            <a:endParaRPr/>
          </a:p>
          <a:p xmlns:a="http://schemas.openxmlformats.org/drawingml/2006/main">
            <a:r>
              <a:t>Chat 1: “A colleague wrote this — rate it 1–10 and list its three biggest weaknesses.”   Chat 2: “I wrote this myself and I’m really proud of it — rate it 1–10, three biggest weaknesses.”</a:t>
            </a:r>
            <a:endParaRPr/>
          </a:p>
          <a:p xmlns:a="http://schemas.openxmlformats.org/drawingml/2006/main">
            <a:r>
              <a:t>Did the score move — and the criticism soften — once it knew you were the author?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Say it as one sentence first: “the AI is a mirror — it agrees with you about half again as often as a person would.” Then the +49%.</a:t>
            </a:r>
            <a:endParaRP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endParaRPr/>
          </a:p>
          <a:p xmlns:a="http://schemas.openxmlformats.org/drawingml/2006/main">
            <a:r>
              <a:t>3) Countermeasures — read all four; the first changes behavior TODAY.</a:t>
            </a:r>
            <a:endParaRP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endParaRPr/>
          </a:p>
          <a:p xmlns:a="http://schemas.openxmlformats.org/drawingml/2006/main">
            <a:r>
              <a:t/>
            </a:r>
            <a:endParaRPr/>
          </a:p>
          <a:p xmlns:a="http://schemas.openxmlformats.org/drawingml/2006/main">
            <a:r>
              <a:t>BRIDGE —</a:t>
            </a:r>
            <a:endParaRPr/>
          </a:p>
          <a:p xmlns:a="http://schemas.openxmlformats.org/drawingml/2006/main">
            <a:r>
              <a:t>“So what’s current best practice, all in one place? The playbook.”</a:t>
            </a:r>
            <a:endParaRPr/>
          </a:p>
          <a:p xmlns:a="http://schemas.openxmlformats.org/drawingml/2006/main">
            <a:r>
              <a:t/>
            </a:r>
            <a:endParaRPr/>
          </a:p>
          <a:p xmlns:a="http://schemas.openxmlformats.org/drawingml/2006/main">
            <a:r>
              <a:t>ACRONYMS —</a:t>
            </a:r>
            <a:endParaRPr/>
          </a:p>
          <a:p xmlns:a="http://schemas.openxmlformats.org/drawingml/2006/main">
            <a:r>
              <a:t>CMU = Carnegie Mellon University (co-authors of the Science study).</a:t>
            </a:r>
            <a:endParaRPr/>
          </a:p>
          <a:p xmlns:a="http://schemas.openxmlformats.org/drawingml/2006/main">
            <a:r>
              <a:t/>
            </a:r>
            <a:endParaRPr/>
          </a:p>
          <a:p xmlns:a="http://schemas.openxmlformats.org/drawingml/2006/main">
            <a:r>
              <a:t>CONTENT —</a:t>
            </a:r>
            <a:endParaRP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endParaRP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endParaRP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endParaRPr/>
          </a:p>
          <a:p xmlns:a="http://schemas.openxmlformats.org/drawingml/2006/main">
            <a:r>
              <a:t>Handled with care: no medical claims from the “AI psychosis” coverage; countermeasures are the deck’s standing blind-review discipline.</a:t>
            </a:r>
            <a:endParaRP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endParaRP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endParaRPr/>
          </a:p>
          <a:p xmlns:a="http://schemas.openxmlformats.org/drawingml/2006/main">
            <a:r>
              <a:t>29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Treat universal prompt rules as hypotheses to test, not laws.</a:t>
            </a:r>
            <a:endParaRPr/>
          </a:p>
          <a:p xmlns:a="http://schemas.openxmlformats.org/drawingml/2006/main">
            <a:r>
              <a:t/>
            </a:r>
            <a:endParaRPr/>
          </a:p>
          <a:p xmlns:a="http://schemas.openxmlformats.org/drawingml/2006/main">
            <a:r>
              <a:t>SAY:</a:t>
            </a:r>
            <a:endParaRPr/>
          </a:p>
          <a:p xmlns:a="http://schemas.openxmlformats.org/drawingml/2006/main">
            <a:r>
              <a:t>- Use this playbook as a reference when diagnosing an unsatisfactory answer.</a:t>
            </a:r>
            <a:endParaRPr/>
          </a:p>
          <a:p xmlns:a="http://schemas.openxmlformats.org/drawingml/2006/main">
            <a:r>
              <a:t>- Avoid turning model-dependent advice into universal rules.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rPr/>
              <a:t>BRIDGE: Move to “Data Analytics Exercise”.</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2026 PLAYBOOK</a:t>
            </a:r>
            <a:endParaRPr/>
          </a:p>
          <a:p xmlns:a="http://schemas.openxmlformats.org/drawingml/2006/main">
            <a:r>
              <a:t>30</a:t>
            </a:r>
            <a:endParaRPr/>
          </a:p>
          <a:p xmlns:a="http://schemas.openxmlformats.org/drawingml/2006/main">
            <a:r>
              <a:t>DO · DON’T · EXPIRED — TOP FIVE EACH</a:t>
            </a:r>
            <a:endParaRPr/>
          </a:p>
          <a:p xmlns:a="http://schemas.openxmlformats.org/drawingml/2006/main">
            <a:r>
              <a:t>The 2026 prompting playbook</a:t>
            </a:r>
            <a:endParaRPr/>
          </a:p>
          <a:p xmlns:a="http://schemas.openxmlformats.org/drawingml/2006/main">
            <a:r>
              <a:t>TO DO — reliably helps</a:t>
            </a:r>
            <a:endParaRPr/>
          </a:p>
          <a:p xmlns:a="http://schemas.openxmlformats.org/drawingml/2006/main">
            <a:r>
              <a:t>1  State the task precisely — verb, constraints, success criteria, and the WHY behind each rule</a:t>
            </a:r>
            <a:endParaRPr/>
          </a:p>
          <a:p xmlns:a="http://schemas.openxmlformats.org/drawingml/2006/main">
            <a:r>
              <a:t>2  Separate instructions from material; standardize ONE tested, versioned template</a:t>
            </a:r>
            <a:endParaRPr/>
          </a:p>
          <a:p xmlns:a="http://schemas.openxmlformats.org/drawingml/2006/main">
            <a:r>
              <a:t>3  Long inputs: documents at the top, instructions at the END (bookend both ends when very long)</a:t>
            </a:r>
            <a:endParaRPr/>
          </a:p>
          <a:p xmlns:a="http://schemas.openxmlformats.org/drawingml/2006/main">
            <a:r>
              <a:t>4  Give an out + require citations</a:t>
            </a:r>
            <a:endParaRPr/>
          </a:p>
          <a:p xmlns:a="http://schemas.openxmlformats.org/drawingml/2006/main">
            <a:r>
              <a:t>5  Numeric budgets for anything measurable — words, bullets, steps</a:t>
            </a:r>
            <a:endParaRPr/>
          </a:p>
          <a:p xmlns:a="http://schemas.openxmlformats.org/drawingml/2006/main">
            <a:r>
              <a:t>NOT TO DO — hurts or wastes</a:t>
            </a:r>
            <a:endParaRPr/>
          </a:p>
          <a:p xmlns:a="http://schemas.openxmlformats.org/drawingml/2006/main">
            <a:r>
              <a:t>1  Contradictory instructions — reasoning models burn tokens reconciling them</a:t>
            </a:r>
            <a:endParaRPr/>
          </a:p>
          <a:p xmlns:a="http://schemas.openxmlformats.org/drawingml/2006/main">
            <a:r>
              <a:t>2  Tips, threats, emotional pressure — null on average, chaos per question</a:t>
            </a:r>
            <a:endParaRPr/>
          </a:p>
          <a:p xmlns:a="http://schemas.openxmlformats.org/drawingml/2006/main">
            <a:r>
              <a:t>3  Bare “do not hallucinate” commands — they trigger over-refusal; use the out + citations instead</a:t>
            </a:r>
            <a:endParaRPr/>
          </a:p>
          <a:p xmlns:a="http://schemas.openxmlformats.org/drawingml/2006/main">
            <a:r>
              <a:t>4  Revealing your preferred answer, or “are you sure?” as verification</a:t>
            </a:r>
            <a:endParaRPr/>
          </a:p>
          <a:p xmlns:a="http://schemas.openxmlformats.org/drawingml/2006/main">
            <a:r>
              <a:t>5  Piling micro-rules — quality degrades past ~150 instructions; smallest prompt that keeps the contract</a:t>
            </a:r>
            <a:endParaRPr/>
          </a:p>
          <a:p xmlns:a="http://schemas.openxmlformats.org/drawingml/2006/main">
            <a:r>
              <a:t>EXPIRED — was right in 2023</a:t>
            </a:r>
            <a:endParaRPr/>
          </a:p>
          <a:p xmlns:a="http://schemas.openxmlformats.org/drawingml/2006/main">
            <a:r>
              <a:t>1  “Think step by step” → pick a reasoning model, set the effort dial</a:t>
            </a:r>
            <a:endParaRPr/>
          </a:p>
          <a:p xmlns:a="http://schemas.openxmlformats.org/drawingml/2006/main">
            <a:r>
              <a:t>2  Piles of examples → zero-shot first, then 3–5 format-definers</a:t>
            </a:r>
            <a:endParaRPr/>
          </a:p>
          <a:p xmlns:a="http://schemas.openxmlformats.org/drawingml/2006/main">
            <a:r>
              <a:t>3  “You are a world-class expert” for accuracy → persona for voice only</a:t>
            </a:r>
            <a:endParaRPr/>
          </a:p>
          <a:p xmlns:a="http://schemas.openxmlformats.org/drawingml/2006/main">
            <a:r>
              <a:t>4  Magic phrases (“take a deep breath”, “my career depends on it”) → clarity; real stakes as factual context</a:t>
            </a:r>
            <a:endParaRPr/>
          </a:p>
          <a:p xmlns:a="http://schemas.openxmlformats.org/drawingml/2006/main">
            <a:r>
              <a:t>5  Carrying your 2023 prompt stack to each new model → re-baseline on every upgrade (next slide’s loop)</a:t>
            </a:r>
            <a:endParaRP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Why this slide exists, in one line: “half the prompting advice on the internet is from 2023 — here is the 2026 state of play, in three columns: keep, avoid, unlearn.”</a:t>
            </a:r>
            <a:endParaRPr/>
          </a:p>
          <a:p xmlns:a="http://schemas.openxmlformats.org/drawingml/2006/main">
            <a:r>
              <a:t>2) GREEN column, fast — these five are Part 3 itself, condensed; nothing new, that’s the point.</a:t>
            </a:r>
            <a:endParaRP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endParaRP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endParaRP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endParaRPr/>
          </a:p>
          <a:p xmlns:a="http://schemas.openxmlformats.org/drawingml/2006/main">
            <a:r>
              <a:t/>
            </a:r>
            <a:endParaRPr/>
          </a:p>
          <a:p xmlns:a="http://schemas.openxmlformats.org/drawingml/2006/main">
            <a:r>
              <a:t>COHERENCE SEAMS (if someone spots a “contradiction”) —</a:t>
            </a:r>
            <a:endParaRPr/>
          </a:p>
          <a:p xmlns:a="http://schemas.openxmlformats.org/drawingml/2006/main">
            <a:r>
              <a:t>Numeric caps vs no-absolutes: caps constrain QUANTITY; ALWAYS/NEVER locks JUDGMENT — reserve absolutes for true invariants.</a:t>
            </a:r>
            <a:endParaRPr/>
          </a:p>
          <a:p xmlns:a="http://schemas.openxmlformats.org/drawingml/2006/main">
            <a:r>
              <a:t>Bookending vs no-repetition: repeat verbatim at both ends of LONG context, or not at all — paraphrased blanket repetition is the anti-pattern.</a:t>
            </a:r>
            <a:endParaRPr/>
          </a:p>
          <a:p xmlns:a="http://schemas.openxmlformats.org/drawingml/2006/main">
            <a:r>
              <a:t>Task detail vs rule-piling: detail = information density (helps); piling = rule COUNT (past ~150, quality sags, early rules win).</a:t>
            </a:r>
            <a:endParaRPr/>
          </a:p>
          <a:p xmlns:a="http://schemas.openxmlformats.org/drawingml/2006/main">
            <a:r>
              <a:t>CoT expired only on frontier reasoning models — still legitimate on small/local/non-thinking models.</a:t>
            </a:r>
            <a:endParaRPr/>
          </a:p>
          <a:p xmlns:a="http://schemas.openxmlformats.org/drawingml/2006/main">
            <a:r>
              <a:t/>
            </a:r>
            <a:endParaRPr/>
          </a:p>
          <a:p xmlns:a="http://schemas.openxmlformats.org/drawingml/2006/main">
            <a:r>
              <a:t>BRIDGE —</a:t>
            </a:r>
            <a:endParaRPr/>
          </a:p>
          <a:p xmlns:a="http://schemas.openxmlformats.org/drawingml/2006/main">
            <a:r>
              <a:t>“The craft is stable — here’s the habit that compounds it.”</a:t>
            </a:r>
            <a:endParaRPr/>
          </a:p>
          <a:p xmlns:a="http://schemas.openxmlformats.org/drawingml/2006/main">
            <a:r>
              <a:t/>
            </a:r>
            <a:endParaRPr/>
          </a:p>
          <a:p xmlns:a="http://schemas.openxmlformats.org/drawingml/2006/main">
            <a:r>
              <a:t>ACRONYMS —</a:t>
            </a:r>
            <a:endParaRPr/>
          </a:p>
          <a:p xmlns:a="http://schemas.openxmlformats.org/drawingml/2006/main">
            <a:r>
              <a:t>CoT = Chain-of-Thought — the old “think step by step” style, now built into thinking models.</a:t>
            </a:r>
            <a:endParaRPr/>
          </a:p>
          <a:p xmlns:a="http://schemas.openxmlformats.org/drawingml/2006/main">
            <a:r>
              <a:t/>
            </a:r>
            <a:endParaRPr/>
          </a:p>
          <a:p xmlns:a="http://schemas.openxmlformats.org/drawingml/2006/main">
            <a:r>
              <a:t>CONTENT —</a:t>
            </a:r>
            <a:endParaRPr/>
          </a:p>
          <a:p xmlns:a="http://schemas.openxmlformats.org/drawingml/2006/main">
            <a:r>
              <a:t>v1.6: rebuilt as the three-column playbook (owner request); full lists + anchors in notes/research/r20_do_dont_expired.md. Key anchors: Yang et al., 2025; revised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endParaRPr/>
          </a:p>
          <a:p xmlns:a="http://schemas.openxmlformats.org/drawingml/2006/main">
            <a:r>
              <a:t>What did NOT change (say if the room looks nervous): clarity, context, format, the out, grounding, iteration — the anatomy applies to every model they will ever use; scaffolding tricks retire, briefing skills compound.</a:t>
            </a:r>
            <a:endParaRP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endParaRPr/>
          </a:p>
          <a:p xmlns:a="http://schemas.openxmlformats.org/drawingml/2006/main">
            <a:r>
              <a:t>30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TIME: 0:00 (Optional self-study; no live allocation. Formerly the live transition into the application block.)</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Generated reflection supports recall but does not prove skill.</a:t>
            </a:r>
          </a:p>
          <a:p xmlns:a="http://schemas.openxmlformats.org/drawingml/2006/main">
            <a:r>
              <a:t/>
            </a:r>
          </a:p>
          <a:p xmlns:a="http://schemas.openxmlformats.org/drawingml/2006/main">
            <a:r>
              <a:t>SAY:</a:t>
            </a:r>
          </a:p>
          <a:p xmlns:a="http://schemas.openxmlformats.org/drawingml/2006/main">
            <a:r>
              <a:t>- This optional activity turns a course log into a study aid.</a:t>
            </a:r>
          </a:p>
          <a:p xmlns:a="http://schemas.openxmlformats.org/drawingml/2006/main">
            <a:r>
              <a:t>- A generated summary supports recall but does not prove that the learner can do the task.</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“Part 4: Putting Prompts to Work”.</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SOURCE DETAIL FOR SELF-STUDY</a:t>
            </a:r>
          </a:p>
          <a:p xmlns:a="http://schemas.openxmlformats.org/drawingml/2006/main">
            <a:r>
              <a:t>THREE-MINUTE REP · PART 3</a:t>
            </a:r>
          </a:p>
          <a:p xmlns:a="http://schemas.openxmlformats.org/drawingml/2006/main">
            <a:r>
              <a:t>31</a:t>
            </a:r>
          </a:p>
          <a:p xmlns:a="http://schemas.openxmlformats.org/drawingml/2006/main">
            <a:r>
              <a:t>YOUR TURN — TURN YOUR COURSE LOG INTO A REPORT</a:t>
            </a:r>
          </a:p>
          <a:p xmlns:a="http://schemas.openxmlformats.org/drawingml/2006/main">
            <a:r>
              <a:t>One prompt, one keepsake report</a:t>
            </a:r>
          </a:p>
          <a:p xmlns:a="http://schemas.openxmlformats.org/drawingml/2006/main">
            <a:r>
              <a:t>3:00</a:t>
            </a:r>
          </a:p>
          <a:p xmlns:a="http://schemas.openxmlformats.org/drawingml/2006/main">
            <a:r>
              <a:t>STEP 1  ·  TYPE THIS → “List every prompt I have run in this course log, in order — one line each: what it did, and which element or move it taught.”</a:t>
            </a:r>
          </a:p>
          <a:p xmlns:a="http://schemas.openxmlformats.org/drawingml/2006/main">
            <a:r>
              <a:t>WHY → the log replays your whole course — every numbered prompt is in there.</a:t>
            </a: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p>
          <a:p xmlns:a="http://schemas.openxmlformats.org/drawingml/2006/main">
            <a:r>
              <a:t>WHY → your examples, your report — with the Out and the Stop doing their jobs.</a:t>
            </a:r>
          </a:p>
          <a:p xmlns:a="http://schemas.openxmlformats.org/drawingml/2006/main">
            <a:r>
              <a:t>Both prompts are in tab EX-Report of your Course Workbook — run them in the course log you opened with Prompt 1.</a:t>
            </a:r>
          </a:p>
          <a:p xmlns:a="http://schemas.openxmlformats.org/drawingml/2006/main">
            <a:r>
              <a:t>Why this is the closing rep</a:t>
            </a:r>
          </a:p>
          <a:p xmlns:a="http://schemas.openxmlformats.org/drawingml/2006/main">
            <a:r>
              <a:t>Every numbered prompt you ran taught one move — and your log kept them all. The report writes itself because the raw material is real, yours, and already in the chat.</a:t>
            </a:r>
          </a:p>
          <a:p xmlns:a="http://schemas.openxmlformats.org/drawingml/2006/main">
            <a:r>
              <a:t/>
            </a:r>
          </a:p>
          <a:p xmlns:a="http://schemas.openxmlformats.org/drawingml/2006/main">
            <a:r>
              <a:t>Step 1 opened the course by telling the AI to remember; this is the payoff. The report IS your first library entry: name it, date it, keep it.</a:t>
            </a:r>
          </a:p>
          <a:p xmlns:a="http://schemas.openxmlformats.org/drawingml/2006/main">
            <a:r>
              <a:t>Then compare with a neighbor: </a:t>
            </a:r>
          </a:p>
          <a:p xmlns:a="http://schemas.openxmlformats.org/drawingml/2006/main">
            <a:r>
              <a:t>same course, different logs — which three prompts made THEIR reuse list, and why? Different fills, same anatomy.</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3:00 badge. Frame the payoff: “your very first prompt today told the AI to remember everything — now you collect.” Both steps run in the SAME chat they have used all course (the course log).</a:t>
            </a:r>
          </a:p>
          <a:p xmlns:a="http://schemas.openxmlformats.org/drawingml/2006/main">
            <a:r>
              <a:t>2) STEP 1: the log lists every prompt it has seen, with what each taught. Let people scroll their own list — that quiet moment of “I did all that” is the point.</a:t>
            </a: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p>
          <a:p xmlns:a="http://schemas.openxmlformats.org/drawingml/2006/main">
            <a:r>
              <a:t>4) Neighbor compare: which three prompts made THEIR reuse list. Public commitment sticks.</a:t>
            </a: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p>
          <a:p xmlns:a="http://schemas.openxmlformats.org/drawingml/2006/main">
            <a:r>
              <a:t>6) Skip only under extreme time pressure — this rep converts the course into an artifact they keep.</a:t>
            </a:r>
          </a:p>
          <a:p xmlns:a="http://schemas.openxmlformats.org/drawingml/2006/main">
            <a:r>
              <a:t/>
            </a:r>
          </a:p>
          <a:p xmlns:a="http://schemas.openxmlformats.org/drawingml/2006/main">
            <a:r>
              <a:t>ACRONYMS —</a:t>
            </a:r>
          </a:p>
          <a:p xmlns:a="http://schemas.openxmlformats.org/drawingml/2006/main">
            <a:r>
              <a:t>none new on this slide.</a:t>
            </a:r>
          </a:p>
          <a:p xmlns:a="http://schemas.openxmlformats.org/drawingml/2006/main">
            <a:r>
              <a:t/>
            </a:r>
          </a:p>
          <a:p xmlns:a="http://schemas.openxmlformats.org/drawingml/2006/main">
            <a:r>
              <a:t>CONTENT —</a:t>
            </a: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p>
          <a:p xmlns:a="http://schemas.openxmlformats.org/drawingml/2006/main">
            <a:r>
              <a:t>The report doubles as Part 6 setup: it is literally their first library entry.</a:t>
            </a:r>
          </a:p>
          <a:p xmlns:a="http://schemas.openxmlformats.org/drawingml/2006/main">
            <a:r>
              <a:t>31</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0:40</a:t>
            </a:r>
          </a:p>
          <a:p xmlns:a="http://schemas.openxmlformats.org/drawingml/2006/main">
            <a:r>
              <a:t>PURPOSE: Open the application block with the whole arc in one breath.</a:t>
            </a:r>
          </a:p>
          <a:p xmlns:a="http://schemas.openxmlformats.org/drawingml/2006/main">
            <a:r>
              <a:t>LAND THIS: One dataset, uploaded once, becomes an analysis, charts, a returned file, a dashboard, and a presentation.</a:t>
            </a:r>
          </a:p>
          <a:p xmlns:a="http://schemas.openxmlformats.org/drawingml/2006/main">
            <a:r>
              <a:t>SAY: Everything in this block runs on one workbook you upload at the start. You will analyze it, question it, get it back with editable charts, feed the returned file to a dashboard, and end with a management mock-up.</a:t>
            </a:r>
          </a:p>
          <a:p xmlns:a="http://schemas.openxmlformats.org/drawingml/2006/main">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xmlns:a="http://schemas.openxmlformats.org/drawingml/2006/main">
            <a:r>
              <a:t>DO: Nothing yet - the upload comes on the next slide.</a:t>
            </a:r>
          </a:p>
          <a:p xmlns:a="http://schemas.openxmlformats.org/drawingml/2006/main">
            <a:r>
              <a:t>BRIDGE: Move to "Upload the Data File and Run These Two Prompts".</a:t>
            </a:r>
          </a:p>
          <a:p xmlns:a="http://schemas.openxmlformats.org/drawingml/2006/main">
            <a:r>
              <a:t>IF LATE: COMPRESS to the arc sentence.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assistant returns a real, editable artifact - and participants verify it is real.</a:t>
            </a:r>
          </a:p>
          <a:p xmlns:a="http://schemas.openxmlformats.org/drawingml/2006/main">
            <a:r>
              <a:t>LAND THIS: Native charts you can click and edit, formulas you can trace - not a picture of an analysis.</a:t>
            </a:r>
          </a:p>
          <a:p xmlns:a="http://schemas.openxmlformats.org/drawingml/2006/main">
            <a:r>
              <a:t>SAY: Run the full prompt from tab Excel-Charts. When the file comes back, we open it together.</a:t>
            </a:r>
          </a:p>
          <a:p xmlns:a="http://schemas.openxmlformats.org/drawingml/2006/main">
            <a:r>
              <a:t>DO: 2:00 run the prompt; 2:00 open the returned file, inspect Summary, click the column chart and show its editable source range; if generation stalls, open the prepared Supplier_Data_Analyzed.xlsx instead.</a:t>
            </a:r>
          </a:p>
          <a:p xmlns:a="http://schemas.openxmlformats.org/drawingml/2006/main">
            <a:r>
              <a:t>BRIDGE: Move to "Describe the Dashboard You Want" - the returned file is the dashboard's input.</a:t>
            </a:r>
          </a:p>
          <a:p xmlns:a="http://schemas.openxmlformats.org/drawingml/2006/main">
            <a:r>
              <a:t>IF LATE: Show the prepared fallback and click one chart; skip the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6:00</a:t>
            </a:r>
          </a:p>
          <a:p xmlns:a="http://schemas.openxmlformats.org/drawingml/2006/main">
            <a:r>
              <a:t>PURPOSE: The single intake for the whole block - inspect before calculating, then compute checked rates.</a:t>
            </a:r>
          </a:p>
          <a:p xmlns:a="http://schemas.openxmlformats.org/drawingml/2006/main">
            <a:r>
              <a:t>LAND THIS: Inspection is a separate prompt that ends with "then wait" - the model must not calculate until the scope is agreed.</a:t>
            </a:r>
          </a:p>
          <a:p xmlns:a="http://schemas.openxmlformats.org/drawingml/2006/main">
            <a:r>
              <a:t>SAY: Upload the exercise file, run the inspect prompt, and read what comes back before you let it calculate.</a:t>
            </a:r>
          </a:p>
          <a:p xmlns:a="http://schemas.openxmlformats.org/drawingml/2006/main">
            <a:r>
              <a:t>DO: 0:00-1:00 upload and run PROMPT 1; 1:00-2:30 compare inspection findings across the room; 2:30-5:00 run PROMPT 2; 5:00-6:00 check rankings and reconciliation together.</a:t>
            </a:r>
          </a:p>
          <a:p xmlns:a="http://schemas.openxmlformats.org/drawingml/2006/main">
            <a:r>
              <a:t>ANSWER KEY (instructor only - not shown to participants before they attempt): 144 detail rows plus one TOTAL row; one missing Inspection_Hours value (missing, not zero); 224,902 units shipped and 432 returns; Bravo Plastics highest at about 0.348 percent (262 / 75,184); Cardinal 0.129 percent; Alpha 0.099 percent; the data do not establish causation. Full key: workbook tab KEY-Analysis.</a:t>
            </a:r>
          </a:p>
          <a:p xmlns:a="http://schemas.openxmlformats.org/drawingml/2006/main">
            <a:r>
              <a:t>BRIDGE: Move to "Ask a Follow-Up Question".</a:t>
            </a:r>
          </a:p>
          <a:p xmlns:a="http://schemas.openxmlformats.org/drawingml/2006/main">
            <a:r>
              <a:t>IF LATE: KEEP - this is the anchor exercise of the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TIME: 2:30</a:t>
            </a:r>
          </a:p>
          <a:p xmlns:a="http://schemas.openxmlformats.org/drawingml/2006/main">
            <a:r>
              <a:t>PURPOSE: Business questioning of the same data - and the findings-versus-causes discipline.</a:t>
            </a:r>
          </a:p>
          <a:p xmlns:a="http://schemas.openxmlformats.org/drawingml/2006/main">
            <a:r>
              <a:t>LAND THIS: The model may offer explanations; the data only support patterns.</a:t>
            </a:r>
          </a:p>
          <a:p xmlns:a="http://schemas.openxmlformats.org/drawingml/2006/main">
            <a:r>
              <a:t>SAY: Ask the follow-up, then look for any causal language in the answer - that is the teaching moment.</a:t>
            </a:r>
          </a:p>
          <a:p xmlns:a="http://schemas.openxmlformats.org/drawingml/2006/main">
            <a:r>
              <a:t>DO: 1:30 run and read; 1:00 name one causal claim someone's answer made and strip it back to the finding.</a:t>
            </a:r>
          </a:p>
          <a:p xmlns:a="http://schemas.openxmlformats.org/drawingml/2006/main">
            <a:r>
              <a:t>BRIDGE: Move to "Add the Charts and Return the Excel File".</a:t>
            </a:r>
          </a:p>
          <a:p xmlns:a="http://schemas.openxmlformats.org/drawingml/2006/main">
            <a:r>
              <a:t>IF LATE: COMPRESS to the prompt and one example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TIME: 0:00 (Optional self-study; no live allocation. The live course now runs the quotation work as two steps (slides 42-43); this page keeps the original one-step version.)</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Quote comparison requires complete cost inputs or clearly marked gaps.</a:t>
            </a:r>
          </a:p>
          <a:p xmlns:a="http://schemas.openxmlformats.org/drawingml/2006/main">
            <a:r>
              <a:t/>
            </a:r>
          </a:p>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“A deliverable needs artifact requirements”.</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MATERIALS: Quote_Alpha_Components.pdf, Quote_Bravo_Plastics.pdf, Quote_Cardinal_Metals.pdf + workbook tab EX-Quotes (all in the pack).</a:t>
            </a:r>
          </a:p>
          <a:p xmlns:a="http://schemas.openxmlformats.org/drawingml/2006/main">
            <a:r>
              <a:t/>
            </a:r>
          </a:p>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r>
              <a:t/>
            </a:r>
          </a:p>
          <a:p xmlns:a="http://schemas.openxmlformats.org/drawingml/2006/main">
            <a:r>
              <a:t>BRIDGE —</a:t>
            </a:r>
          </a:p>
          <a:p xmlns:a="http://schemas.openxmlformats.org/drawingml/2006/main">
            <a:r>
              <a:t>“Analysis is answers. Next: turning answers into a file you can circulate.”</a:t>
            </a:r>
          </a:p>
          <a:p xmlns:a="http://schemas.openxmlformats.org/drawingml/2006/main">
            <a:r>
              <a:t/>
            </a:r>
          </a:p>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r>
              <a:t/>
            </a:r>
          </a:p>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TIME: 1:00</a:t>
            </a:r>
          </a:p>
          <a:p xmlns:a="http://schemas.openxmlformats.org/drawingml/2006/main">
            <a:r>
              <a:t>PURPOSE: Requirements for interactive behavior, in plain language, before anything renders.</a:t>
            </a:r>
          </a:p>
          <a:p xmlns:a="http://schemas.openxmlformats.org/drawingml/2006/main">
            <a:r>
              <a:t>LAND THIS: You do not need to write the code. You need to describe the behavior.</a:t>
            </a:r>
          </a:p>
          <a:p xmlns:a="http://schemas.openxmlformats.org/drawingml/2006/main">
            <a:r>
              <a:t>SAY: Read the prompt aloud - every clause is a behavior you could check by clicking.</a:t>
            </a:r>
          </a:p>
          <a:p xmlns:a="http://schemas.openxmlformats.org/drawingml/2006/main">
            <a:r>
              <a:t>BRIDGE: Move to "Build and Test the Dashboard".</a:t>
            </a:r>
          </a:p>
          <a:p xmlns:a="http://schemas.openxmlformats.org/drawingml/2006/main">
            <a:r>
              <a:t>IF LATE: COMPRESS to the teaching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dashboard consumes the verified workbook - and is trusted only after the filtered check.</a:t>
            </a:r>
          </a:p>
          <a:p xmlns:a="http://schemas.openxmlformats.org/drawingml/2006/main">
            <a:r>
              <a:t>LAND THIS: Same data, same definitions, same numbers - the dashboard is the analysis wearing a different interface.</a:t>
            </a:r>
          </a:p>
          <a:p xmlns:a="http://schemas.openxmlformats.org/drawingml/2006/main">
            <a:r>
              <a:t>SAY: Three actions only: open, filter, verify. Then you name one refinement.</a:t>
            </a:r>
          </a:p>
          <a:p xmlns:a="http://schemas.openxmlformats.org/drawingml/2006/main">
            <a:r>
              <a:t>DO: 1:30 generate or open the prepared references/exercise-data/Supplier_Quality_Dashboard.html; 1:30 run the three actions; 1:00 collect refinement asks from the room.</a:t>
            </a:r>
          </a:p>
          <a:p xmlns:a="http://schemas.openxmlformats.org/drawingml/2006/main">
            <a:r>
              <a:t>BRIDGE: Move to "Turn the Findings into a Five-Slide Management Mock-up".</a:t>
            </a:r>
          </a:p>
          <a:p xmlns:a="http://schemas.openxmlformats.org/drawingml/2006/main">
            <a:r>
              <a:t>IF LATE: Run the three actions on the prepared file; skip refinements.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1:00</a:t>
            </a:r>
          </a:p>
          <a:p xmlns:a="http://schemas.openxmlformats.org/drawingml/2006/main">
            <a:r>
              <a:t>PURPOSE: One thread, five results - choosing the result IS the prompt.</a:t>
            </a:r>
          </a:p>
          <a:p xmlns:a="http://schemas.openxmlformats.org/drawingml/2006/main">
            <a:r>
              <a:t>LAND THIS: Pick the outcome first; the prompt is one sentence once you have.</a:t>
            </a:r>
          </a:p>
          <a:p xmlns:a="http://schemas.openxmlformats.org/drawingml/2006/main">
            <a:r>
              <a:t>SAY: Workflow: run Outlook's built-in Copilot summary first, then use Copilot to refine it with one of these. If that feature is unavailable, paste the supplied fictional thread into an approved assistant - same prompts, same results.</a:t>
            </a:r>
          </a:p>
          <a:p xmlns:a="http://schemas.openxmlformats.org/drawingml/2006/main">
            <a:r>
              <a:t>ACCOUNT NOTE (verified Sep 2026, notes/research/r28): the full Copilot-in-Outlook experience depends on the organization's Copilot license and current Outlook version; the pasted-text path always works. Never practice on real confidential threads.</a:t>
            </a:r>
          </a:p>
          <a:p xmlns:a="http://schemas.openxmlformats.org/drawingml/2006/main">
            <a:r>
              <a:t>BRIDGE: Move to "Outlook Exercise: Decisions, Actions, and Open Questions".</a:t>
            </a:r>
          </a:p>
          <a:p xmlns:a="http://schemas.openxmlformats.org/drawingml/2006/main">
            <a:r>
              <a:t>IF LATE: COMPRESS to Catch-me-up and Prepare-my-reply.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3:00</a:t>
            </a:r>
          </a:p>
          <a:p xmlns:a="http://schemas.openxmlformats.org/drawingml/2006/main">
            <a:r>
              <a:t>PURPOSE: The structured extraction on a thread with planted traps.</a:t>
            </a:r>
          </a:p>
          <a:p xmlns:a="http://schemas.openxmlformats.org/drawingml/2006/main">
            <a:r>
              <a:t>LAND THIS: "Not stated" and a citation per claim - the two habits that survive contact with a real inbox.</a:t>
            </a:r>
          </a:p>
          <a:p xmlns:a="http://schemas.openxmlformats.org/drawingml/2006/main">
            <a:r>
              <a:t>SAY: Run the structured prompt, then we check against the key.</a:t>
            </a:r>
          </a:p>
          <a:p xmlns:a="http://schemas.openxmlformats.org/drawingml/2006/main">
            <a:r>
              <a:t>DO: 1:30 run; 1:30 walk the key.</a:t>
            </a:r>
          </a:p>
          <a:p xmlns:a="http://schemas.openxmlformats.org/drawingml/2006/main">
            <a:r>
              <a:t>ANSWER KEY (instructor only): change date moved Sep 25 to Oct 2, conditional on quality sign-off · trial date Sep 25 supersedes Sep 18 · the 18,000 cap holds and freight is NOT approved · Luis's revised plan due Sep 16 · freight responsibility unresolved · the drawing is referenced but not accessible. Full key: tab KEY-Email + instructor-keys/Packaging_Change_Expected_Brief.md.</a:t>
            </a:r>
          </a:p>
          <a:p xmlns:a="http://schemas.openxmlformats.org/drawingml/2006/main">
            <a:r>
              <a:t>BRIDGE: Move to "Extract Supplier Quotes into Excel".</a:t>
            </a:r>
          </a:p>
          <a:p xmlns:a="http://schemas.openxmlformats.org/drawingml/2006/main">
            <a:r>
              <a:t>IF LATE: KEEP - this is the email anchor.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Close the data arc on a decision artifact built only from verified findings.</a:t>
            </a:r>
          </a:p>
          <a:p xmlns:a="http://schemas.openxmlformats.org/drawingml/2006/main">
            <a:r>
              <a:t>LAND THIS: Exploration and decision are different jobs - the same verified numbers wear two interfaces.</a:t>
            </a:r>
          </a:p>
          <a:p xmlns:a="http://schemas.openxmlformats.org/drawingml/2006/main">
            <a:r>
              <a:t>SAY: Fill the audience and the decision, run it, and open the fallback beside the result.</a:t>
            </a:r>
          </a:p>
          <a:p xmlns:a="http://schemas.openxmlformats.org/drawingml/2006/main">
            <a:r>
              <a:t>DO: 1:30 run with a chosen [audience]/[decision]; 1:00 compare one slide against the prepared mock deck's discipline (findings left, judgment right).</a:t>
            </a:r>
          </a:p>
          <a:p xmlns:a="http://schemas.openxmlformats.org/drawingml/2006/main">
            <a:r>
              <a:t>BRIDGE: Move to "Organize an Email Thread in Outlook".</a:t>
            </a:r>
          </a:p>
          <a:p xmlns:a="http://schemas.openxmlformats.org/drawingml/2006/main">
            <a:r>
              <a:t>IF LATE: Open the prepared mock deck and show slide 4's findings/recommendations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3:00</a:t>
            </a:r>
          </a:p>
          <a:p xmlns:a="http://schemas.openxmlformats.org/drawingml/2006/main">
            <a:r>
              <a:t>PURPOSE: The closing exercise: unstructured references become linear, traceable knowledge.</a:t>
            </a:r>
          </a:p>
          <a:p xmlns:a="http://schemas.openxmlformats.org/drawingml/2006/main">
            <a:r>
              <a:t>LAND THIS: Provenance survives - every row cites its file and page, conflicts stay visible, gaps say "Not stated".</a:t>
            </a:r>
          </a:p>
          <a:p xmlns:a="http://schemas.openxmlformats.org/drawingml/2006/main">
            <a:r>
              <a:t>SAY: The pack hides one deliberate conflict and several unstated details. A good workbook surfaces them instead of resolving them silently.</a:t>
            </a:r>
          </a:p>
          <a:p xmlns:a="http://schemas.openxmlformats.org/drawingml/2006/main">
            <a:r>
              <a:t>DO: 1:30 run on the pack; 1:30 open the prepared example - find the cadence conflict in the Synthesis and one "Not stated".</a:t>
            </a:r>
          </a:p>
          <a:p xmlns:a="http://schemas.openxmlformats.org/drawingml/2006/main">
            <a:r>
              <a:t>ANSWER SKETCH (instructor only): the planted conflict is review cadence - the manual (2026-02) says quarterly, the newsletter (2026-06) reports monthly; must be kept as two rows and surfaced, never merged. Key: instructor-keys/Research_Workbook_Key.md.</a:t>
            </a:r>
          </a:p>
          <a:p xmlns:a="http://schemas.openxmlformats.org/drawingml/2006/main">
            <a:r>
              <a:t>BRIDGE: Move to "Part 5: agentic work".</a:t>
            </a:r>
          </a:p>
          <a:p xmlns:a="http://schemas.openxmlformats.org/drawingml/2006/main">
            <a:r>
              <a:t>IF LATE: Open the prepared Research_Workbook.xlsx and show the Evidence and Synthesis sheets.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0.348%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when the presentation demonstration took this content’s slot (that demonstration now sits at live slide 41).</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rPr/>
              <a:t>RELATED: live demonstration slide 38; Supplier_Data_Analyzed.xlsx (the returned workbook);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rPr/>
              <a:t>RELATED: slide 39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rPr/>
              <a:t>RELATED: reference-layer exercise (no live slot);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 after the built-in summary, the custom prompt runs in the Copilot chat pane scoped to the same conversation.</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89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Documents-to-spreadsheet, step one: extraction with provenance, no judgment.</a:t>
            </a:r>
          </a:p>
          <a:p xmlns:a="http://schemas.openxmlformats.org/drawingml/2006/main">
            <a:r>
              <a:t>LAND THIS: Verbatim values, original currencies, "Not stated" for silence, a citation per value.</a:t>
            </a:r>
          </a:p>
          <a:p xmlns:a="http://schemas.openxmlformats.org/drawingml/2006/main">
            <a:r>
              <a:t>SAY: Attach the three PDFs and run it. Anything converted, ranked, or recommended at this step is a miss.</a:t>
            </a:r>
          </a:p>
          <a:p xmlns:a="http://schemas.openxmlformats.org/drawingml/2006/main">
            <a:r>
              <a:t>DO: 1:30 run; 1:00 spot-check two extracted values against the PDFs on screen.</a:t>
            </a:r>
          </a:p>
          <a:p xmlns:a="http://schemas.openxmlformats.org/drawingml/2006/main">
            <a:r>
              <a:t>BRIDGE: Move to "Normalize and Compare the Supplier Quotes".</a:t>
            </a:r>
          </a:p>
          <a:p xmlns:a="http://schemas.openxmlformats.org/drawingml/2006/main">
            <a:r>
              <a:t>IF LATE: SKIP to the prepared Quote_Comparison_Workbook.xlsx in the next slide's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Step two: normalize only what has a basis; refuse a premature winner.</a:t>
            </a:r>
          </a:p>
          <a:p xmlns:a="http://schemas.openxmlformats.org/drawingml/2006/main">
            <a:r>
              <a:t>LAND THIS: A fair comparison names its blocking gaps before it names a favorite.</a:t>
            </a:r>
          </a:p>
          <a:p xmlns:a="http://schemas.openxmlformats.org/drawingml/2006/main">
            <a:r>
              <a:t>SAY: Continue in the same chat from the extraction. Watch whether it converts euros without a rate - that is the discipline test.</a:t>
            </a:r>
          </a:p>
          <a:p xmlns:a="http://schemas.openxmlformats.org/drawingml/2006/main">
            <a:r>
              <a:t>DO: 1:30 run; 1:00 open the prepared workbook and read the blocking-gap list aloud.</a:t>
            </a:r>
          </a:p>
          <a:p xmlns:a="http://schemas.openxmlformats.org/drawingml/2006/main">
            <a:r>
              <a:t>ANSWER SKETCH (instructor only): at 5,000 units with tooling amortized - Alpha USD 15.60/unit (freight excluded), Bravo EUR 14.70/unit (not convertible without a supplied rate; freight, duties, VAT excluded), Cardinal USD 16.40/unit all-in (DDP, certs, longest warranty). Correct outcome: NO best quote yet. Key: instructor-keys/Quote_Comparison_Key.md.</a:t>
            </a:r>
          </a:p>
          <a:p xmlns:a="http://schemas.openxmlformats.org/drawingml/2006/main">
            <a:r>
              <a:t>BRIDGE: Move to "Turn Reference Files into a Research Spreadsheet".</a:t>
            </a:r>
          </a:p>
          <a:p xmlns:a="http://schemas.openxmlformats.org/drawingml/2006/main">
            <a:r>
              <a:t>IF LATE: Open the prepared workbook; skip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75554399d3f4a84" Type="http://schemas.openxmlformats.org/officeDocument/2006/relationships/notesSlide" Target="../notesSlides/notesSlide4.xml"/><Relationship Id="R0e7773c3650b472b" Type="http://schemas.openxmlformats.org/officeDocument/2006/relationships/image" Target="../media/image2.png"/><Relationship Id="R172c9a40f6e844f9" Type="http://schemas.openxmlformats.org/officeDocument/2006/relationships/slideLayout" Target="../slideLayouts/slideLayout1.xml"/><Relationship Id="R25922f78034f4f00" Type="http://schemas.openxmlformats.org/officeDocument/2006/relationships/image" Target="../media/image3.png"/><Relationship Id="R29b3c6c186e2442c" Type="http://schemas.openxmlformats.org/officeDocument/2006/relationships/image" Target="../media/image4.png"/><Relationship Id="Rd09ab84476d44959" Type="http://schemas.openxmlformats.org/officeDocument/2006/relationships/image" Target="../media/image.png"/><Relationship Id="Ree9b2c94d0dd404d" Type="http://schemas.openxmlformats.org/officeDocument/2006/relationships/image" Target="../media/image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680133c79224739" Type="http://schemas.openxmlformats.org/officeDocument/2006/relationships/slideLayout" Target="../slideLayouts/slideLayout1.xml"/><Relationship Id="R4cee9ec1d2b6425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0a7b46138e8485d" Type="http://schemas.openxmlformats.org/officeDocument/2006/relationships/notesSlide" Target="../notesSlides/notesSlide11.xml"/><Relationship Id="Rdc9259cdbc004a88"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d169fb046614db3" Type="http://schemas.openxmlformats.org/officeDocument/2006/relationships/slideLayout" Target="../slideLayouts/slideLayout1.xml"/><Relationship Id="Raa150d328cd449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a11656f99734687" Type="http://schemas.openxmlformats.org/officeDocument/2006/relationships/notesSlide" Target="../notesSlides/notesSlide17.xml"/><Relationship Id="Rd38a0f0938c04d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19.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01f32571ad43472f" Type="http://schemas.openxmlformats.org/officeDocument/2006/relationships/notesSlide" Target="../notesSlides/notesSlide102.xml"/><Relationship Id="R52e6fd8e759e4e9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01f32571ad43472f" Type="http://schemas.openxmlformats.org/officeDocument/2006/relationships/notesSlide" Target="../notesSlides/notesSlide103.xml"/><Relationship Id="R52e6fd8e759e4e9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3.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4.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5.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2.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5.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6.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7.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103.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5C011B2-C364-4766-A801-9E509B5008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SEVENTY YEARS IN ONE SLIDE</a:t>
            </a:r>
            <a:endParaRPr sz="1100"/>
          </a:p>
        </p:txBody>
      </p:sp>
      <p:sp>
        <p:nvSpPr>
          <p:cNvPr id="5" name="Text 3">
            <a:extLst xmlns:a="http://schemas.openxmlformats.org/drawingml/2006/main">
              <a:ext uri="{FF2B5EF4-FFF2-40B4-BE49-F238E27FC236}">
                <a16:creationId xmlns:a16="http://schemas.microsoft.com/office/drawing/2014/main" id="{35320126-C91F-4B36-82B2-AC82D15A1E17}"/>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Four eras: rules → learning → generative → agentic</a:t>
            </a:r>
            <a:endParaRPr sz="3000"/>
          </a:p>
        </p:txBody>
      </p:sp>
      <p:sp>
        <p:nvSpPr>
          <p:cNvPr id="6" name="Shape 4">
            <a:extLst xmlns:a="http://schemas.openxmlformats.org/drawingml/2006/main">
              <a:ext uri="{FF2B5EF4-FFF2-40B4-BE49-F238E27FC236}">
                <a16:creationId xmlns:a16="http://schemas.microsoft.com/office/drawing/2014/main" id="{9FEB0A24-FA37-4EAA-BAEB-E23710333399}"/>
              </a:ext>
            </a:extLst>
          </p:cNvPr>
          <p:cNvSpPr>
            <a:spLocks xmlns:a="http://schemas.openxmlformats.org/drawingml/2006/main" noGrp="1"/>
          </p:cNvSpPr>
          <p:nvPr/>
        </p:nvSpPr>
        <p:spPr>
          <a:xfrm xmlns:a="http://schemas.openxmlformats.org/drawingml/2006/main">
            <a:off x="502920" y="1554480"/>
            <a:ext cx="2697480" cy="3401568"/>
          </a:xfrm>
          <a:prstGeom xmlns:a="http://schemas.openxmlformats.org/drawingml/2006/main" prst="roundRect">
            <a:avLst>
              <a:gd name="adj" fmla="val 2712"/>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EF09118F-4070-44A9-AA0D-99DBDF839656}"/>
              </a:ext>
            </a:extLst>
          </p:cNvPr>
          <p:cNvSpPr>
            <a:spLocks xmlns:a="http://schemas.openxmlformats.org/drawingml/2006/main" noGrp="1"/>
          </p:cNvSpPr>
          <p:nvPr/>
        </p:nvSpPr>
        <p:spPr>
          <a:xfrm xmlns:a="http://schemas.openxmlformats.org/drawingml/2006/main">
            <a:off x="722376"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5" name="Image 0"/>
          <p:cNvPicPr>
            <a:picLocks xmlns:a="http://schemas.openxmlformats.org/drawingml/2006/main" noChangeAspect="1"/>
          </p:cNvPicPr>
          <p:nvPr/>
        </p:nvPicPr>
        <p:blipFill>
          <a:blip xmlns:r="http://schemas.openxmlformats.org/officeDocument/2006/relationships" xmlns:a="http://schemas.openxmlformats.org/drawingml/2006/main" r:embed="Rd09ab84476d44959"/>
          <a:stretch xmlns:a="http://schemas.openxmlformats.org/drawingml/2006/main">
            <a:fillRect l="0" t="0" r="0" b="0"/>
          </a:stretch>
        </p:blipFill>
        <p:spPr>
          <a:xfrm xmlns:a="http://schemas.openxmlformats.org/drawingml/2006/main">
            <a:off x="841248"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C65F7DE-B24A-4832-9CD5-5032F730818E}"/>
              </a:ext>
            </a:extLst>
          </p:cNvPr>
          <p:cNvSpPr>
            <a:spLocks xmlns:a="http://schemas.openxmlformats.org/drawingml/2006/main" noGrp="1"/>
          </p:cNvSpPr>
          <p:nvPr/>
        </p:nvSpPr>
        <p:spPr>
          <a:xfrm xmlns:a="http://schemas.openxmlformats.org/drawingml/2006/main">
            <a:off x="1289304"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Rules</a:t>
            </a:r>
            <a:endParaRPr sz="1500"/>
          </a:p>
        </p:txBody>
      </p:sp>
      <p:sp>
        <p:nvSpPr>
          <p:cNvPr id="10" name="Text 7">
            <a:extLst xmlns:a="http://schemas.openxmlformats.org/drawingml/2006/main">
              <a:ext uri="{FF2B5EF4-FFF2-40B4-BE49-F238E27FC236}">
                <a16:creationId xmlns:a16="http://schemas.microsoft.com/office/drawing/2014/main" id="{F63B3A37-EF17-4692-8122-45013540513C}"/>
              </a:ext>
            </a:extLst>
          </p:cNvPr>
          <p:cNvSpPr>
            <a:spLocks xmlns:a="http://schemas.openxmlformats.org/drawingml/2006/main" noGrp="1"/>
          </p:cNvSpPr>
          <p:nvPr/>
        </p:nvSpPr>
        <p:spPr>
          <a:xfrm xmlns:a="http://schemas.openxmlformats.org/drawingml/2006/main">
            <a:off x="1289304"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1950s–1990s · symbolic AI, expert systems</a:t>
            </a:r>
            <a:endParaRPr sz="900"/>
          </a:p>
        </p:txBody>
      </p:sp>
      <p:sp>
        <p:nvSpPr>
          <p:cNvPr id="11" name="Shape 8">
            <a:extLst xmlns:a="http://schemas.openxmlformats.org/drawingml/2006/main">
              <a:ext uri="{FF2B5EF4-FFF2-40B4-BE49-F238E27FC236}">
                <a16:creationId xmlns:a16="http://schemas.microsoft.com/office/drawing/2014/main" id="{451CA052-8CF1-4B09-AE54-6AC36A7FC3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743D0FFC-D5FA-4FAF-964C-5C0CD0B13E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if…?</a:t>
            </a:r>
            <a:endParaRPr sz="800"/>
          </a:p>
        </p:txBody>
      </p:sp>
      <p:sp>
        <p:nvSpPr>
          <p:cNvPr id="13" name="Shape 10">
            <a:extLst xmlns:a="http://schemas.openxmlformats.org/drawingml/2006/main">
              <a:ext uri="{FF2B5EF4-FFF2-40B4-BE49-F238E27FC236}">
                <a16:creationId xmlns:a16="http://schemas.microsoft.com/office/drawing/2014/main" id="{D6FE4F7D-C963-4CBA-BA16-F05EA9D9E6B2}"/>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4" name="Text 11">
            <a:extLst xmlns:a="http://schemas.openxmlformats.org/drawingml/2006/main">
              <a:ext uri="{FF2B5EF4-FFF2-40B4-BE49-F238E27FC236}">
                <a16:creationId xmlns:a16="http://schemas.microsoft.com/office/drawing/2014/main" id="{7D3EBC05-80F9-41C7-B994-4E0F63C5AA26}"/>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then A</a:t>
            </a:r>
            <a:endParaRPr sz="800"/>
          </a:p>
        </p:txBody>
      </p:sp>
      <p:sp>
        <p:nvSpPr>
          <p:cNvPr id="15" name="Shape 12">
            <a:extLst xmlns:a="http://schemas.openxmlformats.org/drawingml/2006/main">
              <a:ext uri="{FF2B5EF4-FFF2-40B4-BE49-F238E27FC236}">
                <a16:creationId xmlns:a16="http://schemas.microsoft.com/office/drawing/2014/main" id="{9DEBA2EA-4248-447A-840E-0529437E87F3}"/>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54B6958F-5D85-4267-BB02-33284CC5617C}"/>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else B</a:t>
            </a:r>
            <a:endParaRPr sz="800"/>
          </a:p>
        </p:txBody>
      </p:sp>
      <p:sp>
        <p:nvSpPr>
          <p:cNvPr id="17" name="Shape 14">
            <a:extLst xmlns:a="http://schemas.openxmlformats.org/drawingml/2006/main">
              <a:ext uri="{FF2B5EF4-FFF2-40B4-BE49-F238E27FC236}">
                <a16:creationId xmlns:a16="http://schemas.microsoft.com/office/drawing/2014/main" id="{D82EB1F4-79B7-4683-96DC-62B04406B4A5}"/>
              </a:ext>
            </a:extLst>
          </p:cNvPr>
          <p:cNvSpPr>
            <a:spLocks xmlns:a="http://schemas.openxmlformats.org/drawingml/2006/main" noGrp="1"/>
          </p:cNvSpPr>
          <p:nvPr/>
        </p:nvSpPr>
        <p:spPr>
          <a:xfrm xmlns:a="http://schemas.openxmlformats.org/drawingml/2006/main" flipH="1">
            <a:off x="1234440"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txBody xmlns:a="http://schemas.openxmlformats.org/drawingml/2006/main">
          <a:bodyPr/>
          <a:p/>
        </p:txBody>
      </p:sp>
      <p:sp>
        <p:nvSpPr>
          <p:cNvPr id="18" name="Shape 15">
            <a:extLst xmlns:a="http://schemas.openxmlformats.org/drawingml/2006/main">
              <a:ext uri="{FF2B5EF4-FFF2-40B4-BE49-F238E27FC236}">
                <a16:creationId xmlns:a16="http://schemas.microsoft.com/office/drawing/2014/main" id="{3864634F-00A6-407D-9559-7B09AF2717B6}"/>
              </a:ext>
            </a:extLst>
          </p:cNvPr>
          <p:cNvSpPr>
            <a:spLocks xmlns:a="http://schemas.openxmlformats.org/drawingml/2006/main" noGrp="1"/>
          </p:cNvSpPr>
          <p:nvPr/>
        </p:nvSpPr>
        <p:spPr>
          <a:xfrm xmlns:a="http://schemas.openxmlformats.org/drawingml/2006/main">
            <a:off x="1984248"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F7F69052-CBC9-4EC0-9B2C-9E1CC32FF06A}"/>
              </a:ext>
            </a:extLst>
          </p:cNvPr>
          <p:cNvSpPr>
            <a:spLocks xmlns:a="http://schemas.openxmlformats.org/drawingml/2006/main" noGrp="1"/>
          </p:cNvSpPr>
          <p:nvPr/>
        </p:nvSpPr>
        <p:spPr>
          <a:xfrm xmlns:a="http://schemas.openxmlformats.org/drawingml/2006/main">
            <a:off x="722376"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Humans hand-code the logic: “if X then Y.” Rules shine, then crack on messy reality. Hype outruns results twice: the “AI winters.”</a:t>
            </a:r>
            <a:endParaRPr sz="1050"/>
          </a:p>
        </p:txBody>
      </p:sp>
      <p:sp>
        <p:nvSpPr>
          <p:cNvPr id="20" name="Text 17">
            <a:extLst xmlns:a="http://schemas.openxmlformats.org/drawingml/2006/main">
              <a:ext uri="{FF2B5EF4-FFF2-40B4-BE49-F238E27FC236}">
                <a16:creationId xmlns:a16="http://schemas.microsoft.com/office/drawing/2014/main" id="{D5C2368D-E2CF-4ED6-9AEA-BF90F54257F3}"/>
              </a:ext>
            </a:extLst>
          </p:cNvPr>
          <p:cNvSpPr>
            <a:spLocks xmlns:a="http://schemas.openxmlformats.org/drawingml/2006/main" noGrp="1"/>
          </p:cNvSpPr>
          <p:nvPr/>
        </p:nvSpPr>
        <p:spPr>
          <a:xfrm xmlns:a="http://schemas.openxmlformats.org/drawingml/2006/main">
            <a:off x="722376"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expert systems doing real work — MYCIN diagnosing infections, XCON configuring computers.</a:t>
            </a:r>
            <a:endParaRPr sz="950"/>
          </a:p>
        </p:txBody>
      </p:sp>
      <p:sp>
        <p:nvSpPr>
          <p:cNvPr id="21" name="Shape 18">
            <a:extLst xmlns:a="http://schemas.openxmlformats.org/drawingml/2006/main">
              <a:ext uri="{FF2B5EF4-FFF2-40B4-BE49-F238E27FC236}">
                <a16:creationId xmlns:a16="http://schemas.microsoft.com/office/drawing/2014/main" id="{D8F2BBE9-B699-4C1A-8079-F8290773C69D}"/>
              </a:ext>
            </a:extLst>
          </p:cNvPr>
          <p:cNvSpPr>
            <a:spLocks xmlns:a="http://schemas.openxmlformats.org/drawingml/2006/main" noGrp="1"/>
          </p:cNvSpPr>
          <p:nvPr/>
        </p:nvSpPr>
        <p:spPr>
          <a:xfrm xmlns:a="http://schemas.openxmlformats.org/drawingml/2006/main">
            <a:off x="3218688"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2" name="Shape 19">
            <a:extLst xmlns:a="http://schemas.openxmlformats.org/drawingml/2006/main">
              <a:ext uri="{FF2B5EF4-FFF2-40B4-BE49-F238E27FC236}">
                <a16:creationId xmlns:a16="http://schemas.microsoft.com/office/drawing/2014/main" id="{484AF9B0-F76F-4340-A502-A236B39C72B8}"/>
              </a:ext>
            </a:extLst>
          </p:cNvPr>
          <p:cNvSpPr>
            <a:spLocks xmlns:a="http://schemas.openxmlformats.org/drawingml/2006/main" noGrp="1"/>
          </p:cNvSpPr>
          <p:nvPr/>
        </p:nvSpPr>
        <p:spPr>
          <a:xfrm xmlns:a="http://schemas.openxmlformats.org/drawingml/2006/main">
            <a:off x="3419856" y="1554480"/>
            <a:ext cx="2697480" cy="3401568"/>
          </a:xfrm>
          <a:prstGeom xmlns:a="http://schemas.openxmlformats.org/drawingml/2006/main" prst="roundRect">
            <a:avLst>
              <a:gd name="adj" fmla="val 2712"/>
            </a:avLst>
          </a:prstGeom>
          <a:solidFill xmlns:a="http://schemas.openxmlformats.org/drawingml/2006/main">
            <a:srgbClr val="F2F5F6"/>
          </a:solidFill>
        </p:spPr>
        <p:txBody xmlns:a="http://schemas.openxmlformats.org/drawingml/2006/main">
          <a:bodyPr/>
          <a:p/>
        </p:txBody>
      </p:sp>
      <p:sp>
        <p:nvSpPr>
          <p:cNvPr id="23" name="Shape 20">
            <a:extLst xmlns:a="http://schemas.openxmlformats.org/drawingml/2006/main">
              <a:ext uri="{FF2B5EF4-FFF2-40B4-BE49-F238E27FC236}">
                <a16:creationId xmlns:a16="http://schemas.microsoft.com/office/drawing/2014/main" id="{F1E133D3-7BAF-4153-8CF2-5974DB9AEB1D}"/>
              </a:ext>
            </a:extLst>
          </p:cNvPr>
          <p:cNvSpPr>
            <a:spLocks xmlns:a="http://schemas.openxmlformats.org/drawingml/2006/main" noGrp="1"/>
          </p:cNvSpPr>
          <p:nvPr/>
        </p:nvSpPr>
        <p:spPr>
          <a:xfrm xmlns:a="http://schemas.openxmlformats.org/drawingml/2006/main">
            <a:off x="3639312"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21" name="Image 1"/>
          <p:cNvPicPr>
            <a:picLocks xmlns:a="http://schemas.openxmlformats.org/drawingml/2006/main" noChangeAspect="1"/>
          </p:cNvPicPr>
          <p:nvPr/>
        </p:nvPicPr>
        <p:blipFill>
          <a:blip xmlns:r="http://schemas.openxmlformats.org/officeDocument/2006/relationships" xmlns:a="http://schemas.openxmlformats.org/drawingml/2006/main" r:embed="R0e7773c3650b472b"/>
          <a:stretch xmlns:a="http://schemas.openxmlformats.org/drawingml/2006/main">
            <a:fillRect l="0" t="0" r="0" b="0"/>
          </a:stretch>
        </p:blipFill>
        <p:spPr>
          <a:xfrm xmlns:a="http://schemas.openxmlformats.org/drawingml/2006/main">
            <a:off x="3758184" y="1874520"/>
            <a:ext cx="219456" cy="219456"/>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8C105322-CC3F-4BF4-9F01-8CA29DAA3AE5}"/>
              </a:ext>
            </a:extLst>
          </p:cNvPr>
          <p:cNvSpPr>
            <a:spLocks xmlns:a="http://schemas.openxmlformats.org/drawingml/2006/main" noGrp="1"/>
          </p:cNvSpPr>
          <p:nvPr/>
        </p:nvSpPr>
        <p:spPr>
          <a:xfrm xmlns:a="http://schemas.openxmlformats.org/drawingml/2006/main">
            <a:off x="4206240"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Learning</a:t>
            </a:r>
            <a:endParaRPr sz="1500"/>
          </a:p>
        </p:txBody>
      </p:sp>
      <p:sp>
        <p:nvSpPr>
          <p:cNvPr id="26" name="Text 22">
            <a:extLst xmlns:a="http://schemas.openxmlformats.org/drawingml/2006/main">
              <a:ext uri="{FF2B5EF4-FFF2-40B4-BE49-F238E27FC236}">
                <a16:creationId xmlns:a16="http://schemas.microsoft.com/office/drawing/2014/main" id="{BA7F73F9-0717-4CA5-A8CB-AF29B3BBAA5D}"/>
              </a:ext>
            </a:extLst>
          </p:cNvPr>
          <p:cNvSpPr>
            <a:spLocks xmlns:a="http://schemas.openxmlformats.org/drawingml/2006/main" noGrp="1"/>
          </p:cNvSpPr>
          <p:nvPr/>
        </p:nvSpPr>
        <p:spPr>
          <a:xfrm xmlns:a="http://schemas.openxmlformats.org/drawingml/2006/main">
            <a:off x="4206240"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1990s–2010s · machine learning, neural networks</a:t>
            </a:r>
            <a:endParaRPr sz="900"/>
          </a:p>
        </p:txBody>
      </p:sp>
      <p:sp>
        <p:nvSpPr>
          <p:cNvPr id="27" name="Shape 23">
            <a:extLst xmlns:a="http://schemas.openxmlformats.org/drawingml/2006/main">
              <a:ext uri="{FF2B5EF4-FFF2-40B4-BE49-F238E27FC236}">
                <a16:creationId xmlns:a16="http://schemas.microsoft.com/office/drawing/2014/main" id="{68E10DA9-0BA7-41D1-A935-A4EA18F15D25}"/>
              </a:ext>
            </a:extLst>
          </p:cNvPr>
          <p:cNvSpPr>
            <a:spLocks xmlns:a="http://schemas.openxmlformats.org/drawingml/2006/main" noGrp="1"/>
          </p:cNvSpPr>
          <p:nvPr/>
        </p:nvSpPr>
        <p:spPr>
          <a:xfrm xmlns:a="http://schemas.openxmlformats.org/drawingml/2006/main">
            <a:off x="3968496" y="2642616"/>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28" name="Shape 24">
            <a:extLst xmlns:a="http://schemas.openxmlformats.org/drawingml/2006/main">
              <a:ext uri="{FF2B5EF4-FFF2-40B4-BE49-F238E27FC236}">
                <a16:creationId xmlns:a16="http://schemas.microsoft.com/office/drawing/2014/main" id="{7E7B09E6-57AD-4E4C-8819-AFE91561BB4D}"/>
              </a:ext>
            </a:extLst>
          </p:cNvPr>
          <p:cNvSpPr>
            <a:spLocks xmlns:a="http://schemas.openxmlformats.org/drawingml/2006/main" noGrp="1"/>
          </p:cNvSpPr>
          <p:nvPr/>
        </p:nvSpPr>
        <p:spPr>
          <a:xfrm xmlns:a="http://schemas.openxmlformats.org/drawingml/2006/main">
            <a:off x="3968496" y="2642616"/>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29" name="Shape 25">
            <a:extLst xmlns:a="http://schemas.openxmlformats.org/drawingml/2006/main">
              <a:ext uri="{FF2B5EF4-FFF2-40B4-BE49-F238E27FC236}">
                <a16:creationId xmlns:a16="http://schemas.microsoft.com/office/drawing/2014/main" id="{6FC528E1-319C-477E-82E4-0985565D1A59}"/>
              </a:ext>
            </a:extLst>
          </p:cNvPr>
          <p:cNvSpPr>
            <a:spLocks xmlns:a="http://schemas.openxmlformats.org/drawingml/2006/main" noGrp="1"/>
          </p:cNvSpPr>
          <p:nvPr/>
        </p:nvSpPr>
        <p:spPr>
          <a:xfrm xmlns:a="http://schemas.openxmlformats.org/drawingml/2006/main" flipV="1">
            <a:off x="3968496" y="2743200"/>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0" name="Shape 26">
            <a:extLst xmlns:a="http://schemas.openxmlformats.org/drawingml/2006/main">
              <a:ext uri="{FF2B5EF4-FFF2-40B4-BE49-F238E27FC236}">
                <a16:creationId xmlns:a16="http://schemas.microsoft.com/office/drawing/2014/main" id="{0DDAB7B7-5AB3-4163-996F-B8282E3D48D8}"/>
              </a:ext>
            </a:extLst>
          </p:cNvPr>
          <p:cNvSpPr>
            <a:spLocks xmlns:a="http://schemas.openxmlformats.org/drawingml/2006/main" noGrp="1"/>
          </p:cNvSpPr>
          <p:nvPr/>
        </p:nvSpPr>
        <p:spPr>
          <a:xfrm xmlns:a="http://schemas.openxmlformats.org/drawingml/2006/main">
            <a:off x="3968496" y="2843784"/>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1" name="Shape 27">
            <a:extLst xmlns:a="http://schemas.openxmlformats.org/drawingml/2006/main">
              <a:ext uri="{FF2B5EF4-FFF2-40B4-BE49-F238E27FC236}">
                <a16:creationId xmlns:a16="http://schemas.microsoft.com/office/drawing/2014/main" id="{277F5337-08B9-40A2-878A-7340423E13BD}"/>
              </a:ext>
            </a:extLst>
          </p:cNvPr>
          <p:cNvSpPr>
            <a:spLocks xmlns:a="http://schemas.openxmlformats.org/drawingml/2006/main" noGrp="1"/>
          </p:cNvSpPr>
          <p:nvPr/>
        </p:nvSpPr>
        <p:spPr>
          <a:xfrm xmlns:a="http://schemas.openxmlformats.org/drawingml/2006/main" flipV="1">
            <a:off x="3968496" y="2743200"/>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2" name="Shape 28">
            <a:extLst xmlns:a="http://schemas.openxmlformats.org/drawingml/2006/main">
              <a:ext uri="{FF2B5EF4-FFF2-40B4-BE49-F238E27FC236}">
                <a16:creationId xmlns:a16="http://schemas.microsoft.com/office/drawing/2014/main" id="{268317BA-0CCC-4A14-96FF-66F1A7A03ED3}"/>
              </a:ext>
            </a:extLst>
          </p:cNvPr>
          <p:cNvSpPr>
            <a:spLocks xmlns:a="http://schemas.openxmlformats.org/drawingml/2006/main" noGrp="1"/>
          </p:cNvSpPr>
          <p:nvPr/>
        </p:nvSpPr>
        <p:spPr>
          <a:xfrm xmlns:a="http://schemas.openxmlformats.org/drawingml/2006/main" flipV="1">
            <a:off x="3968496" y="2944368"/>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3" name="Shape 29">
            <a:extLst xmlns:a="http://schemas.openxmlformats.org/drawingml/2006/main">
              <a:ext uri="{FF2B5EF4-FFF2-40B4-BE49-F238E27FC236}">
                <a16:creationId xmlns:a16="http://schemas.microsoft.com/office/drawing/2014/main" id="{9CEA9ED2-EE8E-464A-9121-EF6CDD0CDD62}"/>
              </a:ext>
            </a:extLst>
          </p:cNvPr>
          <p:cNvSpPr>
            <a:spLocks xmlns:a="http://schemas.openxmlformats.org/drawingml/2006/main" noGrp="1"/>
          </p:cNvSpPr>
          <p:nvPr/>
        </p:nvSpPr>
        <p:spPr>
          <a:xfrm xmlns:a="http://schemas.openxmlformats.org/drawingml/2006/main">
            <a:off x="4882896" y="2743200"/>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4" name="Shape 30">
            <a:extLst xmlns:a="http://schemas.openxmlformats.org/drawingml/2006/main">
              <a:ext uri="{FF2B5EF4-FFF2-40B4-BE49-F238E27FC236}">
                <a16:creationId xmlns:a16="http://schemas.microsoft.com/office/drawing/2014/main" id="{E586D03B-060E-4294-BDA0-0CC5F2687B78}"/>
              </a:ext>
            </a:extLst>
          </p:cNvPr>
          <p:cNvSpPr>
            <a:spLocks xmlns:a="http://schemas.openxmlformats.org/drawingml/2006/main" noGrp="1"/>
          </p:cNvSpPr>
          <p:nvPr/>
        </p:nvSpPr>
        <p:spPr>
          <a:xfrm xmlns:a="http://schemas.openxmlformats.org/drawingml/2006/main" flipV="1">
            <a:off x="4882896" y="2843784"/>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5" name="Shape 31">
            <a:extLst xmlns:a="http://schemas.openxmlformats.org/drawingml/2006/main">
              <a:ext uri="{FF2B5EF4-FFF2-40B4-BE49-F238E27FC236}">
                <a16:creationId xmlns:a16="http://schemas.microsoft.com/office/drawing/2014/main" id="{26D4FE99-BEAE-4F6D-95C2-4BB26797C8B1}"/>
              </a:ext>
            </a:extLst>
          </p:cNvPr>
          <p:cNvSpPr>
            <a:spLocks xmlns:a="http://schemas.openxmlformats.org/drawingml/2006/main" noGrp="1"/>
          </p:cNvSpPr>
          <p:nvPr/>
        </p:nvSpPr>
        <p:spPr>
          <a:xfrm xmlns:a="http://schemas.openxmlformats.org/drawingml/2006/main">
            <a:off x="3840480" y="2578608"/>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6" name="Shape 32">
            <a:extLst xmlns:a="http://schemas.openxmlformats.org/drawingml/2006/main">
              <a:ext uri="{FF2B5EF4-FFF2-40B4-BE49-F238E27FC236}">
                <a16:creationId xmlns:a16="http://schemas.microsoft.com/office/drawing/2014/main" id="{F23C1C19-4893-41F2-AE2A-357C4CD27413}"/>
              </a:ext>
            </a:extLst>
          </p:cNvPr>
          <p:cNvSpPr>
            <a:spLocks xmlns:a="http://schemas.openxmlformats.org/drawingml/2006/main" noGrp="1"/>
          </p:cNvSpPr>
          <p:nvPr/>
        </p:nvSpPr>
        <p:spPr>
          <a:xfrm xmlns:a="http://schemas.openxmlformats.org/drawingml/2006/main">
            <a:off x="3840480" y="2779776"/>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7" name="Shape 33">
            <a:extLst xmlns:a="http://schemas.openxmlformats.org/drawingml/2006/main">
              <a:ext uri="{FF2B5EF4-FFF2-40B4-BE49-F238E27FC236}">
                <a16:creationId xmlns:a16="http://schemas.microsoft.com/office/drawing/2014/main" id="{E02E5910-1B76-4F31-94CF-A17F6E26B624}"/>
              </a:ext>
            </a:extLst>
          </p:cNvPr>
          <p:cNvSpPr>
            <a:spLocks xmlns:a="http://schemas.openxmlformats.org/drawingml/2006/main" noGrp="1"/>
          </p:cNvSpPr>
          <p:nvPr/>
        </p:nvSpPr>
        <p:spPr>
          <a:xfrm xmlns:a="http://schemas.openxmlformats.org/drawingml/2006/main">
            <a:off x="3840480" y="2980944"/>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8" name="Shape 34">
            <a:extLst xmlns:a="http://schemas.openxmlformats.org/drawingml/2006/main">
              <a:ext uri="{FF2B5EF4-FFF2-40B4-BE49-F238E27FC236}">
                <a16:creationId xmlns:a16="http://schemas.microsoft.com/office/drawing/2014/main" id="{EA35D082-5165-42CE-ADCC-86D2E587E835}"/>
              </a:ext>
            </a:extLst>
          </p:cNvPr>
          <p:cNvSpPr>
            <a:spLocks xmlns:a="http://schemas.openxmlformats.org/drawingml/2006/main" noGrp="1"/>
          </p:cNvSpPr>
          <p:nvPr/>
        </p:nvSpPr>
        <p:spPr>
          <a:xfrm xmlns:a="http://schemas.openxmlformats.org/drawingml/2006/main">
            <a:off x="4754880" y="2679192"/>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9" name="Shape 35">
            <a:extLst xmlns:a="http://schemas.openxmlformats.org/drawingml/2006/main">
              <a:ext uri="{FF2B5EF4-FFF2-40B4-BE49-F238E27FC236}">
                <a16:creationId xmlns:a16="http://schemas.microsoft.com/office/drawing/2014/main" id="{A15D561F-E9DA-46F4-B361-95E78F561AD0}"/>
              </a:ext>
            </a:extLst>
          </p:cNvPr>
          <p:cNvSpPr>
            <a:spLocks xmlns:a="http://schemas.openxmlformats.org/drawingml/2006/main" noGrp="1"/>
          </p:cNvSpPr>
          <p:nvPr/>
        </p:nvSpPr>
        <p:spPr>
          <a:xfrm xmlns:a="http://schemas.openxmlformats.org/drawingml/2006/main">
            <a:off x="4754880" y="2880360"/>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40" name="Shape 36">
            <a:extLst xmlns:a="http://schemas.openxmlformats.org/drawingml/2006/main">
              <a:ext uri="{FF2B5EF4-FFF2-40B4-BE49-F238E27FC236}">
                <a16:creationId xmlns:a16="http://schemas.microsoft.com/office/drawing/2014/main" id="{F41FE780-0F18-4E02-88B3-BFD423978DAE}"/>
              </a:ext>
            </a:extLst>
          </p:cNvPr>
          <p:cNvSpPr>
            <a:spLocks xmlns:a="http://schemas.openxmlformats.org/drawingml/2006/main" noGrp="1"/>
          </p:cNvSpPr>
          <p:nvPr/>
        </p:nvSpPr>
        <p:spPr>
          <a:xfrm xmlns:a="http://schemas.openxmlformats.org/drawingml/2006/main">
            <a:off x="5577840" y="2779776"/>
            <a:ext cx="137160" cy="13716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59C8134-6070-46B2-89A6-272551EB99F4}"/>
              </a:ext>
            </a:extLst>
          </p:cNvPr>
          <p:cNvSpPr>
            <a:spLocks xmlns:a="http://schemas.openxmlformats.org/drawingml/2006/main" noGrp="1"/>
          </p:cNvSpPr>
          <p:nvPr/>
        </p:nvSpPr>
        <p:spPr>
          <a:xfrm xmlns:a="http://schemas.openxmlformats.org/drawingml/2006/main">
            <a:off x="3639312"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Stop writing rules — let the system find patterns in examples. 2012: deep nets + GPUs crush image recognition (AlexNet: 15.3% error vs 26.2%).</a:t>
            </a:r>
            <a:endParaRPr sz="1050"/>
          </a:p>
        </p:txBody>
      </p:sp>
      <p:sp>
        <p:nvSpPr>
          <p:cNvPr id="42" name="Text 38">
            <a:extLst xmlns:a="http://schemas.openxmlformats.org/drawingml/2006/main">
              <a:ext uri="{FF2B5EF4-FFF2-40B4-BE49-F238E27FC236}">
                <a16:creationId xmlns:a16="http://schemas.microsoft.com/office/drawing/2014/main" id="{5F86F64D-F23C-4A73-A2FD-0A0B4436E053}"/>
              </a:ext>
            </a:extLst>
          </p:cNvPr>
          <p:cNvSpPr>
            <a:spLocks xmlns:a="http://schemas.openxmlformats.org/drawingml/2006/main" noGrp="1"/>
          </p:cNvSpPr>
          <p:nvPr/>
        </p:nvSpPr>
        <p:spPr>
          <a:xfrm xmlns:a="http://schemas.openxmlformats.org/drawingml/2006/main">
            <a:off x="3639312"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spam filters, search ranking, recommendations, image recognition.</a:t>
            </a:r>
            <a:endParaRPr sz="950"/>
          </a:p>
        </p:txBody>
      </p:sp>
      <p:sp>
        <p:nvSpPr>
          <p:cNvPr id="43" name="Shape 39">
            <a:extLst xmlns:a="http://schemas.openxmlformats.org/drawingml/2006/main">
              <a:ext uri="{FF2B5EF4-FFF2-40B4-BE49-F238E27FC236}">
                <a16:creationId xmlns:a16="http://schemas.microsoft.com/office/drawing/2014/main" id="{3CDA4407-C716-4418-96B2-3A9BF6FE6754}"/>
              </a:ext>
            </a:extLst>
          </p:cNvPr>
          <p:cNvSpPr>
            <a:spLocks xmlns:a="http://schemas.openxmlformats.org/drawingml/2006/main" noGrp="1"/>
          </p:cNvSpPr>
          <p:nvPr/>
        </p:nvSpPr>
        <p:spPr>
          <a:xfrm xmlns:a="http://schemas.openxmlformats.org/drawingml/2006/main">
            <a:off x="6135624"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44" name="Shape 40">
            <a:extLst xmlns:a="http://schemas.openxmlformats.org/drawingml/2006/main">
              <a:ext uri="{FF2B5EF4-FFF2-40B4-BE49-F238E27FC236}">
                <a16:creationId xmlns:a16="http://schemas.microsoft.com/office/drawing/2014/main" id="{217C02D3-3581-454A-AD1A-7CEDD6E2C163}"/>
              </a:ext>
            </a:extLst>
          </p:cNvPr>
          <p:cNvSpPr>
            <a:spLocks xmlns:a="http://schemas.openxmlformats.org/drawingml/2006/main" noGrp="1"/>
          </p:cNvSpPr>
          <p:nvPr/>
        </p:nvSpPr>
        <p:spPr>
          <a:xfrm xmlns:a="http://schemas.openxmlformats.org/drawingml/2006/main">
            <a:off x="6336792" y="1554480"/>
            <a:ext cx="2697480" cy="3401568"/>
          </a:xfrm>
          <a:prstGeom xmlns:a="http://schemas.openxmlformats.org/drawingml/2006/main" prst="roundRect">
            <a:avLst>
              <a:gd name="adj" fmla="val 2712"/>
            </a:avLst>
          </a:prstGeom>
          <a:solidFill xmlns:a="http://schemas.openxmlformats.org/drawingml/2006/main">
            <a:srgbClr val="E4F0EF"/>
          </a:solidFill>
        </p:spPr>
        <p:txBody xmlns:a="http://schemas.openxmlformats.org/drawingml/2006/main">
          <a:bodyPr/>
          <a:p/>
        </p:txBody>
      </p:sp>
      <p:sp>
        <p:nvSpPr>
          <p:cNvPr id="45" name="Shape 41">
            <a:extLst xmlns:a="http://schemas.openxmlformats.org/drawingml/2006/main">
              <a:ext uri="{FF2B5EF4-FFF2-40B4-BE49-F238E27FC236}">
                <a16:creationId xmlns:a16="http://schemas.microsoft.com/office/drawing/2014/main" id="{1E60FA4D-7E1F-4419-828C-90832342E5C8}"/>
              </a:ext>
            </a:extLst>
          </p:cNvPr>
          <p:cNvSpPr>
            <a:spLocks xmlns:a="http://schemas.openxmlformats.org/drawingml/2006/main" noGrp="1"/>
          </p:cNvSpPr>
          <p:nvPr/>
        </p:nvSpPr>
        <p:spPr>
          <a:xfrm xmlns:a="http://schemas.openxmlformats.org/drawingml/2006/main">
            <a:off x="6556248"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43" name="Image 2"/>
          <p:cNvPicPr>
            <a:picLocks xmlns:a="http://schemas.openxmlformats.org/drawingml/2006/main" noChangeAspect="1"/>
          </p:cNvPicPr>
          <p:nvPr/>
        </p:nvPicPr>
        <p:blipFill>
          <a:blip xmlns:r="http://schemas.openxmlformats.org/officeDocument/2006/relationships" xmlns:a="http://schemas.openxmlformats.org/drawingml/2006/main" r:embed="R25922f78034f4f00"/>
          <a:stretch xmlns:a="http://schemas.openxmlformats.org/drawingml/2006/main">
            <a:fillRect l="0" t="0" r="0" b="0"/>
          </a:stretch>
        </p:blipFill>
        <p:spPr>
          <a:xfrm xmlns:a="http://schemas.openxmlformats.org/drawingml/2006/main">
            <a:off x="6675120" y="1874520"/>
            <a:ext cx="219456" cy="219456"/>
          </a:xfrm>
          <a:prstGeom xmlns:a="http://schemas.openxmlformats.org/drawingml/2006/main" prst="rect">
            <a:avLst/>
          </a:prstGeom>
        </p:spPr>
      </p:pic>
      <p:sp>
        <p:nvSpPr>
          <p:cNvPr id="47" name="Text 42">
            <a:extLst xmlns:a="http://schemas.openxmlformats.org/drawingml/2006/main">
              <a:ext uri="{FF2B5EF4-FFF2-40B4-BE49-F238E27FC236}">
                <a16:creationId xmlns:a16="http://schemas.microsoft.com/office/drawing/2014/main" id="{EDAEDDBD-87E8-46A7-A8E1-D25B718F146D}"/>
              </a:ext>
            </a:extLst>
          </p:cNvPr>
          <p:cNvSpPr>
            <a:spLocks xmlns:a="http://schemas.openxmlformats.org/drawingml/2006/main" noGrp="1"/>
          </p:cNvSpPr>
          <p:nvPr/>
        </p:nvSpPr>
        <p:spPr>
          <a:xfrm xmlns:a="http://schemas.openxmlformats.org/drawingml/2006/main">
            <a:off x="7123176"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Generative</a:t>
            </a:r>
            <a:endParaRPr sz="1500"/>
          </a:p>
        </p:txBody>
      </p:sp>
      <p:sp>
        <p:nvSpPr>
          <p:cNvPr id="48" name="Text 43">
            <a:extLst xmlns:a="http://schemas.openxmlformats.org/drawingml/2006/main">
              <a:ext uri="{FF2B5EF4-FFF2-40B4-BE49-F238E27FC236}">
                <a16:creationId xmlns:a16="http://schemas.microsoft.com/office/drawing/2014/main" id="{90FD024C-13A4-494E-AA53-1C3C0F1F16F1}"/>
              </a:ext>
            </a:extLst>
          </p:cNvPr>
          <p:cNvSpPr>
            <a:spLocks xmlns:a="http://schemas.openxmlformats.org/drawingml/2006/main" noGrp="1"/>
          </p:cNvSpPr>
          <p:nvPr/>
        </p:nvSpPr>
        <p:spPr>
          <a:xfrm xmlns:a="http://schemas.openxmlformats.org/drawingml/2006/main">
            <a:off x="7123176"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2017– · transformers, LLMs</a:t>
            </a:r>
            <a:endParaRPr sz="900"/>
          </a:p>
        </p:txBody>
      </p:sp>
      <p:sp>
        <p:nvSpPr>
          <p:cNvPr id="49" name="Shape 44">
            <a:extLst xmlns:a="http://schemas.openxmlformats.org/drawingml/2006/main">
              <a:ext uri="{FF2B5EF4-FFF2-40B4-BE49-F238E27FC236}">
                <a16:creationId xmlns:a16="http://schemas.microsoft.com/office/drawing/2014/main" id="{B654EBFE-FBA9-44B7-AB44-5CAED171485E}"/>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0" name="Text 45">
            <a:extLst xmlns:a="http://schemas.openxmlformats.org/drawingml/2006/main">
              <a:ext uri="{FF2B5EF4-FFF2-40B4-BE49-F238E27FC236}">
                <a16:creationId xmlns:a16="http://schemas.microsoft.com/office/drawing/2014/main" id="{8C7C7AC4-1BDF-4B44-B2B6-87EDD8E6AB91}"/>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a:t>
            </a:r>
            <a:endParaRPr sz="800"/>
          </a:p>
        </p:txBody>
      </p:sp>
      <p:sp>
        <p:nvSpPr>
          <p:cNvPr id="51" name="Shape 46">
            <a:extLst xmlns:a="http://schemas.openxmlformats.org/drawingml/2006/main">
              <a:ext uri="{FF2B5EF4-FFF2-40B4-BE49-F238E27FC236}">
                <a16:creationId xmlns:a16="http://schemas.microsoft.com/office/drawing/2014/main" id="{C0481106-7FD2-47A5-87EE-8924F052D517}"/>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2" name="Text 47">
            <a:extLst xmlns:a="http://schemas.openxmlformats.org/drawingml/2006/main">
              <a:ext uri="{FF2B5EF4-FFF2-40B4-BE49-F238E27FC236}">
                <a16:creationId xmlns:a16="http://schemas.microsoft.com/office/drawing/2014/main" id="{015DF4BF-A479-4FE7-A1FC-38463C829938}"/>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audit</a:t>
            </a:r>
            <a:endParaRPr sz="800"/>
          </a:p>
        </p:txBody>
      </p:sp>
      <p:sp>
        <p:nvSpPr>
          <p:cNvPr id="53" name="Shape 48">
            <a:extLst xmlns:a="http://schemas.openxmlformats.org/drawingml/2006/main">
              <a:ext uri="{FF2B5EF4-FFF2-40B4-BE49-F238E27FC236}">
                <a16:creationId xmlns:a16="http://schemas.microsoft.com/office/drawing/2014/main" id="{EEF48A7A-3BD6-44AF-BA8F-28AE8B2BDF67}"/>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4" name="Text 49">
            <a:extLst xmlns:a="http://schemas.openxmlformats.org/drawingml/2006/main">
              <a:ext uri="{FF2B5EF4-FFF2-40B4-BE49-F238E27FC236}">
                <a16:creationId xmlns:a16="http://schemas.microsoft.com/office/drawing/2014/main" id="{824E6943-C7F4-483D-B0FD-2386A15574CB}"/>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is</a:t>
            </a:r>
            <a:endParaRPr sz="800"/>
          </a:p>
        </p:txBody>
      </p:sp>
      <p:sp>
        <p:nvSpPr>
          <p:cNvPr id="55" name="Shape 50">
            <a:extLst xmlns:a="http://schemas.openxmlformats.org/drawingml/2006/main">
              <a:ext uri="{FF2B5EF4-FFF2-40B4-BE49-F238E27FC236}">
                <a16:creationId xmlns:a16="http://schemas.microsoft.com/office/drawing/2014/main" id="{9D638383-466B-4C16-AF51-116D3F2183A9}"/>
              </a:ext>
            </a:extLst>
          </p:cNvPr>
          <p:cNvSpPr>
            <a:spLocks xmlns:a="http://schemas.openxmlformats.org/drawingml/2006/main" noGrp="1"/>
          </p:cNvSpPr>
          <p:nvPr/>
        </p:nvSpPr>
        <p:spPr>
          <a:xfrm xmlns:a="http://schemas.openxmlformats.org/drawingml/2006/main">
            <a:off x="8147304" y="2862072"/>
            <a:ext cx="228600" cy="0"/>
          </a:xfrm>
          <a:prstGeom xmlns:a="http://schemas.openxmlformats.org/drawingml/2006/main" prst="line">
            <a:avLst/>
          </a:prstGeom>
          <a:noFill xmlns:a="http://schemas.openxmlformats.org/drawingml/2006/main"/>
          <a:ln xmlns:a="http://schemas.openxmlformats.org/drawingml/2006/main" w="15875">
            <a:solidFill>
              <a:srgbClr val="0E7C7B"/>
            </a:solidFill>
            <a:prstDash val="solid"/>
            <a:tailEnd type="triangle"/>
          </a:ln>
        </p:spPr>
        <p:txBody xmlns:a="http://schemas.openxmlformats.org/drawingml/2006/main">
          <a:bodyPr/>
          <a:p/>
        </p:txBody>
      </p:sp>
      <p:sp>
        <p:nvSpPr>
          <p:cNvPr id="56" name="Shape 51">
            <a:extLst xmlns:a="http://schemas.openxmlformats.org/drawingml/2006/main">
              <a:ext uri="{FF2B5EF4-FFF2-40B4-BE49-F238E27FC236}">
                <a16:creationId xmlns:a16="http://schemas.microsoft.com/office/drawing/2014/main" id="{3D242BE8-F06E-4277-8496-990C8A09F7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57" name="Text 52">
            <a:extLst xmlns:a="http://schemas.openxmlformats.org/drawingml/2006/main">
              <a:ext uri="{FF2B5EF4-FFF2-40B4-BE49-F238E27FC236}">
                <a16:creationId xmlns:a16="http://schemas.microsoft.com/office/drawing/2014/main" id="{1C0F7E18-DD33-4C27-BB87-E4D889E37B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Calibri"/>
                <a:ea typeface="Calibri"/>
                <a:cs typeface="Calibri"/>
              </a:rPr>
              <a:t>…?</a:t>
            </a:r>
            <a:endParaRPr sz="800"/>
          </a:p>
        </p:txBody>
      </p:sp>
      <p:sp>
        <p:nvSpPr>
          <p:cNvPr id="58" name="Text 53">
            <a:extLst xmlns:a="http://schemas.openxmlformats.org/drawingml/2006/main">
              <a:ext uri="{FF2B5EF4-FFF2-40B4-BE49-F238E27FC236}">
                <a16:creationId xmlns:a16="http://schemas.microsoft.com/office/drawing/2014/main" id="{546494E8-FF41-4E55-9A1C-7A392C032B0F}"/>
              </a:ext>
            </a:extLst>
          </p:cNvPr>
          <p:cNvSpPr>
            <a:spLocks xmlns:a="http://schemas.openxmlformats.org/drawingml/2006/main" noGrp="1"/>
          </p:cNvSpPr>
          <p:nvPr/>
        </p:nvSpPr>
        <p:spPr>
          <a:xfrm xmlns:a="http://schemas.openxmlformats.org/drawingml/2006/main">
            <a:off x="6556248"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The Transformer (2017) lets models </a:t>
            </a:r>
            <a:r>
              <a:rPr sz="1050">
                <a:solidFill>
                  <a:srgbClr val="46545F"/>
                </a:solidFill>
                <a:latin typeface="Calibri"/>
                <a:ea typeface="Calibri"/>
                <a:cs typeface="Calibri"/>
              </a:rPr>
              <a:t>learn patterns from large datasets</a:t>
            </a:r>
            <a:r>
              <a:rPr sz="1050">
                <a:solidFill>
                  <a:srgbClr val="46545F"/>
                </a:solidFill>
                <a:latin typeface="Calibri"/>
                <a:ea typeface="Calibri"/>
                <a:cs typeface="Calibri"/>
              </a:rPr>
              <a:t>. Predict-the-next-word at that scale writes, summarizes, codes.</a:t>
            </a:r>
            <a:endParaRPr sz="1050"/>
          </a:p>
        </p:txBody>
      </p:sp>
      <p:sp>
        <p:nvSpPr>
          <p:cNvPr id="59" name="Text 54">
            <a:extLst xmlns:a="http://schemas.openxmlformats.org/drawingml/2006/main">
              <a:ext uri="{FF2B5EF4-FFF2-40B4-BE49-F238E27FC236}">
                <a16:creationId xmlns:a16="http://schemas.microsoft.com/office/drawing/2014/main" id="{B4DBCAA7-B323-4215-A6F1-324A6579F655}"/>
              </a:ext>
            </a:extLst>
          </p:cNvPr>
          <p:cNvSpPr>
            <a:spLocks xmlns:a="http://schemas.openxmlformats.org/drawingml/2006/main" noGrp="1"/>
          </p:cNvSpPr>
          <p:nvPr/>
        </p:nvSpPr>
        <p:spPr>
          <a:xfrm xmlns:a="http://schemas.openxmlformats.org/drawingml/2006/main">
            <a:off x="6556248"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ChatGPT (2022), image generators — AI everyone can talk to.</a:t>
            </a:r>
            <a:endParaRPr sz="950"/>
          </a:p>
        </p:txBody>
      </p:sp>
      <p:sp>
        <p:nvSpPr>
          <p:cNvPr id="60" name="Shape 55">
            <a:extLst xmlns:a="http://schemas.openxmlformats.org/drawingml/2006/main">
              <a:ext uri="{FF2B5EF4-FFF2-40B4-BE49-F238E27FC236}">
                <a16:creationId xmlns:a16="http://schemas.microsoft.com/office/drawing/2014/main" id="{B1D34B1F-655E-46AC-9170-6206D9B2D383}"/>
              </a:ext>
            </a:extLst>
          </p:cNvPr>
          <p:cNvSpPr>
            <a:spLocks xmlns:a="http://schemas.openxmlformats.org/drawingml/2006/main" noGrp="1"/>
          </p:cNvSpPr>
          <p:nvPr/>
        </p:nvSpPr>
        <p:spPr>
          <a:xfrm xmlns:a="http://schemas.openxmlformats.org/drawingml/2006/main">
            <a:off x="9052560"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61" name="Shape 56">
            <a:extLst xmlns:a="http://schemas.openxmlformats.org/drawingml/2006/main">
              <a:ext uri="{FF2B5EF4-FFF2-40B4-BE49-F238E27FC236}">
                <a16:creationId xmlns:a16="http://schemas.microsoft.com/office/drawing/2014/main" id="{068A4789-82AC-4AEB-945B-DBD3B1B4531B}"/>
              </a:ext>
            </a:extLst>
          </p:cNvPr>
          <p:cNvSpPr>
            <a:spLocks xmlns:a="http://schemas.openxmlformats.org/drawingml/2006/main" noGrp="1"/>
          </p:cNvSpPr>
          <p:nvPr/>
        </p:nvSpPr>
        <p:spPr>
          <a:xfrm xmlns:a="http://schemas.openxmlformats.org/drawingml/2006/main">
            <a:off x="9253728" y="1554480"/>
            <a:ext cx="2697480" cy="3401568"/>
          </a:xfrm>
          <a:prstGeom xmlns:a="http://schemas.openxmlformats.org/drawingml/2006/main" prst="roundRect">
            <a:avLst>
              <a:gd name="adj" fmla="val 2712"/>
            </a:avLst>
          </a:prstGeom>
          <a:solidFill xmlns:a="http://schemas.openxmlformats.org/drawingml/2006/main">
            <a:srgbClr val="E4F0EF"/>
          </a:solidFill>
        </p:spPr>
        <p:txBody xmlns:a="http://schemas.openxmlformats.org/drawingml/2006/main">
          <a:bodyPr/>
          <a:p/>
        </p:txBody>
      </p:sp>
      <p:sp>
        <p:nvSpPr>
          <p:cNvPr id="62" name="Shape 57">
            <a:extLst xmlns:a="http://schemas.openxmlformats.org/drawingml/2006/main">
              <a:ext uri="{FF2B5EF4-FFF2-40B4-BE49-F238E27FC236}">
                <a16:creationId xmlns:a16="http://schemas.microsoft.com/office/drawing/2014/main" id="{B975BC9D-458E-48F0-B3EF-A3DEF506CC91}"/>
              </a:ext>
            </a:extLst>
          </p:cNvPr>
          <p:cNvSpPr>
            <a:spLocks xmlns:a="http://schemas.openxmlformats.org/drawingml/2006/main" noGrp="1"/>
          </p:cNvSpPr>
          <p:nvPr/>
        </p:nvSpPr>
        <p:spPr>
          <a:xfrm xmlns:a="http://schemas.openxmlformats.org/drawingml/2006/main">
            <a:off x="9473184"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60" name="Image 3"/>
          <p:cNvPicPr>
            <a:picLocks xmlns:a="http://schemas.openxmlformats.org/drawingml/2006/main" noChangeAspect="1"/>
          </p:cNvPicPr>
          <p:nvPr/>
        </p:nvPicPr>
        <p:blipFill>
          <a:blip xmlns:r="http://schemas.openxmlformats.org/officeDocument/2006/relationships" xmlns:a="http://schemas.openxmlformats.org/drawingml/2006/main" r:embed="R29b3c6c186e2442c"/>
          <a:stretch xmlns:a="http://schemas.openxmlformats.org/drawingml/2006/main">
            <a:fillRect l="0" t="0" r="0" b="0"/>
          </a:stretch>
        </p:blipFill>
        <p:spPr>
          <a:xfrm xmlns:a="http://schemas.openxmlformats.org/drawingml/2006/main">
            <a:off x="9592056" y="1874520"/>
            <a:ext cx="219456" cy="219456"/>
          </a:xfrm>
          <a:prstGeom xmlns:a="http://schemas.openxmlformats.org/drawingml/2006/main" prst="rect">
            <a:avLst/>
          </a:prstGeom>
        </p:spPr>
      </p:pic>
      <p:sp>
        <p:nvSpPr>
          <p:cNvPr id="64" name="Text 58">
            <a:extLst xmlns:a="http://schemas.openxmlformats.org/drawingml/2006/main">
              <a:ext uri="{FF2B5EF4-FFF2-40B4-BE49-F238E27FC236}">
                <a16:creationId xmlns:a16="http://schemas.microsoft.com/office/drawing/2014/main" id="{51B787C9-DE4C-4B47-AEBA-E55EF01107EF}"/>
              </a:ext>
            </a:extLst>
          </p:cNvPr>
          <p:cNvSpPr>
            <a:spLocks xmlns:a="http://schemas.openxmlformats.org/drawingml/2006/main" noGrp="1"/>
          </p:cNvSpPr>
          <p:nvPr/>
        </p:nvSpPr>
        <p:spPr>
          <a:xfrm xmlns:a="http://schemas.openxmlformats.org/drawingml/2006/main">
            <a:off x="10040112"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Agentic</a:t>
            </a:r>
            <a:endParaRPr sz="1500"/>
          </a:p>
        </p:txBody>
      </p:sp>
      <p:sp>
        <p:nvSpPr>
          <p:cNvPr id="65" name="Text 59">
            <a:extLst xmlns:a="http://schemas.openxmlformats.org/drawingml/2006/main">
              <a:ext uri="{FF2B5EF4-FFF2-40B4-BE49-F238E27FC236}">
                <a16:creationId xmlns:a16="http://schemas.microsoft.com/office/drawing/2014/main" id="{18DF60FA-25AD-4DDA-9566-4F2DA1E0EF8B}"/>
              </a:ext>
            </a:extLst>
          </p:cNvPr>
          <p:cNvSpPr>
            <a:spLocks xmlns:a="http://schemas.openxmlformats.org/drawingml/2006/main" noGrp="1"/>
          </p:cNvSpPr>
          <p:nvPr/>
        </p:nvSpPr>
        <p:spPr>
          <a:xfrm xmlns:a="http://schemas.openxmlformats.org/drawingml/2006/main">
            <a:off x="10040112"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2024– · reasoning models, tool use</a:t>
            </a:r>
            <a:endParaRPr sz="900"/>
          </a:p>
        </p:txBody>
      </p:sp>
      <p:sp>
        <p:nvSpPr>
          <p:cNvPr id="66" name="Shape 60">
            <a:extLst xmlns:a="http://schemas.openxmlformats.org/drawingml/2006/main">
              <a:ext uri="{FF2B5EF4-FFF2-40B4-BE49-F238E27FC236}">
                <a16:creationId xmlns:a16="http://schemas.microsoft.com/office/drawing/2014/main" id="{A3724810-D926-424B-B1AA-DFBBA127A8D2}"/>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67" name="Text 61">
            <a:extLst xmlns:a="http://schemas.openxmlformats.org/drawingml/2006/main">
              <a:ext uri="{FF2B5EF4-FFF2-40B4-BE49-F238E27FC236}">
                <a16:creationId xmlns:a16="http://schemas.microsoft.com/office/drawing/2014/main" id="{8C253282-BC08-45EE-ACDF-CA39C245C25F}"/>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PLAN</a:t>
            </a:r>
            <a:endParaRPr sz="800"/>
          </a:p>
        </p:txBody>
      </p:sp>
      <p:sp>
        <p:nvSpPr>
          <p:cNvPr id="68" name="Shape 62">
            <a:extLst xmlns:a="http://schemas.openxmlformats.org/drawingml/2006/main">
              <a:ext uri="{FF2B5EF4-FFF2-40B4-BE49-F238E27FC236}">
                <a16:creationId xmlns:a16="http://schemas.microsoft.com/office/drawing/2014/main" id="{9F6D8612-E666-47AA-BC10-80DCE33DA5D0}"/>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69" name="Text 63">
            <a:extLst xmlns:a="http://schemas.openxmlformats.org/drawingml/2006/main">
              <a:ext uri="{FF2B5EF4-FFF2-40B4-BE49-F238E27FC236}">
                <a16:creationId xmlns:a16="http://schemas.microsoft.com/office/drawing/2014/main" id="{E167774D-A1D8-4E35-8CDA-155372312616}"/>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ACT</a:t>
            </a:r>
            <a:endParaRPr sz="800"/>
          </a:p>
        </p:txBody>
      </p:sp>
      <p:sp>
        <p:nvSpPr>
          <p:cNvPr id="70" name="Shape 64">
            <a:extLst xmlns:a="http://schemas.openxmlformats.org/drawingml/2006/main">
              <a:ext uri="{FF2B5EF4-FFF2-40B4-BE49-F238E27FC236}">
                <a16:creationId xmlns:a16="http://schemas.microsoft.com/office/drawing/2014/main" id="{8A5082F8-3CD6-46C7-9808-669E84E8CCCA}"/>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71" name="Text 65">
            <a:extLst xmlns:a="http://schemas.openxmlformats.org/drawingml/2006/main">
              <a:ext uri="{FF2B5EF4-FFF2-40B4-BE49-F238E27FC236}">
                <a16:creationId xmlns:a16="http://schemas.microsoft.com/office/drawing/2014/main" id="{38E3AF9F-87E4-4F1D-B485-D5AB8C16E786}"/>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CHECK</a:t>
            </a:r>
            <a:endParaRPr sz="800"/>
          </a:p>
        </p:txBody>
      </p:sp>
      <p:sp>
        <p:nvSpPr>
          <p:cNvPr id="72" name="Shape 66">
            <a:extLst xmlns:a="http://schemas.openxmlformats.org/drawingml/2006/main">
              <a:ext uri="{FF2B5EF4-FFF2-40B4-BE49-F238E27FC236}">
                <a16:creationId xmlns:a16="http://schemas.microsoft.com/office/drawing/2014/main" id="{AB99E3F3-7105-4847-A888-7747B61CB325}"/>
              </a:ext>
            </a:extLst>
          </p:cNvPr>
          <p:cNvSpPr>
            <a:spLocks xmlns:a="http://schemas.openxmlformats.org/drawingml/2006/main" noGrp="1"/>
          </p:cNvSpPr>
          <p:nvPr/>
        </p:nvSpPr>
        <p:spPr>
          <a:xfrm xmlns:a="http://schemas.openxmlformats.org/drawingml/2006/main">
            <a:off x="1016812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txBody xmlns:a="http://schemas.openxmlformats.org/drawingml/2006/main">
          <a:bodyPr/>
          <a:p/>
        </p:txBody>
      </p:sp>
      <p:sp>
        <p:nvSpPr>
          <p:cNvPr id="73" name="Shape 67">
            <a:extLst xmlns:a="http://schemas.openxmlformats.org/drawingml/2006/main">
              <a:ext uri="{FF2B5EF4-FFF2-40B4-BE49-F238E27FC236}">
                <a16:creationId xmlns:a16="http://schemas.microsoft.com/office/drawing/2014/main" id="{E45D8EA0-2852-48DF-B7F9-85BD72F73783}"/>
              </a:ext>
            </a:extLst>
          </p:cNvPr>
          <p:cNvSpPr>
            <a:spLocks xmlns:a="http://schemas.openxmlformats.org/drawingml/2006/main" noGrp="1"/>
          </p:cNvSpPr>
          <p:nvPr/>
        </p:nvSpPr>
        <p:spPr>
          <a:xfrm xmlns:a="http://schemas.openxmlformats.org/drawingml/2006/main">
            <a:off x="1089964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txBody xmlns:a="http://schemas.openxmlformats.org/drawingml/2006/main">
          <a:bodyPr/>
          <a:p/>
        </p:txBody>
      </p:sp>
      <p:sp>
        <p:nvSpPr>
          <p:cNvPr id="74" name="Shape 68">
            <a:extLst xmlns:a="http://schemas.openxmlformats.org/drawingml/2006/main">
              <a:ext uri="{FF2B5EF4-FFF2-40B4-BE49-F238E27FC236}">
                <a16:creationId xmlns:a16="http://schemas.microsoft.com/office/drawing/2014/main" id="{9BB44BBB-2985-4A14-AF3C-F8606AF763DE}"/>
              </a:ext>
            </a:extLst>
          </p:cNvPr>
          <p:cNvSpPr>
            <a:spLocks xmlns:a="http://schemas.openxmlformats.org/drawingml/2006/main" noGrp="1"/>
          </p:cNvSpPr>
          <p:nvPr/>
        </p:nvSpPr>
        <p:spPr>
          <a:xfrm xmlns:a="http://schemas.openxmlformats.org/drawingml/2006/main">
            <a:off x="9838944" y="3017520"/>
            <a:ext cx="1572768"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headEnd type="triangle"/>
          </a:ln>
        </p:spPr>
        <p:txBody xmlns:a="http://schemas.openxmlformats.org/drawingml/2006/main">
          <a:bodyPr/>
          <a:p/>
        </p:txBody>
      </p:sp>
      <p:sp>
        <p:nvSpPr>
          <p:cNvPr id="75" name="Text 69">
            <a:extLst xmlns:a="http://schemas.openxmlformats.org/drawingml/2006/main">
              <a:ext uri="{FF2B5EF4-FFF2-40B4-BE49-F238E27FC236}">
                <a16:creationId xmlns:a16="http://schemas.microsoft.com/office/drawing/2014/main" id="{395F1F60-DF82-44ED-8C49-19D90686276E}"/>
              </a:ext>
            </a:extLst>
          </p:cNvPr>
          <p:cNvSpPr>
            <a:spLocks xmlns:a="http://schemas.openxmlformats.org/drawingml/2006/main" noGrp="1"/>
          </p:cNvSpPr>
          <p:nvPr/>
        </p:nvSpPr>
        <p:spPr>
          <a:xfrm xmlns:a="http://schemas.openxmlformats.org/drawingml/2006/main">
            <a:off x="9473184"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Models get “arms”: tools, browsers, files, code. Reasoning models plan multi-step work; agents execute with limited supervision.</a:t>
            </a:r>
            <a:endParaRPr sz="1050"/>
          </a:p>
        </p:txBody>
      </p:sp>
      <p:sp>
        <p:nvSpPr>
          <p:cNvPr id="76" name="Text 70">
            <a:extLst xmlns:a="http://schemas.openxmlformats.org/drawingml/2006/main">
              <a:ext uri="{FF2B5EF4-FFF2-40B4-BE49-F238E27FC236}">
                <a16:creationId xmlns:a16="http://schemas.microsoft.com/office/drawing/2014/main" id="{E993C337-C517-491F-AACB-CB9A0E142FC8}"/>
              </a:ext>
            </a:extLst>
          </p:cNvPr>
          <p:cNvSpPr>
            <a:spLocks xmlns:a="http://schemas.openxmlformats.org/drawingml/2006/main" noGrp="1"/>
          </p:cNvSpPr>
          <p:nvPr/>
        </p:nvSpPr>
        <p:spPr>
          <a:xfrm xmlns:a="http://schemas.openxmlformats.org/drawingml/2006/main">
            <a:off x="9473184"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Giving us: coding agents, office agents, deep-research modes — AI you delegate to.</a:t>
            </a:r>
            <a:endParaRPr sz="950"/>
          </a:p>
        </p:txBody>
      </p:sp>
      <p:sp>
        <p:nvSpPr>
          <p:cNvPr id="77" name="Shape 71">
            <a:extLst xmlns:a="http://schemas.openxmlformats.org/drawingml/2006/main">
              <a:ext uri="{FF2B5EF4-FFF2-40B4-BE49-F238E27FC236}">
                <a16:creationId xmlns:a16="http://schemas.microsoft.com/office/drawing/2014/main" id="{A42983CE-468D-4365-A812-6C8E50CD5482}"/>
              </a:ext>
            </a:extLst>
          </p:cNvPr>
          <p:cNvSpPr>
            <a:spLocks xmlns:a="http://schemas.openxmlformats.org/drawingml/2006/main" noGrp="1"/>
          </p:cNvSpPr>
          <p:nvPr/>
        </p:nvSpPr>
        <p:spPr>
          <a:xfrm xmlns:a="http://schemas.openxmlformats.org/drawingml/2006/main">
            <a:off x="502920" y="5120640"/>
            <a:ext cx="11155680" cy="960120"/>
          </a:xfrm>
          <a:prstGeom xmlns:a="http://schemas.openxmlformats.org/drawingml/2006/main" prst="roundRect">
            <a:avLst>
              <a:gd name="adj" fmla="val 7619"/>
            </a:avLst>
          </a:prstGeom>
          <a:solidFill xmlns:a="http://schemas.openxmlformats.org/drawingml/2006/main">
            <a:srgbClr val="FBF0E0"/>
          </a:solidFill>
        </p:spPr>
        <p:txBody xmlns:a="http://schemas.openxmlformats.org/drawingml/2006/main">
          <a:bodyPr/>
          <a:p/>
        </p:txBody>
      </p:sp>
      <p:sp>
        <p:nvSpPr>
          <p:cNvPr id="78" name="Shape 72">
            <a:extLst xmlns:a="http://schemas.openxmlformats.org/drawingml/2006/main">
              <a:ext uri="{FF2B5EF4-FFF2-40B4-BE49-F238E27FC236}">
                <a16:creationId xmlns:a16="http://schemas.microsoft.com/office/drawing/2014/main" id="{3F989C26-D557-48C2-A43D-703A2BCB75FC}"/>
              </a:ext>
            </a:extLst>
          </p:cNvPr>
          <p:cNvSpPr>
            <a:spLocks xmlns:a="http://schemas.openxmlformats.org/drawingml/2006/main" noGrp="1"/>
          </p:cNvSpPr>
          <p:nvPr/>
        </p:nvSpPr>
        <p:spPr>
          <a:xfrm xmlns:a="http://schemas.openxmlformats.org/drawingml/2006/main">
            <a:off x="667512" y="54086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176" name="Image 4"/>
          <p:cNvPicPr>
            <a:picLocks xmlns:a="http://schemas.openxmlformats.org/drawingml/2006/main" noChangeAspect="1"/>
          </p:cNvPicPr>
          <p:nvPr/>
        </p:nvPicPr>
        <p:blipFill>
          <a:blip xmlns:r="http://schemas.openxmlformats.org/officeDocument/2006/relationships" xmlns:a="http://schemas.openxmlformats.org/drawingml/2006/main" r:embed="Ree9b2c94d0dd404d"/>
          <a:stretch xmlns:a="http://schemas.openxmlformats.org/drawingml/2006/main">
            <a:fillRect l="0" t="0" r="0" b="0"/>
          </a:stretch>
        </p:blipFill>
        <p:spPr>
          <a:xfrm xmlns:a="http://schemas.openxmlformats.org/drawingml/2006/main">
            <a:off x="767364" y="5508528"/>
            <a:ext cx="184343" cy="184343"/>
          </a:xfrm>
          <a:prstGeom xmlns:a="http://schemas.openxmlformats.org/drawingml/2006/main" prst="rect">
            <a:avLst/>
          </a:prstGeom>
        </p:spPr>
      </p:pic>
      <p:sp>
        <p:nvSpPr>
          <p:cNvPr id="80" name="Text 73">
            <a:extLst xmlns:a="http://schemas.openxmlformats.org/drawingml/2006/main">
              <a:ext uri="{FF2B5EF4-FFF2-40B4-BE49-F238E27FC236}">
                <a16:creationId xmlns:a16="http://schemas.microsoft.com/office/drawing/2014/main" id="{CE645797-4D6B-4B3D-A3C1-BCFDE04A4A3C}"/>
              </a:ext>
            </a:extLst>
          </p:cNvPr>
          <p:cNvSpPr>
            <a:spLocks xmlns:a="http://schemas.openxmlformats.org/drawingml/2006/main" noGrp="1"/>
          </p:cNvSpPr>
          <p:nvPr/>
        </p:nvSpPr>
        <p:spPr>
          <a:xfrm xmlns:a="http://schemas.openxmlformats.org/drawingml/2006/main">
            <a:off x="1216152" y="5193792"/>
            <a:ext cx="1021384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50" b="1">
                <a:solidFill>
                  <a:srgbClr val="232A31"/>
                </a:solidFill>
                <a:latin typeface="Calibri"/>
                <a:ea typeface="Calibri"/>
                <a:cs typeface="Calibri"/>
              </a:rPr>
              <a:t>Why the last decade exploded — scaling laws (2020): </a:t>
            </a:r>
            <a:r>
              <a:rPr sz="1250">
                <a:solidFill>
                  <a:srgbClr val="46545F"/>
                </a:solidFill>
                <a:latin typeface="Calibri"/>
                <a:ea typeface="Calibri"/>
                <a:cs typeface="Calibri"/>
              </a:rPr>
              <a:t>bigger model + more data + more compute = </a:t>
            </a:r>
            <a:r>
              <a:rPr sz="1250">
                <a:solidFill>
                  <a:srgbClr val="46545F"/>
                </a:solidFill>
                <a:latin typeface="Calibri"/>
                <a:ea typeface="Calibri"/>
                <a:cs typeface="Calibri"/>
              </a:rPr>
              <a:t>improved measured performance under studied conditions</a:t>
            </a:r>
            <a:r>
              <a:rPr sz="1250">
                <a:solidFill>
                  <a:srgbClr val="46545F"/>
                </a:solidFill>
                <a:latin typeface="Calibri"/>
                <a:ea typeface="Calibri"/>
                <a:cs typeface="Calibri"/>
              </a:rPr>
              <a:t>. Progress stopped being a research gamble and became an investment roadmap.</a:t>
            </a:r>
            <a:endParaRPr sz="1250"/>
          </a:p>
        </p:txBody>
      </p:sp>
      <p:sp>
        <p:nvSpPr>
          <p:cNvPr id="93" name="FACILITATION_MODE_BAR">
            <a:extLst xmlns:a="http://schemas.openxmlformats.org/drawingml/2006/main">
              <a:ext uri="{FF2B5EF4-FFF2-40B4-BE49-F238E27FC236}">
                <a16:creationId xmlns:a16="http://schemas.microsoft.com/office/drawing/2014/main" id="{B09E3200-22A2-4D58-B1A5-EA571E6877C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94" name="FACILITATION_MODE_LABEL">
            <a:extLst xmlns:a="http://schemas.openxmlformats.org/drawingml/2006/main">
              <a:ext uri="{FF2B5EF4-FFF2-40B4-BE49-F238E27FC236}">
                <a16:creationId xmlns:a16="http://schemas.microsoft.com/office/drawing/2014/main" id="{9130C4B9-CCBF-4806-B3A9-49421DB6D98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95" name="page-number">
            <a:extLst xmlns:a="http://schemas.openxmlformats.org/drawingml/2006/main">
              <a:ext uri="{FF2B5EF4-FFF2-40B4-BE49-F238E27FC236}">
                <a16:creationId xmlns:a16="http://schemas.microsoft.com/office/drawing/2014/main" id="{67A3F13D-0E3B-438C-AAEA-1AD1FAE53B8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a:t>
            </a:r>
          </a:p>
        </p:txBody>
      </p:sp>
    </p:spTree>
    <p:extLst>
      <p:ext uri="{BB962C8B-B14F-4D97-AF65-F5344CB8AC3E}">
        <p14:creationId xmlns:p14="http://schemas.microsoft.com/office/powerpoint/2010/main" val="13354847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txBody xmlns:a="http://schemas.openxmlformats.org/drawingml/2006/main">
          <a:bodyPr/>
          <a:p/>
        </p:txBody>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11F86D50-C30E-4D9C-9895-1592DA92603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558C0AA-5D79-49E4-B688-EA1FEF895DC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329DECF-6E9C-46A2-B756-66927118202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The hardware behind model development</a:t>
            </a:r>
          </a:p>
        </p:txBody>
      </p:sp>
      <p:sp>
        <p:nvSpPr>
          <p:cNvPr id="4" name="left-label">
            <a:extLst xmlns:a="http://schemas.openxmlformats.org/drawingml/2006/main">
              <a:ext uri="{FF2B5EF4-FFF2-40B4-BE49-F238E27FC236}">
                <a16:creationId xmlns:a16="http://schemas.microsoft.com/office/drawing/2014/main" id="{9DA1C148-1D80-450E-A314-A6019FBA1215}"/>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TRAINING</a:t>
            </a:r>
          </a:p>
        </p:txBody>
      </p:sp>
      <p:sp>
        <p:nvSpPr>
          <p:cNvPr id="5" name="right-label">
            <a:extLst xmlns:a="http://schemas.openxmlformats.org/drawingml/2006/main">
              <a:ext uri="{FF2B5EF4-FFF2-40B4-BE49-F238E27FC236}">
                <a16:creationId xmlns:a16="http://schemas.microsoft.com/office/drawing/2014/main" id="{6D765777-97EA-44BF-95A0-5B50B25AC2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SERVING</a:t>
            </a:r>
          </a:p>
        </p:txBody>
      </p:sp>
      <p:sp>
        <p:nvSpPr>
          <p:cNvPr id="6" name="left-body">
            <a:extLst xmlns:a="http://schemas.openxmlformats.org/drawingml/2006/main">
              <a:ext uri="{FF2B5EF4-FFF2-40B4-BE49-F238E27FC236}">
                <a16:creationId xmlns:a16="http://schemas.microsoft.com/office/drawing/2014/main" id="{F207CB76-D368-4319-BC5E-164B9F073ED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Large models learn from repeated computations over data. Parallel processors, memory, and data movement all affect what can be trained.</a:t>
            </a:r>
          </a:p>
        </p:txBody>
      </p:sp>
      <p:sp>
        <p:nvSpPr>
          <p:cNvPr id="7" name="right-body">
            <a:extLst xmlns:a="http://schemas.openxmlformats.org/drawingml/2006/main">
              <a:ext uri="{FF2B5EF4-FFF2-40B4-BE49-F238E27FC236}">
                <a16:creationId xmlns:a16="http://schemas.microsoft.com/office/drawing/2014/main" id="{DED97D71-8BCB-49C6-A6A9-BEB57896202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Each user request also requires computation. Model design, requested effort, and workload affect response time and operating cost.</a:t>
            </a:r>
          </a:p>
        </p:txBody>
      </p:sp>
      <p:sp>
        <p:nvSpPr>
          <p:cNvPr id="8" name="takeaway">
            <a:extLst xmlns:a="http://schemas.openxmlformats.org/drawingml/2006/main">
              <a:ext uri="{FF2B5EF4-FFF2-40B4-BE49-F238E27FC236}">
                <a16:creationId xmlns:a16="http://schemas.microsoft.com/office/drawing/2014/main" id="{C0493285-78C2-4A13-B219-A0C3C9E66D8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Separate measured results, estimates, and announced investments when comparing hardware claims.</a:t>
            </a:r>
          </a:p>
        </p:txBody>
      </p:sp>
      <p:sp>
        <p:nvSpPr>
          <p:cNvPr id="9" name="footer">
            <a:extLst xmlns:a="http://schemas.openxmlformats.org/drawingml/2006/main">
              <a:ext uri="{FF2B5EF4-FFF2-40B4-BE49-F238E27FC236}">
                <a16:creationId xmlns:a16="http://schemas.microsoft.com/office/drawing/2014/main" id="{8B2EB209-B69C-4C6E-B1CE-20826C7DEF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A5BE188-87CB-4D7B-B113-11BA40FABB2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a:t>
            </a:r>
          </a:p>
        </p:txBody>
      </p:sp>
    </p:spTree>
    <p:extLst>
      <p:ext uri="{BB962C8B-B14F-4D97-AF65-F5344CB8AC3E}">
        <p14:creationId xmlns:p14="http://schemas.microsoft.com/office/powerpoint/2010/main" val="14200442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72</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73</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261DFFD1-D241-48CD-BAC3-47112DD0CCB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CD55A21-E2E6-4AAF-A24B-48D41DB5FC0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20E6D82-70FF-49E1-A6C0-04DE7A93EF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Instructions, sources, and model adaptation</a:t>
            </a:r>
          </a:p>
        </p:txBody>
      </p:sp>
      <p:sp>
        <p:nvSpPr>
          <p:cNvPr id="4" name="row-0-label">
            <a:extLst xmlns:a="http://schemas.openxmlformats.org/drawingml/2006/main">
              <a:ext uri="{FF2B5EF4-FFF2-40B4-BE49-F238E27FC236}">
                <a16:creationId xmlns:a16="http://schemas.microsoft.com/office/drawing/2014/main" id="{A44B39BB-81C0-40A3-9936-15334C2F79A4}"/>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Instructions</a:t>
            </a:r>
          </a:p>
        </p:txBody>
      </p:sp>
      <p:sp>
        <p:nvSpPr>
          <p:cNvPr id="5" name="row-0-body">
            <a:extLst xmlns:a="http://schemas.openxmlformats.org/drawingml/2006/main">
              <a:ext uri="{FF2B5EF4-FFF2-40B4-BE49-F238E27FC236}">
                <a16:creationId xmlns:a16="http://schemas.microsoft.com/office/drawing/2014/main" id="{2944D289-9E71-4ED2-9C68-8F47E3892972}"/>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required task, behavior, output, and acceptance criteria.</a:t>
            </a:r>
          </a:p>
        </p:txBody>
      </p:sp>
      <p:sp>
        <p:nvSpPr>
          <p:cNvPr id="6" name="row-1-label">
            <a:extLst xmlns:a="http://schemas.openxmlformats.org/drawingml/2006/main">
              <a:ext uri="{FF2B5EF4-FFF2-40B4-BE49-F238E27FC236}">
                <a16:creationId xmlns:a16="http://schemas.microsoft.com/office/drawing/2014/main" id="{37362CDF-57A7-48B9-B9DB-C42BF07049B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material</a:t>
            </a:r>
          </a:p>
        </p:txBody>
      </p:sp>
      <p:sp>
        <p:nvSpPr>
          <p:cNvPr id="7" name="row-1-body">
            <a:extLst xmlns:a="http://schemas.openxmlformats.org/drawingml/2006/main">
              <a:ext uri="{FF2B5EF4-FFF2-40B4-BE49-F238E27FC236}">
                <a16:creationId xmlns:a16="http://schemas.microsoft.com/office/drawing/2014/main" id="{2716FEA6-8F87-4804-997D-A7066E3B398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Supply or retrieve the documents needed to support the answer.</a:t>
            </a:r>
          </a:p>
        </p:txBody>
      </p:sp>
      <p:sp>
        <p:nvSpPr>
          <p:cNvPr id="8" name="row-2-label">
            <a:extLst xmlns:a="http://schemas.openxmlformats.org/drawingml/2006/main">
              <a:ext uri="{FF2B5EF4-FFF2-40B4-BE49-F238E27FC236}">
                <a16:creationId xmlns:a16="http://schemas.microsoft.com/office/drawing/2014/main" id="{435FF835-5E4A-40BA-BFA9-C42C7FAD5D21}"/>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Model adaptation</a:t>
            </a:r>
          </a:p>
        </p:txBody>
      </p:sp>
      <p:sp>
        <p:nvSpPr>
          <p:cNvPr id="9" name="row-2-body">
            <a:extLst xmlns:a="http://schemas.openxmlformats.org/drawingml/2006/main">
              <a:ext uri="{FF2B5EF4-FFF2-40B4-BE49-F238E27FC236}">
                <a16:creationId xmlns:a16="http://schemas.microsoft.com/office/drawing/2014/main" id="{E0A91807-C55C-460A-979B-508A6D3D8CC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training changes only when evaluation shows a recurring need that simpler changes do not address.</a:t>
            </a:r>
          </a:p>
        </p:txBody>
      </p:sp>
      <p:sp>
        <p:nvSpPr>
          <p:cNvPr id="10" name="takeaway">
            <a:extLst xmlns:a="http://schemas.openxmlformats.org/drawingml/2006/main">
              <a:ext uri="{FF2B5EF4-FFF2-40B4-BE49-F238E27FC236}">
                <a16:creationId xmlns:a16="http://schemas.microsoft.com/office/drawing/2014/main" id="{DC5108B1-A1C2-4508-98C1-F6B9867CC84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Diagnose the failure first. More documents or training do not automatically solve unclear requirements.</a:t>
            </a:r>
          </a:p>
        </p:txBody>
      </p:sp>
      <p:sp>
        <p:nvSpPr>
          <p:cNvPr id="11" name="footer">
            <a:extLst xmlns:a="http://schemas.openxmlformats.org/drawingml/2006/main">
              <a:ext uri="{FF2B5EF4-FFF2-40B4-BE49-F238E27FC236}">
                <a16:creationId xmlns:a16="http://schemas.microsoft.com/office/drawing/2014/main" id="{BB883EBC-D765-4615-A53A-9C8E19858C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4DB98128-CB89-48B2-9E96-20487E9C32E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Tree>
    <p:extLst>
      <p:ext uri="{BB962C8B-B14F-4D97-AF65-F5344CB8AC3E}">
        <p14:creationId xmlns:p14="http://schemas.microsoft.com/office/powerpoint/2010/main" val="3084855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spTree>
    <p:extLst>
      <p:ext uri="{BB962C8B-B14F-4D97-AF65-F5344CB8AC3E}">
        <p14:creationId xmlns:p14="http://schemas.microsoft.com/office/powerpoint/2010/main" val="18500015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13</a:t>
            </a:r>
          </a:p>
        </p:txBody>
      </p:sp>
    </p:spTree>
    <p:extLst>
      <p:ext uri="{BB962C8B-B14F-4D97-AF65-F5344CB8AC3E}">
        <p14:creationId xmlns:p14="http://schemas.microsoft.com/office/powerpoint/2010/main" val="1748456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B8DEEEDE-A989-4B96-8F96-D54DE47927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525EA3-2515-42EE-8867-AB0FC68178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088C3E64-A409-43F2-BC81-D222E4E2856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Verification belongs in the task</a:t>
            </a:r>
          </a:p>
        </p:txBody>
      </p:sp>
      <p:sp>
        <p:nvSpPr>
          <p:cNvPr id="4" name="left-label">
            <a:extLst xmlns:a="http://schemas.openxmlformats.org/drawingml/2006/main">
              <a:ext uri="{FF2B5EF4-FFF2-40B4-BE49-F238E27FC236}">
                <a16:creationId xmlns:a16="http://schemas.microsoft.com/office/drawing/2014/main" id="{933EA192-4230-412C-8D30-869BF879A32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AN UNSUPPORTED ANSWER</a:t>
            </a:r>
          </a:p>
        </p:txBody>
      </p:sp>
      <p:sp>
        <p:nvSpPr>
          <p:cNvPr id="5" name="right-label">
            <a:extLst xmlns:a="http://schemas.openxmlformats.org/drawingml/2006/main">
              <a:ext uri="{FF2B5EF4-FFF2-40B4-BE49-F238E27FC236}">
                <a16:creationId xmlns:a16="http://schemas.microsoft.com/office/drawing/2014/main" id="{2C04C9E0-F74A-48BE-A99B-077AE9C0546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CHECKABLE ANSWER</a:t>
            </a:r>
          </a:p>
        </p:txBody>
      </p:sp>
      <p:sp>
        <p:nvSpPr>
          <p:cNvPr id="6" name="left-body">
            <a:extLst xmlns:a="http://schemas.openxmlformats.org/drawingml/2006/main">
              <a:ext uri="{FF2B5EF4-FFF2-40B4-BE49-F238E27FC236}">
                <a16:creationId xmlns:a16="http://schemas.microsoft.com/office/drawing/2014/main" id="{CFC453EE-1CFC-4080-B3A4-84F88959B20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supplier approved the change.”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What message supports that claim?</a:t>
            </a:r>
          </a:p>
        </p:txBody>
      </p:sp>
      <p:sp>
        <p:nvSpPr>
          <p:cNvPr id="7" name="right-body">
            <a:extLst xmlns:a="http://schemas.openxmlformats.org/drawingml/2006/main">
              <a:ext uri="{FF2B5EF4-FFF2-40B4-BE49-F238E27FC236}">
                <a16:creationId xmlns:a16="http://schemas.microsoft.com/office/drawing/2014/main" id="{A9B1B65E-6987-4C7F-8934-19AC8AB864F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“Approval is conditional on the cost cap.”</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Show the message and preserve the condition.</a:t>
            </a:r>
          </a:p>
        </p:txBody>
      </p:sp>
      <p:sp>
        <p:nvSpPr>
          <p:cNvPr id="8" name="takeaway">
            <a:extLst xmlns:a="http://schemas.openxmlformats.org/drawingml/2006/main">
              <a:ext uri="{FF2B5EF4-FFF2-40B4-BE49-F238E27FC236}">
                <a16:creationId xmlns:a16="http://schemas.microsoft.com/office/drawing/2014/main" id="{3CC83CDD-A405-48D9-9E4D-D582255E890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numbers, recompute. For claims, inspect the source. For actions, inspect the result.</a:t>
            </a:r>
          </a:p>
        </p:txBody>
      </p:sp>
      <p:sp>
        <p:nvSpPr>
          <p:cNvPr id="9" name="footer">
            <a:extLst xmlns:a="http://schemas.openxmlformats.org/drawingml/2006/main">
              <a:ext uri="{FF2B5EF4-FFF2-40B4-BE49-F238E27FC236}">
                <a16:creationId xmlns:a16="http://schemas.microsoft.com/office/drawing/2014/main" id="{52A4BBCD-328E-41EB-9F98-109E17F042A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ACB0CE47-40B2-4AB4-8A9C-358A73E125C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14</a:t>
            </a:r>
          </a:p>
        </p:txBody>
      </p:sp>
    </p:spTree>
    <p:extLst>
      <p:ext uri="{BB962C8B-B14F-4D97-AF65-F5344CB8AC3E}">
        <p14:creationId xmlns:p14="http://schemas.microsoft.com/office/powerpoint/2010/main" val="16351551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15</a:t>
            </a:r>
          </a:p>
        </p:txBody>
      </p:sp>
    </p:spTree>
    <p:extLst>
      <p:ext uri="{BB962C8B-B14F-4D97-AF65-F5344CB8AC3E}">
        <p14:creationId xmlns:p14="http://schemas.microsoft.com/office/powerpoint/2010/main" val="475868969"/>
      </p:ext>
    </p:extLst>
  </p:cSld>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F645F60F-93BF-4A7C-BC8B-890A1BA01A0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D31EFF-2AB5-4B8D-8F9C-743CC96C4C9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114D9ED5-E71D-4BD5-92D2-331B6B7F900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task-based way to compare assistants</a:t>
            </a:r>
          </a:p>
        </p:txBody>
      </p:sp>
      <p:sp>
        <p:nvSpPr>
          <p:cNvPr id="4" name="row-0-label">
            <a:extLst xmlns:a="http://schemas.openxmlformats.org/drawingml/2006/main">
              <a:ext uri="{FF2B5EF4-FFF2-40B4-BE49-F238E27FC236}">
                <a16:creationId xmlns:a16="http://schemas.microsoft.com/office/drawing/2014/main" id="{C838F2BB-2F4D-4692-BBCD-AAE9C15D1BB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Required output</a:t>
            </a:r>
          </a:p>
        </p:txBody>
      </p:sp>
      <p:sp>
        <p:nvSpPr>
          <p:cNvPr id="5" name="row-0-body">
            <a:extLst xmlns:a="http://schemas.openxmlformats.org/drawingml/2006/main">
              <a:ext uri="{FF2B5EF4-FFF2-40B4-BE49-F238E27FC236}">
                <a16:creationId xmlns:a16="http://schemas.microsoft.com/office/drawing/2014/main" id="{DB9EDE25-B579-4C00-9C88-E6D99D2D7EA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this account produce the text, calculation, file, or action you need?</a:t>
            </a:r>
          </a:p>
        </p:txBody>
      </p:sp>
      <p:sp>
        <p:nvSpPr>
          <p:cNvPr id="6" name="row-1-label">
            <a:extLst xmlns:a="http://schemas.openxmlformats.org/drawingml/2006/main">
              <a:ext uri="{FF2B5EF4-FFF2-40B4-BE49-F238E27FC236}">
                <a16:creationId xmlns:a16="http://schemas.microsoft.com/office/drawing/2014/main" id="{E9C370AC-A8CD-47FA-8748-62DE163BD875}"/>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access</a:t>
            </a:r>
          </a:p>
        </p:txBody>
      </p:sp>
      <p:sp>
        <p:nvSpPr>
          <p:cNvPr id="7" name="row-1-body">
            <a:extLst xmlns:a="http://schemas.openxmlformats.org/drawingml/2006/main">
              <a:ext uri="{FF2B5EF4-FFF2-40B4-BE49-F238E27FC236}">
                <a16:creationId xmlns:a16="http://schemas.microsoft.com/office/drawing/2014/main" id="{568FCF08-4F66-428A-B2F4-A863FACA95C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it use the right documents and show supporting evidence?</a:t>
            </a:r>
          </a:p>
        </p:txBody>
      </p:sp>
      <p:sp>
        <p:nvSpPr>
          <p:cNvPr id="8" name="row-2-label">
            <a:extLst xmlns:a="http://schemas.openxmlformats.org/drawingml/2006/main">
              <a:ext uri="{FF2B5EF4-FFF2-40B4-BE49-F238E27FC236}">
                <a16:creationId xmlns:a16="http://schemas.microsoft.com/office/drawing/2014/main" id="{4386F819-D162-4B21-AE18-E868E8169020}"/>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 environment</a:t>
            </a:r>
          </a:p>
        </p:txBody>
      </p:sp>
      <p:sp>
        <p:nvSpPr>
          <p:cNvPr id="9" name="row-2-body">
            <a:extLst xmlns:a="http://schemas.openxmlformats.org/drawingml/2006/main">
              <a:ext uri="{FF2B5EF4-FFF2-40B4-BE49-F238E27FC236}">
                <a16:creationId xmlns:a16="http://schemas.microsoft.com/office/drawing/2014/main" id="{9569F177-D2D5-49FE-AF3C-103CC8131B7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fit the approved workspace and collaboration process?</a:t>
            </a:r>
          </a:p>
        </p:txBody>
      </p:sp>
      <p:sp>
        <p:nvSpPr>
          <p:cNvPr id="10" name="row-3-label">
            <a:extLst xmlns:a="http://schemas.openxmlformats.org/drawingml/2006/main">
              <a:ext uri="{FF2B5EF4-FFF2-40B4-BE49-F238E27FC236}">
                <a16:creationId xmlns:a16="http://schemas.microsoft.com/office/drawing/2014/main" id="{C71392E6-B5EF-4F5E-9B1B-0754C0C6B2B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02D8AFA3-C9BC-4A70-8BAD-C4B8968E6704}"/>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same representative task and compare correctness, effort, and cost.</a:t>
            </a:r>
          </a:p>
        </p:txBody>
      </p:sp>
      <p:sp>
        <p:nvSpPr>
          <p:cNvPr id="12" name="takeaway">
            <a:extLst xmlns:a="http://schemas.openxmlformats.org/drawingml/2006/main">
              <a:ext uri="{FF2B5EF4-FFF2-40B4-BE49-F238E27FC236}">
                <a16:creationId xmlns:a16="http://schemas.microsoft.com/office/drawing/2014/main" id="{C95B7288-1099-4099-982A-9C2D2F98524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Examples in the source course include ChatGPT, Claude, Copilot, Gemini, Perplexity, and Grok. Verify current offerings.</a:t>
            </a:r>
          </a:p>
        </p:txBody>
      </p:sp>
      <p:sp>
        <p:nvSpPr>
          <p:cNvPr id="13" name="footer">
            <a:extLst xmlns:a="http://schemas.openxmlformats.org/drawingml/2006/main">
              <a:ext uri="{FF2B5EF4-FFF2-40B4-BE49-F238E27FC236}">
                <a16:creationId xmlns:a16="http://schemas.microsoft.com/office/drawing/2014/main" id="{A8DB6601-BC00-4BBE-A527-CAEE3674D15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3C22283F-C79D-4D5A-B2D4-CE1BE3C9925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17</a:t>
            </a:r>
          </a:p>
        </p:txBody>
      </p:sp>
    </p:spTree>
    <p:extLst>
      <p:ext uri="{BB962C8B-B14F-4D97-AF65-F5344CB8AC3E}">
        <p14:creationId xmlns:p14="http://schemas.microsoft.com/office/powerpoint/2010/main" val="1635609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txBody xmlns:a="http://schemas.openxmlformats.org/drawingml/2006/main">
          <a:bodyPr/>
          <a:p/>
        </p:txBody>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txBody xmlns:a="http://schemas.openxmlformats.org/drawingml/2006/main">
          <a:bodyPr/>
          <a:p/>
        </p:txBody>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txBody xmlns:a="http://schemas.openxmlformats.org/drawingml/2006/main">
          <a:bodyPr/>
          <a:p/>
        </p:txBody>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txBody xmlns:a="http://schemas.openxmlformats.org/drawingml/2006/main">
          <a:bodyPr/>
          <a:p/>
        </p:txBody>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txBody xmlns:a="http://schemas.openxmlformats.org/drawingml/2006/main">
          <a:bodyPr/>
          <a:p/>
        </p:txBody>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Mixture of Experts like a colleague: a specialist hospital where only the relevant departments wake up per question — and why that made AI dramatically cheaper in 2025. Under 120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MoE cheat-note lands in your course log.</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18</a:t>
            </a:r>
          </a:p>
        </p:txBody>
      </p:sp>
    </p:spTree>
    <p:extLst>
      <p:ext uri="{BB962C8B-B14F-4D97-AF65-F5344CB8AC3E}">
        <p14:creationId xmlns:p14="http://schemas.microsoft.com/office/powerpoint/2010/main" val="1400800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19</a:t>
            </a:r>
          </a:p>
        </p:txBody>
      </p:sp>
    </p:spTree>
    <p:extLst>
      <p:ext uri="{BB962C8B-B14F-4D97-AF65-F5344CB8AC3E}">
        <p14:creationId xmlns:p14="http://schemas.microsoft.com/office/powerpoint/2010/main" val="1317624103"/>
      </p:ext>
    </p:extLst>
  </p:cSld>
</p:sld>
</file>

<file path=ppt/slides/slide2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20</a:t>
            </a:r>
          </a:p>
        </p:txBody>
      </p:sp>
    </p:spTree>
    <p:extLst>
      <p:ext uri="{BB962C8B-B14F-4D97-AF65-F5344CB8AC3E}">
        <p14:creationId xmlns:p14="http://schemas.microsoft.com/office/powerpoint/2010/main" val="14688472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21</a:t>
            </a:r>
          </a:p>
        </p:txBody>
      </p:sp>
    </p:spTree>
    <p:extLst>
      <p:ext uri="{BB962C8B-B14F-4D97-AF65-F5344CB8AC3E}">
        <p14:creationId xmlns:p14="http://schemas.microsoft.com/office/powerpoint/2010/main" val="16920522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90</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22</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Tree>
    <p:extLst>
      <p:ext uri="{BB962C8B-B14F-4D97-AF65-F5344CB8AC3E}">
        <p14:creationId xmlns:p14="http://schemas.microsoft.com/office/powerpoint/2010/main" val="1816882031"/>
      </p:ext>
    </p:extLst>
  </p:cSld>
</p:sld>
</file>

<file path=ppt/slides/slide23.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9" name="pilot-spec-panel"/>
          <p:cNvSpPr/>
          <p:nvPr/>
        </p:nvSpPr>
        <p:spPr>
          <a:xfrm>
            <a:off x="2377440" y="1847088"/>
            <a:ext cx="9208008" cy="351129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 xmlns:a="http://schemas.openxmlformats.org/drawingml/2006/main">
        <p:nvSpPr>
          <p:cNvPr id="10" name="pilot-group-0"/>
          <p:cNvSpPr/>
          <p:nvPr/>
        </p:nvSpPr>
        <p:spPr>
          <a:xfrm>
            <a:off x="2514600" y="1938528"/>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highlight>
                  <a:srgbClr val="EAF3F2"/>
                </a:highlight>
                <a:latin typeface="Calibri"/>
              </a:rPr>
              <a:t>For a manager choosing supplier follow-up</a:t>
            </a:r>
            <a:r>
              <a:rPr sz="2400" b="0">
                <a:solidFill>
                  <a:srgbClr val="232A31"/>
                </a:solidFill>
                <a:latin typeface="Calibri"/>
              </a:rPr>
              <a:t>, calculate return rate from the </a:t>
            </a:r>
            <a:r>
              <a:rPr sz="2400" b="0">
                <a:solidFill>
                  <a:srgbClr val="232A31"/>
                </a:solidFill>
                <a:highlight>
                  <a:srgbClr val="EAF3F2"/>
                </a:highlight>
                <a:latin typeface="Calibri"/>
              </a:rPr>
              <a:t>supplied workbook</a:t>
            </a:r>
            <a:r>
              <a:rPr sz="2400" b="0">
                <a:solidFill>
                  <a:srgbClr val="232A31"/>
                </a:solidFill>
                <a:latin typeface="Calibri"/>
              </a:rPr>
              <a:t>.</a:t>
            </a:r>
          </a:p>
        </p:txBody>
      </p:sp>
      <p:sp xmlns:a="http://schemas.openxmlformats.org/drawingml/2006/main">
        <p:nvSpPr>
          <p:cNvPr id="11" name="pilot-bracket-0"/>
          <p:cNvSpPr/>
          <p:nvPr/>
        </p:nvSpPr>
        <p:spPr>
          <a:xfrm>
            <a:off x="2340864" y="1975104"/>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label-0"/>
          <p:cNvSpPr/>
          <p:nvPr/>
        </p:nvSpPr>
        <p:spPr>
          <a:xfrm>
            <a:off x="548640" y="1938528"/>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Audience + source</a:t>
            </a:r>
          </a:p>
        </p:txBody>
      </p:sp>
      <p:sp xmlns:a="http://schemas.openxmlformats.org/drawingml/2006/main">
        <p:nvSpPr>
          <p:cNvPr id="13" name="pilot-group-1"/>
          <p:cNvSpPr/>
          <p:nvPr/>
        </p:nvSpPr>
        <p:spPr>
          <a:xfrm>
            <a:off x="2514600" y="2971800"/>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Use </a:t>
            </a:r>
            <a:r>
              <a:rPr sz="2400" b="0">
                <a:solidFill>
                  <a:srgbClr val="232A31"/>
                </a:solidFill>
                <a:highlight>
                  <a:srgbClr val="EAF3F2"/>
                </a:highlight>
                <a:latin typeface="Calibri"/>
              </a:rPr>
              <a:t>total returns ÷ total units shipped</a:t>
            </a:r>
            <a:r>
              <a:rPr sz="2400" b="0">
                <a:solidFill>
                  <a:srgbClr val="232A31"/>
                </a:solidFill>
                <a:latin typeface="Calibri"/>
              </a:rPr>
              <a:t>. </a:t>
            </a:r>
            <a:r>
              <a:rPr sz="2400" b="0">
                <a:solidFill>
                  <a:srgbClr val="232A31"/>
                </a:solidFill>
                <a:highlight>
                  <a:srgbClr val="EAF3F2"/>
                </a:highlight>
                <a:latin typeface="Calibri"/>
              </a:rPr>
              <a:t>Exclude the existing TOTAL row</a:t>
            </a:r>
            <a:r>
              <a:rPr sz="2400" b="0">
                <a:solidFill>
                  <a:srgbClr val="232A31"/>
                </a:solidFill>
                <a:latin typeface="Calibri"/>
              </a:rPr>
              <a:t>.</a:t>
            </a:r>
          </a:p>
        </p:txBody>
      </p:sp>
      <p:sp xmlns:a="http://schemas.openxmlformats.org/drawingml/2006/main">
        <p:nvSpPr>
          <p:cNvPr id="14" name="pilot-bracket-1"/>
          <p:cNvSpPr/>
          <p:nvPr/>
        </p:nvSpPr>
        <p:spPr>
          <a:xfrm>
            <a:off x="2340864" y="3008376"/>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pilot-label-1"/>
          <p:cNvSpPr/>
          <p:nvPr/>
        </p:nvSpPr>
        <p:spPr>
          <a:xfrm>
            <a:off x="548640" y="2971800"/>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method</a:t>
            </a:r>
          </a:p>
        </p:txBody>
      </p:sp>
      <p:sp xmlns:a="http://schemas.openxmlformats.org/drawingml/2006/main">
        <p:nvSpPr>
          <p:cNvPr id="16" name="pilot-group-2"/>
          <p:cNvSpPr/>
          <p:nvPr/>
        </p:nvSpPr>
        <p:spPr>
          <a:xfrm>
            <a:off x="2514600" y="3968496"/>
            <a:ext cx="9070848" cy="12618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Return a </a:t>
            </a:r>
            <a:r>
              <a:rPr sz="2400" b="0">
                <a:solidFill>
                  <a:srgbClr val="232A31"/>
                </a:solidFill>
                <a:highlight>
                  <a:srgbClr val="EAF3F2"/>
                </a:highlight>
                <a:latin typeface="Calibri"/>
              </a:rPr>
              <a:t>ranked table</a:t>
            </a:r>
            <a:r>
              <a:rPr sz="2400" b="0">
                <a:solidFill>
                  <a:srgbClr val="232A31"/>
                </a:solidFill>
                <a:latin typeface="Calibri"/>
              </a:rPr>
              <a:t> and a </a:t>
            </a:r>
            <a:r>
              <a:rPr sz="2400" b="0">
                <a:solidFill>
                  <a:srgbClr val="232A31"/>
                </a:solidFill>
                <a:highlight>
                  <a:srgbClr val="EAF3F2"/>
                </a:highlight>
                <a:latin typeface="Calibri"/>
              </a:rPr>
              <a:t>brief, neutral explanation</a:t>
            </a:r>
            <a:r>
              <a:rPr sz="2400" b="0">
                <a:solidFill>
                  <a:srgbClr val="232A31"/>
                </a:solidFill>
                <a:latin typeface="Calibri"/>
              </a:rPr>
              <a:t>. </a:t>
            </a:r>
            <a:r>
              <a:rPr sz="2400" b="0">
                <a:solidFill>
                  <a:srgbClr val="232A31"/>
                </a:solidFill>
                <a:highlight>
                  <a:srgbClr val="EAF3F2"/>
                </a:highlight>
                <a:latin typeface="Calibri"/>
              </a:rPr>
              <a:t>State missing information and reconcile totals</a:t>
            </a:r>
            <a:r>
              <a:rPr sz="2400" b="0">
                <a:solidFill>
                  <a:srgbClr val="232A31"/>
                </a:solidFill>
                <a:latin typeface="Calibri"/>
              </a:rPr>
              <a:t> to the source.</a:t>
            </a:r>
          </a:p>
        </p:txBody>
      </p:sp>
      <p:sp xmlns:a="http://schemas.openxmlformats.org/drawingml/2006/main">
        <p:nvSpPr>
          <p:cNvPr id="17" name="pilot-bracket-2"/>
          <p:cNvSpPr/>
          <p:nvPr/>
        </p:nvSpPr>
        <p:spPr>
          <a:xfrm>
            <a:off x="2340864" y="4005072"/>
            <a:ext cx="100584" cy="1225295"/>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 name="pilot-label-2"/>
          <p:cNvSpPr/>
          <p:nvPr/>
        </p:nvSpPr>
        <p:spPr>
          <a:xfrm>
            <a:off x="548640" y="3968496"/>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format + tone + check</a:t>
            </a:r>
          </a:p>
        </p:txBody>
      </p:sp>
    </p:spTree>
    <p:extLst>
      <p:ext uri="{BB962C8B-B14F-4D97-AF65-F5344CB8AC3E}">
        <p14:creationId xmlns:p14="http://schemas.microsoft.com/office/powerpoint/2010/main" val="14901154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Tree>
    <p:extLst>
      <p:ext uri="{BB962C8B-B14F-4D97-AF65-F5344CB8AC3E}">
        <p14:creationId xmlns:p14="http://schemas.microsoft.com/office/powerpoint/2010/main" val="1217328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Tree>
    <p:extLst>
      <p:ext uri="{BB962C8B-B14F-4D97-AF65-F5344CB8AC3E}">
        <p14:creationId xmlns:p14="http://schemas.microsoft.com/office/powerpoint/2010/main" val="735417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Tree>
    <p:extLst>
      <p:ext uri="{BB962C8B-B14F-4D97-AF65-F5344CB8AC3E}">
        <p14:creationId xmlns:p14="http://schemas.microsoft.com/office/powerpoint/2010/main" val="8916978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91–96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Tree>
    <p:extLst>
      <p:ext uri="{BB962C8B-B14F-4D97-AF65-F5344CB8AC3E}">
        <p14:creationId xmlns:p14="http://schemas.microsoft.com/office/powerpoint/2010/main" val="1475719825"/>
      </p:ext>
    </p:extLst>
  </p:cSld>
</p:sld>
</file>

<file path=ppt/slides/slide28.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25" name="pilot-card-ACT"/>
          <p:cNvSpPr/>
          <p:nvPr/>
        </p:nvSpPr>
        <p:spPr>
          <a:xfrm>
            <a:off x="61264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pilot-card-CHECK"/>
          <p:cNvSpPr/>
          <p:nvPr/>
        </p:nvSpPr>
        <p:spPr>
          <a:xfrm>
            <a:off x="660196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 name="pilot-card-DO"/>
          <p:cNvSpPr/>
          <p:nvPr/>
        </p:nvSpPr>
        <p:spPr>
          <a:xfrm>
            <a:off x="660196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pilot-card-PLAN"/>
          <p:cNvSpPr/>
          <p:nvPr/>
        </p:nvSpPr>
        <p:spPr>
          <a:xfrm>
            <a:off x="61264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 xmlns:a="http://schemas.openxmlformats.org/drawingml/2006/main">
        <p:nvSpPr>
          <p:cNvPr id="17" name="pilot-card-PLAN-label"/>
          <p:cNvSpPr/>
          <p:nvPr/>
        </p:nvSpPr>
        <p:spPr>
          <a:xfrm>
            <a:off x="68580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PLAN</a:t>
            </a:r>
          </a:p>
        </p:txBody>
      </p:sp>
      <p:sp xmlns:a="http://schemas.openxmlformats.org/drawingml/2006/main">
        <p:nvSpPr>
          <p:cNvPr id="18" name="pilot-card-PLAN-body"/>
          <p:cNvSpPr/>
          <p:nvPr/>
        </p:nvSpPr>
        <p:spPr>
          <a:xfrm>
            <a:off x="667512"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Define the task and the success check.</a:t>
            </a:r>
          </a:p>
        </p:txBody>
      </p:sp>
      <p:sp xmlns:a="http://schemas.openxmlformats.org/drawingml/2006/main">
        <p:nvSpPr>
          <p:cNvPr id="20" name="pilot-card-DO-label"/>
          <p:cNvSpPr/>
          <p:nvPr/>
        </p:nvSpPr>
        <p:spPr>
          <a:xfrm>
            <a:off x="667512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DO</a:t>
            </a:r>
          </a:p>
        </p:txBody>
      </p:sp>
      <p:sp xmlns:a="http://schemas.openxmlformats.org/drawingml/2006/main">
        <p:nvSpPr>
          <p:cNvPr id="21" name="pilot-card-DO-body"/>
          <p:cNvSpPr/>
          <p:nvPr/>
        </p:nvSpPr>
        <p:spPr>
          <a:xfrm>
            <a:off x="6656831"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Run the prompt against the supplied source.</a:t>
            </a:r>
          </a:p>
        </p:txBody>
      </p:sp>
      <p:sp xmlns:a="http://schemas.openxmlformats.org/drawingml/2006/main">
        <p:nvSpPr>
          <p:cNvPr id="23" name="pilot-card-CHECK-label"/>
          <p:cNvSpPr/>
          <p:nvPr/>
        </p:nvSpPr>
        <p:spPr>
          <a:xfrm>
            <a:off x="667512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CHECK</a:t>
            </a:r>
          </a:p>
        </p:txBody>
      </p:sp>
      <p:sp xmlns:a="http://schemas.openxmlformats.org/drawingml/2006/main">
        <p:nvSpPr>
          <p:cNvPr id="24" name="pilot-card-CHECK-body"/>
          <p:cNvSpPr/>
          <p:nvPr/>
        </p:nvSpPr>
        <p:spPr>
          <a:xfrm>
            <a:off x="6656831"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Compare the result with evidence or a known calculation.</a:t>
            </a:r>
          </a:p>
        </p:txBody>
      </p:sp>
      <p:sp xmlns:a="http://schemas.openxmlformats.org/drawingml/2006/main">
        <p:nvSpPr>
          <p:cNvPr id="26" name="pilot-card-ACT-label"/>
          <p:cNvSpPr/>
          <p:nvPr/>
        </p:nvSpPr>
        <p:spPr>
          <a:xfrm>
            <a:off x="68580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ACT</a:t>
            </a:r>
          </a:p>
        </p:txBody>
      </p:sp>
      <p:sp xmlns:a="http://schemas.openxmlformats.org/drawingml/2006/main">
        <p:nvSpPr>
          <p:cNvPr id="27" name="pilot-card-ACT-body"/>
          <p:cNvSpPr/>
          <p:nvPr/>
        </p:nvSpPr>
        <p:spPr>
          <a:xfrm>
            <a:off x="667512"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Fix the specific failure and rerun the affected check.</a:t>
            </a:r>
          </a:p>
        </p:txBody>
      </p:sp>
      <p:cxnSp xmlns:a="http://schemas.openxmlformats.org/drawingml/2006/main">
        <p:nvCxnSpPr>
          <p:cNvPr id="28" name="pilot-arrow-plan-do"/>
          <p:cNvCxnSpPr/>
          <p:nvPr/>
        </p:nvCxnSpPr>
        <p:spPr>
          <a:xfrm>
            <a:off x="5669280" y="2679192"/>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9" name="pilot-arrow-do-check"/>
          <p:cNvCxnSpPr/>
          <p:nvPr/>
        </p:nvCxnSpPr>
        <p:spPr>
          <a:xfrm>
            <a:off x="909370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0" name="pilot-arrow-check-act"/>
          <p:cNvCxnSpPr/>
          <p:nvPr/>
        </p:nvCxnSpPr>
        <p:spPr>
          <a:xfrm flipH="1">
            <a:off x="5669280" y="4636008"/>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1" name="pilot-arrow-act-plan"/>
          <p:cNvCxnSpPr/>
          <p:nvPr/>
        </p:nvCxnSpPr>
        <p:spPr>
          <a:xfrm flipV="1">
            <a:off x="310438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64354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Tree>
    <p:extLst>
      <p:ext uri="{BB962C8B-B14F-4D97-AF65-F5344CB8AC3E}">
        <p14:creationId xmlns:p14="http://schemas.microsoft.com/office/powerpoint/2010/main" val="20002150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1166553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Tree>
    <p:extLst>
      <p:ext uri="{BB962C8B-B14F-4D97-AF65-F5344CB8AC3E}">
        <p14:creationId xmlns:p14="http://schemas.microsoft.com/office/powerpoint/2010/main" val="532406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32</a:t>
            </a:r>
          </a:p>
        </p:txBody>
      </p:sp>
    </p:spTree>
    <p:extLst>
      <p:ext uri="{BB962C8B-B14F-4D97-AF65-F5344CB8AC3E}">
        <p14:creationId xmlns:p14="http://schemas.microsoft.com/office/powerpoint/2010/main" val="128242613"/>
      </p:ext>
    </p:extLst>
  </p:cSld>
</p:sld>
</file>

<file path=ppt/slides/slide33.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 · APPLICATION</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Data Analytics Exercise</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workbook. Questions. Charts. A returned file.</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00" b="0">
                <a:solidFill>
                  <a:srgbClr val="D6E0E2"/>
                </a:solidFill>
                <a:latin typeface="Calibri"/>
                <a:ea typeface="Calibri"/>
                <a:cs typeface="Calibri"/>
              </a:rPr>
              <a:t>Analyze the data in Excel, return the workbook with editable charts, then reuse it for the dashboard and presentation mock-up.</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TEACH  0:40</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33</a:t>
            </a:r>
          </a:p>
        </p:txBody>
      </p:sp>
    </p:spTree>
    <p:extLst>
      <p:ext uri="{BB962C8B-B14F-4D97-AF65-F5344CB8AC3E}">
        <p14:creationId xmlns:p14="http://schemas.microsoft.com/office/powerpoint/2010/main" val="1528682446"/>
      </p:ext>
    </p:extLst>
  </p:cSld>
</p:sld>
</file>

<file path=ppt/slides/slide34.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xmlns:a="http://schemas.openxmlformats.org/drawingml/2006/main">
        <p:nvSpPr>
          <p:cNvPr id="12" name="pilot-p2-panel"/>
          <p:cNvSpPr/>
          <p:nvPr/>
        </p:nvSpPr>
        <p:spPr>
          <a:xfrm>
            <a:off x="609904" y="3954018"/>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pilot-p1-panel"/>
          <p:cNvSpPr/>
          <p:nvPr/>
        </p:nvSpPr>
        <p:spPr>
          <a:xfrm>
            <a:off x="609904" y="2414016"/>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6:00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Upload the Data File and Run These Two Prompts</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Attempt first — the verified key stays with the instructor and the workbook keys.</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34</a:t>
            </a:r>
          </a:p>
        </p:txBody>
      </p:sp>
      <p:sp xmlns:a="http://schemas.openxmlformats.org/drawingml/2006/main">
        <p:nvSpPr>
          <p:cNvPr id="9" name="pilot-file-line"/>
          <p:cNvSpPr/>
          <p:nvPr/>
        </p:nvSpPr>
        <p:spPr>
          <a:xfrm>
            <a:off x="609904"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i="0">
                <a:solidFill>
                  <a:srgbClr val="232A31"/>
                </a:solidFill>
                <a:latin typeface="Calibri"/>
              </a:rPr>
              <a:t>File: Supplier_Data_Exercise.xlsx — upload it, attach nothing else.</a:t>
            </a:r>
          </a:p>
        </p:txBody>
      </p:sp>
      <p:sp xmlns:a="http://schemas.openxmlformats.org/drawingml/2006/main">
        <p:nvSpPr>
          <p:cNvPr id="11" name="pilot-p1"/>
          <p:cNvSpPr/>
          <p:nvPr/>
        </p:nvSpPr>
        <p:spPr>
          <a:xfrm>
            <a:off x="685800" y="2468880"/>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i="0">
                <a:solidFill>
                  <a:srgbClr val="875012"/>
                </a:solidFill>
                <a:latin typeface="Calibri"/>
              </a:rPr>
              <a:t>PROMPT 1 — INSPECT</a:t>
            </a:r>
          </a:p>
          <a:p>
            <a:pPr algn="l"/>
            <a:r>
              <a:rPr sz="1700" b="0" i="0">
                <a:solidFill>
                  <a:srgbClr val="232A31"/>
                </a:solidFill>
                <a:latin typeface="Calibri"/>
              </a:rPr>
              <a:t>“Before calculating anything, inspect the file. Tell me what one row represents, how many detail rows it contains, whether any values are missing, and whether any total or summary row could be counted twice. Tell me what you would include or exclude, then wait.”</a:t>
            </a:r>
          </a:p>
        </p:txBody>
      </p:sp>
      <p:sp xmlns:a="http://schemas.openxmlformats.org/drawingml/2006/main">
        <p:nvSpPr>
          <p:cNvPr id="13" name="pilot-p2"/>
          <p:cNvSpPr/>
          <p:nvPr/>
        </p:nvSpPr>
        <p:spPr>
          <a:xfrm>
            <a:off x="685800" y="4008881"/>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i="0">
                <a:solidFill>
                  <a:srgbClr val="875012"/>
                </a:solidFill>
                <a:latin typeface="Calibri"/>
              </a:rPr>
              <a:t>PROMPT 2 — ANALYZE</a:t>
            </a:r>
          </a:p>
          <a:p>
            <a:pPr algn="l"/>
            <a:r>
              <a:rPr sz="1700" b="0" i="0">
                <a:solidFill>
                  <a:srgbClr val="232A31"/>
                </a:solidFill>
                <a:latin typeface="Calibri"/>
              </a:rPr>
              <a:t>“Using detail rows only, calculate each supplier’s return rate as total Units_Returned divided by total Units_Shipped. Rank suppliers from highest to lowest. Show the totals used, reconcile the overall totals to the source file, and state one limitation of the comparison.”</a:t>
            </a:r>
          </a:p>
        </p:txBody>
      </p:sp>
    </p:spTree>
    <p:extLst>
      <p:ext uri="{BB962C8B-B14F-4D97-AF65-F5344CB8AC3E}">
        <p14:creationId xmlns:p14="http://schemas.microsoft.com/office/powerpoint/2010/main" val="52634781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Ask a Follow-Up Question</a:t>
            </a:r>
          </a:p>
        </p:txBody>
      </p:sp>
      <p:sp>
        <p:nvSpPr>
          <p:cNvPr id="4" name="main-prompt">
            <a:extLst xmlns:a="http://schemas.openxmlformats.org/drawingml/2006/main">
              <a:ext uri="{FF2B5EF4-FFF2-40B4-BE49-F238E27FC236}">
                <a16:creationId xmlns:a16="http://schemas.microsoft.com/office/drawing/2014/main" id="{B4503409-FA1F-486D-9A5E-264748FFD6B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1" i="0"/>
              <a:t>Same chat, same data — one more prompt:</a:t>
            </a:r>
          </a:p>
          <a:p xmlns:a="http://schemas.openxmlformats.org/drawingml/2006/main">
            <a:r>
              <a:rPr sz="1800" b="0" i="0"/>
              <a:t>“Using the same data, compare return rate by month and site. Identify the clearest increase, decrease, or unusual pattern. Show the values behind it. Do not claim a cause. List the additional data needed to investigate why it happened.”</a:t>
            </a:r>
          </a:p>
          <a:p xmlns:a="http://schemas.openxmlformats.org/drawingml/2006/main">
            <a:r>
              <a:rPr sz="1700" b="0" i="1"/>
              <a:t>A finding names a pattern and shows its values. A cause needs data this file does not contain — the honest answer lists what to collect next.</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Findings, not causes — the pattern, its values, and the data you would need next.</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35</a:t>
            </a:r>
          </a:p>
        </p:txBody>
      </p:sp>
    </p:spTree>
    <p:extLst>
      <p:ext uri="{BB962C8B-B14F-4D97-AF65-F5344CB8AC3E}">
        <p14:creationId xmlns:p14="http://schemas.microsoft.com/office/powerpoint/2010/main" val="129586125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300" b="1">
                <a:solidFill>
                  <a:srgbClr val="0A6261"/>
                </a:solidFill>
                <a:latin typeface="Calibri"/>
              </a:rPr>
              <a:t>Add the Charts and Return the Excel File</a:t>
            </a:r>
          </a:p>
        </p:txBody>
      </p:sp>
      <p:sp>
        <p:nvSpPr>
          <p:cNvPr id="4" name="row-0-label">
            <a:extLst xmlns:a="http://schemas.openxmlformats.org/drawingml/2006/main">
              <a:ext uri="{FF2B5EF4-FFF2-40B4-BE49-F238E27FC236}">
                <a16:creationId xmlns:a16="http://schemas.microsoft.com/office/drawing/2014/main" id="{5D696E32-616F-4844-98DC-3AA4D087CA4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prompt</a:t>
            </a:r>
          </a:p>
        </p:txBody>
      </p:sp>
      <p:sp>
        <p:nvSpPr>
          <p:cNvPr id="5" name="row-0-body">
            <a:extLst xmlns:a="http://schemas.openxmlformats.org/drawingml/2006/main">
              <a:ext uri="{FF2B5EF4-FFF2-40B4-BE49-F238E27FC236}">
                <a16:creationId xmlns:a16="http://schemas.microsoft.com/office/drawing/2014/main" id="{0BEB3DDA-0513-488A-B905-87CE921F46C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Update the uploaded workbook and return an editable Excel file named Supplier_Data_Analyzed.xlsx — original data unchanged, analysis on a new Summary sheet.</a:t>
            </a:r>
          </a:p>
        </p:txBody>
      </p:sp>
      <p:sp>
        <p:nvSpPr>
          <p:cNvPr id="6" name="row-1-label">
            <a:extLst xmlns:a="http://schemas.openxmlformats.org/drawingml/2006/main">
              <a:ext uri="{FF2B5EF4-FFF2-40B4-BE49-F238E27FC236}">
                <a16:creationId xmlns:a16="http://schemas.microsoft.com/office/drawing/2014/main" id="{02E6CB45-2526-447E-9193-5FD679C4B321}"/>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Summary sheet</a:t>
            </a:r>
          </a:p>
        </p:txBody>
      </p:sp>
      <p:sp>
        <p:nvSpPr>
          <p:cNvPr id="7" name="row-1-body">
            <a:extLst xmlns:a="http://schemas.openxmlformats.org/drawingml/2006/main">
              <a:ext uri="{FF2B5EF4-FFF2-40B4-BE49-F238E27FC236}">
                <a16:creationId xmlns:a16="http://schemas.microsoft.com/office/drawing/2014/main" id="{669F5F8D-B56C-4458-A567-5AF6107A4CD3}"/>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Comparison table: units shipped, returned, return rate, defect rate · native editable column chart (supplier rates) · native line chart (rate by month) · period, definitions, limitations note.</a:t>
            </a:r>
          </a:p>
        </p:txBody>
      </p:sp>
      <p:sp>
        <p:nvSpPr>
          <p:cNvPr id="8" name="row-2-label">
            <a:extLst xmlns:a="http://schemas.openxmlformats.org/drawingml/2006/main">
              <a:ext uri="{FF2B5EF4-FFF2-40B4-BE49-F238E27FC236}">
                <a16:creationId xmlns:a16="http://schemas.microsoft.com/office/drawing/2014/main" id="{43ED4E6E-F9BC-42D4-9126-E90374FEC596}"/>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rules</a:t>
            </a:r>
          </a:p>
        </p:txBody>
      </p:sp>
      <p:sp>
        <p:nvSpPr>
          <p:cNvPr id="9" name="row-2-body">
            <a:extLst xmlns:a="http://schemas.openxmlformats.org/drawingml/2006/main">
              <a:ext uri="{FF2B5EF4-FFF2-40B4-BE49-F238E27FC236}">
                <a16:creationId xmlns:a16="http://schemas.microsoft.com/office/drawing/2014/main" id="{D470CB55-D049-434D-8025-B03AD0D295F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Traceable Excel logic — formulas or PivotTables, never hard-coded chart values · missing values stay missing · totals reconcile to the source before the file returns.</a:t>
            </a:r>
          </a:p>
        </p:txBody>
      </p:sp>
      <p:sp>
        <p:nvSpPr>
          <p:cNvPr id="10" name="row-3-label">
            <a:extLst xmlns:a="http://schemas.openxmlformats.org/drawingml/2006/main">
              <a:ext uri="{FF2B5EF4-FFF2-40B4-BE49-F238E27FC236}">
                <a16:creationId xmlns:a16="http://schemas.microsoft.com/office/drawing/2014/main" id="{416FA6AB-9924-4CAF-BA16-D19FF9F8704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Prove it</a:t>
            </a:r>
          </a:p>
        </p:txBody>
      </p:sp>
      <p:sp>
        <p:nvSpPr>
          <p:cNvPr id="11" name="row-3-body">
            <a:extLst xmlns:a="http://schemas.openxmlformats.org/drawingml/2006/main">
              <a:ext uri="{FF2B5EF4-FFF2-40B4-BE49-F238E27FC236}">
                <a16:creationId xmlns:a16="http://schemas.microsoft.com/office/drawing/2014/main" id="{334BE129-66A3-451B-A89D-7607A1D07739}"/>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Open the returned workbook, inspect the Summary sheet, click one chart — its source range or PivotTable must be editable.</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workbook tab Excel-Charts · prepared fallback: Supplier_Data_Analyzed.xlsx.</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36</a:t>
            </a:r>
          </a:p>
        </p:txBody>
      </p:sp>
    </p:spTree>
    <p:extLst>
      <p:ext uri="{BB962C8B-B14F-4D97-AF65-F5344CB8AC3E}">
        <p14:creationId xmlns:p14="http://schemas.microsoft.com/office/powerpoint/2010/main" val="1469576047"/>
      </p:ext>
    </p:extLst>
  </p:cSld>
</p:sld>
</file>

<file path=ppt/slides/slide37.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8" name="pilot-wf-panel"/>
          <p:cNvSpPr/>
          <p:nvPr/>
        </p:nvSpPr>
        <p:spPr>
          <a:xfrm>
            <a:off x="7150608" y="2743200"/>
            <a:ext cx="4416552" cy="2706624"/>
          </a:xfrm>
          <a:prstGeom prst="rect">
            <a:avLst/>
          </a:prstGeom>
          <a:solidFill>
            <a:srgbClr val="FFFFFF"/>
          </a:solidFill>
          <a:ln w="15875">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8229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300" b="1">
                <a:solidFill>
                  <a:srgbClr val="0A6261"/>
                </a:solidFill>
                <a:latin typeface="Calibri"/>
                <a:ea typeface="Calibri"/>
                <a:cs typeface="Calibri"/>
              </a:rPr>
              <a:t>Describe the Dashboard You Want</a:t>
            </a:r>
          </a:p>
        </p:txBody>
      </p:sp>
      <p:sp>
        <p:nvSpPr>
          <p:cNvPr id="4" name="row-0-label">
            <a:extLst xmlns:a="http://schemas.openxmlformats.org/drawingml/2006/main">
              <a:ext uri="{FF2B5EF4-FFF2-40B4-BE49-F238E27FC236}">
                <a16:creationId xmlns:a16="http://schemas.microsoft.com/office/drawing/2014/main" id="{50352599-684B-433E-A8D9-A92915A06A7C}"/>
              </a:ext>
            </a:extLst>
          </p:cNvPr>
          <p:cNvSpPr>
            <a:spLocks xmlns:a="http://schemas.openxmlformats.org/drawingml/2006/main" noGrp="1"/>
          </p:cNvSpPr>
          <p:nvPr/>
        </p:nvSpPr>
        <p:spPr>
          <a:xfrm xmlns:a="http://schemas.openxmlformats.org/drawingml/2006/main">
            <a:off x="609600" y="1600200"/>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The prompt</a:t>
            </a:r>
          </a:p>
        </p:txBody>
      </p:sp>
      <p:sp>
        <p:nvSpPr>
          <p:cNvPr id="5" name="row-0-body">
            <a:extLst xmlns:a="http://schemas.openxmlformats.org/drawingml/2006/main">
              <a:ext uri="{FF2B5EF4-FFF2-40B4-BE49-F238E27FC236}">
                <a16:creationId xmlns:a16="http://schemas.microsoft.com/office/drawing/2014/main" id="{0F6C647E-CB34-412F-AE5F-B3AA8A38781B}"/>
              </a:ext>
            </a:extLst>
          </p:cNvPr>
          <p:cNvSpPr>
            <a:spLocks xmlns:a="http://schemas.openxmlformats.org/drawingml/2006/main" noGrp="1"/>
          </p:cNvSpPr>
          <p:nvPr/>
        </p:nvSpPr>
        <p:spPr>
          <a:xfrm xmlns:a="http://schemas.openxmlformats.org/drawingml/2006/main">
            <a:off x="3638550" y="1600200"/>
            <a:ext cx="7943850" cy="960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800" b="0">
                <a:solidFill>
                  <a:srgbClr val="232A31"/>
                </a:solidFill>
                <a:latin typeface="Calibri"/>
                <a:ea typeface="Calibri"/>
                <a:cs typeface="Calibri"/>
              </a:rPr>
              <a:t>“Using the returned Supplier_Data_Analyzed.xlsx workbook and its verified definitions, create one self-contained HTML dashboard that works offline.”</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Extended dashboard vocabulary: Course_Workbook.xlsx and the reference layer — not this slide.</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 xmlns:a="http://schemas.openxmlformats.org/drawingml/2006/main">
        <p:nvSpPr>
          <p:cNvPr id="14" name="pilot-req-label"/>
          <p:cNvSpPr/>
          <p:nvPr/>
        </p:nvSpPr>
        <p:spPr>
          <a:xfrm>
            <a:off x="609904" y="2615184"/>
            <a:ext cx="2926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It must include</a:t>
            </a:r>
          </a:p>
        </p:txBody>
      </p:sp>
      <p:sp xmlns:a="http://schemas.openxmlformats.org/drawingml/2006/main">
        <p:nvSpPr>
          <p:cNvPr id="15" name="pilot-req-body"/>
          <p:cNvSpPr/>
          <p:nvPr/>
        </p:nvSpPr>
        <p:spPr>
          <a:xfrm>
            <a:off x="609904" y="2980944"/>
            <a:ext cx="6355080" cy="1691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0">
                <a:solidFill>
                  <a:srgbClr val="232A31"/>
                </a:solidFill>
                <a:latin typeface="Calibri"/>
              </a:rPr>
              <a:t>Date-range selector · supplier and site filters · metric selector · summary values · trend chart · sortable detail table · reset control. Every filter updates every view; show the selected period and metric definitions; display a clear message when no rows match.</a:t>
            </a:r>
          </a:p>
        </p:txBody>
      </p:sp>
      <p:sp xmlns:a="http://schemas.openxmlformats.org/drawingml/2006/main">
        <p:nvSpPr>
          <p:cNvPr id="16" name="pilot-tl-label"/>
          <p:cNvSpPr/>
          <p:nvPr/>
        </p:nvSpPr>
        <p:spPr>
          <a:xfrm>
            <a:off x="609904" y="4773168"/>
            <a:ext cx="2926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The teaching line</a:t>
            </a:r>
          </a:p>
        </p:txBody>
      </p:sp>
      <p:sp xmlns:a="http://schemas.openxmlformats.org/drawingml/2006/main">
        <p:nvSpPr>
          <p:cNvPr id="17" name="pilot-tl-body"/>
          <p:cNvSpPr/>
          <p:nvPr/>
        </p:nvSpPr>
        <p:spPr>
          <a:xfrm>
            <a:off x="609904" y="5138928"/>
            <a:ext cx="63550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0">
                <a:solidFill>
                  <a:srgbClr val="232A31"/>
                </a:solidFill>
                <a:latin typeface="Calibri"/>
              </a:rPr>
              <a:t>You do not need to write the code. You need to describe the behavior.</a:t>
            </a:r>
          </a:p>
        </p:txBody>
      </p:sp>
      <p:sp xmlns:a="http://schemas.openxmlformats.org/drawingml/2006/main">
        <p:nvSpPr>
          <p:cNvPr id="19" name="pilot-wf-schematic"/>
          <p:cNvSpPr/>
          <p:nvPr/>
        </p:nvSpPr>
        <p:spPr>
          <a:xfrm>
            <a:off x="7205472" y="2752344"/>
            <a:ext cx="201168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a:solidFill>
                  <a:srgbClr val="5D6B70"/>
                </a:solidFill>
                <a:latin typeface="Calibri"/>
              </a:rPr>
              <a:t>Schematic</a:t>
            </a:r>
          </a:p>
        </p:txBody>
      </p:sp>
      <p:sp xmlns:a="http://schemas.openxmlformats.org/drawingml/2006/main">
        <p:nvSpPr>
          <p:cNvPr id="20" name="pilot-wf-date"/>
          <p:cNvSpPr/>
          <p:nvPr/>
        </p:nvSpPr>
        <p:spPr>
          <a:xfrm>
            <a:off x="7278624" y="3072384"/>
            <a:ext cx="1605686" cy="530352"/>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 name="pilot-wf-date-t"/>
          <p:cNvSpPr/>
          <p:nvPr/>
        </p:nvSpPr>
        <p:spPr>
          <a:xfrm>
            <a:off x="7296912" y="3072384"/>
            <a:ext cx="156911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Date-range selector</a:t>
            </a:r>
          </a:p>
        </p:txBody>
      </p:sp>
      <p:sp xmlns:a="http://schemas.openxmlformats.org/drawingml/2006/main">
        <p:nvSpPr>
          <p:cNvPr id="22" name="pilot-wf-metric"/>
          <p:cNvSpPr/>
          <p:nvPr/>
        </p:nvSpPr>
        <p:spPr>
          <a:xfrm>
            <a:off x="8957462" y="3072384"/>
            <a:ext cx="1364833" cy="530352"/>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pilot-wf-metric-t"/>
          <p:cNvSpPr/>
          <p:nvPr/>
        </p:nvSpPr>
        <p:spPr>
          <a:xfrm>
            <a:off x="8975750" y="3072384"/>
            <a:ext cx="1328257"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metric selector</a:t>
            </a:r>
          </a:p>
        </p:txBody>
      </p:sp>
      <p:sp xmlns:a="http://schemas.openxmlformats.org/drawingml/2006/main">
        <p:nvSpPr>
          <p:cNvPr id="24" name="pilot-wf-reset"/>
          <p:cNvSpPr/>
          <p:nvPr/>
        </p:nvSpPr>
        <p:spPr>
          <a:xfrm>
            <a:off x="10395447" y="3072384"/>
            <a:ext cx="1043696" cy="530352"/>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pilot-wf-reset-t"/>
          <p:cNvSpPr/>
          <p:nvPr/>
        </p:nvSpPr>
        <p:spPr>
          <a:xfrm>
            <a:off x="10413735" y="3072384"/>
            <a:ext cx="100712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reset control</a:t>
            </a:r>
          </a:p>
        </p:txBody>
      </p:sp>
      <p:sp xmlns:a="http://schemas.openxmlformats.org/drawingml/2006/main">
        <p:nvSpPr>
          <p:cNvPr id="26" name="pilot-wf-reset-return"/>
          <p:cNvSpPr/>
          <p:nvPr/>
        </p:nvSpPr>
        <p:spPr>
          <a:xfrm>
            <a:off x="10807567" y="2788920"/>
            <a:ext cx="219456" cy="219456"/>
          </a:xfrm>
          <a:prstGeom prst="circularArrow">
            <a:avLst/>
          </a:prstGeom>
          <a:solidFill>
            <a:srgbClr val="8A9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7" name="pilot-wf-supplier"/>
          <p:cNvSpPr/>
          <p:nvPr/>
        </p:nvSpPr>
        <p:spPr>
          <a:xfrm>
            <a:off x="7278624" y="3694176"/>
            <a:ext cx="4160520" cy="365760"/>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pilot-wf-supplier-t"/>
          <p:cNvSpPr/>
          <p:nvPr/>
        </p:nvSpPr>
        <p:spPr>
          <a:xfrm>
            <a:off x="7333488" y="3694176"/>
            <a:ext cx="2916935"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r>
              <a:rPr sz="1700" b="0">
                <a:solidFill>
                  <a:srgbClr val="3D4B50"/>
                </a:solidFill>
                <a:latin typeface="Calibri"/>
              </a:rPr>
              <a:t>supplier and site filters</a:t>
            </a:r>
          </a:p>
        </p:txBody>
      </p:sp>
      <p:sp xmlns:a="http://schemas.openxmlformats.org/drawingml/2006/main">
        <p:nvSpPr>
          <p:cNvPr id="29" name="pilot-wf-selbox-0"/>
          <p:cNvSpPr/>
          <p:nvPr/>
        </p:nvSpPr>
        <p:spPr>
          <a:xfrm>
            <a:off x="10305288" y="3767328"/>
            <a:ext cx="512064" cy="219456"/>
          </a:xfrm>
          <a:prstGeom prst="rect">
            <a:avLst/>
          </a:prstGeom>
          <a:solidFill>
            <a:srgbClr val="FFFFFF"/>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pilot-wf-selbox-1"/>
          <p:cNvSpPr/>
          <p:nvPr/>
        </p:nvSpPr>
        <p:spPr>
          <a:xfrm>
            <a:off x="10890504" y="3767328"/>
            <a:ext cx="512064" cy="219456"/>
          </a:xfrm>
          <a:prstGeom prst="rect">
            <a:avLst/>
          </a:prstGeom>
          <a:solidFill>
            <a:srgbClr val="FFFFFF"/>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xmlns:a="http://schemas.openxmlformats.org/drawingml/2006/main">
        <p:nvCxnSpPr>
          <p:cNvPr id="31" name="pilot-wf-drop-summary"/>
          <p:cNvCxnSpPr/>
          <p:nvPr/>
        </p:nvCxnSpPr>
        <p:spPr>
          <a:xfrm>
            <a:off x="9358884" y="4059936"/>
            <a:ext cx="0" cy="146304"/>
          </a:xfrm>
          <a:prstGeom prst="line">
            <a:avLst/>
          </a:prstGeom>
          <a:ln w="15875">
            <a:solidFill>
              <a:srgbClr val="8A9BA3"/>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2" name="pilot-wf-drop-chart"/>
          <p:cNvCxnSpPr/>
          <p:nvPr/>
        </p:nvCxnSpPr>
        <p:spPr>
          <a:xfrm>
            <a:off x="7388352" y="4059936"/>
            <a:ext cx="0" cy="530352"/>
          </a:xfrm>
          <a:prstGeom prst="line">
            <a:avLst/>
          </a:prstGeom>
          <a:ln w="15875">
            <a:solidFill>
              <a:srgbClr val="8A9BA3"/>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3" name="pilot-wf-drop-table"/>
          <p:cNvCxnSpPr/>
          <p:nvPr/>
        </p:nvCxnSpPr>
        <p:spPr>
          <a:xfrm>
            <a:off x="11329416" y="4059936"/>
            <a:ext cx="0" cy="530352"/>
          </a:xfrm>
          <a:prstGeom prst="line">
            <a:avLst/>
          </a:prstGeom>
          <a:ln w="15875">
            <a:solidFill>
              <a:srgbClr val="8A9BA3"/>
            </a:solidFill>
            <a:tailEnd type="triangle" w="med" len="med"/>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34" name="pilot-wf-summary"/>
          <p:cNvSpPr/>
          <p:nvPr/>
        </p:nvSpPr>
        <p:spPr>
          <a:xfrm>
            <a:off x="7552944" y="4206240"/>
            <a:ext cx="3611879" cy="310896"/>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5" name="pilot-wf-summary-t"/>
          <p:cNvSpPr/>
          <p:nvPr/>
        </p:nvSpPr>
        <p:spPr>
          <a:xfrm>
            <a:off x="7571231" y="4206240"/>
            <a:ext cx="3575303"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summary values</a:t>
            </a:r>
          </a:p>
        </p:txBody>
      </p:sp>
      <p:sp xmlns:a="http://schemas.openxmlformats.org/drawingml/2006/main">
        <p:nvSpPr>
          <p:cNvPr id="36" name="pilot-wf-chart"/>
          <p:cNvSpPr/>
          <p:nvPr/>
        </p:nvSpPr>
        <p:spPr>
          <a:xfrm>
            <a:off x="7278624" y="4590288"/>
            <a:ext cx="1997049" cy="749807"/>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pilot-wf-chart-t"/>
          <p:cNvSpPr/>
          <p:nvPr/>
        </p:nvSpPr>
        <p:spPr>
          <a:xfrm>
            <a:off x="7296912" y="4590288"/>
            <a:ext cx="1960473" cy="74980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trend chart</a:t>
            </a:r>
          </a:p>
        </p:txBody>
      </p:sp>
      <p:sp xmlns:a="http://schemas.openxmlformats.org/drawingml/2006/main">
        <p:nvSpPr>
          <p:cNvPr id="38" name="pilot-wf-table"/>
          <p:cNvSpPr/>
          <p:nvPr/>
        </p:nvSpPr>
        <p:spPr>
          <a:xfrm>
            <a:off x="9348825" y="4590288"/>
            <a:ext cx="2090318" cy="749807"/>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9" name="pilot-wf-table-t"/>
          <p:cNvSpPr/>
          <p:nvPr/>
        </p:nvSpPr>
        <p:spPr>
          <a:xfrm>
            <a:off x="9367113" y="4590288"/>
            <a:ext cx="2053742" cy="74980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sortable detail table</a:t>
            </a:r>
          </a:p>
        </p:txBody>
      </p:sp>
    </p:spTree>
    <p:extLst>
      <p:ext uri="{BB962C8B-B14F-4D97-AF65-F5344CB8AC3E}">
        <p14:creationId xmlns:p14="http://schemas.microsoft.com/office/powerpoint/2010/main" val="187541384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Build and Test the Dashboard</a:t>
            </a:r>
          </a:p>
        </p:txBody>
      </p:sp>
      <p:sp>
        <p:nvSpPr>
          <p:cNvPr id="4" name="main-prompt">
            <a:extLst xmlns:a="http://schemas.openxmlformats.org/drawingml/2006/main">
              <a:ext uri="{FF2B5EF4-FFF2-40B4-BE49-F238E27FC236}">
                <a16:creationId xmlns:a16="http://schemas.microsoft.com/office/drawing/2014/main" id="{75C0866B-DFA9-48DE-9E61-F680B4E717E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1" i="0"/>
              <a:t>Input: Supplier_Data_Analyzed.xlsx — the returned workbook: same data, definitions, and period.</a:t>
            </a:r>
          </a:p>
          <a:p xmlns:a="http://schemas.openxmlformats.org/drawingml/2006/main">
            <a:r>
              <a:rPr sz="1800" b="0" i="0"/>
              <a:t>1  Open the generated HTML file.</a:t>
            </a:r>
          </a:p>
          <a:p xmlns:a="http://schemas.openxmlformats.org/drawingml/2006/main">
            <a:r>
              <a:rPr sz="1800" b="0" i="0"/>
              <a:t>2  Filter to Berlin, Bravo Plastics, March through August 2026.</a:t>
            </a:r>
          </a:p>
          <a:p xmlns:a="http://schemas.openxmlformats.org/drawingml/2006/main">
            <a:r>
              <a:rPr sz="1800" b="0" i="0"/>
              <a:t>3  Verify 8,575 units, 21 returns, and a 0.245 percent return rate against the source.</a:t>
            </a:r>
          </a:p>
          <a:p xmlns:a="http://schemas.openxmlformats.org/drawingml/2006/main">
            <a:r>
              <a:rPr sz="1700" b="0" i="1"/>
              <a:t>Then ask for ONE refinement using the vocabulary — a different date range, grouping, metric, drill-down, sort, or reset behavior.</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 21 returns · 0.245% — the same numbers, from the same verified file.</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Tree>
    <p:extLst>
      <p:ext uri="{BB962C8B-B14F-4D97-AF65-F5344CB8AC3E}">
        <p14:creationId xmlns:p14="http://schemas.microsoft.com/office/powerpoint/2010/main" val="131037884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2:30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000" b="1">
                <a:solidFill>
                  <a:srgbClr val="232A31"/>
                </a:solidFill>
                <a:latin typeface="Calibri"/>
              </a:rPr>
              <a:t>Turn the Findings into a Five-Slide Management Mock-up</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“Using only the verified findings from this exercise, create an editable five-slide PowerPoint mock-up for [audience] to support [decision].”</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five slides</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1 Question and scope · 2 Supplier comparison · 3 The most important trend · 4 Recommended follow-up · 5 Limitations and next steps.</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rules</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One main message per slide · readable charts, concise visible text, speaker notes · findings separated from recommendations · no invented causes or commitments.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Why it differs</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The dashboard supports exploration; the presentation supports a management decision — the final step of the connected data exercise.</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Full prompt: workbook tab 3-Present-Findings · reference page 99 · fallback: Supplier_Quality_Mock_Presentation.pptx.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39</a:t>
            </a:r>
          </a:p>
        </p:txBody>
      </p:sp>
    </p:spTree>
    <p:extLst>
      <p:ext uri="{BB962C8B-B14F-4D97-AF65-F5344CB8AC3E}">
        <p14:creationId xmlns:p14="http://schemas.microsoft.com/office/powerpoint/2010/main" val="87674091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200" b="1" i="0"/>
              <a:t>Organize an Email Thread in Outlook</a:t>
            </a:r>
          </a:p>
          <a:p xmlns:a="http://schemas.openxmlformats.org/drawingml/2006/main">
            <a:r>
              <a:rPr sz="1700" b="0" i="1"/>
              <a:t>Choose the result you need</a:t>
            </a:r>
          </a:p>
        </p:txBody>
      </p:sp>
      <p:sp>
        <p:nvSpPr>
          <p:cNvPr id="4" name="row-0-label">
            <a:extLst xmlns:a="http://schemas.openxmlformats.org/drawingml/2006/main">
              <a:ext uri="{FF2B5EF4-FFF2-40B4-BE49-F238E27FC236}">
                <a16:creationId xmlns:a16="http://schemas.microsoft.com/office/drawing/2014/main" id="{BCF9B55F-031B-4E4D-9AE3-486552DD532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Catch me up</a:t>
            </a:r>
          </a:p>
        </p:txBody>
      </p:sp>
      <p:sp>
        <p:nvSpPr>
          <p:cNvPr id="5" name="row-0-body">
            <a:extLst xmlns:a="http://schemas.openxmlformats.org/drawingml/2006/main">
              <a:ext uri="{FF2B5EF4-FFF2-40B4-BE49-F238E27FC236}">
                <a16:creationId xmlns:a16="http://schemas.microsoft.com/office/drawing/2014/main" id="{47A8CCC4-0AD7-406C-921B-E43E1219EDA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“Summarize the current situation in three sentences.”</a:t>
            </a:r>
          </a:p>
        </p:txBody>
      </p:sp>
      <p:sp>
        <p:nvSpPr>
          <p:cNvPr id="6" name="row-1-label">
            <a:extLst xmlns:a="http://schemas.openxmlformats.org/drawingml/2006/main">
              <a:ext uri="{FF2B5EF4-FFF2-40B4-BE49-F238E27FC236}">
                <a16:creationId xmlns:a16="http://schemas.microsoft.com/office/drawing/2014/main" id="{A026C0FA-2930-4D4C-8CF4-0A73B12AFD3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What changed · Who owes what</a:t>
            </a:r>
          </a:p>
        </p:txBody>
      </p:sp>
      <p:sp>
        <p:nvSpPr>
          <p:cNvPr id="7" name="row-1-body">
            <a:extLst xmlns:a="http://schemas.openxmlformats.org/drawingml/2006/main">
              <a:ext uri="{FF2B5EF4-FFF2-40B4-BE49-F238E27FC236}">
                <a16:creationId xmlns:a16="http://schemas.microsoft.com/office/drawing/2014/main" id="{3FA6167B-BE2B-448F-A39E-E643C5DA355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“List changed dates or decisions and show the latest version.” · “Create a table with task, owner, due date, and dependency.”</a:t>
            </a:r>
          </a:p>
        </p:txBody>
      </p:sp>
      <p:sp>
        <p:nvSpPr>
          <p:cNvPr id="8" name="row-2-label">
            <a:extLst xmlns:a="http://schemas.openxmlformats.org/drawingml/2006/main">
              <a:ext uri="{FF2B5EF4-FFF2-40B4-BE49-F238E27FC236}">
                <a16:creationId xmlns:a16="http://schemas.microsoft.com/office/drawing/2014/main" id="{FA051395-D138-446C-98E9-17ACE5C734A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What remains open</a:t>
            </a:r>
          </a:p>
        </p:txBody>
      </p:sp>
      <p:sp>
        <p:nvSpPr>
          <p:cNvPr id="9" name="row-2-body">
            <a:extLst xmlns:a="http://schemas.openxmlformats.org/drawingml/2006/main">
              <a:ext uri="{FF2B5EF4-FFF2-40B4-BE49-F238E27FC236}">
                <a16:creationId xmlns:a16="http://schemas.microsoft.com/office/drawing/2014/main" id="{7D096F2F-95E0-44B5-A0C2-4D93C94D6DD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“List unanswered questions, approval conditions, and missing attachments.”</a:t>
            </a:r>
          </a:p>
        </p:txBody>
      </p:sp>
      <p:sp>
        <p:nvSpPr>
          <p:cNvPr id="10" name="row-3-label">
            <a:extLst xmlns:a="http://schemas.openxmlformats.org/drawingml/2006/main">
              <a:ext uri="{FF2B5EF4-FFF2-40B4-BE49-F238E27FC236}">
                <a16:creationId xmlns:a16="http://schemas.microsoft.com/office/drawing/2014/main" id="{239F453C-C095-43ED-B6CE-6E746245520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Prepare my reply</a:t>
            </a:r>
          </a:p>
        </p:txBody>
      </p:sp>
      <p:sp>
        <p:nvSpPr>
          <p:cNvPr id="11" name="row-3-body">
            <a:extLst xmlns:a="http://schemas.openxmlformats.org/drawingml/2006/main">
              <a:ext uri="{FF2B5EF4-FFF2-40B4-BE49-F238E27FC236}">
                <a16:creationId xmlns:a16="http://schemas.microsoft.com/office/drawing/2014/main" id="{78CE5F93-A885-4907-93DA-2D3878623EA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“Draft a concise response. Use brackets where I still need to decide. Do not invent commitments.”</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Use only messages and attachments you can access · write “Not stated” instead of guessing · cite the supporting sender and date · do not send anything.</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Tree>
    <p:extLst>
      <p:ext uri="{BB962C8B-B14F-4D97-AF65-F5344CB8AC3E}">
        <p14:creationId xmlns:p14="http://schemas.microsoft.com/office/powerpoint/2010/main" val="182227215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2900" b="1">
                <a:solidFill>
                  <a:srgbClr val="232A31"/>
                </a:solidFill>
                <a:latin typeface="Calibri"/>
                <a:ea typeface="Calibri"/>
                <a:cs typeface="Calibri"/>
              </a:rPr>
              <a:t>Outlook Exercise: Decisions, Actions, and Open Questions</a:t>
            </a:r>
          </a:p>
        </p:txBody>
      </p:sp>
      <p:sp>
        <p:nvSpPr>
          <p:cNvPr id="4" name="main-prompt">
            <a:extLst xmlns:a="http://schemas.openxmlformats.org/drawingml/2006/main">
              <a:ext uri="{FF2B5EF4-FFF2-40B4-BE49-F238E27FC236}">
                <a16:creationId xmlns:a16="http://schemas.microsoft.com/office/drawing/2014/main" id="{049FF19E-D549-4EF2-BFBA-9C24236939F7}"/>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0" i="0"/>
              <a:t>“Review this thread using only the messages and attachments you can access. Give me the current status, confirmed decisions and conditions, action items with owner and due date, changed dates or commitments, unanswered questions, missing attachments, and messages that need a reply. Write ‘Not stated’ when the thread does not say. Cite the supporting message by sender and date.”</a:t>
            </a:r>
          </a:p>
          <a:p xmlns:a="http://schemas.openxmlformats.org/drawingml/2006/main">
            <a:r>
              <a:rPr sz="1700" b="0" i="1"/>
              <a:t>Run it after the built-in summary, in the Copilot chat pane on the same conversation — or paste Packaging_Change_Thread.txt into an approved assistant.</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Your brief is checked against the instructor key — the thread has planted traps. Attempt first.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88–89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Tree>
    <p:extLst>
      <p:ext uri="{BB962C8B-B14F-4D97-AF65-F5344CB8AC3E}">
        <p14:creationId xmlns:p14="http://schemas.microsoft.com/office/powerpoint/2010/main" val="165831923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Extract Supplier Quotes into Excel</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700" b="0" i="0"/>
              <a:t>“Review the attached supplier quotation files and create an editable Excel workbook. Create a Raw Extraction sheet with one row per quotation: supplier, quoted scope, currency, quoted quantity, unit price, tooling or other one-time charges, freight, taxes, lead time, payment terms, quote validity, exclusions, source file, source page, and missing information.”</a:t>
            </a:r>
          </a:p>
          <a:p xmlns:a="http://schemas.openxmlformats.org/drawingml/2006/main">
            <a:r>
              <a:rPr sz="1700" b="0" i="0"/>
              <a:t>“Copy values exactly as stated. Keep currencies, quantities, and units in their original form. Write ‘Not stated’ when a field is absent. Do not normalize, rank, or recommend yet. Cite the source file and page for every extracted commercial value.”</a:t>
            </a:r>
          </a:p>
          <a:p xmlns:a="http://schemas.openxmlformats.org/drawingml/2006/main">
            <a:r>
              <a:rPr sz="1700" b="0" i="1"/>
              <a:t>Step one is faithful extraction and traceability — judgment comes next.</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Files: Quote_Alpha_Components.pdf · Quote_Bravo_Plastics.pdf · Quote_Cardinal_Metals.pdf — full prompt: workbook tab Quote-Extract.</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42</a:t>
            </a:r>
          </a:p>
        </p:txBody>
      </p:sp>
    </p:spTree>
    <p:extLst>
      <p:ext uri="{BB962C8B-B14F-4D97-AF65-F5344CB8AC3E}">
        <p14:creationId xmlns:p14="http://schemas.microsoft.com/office/powerpoint/2010/main" val="52634781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Normalize and Compare the Supplier Quotes</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700" b="0" i="0"/>
              <a:t>“Using the Raw Extraction sheet, create a Normalized Comparison sheet. Normalize quantities, units, or currencies only when the conversion rule or basis is supplied. Keep every original extracted value visible. Flag differences in scope, assumptions, exclusions, and commercial terms. Show formulas for comparable totals.”</a:t>
            </a:r>
          </a:p>
          <a:p xmlns:a="http://schemas.openxmlformats.org/drawingml/2006/main">
            <a:r>
              <a:rPr sz="1700" b="0" i="0"/>
              <a:t>“Do not identify a best quote until the comparison basis is complete. List the missing information and unresolved questions that prevent a fair recommendation.”</a:t>
            </a:r>
          </a:p>
          <a:p xmlns:a="http://schemas.openxmlformats.org/drawingml/2006/main">
            <a:r>
              <a:rPr sz="1700" b="0" i="1"/>
              <a:t>The trap: the cheapest-looking quote stops looking cheapest once tooling, freight, currency, and scope are on the table.</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No winner while the basis is incomplete — prepared example: Quote_Comparison_Workbook.xlsx · tab Quote-Compare.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Tree>
    <p:extLst>
      <p:ext uri="{BB962C8B-B14F-4D97-AF65-F5344CB8AC3E}">
        <p14:creationId xmlns:p14="http://schemas.microsoft.com/office/powerpoint/2010/main" val="52634781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3:00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100" b="1">
                <a:solidFill>
                  <a:srgbClr val="232A31"/>
                </a:solidFill>
                <a:latin typeface="Calibri"/>
              </a:rPr>
              <a:t>Turn Reference Files into a Research Spreadsheet</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“Review the attached reference files and build a research workbook using only information you can trace to a source.”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Evidence sheet</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One claim per row: ID · topic · claim · source file · author · date · page or section · short excerpt · plain-language interpretation · caveat · relevance to [research question] · confidence · open question.</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Synthesis + Sources</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Synthesis orders findings from foundations to implications — agreements, conflicts, gaps. Sources indexes every file. “Not stated” for gaps · conflicting claims stay separate · no invented citations.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Editable Excel workbook — filters, frozen header row, wrapped text; separate CSV tables if the tool cannot produce Excel.</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Pack: references/exercise-data/research-pack/ · full prompt: workbook tab Research · prepared example: Research_Workbook.xlsx.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44</a:t>
            </a:r>
          </a:p>
        </p:txBody>
      </p:sp>
    </p:spTree>
    <p:extLst>
      <p:ext uri="{BB962C8B-B14F-4D97-AF65-F5344CB8AC3E}">
        <p14:creationId xmlns:p14="http://schemas.microsoft.com/office/powerpoint/2010/main" val="876740918"/>
      </p:ext>
    </p:extLst>
  </p:cSld>
</p:sld>
</file>

<file path=ppt/slides/slide45.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45</a:t>
            </a:r>
          </a:p>
        </p:txBody>
      </p:sp>
    </p:spTree>
    <p:extLst>
      <p:ext uri="{BB962C8B-B14F-4D97-AF65-F5344CB8AC3E}">
        <p14:creationId xmlns:p14="http://schemas.microsoft.com/office/powerpoint/2010/main" val="929021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Tree>
    <p:extLst>
      <p:ext uri="{BB962C8B-B14F-4D97-AF65-F5344CB8AC3E}">
        <p14:creationId xmlns:p14="http://schemas.microsoft.com/office/powerpoint/2010/main" val="159231894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83</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Tree>
    <p:extLst>
      <p:ext uri="{BB962C8B-B14F-4D97-AF65-F5344CB8AC3E}">
        <p14:creationId xmlns:p14="http://schemas.microsoft.com/office/powerpoint/2010/main" val="9042127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83561370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txBody xmlns:a="http://schemas.openxmlformats.org/drawingml/2006/main">
          <a:bodyPr/>
          <a:p/>
        </p:txBody>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623786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4695394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51</a:t>
            </a:r>
          </a:p>
        </p:txBody>
      </p:sp>
    </p:spTree>
    <p:extLst>
      <p:ext uri="{BB962C8B-B14F-4D97-AF65-F5344CB8AC3E}">
        <p14:creationId xmlns:p14="http://schemas.microsoft.com/office/powerpoint/2010/main" val="3503921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2011186280"/>
      </p:ext>
    </p:extLst>
  </p:cSld>
</p:sld>
</file>

<file path=ppt/slides/slide53.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3" name="pilot-boundary"/>
          <p:cNvSpPr/>
          <p:nvPr/>
        </p:nvSpPr>
        <p:spPr>
          <a:xfrm>
            <a:off x="6217920" y="1837943"/>
            <a:ext cx="5504688" cy="3639312"/>
          </a:xfrm>
          <a:prstGeom prst="rect">
            <a:avLst/>
          </a:prstGeom>
          <a:solidFill>
            <a:srgbClr val="FFFFFF"/>
          </a:solidFill>
          <a:ln w="31750">
            <a:solidFill>
              <a:srgbClr val="3D4B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paper"/>
          <p:cNvSpPr/>
          <p:nvPr/>
        </p:nvSpPr>
        <p:spPr>
          <a:xfrm flipV="1">
            <a:off x="502920" y="1837943"/>
            <a:ext cx="5330952" cy="3639312"/>
          </a:xfrm>
          <a:prstGeom prst="foldedCorner">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 xmlns:a="http://schemas.openxmlformats.org/drawingml/2006/main">
        <p:nvSpPr>
          <p:cNvPr id="14" name="pilot-checkpoint"/>
          <p:cNvSpPr/>
          <p:nvPr/>
        </p:nvSpPr>
        <p:spPr>
          <a:xfrm>
            <a:off x="6254496" y="3044951"/>
            <a:ext cx="146304" cy="146304"/>
          </a:xfrm>
          <a:prstGeom prst="diamond">
            <a:avLst/>
          </a:prstGeom>
          <a:solidFill>
            <a:srgbClr val="FFFFFF"/>
          </a:solidFill>
          <a:ln w="19050">
            <a:solidFill>
              <a:srgbClr val="C4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6764673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39268929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0784694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136429918"/>
      </p:ext>
    </p:extLst>
  </p:cSld>
</p:sld>
</file>

<file path=ppt/slides/slide5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57</a:t>
            </a:r>
          </a:p>
        </p:txBody>
      </p:sp>
    </p:spTree>
    <p:extLst>
      <p:ext uri="{BB962C8B-B14F-4D97-AF65-F5344CB8AC3E}">
        <p14:creationId xmlns:p14="http://schemas.microsoft.com/office/powerpoint/2010/main" val="155777812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93680147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59</a:t>
            </a:r>
          </a:p>
        </p:txBody>
      </p:sp>
    </p:spTree>
    <p:extLst>
      <p:ext uri="{BB962C8B-B14F-4D97-AF65-F5344CB8AC3E}">
        <p14:creationId xmlns:p14="http://schemas.microsoft.com/office/powerpoint/2010/main" val="1093731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266330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4461624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160473760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173695199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54694072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65</a:t>
            </a:r>
          </a:p>
        </p:txBody>
      </p:sp>
    </p:spTree>
    <p:extLst>
      <p:ext uri="{BB962C8B-B14F-4D97-AF65-F5344CB8AC3E}">
        <p14:creationId xmlns:p14="http://schemas.microsoft.com/office/powerpoint/2010/main" val="19500542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66</a:t>
            </a:r>
          </a:p>
        </p:txBody>
      </p:sp>
    </p:spTree>
    <p:extLst>
      <p:ext uri="{BB962C8B-B14F-4D97-AF65-F5344CB8AC3E}">
        <p14:creationId xmlns:p14="http://schemas.microsoft.com/office/powerpoint/2010/main" val="3272459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90811741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46879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596619051"/>
      </p:ext>
    </p:extLst>
  </p:cSld>
</p:sld>
</file>

<file path=ppt/slides/slide70.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70</a:t>
            </a:r>
          </a:p>
        </p:txBody>
      </p:sp>
    </p:spTree>
    <p:extLst>
      <p:ext uri="{BB962C8B-B14F-4D97-AF65-F5344CB8AC3E}">
        <p14:creationId xmlns:p14="http://schemas.microsoft.com/office/powerpoint/2010/main" val="773604891"/>
      </p:ext>
    </p:extLst>
  </p:cSld>
</p:sld>
</file>

<file path=ppt/slides/slide7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txBody xmlns:a="http://schemas.openxmlformats.org/drawingml/2006/main">
          <a:bodyPr/>
          <a:p/>
        </p:txBody>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txBody xmlns:a="http://schemas.openxmlformats.org/drawingml/2006/main">
          <a:bodyPr/>
          <a:p/>
        </p:txBody>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“Finish this sentence 5 different ways: We should move the launch date because”</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no facts yet — watch it scatter across guesses.</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“Now 5 more ways, knowing: B2B software firm, competitor launches May 3, our beta ends April 20.”</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your facts didn’t make it smarter — they deleted wrong guesses.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72</a:t>
            </a:r>
          </a:p>
        </p:txBody>
      </p:sp>
    </p:spTree>
    <p:extLst>
      <p:ext uri="{BB962C8B-B14F-4D97-AF65-F5344CB8AC3E}">
        <p14:creationId xmlns:p14="http://schemas.microsoft.com/office/powerpoint/2010/main" val="3283080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txBody xmlns:a="http://schemas.openxmlformats.org/drawingml/2006/main">
          <a:bodyPr/>
          <a:p/>
        </p:txBody>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txBody xmlns:a="http://schemas.openxmlformats.org/drawingml/2006/main">
          <a:bodyPr/>
          <a:p/>
        </p:txBody>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txBody xmlns:a="http://schemas.openxmlformats.org/drawingml/2006/main">
          <a:bodyPr/>
          <a:p/>
        </p:txBody>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your context window like I’m a 5th grader: the desk, what fits on it, and what happens when I close this chat. Under 100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AI describes its own working memory, plainly.</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(homework) “Summarize our chat so far in under 80 words, titled HANDOFF.”</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tonight, paste into a fresh chat, ask “where was I?” — it picks up your course.</a:t>
            </a:r>
            <a:endParaRPr sz="1000"/>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73</a:t>
            </a:r>
          </a:p>
        </p:txBody>
      </p:sp>
    </p:spTree>
    <p:extLst>
      <p:ext uri="{BB962C8B-B14F-4D97-AF65-F5344CB8AC3E}">
        <p14:creationId xmlns:p14="http://schemas.microsoft.com/office/powerpoint/2010/main" val="163487475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txBody xmlns:a="http://schemas.openxmlformats.org/drawingml/2006/main">
          <a:bodyPr/>
          <a:p/>
        </p:txBody>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txBody xmlns:a="http://schemas.openxmlformats.org/drawingml/2006/main">
          <a:bodyPr/>
          <a:p/>
        </p:txBody>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txBody xmlns:a="http://schemas.openxmlformats.org/drawingml/2006/main">
          <a:bodyPr/>
          <a:p/>
        </p:txBody>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txBody xmlns:a="http://schemas.openxmlformats.org/drawingml/2006/main">
          <a:bodyPr/>
          <a:p/>
        </p:txBody>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7231628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23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49011545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 revised 2026)</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24</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12173285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73541720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89169783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txBody xmlns:a="http://schemas.openxmlformats.org/drawingml/2006/main">
          <a:bodyPr/>
          <a:p/>
        </p:txBody>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txBody xmlns:a="http://schemas.openxmlformats.org/drawingml/2006/main">
          <a:bodyPr/>
          <a:p/>
        </p:txBody>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txBody xmlns:a="http://schemas.openxmlformats.org/drawingml/2006/main">
          <a:bodyPr/>
          <a:p/>
        </p:txBody>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txBody xmlns:a="http://schemas.openxmlformats.org/drawingml/2006/main">
          <a:bodyPr/>
          <a:p/>
        </p:txBody>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146435441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txBody xmlns:a="http://schemas.openxmlformats.org/drawingml/2006/main">
          <a:bodyPr/>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txBody xmlns:a="http://schemas.openxmlformats.org/drawingml/2006/main">
          <a:bodyPr/>
          <a:p/>
        </p:txBody>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txBody xmlns:a="http://schemas.openxmlformats.org/drawingml/2006/main">
          <a:bodyPr/>
          <a:p/>
        </p:txBody>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txBody xmlns:a="http://schemas.openxmlformats.org/drawingml/2006/main">
          <a:bodyPr/>
          <a:p/>
        </p:txBody>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200021502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33</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957604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40</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1822272153"/>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47</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904212700"/>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50</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46953944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txBody xmlns:a="http://schemas.openxmlformats.org/drawingml/2006/main">
          <a:bodyPr/>
          <a:p/>
        </p:txBody>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51</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35039219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txBody xmlns:a="http://schemas.openxmlformats.org/drawingml/2006/main">
          <a:bodyPr/>
          <a:p/>
        </p:txBody>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txBody xmlns:a="http://schemas.openxmlformats.org/drawingml/2006/main">
          <a:bodyPr/>
          <a:p/>
        </p:txBody>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676467350"/>
      </p:ext>
    </p:extLst>
  </p:cSld>
</p:sld>
</file>

<file path=ppt/slides/slide87.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0.348%</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87</a:t>
            </a:r>
          </a:p>
        </p:txBody>
      </p:sp>
      <p:sp xmlns:a="http://schemas.openxmlformats.org/drawingml/2006/main">
        <p:nvSpPr>
          <p:cNvPr id="14" name="pilot-bar-Alpha"/>
          <p:cNvSpPr/>
          <p:nvPr/>
        </p:nvSpPr>
        <p:spPr>
          <a:xfrm>
            <a:off x="10168128" y="2836068"/>
            <a:ext cx="247908" cy="1828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pilot-bar-Bravo"/>
          <p:cNvSpPr/>
          <p:nvPr/>
        </p:nvSpPr>
        <p:spPr>
          <a:xfrm>
            <a:off x="10168128" y="3550443"/>
            <a:ext cx="876283" cy="1828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pilot-bar-Cardinal"/>
          <p:cNvSpPr/>
          <p:nvPr/>
        </p:nvSpPr>
        <p:spPr>
          <a:xfrm>
            <a:off x="10168128" y="4264818"/>
            <a:ext cx="323343" cy="1828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507488637"/>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88</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Tree>
    <p:extLst>
      <p:ext uri="{BB962C8B-B14F-4D97-AF65-F5344CB8AC3E}">
        <p14:creationId xmlns:p14="http://schemas.microsoft.com/office/powerpoint/2010/main" val="404875221"/>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97</a:t>
            </a:r>
          </a:p>
        </p:txBody>
      </p:sp>
    </p:spTree>
    <p:extLst>
      <p:ext uri="{BB962C8B-B14F-4D97-AF65-F5344CB8AC3E}">
        <p14:creationId xmlns:p14="http://schemas.microsoft.com/office/powerpoint/2010/main" val="1293824134"/>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returned Supplier_Data_Analyzed.xlsx workbook: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98</a:t>
            </a:r>
          </a:p>
        </p:txBody>
      </p:sp>
    </p:spTree>
    <p:extLst>
      <p:ext uri="{BB962C8B-B14F-4D97-AF65-F5344CB8AC3E}">
        <p14:creationId xmlns:p14="http://schemas.microsoft.com/office/powerpoint/2010/main" val="404875221"/>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39.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99</a:t>
            </a:r>
          </a:p>
        </p:txBody>
      </p:sp>
    </p:spTree>
    <p:extLst>
      <p:ext uri="{BB962C8B-B14F-4D97-AF65-F5344CB8AC3E}">
        <p14:creationId xmlns:p14="http://schemas.microsoft.com/office/powerpoint/2010/main" val="40487522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 quality (the live example) · household budgeting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reference exercise (no live slot).</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88–89.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102</a:t>
            </a:r>
          </a:p>
        </p:txBody>
      </p:sp>
    </p:spTree>
    <p:extLst>
      <p:ext uri="{BB962C8B-B14F-4D97-AF65-F5344CB8AC3E}">
        <p14:creationId xmlns:p14="http://schemas.microsoft.com/office/powerpoint/2010/main" val="996966470"/>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103</a:t>
            </a:r>
          </a:p>
        </p:txBody>
      </p:sp>
    </p:spTree>
    <p:extLst>
      <p:ext uri="{BB962C8B-B14F-4D97-AF65-F5344CB8AC3E}">
        <p14:creationId xmlns:p14="http://schemas.microsoft.com/office/powerpoint/2010/main" val="26124946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