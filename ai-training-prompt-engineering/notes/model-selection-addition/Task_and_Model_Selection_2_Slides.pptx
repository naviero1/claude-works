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affd7833da4861" /><Relationship Type="http://schemas.openxmlformats.org/officeDocument/2006/relationships/extended-properties" Target="/docProps/app.xml" Id="R8b19b85d083e4781" /><Relationship Type="http://schemas.openxmlformats.org/officeDocument/2006/relationships/officeDocument" Target="/ppt/presentation.xml" Id="R5c00d3f15df541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1c6d434a0a4e97"/>
  </p:sldMasterIdLst>
  <p:notesMasterIdLst>
    <p:notesMasterId xmlns:r="http://schemas.openxmlformats.org/officeDocument/2006/relationships" r:id="R819cc2fc039a4e3c"/>
  </p:notesMasterIdLst>
  <p:sldIdLst>
    <p:sldId xmlns:r="http://schemas.openxmlformats.org/officeDocument/2006/relationships" id="256" r:id="Rc7545397a4224d28"/>
    <p:sldId xmlns:r="http://schemas.openxmlformats.org/officeDocument/2006/relationships" id="257" r:id="R27ade942b075486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c7354f69a44aed" /><Relationship Type="http://schemas.openxmlformats.org/officeDocument/2006/relationships/slideMaster" Target="/ppt/slideMasters/slideMaster1.xml" Id="R8a1c6d434a0a4e97" /><Relationship Type="http://schemas.openxmlformats.org/officeDocument/2006/relationships/notesMaster" Target="/ppt/notesMasters/notesMaster1.xml" Id="R819cc2fc039a4e3c" /><Relationship Type="http://schemas.openxmlformats.org/officeDocument/2006/relationships/presProps" Target="/ppt/presProps.xml" Id="R77a68576840342c6" /><Relationship Type="http://schemas.openxmlformats.org/officeDocument/2006/relationships/tableStyles" Target="/ppt/tableStyles.xml" Id="R557eadaec01642a7" /><Relationship Type="http://schemas.openxmlformats.org/officeDocument/2006/relationships/slide" Target="/ppt/slides/slide1.xml" Id="Rc7545397a4224d28" /><Relationship Type="http://schemas.openxmlformats.org/officeDocument/2006/relationships/slide" Target="/ppt/slides/slide2.xml" Id="R27ade942b07548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158fe8685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ce5dba2a848ca" /><Relationship Type="http://schemas.openxmlformats.org/officeDocument/2006/relationships/notesMaster" Target="/ppt/notesMasters/notesMaster1.xml" Id="R5602518353f446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6080d437d64a45" /><Relationship Type="http://schemas.openxmlformats.org/officeDocument/2006/relationships/notesMaster" Target="/ppt/notesMasters/notesMaster1.xml" Id="R6ae5423988a14d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explanation:</a:t>
            </a:r>
          </a:p>
          <a:p xmlns:a="http://schemas.openxmlformats.org/drawingml/2006/main">
            <a:r>
              <a:t>The horizontal dimension is reasoning difficulty: ambiguity, dependent steps and conflicting evidence. The vertical dimension is volume: the number of items or amount of material. They are conceptual categories, not measured numeric axes. A large task can consist of many easy independent actions, while one short question can require difficult reasoning.</a:t>
            </a:r>
          </a:p>
          <a:p xmlns:a="http://schemas.openxmlformats.org/drawingml/2006/main">
            <a:r>
              <a:t>Model capability means the range and difficulty of problems the model can solve. Reasoning effort is the inference-time computation spent on a request. Processing capacity covers distinct operational limits: context per request and throughput across requests. Throughput depends on the serving system, concurrency and account limits as well as the model. Context-window size alone does not establish reasoning quality.</a:t>
            </a:r>
          </a:p>
          <a:p xmlns:a="http://schemas.openxmlformats.org/drawingml/2006/main">
            <a:r>
              <a:t>The example counts are illustrative. Batching applies to separable work, and a staged workflow should preserve dependencies and source evidence. Error consequences can justify stronger review at any level of volume or complexity.</a:t>
            </a:r>
          </a:p>
          <a:p xmlns:a="http://schemas.openxmlformats.org/drawingml/2006/main">
            <a:r>
              <a:t>Do not add seconds and token counts directly. Measure quality against required checks, then compare time to an acceptable result and total consumption separately, or normalize them before combining.</a:t>
            </a:r>
          </a:p>
          <a:p xmlns:a="http://schemas.openxmlformats.org/drawingml/2006/main">
            <a:r>
              <a:t>Sources checked September 17, 2026:</a:t>
            </a:r>
          </a:p>
          <a:p xmlns:a="http://schemas.openxmlformats.org/drawingml/2006/main">
            <a:r>
              <a:t>OpenAI model catalog: https://developers.openai.com/api/docs/models</a:t>
            </a:r>
          </a:p>
          <a:p xmlns:a="http://schemas.openxmlformats.org/drawingml/2006/main">
            <a:r>
              <a:t>Anthropic model overview: https://platform.claude.com/docs/en/models/overview</a:t>
            </a:r>
          </a:p>
          <a:p xmlns:a="http://schemas.openxmlformats.org/drawingml/2006/main">
            <a:r>
              <a:t>Google model catalog: https://ai.google.dev/gemini-api/docs/models</a:t>
            </a:r>
          </a:p>
          <a:p xmlns:a="http://schemas.openxmlformats.org/drawingml/2006/main">
            <a:r>
              <a:t>Google Flash 3.8: https://ai.google.dev/gemini-api/docs/models/gemini-3.8-flash</a:t>
            </a:r>
          </a:p>
          <a:p xmlns:a="http://schemas.openxmlformats.org/drawingml/2006/main">
            <a:r>
              <a:t>Google Pro 3.1 preview: https://ai.google.dev/gemini-api/docs/models/gemini-3.1-pro-preview</a:t>
            </a:r>
          </a:p>
          <a:p xmlns:a="http://schemas.openxmlformats.org/drawingml/2006/main">
            <a:r>
              <a:t>Google Flash-Lite 3.5: https://ai.google.dev/gemini-api/docs/models/gemini-3.5-flash-lite</a:t>
            </a:r>
          </a:p>
          <a:p xmlns:a="http://schemas.openxmlformats.org/drawingml/2006/main">
            <a:r>
              <a:t>Selection principle: https://developers.openai.com/api/docs/guides/model-selection</a:t>
            </a:r>
          </a:p>
          <a:p xmlns:a="http://schemas.openxmlformats.org/drawingml/2006/main">
            <a:r>
              <a:t>Reasoning effort and token accounting: https://developers.openai.com/api/docs/guides/reasoning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slide after the concept slide. These four bands are an instructional synthesis and recommended starting choices, not a cross-vendor benchmark or a claim about parameter counts. Actual speed depends on reasoning effort, input size, output length, tool use, service load, and retries. Sol is a capable professional model; placing it below Astra does not make it a small model. Anthropic describes Haiku 4.5 as fastest, Sonnet 5 as fast, Opus 5 as moderate, and Fable 5.1 as slower within its own lineup. Google Flash 3.8 supports complex workflows as well as everyday work, so it spans bands. Google Pro 3.1 is a preview reasoning candidate; the slide does not rank it above Flash 3.8. Model availability varies by product and plan.</a:t>
            </a:r>
          </a:p>
          <a:p xmlns:a="http://schemas.openxmlformats.org/drawingml/2006/main">
            <a:r>
              <a:t>OpenAI short names denote model families: Luna, Terra and Sol version 5.6, and Astra version 6. The model prefix GPT (Generative Pre-trained Transformer) is omitted in the table to keep labels readable.</a:t>
            </a:r>
          </a:p>
          <a:p xmlns:a="http://schemas.openxmlformats.org/drawingml/2006/main">
            <a:r>
              <a:t>Escalate when validation fails, ambiguity remains, or mistakes have costly consequences. For a spreadsheet, check formulas and recalculate with known test cases. For a deck, inspect rendered slides and verify required content. For email summaries, verify owners, dates and commitments against source messages. A difficult task can also need better evidence or specialist tools.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Examples are illustrative task recommendations based on the documented model roles. They are not measured task-specific performance results. Classify a specific request by ambiguity, dependencies and error cost, rather than by the file type alone. Routine does not mean unimportant.</a:t>
            </a:r>
          </a:p>
          <a:p xmlns:a="http://schemas.openxmlformats.org/drawingml/2006/main">
            <a:r>
              <a:t>For presentations, use stronger reasoning for learning objectives and sequence, then a economical model for bounded template edits. For spreadsheets, prioritize assumption logic and executable calculation tests. For emails, distinguish direct extraction from resolving contradictions across messages.</a:t>
            </a:r>
          </a:p>
          <a:p xmlns:a="http://schemas.openxmlformats.org/drawingml/2006/main">
            <a:r>
              <a:t>Sources checked September 17, 2026:</a:t>
            </a:r>
          </a:p>
          <a:p xmlns:a="http://schemas.openxmlformats.org/drawingml/2006/main">
            <a:r>
              <a:t>OpenAI model catalog: https://developers.openai.com/api/docs/models</a:t>
            </a:r>
          </a:p>
          <a:p xmlns:a="http://schemas.openxmlformats.org/drawingml/2006/main">
            <a:r>
              <a:t>Anthropic model overview: https://platform.claude.com/docs/en/models/overview</a:t>
            </a:r>
          </a:p>
          <a:p xmlns:a="http://schemas.openxmlformats.org/drawingml/2006/main">
            <a:r>
              <a:t>Google model catalog: https://ai.google.dev/gemini-api/docs/models</a:t>
            </a:r>
          </a:p>
          <a:p xmlns:a="http://schemas.openxmlformats.org/drawingml/2006/main">
            <a:r>
              <a:t>Google Flash 3.8: https://ai.google.dev/gemini-api/docs/models/gemini-3.8-flash</a:t>
            </a:r>
          </a:p>
          <a:p xmlns:a="http://schemas.openxmlformats.org/drawingml/2006/main">
            <a:r>
              <a:t>Google Pro 3.1 preview: https://ai.google.dev/gemini-api/docs/models/gemini-3.1-pro-preview</a:t>
            </a:r>
          </a:p>
          <a:p xmlns:a="http://schemas.openxmlformats.org/drawingml/2006/main">
            <a:r>
              <a:t>Google Flash-Lite 3.5: https://ai.google.dev/gemini-api/docs/models/gemini-3.5-flash-lite</a:t>
            </a:r>
          </a:p>
          <a:p xmlns:a="http://schemas.openxmlformats.org/drawingml/2006/main">
            <a:r>
              <a:t>Selection principle: https://developers.openai.com/api/docs/guides/model-selection</a:t>
            </a:r>
          </a:p>
          <a:p xmlns:a="http://schemas.openxmlformats.org/drawingml/2006/main">
            <a:r>
              <a:t>Reasoning effort and token accounting: https://developers.openai.com/api/docs/guides/reasoning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79482e178f42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4bd91f87a044d7" /><Relationship Type="http://schemas.openxmlformats.org/officeDocument/2006/relationships/slideLayout" Target="/ppt/slideLayouts/slideLayout1.xml" Id="Rf0c1f2987fcf4c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c1f2987fcf4c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6e76fec4e4bdf" /><Relationship Type="http://schemas.openxmlformats.org/officeDocument/2006/relationships/notesSlide" Target="/ppt/notesSlides/notesSlide1.xml" Id="R54051452238c44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9f978c22246ee" /><Relationship Type="http://schemas.openxmlformats.org/officeDocument/2006/relationships/notesSlide" Target="/ppt/notesSlides/notesSlide2.xml" Id="R4a88774c961c40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F32EF2-5C76-4CCF-9CBB-FA96A442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386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202E35"/>
                </a:solidFill>
                <a:latin typeface="Nimbus Sans"/>
                <a:ea typeface="Nimbus Sans"/>
                <a:cs typeface="Nimbus Sans"/>
              </a:defRPr>
            </a:pPr>
            <a:r>
              <a:rPr sz="3525" b="1">
                <a:solidFill>
                  <a:srgbClr val="202E35"/>
                </a:solidFill>
                <a:latin typeface="Nimbus Sans"/>
                <a:ea typeface="Nimbus Sans"/>
                <a:cs typeface="Nimbus Sans"/>
              </a:rPr>
              <a:t>Task difficulty and processing capacity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BA5404B-47E0-4646-A7FF-51B3E16E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1383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36C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52636C"/>
                </a:solidFill>
                <a:latin typeface="Nimbus Sans"/>
                <a:ea typeface="Nimbus Sans"/>
                <a:cs typeface="Nimbus Sans"/>
              </a:rPr>
              <a:t>Model capability, reasoning effort and workload volume are separate choices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04850" y="2209800"/>
          <a:ext xmlns:a="http://schemas.openxmlformats.org/drawingml/2006/main" cx="9677400" cy="49720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3981450"/>
                <a:gridCol w="3981450"/>
              </a:tblGrid>
              <a:tr h="590550"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Workload volume</a:t>
                      </a:r>
                    </a:p>
                  </a:txBody>
                  <a:tcPr marL="91440" marR="91440" marT="45720" marB="45720" anchor="ctr">
                    <a:solidFill>
                      <a:srgbClr val="126D70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Clear rules / low reasoning</a:t>
                      </a:r>
                    </a:p>
                  </a:txBody>
                  <a:tcPr marL="91440" marR="91440" marT="45720" marB="45720" anchor="ctr">
                    <a:solidFill>
                      <a:srgbClr val="126D70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Ambiguity / high reasoning</a:t>
                      </a:r>
                    </a:p>
                  </a:txBody>
                  <a:tcPr marL="91440" marR="91440" marT="45720" marB="45720" anchor="ctr">
                    <a:solidFill>
                      <a:srgbClr val="126D70"/>
                    </a:solidFill>
                  </a:tcPr>
                </a:tc>
              </a:tr>
              <a:tr h="2190750"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Many items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500 routine email summaries</a:t>
                      </a:r>
                    </a:p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10,000 rows to classify</a:t>
                      </a:r>
                    </a:p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Fast model + batching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50 conflicting supplier threads</a:t>
                      </a:r>
                    </a:p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 linked production forecast</a:t>
                      </a:r>
                    </a:p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Strong model + staged work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190750"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Few items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Rewrite one email</a:t>
                      </a:r>
                    </a:p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Extract a date or owner</a:t>
                      </a:r>
                    </a:p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Fast model + low effort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Resolve conflicting requirements</a:t>
                      </a:r>
                    </a:p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Choose forecast assumptions</a:t>
                      </a:r>
                    </a:p>
                    <a:p>
                      <a:r>
                        <a:rPr sz="1950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/>
                      </a:r>
                    </a:p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Strong model + more reasoning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</a:tr>
            </a:tbl>
          </a:graphicData>
        </a:graphic>
      </p:graphicFrame>
      <p:sp>
        <p:nvSpPr>
          <p:cNvPr id="4" name="capability-heading">
            <a:extLst xmlns:a="http://schemas.openxmlformats.org/drawingml/2006/main">
              <a:ext uri="{FF2B5EF4-FFF2-40B4-BE49-F238E27FC236}">
                <a16:creationId xmlns:a16="http://schemas.microsoft.com/office/drawing/2014/main" id="{3EF1B28A-EE6B-4C88-AE8C-B74D5C8B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574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D7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26D70"/>
                </a:solidFill>
                <a:latin typeface="Nimbus Sans"/>
                <a:ea typeface="Nimbus Sans"/>
                <a:cs typeface="Nimbus Sans"/>
              </a:rPr>
              <a:t>MODEL CAPABILITY</a:t>
            </a:r>
          </a:p>
        </p:txBody>
      </p:sp>
      <p:sp>
        <p:nvSpPr>
          <p:cNvPr id="5" name="capability-definition">
            <a:extLst xmlns:a="http://schemas.openxmlformats.org/drawingml/2006/main">
              <a:ext uri="{FF2B5EF4-FFF2-40B4-BE49-F238E27FC236}">
                <a16:creationId xmlns:a16="http://schemas.microsoft.com/office/drawing/2014/main" id="{CACF656D-83B1-4C11-A423-C762C451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86050"/>
            <a:ext cx="36385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E35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202E35"/>
                </a:solidFill>
                <a:latin typeface="Nimbus Sans"/>
                <a:ea typeface="Nimbus Sans"/>
                <a:cs typeface="Nimbus Sans"/>
              </a:rPr>
              <a:t>What kinds of problems</a:t>
            </a:r>
          </a:p>
          <a:p xmlns:a="http://schemas.openxmlformats.org/drawingml/2006/main">
            <a:pPr>
              <a:defRPr sz="2100" b="0">
                <a:solidFill>
                  <a:srgbClr val="202E35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202E35"/>
                </a:solidFill>
                <a:latin typeface="Nimbus Sans"/>
                <a:ea typeface="Nimbus Sans"/>
                <a:cs typeface="Nimbus Sans"/>
              </a:rPr>
              <a:t>the model can solve</a:t>
            </a:r>
          </a:p>
        </p:txBody>
      </p:sp>
      <p:sp>
        <p:nvSpPr>
          <p:cNvPr id="6" name="effort-heading">
            <a:extLst xmlns:a="http://schemas.openxmlformats.org/drawingml/2006/main">
              <a:ext uri="{FF2B5EF4-FFF2-40B4-BE49-F238E27FC236}">
                <a16:creationId xmlns:a16="http://schemas.microsoft.com/office/drawing/2014/main" id="{84C5D65E-27C5-4B2E-868A-67F0BC2D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2427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D7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26D70"/>
                </a:solidFill>
                <a:latin typeface="Nimbus Sans"/>
                <a:ea typeface="Nimbus Sans"/>
                <a:cs typeface="Nimbus Sans"/>
              </a:rPr>
              <a:t>REASONING EFFORT</a:t>
            </a:r>
          </a:p>
        </p:txBody>
      </p:sp>
      <p:sp>
        <p:nvSpPr>
          <p:cNvPr id="7" name="effort-definition">
            <a:extLst xmlns:a="http://schemas.openxmlformats.org/drawingml/2006/main">
              <a:ext uri="{FF2B5EF4-FFF2-40B4-BE49-F238E27FC236}">
                <a16:creationId xmlns:a16="http://schemas.microsoft.com/office/drawing/2014/main" id="{31AA29CA-3FC6-4F6B-A034-88DAEF8A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152900"/>
            <a:ext cx="36385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E35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02E35"/>
                </a:solidFill>
                <a:latin typeface="Nimbus Sans"/>
                <a:ea typeface="Nimbus Sans"/>
                <a:cs typeface="Nimbus Sans"/>
              </a:rPr>
              <a:t>Computation spent on this task.</a:t>
            </a:r>
          </a:p>
          <a:p xmlns:a="http://schemas.openxmlformats.org/drawingml/2006/main">
            <a:pPr>
              <a:defRPr sz="2025" b="0">
                <a:solidFill>
                  <a:srgbClr val="202E35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202E35"/>
                </a:solidFill>
                <a:latin typeface="Nimbus Sans"/>
                <a:ea typeface="Nimbus Sans"/>
                <a:cs typeface="Nimbus Sans"/>
              </a:rPr>
              <a:t>More effort can add time and cost.</a:t>
            </a:r>
          </a:p>
        </p:txBody>
      </p:sp>
      <p:sp>
        <p:nvSpPr>
          <p:cNvPr id="8" name="processing-heading">
            <a:extLst xmlns:a="http://schemas.openxmlformats.org/drawingml/2006/main">
              <a:ext uri="{FF2B5EF4-FFF2-40B4-BE49-F238E27FC236}">
                <a16:creationId xmlns:a16="http://schemas.microsoft.com/office/drawing/2014/main" id="{4D4C4637-339F-4C45-8674-995486F6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3816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26D7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26D70"/>
                </a:solidFill>
                <a:latin typeface="Nimbus Sans"/>
                <a:ea typeface="Nimbus Sans"/>
                <a:cs typeface="Nimbus Sans"/>
              </a:rPr>
              <a:t>PROCESSING CAPACITY</a:t>
            </a:r>
          </a:p>
        </p:txBody>
      </p:sp>
      <p:sp>
        <p:nvSpPr>
          <p:cNvPr id="9" name="processing-definition">
            <a:extLst xmlns:a="http://schemas.openxmlformats.org/drawingml/2006/main">
              <a:ext uri="{FF2B5EF4-FFF2-40B4-BE49-F238E27FC236}">
                <a16:creationId xmlns:a16="http://schemas.microsoft.com/office/drawing/2014/main" id="{C4426DF8-4DC2-4596-A2D3-DB978471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810250"/>
            <a:ext cx="36766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E35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02E35"/>
                </a:solidFill>
                <a:latin typeface="Nimbus Sans"/>
                <a:ea typeface="Nimbus Sans"/>
                <a:cs typeface="Nimbus Sans"/>
              </a:rPr>
              <a:t>Context: information per request</a:t>
            </a:r>
          </a:p>
          <a:p xmlns:a="http://schemas.openxmlformats.org/drawingml/2006/main">
            <a:pPr>
              <a:defRPr sz="1950" b="0">
                <a:solidFill>
                  <a:srgbClr val="202E35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02E35"/>
                </a:solidFill>
                <a:latin typeface="Nimbus Sans"/>
                <a:ea typeface="Nimbus Sans"/>
                <a:cs typeface="Nimbus Sans"/>
              </a:rPr>
              <a:t>Throughput: work per minute</a:t>
            </a:r>
          </a:p>
          <a:p xmlns:a="http://schemas.openxmlformats.org/drawingml/2006/main">
            <a:pPr>
              <a:defRPr sz="1950" b="0">
                <a:solidFill>
                  <a:srgbClr val="202E35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202E35"/>
                </a:solidFill>
                <a:latin typeface="Nimbus Sans"/>
                <a:ea typeface="Nimbus Sans"/>
                <a:cs typeface="Nimbus Sans"/>
              </a:rPr>
              <a:t>Tools and batching also matter.</a:t>
            </a:r>
          </a:p>
        </p:txBody>
      </p:sp>
      <p:sp>
        <p:nvSpPr>
          <p:cNvPr id="10" name="principle">
            <a:extLst xmlns:a="http://schemas.openxmlformats.org/drawingml/2006/main">
              <a:ext uri="{FF2B5EF4-FFF2-40B4-BE49-F238E27FC236}">
                <a16:creationId xmlns:a16="http://schemas.microsoft.com/office/drawing/2014/main" id="{E20C5799-FF3F-4FD5-B6F7-8C14D390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543800"/>
            <a:ext cx="13830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6D7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26D70"/>
                </a:solidFill>
                <a:latin typeface="Nimbus Sans"/>
                <a:ea typeface="Nimbus Sans"/>
                <a:cs typeface="Nimbus Sans"/>
              </a:rPr>
              <a:t>Required quality first. Then minimize total time and cost, including rework.</a:t>
            </a:r>
          </a:p>
        </p:txBody>
      </p:sp>
      <p:sp>
        <p:nvSpPr>
          <p:cNvPr id="11" name="limits">
            <a:extLst xmlns:a="http://schemas.openxmlformats.org/drawingml/2006/main">
              <a:ext uri="{FF2B5EF4-FFF2-40B4-BE49-F238E27FC236}">
                <a16:creationId xmlns:a16="http://schemas.microsoft.com/office/drawing/2014/main" id="{E42FFCD4-8090-46C4-8B03-DDF9A964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096250"/>
            <a:ext cx="1383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36C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52636C"/>
                </a:solidFill>
                <a:latin typeface="Nimbus Sans"/>
                <a:ea typeface="Nimbus Sans"/>
                <a:cs typeface="Nimbus Sans"/>
              </a:rPr>
              <a:t>More workload raises processing demand. Higher stakes call for stronger verification.</a:t>
            </a:r>
          </a:p>
        </p:txBody>
      </p:sp>
    </p:spTree>
    <p:extLst>
      <p:ext uri="{BB962C8B-B14F-4D97-AF65-F5344CB8AC3E}">
        <p14:creationId xmlns:p14="http://schemas.microsoft.com/office/powerpoint/2010/main" val="970987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A227F0-A246-4E4F-AE47-7B740C82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386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202E35"/>
                </a:solidFill>
                <a:latin typeface="Nimbus Sans"/>
                <a:ea typeface="Nimbus Sans"/>
                <a:cs typeface="Nimbus Sans"/>
              </a:defRPr>
            </a:pPr>
            <a:r>
              <a:rPr sz="3525" b="1">
                <a:solidFill>
                  <a:srgbClr val="202E35"/>
                </a:solidFill>
                <a:latin typeface="Nimbus Sans"/>
                <a:ea typeface="Nimbus Sans"/>
                <a:cs typeface="Nimbus Sans"/>
              </a:rPr>
              <a:t>Model tiers and task examples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A64E26E-E509-4E4D-ACCD-99F8967E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13830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36C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52636C"/>
                </a:solidFill>
                <a:latin typeface="Nimbus Sans"/>
                <a:ea typeface="Nimbus Sans"/>
                <a:cs typeface="Nimbus Sans"/>
              </a:rPr>
              <a:t>Starting choices by vendor, from routine execution to demanding reasoning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04850" y="1762125"/>
          <a:ext xmlns:a="http://schemas.openxmlformats.org/drawingml/2006/main" cx="13830300" cy="5676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14550"/>
                <a:gridCol w="5238750"/>
                <a:gridCol w="1828800"/>
                <a:gridCol w="2047875"/>
                <a:gridCol w="2600325"/>
              </a:tblGrid>
              <a:tr h="647700"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Task band</a:t>
                      </a:r>
                    </a:p>
                  </a:txBody>
                  <a:tcPr marL="91440" marR="91440" marT="45720" marB="45720" anchor="ctr">
                    <a:solidFill>
                      <a:srgbClr val="126D70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Examples</a:t>
                      </a:r>
                    </a:p>
                  </a:txBody>
                  <a:tcPr marL="91440" marR="91440" marT="45720" marB="45720" anchor="ctr">
                    <a:solidFill>
                      <a:srgbClr val="126D70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OpenAI</a:t>
                      </a:r>
                    </a:p>
                  </a:txBody>
                  <a:tcPr marL="91440" marR="91440" marT="45720" marB="45720" anchor="ctr">
                    <a:solidFill>
                      <a:srgbClr val="126D70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Anthropic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Claude</a:t>
                      </a:r>
                    </a:p>
                  </a:txBody>
                  <a:tcPr marL="91440" marR="91440" marT="45720" marB="45720" anchor="ctr">
                    <a:solidFill>
                      <a:srgbClr val="126D70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Google</a:t>
                      </a:r>
                    </a:p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Gemini</a:t>
                      </a:r>
                    </a:p>
                  </a:txBody>
                  <a:tcPr marL="91440" marR="91440" marT="45720" marB="45720" anchor="ctr">
                    <a:solidFill>
                      <a:srgbClr val="126D70"/>
                    </a:solidFill>
                  </a:tcPr>
                </a:tc>
              </a:tr>
              <a:tr h="1257300"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  Routine</a:t>
                      </a:r>
                    </a:p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Usually fastest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Summarize email / extract dates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Translate or correct grammar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Format a known spreadsheet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Luna 5.6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Haiku 4.5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3.5 Flash-Lite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  Structured</a:t>
                      </a:r>
                    </a:p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Balanced effort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Draft slides from an outline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Compare quotes / build trackers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Write a small script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Terra 5.6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Sonnet 5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3.8 Flash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</a:tr>
              <a:tr h="1257300"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  Analytical</a:t>
                      </a:r>
                    </a:p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More reasoning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Design linked spreadsheet models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Reconcile threads / sequence slides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Diagnose recurring process failures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Sol 5.6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Opus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3.8 Flash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3.1 Pro (preview)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  Difficult</a:t>
                      </a:r>
                    </a:p>
                    <a:p>
                      <a:r>
                        <a:rPr sz="1950" b="1">
                          <a:solidFill>
                            <a:srgbClr val="126D70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Allow more time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Stress-test assumptions / audit decisions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Plan a complex system redesign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Resolve weak or conflicting evidence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Astra 6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95250" rIns="95250" bIns="95250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Fable 5.1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  <a:tc>
                  <a:txBody>
                    <a:bodyPr wrap="square" lIns="161925" tIns="104775" rIns="133350" bIns="1047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3.8 Flash</a:t>
                      </a:r>
                    </a:p>
                    <a:p>
                      <a:r>
                        <a:rPr sz="1875" b="0">
                          <a:solidFill>
                            <a:srgbClr val="202E35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3.1 Pro (preview)</a:t>
                      </a:r>
                    </a:p>
                  </a:txBody>
                  <a:tcPr marL="91440" marR="91440" marT="45720" marB="45720" anchor="ctr">
                    <a:solidFill>
                      <a:srgbClr val="EAF2F1"/>
                    </a:solidFill>
                  </a:tcPr>
                </a:tc>
              </a:tr>
            </a:tbl>
          </a:graphicData>
        </a:graphic>
      </p:graphicFrame>
      <p:sp>
        <p:nvSpPr>
          <p:cNvPr id="4" name="escalation-rule">
            <a:extLst xmlns:a="http://schemas.openxmlformats.org/drawingml/2006/main">
              <a:ext uri="{FF2B5EF4-FFF2-40B4-BE49-F238E27FC236}">
                <a16:creationId xmlns:a16="http://schemas.microsoft.com/office/drawing/2014/main" id="{7ABCC422-D6F2-4AC9-9E76-CDB6100D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6D70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26D70"/>
                </a:solidFill>
                <a:latin typeface="Nimbus Sans"/>
                <a:ea typeface="Nimbus Sans"/>
                <a:cs typeface="Nimbus Sans"/>
              </a:rPr>
              <a:t>Higher ambiguity or costly errors justify more reasoning and stronger checks.</a:t>
            </a:r>
          </a:p>
        </p:txBody>
      </p:sp>
      <p:sp>
        <p:nvSpPr>
          <p:cNvPr id="5" name="tier-disclosure">
            <a:extLst xmlns:a="http://schemas.openxmlformats.org/drawingml/2006/main">
              <a:ext uri="{FF2B5EF4-FFF2-40B4-BE49-F238E27FC236}">
                <a16:creationId xmlns:a16="http://schemas.microsoft.com/office/drawing/2014/main" id="{E8D26B7B-4B43-4199-949E-488263D5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43875"/>
            <a:ext cx="1383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36C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52636C"/>
                </a:solidFill>
                <a:latin typeface="Nimbus Sans"/>
                <a:ea typeface="Nimbus Sans"/>
                <a:cs typeface="Nimbus Sans"/>
              </a:rPr>
              <a:t>Use bands, not equal benchmark ranks. Google spans bands. Speed varies with effort, context and tools. 17 Sep 2026.</a:t>
            </a:r>
          </a:p>
        </p:txBody>
      </p:sp>
    </p:spTree>
    <p:extLst>
      <p:ext uri="{BB962C8B-B14F-4D97-AF65-F5344CB8AC3E}">
        <p14:creationId xmlns:p14="http://schemas.microsoft.com/office/powerpoint/2010/main" val="1483881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2026-09-17T22:24:18.3270000Z</dcterms:created>
  <dcterms:modified xsi:type="dcterms:W3CDTF">2026-09-17T22:24:18.3270000Z</dcterms:modified>
</coreProperties>
</file>