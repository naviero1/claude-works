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all three steps from tab EX1-TwoModes)
v1.12 (owner request): STEP 1 is new — it tells the AI this chat IS the course log and to remember every prompt, so the final Part 3 rep (“turn my log into a report”) works without setup. Say: “this one sentence is what makes your last exercise possible.”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seven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seven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
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v1.12 (owner edits, ported): evidence lines enlarged (his 14pt did not fit the fixed cards — set to the max that does, 11pt; caveats 10.5) and the “Fortes verified Sep 9, 2026 — they will move” footer removed from the slide: say it from point 5 instead.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“That’s the landscape. Part 3 — the craft itself.”
ACRONYMS —
PRC = People’s Republic of China. EU Data Boundary = Microsoft’s commitment to process EU data inside the EU.
AWS = Amazon Web Services. Entity List = the US federal trade-restriction list — a procurement red flag.
CONTENT —
v1.12 (owner edits, ported): the centered “same logo, different homes — the ACCOUNT TIER decides” line was removed from the slide — say it aloud instead when sweeping the panels; it remains the slide’s one-line lesson.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
3) RIGHT card: the same body written out — read it top to bottom as ONE continuous prompt (~90 words, under two minutes to write).
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
5) The amber line — owner-requested and worth saying twice: YOUR INDUSTRY IS CONTEXT. “We’re a mid-size electronics manufacturer” changes every answer downstream; people constantly assume the AI knows their world. It doesn’t until you say so.
6) Teal band: read the Out definition verbatim — it is the slide’s one formal definition.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(moved off-slide in v1.10 to make room for the Out definition; say it if useful): Google’s Oct 2024 Workspace guide found the most fruitful prompts averaged ~21 words with context — most people type fewer than nine (directional, not gospel).
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
5) At ACT/standardize, the Toyota phrase: standardized work — lock in the better way, then improve the standard (Part 6’s whole story). Anthropic’s golden rule, spoken: show your prompt to a colleague with minimal context — if they’d be confused, the model will be too.
BRIDGE —
“One clarification before the evidence — the two layers, on one worked prompt.”
ACRONYMS —
PDCA = Plan-Do-Check-Act — the Deming/Toyota improvement cycle, core of kaizen (continuous improvement).
gauge R&amp;R = Gauge Repeatability &amp; Reproducibility — a tested template kills prompt-to-prompt variation the way a calibrated gauge kills measurement variation.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mirror this framing (v1.8).
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et al., 2025; revised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the Field Guide’s compendium chapter (part 5) carries the WHY behind every line.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et al., 2025; revised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
v1.13 (owner request): the standalone playbook one-pager was RETIRED — its content merged into the Field Guide (part 5: the full works/myth/expired compendium with the why per line) and the cheat sheet (compact box). The PLAYBOOK workbook tab remains the sources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Frame the payoff: “your very first prompt today told the AI to remember everything — now you collect.” Both steps run in the SAME chat they have used all course (the course log).
2) STEP 1: the log lists every prompt it has seen, with what each taught. Let people scroll their own list — that quiet moment of “I did all that” is the point.
3) STEP 2: the one-page course report — seven elements with THEIR examples, the loop, and their three reuse prompts. Note the craft inside the prompt itself: it carries an Out (UNKNOWN, don’t invent) and a Stop (deliver, then stop) — the course’s own rules, applied to the course.
4) Neighbor compare: which three prompts made THEIR reuse list. Public commitment sticks.
5) Recovery (someone started a fresh chat mid-course, or their tool lost the thread): pair them with a neighbor’s log, or point at tab EX-Report — the numbered prompts are all there to rebuild from. The HANDOFF move from Part 1 is exactly the repair tool.
6) Skip only under extreme time pressure — this rep converts the course into an artifact they keep.
ACRONYMS —
none new on this slide.
CONTENT —
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
The report doubles as Part 6 setup: it is literally their first library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v1.15 (owner request): the hands-on version lives in workbook tab EX-Dashboard — four staged prompts on the workbook’s own Data tab (SHAPE as a plain-text gate → BUILD single-file offline → CHECK by reconciling + hand-recomputing one tile → REFINE one element), plus WHAT MAKES A KPI (decision · formula · target · level/trend/gap) and the 20-term dashboard vocabulary with ask-for-it-like-this phrasings. Point the room there for homework — say: “the vocabulary is the transferable part; it works in Power BI and Tableau conversations too.”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yet; the guardrails are the very next slide.
5) Footer: IDEs and browser agents exist — engineering/power-user territory, and browser agents are injection-prone (treat every page as untrusted input).
BRIDGE —
“Arms need supervision — five rules for delegating to any of them.”
ACRONYMS —
IDE = Integrated Development Environment — a programmer’s editor.
DIY = do-it-yourself. n8n / Zapier = product names (not acronyms).
CONTENT —
v1.12: slide MOVED from Part 2 to Part 5 (owner reorder, done by hand in his copy and ported to source): the agent names now land right after the mission-brief/A2 slides that teach how to brief them, and before standing memory.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
v1.12: this slide now lives in Part 5 — the usage-stats keepers that used to be spoken here moved to the trading-cards notes in Part 2, where they belong.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slideLayout" Target="../slideLayouts/slideLayout1.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jp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1.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image" Target="../media/image-50-7.png"/><Relationship Id="rId8" Type="http://schemas.openxmlformats.org/officeDocument/2006/relationships/image" Target="../media/image-50-8.png"/><Relationship Id="rId9" Type="http://schemas.openxmlformats.org/officeDocument/2006/relationships/slideLayout" Target="../slideLayouts/slideLayout1.xml"/><Relationship Id="rId1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jp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jp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914400"/>
          </a:xfrm>
          <a:prstGeom prst="roundRect">
            <a:avLst>
              <a:gd name="adj" fmla="val 8000"/>
            </a:avLst>
          </a:prstGeom>
          <a:solidFill>
            <a:srgbClr val="E4F0EF"/>
          </a:solidFill>
          <a:ln/>
        </p:spPr>
      </p:sp>
      <p:sp>
        <p:nvSpPr>
          <p:cNvPr id="8" name="Shape 6"/>
          <p:cNvSpPr/>
          <p:nvPr/>
        </p:nvSpPr>
        <p:spPr>
          <a:xfrm>
            <a:off x="667512" y="357530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675156"/>
            <a:ext cx="184343" cy="184343"/>
          </a:xfrm>
          <a:prstGeom prst="rect">
            <a:avLst/>
          </a:prstGeom>
        </p:spPr>
      </p:pic>
      <p:sp>
        <p:nvSpPr>
          <p:cNvPr id="10" name="Text 7"/>
          <p:cNvSpPr/>
          <p:nvPr/>
        </p:nvSpPr>
        <p:spPr>
          <a:xfrm>
            <a:off x="1216152" y="3383280"/>
            <a:ext cx="4636008" cy="76809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297680"/>
            <a:ext cx="5577840" cy="2176272"/>
          </a:xfrm>
          <a:prstGeom prst="roundRect">
            <a:avLst>
              <a:gd name="adj" fmla="val 3361"/>
            </a:avLst>
          </a:prstGeom>
          <a:solidFill>
            <a:srgbClr val="E4F0EF"/>
          </a:solidFill>
          <a:ln/>
        </p:spPr>
      </p:sp>
      <p:sp>
        <p:nvSpPr>
          <p:cNvPr id="12" name="Shape 9"/>
          <p:cNvSpPr/>
          <p:nvPr/>
        </p:nvSpPr>
        <p:spPr>
          <a:xfrm>
            <a:off x="649224" y="4416552"/>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511650"/>
            <a:ext cx="175565" cy="175565"/>
          </a:xfrm>
          <a:prstGeom prst="rect">
            <a:avLst/>
          </a:prstGeom>
        </p:spPr>
      </p:pic>
      <p:sp>
        <p:nvSpPr>
          <p:cNvPr id="14" name="Shape 10"/>
          <p:cNvSpPr/>
          <p:nvPr/>
        </p:nvSpPr>
        <p:spPr>
          <a:xfrm>
            <a:off x="1106424" y="4443984"/>
            <a:ext cx="1188720" cy="310896"/>
          </a:xfrm>
          <a:prstGeom prst="roundRect">
            <a:avLst>
              <a:gd name="adj" fmla="val 23529"/>
            </a:avLst>
          </a:prstGeom>
          <a:solidFill>
            <a:srgbClr val="0E7C7B"/>
          </a:solidFill>
          <a:ln/>
        </p:spPr>
      </p:sp>
      <p:sp>
        <p:nvSpPr>
          <p:cNvPr id="15" name="Text 11"/>
          <p:cNvSpPr/>
          <p:nvPr/>
        </p:nvSpPr>
        <p:spPr>
          <a:xfrm>
            <a:off x="1106424" y="44531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453128"/>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809744"/>
            <a:ext cx="5212080" cy="1298448"/>
          </a:xfrm>
          <a:prstGeom prst="rect">
            <a:avLst/>
          </a:prstGeom>
          <a:noFill/>
          <a:ln/>
        </p:spPr>
        <p:txBody>
          <a:bodyPr wrap="square" lIns="0" tIns="0" rIns="0" bIns="0" rtlCol="0" anchor="t"/>
          <a:lstStyle/>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“This chat is my course log for a prompting course. Remember every prompt I run — at the end I’ll ask for a report.”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the log becomes the final exercise.</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“First job: write a farewell card for a coworker.”</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generative mode — instant, guessing every unknown.</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3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“Now don’t write it — interview me first, then wait.”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00" i="1" dirty="0">
                <a:solidFill>
                  <a:srgbClr val="46545F"/>
                </a:solidFill>
                <a:latin typeface="Calibri" pitchFamily="34" charset="0"/>
                <a:ea typeface="Calibri" pitchFamily="34" charset="-122"/>
                <a:cs typeface="Calibri" pitchFamily="34" charset="-120"/>
              </a:rPr>
              <a:t>delegate mode’s seed — the questions come to YOU.</a:t>
            </a:r>
            <a:endParaRPr lang="en-US" sz="95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Field Guide — the elements + the works/myth/expired compendium</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flipV="1">
            <a:off x="3968496" y="2743200"/>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flipV="1">
            <a:off x="3968496" y="2743200"/>
            <a:ext cx="777240" cy="301752"/>
          </a:xfrm>
          <a:prstGeom prst="line">
            <a:avLst/>
          </a:prstGeom>
          <a:noFill/>
          <a:ln w="11430">
            <a:solidFill>
              <a:srgbClr val="DCE3E6"/>
            </a:solidFill>
            <a:prstDash val="solid"/>
          </a:ln>
        </p:spPr>
      </p:sp>
      <p:sp>
        <p:nvSpPr>
          <p:cNvPr id="32" name="Shape 28"/>
          <p:cNvSpPr/>
          <p:nvPr/>
        </p:nvSpPr>
        <p:spPr>
          <a:xfrm flipV="1">
            <a:off x="3968496" y="2944368"/>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flipV="1">
            <a:off x="4882896" y="2843784"/>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sp>
      <p:sp>
        <p:nvSpPr>
          <p:cNvPr id="16" name="Text 14"/>
          <p:cNvSpPr/>
          <p:nvPr/>
        </p:nvSpPr>
        <p:spPr>
          <a:xfrm>
            <a:off x="3931920" y="457504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sp>
      <p:sp>
        <p:nvSpPr>
          <p:cNvPr id="18" name="Text 16"/>
          <p:cNvSpPr/>
          <p:nvPr/>
        </p:nvSpPr>
        <p:spPr>
          <a:xfrm>
            <a:off x="3931920" y="370636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sp>
      <p:sp>
        <p:nvSpPr>
          <p:cNvPr id="20" name="Text 18"/>
          <p:cNvSpPr/>
          <p:nvPr/>
        </p:nvSpPr>
        <p:spPr>
          <a:xfrm>
            <a:off x="3931920" y="283768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sp>
      <p:sp>
        <p:nvSpPr>
          <p:cNvPr id="22" name="Shape 20"/>
          <p:cNvSpPr/>
          <p:nvPr/>
        </p:nvSpPr>
        <p:spPr>
          <a:xfrm flipV="1">
            <a:off x="4370832" y="3716731"/>
            <a:ext cx="2036618" cy="1045312"/>
          </a:xfrm>
          <a:prstGeom prst="line">
            <a:avLst/>
          </a:prstGeom>
          <a:noFill/>
          <a:ln w="25400">
            <a:solidFill>
              <a:srgbClr val="0E7C7B"/>
            </a:solidFill>
            <a:prstDash val="solid"/>
          </a:ln>
        </p:spPr>
      </p:sp>
      <p:sp>
        <p:nvSpPr>
          <p:cNvPr id="23" name="Shape 21"/>
          <p:cNvSpPr/>
          <p:nvPr/>
        </p:nvSpPr>
        <p:spPr>
          <a:xfrm flipV="1">
            <a:off x="6407450" y="3076804"/>
            <a:ext cx="290945" cy="639928"/>
          </a:xfrm>
          <a:prstGeom prst="line">
            <a:avLst/>
          </a:prstGeom>
          <a:noFill/>
          <a:ln w="25400">
            <a:solidFill>
              <a:srgbClr val="0E7C7B"/>
            </a:solidFill>
            <a:prstDash val="solid"/>
          </a:ln>
        </p:spPr>
      </p:sp>
      <p:sp>
        <p:nvSpPr>
          <p:cNvPr id="24" name="Shape 22"/>
          <p:cNvSpPr/>
          <p:nvPr/>
        </p:nvSpPr>
        <p:spPr>
          <a:xfrm flipV="1">
            <a:off x="6698396" y="2546909"/>
            <a:ext cx="872836" cy="529895"/>
          </a:xfrm>
          <a:prstGeom prst="line">
            <a:avLst/>
          </a:prstGeom>
          <a:noFill/>
          <a:ln w="25400">
            <a:solidFill>
              <a:srgbClr val="0E7C7B"/>
            </a:solidFill>
            <a:prstDash val="solid"/>
          </a:ln>
        </p:spPr>
      </p:sp>
      <p:sp>
        <p:nvSpPr>
          <p:cNvPr id="25" name="Shape 23"/>
          <p:cNvSpPr/>
          <p:nvPr/>
        </p:nvSpPr>
        <p:spPr>
          <a:xfrm>
            <a:off x="4315968" y="4707179"/>
            <a:ext cx="109728" cy="109728"/>
          </a:xfrm>
          <a:prstGeom prst="ellipse">
            <a:avLst/>
          </a:prstGeom>
          <a:solidFill>
            <a:srgbClr val="0A5B5A"/>
          </a:solidFill>
          <a:ln/>
        </p:spPr>
      </p:sp>
      <p:sp>
        <p:nvSpPr>
          <p:cNvPr id="26" name="Text 24"/>
          <p:cNvSpPr/>
          <p:nvPr/>
        </p:nvSpPr>
        <p:spPr>
          <a:xfrm>
            <a:off x="4462272" y="4506011"/>
            <a:ext cx="914400" cy="201168"/>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sp>
      <p:sp>
        <p:nvSpPr>
          <p:cNvPr id="28" name="Text 26"/>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sp>
      <p:sp>
        <p:nvSpPr>
          <p:cNvPr id="30" name="Text 28"/>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sp>
      <p:sp>
        <p:nvSpPr>
          <p:cNvPr id="32" name="Text 30"/>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2000"/>
              </a:lnSpc>
              <a:buNone/>
            </a:pP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indent="0" marL="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sp>
      <p:sp>
        <p:nvSpPr>
          <p:cNvPr id="38" name="Text 36"/>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sp>
      <p:pic>
        <p:nvPicPr>
          <p:cNvPr id="40"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sp>
      <p:pic>
        <p:nvPicPr>
          <p:cNvPr id="43"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sp>
      <p:pic>
        <p:nvPicPr>
          <p:cNvPr id="46"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51"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high-school student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400" dirty="0"/>
          </a:p>
          <a:p>
            <a:pPr algn="l" marL="127000" indent="-127000">
              <a:lnSpc>
                <a:spcPct val="104000"/>
              </a:lnSpc>
              <a:spcAft>
                <a:spcPts val="700"/>
              </a:spcAft>
              <a:buSzPct val="100000"/>
              <a:buChar char="•"/>
            </a:pPr>
            <a:r>
              <a:rPr lang="en-US" sz="14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4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algn="l" marL="127000" indent="-127000">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sp>
      <p:sp>
        <p:nvSpPr>
          <p:cNvPr id="23" name="Shape 17"/>
          <p:cNvSpPr/>
          <p:nvPr/>
        </p:nvSpPr>
        <p:spPr>
          <a:xfrm>
            <a:off x="667512" y="4690872"/>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sp>
      <p:sp>
        <p:nvSpPr>
          <p:cNvPr id="27" name="Shape 20"/>
          <p:cNvSpPr/>
          <p:nvPr/>
        </p:nvSpPr>
        <p:spPr>
          <a:xfrm>
            <a:off x="667512" y="5312664"/>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sp>
      <p:sp>
        <p:nvSpPr>
          <p:cNvPr id="31" name="Shape 23"/>
          <p:cNvSpPr/>
          <p:nvPr/>
        </p:nvSpPr>
        <p:spPr>
          <a:xfrm>
            <a:off x="667512" y="5934456"/>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Shape 34"/>
          <p:cNvSpPr/>
          <p:nvPr/>
        </p:nvSpPr>
        <p:spPr>
          <a:xfrm>
            <a:off x="502920" y="5440680"/>
            <a:ext cx="5486400" cy="1051560"/>
          </a:xfrm>
          <a:prstGeom prst="roundRect">
            <a:avLst>
              <a:gd name="adj" fmla="val 6957"/>
            </a:avLst>
          </a:prstGeom>
          <a:solidFill>
            <a:srgbClr val="E4F0EF"/>
          </a:solidFill>
          <a:ln/>
        </p:spPr>
      </p:sp>
      <p:sp>
        <p:nvSpPr>
          <p:cNvPr id="48" name="Text 35"/>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49" name="Shape 36"/>
          <p:cNvSpPr/>
          <p:nvPr/>
        </p:nvSpPr>
        <p:spPr>
          <a:xfrm>
            <a:off x="6172200" y="5440680"/>
            <a:ext cx="5486400" cy="1051560"/>
          </a:xfrm>
          <a:prstGeom prst="roundRect">
            <a:avLst>
              <a:gd name="adj" fmla="val 6957"/>
            </a:avLst>
          </a:prstGeom>
          <a:solidFill>
            <a:srgbClr val="FBF0E0"/>
          </a:solidFill>
          <a:ln/>
        </p:spPr>
      </p:sp>
      <p:sp>
        <p:nvSpPr>
          <p:cNvPr id="50" name="Text 37"/>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20</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one improvement loop — and for every method: what it buys you, and the evidence behind it.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“Anything the report doesn’t state: write UNKNOWN — never estimate. List the gaps at the end.”</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shield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Out, defined: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escape route for missing information — name the honest move (write UNKNOWN · never estimate · list the gaps), so the model never has to choose between obeying you and being honest.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 revised 2026)</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escape route for missing information — condition · honest move · surfacing</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UNKNOWN with the gaps listed —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model is trained to always produce an answer; unless you specify the honest move, inventing is the only way to obey you.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“Anything the document doesn’t state: write UNKNOWN — never estimate. List the gaps at the end.”</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draft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inspect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 the symptom→element grid, tab EX-Report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refine, then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5980176"/>
            <a:ext cx="11155680" cy="493776"/>
          </a:xfrm>
          <a:prstGeom prst="roundRect">
            <a:avLst>
              <a:gd name="adj" fmla="val 14815"/>
            </a:avLst>
          </a:prstGeom>
          <a:solidFill>
            <a:srgbClr val="FBF0E0"/>
          </a:solidFill>
          <a:ln/>
        </p:spPr>
      </p:sp>
      <p:sp>
        <p:nvSpPr>
          <p:cNvPr id="35" name="Shape 33"/>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sp>
      <p:pic>
        <p:nvPicPr>
          <p:cNvPr id="36" name="Image 0" descr="/home/user/Claude-Works/ai-training-prompt-engineering/src/assets/logos/toyota.png">    </p:cNvPr>
          <p:cNvPicPr>
            <a:picLocks noChangeAspect="1"/>
          </p:cNvPicPr>
          <p:nvPr/>
        </p:nvPicPr>
        <p:blipFill>
          <a:blip r:embed="rId1"/>
          <a:stretch>
            <a:fillRect/>
          </a:stretch>
        </p:blipFill>
        <p:spPr>
          <a:xfrm>
            <a:off x="707014" y="6101974"/>
            <a:ext cx="250180" cy="250180"/>
          </a:xfrm>
          <a:prstGeom prst="rect">
            <a:avLst/>
          </a:prstGeom>
        </p:spPr>
      </p:pic>
      <p:sp>
        <p:nvSpPr>
          <p:cNvPr id="37" name="Text 34"/>
          <p:cNvSpPr/>
          <p:nvPr/>
        </p:nvSpPr>
        <p:spPr>
          <a:xfrm>
            <a:off x="1115568" y="6016752"/>
            <a:ext cx="7589520" cy="420624"/>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This is PDCA — the Deming/Toyota improvement cycle, applied to prompts.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Lean Enterprise Institute now teaches “Prompt-Do-Check-Act.” Every phase is delegable — the white lines show how; the methods keep you in charge.</a:t>
            </a:r>
            <a:endParaRPr lang="en-US" sz="1000" dirty="0"/>
          </a:p>
        </p:txBody>
      </p:sp>
      <p:pic>
        <p:nvPicPr>
          <p:cNvPr id="38" name="Image 1" descr="/home/user/Claude-Works/ai-training-prompt-engineering/src/assets/images/deming_portrait.jpg">    </p:cNvPr>
          <p:cNvPicPr>
            <a:picLocks noChangeAspect="1"/>
          </p:cNvPicPr>
          <p:nvPr/>
        </p:nvPicPr>
        <p:blipFill>
          <a:blip r:embed="rId2"/>
          <a:srcRect l="0" r="0" t="0" b="0"/>
          <a:stretch/>
        </p:blipFill>
        <p:spPr>
          <a:xfrm>
            <a:off x="8887968" y="6035040"/>
            <a:ext cx="384048" cy="384048"/>
          </a:xfrm>
          <a:prstGeom prst="rect">
            <a:avLst/>
          </a:prstGeom>
        </p:spPr>
      </p:pic>
      <p:sp>
        <p:nvSpPr>
          <p:cNvPr id="39" name="Shape 35"/>
          <p:cNvSpPr/>
          <p:nvPr/>
        </p:nvSpPr>
        <p:spPr>
          <a:xfrm>
            <a:off x="8887968" y="6035040"/>
            <a:ext cx="384048" cy="384048"/>
          </a:xfrm>
          <a:prstGeom prst="roundRect">
            <a:avLst>
              <a:gd name="adj" fmla="val 9524"/>
            </a:avLst>
          </a:prstGeom>
          <a:ln w="6350">
            <a:solidFill>
              <a:srgbClr val="DCE3E6"/>
            </a:solidFill>
            <a:prstDash val="solid"/>
          </a:ln>
        </p:spPr>
      </p:sp>
      <p:sp>
        <p:nvSpPr>
          <p:cNvPr id="40" name="Text 36"/>
          <p:cNvSpPr/>
          <p:nvPr/>
        </p:nvSpPr>
        <p:spPr>
          <a:xfrm>
            <a:off x="9345168" y="6035040"/>
            <a:ext cx="2194560" cy="384048"/>
          </a:xfrm>
          <a:prstGeom prst="rect">
            <a:avLst/>
          </a:prstGeom>
          <a:noFill/>
          <a:ln/>
        </p:spPr>
        <p:txBody>
          <a:bodyPr wrap="square" lIns="0" tIns="0" rIns="0" bIns="0" rtlCol="0" anchor="ctr"/>
          <a:lstStyle/>
          <a:p>
            <a:pPr indent="0" marL="0">
              <a:buNone/>
            </a:pPr>
            <a:r>
              <a:rPr lang="en-US" sz="850" b="1" dirty="0">
                <a:solidFill>
                  <a:srgbClr val="232A31"/>
                </a:solidFill>
                <a:latin typeface="Calibri" pitchFamily="34" charset="0"/>
                <a:ea typeface="Calibri" pitchFamily="34" charset="-122"/>
                <a:cs typeface="Calibri" pitchFamily="34" charset="-120"/>
              </a:rPr>
              <a:t>W. EDWARDS DEMING</a:t>
            </a:r>
            <a:pPr indent="0" marL="0">
              <a:buNone/>
            </a:pPr>
            <a:r>
              <a:rPr lang="en-US" sz="800" i="1" dirty="0">
                <a:solidFill>
                  <a:srgbClr val="46545F"/>
                </a:solidFill>
                <a:latin typeface="Calibri" pitchFamily="34" charset="0"/>
                <a:ea typeface="Calibri" pitchFamily="34" charset="-122"/>
                <a:cs typeface="Calibri" pitchFamily="34" charset="-120"/>
              </a:rPr>
              <a:t> · 1900–1993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sp>
      <p:sp>
        <p:nvSpPr>
          <p:cNvPr id="31" name="Shape 29"/>
          <p:cNvSpPr/>
          <p:nvPr/>
        </p:nvSpPr>
        <p:spPr>
          <a:xfrm>
            <a:off x="667512" y="43159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2"/>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and your Field Guide explains the WHY behind every line. Notice column 1, rule 4 IS column 2, rule 3 said positively: say what TO do.</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sp>
      <p:sp>
        <p:nvSpPr>
          <p:cNvPr id="12" name="Text 9"/>
          <p:cNvSpPr/>
          <p:nvPr/>
        </p:nvSpPr>
        <p:spPr>
          <a:xfrm>
            <a:off x="749808" y="3502152"/>
            <a:ext cx="5541264" cy="155448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sp>
      <p:sp>
        <p:nvSpPr>
          <p:cNvPr id="14" name="Text 11"/>
          <p:cNvSpPr/>
          <p:nvPr/>
        </p:nvSpPr>
        <p:spPr>
          <a:xfrm>
            <a:off x="777240" y="5385816"/>
            <a:ext cx="5486400" cy="630936"/>
          </a:xfrm>
          <a:prstGeom prst="rect">
            <a:avLst/>
          </a:prstGeom>
          <a:noFill/>
          <a:ln/>
        </p:spPr>
        <p:txBody>
          <a:bodyPr wrap="square" lIns="0" tIns="0" rIns="0" bIns="0" rtlCol="0" anchor="ctr"/>
          <a:lstStyle/>
          <a:p>
            <a:pPr indent="0" marL="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indent="0" marL="0">
              <a:lnSpc>
                <a:spcPct val="110000"/>
              </a:lnSpc>
              <a:buNone/>
            </a:pP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and narrate the prompt. Build it yourself later: tab EX-Dashboard — shape → build → check → refine, plus the dashboard vocabulary.</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in Copilot that means Pages, not plain chat. No access? Hand the same spec to IT — or ask for the Excel version.</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AGENT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next slide.</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2026-09-17T02:32:18Z</dcterms:created>
  <dcterms:modified xsi:type="dcterms:W3CDTF">2026-09-17T02:32:18Z</dcterms:modified>
</cp:coreProperties>
</file>