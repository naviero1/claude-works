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A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Alpha Components</c:v>
                  </c:pt>
                  <c:pt idx="1">
                    <c:v>Cardinal Metals</c:v>
                  </c:pt>
                  <c:pt idx="2">
                    <c:v>Bravo Plastics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0.099</c:v>
                </c:pt>
                <c:pt idx="1">
                  <c:v>0.129</c:v>
                </c:pt>
                <c:pt idx="2">
                  <c:v>0.349</c:v>
                </c:pt>
              </c:numCache>
            </c:numRef>
          </c:val>
        </c:ser>
        <c:dLbls>
          <c:numFmt formatCode="0.0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32A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A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3E6"/>
              </a:solidFill>
              <a:prstDash val="solid"/>
              <a:round/>
            </a:ln>
          </c:spPr>
        </c:majorGridlines>
        <c:numFmt formatCode="0.0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4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Bravo Plastics monthly return rate (%)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2025-09</c:v>
                  </c:pt>
                  <c:pt idx="1">
                    <c:v>2025-10</c:v>
                  </c:pt>
                  <c:pt idx="2">
                    <c:v>2025-11</c:v>
                  </c:pt>
                  <c:pt idx="3">
                    <c:v>2025-12</c:v>
                  </c:pt>
                  <c:pt idx="4">
                    <c:v>2026-01</c:v>
                  </c:pt>
                  <c:pt idx="5">
                    <c:v>2026-02</c:v>
                  </c:pt>
                  <c:pt idx="6">
                    <c:v>2026-03</c:v>
                  </c:pt>
                  <c:pt idx="7">
                    <c:v>2026-04</c:v>
                  </c:pt>
                  <c:pt idx="8">
                    <c:v>2026-05</c:v>
                  </c:pt>
                  <c:pt idx="9">
                    <c:v>2026-06</c:v>
                  </c:pt>
                  <c:pt idx="10">
                    <c:v>2026-07</c:v>
                  </c:pt>
                  <c:pt idx="11">
                    <c:v>2026-08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0.343</c:v>
                </c:pt>
                <c:pt idx="1">
                  <c:v>0.329</c:v>
                </c:pt>
                <c:pt idx="2">
                  <c:v>0.176</c:v>
                </c:pt>
                <c:pt idx="3">
                  <c:v>0.245</c:v>
                </c:pt>
                <c:pt idx="4">
                  <c:v>0.462</c:v>
                </c:pt>
                <c:pt idx="5">
                  <c:v>0.456</c:v>
                </c:pt>
                <c:pt idx="6">
                  <c:v>0.208</c:v>
                </c:pt>
                <c:pt idx="7">
                  <c:v>0.737</c:v>
                </c:pt>
                <c:pt idx="8">
                  <c:v>0.469</c:v>
                </c:pt>
                <c:pt idx="9">
                  <c:v>0.14</c:v>
                </c:pt>
                <c:pt idx="10">
                  <c:v>0.145</c:v>
                </c:pt>
                <c:pt idx="11">
                  <c:v>0.465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4654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CE3E6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4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frame the decision, not the data.
TALKING POINTS: one question, one period, one definition — every number later in the deck uses this same scope. The decision is only whether follow-up is warranted; this deck does not claim a cause.
TRANSITION: "First, the comparison."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comparison, on one honest scale.
TALKING POINTS: same scope for all three; totals over totals; near-equal volumes make the comparison fair. 432 total returns on 224,902 units (0.192% overall).
TRANSITION: "Is this recent, or persistent? The trend."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pattern over time, honestly framed.
TALKING POINTS: volatile, not trending down; the April peak and the August level both sit far above the other suppliers’ full-year rates. Do NOT claim seasonality or cause from 12 points.
TRANSITION: "What we propose to do about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keep findings and judgment visibly separate.
TALKING POINTS: left panel is what the workbook supports; right panel is our proposal. No cost claims, no committed savings — nothing here the data cannot back.
TRANSITION: "What this analysis cannot tell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earn trust by naming what the analysis cannot say.
TALKING POINTS: every limitation is also an instruction for the next analysis. End on the single decision requested.
TRANSITION: none — invite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investigate a supplier?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 has the highest return rate, and what should we investigate next?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(2025-09 to 2026-08) · 4 receiving sites · 3 suppliers · 144 delivery records.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= total units returned ÷ total units shipped, same scope for every comparison.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this deck supports: is a supplier follow-up warranted?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verified against Course_Workbook.xlsx · period 2025-09 to 2026-08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Bravo Plastics returns at almost 3× the rate of either other supplier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32588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F2F4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01000" y="15087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Plastics — 262 returns / 75,184 shipped = 0.349%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 Metals — 96 / 74,658 = 0.129%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Components — 74 / 75,060 = 0.099%
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rates are totals ÷ totals over the same 12 months and 4 sites — never an average of monthly percentages.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5720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volumes are nearly equal (75.1k / 74.7k / 75.1k units), so the rate gap is not a volume artifact.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verified against Course_Workbook.xlsx (144 detail rows) · period 2025-09 to 2026-08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Bravo’s return rate is elevated and volatile — no sign of steady improvement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589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371600"/>
            <a:ext cx="3154680" cy="4389120"/>
          </a:xfrm>
          <a:prstGeom prst="roundRect">
            <a:avLst>
              <a:gd name="adj" fmla="val 2319"/>
            </a:avLst>
          </a:prstGeom>
          <a:solidFill>
            <a:srgbClr val="F2F4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32520" y="1554480"/>
            <a:ext cx="2743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0.737% in April 2026 — about 7× Alpha’s full-year rate.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months exist (Jun–Jul 2026 near 0.14%), but the rate returns to elevated levels — most recently 0.465% in August.
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rates use that month’s own shipments as the denominator; small months move more.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verified against Course_Workbook.xlsx (144 detail rows) · period 2025-09 to 2026-08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follow-up: a focused quality review with Bravo Plastics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 (findings)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Bravo’s return rate (0.349%) is ~2.7× Cardinal’s and ~3.5× Alpha’s over the same 12 months and sites.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gap persists across the year and peaks in April 2026.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Bravo also drives 1,157 of 2,207 inspection defect occurrences — a separate measure, reported separately.
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50876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 (judgment)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Ask Bravo for a returns root-cause review on the highest-return months (Jan–Feb, Apr–May, Aug 2026).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Pull the return records behind those months for shared inspection.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Agree a target return rate and re-measure next quarter on the same definition.
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 an association, not a cause — the review is how we find the cause.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verified against Course_Workbook.xlsx (144 detail rows) · period 2025-09 to 2026-08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of this analysis — and the next checkpoints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causal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ranks suppliers; it does not explain the difference. Causes come from the proposed review, not this dataset.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58568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22576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counts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percentages exist per month, but delivery counts do not — so no true overall delivery rate is claimed anywhere in this deck.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91256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255264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value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inspection-hours record is missing (missing ≠ zero). It does not affect the return-rate figures.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123944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187952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measures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defects (caught internally) and customer returns (escaped) are never added together.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132588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0" y="155448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today: approve the Bravo review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 + date for the root-cause session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Re-run this analysis next quarter, same definitions, same scope
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training data · verified against Course_Workbook.xlsx (144 detail rows) · period 2025-09 to 2026-08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2026-09-16T23:06:07Z</dcterms:created>
  <dcterms:modified xsi:type="dcterms:W3CDTF">2026-09-16T23:06:07Z</dcterms:modified>
</cp:coreProperties>
</file>