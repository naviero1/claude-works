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ns0="http://schemas.openxmlformats.org/officeDocument/2006/relationships" id="364" ns0:id="rId115"/>
    <p:sldId xmlns:r="http://schemas.openxmlformats.org/officeDocument/2006/relationships" id="260" r:id="R2ea203b92871473d"/>
    <p:sldId xmlns:ns0="http://schemas.openxmlformats.org/officeDocument/2006/relationships" id="365" ns0:id="rId116"/>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7" r:id="R8f44df3f995741be"/>
    <p:sldId xmlns:r="http://schemas.openxmlformats.org/officeDocument/2006/relationships" id="270" r:id="R2e829fbd5b88413d"/>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r="http://schemas.openxmlformats.org/officeDocument/2006/relationships" id="271" r:id="R87625dd8e0984c06"/>
    <p:sldId xmlns:ns0="http://schemas.openxmlformats.org/officeDocument/2006/relationships" id="366" ns0:id="rId117"/>
    <p:sldId xmlns:ns0="http://schemas.openxmlformats.org/officeDocument/2006/relationships" id="367" ns0:id="rId109"/>
    <p:sldId xmlns:ns0="http://schemas.openxmlformats.org/officeDocument/2006/relationships" id="368" ns0:id="rId108"/>
    <p:sldId xmlns:r="http://schemas.openxmlformats.org/officeDocument/2006/relationships" id="273" r:id="R0c46244e8fb14028"/>
    <p:sldId xmlns:ns0="http://schemas.openxmlformats.org/officeDocument/2006/relationships" id="360" ns0:id="rId111"/>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ns0="http://schemas.openxmlformats.org/officeDocument/2006/relationships" id="369" ns0:id="rId118"/>
    <p:sldId xmlns:r="http://schemas.openxmlformats.org/officeDocument/2006/relationships" id="282" r:id="Rf617b4374eff49ab"/>
    <p:sldId xmlns:r="http://schemas.openxmlformats.org/officeDocument/2006/relationships" id="283" r:id="Rc1ab04196d404aed"/>
    <p:sldId xmlns:ns0="http://schemas.openxmlformats.org/officeDocument/2006/relationships" id="370" ns0:id="rId119"/>
    <p:sldId xmlns:ns0="http://schemas.openxmlformats.org/officeDocument/2006/relationships" id="371" ns0:id="rId120"/>
    <p:sldId xmlns:ns0="http://schemas.openxmlformats.org/officeDocument/2006/relationships" id="372" ns0:id="rId121"/>
    <p:sldId xmlns:ns0="http://schemas.openxmlformats.org/officeDocument/2006/relationships" id="373" ns0:id="rId122"/>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ns0="http://schemas.openxmlformats.org/officeDocument/2006/relationships" id="374" ns0:id="rId69"/>
    <p:sldId xmlns:ns0="http://schemas.openxmlformats.org/officeDocument/2006/relationships" id="375" ns0:id="rId70"/>
    <p:sldId xmlns:ns0="http://schemas.openxmlformats.org/officeDocument/2006/relationships" id="376" ns0:id="rId71"/>
    <p:sldId xmlns:ns0="http://schemas.openxmlformats.org/officeDocument/2006/relationships" id="377" ns0:id="rId72"/>
    <p:sldId xmlns:ns0="http://schemas.openxmlformats.org/officeDocument/2006/relationships" id="378" ns0:id="rId73"/>
    <p:sldId xmlns:ns0="http://schemas.openxmlformats.org/officeDocument/2006/relationships" id="379" ns0:id="rId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54.xml"/><Relationship Id="R05855d706bc045fe" Type="http://schemas.openxmlformats.org/officeDocument/2006/relationships/slide" Target="slides/slide58.xml"/><Relationship Id="R069238ad314e4c27" Type="http://schemas.openxmlformats.org/officeDocument/2006/relationships/slide" Target="slides/slide22.xml"/><Relationship Id="R0b89ffdaa91d419b" Type="http://schemas.openxmlformats.org/officeDocument/2006/relationships/notesMaster" Target="notesMasters/notesMaster1.xml"/><Relationship Id="R0c46244e8fb14028" Type="http://schemas.openxmlformats.org/officeDocument/2006/relationships/slide" Target="slides/slide20.xml"/><Relationship Id="R0c612231d0d14151" Type="http://schemas.openxmlformats.org/officeDocument/2006/relationships/slide" Target="slides/slide9.xml"/><Relationship Id="R186fa38805ad4cc8" Type="http://schemas.openxmlformats.org/officeDocument/2006/relationships/slide" Target="slides/slide44.xml"/><Relationship Id="R19fb9c5b0ac74759" Type="http://schemas.openxmlformats.org/officeDocument/2006/relationships/slide" Target="slides/slide41.xml"/><Relationship Id="R2e829fbd5b88413d" Type="http://schemas.openxmlformats.org/officeDocument/2006/relationships/slide" Target="slides/slide12.xml"/><Relationship Id="R2ea203b92871473d" Type="http://schemas.openxmlformats.org/officeDocument/2006/relationships/slide" Target="slides/slide5.xml"/><Relationship Id="R33a496a507fc4955" Type="http://schemas.openxmlformats.org/officeDocument/2006/relationships/slide" Target="slides/slide8.xml"/><Relationship Id="R458c038f106f42b3" Type="http://schemas.openxmlformats.org/officeDocument/2006/relationships/slide" Target="slides/slide24.xml"/><Relationship Id="R49126e58d84e4d17" Type="http://schemas.openxmlformats.org/officeDocument/2006/relationships/slide" Target="slides/slide2.xml"/><Relationship Id="R49c9e195f24045a4" Type="http://schemas.openxmlformats.org/officeDocument/2006/relationships/slide" Target="slides/slide10.xml"/><Relationship Id="R5aa8b9bfd01543b2" Type="http://schemas.openxmlformats.org/officeDocument/2006/relationships/slideMaster" Target="slideMasters/slideMaster1.xml"/><Relationship Id="R5d1c473c62ac4960" Type="http://schemas.openxmlformats.org/officeDocument/2006/relationships/slide" Target="slides/slide62.xml"/><Relationship Id="R620ac1dbc6f14e53" Type="http://schemas.openxmlformats.org/officeDocument/2006/relationships/slide" Target="slides/slide47.xml"/><Relationship Id="R64d1fcab01954a83" Type="http://schemas.openxmlformats.org/officeDocument/2006/relationships/slide" Target="slides/slide59.xml"/><Relationship Id="R6ae5b62127bb4a3e" Type="http://schemas.openxmlformats.org/officeDocument/2006/relationships/slide" Target="slides/slide27.xml"/><Relationship Id="R6c515ce50f4e4f7f" Type="http://schemas.openxmlformats.org/officeDocument/2006/relationships/tableStyles" Target="tableStyles.xml"/><Relationship Id="R6f9e6b8c5b6d4ef6" Type="http://schemas.openxmlformats.org/officeDocument/2006/relationships/slide" Target="slides/slide49.xml"/><Relationship Id="R72360af60b1244c5" Type="http://schemas.openxmlformats.org/officeDocument/2006/relationships/slide" Target="slides/slide37.xml"/><Relationship Id="R74a68a196bca4aa9" Type="http://schemas.openxmlformats.org/officeDocument/2006/relationships/slide" Target="slides/slide7.xml"/><Relationship Id="R774ece67fad84555" Type="http://schemas.openxmlformats.org/officeDocument/2006/relationships/slide" Target="slides/slide42.xml"/><Relationship Id="R807c75ee14994fe2" Type="http://schemas.openxmlformats.org/officeDocument/2006/relationships/slide" Target="slides/slide43.xml"/><Relationship Id="R823c328ecb794c2b" Type="http://schemas.openxmlformats.org/officeDocument/2006/relationships/slide" Target="slides/slide52.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53.xml"/><Relationship Id="R8f44df3f995741be" Type="http://schemas.openxmlformats.org/officeDocument/2006/relationships/slide" Target="slides/slide11.xml"/><Relationship Id="R8f9157d733974967" Type="http://schemas.openxmlformats.org/officeDocument/2006/relationships/slide" Target="slides/slide55.xml"/><Relationship Id="R927cd8835efb4ab0" Type="http://schemas.openxmlformats.org/officeDocument/2006/relationships/slide" Target="slides/slide28.xml"/><Relationship Id="R93d4d1d0de584694" Type="http://schemas.openxmlformats.org/officeDocument/2006/relationships/slide" Target="slides/slide39.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61.xml"/><Relationship Id="Rc19ca91603b2489c" Type="http://schemas.openxmlformats.org/officeDocument/2006/relationships/slide" Target="slides/slide48.xml"/><Relationship Id="Rc1ab04196d404aed" Type="http://schemas.openxmlformats.org/officeDocument/2006/relationships/slide" Target="slides/slide31.xml"/><Relationship Id="Rc38ef0b539dc41dd" Type="http://schemas.openxmlformats.org/officeDocument/2006/relationships/slide" Target="slides/slide51.xml"/><Relationship Id="Rc4414996e3934b5d" Type="http://schemas.openxmlformats.org/officeDocument/2006/relationships/slide" Target="slides/slide40.xml"/><Relationship Id="Rc8d585cd4e5649e6" Type="http://schemas.openxmlformats.org/officeDocument/2006/relationships/slide" Target="slides/slide36.xml"/><Relationship Id="Rd36e565f71ed490d" Type="http://schemas.openxmlformats.org/officeDocument/2006/relationships/presProps" Target="presProps.xml"/><Relationship Id="Rdb3d43f0242a4fac" Type="http://schemas.openxmlformats.org/officeDocument/2006/relationships/slide" Target="slides/slide38.xml"/><Relationship Id="Re16d95a845d14216" Type="http://schemas.openxmlformats.org/officeDocument/2006/relationships/slide" Target="slides/slide26.xml"/><Relationship Id="Re228b723b77d4a79" Type="http://schemas.openxmlformats.org/officeDocument/2006/relationships/slide" Target="slides/slide60.xml"/><Relationship Id="Re2e4afc3a8524f5b" Type="http://schemas.openxmlformats.org/officeDocument/2006/relationships/slide" Target="slides/slide50.xml"/><Relationship Id="Reb419e1bc7894222" Type="http://schemas.openxmlformats.org/officeDocument/2006/relationships/slide" Target="slides/slide56.xml"/><Relationship Id="Rf1f0b08a68ab460c" Type="http://schemas.openxmlformats.org/officeDocument/2006/relationships/slide" Target="slides/slide3.xml"/><Relationship Id="Rf55a94a8bf554d05" Type="http://schemas.openxmlformats.org/officeDocument/2006/relationships/slide" Target="slides/slide23.xml"/><Relationship Id="Rf617b4374eff49ab" Type="http://schemas.openxmlformats.org/officeDocument/2006/relationships/slide" Target="slides/slide30.xml"/><Relationship Id="Rf8ebba3d3d364e8e" Type="http://schemas.openxmlformats.org/officeDocument/2006/relationships/slide" Target="slides/slide57.xml"/><Relationship Id="Rfa30b3a8386f4027" Type="http://schemas.openxmlformats.org/officeDocument/2006/relationships/slide" Target="slides/slide25.xml"/><Relationship Id="RnewSlide102" Type="http://schemas.openxmlformats.org/officeDocument/2006/relationships/slide" Target="slides/slide45.xml"/><Relationship Id="RnewSlide103" Type="http://schemas.openxmlformats.org/officeDocument/2006/relationships/slide" Target="slides/slide46.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108" Type="http://schemas.openxmlformats.org/officeDocument/2006/relationships/slide" Target="slides/slide19.xml"/><Relationship Id="rId109" Type="http://schemas.openxmlformats.org/officeDocument/2006/relationships/slide" Target="slides/slide18.xml"/><Relationship Id="rId111" Type="http://schemas.openxmlformats.org/officeDocument/2006/relationships/slide" Target="slides/slide21.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4.xml"/><Relationship Id="rId116" Type="http://schemas.openxmlformats.org/officeDocument/2006/relationships/slide" Target="slides/slide6.xml"/><Relationship Id="rId117" Type="http://schemas.openxmlformats.org/officeDocument/2006/relationships/slide" Target="slides/slide17.xml"/><Relationship Id="rId118" Type="http://schemas.openxmlformats.org/officeDocument/2006/relationships/slide" Target="slides/slide29.xml"/><Relationship Id="rId119" Type="http://schemas.openxmlformats.org/officeDocument/2006/relationships/slide" Target="slides/slide32.xml"/><Relationship Id="rId120" Type="http://schemas.openxmlformats.org/officeDocument/2006/relationships/slide" Target="slides/slide33.xml"/><Relationship Id="rId121" Type="http://schemas.openxmlformats.org/officeDocument/2006/relationships/slide" Target="slides/slide34.xml"/><Relationship Id="rId12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1.xml"/><Relationship Id="R2635673221b54893"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2.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3.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5.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6.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8.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30.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31.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6.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9.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4.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4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47.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48.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49.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50.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51.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52.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53.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54.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55.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56.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57.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58.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59.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60.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61.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62.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5.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p xmlns:a="http://schemas.openxmlformats.org/drawingml/2006/main">
            <a:r>
              <a:t>TIME: 0:10</a:t>
            </a:r>
          </a:p>
          <a:p xmlns:a="http://schemas.openxmlformats.org/drawingml/2006/main"/>
          <a:p xmlns:a="http://schemas.openxmlformats.org/drawingml/2006/main">
            <a:r>
              <a:t>PURPOSE: Orient participants and reset attention.</a:t>
            </a:r>
          </a:p>
          <a:p xmlns:a="http://schemas.openxmlformats.org/drawingml/2006/main"/>
          <a:p xmlns:a="http://schemas.openxmlformats.org/drawingml/2006/main">
            <a:r>
              <a:t>LAND THIS: The course is a guided path with a reference layer participants keep.</a:t>
            </a:r>
          </a:p>
          <a:p xmlns:a="http://schemas.openxmlformats.org/drawingml/2006/main"/>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p xmlns:a="http://schemas.openxmlformats.org/drawingml/2006/main">
            <a:r>
              <a:t>DO: None.</a:t>
            </a:r>
          </a:p>
          <a:p xmlns:a="http://schemas.openxmlformats.org/drawingml/2006/main"/>
          <a:p xmlns:a="http://schemas.openxmlformats.org/drawingml/2006/main">
            <a:r>
              <a:t>BRIDGE: Move to “One skill, two ways to work”.</a:t>
            </a:r>
          </a:p>
          <a:p xmlns:a="http://schemas.openxmlformats.org/drawingml/2006/main"/>
          <a:p xmlns:a="http://schemas.openxmlformats.org/drawingml/2006/main">
            <a:r>
              <a:t>IF LATE: SKIP</a:t>
            </a:r>
          </a:p>
          <a:p xmlns:a="http://schemas.openxmlformats.org/drawingml/2006/main"/>
          <a:p xmlns:a="http://schemas.openxmlformats.org/drawingml/2006/main">
            <a:r>
              <a:t>FACILITATOR RUN</a:t>
            </a:r>
          </a:p>
          <a:p xmlns:a="http://schemas.openxmlformats.org/drawingml/2006/main">
            <a:r>
              <a:t>Total 60:00. Protected application 30:00; teaching 24:20; reference orientation 4:50; dividers 0:50. Live time ends at slide 46. Slides 47–62 are the reference appendix (detailed explanations — read after the workshop); 63–68 close the deck with the bibliography, references, and the making-of story. Prepare the workbook, dashboard fallback, and email thread before starting. Modes are instructions about how to use each slide, not an invitation to teach every slide.</a:t>
            </a:r>
          </a:p>
          <a:p xmlns:a="http://schemas.openxmlformats.org/drawingml/2006/main"/>
          <a:p xmlns:a="http://schemas.openxmlformats.org/drawingml/2006/main">
            <a:r>
              <a:t>ANCHORS</a:t>
            </a:r>
          </a:p>
          <a:p xmlns:a="http://schemas.openxmlformats.org/drawingml/2006/main">
            <a:r>
              <a:t>21: You already write work specifications</a:t>
            </a:r>
          </a:p>
          <a:p xmlns:a="http://schemas.openxmlformats.org/drawingml/2006/main">
            <a:r>
              <a:t>22: Good requirements make prompts testable</a:t>
            </a:r>
          </a:p>
          <a:p xmlns:a="http://schemas.openxmlformats.org/drawingml/2006/main">
            <a:r>
              <a:t>23: A prompt is a small work specification</a:t>
            </a:r>
          </a:p>
          <a:p xmlns:a="http://schemas.openxmlformats.org/drawingml/2006/main">
            <a:r>
              <a:t>28: The improvement loop</a:t>
            </a:r>
          </a:p>
          <a:p xmlns:a="http://schemas.openxmlformats.org/drawingml/2006/main">
            <a:r>
              <a:t>37: Exercise: compare suppliers and check the result</a:t>
            </a:r>
          </a:p>
          <a:p xmlns:a="http://schemas.openxmlformats.org/drawingml/2006/main">
            <a:r>
              <a:t>47: ASK and DELEGATE</a:t>
            </a:r>
          </a:p>
          <a:p xmlns:a="http://schemas.openxmlformats.org/drawingml/2006/main">
            <a:r>
              <a:t>50: A mission brief for bounded work</a:t>
            </a:r>
          </a:p>
          <a:p xmlns:a="http://schemas.openxmlformats.org/drawingml/2006/main">
            <a:r>
              <a:t>53: Instructions and enforceable controls</a:t>
            </a:r>
          </a:p>
          <a:p xmlns:a="http://schemas.openxmlformats.org/drawingml/2006/main">
            <a:r>
              <a:t>64: Capstone: one task, one checked result</a:t>
            </a:r>
          </a:p>
          <a:p xmlns:a="http://schemas.openxmlformats.org/drawingml/2006/main"/>
          <a:p xmlns:a="http://schemas.openxmlformats.org/drawingml/2006/main">
            <a:r>
              <a:t>SOURCE DETAIL FOR SELF-STUDY</a:t>
            </a:r>
          </a:p>
          <a:p xmlns:a="http://schemas.openxmlformats.org/drawingml/2006/main">
            <a:r>
              <a:t>EMPLOYEE TRAINING · SEPTEMBER 2026</a:t>
            </a:r>
          </a:p>
          <a:p xmlns:a="http://schemas.openxmlformats.org/drawingml/2006/main">
            <a:r>
              <a:t>From Prompts to Agents</a:t>
            </a:r>
          </a:p>
          <a:p xmlns:a="http://schemas.openxmlformats.org/drawingml/2006/main">
            <a:r>
              <a:t>A focused course on prompt engineering — for generative AI you talk to,</a:t>
            </a:r>
          </a:p>
          <a:p xmlns:a="http://schemas.openxmlformats.org/drawingml/2006/main">
            <a:r>
              <a:t>and agentic AI you delegate to.</a:t>
            </a:r>
          </a:p>
          <a:p xmlns:a="http://schemas.openxmlformats.org/drawingml/2006/main">
            <a:r>
              <a:t>THE PRIMER</a:t>
            </a:r>
          </a:p>
          <a:p xmlns:a="http://schemas.openxmlformats.org/drawingml/2006/main">
            <a:r>
              <a:t>History &amp; core concepts</a:t>
            </a:r>
          </a:p>
          <a:p xmlns:a="http://schemas.openxmlformats.org/drawingml/2006/main">
            <a:r>
              <a:t>four eras of AI · tokens · context windows · RAG · the token economy · hallucination</a:t>
            </a:r>
          </a:p>
          <a:p xmlns:a="http://schemas.openxmlformats.org/drawingml/2006/main">
            <a:r>
              <a:t>THE CRAFT</a:t>
            </a:r>
          </a:p>
          <a:p xmlns:a="http://schemas.openxmlformats.org/drawingml/2006/main">
            <a:r>
              <a:t>Prompt engineering</a:t>
            </a:r>
          </a:p>
          <a:p xmlns:a="http://schemas.openxmlformats.org/drawingml/2006/main">
            <a:r>
              <a:t>the universal anatomy · seven elements · seven techniques · what the evidence says</a:t>
            </a:r>
          </a:p>
          <a:p xmlns:a="http://schemas.openxmlformats.org/drawingml/2006/main">
            <a:r>
              <a:t>THE LEAP</a:t>
            </a:r>
          </a:p>
          <a:p xmlns:a="http://schemas.openxmlformats.org/drawingml/2006/main">
            <a:r>
              <a:t>Agentic AI</a:t>
            </a:r>
          </a:p>
          <a:p xmlns:a="http://schemas.openxmlformats.org/drawingml/2006/main">
            <a:r>
              <a:t>tools &amp; models worth knowing · mission briefs · guardrails · managing your prompt library</a:t>
            </a:r>
          </a:p>
          <a:p xmlns:a="http://schemas.openxmlformats.org/drawingml/2006/main">
            <a:r>
              <a:t>Companion to “Working Smart with AI.” All examples are generic — no internal document names or confidential data appear anywhere.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Have this up as people arrive; don’t read it to them.</a:t>
            </a:r>
          </a:p>
          <a:p xmlns:a="http://schemas.openxmlformats.org/drawingml/2006/main">
            <a:r>
              <a:t>2) Open with the name and the one-liner: “This is a course about one skill — prompting — in two modes: generative AI you talk to, and agentic AI you delegate to.”</a:t>
            </a:r>
          </a:p>
          <a:p xmlns:a="http://schemas.openxmlformats.org/drawingml/2006/main">
            <a:r>
              <a:t>3) Sweep the three cards left to right as the journey: the primer, the craft, the leap.</a:t>
            </a:r>
          </a:p>
          <a:p xmlns:a="http://schemas.openxmlformats.org/drawingml/2006/main">
            <a:r>
              <a:t>4) Point at the footer line: every example is generic — no company data anywhere in the material.</a:t>
            </a:r>
          </a:p>
          <a:p xmlns:a="http://schemas.openxmlformats.org/drawingml/2006/main"/>
          <a:p xmlns:a="http://schemas.openxmlformats.org/drawingml/2006/main">
            <a:r>
              <a:t>BRIDGE —</a:t>
            </a:r>
          </a:p>
          <a:p xmlns:a="http://schemas.openxmlformats.org/drawingml/2006/main">
            <a:r>
              <a:t>“Before the map — why this one skill is worth your time.”</a:t>
            </a:r>
          </a:p>
          <a:p xmlns:a="http://schemas.openxmlformats.org/drawingml/2006/main"/>
          <a:p xmlns:a="http://schemas.openxmlformats.org/drawingml/2006/main">
            <a:r>
              <a:t>ACRONYMS —</a:t>
            </a:r>
          </a:p>
          <a:p xmlns:a="http://schemas.openxmlformats.org/drawingml/2006/main">
            <a:r>
              <a:t>AI = Artificial Intelligence (defined once here; it recurs on nearly every slide).</a:t>
            </a:r>
          </a:p>
          <a:p xmlns:a="http://schemas.openxmlformats.org/drawingml/2006/main">
            <a:r>
              <a:t>RAG = Retrieval-Augmented Generation — the model fetches passages from your documents before answering; taught properly in Part 1.</a:t>
            </a:r>
          </a:p>
          <a:p xmlns:a="http://schemas.openxmlformats.org/drawingml/2006/main"/>
          <a:p xmlns:a="http://schemas.openxmlformats.org/drawingml/2006/main">
            <a:r>
              <a:t>CONTENT —</a:t>
            </a:r>
          </a:p>
          <a:p xmlns:a="http://schemas.openxmlformats.org/drawingml/2006/main">
            <a:r>
              <a:t>This training goes deeper than the general AI onboarding: it is specifically about prompting — the skill — across two modes.</a:t>
            </a:r>
          </a:p>
          <a:p xmlns:a="http://schemas.openxmlformats.org/drawingml/2006/main">
            <a:r>
              <a:t>Everything is dated September 2026 because this field moves monthly.</a:t>
            </a:r>
          </a:p>
          <a:p xmlns:a="http://schemas.openxmlformats.org/drawingml/2006/main">
            <a:r>
              <a:t>1</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after the concept slide. These four bands are an instructional synthesis and recommended starting choices, not a cross-vendor benchmark or a claim about parameter counts. Actual speed depends on reasoning effort, input size, output length, tool use, service load, and retries. Sol is a capable professional model; placing it below Astra does not make it a small model. Anthropic describes Haiku 4.5 as fastest, Sonnet 5 as fast, Opus 5 as moderate, and Fable 5.1 as slower within its own lineup. Google Flash 3.8 supports complex workflows as well as everyday work, so it spans bands. Google Pro 3.1 is a preview reasoning candidate; the slide does not rank it above Flash 3.8. Model availability varies by product and plan.</a:t>
            </a:r>
          </a:p>
          <a:p>
            <a:r>
              <a:t>OpenAI short names denote model families: Luna, Terra and Sol version 5.6, and Astra version 6. The model prefix GPT (Generative Pre-trained Transformer) is omitted in the table to keep labels readable.</a:t>
            </a:r>
          </a:p>
          <a:p>
            <a:r>
              <a:t>Escalate when validation fails, ambiguity remains, or mistakes have costly consequences. For a spreadsheet, check formulas and recalculate with known test cases. For a deck, inspect rendered slides and verify required content. For email summaries, verify owners, dates and commitments against source messages. A difficult task can also need better evidence or specialist tools.</a:t>
            </a:r>
          </a:p>
          <a:p/>
          <a:p>
            <a:r>
              <a:t>Examples are illustrative task recommendations based on the documented model roles. They are not measured task-specific performance results. Classify a specific request by ambiguity, dependencies and error cost, rather than by the file type alone. Routine does not mean unimportant.</a:t>
            </a:r>
          </a:p>
          <a:p>
            <a:r>
              <a:t>For presentations, use stronger reasoning for learning objectives and sequence, then a economical model for bounded template edits. For spreadsheets, prioritize assumption logic and executable calculation tests. For emails, distinguish direct extraction from resolving contradictions across messages.</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REFERENCE · 0:20–0:30. Orient, do not read: bands are starting choices, not cross-vendor benchmark rankings.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explanation:</a:t>
            </a:r>
          </a:p>
          <a:p>
            <a:r>
              <a:t>The horizontal dimension is reasoning difficulty: ambiguity, dependent steps and conflicting evidence. The vertical dimension is volume: the number of items or amount of material. They are conceptual categories, not measured numeric axes. A large task can consist of many easy independent actions, while one short question can require difficult reasoning.</a:t>
            </a:r>
          </a:p>
          <a:p>
            <a:r>
              <a:t>Model capability means the range and difficulty of problems the model can solve. Reasoning effort is the inference-time computation spent on a request. Processing capacity covers distinct operational limits: context per request and throughput across requests. Throughput depends on the serving system, concurrency and account limits as well as the model. Context-window size alone does not establish reasoning quality.</a:t>
            </a:r>
          </a:p>
          <a:p>
            <a:r>
              <a:t>The example counts are illustrative. Batching applies to separable work, and a staged workflow should preserve dependencies and source evidence. Error consequences can justify stronger review at any level of volume or complexity.</a:t>
            </a:r>
          </a:p>
          <a:p>
            <a:r>
              <a:t>Do not add seconds and token counts directly. Measure quality against required checks, then compare time to an acceptable result and total consumption separately, or normalize them before combining.</a:t>
            </a:r>
          </a:p>
          <a:p>
            <a:r>
              <a:t>Sources checked September 17, 2026:</a:t>
            </a:r>
          </a:p>
          <a:p>
            <a:r>
              <a:t>OpenAI model catalog: https://developers.openai.com/api/docs/models</a:t>
            </a:r>
          </a:p>
          <a:p>
            <a:r>
              <a:t>Anthropic model overview: https://platform.claude.com/docs/en/models/overview</a:t>
            </a:r>
          </a:p>
          <a:p>
            <a:r>
              <a:t>Google model catalog: https://ai.google.dev/gemini-api/docs/models</a:t>
            </a:r>
          </a:p>
          <a:p>
            <a:r>
              <a:t>Google Flash 3.8: https://ai.google.dev/gemini-api/docs/models/gemini-3.8-flash</a:t>
            </a:r>
          </a:p>
          <a:p>
            <a:r>
              <a:t>Google Pro 3.1 preview: https://ai.google.dev/gemini-api/docs/models/gemini-3.1-pro-preview</a:t>
            </a:r>
          </a:p>
          <a:p>
            <a:r>
              <a:t>Google Flash-Lite 3.5: https://ai.google.dev/gemini-api/docs/models/gemini-3.5-flash-lite</a:t>
            </a:r>
          </a:p>
          <a:p>
            <a:r>
              <a:t>Selection principle: https://developers.openai.com/api/docs/guides/model-selection</a:t>
            </a:r>
          </a:p>
          <a:p>
            <a:r>
              <a:t>Reasoning effort and token accounting: https://developers.openai.com/api/docs/guides/reasoning</a:t>
            </a:r>
          </a:p>
          <a:p/>
          <a:p>
            <a:r>
              <a:t>FACILITATION: TEACH · about 1:00. Concept slide — capability, reasoning effort and workload volume are separate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1:50</a:t>
            </a:r>
          </a:p>
          <a:p xmlns:a="http://schemas.openxmlformats.org/drawingml/2006/main"/>
          <a:p xmlns:a="http://schemas.openxmlformats.org/drawingml/2006/main">
            <a:r>
              <a:t>PURPOSE: Introduce the minimum useful prompt structure before the deeper reference taxonomy.</a:t>
            </a:r>
          </a:p>
          <a:p xmlns:a="http://schemas.openxmlformats.org/drawingml/2006/main"/>
          <a:p xmlns:a="http://schemas.openxmlformats.org/drawingml/2006/main">
            <a:r>
              <a:t>LAND THIS: A strong prompt specifies the task, source, output, and important boundaries.</a:t>
            </a:r>
          </a:p>
          <a:p xmlns:a="http://schemas.openxmlformats.org/drawingml/2006/main"/>
          <a:p xmlns:a="http://schemas.openxmlformats.org/drawingml/2006/main">
            <a:r>
              <a:t>SAY:</a:t>
            </a:r>
          </a:p>
          <a:p xmlns:a="http://schemas.openxmlformats.org/drawingml/2006/main">
            <a:r>
              <a:t>- Point to the business decision before naming requirement types.</a:t>
            </a:r>
          </a:p>
          <a:p xmlns:a="http://schemas.openxmlformats.org/drawingml/2006/main">
            <a:r>
              <a:t>- Map each sentence to its type: audience, source, method, format, tone, or acceptance check.</a:t>
            </a:r>
          </a:p>
          <a:p xmlns:a="http://schemas.openxmlformats.org/drawingml/2006/main">
            <a:r>
              <a:t>- Choose types that resolve ambiguity. A role label is useful only if it adds relevant behavior.</a:t>
            </a:r>
          </a:p>
          <a:p xmlns:a="http://schemas.openxmlformats.org/drawingml/2006/main"/>
          <a:p xmlns:a="http://schemas.openxmlformats.org/drawingml/2006/main">
            <a:r>
              <a:t>DO: Ask participants which requirement prevents double counting, and which makes the answer checkable.</a:t>
            </a:r>
          </a:p>
          <a:p xmlns:a="http://schemas.openxmlformats.org/drawingml/2006/main"/>
          <a:p xmlns:a="http://schemas.openxmlformats.org/drawingml/2006/main">
            <a:r>
              <a:t>BRIDGE: Move to “Useful roles describe behavior”.</a:t>
            </a:r>
          </a:p>
          <a:p xmlns:a="http://schemas.openxmlformats.org/drawingml/2006/main"/>
          <a:p xmlns:a="http://schemas.openxmlformats.org/drawingml/2006/main">
            <a:r>
              <a:t>IF LATE: KEEP</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ANCHOR: Yes. Keep the central concept if surrounding reference orientations are skipped.</a:t>
            </a:r>
          </a:p>
          <a:p xmlns:a="http://schemas.openxmlformats.org/drawingml/2006/main"/>
          <a:p xmlns:a="http://schemas.openxmlformats.org/drawingml/2006/main">
            <a:r>
              <a:t>SOURCE DETAIL FOR SELF-STUDY</a:t>
            </a:r>
          </a:p>
          <a:p xmlns:a="http://schemas.openxmlformats.org/drawingml/2006/main">
            <a:r>
              <a:t>PART 3 · THE ANATOMY</a:t>
            </a:r>
          </a:p>
          <a:p xmlns:a="http://schemas.openxmlformats.org/drawingml/2006/main">
            <a:r>
              <a:t>21</a:t>
            </a:r>
          </a:p>
          <a:p xmlns:a="http://schemas.openxmlformats.org/drawingml/2006/main">
            <a:r>
              <a:t>THE UNIVERSAL ANATOMY</a:t>
            </a:r>
          </a:p>
          <a:p xmlns:a="http://schemas.openxmlformats.org/drawingml/2006/main">
            <a:r>
              <a:t>Seven parts, one body — what good looks like</a:t>
            </a:r>
          </a:p>
          <a:p xmlns:a="http://schemas.openxmlformats.org/drawingml/2006/main">
            <a:r>
              <a:t>ROLE</a:t>
            </a:r>
          </a:p>
          <a:p xmlns:a="http://schemas.openxmlformats.org/drawingml/2006/main">
            <a:r>
              <a:t>“You are a precise editor. You add no facts that are not in the source.”</a:t>
            </a:r>
          </a:p>
          <a:p xmlns:a="http://schemas.openxmlformats.org/drawingml/2006/main">
            <a:r>
              <a:t>TASK</a:t>
            </a:r>
          </a:p>
          <a:p xmlns:a="http://schemas.openxmlformats.org/drawingml/2006/main">
            <a:r>
              <a:t>“Summarize the attached Q2 returns report for the operations lead.”</a:t>
            </a:r>
          </a:p>
          <a:p xmlns:a="http://schemas.openxmlformats.org/drawingml/2006/main">
            <a:r>
              <a:t>CONTEXT</a:t>
            </a:r>
          </a:p>
          <a:p xmlns:a="http://schemas.openxmlformats.org/drawingml/2006/main">
            <a:r>
              <a:t>“We’re a mid-size electronics manufacturer. Return rate = returns ÷ shipped. The export has a totals row — exclude it.”</a:t>
            </a:r>
          </a:p>
          <a:p xmlns:a="http://schemas.openxmlformats.org/drawingml/2006/main">
            <a:r>
              <a:t>FORMAT</a:t>
            </a:r>
          </a:p>
          <a:p xmlns:a="http://schemas.openxmlformats.org/drawingml/2006/main">
            <a:r>
              <a:t>“≤ 150 words: the headline number first, then three bullets.”</a:t>
            </a:r>
          </a:p>
          <a:p xmlns:a="http://schemas.openxmlformats.org/drawingml/2006/main">
            <a:r>
              <a:t>EXAMPLES</a:t>
            </a:r>
          </a:p>
          <a:p xmlns:a="http://schemas.openxmlformats.org/drawingml/2006/main">
            <a:r>
              <a:t>&lt;example&gt; March’s summary — the one the team liked &lt;/example&gt;</a:t>
            </a:r>
          </a:p>
          <a:p xmlns:a="http://schemas.openxmlformats.org/drawingml/2006/main">
            <a:r>
              <a:t>THE OUT</a:t>
            </a:r>
          </a:p>
          <a:p xmlns:a="http://schemas.openxmlformats.org/drawingml/2006/main">
            <a:r>
              <a:t>“Anything the report doesn’t state: write UNKNOWN — never estimate. List the gaps at the end.”</a:t>
            </a:r>
          </a:p>
          <a:p xmlns:a="http://schemas.openxmlformats.org/drawingml/2006/main">
            <a:r>
              <a:t>THE STOP</a:t>
            </a:r>
          </a:p>
          <a:p xmlns:a="http://schemas.openxmlformats.org/drawingml/2006/main">
            <a:r>
              <a:t>“Deliver the summary, then stop — nothing beyond.”</a:t>
            </a:r>
          </a:p>
          <a:p xmlns:a="http://schemas.openxmlformats.org/drawingml/2006/main">
            <a:r>
              <a:t>Note the industry line: what business you’re in is CONTEXT — name your world; never assume it knows.</a:t>
            </a:r>
          </a:p>
          <a:p xmlns:a="http://schemas.openxmlformats.org/drawingml/2006/main">
            <a:r>
              <a:t>The Out, defined: the escape route for missing information — name the honest move (write UNKNOWN · never estimate · list the gaps), so the model never has to choose between obeying you and being honest.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“one prompt, seven parts — and the parts make a BODY. Everything in Part 3 is refinements of this picture.”</a:t>
            </a: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xmlns:a="http://schemas.openxmlformats.org/drawingml/2006/main">
            <a:r>
              <a:t>3) RIGHT card: the same body written out — read it top to bottom as ONE continuous prompt (~90 words, under two minutes to write).</a:t>
            </a: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p>
          <a:p xmlns:a="http://schemas.openxmlformats.org/drawingml/2006/main">
            <a:r>
              <a:t>6) Teal band: read the Out definition verbatim — it is the slide’s one formal definition.</a:t>
            </a:r>
          </a:p>
          <a:p xmlns:a="http://schemas.openxmlformats.org/drawingml/2006/main"/>
          <a:p xmlns:a="http://schemas.openxmlformats.org/drawingml/2006/main">
            <a:r>
              <a:t>BRIDGE —</a:t>
            </a:r>
          </a:p>
          <a:p xmlns:a="http://schemas.openxmlformats.org/drawingml/2006/main">
            <a:r>
              <a:t>“Now each element properly — and what each one BUYS you.”</a:t>
            </a:r>
          </a:p>
          <a:p xmlns:a="http://schemas.openxmlformats.org/drawingml/2006/main"/>
          <a:p xmlns:a="http://schemas.openxmlformats.org/drawingml/2006/main">
            <a:r>
              <a:t>ACRONYMS —</a:t>
            </a:r>
          </a:p>
          <a:p xmlns:a="http://schemas.openxmlformats.org/drawingml/2006/main">
            <a:r>
              <a:t>Q2 = second quarter. XML-style tags = the angle-bracket fences around examples.</a:t>
            </a:r>
          </a:p>
          <a:p xmlns:a="http://schemas.openxmlformats.org/drawingml/2006/main"/>
          <a:p xmlns:a="http://schemas.openxmlformats.org/drawingml/2006/main">
            <a:r>
              <a:t>CONTENT —</a:t>
            </a: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xmlns:a="http://schemas.openxmlformats.org/drawingml/2006/main">
            <a:r>
              <a:t>Anthropic’s golden rule belongs in the room: show the prompt to a colleague with minimal context — if they’d be confused, the model will be too.</a:t>
            </a:r>
          </a:p>
          <a:p xmlns:a="http://schemas.openxmlformats.org/drawingml/2006/main">
            <a:r>
              <a:t>If the cold open was used: this slide is its debrief — the vague line is the returns-data prompt with every element filled in.</a:t>
            </a:r>
          </a:p>
          <a:p xmlns:a="http://schemas.openxmlformats.org/drawingml/2006/main">
            <a:r>
              <a:t>21</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Context and output requirements make results usable and checkable.</a:t>
            </a:r>
          </a:p>
          <a:p xmlns:a="http://schemas.openxmlformats.org/drawingml/2006/main"/>
          <a:p xmlns:a="http://schemas.openxmlformats.org/drawingml/2006/main">
            <a:r>
              <a:t>SAY:</a:t>
            </a:r>
          </a:p>
          <a:p xmlns:a="http://schemas.openxmlformats.org/drawingml/2006/main">
            <a:r>
              <a:t>- Role, context, tone, and format specify aspects of the expected reply or artifact.</a:t>
            </a:r>
          </a:p>
          <a:p xmlns:a="http://schemas.openxmlformats.org/drawingml/2006/main">
            <a:r>
              <a:t>- Context also supplies facts; make explicit how important facts constrain the task.</a:t>
            </a:r>
          </a:p>
          <a:p xmlns:a="http://schemas.openxmlformats.org/drawingml/2006/main">
            <a:r>
              <a:t>- A role title does not guarantee expertise, and a formatting request is not an enforced schema.</a:t>
            </a:r>
          </a:p>
          <a:p xmlns:a="http://schemas.openxmlformats.org/drawingml/2006/main">
            <a:r>
              <a:t>- Use slides 93–98 (Reference Deck) and the requirements catalog to choose additional types by artifact.</a:t>
            </a:r>
          </a:p>
          <a:p xmlns:a="http://schemas.openxmlformats.org/drawingml/2006/main"/>
          <a:p xmlns:a="http://schemas.openxmlformats.org/drawingml/2006/main">
            <a:r>
              <a:t>DO: None.</a:t>
            </a:r>
          </a:p>
          <a:p xmlns:a="http://schemas.openxmlformats.org/drawingml/2006/main"/>
          <a:p xmlns:a="http://schemas.openxmlformats.org/drawingml/2006/main">
            <a:r>
              <a:t>BRIDGE: Move to “Examples, uncertainty, and stopping”.</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PART 3 · THE ELEMENTS</a:t>
            </a:r>
          </a:p>
          <a:p xmlns:a="http://schemas.openxmlformats.org/drawingml/2006/main">
            <a:r>
              <a:t>23</a:t>
            </a:r>
          </a:p>
          <a:p xmlns:a="http://schemas.openxmlformats.org/drawingml/2006/main">
            <a:r>
              <a:t>THE ELEMENTS · WHAT EACH BUYS YOU — 2 OF 3</a:t>
            </a:r>
          </a:p>
          <a:p xmlns:a="http://schemas.openxmlformats.org/drawingml/2006/main">
            <a:r>
              <a:t>Context &amp; Format: the facts, and the contract</a:t>
            </a:r>
          </a:p>
          <a:p xmlns:a="http://schemas.openxmlformats.org/drawingml/2006/main">
            <a:r>
              <a:t>Context</a:t>
            </a:r>
          </a:p>
          <a:p xmlns:a="http://schemas.openxmlformats.org/drawingml/2006/main">
            <a:r>
              <a:t>what the model cannot know on its own</a:t>
            </a:r>
          </a:p>
          <a:p xmlns:a="http://schemas.openxmlformats.org/drawingml/2006/main">
            <a:r>
              <a:t>What you get — answers that are right for US — your definitions, your quirks, your constraints — instead of generically right.</a:t>
            </a: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p>
          <a:p xmlns:a="http://schemas.openxmlformats.org/drawingml/2006/main">
            <a:r>
              <a:t>weak   “Use our standard definitions.”</a:t>
            </a:r>
          </a:p>
          <a:p xmlns:a="http://schemas.openxmlformats.org/drawingml/2006/main">
            <a:r>
              <a:t>strong “Return rate = returns ÷ shipped. Quirk: the export has a totals row — exclude it and say so.”</a:t>
            </a:r>
          </a:p>
          <a:p xmlns:a="http://schemas.openxmlformats.org/drawingml/2006/main">
            <a:r>
              <a:t>weak   “You know our business.”</a:t>
            </a:r>
          </a:p>
          <a:p xmlns:a="http://schemas.openxmlformats.org/drawingml/2006/main">
            <a:r>
              <a:t>strong “We’re a mid-size electronics manufacturer; ‘returns’ means warranty returns, not cancelled orders.”</a:t>
            </a:r>
          </a:p>
          <a:p xmlns:a="http://schemas.openxmlformats.org/drawingml/2006/main">
            <a:r>
              <a:t>Format</a:t>
            </a:r>
          </a:p>
          <a:p xmlns:a="http://schemas.openxmlformats.org/drawingml/2006/main">
            <a:r>
              <a:t>the output contract — shape, cap, tone</a:t>
            </a:r>
          </a:p>
          <a:p xmlns:a="http://schemas.openxmlformats.org/drawingml/2006/main">
            <a:r>
              <a:t>What you get — output you can use as-is: right shape, right length, no reformatting pass — and answers you can compare across runs.</a:t>
            </a: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p>
          <a:p xmlns:a="http://schemas.openxmlformats.org/drawingml/2006/main">
            <a:r>
              <a:t>weak   “Keep it short and professional.”</a:t>
            </a:r>
          </a:p>
          <a:p xmlns:a="http://schemas.openxmlformats.org/drawingml/2006/main">
            <a:r>
              <a:t>strong “≤ 120 words: the ask in sentence one, two facts with numbers, the deadline.”</a:t>
            </a:r>
          </a:p>
          <a:p xmlns:a="http://schemas.openxmlformats.org/drawingml/2006/main">
            <a:r>
              <a:t>weak   “Make it a nice table.”</a:t>
            </a:r>
          </a:p>
          <a:p xmlns:a="http://schemas.openxmlformats.org/drawingml/2006/main">
            <a:r>
              <a:t>strong “A table with exactly: Site | Return rate | vs target | Trend — one row per site, worst first.”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Same rhythm: weak aloud → strong aloud → what you get → why.</a:t>
            </a: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p>
          <a:p xmlns:a="http://schemas.openxmlformats.org/drawingml/2006/main">
            <a:r>
              <a:t>3) Format — land “a numeric cap is enforceable; an adjective is a mood.” The myth to kill: “JSON makes models dumber” — the follow-up studies showed well-built format constraints cost nothing and often help.</a:t>
            </a:r>
          </a:p>
          <a:p xmlns:a="http://schemas.openxmlformats.org/drawingml/2006/main">
            <a:r>
              <a:t>4) Footer line: Context fights hallucination; Format fights rework.</a:t>
            </a:r>
          </a:p>
          <a:p xmlns:a="http://schemas.openxmlformats.org/drawingml/2006/main"/>
          <a:p xmlns:a="http://schemas.openxmlformats.org/drawingml/2006/main">
            <a:r>
              <a:t>BRIDGE —</a:t>
            </a:r>
          </a:p>
          <a:p xmlns:a="http://schemas.openxmlformats.org/drawingml/2006/main">
            <a:r>
              <a:t>“One element left — plus the two safety valves.”</a:t>
            </a:r>
          </a:p>
          <a:p xmlns:a="http://schemas.openxmlformats.org/drawingml/2006/main"/>
          <a:p xmlns:a="http://schemas.openxmlformats.org/drawingml/2006/main">
            <a:r>
              <a:t>ACRONYMS —</a:t>
            </a:r>
          </a:p>
          <a:p xmlns:a="http://schemas.openxmlformats.org/drawingml/2006/main">
            <a:r>
              <a:t>JSON = a structured data format (the strictest output contract).</a:t>
            </a:r>
          </a:p>
          <a:p xmlns:a="http://schemas.openxmlformats.org/drawingml/2006/main"/>
          <a:p xmlns:a="http://schemas.openxmlformats.org/drawingml/2006/main">
            <a:r>
              <a:t>CONTENT —</a:t>
            </a: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p>
          <a:p xmlns:a="http://schemas.openxmlformats.org/drawingml/2006/main">
            <a:r>
              <a:t>Teaching nuance kept honest: “reason first, format second” is still a fine manual habit — but do NOT teach “format restrictions hurt reasoning” as settled fact.</a:t>
            </a:r>
          </a:p>
          <a:p xmlns:a="http://schemas.openxmlformats.org/drawingml/2006/main">
            <a:r>
              <a:t>Font-policy pass: the on-slide footer line was removed — deliver “Context fights hallucination; Format fights rework” verbally (step 4).</a:t>
            </a:r>
          </a:p>
          <a:p xmlns:a="http://schemas.openxmlformats.org/drawingml/2006/main">
            <a:r>
              <a:t>23</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1:35</a:t>
            </a:r>
          </a:p>
          <a:p xmlns:a="http://schemas.openxmlformats.org/drawingml/2006/main"/>
          <a:p xmlns:a="http://schemas.openxmlformats.org/drawingml/2006/main">
            <a:r>
              <a:t>PURPOSE: Give participants a repeatable improvement cycle they can use during every exercise.</a:t>
            </a:r>
          </a:p>
          <a:p xmlns:a="http://schemas.openxmlformats.org/drawingml/2006/main"/>
          <a:p xmlns:a="http://schemas.openxmlformats.org/drawingml/2006/main">
            <a:r>
              <a:t>LAND THIS: Prompting improves through plan, run, check, and revise.</a:t>
            </a:r>
          </a:p>
          <a:p xmlns:a="http://schemas.openxmlformats.org/drawingml/2006/main"/>
          <a:p xmlns:a="http://schemas.openxmlformats.org/drawingml/2006/main">
            <a:r>
              <a:t>SAY:</a:t>
            </a:r>
          </a:p>
          <a:p xmlns:a="http://schemas.openxmlformats.org/drawingml/2006/main">
            <a:r>
              <a:t>- Use the familiar Plan, Do, Check, Act improvement cycle.</a:t>
            </a:r>
          </a:p>
          <a:p xmlns:a="http://schemas.openxmlformats.org/drawingml/2006/main">
            <a:r>
              <a:t>- Demonstrate a concrete failure: a TOTAL row was counted twice.</a:t>
            </a:r>
          </a:p>
          <a:p xmlns:a="http://schemas.openxmlformats.org/drawingml/2006/main">
            <a:r>
              <a:t>- Repair the data-range instruction, rerun, and reconcile. Model self-review can help find issues, but is not proof.</a:t>
            </a:r>
          </a:p>
          <a:p xmlns:a="http://schemas.openxmlformats.org/drawingml/2006/main"/>
          <a:p xmlns:a="http://schemas.openxmlformats.org/drawingml/2006/main">
            <a:r>
              <a:t>DO: None.</a:t>
            </a:r>
          </a:p>
          <a:p xmlns:a="http://schemas.openxmlformats.org/drawingml/2006/main"/>
          <a:p xmlns:a="http://schemas.openxmlformats.org/drawingml/2006/main">
            <a:r>
              <a:t>BRIDGE: Move to “One task through the improvement loop”.</a:t>
            </a:r>
          </a:p>
          <a:p xmlns:a="http://schemas.openxmlformats.org/drawingml/2006/main"/>
          <a:p xmlns:a="http://schemas.openxmlformats.org/drawingml/2006/main">
            <a:r>
              <a:t>IF LATE: KEEP</a:t>
            </a:r>
          </a:p>
          <a:p xmlns:a="http://schemas.openxmlformats.org/drawingml/2006/main"/>
          <a:p xmlns:a="http://schemas.openxmlformats.org/drawingml/2006/main">
            <a:r>
              <a:t>ANCHOR: Yes. Keep the central concept if surrounding reference orientations are skipped.</a:t>
            </a:r>
          </a:p>
          <a:p xmlns:a="http://schemas.openxmlformats.org/drawingml/2006/main"/>
          <a:p xmlns:a="http://schemas.openxmlformats.org/drawingml/2006/main">
            <a:r>
              <a:t>SOURCE DETAIL FOR SELF-STUDY</a:t>
            </a:r>
          </a:p>
          <a:p xmlns:a="http://schemas.openxmlformats.org/drawingml/2006/main">
            <a:r>
              <a:t>PART 3 · THE TOOLKIT</a:t>
            </a:r>
          </a:p>
          <a:p xmlns:a="http://schemas.openxmlformats.org/drawingml/2006/main">
            <a:r>
              <a:t>26</a:t>
            </a:r>
          </a:p>
          <a:p xmlns:a="http://schemas.openxmlformats.org/drawingml/2006/main">
            <a:r>
              <a:t>THE TOOLKIT · PLAN · DO · CHECK · ACT</a:t>
            </a:r>
          </a:p>
          <a:p xmlns:a="http://schemas.openxmlformats.org/drawingml/2006/main">
            <a:r>
              <a:t>The toolkit is a loop</a:t>
            </a:r>
          </a:p>
          <a:p xmlns:a="http://schemas.openxmlformats.org/drawingml/2006/main">
            <a:r>
              <a:t>P</a:t>
            </a:r>
          </a:p>
          <a:p xmlns:a="http://schemas.openxmlformats.org/drawingml/2006/main">
            <a:r>
              <a:t>PLAN — draft the ask</a:t>
            </a:r>
          </a:p>
          <a:p xmlns:a="http://schemas.openxmlformats.org/drawingml/2006/main">
            <a:r>
              <a:t>· The anatomy: all seven elements, filled</a:t>
            </a:r>
          </a:p>
          <a:p xmlns:a="http://schemas.openxmlformats.org/drawingml/2006/main">
            <a:r>
              <a:t>· Be specific — and say WHY behind each rule</a:t>
            </a:r>
          </a:p>
          <a:p xmlns:a="http://schemas.openxmlformats.org/drawingml/2006/main">
            <a:r>
              <a:t>· Separate your ask from the pasted material</a:t>
            </a:r>
          </a:p>
          <a:p xmlns:a="http://schemas.openxmlformats.org/drawingml/2006/main">
            <a:r>
              <a:t>· Show 2–3 examples, one edge case included</a:t>
            </a:r>
          </a:p>
          <a:p xmlns:a="http://schemas.openxmlformats.org/drawingml/2006/main">
            <a:r>
              <a:t>delegate it → “I need [X] for [audience], with [constraints]. Draft me a strong prompt, then wait.”</a:t>
            </a:r>
          </a:p>
          <a:p xmlns:a="http://schemas.openxmlformats.org/drawingml/2006/main">
            <a:r>
              <a:t>D</a:t>
            </a:r>
          </a:p>
          <a:p xmlns:a="http://schemas.openxmlformats.org/drawingml/2006/main">
            <a:r>
              <a:t>DO — run it, in order</a:t>
            </a:r>
          </a:p>
          <a:p xmlns:a="http://schemas.openxmlformats.org/drawingml/2006/main">
            <a:r>
              <a:t>· Number the steps — order stated is order followed</a:t>
            </a:r>
          </a:p>
          <a:p xmlns:a="http://schemas.openxmlformats.org/drawingml/2006/main">
            <a:r>
              <a:t>· Add “wait for my OK” where you want control</a:t>
            </a:r>
          </a:p>
          <a:p xmlns:a="http://schemas.openxmlformats.org/drawingml/2006/main">
            <a:r>
              <a:t>· Documents on top, ask at the end · fresh chat per topic</a:t>
            </a:r>
          </a:p>
          <a:p xmlns:a="http://schemas.openxmlformats.org/drawingml/2006/main">
            <a:r>
              <a:t>delegate it → “1) Outline only. 2) Wait for my OK. 3) Draft section by section.”</a:t>
            </a:r>
          </a:p>
          <a:p xmlns:a="http://schemas.openxmlformats.org/drawingml/2006/main">
            <a:r>
              <a:t>C</a:t>
            </a:r>
          </a:p>
          <a:p xmlns:a="http://schemas.openxmlformats.org/drawingml/2006/main">
            <a:r>
              <a:t>CHECK — inspect before you trust</a:t>
            </a:r>
          </a:p>
          <a:p xmlns:a="http://schemas.openxmlformats.org/drawingml/2006/main">
            <a:r>
              <a:t>· Name the failed element — the symptom→element grid, tab EX-Report</a:t>
            </a:r>
          </a:p>
          <a:p xmlns:a="http://schemas.openxmlformats.org/drawingml/2006/main">
            <a:r>
              <a:t>· Self-check on NAMED criteria — never “are you sure?”</a:t>
            </a:r>
          </a:p>
          <a:p xmlns:a="http://schemas.openxmlformats.org/drawingml/2006/main">
            <a:r>
              <a:t>· Blind review: paste it as “a colleague’s draft”</a:t>
            </a:r>
          </a:p>
          <a:p xmlns:a="http://schemas.openxmlformats.org/drawingml/2006/main">
            <a:r>
              <a:t>· Numbers reconcile to a known total · citations + the out</a:t>
            </a:r>
          </a:p>
          <a:p xmlns:a="http://schemas.openxmlformats.org/drawingml/2006/main">
            <a:r>
              <a:t>delegate it → “Verify against these three criteria and list exactly what fails.”</a:t>
            </a:r>
          </a:p>
          <a:p xmlns:a="http://schemas.openxmlformats.org/drawingml/2006/main">
            <a:r>
              <a:t>A</a:t>
            </a:r>
          </a:p>
          <a:p xmlns:a="http://schemas.openxmlformats.org/drawingml/2006/main">
            <a:r>
              <a:t>ACT — refine, then standardize</a:t>
            </a:r>
          </a:p>
          <a:p xmlns:a="http://schemas.openxmlformats.org/drawingml/2006/main">
            <a:r>
              <a:t>· Fix ONE element, rerun — never reword at random</a:t>
            </a:r>
          </a:p>
          <a:p xmlns:a="http://schemas.openxmlformats.org/drawingml/2006/main">
            <a:r>
              <a:t>· Metaprompt: have the AI rewrite the prompt itself</a:t>
            </a:r>
          </a:p>
          <a:p xmlns:a="http://schemas.openxmlformats.org/drawingml/2006/main">
            <a:r>
              <a:t>· Works twice? Name it, version it, library (Part 6)</a:t>
            </a:r>
          </a:p>
          <a:p xmlns:a="http://schemas.openxmlformats.org/drawingml/2006/main">
            <a:r>
              <a:t>delegate it → “Rewrite this prompt so it more consistently produces X.”</a:t>
            </a: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p>
          <a:p xmlns:a="http://schemas.openxmlformats.org/drawingml/2006/main">
            <a:r>
              <a:t>W. EDWARDS DEMING · 1900–1993</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p>
          <a:p xmlns:a="http://schemas.openxmlformats.org/drawingml/2006/main"/>
          <a:p xmlns:a="http://schemas.openxmlformats.org/drawingml/2006/main">
            <a:r>
              <a:t>BRIDGE —</a:t>
            </a:r>
          </a:p>
          <a:p xmlns:a="http://schemas.openxmlformats.org/drawingml/2006/main">
            <a:r>
              <a:t>“One clarification before the evidence — the two layers, on one worked prompt.”</a:t>
            </a:r>
          </a:p>
          <a:p xmlns:a="http://schemas.openxmlformats.org/drawingml/2006/main"/>
          <a:p xmlns:a="http://schemas.openxmlformats.org/drawingml/2006/main">
            <a:r>
              <a:t>ACRONYMS —</a:t>
            </a:r>
          </a:p>
          <a:p xmlns:a="http://schemas.openxmlformats.org/drawingml/2006/main">
            <a:r>
              <a:t>PDCA = Plan-Do-Check-Act — the Deming/Toyota improvement cycle, core of kaizen (continuous improvement).</a:t>
            </a:r>
          </a:p>
          <a:p xmlns:a="http://schemas.openxmlformats.org/drawingml/2006/main">
            <a:r>
              <a:t>gauge R&amp;R = Gauge Repeatability &amp; Reproducibility — a tested template kills prompt-to-prompt variation the way a calibrated gauge kills measurement variation.</a:t>
            </a:r>
          </a:p>
          <a:p xmlns:a="http://schemas.openxmlformats.org/drawingml/2006/main"/>
          <a:p xmlns:a="http://schemas.openxmlformats.org/drawingml/2006/main">
            <a:r>
              <a:t>CONTENT —</a:t>
            </a: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xmlns:a="http://schemas.openxmlformats.org/drawingml/2006/main">
            <a:r>
              <a:t>The Template Creator, taxonomy reference AND cheat sheet mirror this framing (v1.8).</a:t>
            </a:r>
          </a:p>
          <a:p xmlns:a="http://schemas.openxmlformats.org/drawingml/2006/main">
            <a:r>
              <a:t>26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Frame: “Seventy years in one slide — as four eras.”</a:t>
            </a:r>
          </a:p>
          <a:p>
            <a:r>
              <a:t>2) Per card LEFT TO RIGHT: name the era → point at the little diagram (a hand-typed rulebook · circles passing signals, tuned from examples · predict-the-next-word · plan-act-check on a loop) → one sentence of story → the italic “gave us” line, which is the era’s legacy in products.</a:t>
            </a:r>
          </a:p>
          <a:p>
            <a:r>
              <a:t>3) Pause once on “AI winters”: over-promising collapsed funding twice — skepticism is historically earned.</a:t>
            </a:r>
          </a:p>
          <a:p>
            <a:r>
              <a:t>4) Close on the amber band: scaling laws.</a:t>
            </a:r>
          </a:p>
          <a:p/>
          <a:p>
            <a:r>
              <a:t>BRIDGE —</a:t>
            </a:r>
          </a:p>
          <a:p>
            <a:r>
              <a:t>“Zoom into the decade that changed work.”</a:t>
            </a:r>
          </a:p>
          <a:p/>
          <a:p>
            <a:r>
              <a:t>ACRONYMS —</a:t>
            </a:r>
          </a:p>
          <a:p>
            <a:r>
              <a:t>GPU = Graphics Processing Unit — the graphics chip class perfect for training neural networks (AlexNet, 2012).</a:t>
            </a:r>
          </a:p>
          <a:p>
            <a:r>
              <a:t>LLM = Large Language Model.</a:t>
            </a:r>
          </a:p>
          <a:p/>
          <a:p>
            <a:r>
              <a:t>CONTENT —</a:t>
            </a:r>
          </a:p>
          <a:p>
            <a:r>
              <a:t>v1.6: “gave us” outcome lines added per era (owner request), verified items only — MYCIN/XCON, spam/search/recommendations/AlexNet, ChatGPT/image generation, coding &amp; office agents (r1, r2).</a:t>
            </a:r>
          </a:p>
          <a:p>
            <a:r>
              <a:t>The eras framing is a teaching synthesis — “a useful way to see 70 years,” not official taxonomy.</a:t>
            </a:r>
          </a:p>
          <a:p>
            <a:r>
              <a:t>Rules era = writing the SOP yourself; learning era = deriving the SOP from a thousand examples. (SOP = Standard Operating Procedure.)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Frame: “software got the headlines — hardware made it possible. Four beats, left to right.”</a:t>
            </a:r>
          </a:p>
          <a:p>
            <a:r>
              <a:t>2) ① Moore’s law in one sentence: chips doubled their transistors every ~2 years for 50 years — 1971: 2,300; 2024: 208 billion, ~90 million times more. Status 2026: slowing to ~3-year doublings, not dead.</a:t>
            </a:r>
          </a:p>
          <a:p>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p>
          <a:p>
            <a:r>
              <a:t>4) ③ The chart — the punchline of the slide: if AI compute had grown at Moore’s pace since 2012 it would be ~45× bigger. It is ~45 MILLION times bigger. The gap was bought with chips, clusters, and electricity — that gap IS the data-center boom.</a:t>
            </a:r>
          </a:p>
          <a:p>
            <a:r>
              <a:t>5) ④ Train / serve / power — and the honest caveat aloud: a lot of what you read about is ANNOUNCED, not built.</a:t>
            </a:r>
          </a:p>
          <a:p>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p>
          <a:p/>
          <a:p>
            <a:r>
              <a:t>BRIDGE —</a:t>
            </a:r>
          </a:p>
          <a:p>
            <a:r>
              <a:t>“That’s the machinery. Now — what is the model itself actually doing? Under the hood.”</a:t>
            </a:r>
          </a:p>
          <a:p/>
          <a:p>
            <a:r>
              <a:t>ACRONYMS —</a:t>
            </a:r>
          </a:p>
          <a:p>
            <a:r>
              <a:t>GPU = Graphics Processing Unit — thousands of simple cores doing the same math at once (a CPU: a few smart cores, one task at a time).</a:t>
            </a:r>
          </a:p>
          <a:p>
            <a:r>
              <a:t>CUDA = Nvidia’s software for running ANY computation on its graphics chips (2006) — the moat is the software, not just the chips.</a:t>
            </a:r>
          </a:p>
          <a:p>
            <a:r>
              <a:t>IEA = International Energy Agency. FLOP = floating-point operation (the compute unit behind the chart).</a:t>
            </a:r>
          </a:p>
          <a:p/>
          <a:p>
            <a:r>
              <a:t>CONTENT —</a:t>
            </a:r>
          </a:p>
          <a:p>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p>
          <a:p>
            <a:r>
              <a:t>If asked about “Huang’s law” (AI chips beating Moore’s law): Nvidia’s claim for whole SYSTEMS; independent measurement (Epoch) puts GPU price-performance doubling at ~2.5 years — say “the marketing outruns the measurement.”</a:t>
            </a:r>
          </a:p>
          <a:p>
            <a:r>
              <a:t>Stargate, if asked: announced Jan 2025 at “up to $500B”; by mid-2026 ~7 GW PLANNED across 7 US sites, first campus (Abilene, TX) partially live — announced ≠ built.</a:t>
            </a:r>
          </a:p>
          <a:p>
            <a:r>
              <a:t>US–China chip angle, one line if asked: US export restrictions since Oct 2022; an Apr 2025 license rule forced Nvidia to write down $5.5B on its China-market chip.</a:t>
            </a:r>
          </a:p>
          <a:p>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Open with the improv actor, spoken: “an improv actor never breaks character — the show must go on, so gaps get filled with the most plausible line. That is your AI on a thin-data day.”</a:t>
            </a:r>
          </a:p>
          <a:p>
            <a:r>
              <a:t>2) Left bullets: the mechanism; the bold OpenAI 2025 finding — the vendor itself says benchmarks reward guessing; the vocabulary upgrade — CONFABULATION.</a:t>
            </a:r>
          </a:p>
          <a:p>
            <a:r>
              <a:t>3) Right: meet the four CHARACTERS — say the nicknames with theater: the confident guess · the fake receipt · the joke taken seriously · garbage in, gospel out. One line each; each returns as a real incident on the next slide.</a:t>
            </a:r>
          </a:p>
          <a:p>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a:r>
              <a:t>5) Presenter story for character 1 if you want one: Google Bard’s launch demo flubbed a telescope fact — details on the next slide’s notes.</a:t>
            </a:r>
          </a:p>
          <a:p/>
          <a:p>
            <a:r>
              <a:t>BRIDGE —</a:t>
            </a:r>
          </a:p>
          <a:p>
            <a:r>
              <a:t>“What do these characters look like in public? The hall of shame.”</a:t>
            </a:r>
          </a:p>
          <a:p/>
          <a:p>
            <a:r>
              <a:t>ACRONYMS —</a:t>
            </a:r>
          </a:p>
          <a:p>
            <a:r>
              <a:t>none new on this slide.</a:t>
            </a:r>
          </a:p>
          <a:p/>
          <a:p>
            <a:r>
              <a:t>CONTENT —</a:t>
            </a:r>
          </a:p>
          <a:p>
            <a:r>
              <a:t>v1.7: abstain-vs-guess chart added (r23: SimpleQA numbers from arXiv:2509.04664 + the GPT-5 system card — o4-mini 24/75/1 vs gpt-5-thinking-mini 22/26/52; the on-slide caveat is mandatory).</a:t>
            </a:r>
          </a:p>
          <a:p>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a:r>
              <a:t>v1.6: the four kinds became named characters (owner: more engaging). Teaching frame grounded in r10/r2/r14 — not claimed as academic taxonomy.</a:t>
            </a:r>
          </a:p>
          <a:p>
            <a:r>
              <a:t>OpenAI 2025 = “Why language models hallucinate” (arXiv:2509.04664).</a:t>
            </a:r>
          </a:p>
          <a:p>
            <a:r>
              <a:t>R14: the italic footer (“Four characters — one root: the show must go on. Next slide: what they cost in public.”) was removed from the slide — speak it as the closing line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Walk the four cards — laugh at glue-on-pizza, then take the temperature down.</a:t>
            </a:r>
          </a:p>
          <a:p>
            <a:r>
              <a:t>2) Glue on pizza, plainly: someone posted a JOKE; the AI served it as advice — “the joke taken seriously.”</a:t>
            </a:r>
          </a:p>
          <a:p>
            <a:r>
              <a:t>3) The lawyer: he checked the fabrication WITH the fabricator. Verification lives OUTSIDE the tool.</a:t>
            </a:r>
          </a:p>
          <a:p>
            <a:r>
              <a:t>4) Air Canada: small money (~CA$800), giant precedent.</a:t>
            </a:r>
          </a:p>
          <a:p>
            <a:r>
              <a:t>5) The Big Four arc: three global consultancies, three fabricated-source scandals in nine months — the last one a report ABOUT doing AI well.</a:t>
            </a:r>
          </a:p>
          <a:p>
            <a:r>
              <a:t>6) Amber → teal → red bands, in order; the house rule VERBATIM — policy, not advice.</a:t>
            </a:r>
          </a:p>
          <a:p/>
          <a:p>
            <a:r>
              <a:t>BRIDGE —</a:t>
            </a:r>
          </a:p>
          <a:p>
            <a:r>
              <a:t>“That closes the concepts — now, the tool landscape.”</a:t>
            </a:r>
          </a:p>
          <a:p/>
          <a:p>
            <a:r>
              <a:t>ACRONYMS —</a:t>
            </a:r>
          </a:p>
          <a:p>
            <a:r>
              <a:t>none new on this slide.</a:t>
            </a:r>
          </a:p>
          <a:p/>
          <a:p>
            <a:r>
              <a:t>CONTENT —</a:t>
            </a:r>
          </a:p>
          <a:p>
            <a:r>
              <a:t>All incidents verified with sources, dates and MANDATORY phrasing caveats in notes/research/r14_hallucination_incidents.md.</a:t>
            </a:r>
          </a:p>
          <a:p>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p>
          <a:p>
            <a:r>
              <a:t>None of the cures eliminates hallucination — they convert unverifiable claims into verifiable ones.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Say it as one sentence first: “the AI is a mirror — it agrees with you about half again as often as a person would.” Then the +49%.</a:t>
            </a:r>
          </a:p>
          <a:p>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a:r>
              <a:t>3) Countermeasures — read all four; the first changes behavior TODAY.</a:t>
            </a:r>
          </a:p>
          <a:p>
            <a:r>
              <a:t>4) The see-it-yourself box: genuinely encourage them to run it tonight on a real paragraph — the two-chat contrast is self-demonstrating. The read-more prompt has the out built in (“say not verified”) — that’s Proven #4, practiced.</a:t>
            </a:r>
          </a:p>
          <a:p/>
          <a:p>
            <a:r>
              <a:t>BRIDGE —</a:t>
            </a:r>
          </a:p>
          <a:p>
            <a:r>
              <a:t>“So what’s current best practice, all in one place? The playbook.”</a:t>
            </a:r>
          </a:p>
          <a:p/>
          <a:p>
            <a:r>
              <a:t>ACRONYMS —</a:t>
            </a:r>
          </a:p>
          <a:p>
            <a:r>
              <a:t>CMU = Carnegie Mellon University (co-authors of the Science study).</a:t>
            </a:r>
          </a:p>
          <a:p/>
          <a:p>
            <a:r>
              <a:t>CONTENT —</a:t>
            </a:r>
          </a:p>
          <a:p>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a:r>
              <a:t>Handled with care: no medical claims from the “AI psychosis” coverage; countermeasures are the deck’s standing blind-review discipline.</a:t>
            </a:r>
          </a:p>
          <a:p>
            <a:r>
              <a:t>Font-policy pass: the on-slide read-more line was removed (owner: fewer footnotes) — give it verbally or on request: ask your AI to “search the web for the April 2025 ChatGPT sycophancy rollback and two 2025+ studies — cite sources, say ‘not verified’ if unsure.”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 QUARTERLY — owner: Oscar]</a:t>
            </a:r>
          </a:p>
          <a:p/>
          <a:p>
            <a:r>
              <a:t>HOW TO PRESENT —</a:t>
            </a:r>
          </a:p>
          <a:p>
            <a:r>
              <a:t>1) Frame: “six trading cards — the big bold line on each is what that assistant is genuinely KNOWN FOR. Pick by task, not habit.”</a:t>
            </a:r>
          </a:p>
          <a:p>
            <a:r>
              <a:t>2) Walk the Z: ChatGPT → Gemini → Copilot (the three everyone already has), then Claude → Perplexity → Grok. Say the bold line, one evidence beat, move on; let the amber caveats be read, not spoken.</a:t>
            </a:r>
          </a:p>
          <a:p>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p>
          <a:p>
            <a:r>
              <a:t>4) On Copilot, land the licensing fact: Microsoft’s Cowork agent runs on Claude technology — tiers matter more than brand wars.</a:t>
            </a:r>
          </a:p>
          <a:p>
            <a:r>
              <a:t>5) Footer: the trust question is TWO SLIDES AHEAD; fortes verified Sep 9, 2026 and they WILL move.</a:t>
            </a:r>
          </a:p>
          <a:p/>
          <a:p>
            <a:r>
              <a:t>BRIDGE —</a:t>
            </a:r>
          </a:p>
          <a:p>
            <a:r>
              <a:t>“One force reshaped this list — the Chinese open-weight wave.”</a:t>
            </a:r>
          </a:p>
          <a:p/>
          <a:p>
            <a:r>
              <a:t>ACRONYMS —</a:t>
            </a:r>
          </a:p>
          <a:p>
            <a:r>
              <a:t>SWE-bench = Software Engineering benchmark — the standard test of coding-agent ability.</a:t>
            </a:r>
          </a:p>
          <a:p>
            <a:r>
              <a:t>GDPval = OpenAI’s benchmark of 220 real knowledge-work tasks across 44 occupations.</a:t>
            </a:r>
          </a:p>
          <a:p>
            <a:r>
              <a:t>CJR = Columbia Journalism Review (its Tow Center tested AI search citation accuracy).</a:t>
            </a:r>
          </a:p>
          <a:p>
            <a:r>
              <a:t>X = the social platform (Grok’s data source).</a:t>
            </a:r>
          </a:p>
          <a:p/>
          <a:p>
            <a:r>
              <a:t>CONTENT —</a:t>
            </a:r>
          </a:p>
          <a:p>
            <a:r>
              <a:t>v1.12 (owner edits, ported): evidence lines enlarged (his 14pt did not fit the fixed cards — set to the max that does, 11pt; caveats 10.5) and the “Fortes verified Sep 9, 2026 — they will move” footer removed from the slide: say it from point 5 instead.</a:t>
            </a:r>
          </a:p>
          <a:p>
            <a:r>
              <a:t>v1.6: rebuilt as identity trading cards (assertion-evidence layout, r19) with real product logos; Perplexity’s known-for now leads with the CJR error-rate comparison (the ~94%-with-citations figure was less meaningful — audit H3).</a:t>
            </a:r>
          </a:p>
          <a:p>
            <a:r>
              <a:t>Every claim evidence-backed in notes/research/r13_reputations_r1.md:</a:t>
            </a:r>
          </a:p>
          <a:p>
            <a:r>
              <a:t>Writing: owner’s hunch was “ChatGPT writes better” — 2026 evals say otherwise (LMArena creative-writing June 2026: Anthropic six of top ten, #1; EQ-Bench Aug 2026 agrees). ChatGPT’s honest forte is speed, options, marketing copy.</a:t>
            </a:r>
          </a:p>
          <a:p>
            <a:r>
              <a:t>Claude: SWE-bench ~96% (Sept 2026); GDPval winner (OpenAI’s own eval, Sept 2025); GDPval-AA v2 leader Sept 2026.</a:t>
            </a:r>
          </a:p>
          <a:p>
            <a:r>
              <a:t>Copilot: 30M+ paid seats (Microsoft FY26 Q4, Jul 2026); Copilot Cowork licenses Claude Cowork technology (Mar 2026).</a:t>
            </a:r>
          </a:p>
          <a:p>
            <a:r>
              <a:t>Vendor benchmark numbers are marketing until independently reproduced — read them as claims.</a:t>
            </a:r>
          </a:p>
          <a:p>
            <a:r>
              <a:t>Grok note: xAI was acquired by SpaceX (Feb 2026).</a:t>
            </a:r>
          </a:p>
          <a:p>
            <a:r>
              <a:t>Logos: official site favicons (assets/logos/) — referential brand use inside an internal training deck.</a:t>
            </a:r>
          </a:p>
          <a:p>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p>
          <a:p>
            <a:r>
              <a:t>R14 type pass: sub-labels trimmed to fit 9pt — Perplexity’s Model Council = GPT+Claude+Gemini; footer teaser (“whose servers? two slides ahead — the account tier decides, not the logo”) now spoken from point 5, not printed.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Why this slide exists, in one line: “half the prompting advice on the internet is from 2023 — here is the 2026 state of play, in three columns: keep, avoid, unlearn.”</a:t>
            </a:r>
          </a:p>
          <a:p>
            <a:r>
              <a:t>2) GREEN column, fast — these five are Part 3 itself, condensed; nothing new, that’s the point.</a:t>
            </a:r>
          </a:p>
          <a:p>
            <a:r>
              <a:t>3) RED column — slow on 3 and 4: bare “do not hallucinate” backfires (models start refusing facts that ARE in the context — researchers call it a Safety Tax; the positive out-and-cite pattern is the fix), and “are you sure?” is not verification (last slide’s mirror).</a:t>
            </a:r>
          </a:p>
          <a:p>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a:r>
              <a:t>5) Teal band: the full 8+8+8 with sources lives in the PLAYBOOK tab; the Field Guide’s compendium chapter (part 5) carries the WHY behind every line. And the coherence beat: give-an-out is “don’t hallucinate” said positively — a live demo of “say what TO do.”</a:t>
            </a:r>
          </a:p>
          <a:p/>
          <a:p>
            <a:r>
              <a:t>COHERENCE SEAMS (if someone spots a “contradiction”) —</a:t>
            </a:r>
          </a:p>
          <a:p>
            <a:r>
              <a:t>Numeric caps vs no-absolutes: caps constrain QUANTITY; ALWAYS/NEVER locks JUDGMENT — reserve absolutes for true invariants.</a:t>
            </a:r>
          </a:p>
          <a:p>
            <a:r>
              <a:t>Bookending vs no-repetition: repeat verbatim at both ends of LONG context, or not at all — paraphrased blanket repetition is the anti-pattern.</a:t>
            </a:r>
          </a:p>
          <a:p>
            <a:r>
              <a:t>Task detail vs rule-piling: detail = information density (helps); piling = rule COUNT (past ~150, quality sags, early rules win).</a:t>
            </a:r>
          </a:p>
          <a:p>
            <a:r>
              <a:t>CoT expired only on frontier reasoning models — still legitimate on small/local/non-thinking models.</a:t>
            </a:r>
          </a:p>
          <a:p/>
          <a:p>
            <a:r>
              <a:t>BRIDGE —</a:t>
            </a:r>
          </a:p>
          <a:p>
            <a:r>
              <a:t>“The craft is stable — here’s the habit that compounds it.”</a:t>
            </a:r>
          </a:p>
          <a:p/>
          <a:p>
            <a:r>
              <a:t>ACRONYMS —</a:t>
            </a:r>
          </a:p>
          <a:p>
            <a:r>
              <a:t>CoT = Chain-of-Thought — the old “think step by step” style, now built into thinking models.</a:t>
            </a:r>
          </a:p>
          <a:p/>
          <a:p>
            <a:r>
              <a:t>CONTENT —</a:t>
            </a:r>
          </a:p>
          <a:p>
            <a:r>
              <a:t>What did NOT change (say if the room looks nervous): clarity, context, format, the out, grounding, iteration — the anatomy applies to every model they will ever use; scaffolding tricks retire, briefing skills compound.</a:t>
            </a:r>
          </a:p>
          <a:p>
            <a:r>
              <a:t>v1.13 (owner request): the standalone playbook one-pager was RETIRED — its content merged into the Field Guide (part 5: the full works/myth/expired compendium with the why per line) and the cheat sheet (compact box). The PLAYBOOK workbook tab remains the sources reference.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3:00 badge. Frame the payoff: “your very first prompt today told the AI to remember everything — now you collect.” Both steps run in the SAME chat they have used all course (the course log).</a:t>
            </a:r>
          </a:p>
          <a:p>
            <a:r>
              <a:t>2) STEP 1: the log lists every prompt it has seen, with what each taught. Let people scroll their own list — that quiet moment of “I did all that” is the point.</a:t>
            </a:r>
          </a:p>
          <a:p>
            <a:r>
              <a:t>3) STEP 2: the one-page course report — seven elements with THEIR examples, the loop, and their three reuse prompts. Note the craft inside the prompt itself: it carries an Out (UNKNOWN, don’t invent) and a Stop (deliver, then stop) — the course’s own rules, applied to the course.</a:t>
            </a:r>
          </a:p>
          <a:p>
            <a:r>
              <a:t>4) Neighbor compare: which three prompts made THEIR reuse list. Public commitment sticks.</a:t>
            </a:r>
          </a:p>
          <a:p>
            <a:r>
              <a:t>5) Recovery (someone started a fresh chat mid-course, or their tool lost the thread): pair them with a neighbor’s log, or point at tab EX-Report — the numbered prompts are all there to rebuild from. The HANDOFF move from Part 1 is exactly the repair tool.</a:t>
            </a:r>
          </a:p>
          <a:p>
            <a:r>
              <a:t>6) Skip only under extreme time pressure — this rep converts the course into an artifact they keep.</a:t>
            </a:r>
          </a:p>
          <a:p/>
          <a:p>
            <a:r>
              <a:t>ACRONYMS —</a:t>
            </a:r>
          </a:p>
          <a:p>
            <a:r>
              <a:t>none new on this slide.</a:t>
            </a:r>
          </a:p>
          <a:p/>
          <a:p>
            <a:r>
              <a:t>CONTENT —</a:t>
            </a:r>
          </a:p>
          <a:p>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a:r>
              <a:t>The report doubles as Part 6 setup: it is literally their first library entry.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Progress bar: part 4. One frame: “thirteen templates ship with this training — we walk two worked examples end to end and run one live demo; the rest is your handout.”</a:t>
            </a:r>
          </a:p>
          <a:p>
            <a:r>
              <a:t>2) Point at the list: G = generative, runs in any chat tool; A (in teal) = agentic, for Claude Code / Cowork-class tools — Part 5’s world.</a:t>
            </a:r>
          </a:p>
          <a:p>
            <a:r>
              <a:t>3) Emphasize once: starting points to adapt, not scripts.</a:t>
            </a:r>
          </a:p>
          <a:p>
            <a:r>
              <a:t>4) Advance within 30 seconds.</a:t>
            </a:r>
          </a:p>
          <a:p/>
          <a:p>
            <a:r>
              <a:t>ACRONYMS —</a:t>
            </a:r>
          </a:p>
          <a:p>
            <a:r>
              <a:t>ETL = Extract, Transform, Load — A2’s data-pipeline shape. CLAUDE.md = the standing-instructions file agents read at session start (A4). HTML = the single-file web-page format (G6).</a:t>
            </a:r>
          </a:p>
          <a:p/>
          <a:p>
            <a:r>
              <a:t>CONTENT —</a:t>
            </a:r>
          </a:p>
          <a:p>
            <a:r>
              <a:t>These are starting points to adapt, not scripts. Generative templates (G) run in any chat assistant; agentic templates (A, in teal) are for Claude Code / Cowork-class tools — Part 5 explains them.</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PRESENT —</a:t>
            </a:r>
          </a:p>
          <a:p>
            <a:r>
              <a:t>1) Frame with the visual: “THIS is what a serious prompt looks like — a one-page DOCUMENT with labeled blocks, not a sentence. The other twelve templates share this shape.”</a:t>
            </a:r>
          </a:p>
          <a:p>
            <a:r>
              <a:t>2) Walk the page TOP TO BOTTOM; per block: name it, one line on what goes in, then read the matching right-hand WHY aloud — the why is the teaching.</a:t>
            </a:r>
          </a:p>
          <a:p>
            <a:r>
              <a:t>3) Slow on &lt;method&gt;: “reconcile to a known total — one anchor beats ten checks.”</a:t>
            </a:r>
          </a:p>
          <a:p>
            <a:r>
              <a:t>4) Teal band — the workbook system, said once for the whole course: every prompt they will ever need today is copy-paste ready in a NAMED TAB of the Course Workbook. Nobody retypes anything.</a:t>
            </a:r>
          </a:p>
          <a:p/>
          <a:p>
            <a:r>
              <a:t>BRIDGE —</a:t>
            </a:r>
          </a:p>
          <a:p>
            <a:r>
              <a:t>“Enough anatomy — let’s RUN it, on a real file, step by step.”</a:t>
            </a:r>
          </a:p>
          <a:p/>
          <a:p>
            <a:r>
              <a:t>ACRONYMS —</a:t>
            </a:r>
          </a:p>
          <a:p>
            <a:r>
              <a:t>LLM = Large Language Model. n = sample size (flag n &lt; 20). G2 = this template’s library code.</a:t>
            </a:r>
          </a:p>
          <a:p/>
          <a:p>
            <a:r>
              <a:t>CONTENT —</a:t>
            </a:r>
          </a:p>
          <a:p>
            <a:r>
              <a:t>v1.6: rebuilt as a document mock with side-car whys (owner: more visual); workbook-tab pointer added (owner: all prompts copyable from Excel).</a:t>
            </a:r>
          </a:p>
          <a:p>
            <a:r>
              <a:t>Evidence for code-not-vibes: GPT-4 scored ~59% on 3-digit × 3-digit multiplication, falling toward zero as digits grow (Faith and Fate, NeurIPS 2023) — code execution hands the model a calculator. All four major tools now run code for analysis.</a:t>
            </a:r>
          </a:p>
          <a:p>
            <a:r>
              <a:t>For recurring or multi-file pipelines, the agentic sibling is A2 (Part 5).</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0:50 (TEACH).</a:t>
            </a:r>
          </a:p>
          <a:p>
            <a:r>
              <a:t>Name each failure, then its cure: POISONING (one bad fact early, everything builds on it), DRIFT (long run loses the mission), CONFUSION (too many tools on the desk), CLASH (two sources disagree, the run silently picks one).</a:t>
            </a:r>
          </a:p>
          <a:p>
            <a:r>
              <a:t>Right panel answers the room's real question — 'why did it ignore me?': instructions stack in layers and resolve by precedence; the message you typed is the easiest layer to lose.</a:t>
            </a:r>
          </a:p>
          <a:p>
            <a:r>
              <a:t>Land the footnote: the requirements grid diagnosed the PROMPT; this grid diagnoses the RUN.</a:t>
            </a:r>
          </a:p>
          <a:p>
            <a:r>
              <a:t>Transition: 'So let's write specifications a run can't lose.' → Part 3.</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0:20 — point, don't read.</a:t>
            </a:r>
          </a:p>
          <a:p>
            <a:r>
              <a:t>Three shelves: mindset first (Mollick), then the craft (the two O'Reilly prompt-engineering books), then engineering depth (Huyen; Alammar &amp; Grootendorst).</a:t>
            </a:r>
          </a:p>
          <a:p>
            <a:r>
              <a:t>The last line is the real assignment: one real task teaches faster than any book.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 live. This page exists so every dated claim on the slides can be traced to a source. Everything is a September 2026 snapshot — re-verify before reusing any number.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closing section, about 2:00 total, if the room asks how the deck was built.</a:t>
            </a:r>
          </a:p>
          <a:p>
            <a:r>
              <a:t>The hook: this course was produced exactly the way it teaches — one human directing AI agents against clear requirements, with verification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three roles briefly.</a:t>
            </a:r>
          </a:p>
          <a:p>
            <a:r>
              <a:t>Emphasize the design: the two agents never talked directly — a shared, fully logged GitHub channel, plus one human gate. The safety came from the process, not from trusting any model.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of the four stories rather than reading all of them.</a:t>
            </a:r>
          </a:p>
          <a:p>
            <a:r>
              <a:t>The bypass attempt lands hardest: messages arrived claiming the owner had already approved — and a claim of approval inside a message is not approval.</a:t>
            </a:r>
          </a:p>
          <a:p>
            <a:r>
              <a:t>Then 'review ran both ways': each agent caught the other's real mistakes; when they disagreed, the actual files settled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these five. If the room remembers one: the human gate does not move.</a:t>
            </a:r>
          </a:p>
          <a:p>
            <a:r>
              <a:t>Tie back to the course log they opened on slide 2 — they have been practicing verify-then-trust all session.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p xmlns:a="http://schemas.openxmlformats.org/drawingml/2006/main">
            <a:r>
              <a:t>TIME: 0:00 (optional self-study; no live allocation)</a:t>
            </a:r>
          </a:p>
          <a:p xmlns:a="http://schemas.openxmlformats.org/drawingml/2006/main"/>
          <a:p xmlns:a="http://schemas.openxmlformats.org/drawingml/2006/main">
            <a:r>
              <a:t>PURPOSE: Support independent study with the detailed explanation or checked exercise material.</a:t>
            </a:r>
          </a:p>
          <a:p xmlns:a="http://schemas.openxmlformats.org/drawingml/2006/main"/>
          <a:p xmlns:a="http://schemas.openxmlformats.org/drawingml/2006/main">
            <a:r>
              <a:t>LAND THIS: A strong prompt specifies the task, source, output, and important boundaries.</a:t>
            </a:r>
          </a:p>
          <a:p xmlns:a="http://schemas.openxmlformats.org/drawingml/2006/main"/>
          <a:p xmlns:a="http://schemas.openxmlformats.org/drawingml/2006/main">
            <a:r>
              <a:t>SAY:</a:t>
            </a:r>
          </a:p>
          <a:p xmlns:a="http://schemas.openxmlformats.org/drawingml/2006/main">
            <a:r>
              <a:t>- Use this page to study a prompt is a small work specification after the workshop.</a:t>
            </a:r>
          </a:p>
          <a:p xmlns:a="http://schemas.openxmlformats.org/drawingml/2006/main">
            <a:r>
              <a:t>- Check the examples against your own task and return to the corresponding live summary.</a:t>
            </a:r>
          </a:p>
          <a:p xmlns:a="http://schemas.openxmlformats.org/drawingml/2006/main"/>
          <a:p xmlns:a="http://schemas.openxmlformats.org/drawingml/2006/main">
            <a:r>
              <a:t>DO: None.</a:t>
            </a:r>
          </a:p>
          <a:p xmlns:a="http://schemas.openxmlformats.org/drawingml/2006/main"/>
          <a:p xmlns:a="http://schemas.openxmlformats.org/drawingml/2006/main">
            <a:r>
              <a:t>BRIDGE: Optional self-study. Return to the related live slide or continue the reference material as needed.</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ANATOMY</a:t>
            </a:r>
          </a:p>
          <a:p xmlns:a="http://schemas.openxmlformats.org/drawingml/2006/main">
            <a:r>
              <a:t>21</a:t>
            </a:r>
          </a:p>
          <a:p xmlns:a="http://schemas.openxmlformats.org/drawingml/2006/main">
            <a:r>
              <a:t>THE UNIVERSAL ANATOMY</a:t>
            </a:r>
          </a:p>
          <a:p xmlns:a="http://schemas.openxmlformats.org/drawingml/2006/main">
            <a:r>
              <a:t>Seven parts, one body — what good looks like</a:t>
            </a:r>
          </a:p>
          <a:p xmlns:a="http://schemas.openxmlformats.org/drawingml/2006/main">
            <a:r>
              <a:t>ROLE</a:t>
            </a:r>
          </a:p>
          <a:p xmlns:a="http://schemas.openxmlformats.org/drawingml/2006/main">
            <a:r>
              <a:t>“You are a precise editor. You add no facts that are not in the source.”</a:t>
            </a:r>
          </a:p>
          <a:p xmlns:a="http://schemas.openxmlformats.org/drawingml/2006/main">
            <a:r>
              <a:t>TASK</a:t>
            </a:r>
          </a:p>
          <a:p xmlns:a="http://schemas.openxmlformats.org/drawingml/2006/main">
            <a:r>
              <a:t>“Summarize the attached Q2 returns report for the operations lead.”</a:t>
            </a:r>
          </a:p>
          <a:p xmlns:a="http://schemas.openxmlformats.org/drawingml/2006/main">
            <a:r>
              <a:t>CONTEXT</a:t>
            </a:r>
          </a:p>
          <a:p xmlns:a="http://schemas.openxmlformats.org/drawingml/2006/main">
            <a:r>
              <a:t>“We’re a mid-size electronics manufacturer. Return rate = returns ÷ shipped. The export has a totals row — exclude it.”</a:t>
            </a:r>
          </a:p>
          <a:p xmlns:a="http://schemas.openxmlformats.org/drawingml/2006/main">
            <a:r>
              <a:t>FORMAT</a:t>
            </a:r>
          </a:p>
          <a:p xmlns:a="http://schemas.openxmlformats.org/drawingml/2006/main">
            <a:r>
              <a:t>“≤ 150 words: the headline number first, then three bullets.”</a:t>
            </a:r>
          </a:p>
          <a:p xmlns:a="http://schemas.openxmlformats.org/drawingml/2006/main">
            <a:r>
              <a:t>EXAMPLES</a:t>
            </a:r>
          </a:p>
          <a:p xmlns:a="http://schemas.openxmlformats.org/drawingml/2006/main">
            <a:r>
              <a:t>&lt;example&gt; March’s summary — the one the team liked &lt;/example&gt;</a:t>
            </a:r>
          </a:p>
          <a:p xmlns:a="http://schemas.openxmlformats.org/drawingml/2006/main">
            <a:r>
              <a:t>THE OUT</a:t>
            </a:r>
          </a:p>
          <a:p xmlns:a="http://schemas.openxmlformats.org/drawingml/2006/main">
            <a:r>
              <a:t>“Anything the report doesn’t state: write UNKNOWN — never estimate. List the gaps at the end.”</a:t>
            </a:r>
          </a:p>
          <a:p xmlns:a="http://schemas.openxmlformats.org/drawingml/2006/main">
            <a:r>
              <a:t>THE STOP</a:t>
            </a:r>
          </a:p>
          <a:p xmlns:a="http://schemas.openxmlformats.org/drawingml/2006/main">
            <a:r>
              <a:t>“Deliver the summary, then stop — nothing beyond.”</a:t>
            </a:r>
          </a:p>
          <a:p xmlns:a="http://schemas.openxmlformats.org/drawingml/2006/main">
            <a:r>
              <a:t>Note the industry line: what business you’re in is CONTEXT — name your world; never assume it knows.</a:t>
            </a:r>
          </a:p>
          <a:p xmlns:a="http://schemas.openxmlformats.org/drawingml/2006/main">
            <a:r>
              <a:t>The Out, defined: the escape route for missing information — name the honest move (write UNKNOWN · never estimate · list the gaps), so the model never has to choose between obeying you and being honest.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“one prompt, seven parts — and the parts make a BODY. Everything in Part 3 is refinements of this picture.”</a:t>
            </a: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p>
          <a:p xmlns:a="http://schemas.openxmlformats.org/drawingml/2006/main">
            <a:r>
              <a:t>3) RIGHT card: the same body written out — read it top to bottom as ONE continuous prompt (~90 words, under two minutes to write).</a:t>
            </a: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p>
          <a:p xmlns:a="http://schemas.openxmlformats.org/drawingml/2006/main">
            <a:r>
              <a:t>6) Teal band: read the Out definition verbatim — it is the slide’s one formal definition.</a:t>
            </a:r>
          </a:p>
          <a:p xmlns:a="http://schemas.openxmlformats.org/drawingml/2006/main"/>
          <a:p xmlns:a="http://schemas.openxmlformats.org/drawingml/2006/main">
            <a:r>
              <a:t>BRIDGE —</a:t>
            </a:r>
          </a:p>
          <a:p xmlns:a="http://schemas.openxmlformats.org/drawingml/2006/main">
            <a:r>
              <a:t>“Now each element properly — and what each one BUYS you.”</a:t>
            </a:r>
          </a:p>
          <a:p xmlns:a="http://schemas.openxmlformats.org/drawingml/2006/main"/>
          <a:p xmlns:a="http://schemas.openxmlformats.org/drawingml/2006/main">
            <a:r>
              <a:t>ACRONYMS —</a:t>
            </a:r>
          </a:p>
          <a:p xmlns:a="http://schemas.openxmlformats.org/drawingml/2006/main">
            <a:r>
              <a:t>Q2 = second quarter. XML-style tags = the angle-bracket fences around examples.</a:t>
            </a:r>
          </a:p>
          <a:p xmlns:a="http://schemas.openxmlformats.org/drawingml/2006/main"/>
          <a:p xmlns:a="http://schemas.openxmlformats.org/drawingml/2006/main">
            <a:r>
              <a:t>CONTENT —</a:t>
            </a: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p>
          <a:p xmlns:a="http://schemas.openxmlformats.org/drawingml/2006/main">
            <a:r>
              <a:t>Anthropic’s golden rule belongs in the room: show the prompt to a colleague with minimal context — if they’d be confused, the model will be too.</a:t>
            </a:r>
          </a:p>
          <a:p xmlns:a="http://schemas.openxmlformats.org/drawingml/2006/main">
            <a:r>
              <a:t>If the cold open was used: this slide is its debrief — the vague line is the returns-data prompt with every element filled in.</a:t>
            </a:r>
          </a:p>
          <a:p xmlns:a="http://schemas.openxmlformats.org/drawingml/2006/main">
            <a:r>
              <a:t>21</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p xmlns:a="http://schemas.openxmlformats.org/drawingml/2006/main">
            <a:r>
              <a:t>TIME: 0:00 (optional self-study; no live allocation)</a:t>
            </a:r>
          </a:p>
          <a:p xmlns:a="http://schemas.openxmlformats.org/drawingml/2006/main"/>
          <a:p xmlns:a="http://schemas.openxmlformats.org/drawingml/2006/main">
            <a:r>
              <a:t>PURPOSE: Support independent study with the detailed explanation or checked exercise material.</a:t>
            </a:r>
          </a:p>
          <a:p xmlns:a="http://schemas.openxmlformats.org/drawingml/2006/main"/>
          <a:p xmlns:a="http://schemas.openxmlformats.org/drawingml/2006/main">
            <a:r>
              <a:t>LAND THIS: Prompting improves through plan, run, check, and revise.</a:t>
            </a:r>
          </a:p>
          <a:p xmlns:a="http://schemas.openxmlformats.org/drawingml/2006/main"/>
          <a:p xmlns:a="http://schemas.openxmlformats.org/drawingml/2006/main">
            <a:r>
              <a:t>SAY:</a:t>
            </a:r>
          </a:p>
          <a:p xmlns:a="http://schemas.openxmlformats.org/drawingml/2006/main">
            <a:r>
              <a:t>- Use this page to study the improvement loop after the workshop.</a:t>
            </a:r>
          </a:p>
          <a:p xmlns:a="http://schemas.openxmlformats.org/drawingml/2006/main">
            <a:r>
              <a:t>- Check the examples against your own task and return to the corresponding live summary.</a:t>
            </a:r>
          </a:p>
          <a:p xmlns:a="http://schemas.openxmlformats.org/drawingml/2006/main"/>
          <a:p xmlns:a="http://schemas.openxmlformats.org/drawingml/2006/main">
            <a:r>
              <a:t>DO: None.</a:t>
            </a:r>
          </a:p>
          <a:p xmlns:a="http://schemas.openxmlformats.org/drawingml/2006/main"/>
          <a:p xmlns:a="http://schemas.openxmlformats.org/drawingml/2006/main">
            <a:r>
              <a:t>BRIDGE: Optional self-study. Return to the related live slide or continue the reference material as needed.</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TOOLKIT</a:t>
            </a:r>
          </a:p>
          <a:p xmlns:a="http://schemas.openxmlformats.org/drawingml/2006/main">
            <a:r>
              <a:t>26</a:t>
            </a:r>
          </a:p>
          <a:p xmlns:a="http://schemas.openxmlformats.org/drawingml/2006/main">
            <a:r>
              <a:t>THE TOOLKIT · PLAN · DO · CHECK · ACT</a:t>
            </a:r>
          </a:p>
          <a:p xmlns:a="http://schemas.openxmlformats.org/drawingml/2006/main">
            <a:r>
              <a:t>The toolkit is a loop</a:t>
            </a:r>
          </a:p>
          <a:p xmlns:a="http://schemas.openxmlformats.org/drawingml/2006/main">
            <a:r>
              <a:t>P</a:t>
            </a:r>
          </a:p>
          <a:p xmlns:a="http://schemas.openxmlformats.org/drawingml/2006/main">
            <a:r>
              <a:t>PLAN — draft the ask</a:t>
            </a:r>
          </a:p>
          <a:p xmlns:a="http://schemas.openxmlformats.org/drawingml/2006/main">
            <a:r>
              <a:t>· The anatomy: all seven elements, filled</a:t>
            </a:r>
          </a:p>
          <a:p xmlns:a="http://schemas.openxmlformats.org/drawingml/2006/main">
            <a:r>
              <a:t>· Be specific — and say WHY behind each rule</a:t>
            </a:r>
          </a:p>
          <a:p xmlns:a="http://schemas.openxmlformats.org/drawingml/2006/main">
            <a:r>
              <a:t>· Separate your ask from the pasted material</a:t>
            </a:r>
          </a:p>
          <a:p xmlns:a="http://schemas.openxmlformats.org/drawingml/2006/main">
            <a:r>
              <a:t>· Show 2–3 examples, one edge case included</a:t>
            </a:r>
          </a:p>
          <a:p xmlns:a="http://schemas.openxmlformats.org/drawingml/2006/main">
            <a:r>
              <a:t>delegate it → “I need [X] for [audience], with [constraints]. Draft me a strong prompt, then wait.”</a:t>
            </a:r>
          </a:p>
          <a:p xmlns:a="http://schemas.openxmlformats.org/drawingml/2006/main">
            <a:r>
              <a:t>D</a:t>
            </a:r>
          </a:p>
          <a:p xmlns:a="http://schemas.openxmlformats.org/drawingml/2006/main">
            <a:r>
              <a:t>DO — run it, in order</a:t>
            </a:r>
          </a:p>
          <a:p xmlns:a="http://schemas.openxmlformats.org/drawingml/2006/main">
            <a:r>
              <a:t>· Number the steps — order stated is order followed</a:t>
            </a:r>
          </a:p>
          <a:p xmlns:a="http://schemas.openxmlformats.org/drawingml/2006/main">
            <a:r>
              <a:t>· Add “wait for my OK” where you want control</a:t>
            </a:r>
          </a:p>
          <a:p xmlns:a="http://schemas.openxmlformats.org/drawingml/2006/main">
            <a:r>
              <a:t>· Documents on top, ask at the end · fresh chat per topic</a:t>
            </a:r>
          </a:p>
          <a:p xmlns:a="http://schemas.openxmlformats.org/drawingml/2006/main">
            <a:r>
              <a:t>delegate it → “1) Outline only. 2) Wait for my OK. 3) Draft section by section.”</a:t>
            </a:r>
          </a:p>
          <a:p xmlns:a="http://schemas.openxmlformats.org/drawingml/2006/main">
            <a:r>
              <a:t>C</a:t>
            </a:r>
          </a:p>
          <a:p xmlns:a="http://schemas.openxmlformats.org/drawingml/2006/main">
            <a:r>
              <a:t>CHECK — inspect before you trust</a:t>
            </a:r>
          </a:p>
          <a:p xmlns:a="http://schemas.openxmlformats.org/drawingml/2006/main">
            <a:r>
              <a:t>· Name the failed element — the symptom→element grid, tab EX-Report</a:t>
            </a:r>
          </a:p>
          <a:p xmlns:a="http://schemas.openxmlformats.org/drawingml/2006/main">
            <a:r>
              <a:t>· Self-check on NAMED criteria — never “are you sure?”</a:t>
            </a:r>
          </a:p>
          <a:p xmlns:a="http://schemas.openxmlformats.org/drawingml/2006/main">
            <a:r>
              <a:t>· Blind review: paste it as “a colleague’s draft”</a:t>
            </a:r>
          </a:p>
          <a:p xmlns:a="http://schemas.openxmlformats.org/drawingml/2006/main">
            <a:r>
              <a:t>· Numbers reconcile to a known total · citations + the out</a:t>
            </a:r>
          </a:p>
          <a:p xmlns:a="http://schemas.openxmlformats.org/drawingml/2006/main">
            <a:r>
              <a:t>delegate it → “Verify against these three criteria and list exactly what fails.”</a:t>
            </a:r>
          </a:p>
          <a:p xmlns:a="http://schemas.openxmlformats.org/drawingml/2006/main">
            <a:r>
              <a:t>A</a:t>
            </a:r>
          </a:p>
          <a:p xmlns:a="http://schemas.openxmlformats.org/drawingml/2006/main">
            <a:r>
              <a:t>ACT — refine, then standardize</a:t>
            </a:r>
          </a:p>
          <a:p xmlns:a="http://schemas.openxmlformats.org/drawingml/2006/main">
            <a:r>
              <a:t>· Fix ONE element, rerun — never reword at random</a:t>
            </a:r>
          </a:p>
          <a:p xmlns:a="http://schemas.openxmlformats.org/drawingml/2006/main">
            <a:r>
              <a:t>· Metaprompt: have the AI rewrite the prompt itself</a:t>
            </a:r>
          </a:p>
          <a:p xmlns:a="http://schemas.openxmlformats.org/drawingml/2006/main">
            <a:r>
              <a:t>· Works twice? Name it, version it, library (Part 6)</a:t>
            </a:r>
          </a:p>
          <a:p xmlns:a="http://schemas.openxmlformats.org/drawingml/2006/main">
            <a:r>
              <a:t>delegate it → “Rewrite this prompt so it more consistently produces X.”</a:t>
            </a: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p>
          <a:p xmlns:a="http://schemas.openxmlformats.org/drawingml/2006/main">
            <a:r>
              <a:t>W. EDWARDS DEMING · 1900–1993</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p>
          <a:p xmlns:a="http://schemas.openxmlformats.org/drawingml/2006/main"/>
          <a:p xmlns:a="http://schemas.openxmlformats.org/drawingml/2006/main">
            <a:r>
              <a:t>BRIDGE —</a:t>
            </a:r>
          </a:p>
          <a:p xmlns:a="http://schemas.openxmlformats.org/drawingml/2006/main">
            <a:r>
              <a:t>“One clarification before the evidence — the two layers, on one worked prompt.”</a:t>
            </a:r>
          </a:p>
          <a:p xmlns:a="http://schemas.openxmlformats.org/drawingml/2006/main"/>
          <a:p xmlns:a="http://schemas.openxmlformats.org/drawingml/2006/main">
            <a:r>
              <a:t>ACRONYMS —</a:t>
            </a:r>
          </a:p>
          <a:p xmlns:a="http://schemas.openxmlformats.org/drawingml/2006/main">
            <a:r>
              <a:t>PDCA = Plan-Do-Check-Act — the Deming/Toyota improvement cycle, core of kaizen (continuous improvement).</a:t>
            </a:r>
          </a:p>
          <a:p xmlns:a="http://schemas.openxmlformats.org/drawingml/2006/main">
            <a:r>
              <a:t>gauge R&amp;R = Gauge Repeatability &amp; Reproducibility — a tested template kills prompt-to-prompt variation the way a calibrated gauge kills measurement variation.</a:t>
            </a:r>
          </a:p>
          <a:p xmlns:a="http://schemas.openxmlformats.org/drawingml/2006/main"/>
          <a:p xmlns:a="http://schemas.openxmlformats.org/drawingml/2006/main">
            <a:r>
              <a:t>CONTENT —</a:t>
            </a: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p>
          <a:p xmlns:a="http://schemas.openxmlformats.org/drawingml/2006/main">
            <a:r>
              <a:t>The Template Creator, taxonomy reference AND cheat sheet mirror this framing (v1.8).</a:t>
            </a:r>
          </a:p>
          <a:p xmlns:a="http://schemas.openxmlformats.org/drawingml/2006/main">
            <a:r>
              <a:t>26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p xmlns:a="http://schemas.openxmlformats.org/drawingml/2006/main">
            <a:r>
              <a:t>TIME: 0:00 (optional self-study; no live allocation)</a:t>
            </a:r>
          </a:p>
          <a:p xmlns:a="http://schemas.openxmlformats.org/drawingml/2006/main"/>
          <a:p xmlns:a="http://schemas.openxmlformats.org/drawingml/2006/main">
            <a:r>
              <a:t>PURPOSE: Support independent study with the detailed explanation or checked exercise material.</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Use this page to study one task through the improvement loop after the workshop.</a:t>
            </a:r>
          </a:p>
          <a:p xmlns:a="http://schemas.openxmlformats.org/drawingml/2006/main">
            <a:r>
              <a:t>- Check the examples against your own task and return to the corresponding live summary.</a:t>
            </a:r>
          </a:p>
          <a:p xmlns:a="http://schemas.openxmlformats.org/drawingml/2006/main"/>
          <a:p xmlns:a="http://schemas.openxmlformats.org/drawingml/2006/main">
            <a:r>
              <a:t>DO: None.</a:t>
            </a:r>
          </a:p>
          <a:p xmlns:a="http://schemas.openxmlformats.org/drawingml/2006/main"/>
          <a:p xmlns:a="http://schemas.openxmlformats.org/drawingml/2006/main">
            <a:r>
              <a:t>BRIDGE: Optional self-study. Return to the related live slide or continue the reference material as needed.</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1:00 (TEACH)</a:t>
            </a:r>
          </a:p>
          <a:p>
            <a:r>
              <a:t>Define the term before the requirements menu uses it. An artifact is the deliverable itself — the file or structured output the AI returns — as opposed to the conversational answer.</a:t>
            </a:r>
          </a:p>
          <a:p>
            <a:r>
              <a:t>Tie to the vehicle slide: in chat (generative) you shape the artifact turn by turn, so requirements can arrive incrementally. In a delegated run (agentic) the artifact must be fully specified up front — the prompt is the contract.</a:t>
            </a:r>
          </a:p>
          <a:p>
            <a:r>
              <a:t>Transition: 'So before we pick requirements, we name the artifact. Here is the menu, per artifact.'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52.xml"/></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notesSlide" Target="../notesSlides/notesSlide53.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 Id="rId6" Type="http://schemas.openxmlformats.org/officeDocument/2006/relationships/notesSlide" Target="../notesSlides/notesSlide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notesSlide" Target="../notesSlides/notesSlide5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 Id="rId4" Type="http://schemas.openxmlformats.org/officeDocument/2006/relationships/notesSlide" Target="../notesSlides/notesSlide56.xml"/></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 Id="rId8" Type="http://schemas.openxmlformats.org/officeDocument/2006/relationships/notesSlide" Target="../notesSlides/notesSlide5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22.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30.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 Id="rId6" Type="http://schemas.openxmlformats.org/officeDocument/2006/relationships/notesSlide" Target="../notesSlides/notesSlide5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1.png"/><Relationship Id="rId3" Type="http://schemas.openxmlformats.org/officeDocument/2006/relationships/notesSlide" Target="../notesSlides/notesSlide5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1.png"/><Relationship Id="rId3" Type="http://schemas.openxmlformats.org/officeDocument/2006/relationships/notesSlide" Target="../notesSlides/notesSlide61.xml"/></Relationships>
</file>

<file path=ppt/slides/_rels/slide36.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48.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49.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50.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51.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53.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56.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57.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58.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59.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60.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61.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62.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553712"/>
            <a:ext cx="11155680" cy="117043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663440"/>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754880"/>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81728"/>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90872"/>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1/7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90872"/>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course log — and the first rep · tab EX1-TwoModes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010912"/>
            <a:ext cx="10789919" cy="66751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“Use this chat as my course log. When I request a report, use only the conversation available to you and flag any gaps. Acknowledge briefly.”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“Write a farewell message for a coworker in about 50 words.”</a:t>
            </a:r>
          </a:p>
          <a:p xmlns:a="http://schemas.openxmlformats.org/drawingml/2006/main">
            <a:pPr algn="l"/>
            <a:r>
              <a:rPr sz="950" b="1">
                <a:solidFill>
                  <a:srgbClr val="B96A1B"/>
                </a:solidFill>
                <a:latin typeface="Calibri"/>
              </a:rPr>
              <a:t>SEND 3 · </a:t>
            </a:r>
            <a:r>
              <a:rPr sz="950" b="1">
                <a:solidFill>
                  <a:srgbClr val="0A5B5A"/>
                </a:solidFill>
                <a:latin typeface="Calibri"/>
              </a:rPr>
              <a:t>TYPE THIS → </a:t>
            </a:r>
            <a:r>
              <a:rPr sz="900" b="0">
                <a:solidFill>
                  <a:srgbClr val="232A31"/>
                </a:solidFill>
                <a:latin typeface="Calibri"/>
              </a:rPr>
              <a:t>“Before revising, ask up to three questions that would most improve the message. Wait for my answers, then revise it.”</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4</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6</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48</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80560"/>
            <a:ext cx="11155680" cy="12618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9028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81728"/>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60857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61772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61772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937760"/>
            <a:ext cx="10789919" cy="55778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950" b="1">
                <a:solidFill>
                  <a:srgbClr val="B96A1B"/>
                </a:solidFill>
                <a:latin typeface="Calibri"/>
              </a:rPr>
              <a:t>SEND 2 · </a:t>
            </a:r>
            <a:r>
              <a:rPr sz="950" b="1">
                <a:solidFill>
                  <a:srgbClr val="0A5B5A"/>
                </a:solidFill>
                <a:latin typeface="Calibri"/>
              </a:rPr>
              <a:t>TYPE THIS → </a:t>
            </a:r>
            <a:r>
              <a:rPr sz="90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86400"/>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EX2-Guesses of your Course Workbook</a:t>
            </a:r>
            <a:endParaRPr sz="950"/>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0A6261"/>
                </a:solidFill>
                <a:latin typeface="Calibri"/>
                <a:ea typeface="Calibri"/>
                <a:cs typeface="Calibri"/>
              </a:rPr>
              <a:t>TEACH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500"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18872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3/7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Tokens, explained by the model</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tokens to a new colleague using a LEGO-brick analogy, in about 100 words. Show an illustrative word split and explain why the actual split depends on the tokenizer. Connect token counts to context limits and charges when billing is based on tokens. End with one practical implication for working with long documents.”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248655"/>
            <a:ext cx="772667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EX3-Tokens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TOKENS</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874519"/>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874519"/>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2724912"/>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2724912"/>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3575304"/>
            <a:ext cx="25146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500"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3575304"/>
            <a:ext cx="53492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3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49</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315968"/>
            <a:ext cx="8092440" cy="1389888"/>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42569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a:fillRect l="0" t="0" r="0" b="0"/>
          </a:stretch>
        </p:blipFill>
        <p:spPr>
          <a:xfrm xmlns:a="http://schemas.openxmlformats.org/drawingml/2006/main">
            <a:off x="740664" y="451713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443983"/>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4531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4/7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453128"/>
            <a:ext cx="5943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The desk — explained · tab EX4-Handoff</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773168"/>
            <a:ext cx="7726679" cy="88696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00" b="1">
                <a:solidFill>
                  <a:srgbClr val="B96A1B"/>
                </a:solidFill>
                <a:latin typeface="Calibri"/>
              </a:rPr>
              <a:t>SEND 1 · </a:t>
            </a:r>
            <a:r>
              <a:rPr sz="900" b="1">
                <a:solidFill>
                  <a:srgbClr val="0A5B5A"/>
                </a:solidFill>
                <a:latin typeface="Calibri"/>
              </a:rPr>
              <a:t>TYPE THIS → </a:t>
            </a:r>
            <a:r>
              <a:rPr sz="85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00" b="1">
                <a:solidFill>
                  <a:srgbClr val="B96A1B"/>
                </a:solidFill>
                <a:latin typeface="Calibri"/>
              </a:rPr>
              <a:t>HANDOFF FOLLOW-UP · </a:t>
            </a:r>
            <a:r>
              <a:rPr sz="900" b="1">
                <a:solidFill>
                  <a:srgbClr val="0A5B5A"/>
                </a:solidFill>
                <a:latin typeface="Calibri"/>
              </a:rPr>
              <a:t>TYPE THIS → </a:t>
            </a:r>
            <a:r>
              <a:rPr sz="85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CONTEXT WINDOW</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50</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 xmlns:a="http://schemas.openxmlformats.org/drawingml/2006/main">
        <p:nvSpPr>
          <p:cNvPr id="16"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600" b="1">
                <a:solidFill>
                  <a:srgbClr val="0E7C7B"/>
                </a:solidFill>
                <a:latin typeface="Calibri"/>
              </a:rPr>
              <a:t>RAG</a:t>
            </a:r>
          </a:p>
          <a:p>
            <a:pPr algn="r"/>
            <a:r>
              <a:rPr sz="900" b="0" i="1">
                <a:solidFill>
                  <a:srgbClr val="657278"/>
                </a:solidFill>
                <a:latin typeface="Calibri"/>
              </a:rPr>
              <a:t>Retrieval-Augmented Generation</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407408"/>
            <a:ext cx="11155680" cy="1280160"/>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4517136"/>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460857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453542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454456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5/7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454456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Fast responses vs more reasoning — three examples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4864608"/>
            <a:ext cx="10789919" cy="576071"/>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when to start with fast responses versus more reasoning, using three examples: a routine email, inconsistent supplier data, and a problem with several interacting causes. For each, give a starting choice and what would justify increasing effort. Explain the tradeoff in time and resource use without guessing prices. About 120 words.”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5431536"/>
            <a:ext cx="107899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0">
                <a:solidFill>
                  <a:srgbClr val="0A5B5A"/>
                </a:solidFill>
                <a:latin typeface="Calibri"/>
              </a:rPr>
              <a:t>✂ copy-paste, don’t retype: tab EX5-TwoSpeeds of your Course Workbook</a:t>
            </a:r>
            <a:endParaRPr sz="950"/>
          </a:p>
        </p:txBody>
      </p:sp>
      <p:sp xmlns:a="http://schemas.openxmlformats.org/drawingml/2006/main">
        <p:nvSpPr>
          <p:cNvPr id="10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000" b="1">
                <a:solidFill>
                  <a:srgbClr val="0E7C7B"/>
                </a:solidFill>
                <a:latin typeface="Calibri"/>
              </a:rPr>
              <a:t>REASONING EFFORT</a:t>
            </a:r>
          </a:p>
        </p:txBody>
      </p:sp>
    </p:spTree>
    <p:extLst>
      <p:ext uri="{BB962C8B-B14F-4D97-AF65-F5344CB8AC3E}">
        <p14:creationId xmlns:p14="http://schemas.microsoft.com/office/powerpoint/2010/main" val="1850001581"/>
      </p:ext>
    </p:extLst>
  </p:cSld>
</p:sld>
</file>

<file path=ppt/slides/slide12.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 xmlns:a="http://schemas.openxmlformats.org/drawingml/2006/main">
        <p:nvSpPr>
          <p:cNvPr id="20" name="term-badge"/>
          <p:cNvSpPr/>
          <p:nvPr/>
        </p:nvSpPr>
        <p:spPr>
          <a:xfrm>
            <a:off x="8613648" y="1188720"/>
            <a:ext cx="297180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HALLUCINATION</a:t>
            </a:r>
          </a:p>
        </p:txBody>
      </p:sp>
    </p:spTree>
    <p:extLst>
      <p:ext uri="{BB962C8B-B14F-4D97-AF65-F5344CB8AC3E}">
        <p14:creationId xmlns:p14="http://schemas.microsoft.com/office/powerpoint/2010/main" val="475868969"/>
      </p:ext>
    </p:extLst>
  </p:cSld>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15</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From Prompts to Agents</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ide-title">
            <a:extLst>
              <a:ext uri="{FF2B5EF4-FFF2-40B4-BE49-F238E27FC236}">
                <a16:creationId xmlns:a16="http://schemas.microsoft.com/office/drawing/2014/main" id="{E2F32EF2-5C76-4CCF-9CBB-FA96A44207EC}"/>
              </a:ext>
            </a:extLst>
          </p:cNvPr>
          <p:cNvSpPr>
            <a:spLocks noGrp="1"/>
          </p:cNvSpPr>
          <p:nvPr/>
        </p:nvSpPr>
        <p:spPr>
          <a:xfrm>
            <a:off x="504748" y="658368"/>
            <a:ext cx="11155680" cy="54864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Task difficulty and processing capacity</a:t>
            </a:r>
          </a:p>
        </p:txBody>
      </p:sp>
      <p:sp>
        <p:nvSpPr>
          <p:cNvPr id="2" name="slide-subtitle">
            <a:extLst>
              <a:ext uri="{FF2B5EF4-FFF2-40B4-BE49-F238E27FC236}">
                <a16:creationId xmlns:a16="http://schemas.microsoft.com/office/drawing/2014/main" id="{2BA5404B-47E0-4646-A7FF-51B3E16E8B0C}"/>
              </a:ext>
            </a:extLst>
          </p:cNvPr>
          <p:cNvSpPr>
            <a:spLocks noGrp="1"/>
          </p:cNvSpPr>
          <p:nvPr/>
        </p:nvSpPr>
        <p:spPr>
          <a:xfrm>
            <a:off x="504748" y="1298448"/>
            <a:ext cx="11155680" cy="365760"/>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350" b="0">
                <a:solidFill>
                  <a:srgbClr val="657278"/>
                </a:solidFill>
                <a:latin typeface="Calibri"/>
                <a:ea typeface="Nimbus Sans"/>
                <a:cs typeface="Nimbus Sans"/>
              </a:rPr>
              <a:t>Model capability, reasoning effort and workload volume are separate choices</a:t>
            </a:r>
          </a:p>
        </p:txBody>
      </p:sp>
      <p:graphicFrame>
        <p:nvGraphicFramePr>
          <p:cNvPr id="14" name=""/>
          <p:cNvGraphicFramePr/>
          <p:nvPr/>
        </p:nvGraphicFramePr>
        <p:xfrm>
          <a:off x="563880" y="1767840"/>
          <a:ext cx="7741920" cy="3977640"/>
        </p:xfrm>
        <a:graphic>
          <a:graphicData uri="http://schemas.openxmlformats.org/drawingml/2006/table">
            <a:tbl>
              <a:tblPr firstRow="0" bandRow="0"/>
              <a:tblGrid>
                <a:gridCol w="1371600"/>
                <a:gridCol w="3185160"/>
                <a:gridCol w="3185160"/>
              </a:tblGrid>
              <a:tr h="472440">
                <a:tc>
                  <a:txBody>
                    <a:bodyPr wrap="square" lIns="161925" tIns="104775" rIns="133350" bIns="104775">
                      <a:noAutofit/>
                    </a:bodyPr>
                    <a:lstStyle/>
                    <a:p>
                      <a:r>
                        <a:rPr sz="1500" b="1">
                          <a:solidFill>
                            <a:srgbClr val="FFFFFF"/>
                          </a:solidFill>
                          <a:latin typeface="Nimbus Sans"/>
                          <a:ea typeface="Nimbus Sans"/>
                          <a:cs typeface="Nimbus Sans"/>
                        </a:rPr>
                        <a:t>Workload volume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Clear rules / low reasoning</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Ambiguity / high reasoning</a:t>
                      </a:r>
                    </a:p>
                  </a:txBody>
                  <a:tcPr marL="91440" marR="91440" marT="45720" marB="45720" anchor="ctr">
                    <a:solidFill>
                      <a:srgbClr val="126D70"/>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Many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500 routine email summaries</a:t>
                      </a:r>
                    </a:p>
                    <a:p>
                      <a:r>
                        <a:rPr sz="1560" b="0">
                          <a:solidFill>
                            <a:srgbClr val="202E35"/>
                          </a:solidFill>
                          <a:latin typeface="Nimbus Sans"/>
                          <a:ea typeface="Nimbus Sans"/>
                          <a:cs typeface="Nimbus Sans"/>
                        </a:rPr>
                        <a:t>10,000 rows to classify</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batching</a:t>
                      </a:r>
                    </a:p>
                  </a:txBody>
                  <a:tcPr marL="91440" marR="91440" marT="45720" marB="45720" anchor="ctr">
                    <a:solidFill>
                      <a:srgbClr val="FFFFFF"/>
                    </a:solidFill>
                  </a:tcPr>
                </a:tc>
                <a:tc>
                  <a:txBody>
                    <a:bodyPr wrap="square" lIns="161925" tIns="104775" rIns="133350" bIns="104775">
                      <a:noAutofit/>
                    </a:bodyPr>
                    <a:lstStyle/>
                    <a:p>
                      <a:r>
                        <a:rPr sz="1560" b="0">
                          <a:solidFill>
                            <a:srgbClr val="202E35"/>
                          </a:solidFill>
                          <a:latin typeface="Nimbus Sans"/>
                          <a:ea typeface="Nimbus Sans"/>
                          <a:cs typeface="Nimbus Sans"/>
                        </a:rPr>
                        <a:t>50 conflicting supplier threads</a:t>
                      </a:r>
                    </a:p>
                    <a:p>
                      <a:r>
                        <a:rPr sz="1560" b="0">
                          <a:solidFill>
                            <a:srgbClr val="202E35"/>
                          </a:solidFill>
                          <a:latin typeface="Nimbus Sans"/>
                          <a:ea typeface="Nimbus Sans"/>
                          <a:cs typeface="Nimbus Sans"/>
                        </a:rPr>
                        <a:t>A linked production forecast</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staged work</a:t>
                      </a:r>
                    </a:p>
                  </a:txBody>
                  <a:tcPr marL="91440" marR="91440" marT="45720" marB="45720" anchor="ctr">
                    <a:solidFill>
                      <a:srgbClr val="FFFFFF"/>
                    </a:solidFill>
                  </a:tcPr>
                </a:tc>
              </a:tr>
              <a:tr h="1752600">
                <a:tc>
                  <a:txBody>
                    <a:bodyPr wrap="square" lIns="161925" tIns="104775" rIns="133350" bIns="104775">
                      <a:noAutofit/>
                    </a:bodyPr>
                    <a:lstStyle/>
                    <a:p>
                      <a:r>
                        <a:rPr sz="1620" b="1">
                          <a:solidFill>
                            <a:srgbClr val="126D70"/>
                          </a:solidFill>
                          <a:latin typeface="Nimbus Sans"/>
                          <a:ea typeface="Nimbus Sans"/>
                          <a:cs typeface="Nimbus Sans"/>
                        </a:rPr>
                        <a:t>Few items</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Rewrite one email</a:t>
                      </a:r>
                    </a:p>
                    <a:p>
                      <a:r>
                        <a:rPr sz="1560" b="0">
                          <a:solidFill>
                            <a:srgbClr val="202E35"/>
                          </a:solidFill>
                          <a:latin typeface="Nimbus Sans"/>
                          <a:ea typeface="Nimbus Sans"/>
                          <a:cs typeface="Nimbus Sans"/>
                        </a:rPr>
                        <a:t>Extract a date or owner</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Fast model + low effort</a:t>
                      </a:r>
                    </a:p>
                  </a:txBody>
                  <a:tcPr marL="91440" marR="91440" marT="45720" marB="45720" anchor="ctr">
                    <a:solidFill>
                      <a:srgbClr val="EAF2F1"/>
                    </a:solidFill>
                  </a:tcPr>
                </a:tc>
                <a:tc>
                  <a:txBody>
                    <a:bodyPr wrap="square" lIns="161925" tIns="104775" rIns="133350" bIns="104775">
                      <a:noAutofit/>
                    </a:bodyPr>
                    <a:lstStyle/>
                    <a:p>
                      <a:r>
                        <a:rPr sz="1560" b="0">
                          <a:solidFill>
                            <a:srgbClr val="202E35"/>
                          </a:solidFill>
                          <a:latin typeface="Nimbus Sans"/>
                          <a:ea typeface="Nimbus Sans"/>
                          <a:cs typeface="Nimbus Sans"/>
                        </a:rPr>
                        <a:t>Resolve conflicting requirements</a:t>
                      </a:r>
                    </a:p>
                    <a:p>
                      <a:r>
                        <a:rPr sz="1560" b="0">
                          <a:solidFill>
                            <a:srgbClr val="202E35"/>
                          </a:solidFill>
                          <a:latin typeface="Nimbus Sans"/>
                          <a:ea typeface="Nimbus Sans"/>
                          <a:cs typeface="Nimbus Sans"/>
                        </a:rPr>
                        <a:t>Choose forecast assumptions</a:t>
                      </a:r>
                    </a:p>
                    <a:p>
                      <a:r>
                        <a:rPr sz="1560" b="0">
                          <a:solidFill>
                            <a:srgbClr val="202E35"/>
                          </a:solidFill>
                          <a:latin typeface="Nimbus Sans"/>
                          <a:ea typeface="Nimbus Sans"/>
                          <a:cs typeface="Nimbus Sans"/>
                        </a:rPr>
                        <a:t/>
                      </a:r>
                    </a:p>
                    <a:p>
                      <a:r>
                        <a:rPr sz="1560" b="1">
                          <a:solidFill>
                            <a:srgbClr val="126D70"/>
                          </a:solidFill>
                          <a:latin typeface="Nimbus Sans"/>
                          <a:ea typeface="Nimbus Sans"/>
                          <a:cs typeface="Nimbus Sans"/>
                        </a:rPr>
                        <a:t>Strong model + more reasoning</a:t>
                      </a:r>
                    </a:p>
                  </a:txBody>
                  <a:tcPr marL="91440" marR="91440" marT="45720" marB="45720" anchor="ctr">
                    <a:solidFill>
                      <a:srgbClr val="EAF2F1"/>
                    </a:solidFill>
                  </a:tcPr>
                </a:tc>
              </a:tr>
            </a:tbl>
          </a:graphicData>
        </a:graphic>
      </p:graphicFrame>
      <p:sp>
        <p:nvSpPr>
          <p:cNvPr id="4" name="capability-heading">
            <a:extLst>
              <a:ext uri="{FF2B5EF4-FFF2-40B4-BE49-F238E27FC236}">
                <a16:creationId xmlns:a16="http://schemas.microsoft.com/office/drawing/2014/main" id="{3EF1B28A-EE6B-4C88-AE8C-B74D5C8B2FE9}"/>
              </a:ext>
            </a:extLst>
          </p:cNvPr>
          <p:cNvSpPr>
            <a:spLocks noGrp="1"/>
          </p:cNvSpPr>
          <p:nvPr/>
        </p:nvSpPr>
        <p:spPr>
          <a:xfrm>
            <a:off x="8686800" y="180594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MODEL CAPABILITY</a:t>
            </a:r>
          </a:p>
        </p:txBody>
      </p:sp>
      <p:sp>
        <p:nvSpPr>
          <p:cNvPr id="5" name="capability-definition">
            <a:extLst>
              <a:ext uri="{FF2B5EF4-FFF2-40B4-BE49-F238E27FC236}">
                <a16:creationId xmlns:a16="http://schemas.microsoft.com/office/drawing/2014/main" id="{CACF656D-83B1-4C11-A423-C762C4513E87}"/>
              </a:ext>
            </a:extLst>
          </p:cNvPr>
          <p:cNvSpPr>
            <a:spLocks noGrp="1"/>
          </p:cNvSpPr>
          <p:nvPr/>
        </p:nvSpPr>
        <p:spPr>
          <a:xfrm>
            <a:off x="8686800" y="2148840"/>
            <a:ext cx="2910840" cy="624840"/>
          </a:xfrm>
          <a:prstGeom prst="rect">
            <a:avLst/>
          </a:prstGeom>
          <a:noFill/>
          <a:ln w="0">
            <a:noFill/>
          </a:ln>
        </p:spPr>
        <p:txBody>
          <a:bodyPr wrap="square" lIns="0" tIns="0" rIns="0" bIns="0" anchor="t">
            <a:noAutofit/>
          </a:bodyPr>
          <a:lstStyle/>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What kinds of problems</a:t>
            </a:r>
          </a:p>
          <a:p>
            <a:pPr>
              <a:defRPr sz="1680" b="0">
                <a:solidFill>
                  <a:srgbClr val="202E35"/>
                </a:solidFill>
                <a:latin typeface="Nimbus Sans"/>
                <a:ea typeface="Nimbus Sans"/>
                <a:cs typeface="Nimbus Sans"/>
              </a:defRPr>
            </a:pPr>
            <a:r>
              <a:rPr sz="1680" b="0">
                <a:solidFill>
                  <a:srgbClr val="202E35"/>
                </a:solidFill>
                <a:latin typeface="Nimbus Sans"/>
                <a:ea typeface="Nimbus Sans"/>
                <a:cs typeface="Nimbus Sans"/>
              </a:rPr>
              <a:t>the model can solve</a:t>
            </a:r>
          </a:p>
        </p:txBody>
      </p:sp>
      <p:sp>
        <p:nvSpPr>
          <p:cNvPr id="6" name="effort-heading">
            <a:extLst>
              <a:ext uri="{FF2B5EF4-FFF2-40B4-BE49-F238E27FC236}">
                <a16:creationId xmlns:a16="http://schemas.microsoft.com/office/drawing/2014/main" id="{84C5D65E-27C5-4B2E-868A-67F0BC2DE285}"/>
              </a:ext>
            </a:extLst>
          </p:cNvPr>
          <p:cNvSpPr>
            <a:spLocks noGrp="1"/>
          </p:cNvSpPr>
          <p:nvPr/>
        </p:nvSpPr>
        <p:spPr>
          <a:xfrm>
            <a:off x="8686800" y="297942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REASONING EFFORT</a:t>
            </a:r>
          </a:p>
        </p:txBody>
      </p:sp>
      <p:sp>
        <p:nvSpPr>
          <p:cNvPr id="7" name="effort-definition">
            <a:extLst>
              <a:ext uri="{FF2B5EF4-FFF2-40B4-BE49-F238E27FC236}">
                <a16:creationId xmlns:a16="http://schemas.microsoft.com/office/drawing/2014/main" id="{31AA29CA-3FC6-4F6B-A034-88DAEF8A83C8}"/>
              </a:ext>
            </a:extLst>
          </p:cNvPr>
          <p:cNvSpPr>
            <a:spLocks noGrp="1"/>
          </p:cNvSpPr>
          <p:nvPr/>
        </p:nvSpPr>
        <p:spPr>
          <a:xfrm>
            <a:off x="8686800" y="3322320"/>
            <a:ext cx="2910840" cy="800100"/>
          </a:xfrm>
          <a:prstGeom prst="rect">
            <a:avLst/>
          </a:prstGeom>
          <a:noFill/>
          <a:ln w="0">
            <a:noFill/>
          </a:ln>
        </p:spPr>
        <p:txBody>
          <a:bodyPr wrap="square" lIns="0" tIns="0" rIns="0" bIns="0" anchor="t">
            <a:noAutofit/>
          </a:bodyPr>
          <a:lstStyle/>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Computation spent on this task.</a:t>
            </a:r>
          </a:p>
          <a:p>
            <a:pPr>
              <a:defRPr sz="1620" b="0">
                <a:solidFill>
                  <a:srgbClr val="202E35"/>
                </a:solidFill>
                <a:latin typeface="Nimbus Sans"/>
                <a:ea typeface="Nimbus Sans"/>
                <a:cs typeface="Nimbus Sans"/>
              </a:defRPr>
            </a:pPr>
            <a:r>
              <a:rPr sz="1620" b="0">
                <a:solidFill>
                  <a:srgbClr val="202E35"/>
                </a:solidFill>
                <a:latin typeface="Nimbus Sans"/>
                <a:ea typeface="Nimbus Sans"/>
                <a:cs typeface="Nimbus Sans"/>
              </a:rPr>
              <a:t>More effort can add time and cost.</a:t>
            </a:r>
          </a:p>
        </p:txBody>
      </p:sp>
      <p:sp>
        <p:nvSpPr>
          <p:cNvPr id="8" name="processing-heading">
            <a:extLst>
              <a:ext uri="{FF2B5EF4-FFF2-40B4-BE49-F238E27FC236}">
                <a16:creationId xmlns:a16="http://schemas.microsoft.com/office/drawing/2014/main" id="{4D4C4637-339F-4C45-8674-995486F6099D}"/>
              </a:ext>
            </a:extLst>
          </p:cNvPr>
          <p:cNvSpPr>
            <a:spLocks noGrp="1"/>
          </p:cNvSpPr>
          <p:nvPr/>
        </p:nvSpPr>
        <p:spPr>
          <a:xfrm>
            <a:off x="8686800" y="4305300"/>
            <a:ext cx="2971800" cy="274320"/>
          </a:xfrm>
          <a:prstGeom prst="rect">
            <a:avLst/>
          </a:prstGeom>
          <a:noFill/>
          <a:ln w="0">
            <a:noFill/>
          </a:ln>
        </p:spPr>
        <p:txBody>
          <a:bodyPr wrap="square" lIns="0" tIns="0" rIns="0" bIns="0" anchor="t">
            <a:noAutofit/>
          </a:bodyPr>
          <a:lstStyle/>
          <a:p>
            <a:pPr>
              <a:defRPr sz="1440" b="1">
                <a:solidFill>
                  <a:srgbClr val="126D70"/>
                </a:solidFill>
                <a:latin typeface="Nimbus Sans"/>
                <a:ea typeface="Nimbus Sans"/>
                <a:cs typeface="Nimbus Sans"/>
              </a:defRPr>
            </a:pPr>
            <a:r>
              <a:rPr sz="1440" b="1">
                <a:solidFill>
                  <a:srgbClr val="126D70"/>
                </a:solidFill>
                <a:latin typeface="Nimbus Sans"/>
                <a:ea typeface="Nimbus Sans"/>
                <a:cs typeface="Nimbus Sans"/>
              </a:rPr>
              <a:t>PROCESSING CAPACITY</a:t>
            </a:r>
          </a:p>
        </p:txBody>
      </p:sp>
      <p:sp>
        <p:nvSpPr>
          <p:cNvPr id="9" name="processing-definition">
            <a:extLst>
              <a:ext uri="{FF2B5EF4-FFF2-40B4-BE49-F238E27FC236}">
                <a16:creationId xmlns:a16="http://schemas.microsoft.com/office/drawing/2014/main" id="{C4426DF8-4DC2-4596-A2D3-DB97847137DA}"/>
              </a:ext>
            </a:extLst>
          </p:cNvPr>
          <p:cNvSpPr>
            <a:spLocks noGrp="1"/>
          </p:cNvSpPr>
          <p:nvPr/>
        </p:nvSpPr>
        <p:spPr>
          <a:xfrm>
            <a:off x="8686800" y="4648200"/>
            <a:ext cx="2941320" cy="1005840"/>
          </a:xfrm>
          <a:prstGeom prst="rect">
            <a:avLst/>
          </a:prstGeom>
          <a:noFill/>
          <a:ln w="0">
            <a:noFill/>
          </a:ln>
        </p:spPr>
        <p:txBody>
          <a:bodyPr wrap="square" lIns="0" tIns="0" rIns="0" bIns="0" anchor="t">
            <a:noAutofit/>
          </a:bodyPr>
          <a:lstStyle/>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Context: information per request</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Throughput: work per minute</a:t>
            </a:r>
          </a:p>
          <a:p>
            <a:pPr>
              <a:defRPr sz="1560" b="0">
                <a:solidFill>
                  <a:srgbClr val="202E35"/>
                </a:solidFill>
                <a:latin typeface="Nimbus Sans"/>
                <a:ea typeface="Nimbus Sans"/>
                <a:cs typeface="Nimbus Sans"/>
              </a:defRPr>
            </a:pPr>
            <a:r>
              <a:rPr sz="1560" b="0">
                <a:solidFill>
                  <a:srgbClr val="202E35"/>
                </a:solidFill>
                <a:latin typeface="Nimbus Sans"/>
                <a:ea typeface="Nimbus Sans"/>
                <a:cs typeface="Nimbus Sans"/>
              </a:rPr>
              <a:t>Tools and batching also matter.</a:t>
            </a:r>
          </a:p>
        </p:txBody>
      </p:sp>
      <p:sp>
        <p:nvSpPr>
          <p:cNvPr id="10" name="principle">
            <a:extLst>
              <a:ext uri="{FF2B5EF4-FFF2-40B4-BE49-F238E27FC236}">
                <a16:creationId xmlns:a16="http://schemas.microsoft.com/office/drawing/2014/main" id="{E20C5799-FF3F-4FD5-B6F7-8C14D3905621}"/>
              </a:ext>
            </a:extLst>
          </p:cNvPr>
          <p:cNvSpPr>
            <a:spLocks noGrp="1"/>
          </p:cNvSpPr>
          <p:nvPr/>
        </p:nvSpPr>
        <p:spPr>
          <a:xfrm>
            <a:off x="563880" y="6035040"/>
            <a:ext cx="11064240" cy="350520"/>
          </a:xfrm>
          <a:prstGeom prst="rect">
            <a:avLst/>
          </a:prstGeom>
          <a:noFill/>
          <a:ln w="0">
            <a:noFill/>
          </a:ln>
        </p:spPr>
        <p:txBody>
          <a:bodyPr wrap="square" lIns="0" tIns="0" rIns="0" bIns="0" anchor="t">
            <a:noAutofit/>
          </a:bodyPr>
          <a:lstStyle/>
          <a:p>
            <a:pPr>
              <a:defRPr sz="1800" b="1">
                <a:solidFill>
                  <a:srgbClr val="126D70"/>
                </a:solidFill>
                <a:latin typeface="Nimbus Sans"/>
                <a:ea typeface="Nimbus Sans"/>
                <a:cs typeface="Nimbus Sans"/>
              </a:defRPr>
            </a:pPr>
            <a:r>
              <a:rPr sz="1800" b="1">
                <a:solidFill>
                  <a:srgbClr val="126D70"/>
                </a:solidFill>
                <a:latin typeface="Nimbus Sans"/>
                <a:ea typeface="Nimbus Sans"/>
                <a:cs typeface="Nimbus Sans"/>
              </a:rPr>
              <a:t>Required quality first. Then minimize total time and cost, including rework.</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More workload raises processing demand. Higher stakes call for stronger verification.</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18</a:t>
            </a:r>
          </a:p>
        </p:txBody>
      </p:sp>
      <p:sp>
        <p:nvSpPr>
          <p:cNvPr id="18"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MATCH THE MODEL TO THE JOB</a:t>
            </a:r>
          </a:p>
        </p:txBody>
      </p:sp>
      <p:sp>
        <p:nvSpPr>
          <p:cNvPr id="11" name="FACILITATION_MODE_BAR">
            <a:extLst>
              <a:ext uri="{FF2B5EF4-FFF2-40B4-BE49-F238E27FC236}">
                <a16:creationId xmlns:a16="http://schemas.microsoft.com/office/drawing/2014/main" id="{06D8392E-27B3-4B1C-82E1-7695EFC49F31}"/>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68F21A4B-ED18-418F-99E4-20CCE0CF6494}"/>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title">
            <a:extLst>
              <a:ext uri="{FF2B5EF4-FFF2-40B4-BE49-F238E27FC236}">
                <a16:creationId xmlns:a16="http://schemas.microsoft.com/office/drawing/2014/main" id="{74A227F0-A246-4E4F-AE47-7B740C822F22}"/>
              </a:ext>
            </a:extLst>
          </p:cNvPr>
          <p:cNvSpPr>
            <a:spLocks noGrp="1"/>
          </p:cNvSpPr>
          <p:nvPr/>
        </p:nvSpPr>
        <p:spPr>
          <a:xfrm>
            <a:off x="504748" y="548640"/>
            <a:ext cx="11155680" cy="457200"/>
          </a:xfrm>
          <a:prstGeom prst="rect">
            <a:avLst/>
          </a:prstGeom>
          <a:noFill/>
          <a:ln w="0">
            <a:noFill/>
          </a:ln>
        </p:spPr>
        <p:txBody>
          <a:bodyPr wrap="square" lIns="0" tIns="0" rIns="0" bIns="0" anchor="t">
            <a:noAutofit/>
          </a:bodyPr>
          <a:lstStyle/>
          <a:p>
            <a:pPr algn="l">
              <a:defRPr sz="2820" b="1">
                <a:solidFill>
                  <a:srgbClr val="202E35"/>
                </a:solidFill>
                <a:latin typeface="Nimbus Sans"/>
                <a:ea typeface="Nimbus Sans"/>
                <a:cs typeface="Nimbus Sans"/>
              </a:defRPr>
            </a:pPr>
            <a:r>
              <a:rPr sz="2800" b="1">
                <a:solidFill>
                  <a:srgbClr val="232A31"/>
                </a:solidFill>
                <a:latin typeface="Cambria"/>
                <a:ea typeface="Nimbus Sans"/>
                <a:cs typeface="Nimbus Sans"/>
              </a:rPr>
              <a:t>Model tiers and task examples</a:t>
            </a:r>
          </a:p>
        </p:txBody>
      </p:sp>
      <p:sp>
        <p:nvSpPr>
          <p:cNvPr id="2" name="slide-subtitle">
            <a:extLst>
              <a:ext uri="{FF2B5EF4-FFF2-40B4-BE49-F238E27FC236}">
                <a16:creationId xmlns:a16="http://schemas.microsoft.com/office/drawing/2014/main" id="{9A64E26E-E509-4E4D-ACCD-99F8967E64FD}"/>
              </a:ext>
            </a:extLst>
          </p:cNvPr>
          <p:cNvSpPr>
            <a:spLocks noGrp="1"/>
          </p:cNvSpPr>
          <p:nvPr/>
        </p:nvSpPr>
        <p:spPr>
          <a:xfrm>
            <a:off x="504748" y="1042415"/>
            <a:ext cx="11155680" cy="310896"/>
          </a:xfrm>
          <a:prstGeom prst="rect">
            <a:avLst/>
          </a:prstGeom>
          <a:noFill/>
          <a:ln w="0">
            <a:noFill/>
          </a:ln>
        </p:spPr>
        <p:txBody>
          <a:bodyPr wrap="square" lIns="0" tIns="0" rIns="0" bIns="0" anchor="t">
            <a:noAutofit/>
          </a:bodyPr>
          <a:lstStyle/>
          <a:p>
            <a:pPr algn="l">
              <a:defRPr sz="1620" b="0">
                <a:solidFill>
                  <a:srgbClr val="52636C"/>
                </a:solidFill>
                <a:latin typeface="Nimbus Sans"/>
                <a:ea typeface="Nimbus Sans"/>
                <a:cs typeface="Nimbus Sans"/>
              </a:defRPr>
            </a:pPr>
            <a:r>
              <a:rPr sz="1250" b="0">
                <a:solidFill>
                  <a:srgbClr val="657278"/>
                </a:solidFill>
                <a:latin typeface="Calibri"/>
                <a:ea typeface="Nimbus Sans"/>
                <a:cs typeface="Nimbus Sans"/>
              </a:rPr>
              <a:t>Starting choices by vendor, from routine execution to demanding reasoning</a:t>
            </a:r>
          </a:p>
        </p:txBody>
      </p:sp>
      <p:graphicFrame>
        <p:nvGraphicFramePr>
          <p:cNvPr id="8" name=""/>
          <p:cNvGraphicFramePr/>
          <p:nvPr/>
        </p:nvGraphicFramePr>
        <p:xfrm>
          <a:off x="563880" y="1409700"/>
          <a:ext cx="11064240" cy="4541520"/>
        </p:xfrm>
        <a:graphic>
          <a:graphicData uri="http://schemas.openxmlformats.org/drawingml/2006/table">
            <a:tbl>
              <a:tblPr firstRow="0" bandRow="0"/>
              <a:tblGrid>
                <a:gridCol w="1691640"/>
                <a:gridCol w="4191000"/>
                <a:gridCol w="1463040"/>
                <a:gridCol w="1638300"/>
                <a:gridCol w="2080260"/>
              </a:tblGrid>
              <a:tr h="518160">
                <a:tc>
                  <a:txBody>
                    <a:bodyPr wrap="square" lIns="161925" tIns="104775" rIns="133350" bIns="104775">
                      <a:noAutofit/>
                    </a:bodyPr>
                    <a:lstStyle/>
                    <a:p>
                      <a:r>
                        <a:rPr sz="1500" b="1">
                          <a:solidFill>
                            <a:srgbClr val="FFFFFF"/>
                          </a:solidFill>
                          <a:latin typeface="Nimbus Sans"/>
                          <a:ea typeface="Nimbus Sans"/>
                          <a:cs typeface="Nimbus Sans"/>
                        </a:rPr>
                        <a:t>Task band</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Examples</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OpenAI</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Anthropic</a:t>
                      </a:r>
                    </a:p>
                    <a:p>
                      <a:r>
                        <a:rPr sz="1500" b="1">
                          <a:solidFill>
                            <a:srgbClr val="FFFFFF"/>
                          </a:solidFill>
                          <a:latin typeface="Nimbus Sans"/>
                          <a:ea typeface="Nimbus Sans"/>
                          <a:cs typeface="Nimbus Sans"/>
                        </a:rPr>
                        <a:t>Claude</a:t>
                      </a:r>
                    </a:p>
                  </a:txBody>
                  <a:tcPr marL="91440" marR="91440" marT="45720" marB="45720" anchor="ctr">
                    <a:solidFill>
                      <a:srgbClr val="126D70"/>
                    </a:solidFill>
                  </a:tcPr>
                </a:tc>
                <a:tc>
                  <a:txBody>
                    <a:bodyPr wrap="square" lIns="161925" tIns="104775" rIns="133350" bIns="104775">
                      <a:noAutofit/>
                    </a:bodyPr>
                    <a:lstStyle/>
                    <a:p>
                      <a:r>
                        <a:rPr sz="1500" b="1">
                          <a:solidFill>
                            <a:srgbClr val="FFFFFF"/>
                          </a:solidFill>
                          <a:latin typeface="Nimbus Sans"/>
                          <a:ea typeface="Nimbus Sans"/>
                          <a:cs typeface="Nimbus Sans"/>
                        </a:rPr>
                        <a:t>Google</a:t>
                      </a:r>
                    </a:p>
                    <a:p>
                      <a:r>
                        <a:rPr sz="1500" b="1">
                          <a:solidFill>
                            <a:srgbClr val="FFFFFF"/>
                          </a:solidFill>
                          <a:latin typeface="Nimbus Sans"/>
                          <a:ea typeface="Nimbus Sans"/>
                          <a:cs typeface="Nimbus Sans"/>
                        </a:rPr>
                        <a:t>Gemini</a:t>
                      </a:r>
                    </a:p>
                  </a:txBody>
                  <a:tcPr marL="91440" marR="91440" marT="45720" marB="45720" anchor="ctr">
                    <a:solidFill>
                      <a:srgbClr val="126D70"/>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1  Routine</a:t>
                      </a:r>
                    </a:p>
                    <a:p>
                      <a:r>
                        <a:rPr sz="1560" b="1">
                          <a:solidFill>
                            <a:srgbClr val="126D70"/>
                          </a:solidFill>
                          <a:latin typeface="Nimbus Sans"/>
                          <a:ea typeface="Nimbus Sans"/>
                          <a:cs typeface="Nimbus Sans"/>
                        </a:rPr>
                        <a:t>Usually fastest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Summarize email / extract dates</a:t>
                      </a:r>
                    </a:p>
                    <a:p>
                      <a:r>
                        <a:rPr sz="1500" b="0">
                          <a:solidFill>
                            <a:srgbClr val="202E35"/>
                          </a:solidFill>
                          <a:latin typeface="Nimbus Sans"/>
                          <a:ea typeface="Nimbus Sans"/>
                          <a:cs typeface="Nimbus Sans"/>
                        </a:rPr>
                        <a:t>Translate or correct grammar</a:t>
                      </a:r>
                    </a:p>
                    <a:p>
                      <a:r>
                        <a:rPr sz="1500" b="0">
                          <a:solidFill>
                            <a:srgbClr val="202E35"/>
                          </a:solidFill>
                          <a:latin typeface="Nimbus Sans"/>
                          <a:ea typeface="Nimbus Sans"/>
                          <a:cs typeface="Nimbus Sans"/>
                        </a:rPr>
                        <a:t>Format a known spreadsheet</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Luna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Haiku 4.5</a:t>
                      </a:r>
                    </a:p>
                  </a:txBody>
                  <a:tcPr marL="91440" marR="91440" marT="45720" marB="45720" anchor="ctr">
                    <a:solidFill>
                      <a:srgbClr val="FFFFFF"/>
                    </a:solidFill>
                  </a:tcPr>
                </a:tc>
                <a:tc>
                  <a:txBody>
                    <a:bodyPr wrap="square" lIns="161925" tIns="104775" rIns="133350" bIns="104775">
                      <a:noAutofit/>
                    </a:bodyPr>
                    <a:lstStyle/>
                    <a:p>
                      <a:r>
                        <a:rPr sz="1500" b="1">
                          <a:solidFill>
                            <a:srgbClr val="202E35"/>
                          </a:solidFill>
                          <a:latin typeface="Nimbus Sans"/>
                          <a:ea typeface="Nimbus Sans"/>
                          <a:cs typeface="Nimbus Sans"/>
                        </a:rPr>
                        <a:t>3.5 Flash-Lite</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2  Structured</a:t>
                      </a:r>
                    </a:p>
                    <a:p>
                      <a:r>
                        <a:rPr sz="1560" b="1">
                          <a:solidFill>
                            <a:srgbClr val="126D70"/>
                          </a:solidFill>
                          <a:latin typeface="Nimbus Sans"/>
                          <a:ea typeface="Nimbus Sans"/>
                          <a:cs typeface="Nimbus Sans"/>
                        </a:rPr>
                        <a:t>Balanced effort</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Draft slides from an outline</a:t>
                      </a:r>
                    </a:p>
                    <a:p>
                      <a:r>
                        <a:rPr sz="1500" b="0">
                          <a:solidFill>
                            <a:srgbClr val="202E35"/>
                          </a:solidFill>
                          <a:latin typeface="Nimbus Sans"/>
                          <a:ea typeface="Nimbus Sans"/>
                          <a:cs typeface="Nimbus Sans"/>
                        </a:rPr>
                        <a:t>Compare quotes / build trackers</a:t>
                      </a:r>
                    </a:p>
                    <a:p>
                      <a:r>
                        <a:rPr sz="1500" b="0">
                          <a:solidFill>
                            <a:srgbClr val="202E35"/>
                          </a:solidFill>
                          <a:latin typeface="Nimbus Sans"/>
                          <a:ea typeface="Nimbus Sans"/>
                          <a:cs typeface="Nimbus Sans"/>
                        </a:rPr>
                        <a:t>Write a small script</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Terra 5.6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Sonnet 5</a:t>
                      </a:r>
                    </a:p>
                  </a:txBody>
                  <a:tcPr marL="91440" marR="91440" marT="45720" marB="45720" anchor="ctr">
                    <a:solidFill>
                      <a:srgbClr val="EAF2F1"/>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txBody>
                  <a:tcPr marL="91440" marR="91440" marT="45720" marB="45720" anchor="ctr">
                    <a:solidFill>
                      <a:srgbClr val="EAF2F1"/>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3  Analytical</a:t>
                      </a:r>
                    </a:p>
                    <a:p>
                      <a:r>
                        <a:rPr sz="1560" b="1">
                          <a:solidFill>
                            <a:srgbClr val="126D70"/>
                          </a:solidFill>
                          <a:latin typeface="Nimbus Sans"/>
                          <a:ea typeface="Nimbus Sans"/>
                          <a:cs typeface="Nimbus Sans"/>
                        </a:rPr>
                        <a:t>More reasoning</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Design linked spreadsheet models</a:t>
                      </a:r>
                    </a:p>
                    <a:p>
                      <a:r>
                        <a:rPr sz="1500" b="0">
                          <a:solidFill>
                            <a:srgbClr val="202E35"/>
                          </a:solidFill>
                          <a:latin typeface="Nimbus Sans"/>
                          <a:ea typeface="Nimbus Sans"/>
                          <a:cs typeface="Nimbus Sans"/>
                        </a:rPr>
                        <a:t>Reconcile threads / sequence slides</a:t>
                      </a:r>
                    </a:p>
                    <a:p>
                      <a:r>
                        <a:rPr sz="1500" b="0">
                          <a:solidFill>
                            <a:srgbClr val="202E35"/>
                          </a:solidFill>
                          <a:latin typeface="Nimbus Sans"/>
                          <a:ea typeface="Nimbus Sans"/>
                          <a:cs typeface="Nimbus Sans"/>
                        </a:rPr>
                        <a:t>Diagnose recurring process failures</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Sol 5.6</a:t>
                      </a:r>
                    </a:p>
                  </a:txBody>
                  <a:tcPr marL="91440" marR="91440" marT="45720" marB="45720" anchor="ctr">
                    <a:solidFill>
                      <a:srgbClr val="FFFFFF"/>
                    </a:solidFill>
                  </a:tcPr>
                </a:tc>
                <a:tc>
                  <a:txBody>
                    <a:bodyPr wrap="square" lIns="161925" tIns="95250" rIns="95250" bIns="95250">
                      <a:noAutofit/>
                    </a:bodyPr>
                    <a:lstStyle/>
                    <a:p>
                      <a:r>
                        <a:rPr sz="1740" b="1">
                          <a:solidFill>
                            <a:srgbClr val="202E35"/>
                          </a:solidFill>
                          <a:latin typeface="Nimbus Sans"/>
                          <a:ea typeface="Nimbus Sans"/>
                          <a:cs typeface="Nimbus Sans"/>
                        </a:rPr>
                        <a:t>Opus 5</a:t>
                      </a:r>
                    </a:p>
                  </a:txBody>
                  <a:tcPr marL="91440" marR="91440" marT="45720" marB="45720" anchor="ctr">
                    <a:solidFill>
                      <a:srgbClr val="FFFFFF"/>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marL="91440" marR="91440" marT="45720" marB="45720" anchor="ctr">
                    <a:solidFill>
                      <a:srgbClr val="FFFFFF"/>
                    </a:solidFill>
                  </a:tcPr>
                </a:tc>
              </a:tr>
              <a:tr h="1005840">
                <a:tc>
                  <a:txBody>
                    <a:bodyPr wrap="square" lIns="161925" tIns="95250" rIns="95250" bIns="95250">
                      <a:noAutofit/>
                    </a:bodyPr>
                    <a:lstStyle/>
                    <a:p>
                      <a:r>
                        <a:rPr sz="1560" b="1">
                          <a:solidFill>
                            <a:srgbClr val="126D70"/>
                          </a:solidFill>
                          <a:latin typeface="Nimbus Sans"/>
                          <a:ea typeface="Nimbus Sans"/>
                          <a:cs typeface="Nimbus Sans"/>
                        </a:rPr>
                        <a:t>4  Difficult</a:t>
                      </a:r>
                    </a:p>
                    <a:p>
                      <a:r>
                        <a:rPr sz="1560" b="1">
                          <a:solidFill>
                            <a:srgbClr val="126D70"/>
                          </a:solidFill>
                          <a:latin typeface="Nimbus Sans"/>
                          <a:ea typeface="Nimbus Sans"/>
                          <a:cs typeface="Nimbus Sans"/>
                        </a:rPr>
                        <a:t>Allow more time</a:t>
                      </a:r>
                    </a:p>
                  </a:txBody>
                  <a:tcPr marL="91440" marR="91440" marT="45720" marB="45720" anchor="ctr">
                    <a:solidFill>
                      <a:srgbClr val="EAF2F1"/>
                    </a:solidFill>
                  </a:tcPr>
                </a:tc>
                <a:tc>
                  <a:txBody>
                    <a:bodyPr wrap="square" lIns="161925" tIns="104775" rIns="133350" bIns="104775">
                      <a:noAutofit/>
                    </a:bodyPr>
                    <a:lstStyle/>
                    <a:p>
                      <a:r>
                        <a:rPr sz="1500" b="0">
                          <a:solidFill>
                            <a:srgbClr val="202E35"/>
                          </a:solidFill>
                          <a:latin typeface="Nimbus Sans"/>
                          <a:ea typeface="Nimbus Sans"/>
                          <a:cs typeface="Nimbus Sans"/>
                        </a:rPr>
                        <a:t>Stress-test assumptions / audit decisions</a:t>
                      </a:r>
                    </a:p>
                    <a:p>
                      <a:r>
                        <a:rPr sz="1500" b="0">
                          <a:solidFill>
                            <a:srgbClr val="202E35"/>
                          </a:solidFill>
                          <a:latin typeface="Nimbus Sans"/>
                          <a:ea typeface="Nimbus Sans"/>
                          <a:cs typeface="Nimbus Sans"/>
                        </a:rPr>
                        <a:t>Plan a complex system redesign</a:t>
                      </a:r>
                    </a:p>
                    <a:p>
                      <a:r>
                        <a:rPr sz="1500" b="0">
                          <a:solidFill>
                            <a:srgbClr val="202E35"/>
                          </a:solidFill>
                          <a:latin typeface="Nimbus Sans"/>
                          <a:ea typeface="Nimbus Sans"/>
                          <a:cs typeface="Nimbus Sans"/>
                        </a:rPr>
                        <a:t>Resolve weak or conflicting evidence</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Astra 6</a:t>
                      </a:r>
                    </a:p>
                  </a:txBody>
                  <a:tcPr marL="91440" marR="91440" marT="45720" marB="45720" anchor="ctr">
                    <a:solidFill>
                      <a:srgbClr val="EAF2F1"/>
                    </a:solidFill>
                  </a:tcPr>
                </a:tc>
                <a:tc>
                  <a:txBody>
                    <a:bodyPr wrap="square" lIns="161925" tIns="95250" rIns="95250" bIns="95250">
                      <a:noAutofit/>
                    </a:bodyPr>
                    <a:lstStyle/>
                    <a:p>
                      <a:r>
                        <a:rPr sz="1740" b="1">
                          <a:solidFill>
                            <a:srgbClr val="202E35"/>
                          </a:solidFill>
                          <a:latin typeface="Nimbus Sans"/>
                          <a:ea typeface="Nimbus Sans"/>
                          <a:cs typeface="Nimbus Sans"/>
                        </a:rPr>
                        <a:t>Fable 5.1</a:t>
                      </a:r>
                    </a:p>
                  </a:txBody>
                  <a:tcPr marL="91440" marR="91440" marT="45720" marB="45720" anchor="ctr">
                    <a:solidFill>
                      <a:srgbClr val="EAF2F1"/>
                    </a:solidFill>
                  </a:tcPr>
                </a:tc>
                <a:tc>
                  <a:txBody>
                    <a:bodyPr wrap="square" lIns="161925" tIns="104775" rIns="133350" bIns="104775">
                      <a:noAutofit/>
                    </a:bodyPr>
                    <a:lstStyle/>
                    <a:p>
                      <a:r>
                        <a:rPr sz="1500" b="1">
                          <a:solidFill>
                            <a:srgbClr val="202E35"/>
                          </a:solidFill>
                          <a:latin typeface="Nimbus Sans"/>
                          <a:ea typeface="Nimbus Sans"/>
                          <a:cs typeface="Nimbus Sans"/>
                        </a:rPr>
                        <a:t>3.8 Flash</a:t>
                      </a:r>
                    </a:p>
                    <a:p>
                      <a:r>
                        <a:rPr sz="1500" b="1">
                          <a:solidFill>
                            <a:srgbClr val="202E35"/>
                          </a:solidFill>
                          <a:latin typeface="Nimbus Sans"/>
                          <a:ea typeface="Nimbus Sans"/>
                          <a:cs typeface="Nimbus Sans"/>
                        </a:rPr>
                        <a:t>3.1 Pro (preview)</a:t>
                      </a:r>
                    </a:p>
                  </a:txBody>
                  <a:tcPr marL="91440" marR="91440" marT="45720" marB="45720" anchor="ctr">
                    <a:solidFill>
                      <a:srgbClr val="EAF2F1"/>
                    </a:solidFill>
                  </a:tcPr>
                </a:tc>
              </a:tr>
            </a:tbl>
          </a:graphicData>
        </a:graphic>
      </p:graphicFrame>
      <p:sp>
        <p:nvSpPr>
          <p:cNvPr id="4" name="escalation-rule">
            <a:extLst>
              <a:ext uri="{FF2B5EF4-FFF2-40B4-BE49-F238E27FC236}">
                <a16:creationId xmlns:a16="http://schemas.microsoft.com/office/drawing/2014/main" id="{7ABCC422-D6F2-4AC9-9E76-CDB6100D09F2}"/>
              </a:ext>
            </a:extLst>
          </p:cNvPr>
          <p:cNvSpPr>
            <a:spLocks noGrp="1"/>
          </p:cNvSpPr>
          <p:nvPr/>
        </p:nvSpPr>
        <p:spPr>
          <a:xfrm>
            <a:off x="563880" y="6156960"/>
            <a:ext cx="11049000" cy="320040"/>
          </a:xfrm>
          <a:prstGeom prst="rect">
            <a:avLst/>
          </a:prstGeom>
          <a:noFill/>
          <a:ln w="0">
            <a:noFill/>
          </a:ln>
        </p:spPr>
        <p:txBody>
          <a:bodyPr wrap="square" lIns="0" tIns="0" rIns="0" bIns="0" anchor="t">
            <a:noAutofit/>
          </a:bodyPr>
          <a:lstStyle/>
          <a:p>
            <a:pPr>
              <a:defRPr sz="1740" b="1">
                <a:solidFill>
                  <a:srgbClr val="126D70"/>
                </a:solidFill>
                <a:latin typeface="Nimbus Sans"/>
                <a:ea typeface="Nimbus Sans"/>
                <a:cs typeface="Nimbus Sans"/>
              </a:defRPr>
            </a:pPr>
            <a:r>
              <a:rPr sz="1740" b="1">
                <a:solidFill>
                  <a:srgbClr val="126D70"/>
                </a:solidFill>
                <a:latin typeface="Nimbus Sans"/>
                <a:ea typeface="Nimbus Sans"/>
                <a:cs typeface="Nimbus Sans"/>
              </a:rPr>
              <a:t>Higher ambiguity or costly errors justify more reasoning and stronger checks.</a:t>
            </a:r>
          </a:p>
        </p:txBody>
      </p:sp>
      <p:sp>
        <p:nvSpPr>
          <p:cNvPr id="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Use bands, not equal benchmark ranks. Google spans bands. Speed varies with effort, context and tools. 17 Sep 2026.</a:t>
            </a:r>
          </a:p>
        </p:txBody>
      </p:sp>
      <p:sp>
        <p:nvSpPr>
          <p:cNvPr id="1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19</a:t>
            </a:r>
          </a:p>
        </p:txBody>
      </p:sp>
      <p:sp>
        <p:nvSpPr>
          <p:cNvPr id="12" name="kicker"/>
          <p:cNvSpPr/>
          <p:nvPr/>
        </p:nvSpPr>
        <p:spPr>
          <a:xfrm>
            <a:off x="504748" y="365760"/>
            <a:ext cx="8686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sz="1100" b="1">
                <a:solidFill>
                  <a:srgbClr val="0E7C7B"/>
                </a:solidFill>
                <a:latin typeface="Calibri"/>
              </a:rPr>
              <a:t>PART 2 · MODELS &amp; TOOLS — STARTING CHOICES BY VENDOR</a:t>
            </a:r>
          </a:p>
        </p:txBody>
      </p:sp>
      <p:sp>
        <p:nvSpPr>
          <p:cNvPr id="13" name="FACILITATION_MODE_BAR">
            <a:extLst>
              <a:ext uri="{FF2B5EF4-FFF2-40B4-BE49-F238E27FC236}">
                <a16:creationId xmlns:a16="http://schemas.microsoft.com/office/drawing/2014/main" id="{14AAB781-130C-49FD-9E57-DAC04AF8B545}"/>
              </a:ext>
            </a:extLst>
          </p:cNvPr>
          <p:cNvSpPr>
            <a:spLocks noGrp="1"/>
          </p:cNvSpPr>
          <p:nvPr/>
        </p:nvSpPr>
        <p:spPr>
          <a:xfrm>
            <a:off x="0" y="0"/>
            <a:ext cx="12192000" cy="57150"/>
          </a:xfrm>
          <a:prstGeom prst="rect">
            <a:avLst/>
          </a:prstGeom>
          <a:solidFill>
            <a:srgbClr val="0E7C7B"/>
          </a:solidFill>
          <a:ln w="0">
            <a:noFill/>
          </a:ln>
        </p:spPr>
        <p:txBody>
          <a:bodyPr/>
          <a:p/>
        </p:txBody>
      </p:sp>
      <p:sp>
        <p:nvSpPr>
          <p:cNvPr id="2" name="mode">
            <a:extLst>
              <a:ext uri="{FF2B5EF4-FFF2-40B4-BE49-F238E27FC236}">
                <a16:creationId xmlns:a16="http://schemas.microsoft.com/office/drawing/2014/main" id="{A6966CEC-43EC-42D7-B2B2-4FFCC0D957B8}"/>
              </a:ext>
            </a:extLst>
          </p:cNvPr>
          <p:cNvSpPr>
            <a:spLocks noGrp="1"/>
          </p:cNvSpPr>
          <p:nvPr/>
        </p:nvSpPr>
        <p:spPr>
          <a:xfrm>
            <a:off x="8382000" y="228600"/>
            <a:ext cx="3200400" cy="333375"/>
          </a:xfrm>
          <a:prstGeom prst="rect">
            <a:avLst/>
          </a:prstGeom>
          <a:noFill/>
          <a:ln w="0">
            <a:noFill/>
          </a:ln>
        </p:spPr>
        <p:txBody>
          <a:bodyPr anchor="t">
            <a:noAutofit/>
          </a:bodyPr>
          <a:lstStyle/>
          <a:p>
            <a:pPr>
              <a:buNone/>
              <a:defRPr sz="1350" b="1">
                <a:solidFill>
                  <a:srgbClr val="5D6B70"/>
                </a:solidFill>
                <a:latin typeface="Calibri"/>
                <a:ea typeface="Calibri"/>
                <a:cs typeface="Calibri"/>
              </a:defRPr>
            </a:pPr>
            <a:r>
              <a:rPr sz="1350" b="1">
                <a:solidFill>
                  <a:srgbClr val="0A6261"/>
                </a:solidFill>
                <a:latin typeface="Calibri"/>
                <a:ea typeface="Calibri"/>
                <a:cs typeface="Calibri"/>
              </a:rPr>
              <a:t>REFERENCE   0:30</a:t>
            </a:r>
          </a:p>
        </p:txBody>
      </p:sp>
    </p:spTree>
  </p:cSld>
  <p:clrMapOvr>
    <a:masterClrMapping/>
  </p:clrMapOvr>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“Explain Mixture of Experts using a specialist-hospital analogy, in about 120 words. Describe how selected computational components handle each token and how activating only a subset can reduce computation. Explain one way the hospital analogy can mislead, and why lower computation alone does not determine customer prices.”</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20</a:t>
            </a:r>
          </a:p>
        </p:txBody>
      </p:sp>
      <p:sp xmlns:a="http://schemas.openxmlformats.org/drawingml/2006/main">
        <p:nvSpPr>
          <p:cNvPr id="111" name="term-badge"/>
          <p:cNvSpPr/>
          <p:nvPr/>
        </p:nvSpPr>
        <p:spPr>
          <a:xfrm>
            <a:off x="9418320" y="502920"/>
            <a:ext cx="224028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400" b="1">
                <a:solidFill>
                  <a:srgbClr val="0E7C7B"/>
                </a:solidFill>
                <a:latin typeface="Calibri"/>
              </a:rPr>
              <a:t>MoE</a:t>
            </a:r>
          </a:p>
          <a:p>
            <a:pPr algn="r"/>
            <a:r>
              <a:rPr sz="900" b="0" i="1">
                <a:solidFill>
                  <a:srgbClr val="657278"/>
                </a:solidFill>
                <a:latin typeface="Calibri"/>
              </a:rPr>
              <a:t>Mixture of Experts</a:t>
            </a:r>
          </a:p>
        </p:txBody>
      </p:sp>
    </p:spTree>
    <p:extLst>
      <p:ext uri="{BB962C8B-B14F-4D97-AF65-F5344CB8AC3E}">
        <p14:creationId xmlns:p14="http://schemas.microsoft.com/office/powerpoint/2010/main" val="1400800326"/>
      </p:ext>
    </p:extLst>
  </p:cSld>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200" b="1" i="0">
                <a:solidFill>
                  <a:srgbClr val="0A6261"/>
                </a:solidFill>
                <a:latin typeface="Calibri"/>
              </a:rPr>
              <a:t>TEACH  0:50</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3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21</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One bad “fact” entered the log early — every later step politely builds on it.</a:t>
            </a:r>
          </a:p>
          <a:p>
            <a:pPr algn="l"/>
            <a:r>
              <a:rPr sz="1250" b="1" i="0">
                <a:solidFill>
                  <a:srgbClr val="875012"/>
                </a:solidFill>
                <a:latin typeface="Calibri"/>
              </a:rPr>
              <a:t>Cure: </a:t>
            </a:r>
            <a:r>
              <a:rPr sz="12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A long run wanders off the goal; the middle of a huge context gets skimmed.</a:t>
            </a:r>
          </a:p>
          <a:p>
            <a:pPr algn="l"/>
            <a:r>
              <a:rPr sz="1250" b="1" i="0">
                <a:solidFill>
                  <a:srgbClr val="875012"/>
                </a:solidFill>
                <a:latin typeface="Calibri"/>
              </a:rPr>
              <a:t>Cure: </a:t>
            </a:r>
            <a:r>
              <a:rPr sz="12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Too many tools on the desk — it picks the wrong one, or dithers between them.</a:t>
            </a:r>
          </a:p>
          <a:p>
            <a:pPr algn="l"/>
            <a:r>
              <a:rPr sz="1250" b="1" i="0">
                <a:solidFill>
                  <a:srgbClr val="875012"/>
                </a:solidFill>
                <a:latin typeface="Calibri"/>
              </a:rPr>
              <a:t>Cure: </a:t>
            </a:r>
            <a:r>
              <a:rPr sz="12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0E7C7B"/>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250" b="0" i="0">
                <a:solidFill>
                  <a:srgbClr val="3D4B50"/>
                </a:solidFill>
                <a:latin typeface="Calibri"/>
              </a:rPr>
              <a:t>Two sources disagree and the run silently picks one of them.</a:t>
            </a:r>
          </a:p>
          <a:p>
            <a:pPr algn="l"/>
            <a:r>
              <a:rPr sz="1250" b="1" i="0">
                <a:solidFill>
                  <a:srgbClr val="875012"/>
                </a:solidFill>
                <a:latin typeface="Calibri"/>
              </a:rPr>
              <a:t>Cure: </a:t>
            </a:r>
            <a:r>
              <a:rPr sz="12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5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SYSTEM PROMPT  </a:t>
            </a:r>
            <a:r>
              <a:rPr sz="11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PROJECT FILE  </a:t>
            </a:r>
            <a:r>
              <a:rPr sz="11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SKILL  </a:t>
            </a:r>
            <a:r>
              <a:rPr sz="11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1150" b="1" i="0">
                <a:solidFill>
                  <a:srgbClr val="232A31"/>
                </a:solidFill>
                <a:latin typeface="Calibri"/>
              </a:rPr>
              <a:t>YOUR MESSAGE  </a:t>
            </a:r>
            <a:r>
              <a:rPr sz="11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200" b="0" i="1">
                <a:solidFill>
                  <a:srgbClr val="657278"/>
                </a:solidFill>
                <a:latin typeface="Calibri"/>
              </a:rPr>
              <a:t>The requirements grid diagnosed the PROMPT; this grid diagnoses the RUN.</a:t>
            </a:r>
          </a:p>
        </p:txBody>
      </p:sp>
    </p:spTree>
  </p:cSld>
  <p:clrMapOvr>
    <a:masterClrMapping/>
  </p:clrMapOvr>
</p:sld>
</file>

<file path=ppt/slides/slide22.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22</a:t>
            </a:r>
          </a:p>
        </p:txBody>
      </p:sp>
    </p:spTree>
    <p:extLst>
      <p:ext uri="{BB962C8B-B14F-4D97-AF65-F5344CB8AC3E}">
        <p14:creationId xmlns:p14="http://schemas.microsoft.com/office/powerpoint/2010/main" val="14688472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YOU ALREADY DO THIS AT WORK</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920522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92</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 xmlns:a="http://schemas.openxmlformats.org/drawingml/2006/main">
        <p:nvSpPr>
          <p:cNvPr id="16"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TESTABLE BEATS VAGUE</a:t>
            </a:r>
          </a:p>
        </p:txBody>
      </p:sp>
      <p:sp xmlns:a="http://schemas.openxmlformats.org/drawingml/2006/main">
        <p:nvSpPr>
          <p:cNvPr id="17" name="takeaway-accent"/>
          <p:cNvSpPr/>
          <p:nvPr/>
        </p:nvSpPr>
        <p:spPr>
          <a:xfrm>
            <a:off x="457200" y="6246113"/>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816882031"/>
      </p:ext>
    </p:extLst>
  </p:cSld>
</p:sld>
</file>

<file path=ppt/slides/slide2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51</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E7C7B"/>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52</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 xmlns:a="http://schemas.openxmlformats.org/drawingml/2006/main">
        <p:nvSpPr>
          <p:cNvPr id="13"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ROLES DESCRIBE BEHAVIOR</a:t>
            </a:r>
          </a:p>
        </p:txBody>
      </p:sp>
      <p:sp xmlns:a="http://schemas.openxmlformats.org/drawingml/2006/main">
        <p:nvSpPr>
          <p:cNvPr id="14"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21732852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53</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 xmlns:a="http://schemas.openxmlformats.org/drawingml/2006/main">
        <p:nvSpPr>
          <p:cNvPr id="17"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ELEMENTS MAP TO REQUIREMENTS</a:t>
            </a:r>
          </a:p>
        </p:txBody>
      </p:sp>
      <p:sp xmlns:a="http://schemas.openxmlformats.org/drawingml/2006/main">
        <p:nvSpPr>
          <p:cNvPr id="18"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3541720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E7C7B"/>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solidFill xmlns:a="http://schemas.openxmlformats.org/drawingml/2006/main">
            <a:srgbClr val="F2F5F6"/>
          </a:solidFill>
          <a:ln xmlns:a="http://schemas.openxmlformats.org/drawingml/2006/main" w="0">
            <a:noFill/>
          </a:ln>
        </p:spPr>
        <p:txBody>
          <a:bodyPr xmlns:a="http://schemas.openxmlformats.org/drawingml/2006/main" anchor="t" lIns="146304" tIns="91440" rIns="128016">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54</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5" name="kicker"/>
          <p:cNvSpPr/>
          <p:nvPr/>
        </p:nvSpPr>
        <p:spPr>
          <a:xfrm>
            <a:off x="612648" y="457200"/>
            <a:ext cx="758952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l"/>
            <a:r>
              <a:rPr sz="1100" b="1">
                <a:solidFill>
                  <a:srgbClr val="0E7C7B"/>
                </a:solidFill>
                <a:latin typeface="Calibri"/>
              </a:rPr>
              <a:t>THE CRAFT — EXAMPLES, OUTS, AND STOP RULES</a:t>
            </a:r>
          </a:p>
        </p:txBody>
      </p:sp>
      <p:sp xmlns:a="http://schemas.openxmlformats.org/drawingml/2006/main">
        <p:nvSpPr>
          <p:cNvPr id="16" name="takeaway-accent"/>
          <p:cNvSpPr/>
          <p:nvPr/>
        </p:nvSpPr>
        <p:spPr>
          <a:xfrm>
            <a:off x="457200" y="5817488"/>
            <a:ext cx="50292" cy="50292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891697836"/>
      </p:ext>
    </p:extLst>
  </p:cSld>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p:cNvSpPr/>
          <p:nvPr/>
        </p:nvSpPr>
        <p:spPr>
          <a:xfrm>
            <a:off x="504748" y="384048"/>
            <a:ext cx="8229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100" b="1" i="0">
                <a:solidFill>
                  <a:srgbClr val="0E7C7B"/>
                </a:solidFill>
                <a:latin typeface="Calibri"/>
              </a:rPr>
              <a:t>NAME THE DELIVERABLE</a:t>
            </a:r>
          </a:p>
        </p:txBody>
      </p:sp>
      <p:sp>
        <p:nvSpPr>
          <p:cNvPr id="4" name="title"/>
          <p:cNvSpPr/>
          <p:nvPr/>
        </p:nvSpPr>
        <p:spPr>
          <a:xfrm>
            <a:off x="504748" y="731520"/>
            <a:ext cx="111556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3000" b="1" i="0">
                <a:solidFill>
                  <a:srgbClr val="232A31"/>
                </a:solidFill>
                <a:latin typeface="Cambria"/>
              </a:rPr>
              <a:t>Artifacts — what the AI hands back</a:t>
            </a:r>
          </a:p>
        </p:txBody>
      </p:sp>
      <p:sp>
        <p:nvSpPr>
          <p:cNvPr id="5" name="subtitle"/>
          <p:cNvSpPr/>
          <p:nvPr/>
        </p:nvSpPr>
        <p:spPr>
          <a:xfrm>
            <a:off x="504748" y="1389888"/>
            <a:ext cx="11155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0" i="0">
                <a:solidFill>
                  <a:srgbClr val="657278"/>
                </a:solidFill>
                <a:latin typeface="Calibri"/>
              </a:rPr>
              <a:t>An artifact is the finished work product — a document, table, deck, or working file — not the conversation that produced it.</a:t>
            </a:r>
          </a:p>
        </p:txBody>
      </p:sp>
      <p:sp>
        <p:nvSpPr>
          <p:cNvPr id="6" name="card-generative"/>
          <p:cNvSpPr/>
          <p:nvPr/>
        </p:nvSpPr>
        <p:spPr>
          <a:xfrm>
            <a:off x="504748"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en-head"/>
          <p:cNvSpPr/>
          <p:nvPr/>
        </p:nvSpPr>
        <p:spPr>
          <a:xfrm>
            <a:off x="731520"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GENERATIVE — you shape it</a:t>
            </a:r>
          </a:p>
        </p:txBody>
      </p:sp>
      <p:sp>
        <p:nvSpPr>
          <p:cNvPr id="8" name="gen-body"/>
          <p:cNvSpPr/>
          <p:nvPr/>
        </p:nvSpPr>
        <p:spPr>
          <a:xfrm>
            <a:off x="731520"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Chat produces drafts inside the conversation: text, tables, code you refine turn by turn. The artifact emerges from the exchange — you are the loop, and you carry it out of the chat.</a:t>
            </a:r>
          </a:p>
        </p:txBody>
      </p:sp>
      <p:sp>
        <p:nvSpPr>
          <p:cNvPr id="9" name="gen-ex"/>
          <p:cNvSpPr/>
          <p:nvPr/>
        </p:nvSpPr>
        <p:spPr>
          <a:xfrm>
            <a:off x="731520"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Draft email · summary · rewritten section · one-off table</a:t>
            </a:r>
          </a:p>
        </p:txBody>
      </p:sp>
      <p:sp>
        <p:nvSpPr>
          <p:cNvPr id="10" name="card-agentic"/>
          <p:cNvSpPr/>
          <p:nvPr/>
        </p:nvSpPr>
        <p:spPr>
          <a:xfrm>
            <a:off x="6199632" y="2057400"/>
            <a:ext cx="548640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gt-head"/>
          <p:cNvSpPr/>
          <p:nvPr/>
        </p:nvSpPr>
        <p:spPr>
          <a:xfrm>
            <a:off x="6428232" y="2286000"/>
            <a:ext cx="50292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500" b="1" i="0">
                <a:solidFill>
                  <a:srgbClr val="0E7C7B"/>
                </a:solidFill>
                <a:latin typeface="Calibri"/>
              </a:rPr>
              <a:t>AGENTIC — you specify it</a:t>
            </a:r>
          </a:p>
        </p:txBody>
      </p:sp>
      <p:sp>
        <p:nvSpPr>
          <p:cNvPr id="12" name="agt-body"/>
          <p:cNvSpPr/>
          <p:nvPr/>
        </p:nvSpPr>
        <p:spPr>
          <a:xfrm>
            <a:off x="6428232" y="2743200"/>
            <a:ext cx="5029200"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i="0">
                <a:solidFill>
                  <a:srgbClr val="232A31"/>
                </a:solidFill>
                <a:latin typeface="Calibri"/>
              </a:rPr>
              <a:t>An agent delivers the finished file against your brief: workbook, slide deck, report, working page. You are not in the loop while it works — so the artifact is the contract, and the requirements travel in the prompt.</a:t>
            </a:r>
          </a:p>
        </p:txBody>
      </p:sp>
      <p:sp>
        <p:nvSpPr>
          <p:cNvPr id="13" name="agt-ex"/>
          <p:cNvSpPr/>
          <p:nvPr/>
        </p:nvSpPr>
        <p:spPr>
          <a:xfrm>
            <a:off x="6428232" y="4343400"/>
            <a:ext cx="5029200" cy="594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200" b="0" i="1">
                <a:solidFill>
                  <a:srgbClr val="657278"/>
                </a:solidFill>
                <a:latin typeface="Calibri"/>
              </a:rPr>
              <a:t>Analyzed workbook · five-slide deck · action-items table · research spreadsheet</a:t>
            </a:r>
          </a:p>
        </p:txBody>
      </p:sp>
      <p:sp>
        <p:nvSpPr>
          <p:cNvPr id="14" name="principle"/>
          <p:cNvSpPr/>
          <p:nvPr/>
        </p:nvSpPr>
        <p:spPr>
          <a:xfrm>
            <a:off x="504748" y="5394960"/>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400" b="1" i="0">
                <a:solidFill>
                  <a:srgbClr val="232A31"/>
                </a:solidFill>
                <a:latin typeface="Calibri"/>
              </a:rPr>
              <a:t>Name the artifact first. Every requirement on the next slide attaches to the artifact — the more of the work you delegate, the more the artifact's definition has to carry.</a:t>
            </a:r>
          </a:p>
        </p:txBody>
      </p:sp>
      <p:sp>
        <p:nvSpPr>
          <p:cNvPr id="1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1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29</a:t>
            </a:r>
          </a:p>
        </p:txBody>
      </p:sp>
      <p:sp>
        <p:nvSpPr>
          <p:cNvPr id="17" name="term-badge"/>
          <p:cNvSpPr/>
          <p:nvPr/>
        </p:nvSpPr>
        <p:spPr>
          <a:xfrm>
            <a:off x="9098280" y="457200"/>
            <a:ext cx="2606040"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850" b="1">
                <a:solidFill>
                  <a:srgbClr val="526267"/>
                </a:solidFill>
                <a:latin typeface="Calibri"/>
              </a:rPr>
              <a:t>R E M E M B E R</a:t>
            </a:r>
          </a:p>
          <a:p>
            <a:pPr algn="r"/>
            <a:r>
              <a:rPr sz="2200" b="1">
                <a:solidFill>
                  <a:srgbClr val="0E7C7B"/>
                </a:solidFill>
                <a:latin typeface="Calibri"/>
              </a:rPr>
              <a:t>ARTIFACT</a:t>
            </a:r>
          </a:p>
        </p:txBody>
      </p:sp>
    </p:spTree>
  </p:cSld>
  <p:clrMapOvr>
    <a:masterClrMapping/>
  </p:clrMapOvr>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93–98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475719825"/>
      </p:ext>
    </p:extLst>
  </p:cSld>
</p:sld>
</file>

<file path=ppt/slides/slide31.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55</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txBody>
          <a:bodyPr/>
          <a:p/>
        </p:txBody>
      </p:sp>
      <p:sp>
        <p:nvSpPr>
          <p:cNvPr id="7" name="Shape 5"/>
          <p:cNvSpPr/>
          <p:nvPr/>
        </p:nvSpPr>
        <p:spPr>
          <a:xfrm>
            <a:off x="685800" y="1591056"/>
            <a:ext cx="384048" cy="384048"/>
          </a:xfrm>
          <a:prstGeom prst="ellipse">
            <a:avLst/>
          </a:prstGeom>
          <a:solidFill>
            <a:srgbClr val="3B8560"/>
          </a:solidFill>
          <a:ln/>
        </p:spPr>
        <p:txBody>
          <a:bodyPr/>
          <a:p/>
        </p:txBody>
      </p:sp>
      <p:pic>
        <p:nvPicPr>
          <p:cNvPr id="8" name="Image 0" descr="/home/user/Claude-Works/ai-training-prompt-engineering/src/assets/icons/check_w.png">    </p:cNvPr>
          <p:cNvPicPr>
            <a:picLocks noChangeAspect="1"/>
          </p:cNvPicPr>
          <p:nvPr/>
        </p:nvPicPr>
        <p:blipFill>
          <a:blip r:embed="rId2"/>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txBody>
          <a:bodyPr/>
          <a:p/>
        </p:txBody>
      </p:sp>
      <p:sp>
        <p:nvSpPr>
          <p:cNvPr id="16" name="Shape 13"/>
          <p:cNvSpPr/>
          <p:nvPr/>
        </p:nvSpPr>
        <p:spPr>
          <a:xfrm>
            <a:off x="4480560" y="1591056"/>
            <a:ext cx="384048" cy="384048"/>
          </a:xfrm>
          <a:prstGeom prst="ellipse">
            <a:avLst/>
          </a:prstGeom>
          <a:solidFill>
            <a:srgbClr val="AF3230"/>
          </a:solidFill>
          <a:ln/>
        </p:spPr>
        <p:txBody>
          <a:bodyPr/>
          <a:p/>
        </p:txBody>
      </p:sp>
      <p:pic>
        <p:nvPicPr>
          <p:cNvPr id="17" name="Image 1" descr="/home/user/Claude-Works/ai-training-prompt-engineering/src/assets/icons/x_w.png">    </p:cNvPr>
          <p:cNvPicPr>
            <a:picLocks noChangeAspect="1"/>
          </p:cNvPicPr>
          <p:nvPr/>
        </p:nvPicPr>
        <p:blipFill>
          <a:blip r:embed="rId3"/>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txBody>
          <a:bodyPr/>
          <a:p/>
        </p:txBody>
      </p:sp>
      <p:sp>
        <p:nvSpPr>
          <p:cNvPr id="25" name="Shape 21"/>
          <p:cNvSpPr/>
          <p:nvPr/>
        </p:nvSpPr>
        <p:spPr>
          <a:xfrm>
            <a:off x="8275320" y="1591056"/>
            <a:ext cx="384048" cy="384048"/>
          </a:xfrm>
          <a:prstGeom prst="ellipse">
            <a:avLst/>
          </a:prstGeom>
          <a:solidFill>
            <a:srgbClr val="46545F"/>
          </a:solidFill>
          <a:ln/>
        </p:spPr>
        <p:txBody>
          <a:bodyPr/>
          <a:p/>
        </p:txBody>
      </p:sp>
      <p:pic>
        <p:nvPicPr>
          <p:cNvPr id="26" name="Image 2" descr="/home/user/Claude-Works/ai-training-prompt-engineering/src/assets/icons/clock_w.png">    </p:cNvPr>
          <p:cNvPicPr>
            <a:picLocks noChangeAspect="1"/>
          </p:cNvPicPr>
          <p:nvPr/>
        </p:nvPicPr>
        <p:blipFill>
          <a:blip r:embed="rId4"/>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txBody>
          <a:bodyPr/>
          <a:p/>
        </p:txBody>
      </p:sp>
      <p:sp>
        <p:nvSpPr>
          <p:cNvPr id="34" name="Shape 29"/>
          <p:cNvSpPr/>
          <p:nvPr/>
        </p:nvSpPr>
        <p:spPr>
          <a:xfrm>
            <a:off x="667512" y="6025896"/>
            <a:ext cx="384048" cy="384048"/>
          </a:xfrm>
          <a:prstGeom prst="ellipse">
            <a:avLst/>
          </a:prstGeom>
          <a:solidFill>
            <a:srgbClr val="0E7C7B"/>
          </a:solidFill>
          <a:ln/>
        </p:spPr>
        <p:txBody>
          <a:bodyPr/>
          <a:p/>
        </p:txBody>
      </p:sp>
      <p:pic>
        <p:nvPicPr>
          <p:cNvPr id="35" name="Image 3" descr="/home/user/Claude-Works/ai-training-prompt-engineering/src/assets/icons/download_w.png">    </p:cNvPr>
          <p:cNvPicPr>
            <a:picLocks noChangeAspect="1"/>
          </p:cNvPicPr>
          <p:nvPr/>
        </p:nvPicPr>
        <p:blipFill>
          <a:blip r:embed="rId5"/>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
        <p:nvSpPr>
          <p:cNvPr id="37"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38"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txBody>
          <a:bodyPr/>
          <a:p/>
        </p:txBody>
      </p:sp>
      <p:pic>
        <p:nvPicPr>
          <p:cNvPr id="7" name="Image 0" descr="/home/user/Claude-Works/ai-training-prompt-engineering/src/assets/icons/clock_w.png">    </p:cNvPr>
          <p:cNvPicPr>
            <a:picLocks noChangeAspect="1"/>
          </p:cNvPicPr>
          <p:nvPr/>
        </p:nvPicPr>
        <p:blipFill>
          <a:blip r:embed="rId2"/>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txBody>
          <a:bodyPr/>
          <a:p/>
        </p:txBody>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txBody>
          <a:bodyPr/>
          <a:p/>
        </p:txBody>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txBody>
          <a:bodyPr/>
          <a:p/>
        </p:txBody>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txBody>
          <a:bodyPr/>
          <a:p/>
        </p:txBody>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txBody>
          <a:bodyPr/>
          <a:p/>
        </p:txBody>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
        <p:nvSpPr>
          <p:cNvPr id="19"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20"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C272E"/>
        </a:solidFill>
      </p:bgPr>
    </p:bg>
    <p:spTree>
      <p:nvGrpSpPr>
        <p:cNvPr id="1" name=""/>
        <p:cNvGrpSpPr/>
        <p:nvPr/>
      </p:nvGrpSpPr>
      <p:grpSpPr/>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txBody>
          <a:bodyPr/>
          <a:p/>
        </p:txBody>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txBody>
          <a:bodyPr/>
          <a:p/>
        </p:txBody>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
        <p:nvSpPr>
          <p:cNvPr id="31"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A7B0B5"/>
                </a:solidFill>
                <a:latin typeface="Calibri"/>
              </a:rPr>
              <a:t>From Prompts to Agents</a:t>
            </a:r>
          </a:p>
        </p:txBody>
      </p:sp>
      <p:sp>
        <p:nvSpPr>
          <p:cNvPr id="32"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A7B0B5"/>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txBody>
          <a:bodyPr/>
          <a:p/>
        </p:txBody>
      </p:sp>
      <p:sp>
        <p:nvSpPr>
          <p:cNvPr id="7" name="Shape 5"/>
          <p:cNvSpPr/>
          <p:nvPr/>
        </p:nvSpPr>
        <p:spPr>
          <a:xfrm>
            <a:off x="502920" y="1444752"/>
            <a:ext cx="5532120" cy="365760"/>
          </a:xfrm>
          <a:prstGeom prst="roundRect">
            <a:avLst>
              <a:gd name="adj" fmla="val 15000"/>
            </a:avLst>
          </a:prstGeom>
          <a:solidFill>
            <a:srgbClr val="46545F"/>
          </a:solidFill>
          <a:ln/>
        </p:spPr>
        <p:txBody>
          <a:bodyPr/>
          <a:p/>
        </p:txBody>
      </p:sp>
      <p:sp>
        <p:nvSpPr>
          <p:cNvPr id="8" name="Shape 6"/>
          <p:cNvSpPr/>
          <p:nvPr/>
        </p:nvSpPr>
        <p:spPr>
          <a:xfrm>
            <a:off x="658368" y="1563624"/>
            <a:ext cx="118872" cy="118872"/>
          </a:xfrm>
          <a:prstGeom prst="ellipse">
            <a:avLst/>
          </a:prstGeom>
          <a:solidFill>
            <a:srgbClr val="E74C3C"/>
          </a:solidFill>
          <a:ln/>
        </p:spPr>
        <p:txBody>
          <a:bodyPr/>
          <a:p/>
        </p:txBody>
      </p:sp>
      <p:sp>
        <p:nvSpPr>
          <p:cNvPr id="9" name="Shape 7"/>
          <p:cNvSpPr/>
          <p:nvPr/>
        </p:nvSpPr>
        <p:spPr>
          <a:xfrm>
            <a:off x="841248" y="1563624"/>
            <a:ext cx="118872" cy="118872"/>
          </a:xfrm>
          <a:prstGeom prst="ellipse">
            <a:avLst/>
          </a:prstGeom>
          <a:solidFill>
            <a:srgbClr val="F1C40F"/>
          </a:solidFill>
          <a:ln/>
        </p:spPr>
        <p:txBody>
          <a:bodyPr/>
          <a:p/>
        </p:txBody>
      </p:sp>
      <p:sp>
        <p:nvSpPr>
          <p:cNvPr id="10" name="Shape 8"/>
          <p:cNvSpPr/>
          <p:nvPr/>
        </p:nvSpPr>
        <p:spPr>
          <a:xfrm>
            <a:off x="1024128" y="1563624"/>
            <a:ext cx="118872" cy="118872"/>
          </a:xfrm>
          <a:prstGeom prst="ellipse">
            <a:avLst/>
          </a:prstGeom>
          <a:solidFill>
            <a:srgbClr val="2ECC71"/>
          </a:solidFill>
          <a:ln/>
        </p:spPr>
        <p:txBody>
          <a:bodyPr/>
          <a:p/>
        </p:txBody>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txBody>
          <a:bodyPr/>
          <a:p/>
        </p:txBody>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txBody>
          <a:bodyPr/>
          <a:p/>
        </p:txBody>
      </p:sp>
      <p:sp>
        <p:nvSpPr>
          <p:cNvPr id="16" name="Shape 14"/>
          <p:cNvSpPr/>
          <p:nvPr/>
        </p:nvSpPr>
        <p:spPr>
          <a:xfrm>
            <a:off x="6345936" y="1938528"/>
            <a:ext cx="5303520" cy="768096"/>
          </a:xfrm>
          <a:prstGeom prst="roundRect">
            <a:avLst>
              <a:gd name="adj" fmla="val 9524"/>
            </a:avLst>
          </a:prstGeom>
          <a:solidFill>
            <a:srgbClr val="F2F5F6"/>
          </a:solidFill>
          <a:ln/>
        </p:spPr>
        <p:txBody>
          <a:bodyPr/>
          <a:p/>
        </p:txBody>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txBody>
          <a:bodyPr/>
          <a:p/>
        </p:txBody>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txBody>
          <a:bodyPr/>
          <a:p/>
        </p:txBody>
      </p:sp>
      <p:sp>
        <p:nvSpPr>
          <p:cNvPr id="22" name="Shape 20"/>
          <p:cNvSpPr/>
          <p:nvPr/>
        </p:nvSpPr>
        <p:spPr>
          <a:xfrm>
            <a:off x="6345936" y="2743200"/>
            <a:ext cx="5303520" cy="768096"/>
          </a:xfrm>
          <a:prstGeom prst="roundRect">
            <a:avLst>
              <a:gd name="adj" fmla="val 9524"/>
            </a:avLst>
          </a:prstGeom>
          <a:solidFill>
            <a:srgbClr val="F2F5F6"/>
          </a:solidFill>
          <a:ln/>
        </p:spPr>
        <p:txBody>
          <a:bodyPr/>
          <a:p/>
        </p:txBody>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txBody>
          <a:bodyPr/>
          <a:p/>
        </p:txBody>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txBody>
          <a:bodyPr/>
          <a:p/>
        </p:txBody>
      </p:sp>
      <p:sp>
        <p:nvSpPr>
          <p:cNvPr id="28" name="Shape 26"/>
          <p:cNvSpPr/>
          <p:nvPr/>
        </p:nvSpPr>
        <p:spPr>
          <a:xfrm>
            <a:off x="6345936" y="3547872"/>
            <a:ext cx="5303520" cy="768096"/>
          </a:xfrm>
          <a:prstGeom prst="roundRect">
            <a:avLst>
              <a:gd name="adj" fmla="val 9524"/>
            </a:avLst>
          </a:prstGeom>
          <a:solidFill>
            <a:srgbClr val="F2F5F6"/>
          </a:solidFill>
          <a:ln/>
        </p:spPr>
        <p:txBody>
          <a:bodyPr/>
          <a:p/>
        </p:txBody>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txBody>
          <a:bodyPr/>
          <a:p/>
        </p:txBody>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txBody>
          <a:bodyPr/>
          <a:p/>
        </p:txBody>
      </p:sp>
      <p:sp>
        <p:nvSpPr>
          <p:cNvPr id="34" name="Shape 32"/>
          <p:cNvSpPr/>
          <p:nvPr/>
        </p:nvSpPr>
        <p:spPr>
          <a:xfrm>
            <a:off x="6345936" y="4352544"/>
            <a:ext cx="5303520" cy="768096"/>
          </a:xfrm>
          <a:prstGeom prst="roundRect">
            <a:avLst>
              <a:gd name="adj" fmla="val 9524"/>
            </a:avLst>
          </a:prstGeom>
          <a:solidFill>
            <a:srgbClr val="F2F5F6"/>
          </a:solidFill>
          <a:ln/>
        </p:spPr>
        <p:txBody>
          <a:bodyPr/>
          <a:p/>
        </p:txBody>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txBody>
          <a:bodyPr/>
          <a:p/>
        </p:txBody>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txBody>
          <a:bodyPr/>
          <a:p/>
        </p:txBody>
      </p:sp>
      <p:sp>
        <p:nvSpPr>
          <p:cNvPr id="40" name="Shape 38"/>
          <p:cNvSpPr/>
          <p:nvPr/>
        </p:nvSpPr>
        <p:spPr>
          <a:xfrm>
            <a:off x="6345936" y="5157216"/>
            <a:ext cx="5303520" cy="768096"/>
          </a:xfrm>
          <a:prstGeom prst="roundRect">
            <a:avLst>
              <a:gd name="adj" fmla="val 9524"/>
            </a:avLst>
          </a:prstGeom>
          <a:solidFill>
            <a:srgbClr val="F2F5F6"/>
          </a:solidFill>
          <a:ln/>
        </p:spPr>
        <p:txBody>
          <a:bodyPr/>
          <a:p/>
        </p:txBody>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txBody>
          <a:bodyPr/>
          <a:p/>
        </p:txBody>
      </p:sp>
      <p:sp>
        <p:nvSpPr>
          <p:cNvPr id="43" name="Shape 41"/>
          <p:cNvSpPr/>
          <p:nvPr/>
        </p:nvSpPr>
        <p:spPr>
          <a:xfrm>
            <a:off x="667512" y="6140196"/>
            <a:ext cx="384048" cy="384048"/>
          </a:xfrm>
          <a:prstGeom prst="ellipse">
            <a:avLst/>
          </a:prstGeom>
          <a:solidFill>
            <a:srgbClr val="0E7C7B"/>
          </a:solidFill>
          <a:ln/>
        </p:spPr>
        <p:txBody>
          <a:bodyPr/>
          <a:p/>
        </p:txBody>
      </p:sp>
      <p:pic>
        <p:nvPicPr>
          <p:cNvPr id="44" name="Image 0" descr="/home/user/Claude-Works/ai-training-prompt-engineering/src/assets/icons/copy_w.png">    </p:cNvPr>
          <p:cNvPicPr>
            <a:picLocks noChangeAspect="1"/>
          </p:cNvPicPr>
          <p:nvPr/>
        </p:nvPicPr>
        <p:blipFill>
          <a:blip r:embed="rId2"/>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
        <p:nvSpPr>
          <p:cNvPr id="4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i="0">
                <a:solidFill>
                  <a:srgbClr val="526267"/>
                </a:solidFill>
                <a:latin typeface="Calibri"/>
              </a:rPr>
              <a:t>From Prompts to Agents</a:t>
            </a:r>
          </a:p>
        </p:txBody>
      </p:sp>
      <p:sp>
        <p:nvSpPr>
          <p:cNvPr id="4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657278"/>
                </a:solidFill>
                <a:latin typeface="Calibri"/>
              </a:rPr>
              <a:t>35</a:t>
            </a:r>
          </a:p>
        </p:txBody>
      </p:sp>
    </p:spTree>
  </p:cSld>
  <p:clrMapOvr>
    <a:masterClrMapping/>
  </p:clrMapOvr>
</p:sld>
</file>

<file path=ppt/slides/slide36.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36</a:t>
            </a:r>
          </a:p>
        </p:txBody>
      </p:sp>
    </p:spTree>
    <p:extLst>
      <p:ext uri="{BB962C8B-B14F-4D97-AF65-F5344CB8AC3E}">
        <p14:creationId xmlns:p14="http://schemas.microsoft.com/office/powerpoint/2010/main" val="1528682446"/>
      </p:ext>
    </p:extLst>
  </p:cSld>
</p:sld>
</file>

<file path=ppt/slides/slide3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Same chat, same data — one more prompt:</a:t>
            </a:r>
          </a:p>
        </p:txBody>
      </p:sp>
      <p:sp xmlns:a="http://schemas.openxmlformats.org/drawingml/2006/main">
        <p:nvSpPr>
          <p:cNvPr id="11" name="ex-box-panel"/>
          <p:cNvSpPr/>
          <p:nvPr/>
        </p:nvSpPr>
        <p:spPr>
          <a:xfrm>
            <a:off x="612648" y="2432304"/>
            <a:ext cx="10972800" cy="13716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same data, compare return rate by month and site. Identify the clearest increase, decrease, or unusual pattern. Show the values behind it. Do not claim a cause. List the additional data needed to investigate why it happened.”</a:t>
            </a:r>
          </a:p>
        </p:txBody>
      </p:sp>
      <p:sp xmlns:a="http://schemas.openxmlformats.org/drawingml/2006/main">
        <p:nvSpPr>
          <p:cNvPr id="12" name="ex-note"/>
          <p:cNvSpPr/>
          <p:nvPr/>
        </p:nvSpPr>
        <p:spPr>
          <a:xfrm>
            <a:off x="612648" y="3986784"/>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A finding names a pattern and shows its values. A cause needs data this file does not contain — the honest answer lists what to collect next.</a:t>
            </a:r>
          </a:p>
        </p:txBody>
      </p:sp>
    </p:spTree>
    <p:extLst>
      <p:ext uri="{BB962C8B-B14F-4D97-AF65-F5344CB8AC3E}">
        <p14:creationId xmlns:p14="http://schemas.microsoft.com/office/powerpoint/2010/main" val="129586125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Update the uploaded workbook and return an editable Excel file named Supplier_Data_Analyzed.xlsx — original data unchanged, analysis on a new Summary sheet.</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SUMMARY SHEET</a:t>
            </a:r>
          </a:p>
          <a:p>
            <a:pPr algn="l"/>
            <a:r>
              <a:rPr sz="14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Traceable Excel logic — formulas or PivotTables, never hard-coded chart values · missing values stay missing · totals reconcile to the source before the file returns.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PROVE IT</a:t>
            </a:r>
          </a:p>
          <a:p>
            <a:pPr algn="l"/>
            <a:r>
              <a:rPr sz="1400" b="0">
                <a:solidFill>
                  <a:srgbClr val="232A31"/>
                </a:solidFill>
                <a:latin typeface="Calibri"/>
              </a:rPr>
              <a:t>Open the returned workbook, inspect the Summary sheet, click one chart — its source range or PivotTable must be editable.</a:t>
            </a:r>
          </a:p>
        </p:txBody>
      </p:sp>
    </p:spTree>
    <p:extLst>
      <p:ext uri="{BB962C8B-B14F-4D97-AF65-F5344CB8AC3E}">
        <p14:creationId xmlns:p14="http://schemas.microsoft.com/office/powerpoint/2010/main" val="146957604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4"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 xmlns:a="http://schemas.openxmlformats.org/drawingml/2006/main">
        <p:nvSpPr>
          <p:cNvPr id="15" name="ex-box-panel"/>
          <p:cNvSpPr/>
          <p:nvPr/>
        </p:nvSpPr>
        <p:spPr>
          <a:xfrm>
            <a:off x="612648" y="1874519"/>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returned Supplier_Data_Analyzed.xlsx workbook and its verified definitions, create one self-contained HTML dashboard that works offline.”</a:t>
            </a:r>
          </a:p>
        </p:txBody>
      </p:sp>
      <p:sp xmlns:a="http://schemas.openxmlformats.org/drawingml/2006/main">
        <p:nvSpPr>
          <p:cNvPr id="16" name="ex-box-panel"/>
          <p:cNvSpPr/>
          <p:nvPr/>
        </p:nvSpPr>
        <p:spPr>
          <a:xfrm>
            <a:off x="612648" y="3191256"/>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IT MUST INCLUDE</a:t>
            </a:r>
          </a:p>
          <a:p>
            <a:pPr algn="l"/>
            <a:r>
              <a:rPr sz="14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xmlns:a="http://schemas.openxmlformats.org/drawingml/2006/main">
        <p:nvSpPr>
          <p:cNvPr id="17" name="ex-box-panel"/>
          <p:cNvSpPr/>
          <p:nvPr/>
        </p:nvSpPr>
        <p:spPr>
          <a:xfrm>
            <a:off x="612648" y="4507992"/>
            <a:ext cx="10972800" cy="120700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TEACHING LINE</a:t>
            </a:r>
          </a:p>
          <a:p>
            <a:pPr algn="l"/>
            <a:r>
              <a:rPr sz="1400" b="0">
                <a:solidFill>
                  <a:srgbClr val="232A31"/>
                </a:solidFill>
                <a:latin typeface="Calibri"/>
              </a:rPr>
              <a:t>You do not need to write the code. You need to describe the behavior.</a:t>
            </a:r>
          </a:p>
        </p:txBody>
      </p:sp>
    </p:spTree>
    <p:extLst>
      <p:ext uri="{BB962C8B-B14F-4D97-AF65-F5344CB8AC3E}">
        <p14:creationId xmlns:p14="http://schemas.microsoft.com/office/powerpoint/2010/main" val="187541384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 xmlns:a="http://schemas.openxmlformats.org/drawingml/2006/main">
        <p:nvSpPr>
          <p:cNvPr id="10" name="ex-intro"/>
          <p:cNvSpPr/>
          <p:nvPr/>
        </p:nvSpPr>
        <p:spPr>
          <a:xfrm>
            <a:off x="612648"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600" b="1">
                <a:solidFill>
                  <a:srgbClr val="232A31"/>
                </a:solidFill>
                <a:latin typeface="Calibri"/>
              </a:rPr>
              <a:t>Input: Supplier_Data_Analyzed.xlsx — the returned workbook: same data, definitions, and period.</a:t>
            </a:r>
          </a:p>
        </p:txBody>
      </p:sp>
      <p:sp xmlns:a="http://schemas.openxmlformats.org/drawingml/2006/main">
        <p:nvSpPr>
          <p:cNvPr id="11" name="ex-box-panel"/>
          <p:cNvSpPr/>
          <p:nvPr/>
        </p:nvSpPr>
        <p:spPr>
          <a:xfrm>
            <a:off x="612648" y="2414016"/>
            <a:ext cx="10972800" cy="14173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TEST IT</a:t>
            </a:r>
          </a:p>
          <a:p>
            <a:pPr algn="l"/>
            <a:r>
              <a:rPr sz="1400" b="0">
                <a:solidFill>
                  <a:srgbClr val="232A31"/>
                </a:solidFill>
                <a:latin typeface="Calibri"/>
              </a:rPr>
              <a:t>1  Open the generated HTML file.</a:t>
            </a:r>
          </a:p>
          <a:p>
            <a:pPr algn="l"/>
            <a:r>
              <a:rPr sz="1400" b="0">
                <a:solidFill>
                  <a:srgbClr val="232A31"/>
                </a:solidFill>
                <a:latin typeface="Calibri"/>
              </a:rPr>
              <a:t>2  Filter to Berlin, Bravo Plastics, March through August 2026.</a:t>
            </a:r>
          </a:p>
          <a:p>
            <a:pPr algn="l"/>
            <a:r>
              <a:rPr sz="1400" b="0">
                <a:solidFill>
                  <a:srgbClr val="232A31"/>
                </a:solidFill>
                <a:latin typeface="Calibri"/>
              </a:rPr>
              <a:t>3  Verify 8,575 units, 21 returns, and a 0.245 percent return rate against the source.</a:t>
            </a:r>
          </a:p>
        </p:txBody>
      </p:sp>
      <p:sp xmlns:a="http://schemas.openxmlformats.org/drawingml/2006/main">
        <p:nvSpPr>
          <p:cNvPr id="12" name="ex-box-panel"/>
          <p:cNvSpPr/>
          <p:nvPr/>
        </p:nvSpPr>
        <p:spPr>
          <a:xfrm>
            <a:off x="612648" y="3959352"/>
            <a:ext cx="10972800" cy="1024128"/>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Then ask for ONE refinement using the vocabulary — a different date range, grouping, metric, drill-down, sort, or reset behavior.</a:t>
            </a:r>
          </a:p>
        </p:txBody>
      </p:sp>
    </p:spTree>
    <p:extLst>
      <p:ext uri="{BB962C8B-B14F-4D97-AF65-F5344CB8AC3E}">
        <p14:creationId xmlns:p14="http://schemas.microsoft.com/office/powerpoint/2010/main" val="131037884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42</a:t>
            </a:r>
          </a:p>
        </p:txBody>
      </p:sp>
      <p:sp xmlns:a="http://schemas.openxmlformats.org/drawingml/2006/main">
        <p:nvSpPr>
          <p:cNvPr id="17" name="ex-box-panel"/>
          <p:cNvSpPr/>
          <p:nvPr/>
        </p:nvSpPr>
        <p:spPr>
          <a:xfrm>
            <a:off x="612648" y="1874519"/>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only the verified findings from this exercise, create an editable five-slide PowerPoint mock-up for [audience] to support [decision].”</a:t>
            </a:r>
          </a:p>
        </p:txBody>
      </p:sp>
      <p:sp xmlns:a="http://schemas.openxmlformats.org/drawingml/2006/main">
        <p:nvSpPr>
          <p:cNvPr id="18" name="ex-box-panel"/>
          <p:cNvSpPr/>
          <p:nvPr/>
        </p:nvSpPr>
        <p:spPr>
          <a:xfrm>
            <a:off x="612648" y="2843784"/>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FIVE SLIDES</a:t>
            </a:r>
          </a:p>
          <a:p>
            <a:pPr algn="l"/>
            <a:r>
              <a:rPr sz="1400" b="0">
                <a:solidFill>
                  <a:srgbClr val="232A31"/>
                </a:solidFill>
                <a:latin typeface="Calibri"/>
              </a:rPr>
              <a:t>1 Question and scope · 2 Supplier comparison · 3 The most important trend · 4 Recommended follow-up · 5 Limitations and next steps.</a:t>
            </a:r>
          </a:p>
        </p:txBody>
      </p:sp>
      <p:sp xmlns:a="http://schemas.openxmlformats.org/drawingml/2006/main">
        <p:nvSpPr>
          <p:cNvPr id="19" name="ex-box-panel"/>
          <p:cNvSpPr/>
          <p:nvPr/>
        </p:nvSpPr>
        <p:spPr>
          <a:xfrm>
            <a:off x="612648" y="3813048"/>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RULES</a:t>
            </a:r>
          </a:p>
          <a:p>
            <a:pPr algn="l"/>
            <a:r>
              <a:rPr sz="1400" b="0">
                <a:solidFill>
                  <a:srgbClr val="232A31"/>
                </a:solidFill>
                <a:latin typeface="Calibri"/>
              </a:rPr>
              <a:t>One main message per slide · readable charts, concise visible text, speaker notes · findings separated from recommendations · no invented causes or commitments.</a:t>
            </a:r>
          </a:p>
        </p:txBody>
      </p:sp>
      <p:sp xmlns:a="http://schemas.openxmlformats.org/drawingml/2006/main">
        <p:nvSpPr>
          <p:cNvPr id="20" name="ex-box-panel"/>
          <p:cNvSpPr/>
          <p:nvPr/>
        </p:nvSpPr>
        <p:spPr>
          <a:xfrm>
            <a:off x="612648" y="4782312"/>
            <a:ext cx="10972800" cy="91440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WHY IT DIFFERS</a:t>
            </a:r>
          </a:p>
          <a:p>
            <a:pPr algn="l"/>
            <a:r>
              <a:rPr sz="1400" b="0">
                <a:solidFill>
                  <a:srgbClr val="232A31"/>
                </a:solidFill>
                <a:latin typeface="Calibri"/>
              </a:rPr>
              <a:t>The dashboard supports exploration; the presentation supports a management decision — the final step of the connected data exercise.</a:t>
            </a:r>
          </a:p>
        </p:txBody>
      </p:sp>
    </p:spTree>
    <p:extLst>
      <p:ext uri="{BB962C8B-B14F-4D97-AF65-F5344CB8AC3E}">
        <p14:creationId xmlns:p14="http://schemas.microsoft.com/office/powerpoint/2010/main" val="87674091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58</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 xmlns:a="http://schemas.openxmlformats.org/drawingml/2006/main">
        <p:nvSpPr>
          <p:cNvPr id="17" name="copilot-where"/>
          <p:cNvSpPr/>
          <p:nvPr/>
        </p:nvSpPr>
        <p:spPr>
          <a:xfrm>
            <a:off x="612648" y="5138928"/>
            <a:ext cx="10972800" cy="56692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54864" rIns="109728">
            <a:noAutofit/>
          </a:bodyPr>
          <a:lstStyle/>
          <a:p>
            <a:pPr algn="l"/>
            <a:r>
              <a:rPr sz="1050" b="1">
                <a:solidFill>
                  <a:srgbClr val="0A5B5A"/>
                </a:solidFill>
                <a:latin typeface="Calibri"/>
              </a:rPr>
              <a:t>WHERE TO CLICK IN OUTLOOK →  </a:t>
            </a:r>
            <a:r>
              <a:rPr sz="1000" b="0">
                <a:solidFill>
                  <a:srgbClr val="232A31"/>
                </a:solidFill>
                <a:latin typeface="Calibri"/>
              </a:rPr>
              <a:t>Open the thread — the “Summary by Copilot” banner sits at the top of the reading pane; click Summarize. For drafting, select the Copilot button on the Home ribbon → Draft with Copilot. Icon missing? Your account needs a Microsoft 365 Copilot license — check with IT.</a:t>
            </a:r>
          </a:p>
        </p:txBody>
      </p:sp>
      <p:sp xmlns:a="http://schemas.openxmlformats.org/drawingml/2006/main">
        <p:nvSpPr>
          <p:cNvPr id="18" name="ex-box-panel"/>
          <p:cNvSpPr/>
          <p:nvPr/>
        </p:nvSpPr>
        <p:spPr>
          <a:xfrm>
            <a:off x="612648" y="1847088"/>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CATCH ME UP</a:t>
            </a:r>
          </a:p>
          <a:p>
            <a:pPr algn="l"/>
            <a:r>
              <a:rPr sz="1200" b="0">
                <a:solidFill>
                  <a:srgbClr val="232A31"/>
                </a:solidFill>
                <a:latin typeface="Calibri"/>
              </a:rPr>
              <a:t>“Summarize the current situation in three sentences.”</a:t>
            </a:r>
          </a:p>
        </p:txBody>
      </p:sp>
      <p:sp xmlns:a="http://schemas.openxmlformats.org/drawingml/2006/main">
        <p:nvSpPr>
          <p:cNvPr id="19" name="ex-box-panel"/>
          <p:cNvSpPr/>
          <p:nvPr/>
        </p:nvSpPr>
        <p:spPr>
          <a:xfrm>
            <a:off x="612648" y="2651760"/>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CHANGED · WHO OWES WHAT</a:t>
            </a:r>
          </a:p>
          <a:p>
            <a:pPr algn="l"/>
            <a:r>
              <a:rPr sz="1200" b="0">
                <a:solidFill>
                  <a:srgbClr val="232A31"/>
                </a:solidFill>
                <a:latin typeface="Calibri"/>
              </a:rPr>
              <a:t>“List changed dates or decisions and show the latest version.” · “Create a table with task, owner, due date, and dependency.”</a:t>
            </a:r>
          </a:p>
        </p:txBody>
      </p:sp>
      <p:sp xmlns:a="http://schemas.openxmlformats.org/drawingml/2006/main">
        <p:nvSpPr>
          <p:cNvPr id="20" name="ex-box-panel"/>
          <p:cNvSpPr/>
          <p:nvPr/>
        </p:nvSpPr>
        <p:spPr>
          <a:xfrm>
            <a:off x="612648" y="3456432"/>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WHAT REMAINS OPEN</a:t>
            </a:r>
          </a:p>
          <a:p>
            <a:pPr algn="l"/>
            <a:r>
              <a:rPr sz="1200" b="0">
                <a:solidFill>
                  <a:srgbClr val="232A31"/>
                </a:solidFill>
                <a:latin typeface="Calibri"/>
              </a:rPr>
              <a:t>“List unanswered questions, approval conditions, and missing attachments.”</a:t>
            </a:r>
          </a:p>
        </p:txBody>
      </p:sp>
      <p:sp xmlns:a="http://schemas.openxmlformats.org/drawingml/2006/main">
        <p:nvSpPr>
          <p:cNvPr id="21" name="ex-box-panel"/>
          <p:cNvSpPr/>
          <p:nvPr/>
        </p:nvSpPr>
        <p:spPr>
          <a:xfrm>
            <a:off x="612648" y="4261104"/>
            <a:ext cx="10972800" cy="7315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PREPARE MY REPLY</a:t>
            </a:r>
          </a:p>
          <a:p>
            <a:pPr algn="l"/>
            <a:r>
              <a:rPr sz="1200" b="0">
                <a:solidFill>
                  <a:srgbClr val="232A31"/>
                </a:solidFill>
                <a:latin typeface="Calibri"/>
              </a:rPr>
              <a:t>“Draft a concise response. Use brackets where I still need to decide. Do not invent commitments.”</a:t>
            </a:r>
          </a:p>
        </p:txBody>
      </p:sp>
    </p:spTree>
    <p:extLst>
      <p:ext uri="{BB962C8B-B14F-4D97-AF65-F5344CB8AC3E}">
        <p14:creationId xmlns:p14="http://schemas.microsoft.com/office/powerpoint/2010/main" val="18222721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E9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90–91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 xmlns:a="http://schemas.openxmlformats.org/drawingml/2006/main">
        <p:nvSpPr>
          <p:cNvPr id="10" name="ex-box-panel"/>
          <p:cNvSpPr/>
          <p:nvPr/>
        </p:nvSpPr>
        <p:spPr>
          <a:xfrm>
            <a:off x="612648" y="1920240"/>
            <a:ext cx="10972800" cy="21031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p:txBody>
      </p:sp>
      <p:sp xmlns:a="http://schemas.openxmlformats.org/drawingml/2006/main">
        <p:nvSpPr>
          <p:cNvPr id="11" name="ex-note"/>
          <p:cNvSpPr/>
          <p:nvPr/>
        </p:nvSpPr>
        <p:spPr>
          <a:xfrm>
            <a:off x="612648" y="4169663"/>
            <a:ext cx="109728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Run it after the built-in summary, in the Copilot chat pane on the same conversation — or paste Packaging_Change_Thread.txt into an approved assistant.</a:t>
            </a:r>
          </a:p>
        </p:txBody>
      </p:sp>
    </p:spTree>
    <p:extLst>
      <p:ext uri="{BB962C8B-B14F-4D97-AF65-F5344CB8AC3E}">
        <p14:creationId xmlns:p14="http://schemas.microsoft.com/office/powerpoint/2010/main" val="16583192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45</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a:pPr algn="l"/>
            <a:r>
              <a:rPr sz="1400" b="0">
                <a:solidFill>
                  <a:srgbClr val="232A31"/>
                </a:solidFill>
                <a:latin typeface="Calibri"/>
              </a:rPr>
              <a:t>“Copy values exactly as stated. Keep currencies, quantities, and units in their original form. Write ‘Not stated’ when a field is absent. Do not normalize, rank, or recommend yet. Cite the source file and page for every extracted commercial value.”</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Step one is faithful extraction and traceability — judgment comes next.</a:t>
            </a:r>
          </a:p>
        </p:txBody>
      </p:sp>
    </p:spTree>
    <p:extLst>
      <p:ext uri="{BB962C8B-B14F-4D97-AF65-F5344CB8AC3E}">
        <p14:creationId xmlns:p14="http://schemas.microsoft.com/office/powerpoint/2010/main" val="52634781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9" name="BG"/>
          <p:cNvSpPr/>
          <p:nvPr/>
        </p:nvSpPr>
        <p:spPr>
          <a:xfrm>
            <a:off x="0" y="0"/>
            <a:ext cx="12191695" cy="6858000"/>
          </a:xfrm>
          <a:prstGeom prst="rect">
            <a:avLst/>
          </a:prstGeom>
          <a:solidFill>
            <a:srgbClr val="FBF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 xmlns:a="http://schemas.openxmlformats.org/drawingml/2006/main">
        <p:nvSpPr>
          <p:cNvPr id="10" name="ex-box-panel"/>
          <p:cNvSpPr/>
          <p:nvPr/>
        </p:nvSpPr>
        <p:spPr>
          <a:xfrm>
            <a:off x="612648" y="1920240"/>
            <a:ext cx="10972800" cy="26060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54864">
            <a:noAutofit/>
          </a:bodyPr>
          <a:lstStyle/>
          <a:p>
            <a:pPr algn="l"/>
            <a:r>
              <a:rPr sz="1500" b="1">
                <a:solidFill>
                  <a:srgbClr val="875012"/>
                </a:solidFill>
                <a:latin typeface="Calibri"/>
              </a:rPr>
              <a:t>THE PROMPT</a:t>
            </a:r>
          </a:p>
          <a:p>
            <a:pPr algn="l"/>
            <a:r>
              <a:rPr sz="1400" b="0">
                <a:solidFill>
                  <a:srgbClr val="232A31"/>
                </a:solidFill>
                <a:latin typeface="Calibri"/>
              </a:rPr>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a:pPr algn="l"/>
            <a:r>
              <a:rPr sz="1400" b="0">
                <a:solidFill>
                  <a:srgbClr val="232A31"/>
                </a:solidFill>
                <a:latin typeface="Calibri"/>
              </a:rPr>
              <a:t>“Do not identify a best quote until the comparison basis is complete. List the missing information and unresolved questions that prevent a fair recommendation.”</a:t>
            </a:r>
          </a:p>
        </p:txBody>
      </p:sp>
      <p:sp xmlns:a="http://schemas.openxmlformats.org/drawingml/2006/main">
        <p:nvSpPr>
          <p:cNvPr id="11" name="ex-note"/>
          <p:cNvSpPr/>
          <p:nvPr/>
        </p:nvSpPr>
        <p:spPr>
          <a:xfrm>
            <a:off x="612648" y="4663440"/>
            <a:ext cx="1097280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300" b="0">
                <a:solidFill>
                  <a:srgbClr val="46545F"/>
                </a:solidFill>
                <a:latin typeface="Calibri"/>
              </a:rPr>
              <a:t>The trap: the cheapest-looking quote stops looking cheapest once tooling, freight, currency, and scope are on the table.</a:t>
            </a:r>
          </a:p>
        </p:txBody>
      </p:sp>
    </p:spTree>
    <p:extLst>
      <p:ext uri="{BB962C8B-B14F-4D97-AF65-F5344CB8AC3E}">
        <p14:creationId xmlns:p14="http://schemas.microsoft.com/office/powerpoint/2010/main" val="526347815"/>
      </p:ext>
    </p:extLst>
  </p:cSld>
</p:sld>
</file>

<file path=ppt/slides/slide47.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 live in the Reference Deck.</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48</a:t>
            </a:r>
          </a:p>
        </p:txBody>
      </p:sp>
    </p:spTree>
    <p:extLst>
      <p:ext uri="{BB962C8B-B14F-4D97-AF65-F5344CB8AC3E}">
        <p14:creationId xmlns:p14="http://schemas.microsoft.com/office/powerpoint/2010/main" val="32830804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163487475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50</a:t>
            </a:r>
          </a:p>
        </p:txBody>
      </p:sp>
    </p:spTree>
    <p:extLst>
      <p:ext uri="{BB962C8B-B14F-4D97-AF65-F5344CB8AC3E}">
        <p14:creationId xmlns:p14="http://schemas.microsoft.com/office/powerpoint/2010/main" val="72316286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51</a:t>
            </a:r>
          </a:p>
        </p:txBody>
      </p:sp>
    </p:spTree>
    <p:extLst>
      <p:ext uri="{BB962C8B-B14F-4D97-AF65-F5344CB8AC3E}">
        <p14:creationId xmlns:p14="http://schemas.microsoft.com/office/powerpoint/2010/main" val="149011545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52</a:t>
            </a:r>
          </a:p>
        </p:txBody>
      </p:sp>
    </p:spTree>
    <p:extLst>
      <p:ext uri="{BB962C8B-B14F-4D97-AF65-F5344CB8AC3E}">
        <p14:creationId xmlns:p14="http://schemas.microsoft.com/office/powerpoint/2010/main" val="121732852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27</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53</a:t>
            </a:r>
          </a:p>
        </p:txBody>
      </p:sp>
    </p:spTree>
    <p:extLst>
      <p:ext uri="{BB962C8B-B14F-4D97-AF65-F5344CB8AC3E}">
        <p14:creationId xmlns:p14="http://schemas.microsoft.com/office/powerpoint/2010/main" val="73541720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54</a:t>
            </a:r>
          </a:p>
        </p:txBody>
      </p:sp>
    </p:spTree>
    <p:extLst>
      <p:ext uri="{BB962C8B-B14F-4D97-AF65-F5344CB8AC3E}">
        <p14:creationId xmlns:p14="http://schemas.microsoft.com/office/powerpoint/2010/main" val="89169783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31</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146435441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107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56</a:t>
            </a:r>
          </a:p>
        </p:txBody>
      </p:sp>
    </p:spTree>
    <p:extLst>
      <p:ext uri="{BB962C8B-B14F-4D97-AF65-F5344CB8AC3E}">
        <p14:creationId xmlns:p14="http://schemas.microsoft.com/office/powerpoint/2010/main" val="200021502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36</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57</a:t>
            </a:r>
          </a:p>
        </p:txBody>
      </p:sp>
    </p:spTree>
    <p:extLst>
      <p:ext uri="{BB962C8B-B14F-4D97-AF65-F5344CB8AC3E}">
        <p14:creationId xmlns:p14="http://schemas.microsoft.com/office/powerpoint/2010/main" val="146957604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43</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58</a:t>
            </a:r>
          </a:p>
        </p:txBody>
      </p:sp>
    </p:spTree>
    <p:extLst>
      <p:ext uri="{BB962C8B-B14F-4D97-AF65-F5344CB8AC3E}">
        <p14:creationId xmlns:p14="http://schemas.microsoft.com/office/powerpoint/2010/main" val="182227215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49</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59</a:t>
            </a:r>
          </a:p>
        </p:txBody>
      </p:sp>
    </p:spTree>
    <p:extLst>
      <p:ext uri="{BB962C8B-B14F-4D97-AF65-F5344CB8AC3E}">
        <p14:creationId xmlns:p14="http://schemas.microsoft.com/office/powerpoint/2010/main" val="90421270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52</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60</a:t>
            </a:r>
          </a:p>
        </p:txBody>
      </p:sp>
    </p:spTree>
    <p:extLst>
      <p:ext uri="{BB962C8B-B14F-4D97-AF65-F5344CB8AC3E}">
        <p14:creationId xmlns:p14="http://schemas.microsoft.com/office/powerpoint/2010/main" val="146953944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61</a:t>
            </a:r>
          </a:p>
        </p:txBody>
      </p:sp>
    </p:spTree>
    <p:extLst>
      <p:ext uri="{BB962C8B-B14F-4D97-AF65-F5344CB8AC3E}">
        <p14:creationId xmlns:p14="http://schemas.microsoft.com/office/powerpoint/2010/main" val="35039219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55</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62</a:t>
            </a:r>
          </a:p>
        </p:txBody>
      </p:sp>
    </p:spTree>
    <p:extLst>
      <p:ext uri="{BB962C8B-B14F-4D97-AF65-F5344CB8AC3E}">
        <p14:creationId xmlns:p14="http://schemas.microsoft.com/office/powerpoint/2010/main" val="676467350"/>
      </p:ext>
    </p:extLst>
  </p:cSld>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526267"/>
                </a:solidFill>
                <a:latin typeface="Calibri"/>
              </a:rPr>
              <a:t>63</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0E7C7B"/>
                </a:solidFill>
                <a:latin typeface="Calibri"/>
              </a:rPr>
              <a:t>KEEP LEARNING</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3000" b="1" i="0">
                <a:solidFill>
                  <a:srgbClr val="232A31"/>
                </a:solidFill>
                <a:latin typeface="Calibri"/>
              </a:rPr>
              <a:t>Bibliography</a:t>
            </a:r>
          </a:p>
        </p:txBody>
      </p:sp>
      <p:sp>
        <p:nvSpPr>
          <p:cNvPr id="7" name="Rectangle 6"/>
          <p:cNvSpPr/>
          <p:nvPr/>
        </p:nvSpPr>
        <p:spPr>
          <a:xfrm>
            <a:off x="612648"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800"/>
              </a:spcAft>
            </a:pPr>
            <a:r>
              <a:rPr sz="1250" b="1" i="0">
                <a:solidFill>
                  <a:srgbClr val="0E7C7B"/>
                </a:solidFill>
                <a:latin typeface="Calibri"/>
              </a:rPr>
              <a:t>PRACTICAL START</a:t>
            </a:r>
          </a:p>
          <a:p>
            <a:pPr algn="l"/>
            <a:r>
              <a:rPr sz="1350" b="1" i="0">
                <a:solidFill>
                  <a:srgbClr val="232A31"/>
                </a:solidFill>
                <a:latin typeface="Calibri"/>
              </a:rPr>
              <a:t>Mollick — Co-Intelligence (2024)</a:t>
            </a:r>
          </a:p>
          <a:p>
            <a:pPr algn="l">
              <a:spcAft>
                <a:spcPts val="800"/>
              </a:spcAft>
            </a:pPr>
            <a:r>
              <a:rPr sz="1200" b="0" i="1">
                <a:solidFill>
                  <a:srgbClr val="657278"/>
                </a:solidFill>
                <a:latin typeface="Calibri"/>
              </a:rPr>
              <a:t>the working-with-AI mindset book; read first</a:t>
            </a:r>
          </a:p>
          <a:p>
            <a:pPr algn="l"/>
            <a:r>
              <a:rPr sz="1350" b="1" i="0">
                <a:solidFill>
                  <a:srgbClr val="232A31"/>
                </a:solidFill>
                <a:latin typeface="Calibri"/>
              </a:rPr>
              <a:t>Kneusel — How AI Works (2024)</a:t>
            </a:r>
          </a:p>
          <a:p>
            <a:pPr algn="l">
              <a:spcAft>
                <a:spcPts val="800"/>
              </a:spcAft>
            </a:pPr>
            <a:r>
              <a:rPr sz="1200" b="0" i="1">
                <a:solidFill>
                  <a:srgbClr val="657278"/>
                </a:solidFill>
                <a:latin typeface="Calibri"/>
              </a:rPr>
              <a:t>the concepts of Part 1, gently and rigorously</a:t>
            </a:r>
          </a:p>
        </p:txBody>
      </p:sp>
      <p:sp>
        <p:nvSpPr>
          <p:cNvPr id="8" name="Rectangle 7"/>
          <p:cNvSpPr/>
          <p:nvPr/>
        </p:nvSpPr>
        <p:spPr>
          <a:xfrm>
            <a:off x="4343400"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800"/>
              </a:spcAft>
            </a:pPr>
            <a:r>
              <a:rPr sz="1250" b="1" i="0">
                <a:solidFill>
                  <a:srgbClr val="0E7C7B"/>
                </a:solidFill>
                <a:latin typeface="Calibri"/>
              </a:rPr>
              <a:t>THE CRAFT</a:t>
            </a:r>
          </a:p>
          <a:p>
            <a:pPr algn="l"/>
            <a:r>
              <a:rPr sz="1350" b="1" i="0">
                <a:solidFill>
                  <a:srgbClr val="232A31"/>
                </a:solidFill>
                <a:latin typeface="Calibri"/>
              </a:rPr>
              <a:t>Phoenix &amp; Taylor — Prompt Engineering for Generative AI (O’Reilly 2024)</a:t>
            </a:r>
          </a:p>
          <a:p>
            <a:pPr algn="l">
              <a:spcAft>
                <a:spcPts val="800"/>
              </a:spcAft>
            </a:pPr>
            <a:r>
              <a:rPr sz="1200" b="0" i="1">
                <a:solidFill>
                  <a:srgbClr val="657278"/>
                </a:solidFill>
                <a:latin typeface="Calibri"/>
              </a:rPr>
              <a:t>the five principles, applied — closest to Parts 3–4</a:t>
            </a:r>
          </a:p>
          <a:p>
            <a:pPr algn="l"/>
            <a:r>
              <a:rPr sz="1350" b="1" i="0">
                <a:solidFill>
                  <a:srgbClr val="232A31"/>
                </a:solidFill>
                <a:latin typeface="Calibri"/>
              </a:rPr>
              <a:t>Berryman &amp; Ziegler — Prompt Engineering for LLMs (O’Reilly 2024)</a:t>
            </a:r>
          </a:p>
          <a:p>
            <a:pPr algn="l">
              <a:spcAft>
                <a:spcPts val="800"/>
              </a:spcAft>
            </a:pPr>
            <a:r>
              <a:rPr sz="1200" b="0" i="1">
                <a:solidFill>
                  <a:srgbClr val="657278"/>
                </a:solidFill>
                <a:latin typeface="Calibri"/>
              </a:rPr>
              <a:t>how prompts actually meet the model; by GitHub Copilot creators</a:t>
            </a:r>
          </a:p>
        </p:txBody>
      </p:sp>
      <p:sp>
        <p:nvSpPr>
          <p:cNvPr id="9" name="Rectangle 8"/>
          <p:cNvSpPr/>
          <p:nvPr/>
        </p:nvSpPr>
        <p:spPr>
          <a:xfrm>
            <a:off x="8074152" y="1874519"/>
            <a:ext cx="3566160" cy="3749039"/>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800"/>
              </a:spcAft>
            </a:pPr>
            <a:r>
              <a:rPr sz="1250" b="1" i="0">
                <a:solidFill>
                  <a:srgbClr val="0E7C7B"/>
                </a:solidFill>
                <a:latin typeface="Calibri"/>
              </a:rPr>
              <a:t>GOING DEEP</a:t>
            </a:r>
          </a:p>
          <a:p>
            <a:pPr algn="l"/>
            <a:r>
              <a:rPr sz="1350" b="1" i="0">
                <a:solidFill>
                  <a:srgbClr val="232A31"/>
                </a:solidFill>
                <a:latin typeface="Calibri"/>
              </a:rPr>
              <a:t>Huyen — AI Engineering (O’Reilly 2025)</a:t>
            </a:r>
          </a:p>
          <a:p>
            <a:pPr algn="l">
              <a:spcAft>
                <a:spcPts val="800"/>
              </a:spcAft>
            </a:pPr>
            <a:r>
              <a:rPr sz="1200" b="0" i="1">
                <a:solidFill>
                  <a:srgbClr val="657278"/>
                </a:solidFill>
                <a:latin typeface="Calibri"/>
              </a:rPr>
              <a:t>RAG, agents, evaluation — the engineering behind agentic work</a:t>
            </a:r>
          </a:p>
          <a:p>
            <a:pPr algn="l"/>
            <a:r>
              <a:rPr sz="1350" b="1" i="0">
                <a:solidFill>
                  <a:srgbClr val="232A31"/>
                </a:solidFill>
                <a:latin typeface="Calibri"/>
              </a:rPr>
              <a:t>Alammar &amp; Grootendorst — Hands-On Large Language Models (2024)</a:t>
            </a:r>
          </a:p>
          <a:p>
            <a:pPr algn="l">
              <a:spcAft>
                <a:spcPts val="800"/>
              </a:spcAft>
            </a:pPr>
            <a:r>
              <a:rPr sz="1200" b="0" i="1">
                <a:solidFill>
                  <a:srgbClr val="657278"/>
                </a:solidFill>
                <a:latin typeface="Calibri"/>
              </a:rPr>
              <a:t>visual internals: tokens, embeddings, transformers</a:t>
            </a:r>
          </a:p>
        </p:txBody>
      </p:sp>
      <p:sp>
        <p:nvSpPr>
          <p:cNvPr id="10" name="Rectangle 9"/>
          <p:cNvSpPr/>
          <p:nvPr/>
        </p:nvSpPr>
        <p:spPr>
          <a:xfrm>
            <a:off x="612648" y="5806440"/>
            <a:ext cx="1097280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400" b="1" i="0">
                <a:solidFill>
                  <a:srgbClr val="232A31"/>
                </a:solidFill>
                <a:latin typeface="Calibri"/>
              </a:rPr>
              <a:t>And the fastest teacher of all: a real task. Adapt a course example, run it, check the result, and save the improved prompt.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526267"/>
                </a:solidFill>
                <a:latin typeface="Calibri"/>
              </a:rPr>
              <a:t>64</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0E7C7B"/>
                </a:solidFill>
                <a:latin typeface="Calibri"/>
              </a:rPr>
              <a:t>SOURCES BEHIND THE DATED CLAIMS</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3000" b="1" i="0">
                <a:solidFill>
                  <a:srgbClr val="232A31"/>
                </a:solidFill>
                <a:latin typeface="Calibri"/>
              </a:rPr>
              <a:t>References</a:t>
            </a:r>
          </a:p>
        </p:txBody>
      </p:sp>
      <p:sp>
        <p:nvSpPr>
          <p:cNvPr id="7" name="Rectangle 6"/>
          <p:cNvSpPr/>
          <p:nvPr/>
        </p:nvSpPr>
        <p:spPr>
          <a:xfrm>
            <a:off x="612648"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700"/>
              </a:spcAft>
            </a:pPr>
            <a:r>
              <a:rPr sz="1150" b="1" i="0">
                <a:solidFill>
                  <a:srgbClr val="0E7C7B"/>
                </a:solidFill>
                <a:latin typeface="Calibri"/>
              </a:rPr>
              <a:t>•  </a:t>
            </a:r>
            <a:r>
              <a:rPr sz="1150" b="0" i="0">
                <a:solidFill>
                  <a:srgbClr val="232A31"/>
                </a:solidFill>
                <a:latin typeface="Calibri"/>
              </a:rPr>
              <a:t>Vaswani et al. — Attention Is All You Need (2017): the Transformer.</a:t>
            </a:r>
          </a:p>
          <a:p>
            <a:pPr algn="l">
              <a:spcAft>
                <a:spcPts val="700"/>
              </a:spcAft>
            </a:pPr>
            <a:r>
              <a:rPr sz="1150" b="1" i="0">
                <a:solidFill>
                  <a:srgbClr val="0E7C7B"/>
                </a:solidFill>
                <a:latin typeface="Calibri"/>
              </a:rPr>
              <a:t>•  </a:t>
            </a:r>
            <a:r>
              <a:rPr sz="1150" b="0" i="0">
                <a:solidFill>
                  <a:srgbClr val="232A31"/>
                </a:solidFill>
                <a:latin typeface="Calibri"/>
              </a:rPr>
              <a:t>Krizhevsky, Sutskever &amp; Hinton — ImageNet classification with deep CNNs (2012): AlexNet, 15.3% vs 26.2% error.</a:t>
            </a:r>
          </a:p>
          <a:p>
            <a:pPr algn="l">
              <a:spcAft>
                <a:spcPts val="700"/>
              </a:spcAft>
            </a:pPr>
            <a:r>
              <a:rPr sz="1150" b="1" i="0">
                <a:solidFill>
                  <a:srgbClr val="0E7C7B"/>
                </a:solidFill>
                <a:latin typeface="Calibri"/>
              </a:rPr>
              <a:t>•  </a:t>
            </a:r>
            <a:r>
              <a:rPr sz="1150" b="0" i="0">
                <a:solidFill>
                  <a:srgbClr val="232A31"/>
                </a:solidFill>
                <a:latin typeface="Calibri"/>
              </a:rPr>
              <a:t>Kaplan et al. — Scaling Laws for Neural Language Models (2020).</a:t>
            </a:r>
          </a:p>
          <a:p>
            <a:pPr algn="l">
              <a:spcAft>
                <a:spcPts val="700"/>
              </a:spcAft>
            </a:pPr>
            <a:r>
              <a:rPr sz="1150" b="1" i="0">
                <a:solidFill>
                  <a:srgbClr val="0E7C7B"/>
                </a:solidFill>
                <a:latin typeface="Calibri"/>
              </a:rPr>
              <a:t>•  </a:t>
            </a:r>
            <a:r>
              <a:rPr sz="1150" b="0" i="0">
                <a:solidFill>
                  <a:srgbClr val="232A31"/>
                </a:solidFill>
                <a:latin typeface="Calibri"/>
              </a:rPr>
              <a:t>DeepSeek-AI — DeepSeek-R1 technical report (Jan 2025): open-weights reasoning, benchmark and price comparisons.</a:t>
            </a:r>
          </a:p>
          <a:p>
            <a:pPr algn="l">
              <a:spcAft>
                <a:spcPts val="700"/>
              </a:spcAft>
            </a:pPr>
            <a:r>
              <a:rPr sz="1150" b="1" i="0">
                <a:solidFill>
                  <a:srgbClr val="0E7C7B"/>
                </a:solidFill>
                <a:latin typeface="Calibri"/>
              </a:rPr>
              <a:t>•  </a:t>
            </a:r>
            <a:r>
              <a:rPr sz="1150" b="0" i="0">
                <a:solidFill>
                  <a:srgbClr val="232A31"/>
                </a:solidFill>
                <a:latin typeface="Calibri"/>
              </a:rPr>
              <a:t>Cheng et al. — study of sycophancy across 11 leading models (Science, 2026): ~+49% agreement with the user vs a neutral party.</a:t>
            </a:r>
          </a:p>
          <a:p>
            <a:pPr algn="l">
              <a:spcAft>
                <a:spcPts val="700"/>
              </a:spcAft>
            </a:pPr>
            <a:r>
              <a:rPr sz="1150" b="1" i="0">
                <a:solidFill>
                  <a:srgbClr val="0E7C7B"/>
                </a:solidFill>
                <a:latin typeface="Calibri"/>
              </a:rPr>
              <a:t>•  </a:t>
            </a:r>
            <a:r>
              <a:rPr sz="1150" b="0" i="0">
                <a:solidFill>
                  <a:srgbClr val="232A31"/>
                </a:solidFill>
                <a:latin typeface="Calibri"/>
              </a:rPr>
              <a:t>OpenAI — “Sycophancy in GPT-4o” rollback note (Apr 2025).</a:t>
            </a:r>
          </a:p>
        </p:txBody>
      </p:sp>
      <p:sp>
        <p:nvSpPr>
          <p:cNvPr id="8" name="Rectangle 7"/>
          <p:cNvSpPr/>
          <p:nvPr/>
        </p:nvSpPr>
        <p:spPr>
          <a:xfrm>
            <a:off x="6263640" y="1874519"/>
            <a:ext cx="5349240" cy="4160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700"/>
              </a:spcAft>
            </a:pPr>
            <a:r>
              <a:rPr sz="1150" b="1" i="0">
                <a:solidFill>
                  <a:srgbClr val="0E7C7B"/>
                </a:solidFill>
                <a:latin typeface="Calibri"/>
              </a:rPr>
              <a:t>•  </a:t>
            </a:r>
            <a:r>
              <a:rPr sz="1150" b="0" i="0">
                <a:solidFill>
                  <a:srgbClr val="232A31"/>
                </a:solidFill>
                <a:latin typeface="Calibri"/>
              </a:rPr>
              <a:t>The New York Times — reporting on chatbots validating users’ false beliefs (Jun 2025).</a:t>
            </a:r>
          </a:p>
          <a:p>
            <a:pPr algn="l">
              <a:spcAft>
                <a:spcPts val="700"/>
              </a:spcAft>
            </a:pPr>
            <a:r>
              <a:rPr sz="1150" b="1" i="0">
                <a:solidFill>
                  <a:srgbClr val="0E7C7B"/>
                </a:solidFill>
                <a:latin typeface="Calibri"/>
              </a:rPr>
              <a:t>•  </a:t>
            </a:r>
            <a:r>
              <a:rPr sz="1150" b="0" i="0">
                <a:solidFill>
                  <a:srgbClr val="232A31"/>
                </a:solidFill>
                <a:latin typeface="Calibri"/>
              </a:rPr>
              <a:t>Mustafa Suleyman (Microsoft AI) — essay on seemingly conscious AI and validation risk (Aug 2025).</a:t>
            </a:r>
          </a:p>
          <a:p>
            <a:pPr algn="l">
              <a:spcAft>
                <a:spcPts val="700"/>
              </a:spcAft>
            </a:pPr>
            <a:r>
              <a:rPr sz="1150" b="1" i="0">
                <a:solidFill>
                  <a:srgbClr val="0E7C7B"/>
                </a:solidFill>
                <a:latin typeface="Calibri"/>
              </a:rPr>
              <a:t>•  </a:t>
            </a:r>
            <a:r>
              <a:rPr sz="1150" b="0" i="0">
                <a:solidFill>
                  <a:srgbClr val="232A31"/>
                </a:solidFill>
                <a:latin typeface="Calibri"/>
              </a:rPr>
              <a:t>Columbia Journalism Review / Tow Center — chatbot citation-accuracy study.</a:t>
            </a:r>
          </a:p>
          <a:p>
            <a:pPr algn="l">
              <a:spcAft>
                <a:spcPts val="700"/>
              </a:spcAft>
            </a:pPr>
            <a:r>
              <a:rPr sz="1150" b="1" i="0">
                <a:solidFill>
                  <a:srgbClr val="0E7C7B"/>
                </a:solidFill>
                <a:latin typeface="Calibri"/>
              </a:rPr>
              <a:t>•  </a:t>
            </a:r>
            <a:r>
              <a:rPr sz="1150" b="0" i="0">
                <a:solidFill>
                  <a:srgbClr val="232A31"/>
                </a:solidFill>
                <a:latin typeface="Calibri"/>
              </a:rPr>
              <a:t>Public legal tracker of court decisions involving AI-fabricated citations (~1,500 by mid-2026).</a:t>
            </a:r>
          </a:p>
          <a:p>
            <a:pPr algn="l">
              <a:spcAft>
                <a:spcPts val="700"/>
              </a:spcAft>
            </a:pPr>
            <a:r>
              <a:rPr sz="1150" b="1" i="0">
                <a:solidFill>
                  <a:srgbClr val="0E7C7B"/>
                </a:solidFill>
                <a:latin typeface="Calibri"/>
              </a:rPr>
              <a:t>•  </a:t>
            </a:r>
            <a:r>
              <a:rPr sz="1150" b="0" i="0">
                <a:solidFill>
                  <a:srgbClr val="232A31"/>
                </a:solidFill>
                <a:latin typeface="Calibri"/>
              </a:rPr>
              <a:t>Microsoft Support — “Summarize an email thread with Copilot” and Outlook Copilot documentation.</a:t>
            </a:r>
          </a:p>
          <a:p>
            <a:pPr algn="l">
              <a:spcAft>
                <a:spcPts val="700"/>
              </a:spcAft>
            </a:pPr>
            <a:r>
              <a:rPr sz="1150" b="1" i="0">
                <a:solidFill>
                  <a:srgbClr val="0E7C7B"/>
                </a:solidFill>
                <a:latin typeface="Calibri"/>
              </a:rPr>
              <a:t>•  </a:t>
            </a:r>
            <a:r>
              <a:rPr sz="1150" b="0" i="0">
                <a:solidFill>
                  <a:srgbClr val="232A31"/>
                </a:solidFill>
                <a:latin typeface="Calibri"/>
              </a:rPr>
              <a:t>Vendor model catalogs and documentation — OpenAI, Anthropic, Google (September 2026 snapshot).</a:t>
            </a:r>
          </a:p>
        </p:txBody>
      </p:sp>
      <p:sp>
        <p:nvSpPr>
          <p:cNvPr id="9" name="Rectangle 8"/>
          <p:cNvSpPr/>
          <p:nvPr/>
        </p:nvSpPr>
        <p:spPr>
          <a:xfrm>
            <a:off x="612648" y="6144768"/>
            <a:ext cx="10972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200" b="0" i="1">
                <a:solidFill>
                  <a:srgbClr val="657278"/>
                </a:solidFill>
                <a:latin typeface="Calibri"/>
              </a:rPr>
              <a:t>Web sources and model facts are September 2026 snapshots — this field re-ranks monthly; verify before reuse.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1C2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7A8790"/>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7A8790"/>
                </a:solidFill>
                <a:latin typeface="Calibri"/>
              </a:rPr>
              <a:t>65</a:t>
            </a:r>
          </a:p>
        </p:txBody>
      </p:sp>
      <p:sp>
        <p:nvSpPr>
          <p:cNvPr id="5" name="Rectangle 4"/>
          <p:cNvSpPr/>
          <p:nvPr/>
        </p:nvSpPr>
        <p:spPr>
          <a:xfrm>
            <a:off x="612648" y="146304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200" b="1" i="0">
                <a:solidFill>
                  <a:srgbClr val="8FC3C2"/>
                </a:solidFill>
                <a:latin typeface="Calibri"/>
              </a:rPr>
              <a:t>THE MAKING OF · A CASE STUDY IN WORKING WITH AGENTS</a:t>
            </a:r>
          </a:p>
        </p:txBody>
      </p:sp>
      <p:sp>
        <p:nvSpPr>
          <p:cNvPr id="6" name="Rectangle 5"/>
          <p:cNvSpPr/>
          <p:nvPr/>
        </p:nvSpPr>
        <p:spPr>
          <a:xfrm>
            <a:off x="612648" y="1920240"/>
            <a:ext cx="109728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4000" b="1" i="0">
                <a:solidFill>
                  <a:srgbClr val="FFFFFF"/>
                </a:solidFill>
                <a:latin typeface="Calibri"/>
              </a:rPr>
              <a:t>How this presentation was made</a:t>
            </a:r>
          </a:p>
        </p:txBody>
      </p:sp>
      <p:sp>
        <p:nvSpPr>
          <p:cNvPr id="7" name="Rectangle 6"/>
          <p:cNvSpPr/>
          <p:nvPr/>
        </p:nvSpPr>
        <p:spPr>
          <a:xfrm>
            <a:off x="612648" y="3657600"/>
            <a:ext cx="1051560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600" b="0" i="0">
                <a:solidFill>
                  <a:srgbClr val="C9D4D8"/>
                </a:solidFill>
                <a:latin typeface="Calibri"/>
              </a:rPr>
              <a:t>This course practiced what it teaches. It was built by one human editor directing two AI agents — in public, with every decision on the record. The next three pages tell that story.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526267"/>
                </a:solidFill>
                <a:latin typeface="Calibri"/>
              </a:rPr>
              <a:t>66</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0E7C7B"/>
                </a:solidFill>
                <a:latin typeface="Calibri"/>
              </a:rPr>
              <a:t>THE MAKING OF · 1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3000" b="1" i="0">
                <a:solidFill>
                  <a:srgbClr val="232A31"/>
                </a:solidFill>
                <a:latin typeface="Calibri"/>
              </a:rPr>
              <a:t>The cast, and the channel between them</a:t>
            </a:r>
          </a:p>
        </p:txBody>
      </p:sp>
      <p:sp>
        <p:nvSpPr>
          <p:cNvPr id="7" name="Rectangle 6"/>
          <p:cNvSpPr/>
          <p:nvPr/>
        </p:nvSpPr>
        <p:spPr>
          <a:xfrm>
            <a:off x="612648"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600"/>
              </a:spcAft>
            </a:pPr>
            <a:r>
              <a:rPr sz="1300" b="1" i="0">
                <a:solidFill>
                  <a:srgbClr val="0E7C7B"/>
                </a:solidFill>
                <a:latin typeface="Calibri"/>
              </a:rPr>
              <a:t>OSCAR — THE OWNER</a:t>
            </a:r>
          </a:p>
          <a:p>
            <a:pPr algn="l"/>
            <a:r>
              <a:rPr sz="1200" b="0" i="0">
                <a:solidFill>
                  <a:srgbClr val="232A31"/>
                </a:solidFill>
                <a:latin typeface="Calibri"/>
              </a:rPr>
              <a:t>Human editor-in-chief. Set direction, reviewed every deliverable, gave per-slide verdicts (“go” / “don’t make changes”), and held the one rule that made the system safe: nothing executes on his behalf without his direct word.</a:t>
            </a:r>
          </a:p>
        </p:txBody>
      </p:sp>
      <p:sp>
        <p:nvSpPr>
          <p:cNvPr id="8" name="Rectangle 7"/>
          <p:cNvSpPr/>
          <p:nvPr/>
        </p:nvSpPr>
        <p:spPr>
          <a:xfrm>
            <a:off x="4343400"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600"/>
              </a:spcAft>
            </a:pPr>
            <a:r>
              <a:rPr sz="1300" b="1" i="0">
                <a:solidFill>
                  <a:srgbClr val="B96A1B"/>
                </a:solidFill>
                <a:latin typeface="Calibri"/>
              </a:rPr>
              <a:t>BEEBOP — THE REVIEWER</a:t>
            </a:r>
          </a:p>
          <a:p>
            <a:pPr algn="l"/>
            <a:r>
              <a:rPr sz="1200" b="0" i="0">
                <a:solidFill>
                  <a:srgbClr val="232A31"/>
                </a:solidFill>
                <a:latin typeface="Calibri"/>
              </a:rPr>
              <a:t>An agent running on OpenAI’s ChatGPT. Wrote design reviews, specifications, image prompts and verification passes; audited the other agent’s work against the actual files — and caught real mistakes.</a:t>
            </a:r>
          </a:p>
        </p:txBody>
      </p:sp>
      <p:sp>
        <p:nvSpPr>
          <p:cNvPr id="9" name="Rectangle 8"/>
          <p:cNvSpPr/>
          <p:nvPr/>
        </p:nvSpPr>
        <p:spPr>
          <a:xfrm>
            <a:off x="8074152" y="1874519"/>
            <a:ext cx="3566160" cy="3017520"/>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28016" bIns="0">
            <a:noAutofit/>
          </a:bodyPr>
          <a:lstStyle/>
          <a:p>
            <a:pPr algn="ctr">
              <a:spcAft>
                <a:spcPts val="600"/>
              </a:spcAft>
            </a:pPr>
            <a:r>
              <a:rPr sz="1300" b="1" i="0">
                <a:solidFill>
                  <a:srgbClr val="526267"/>
                </a:solidFill>
                <a:latin typeface="Calibri"/>
              </a:rPr>
              <a:t>ROCKSTEADY — THE BUILDER</a:t>
            </a:r>
          </a:p>
          <a:p>
            <a:pPr algn="l"/>
            <a:r>
              <a:rPr sz="1200" b="0" i="0">
                <a:solidFill>
                  <a:srgbClr val="232A31"/>
                </a:solidFill>
                <a:latin typeface="Calibri"/>
              </a:rPr>
              <a:t>An agent running on Anthropic’s Claude. Built every version of the deck in code (deterministic, re-runnable scripts), verified renders pixel by pixel, committed each change with its rationale, and mirrored every message for the record.</a:t>
            </a:r>
          </a:p>
        </p:txBody>
      </p:sp>
      <p:sp>
        <p:nvSpPr>
          <p:cNvPr id="10" name="Rectangle 9"/>
          <p:cNvSpPr/>
          <p:nvPr/>
        </p:nvSpPr>
        <p:spPr>
          <a:xfrm>
            <a:off x="612648" y="5120640"/>
            <a:ext cx="10972800" cy="1188720"/>
          </a:xfrm>
          <a:prstGeom prst="rect">
            <a:avLst/>
          </a:prstGeom>
          <a:solidFill>
            <a:srgbClr val="ECF2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109728" bIns="0">
            <a:noAutofit/>
          </a:bodyPr>
          <a:lstStyle/>
          <a:p>
            <a:pPr algn="ctr"/>
            <a:r>
              <a:rPr sz="1250" b="1" i="0">
                <a:solidFill>
                  <a:srgbClr val="0E7C7B"/>
                </a:solidFill>
                <a:latin typeface="Calibri"/>
              </a:rPr>
              <a:t>THE CHANNEL · </a:t>
            </a:r>
            <a:r>
              <a:rPr sz="1250" b="0" i="0">
                <a:solidFill>
                  <a:srgbClr val="232A31"/>
                </a:solidFill>
                <a:latin typeface="Calibri"/>
              </a:rPr>
              <a:t>The two agents never spoke directly. They exchanged numbered instructions and replies through folders in a shared GitHub repository, every message mirrored into the course’s own repo. Anyone — including the owner — could read the entire negotiation at any time.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526267"/>
                </a:solidFill>
                <a:latin typeface="Calibri"/>
              </a:rPr>
              <a:t>67</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0E7C7B"/>
                </a:solidFill>
                <a:latin typeface="Calibri"/>
              </a:rPr>
              <a:t>THE MAKING OF · 2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3000" b="1" i="0">
                <a:solidFill>
                  <a:srgbClr val="232A31"/>
                </a:solidFill>
                <a:latin typeface="Calibri"/>
              </a:rPr>
              <a:t>What actually happened — the honest log</a:t>
            </a:r>
          </a:p>
        </p:txBody>
      </p:sp>
      <p:sp>
        <p:nvSpPr>
          <p:cNvPr id="7" name="Rectangle 6"/>
          <p:cNvSpPr/>
          <p:nvPr/>
        </p:nvSpPr>
        <p:spPr>
          <a:xfrm>
            <a:off x="612648" y="1828800"/>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82296" bIns="0">
            <a:noAutofit/>
          </a:bodyPr>
          <a:lstStyle/>
          <a:p>
            <a:pPr algn="ctr"/>
            <a:r>
              <a:rPr sz="1200" b="1" i="0">
                <a:solidFill>
                  <a:srgbClr val="0E7C7B"/>
                </a:solidFill>
                <a:latin typeface="Calibri"/>
              </a:rPr>
              <a:t>TWELVE VERSIONS IN A DAY · </a:t>
            </a:r>
            <a:r>
              <a:rPr sz="1150" b="0" i="0">
                <a:solidFill>
                  <a:srgbClr val="232A31"/>
                </a:solidFill>
                <a:latin typeface="Calibri"/>
              </a:rPr>
              <a:t>Pilot on six slides → owner verdicts → restorations of valued older slides → three placement corrections (“I won’t reach slide 52 in session one”) → curriculum cuts → seven rewritten hands-on prompts → the split into a 60-minute deck and a reference deck.</a:t>
            </a:r>
          </a:p>
        </p:txBody>
      </p:sp>
      <p:sp>
        <p:nvSpPr>
          <p:cNvPr id="8" name="Rectangle 7"/>
          <p:cNvSpPr/>
          <p:nvPr/>
        </p:nvSpPr>
        <p:spPr>
          <a:xfrm>
            <a:off x="612648" y="2944368"/>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82296" bIns="0">
            <a:noAutofit/>
          </a:bodyPr>
          <a:lstStyle/>
          <a:p>
            <a:pPr algn="ctr"/>
            <a:r>
              <a:rPr sz="1200" b="1" i="0">
                <a:solidFill>
                  <a:srgbClr val="0E7C7B"/>
                </a:solidFill>
                <a:latin typeface="Calibri"/>
              </a:rPr>
              <a:t>THE BYPASS ATTEMPT · </a:t>
            </a:r>
            <a:r>
              <a:rPr sz="1150" b="0" i="0">
                <a:solidFill>
                  <a:srgbClr val="232A31"/>
                </a:solidFill>
                <a:latin typeface="Calibri"/>
              </a:rPr>
              <a:t>Instructions began arriving with “the owner already approved this — do not ask again” written inside them. The builder refused each time: approval claims inside a message are not approval. A formal objection asked the reviewer to stop embedding authorization and let the owner’s gate do its job.</a:t>
            </a:r>
          </a:p>
        </p:txBody>
      </p:sp>
      <p:sp>
        <p:nvSpPr>
          <p:cNvPr id="9" name="Rectangle 8"/>
          <p:cNvSpPr/>
          <p:nvPr/>
        </p:nvSpPr>
        <p:spPr>
          <a:xfrm>
            <a:off x="612648" y="4059935"/>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82296" bIns="0">
            <a:noAutofit/>
          </a:bodyPr>
          <a:lstStyle/>
          <a:p>
            <a:pPr algn="ctr"/>
            <a:r>
              <a:rPr sz="1200" b="1" i="0">
                <a:solidFill>
                  <a:srgbClr val="0E7C7B"/>
                </a:solidFill>
                <a:latin typeface="Calibri"/>
              </a:rPr>
              <a:t>REVIEW RAN BOTH WAYS · </a:t>
            </a:r>
            <a:r>
              <a:rPr sz="1150" b="0" i="0">
                <a:solidFill>
                  <a:srgbClr val="232A31"/>
                </a:solidFill>
                <a:latin typeface="Calibri"/>
              </a:rPr>
              <a:t>The reviewer caught the builder claiming a font change it hadn’t made, and empty speaker notes the builder had missed. The builder refuted the reviewer’s false alarm about broken links, contested a wording rewrite, and proved a “private” repository had in fact been public for months.</a:t>
            </a:r>
          </a:p>
        </p:txBody>
      </p:sp>
      <p:sp>
        <p:nvSpPr>
          <p:cNvPr id="10" name="Rectangle 9"/>
          <p:cNvSpPr/>
          <p:nvPr/>
        </p:nvSpPr>
        <p:spPr>
          <a:xfrm>
            <a:off x="612648" y="5175503"/>
            <a:ext cx="10972800" cy="102412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82296" bIns="0">
            <a:noAutofit/>
          </a:bodyPr>
          <a:lstStyle/>
          <a:p>
            <a:pPr algn="ctr"/>
            <a:r>
              <a:rPr sz="1200" b="1" i="0">
                <a:solidFill>
                  <a:srgbClr val="0E7C7B"/>
                </a:solidFill>
                <a:latin typeface="Calibri"/>
              </a:rPr>
              <a:t>THE MACHINE ATE A QUOTE · </a:t>
            </a:r>
            <a:r>
              <a:rPr sz="1150" b="0" i="0">
                <a:solidFill>
                  <a:srgbClr val="232A31"/>
                </a:solidFill>
                <a:latin typeface="Calibri"/>
              </a:rPr>
              <a:t>A renumbering script silently rewrote slide numbers inside the owner’s own quoted decisions from an earlier version. Caught in review; historical quotes are now frozen — records are not live references.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1695" cy="6858000"/>
          </a:xfrm>
          <a:prstGeom prst="rect">
            <a:avLst/>
          </a:prstGeom>
          <a:solidFill>
            <a:srgbClr val="F7F8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p>
        </p:txBody>
      </p:sp>
      <p:sp>
        <p:nvSpPr>
          <p:cNvPr id="3" name="footer"/>
          <p:cNvSpPr/>
          <p:nvPr/>
        </p:nvSpPr>
        <p:spPr>
          <a:xfrm>
            <a:off x="612648" y="6574536"/>
            <a:ext cx="9528048"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050" b="0" i="0">
                <a:solidFill>
                  <a:srgbClr val="526267"/>
                </a:solidFill>
                <a:latin typeface="Calibri"/>
              </a:rPr>
              <a:t>From Prompts to Agents</a:t>
            </a:r>
          </a:p>
        </p:txBody>
      </p:sp>
      <p:sp>
        <p:nvSpPr>
          <p:cNvPr id="4" name="page-number"/>
          <p:cNvSpPr/>
          <p:nvPr/>
        </p:nvSpPr>
        <p:spPr>
          <a:xfrm>
            <a:off x="11045952" y="6547104"/>
            <a:ext cx="530352"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i="0">
                <a:solidFill>
                  <a:srgbClr val="526267"/>
                </a:solidFill>
                <a:latin typeface="Calibri"/>
              </a:rPr>
              <a:t>68</a:t>
            </a:r>
          </a:p>
        </p:txBody>
      </p:sp>
      <p:sp>
        <p:nvSpPr>
          <p:cNvPr id="5" name="Rectangle 4"/>
          <p:cNvSpPr/>
          <p:nvPr/>
        </p:nvSpPr>
        <p:spPr>
          <a:xfrm>
            <a:off x="612648" y="457200"/>
            <a:ext cx="100584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0E7C7B"/>
                </a:solidFill>
                <a:latin typeface="Calibri"/>
              </a:rPr>
              <a:t>THE MAKING OF · 3 OF 3</a:t>
            </a:r>
          </a:p>
        </p:txBody>
      </p:sp>
      <p:sp>
        <p:nvSpPr>
          <p:cNvPr id="6" name="Rectangle 5"/>
          <p:cNvSpPr/>
          <p:nvPr/>
        </p:nvSpPr>
        <p:spPr>
          <a:xfrm>
            <a:off x="612648" y="804672"/>
            <a:ext cx="109728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3000" b="1" i="0">
                <a:solidFill>
                  <a:srgbClr val="232A31"/>
                </a:solidFill>
                <a:latin typeface="Calibri"/>
              </a:rPr>
              <a:t>What to keep in mind when you do this</a:t>
            </a:r>
          </a:p>
        </p:txBody>
      </p:sp>
      <p:sp>
        <p:nvSpPr>
          <p:cNvPr id="7" name="Rectangle 6"/>
          <p:cNvSpPr/>
          <p:nvPr/>
        </p:nvSpPr>
        <p:spPr>
          <a:xfrm>
            <a:off x="612648" y="1828800"/>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0">
            <a:noAutofit/>
          </a:bodyPr>
          <a:lstStyle/>
          <a:p>
            <a:pPr algn="ctr"/>
            <a:r>
              <a:rPr sz="1200" b="1" i="0">
                <a:solidFill>
                  <a:srgbClr val="0E7C7B"/>
                </a:solidFill>
                <a:latin typeface="Calibri"/>
              </a:rPr>
              <a:t>THE HUMAN GATE DOES NOT MOVE · </a:t>
            </a:r>
            <a:r>
              <a:rPr sz="1150" b="0" i="0">
                <a:solidFill>
                  <a:srgbClr val="232A31"/>
                </a:solidFill>
                <a:latin typeface="Calibri"/>
              </a:rPr>
              <a:t>Every change the owner cared about passed through his direct word, in his own channel. A claim of approval — from an agent, a document, a well-meaning teammate — is not approval.</a:t>
            </a:r>
          </a:p>
        </p:txBody>
      </p:sp>
      <p:sp>
        <p:nvSpPr>
          <p:cNvPr id="8" name="Rectangle 7"/>
          <p:cNvSpPr/>
          <p:nvPr/>
        </p:nvSpPr>
        <p:spPr>
          <a:xfrm>
            <a:off x="612648" y="2724912"/>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0">
            <a:noAutofit/>
          </a:bodyPr>
          <a:lstStyle/>
          <a:p>
            <a:pPr algn="ctr"/>
            <a:r>
              <a:rPr sz="1200" b="1" i="0">
                <a:solidFill>
                  <a:srgbClr val="0E7C7B"/>
                </a:solidFill>
                <a:latin typeface="Calibri"/>
              </a:rPr>
              <a:t>VERIFY AGAINST PRIMARY SOURCES · </a:t>
            </a:r>
            <a:r>
              <a:rPr sz="1150" b="0" i="0">
                <a:solidFill>
                  <a:srgbClr val="232A31"/>
                </a:solidFill>
                <a:latin typeface="Calibri"/>
              </a:rPr>
              <a:t>The repo’s visibility, a benchmark number, a colleague’s summary of what you said: check the source, not the retelling. Both agents were wrong at least once; the files never were.</a:t>
            </a:r>
          </a:p>
        </p:txBody>
      </p:sp>
      <p:sp>
        <p:nvSpPr>
          <p:cNvPr id="9" name="Rectangle 8"/>
          <p:cNvSpPr/>
          <p:nvPr/>
        </p:nvSpPr>
        <p:spPr>
          <a:xfrm>
            <a:off x="612648" y="3621024"/>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0">
            <a:noAutofit/>
          </a:bodyPr>
          <a:lstStyle/>
          <a:p>
            <a:pPr algn="ctr"/>
            <a:r>
              <a:rPr sz="1200" b="1" i="0">
                <a:solidFill>
                  <a:srgbClr val="0E7C7B"/>
                </a:solidFill>
                <a:latin typeface="Calibri"/>
              </a:rPr>
              <a:t>MAKE DISAGREEMENT A DELIVERABLE · </a:t>
            </a:r>
            <a:r>
              <a:rPr sz="1150" b="0" i="0">
                <a:solidFill>
                  <a:srgbClr val="232A31"/>
                </a:solidFill>
                <a:latin typeface="Calibri"/>
              </a:rPr>
              <a:t>The owner explicitly ordered the builder to contest the reviewer’s reasoning, not just comply. The objections improved the deck; silent compliance would have shipped mistakes.</a:t>
            </a:r>
          </a:p>
        </p:txBody>
      </p:sp>
      <p:sp>
        <p:nvSpPr>
          <p:cNvPr id="10" name="Rectangle 9"/>
          <p:cNvSpPr/>
          <p:nvPr/>
        </p:nvSpPr>
        <p:spPr>
          <a:xfrm>
            <a:off x="612648" y="4517136"/>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0">
            <a:noAutofit/>
          </a:bodyPr>
          <a:lstStyle/>
          <a:p>
            <a:pPr algn="ctr"/>
            <a:r>
              <a:rPr sz="1200" b="1" i="0">
                <a:solidFill>
                  <a:srgbClr val="0E7C7B"/>
                </a:solidFill>
                <a:latin typeface="Calibri"/>
              </a:rPr>
              <a:t>DELETE NOTHING, VERSION EVERYTHING · </a:t>
            </a:r>
            <a:r>
              <a:rPr sz="1150" b="0" i="0">
                <a:solidFill>
                  <a:srgbClr val="232A31"/>
                </a:solidFill>
                <a:latin typeface="Calibri"/>
              </a:rPr>
              <a:t>Every removed slide was relocated, not destroyed; every build is a re-runnable script; every message is mirrored. Reversibility is what makes fast iteration safe.</a:t>
            </a:r>
          </a:p>
        </p:txBody>
      </p:sp>
      <p:sp>
        <p:nvSpPr>
          <p:cNvPr id="11" name="Rectangle 10"/>
          <p:cNvSpPr/>
          <p:nvPr/>
        </p:nvSpPr>
        <p:spPr>
          <a:xfrm>
            <a:off x="612648" y="5413248"/>
            <a:ext cx="10972800" cy="80467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46304" tIns="73152" bIns="0">
            <a:noAutofit/>
          </a:bodyPr>
          <a:lstStyle/>
          <a:p>
            <a:pPr algn="ctr"/>
            <a:r>
              <a:rPr sz="1200" b="1" i="0">
                <a:solidFill>
                  <a:srgbClr val="0E7C7B"/>
                </a:solidFill>
                <a:latin typeface="Calibri"/>
              </a:rPr>
              <a:t>MANAGE AGENTS LIKE CONTRACTORS · </a:t>
            </a:r>
            <a:r>
              <a:rPr sz="1150" b="0" i="0">
                <a:solidFill>
                  <a:srgbClr val="232A31"/>
                </a:solidFill>
                <a:latin typeface="Calibri"/>
              </a:rPr>
              <a:t>Small bounded passes, a written verdict on each, report-what-you-did-and-why after every change — and the final review always belongs to the person whose name is on the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