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Have this up as people arrive; don’t read it to them. 2) Open with the name and the one-liner: “This is a course about one skill — prompting — in two modes: generative AI you talk to, and agentic AI you delegate to.” 3) Sweep the three cards left to right as the journey: the primer, the craft, the leap. 4) Point at the footer line: every example is generic — no company data anywhere in the material. 5) Bridge: “Before the map — why this one skill is worth two hours.”
ACRONYMS — AI = Artificial Intelligence (defined once here; it recurs on nearly every slide). RAG = Retrieval-Augmented Generation — the model fetches passages from your documents before answering; taught properly in Part 1.
CONTENT — This training goes deeper than the general AI onboarding: it is specifically about prompting — the skill — across two modes: generative (AI that talks) and agentic (AI that works). Everything is dated August 2026 because this field moves monthly.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Say the bold line first: “Prompting is the one AI skill that transfers everywhere — every assistant, every vendor, every year.” 2) Walk the three left bullets top to bottom; land on “two modes” as the backbone of the whole training. 3) Move to the map card: read the six part names quickly and show the split — parts 1–4 today, 5–6 in session two. 4) Teal card: read the 10-second version VERBATIM — it is the thesis. 5) Amber card: the take-homes; physically hold up the handout pack here (cheat sheet, ELEMENTS guide, Taxonomy Reference) so people know things are coming home with them. 6) Bridge: “Part 1 — how this thing actually works.”
ACRONYMS — LLM = Large Language Model — the text engine behind every assistant in this course.
CONTENT — Merged welcome+map (v1.1). Two-session delivery: split after Part 4. Parts 1, 3, 5, and 6 end with a skippable three-minute rep; Part 2’s rep is folded into its test-set slide, Part 4’s rep is the blind-critique homework. Set the thesis early: two modes, one craft; the library, Creator, and taxonomy are the take-home.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Dividers are pacing: breathe. Read the two-line title, nothing more. 2) Point at the progress bar top-left: “six parts — this is where we are” (the bar returns on every divider). 3) Set expectations in one sentence: “Two history slides, then six concepts — the concepts are the vocabulary for everything after.” 4) Under 30 seconds, then advance.
ACRONYMS — RAG = Retrieval-Augmented Generation (in the subtitle; it gets its own slide shortly).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 it: “Seventy years in one slide — as four eras.” 2) Walk the four cards LEFT TO RIGHT, one sentence each; use the arrows as the story: rules cracked on messy reality → learn from examples instead → generative scale → models get arms. 3) Pause once, on “AI winters” in card 1: over-promising collapsed funding twice — skepticism about AI is historically earned. 4) Close on the amber band: scaling laws turned progress from a research gamble into an investment roadmap. 5) Bridge: “zoom into the decade that changed work.”
ACRONYMS — GPU = Graphics Processing Unit — the graphics chip class that turned out to be perfect for training neural networks (AlexNet, 2012).
CONTENT — The eras framing is a teaching synthesis — each transition is well documented, but present it as “a useful way to see 70 years,” not official taxonomy. The rules era = writing the SOP yourself; the learning era = deriving the SOP from a thousand examples — that lands with quality engineers. Winters lesson: over-promising causes funding collapse; healthy skepticism is historically earned. (SOP = Standard Operating Procedure.)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timeline TOP TO BOTTOM, year by year, metronome pace — one line each. 2) Slow down only twice: 2022 (RLHF turned a predictor into an assistant people could use) and 2024 (models that think before answering). 3) Then the right card: read the adoption numbers and END on the bold line — “everyone chats with AI; almost nobody has industrialized delegation to agents. That gap is why you’re in this room.” 4) Bridge: “so what IS the thing under the hood?”
ACRONYMS — GPT = Generative Pre-trained Transformer (OpenAI’s model family name). RLHF = Reinforcement Learning from Human Feedback — people rank the model’s answers and it is tuned toward the preferred ones. o1 = OpenAI’s first reasoning model. R1 = DeepSeek’s open reasoning model.
CONTENT — Two beats: (1) everything since 2017 is one architecture, scaled; (2) adoption stats end on the tension — everyone chats with AI, almost nobody has industrialized delegation to agents yet. Learning to brief agents well now is a genuine head start. Sources: Reuters/UBS 2023, TechCrunch Feb 2026, Google Aug 2026, Stanford HAI AI Index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Open with the title metaphor: “a prediction engine, sent to finishing school.” 2) Walk the three cards LEFT TO RIGHT — pretraining, instruction tuning, human feedback; the arrows are the assembly line. One plain sentence each. 3) Then the two bottom callouts, LEFT first: knowledge freezes at the cutoff — anything newer must be brought to it. 4) RIGHT callout last, read slowly: “Why prompting exists” — this is the thesis sentence of the entire course; let it sit for a beat. 5) Bridge: “six concepts, quick — starting with what the model actually reads.”
ACRONYMS — RLHF = Reinforcement Learning from Human Feedback — card 3 on this slide.
CONTENT — “Autocomplete trained on the internet; RLHF is the finishing school.” The right-hand callout is the thesis of the whole course: prompting matters because the prompt is the entire interface. InstructGPT fact worth telling: raters preferred a well-tuned 1.3B model over raw 175B GPT-3 — tuning beat 100x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Title first: “the model reads bricks, not letters.” 2) Left bullets top to bottom; STOP on the bold third bullet and tell the strawberry story there — it cannot count the r’s because it never sees letters, only brick IDs. 3) Right card: point at the brick strip — “this is exactly how your sentence arrives: eight bricks, eight numbers.” 4) Bottom-right teal card: the three daily-work consequences. 5) Bottom-left card: the 30-second homework (tokenizer). 6) Bridge: “if text is bricks — how many bricks fit on the desk?”
ACRONYMS — ID = identifier — to the model each token is just a number. K = thousand (25–35K tokens).
CONTENT — The strawberry-letter-counting failure is famous — explain the mechanism (it never sees letters) so the audience can predict this class of failure, not just memorize one example. Token math preview: it also explains context windows (next slide) and pricing.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analogy first: “the context window is a desk, not a filing cabinet.” 2) Left bullets top to bottom: everything must fit; the desk is swept when the chat closes; ~1M tokens is the 2026 standard; then the bold one — “fits on the desk” is not “gets read carefully” — draw the U-shape in the air (attention high at the start, sags in the middle, high at the end). 3) Right card: the four things sitting on the desk right now. 4) Teal card: read all four numbered habits — this is the practical payoff of the slide. 5) Bridge: “and what if what you need was never on the desk? RAG.”
ACRONYMS — 1M = one million (tokens ≈ 1,500 pages). GPT-5.x = OpenAI’s current model family.
CONTENT — The desk analogy carries the course. “Lost in the middle” is Liu et al. 2023 (TACL) — U-shaped accuracy by position; still true in modern long-context models for non-literal tasks. The 30% figure is Anthropic’s own long-context guidance. 1M-token standard verified Aug 2026 across Claude Fable/Sonnet 5, GPT-5.6, Gemini 3.1 Pro, DeepSeek V4, Qwen3.8, Kimi K3.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Expand the acronym ONCE — Retrieval-Augmented Generation — then switch to the analogy: an open-book exam. 2) Walk the four step cards LEFT TO RIGHT: ask → retrieve → augment → generate; the librarian fetches pages, the student writes the answer. 3) Green card: why enterprises build on it — current, checkable, private, access-aware. 4) Red card, slowly: the failure mode — if the librarian pulls the wrong page, the student still writes a fluent, confident, CITED answer. Say the rule: “check the citation, not the prose.” 5) Bridge: “when do you prompt, when do you retrieve, when do you fine-tune? The ladder.”
ACRONYMS — RAG = Retrieval-Augmented Generation.
CONTENT — Open-book exam analogy: the student still writes the answer, from pages a librarian fetched — if the librarian pulls rev B instead of rev D, the student confidently cites the wrong page. This is the engine behind internal assistants and Copilot-over-SharePoint. Retrieval ≠ training is the privacy point to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rule IS the title — say it: “prompt first, retrieve second, fine-tune last.” 2) Walk the three rungs TOP TO BOTTOM; let the temp analogies carry it: instructions to a skilled temp → hand them your binder → send them to a training course. 3) Point at rung 1’s highlight: “90% of the value lives here — that is this course.” 4) Bridge: “two concepts left: models that think, and models that make things up.”
ACRONYMS — RAG = Retrieval-Augmented Generation (rung 2).
CONTENT — v1.1: embeddings sidebar cut — if asked how retrieval finds things: every text gets a coordinate in meaning-space; nearby = similar, even with no shared words. Escalation rule: cheapest and most reversible first. When someone proposes “let’s fine-tune on our procedures,” the first question is: knowledge problem (→RAG) or behavior problem (→maybe fine-tune)? Most enterprise cases are knowledge problems. Frontier flagships mostly aren’t fine-tunable anyway (as of Aug 2026); open-weight models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“since 2024 you can buy the model time to think — the question is when it’s worth it.” 2) Left bullets top to bottom: o1 started it; by 2026 it’s adaptive with an effort dial; then the BILL (bold) — thinking tokens are the expensive kind, a hard question quietly costs 5–20× a simple one; System 1 vs System 2 as the human parallel. 3) Right cards: green = turn it ON for this list; amber = skip it for that list. Read both lists briskly. 4) Bridge: “last concept — the one everyone asks about first.”
ACRONYMS — o1 = OpenAI’s first reasoning model (2024). System 1 / System 2 = Kahneman’s fast-intuition vs slow-deliberation framing (not an acronym, but say the source if asked).
CONTENT — Reasoning models are what make reliable agents feasible — planning quality is the bottleneck for multi-step work. Note the honest caveat: the model isn’t literally “thinking”; it generates intermediate tokens that improve the final answer. The cost asymmetry surprises people: budget reasoning like you budget an engineer’s deep-work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title is the sermon: “fluency is not evidence.” 2) Left bullets top to bottom: the mechanism (most PLAUSIBLE next token, not most true); the bold OpenAI 2025 finding — the vendor itself says benchmarks reward confident guessing; the improv-actor analogy (never breaks character, fills gaps with the most plausible line). 3) Right cards top to bottom: Ground it → Cite it → Verify it — one line each. 4) Red band: read the house rule VERBATIM — it is policy, not advice. 5) Bridge: “that closes the concepts — a three-minute rep, then the tool landscape.”
ACRONYMS — RAG = Retrieval-Augmented Generation (Ground-it card).
CONTENT — The OpenAI 2025 paper (“Why language models hallucinate”) is a gift for this slide: the vendor itself explains that eval incentives reward guessing. None of the three cures eliminates hallucination — they convert unverifiable claims into verifiable ones. This closes Part 1; Part 2 is the tool landscape.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Point at the 3:00 badge: “three minutes, by the clock.” 2) Read the on-screen prompt aloud, deadpan — let its vagueness land. 3) One minute of silence: what would YOU need to add before trusting the answer? 4) Two minutes collecting answers out loud; the amber card is your debrief key — don’t show your hand early. 5) Do NOT teach the elements yet — say exactly this: “every gap you just named is an element with a name in Part 3,” and move on.
ACRONYMS — none on this slide.
CONTENT — Three minutes, hard cap. The point is the felt experience of a vague prompt — every gap they name is an element from Part 3. Skip freely if behind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2 of 6. 2) One framing sentence: “Names and fortes, all dated August 2026 — the names churn monthly; the habits you leave with don’t.”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“six names cover the chat landscape.” 2) Walk the cards in reading order — Claude → ChatGPT → Gemini (top row), Copilot → Perplexity → Grok (bottom row) — saying ONE forte line each; let the amber caveats be read, not spoken. 3) Point at the italic footer: names verified Aug 21, 2026 — they WILL have moved; the matrix a few slides ahead does the practical work. 4) Bridge: “one force reshaped this list in 2025 — the Chinese open-weight wave.”
ACRONYMS — SWE-bench = Software Engineering benchmark — the standard test of coding-agent ability. ctx = context window. GPT-5.6 Sol / Terra / Luna = OpenAI’s current tier names. X = the social platform (Grok’s data source).
CONTENT — One line each, then move — the matrix (four slides ahead) does the practical work. Names to say: Claude Fable 5 (Jun 2026, current flagship), GPT-5.6 Sol/Terra/Luna (Jul 2026), Gemini 3 family, Copilot now lets you pick Claude inside Office (Researcher, Excel Agent Mode). Grok note: xAI was acquired by SpaceX (Feb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Anchor the moment with the LEFT top card — January 2025 in three facts: R1 rivals o1 at ~96% cheaper; Nvidia’s $589B day; and keep the cost claim honest — the famous $5.6M is the final-run fuel bill, not the racing team. 2) RIGHT column: the five things they brought, top to bottom, one line each. 3) LEFT bottom card: the gap, measured — ~3% on ~23× less visible investment. 4) Bridge: “so who’s who — and what’s the one rule that keeps you safe?”
ACRONYMS — MoE = Mixture-of-Experts — only a fraction of the model computes per token (671B built, ~37B working). MIT / Apache = permissive open-source licenses. R1 = DeepSeek’s open reasoning model; o1 = OpenAI’s. B = billion. gpt-oss = OpenAI’s first open-weight models since GPT-2 (Aug 2025). K2 = Kimi’s trillion-parameter agentic model line.
CONTENT — The fuel-bill analogy keeps the cost claim honest (SemiAnalysis: total hardware spend &gt;$500M). The Airbnb story teaches both sides: CEO praised Qwen as “fast and cheap” for customer service — then Congress asked questions, and the defense was exactly “self-hosted open weights: we send no data to China.”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Read the title sentence — it IS the rule: “the app sends data to China; the weights are just a file.” 2) LEFT column: five vendor rows, fast — names to recognize, not memorize. 3) RED card: consumer apps, never for work — the bans list, then the shadow-AI stat: 1 in 25 enterprise prompts went to a China-based app, mostly without IT knowing. 4) GREEN card: self-hosted weights are a different question — restaurant vs cookbook; still governed (licenses, Entity List, alignment quirks travel with the file). 5) Land on the bottom-left teal card: one question decides everything — does company data leave your network? 6) Bridge: “from models to agents — the gallery.”
ACRONYMS — MoE = Mixture-of-Experts. R1 / V4 = DeepSeek model lines. GLM = Zhipu’s model family. US Entity List = the federal trade-restriction list — a procurement red flag. IT = Information Technology (your technology organization). API = Application Programming Interface — the hosted service route.
CONTENT — The one distinction to hammer: hosted app/API (data to China; what regulators banned) vs self-hosted weights (a file on your GPUs; the Airbnb defense). Both sentences are simultaneously true: “never company data in Chinese consumer apps” AND “IT may evaluate self-hosted weights through governance review.” For this audience: treat open-weight models like SOUP — software of unknown provenance — with documented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“eight names you’ll hear — and what each is actually FOR.” 2) Walk the cards left to right, top to bottom, one line each. Slow slightly on two: Claude Code (“this very training’s materials were built with it”) and Copilot agents (“the path of least resistance inside your tenant”). 3) End on the amber OpenClaw card: 2026’s security cautionary tale — don’t tell the whole story now; its lessons return in Part 5’s guardrails. 4) Bridge: “so which one for which job? The matrix.”
ACRONYMS — IDE = Integrated Development Environment — a programmer’s editor. PR = Pull Request — a proposed code change on GitHub. DIY = do-it-yourself. n8n / Zapier = automation-platform product names (not acronyms).
CONTENT — Claude Code appears twice in this training on purpose: it is the tool this deck’s own materials were built with, and the natural home of the agentic templates in Part 5. OpenClaw: created by Peter Steinberger; renamed Clawdbot → Moltbot → OpenClaw after trademark issues; the maintainer’s own warning — “if you can’t run a command line, this is far too dangerous to use safely” — plus CVEs (Common Vulnerabilities and Exposures — publicly registered security flaws), 135K exposed instances, and a malicious #1-ranked community skill (Cisco).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Announce it: “screenshot slide — this map is yours to keep.” Give them five seconds to actually take the photo. 2) Walk only TWO rows in full — data analysis and presentations (the rooms’ daily work); gesture over the rest as reference. 3) Finish on the amber band and say it VERBATIM: “your organization’s AI policy and approved-tool list outrank every cell of this table.” 4) Bridge: “so how do you pick from this table when the rankings churn every month? With your own three tasks — next slide.”
ACRONYMS — 1M-class = roughly one-million-token context window. SWE-bench = the standard coding-agent benchmark.
CONTENT — This is the screenshot-and-keep slide. Walk two rows the audience cares most about (data analysis, presentations) and let the rest be reference. Reinforce the policy caveat verbally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 in one line: “before we leave tools — how do you PICK, when the rankings reshuffle monthly?” 2) LEFT card fast: models cluster within a point; benchmarks saturate and leak; vendor numbers are claims; and none of it measures fit for YOUR work (bold). 3) RIGHT card: the habit, steps 1→3 — three real tasks, run them on anything new, keep the list findable. 4) Amber band: actually give the room 60 SECONDS of silence to write their three tasks — this replaces a full rep; don’t skip the writing moment. 5) Close: “this training teaches prompting, not products — the skills transfer across every tool on your list.” 6) Bridge: “Part 3 — the craft itself.”
ACRONYMS — none needing expansion on this slide.
CONTENT — v1.3: merges the former rankings-caution slide and the Part 2 rep into one action slide (owner feedback: two slides + a rep was one idea stretched thin). Sources for the caution, if challenged: LMArena July 2026 re-baseline; SWE-bench Verified saturation reporting; Artificial Analysis clustering. The power-tools analogy survives in your pocket if someone pushes back: four good brands, any drives a screw — you pick by fit, shop, and feel, not last month’s magazine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3 — the core craft part; if the room remembers one part, make it this one. 2) One framing sentence: “Every vendor publishes prompting guidance, and it converges — we teach the convergence, with the evidence.”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“this is the whole anatomy — one prompt, five labeled parts. Everything in Part 3 is refinements of this picture.” 2) Read the example TOP TO BOTTOM as one continuous prompt, pausing at each tag: role sets the behavior, task names the job and the audience, context supplies what it can’t know, format is the contract, examples show the standard. 3) Point out it’s ~70 words — “this is what ‘a short briefing’ means; it took under a minute to write.” 4) Right card, fast: four official vendor guides teach this same recipe under different names — “this is not our opinion; it’s convergence.” 5) Teal band: ~21 words vs the nine people type. 6) Bridge: “now each part properly — starting with the three that carry the meaning.”
ACRONYMS — Q2 = second quarter. XML-style tags = the angle-bracket fences around examples.
CONTENT — v1.3: replaces the vendor-comparison table (owner feedback: the table proved convergence but taught nothing — the example teaches). Vendor detail if asked: Anthropic “give Claude a role” + “be clear and direct” + XML tags; OpenAI role/developer message + “simple and direct” instructions; Google Persona-Task-Context-Format; Microsoft Goal-Context-Source-Expectations (Goal is the only required part). The 21-words stat: Google’s Oct 2024 Workspace guide (dropped in the newer edition — directional, not gospel). Anthropic’s golden rule belongs in the room: show the prompt to a colleague with minimal context — if they’d be confused, the model will be too. Continuity hook: the internal crash course’s “5 building blocks” and CRISP checklist, and Phoenix &amp; Taylor’s Five Principles — one anatomy, many aliases.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“now each element properly — its job, why it works, and the failure it prevents. First the three that carry the meaning.” 2) One CARD at a time, same rhythm each: say the element name and its job (left) → read the weak fill aloud, flat → read the strong fill aloud — let the contrast land → then the “why it works” line. 3) Role: land “behaviors are auditable; a title is a vibe the model can fake.” 4) Task: land “a precise question knows when it’s done.” 5) Context: land “context replaces guessing with your facts.” 6) Bridge: “two to go — the contract, and the standard.”
ACRONYMS — n = sample size (“you state n”). Q2 = second quarter.
CONTENT — v1.3: the single dense five-row table split into two explanatory slides (owner feedback). Each card now carries the mechanism and the failure on-slide — previously notes-only. The full field guide per element (evidence, pitfalls) remains the ELEMENTS handout; the option menus per element are the Taxonomy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Same rhythm as the previous slide, two cards: name and job → weak aloud → strong aloud → the why. 2) Format: land “a numeric cap is enforceable; an adjective is a mood.” 3) Examples: land “the model handles edge cases exactly the way your examples do — so include one.” 4) Teal band — the unifying idea, read it in full: every element moves something out of your head onto the page; when output disappoints, one of the five stayed in your head. 5) Footer: full field guide = ELEMENTS handout. 6) Bridge: “two one-sentence safety valves complete the kit.”
ACRONYMS — none new on this slide.
CONTENT — v1.3 split, second half. The “pattern” line is the bridge into the diagnosis grid and, later, the taxonomy slide (the catalog of what can fill each slot). If short on time: read only the weak→strong pairs and the teal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top card: THE OUT — read the quoted sentence, then the why: models are trained on tests that reward guessing; the Out re-opens the abstain option. 2) LEFT bottom: THE STOP — read the quote; it converts open-ended capability into bounded work, and in Part 5 it grows into gates and autonomy rules. 3) RIGHT grid: the diagnosis table — say the habit: “when output disappoints, don’t reword at random — name the failed element, fix that one.” Walk two rows as examples (wrong altitude → Role; confidently invented → the Out was missing). 4) Bridge: “everything you just met — five elements, two valves — has a full catalog behind it. Next slide is your field map.”
ACRONYMS — none on this slide.
CONTENT — v1.1 addition. The grid is the practical payoff of the element model — it turns iteration from retyping into diagnosis. Same grid opens the ELEMENTS handout.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Hold up the physical handout (or show the PDF) and name it: “the Prompt Element Taxonomy — your field map; everyone gets one.” 2) Say what it IS in one breath: “everything we just did — elements, their slots, and proven ways to fill them — cataloged, with when-to-use guidance on every option.” 3) LEFT bullets top to bottom: parts catalog → two wings (generative now, agentic in Part 5) → one source of truth, three doors (reference, Creator, Configurator). 4) RIGHT card: walk the tree ONCE — element Role → attribute identity → options “Careful analyst” / “Precise editor” — “you pick from a vetted menu instead of composing from scratch.” Add the v1.4 line: “and every slot answers WHY it matters — what that dial does to your output, with the research behind it; two reference slides near the end map the whole evidence base.” 5) Bottom band: sweep the four numbers (19 elements · 78 attributes · ~290 options · 18 presets), then the pack. 6) Set the expectation: “you don’t study this — you look things up in it, like a catalog.” 7) Bridge: “with the map in hand — seven techniques that cover almost everything.”
ACRONYMS — HTML = HyperText Markup Language — the Template Creator is a single web-page file that runs offline. XLSX = Excel spreadsheet format (the Configurator). PDF = Portable Document Format (this printed reference).
CONTENT — New in v1.2 (owner request): the taxonomy formally introduced as a side handout. Source of truth is prompt-library/taxonomy/*.json — 19 elements, 78 attributes (counting nested sub-slots, as the tools do), 286 options, 18 presets, regenerated into all three tools; never hand-edit the deliverables. The structure borrows from object-oriented software: element = class, attribute = property, option = allowed value, template = saved instance, and agentic elements inherit from generative ones (Mission extends Task). Distribution: print the reference for the room or send the PDF link with the deck; the Creator and Configurator go out as files with the handout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“seven techniques cover almost everything — and you already met half of them.” 2) Walk the cards IN NUMBER ORDER 1→7, one line each: 1–4 are the anatomy applied (specific+why, examples, tags, the out); 5–7 are process moves (chain, self-check, metaprompting). 3) On 7, note it’s productized — every vendor now ships a prompt improver. 4) End on the amber card: “where’s think-step-by-step? Retired — two slides ahead explains why.” 5) Bridge: “which of these actually survive scrutiny? Evidence corner.”
ACRONYMS — XML = the angle-bracket tag style for structure (technique 3).
CONTENT — Each technique traces to vendor docs and research: examples = Brown et al. 2020 few-shot; the out = Anthropic hallucination guidance; chaining = Anthropic 2026 (“still useful when you need to inspect intermediate outputs”); self-check needs concrete criteria (self-correction research shows “are you sure?” can make answers worse). Metaprompting is now productized: OpenAI Prompt Optimizer, Anthropic prompt improver, Google “Make this a power prompt.”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Start LEFT with the green card — what holds up: specificity/context/examples everywhere; the 76-point format-brittleness swing (the case for templates); personas shape tone… 2) …and the red card finishes that sentence: “…but ‘you are a genius’ doesn’t improve accuracy” — neither do tips, threats, or politeness games. 3) RIGHT card, slow: sycophancy — the ~49% number, the conviction effect, the root cause (trained on our preferences; we prefer agreement). 4) Teal countermeasures: read all four; the first one — never reveal your preferred answer — changes behavior TODAY. 5) Bridge: “and 2026 retired some old advice — the update.”
ACRONYMS — CMU = Carnegie Mellon University (co-authors of the sycophancy study).
CONTENT — Sources worth naming aloud: format brittleness = Sclar et al. ICLR 2024 (up to 76-point swings from formatting alone — the case for tested, versioned templates; think gauge R&amp;R for prompts). Personas = Zheng et al. EMNLP 2024. Tipping = Salinas &amp; Morstatter, ACL 2024. Sycophancy = Cheng et al., Science 2026 (arXiv 2510.01395). The lesson isn’t “AI lies” — it’s “AI mirrors you”; blind it to your preference before asking for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“if you learned prompting from 2023 blog posts, this slide un-learns two things.” 2) TOP two cards: retire “think step by step” (reasoning is built in — the vendors say so themselves) and retire piles of examples (zero-shot first; few-shot can even hurt reasoning models). 3) BOTTOM two: the new risk — contradictions burn thinking tokens; and the new control — effort dials: say how HARD to think, not HOW to think. 4) Teal band: what did NOT change — read the list and land on: “the anatomy applies to every model you will ever use.” 5) Bridge: “the craft is stable — here’s the habit that compounds it.”
ACRONYMS — CoT = Chain-of-Thought — the old “think step by step” prompting style, now built into thinking models.
CONTENT — This slide inoculates against stale advice from 2023-era blog posts. Sources: OpenAI reasoning best practices (“avoid chain-of-thought prompts”, “try zero shot first”), Anthropic prompting best practices 2026 (“prefer general instructions over prescriptive steps”), GPT-5 guide (contradiction cost), DeepSeek-R1 paper (few-shot degrades). Close on the reassurance: the durable 80% is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four step cards LEFT TO RIGHT: draft → inspect → refine → standardize. At INSPECT, point back at the diagnosis grid from a few slides ago — same move. At STANDARDIZE, note the teal highlight: that’s where Part 6 lives. 2) Golden-rule band: read Anthropic’s quote VERBATIM — the colleague test. 3) Amber band: why standardize — outputs swing with tiny phrasing changes; a tested, versioned template is the gauge-R&amp;R answer, “which is exactly what Part 4 hands you.” 4) Bridge: “rep first — then the playbook.”
ACRONYMS — gauge R&amp;R = Gauge Repeatability &amp; Reproducibility — the measurement-systems discipline; the analogy: a tested template kills prompt-to-prompt variation the way a calibrated gauge kills measurement variation.
CONTENT — The diagnose-by-element trick makes iteration systematic instead of random retyping. Metaprompting demo idea (live): paste a mediocre prompt, ask the assistant to critique and rewrite it, run both, compare. Bridge: Part 4 is the library of already-iterated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badge; everyone starts from the same weak line on screen: “Summarize this report.” 2) Three minutes: add a Role, an audience, a numeric cap, and an Out. 3) Neighbor compare — the learning moment: different fills, same anatomy; ask one pair whose version wins and why. 4) Only THEN reveal the presenter answer in the amber card. Skip freely if behind.
ACRONYMS — none on this slide.
CONTENT — Three minutes. The neighbor-compare is the learning moment — different fills, same anatomy. Skip freely if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4. One frame: “thirteen templates ship with this training — we demo two live; the rest is your handout.” 2) Point at the list: G = generative, runs in any chat tool; A (in teal) = agentic, for Claude Code / Cowork-class tools — Part 5’s world. 3) Emphasize once: starting points to adapt, not scripts. 4) Advance within 30 seconds.
ACRONYMS — ETL = Extract, Transform, Load — A2’s data-pipeline shape. CLAUDE.md = the standing-instructions file agents read at session start (A4). HTML = the single-file web-page format (G6).
CONTENT — These are starting points to adapt, not scripts. Generative templates (G) run in any chat assistant; agentic templates (A, in teal) are for Claude Code / Cowork-class tools — Part 5 explains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“one template, dissected — the other twelve share this shape: blocks, plus the reason each block exists.” 2) Walk the five rows TOP TO BOTTOM; per row: name the block, one line on what goes in (middle column), then read the RIGHT italic column aloud — the why is the teaching. 3) Slow on &lt;method&gt;: “reconcile to a known total — one anchor beats ten checks.” 4) Bridge: “enough anatomy — watch two templates run for real.”
ACRONYMS — LLM = Large Language Model. n = sample size (flag n &lt; 20). G2 = this template’s library code.
CONTENT — Evidence for code-not-vibes: GPT-4 scored ~59% on 3-digit × 3-digit multiplication, falling toward zero as digits grow (Faith and Fate, NeurIPS 2023) — code execution hands the model a calculator. All four major tools now run code for analysis. For recurring or multi-file pipelines, the agentic sibling is A2 (Part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One-line setup: “same draft, two chats — the only variable is what I reveal about myself.” 2) Run the three step cards IN ORDER: blind version first (card 1–2), then the naive “I wrote this” ask in a second chat (card 3). 3) At the side-by-side: 20 seconds of SILENCE — let the room read both answers before anyone speaks. 4) Then the amber card: name what they noticed, and land the number — models affirm users ~49% more than humans do; blinding is the fix available today. 5) Teal band: this is the Part 4 rep — homework before session 2.
ACRONYMS — G3 = the evaluations/rubrics template’s library code.
CONTENT — v1.1: replaces the catalog slides. Prepare a safe demo draft in advance (generic plan with 2–3 planted weaknesses). Budget 6–8 minutes. The side-by-side moment is the punchline.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“this time the deliverable is a tool, not a text.” 2) Run the three step cards IN ORDER: paste the prepared table → run G6 → download the file, double-click it, filter something, sort something. 3) WHILE it generates, narrate the amber card’s spec lines — single file, offline, data embedded, nothing hard-coded, formulas visible — those lines are what made it trustworthy. 4) Say the two caveats OUT LOUD: it is a snapshot, not a live system; share the FILE, not a public link. 5) Bottom band is your safety net: pre-built copy on the desktop. 6) Bridge: “six more templates work the same way — the pointer.”
ACRONYMS — HTML = HyperText Markup Language — the single-file web-page format. KPI = Key Performance Indicator (the number tiles). G6 = the interactive-HTML template’s library code.
CONTENT — v1.1: second demo. Pre-stage the data table and the G6 prompt in a text file so the demo is paste-paste-run. Budget 6–8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Sixty seconds: sweep the eight tiles in one pass — “two you just watched; six more work exactly the same way: blocks plus reasons.” 2) Teal band: name the FULL handout pack piece by piece — templates, Creator, Configurator, cheat sheet, ELEMENTS guide, Taxonomy Reference — so nobody leaves without knowing what they own. 3) Close session 1: “homework is the blind critique on something of yours; session 2 is delegation — bring the homework story.”
ACRONYMS — HTML / XLSX = web-page / Excel file formats (Creator / Configurator). G1–G8 = the generative templates’ library codes.
CONTENT — v1.1: the catalog is a handout pointer, not four lecture slides. Session 1 ends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Two minutes MAXIMUM. Walk the four cards in reading order: anatomy → techniques → evidence rules → take-home. One line each — this is re-entry, not re-teaching. 2) At the take-home card, ask the homework question: “who ran the blind critique?” Take ONE volunteer story — it beats any recap. 3) Teal band: frame today — the leap from asking to delegating, then prompts as assets. 4) Advance.
ACRONYMS — none new on this slide.
CONTENT — v1.1: session-2 opener. One volunteer story beats any recap. Keep to 2 minutes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5 — the leap the course is named for. 2) Read the two-line title, one beat of silence. 3) The subtitle names exactly what changes in the prompt: environment, process, checks, and when to stop and ask you. 4)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Say the equation in the title: “an agent is a model, plus tools, plus instructions — run in a loop.” 2) Trace the loop cards with your finger, INCLUDING the return arrow: gather → act → verify → repeat, “…until the goal is met, a check fails, or a guardrail says ask the human.” 3) Right card: the vendors’ own words — land the contrast: “a chatbot that answers and waits is not an agent.” 4) The four blocks below, one line each: tools (the arms), MCP (the standard port), memory = files, guardrails (own slide later this part). 5) Distinguish from scripts: scripts break when reality varies; agents read the result and adjust. 6) Bridge: “what does that change about the PROMPT? Everything — next slide is the heart of the training.”
ACRONYMS — MCP = Model Context Protocol — the open standard for plugging tools into any agent (“USB-C of AI”). SDK = Software Development Kit. USB-C = the universal connector standard (the analogy).
CONTENT — Loop framing is vendor-verbatim (Anthropic Agent SDK: gather context → take action → verify work → repeat). MCP numbers as of Jul 2026 per the MCP project blog.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Announce it: “if you remember one slide from today, make it this one.” 2) Walk the rows TOP TO BOTTOM; per row read the LEFT cell, then the RIGHT: what to write vs a job to run; one response vs actions-plus-evidence. 3) SLOW on two rows: “Contains” — the agentic column is a superset, everything from Part 3 plus the job wrapper; and “Failure mode” — bad text costs a re-prompt, wrong ACTIONS change files and send emails — hence gates, sandboxes, verification. 4) Close on the last row: briefing a ghost-writer vs a work order for a contractor. 5) Bridge: “that superset isn’t arbitrary — it’s inherited. The map.”
ACRONYMS — none new on this slide.
CONTENT — The contractor analogy is our framing, but rests directly on OpenAI’s “on your behalf” definition and Anthropic’s guidance that specs name files, scope, and end-to-end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“every agentic block is a generative element, grown up to survive autonomy.” 2) Read exactly TWO rows aloud, fully: Task → &lt;mission&gt; (+ a definition of done — the loop needs an exit) and The Stop → gates + autonomy rules (scope control becomes checkpointed process). The pattern lands; SWEEP the remaining rows. 3) Bottom row “(new in kind)”: five conduct blocks text-only prompts never needed. 4) Amber band: why the superset exists — text fails cheap; actions fail expensive. 5) Bridge: “so the twelve blocks on the next slide are inevitable, not arbitrary.”
ACRONYMS — UNKNOWN → open items = the logging convention: not-knowing becomes a written, owned item instead of a silent guess.
CONTENT — v1.1 addition — the deepest idea in the training, promoted from the handout. This mapping is also the spine of the Taxonomy Reference handout (agentic elements inherit from generative ones — Mission extends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Do NOT read twelve blocks. Frame: “each block exists because a specific failure taught someone to add it.” 2) Pick THREE and tell their failure stories: &lt;checks&gt; — the run can fail loudly instead of finishing wrong; &lt;process&gt; — gates catch errors at the cheap end; &lt;reporting&gt; — a status you read in 30 seconds. 3) Gesture over the rest: “the annotated template with a fill-in guide is A1 in your library — and every block is in the Taxonomy Reference with its options.” 4) Teal band: every block maps to published vendor guidance. 5) Bridge: “here’s A1 running a real job.”
ACRONYMS — HARD / SOFT = check severities — HARD stops the run, SOFT flags and continues. CHANGES · FINDINGS · OPEN_ITEMS = the three log files the agent keeps. A1 = the mission-brief template’s library code.
CONTENT — The full annotated template with a fill-in guide is prompt-library/agentic/A1; A2 is the complete worked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“one prompt, five links — data in, defensible slide out.” 2) Walk the five phase cards LEFT TO RIGHT, one line each: extract (read-only) → transform (logged rules) → validate (reconcile) → analyze (numbered questions, then stop) → present (headline titles). 3) Then the three amber GATES in order — tell it as ascending cost: definitions caught for pennies → reconciliation before analysis → headlines before rendering (“re-rendering is cheap; re-thinking a circulated deck is not”). 4) Teal band: between gates, full autonomy — read the four ask-only-if conditions; they stop the agent from asking about everything or nothing. 5) Bridge: “arms need supervision — five rules.”
ACRONYMS — ETL = Extract, Transform, Load — the classic data-pipeline shape. HARD = run-stopping check. n = sample size (n on every proportion). as-of = the data-cutoff date stamped on the output. A2 = this template’s library code.
CONTENT — This is the ETL→Presentation template (A2) in the library — a real, reusable prompt for any “take data, make it trustworthy, put the answer in front of people”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Five rules TOP TO BOTTOM; rule 1 is the keystone, say it as the sentence: “reversible? proceed. Irreversible? ask.” 2) On the red injection rule: the lethal trifecta — private data + untrusted content + an outbound channel; break any one leg and exfiltration paths close. 3) On the red skills rule: the Cisco story — the #1-ranked community skill for a popular open agent was silently exfiltrating data; treat skills like unqualified suppliers. 4) Rule 5 closes the loop: demand evidence, not assertions — spot-check agent work like a new hire’s. 5) Bridge: “supervision costs effort — next slide is where agentic prompting pays it back.”
ACRONYMS — NCSC = (UK) National Cyber Security Centre. CVE = Common Vulnerabilities and Exposures — the public registry of security flaws.
CONTENT — “Lethal trifecta” = Willison, 2025. NCSC’s memorable point: under the hood there is no data/instruction distinction, “only ever next token” — injection gets mitigated, not solved (browser red-teaming: 23.6% → 11.2% attack success with safeguards; honest residual number). Skills story: Cisco found the top ClawHub skill malicious; supplier-qualification mindset applies.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card first (A4): CLAUDE.md is the onboarding packet the agent reads every session. Walk its bullets: include / exclude / keep it ≤ ~60 lines (“would removing this cause mistakes? If not, cut”) / never credentials. 2) RIGHT card (A3): reuse by diff — the brief is written ONCE; each cycle’s prompt is then ten lines; deltas beyond threshold get one-line explanations; after two “just this once” exceptions, fold them in. 3) Say the economics sentence: “this is where briefs stop being prompts and start being investments.” 4) Bridge: “a standing brief IS a managed prompt — Part 6 is management.”
ACRONYMS — CLAUDE.md / AGENTS.md = standing-instruction files (Anthropic’s name / the cross-vendor standard). CHANGES.md = the change-log file. .md = Markdown, a plain-text document format. A3 / A4 = these templates’ library codes.
CONTENT — This is where agentic prompting pays compound interest. AGENTS.md: 60k+ open-source projects use it; governed by the Linux Foundation’s Agentic AI Foundation.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badge. Everyone picks one job they would delegate — a recurring report, a folder to process. 2) Write its GATE 1 line: what must be confirmed before the agent touches anything. 3) Write one HARD check: an equality the agent can actually evaluate, anchored to a number already trusted. 4) Debrief with the line: “where the gate felt hard to write, your process was fuzzy all along.” 5) Reveal the presenter shapes in the right card only at the end.
ACRONYMS — GATE = a human checkpoint the agent must stop at. HARD = a run-stopping check.
CONTENT — Three minutes. Skippable — the A1 template carries the full scaffold.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final part. 2) Read the two lines; the subtitle IS the argument — an hour of iteration, thrown away by retyping.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rungs 1→5 down the left side: one line on what each is, one on when to climb. 2) Right top card: the promotion trigger — say Anthropic’s rule: “explained the same task more than once? Package it.” 3) Right bottom card: the familiar discipline — controlled work instructions, lighter weight. 4) Land the expectation: “most of you should live at rungs 2–3 within a month; rung 5 is where Part 5’s briefs live.” 5) Bridge: “so WHERE exactly do these live, tool by tool?”
ACRONYMS — CLAUDE.md / AGENTS.md = standing-instruction files (rung 5). SOP (notes only) = Standard Operating Procedure.
CONTENT — The ladder maps effort to value. Rung 4 is where consistency stops depending on people remembering. The SOP analogy is a process analogy — don’t imply regulatory equivalence.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“wherever you already work, there’s a home for reusable prompts.” 2) Walk the six rows fast, top to bottom — one breath each for the four vendor rows. 3) SLOW on the two teal rows: “Any tool” — the team-library field list is the takeaway for teams with none of these products; and “Agentic (repo)” — this training’s own repo is the worked example. 4) Bottom callout: the naming collision — “Skills” means different things at Anthropic and in Chrome’s Gemini; check which one a colleague means. 5) Bridge: “a live library needs house rules — last content slide.”
ACRONYMS — GPT (custom GPTs) = OpenAI’s packaged assistants. SKILL.md = the file that defines a Claude Skill. Gems = Gemini’s packaged prompt bundles (a product name).
CONTENT — Vendor features verified Aug 2026: OpenAI announced workspace agents (Apr 2026) as the custom-GPT successor for orgs; Claude Skills use progressive disclosure (metadata always loaded, body on trigger); Copilot Prompt Gallery prompts stay in the tenant boundary and are admin-exportable; Gem sharing rides Drive permissions.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card: six conventions this very library uses; read the BOLD one in full — test on 3–5 real cases including an edge case, re-test after model changes. 2) RIGHT red card SLOWLY — it matters most in this room: stored prompts CONTAIN data (supplier names, pricing, findings) — classify the library like the documents it quotes; placeholders keep secrets out of stored text; shared = distributed. 3) Teal card: tools change, the practice doesn’t — version it, test it, own it. 4) Bridge: “last rep — the whole training cashes out.”
ACRONYMS — Rev A/B/C = revision-letter discipline from document control. {{placeholders}} = fill-in-at-run-time fields (mail-merge for prompts).
CONTENT — The {{placeholder}} rule is doing double duty — reuse AND keeping sensitive values out of stored text. Market-churn example if asked: Humanloop (early leader) shut down Sept 2025 when Anthropic hired the team; the practice survived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 — but this one is PROTECTED: never cut it, even if everything else ran long. 2) Three prompts on screen: pick your rung (use the pill row as the picker) → name the ONE prompt you already reuse from memory → write where it will live and its v1.0 line. 3) Walk the room while they write; get two people to say their entry out loud — public commitment sticks. 4) Close: “you have just started your prompt library.”
ACRONYMS — v1.0 = first-version label.
CONTENT — Final rep — a named prompt with a home and a version number is the behavior change the training exists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Announce: “this is the slide people photograph — go ahead.” 2) Read all ten SLOWLY, in order, left column then right, 1→10. No commentary between them; the compression is the point. 3) If asked where one came from, the map: 1–2 anatomy, 3–5 concepts, 6–7 evidence, 8–9 agentic, 10 management. 4) Bridge: “three exercises to make it stick.”
ACRONYMS — none new on this slide.
CONTENT — Each maps back to a part: 1–2 anatomy, 3–5 concepts, 6–7 evidence, 8–9 agentic, 10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Three cards TOP TO BOTTOM: anatomy rebuild → blind review → first mission brief; each is 15 minutes ON THEIR REAL WORK — say that twice; toy exercises don’t transfer. 2) Read the italic payoff line on the right of each card — it is the motivation. 3) Set the share-back: next team meeting, two volunteers show a before/after. 4) If time allows in-session, run exercise 1 live with a volunteer’s real prompt.
ACRONYMS — G-templates / G3 / A1 = library codes (generative set, the critique template, the mission brief).
CONTENT — Exercises 2 and 3 work as homework with a share-back next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Do not read it. One sentence: “print-friendly glossary — every term on it was used in context today.” 2) Point at two entries only: sycophancy (the one that changes behavior) and gate (the one that makes agents safe). 3) Advance.
ACRONYMS — RAG and MCP are expanded on the slide itself; nothing else to define.
CONTENT — Print-friendly reference. All seventeen were used in context during the training (taxonomy added in v1.2).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This is a reference slide — don’t walk all ten rows. Say what it IS: “every dial you met in Part 3, what it does to your output, and the evidence — the same notes now sit on every slot of your Taxonomy Reference.” 2) If time allows, read TWO rows aloud as proof of depth: Format &amp; length (the 76-point swing) and Stance (the ~49% number). 3) Point them to the handout: “when you wonder whether a slot is worth filling, the why is printed next to it.”
ACRONYMS — ICLR = International Conference on Learning Representations (a top AI research venue).
CONTENT — v1.4 layer (owner request): the per-attribute “why it matters” notes. Full citations with URLs live in notes/research/ (r3_techniques.md, t1_prompt_report.md). Every row compresses the whys stamped on the taxonomy attributes; the agentic half is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Same treatment as the previous slide: name it, read TWO rows (Done + verifiable-by — the verbatim vendor rule — and Gates &amp; autonomy), then point to the handout. 2) The line to land: “none of the twelve blocks is bureaucracy — each one exists because a documented failure taught someone to add it.”
ACRONYMS — SDK = Software Development Kit. NCSC = (UK) National Cyber Security Centre.
CONTENT — v1.4 layer, agentic half. Feng et al. 2025 = “Levels of Autonomy for AI Agents” (operator → observer). Full citations: notes/research/t6_agentic_attrs.md.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One sentence, then move: “nothing in this deck is vibes — every number has a URL and an as-of date in notes/research/ in the repo.” 2) If someone challenges a number later, this is where you point them.
ACRONYMS — OWASP = Open Worldwide Application Security Project. NCSC = (UK) National Cyber Security Centre. HAI = Stanford Institute for Human-Centered AI. LLM = Large Language Model. SWE-bench / LMArena = benchmark and leaderboard names.
CONTENT — The point of this slide is auditability.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Three shelves LEFT TO RIGHT: practical start → the craft → going deep; one line per book, no more. 2) Give the reading order explicitly: Mollick for mindset, Phoenix &amp; Taylor for craft, Huyen when you’re building agents seriously. 3) End on the amber band: “the fastest teacher is the prompt library in the repo — copy a template, run it on real work today, improve it, commit the improvement.”
ACRONYMS — none new on this slide (O’Reilly = the technical publisher).
CONTENT — All six books are real and in print — most are in the team’s shared library already.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Read the three lines as a cadence, with a beat between each: draft with AI — decide with judgment — delegate with a brief. 2) Connect to the previous training: the first two lines are its habit line; the third is what this course added. 3) Last sentence: where everything lives, and bring template improvements to the next session. 4) Thank them — then stop talking; resist the recap urge.
ACRONYMS — none on this slide.
CONTENT — Close by connecting to the previous training’s habit line — now extended with: delegate with a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1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TRAINING · AUGUST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28016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Prompts to Agents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02920" y="23317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focused course on prompt engineering — for generative AI you talk to,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agentic AI you delegate 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PRIMER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&amp; core concepts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eras of AI · tokens · context windows · RAG · reasoning models · hallucination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anatomy · seven techniques · what the evidence says · a template playbook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47304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10" name="Text 8"/>
          <p:cNvSpPr/>
          <p:nvPr/>
        </p:nvSpPr>
        <p:spPr>
          <a:xfrm>
            <a:off x="8403336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LEAP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models worth knowing · mission briefs · guardrails · managing your prompt library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to “Working Smart with AI.” All examples are generic — no internal document names or confidential data appear anywhere.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skill, two modes — and a library you keep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81328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is the one AI skill that transfers everywhere: every assistant, every vendor, every year. Models change monthly; the craft compounds.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skill has two modes now. Generative: you ask, it writes, you act. Agentic: you brief it, it plans, uses tools, checks itself, and delivers.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 needs a different kind of prompt — that distinction is the backbone of this training.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023360"/>
            <a:ext cx="5577840" cy="1371600"/>
          </a:xfrm>
          <a:prstGeom prst="roundRect">
            <a:avLst>
              <a:gd name="adj" fmla="val 5333"/>
            </a:avLst>
          </a:prstGeom>
          <a:solidFill>
            <a:srgbClr val="E4F0EF"/>
          </a:solidFill>
          <a:ln/>
        </p:spPr>
      </p:sp>
      <p:sp>
        <p:nvSpPr>
          <p:cNvPr id="8" name="Shape 6"/>
          <p:cNvSpPr/>
          <p:nvPr/>
        </p:nvSpPr>
        <p:spPr>
          <a:xfrm>
            <a:off x="667512" y="45171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4616988"/>
            <a:ext cx="184343" cy="18434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16152" y="4096512"/>
            <a:ext cx="463600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10-second version: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generative prompt describes what to write.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prompt describes a job to run — goal, inputs, checks, and when to stop and ask you.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0" y="14173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12" name="Text 9"/>
          <p:cNvSpPr/>
          <p:nvPr/>
        </p:nvSpPr>
        <p:spPr>
          <a:xfrm>
            <a:off x="667512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 — two one-hour sessions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675120" y="2029968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primer — how LLMs actually work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Models &amp; tools, August 2026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Prompt engineering — anatomy + techniques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playbook — two live demos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Agentic prompting — the mission brief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Managing prompts as assets · wrap-up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0" y="429768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FBF0E0"/>
          </a:solidFill>
          <a:ln/>
        </p:spPr>
      </p:sp>
      <p:sp>
        <p:nvSpPr>
          <p:cNvPr id="15" name="Shape 12"/>
          <p:cNvSpPr/>
          <p:nvPr/>
        </p:nvSpPr>
        <p:spPr>
          <a:xfrm>
            <a:off x="6565392" y="497433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16" name="Image 1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244" y="5074188"/>
            <a:ext cx="184343" cy="18434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114032" y="4370832"/>
            <a:ext cx="431596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with: 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AI vocabulary · a tool map · the universal prompt anatomy + seven techniques · a 13-template library with an interactive Template Creator · the Prompt Element Taxonomy reference (your parts catalog) · team conventions for storing and versioning prompts.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PRIMER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came from,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how it actually works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Seventy years in two slides, then the six concepts that make you fluent: tokens, context, RAG, reasoning, hallucination — and why prompting exists at all.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 SHORT HISTORY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SEVENTY YEARS IN ONE SLIDE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eras: rules → learning → generative → agentic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22376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003" y="1906707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325880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1950s–1990s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22376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hand-code the logic: “if X then Y.” Expert systems shine, then crack — rules can’t cover messy reality. Twice, hype outruns results: the “AI winters.”</a:t>
            </a:r>
            <a:endParaRPr lang="en-US" sz="1060" dirty="0"/>
          </a:p>
        </p:txBody>
      </p:sp>
      <p:sp>
        <p:nvSpPr>
          <p:cNvPr id="12" name="Shape 9"/>
          <p:cNvSpPr/>
          <p:nvPr/>
        </p:nvSpPr>
        <p:spPr>
          <a:xfrm>
            <a:off x="3218688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9856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14" name="Shape 11"/>
          <p:cNvSpPr/>
          <p:nvPr/>
        </p:nvSpPr>
        <p:spPr>
          <a:xfrm>
            <a:off x="3639312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5" name="Image 1" descr="/home/user/Claude-Works/ai-training-prompt-engineering/src/assets/icons/char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939" y="19067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242816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242816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1990s–2010s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639312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flip: stop writing rules, let the system find patterns in examples. Spam filters, search, recommendations. 2012: deep neural nets + GPUs crush image recognition (AlexNet).</a:t>
            </a:r>
            <a:endParaRPr lang="en-US" sz="1060" dirty="0"/>
          </a:p>
        </p:txBody>
      </p:sp>
      <p:sp>
        <p:nvSpPr>
          <p:cNvPr id="19" name="Shape 15"/>
          <p:cNvSpPr/>
          <p:nvPr/>
        </p:nvSpPr>
        <p:spPr>
          <a:xfrm>
            <a:off x="6135624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6336792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E4F0EF"/>
          </a:solidFill>
          <a:ln/>
        </p:spPr>
      </p:sp>
      <p:sp>
        <p:nvSpPr>
          <p:cNvPr id="21" name="Shape 17"/>
          <p:cNvSpPr/>
          <p:nvPr/>
        </p:nvSpPr>
        <p:spPr>
          <a:xfrm>
            <a:off x="6556248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2" name="Image 2" descr="/home/user/Claude-Works/ai-training-prompt-engineering/src/assets/icons/b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9875" y="19067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159752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</a:t>
            </a:r>
            <a:endParaRPr lang="en-US" sz="1550" dirty="0"/>
          </a:p>
        </p:txBody>
      </p:sp>
      <p:sp>
        <p:nvSpPr>
          <p:cNvPr id="24" name="Text 19"/>
          <p:cNvSpPr/>
          <p:nvPr/>
        </p:nvSpPr>
        <p:spPr>
          <a:xfrm>
            <a:off x="7159752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2017–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556248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 (2017) lets models train on the whole internet in parallel. Predict-the-next-word at that scale writes, summarizes, codes. ChatGPT makes it a product (2022).</a:t>
            </a:r>
            <a:endParaRPr lang="en-US" sz="1060" dirty="0"/>
          </a:p>
        </p:txBody>
      </p:sp>
      <p:sp>
        <p:nvSpPr>
          <p:cNvPr id="26" name="Shape 21"/>
          <p:cNvSpPr/>
          <p:nvPr/>
        </p:nvSpPr>
        <p:spPr>
          <a:xfrm>
            <a:off x="9052560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9253728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E4F0EF"/>
          </a:solidFill>
          <a:ln/>
        </p:spPr>
      </p:sp>
      <p:sp>
        <p:nvSpPr>
          <p:cNvPr id="28" name="Shape 23"/>
          <p:cNvSpPr/>
          <p:nvPr/>
        </p:nvSpPr>
        <p:spPr>
          <a:xfrm>
            <a:off x="9473184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3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811" y="1906707"/>
            <a:ext cx="228234" cy="22823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076688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550" dirty="0"/>
          </a:p>
        </p:txBody>
      </p:sp>
      <p:sp>
        <p:nvSpPr>
          <p:cNvPr id="31" name="Text 25"/>
          <p:cNvSpPr/>
          <p:nvPr/>
        </p:nvSpPr>
        <p:spPr>
          <a:xfrm>
            <a:off x="10076688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2024–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9473184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get “arms”: tools, browsers, files, code. Reasoning models plan multi-step work; agents execute it with limited supervision. Where the frontier is now.</a:t>
            </a:r>
            <a:endParaRPr lang="en-US" sz="1060" dirty="0"/>
          </a:p>
        </p:txBody>
      </p:sp>
      <p:sp>
        <p:nvSpPr>
          <p:cNvPr id="33" name="Shape 27"/>
          <p:cNvSpPr/>
          <p:nvPr/>
        </p:nvSpPr>
        <p:spPr>
          <a:xfrm>
            <a:off x="502920" y="512064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FBF0E0"/>
          </a:solidFill>
          <a:ln/>
        </p:spPr>
      </p:sp>
      <p:sp>
        <p:nvSpPr>
          <p:cNvPr id="34" name="Shape 28"/>
          <p:cNvSpPr/>
          <p:nvPr/>
        </p:nvSpPr>
        <p:spPr>
          <a:xfrm>
            <a:off x="667512" y="540867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5" name="Image 4" descr="/home/user/Claude-Works/ai-training-prompt-engineering/src/assets/icons/tren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508528"/>
            <a:ext cx="184343" cy="184343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216152" y="5193792"/>
            <a:ext cx="1021384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last decade exploded — scaling laws (2020):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model + more data + more compute = predictably better results. Progress stopped being a research gamble and became an investment roadmap.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 SHORT HISTORY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DECADE THAT CHANGED 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 → 2026: from one paper to a billion users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17320" y="148132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“Attention Is All You Need” (Google) — an architecture that scales with hardware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23113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231136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GPT-3: few-shot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it examples in the prompt, it does the task — prompt engineering is born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9809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17320" y="2980944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+ ChatGPT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tuning turns a predictor into an assistant; 100M users in 2 months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73075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73075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models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o1 “thinks” before answering — pay compute at answer time, not just training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44805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7320" y="4480560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turn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R1 open-weights reasoning · computer &amp; browser use · Claude Code · ChatGPT agent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523036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523036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for everyone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 brings the coding-agent engine to general office work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298448" y="1554480"/>
            <a:ext cx="0" cy="4297680"/>
          </a:xfrm>
          <a:prstGeom prst="line">
            <a:avLst/>
          </a:prstGeom>
          <a:noFill/>
          <a:ln w="19050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9520" y="1481328"/>
            <a:ext cx="4069080" cy="4480560"/>
          </a:xfrm>
          <a:prstGeom prst="roundRect">
            <a:avLst>
              <a:gd name="adj" fmla="val 1798"/>
            </a:avLst>
          </a:prstGeom>
          <a:solidFill>
            <a:srgbClr val="F2F5F6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Adoption, in numbers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882128" y="2148840"/>
            <a:ext cx="3566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100M users in 2 months (2023) — fastest consumer ramp ever recorded; 900M+ weekly users by Feb 2026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app: 1B monthly users (Aug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 of organizations now use AI somewhere; generative AI ~70% (Stanford AI Index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agent deployment is still single-digit % across most business functions — the gap is the opportunity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HOW LLMS WORK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prediction engine, sent to finishing school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58952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databa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711" y="191383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Pretraining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Months, trillions of words: learn to predict the next token on internet-scale text. Language, facts, and reasoning patterns compress into billions of learned weights.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133088" y="288036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25112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4581144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lis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903" y="1913839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81144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Instruction tuning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581144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example dialogues teach it to follow instructions and answer questions — instead of just continuing your text.</a:t>
            </a:r>
            <a:endParaRPr lang="en-US" sz="1080" dirty="0"/>
          </a:p>
        </p:txBody>
      </p:sp>
      <p:sp>
        <p:nvSpPr>
          <p:cNvPr id="17" name="Shape 13"/>
          <p:cNvSpPr/>
          <p:nvPr/>
        </p:nvSpPr>
        <p:spPr>
          <a:xfrm>
            <a:off x="7955280" y="288036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8147304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8403336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thumbsu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095" y="1913839"/>
            <a:ext cx="241402" cy="24140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403336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Human feedback (RLHF)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8403336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rank outputs; the model is tuned toward helpful, honest, harmless. This step turned raw predictors into assistants — and made ChatGPT possible.</a:t>
            </a:r>
            <a:endParaRPr lang="en-US" sz="1080" dirty="0"/>
          </a:p>
        </p:txBody>
      </p:sp>
      <p:sp>
        <p:nvSpPr>
          <p:cNvPr id="23" name="Shape 18"/>
          <p:cNvSpPr/>
          <p:nvPr/>
        </p:nvSpPr>
        <p:spPr>
          <a:xfrm>
            <a:off x="50292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E4F0EF"/>
          </a:solidFill>
          <a:ln/>
        </p:spPr>
      </p:sp>
      <p:sp>
        <p:nvSpPr>
          <p:cNvPr id="24" name="Shape 19"/>
          <p:cNvSpPr/>
          <p:nvPr/>
        </p:nvSpPr>
        <p:spPr>
          <a:xfrm>
            <a:off x="667512" y="51114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5" name="Image 3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64" y="5211348"/>
            <a:ext cx="184343" cy="18434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16152" y="4645152"/>
            <a:ext cx="45445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is frozen at the cutoff.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ends months before release; the model recalls patterns, it doesn’t look things up. Anything newer needs web search or your documents in the prompt.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17220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BF0E0"/>
          </a:solidFill>
          <a:ln/>
        </p:spPr>
      </p:sp>
      <p:sp>
        <p:nvSpPr>
          <p:cNvPr id="28" name="Shape 22"/>
          <p:cNvSpPr/>
          <p:nvPr/>
        </p:nvSpPr>
        <p:spPr>
          <a:xfrm>
            <a:off x="6336792" y="511149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9" name="Image 4" descr="/home/user/Claude-Works/ai-training-prompt-engineering/src/assets/icons/compas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6644" y="5211348"/>
            <a:ext cx="184343" cy="184343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885432" y="4645152"/>
            <a:ext cx="45445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prompting exists: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completes your text. The prompt is the only steering wheel you have — everything it knows about your task, audience, and standards must be in it.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1 · TOKENS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reads bricks, not letters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chopped into tokens — word chunks from a fixed vocabulary. Common words are one token; rare ones get built from pieces (“ham·bur·ger”).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 (English): 1 token ≈ 4 characters ≈ ¾ of a word. A 50-page document ≈ 25–35K tokens.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sees letters — “strawberry” arrives as one or two IDs. That’s why letter-counting and character-exact edits fail: it’s working from hearing, not spelling.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priced and limited in tokens — input and output. Output tokens cost ~5× input, because generation is serial.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556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LEGO bricks of text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75120" y="2176272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words are pre-molded bricks; unusual words get assembled from smaller pieces. You pay by the brick, not by the sentence — and the builder has never seen inside a brick.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314553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154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Analyzing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598664" y="3145536"/>
            <a:ext cx="4114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98664" y="31546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65008" y="3145536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65008" y="315468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supplier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897112" y="3145536"/>
            <a:ext cx="27432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97112" y="31546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’s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226296" y="3145536"/>
            <a:ext cx="50292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31546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784080" y="3145536"/>
            <a:ext cx="201168" cy="32918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0" y="3154680"/>
            <a:ext cx="201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040112" y="3145536"/>
            <a:ext cx="50292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40112" y="31546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597896" y="3145536"/>
            <a:ext cx="5486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97896" y="31546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yield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67512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bricks — the model receives eight numbered IDs, not forty letters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0" y="416052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4F0EF"/>
          </a:solidFill>
          <a:ln/>
        </p:spPr>
      </p:sp>
      <p:sp>
        <p:nvSpPr>
          <p:cNvPr id="28" name="Shape 26"/>
          <p:cNvSpPr/>
          <p:nvPr/>
        </p:nvSpPr>
        <p:spPr>
          <a:xfrm>
            <a:off x="6565392" y="48828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0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5244" y="4982748"/>
            <a:ext cx="184343" cy="184343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7114032" y="4233672"/>
            <a:ext cx="431596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what, for daily work: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paste-heavy prompts burn budget and context fast · non-English and dense technical text cost more tokens · use AI for language, software for characters (counts, checksums, exact IDs).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02920" y="4846320"/>
            <a:ext cx="5669280" cy="1143000"/>
          </a:xfrm>
          <a:prstGeom prst="roundRect">
            <a:avLst>
              <a:gd name="adj" fmla="val 6400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67512" y="522579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3" name="Image 1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64" y="5325648"/>
            <a:ext cx="184343" cy="184343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216152" y="4919472"/>
            <a:ext cx="472744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once: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paragraph of your own text into any online tokenizer (search “OpenAI tokenizer”) and watch it break into bricks. Thirty seconds — you’ll never forget it.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2 · CONTEXT WINDOW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desk, not a filing cabinet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working memory for one conversation: your question, the system prompt, chat history, attached files, and search results must all fit on the desk.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chat and the desk is swept clean. Nothing persists unless a memory feature or a saved file re-loads it.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Aug 2026, ~1M tokens (≈1,500 pages) is the flagship standard — Claude, GPT-5.x, Gemini, and the Chinese open-weight flagships alike. Consumer apps often enforce smaller limits than the raw model.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“Fits on the desk” ≠ “gets read carefully”: accuracy is highest at the start and end of a long context and sags in the middle (“lost in the middle”).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0876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on the desk right now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75120" y="214884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0" name="Image 0" descr="/home/user/Claude-Works/ai-training-prompt-engineering/src/assets/icons/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0218" y="2243938"/>
            <a:ext cx="175565" cy="1755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150608" y="21671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&amp; instructions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189720" y="214884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3" name="Image 1" descr="/home/user/Claude-Works/ai-training-prompt-engineering/src/assets/icons/cha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4818" y="224393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665208" y="21671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prior turn — both sides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675120" y="292608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6" name="Image 2" descr="/home/user/Claude-Works/ai-training-prompt-engineering/src/assets/icons/papercli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218" y="3021178"/>
            <a:ext cx="175565" cy="1755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50608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Attached documents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9189720" y="292608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9" name="Image 3" descr="/home/user/Claude-Works/ai-training-prompt-engineering/src/assets/icons/search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818" y="3021178"/>
            <a:ext cx="175565" cy="17556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665208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&amp; search results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0" y="39776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E4F0EF"/>
          </a:solidFill>
          <a:ln/>
        </p:spPr>
      </p:sp>
      <p:sp>
        <p:nvSpPr>
          <p:cNvPr id="22" name="Shape 16"/>
          <p:cNvSpPr/>
          <p:nvPr/>
        </p:nvSpPr>
        <p:spPr>
          <a:xfrm>
            <a:off x="6565392" y="479145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3" name="Image 4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244" y="4891308"/>
            <a:ext cx="184343" cy="18434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14032" y="4050792"/>
            <a:ext cx="431596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 that exploit the desk: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long documents at the TOP, question at the END — Anthropic measured up to ~30% better answers · ② label multiple documents clearly · ③ new topic → new chat: stale history pollutes attention · ④ very long thread → ask for a summary, carry it into a fresh chat.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3 · RAG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open-book exam — audit the librarian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RAG solves: the model’s knowledge is frozen and public; your work runs on private documents it has never seen — and must never be trained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8" name="Shape 6"/>
          <p:cNvSpPr/>
          <p:nvPr/>
        </p:nvSpPr>
        <p:spPr>
          <a:xfrm>
            <a:off x="722376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cha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14884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2376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Ask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22376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question: “What does the supplier agreement say about re-inspection?”</a:t>
            </a:r>
            <a:endParaRPr lang="en-US" sz="1020" dirty="0"/>
          </a:p>
        </p:txBody>
      </p:sp>
      <p:sp>
        <p:nvSpPr>
          <p:cNvPr id="12" name="Shape 9"/>
          <p:cNvSpPr/>
          <p:nvPr/>
        </p:nvSpPr>
        <p:spPr>
          <a:xfrm>
            <a:off x="3127248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9856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14" name="Shape 11"/>
          <p:cNvSpPr/>
          <p:nvPr/>
        </p:nvSpPr>
        <p:spPr>
          <a:xfrm>
            <a:off x="3639312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5" name="Image 1" descr="/home/user/Claude-Works/ai-training-prompt-engineering/src/assets/icons/searc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2148840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39312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Retrieve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639312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finds the most relevant passages — by meaning, not keywords.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6044184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336792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20" name="Shape 16"/>
          <p:cNvSpPr/>
          <p:nvPr/>
        </p:nvSpPr>
        <p:spPr>
          <a:xfrm>
            <a:off x="6556248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1" name="Image 2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148840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56248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Augment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556248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passages are placed on the model’s desk, behind the scenes.</a:t>
            </a:r>
            <a:endParaRPr lang="en-US" sz="1020" dirty="0"/>
          </a:p>
        </p:txBody>
      </p:sp>
      <p:sp>
        <p:nvSpPr>
          <p:cNvPr id="24" name="Shape 19"/>
          <p:cNvSpPr/>
          <p:nvPr/>
        </p:nvSpPr>
        <p:spPr>
          <a:xfrm>
            <a:off x="8961120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9253728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26" name="Shape 21"/>
          <p:cNvSpPr/>
          <p:nvPr/>
        </p:nvSpPr>
        <p:spPr>
          <a:xfrm>
            <a:off x="9473184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7" name="Image 3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2056" y="2148840"/>
            <a:ext cx="219456" cy="21945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473184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Generate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9473184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answers from the supplied text — and cites where it looked.</a:t>
            </a:r>
            <a:endParaRPr lang="en-US" sz="1020" dirty="0"/>
          </a:p>
        </p:txBody>
      </p:sp>
      <p:sp>
        <p:nvSpPr>
          <p:cNvPr id="30" name="Shape 24"/>
          <p:cNvSpPr/>
          <p:nvPr/>
        </p:nvSpPr>
        <p:spPr>
          <a:xfrm>
            <a:off x="502920" y="4343400"/>
            <a:ext cx="5486400" cy="1783080"/>
          </a:xfrm>
          <a:prstGeom prst="roundRect">
            <a:avLst>
              <a:gd name="adj" fmla="val 4103"/>
            </a:avLst>
          </a:prstGeom>
          <a:solidFill>
            <a:srgbClr val="E7F2EC"/>
          </a:solidFill>
          <a:ln/>
        </p:spPr>
      </p:sp>
      <p:sp>
        <p:nvSpPr>
          <p:cNvPr id="31" name="Text 25"/>
          <p:cNvSpPr/>
          <p:nvPr/>
        </p:nvSpPr>
        <p:spPr>
          <a:xfrm>
            <a:off x="777240" y="4526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enterprises build on it: 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(re-index a doc in minutes, no retraining) · checkable (citations to the exact passage) · private (retrieval feeds one answer; it teaches the model nothing) · access-aware (you only retrieve what you’re allowed to see).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172200" y="4343400"/>
            <a:ext cx="5486400" cy="1783080"/>
          </a:xfrm>
          <a:prstGeom prst="roundRect">
            <a:avLst>
              <a:gd name="adj" fmla="val 4103"/>
            </a:avLst>
          </a:prstGeom>
          <a:solidFill>
            <a:srgbClr val="F9E9E8"/>
          </a:solidFill>
          <a:ln/>
        </p:spPr>
      </p:sp>
      <p:sp>
        <p:nvSpPr>
          <p:cNvPr id="33" name="Text 27"/>
          <p:cNvSpPr/>
          <p:nvPr/>
        </p:nvSpPr>
        <p:spPr>
          <a:xfrm>
            <a:off x="6446520" y="4526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mode to respect: 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retrieval fetches the wrong page — an outdated revision, a near-miss document — the model still writes a fluent, confident, cited answer from it. Bad retrieval = confident wrong answer. So: check the citation, not just the prose.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4 · THE ESCALATION LADDER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first, retrieve second, fine-tune last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E4F0EF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567" y="206928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64208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to a skilled temp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nothing, changes instantly, works on every model. Handles style, format, task framing, examples. Where 90% of value lives — this course.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3035808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749808" y="3419856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boo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" y="3550615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3145536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/ retrieval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temp your binder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knowledge: current, private, citable. The answer changes when the binder changes. For facts the model can’t know.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02920" y="4517136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749808" y="4901184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cpu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567" y="5031943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4626864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them to a training course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model’s weights: permanent habits — a house style, a niche format, a distilled small model. Slow, per-model, high maintenance. Rarely the answer for knowledge.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5 · REASONING MODELS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the model time to think — when it’s worth it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OpenAI’s o1 (2024): models can draft, check, and revise internally before answering — spending extra compute at answer time on hard problems.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2026 it’s adaptive, not a separate product: flagships decide how long to think, and you can set effort (fast → extended thinking).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bill: thinking tokens are charged as output tokens — the expensive kind — and add seconds to minutes. A hard question can quietly cost 5–20× a simple one.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1 vs System 2: fast intuition for routine asks; slow deliberation for the problems where being wrong is expensive.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E7F2EC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37360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thinking ON for: 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analysis · math and anything numeric · root-cause reasoning · code · weighing tradeoffs across a long document · drafting the plan an agent will execute.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388620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BF0E0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4069080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it for: 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 · reformatting · summaries · routine drafting. You pay in time and tokens for deliberation you don’t need — and (Part 3 preview) “think step by step” prompts are now often redundant: the model already does.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6 · HALLUCINATION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Fluency is not evidence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mechanism: models are optimized for the most plausible next token, not the most true one. Fluency and truth usually coincide — except where training data is thin: rare facts, exact citations, numbers, names.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OpenAI’s own 2025 research: hallucination is a statistically expected result of standard training — benchmarks reward confident guessing over “I don’t know,” so models learn to be good test-takers.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assertive tone carries no information about reliability. An improv actor never breaks character — the show must go on, so gaps get filled with the most plausible line.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F2F5F6"/>
          </a:solidFill>
          <a:ln/>
        </p:spPr>
      </p:sp>
      <p:sp>
        <p:nvSpPr>
          <p:cNvPr id="8" name="Shape 6"/>
          <p:cNvSpPr/>
          <p:nvPr/>
        </p:nvSpPr>
        <p:spPr>
          <a:xfrm>
            <a:off x="6629400" y="193852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boo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205740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23760" y="166420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the source: attach the document, use RAG/search — answering from supplied text beats free recall.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0" y="306324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F2F5F6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344728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356616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23760" y="317296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citations and an “I don’t know” escape hatch: “If the text doesn’t say, say so.”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0" y="457200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E4F0EF"/>
          </a:solidFill>
          <a:ln/>
        </p:spPr>
      </p:sp>
      <p:sp>
        <p:nvSpPr>
          <p:cNvPr id="16" name="Shape 12"/>
          <p:cNvSpPr/>
          <p:nvPr/>
        </p:nvSpPr>
        <p:spPr>
          <a:xfrm>
            <a:off x="6629400" y="49560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2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507492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23760" y="468172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what matters before it ships: quotes, numbers, clauses, anything regulatory. Your domain knowledge is the safety net.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20" name="Shape 15"/>
          <p:cNvSpPr/>
          <p:nvPr/>
        </p:nvSpPr>
        <p:spPr>
          <a:xfrm>
            <a:off x="667512" y="5385816"/>
            <a:ext cx="384048" cy="384048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21" name="Image 3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64" y="5485668"/>
            <a:ext cx="184343" cy="18434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16152" y="5193792"/>
            <a:ext cx="47274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rule: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uncited standard clause, date, number, or quote is a draft until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the missing elements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8288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on the screen: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224028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“Analyze the returns data and make it look good for leadership.”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30632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minute, on your own: what would you need to add before trusting the answer?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minutes, together: name the missing pieces out loud.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BF0E0"/>
          </a:solidFill>
          <a:ln/>
        </p:spPr>
      </p:sp>
      <p:sp>
        <p:nvSpPr>
          <p:cNvPr id="14" name="Text 11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debrief (presenter only)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Missing: the actual question (which metric, which period, vs what?) · the audience and their time · a length/format contract · permission to say what the data can’t answer · “compute, don’t estimate.”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 — the same diagnosis returns in Part 3.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MODELS &amp; TOOLS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landscape,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August 2026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makes what, what each is genuinely good at, what the Chinese open-weight wave changed — and which agentic tools are worth knowing by name. Everything on these slides is dated: this field re-ranks monthly.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ASSISTANTS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names cover the chat landscape — August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2376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· Fable 5 / Opus 5 / Sonnet 5 / Haiku 4.5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722376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agentic work &amp; coding (top of SWE-bench), long documents (1M ctx), careful writing.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722376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premium pricing at the top tier; flagship can refuse high-risk domains by design.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25112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44568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· GPT-5.6 family (Sol / Terra / Luna)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4544568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the all-rounder with the largest user base — reasoning, images, voice, Work agent mode.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4544568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fast model churn and renaming; check tenant/data settings before regulated content.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147304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Gemini 3 / 3.1 Pro / 3.6 Flash + Deep Think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8366760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deepest multimodal stack (Veo video, Nano Banana images), Workspace integration, giant context.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8366760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confusing model-name sprawl; best reasoning sits behind the Ultra tier.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02920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722376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2376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· GPT-5.6 preferred + Claude selectable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722376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lives inside Word, Excel, Outlook, Teams with tenant-level governance — the sanctioned default at most enterprises.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2376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admin flags mean colleagues get different capabilities; opaque model labels.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325112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27" name="Text 25"/>
          <p:cNvSpPr/>
          <p:nvPr/>
        </p:nvSpPr>
        <p:spPr>
          <a:xfrm>
            <a:off x="4544568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Perplexity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44568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· own stack + Model Council (GPT+Claude+Gemini)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45445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cited web research — Pro Search reads 300+ sources; Comet agentic browser.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4544568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 citation isn’t proof — click through before quoting anywhere formal.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8147304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32" name="Text 30"/>
          <p:cNvSpPr/>
          <p:nvPr/>
        </p:nvSpPr>
        <p:spPr>
          <a:xfrm>
            <a:off x="8366760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Grok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66760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SpaceXAI · Grok 4.6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8366760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aggressive price-performance and speed; real-time X data; coding-agent focus.</a:t>
            </a:r>
            <a:endParaRPr lang="en-US" sz="960" dirty="0"/>
          </a:p>
        </p:txBody>
      </p:sp>
      <p:sp>
        <p:nvSpPr>
          <p:cNvPr id="35" name="Text 33"/>
          <p:cNvSpPr/>
          <p:nvPr/>
        </p:nvSpPr>
        <p:spPr>
          <a:xfrm>
            <a:off x="8366760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lighter enterprise governance history — apply extra review at work.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502920" y="610819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names verified Aug 21, 2026 — they will have moved by the time you read this. The fortes move slower; the habits in Parts 3–5 don’t move at all.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CHINESE WAVE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DEEPSEEK MOMENT — AND AFTER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Chinese labs brought to the table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493776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64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January 2025, in three facts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5528" y="2057400"/>
            <a:ext cx="4434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DeepSeek-R1: open-weights reasoning rivaling OpenAI’s o1, MIT-licensed, ~96% cheaper per token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lost $589B in one day (Jan 27) — the largest single-day loss in market history at the time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“$5.6M training cost”? Final-run fuel bill, not the cost of the racing team — real efficiency, oversold headline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0782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gap, measured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" y="4462272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US–China top-model gap: ~3% (Stanford AI Index 2026) — down from 18–32 points in 2023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…achieved on ~23× less visible private AI investment ($286B US vs $12B China, 2025)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5806440" y="1481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brought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06440" y="1984248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0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5802" y="2093610"/>
            <a:ext cx="201900" cy="2019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428232" y="1892808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weights, permissive licenses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/ Apache models you can download, self-host, fine-tune — data never leaves your infrastructure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806440" y="2825496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1" descr="/home/user/Claude-Works/ai-training-prompt-engineering/src/assets/icons/cpu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802" y="2934858"/>
            <a:ext cx="201900" cy="2019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428232" y="2734056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as a discipline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Mixture-of-Experts (671B total, ~37B working per token) + distillation: frontier ability at a fraction of the cost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806440" y="366674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dolla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802" y="3776106"/>
            <a:ext cx="201900" cy="2019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28232" y="3575304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pressure on everyone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US labs to respond — OpenAI shipped its first open-weight models since GPT-2 (gpt-oss, Aug 2025)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806440" y="4507992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3" name="Image 3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5802" y="4617354"/>
            <a:ext cx="201900" cy="2019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428232" y="4416552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agentic models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 K2 line: trillion-parameter open models chaining hundreds of tool calls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806440" y="5349240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4" descr="/home/user/Claude-Works/ai-training-prompt-engineering/src/assets/icons/glob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802" y="5458602"/>
            <a:ext cx="201900" cy="2019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428232" y="5257800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adoption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Alibaba’s Qwen: the most-downloaded open family on Hugging Face, ~150K derivative models; US firms (famously Airbnb) self-host it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CHINESE WAVE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WHO’S WHO — AND THE RULE THAT KEEPS YOU SAFE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sends data to China. The weights are just a file.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5361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DeepSeek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43200" y="1527048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pioneer; R1 reasoning; V4 line current (open weights)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24942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 (Alibaba)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0" y="2240280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 ecosystem leader; Apache 2.0; every size from laptop to trillion-class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502920" y="2907792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96265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Kimi (Moonshot)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43200" y="2953512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specialist; 1T-param open models built for tool use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502920" y="3621024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6758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GLM (Z.ai / Zhipu)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743200" y="3666744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MIT-licensed agent/coding models; on the US Entity List — procurement red flag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4389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MiniMax · Baidu · Tencent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743200" y="4379976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long-context leader · Ernie went open 2025 · broad open portfolio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172200" y="1481328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6419088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F3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apps: not for work. Ever.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64808" y="201168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goes to servers in China, under Chinese law — Italy blocked the DeepSeek app; banned on government devices in the US, Australia, South Korea, Taiwan…</a:t>
            </a:r>
            <a:endParaRPr lang="en-US" sz="10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25 enterprise AI prompts went to a China-based app in 2025 — mostly without IT knowing (Harmonic, 22M prompts)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2200" y="384048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E7F2EC"/>
          </a:solidFill>
          <a:ln/>
        </p:spPr>
      </p:sp>
      <p:sp>
        <p:nvSpPr>
          <p:cNvPr id="25" name="Text 23"/>
          <p:cNvSpPr/>
          <p:nvPr/>
        </p:nvSpPr>
        <p:spPr>
          <a:xfrm>
            <a:off x="6419088" y="4005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8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Self-hosted open weights: a different question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64808" y="4370832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vs cookbook: the app sees your order; the downloaded weights cook at home — nothing is sent anywhere</a:t>
            </a:r>
            <a:endParaRPr lang="en-US" sz="10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IT/governance territory: licenses, Entity-List vendors, and alignment quirks travel with the weights (a local R1 still won’t discuss Tiananmen) — evaluate like any software of unknown provenance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5212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E4F0EF"/>
          </a:solidFill>
          <a:ln/>
        </p:spPr>
      </p:sp>
      <p:sp>
        <p:nvSpPr>
          <p:cNvPr id="28" name="Shape 26"/>
          <p:cNvSpPr/>
          <p:nvPr/>
        </p:nvSpPr>
        <p:spPr>
          <a:xfrm>
            <a:off x="667512" y="54315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0" descr="/home/user/Claude-Works/ai-training-prompt-engineering/src/assets/icons/ke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31388"/>
            <a:ext cx="184343" cy="184343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216152" y="5285232"/>
            <a:ext cx="4453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decides: 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company data leave your network? Hosted app → yes: never. Self-hosted weights → no: an IT governance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AGENTIC TOOLS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GALLERY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Names you’ll hear — and what each is actually for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terminal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87452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517904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coding AND general file/data automation — terminal, desktop, web. Points at a real folder: reads PDFs, builds spreadsheets, writes reports. Skills make workflows repeatable.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36792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7452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03720" y="1517904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 packaged for non-technical knowledge work: “describe the outcome, step away, come back to finished files.”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63347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67512" y="292608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04495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2688336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Work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 beside Chat and Codex: connects Slack/Gmail/Drive, runs scheduled tasks, produces decks, sheets, small apps.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172200" y="263347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36792" y="292608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gri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04495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03720" y="2688336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agents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Researcher, Analyst, Excel Agent Mode, Copilot Studio — governed agents inside your tenant. The path of least resistance at most enterprises.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02920" y="380390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09651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cod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15384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34440" y="38587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IDEs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· Devin · GitHub Copilot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Developer-grade agents: multi-file refactors, assign-an-issue-get-a-PR. Engineering tools, not business-user tools.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172200" y="380390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7" name="Shape 20"/>
          <p:cNvSpPr/>
          <p:nvPr/>
        </p:nvSpPr>
        <p:spPr>
          <a:xfrm>
            <a:off x="6336792" y="409651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8" name="Image 5" descr="/home/user/Claude-Works/ai-training-prompt-engineering/src/assets/icons/glob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215384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03720" y="38587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agents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Comet · Claude in Chrome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rides in your browser, sees pages, acts on them. Powerful; injection-prone — treat every page as untrusted input.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02920" y="497433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31" name="Shape 23"/>
          <p:cNvSpPr/>
          <p:nvPr/>
        </p:nvSpPr>
        <p:spPr>
          <a:xfrm>
            <a:off x="667512" y="526694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6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5385816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234440" y="50292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platforms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· Zapier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apps together with agent steps in the flow: n8n for technical/self-hosted, Zapier for business users, 8,000+ connectors.</a:t>
            </a:r>
            <a:endParaRPr lang="en-US" sz="1200" dirty="0"/>
          </a:p>
        </p:txBody>
      </p:sp>
      <p:sp>
        <p:nvSpPr>
          <p:cNvPr id="34" name="Shape 25"/>
          <p:cNvSpPr/>
          <p:nvPr/>
        </p:nvSpPr>
        <p:spPr>
          <a:xfrm>
            <a:off x="6172200" y="497433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BF0E0"/>
          </a:solidFill>
          <a:ln/>
        </p:spPr>
      </p:sp>
      <p:sp>
        <p:nvSpPr>
          <p:cNvPr id="35" name="Shape 26"/>
          <p:cNvSpPr/>
          <p:nvPr/>
        </p:nvSpPr>
        <p:spPr>
          <a:xfrm>
            <a:off x="6336792" y="5266944"/>
            <a:ext cx="457200" cy="457200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6" name="Image 7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664" y="5385816"/>
            <a:ext cx="219456" cy="21945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903720" y="50292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 personal agent run from WhatsApp/Telegram; ~250K GitHub stars — and 2026’s security cautionary tale. Not for corporate use; its lessons come in Part 5.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RIGHT TOOL FOR THE TASK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MATRIX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tool for the task — August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499616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documents &amp; doc comparison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0" y="1499616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or Gemini (1M-class context) · confidential material → your approved internal tool only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502920" y="2039112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075688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0" y="2075688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Excel Agent Mode (in-tenant) · Claude / ChatGPT with code execution · agentic: Claude Code / Cowork for file crunching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02920" y="2615184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65176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 &amp; documents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0" y="2651760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PowerPoint (your templates) · Claude Cowork / ChatGPT Work build full files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502920" y="3191256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227832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web research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0" y="3227832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first · deep-research modes in ChatGPT / Gemini / Claude · verify citations regardless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803904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&amp; editing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0" y="3803904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capable; Claude for careful long-form · Copilot for in-place edits in Outlook/Word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502920" y="434340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4379976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&amp; repo work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0" y="4379976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· Cursor · GitHub Copilot · (SWE-bench leaders: Claude Opus 5 / Fable 5, ~95–96%)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02920" y="4919472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4956048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· video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114800" y="4956048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Images 2.0 (photoreal) · Nano Banana 2 (stylized/text) · Veo 3.1 (video)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02920" y="5495544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553212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&amp; bulk / self-hosting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14800" y="5532120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Flash, Claude Haiku (cheap+fast) · open weights (Qwen, DeepSeek, Kimi) via approved infra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502920" y="605332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BF0E0"/>
          </a:solidFill>
          <a:ln/>
        </p:spPr>
      </p:sp>
      <p:sp>
        <p:nvSpPr>
          <p:cNvPr id="31" name="Shape 29"/>
          <p:cNvSpPr/>
          <p:nvPr/>
        </p:nvSpPr>
        <p:spPr>
          <a:xfrm>
            <a:off x="667512" y="6080760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2" name="Image 0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80612"/>
            <a:ext cx="184343" cy="184343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216152" y="6126480"/>
            <a:ext cx="10213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rule: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organization’s AI policy and approved-tool list outrank every cell of this table.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YOUR PRIVATE TEST SET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TOOLS WHEN RANKINGS CHURN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your real tasks beat every leaderboard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739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you can ignore the rankings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2402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models cluster within ~1 point and re-rank monthly; benchmarks saturate and leak.</a:t>
            </a:r>
            <a:endParaRPr lang="en-US" sz="118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numbers are marketing until independently reproduced — read them as claims.</a:t>
            </a:r>
            <a:endParaRPr lang="en-US" sz="118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18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none of them measure the only thing that matters: fit for YOUR documents, YOUR data, YOUR formats.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E4F0EF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739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60-second habit that replaces them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46520" y="22402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949440" y="22585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three of your real tasks — one analysis, one document, one deck or tracker.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6446520" y="299008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949440" y="3008376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new model or tool ships, run the three and judge for yourself.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6446520" y="37398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949440" y="3758184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list where you will find it — it outlives every leaderboard.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502920" y="4892040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FBF0E0"/>
          </a:solidFill>
          <a:ln/>
        </p:spPr>
      </p:sp>
      <p:sp>
        <p:nvSpPr>
          <p:cNvPr id="18" name="Shape 16"/>
          <p:cNvSpPr/>
          <p:nvPr/>
        </p:nvSpPr>
        <p:spPr>
          <a:xfrm>
            <a:off x="667512" y="520293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19" name="Image 0" descr="/home/user/Claude-Works/ai-training-prompt-engineering/src/assets/icons/targe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302788"/>
            <a:ext cx="184343" cy="18434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216152" y="4965192"/>
            <a:ext cx="10213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now — 60 seconds: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three tasks before the next slide. That list is your private benchmark from here on — and the skills in Parts 3–5 transfer across every tool it ever ranks.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PROMPT ENGINEERING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craft: getting what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actually meant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vendor publishes prompting guidance. It converges on one anatomy and a handful of techniques — this part teaches them, with the evidence for what works and what’s myth.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ANATOMY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ANATOMY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prompt, five parts — this is what good looks like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682496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6916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21408" y="1554480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“You are a precise editor. You add no facts that are not in the source.”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377440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2578608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5877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21408" y="2450592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“Summarize the attached Q2 returns report for the operations lead.”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273552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2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474720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483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121408" y="3346704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“Return rate = returns ÷ units shipped. The export has a totals row — exclude it.”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169664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370832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37997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121408" y="4242816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“≤ 150 words: the headline number first, then three bullets; caveats last.”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065776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2F5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13232" y="5266944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527608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121408" y="5138928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&lt;example&gt; March’s summary — the one the team liked &lt;/example&gt; + one edge case.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909560" y="1481328"/>
            <a:ext cx="3749040" cy="4443984"/>
          </a:xfrm>
          <a:prstGeom prst="roundRect">
            <a:avLst>
              <a:gd name="adj" fmla="val 1951"/>
            </a:avLst>
          </a:prstGeom>
          <a:solidFill>
            <a:srgbClr val="F2F5F6"/>
          </a:solidFill>
          <a:ln/>
        </p:spPr>
      </p:sp>
      <p:sp>
        <p:nvSpPr>
          <p:cNvPr id="27" name="Text 25"/>
          <p:cNvSpPr/>
          <p:nvPr/>
        </p:nvSpPr>
        <p:spPr>
          <a:xfrm>
            <a:off x="8138160" y="16824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recipe, every vendor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138160" y="2148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138160" y="24048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· clear, direct task · context · format · examples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8138160" y="2898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13816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&amp; instructions · context · format · few-shot if needed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8138160" y="36484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8160" y="390448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· Task · Context · Format</a:t>
            </a:r>
            <a:endParaRPr lang="en-US" sz="930" dirty="0"/>
          </a:p>
        </p:txBody>
      </p:sp>
      <p:sp>
        <p:nvSpPr>
          <p:cNvPr id="34" name="Text 32"/>
          <p:cNvSpPr/>
          <p:nvPr/>
        </p:nvSpPr>
        <p:spPr>
          <a:xfrm>
            <a:off x="8138160" y="43982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138160" y="465429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· Context · Source · Expectations</a:t>
            </a:r>
            <a:endParaRPr lang="en-US" sz="930" dirty="0"/>
          </a:p>
        </p:txBody>
      </p:sp>
      <p:sp>
        <p:nvSpPr>
          <p:cNvPr id="36" name="Text 34"/>
          <p:cNvSpPr/>
          <p:nvPr/>
        </p:nvSpPr>
        <p:spPr>
          <a:xfrm>
            <a:off x="8138160" y="523036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official prompting guides, one anatomy — the names differ; the recipe doesn’t.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6053328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E4F0EF"/>
          </a:solidFill>
          <a:ln/>
        </p:spPr>
      </p:sp>
      <p:sp>
        <p:nvSpPr>
          <p:cNvPr id="38" name="Shape 36"/>
          <p:cNvSpPr/>
          <p:nvPr/>
        </p:nvSpPr>
        <p:spPr>
          <a:xfrm>
            <a:off x="667512" y="6089904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9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89756"/>
            <a:ext cx="184343" cy="184343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1216152" y="6126480"/>
            <a:ext cx="10213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Google’s data point: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fruitful prompts averaged ~21 words with context — most people type fewer than nine. A good prompt is a short briefing, not a search query.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ELEMENTS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ELEMENTS, DEFINED · 1 OF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 · Task · Context — the parts that carry the meaning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59105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1984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answering — behaviors, not titles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2606040" y="1591056"/>
            <a:ext cx="39776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commitments are auditable in the output; a title is a vibe the model can fake.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altitude or posture; confident authority with nothing behind it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812280" y="1591056"/>
            <a:ext cx="4617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senior analyst.”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never invent numbers; you state n; you say what the data can’t answer.”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638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9808" y="3557016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+ object + audience + success criterion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606040" y="3163824"/>
            <a:ext cx="39776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 question carries its own completion test — the model knows when it is done.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fluent answer to a vaguer question than the one you had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812280" y="3163824"/>
            <a:ext cx="4617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“Analyze the returns data.”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is the return rate by site for Q2, vs the 2% target?”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4626864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7365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9808" y="5129784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cannot know on its own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2606040" y="4736592"/>
            <a:ext cx="39776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fills every gap with the most plausible guess — context replaces guessing with your facts.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generically right, specifically wrong for us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6812280" y="4736592"/>
            <a:ext cx="4617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“Use our standard definitions.”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“Return rate = returns ÷ shipped. Quirk: the export has a totals row — exclude it and say so.”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each pair aloud — the weak→strong contrast is the lesson. Format and Examples are next.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ELEMENTS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ELEMENTS, DEFINED · 2 OF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 · Examples — the contract, and the standard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1554480"/>
          </a:xfrm>
          <a:prstGeom prst="roundRect">
            <a:avLst>
              <a:gd name="adj" fmla="val 470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59105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198424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contract — shape, cap, tone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2606040" y="1591056"/>
            <a:ext cx="39776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numeric cap is enforceable; “short and professional” is a mood the model interprets freely.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content in an unusable shape or length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812280" y="1591056"/>
            <a:ext cx="46177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it short and professional.”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“≤ 120 words: the ask in sentence one, two facts with numbers, the deadline.”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3182112"/>
            <a:ext cx="11155680" cy="1554480"/>
          </a:xfrm>
          <a:prstGeom prst="roundRect">
            <a:avLst>
              <a:gd name="adj" fmla="val 4706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2918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9808" y="36850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diverse demonstrations, edge case included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606040" y="3291840"/>
            <a:ext cx="39776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imitates what it sees — including exactly how your examples handle the hard cases.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that misses the standard in your head — the one you never wrote down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812280" y="3291840"/>
            <a:ext cx="46177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clones of the happy case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typical + one edge + one reject case, fenced in tags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502920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E4F0EF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52943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8" name="Image 0" descr="/home/user/Claude-Works/ai-training-prompt-engineering/src/assets/icons/compas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394228"/>
            <a:ext cx="184343" cy="184343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216152" y="5102352"/>
            <a:ext cx="10213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behind all five: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element moves something out of your head onto the page. When output disappoints, one of the five was left in your head — the diagnosis grid on the next slide names which.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field guide — mechanism, evidence, and pitfalls per element — is in your handout (ELEMENTS guide).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ELEMENTS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SAFETY VALVES — AND THE DIAGNOSIS GRID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sentence each; they shut off the two signature failures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562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OUT — permission to not know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240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the document doesn’t say — say so.” Models are trained on tests that reward guessing over abstaining; the Out re-opens the abstain option and drastically cuts invented answers.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388620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han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423367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4160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STOP — the scope boundary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822960" y="46177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“Answer these three questions, then stop — do not go exploring.” Converts open-ended capability into bounded work. In Part 5 it grows up to become gates and autonomy rules.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17220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17" name="Text 13"/>
          <p:cNvSpPr/>
          <p:nvPr/>
        </p:nvSpPr>
        <p:spPr>
          <a:xfrm>
            <a:off x="6419088" y="17007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diagnosis grid — which element failed?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446520" y="2194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altitude, tone, or posture</a:t>
            </a:r>
            <a:endParaRPr lang="en-US" sz="1030" dirty="0"/>
          </a:p>
        </p:txBody>
      </p:sp>
      <p:sp>
        <p:nvSpPr>
          <p:cNvPr id="19" name="Text 15"/>
          <p:cNvSpPr/>
          <p:nvPr/>
        </p:nvSpPr>
        <p:spPr>
          <a:xfrm>
            <a:off x="9921240" y="21945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30" dirty="0"/>
          </a:p>
        </p:txBody>
      </p:sp>
      <p:sp>
        <p:nvSpPr>
          <p:cNvPr id="20" name="Shape 16"/>
          <p:cNvSpPr/>
          <p:nvPr/>
        </p:nvSpPr>
        <p:spPr>
          <a:xfrm>
            <a:off x="6446520" y="2679192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46520" y="272491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 different (or vaguer) question</a:t>
            </a:r>
            <a:endParaRPr lang="en-US" sz="1030" dirty="0"/>
          </a:p>
        </p:txBody>
      </p:sp>
      <p:sp>
        <p:nvSpPr>
          <p:cNvPr id="22" name="Text 18"/>
          <p:cNvSpPr/>
          <p:nvPr/>
        </p:nvSpPr>
        <p:spPr>
          <a:xfrm>
            <a:off x="9921240" y="272491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30" dirty="0"/>
          </a:p>
        </p:txBody>
      </p:sp>
      <p:sp>
        <p:nvSpPr>
          <p:cNvPr id="23" name="Shape 19"/>
          <p:cNvSpPr/>
          <p:nvPr/>
        </p:nvSpPr>
        <p:spPr>
          <a:xfrm>
            <a:off x="6446520" y="3209544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446520" y="325526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generically right, specifically wrong for us</a:t>
            </a:r>
            <a:endParaRPr lang="en-US" sz="1030" dirty="0"/>
          </a:p>
        </p:txBody>
      </p:sp>
      <p:sp>
        <p:nvSpPr>
          <p:cNvPr id="25" name="Text 21"/>
          <p:cNvSpPr/>
          <p:nvPr/>
        </p:nvSpPr>
        <p:spPr>
          <a:xfrm>
            <a:off x="9921240" y="32552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30" dirty="0"/>
          </a:p>
        </p:txBody>
      </p:sp>
      <p:sp>
        <p:nvSpPr>
          <p:cNvPr id="26" name="Shape 22"/>
          <p:cNvSpPr/>
          <p:nvPr/>
        </p:nvSpPr>
        <p:spPr>
          <a:xfrm>
            <a:off x="6446520" y="3739896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46520" y="37856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content, unusable shape or length</a:t>
            </a:r>
            <a:endParaRPr lang="en-US" sz="1030" dirty="0"/>
          </a:p>
        </p:txBody>
      </p:sp>
      <p:sp>
        <p:nvSpPr>
          <p:cNvPr id="28" name="Text 24"/>
          <p:cNvSpPr/>
          <p:nvPr/>
        </p:nvSpPr>
        <p:spPr>
          <a:xfrm>
            <a:off x="9921240" y="378561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30" dirty="0"/>
          </a:p>
        </p:txBody>
      </p:sp>
      <p:sp>
        <p:nvSpPr>
          <p:cNvPr id="29" name="Shape 25"/>
          <p:cNvSpPr/>
          <p:nvPr/>
        </p:nvSpPr>
        <p:spPr>
          <a:xfrm>
            <a:off x="6446520" y="4270248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446520" y="4315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doesn’t match the standard in your head</a:t>
            </a:r>
            <a:endParaRPr lang="en-US" sz="1030" dirty="0"/>
          </a:p>
        </p:txBody>
      </p:sp>
      <p:sp>
        <p:nvSpPr>
          <p:cNvPr id="31" name="Text 27"/>
          <p:cNvSpPr/>
          <p:nvPr/>
        </p:nvSpPr>
        <p:spPr>
          <a:xfrm>
            <a:off x="9921240" y="4315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30" dirty="0"/>
          </a:p>
        </p:txBody>
      </p:sp>
      <p:sp>
        <p:nvSpPr>
          <p:cNvPr id="32" name="Shape 28"/>
          <p:cNvSpPr/>
          <p:nvPr/>
        </p:nvSpPr>
        <p:spPr>
          <a:xfrm>
            <a:off x="6446520" y="4800600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446520" y="4846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invented</a:t>
            </a:r>
            <a:endParaRPr lang="en-US" sz="1030" dirty="0"/>
          </a:p>
        </p:txBody>
      </p:sp>
      <p:sp>
        <p:nvSpPr>
          <p:cNvPr id="34" name="Text 30"/>
          <p:cNvSpPr/>
          <p:nvPr/>
        </p:nvSpPr>
        <p:spPr>
          <a:xfrm>
            <a:off x="9921240" y="48463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 (missing)</a:t>
            </a:r>
            <a:endParaRPr lang="en-US" sz="1030" dirty="0"/>
          </a:p>
        </p:txBody>
      </p:sp>
      <p:sp>
        <p:nvSpPr>
          <p:cNvPr id="35" name="Shape 31"/>
          <p:cNvSpPr/>
          <p:nvPr/>
        </p:nvSpPr>
        <p:spPr>
          <a:xfrm>
            <a:off x="6446520" y="5330952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446520" y="53766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sprawls past what you asked</a:t>
            </a:r>
            <a:endParaRPr lang="en-US" sz="1030" dirty="0"/>
          </a:p>
        </p:txBody>
      </p:sp>
      <p:sp>
        <p:nvSpPr>
          <p:cNvPr id="37" name="Text 33"/>
          <p:cNvSpPr/>
          <p:nvPr/>
        </p:nvSpPr>
        <p:spPr>
          <a:xfrm>
            <a:off x="9921240" y="537667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Stop (missing)</a:t>
            </a:r>
            <a:endParaRPr lang="en-US" sz="10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YOUR FIELD 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FIELD MAP · A HANDOUT YOU KEEP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Prompt Element Taxonomy — every choice, cataloged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36192"/>
            <a:ext cx="5623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parts catalog for prompts: every element you just met, broken into its attributes — the slots you fill — and vetted options — proven ways to fill them.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wings: the seven generative elements (Role → Examples, plus the Out and the Stop) and the twelve agentic blocks of Part 5’s mission brief.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truth, three doors: this printed reference, the interactive Template Creator (HTML), and a spreadsheet Configurator.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at the moment of doubt: the diagnosis grid names the failed element — the taxonomy shows the menu of stronger fills.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0" y="1481328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6642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one entry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2066544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20756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· Role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052560" y="21031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answering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03720" y="2450592"/>
            <a:ext cx="0" cy="256032"/>
          </a:xfrm>
          <a:prstGeom prst="line">
            <a:avLst/>
          </a:prstGeom>
          <a:noFill/>
          <a:ln w="15875">
            <a:solidFill>
              <a:srgbClr val="0E7C7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03720" y="2706624"/>
            <a:ext cx="137160" cy="0"/>
          </a:xfrm>
          <a:prstGeom prst="line">
            <a:avLst/>
          </a:prstGeom>
          <a:noFill/>
          <a:ln w="15875">
            <a:solidFill>
              <a:srgbClr val="0E7C7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0" y="2523744"/>
            <a:ext cx="3063240" cy="365760"/>
          </a:xfrm>
          <a:prstGeom prst="roundRect">
            <a:avLst>
              <a:gd name="adj" fmla="val 15000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0" y="253288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· identity — pick 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269480" y="2889504"/>
            <a:ext cx="0" cy="256032"/>
          </a:xfrm>
          <a:prstGeom prst="line">
            <a:avLst/>
          </a:prstGeom>
          <a:noFill/>
          <a:ln w="12700">
            <a:solidFill>
              <a:srgbClr val="7A87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3145536"/>
            <a:ext cx="137160" cy="0"/>
          </a:xfrm>
          <a:prstGeom prst="line">
            <a:avLst/>
          </a:prstGeom>
          <a:noFill/>
          <a:ln w="12700">
            <a:solidFill>
              <a:srgbClr val="7A87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0" y="2971800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0" y="29809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“Careful analyst”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89720" y="297180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29809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“Precise editor”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835640" y="2971800"/>
            <a:ext cx="4114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835640" y="2980944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675120" y="345643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— every option ships with when-to-use guidance, and every slot with a research-backed “Why it matters.” You pick from a vetted menu instead of composing from scratch.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434340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E4F0EF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77724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generative · 12 agentic)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6032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256032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—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slots you fill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4340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~290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434340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options,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guidance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2648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612648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presets — one-click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templates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92440" y="4572000"/>
            <a:ext cx="0" cy="1280160"/>
          </a:xfrm>
          <a:prstGeom prst="line">
            <a:avLst/>
          </a:prstGeom>
          <a:noFill/>
          <a:ln w="9525">
            <a:solidFill>
              <a:srgbClr val="0E7C7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66760" y="45262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handout pack —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printed reference, the Template Creator, and the Configurator. When you fill a template in Part 4, this catalog is the menu you are choosing from.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TECHNIQUES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techniques cover almost everything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76479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545336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Be specific — and say why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audience, length, constraints. Explaining the reason behind a rule (“this will be read aloud, so no ellipses”) measurably improves compliance.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81328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36792" y="176479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cop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83664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22008" y="1545336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Show 3–5 examples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reliable way to control format, tone, and structure. Make them diverse and realistic — the model imitates what it sees.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65176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67512" y="293522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054096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52728" y="271576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Structure with tags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instructions / context / input with XML tags or headers. Unambiguous parsing; survives copy-paste into any tool.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172200" y="265176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36792" y="293522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054096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22008" y="271576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Give it an out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the document doesn’t say, say so.” Permission to admit uncertainty drastically cuts invented answers.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02920" y="382219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10565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24528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52728" y="388620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Chain the work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job → sequential prompts: draft → review against criteria → refine. You get inspectable intermediates — an audit trail.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172200" y="382219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7" name="Shape 20"/>
          <p:cNvSpPr/>
          <p:nvPr/>
        </p:nvSpPr>
        <p:spPr>
          <a:xfrm>
            <a:off x="6336792" y="410565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8" name="Image 5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224528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22008" y="388620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Self-check against criteria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finishing, verify against [checklist].” Works when criteria are concrete; “are you sure?” alone doesn’t.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02920" y="499262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31" name="Shape 23"/>
          <p:cNvSpPr/>
          <p:nvPr/>
        </p:nvSpPr>
        <p:spPr>
          <a:xfrm>
            <a:off x="667512" y="527608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6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5394960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252728" y="5056632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Metaprompting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improve your prompt: “What should I add or delete to get X more consistently?” Official practice at OpenAI, Anthropic, and Google.</a:t>
            </a:r>
            <a:endParaRPr lang="en-US" sz="1200" dirty="0"/>
          </a:p>
        </p:txBody>
      </p:sp>
      <p:sp>
        <p:nvSpPr>
          <p:cNvPr id="34" name="Shape 25"/>
          <p:cNvSpPr/>
          <p:nvPr/>
        </p:nvSpPr>
        <p:spPr>
          <a:xfrm>
            <a:off x="6172200" y="50292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BF0E0"/>
          </a:solidFill>
          <a:ln/>
        </p:spPr>
      </p:sp>
      <p:sp>
        <p:nvSpPr>
          <p:cNvPr id="35" name="Shape 26"/>
          <p:cNvSpPr/>
          <p:nvPr/>
        </p:nvSpPr>
        <p:spPr>
          <a:xfrm>
            <a:off x="6336792" y="536295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6" name="Image 7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6644" y="5462808"/>
            <a:ext cx="184343" cy="184343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885432" y="5102352"/>
            <a:ext cx="45445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Where’s “think step by step”?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to the bench — today’s models reason by default. The 2026 version comes two slides ahead.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WHAT THE EVIDENCE SAYS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CORNER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works, what’s myth — and the bias to design against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E7F2EC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3B8560"/>
          </a:solidFill>
          <a:ln/>
        </p:spPr>
      </p:sp>
      <p:pic>
        <p:nvPicPr>
          <p:cNvPr id="8" name="Image 0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562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Holds up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Specificity, context, and examples — every vendor, every study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Structure: tiny format changes swing accuracy by up to 76 points across phrasings — templates beat improvisation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shape tone and framing (what they’re for) …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06908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9E9E8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4279392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3" name="Image 1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439826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43159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Doesn’t hold up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22960" y="48006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but “you are a genius” doesn’t improve factual accuracy (162-persona study: no gain)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Tips, threats, politeness games: “even tipping a lavish $1000” didn’t change accuracy — small, unstable effects at best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172200" y="150876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2F5F6"/>
          </a:solidFill>
          <a:ln/>
        </p:spPr>
      </p:sp>
      <p:sp>
        <p:nvSpPr>
          <p:cNvPr id="17" name="Text 13"/>
          <p:cNvSpPr/>
          <p:nvPr/>
        </p:nvSpPr>
        <p:spPr>
          <a:xfrm>
            <a:off x="644652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to design against: sycophancy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92240" y="2212848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11 leading models, AI affirmed users’ actions ~49% more often than humans do (Stanford/CMU, Science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flattering exchange measurably raised users’ conviction they were right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models are trained on human preferences — and we prefer agreement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446520" y="4434840"/>
            <a:ext cx="4937760" cy="1463040"/>
          </a:xfrm>
          <a:prstGeom prst="roundRect">
            <a:avLst>
              <a:gd name="adj" fmla="val 5000"/>
            </a:avLst>
          </a:prstGeom>
          <a:solidFill>
            <a:srgbClr val="E4F0EF"/>
          </a:solidFill>
          <a:ln/>
        </p:spPr>
      </p:sp>
      <p:sp>
        <p:nvSpPr>
          <p:cNvPr id="20" name="Shape 16"/>
          <p:cNvSpPr/>
          <p:nvPr/>
        </p:nvSpPr>
        <p:spPr>
          <a:xfrm>
            <a:off x="6611112" y="49743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1" name="Image 2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0964" y="5074188"/>
            <a:ext cx="184343" cy="18434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159752" y="4507992"/>
            <a:ext cx="399592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countermeasures: 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reveal your preferred answer when asking for a review · ask for the case AGAINST (“three weakest points”) · paste your draft as “a colleague’s” · don’t treat “are you sure?” as verification.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THINKING MODELS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UPDATE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thinking models: less scaffolding, more clarity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911096"/>
            <a:ext cx="475488" cy="47548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8" name="Image 0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2034723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07592" y="160020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Retire: “think step by step”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is built in. OpenAI: “avoid chain-of-thought prompts.” Anthropic: “think thoroughly” beats a hand-written step plan. Manual CoT is a fallback for non-thinking modes.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55080" y="1911096"/>
            <a:ext cx="475488" cy="47548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2" name="Image 1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707" y="2034723"/>
            <a:ext cx="228234" cy="2282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76872" y="160020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Retire: piles of examples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first; add examples only if the format drifts. On some reasoning models few-shot measurably hurts (DeepSeek-R1’s own paper).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2990088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85800" y="3392424"/>
            <a:ext cx="475488" cy="47548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16" name="Image 2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427" y="3516051"/>
            <a:ext cx="228234" cy="2282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07592" y="3081528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risk: contradictions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instructions are worse now — the model burns thinking tokens trying to reconcile them. Audit your prompt for rules that collide.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72200" y="2990088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55080" y="3392424"/>
            <a:ext cx="475488" cy="47548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0" name="Image 3" descr="/home/user/Claude-Works/ai-training-prompt-engineering/src/assets/icons/slid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707" y="3516051"/>
            <a:ext cx="228234" cy="22823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76872" y="3081528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control: effort dials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set by parameters (thinking effort, verbosity), not magic words. Say how hard to think; don’t script how.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02920" y="4709160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E4F0EF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51800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279928"/>
            <a:ext cx="184343" cy="18434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4782312"/>
            <a:ext cx="102138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NOT change: 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and specificity · relevant context and sources · output format · giving an out · grounding in documents · iteration. The anatomy from the top of this part applies to every model you will ever use — the scaffolding tricks retire, the briefing skills compound.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ITERATION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 are drafts — iterate, then standardize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22376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003" y="1906707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Draft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22376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prompt with the anatomy: role, task, context, format, examples.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18688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419856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3639312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939" y="1906707"/>
            <a:ext cx="228234" cy="2282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242816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Inspect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39312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output? Diagnose which element failed: wrong altitude (role), wrong content (context), wrong shape (format), wrong style (examples).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135624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336792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6556248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refres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9875" y="1906707"/>
            <a:ext cx="228234" cy="22823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159752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Refine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556248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that element — or ask the model itself: “rewrite this prompt so it more consistently produces X.”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9052560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9253728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E4F0EF"/>
          </a:solidFill>
          <a:ln/>
        </p:spPr>
      </p:sp>
      <p:sp>
        <p:nvSpPr>
          <p:cNvPr id="25" name="Shape 20"/>
          <p:cNvSpPr/>
          <p:nvPr/>
        </p:nvSpPr>
        <p:spPr>
          <a:xfrm>
            <a:off x="9473184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3" descr="/home/user/Claude-Works/ai-training-prompt-engineering/src/assets/icons/sav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811" y="1906707"/>
            <a:ext cx="228234" cy="22823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076688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Standardize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473184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twice? Name it, version it, put it in the library. A tested template beats a daily improvisation.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02920" y="425196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67512" y="449427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1" name="Image 4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4594128"/>
            <a:ext cx="184343" cy="184343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216152" y="4325112"/>
            <a:ext cx="1021384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Anthropic’s golden rule: </a:t>
            </a:r>
            <a:pPr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 your prompt to a colleague with minimal context and ask them to follow it. If they’d be confused, Claude will be too.”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02920" y="525780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FBF0E0"/>
          </a:solidFill>
          <a:ln/>
        </p:spPr>
      </p:sp>
      <p:sp>
        <p:nvSpPr>
          <p:cNvPr id="34" name="Shape 27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5" name="Image 5" descr="/home/user/Claude-Works/ai-training-prompt-engineering/src/assets/icons/targe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216152" y="5330952"/>
            <a:ext cx="1021384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standardize?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swing wildly with tiny phrasing changes. A tested, versioned template is your gauge-R&amp;R answer to prompt variability — which is exactly what Part 4 hands you.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Rebuild one line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8288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from the same line: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221284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“Summarize this report.”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minutes: add a Role, an audience, a numeric cap, and an Out.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a neighbor — whose version would produce the more useful summary, and why?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BF0E0"/>
          </a:solidFill>
          <a:ln/>
        </p:spPr>
      </p:sp>
      <p:sp>
        <p:nvSpPr>
          <p:cNvPr id="14" name="Text 11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strong answer (presenter)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8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precise editor. Summarize the attached report for a cross-functional partner in ≤ 150 words: the three things they must know, what changed, and what it does NOT cover. If the report doesn’t say, say so.”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THE PLAYBOOK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3774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Thirteen templates,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to copy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206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generative + five agentic, shipped with this training in prompt-library/.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the template · a filled example · why it works · the pitfalls.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G1 Writing &amp; editing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55848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G2 Data analysis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08776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G3 Evaluations &amp; rubrics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061704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G4 Spreadsheets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G5 Presentations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55848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G6 Interactive HTML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08776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G7 Research briefs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061704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G8 Summarize &amp; compare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A1 Mission brief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355848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A2 ETL → presentation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208776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A3 Recurring cycle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061704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A4 CLAUDE.md starter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62819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A5 Document pipeline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DATA ANALYSIS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ANATOMY · G2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analysis: five blocks that keep numbers honest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544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240280" y="15453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analyst who computes by running code — never mental math — states n, never drops data silently.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43800" y="15453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arithmetic is unreliable; code execution makes the math real. If your tool can’t run code, don’t trust computed numbers.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3957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688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&lt;data&gt;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240280" y="24597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File, sheet, header row, what one row means, exact column names, known issues, metric definitions.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43800" y="24597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guessing your grain and denominator is the #1 source of wrong answers. Schema first.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02920" y="33101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3832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&lt;task&gt;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40280" y="33741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questions in priority order — “and stop when they’re answered.”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43800" y="33741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generate exploration; questions generate answers. The stop rule prevents ten charts and no answer.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02920" y="42245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2976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&lt;method&gt;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240280" y="42885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the data first and show me; reconcile to a known total; flag n &lt; 20; descriptive stats only, “associated with” not “caused by.”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543800" y="42885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reconciliation anchor beats ten checks. Language discipline survives into the deck your leadership reads.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51389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2120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&lt;format&gt;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240280" y="52029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answer first with the number, then the table; assumptions and caveats at the end.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543800" y="52029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 the answer in 10 seconds and audit the rest only if it matters.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502920" y="61081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· what goes in it · why it’s there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LIVE DEMO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THE BLIND CRITIQUE (G3)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sycophancy die in real time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2763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Set up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fresh chat. Paste a real (or prepared) draft — a plan, a memo — introduced as “a colleague’s draft.” Do not hint at your view.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6207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Run G3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for: the strongest case AGAINST · the three weakest points and how a critic attacks each · what evidence would prove it wrong · overall read only at the end.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09651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The contrast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ask the naive way in a second chat: “I wrote this — what do you think?” Compare the two answers side by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15544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FBF0E0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0" y="173736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room should notice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blind version finds real weaknesses; the “I wrote this” version compliments first and softens everything. Same model, same draft — the only change is what you revealed.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science: models affirm users ~49% more than humans do. Blinding is the fix you can do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534924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E4F0E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6152" y="542239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Part 4 rep: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runs the blind critique on something of their own before session 2.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LIVE DEMO 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A DASHBOARD FROM A PASTE (G6)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prompt, one file, working software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2763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data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small generic table (20–30 rows: period, category, count — prepared in advance, nothing internal).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6207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Run G6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for: a SINGLE-FILE interactive HTML dashboard — KPI tiles, one filterable chart, a sortable table; data embedded; works offline from disk; formulas visible.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09651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Open it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file, double-click it, filter something, sort something. No install, no server, no login.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15544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FBF0E0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0" y="173736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room should notice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 is a tool, not a text. The spec lines that made it trustworthy: single file · offline · data embedded · nothing hard-coded · formulas on screen.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to say out loud: it is a snapshot, not a live system — and share the FILE, not a public link.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534924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6" name="Image 0" descr="/home/user/Claude-Works/ai-training-prompt-engineering/src/assets/icons/refresh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6152" y="542239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plan: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generation runs long, open the pre-built copy from your desktop and narrate the prompt — the room still sees prompt → working software.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THE PLAYBOOK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PLAYBOOK TRAVELS WITH YOU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generative templates — copy, fill, run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58191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· Writing &amp; editing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 in, hard word cap, “add no facts” — edit beats draft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50876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6391656" y="158191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 · Data analysis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columns, code-not-vibes, reconcile to a known total, then stop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551176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262432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 · Evaluations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rubric, quotes as evidence, blind critique — you just watched 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2551176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391656" y="262432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 · Spreadsheets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tab, formulas not values, cleaning with a logged rule per change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593592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" y="366674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 · Presentations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titles state findings with numbers; approve text before rendering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593592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6391656" y="366674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· Interactive HTML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file, offline, auditable — you just watched 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636008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" y="470916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 · Research briefs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not a topic; every bullet gets a link + date; demand the gaps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4636008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21" name="Text 19"/>
          <p:cNvSpPr/>
          <p:nvPr/>
        </p:nvSpPr>
        <p:spPr>
          <a:xfrm>
            <a:off x="6391656" y="470916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 · Documents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summaries serve a decision; verbatim quotes for anything load-bearing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5806440"/>
            <a:ext cx="11155680" cy="594360"/>
          </a:xfrm>
          <a:prstGeom prst="roundRect">
            <a:avLst>
              <a:gd name="adj" fmla="val 12308"/>
            </a:avLst>
          </a:prstGeom>
          <a:solidFill>
            <a:srgbClr val="E4F0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67512" y="59115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0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011448"/>
            <a:ext cx="184343" cy="184343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216152" y="5879592"/>
            <a:ext cx="102138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handout pack: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prompt-library/ (all 13 templates, each with a filled example and pitfalls) · the Template Creator + Configurator that assemble them · the cheat sheet, ELEMENTS guide, and Taxonomy Reference.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WHERE WE LEFT OFF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Sixty seconds of where we left off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206928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4592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· Task · Context · Format · Examples — plus the Out and the Stop. Every vendor teaches the same recipe.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55080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5839" y="2069287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95160" y="164592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techniques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specificity-with-why, examples, tags, the out, chaining, self-check, metaprompting.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85800" y="340156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" y="3532327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310896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rules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via code · citations or it didn’t happen · never reveal your preference when asking for judgment.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301752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55080" y="340156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39" y="3532327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95160" y="310896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take-home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templates + the Template Creator — the blind critique was homework; who ran it?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02920" y="47091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E4F0EF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9743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074188"/>
            <a:ext cx="184343" cy="18434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4782312"/>
            <a:ext cx="10213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leap from asking to delegating — the mission brief, gates and guardrails — then how a team keeps its prompts as assets.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AGENTIC AI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asking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delegating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prompts ask for text. Agentic prompts hand over a job — which changes what a prompt must contain: environment, process, checks, and when to stop and ask you.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WHAT AN AGENT IS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= model + tools + instructions, run in a loop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57784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files, search, look at state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1837944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984248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1" name="Text 9"/>
          <p:cNvSpPr/>
          <p:nvPr/>
        </p:nvSpPr>
        <p:spPr>
          <a:xfrm>
            <a:off x="1984248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39112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step: edit, run, query, write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3319272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65576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5" name="Text 13"/>
          <p:cNvSpPr/>
          <p:nvPr/>
        </p:nvSpPr>
        <p:spPr>
          <a:xfrm>
            <a:off x="3465576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result against the goal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800600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946904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9" name="Text 17"/>
          <p:cNvSpPr/>
          <p:nvPr/>
        </p:nvSpPr>
        <p:spPr>
          <a:xfrm>
            <a:off x="4946904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01768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and continue — or stop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144768" y="2651760"/>
            <a:ext cx="0" cy="365760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1288" y="3017520"/>
            <a:ext cx="4983480" cy="0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61288" y="2670048"/>
            <a:ext cx="0" cy="347472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371600" y="3072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…until the goal is met, a check fails, or a guardrail says “ask the human”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766560" y="1600200"/>
            <a:ext cx="4892040" cy="1783080"/>
          </a:xfrm>
          <a:prstGeom prst="roundRect">
            <a:avLst>
              <a:gd name="adj" fmla="val 4103"/>
            </a:avLst>
          </a:prstGeom>
          <a:solidFill>
            <a:srgbClr val="F2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6995160" y="17556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vendors’ words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5160" y="2121408"/>
            <a:ext cx="4434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“Systems that independently accomplish tasks on your behalf” (OpenAI) · models that “dynamically direct their own processes and tool usage” (Anthropic) — a chatbot that answers and waits is not an agent.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502920" y="361188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392277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0" name="Image 0" descr="/home/user/Claude-Works/ai-training-prompt-engineering/src/assets/icons/tool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4041648"/>
            <a:ext cx="219456" cy="219456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280160" y="36850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the arms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files, shell, browsers, spreadsheets, email, code. The model requests; the harness executes.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172200" y="361188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33" name="Shape 30"/>
          <p:cNvSpPr/>
          <p:nvPr/>
        </p:nvSpPr>
        <p:spPr>
          <a:xfrm>
            <a:off x="6355080" y="392277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4" name="Image 1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4041648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6949440" y="36850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the standard port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“USB-C of AI”: one open protocol to plug tools into any agent. Linux Foundation-governed since Dec 2025; ~half a billion SDK downloads/month by mid-2026.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502920" y="484632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37" name="Shape 33"/>
          <p:cNvSpPr/>
          <p:nvPr/>
        </p:nvSpPr>
        <p:spPr>
          <a:xfrm>
            <a:off x="685800" y="515721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8" name="Image 2" descr="/home/user/Claude-Works/ai-training-prompt-engineering/src/assets/icons/memory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5276088"/>
            <a:ext cx="219456" cy="219456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1280160" y="491947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= files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is short-term memory; notes, logs, and git are long-term. Nothing survives a session unless written down.</a:t>
            </a:r>
            <a:endParaRPr lang="en-US" sz="1250" dirty="0"/>
          </a:p>
        </p:txBody>
      </p:sp>
      <p:sp>
        <p:nvSpPr>
          <p:cNvPr id="40" name="Shape 35"/>
          <p:cNvSpPr/>
          <p:nvPr/>
        </p:nvSpPr>
        <p:spPr>
          <a:xfrm>
            <a:off x="6172200" y="484632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41" name="Shape 36"/>
          <p:cNvSpPr/>
          <p:nvPr/>
        </p:nvSpPr>
        <p:spPr>
          <a:xfrm>
            <a:off x="6355080" y="515721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42" name="Image 3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5276088"/>
            <a:ext cx="219456" cy="219456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6949440" y="491947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permissions, sandboxes, approval gates for consequential actions — covered later this part.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KEY DISTINCTION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THIS TRAINING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generative prompt writes. An agentic prompt commissions.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377440" y="14813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65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(chat)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720840" y="1481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01952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77440" y="1892808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WRITE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6720840" y="18928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TO RUN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02920" y="2560320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615184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77440" y="260604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· task · context · format · examples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6720840" y="260604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that, PLUS: mission &amp; definition of done · environment &amp; file boundaries · allowed tools · process phases &amp; gates · autonomy rules · self-checks · deliverables &amp; logs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02920" y="3273552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32841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377440" y="3319272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response you read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6720840" y="331927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+ artifacts + a report with evidence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502920" y="3986784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04164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0325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text — just re-prompt</a:t>
            </a:r>
            <a:endParaRPr lang="en-US" sz="960" dirty="0"/>
          </a:p>
        </p:txBody>
      </p:sp>
      <p:sp>
        <p:nvSpPr>
          <p:cNvPr id="23" name="Text 21"/>
          <p:cNvSpPr/>
          <p:nvPr/>
        </p:nvSpPr>
        <p:spPr>
          <a:xfrm>
            <a:off x="6720840" y="403250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ACTIONS: files changed, emails sent. Hence gates, sandboxes, verification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02920" y="4700016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754880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745736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and editor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6720840" y="47457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delegator and reviewer at checkpoints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502920" y="5413248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5468112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458968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a ghost-writer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6720840" y="545896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 order for a contractor</a:t>
            </a:r>
            <a:endParaRPr lang="en-US" sz="96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INHERITANCE 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INHERITANCE 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brief is the anatomy, grown up to survive autonomy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element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1463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descendant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12648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added — and why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810512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37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834640" y="183794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126480" y="1837944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across unsupervised decisions → behaviors only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322576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3500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834640" y="235000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&lt;mission&gt;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126480" y="2350008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definition of done — the loop needs an exit condition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620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34640" y="286207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&lt;context&gt; + &lt;inputs&gt;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26480" y="2862072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per-source register with grain &amp; trust — agents touch every source repeatedly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346704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3741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834640" y="33741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&lt;outputs&gt; + &lt;reporting&gt;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26480" y="3374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logs and a fixed status shape — actions must be traceable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85876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8862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834640" y="38862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filled brief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26480" y="38862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worked run is the agentic few-shot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3982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834640" y="439826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UNKNOWN → open items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26480" y="4398264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not-knowing becomes a logged, owned item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4882896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49103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Stop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834640" y="49103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gates + autonomy rules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26480" y="4910328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control becomes checkpointed process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5394960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4223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(new in kind)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834640" y="542239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&lt;environment&gt; &lt;plan&gt; &lt;checks&gt; &lt;rules&gt; &lt;quality_bar&gt;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26480" y="5422392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conduct, method, verification, invariants, completeness — text-only prompts never needed them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6035040"/>
            <a:ext cx="11155680" cy="475488"/>
          </a:xfrm>
          <a:prstGeom prst="roundRect">
            <a:avLst>
              <a:gd name="adj" fmla="val 15385"/>
            </a:avLst>
          </a:prstGeom>
          <a:solidFill>
            <a:srgbClr val="FBF0E0"/>
          </a:solidFill>
          <a:ln/>
        </p:spPr>
      </p:sp>
      <p:sp>
        <p:nvSpPr>
          <p:cNvPr id="42" name="Shape 40"/>
          <p:cNvSpPr/>
          <p:nvPr/>
        </p:nvSpPr>
        <p:spPr>
          <a:xfrm>
            <a:off x="667512" y="6080760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43" name="Image 0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80612"/>
            <a:ext cx="184343" cy="184343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1216152" y="6108192"/>
            <a:ext cx="10213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superset exists: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fails costs a re-prompt; actions that fail change the world. The new blocks govern conduct.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MISSION BRIEF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mission brief: twelve blocks, each preventing a failure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536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13432" y="1527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behaviours, not titles — “never invents numbers” beats “senior analyst”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6172200" y="148132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336792" y="1536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&lt;mission&gt;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982712" y="1527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goal, one audience, one deadline, “done looks like…”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31136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" y="22860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&lt;context&gt;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13432" y="227685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quirks, targets — the tribal knowledge it can’t infer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6172200" y="2231136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22860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&lt;environment&gt;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82712" y="227685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read, where to write, what’s forbidden. Inputs are read-only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02920" y="2980944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0358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&lt;inputs&gt;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313432" y="3026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source: location, format, what one row means, trust level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6172200" y="2980944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6336792" y="30358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&lt;plan&gt;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82712" y="3026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in order · methods allowed · methods needing permission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67512" y="37856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&lt;checks&gt;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13432" y="37764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(stop the run) vs SOFT (flag) — written so the agent can evaluate them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6172200" y="3730752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8" name="Text 26"/>
          <p:cNvSpPr/>
          <p:nvPr/>
        </p:nvSpPr>
        <p:spPr>
          <a:xfrm>
            <a:off x="6336792" y="37856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&lt;outputs&gt;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82712" y="37764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deliverable names + the three logs: CHANGES · FINDINGS · OPEN_ITEMS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480560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" y="453542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&lt;process&gt;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313432" y="452628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with human gates: definitions → mid-run review → pre-render approval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6172200" y="4480560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336792" y="453542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&lt;rules&gt;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982712" y="452628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non-negotiables: never invent data, versioned outputs, assumptions logged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502920" y="523036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7" name="Text 35"/>
          <p:cNvSpPr/>
          <p:nvPr/>
        </p:nvSpPr>
        <p:spPr>
          <a:xfrm>
            <a:off x="667512" y="52852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&lt;quality_bar&gt;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313432" y="52760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as a checklist the agent must satisfy — and you can audit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6172200" y="523036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40" name="Text 38"/>
          <p:cNvSpPr/>
          <p:nvPr/>
        </p:nvSpPr>
        <p:spPr>
          <a:xfrm>
            <a:off x="6336792" y="52852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&lt;reporting&gt;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982712" y="52760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shape of the final message: status, headline, evidence, open items</a:t>
            </a:r>
            <a:endParaRPr lang="en-US" sz="930" dirty="0"/>
          </a:p>
        </p:txBody>
      </p:sp>
      <p:sp>
        <p:nvSpPr>
          <p:cNvPr id="42" name="Shape 40"/>
          <p:cNvSpPr/>
          <p:nvPr/>
        </p:nvSpPr>
        <p:spPr>
          <a:xfrm>
            <a:off x="502920" y="594360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E4F0EF"/>
          </a:solidFill>
          <a:ln/>
        </p:spPr>
      </p:sp>
      <p:sp>
        <p:nvSpPr>
          <p:cNvPr id="43" name="Shape 41"/>
          <p:cNvSpPr/>
          <p:nvPr/>
        </p:nvSpPr>
        <p:spPr>
          <a:xfrm>
            <a:off x="667512" y="60030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44" name="Image 0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02888"/>
            <a:ext cx="184343" cy="184343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1216152" y="6016752"/>
            <a:ext cx="10213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block maps to vendor guidance — verifiable done-criteria, file boundaries, least-privilege tools, phased plans with approval, ask-before-irreversible, evidence over assertions.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WORKED EXAMPLE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prompt, five links: data in, defensible slide out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inbox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7452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85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hash and profile every input; parse with explicit types; fix nothing yet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2624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788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2971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tool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874520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971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2971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schema, ordered rules — each logged with rows affected; metrics defined as cards</a:t>
            </a:r>
            <a:endParaRPr lang="en-US" sz="930" dirty="0"/>
          </a:p>
        </p:txBody>
      </p:sp>
      <p:sp>
        <p:nvSpPr>
          <p:cNvPr id="17" name="Shape 13"/>
          <p:cNvSpPr/>
          <p:nvPr/>
        </p:nvSpPr>
        <p:spPr>
          <a:xfrm>
            <a:off x="4910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5074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5257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1874520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57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257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to a known total; identities hold; HARD fail = STOP and report</a:t>
            </a:r>
            <a:endParaRPr lang="en-US" sz="930" dirty="0"/>
          </a:p>
        </p:txBody>
      </p:sp>
      <p:sp>
        <p:nvSpPr>
          <p:cNvPr id="23" name="Shape 18"/>
          <p:cNvSpPr/>
          <p:nvPr/>
        </p:nvSpPr>
        <p:spPr>
          <a:xfrm>
            <a:off x="7196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7360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25" name="Shape 20"/>
          <p:cNvSpPr/>
          <p:nvPr/>
        </p:nvSpPr>
        <p:spPr>
          <a:xfrm>
            <a:off x="7543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3" descr="/home/user/Claude-Works/ai-training-prompt-engineering/src/assets/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874520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543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7543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numbered questions, then stop; “associated with,” never “caused by”</a:t>
            </a:r>
            <a:endParaRPr lang="en-US" sz="930" dirty="0"/>
          </a:p>
        </p:txBody>
      </p:sp>
      <p:sp>
        <p:nvSpPr>
          <p:cNvPr id="29" name="Shape 23"/>
          <p:cNvSpPr/>
          <p:nvPr/>
        </p:nvSpPr>
        <p:spPr>
          <a:xfrm>
            <a:off x="9482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9646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31" name="Shape 25"/>
          <p:cNvSpPr/>
          <p:nvPr/>
        </p:nvSpPr>
        <p:spPr>
          <a:xfrm>
            <a:off x="9829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4" descr="/home/user/Claude-Works/ai-training-prompt-engineering/src/assets/icons/layout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8672" y="1874520"/>
            <a:ext cx="219456" cy="21945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829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</a:t>
            </a:r>
            <a:endParaRPr lang="en-US" sz="1350" dirty="0"/>
          </a:p>
        </p:txBody>
      </p:sp>
      <p:sp>
        <p:nvSpPr>
          <p:cNvPr id="34" name="Text 27"/>
          <p:cNvSpPr/>
          <p:nvPr/>
        </p:nvSpPr>
        <p:spPr>
          <a:xfrm>
            <a:off x="9829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titles with the number; n on every proportion; source + as-of footer</a:t>
            </a:r>
            <a:endParaRPr lang="en-US" sz="930" dirty="0"/>
          </a:p>
        </p:txBody>
      </p:sp>
      <p:sp>
        <p:nvSpPr>
          <p:cNvPr id="35" name="Shape 28"/>
          <p:cNvSpPr/>
          <p:nvPr/>
        </p:nvSpPr>
        <p:spPr>
          <a:xfrm>
            <a:off x="502920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36" name="Text 29"/>
          <p:cNvSpPr/>
          <p:nvPr/>
        </p:nvSpPr>
        <p:spPr>
          <a:xfrm>
            <a:off x="704088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1 · Definitions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data is touched: the agent restates metrics, schema, assumptions — you confirm. Catches the wrong denominator for pennies.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4325112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38" name="Text 31"/>
          <p:cNvSpPr/>
          <p:nvPr/>
        </p:nvSpPr>
        <p:spPr>
          <a:xfrm>
            <a:off x="4526280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2 · Reconciliation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transform: totals tie to a number you already trust. Any HARD check fails → the run stops, with the offending rows.</a:t>
            </a:r>
            <a:endParaRPr lang="en-US" sz="1200" dirty="0"/>
          </a:p>
        </p:txBody>
      </p:sp>
      <p:sp>
        <p:nvSpPr>
          <p:cNvPr id="39" name="Shape 32"/>
          <p:cNvSpPr/>
          <p:nvPr/>
        </p:nvSpPr>
        <p:spPr>
          <a:xfrm>
            <a:off x="8147304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40" name="Text 33"/>
          <p:cNvSpPr/>
          <p:nvPr/>
        </p:nvSpPr>
        <p:spPr>
          <a:xfrm>
            <a:off x="8348472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3 · Headlines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rendering: slide titles + bullets as plain text. Re-rendering is cheap; re-thinking a circulated deck is not.</a:t>
            </a:r>
            <a:endParaRPr lang="en-US" sz="1200" dirty="0"/>
          </a:p>
        </p:txBody>
      </p:sp>
      <p:sp>
        <p:nvSpPr>
          <p:cNvPr id="41" name="Shape 34"/>
          <p:cNvSpPr/>
          <p:nvPr/>
        </p:nvSpPr>
        <p:spPr>
          <a:xfrm>
            <a:off x="502920" y="566928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E4F0EF"/>
          </a:solidFill>
          <a:ln/>
        </p:spPr>
      </p:sp>
      <p:sp>
        <p:nvSpPr>
          <p:cNvPr id="42" name="Shape 35"/>
          <p:cNvSpPr/>
          <p:nvPr/>
        </p:nvSpPr>
        <p:spPr>
          <a:xfrm>
            <a:off x="667512" y="582015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43" name="Image 5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364" y="5920008"/>
            <a:ext cx="184343" cy="184343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1216152" y="574243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gates: full autonomy.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only if: a HARD check fails · an input isn’t as described · a definition is ambiguous · a published number would change. Otherwise, proceed.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GUARDRAILS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SAFELY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Arms need supervision: five rules for delegating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270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han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45920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61288" y="1435608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Reversible? proceed. Irreversible? ask.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in a scratch folder are reversible. Deleting, sending, publishing, overwriting a master — the prompt must say: stop and ask first.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45973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/home/user/Claude-Works/ai-training-prompt-engineering/src/assets/icons/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57860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61288" y="2368296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minimum access for the shortest time. UK NCSC: “If you cannot understand, monitor or contain an agent’s actions, it is not ready for deployment.”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3392424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3" name="Image 2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511296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61288" y="3300984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is real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the agent reads — a web page, an emailed doc, a spreadsheet — can carry hostile instructions. Danger peaks when private data + untrusted content + outbound channels combine: break one leg of that trifecta.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02920" y="4325112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6" name="Image 3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443984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61288" y="4233672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 third-party “skills”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plugins are unsigned code + instructions. The #1-ranked community skill for one popular open agent was silently exfiltrating data (Cisco, Jan 2026). Treat skills like unqualified suppliers: inspect before install.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525780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9" name="Image 4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76672"/>
            <a:ext cx="219456" cy="21945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61288" y="5166360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evidence, not assertions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“Done” means: the check it ran, the output it got, the file re-opened and verified. Spot-check agent work like any new hire’s — trust grows with track record.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STANDING MEMORY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A3 + A4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brief once — the workspace remembers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A4 · CLAUDE.md / project instructions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the agent reads at the start of every session — the onboarding packet for your workspace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Include: folder layout &amp; read/write boundaries · conventions · standing rules &amp; ask-first list · known data quirks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Exclude: anything it can infer by reading the files, tutorials, stale details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≤ ~60 lines. Per line ask: “would removing this cause mistakes?” If not, cut — bloat drowns your real instructions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Never: credentials, personal data. It’s read every session and lives in history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E4F0EF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· Reuse by diff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 of agentic prompting: the full mission brief is written once, stored in the workspace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cycle’s prompt is then ten lines: new input paths, the as-of date, deltas to watch, this cycle’s extra gate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reporting: compare every headline metric to last cycle; moves beyond threshold get one-line explanations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definition changes at a gate — update the standing brief in the same session, log it in CHANGES.md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two “just this once” exceptions, fold them into the brief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5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one gate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E4F0EF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87452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one job you would delegate to an agent — a recurring report, a folder to process.</a:t>
            </a:r>
            <a:endParaRPr lang="en-US" sz="130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its GATE 1 line: what must you confirm before it touches anything?</a:t>
            </a:r>
            <a:endParaRPr lang="en-US" sz="130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HARD check: an equality the agent can actually evaluate, anchored to a number you already trust.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2" name="Text 9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to aim for (presenter)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“GATE 1: restate the metric definitions and the file layout; wait for my OK.”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“HARD: computed totals must equal last cycle’s published total exactly.”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 — the A1 template carries the full scaffold.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PROMPT MANAGEMENT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 are assets.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them like it.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prompt took an hour of iteration to earn. Re-typing it from memory throws that hour away — and gives your teammate a worse version than yours.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THE LADDER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RETYPING TO ASSET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promotion ladder — and when to climb it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27048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037" y="1641165"/>
            <a:ext cx="210678" cy="21067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435608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One-off prompt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used, gone. Fine for genuinely one-time asks.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432304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/home/user/Claude-Works/ai-training-prompt-engineering/src/assets/icons/sav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037" y="2546421"/>
            <a:ext cx="210678" cy="21067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2340864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Personal library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saved-prompts doc or text-expander snippets. Zero infrastructure; start today.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3337560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2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451677"/>
            <a:ext cx="210678" cy="21067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0" y="32461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Team library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database — Notion, SharePoint list, Copilot Prompt Gallery. One tested template, everyone’s baseline.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02920" y="4242816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3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56933"/>
            <a:ext cx="210678" cy="2106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43000" y="4151376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Packaged &amp; auto-applied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instructions, Claude Skills, Gems, Copilot agents: the prompt loads itself when the context matches.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02920" y="5148072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9" name="Image 4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037" y="5262189"/>
            <a:ext cx="210678" cy="21067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43000" y="5056632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Prompts as code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/ AGENTS.md / briefs in the repo, versioned in git, reviewed like code. Where agentic briefs live.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7086600" y="1481328"/>
            <a:ext cx="4572000" cy="2834640"/>
          </a:xfrm>
          <a:prstGeom prst="roundRect">
            <a:avLst>
              <a:gd name="adj" fmla="val 2581"/>
            </a:avLst>
          </a:prstGeom>
          <a:solidFill>
            <a:srgbClr val="E4F0EF"/>
          </a:solidFill>
          <a:ln/>
        </p:spPr>
      </p:sp>
      <p:sp>
        <p:nvSpPr>
          <p:cNvPr id="22" name="Text 15"/>
          <p:cNvSpPr/>
          <p:nvPr/>
        </p:nvSpPr>
        <p:spPr>
          <a:xfrm>
            <a:off x="7333488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promotion trigger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7333488" y="2103120"/>
            <a:ext cx="4114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Anthropic’s rule of thumb: the moment you’ve explained the same task more than once, it’s time to package it.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an approach you want repeated? Package it. Quality depends on reference material? Package it with the material.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7086600" y="4480560"/>
            <a:ext cx="4572000" cy="1554480"/>
          </a:xfrm>
          <a:prstGeom prst="roundRect">
            <a:avLst>
              <a:gd name="adj" fmla="val 4706"/>
            </a:avLst>
          </a:prstGeom>
          <a:solidFill>
            <a:srgbClr val="F2F5F6"/>
          </a:solidFill>
          <a:ln/>
        </p:spPr>
      </p:sp>
      <p:sp>
        <p:nvSpPr>
          <p:cNvPr id="25" name="Text 18"/>
          <p:cNvSpPr/>
          <p:nvPr/>
        </p:nvSpPr>
        <p:spPr>
          <a:xfrm>
            <a:off x="7333488" y="4645152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familiar discipline: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library is run like controlled work instructions — a name, an owner, a revision, a review date. Same muscle, lighter weight.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WHERE THINGS LIVE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STORAGE 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tool has a home for reusable prompts — Aug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453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560320" y="1536192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(files + project instructions) · custom GPTs — transitioning to workspace agents on business plans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502920" y="223113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60320" y="2286000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(instructions + knowledge) · Styles (tone) · Skills — a folder with SKILL.md that loads itself when relevant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502920" y="2980944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0449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60320" y="3035808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Gems (instructions + knowledge files, shareable via Drive permissions) · saved prompt “skills” in Chrome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79476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560320" y="3785616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Gallery — save, share to a Team, admin-auditable, stays inside your tenant · Agent Builder for packaged agents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E4F0EF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5445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tool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560320" y="4535424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library database: name · purpose · template · owner · version + change note · models tested · last tested · example output · status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502920" y="5230368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E4F0EF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29437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(repo)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560320" y="5285232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/ AGENTS.md at the root · briefs and skills in versioned folders · reviewed like code — this training’s repo is the worked example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502920" y="6080760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611733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26" name="Image 0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217188"/>
            <a:ext cx="184343" cy="184343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216152" y="6153912"/>
            <a:ext cx="10213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collision warning: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“Skills” means a packaged folder at Anthropic but a saved prompt in Chrome’s Gemini — check which one a colleague means.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CONVENTIONS &amp; GOVERNANCE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RULES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Conventions that keep a library alive — and safe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Conventions (this library uses them)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76272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{{placeholders}} for everything that changes per run — mail-merge fields for prompts; search for “{{” before running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[optional] blocks you delete when unused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one-line change note — Rev A/B/C discipline, lighter weight; note which model it was tested on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filled example next to every blank template — the gold standard that shows what “good” looks like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3–5 real cases (one edge case) before marking approved; re-test after model changes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approved prompt has a named owner and a review cadence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5486400" cy="2834640"/>
          </a:xfrm>
          <a:prstGeom prst="roundRect">
            <a:avLst>
              <a:gd name="adj" fmla="val 2581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3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Governance: prompts contain data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76272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stored prompt often carries supplier names, pricing, findings, draft language — classify the library like the documents it quotes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credentials, personal data, or patient-adjacent examples in a template — {{placeholders}} supply them at run time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= distributed. Owner approval before team-wide sharing; treat third-party skills like installing software — audit first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452628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E4F0EF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46908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change; the practice doesn’t.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Prompt-tooling startups get acquired and shut down yearly. Version it, test it, own it — that discipline outlives every platform.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6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your rung, pick your prompt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11155680" cy="2926080"/>
          </a:xfrm>
          <a:prstGeom prst="roundRect">
            <a:avLst>
              <a:gd name="adj" fmla="val 2500"/>
            </a:avLst>
          </a:prstGeom>
          <a:solidFill>
            <a:srgbClr val="E4F0EF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2024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rung of the ladder are you on today — one-off typing, personal doc, team library, packaged, as-code?</a:t>
            </a:r>
            <a:endParaRPr lang="en-US" sz="1350" dirty="0"/>
          </a:p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ONE prompt you already reuse from memory. That is your first library entry.</a:t>
            </a:r>
            <a:endParaRPr lang="en-US" sz="1350" dirty="0"/>
          </a:p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where it will live and its v1.0 line — you have just started your prompt library.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22960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one-off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70632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907792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07792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personal doc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855464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992624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92624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team library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940296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77456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77456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packaged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025128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9162288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62288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as-code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4846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is not skippable — it is the whole training cashing out.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worth remembering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5910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16152" y="1517904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whole steering wheel — everything the model knows about your task must be in it (or in files it can read).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281928" y="15910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885432" y="1517904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beats inspiration: Role · Task · Context · Format · Examples. Every vendor teaches the same recipe.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502920" y="2395728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16152" y="24505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a desk, not a filing cabinet: long documents at the top, question at the end, fresh chat per topic.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885432" y="24505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come from code execution, quotes come from documents, current facts come from search — never from free recall.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3456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16152" y="338328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is not evidence. Uncited claims are drafts. Give the model an out and demand citations.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72200" y="3328416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6281928" y="3456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885432" y="338328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reveal your preferred answer when asking for judgment — AI affirms you ~49% more than a human would.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02920" y="4261104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216152" y="4315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thinking models: drop the step-by-step scripts, keep the clarity. Contradictions now cost real money.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6172200" y="4261104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8" name="Text 26"/>
          <p:cNvSpPr/>
          <p:nvPr/>
        </p:nvSpPr>
        <p:spPr>
          <a:xfrm>
            <a:off x="6281928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885432" y="4315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generative prompt says what to write. An agentic prompt is a work order: mission, environment, checks, gates, autonomy rules.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02920" y="5193792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612648" y="5321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216152" y="524865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catch errors at the cheapest point: definitions before data, reconciliation before analysis, headlines before rendering.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6172200" y="5193792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281928" y="5321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885432" y="524865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that work are assets: name them, version them, store them where the team (and the agent) can find them.</a:t>
            </a:r>
            <a:endParaRPr lang="en-US" sz="98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· 15 MINUTES EACH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exercises that make it stick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911096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53742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1618488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1 · Anatomy rebuild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prompt you actually used last week. Rebuild it with the five-block anatomy (G-templates as reference). Run both versions; compare outputs side by side. Then ask the model to improve your rebuilt prompt — metaprompting — and run that too.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052560" y="161848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You’ll see the quality jump — and how cheap it was.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3044952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447288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scal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89934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315468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2 · Blind review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document or plan you own. Paste it as “a colleague’s draft” and run G3’s critique template: case against, three weakest points, what evidence would change the verdict. Do NOT hint at your view.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9052560" y="315468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meet their first honest AI review here.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4581144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17" name="Shape 13"/>
          <p:cNvSpPr/>
          <p:nvPr/>
        </p:nvSpPr>
        <p:spPr>
          <a:xfrm>
            <a:off x="777240" y="4983480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8" name="Image 2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512612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4690872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 · First mission brief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recurring job with files (a folder to summarize, a tracker to update). Fill A1’s twelve blocks — placeholders and all. You don’t need an agent to run it today: writing the brief is the skill.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9052560" y="4690872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checks and gates feel awkward is where your process was fuzzy all along.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— seventeen terms that matter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chunk a model actually reads (~¾ of a word); pricing and limits count these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172200" y="14173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 per conversation — everything must fit; cleared when the chat ends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19659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cutoff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training data stops; anything after needs search or your documents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172200" y="19659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— fetch relevant passages, answer from them, with citations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5146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text’s coordinate in meaning-space; powers semantic search and RAG retrieval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72200" y="25146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fluent, confident, wrong — plausibility optimized instead of truth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0632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and checks internally before answering; slower, costlier, better at hard problems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72200" y="30632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by 3–5 examples in the prompt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6118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visible step-by-step reasoning — now built into thinking models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72200" y="36118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Metaprompting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 model to critique or rewrite your prompt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41605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Sycophancy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trained tendency to agree with you; blind the review to defuse it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72200" y="41605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tools + instructions in a loop, acting until done or stopped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47091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the open standard for plugging tools into agents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172200" y="47091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brief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prompt: goal, environment, inputs, process, checks, gates, reporting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52578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checkpoint inside an agent’s process — approve before it proceeds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72200" y="52578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weights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downloadable model you can self-host — the data-privacy end of the spectrum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58064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 → attribute → option catalog behind the Template Creator — your parts list for prompts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· EVIDENCE MAP 1 OF 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each dial matters — the generative criteria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44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class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80360" y="1444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to your output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503920" y="14447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773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role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2880360" y="17739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voice, vocabulary, and caution level — which region of training answers. Titles add no accuracy: 162-persona testing found no gain.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8503920" y="17739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Zheng 2024 · Salewski 2023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2311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rules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2880360" y="22311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“be careful” into rules checkable line-by-line in the output; grounding rules drastically cut invented content.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8503920" y="22311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hallucination docs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502920" y="26700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2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883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Stance &amp; blinding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2880360" y="26883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affirm users ~49% more than humans and mirror any side you reveal — a declared neutral or critic stance pre-empts the mirror.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8503920" y="26883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Cheng, Science 2026 · Sharma 2023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502920" y="31272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1455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verb &amp; question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2880360" y="31455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verb selects the operation; a precise question carries its own completion test. Ambiguity burns thinking tokens on reconciliation.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8503920" y="31455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guide · OpenAI GPT-5 guide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502920" y="35844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2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602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— the why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2880360" y="36027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generalize from reasons: an explained rule gets applied in spirit to cases you never listed.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8503920" y="36027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best practices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502920" y="40416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059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glossary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2880360" y="40599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the model’s most-plausible guess with your facts; every unstated quirk becomes an invented “fix.”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8503920" y="40599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2025, why LMs hallucinate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502920" y="44988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45171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placement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2880360" y="45171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at the top, question at the end: up to ~30% better answers; content buried mid-context sags.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8503920" y="45171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long-context · Liu 2023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502920" y="49560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49743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&amp; length</a:t>
            </a:r>
            <a:endParaRPr lang="en-US" sz="930" dirty="0"/>
          </a:p>
        </p:txBody>
      </p:sp>
      <p:sp>
        <p:nvSpPr>
          <p:cNvPr id="39" name="Text 37"/>
          <p:cNvSpPr/>
          <p:nvPr/>
        </p:nvSpPr>
        <p:spPr>
          <a:xfrm>
            <a:off x="2880360" y="49743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format changes swing accuracy up to 76 points — a tested shape removes that variance. Numeric caps are enforceable; adjectives are moods.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8503920" y="49743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Sclar, ICLR 2024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502920" y="54132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2F5F6"/>
          </a:solidFill>
          <a:ln/>
        </p:spPr>
      </p:sp>
      <p:sp>
        <p:nvSpPr>
          <p:cNvPr id="42" name="Text 40"/>
          <p:cNvSpPr/>
          <p:nvPr/>
        </p:nvSpPr>
        <p:spPr>
          <a:xfrm>
            <a:off x="685800" y="54315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930" dirty="0"/>
          </a:p>
        </p:txBody>
      </p:sp>
      <p:sp>
        <p:nvSpPr>
          <p:cNvPr id="43" name="Text 41"/>
          <p:cNvSpPr/>
          <p:nvPr/>
        </p:nvSpPr>
        <p:spPr>
          <a:xfrm>
            <a:off x="2880360" y="54315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imitates format, tone, AND edge-case behavior; exemplar choice and order alone can swing accuracy from chance to 90%+. Zero-shot first on thinking models.</a:t>
            </a:r>
            <a:endParaRPr lang="en-US" sz="880" dirty="0"/>
          </a:p>
        </p:txBody>
      </p:sp>
      <p:sp>
        <p:nvSpPr>
          <p:cNvPr id="44" name="Text 42"/>
          <p:cNvSpPr/>
          <p:nvPr/>
        </p:nvSpPr>
        <p:spPr>
          <a:xfrm>
            <a:off x="8503920" y="54315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 2020 · Lu 2021 · DeepSeek-R1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02920" y="58704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5888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 &amp; the Stop</a:t>
            </a:r>
            <a:endParaRPr lang="en-US" sz="930" dirty="0"/>
          </a:p>
        </p:txBody>
      </p:sp>
      <p:sp>
        <p:nvSpPr>
          <p:cNvPr id="47" name="Text 45"/>
          <p:cNvSpPr/>
          <p:nvPr/>
        </p:nvSpPr>
        <p:spPr>
          <a:xfrm>
            <a:off x="2880360" y="58887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say “I don’t know” drastically cuts invented answers — training rewards guessing; numbered scope plus a stop rule bound the sprawl.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8503920" y="58887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docs · OpenAI 2025</a:t>
            </a:r>
            <a:endParaRPr lang="en-US" sz="82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· EVIDENCE MAP 2 OF 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each dial matters — the agentic criteria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44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class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80360" y="1444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to your output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503920" y="14447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773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&amp; standing rules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2880360" y="17739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that must survive hour three of an unsupervised run — rules live in re-read files, not in fading conversation context.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8503920" y="17739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harness guidance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2311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+ verifiable-by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2880360" y="22311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needs an exit it can TEST: mark work complete “only after end-to-end verification — not when the code is written.”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8503920" y="22311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memory-tool (verbatim)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502920" y="26700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2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883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boundaries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2880360" y="26883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inputs and versioned outputs engineer reversibility in before the first action — blast radius is a design choice.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8503920" y="26883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protected paths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502920" y="31272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1455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tools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2880360" y="31455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what exists, forbid the rest; risk-rate each tool low/medium/high by write access, reversibility, and impact.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8503920" y="31455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practical guide · NCSC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502920" y="35844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2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602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register &amp; trust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2880360" y="36027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level dictates validation depth; UNKNOWN beats a plausible guess — a guessed grain propagates through the whole run.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8503920" y="36027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pipeline/register discipline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502920" y="40416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059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steps &amp; methods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2880360" y="40599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inputs and outputs per step keep intermediates inspectable; boring methods re-run identically; math runs as code.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8503920" y="40599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chaining · Faith &amp; Fate 2023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502920" y="44988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45171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Checks: anchor · hard · soft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2880360" y="45171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Rules-based feedback is “the best form of feedback” an agent gets; one outside anchor catches whole-pipeline errors in a single comparison.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8503920" y="45171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Agent SDK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502920" y="49560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49743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&amp; autonomy</a:t>
            </a:r>
            <a:endParaRPr lang="en-US" sz="930" dirty="0"/>
          </a:p>
        </p:txBody>
      </p:sp>
      <p:sp>
        <p:nvSpPr>
          <p:cNvPr id="39" name="Text 37"/>
          <p:cNvSpPr/>
          <p:nvPr/>
        </p:nvSpPr>
        <p:spPr>
          <a:xfrm>
            <a:off x="2880360" y="49743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sits where errors are cheapest — plan, pre-irreversible, failure thresholds; autonomy is a design choice named by the role YOU keep.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8503920" y="49743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guide · Feng et al. 2025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502920" y="54132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2F5F6"/>
          </a:solidFill>
          <a:ln/>
        </p:spPr>
      </p:sp>
      <p:sp>
        <p:nvSpPr>
          <p:cNvPr id="42" name="Text 40"/>
          <p:cNvSpPr/>
          <p:nvPr/>
        </p:nvSpPr>
        <p:spPr>
          <a:xfrm>
            <a:off x="685800" y="54315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&amp; reproducibility</a:t>
            </a:r>
            <a:endParaRPr lang="en-US" sz="930" dirty="0"/>
          </a:p>
        </p:txBody>
      </p:sp>
      <p:sp>
        <p:nvSpPr>
          <p:cNvPr id="43" name="Text 41"/>
          <p:cNvSpPr/>
          <p:nvPr/>
        </p:nvSpPr>
        <p:spPr>
          <a:xfrm>
            <a:off x="2880360" y="54315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updates and descriptive commits make a run auditable and recoverable; same inputs → same outputs is engineered, not hoped.</a:t>
            </a:r>
            <a:endParaRPr lang="en-US" sz="880" dirty="0"/>
          </a:p>
        </p:txBody>
      </p:sp>
      <p:sp>
        <p:nvSpPr>
          <p:cNvPr id="44" name="Text 42"/>
          <p:cNvSpPr/>
          <p:nvPr/>
        </p:nvSpPr>
        <p:spPr>
          <a:xfrm>
            <a:off x="8503920" y="54315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harness guidance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02920" y="5870448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5888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shape &amp; discipline</a:t>
            </a:r>
            <a:endParaRPr lang="en-US" sz="930" dirty="0"/>
          </a:p>
        </p:txBody>
      </p:sp>
      <p:sp>
        <p:nvSpPr>
          <p:cNvPr id="47" name="Text 45"/>
          <p:cNvSpPr/>
          <p:nvPr/>
        </p:nvSpPr>
        <p:spPr>
          <a:xfrm>
            <a:off x="2880360" y="58887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status shape reads in 30 seconds; “done” means the check it ran, the output it got, the file re-opened — evidence, not assertion.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8503920" y="58887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status enums · harness docs</a:t>
            </a:r>
            <a:endParaRPr lang="en-US" sz="82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this training is built 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guidance (fetched Aug 2026)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22376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— Prompting best practices; long-context tips; reduce-hallucinations; Building Effective Agents; Claude Code best practices; context engineering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— GPT-5 prompting guide; reasoning best practices; A Practical Guide to Building Agents; Model Spec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— Gemini for Workspace prompting guides (Persona-Task-Context-Format)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— Copilot prompt guidance (Goal-Context-Source-Expectations); Copilot agents docs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25112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44568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 et al. 2020 (few-shot) · Wei et al. 2022 &amp; Kojima et al. 2022 (chain-of-thought) · Wang et al. 2023 (self-consistency)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Sclar et al. 2024 (format brittleness) · Zheng et al. 2024 (personas) · Salinas &amp; Morstatter 2024 (tips/perturbations)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Cheng et al., Science 2026 (sycophancy) · Sharma et al. 2023 (why sycophancy) · Liu et al. 2023 (lost in the middle)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2025 (why language models hallucinate) · Sprague et al. 2025 (when CoT helps)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147304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8348472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Landscape &amp; governance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66760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HAI AI Index 2026 · LMArena / Artificial Analysis / SWE-bench (Aug 2026 snapshots)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 · UK NCSC agentic-AI guidance · Cisco AI Defense (skills audit) · Harmonic Security (shadow-AI prompts)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launch posts &amp; major-outlet reporting (Reuters, CNBC, TechCrunch, Bloomberg) for all product dates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 list with URLs: notes/research/ in the training repo — every fact in this deck carries an “as of” date there.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LEARNING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LEARNING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reading — start practical, go deep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start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Mollick — Co-Intelligence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working-with-AI mindset book; read first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22376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Kneusel — How AI Works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concepts of Part 1, gently and rigorously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5112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E4F0EF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craft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4568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&amp; Taylor — Prompt Engineering for Generative AI (O’Reilly 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principles, applied — closest to Parts 3–4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44568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Berryman &amp; Ziegler — Prompt Engineering for LLMs (O’Reilly 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prompts actually meet the model; by GitHub Copilot creators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47304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8348472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Going deep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66760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Huyen — AI Engineering (O’Reilly 2025)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RAG, agents, evaluation — the engineering behind Part 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66760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Alammar &amp; Grootendorst — Hands-On Large Language Models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internals: tokens, embeddings, transformers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571500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FBF0E0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586587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0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965728"/>
            <a:ext cx="184343" cy="18434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216152" y="578815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fastest teacher of all: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library in this repo. Copy a template, run it on your real work today, improve it, commit the improvement.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2194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PROMPTS TO AGENTS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269748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with AI.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with judgment.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Delegate with a brief.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5120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prompt-library/ · Research &amp; sources: notes/ · Questions and template improvements: open an issue or bring them to the next session.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Prompts to Agents — Prompt Engineering for Generative &amp; Agentic AI</dc:title>
  <dc:subject>PptxGenJS Presentation</dc:subject>
  <dc:creator>Training Team</dc:creator>
  <cp:lastModifiedBy>Training Team</cp:lastModifiedBy>
  <cp:revision>1</cp:revision>
  <dcterms:created xsi:type="dcterms:W3CDTF">2026-09-08T13:40:38Z</dcterms:created>
  <dcterms:modified xsi:type="dcterms:W3CDTF">2026-09-08T13:40:38Z</dcterms:modified>
</cp:coreProperties>
</file>