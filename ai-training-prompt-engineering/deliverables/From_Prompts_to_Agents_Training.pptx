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generative (AI that talks) and agentic (AI that works).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 every assistant, every vendor, every year.”
2) Walk the three left bullets top to bottom; land on “two modes” as the backbone of the whole training.
3) Teal card: read the 10-second version VERBATIM — it is the thesis.
4) Map card: read the three block names and six parts quickly — no clock talk.
5) Amber card: the take-homes; physically hold up the handout pack here so people know things are coming home with them.
6) Footer aside, one sentence: this is the TEXT wing of prompting; image/video/audio have their own dials — a possible future training.
TRY IT — PROMPT 1/8 (opens the course log)
Everyone runs the chip prompt in whatever AI window they have open, in ONE chat they will keep all course — their course log.
Debrief line: the card ran on guesses (invented names, bracketed blanks); the brief asked YOU questions.
Recovery (a model asks questions both times): “guessing and bracketing are generative mode; asking is the agentic move — the brief just makes it happen on purpose.”
ACRONYMS —
LLM = Large Language Model — the text engine behind every assistant in this course.
CONTENT —
v1.5: title simplified to the ask-or-delegate example; durations removed from the map (three blocks, expandable — timing lives in the presenter plan, not on slides).
The multimodal aside is deliberate and brief: the Prompt Report counts 58 text techniques plus 40 for other modalities — a separate training if votes call for it.
Parts 3, 5 and 6 carry the hands-on moments; the eight numbered PROMPT exercises run in the trainees’ own AI window throughout — the thread doubles as their take-home course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top-left: “six parts — this is where we are” (the bar returns on every divider).
3) Set expectations in one sentence: “Two history slides, then six concepts — the concepts are the vocabulary for everything after.”
4) Under 30 seconds, then advance.
ACRONYMS —
RAG = Retrieval-Augmented Generation (in the subtitle; it gets its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it: “Seventy years in one slide — as four eras.”
2) Walk the four cards LEFT TO RIGHT. For each: name the era, point at the little diagram (a hand-written rulebook → a net that learns from examples → a machine that predicts the next word → a loop that plans, acts and checks itself), then one sentence of story.
3) Pause once, on “AI winters” in card 1: over-promising collapsed funding twice — skepticism about AI is historically earned.
4) Close on the amber band: scaling laws turned progress from a research gamble into an investment roadmap.
BRIDGE —
“Zoom into the decade that changed work.”
ACRONYMS —
GPU = Graphics Processing Unit — the graphics chip class that turned out to be perfect for training neural networks (AlexNet, 2012).
LLM = Large Language Model.
CONTENT —
v1.5: each era card now names its technologies (owner request) and carries a schematic mini-diagram — mechanism sketches, not data charts (owner choice).
Say the diagrams plainly: rules = a decision tree someone typed; learning = little circles passing signals, tuned from examples; generative = predict the next word-brick; agentic = plan → act → check, then loop.
The eras framing is a teaching synthesis — present it as “a useful way to see 70 years,” not official taxonomy.
The rules era = writing the SOP yourself; the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year by year, metronome pace — say the METHOD name in bold each time; these six names are course vocabulary.
2) Slow down twice: 2022 (RLHF — people ranked the model’s answers until a predictor became an assistant) and 2024 (models that think before answering).
3) Right card: one beat — ChatGPT reached 100 million users in two months; TikTok took nine, Instagram two and a half years.
BRIDGE —
“So what IS the thing under the hood?”
ACRONYMS —
GPT = Generative Pre-trained Transformer (OpenAI’s model family name).
RLHF = Reinforcement Learning from Human Feedback — people rank the model’s answers and it is tuned toward the preferred ones.
MoE = Mixture of Experts — a model built huge but waking only a fraction per question (defined properly in Part 2).
o1 = OpenAI’s first reasoning model. R1 = DeepSeek’s open reasoning model.
CONTENT —
v1.5: adoption card replaced with the single honest chart (time-to-100M, one source: UBS/Reuters 2023). A multi-company user-growth line is NOT buildable honestly — vendors report different metrics (weekly vs monthly actives vs downloads).
Kept for you, not the slide: 88% of organizations now use AI somewhere (Stanford AI Index 2026) — but agent deployment is still single-digit % across most business functions. Everyone chats with AI; almost nobody has industrialized delegation. That gap is why this room matters.
Vendor benchmark and adoption numbers are marketing until independently reproduced — treat them as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title metaphor: “a prediction engine, sent to finishing school.”
2) Walk the three cards LEFT TO RIGHT — pretraining, instruction tuning, human feedback; the arrows are the assembly line. One plain sentence each.
3) LEFT callout: knowledge freezes at the cutoff — anything newer must be brought to it.
4) RIGHT callout, read slowly — it is the thesis of the entire course: the prompt is the only steering wheel, and a complete prompt doesn’t make the model smarter — it DELETES WRONG GUESSES. Let that sit for a beat.
TRY IT — PROMPT 2/8 (two sends, in the course log)
Send 1 scatters: budget, staffing, quality, weather. Send 2 orbits May 3 and April 20.
Debrief line: “Grade the directions, not the sentences — your facts didn’t add intelligence, they deleted wrong guesses.”
That is the invisible probability distribution, made countable on their own screen.
BRIDGE —
“Six concepts, quick — starting with what the model actually reads.”
ACRONYMS —
RLHF = Reinforcement Learning from Human Feedback — card 3 on this slide.
CONTENT —
“Autocomplete trained on the internet; RLHF is the finishing school.”
InstructGPT fact worth telling: raters preferred a well-tuned 1.3B model over raw 175B GPT-3 — tuning beat 100x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top to bottom; STOP on the bold third bullet and tell the strawberry story there — models famously miscounted the r’s in “strawberry” because they never see letters, only brick IDs. (Tell it as a story — current models have memorized that one, so don’t run it live.)
3) Right card: point at the brick strip — “this is exactly how your sentence arrives: eight bricks, eight numbers.” The studs are decoration; the chunk boundaries are the point.
4) Teal card: the three daily-work consequences.
TRY IT — PROMPT 3/8 (course log)
Everyone runs the chip prompt. Point at the | marks on a few screens: that is what the AI actually sees.
Recovery (splits differ across the room, or the model hedges that its split is approximate): “that IS the lesson — every vendor has its own brick set; the bricks are always there, the letters never are.”
Bonus: the prompt itself models good form — structured request, word cap, plain-language constraint.
BRIDGE —
“If text is bricks — how many bricks fit on the desk?”
ACRONYMS —
ID = identifier — to the model each token is just a number.
K = thousand (25–35K tokens).
CONTENT —
v1.5: the tokenizer homework card became PROMPT 3/8 — teach-first: the model explains the concept with one worked example; no capability stunt that a 2026 model would pass and thereby teach the opposite.
Token math preview: it also explains context windows (next slide) and pricing (two slides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“the context window is a desk, not a filing cabinet.”
2) Left bullets top to bottom; on the bold one, draw the U-shape in the air — attention high at the start, sags in the middle, high at the end.
3) Right card: the four things sitting on the desk right now.
4) Teal card: the four numbered habits — habit ④ is about to be performed, not described.
5) Amber card: one sentence only — the filing-cabinet teaser for Part 5. Plant the seed, move on.
TRY IT — PROMPT 4/8 (course log)
Everyone runs the handoff prompt in the same thread — one send, one window.
Homework line: “tonight, paste your HANDOFF into a brand-new chat, ask ‘Where was I?’, and watch it pick up your course mid-stream.”
Recovery (note runs long or skips an exercise): “you just watched a long thread sag in the middle — the very reason we write handoff notes before we need them; reply ‘add Exercise X and trim to 80 words’.”
If someone’s fresh chat knows things they never pasted: “your tool has a filing cabinet bolted to the desk — hold that thought for Part 5.”
BRIDGE —
“And what if what you need was never on the desk? RAG.”
ACRONYMS —
1M = one million (tokens ≈ 1,500 pages).
CONTENT —
“Lost in the middle” = Liu et al. 2023 (TACL) — U-shaped accuracy by position. The ~30% figure is Anthropic’s own long-context guidance (docs at top, query at end).
1M-token flagship standard verified Aug 2026 across Claude, GPT-5.x, Gemini, and the Chinese open-weight flagships.
v1.5: the old two-window version of this exercise was cut — one send, one window; the felt proof moved to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 Retrieval-Augmented Generation — then switch to the analogy: an open-book exam. A librarian fetches pages from YOUR documents; the student writes the answer from those pages.
2) Walk the four step cards LEFT TO RIGHT: ask → retrieve → augment → generate.
3) Green card: why enterprises build on it — current, checkable, private, access-aware.
4) Red card, slowly: the failure mode — if the librarian pulls the wrong page, the student still writes a fluent, confident, CITED answer. Say the rule: “check the citation, not the prose.”
5) Teal band: point at the room — “you’ve been running this loop all along”: the internal assistant where you upload documentation and talk to it IS this slide. (Keep it generic — no product or vendor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rule IS the title — say it: “prompt first, retrieve second, fine-tune last.”
2) Walk the three rungs TOP TO BOTTOM; let the temp analogies carry it: instructions to a skilled temp → hand them your binder → send them to a training course.
3) Amber card — the generic power of the ladder: ONE question triages any AI disappointment: missing knowledge, or misbehaving with knowledge it has? Cheapest and most reversible fix first.
TRY IT — PROMPT 5/8 (course log; the trainees commit BEFORE the model grades — the learning is model-proof)
Answers: 1 P (behavior trap that looks like training) · 2 R (stale knowledge) · 3 P · 4 R (private knowledge) · 5 F (legitimate) · 6 defensible either way — the debrief centerpiece.
Debrief line: “Who put F on number 6? Defend it — notice every argument comes down to the one question on the amber card. That question is the whole ladder.”
Recovery (model blurts answers past the STOP): “cover the screen, sort the six on paper, then scroll back and argue with it — a grader that can’t wait for your diagnosis is exactly why the diagnosis has to live in your head.”
BRIDGE —
“Two concepts left — and they’re both about the bill.”
ACRONYMS —
RAG = Retrieval-Augmented Generation (rung 2).
CONTENT —
When someone proposes “let’s fine-tune on our procedures,” the first question is: knowledge problem (→RAG) or behavior problem (→maybe fine-tune)? Most enterprise cases are knowledge problems.
Frontier flagships mostly aren’t fine-tunable anyway (as of 2026); open-weight models are.
If asked how retrieval finds things: every text gets a coordinate in meaning-space; nearby = similar, even with no shared words.
NOTE: this is the ESCALATION ladder (capability). Part 6 has a different ladder — the PROMOTION ladder (where prompts live). Name them fully to avoid collision.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the question is when the slow one is worth its bill.”
2) Left bullets top to bottom; the BILL bullet is the one to slow on: thinking is billed like output — the expensive kind — and a hard question quietly costs 5–20× a simple one.
3) Green/amber cards: when to switch thinking on, when to skip it. Escalate on failure, not by default.
TRY IT — PROMPT 6/8 (course log; unique solution: Ben Mon · Chloe Tue · Ema Wed · Ana Thu · Dev Fri — check screens at a glance)
Debrief line: “Shout your multiple — most of you paid 10–20× for the careful pass; that is exactly how the thinking tier bills you.”
Recovery (fast answer already right): “you didn’t beat the exercise — you caught the pricing: modern models often deliberate quietly even before the ‘instant’ line.”
The exercise is designed NOT to need the fast answer to be wrong — either outcome teaches.
BRIDGE —
“That’s the two speeds. Now the whole menu — where your tokens actually go.”
ACRONYMS —
MoE = Mixture of Experts — defined properly in Part 2 (the DeepSeek slide).
System 1 / System 2 = Kahneman’s fast-intuition vs slow-deliberation framing.
CONTENT —
v1.5: replaces “Concept 5 · Reasoning models” — reframed from one vendor’s spending story to the generic token economy (owner request). Split into two slides; this is mechanics + cost.
Facts: thinking tokens billed as output even when you only see a summary; output ≈ 5× input across vendors; effort is adaptive/dial-able by 2026 (vendor effort settings are primary-sourced in notes/research/t4_choice_enums.md §5).
Honest caveat: the model isn’t literally “thinking” — it generates intermediate tokens that improve the final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bottom-left to top-right — 1× quick answer, 5–20× thinking, search adds sources, 100×+ deep research, agent modes most of all. The discipline in the subtitle: pick the SMALLEST mode that can succeed; escalate deliberately.
2) Right card: the same ladder under five brand names — read one row, gesture over the rest. Copilot users: your everyday menu is the fourth row.
3) Italic line: deep research demystified — a reasoning model with a browser and time. Cited report out; big token bill in.
TRY IT — PROMPT 7/8 (course log; self-updating — the answer regenerates the day any vendor renames a button)
Debrief line: “Read your column 1 aloud around the room — four different menus, one identical 1×/20×/100× ladder. You didn’t memorize this chart; you asked for it.”
Recovery (model misstates its own toggles/plans): “meta-prompting’s fine print — it knows what its modes DO far better than where the buttons live; keep the ladder, verify the toggles with your own eyes.”
BRIDGE —
“Last concept — the one everyone asks about first.”
ACRONYMS —
MoE = Mixture of Experts (Part 2).
CONTENT —
Mode names verified Sep 9, 2026 (notes/research/ + vendor help pages): ChatGPT deep research + thinking-effort slider (Sol) / Think button (Luna); Gemini Deep Research all tiers (free ~5 reports/mo) vs Deep Think (Ultra reasoning mode — a different thing); claude.ai Research (paid); Copilot Quick response / Think Deeper / Smart (GPT-5) + Researcher agent (consumer Deep Research retired); Perplexity Search / Research / Create files and apps. [REFRESH QUARTERLY — names churn.]
Scaling anecdote for questions: one prompt to a fast model vs an orchestrated multi-agent research run = hundreds of quick answers’ worth of tokens — the sessions that built this course are a live example.
(Part 3 preview) “think step by step” is now often redundant — the expired-advice slide in Part 3 handles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title is the sermon: “fluency is not evidence.”
2) Left bullets top to bottom: the mechanism (most PLAUSIBLE next token, not most true); the bold OpenAI 2025 finding — the vendor itself says benchmarks reward confident guessing; the vocabulary upgrade — CONFABULATION: filling gaps with plausible material, in-format; the improv-actor analogy, said plainly: an improv actor never breaks character — gaps get filled with the most plausible line.
3) Right cards top to bottom: the four kinds, one line each — each names the public incident that’s coming on the next slide.
BRIDGE —
“What does that look like in public? The hall of shame.”
ACRONYMS —
none new on this slide.
CONTENT —
v1.5: expanded to two slides (owner request: define hallucination more, name the kinds, then the public examples).
The four kinds are a teaching frame grounded in the research notes (self-delusion/snowballing, in-format guessing, bad-retrieval, truth bias — r10_library_b.md, r2_concepts.md, r14) — not claimed as an academic taxonomy.
OpenAI 2025 = “Why language models hallucinate” (arXiv:2509.04664) — eval incentives reward guessing over abstaining.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let the room laugh at glue-on-pizza, then take the temperature down card by card.
2) Glue on pizza, said plainly: someone posted a JOKE on a forum; the AI read the joke as advice and served it as a real answer — kind 3 from the last slide.
3) The lawyer: he checked the fabrication WITH the fabricator — “are these real?” — “yes.” That is why verification must be OUTSIDE the tool.
4) Air Canada: small money (~CA$800), giant precedent — your company owns what its chatbot says.
5) The Big Four arc lands hardest in a corporate room: three global consultancies, three AI-fabricated-source scandals in nine months — the last one a report ABOUT doing AI well.
6) Amber band: ~1,500 court decisions — the lawyer was not a one-off. Then teal: the cure — Ground it, Cite it, Verify it. Then the red house rule VERBATIM — it is policy, not advice.
BRIDGE —
“That closes the concepts — now, the tool landscape.”
ACRONYMS —
none new on this slide.
CONTENT —
All incidents verified with sources and dates in notes/research/r14_hallucination_incidents.md — including phrasing caveats.
Reserve incidents for questions (also in r14): Bard’s launch flub (~$100B market drop that day — phrase carefully: the error PLUS a weak launch event drove it) · Chicago Sun-Times fake summer reading list (10 of 15 books didn’t exist) · the invented Turley scandal · mayor Brian Hood (THREATENED the first defamation suit; never filed) · Michael Cohen’s fake Bard citations (NOT sanctioned — no bad faith) · NYC MyCity chatbot advising law-breaking · Whisper inventing sentences in hospital transcription (AP).
None of the three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names cover the chat landscape — and each is genuinely known for something different.”
2) Walk the cards in reading order — Claude → ChatGPT → Gemini (top row), Copilot → Perplexity → Grok (bottom row) — ONE known-for line each; let the amber caveats be read, not spoken.
3) On Grok, say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the tiers matter more than the brand wars.
5) Footer: the trust question is TWO SLIDES AHEAD; names verified Sep 9, 2026 and they WILL move.
BRIDGE —
“One force reshaped this list — the Chinese open-weight wave.”
ACRONYMS —
SWE-bench = Software Engineering benchmark — the standard test of coding-agent ability.
GDPval = OpenAI’s benchmark of real knowledge-work tasks across 44 occupations.
CJR = Columbia Journalism Review (its Tow Center tested AI search citation accuracy).
X = the social platform (Grok’s data source).
CONTENT —
v1.5 “known for” layer —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Perplexity: ~94% answers with inline citations; CJR/Tow lowest citation-error rate (37% vs 67% ChatGPT Search).
Vendor benchmark numbers are marketing until independently reproduced — read them as claims.
Grok note: xAI was acquired by SpaceX (Feb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define MoE with the hospital, plainly: built like a huge specialist hospital; 671 billion parameters exist, ~37 billion wake up per question; you pay for the specialists consulted, not the whole building. Distillation = big models teaching small ones.
3) RIGHT chart: five benchmark pairs — matched or ahead on three, behind on two (be honest: not a clean sweep) — then the bill line: 27× cheaper output; $100 of o1 work for $3.60.
4) Close the loop to Part 1: THIS is why thinking modes and deep research became affordable for everyone.
TRY IT — PROMPT 8/8 (course log)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MATH-500 / GPQA / SWE-bench / Codeforces = math-olympiad, math, PhD-science, coding-agent and competitive-programming benchmarks.
CONTENT —
Chart data verified against the R1 paper (arXiv:2501.12948) — see notes/research/r13_reputations_r1.md. Codeforces bars are human percentiles, not accuracy — the legend says so.
Pricing: R1 $0.55/$2.19 vs o1 $15/$60 per M tokens (Jan 2025) = 27.3–27.4×.
Since then (if asked): DeepSeek stayed the open-weight value leader but slipped off the leading edge — NIST’s CAISI evaluation (May 2026) put it ~8 months behind the frontier.
What the wave brought beyond DeepSeek (former on-slide list, now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Open with the finding that reorganized this slide: every Western vendor trains on CONSUMER chats by default, and NONE trains on enterprise-tier data — so trust tracks the account tier, not the company logo. The same logo appears in green and yellow.
2) LEFT table, fast: whose servers, where. Two rows to slow on: Microsoft (EU Data Boundary — but the Claude models inside Copilot sit OUTSIDE it; your IT team cares) and DeepSeek (its own policy says data is stored in the People’s Republic of China).
3) RIGHT tiers top to bottom: green = company tenant, where work belongs · yellow = personal accounts, where all the 2025 leaks happened · red = China-hosted consumer apps, never — and say the restaurant-vs-cookbook line plainly: using the app is eating at their restaurant (they see your order); downloaded open weights are a cookbook IT can cook from at home (nothing is sent anywhere).
4) Teal band: the one deciding question, verbatim.
BRIDGE —
“From models to the tools that DO things — the gallery.”
ACRONYMS —
PRC = People’s Republic of China. EU Data Boundary = Microsoft’s commitment to process EU data inside the EU.
AWS = Amazon Web Services. Entity List = the US federal trade-restriction list — a procurement red flag.
CONTENT —
Every row and tier claim sourced in notes/research/r11_vendor_trust.md (researched Sep 9, 2026), incl.: consumer-training defaults all-vendors; Grok’s ~370K indexed chats (Aug 2025); OpenAI court-ordered retention of “deleted” chats (2025, enterprise excluded); Italy’s DeepSeek block (Jan 2025, not lifted); DeepSeek’s exposed chat-log database (Jan 2025); Kimi PRC storage; Z.ai Entity-List parent.
Green ≠ invulnerable: EchoLeak (CVE-2025-32711, Jun 2025) was a zero-click prompt-injection exfiltration hole in enterprise Copilot — patched, but proof that novel attack surface exists even in green.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now; its lessons return in Part 5’s guardrails.
5) Footer: IDEs and browser agents exist — engineering/power-user territory, and browser agents are injection-prone (treat every page as untrusted input).
BRIDGE —
“Agents that DO. Now the specialists that MAKE — next slide.”
ACRONYMS —
IDE = Integrated Development Environment — a programmer’s editor.
DIY = do-it-yourself. n8n / Zapier = product names (not acronyms).
CONTENT —
v1.5: gallery split into doers/makers; Manus and Notion Agents added (evidence: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 “if you can’t run a command line, this is far too dangerous to use safely”; CVE-2026-25253 (1-click RCE); a malicious #1-ranked community skill (Cisco).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“the makers — one great tool per job. Sweep, don’t dwell: this slide is a reference card.”
2) Slow on two: Gemini Notebook (say the rename out loud — it was NotebookLM until July 2026, people know the old name; grounded in YOUR documents = the anti-hallucination tool) and Firefly (the image tool trained only on licensed content, with legal indemnification — the one your legal team will like).
3) The Sora line, plainly: a world-famous video app shut down fourteen months after launch — the lesson is never to build a business process on a consumer app.
4) Teal card (bottom right): the find-more move — don’t bookmark tool lists; ask your own assistant, fresh, when you need one.
5) Amber band VERBATIM: org policy and the approved-tool list outrank everything here.
BRIDGE —
“That’s the landscape. Part 3 — the craft itself.”
ACRONYMS —
none needing expansion on this slide (product names throughout).
CONTENT —
v1.5: replaces the former task-matrix and rankings slides (owner: redundant). Their two salvage lines live on: the policy band here, and “vendor numbers are marketing” in the assistants notes.
Evidence per tool in notes/research/r12_tool_landscape.md, incl.: NotebookLM→Gemini Notebook rename (Jul 16, 2026); Granola $1.5B valuation (Mar 2026) + the consent caveat; Gamma $100M ARR/70M users (Nov 2025); Firefly licensed-training + indemnification (Adobe business terms); Lovable enterprise users; DeepL Voice-to-Voice (Apr 2026); Sora app shutdown (Apr 2026).
Deliberately NOT on the slide: Stable Diffusion (open-source image generation — now an IT/developer tool: local installs, no indemnification; say “the open-source option IT might run privately” if asked) and Midjourney (artists’ favorite; active studio copyright litigation — legal-risk caveat).
If someone wants a directory anyway: There’s An AI For That — browse by task, verify with IT before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is the whole anatomy — one prompt, five labeled parts. Everything in Part 3 is refinements of this picture.”
2) Read the example TOP TO BOTTOM as one continuous prompt, pausing at each tag: role sets the behavior, task names the job and the audience, context supplies what it can’t know, format is the contract, examples show the standard.
3) Point out it’s ~70 words — “this is what ‘a short briefing’ means; it took under a minute to write.”
4) Right card, fast: four official vendor guides teach this same recipe under different names — “this is not our opinion; it’s convergence.”
5) Teal band: ~21 words vs the nine people type.
BRIDGE —
“Now each element properly — and what each one BUYS you.”
ACRONYMS —
Q2 = second quarter. XML-style tags = the angle-bracket fences around examples.
CONTENT —
The 21-words stat: Google’s Oct 2024 Workspace guide (directional, not gospel).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a weak-vs-strong pair.”
2) One card at a time, same rhythm: name and job → read the weak fill aloud, flat → read the strong fill aloud, let the contrast land → then “what you get” and the why.
3) Role — land two things: a role does NOT add IQ (zero accuracy gain across 162 personas, replicated in 2025), but it reliably sets voice and posture — and “explain like I’m five” personas actually cost accuracy on factual work.
4) Task — land the number: leave a requirement unsaid and the model guesses it right only about 4 times in 10.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seven techniques that cover almost everything.”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 techniques cover almost everything — four now, three process moves next slide. Each card has a line you can steal verbatim.”
2) Per card: name the technique, then read the Consolas example line ALOUD — the examples are the teaching (owner request: a concrete line for each).
3) On 4, remind: the Out’s numbers were two slides back — half the invented answers, one sentence.
4) Teal band: nothing new — these are the elements applied.
BRIDGE —
“Three process moves — and one famous retirement.”
ACRONYMS —
XML = the angle-bracket tag style (technique 3).
CONTENT —
v1.5: split into two slides with a verbatim example per technique (owner request).
Evidence: same-content different-wrapper swings up to 40% (He et al. 2024) — structure is a real variable; vendor guides converge on delimiters/tags (Anthropic XML, OpenAI delimiters).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name the move, read the Consolas line aloud.
2) On 6, say the hazard number: asking “are you sure?” with no criteria made GPT-4 DROP from 95.5% to 89% — a named checklist is what works.
3) On 7, note it’s productized: every vendor now ships a prompt improver; optimizer-written prompts beat human ones by up to 50% on hard benchmarks.
4) Amber card: the famous retirement — “think step by step” — resolved two slides ahead.
BRIDGE —
“Which of these survive scrutiny? The evidence corner.”
ACRONYMS —
none new on this slide.
CONTENT —
Evidence (r15): self-correction without external signal degrades (Huang et al. ICLR 2024: GSM8K 95.5→89.0; CommonSenseQA 75.8→38.1); criteria-anchored verification works (CoVe, ACL 2024: precision 0.17→0.32); metaprompting gains (OPRO ICLR 2024: up to +8% GSM8K, +50% BBH; GEPA 2025 beats RL fine-tuning).
Chaining = Anthropic guidance (“still useful when you need to inspect intermediate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green card — what holds up, in plain words: specificity, context, examples, everywhere; and the case for templates — the same ask, phrased differently, swung results by up to 76 points, so write it once and reuse it.
2) The green card’s last line runs INTO the red card — “roles shape voice… but ‘you are a genius’ adds zero accuracy.” Neither do tips, threats, or politeness theater.
3) RIGHT card, slow — say it as one sentence first: “the AI is a mirror: it agrees with you about half again as often as a person would.” Then the numbers.
4) Teal countermeasures: read all four; the first one — never reveal your preferred answer — changes behavior TODAY. Part 4’s blind-critique demo is this slide, performed.
BRIDGE —
“And 2026 retired some famous advice — the expired list.”
ACRONYMS —
CMU = Carnegie Mellon University (co-authors of the sycophancy study).
CONTENT —
Sources worth naming aloud: format brittleness = Sclar et al. ICLR 2024 (76-point swings — think gauge R&amp;R for prompts); personas = Zheng et al. EMNLP 2024 + Wharton replication Dec 2025; tipping = Salinas &amp; Morstatter ACL 2024 + Wharton Report 3 (2025); sycophancy = Cheng et al., Science 2026.
The lesson isn’t “AI lies” — it’s “AI mirrors you”; blind it to your preference before asking for judgment.
The 2025 Wharton replication wave (25–100 runs per question) independently confirms this slide’s green and red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and two famous pieces of it are now WRONG. This slide is your inoculation.”
2) TOP cards: retire “think step by step” (the vendors themselves say so) and retire piles of examples (zero-shot first; on reasoning models examples can hurt).
3) BOTTOM cards: the new risk — contradictions burn thinking tokens; and what replaced the magic words — the dials from Part 1: say how HARD to think, not HOW to think.
4) Teal band: what did NOT change — read the list, land on “the scaffolding tricks retire, the briefing skills compound.”
BRIDGE —
“The craft is stable — here’s the habit that compounds it.”
ACRONYMS —
CoT = Chain-of-Thought — the old “think step by step” prompting style, now built into thinking models.
CONTENT —
v1.5: retitled from “The 2026 update” framing to the plain unlearning frame (owner: “no clue what you’re doing here” — the slide’s job is to kill stale advice, so it now says so).
Sources: OpenAI reasoning best practices (“avoid chain-of-thought prompts”; “try zero shot first”); Anthropic 2026 best practices; GPT-5 guide (contradiction cost); DeepSeek-R1 paper (few-shot degrades); Wharton Report 2 (Jun 2025): CoT prompting’s value is measurably decreasing and adds variability.
Close on the reassurance: the durable 80%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step cards: draft → inspect → refine → standardize — and point at the PDCA tags: this is Plan-Do-Check-Act wearing prompt clothes.
2) At INSPECT, gesture right: the diagnosis grid is the Check step — name the failed element, fix that one; iteration stops being random retyping.
3) At STANDARDIZE, say the Toyota phrase: standardized work — lock in the better way, then improve the standard. That is Part 6’s whole story.
4) Amber band: the credential — the Lean Enterprise Institute (the Deming/Toyota home turf) published “Prompt, Do, Check, Act: the new PDCA” in May 2026. Their line: the people who get the most from these tools are the ones willing to run the loop a few more times.
5) Anthropic’s golden rule, spoken: show your prompt to a colleague with minimal context — if they’d be confused, the model will be too.
BRIDGE —
“One rep to cement it — then the playbook.”
ACRONYMS —
PDCA = Plan-Do-Check-Act — the Deming cycle, core of Toyota-style continuous improvement (kaizen).
gauge R&amp;R = Gauge Repeatability &amp; Reproducibility — a tested template kills prompt-to-prompt variation the way a calibrated gauge kills measurement variation.
CONTENT —
v1.5: PDCA mapping added (owner request — “Toyota PDCA”); the diagnosis grid moved here from the old safety-valves slide: Inspect is where it belongs.
Citation: Art Smalley (Toyota veteran), “Prompt, Do, Check, Act: The New PDCA,” Lean Enterprise Institute, May 27, 2026 — lean.org/the-lean-post (r15).
Why standardize, with the number: identical asks phrased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starts from the same weak line on screen: “Summarize this report.”
2) Say what this is FOR: “the elements stick when your hands use them once — three minutes, four upgrades: a Role, an audience, a numeric cap, an Out.”
3) Neighbor compare — the learning moment: different fills, same anatomy; ask one pair whose version wins and WHICH ELEMENT made the difference.
4) Only then reveal the presenter answer in the amber card.
5) Skip freely if behind — the playbook demos also exercise the elements.
ACRONYMS —
none on this slide.
CONTENT —
v1.5: reframed to explain its own purpose (owner: “not sure what you’re doing here”). It stays the single hands-on writing moment of Part 3; trainees do it in their course log so the upgraded prompt travels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demo two more live;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template, dissected — the other twelve share this shape: blocks, plus the reason each block exists.”
2) Walk the five rows TOP TO BOTTOM; per row: name the block, one line on what goes in (middle column), then read the RIGHT italic column aloud — the why is the teaching.
3) Slow on &lt;method&gt;: “reconcile to a known total — one anchor beats ten checks.”
BRIDGE —
“Enough anatomy — let’s RUN it, on a real file, step by step.”
ACRONYMS —
LLM = Large Language Model. n = sample size (flag n &lt; 20). G2 = this template’s library code.
CONTENT —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pack — name the file; the README sheet is the &lt;data&gt; block from G2, ready-made.
3) Teal card — the rule, verbatim: never start with a question; profile first, analyze second.
4) RIGHT: read STEP 0 aloud, run it live (Copilot in Excel, a chat upload, or the company assistant — same prompt works in all three).
5) Amber card: the reveal —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The pack lives in deliverables/exercise-data/ and regenerates from src/build_exercise_pack.py (seeded — the numbers quoted on these slides stay true after a rebuild).
Planted quirks: TOTAL row at the bottom; “n/a” text in Inspection_Hours around row 38. Both documented in the file’s README sheet.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This four-slide walkthrough (35–38) = G2 + G8 executed on the practice pack; G4’s spreadsheet rules (README tab, formulas-not-values) reappear as the deliverable spec — the templates compose.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One-line setup: “same draft, two chats — the only variable is what I reveal about myself.”
2) Run the three step cards IN ORDER: blind version first (cards 1–2), then the naive “I wrote this” ask in a second chat (card 3).
3) At the side-by-side: 20 seconds of SILENCE — let the room read both answers before anyone speaks.
4) Then the amber card: name what they noticed, and land the number — models affirm users ~49% more than humans do; blinding is the fix available today.
5) Teal band: this is the Part 4 rep — homework before the next block.
ACRONYMS —
G3 = the evaluations/rubrics template’s library code.
CONTENT —
Prepare a safe demo draft in advance (generic plan with 2–3 planted weaknesses). Budget 6–8 minutes. The side-by-side moment is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2) Run the three step cards IN ORDER: paste the prepared table → run G6 → download the file, double-click it, filter something, sort something.
3) WHILE it generates, narrate the amber card’s spec lines — single file, offline, data embedded, nothing hard-coded, formulas visible — those lines are what made it trustworthy.
4) Say the two caveats OUT LOUD: it is a snapshot, not a live system; share the FILE, not a public link.
5) Bottom band is your safety net: pre-built copy on the desktop.
BRIDGE —
“One more daily-life play — the inbox.”
ACRONYMS —
HTML = HyperText Markup Language — the single-file web-page format. KPI = Key Performance Indicator (the number tiles). G6 = the interactive-HTML template’s library code.
CONTENT —
Pre-stage the data table and the G6 prompt in a text file so the demo is paste-paste-run. Budget 6–8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the mechanics — the button gives you a cited summary (citations are the verification tool); the pane is where the real work happens; know the three limits (attachments, shared mailboxes, encrypted mail).
2) Note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BRIDGE —
“Two plays end to end. Here’s the menu of what we could drill next.”
ACRONYMS —
GCSE (Microsoft’s) = Goal, Context, Source, Expectations — its recommended prompt structure.
CONTENT —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BRIDGE —
“The playbook so far asks the AI to answer. Part 5 asks it to WORK.”
ACRONYMS —
none new on this slide.
CONTENT —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Sixty seconds: sweep the eight tiles in one pass — “two you watched live, two you walked end-to-end; the rest work exactly the same way: blocks plus reasons.”
2) Teal band: name the FULL handout pack piece by piece — templates, practice pack, Creator, Configurator, cheat sheet, ELEMENTS guide, Taxonomy Reference — so nobody leaves without knowing what they own.
3) Close the block: “homework is the blind critique on something of yours — next block is delegation; bring the homework story.”
ACRONYMS —
HTML / XLSX = web-page / Excel file formats (Creator / Configurator). G1–G8 = the generative templates’ library codes.
CONTENT —
v1.5: handout-pack line now includes the exercise pack (deliverables/exercise-data/). Block 2 ends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evidence rules → take-home. One line each — this is re-entry, not re-teaching. 2) At the take-home card, ask the homework question: “who ran the blind critique?” Take ONE volunteer story — it beats any recap. 3) Teal band: frame today — the leap from asking to delegating, then prompts as assets. 4) Advance.
ACRONYMS — none new on this slide.
CONTENT — v1.1: session-2 opener.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Teal band: every block maps to published vendor guidance.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“arms need supervision — five rules.”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demand evidence, not assertions — spot-check agent work like a new hire’s. 5) Bridge: “supervision costs effort — next slide is where agentic prompting pays it back.”
ACRONYMS — NCSC = (UK) National Cyber Security Centre. CVE = Common Vulnerabilities and Exposures — the public registry of security flaws.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rungs 1→5 down the left side: one line on what each is, one on when to climb. 2) Right top card: the promotion trigger — say Anthropic’s rule: “explained the same task more than once? Package it.” 3) Right bottom card: the familiar discipline — controlled work instructions, lighter weight. 4) Land the expectation: “most of you should live at rungs 2–3 within a month; rung 5 is where Part 5’s briefs live.” 5)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test on 3–5 real cases including an edge case, re-test after model changes.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Bridge: “three exercises to make it stick.”
ACRONYMS — none new on this slide.
CONTENT — Each maps back to a part: 1–2 anatomy, 3–5 concepts, 6–7 evidence, 8–9 agentic, 10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on the right of each card — it is the motivation. 3) Set the share-back: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nineteen were used in context during the training (taxonomy added in v1.2; the two ladders added in v1.5 to disambiguate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Last sentence: where everything lives, and bring template improvements to the next session. 4) Thank them — then stop talking; resist the recap urge.
ACRONYMS — none on this slide.
CONTENT — Close by connecting to the previous training’s habit line — now extended with: delegate with a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1.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1.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1.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pn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slideLayout" Target="../slideLayouts/slideLayout1.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slideLayout" Target="../slideLayouts/slideLayout1.xml"/><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0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9202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200" dirty="0"/>
          </a:p>
        </p:txBody>
      </p:sp>
      <p:sp>
        <p:nvSpPr>
          <p:cNvPr id="7" name="Shape 5"/>
          <p:cNvSpPr/>
          <p:nvPr/>
        </p:nvSpPr>
        <p:spPr>
          <a:xfrm>
            <a:off x="502920" y="3493008"/>
            <a:ext cx="5577840" cy="1170432"/>
          </a:xfrm>
          <a:prstGeom prst="roundRect">
            <a:avLst>
              <a:gd name="adj" fmla="val 6250"/>
            </a:avLst>
          </a:prstGeom>
          <a:solidFill>
            <a:srgbClr val="E4F0EF"/>
          </a:solidFill>
          <a:ln/>
        </p:spPr>
      </p:sp>
      <p:sp>
        <p:nvSpPr>
          <p:cNvPr id="8" name="Shape 6"/>
          <p:cNvSpPr/>
          <p:nvPr/>
        </p:nvSpPr>
        <p:spPr>
          <a:xfrm>
            <a:off x="667512" y="3886200"/>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986052"/>
            <a:ext cx="184343" cy="184343"/>
          </a:xfrm>
          <a:prstGeom prst="rect">
            <a:avLst/>
          </a:prstGeom>
        </p:spPr>
      </p:pic>
      <p:sp>
        <p:nvSpPr>
          <p:cNvPr id="10" name="Text 7"/>
          <p:cNvSpPr/>
          <p:nvPr/>
        </p:nvSpPr>
        <p:spPr>
          <a:xfrm>
            <a:off x="1216152" y="3566160"/>
            <a:ext cx="4636008" cy="1024128"/>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An agentic prompt describes a job to run — goal, inputs, checks, and when to stop and ask you.</a:t>
            </a:r>
            <a:endParaRPr lang="en-US" sz="1150" dirty="0"/>
          </a:p>
        </p:txBody>
      </p:sp>
      <p:sp>
        <p:nvSpPr>
          <p:cNvPr id="11" name="Shape 8"/>
          <p:cNvSpPr/>
          <p:nvPr/>
        </p:nvSpPr>
        <p:spPr>
          <a:xfrm>
            <a:off x="502920" y="4800600"/>
            <a:ext cx="5577840" cy="1481328"/>
          </a:xfrm>
          <a:prstGeom prst="roundRect">
            <a:avLst>
              <a:gd name="adj" fmla="val 4938"/>
            </a:avLst>
          </a:prstGeom>
          <a:solidFill>
            <a:srgbClr val="E4F0EF"/>
          </a:solidFill>
          <a:ln/>
        </p:spPr>
      </p:sp>
      <p:sp>
        <p:nvSpPr>
          <p:cNvPr id="12" name="Shape 9"/>
          <p:cNvSpPr/>
          <p:nvPr/>
        </p:nvSpPr>
        <p:spPr>
          <a:xfrm>
            <a:off x="649224" y="4919472"/>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5014570"/>
            <a:ext cx="175565" cy="175565"/>
          </a:xfrm>
          <a:prstGeom prst="rect">
            <a:avLst/>
          </a:prstGeom>
        </p:spPr>
      </p:pic>
      <p:sp>
        <p:nvSpPr>
          <p:cNvPr id="14" name="Shape 10"/>
          <p:cNvSpPr/>
          <p:nvPr/>
        </p:nvSpPr>
        <p:spPr>
          <a:xfrm>
            <a:off x="1106424" y="4946904"/>
            <a:ext cx="1188720" cy="310896"/>
          </a:xfrm>
          <a:prstGeom prst="roundRect">
            <a:avLst>
              <a:gd name="adj" fmla="val 23529"/>
            </a:avLst>
          </a:prstGeom>
          <a:solidFill>
            <a:srgbClr val="0E7C7B"/>
          </a:solidFill>
          <a:ln/>
        </p:spPr>
      </p:sp>
      <p:sp>
        <p:nvSpPr>
          <p:cNvPr id="15" name="Text 11"/>
          <p:cNvSpPr/>
          <p:nvPr/>
        </p:nvSpPr>
        <p:spPr>
          <a:xfrm>
            <a:off x="1106424" y="495604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1/8</a:t>
            </a:r>
            <a:endParaRPr lang="en-US" sz="950" dirty="0"/>
          </a:p>
        </p:txBody>
      </p:sp>
      <p:sp>
        <p:nvSpPr>
          <p:cNvPr id="16" name="Text 12"/>
          <p:cNvSpPr/>
          <p:nvPr/>
        </p:nvSpPr>
        <p:spPr>
          <a:xfrm>
            <a:off x="2404872" y="4956048"/>
            <a:ext cx="342900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Two modes, felt — opens your course log</a:t>
            </a:r>
            <a:endParaRPr lang="en-US" sz="1050" dirty="0"/>
          </a:p>
        </p:txBody>
      </p:sp>
      <p:sp>
        <p:nvSpPr>
          <p:cNvPr id="17" name="Text 13"/>
          <p:cNvSpPr/>
          <p:nvPr/>
        </p:nvSpPr>
        <p:spPr>
          <a:xfrm>
            <a:off x="685800" y="5330952"/>
            <a:ext cx="5212080" cy="822960"/>
          </a:xfrm>
          <a:prstGeom prst="rect">
            <a:avLst/>
          </a:prstGeom>
          <a:noFill/>
          <a:ln/>
        </p:spPr>
        <p:txBody>
          <a:bodyPr wrap="square" lIns="0" tIns="0" rIns="0" bIns="0" rtlCol="0" anchor="t"/>
          <a:lstStyle/>
          <a:p>
            <a:pPr indent="0" marL="0">
              <a:lnSpc>
                <a:spcPct val="110000"/>
              </a:lnSpc>
              <a:buNone/>
            </a:pPr>
            <a:r>
              <a:rPr lang="en-US" sz="900" dirty="0">
                <a:solidFill>
                  <a:srgbClr val="232A31"/>
                </a:solidFill>
                <a:latin typeface="Consolas" pitchFamily="34" charset="0"/>
                <a:ea typeface="Consolas" pitchFamily="34" charset="-122"/>
                <a:cs typeface="Consolas" pitchFamily="34" charset="-120"/>
              </a:rPr>
              <a:t>This chat is my course log. Entry 1, same request two ways: a farewell card for a coworker. First, just write it. Then don’t write it — draft the job brief instead: goal, inputs you need from me, checks, when to stop and ask.</a:t>
            </a:r>
            <a:endParaRPr lang="en-US" sz="900" dirty="0"/>
          </a:p>
        </p:txBody>
      </p:sp>
      <p:sp>
        <p:nvSpPr>
          <p:cNvPr id="18" name="Shape 14"/>
          <p:cNvSpPr/>
          <p:nvPr/>
        </p:nvSpPr>
        <p:spPr>
          <a:xfrm>
            <a:off x="6400800" y="1417320"/>
            <a:ext cx="5257800" cy="2697480"/>
          </a:xfrm>
          <a:prstGeom prst="roundRect">
            <a:avLst>
              <a:gd name="adj" fmla="val 2712"/>
            </a:avLst>
          </a:prstGeom>
          <a:solidFill>
            <a:srgbClr val="F2F5F6"/>
          </a:solidFill>
          <a:ln/>
        </p:spPr>
      </p:sp>
      <p:sp>
        <p:nvSpPr>
          <p:cNvPr id="19" name="Text 15"/>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0" name="Text 16"/>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050" dirty="0">
                <a:solidFill>
                  <a:srgbClr val="46545F"/>
                </a:solidFill>
                <a:latin typeface="Calibri" pitchFamily="34" charset="0"/>
                <a:ea typeface="Calibri" pitchFamily="34" charset="-122"/>
                <a:cs typeface="Calibri" pitchFamily="34" charset="-120"/>
              </a:rPr>
              <a:t>4 · The playbook — live demos &amp; templates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1" name="Shape 17"/>
          <p:cNvSpPr/>
          <p:nvPr/>
        </p:nvSpPr>
        <p:spPr>
          <a:xfrm>
            <a:off x="6400800" y="4261104"/>
            <a:ext cx="5257800" cy="1554480"/>
          </a:xfrm>
          <a:prstGeom prst="roundRect">
            <a:avLst>
              <a:gd name="adj" fmla="val 4706"/>
            </a:avLst>
          </a:prstGeom>
          <a:solidFill>
            <a:srgbClr val="FBF0E0"/>
          </a:solidFill>
          <a:ln/>
        </p:spPr>
      </p:sp>
      <p:sp>
        <p:nvSpPr>
          <p:cNvPr id="22" name="Shape 18"/>
          <p:cNvSpPr/>
          <p:nvPr/>
        </p:nvSpPr>
        <p:spPr>
          <a:xfrm>
            <a:off x="6565392" y="4846320"/>
            <a:ext cx="384048" cy="384048"/>
          </a:xfrm>
          <a:prstGeom prst="ellipse">
            <a:avLst/>
          </a:prstGeom>
          <a:solidFill>
            <a:srgbClr val="B96A1B"/>
          </a:solidFill>
          <a:ln/>
        </p:spPr>
      </p:sp>
      <p:pic>
        <p:nvPicPr>
          <p:cNvPr id="23" name="Image 2" descr="/home/user/Claude-Works/ai-training-prompt-engineering/src/assets/icons/download_w.png">    </p:cNvPr>
          <p:cNvPicPr>
            <a:picLocks noChangeAspect="1"/>
          </p:cNvPicPr>
          <p:nvPr/>
        </p:nvPicPr>
        <p:blipFill>
          <a:blip r:embed="rId3"/>
          <a:stretch>
            <a:fillRect/>
          </a:stretch>
        </p:blipFill>
        <p:spPr>
          <a:xfrm>
            <a:off x="6665244" y="4946172"/>
            <a:ext cx="184343" cy="184343"/>
          </a:xfrm>
          <a:prstGeom prst="rect">
            <a:avLst/>
          </a:prstGeom>
        </p:spPr>
      </p:pic>
      <p:sp>
        <p:nvSpPr>
          <p:cNvPr id="24" name="Text 19"/>
          <p:cNvSpPr/>
          <p:nvPr/>
        </p:nvSpPr>
        <p:spPr>
          <a:xfrm>
            <a:off x="7114032" y="4334256"/>
            <a:ext cx="4315968" cy="1408176"/>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You leave with: </a:t>
            </a:r>
            <a:endParaRPr lang="en-US" sz="11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a working AI vocabulary · a tool map · the universal prompt anatomy + seven techniques · a 13-template library with an interactive Template Creator · the Prompt Element Taxonomy reference (your parts catalog) · team conventions for storing and versioning prompts.</a:t>
            </a:r>
            <a:endParaRPr lang="en-US" sz="1100" dirty="0"/>
          </a:p>
        </p:txBody>
      </p:sp>
      <p:sp>
        <p:nvSpPr>
          <p:cNvPr id="25" name="Text 20"/>
          <p:cNvSpPr/>
          <p:nvPr/>
        </p:nvSpPr>
        <p:spPr>
          <a:xfrm>
            <a:off x="6400800" y="5925312"/>
            <a:ext cx="5257800" cy="457200"/>
          </a:xfrm>
          <a:prstGeom prst="rect">
            <a:avLst/>
          </a:prstGeom>
          <a:noFill/>
          <a:ln/>
        </p:spPr>
        <p:txBody>
          <a:bodyPr wrap="square" lIns="0" tIns="0" rIns="0" bIns="0" rtlCol="0" anchor="ctr"/>
          <a:lstStyle/>
          <a:p>
            <a:pPr indent="0" marL="0">
              <a:lnSpc>
                <a:spcPct val="105000"/>
              </a:lnSpc>
              <a:buNone/>
            </a:pPr>
            <a:r>
              <a:rPr lang="en-US" sz="900" i="1" dirty="0">
                <a:solidFill>
                  <a:srgbClr val="7A8790"/>
                </a:solidFill>
                <a:latin typeface="Calibri" pitchFamily="34" charset="0"/>
                <a:ea typeface="Calibri" pitchFamily="34" charset="-122"/>
                <a:cs typeface="Calibri" pitchFamily="34" charset="-120"/>
              </a:rPr>
              <a:t>This course teaches the text wing. Image, video and audio prompting have their own dials — same discipline, different controls; with enough interest, that becomes its own training.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Seventy years in two slides,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1950s–1990s · symbolic AI, expert systems</a:t>
            </a:r>
            <a:endParaRPr lang="en-US" sz="82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if…?</a:t>
            </a:r>
            <a:endParaRPr lang="en-US" sz="65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then A</a:t>
            </a:r>
            <a:endParaRPr lang="en-US" sz="65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else B</a:t>
            </a:r>
            <a:endParaRPr lang="en-US" sz="650" dirty="0"/>
          </a:p>
        </p:txBody>
      </p:sp>
      <p:sp>
        <p:nvSpPr>
          <p:cNvPr id="17" name="Shape 14"/>
          <p:cNvSpPr/>
          <p:nvPr/>
        </p:nvSpPr>
        <p:spPr>
          <a:xfrm>
            <a:off x="173736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664208"/>
          </a:xfrm>
          <a:prstGeom prst="rect">
            <a:avLst/>
          </a:prstGeom>
          <a:noFill/>
          <a:ln/>
        </p:spPr>
        <p:txBody>
          <a:bodyPr wrap="square" lIns="0" tIns="0" rIns="0" bIns="0" rtlCol="0" anchor="ctr"/>
          <a:lstStyle/>
          <a:p>
            <a:pPr indent="0" marL="0">
              <a:lnSpc>
                <a:spcPct val="107000"/>
              </a:lnSpc>
              <a:buNone/>
            </a:pPr>
            <a:r>
              <a:rPr lang="en-US" sz="990" dirty="0">
                <a:solidFill>
                  <a:srgbClr val="46545F"/>
                </a:solidFill>
                <a:latin typeface="Calibri" pitchFamily="34" charset="0"/>
                <a:ea typeface="Calibri" pitchFamily="34" charset="-122"/>
                <a:cs typeface="Calibri" pitchFamily="34" charset="-120"/>
              </a:rPr>
              <a:t>Humans hand-code the logic: “if X then Y.” Expert systems (MYCIN, XCON) shine, then crack — rules can’t cover messy reality. Hype outruns results twice: the “AI winters.”</a:t>
            </a:r>
            <a:endParaRPr lang="en-US" sz="990" dirty="0"/>
          </a:p>
        </p:txBody>
      </p:sp>
      <p:sp>
        <p:nvSpPr>
          <p:cNvPr id="20" name="Shape 17"/>
          <p:cNvSpPr/>
          <p:nvPr/>
        </p:nvSpPr>
        <p:spPr>
          <a:xfrm>
            <a:off x="3218688" y="3154680"/>
            <a:ext cx="182880" cy="0"/>
          </a:xfrm>
          <a:prstGeom prst="line">
            <a:avLst/>
          </a:prstGeom>
          <a:noFill/>
          <a:ln w="28575">
            <a:solidFill>
              <a:srgbClr val="0E7C7B"/>
            </a:solidFill>
            <a:prstDash val="solid"/>
            <a:tailEnd type="triangle"/>
          </a:ln>
        </p:spPr>
      </p:sp>
      <p:sp>
        <p:nvSpPr>
          <p:cNvPr id="21" name="Shape 18"/>
          <p:cNvSpPr/>
          <p:nvPr/>
        </p:nvSpPr>
        <p:spPr>
          <a:xfrm>
            <a:off x="3419856" y="1554480"/>
            <a:ext cx="2697480" cy="3401568"/>
          </a:xfrm>
          <a:prstGeom prst="roundRect">
            <a:avLst>
              <a:gd name="adj" fmla="val 2712"/>
            </a:avLst>
          </a:prstGeom>
          <a:solidFill>
            <a:srgbClr val="F2F5F6"/>
          </a:solidFill>
          <a:ln/>
        </p:spPr>
      </p:sp>
      <p:sp>
        <p:nvSpPr>
          <p:cNvPr id="22" name="Shape 19"/>
          <p:cNvSpPr/>
          <p:nvPr/>
        </p:nvSpPr>
        <p:spPr>
          <a:xfrm>
            <a:off x="3639312" y="1755648"/>
            <a:ext cx="457200" cy="457200"/>
          </a:xfrm>
          <a:prstGeom prst="ellipse">
            <a:avLst/>
          </a:prstGeom>
          <a:solidFill>
            <a:srgbClr val="0E7C7B"/>
          </a:solidFill>
          <a:ln/>
        </p:spPr>
      </p:sp>
      <p:pic>
        <p:nvPicPr>
          <p:cNvPr id="23"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4" name="Text 20"/>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5" name="Text 21"/>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1990s–2010s · machine learning, neural networks</a:t>
            </a:r>
            <a:endParaRPr lang="en-US" sz="820" dirty="0"/>
          </a:p>
        </p:txBody>
      </p:sp>
      <p:sp>
        <p:nvSpPr>
          <p:cNvPr id="26" name="Shape 22"/>
          <p:cNvSpPr/>
          <p:nvPr/>
        </p:nvSpPr>
        <p:spPr>
          <a:xfrm>
            <a:off x="3968496" y="2642616"/>
            <a:ext cx="777240" cy="100584"/>
          </a:xfrm>
          <a:prstGeom prst="line">
            <a:avLst/>
          </a:prstGeom>
          <a:noFill/>
          <a:ln w="11430">
            <a:solidFill>
              <a:srgbClr val="DCE3E6"/>
            </a:solidFill>
            <a:prstDash val="solid"/>
          </a:ln>
        </p:spPr>
      </p:sp>
      <p:sp>
        <p:nvSpPr>
          <p:cNvPr id="27" name="Shape 23"/>
          <p:cNvSpPr/>
          <p:nvPr/>
        </p:nvSpPr>
        <p:spPr>
          <a:xfrm>
            <a:off x="3968496" y="2642616"/>
            <a:ext cx="777240" cy="301752"/>
          </a:xfrm>
          <a:prstGeom prst="line">
            <a:avLst/>
          </a:prstGeom>
          <a:noFill/>
          <a:ln w="11430">
            <a:solidFill>
              <a:srgbClr val="DCE3E6"/>
            </a:solidFill>
            <a:prstDash val="solid"/>
          </a:ln>
        </p:spPr>
      </p:sp>
      <p:sp>
        <p:nvSpPr>
          <p:cNvPr id="28" name="Shape 24"/>
          <p:cNvSpPr/>
          <p:nvPr/>
        </p:nvSpPr>
        <p:spPr>
          <a:xfrm>
            <a:off x="3968496" y="2843784"/>
            <a:ext cx="777240" cy="-100584"/>
          </a:xfrm>
          <a:prstGeom prst="line">
            <a:avLst/>
          </a:prstGeom>
          <a:noFill/>
          <a:ln w="11430">
            <a:solidFill>
              <a:srgbClr val="DCE3E6"/>
            </a:solidFill>
            <a:prstDash val="solid"/>
          </a:ln>
        </p:spPr>
      </p:sp>
      <p:sp>
        <p:nvSpPr>
          <p:cNvPr id="29" name="Shape 25"/>
          <p:cNvSpPr/>
          <p:nvPr/>
        </p:nvSpPr>
        <p:spPr>
          <a:xfrm>
            <a:off x="3968496" y="2843784"/>
            <a:ext cx="777240" cy="100584"/>
          </a:xfrm>
          <a:prstGeom prst="line">
            <a:avLst/>
          </a:prstGeom>
          <a:noFill/>
          <a:ln w="11430">
            <a:solidFill>
              <a:srgbClr val="DCE3E6"/>
            </a:solidFill>
            <a:prstDash val="solid"/>
          </a:ln>
        </p:spPr>
      </p:sp>
      <p:sp>
        <p:nvSpPr>
          <p:cNvPr id="30" name="Shape 26"/>
          <p:cNvSpPr/>
          <p:nvPr/>
        </p:nvSpPr>
        <p:spPr>
          <a:xfrm>
            <a:off x="3968496" y="3044952"/>
            <a:ext cx="777240" cy="-301752"/>
          </a:xfrm>
          <a:prstGeom prst="line">
            <a:avLst/>
          </a:prstGeom>
          <a:noFill/>
          <a:ln w="11430">
            <a:solidFill>
              <a:srgbClr val="DCE3E6"/>
            </a:solidFill>
            <a:prstDash val="solid"/>
          </a:ln>
        </p:spPr>
      </p:sp>
      <p:sp>
        <p:nvSpPr>
          <p:cNvPr id="31" name="Shape 27"/>
          <p:cNvSpPr/>
          <p:nvPr/>
        </p:nvSpPr>
        <p:spPr>
          <a:xfrm>
            <a:off x="3968496" y="3044952"/>
            <a:ext cx="777240" cy="-100584"/>
          </a:xfrm>
          <a:prstGeom prst="line">
            <a:avLst/>
          </a:prstGeom>
          <a:noFill/>
          <a:ln w="11430">
            <a:solidFill>
              <a:srgbClr val="DCE3E6"/>
            </a:solidFill>
            <a:prstDash val="solid"/>
          </a:ln>
        </p:spPr>
      </p:sp>
      <p:sp>
        <p:nvSpPr>
          <p:cNvPr id="32" name="Shape 28"/>
          <p:cNvSpPr/>
          <p:nvPr/>
        </p:nvSpPr>
        <p:spPr>
          <a:xfrm>
            <a:off x="4882896" y="2743200"/>
            <a:ext cx="685800" cy="100584"/>
          </a:xfrm>
          <a:prstGeom prst="line">
            <a:avLst/>
          </a:prstGeom>
          <a:noFill/>
          <a:ln w="11430">
            <a:solidFill>
              <a:srgbClr val="DCE3E6"/>
            </a:solidFill>
            <a:prstDash val="solid"/>
          </a:ln>
        </p:spPr>
      </p:sp>
      <p:sp>
        <p:nvSpPr>
          <p:cNvPr id="33" name="Shape 29"/>
          <p:cNvSpPr/>
          <p:nvPr/>
        </p:nvSpPr>
        <p:spPr>
          <a:xfrm>
            <a:off x="4882896" y="2944368"/>
            <a:ext cx="685800" cy="-100584"/>
          </a:xfrm>
          <a:prstGeom prst="line">
            <a:avLst/>
          </a:prstGeom>
          <a:noFill/>
          <a:ln w="11430">
            <a:solidFill>
              <a:srgbClr val="DCE3E6"/>
            </a:solidFill>
            <a:prstDash val="solid"/>
          </a:ln>
        </p:spPr>
      </p:sp>
      <p:sp>
        <p:nvSpPr>
          <p:cNvPr id="34" name="Shape 30"/>
          <p:cNvSpPr/>
          <p:nvPr/>
        </p:nvSpPr>
        <p:spPr>
          <a:xfrm>
            <a:off x="3840480" y="2578608"/>
            <a:ext cx="137160" cy="137160"/>
          </a:xfrm>
          <a:prstGeom prst="ellipse">
            <a:avLst/>
          </a:prstGeom>
          <a:solidFill>
            <a:srgbClr val="0E7C7B"/>
          </a:solidFill>
          <a:ln/>
        </p:spPr>
      </p:sp>
      <p:sp>
        <p:nvSpPr>
          <p:cNvPr id="35" name="Shape 31"/>
          <p:cNvSpPr/>
          <p:nvPr/>
        </p:nvSpPr>
        <p:spPr>
          <a:xfrm>
            <a:off x="3840480" y="2779776"/>
            <a:ext cx="137160" cy="137160"/>
          </a:xfrm>
          <a:prstGeom prst="ellipse">
            <a:avLst/>
          </a:prstGeom>
          <a:solidFill>
            <a:srgbClr val="0E7C7B"/>
          </a:solidFill>
          <a:ln/>
        </p:spPr>
      </p:sp>
      <p:sp>
        <p:nvSpPr>
          <p:cNvPr id="36" name="Shape 32"/>
          <p:cNvSpPr/>
          <p:nvPr/>
        </p:nvSpPr>
        <p:spPr>
          <a:xfrm>
            <a:off x="3840480" y="2980944"/>
            <a:ext cx="137160" cy="137160"/>
          </a:xfrm>
          <a:prstGeom prst="ellipse">
            <a:avLst/>
          </a:prstGeom>
          <a:solidFill>
            <a:srgbClr val="0E7C7B"/>
          </a:solidFill>
          <a:ln/>
        </p:spPr>
      </p:sp>
      <p:sp>
        <p:nvSpPr>
          <p:cNvPr id="37" name="Shape 33"/>
          <p:cNvSpPr/>
          <p:nvPr/>
        </p:nvSpPr>
        <p:spPr>
          <a:xfrm>
            <a:off x="4754880" y="2679192"/>
            <a:ext cx="137160" cy="137160"/>
          </a:xfrm>
          <a:prstGeom prst="ellipse">
            <a:avLst/>
          </a:prstGeom>
          <a:solidFill>
            <a:srgbClr val="0E7C7B"/>
          </a:solidFill>
          <a:ln/>
        </p:spPr>
      </p:sp>
      <p:sp>
        <p:nvSpPr>
          <p:cNvPr id="38" name="Shape 34"/>
          <p:cNvSpPr/>
          <p:nvPr/>
        </p:nvSpPr>
        <p:spPr>
          <a:xfrm>
            <a:off x="4754880" y="2880360"/>
            <a:ext cx="137160" cy="137160"/>
          </a:xfrm>
          <a:prstGeom prst="ellipse">
            <a:avLst/>
          </a:prstGeom>
          <a:solidFill>
            <a:srgbClr val="0E7C7B"/>
          </a:solidFill>
          <a:ln/>
        </p:spPr>
      </p:sp>
      <p:sp>
        <p:nvSpPr>
          <p:cNvPr id="39" name="Shape 35"/>
          <p:cNvSpPr/>
          <p:nvPr/>
        </p:nvSpPr>
        <p:spPr>
          <a:xfrm>
            <a:off x="5577840" y="2779776"/>
            <a:ext cx="137160" cy="137160"/>
          </a:xfrm>
          <a:prstGeom prst="ellipse">
            <a:avLst/>
          </a:prstGeom>
          <a:solidFill>
            <a:srgbClr val="B96A1B"/>
          </a:solidFill>
          <a:ln/>
        </p:spPr>
      </p:sp>
      <p:sp>
        <p:nvSpPr>
          <p:cNvPr id="40" name="Text 36"/>
          <p:cNvSpPr/>
          <p:nvPr/>
        </p:nvSpPr>
        <p:spPr>
          <a:xfrm>
            <a:off x="3639312" y="3218688"/>
            <a:ext cx="2286000" cy="1664208"/>
          </a:xfrm>
          <a:prstGeom prst="rect">
            <a:avLst/>
          </a:prstGeom>
          <a:noFill/>
          <a:ln/>
        </p:spPr>
        <p:txBody>
          <a:bodyPr wrap="square" lIns="0" tIns="0" rIns="0" bIns="0" rtlCol="0" anchor="ctr"/>
          <a:lstStyle/>
          <a:p>
            <a:pPr indent="0" marL="0">
              <a:lnSpc>
                <a:spcPct val="107000"/>
              </a:lnSpc>
              <a:buNone/>
            </a:pPr>
            <a:r>
              <a:rPr lang="en-US" sz="990" dirty="0">
                <a:solidFill>
                  <a:srgbClr val="46545F"/>
                </a:solidFill>
                <a:latin typeface="Calibri" pitchFamily="34" charset="0"/>
                <a:ea typeface="Calibri" pitchFamily="34" charset="-122"/>
                <a:cs typeface="Calibri" pitchFamily="34" charset="-120"/>
              </a:rPr>
              <a:t>Stop writing rules — let the system find patterns in examples. Spam filters, search, recommendations. 2012: deep nets + GPUs crush image recognition (AlexNet: 15.3% error vs 26.2%).</a:t>
            </a:r>
            <a:endParaRPr lang="en-US" sz="990" dirty="0"/>
          </a:p>
        </p:txBody>
      </p:sp>
      <p:sp>
        <p:nvSpPr>
          <p:cNvPr id="41" name="Shape 37"/>
          <p:cNvSpPr/>
          <p:nvPr/>
        </p:nvSpPr>
        <p:spPr>
          <a:xfrm>
            <a:off x="6135624" y="3154680"/>
            <a:ext cx="182880" cy="0"/>
          </a:xfrm>
          <a:prstGeom prst="line">
            <a:avLst/>
          </a:prstGeom>
          <a:noFill/>
          <a:ln w="28575">
            <a:solidFill>
              <a:srgbClr val="0E7C7B"/>
            </a:solidFill>
            <a:prstDash val="solid"/>
            <a:tailEnd type="triangle"/>
          </a:ln>
        </p:spPr>
      </p:sp>
      <p:sp>
        <p:nvSpPr>
          <p:cNvPr id="42" name="Shape 38"/>
          <p:cNvSpPr/>
          <p:nvPr/>
        </p:nvSpPr>
        <p:spPr>
          <a:xfrm>
            <a:off x="6336792" y="1554480"/>
            <a:ext cx="2697480" cy="3401568"/>
          </a:xfrm>
          <a:prstGeom prst="roundRect">
            <a:avLst>
              <a:gd name="adj" fmla="val 2712"/>
            </a:avLst>
          </a:prstGeom>
          <a:solidFill>
            <a:srgbClr val="E4F0EF"/>
          </a:solidFill>
          <a:ln/>
        </p:spPr>
      </p:sp>
      <p:sp>
        <p:nvSpPr>
          <p:cNvPr id="43" name="Shape 39"/>
          <p:cNvSpPr/>
          <p:nvPr/>
        </p:nvSpPr>
        <p:spPr>
          <a:xfrm>
            <a:off x="6556248" y="1755648"/>
            <a:ext cx="457200" cy="457200"/>
          </a:xfrm>
          <a:prstGeom prst="ellipse">
            <a:avLst/>
          </a:prstGeom>
          <a:solidFill>
            <a:srgbClr val="0E7C7B"/>
          </a:solidFill>
          <a:ln/>
        </p:spPr>
      </p:sp>
      <p:pic>
        <p:nvPicPr>
          <p:cNvPr id="44"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5" name="Text 40"/>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6" name="Text 41"/>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2017– · transformers, LLMs</a:t>
            </a:r>
            <a:endParaRPr lang="en-US" sz="820" dirty="0"/>
          </a:p>
        </p:txBody>
      </p:sp>
      <p:sp>
        <p:nvSpPr>
          <p:cNvPr id="47" name="Shape 42"/>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48" name="Text 43"/>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The</a:t>
            </a:r>
            <a:endParaRPr lang="en-US" sz="650" dirty="0"/>
          </a:p>
        </p:txBody>
      </p:sp>
      <p:sp>
        <p:nvSpPr>
          <p:cNvPr id="49" name="Shape 44"/>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audit</a:t>
            </a:r>
            <a:endParaRPr lang="en-US" sz="650" dirty="0"/>
          </a:p>
        </p:txBody>
      </p:sp>
      <p:sp>
        <p:nvSpPr>
          <p:cNvPr id="51" name="Shape 46"/>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is</a:t>
            </a:r>
            <a:endParaRPr lang="en-US" sz="650" dirty="0"/>
          </a:p>
        </p:txBody>
      </p:sp>
      <p:sp>
        <p:nvSpPr>
          <p:cNvPr id="53" name="Shape 48"/>
          <p:cNvSpPr/>
          <p:nvPr/>
        </p:nvSpPr>
        <p:spPr>
          <a:xfrm>
            <a:off x="8147304" y="2862072"/>
            <a:ext cx="228600" cy="0"/>
          </a:xfrm>
          <a:prstGeom prst="line">
            <a:avLst/>
          </a:prstGeom>
          <a:noFill/>
          <a:ln w="15875">
            <a:solidFill>
              <a:srgbClr val="0E7C7B"/>
            </a:solidFill>
            <a:prstDash val="solid"/>
            <a:tailEnd type="triangle"/>
          </a:ln>
        </p:spPr>
      </p:sp>
      <p:sp>
        <p:nvSpPr>
          <p:cNvPr id="54" name="Shape 49"/>
          <p:cNvSpPr/>
          <p:nvPr/>
        </p:nvSpPr>
        <p:spPr>
          <a:xfrm>
            <a:off x="8421624" y="2761488"/>
            <a:ext cx="384048" cy="201168"/>
          </a:xfrm>
          <a:prstGeom prst="roundRect">
            <a:avLst>
              <a:gd name="adj" fmla="val 18182"/>
            </a:avLst>
          </a:prstGeom>
          <a:solidFill>
            <a:srgbClr val="0E7C7B"/>
          </a:solidFill>
          <a:ln/>
        </p:spPr>
      </p:sp>
      <p:sp>
        <p:nvSpPr>
          <p:cNvPr id="55" name="Text 50"/>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t>
            </a:r>
            <a:endParaRPr lang="en-US" sz="700" dirty="0"/>
          </a:p>
        </p:txBody>
      </p:sp>
      <p:sp>
        <p:nvSpPr>
          <p:cNvPr id="56" name="Text 51"/>
          <p:cNvSpPr/>
          <p:nvPr/>
        </p:nvSpPr>
        <p:spPr>
          <a:xfrm>
            <a:off x="6556248" y="3218688"/>
            <a:ext cx="2286000" cy="1664208"/>
          </a:xfrm>
          <a:prstGeom prst="rect">
            <a:avLst/>
          </a:prstGeom>
          <a:noFill/>
          <a:ln/>
        </p:spPr>
        <p:txBody>
          <a:bodyPr wrap="square" lIns="0" tIns="0" rIns="0" bIns="0" rtlCol="0" anchor="ctr"/>
          <a:lstStyle/>
          <a:p>
            <a:pPr indent="0" marL="0">
              <a:lnSpc>
                <a:spcPct val="107000"/>
              </a:lnSpc>
              <a:buNone/>
            </a:pPr>
            <a:r>
              <a:rPr lang="en-US" sz="99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 ChatGPT makes it a product (2022).</a:t>
            </a:r>
            <a:endParaRPr lang="en-US" sz="990" dirty="0"/>
          </a:p>
        </p:txBody>
      </p:sp>
      <p:sp>
        <p:nvSpPr>
          <p:cNvPr id="57" name="Shape 52"/>
          <p:cNvSpPr/>
          <p:nvPr/>
        </p:nvSpPr>
        <p:spPr>
          <a:xfrm>
            <a:off x="9052560" y="3154680"/>
            <a:ext cx="182880" cy="0"/>
          </a:xfrm>
          <a:prstGeom prst="line">
            <a:avLst/>
          </a:prstGeom>
          <a:noFill/>
          <a:ln w="28575">
            <a:solidFill>
              <a:srgbClr val="0E7C7B"/>
            </a:solidFill>
            <a:prstDash val="solid"/>
            <a:tailEnd type="triangle"/>
          </a:ln>
        </p:spPr>
      </p:sp>
      <p:sp>
        <p:nvSpPr>
          <p:cNvPr id="58" name="Shape 53"/>
          <p:cNvSpPr/>
          <p:nvPr/>
        </p:nvSpPr>
        <p:spPr>
          <a:xfrm>
            <a:off x="9253728" y="1554480"/>
            <a:ext cx="2697480" cy="3401568"/>
          </a:xfrm>
          <a:prstGeom prst="roundRect">
            <a:avLst>
              <a:gd name="adj" fmla="val 2712"/>
            </a:avLst>
          </a:prstGeom>
          <a:solidFill>
            <a:srgbClr val="E4F0EF"/>
          </a:solidFill>
          <a:ln/>
        </p:spPr>
      </p:sp>
      <p:sp>
        <p:nvSpPr>
          <p:cNvPr id="59" name="Shape 54"/>
          <p:cNvSpPr/>
          <p:nvPr/>
        </p:nvSpPr>
        <p:spPr>
          <a:xfrm>
            <a:off x="9473184" y="1755648"/>
            <a:ext cx="457200" cy="457200"/>
          </a:xfrm>
          <a:prstGeom prst="ellipse">
            <a:avLst/>
          </a:prstGeom>
          <a:solidFill>
            <a:srgbClr val="0E7C7B"/>
          </a:solidFill>
          <a:ln/>
        </p:spPr>
      </p:sp>
      <p:pic>
        <p:nvPicPr>
          <p:cNvPr id="60"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1" name="Text 55"/>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2" name="Text 56"/>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820" b="1" dirty="0">
                <a:solidFill>
                  <a:srgbClr val="7A8790"/>
                </a:solidFill>
                <a:latin typeface="Calibri" pitchFamily="34" charset="0"/>
                <a:ea typeface="Calibri" pitchFamily="34" charset="-122"/>
                <a:cs typeface="Calibri" pitchFamily="34" charset="-120"/>
              </a:rPr>
              <a:t>2024– · reasoning models, tool use</a:t>
            </a:r>
            <a:endParaRPr lang="en-US" sz="820" dirty="0"/>
          </a:p>
        </p:txBody>
      </p:sp>
      <p:sp>
        <p:nvSpPr>
          <p:cNvPr id="63" name="Shape 57"/>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4" name="Text 58"/>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PLAN</a:t>
            </a:r>
            <a:endParaRPr lang="en-US" sz="650" dirty="0"/>
          </a:p>
        </p:txBody>
      </p:sp>
      <p:sp>
        <p:nvSpPr>
          <p:cNvPr id="65" name="Shape 59"/>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6" name="Text 60"/>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ACT</a:t>
            </a:r>
            <a:endParaRPr lang="en-US" sz="650" dirty="0"/>
          </a:p>
        </p:txBody>
      </p:sp>
      <p:sp>
        <p:nvSpPr>
          <p:cNvPr id="67" name="Shape 61"/>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68" name="Text 62"/>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650" dirty="0">
                <a:solidFill>
                  <a:srgbClr val="0A5B5A"/>
                </a:solidFill>
                <a:latin typeface="Calibri" pitchFamily="34" charset="0"/>
                <a:ea typeface="Calibri" pitchFamily="34" charset="-122"/>
                <a:cs typeface="Calibri" pitchFamily="34" charset="-120"/>
              </a:rPr>
              <a:t>CHECK</a:t>
            </a:r>
            <a:endParaRPr lang="en-US" sz="650" dirty="0"/>
          </a:p>
        </p:txBody>
      </p:sp>
      <p:sp>
        <p:nvSpPr>
          <p:cNvPr id="69" name="Shape 63"/>
          <p:cNvSpPr/>
          <p:nvPr/>
        </p:nvSpPr>
        <p:spPr>
          <a:xfrm>
            <a:off x="10168128" y="2752344"/>
            <a:ext cx="128016" cy="0"/>
          </a:xfrm>
          <a:prstGeom prst="line">
            <a:avLst/>
          </a:prstGeom>
          <a:noFill/>
          <a:ln w="12700">
            <a:solidFill>
              <a:srgbClr val="0E7C7B"/>
            </a:solidFill>
            <a:prstDash val="solid"/>
            <a:tailEnd type="triangle"/>
          </a:ln>
        </p:spPr>
      </p:sp>
      <p:sp>
        <p:nvSpPr>
          <p:cNvPr id="70" name="Shape 64"/>
          <p:cNvSpPr/>
          <p:nvPr/>
        </p:nvSpPr>
        <p:spPr>
          <a:xfrm>
            <a:off x="10899648" y="2752344"/>
            <a:ext cx="128016" cy="0"/>
          </a:xfrm>
          <a:prstGeom prst="line">
            <a:avLst/>
          </a:prstGeom>
          <a:noFill/>
          <a:ln w="12700">
            <a:solidFill>
              <a:srgbClr val="0E7C7B"/>
            </a:solidFill>
            <a:prstDash val="solid"/>
            <a:tailEnd type="triangle"/>
          </a:ln>
        </p:spPr>
      </p:sp>
      <p:sp>
        <p:nvSpPr>
          <p:cNvPr id="71" name="Shape 65"/>
          <p:cNvSpPr/>
          <p:nvPr/>
        </p:nvSpPr>
        <p:spPr>
          <a:xfrm>
            <a:off x="9838944" y="3017520"/>
            <a:ext cx="1572768" cy="0"/>
          </a:xfrm>
          <a:prstGeom prst="line">
            <a:avLst/>
          </a:prstGeom>
          <a:noFill/>
          <a:ln w="12700">
            <a:solidFill>
              <a:srgbClr val="0E7C7B"/>
            </a:solidFill>
            <a:prstDash val="solid"/>
            <a:headEnd type="triangle"/>
          </a:ln>
        </p:spPr>
      </p:sp>
      <p:sp>
        <p:nvSpPr>
          <p:cNvPr id="72" name="Text 66"/>
          <p:cNvSpPr/>
          <p:nvPr/>
        </p:nvSpPr>
        <p:spPr>
          <a:xfrm>
            <a:off x="9473184" y="3218688"/>
            <a:ext cx="2286000" cy="1664208"/>
          </a:xfrm>
          <a:prstGeom prst="rect">
            <a:avLst/>
          </a:prstGeom>
          <a:noFill/>
          <a:ln/>
        </p:spPr>
        <p:txBody>
          <a:bodyPr wrap="square" lIns="0" tIns="0" rIns="0" bIns="0" rtlCol="0" anchor="ctr"/>
          <a:lstStyle/>
          <a:p>
            <a:pPr indent="0" marL="0">
              <a:lnSpc>
                <a:spcPct val="107000"/>
              </a:lnSpc>
              <a:buNone/>
            </a:pPr>
            <a:r>
              <a:rPr lang="en-US" sz="99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it with limited supervision. The frontier now.</a:t>
            </a:r>
            <a:endParaRPr lang="en-US" sz="990" dirty="0"/>
          </a:p>
        </p:txBody>
      </p:sp>
      <p:sp>
        <p:nvSpPr>
          <p:cNvPr id="73" name="Shape 67"/>
          <p:cNvSpPr/>
          <p:nvPr/>
        </p:nvSpPr>
        <p:spPr>
          <a:xfrm>
            <a:off x="502920" y="5120640"/>
            <a:ext cx="11155680" cy="960120"/>
          </a:xfrm>
          <a:prstGeom prst="roundRect">
            <a:avLst>
              <a:gd name="adj" fmla="val 7619"/>
            </a:avLst>
          </a:prstGeom>
          <a:solidFill>
            <a:srgbClr val="FBF0E0"/>
          </a:solidFill>
          <a:ln/>
        </p:spPr>
      </p:sp>
      <p:sp>
        <p:nvSpPr>
          <p:cNvPr id="74" name="Shape 68"/>
          <p:cNvSpPr/>
          <p:nvPr/>
        </p:nvSpPr>
        <p:spPr>
          <a:xfrm>
            <a:off x="667512" y="5408676"/>
            <a:ext cx="384048" cy="384048"/>
          </a:xfrm>
          <a:prstGeom prst="ellipse">
            <a:avLst/>
          </a:prstGeom>
          <a:solidFill>
            <a:srgbClr val="B96A1B"/>
          </a:solidFill>
          <a:ln/>
        </p:spPr>
      </p:sp>
      <p:pic>
        <p:nvPicPr>
          <p:cNvPr id="75"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76" name="Text 69"/>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Months to reach 100 million users — shorter bar = faster</a:t>
            </a:r>
            <a:endParaRPr lang="en-US" sz="100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900" i="1" dirty="0">
                <a:solidFill>
                  <a:srgbClr val="7A8790"/>
                </a:solidFill>
                <a:latin typeface="Calibri" pitchFamily="34" charset="0"/>
                <a:ea typeface="Calibri" pitchFamily="34" charset="-122"/>
                <a:cs typeface="Calibri" pitchFamily="34" charset="-120"/>
              </a:rPr>
              <a:t>Fastest consumer ramp ever recorded at launch (UBS/Reuters, 2023).</a:t>
            </a:r>
            <a:endParaRPr lang="en-US" sz="9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0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sp>
        <p:nvSpPr>
          <p:cNvPr id="6" name="Shape 4"/>
          <p:cNvSpPr/>
          <p:nvPr/>
        </p:nvSpPr>
        <p:spPr>
          <a:xfrm>
            <a:off x="502920" y="1481328"/>
            <a:ext cx="3611880" cy="2514600"/>
          </a:xfrm>
          <a:prstGeom prst="roundRect">
            <a:avLst>
              <a:gd name="adj" fmla="val 2909"/>
            </a:avLst>
          </a:prstGeom>
          <a:solidFill>
            <a:srgbClr val="F2F5F6"/>
          </a:solidFill>
          <a:ln/>
        </p:spPr>
      </p:sp>
      <p:sp>
        <p:nvSpPr>
          <p:cNvPr id="7" name="Shape 5"/>
          <p:cNvSpPr/>
          <p:nvPr/>
        </p:nvSpPr>
        <p:spPr>
          <a:xfrm>
            <a:off x="758952" y="1682496"/>
            <a:ext cx="475488" cy="475488"/>
          </a:xfrm>
          <a:prstGeom prst="ellipse">
            <a:avLst/>
          </a:prstGeom>
          <a:solidFill>
            <a:srgbClr val="0E7C7B"/>
          </a:solidFill>
          <a:ln/>
        </p:spPr>
      </p:sp>
      <p:pic>
        <p:nvPicPr>
          <p:cNvPr id="8" name="Image 0" descr="/home/user/Claude-Works/ai-training-prompt-engineering/src/assets/icons/database_w.png">    </p:cNvPr>
          <p:cNvPicPr>
            <a:picLocks noChangeAspect="1"/>
          </p:cNvPicPr>
          <p:nvPr/>
        </p:nvPicPr>
        <p:blipFill>
          <a:blip r:embed="rId1"/>
          <a:stretch>
            <a:fillRect/>
          </a:stretch>
        </p:blipFill>
        <p:spPr>
          <a:xfrm>
            <a:off x="882579" y="1806123"/>
            <a:ext cx="228234" cy="228234"/>
          </a:xfrm>
          <a:prstGeom prst="rect">
            <a:avLst/>
          </a:prstGeom>
        </p:spPr>
      </p:pic>
      <p:sp>
        <p:nvSpPr>
          <p:cNvPr id="9" name="Text 6"/>
          <p:cNvSpPr/>
          <p:nvPr/>
        </p:nvSpPr>
        <p:spPr>
          <a:xfrm>
            <a:off x="758952" y="2249424"/>
            <a:ext cx="3108960" cy="347472"/>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1 · Pretraining</a:t>
            </a:r>
            <a:endParaRPr lang="en-US" sz="1400" dirty="0"/>
          </a:p>
        </p:txBody>
      </p:sp>
      <p:sp>
        <p:nvSpPr>
          <p:cNvPr id="10" name="Text 7"/>
          <p:cNvSpPr/>
          <p:nvPr/>
        </p:nvSpPr>
        <p:spPr>
          <a:xfrm>
            <a:off x="758952" y="2615184"/>
            <a:ext cx="3127248" cy="1298448"/>
          </a:xfrm>
          <a:prstGeom prst="rect">
            <a:avLst/>
          </a:prstGeom>
          <a:noFill/>
          <a:ln/>
        </p:spPr>
        <p:txBody>
          <a:bodyPr wrap="square" lIns="0" tIns="0" rIns="0" bIns="0" rtlCol="0" anchor="ctr"/>
          <a:lstStyle/>
          <a:p>
            <a:pPr indent="0" marL="0">
              <a:lnSpc>
                <a:spcPct val="106000"/>
              </a:lnSpc>
              <a:buNone/>
            </a:pPr>
            <a:r>
              <a:rPr lang="en-US" sz="103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30" dirty="0"/>
          </a:p>
        </p:txBody>
      </p:sp>
      <p:sp>
        <p:nvSpPr>
          <p:cNvPr id="11" name="Shape 8"/>
          <p:cNvSpPr/>
          <p:nvPr/>
        </p:nvSpPr>
        <p:spPr>
          <a:xfrm>
            <a:off x="4133088" y="2743200"/>
            <a:ext cx="182880" cy="0"/>
          </a:xfrm>
          <a:prstGeom prst="line">
            <a:avLst/>
          </a:prstGeom>
          <a:noFill/>
          <a:ln w="28575">
            <a:solidFill>
              <a:srgbClr val="0E7C7B"/>
            </a:solidFill>
            <a:prstDash val="solid"/>
            <a:tailEnd type="triangle"/>
          </a:ln>
        </p:spPr>
      </p:sp>
      <p:sp>
        <p:nvSpPr>
          <p:cNvPr id="12" name="Shape 9"/>
          <p:cNvSpPr/>
          <p:nvPr/>
        </p:nvSpPr>
        <p:spPr>
          <a:xfrm>
            <a:off x="4325112" y="1481328"/>
            <a:ext cx="3611880" cy="2514600"/>
          </a:xfrm>
          <a:prstGeom prst="roundRect">
            <a:avLst>
              <a:gd name="adj" fmla="val 2909"/>
            </a:avLst>
          </a:prstGeom>
          <a:solidFill>
            <a:srgbClr val="F2F5F6"/>
          </a:solidFill>
          <a:ln/>
        </p:spPr>
      </p:sp>
      <p:sp>
        <p:nvSpPr>
          <p:cNvPr id="13" name="Shape 10"/>
          <p:cNvSpPr/>
          <p:nvPr/>
        </p:nvSpPr>
        <p:spPr>
          <a:xfrm>
            <a:off x="4581144" y="1682496"/>
            <a:ext cx="475488" cy="475488"/>
          </a:xfrm>
          <a:prstGeom prst="ellipse">
            <a:avLst/>
          </a:prstGeom>
          <a:solidFill>
            <a:srgbClr val="0E7C7B"/>
          </a:solidFill>
          <a:ln/>
        </p:spPr>
      </p:sp>
      <p:pic>
        <p:nvPicPr>
          <p:cNvPr id="14" name="Image 1" descr="/home/user/Claude-Works/ai-training-prompt-engineering/src/assets/icons/list_w.png">    </p:cNvPr>
          <p:cNvPicPr>
            <a:picLocks noChangeAspect="1"/>
          </p:cNvPicPr>
          <p:nvPr/>
        </p:nvPicPr>
        <p:blipFill>
          <a:blip r:embed="rId2"/>
          <a:stretch>
            <a:fillRect/>
          </a:stretch>
        </p:blipFill>
        <p:spPr>
          <a:xfrm>
            <a:off x="4704771" y="1806123"/>
            <a:ext cx="228234" cy="228234"/>
          </a:xfrm>
          <a:prstGeom prst="rect">
            <a:avLst/>
          </a:prstGeom>
        </p:spPr>
      </p:pic>
      <p:sp>
        <p:nvSpPr>
          <p:cNvPr id="15" name="Text 11"/>
          <p:cNvSpPr/>
          <p:nvPr/>
        </p:nvSpPr>
        <p:spPr>
          <a:xfrm>
            <a:off x="4581144" y="2249424"/>
            <a:ext cx="3108960" cy="347472"/>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2 · Instruction tuning</a:t>
            </a:r>
            <a:endParaRPr lang="en-US" sz="1400" dirty="0"/>
          </a:p>
        </p:txBody>
      </p:sp>
      <p:sp>
        <p:nvSpPr>
          <p:cNvPr id="16" name="Text 12"/>
          <p:cNvSpPr/>
          <p:nvPr/>
        </p:nvSpPr>
        <p:spPr>
          <a:xfrm>
            <a:off x="4581144" y="2615184"/>
            <a:ext cx="3127248" cy="1298448"/>
          </a:xfrm>
          <a:prstGeom prst="rect">
            <a:avLst/>
          </a:prstGeom>
          <a:noFill/>
          <a:ln/>
        </p:spPr>
        <p:txBody>
          <a:bodyPr wrap="square" lIns="0" tIns="0" rIns="0" bIns="0" rtlCol="0" anchor="ctr"/>
          <a:lstStyle/>
          <a:p>
            <a:pPr indent="0" marL="0">
              <a:lnSpc>
                <a:spcPct val="106000"/>
              </a:lnSpc>
              <a:buNone/>
            </a:pPr>
            <a:r>
              <a:rPr lang="en-US" sz="103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30" dirty="0"/>
          </a:p>
        </p:txBody>
      </p:sp>
      <p:sp>
        <p:nvSpPr>
          <p:cNvPr id="17" name="Shape 13"/>
          <p:cNvSpPr/>
          <p:nvPr/>
        </p:nvSpPr>
        <p:spPr>
          <a:xfrm>
            <a:off x="7955280" y="2743200"/>
            <a:ext cx="182880" cy="0"/>
          </a:xfrm>
          <a:prstGeom prst="line">
            <a:avLst/>
          </a:prstGeom>
          <a:noFill/>
          <a:ln w="28575">
            <a:solidFill>
              <a:srgbClr val="0E7C7B"/>
            </a:solidFill>
            <a:prstDash val="solid"/>
            <a:tailEnd type="triangle"/>
          </a:ln>
        </p:spPr>
      </p:sp>
      <p:sp>
        <p:nvSpPr>
          <p:cNvPr id="18" name="Shape 14"/>
          <p:cNvSpPr/>
          <p:nvPr/>
        </p:nvSpPr>
        <p:spPr>
          <a:xfrm>
            <a:off x="8147304" y="1481328"/>
            <a:ext cx="3611880" cy="2514600"/>
          </a:xfrm>
          <a:prstGeom prst="roundRect">
            <a:avLst>
              <a:gd name="adj" fmla="val 2909"/>
            </a:avLst>
          </a:prstGeom>
          <a:solidFill>
            <a:srgbClr val="F2F5F6"/>
          </a:solidFill>
          <a:ln/>
        </p:spPr>
      </p:sp>
      <p:sp>
        <p:nvSpPr>
          <p:cNvPr id="19" name="Shape 15"/>
          <p:cNvSpPr/>
          <p:nvPr/>
        </p:nvSpPr>
        <p:spPr>
          <a:xfrm>
            <a:off x="8403336" y="1682496"/>
            <a:ext cx="475488" cy="475488"/>
          </a:xfrm>
          <a:prstGeom prst="ellipse">
            <a:avLst/>
          </a:prstGeom>
          <a:solidFill>
            <a:srgbClr val="0E7C7B"/>
          </a:solidFill>
          <a:ln/>
        </p:spPr>
      </p:sp>
      <p:pic>
        <p:nvPicPr>
          <p:cNvPr id="20" name="Image 2" descr="/home/user/Claude-Works/ai-training-prompt-engineering/src/assets/icons/thumbsup_w.png">    </p:cNvPr>
          <p:cNvPicPr>
            <a:picLocks noChangeAspect="1"/>
          </p:cNvPicPr>
          <p:nvPr/>
        </p:nvPicPr>
        <p:blipFill>
          <a:blip r:embed="rId3"/>
          <a:stretch>
            <a:fillRect/>
          </a:stretch>
        </p:blipFill>
        <p:spPr>
          <a:xfrm>
            <a:off x="8526963" y="1806123"/>
            <a:ext cx="228234" cy="228234"/>
          </a:xfrm>
          <a:prstGeom prst="rect">
            <a:avLst/>
          </a:prstGeom>
        </p:spPr>
      </p:pic>
      <p:sp>
        <p:nvSpPr>
          <p:cNvPr id="21" name="Text 16"/>
          <p:cNvSpPr/>
          <p:nvPr/>
        </p:nvSpPr>
        <p:spPr>
          <a:xfrm>
            <a:off x="8403336" y="2249424"/>
            <a:ext cx="3108960" cy="347472"/>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3 · Human feedback (RLHF)</a:t>
            </a:r>
            <a:endParaRPr lang="en-US" sz="1400" dirty="0"/>
          </a:p>
        </p:txBody>
      </p:sp>
      <p:sp>
        <p:nvSpPr>
          <p:cNvPr id="22" name="Text 17"/>
          <p:cNvSpPr/>
          <p:nvPr/>
        </p:nvSpPr>
        <p:spPr>
          <a:xfrm>
            <a:off x="8403336" y="2615184"/>
            <a:ext cx="3127248" cy="1298448"/>
          </a:xfrm>
          <a:prstGeom prst="rect">
            <a:avLst/>
          </a:prstGeom>
          <a:noFill/>
          <a:ln/>
        </p:spPr>
        <p:txBody>
          <a:bodyPr wrap="square" lIns="0" tIns="0" rIns="0" bIns="0" rtlCol="0" anchor="ctr"/>
          <a:lstStyle/>
          <a:p>
            <a:pPr indent="0" marL="0">
              <a:lnSpc>
                <a:spcPct val="106000"/>
              </a:lnSpc>
              <a:buNone/>
            </a:pPr>
            <a:r>
              <a:rPr lang="en-US" sz="1030" dirty="0">
                <a:solidFill>
                  <a:srgbClr val="46545F"/>
                </a:solidFill>
                <a:latin typeface="Calibri" pitchFamily="34" charset="0"/>
                <a:ea typeface="Calibri" pitchFamily="34" charset="-122"/>
                <a:cs typeface="Calibri" pitchFamily="34" charset="-120"/>
              </a:rPr>
              <a:t>People rank outputs; the model is tuned toward helpful, honest, harmless. This step turned raw predictors into assistants — and made ChatGPT possible.</a:t>
            </a:r>
            <a:endParaRPr lang="en-US" sz="1030" dirty="0"/>
          </a:p>
        </p:txBody>
      </p:sp>
      <p:sp>
        <p:nvSpPr>
          <p:cNvPr id="23" name="Shape 18"/>
          <p:cNvSpPr/>
          <p:nvPr/>
        </p:nvSpPr>
        <p:spPr>
          <a:xfrm>
            <a:off x="502920" y="4133088"/>
            <a:ext cx="5486400" cy="1207008"/>
          </a:xfrm>
          <a:prstGeom prst="roundRect">
            <a:avLst>
              <a:gd name="adj" fmla="val 6061"/>
            </a:avLst>
          </a:prstGeom>
          <a:solidFill>
            <a:srgbClr val="E4F0EF"/>
          </a:solidFill>
          <a:ln/>
        </p:spPr>
      </p:sp>
      <p:sp>
        <p:nvSpPr>
          <p:cNvPr id="24" name="Shape 19"/>
          <p:cNvSpPr/>
          <p:nvPr/>
        </p:nvSpPr>
        <p:spPr>
          <a:xfrm>
            <a:off x="667512" y="4544568"/>
            <a:ext cx="384048" cy="384048"/>
          </a:xfrm>
          <a:prstGeom prst="ellipse">
            <a:avLst/>
          </a:prstGeom>
          <a:solidFill>
            <a:srgbClr val="0E7C7B"/>
          </a:solidFill>
          <a:ln/>
        </p:spPr>
      </p:sp>
      <p:pic>
        <p:nvPicPr>
          <p:cNvPr id="25" name="Image 3" descr="/home/user/Claude-Works/ai-training-prompt-engineering/src/assets/icons/clock_w.png">    </p:cNvPr>
          <p:cNvPicPr>
            <a:picLocks noChangeAspect="1"/>
          </p:cNvPicPr>
          <p:nvPr/>
        </p:nvPicPr>
        <p:blipFill>
          <a:blip r:embed="rId4"/>
          <a:stretch>
            <a:fillRect/>
          </a:stretch>
        </p:blipFill>
        <p:spPr>
          <a:xfrm>
            <a:off x="767364" y="4644420"/>
            <a:ext cx="184343" cy="184343"/>
          </a:xfrm>
          <a:prstGeom prst="rect">
            <a:avLst/>
          </a:prstGeom>
        </p:spPr>
      </p:pic>
      <p:sp>
        <p:nvSpPr>
          <p:cNvPr id="26" name="Text 20"/>
          <p:cNvSpPr/>
          <p:nvPr/>
        </p:nvSpPr>
        <p:spPr>
          <a:xfrm>
            <a:off x="1216152" y="4206240"/>
            <a:ext cx="4544568" cy="106070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Knowledge is frozen at the cutoff.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the model recalls patterns, it doesn’t look things up. Anything newer needs web search or your documents in the prompt.</a:t>
            </a:r>
            <a:endParaRPr lang="en-US" sz="1150" dirty="0"/>
          </a:p>
        </p:txBody>
      </p:sp>
      <p:sp>
        <p:nvSpPr>
          <p:cNvPr id="27" name="Shape 21"/>
          <p:cNvSpPr/>
          <p:nvPr/>
        </p:nvSpPr>
        <p:spPr>
          <a:xfrm>
            <a:off x="6172200" y="4133088"/>
            <a:ext cx="5486400" cy="1207008"/>
          </a:xfrm>
          <a:prstGeom prst="roundRect">
            <a:avLst>
              <a:gd name="adj" fmla="val 6061"/>
            </a:avLst>
          </a:prstGeom>
          <a:solidFill>
            <a:srgbClr val="FBF0E0"/>
          </a:solidFill>
          <a:ln/>
        </p:spPr>
      </p:sp>
      <p:sp>
        <p:nvSpPr>
          <p:cNvPr id="28" name="Shape 22"/>
          <p:cNvSpPr/>
          <p:nvPr/>
        </p:nvSpPr>
        <p:spPr>
          <a:xfrm>
            <a:off x="6336792" y="4544568"/>
            <a:ext cx="384048" cy="384048"/>
          </a:xfrm>
          <a:prstGeom prst="ellipse">
            <a:avLst/>
          </a:prstGeom>
          <a:solidFill>
            <a:srgbClr val="B96A1B"/>
          </a:solidFill>
          <a:ln/>
        </p:spPr>
      </p:sp>
      <p:pic>
        <p:nvPicPr>
          <p:cNvPr id="29" name="Image 4" descr="/home/user/Claude-Works/ai-training-prompt-engineering/src/assets/icons/compass_w.png">    </p:cNvPr>
          <p:cNvPicPr>
            <a:picLocks noChangeAspect="1"/>
          </p:cNvPicPr>
          <p:nvPr/>
        </p:nvPicPr>
        <p:blipFill>
          <a:blip r:embed="rId5"/>
          <a:stretch>
            <a:fillRect/>
          </a:stretch>
        </p:blipFill>
        <p:spPr>
          <a:xfrm>
            <a:off x="6436644" y="4644420"/>
            <a:ext cx="184343" cy="184343"/>
          </a:xfrm>
          <a:prstGeom prst="rect">
            <a:avLst/>
          </a:prstGeom>
        </p:spPr>
      </p:pic>
      <p:sp>
        <p:nvSpPr>
          <p:cNvPr id="30" name="Text 23"/>
          <p:cNvSpPr/>
          <p:nvPr/>
        </p:nvSpPr>
        <p:spPr>
          <a:xfrm>
            <a:off x="6885432" y="4206240"/>
            <a:ext cx="4544568" cy="1060704"/>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Why prompting exists: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50" dirty="0"/>
          </a:p>
        </p:txBody>
      </p:sp>
      <p:sp>
        <p:nvSpPr>
          <p:cNvPr id="31" name="Shape 24"/>
          <p:cNvSpPr/>
          <p:nvPr/>
        </p:nvSpPr>
        <p:spPr>
          <a:xfrm>
            <a:off x="502920" y="5486400"/>
            <a:ext cx="11155680" cy="960120"/>
          </a:xfrm>
          <a:prstGeom prst="roundRect">
            <a:avLst>
              <a:gd name="adj" fmla="val 7619"/>
            </a:avLst>
          </a:prstGeom>
          <a:solidFill>
            <a:srgbClr val="E4F0EF"/>
          </a:solidFill>
          <a:ln/>
        </p:spPr>
      </p:sp>
      <p:sp>
        <p:nvSpPr>
          <p:cNvPr id="32" name="Shape 25"/>
          <p:cNvSpPr/>
          <p:nvPr/>
        </p:nvSpPr>
        <p:spPr>
          <a:xfrm>
            <a:off x="649224" y="5605272"/>
            <a:ext cx="365760" cy="365760"/>
          </a:xfrm>
          <a:prstGeom prst="ellipse">
            <a:avLst/>
          </a:prstGeom>
          <a:solidFill>
            <a:srgbClr val="0E7C7B"/>
          </a:solidFill>
          <a:ln/>
        </p:spPr>
      </p:sp>
      <p:pic>
        <p:nvPicPr>
          <p:cNvPr id="33" name="Image 5" descr="/home/user/Claude-Works/ai-training-prompt-engineering/src/assets/icons/robot_w.png">    </p:cNvPr>
          <p:cNvPicPr>
            <a:picLocks noChangeAspect="1"/>
          </p:cNvPicPr>
          <p:nvPr/>
        </p:nvPicPr>
        <p:blipFill>
          <a:blip r:embed="rId6"/>
          <a:stretch>
            <a:fillRect/>
          </a:stretch>
        </p:blipFill>
        <p:spPr>
          <a:xfrm>
            <a:off x="744322" y="5700370"/>
            <a:ext cx="175565" cy="175565"/>
          </a:xfrm>
          <a:prstGeom prst="rect">
            <a:avLst/>
          </a:prstGeom>
        </p:spPr>
      </p:pic>
      <p:sp>
        <p:nvSpPr>
          <p:cNvPr id="34" name="Shape 26"/>
          <p:cNvSpPr/>
          <p:nvPr/>
        </p:nvSpPr>
        <p:spPr>
          <a:xfrm>
            <a:off x="1106424" y="5632704"/>
            <a:ext cx="1188720" cy="310896"/>
          </a:xfrm>
          <a:prstGeom prst="roundRect">
            <a:avLst>
              <a:gd name="adj" fmla="val 23529"/>
            </a:avLst>
          </a:prstGeom>
          <a:solidFill>
            <a:srgbClr val="0E7C7B"/>
          </a:solidFill>
          <a:ln/>
        </p:spPr>
      </p:sp>
      <p:sp>
        <p:nvSpPr>
          <p:cNvPr id="35" name="Text 27"/>
          <p:cNvSpPr/>
          <p:nvPr/>
        </p:nvSpPr>
        <p:spPr>
          <a:xfrm>
            <a:off x="1106424" y="564184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2/8</a:t>
            </a:r>
            <a:endParaRPr lang="en-US" sz="950" dirty="0"/>
          </a:p>
        </p:txBody>
      </p:sp>
      <p:sp>
        <p:nvSpPr>
          <p:cNvPr id="36" name="Text 28"/>
          <p:cNvSpPr/>
          <p:nvPr/>
        </p:nvSpPr>
        <p:spPr>
          <a:xfrm>
            <a:off x="2404872" y="564184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Narrowing the guesses — two separate sends</a:t>
            </a:r>
            <a:endParaRPr lang="en-US" sz="1050" dirty="0"/>
          </a:p>
        </p:txBody>
      </p:sp>
      <p:sp>
        <p:nvSpPr>
          <p:cNvPr id="37" name="Text 29"/>
          <p:cNvSpPr/>
          <p:nvPr/>
        </p:nvSpPr>
        <p:spPr>
          <a:xfrm>
            <a:off x="685800" y="6016752"/>
            <a:ext cx="10789920" cy="301752"/>
          </a:xfrm>
          <a:prstGeom prst="rect">
            <a:avLst/>
          </a:prstGeom>
          <a:noFill/>
          <a:ln/>
        </p:spPr>
        <p:txBody>
          <a:bodyPr wrap="square" lIns="0" tIns="0" rIns="0" bIns="0" rtlCol="0" anchor="t"/>
          <a:lstStyle/>
          <a:p>
            <a:pPr indent="0" marL="0">
              <a:lnSpc>
                <a:spcPct val="110000"/>
              </a:lnSpc>
              <a:buNone/>
            </a:pPr>
            <a:r>
              <a:rPr lang="en-US" sz="900" dirty="0">
                <a:solidFill>
                  <a:srgbClr val="232A31"/>
                </a:solidFill>
                <a:latin typeface="Consolas" pitchFamily="34" charset="0"/>
                <a:ea typeface="Consolas" pitchFamily="34" charset="-122"/>
                <a:cs typeface="Consolas" pitchFamily="34" charset="-120"/>
              </a:rPr>
              <a:t>Send 1: Finish this sentence 5 different ways: “We should move the launch date because”   ·   Send 2: Now 5 more ways, knowing: B2B software firm, competitor launches May 3, our beta ends April 20. What changed?</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That’s why letter-counting and character-exact edits fail: it’s working from hearing, not spelling.</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331720"/>
          </a:xfrm>
          <a:prstGeom prst="roundRect">
            <a:avLst>
              <a:gd name="adj" fmla="val 3137"/>
            </a:avLst>
          </a:prstGeom>
          <a:solidFill>
            <a:srgbClr val="F2F5F6"/>
          </a:solidFill>
          <a:ln/>
        </p:spPr>
      </p:sp>
      <p:sp>
        <p:nvSpPr>
          <p:cNvPr id="8" name="Text 6"/>
          <p:cNvSpPr/>
          <p:nvPr/>
        </p:nvSpPr>
        <p:spPr>
          <a:xfrm>
            <a:off x="6675120" y="171907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LEGO bricks of text</a:t>
            </a:r>
            <a:endParaRPr lang="en-US" sz="1500" dirty="0"/>
          </a:p>
        </p:txBody>
      </p:sp>
      <p:sp>
        <p:nvSpPr>
          <p:cNvPr id="9" name="Text 7"/>
          <p:cNvSpPr/>
          <p:nvPr/>
        </p:nvSpPr>
        <p:spPr>
          <a:xfrm>
            <a:off x="6675120" y="2139696"/>
            <a:ext cx="4754880" cy="777240"/>
          </a:xfrm>
          <a:prstGeom prst="rect">
            <a:avLst/>
          </a:prstGeom>
          <a:noFill/>
          <a:ln/>
        </p:spPr>
        <p:txBody>
          <a:bodyPr wrap="square" lIns="0" tIns="0" rIns="0" bIns="0" rtlCol="0" anchor="ctr"/>
          <a:lstStyle/>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Common words are pre-molded bricks; unusual words get assembled from smaller pieces. You pay by the brick — and the builder has never seen inside a brick.</a:t>
            </a:r>
            <a:endParaRPr lang="en-US" sz="1100" dirty="0"/>
          </a:p>
        </p:txBody>
      </p:sp>
      <p:sp>
        <p:nvSpPr>
          <p:cNvPr id="10" name="Shape 8"/>
          <p:cNvSpPr/>
          <p:nvPr/>
        </p:nvSpPr>
        <p:spPr>
          <a:xfrm>
            <a:off x="6918960" y="3035808"/>
            <a:ext cx="91440" cy="91440"/>
          </a:xfrm>
          <a:prstGeom prst="roundRect">
            <a:avLst>
              <a:gd name="adj" fmla="val 20000"/>
            </a:avLst>
          </a:prstGeom>
          <a:solidFill>
            <a:srgbClr val="E4F0EF"/>
          </a:solidFill>
          <a:ln w="9525">
            <a:solidFill>
              <a:srgbClr val="0E7C7B"/>
            </a:solidFill>
            <a:prstDash val="solid"/>
          </a:ln>
        </p:spPr>
      </p:sp>
      <p:sp>
        <p:nvSpPr>
          <p:cNvPr id="11" name="Shape 9"/>
          <p:cNvSpPr/>
          <p:nvPr/>
        </p:nvSpPr>
        <p:spPr>
          <a:xfrm>
            <a:off x="7208520" y="3035808"/>
            <a:ext cx="91440" cy="91440"/>
          </a:xfrm>
          <a:prstGeom prst="roundRect">
            <a:avLst>
              <a:gd name="adj" fmla="val 20000"/>
            </a:avLst>
          </a:prstGeom>
          <a:solidFill>
            <a:srgbClr val="E4F0EF"/>
          </a:solidFill>
          <a:ln w="9525">
            <a:solidFill>
              <a:srgbClr val="0E7C7B"/>
            </a:solidFill>
            <a:prstDash val="solid"/>
          </a:ln>
        </p:spPr>
      </p:sp>
      <p:sp>
        <p:nvSpPr>
          <p:cNvPr id="12" name="Shape 10"/>
          <p:cNvSpPr/>
          <p:nvPr/>
        </p:nvSpPr>
        <p:spPr>
          <a:xfrm>
            <a:off x="6675120" y="3108960"/>
            <a:ext cx="868680" cy="329184"/>
          </a:xfrm>
          <a:prstGeom prst="roundRect">
            <a:avLst>
              <a:gd name="adj" fmla="val 11111"/>
            </a:avLst>
          </a:prstGeom>
          <a:solidFill>
            <a:srgbClr val="E4F0EF"/>
          </a:solidFill>
          <a:ln w="9525">
            <a:solidFill>
              <a:srgbClr val="0E7C7B"/>
            </a:solidFill>
            <a:prstDash val="solid"/>
          </a:ln>
        </p:spPr>
      </p:sp>
      <p:sp>
        <p:nvSpPr>
          <p:cNvPr id="13" name="Text 11"/>
          <p:cNvSpPr/>
          <p:nvPr/>
        </p:nvSpPr>
        <p:spPr>
          <a:xfrm>
            <a:off x="6675120" y="3118104"/>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4" name="Shape 12"/>
          <p:cNvSpPr/>
          <p:nvPr/>
        </p:nvSpPr>
        <p:spPr>
          <a:xfrm>
            <a:off x="7758684" y="3035808"/>
            <a:ext cx="91440" cy="91440"/>
          </a:xfrm>
          <a:prstGeom prst="roundRect">
            <a:avLst>
              <a:gd name="adj" fmla="val 20000"/>
            </a:avLst>
          </a:prstGeom>
          <a:solidFill>
            <a:srgbClr val="FFFFFF"/>
          </a:solidFill>
          <a:ln w="9525">
            <a:solidFill>
              <a:srgbClr val="0E7C7B"/>
            </a:solidFill>
            <a:prstDash val="solid"/>
          </a:ln>
        </p:spPr>
      </p:sp>
      <p:sp>
        <p:nvSpPr>
          <p:cNvPr id="15" name="Shape 13"/>
          <p:cNvSpPr/>
          <p:nvPr/>
        </p:nvSpPr>
        <p:spPr>
          <a:xfrm>
            <a:off x="7598664" y="3108960"/>
            <a:ext cx="411480" cy="329184"/>
          </a:xfrm>
          <a:prstGeom prst="roundRect">
            <a:avLst>
              <a:gd name="adj" fmla="val 11111"/>
            </a:avLst>
          </a:prstGeom>
          <a:solidFill>
            <a:srgbClr val="FFFFFF"/>
          </a:solidFill>
          <a:ln w="9525">
            <a:solidFill>
              <a:srgbClr val="0E7C7B"/>
            </a:solidFill>
            <a:prstDash val="solid"/>
          </a:ln>
        </p:spPr>
      </p:sp>
      <p:sp>
        <p:nvSpPr>
          <p:cNvPr id="16" name="Text 14"/>
          <p:cNvSpPr/>
          <p:nvPr/>
        </p:nvSpPr>
        <p:spPr>
          <a:xfrm>
            <a:off x="7598664" y="3118104"/>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7" name="Shape 15"/>
          <p:cNvSpPr/>
          <p:nvPr/>
        </p:nvSpPr>
        <p:spPr>
          <a:xfrm>
            <a:off x="8278368" y="3035808"/>
            <a:ext cx="91440" cy="91440"/>
          </a:xfrm>
          <a:prstGeom prst="roundRect">
            <a:avLst>
              <a:gd name="adj" fmla="val 20000"/>
            </a:avLst>
          </a:prstGeom>
          <a:solidFill>
            <a:srgbClr val="E4F0EF"/>
          </a:solidFill>
          <a:ln w="9525">
            <a:solidFill>
              <a:srgbClr val="0E7C7B"/>
            </a:solidFill>
            <a:prstDash val="solid"/>
          </a:ln>
        </p:spPr>
      </p:sp>
      <p:sp>
        <p:nvSpPr>
          <p:cNvPr id="18" name="Shape 16"/>
          <p:cNvSpPr/>
          <p:nvPr/>
        </p:nvSpPr>
        <p:spPr>
          <a:xfrm>
            <a:off x="8537448" y="3035808"/>
            <a:ext cx="91440" cy="91440"/>
          </a:xfrm>
          <a:prstGeom prst="roundRect">
            <a:avLst>
              <a:gd name="adj" fmla="val 20000"/>
            </a:avLst>
          </a:prstGeom>
          <a:solidFill>
            <a:srgbClr val="E4F0EF"/>
          </a:solidFill>
          <a:ln w="9525">
            <a:solidFill>
              <a:srgbClr val="0E7C7B"/>
            </a:solidFill>
            <a:prstDash val="solid"/>
          </a:ln>
        </p:spPr>
      </p:sp>
      <p:sp>
        <p:nvSpPr>
          <p:cNvPr id="19" name="Shape 17"/>
          <p:cNvSpPr/>
          <p:nvPr/>
        </p:nvSpPr>
        <p:spPr>
          <a:xfrm>
            <a:off x="8065008" y="3108960"/>
            <a:ext cx="777240" cy="329184"/>
          </a:xfrm>
          <a:prstGeom prst="roundRect">
            <a:avLst>
              <a:gd name="adj" fmla="val 11111"/>
            </a:avLst>
          </a:prstGeom>
          <a:solidFill>
            <a:srgbClr val="E4F0EF"/>
          </a:solidFill>
          <a:ln w="9525">
            <a:solidFill>
              <a:srgbClr val="0E7C7B"/>
            </a:solidFill>
            <a:prstDash val="solid"/>
          </a:ln>
        </p:spPr>
      </p:sp>
      <p:sp>
        <p:nvSpPr>
          <p:cNvPr id="20" name="Text 18"/>
          <p:cNvSpPr/>
          <p:nvPr/>
        </p:nvSpPr>
        <p:spPr>
          <a:xfrm>
            <a:off x="8065008" y="3118104"/>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1" name="Shape 19"/>
          <p:cNvSpPr/>
          <p:nvPr/>
        </p:nvSpPr>
        <p:spPr>
          <a:xfrm>
            <a:off x="8988552" y="3035808"/>
            <a:ext cx="91440" cy="91440"/>
          </a:xfrm>
          <a:prstGeom prst="roundRect">
            <a:avLst>
              <a:gd name="adj" fmla="val 20000"/>
            </a:avLst>
          </a:prstGeom>
          <a:solidFill>
            <a:srgbClr val="FFFFFF"/>
          </a:solidFill>
          <a:ln w="9525">
            <a:solidFill>
              <a:srgbClr val="0E7C7B"/>
            </a:solidFill>
            <a:prstDash val="solid"/>
          </a:ln>
        </p:spPr>
      </p:sp>
      <p:sp>
        <p:nvSpPr>
          <p:cNvPr id="22" name="Shape 20"/>
          <p:cNvSpPr/>
          <p:nvPr/>
        </p:nvSpPr>
        <p:spPr>
          <a:xfrm>
            <a:off x="8897112" y="3108960"/>
            <a:ext cx="274320" cy="329184"/>
          </a:xfrm>
          <a:prstGeom prst="roundRect">
            <a:avLst>
              <a:gd name="adj" fmla="val 13333"/>
            </a:avLst>
          </a:prstGeom>
          <a:solidFill>
            <a:srgbClr val="FFFFFF"/>
          </a:solidFill>
          <a:ln w="9525">
            <a:solidFill>
              <a:srgbClr val="0E7C7B"/>
            </a:solidFill>
            <a:prstDash val="solid"/>
          </a:ln>
        </p:spPr>
      </p:sp>
      <p:sp>
        <p:nvSpPr>
          <p:cNvPr id="23" name="Text 21"/>
          <p:cNvSpPr/>
          <p:nvPr/>
        </p:nvSpPr>
        <p:spPr>
          <a:xfrm>
            <a:off x="8897112" y="3118104"/>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4" name="Shape 22"/>
          <p:cNvSpPr/>
          <p:nvPr/>
        </p:nvSpPr>
        <p:spPr>
          <a:xfrm>
            <a:off x="9348216" y="3035808"/>
            <a:ext cx="91440" cy="91440"/>
          </a:xfrm>
          <a:prstGeom prst="roundRect">
            <a:avLst>
              <a:gd name="adj" fmla="val 20000"/>
            </a:avLst>
          </a:prstGeom>
          <a:solidFill>
            <a:srgbClr val="E4F0EF"/>
          </a:solidFill>
          <a:ln w="9525">
            <a:solidFill>
              <a:srgbClr val="0E7C7B"/>
            </a:solidFill>
            <a:prstDash val="solid"/>
          </a:ln>
        </p:spPr>
      </p:sp>
      <p:sp>
        <p:nvSpPr>
          <p:cNvPr id="25" name="Shape 23"/>
          <p:cNvSpPr/>
          <p:nvPr/>
        </p:nvSpPr>
        <p:spPr>
          <a:xfrm>
            <a:off x="9515856" y="3035808"/>
            <a:ext cx="91440" cy="91440"/>
          </a:xfrm>
          <a:prstGeom prst="roundRect">
            <a:avLst>
              <a:gd name="adj" fmla="val 20000"/>
            </a:avLst>
          </a:prstGeom>
          <a:solidFill>
            <a:srgbClr val="E4F0EF"/>
          </a:solidFill>
          <a:ln w="9525">
            <a:solidFill>
              <a:srgbClr val="0E7C7B"/>
            </a:solidFill>
            <a:prstDash val="solid"/>
          </a:ln>
        </p:spPr>
      </p:sp>
      <p:sp>
        <p:nvSpPr>
          <p:cNvPr id="26" name="Shape 24"/>
          <p:cNvSpPr/>
          <p:nvPr/>
        </p:nvSpPr>
        <p:spPr>
          <a:xfrm>
            <a:off x="9226296" y="3108960"/>
            <a:ext cx="502920" cy="329184"/>
          </a:xfrm>
          <a:prstGeom prst="roundRect">
            <a:avLst>
              <a:gd name="adj" fmla="val 11111"/>
            </a:avLst>
          </a:prstGeom>
          <a:solidFill>
            <a:srgbClr val="E4F0EF"/>
          </a:solidFill>
          <a:ln w="9525">
            <a:solidFill>
              <a:srgbClr val="0E7C7B"/>
            </a:solidFill>
            <a:prstDash val="solid"/>
          </a:ln>
        </p:spPr>
      </p:sp>
      <p:sp>
        <p:nvSpPr>
          <p:cNvPr id="27" name="Text 25"/>
          <p:cNvSpPr/>
          <p:nvPr/>
        </p:nvSpPr>
        <p:spPr>
          <a:xfrm>
            <a:off x="9226296" y="3118104"/>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28" name="Shape 26"/>
          <p:cNvSpPr/>
          <p:nvPr/>
        </p:nvSpPr>
        <p:spPr>
          <a:xfrm>
            <a:off x="9838944" y="3035808"/>
            <a:ext cx="91440" cy="91440"/>
          </a:xfrm>
          <a:prstGeom prst="roundRect">
            <a:avLst>
              <a:gd name="adj" fmla="val 20000"/>
            </a:avLst>
          </a:prstGeom>
          <a:solidFill>
            <a:srgbClr val="FFFFFF"/>
          </a:solidFill>
          <a:ln w="9525">
            <a:solidFill>
              <a:srgbClr val="0E7C7B"/>
            </a:solidFill>
            <a:prstDash val="solid"/>
          </a:ln>
        </p:spPr>
      </p:sp>
      <p:sp>
        <p:nvSpPr>
          <p:cNvPr id="29" name="Shape 27"/>
          <p:cNvSpPr/>
          <p:nvPr/>
        </p:nvSpPr>
        <p:spPr>
          <a:xfrm>
            <a:off x="9784080" y="3108960"/>
            <a:ext cx="201168" cy="329184"/>
          </a:xfrm>
          <a:prstGeom prst="roundRect">
            <a:avLst>
              <a:gd name="adj" fmla="val 18182"/>
            </a:avLst>
          </a:prstGeom>
          <a:solidFill>
            <a:srgbClr val="FFFFFF"/>
          </a:solidFill>
          <a:ln w="9525">
            <a:solidFill>
              <a:srgbClr val="0E7C7B"/>
            </a:solidFill>
            <a:prstDash val="solid"/>
          </a:ln>
        </p:spPr>
      </p:sp>
      <p:sp>
        <p:nvSpPr>
          <p:cNvPr id="30" name="Text 28"/>
          <p:cNvSpPr/>
          <p:nvPr/>
        </p:nvSpPr>
        <p:spPr>
          <a:xfrm>
            <a:off x="9784080" y="3118104"/>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1" name="Shape 29"/>
          <p:cNvSpPr/>
          <p:nvPr/>
        </p:nvSpPr>
        <p:spPr>
          <a:xfrm>
            <a:off x="10162032" y="3035808"/>
            <a:ext cx="91440" cy="91440"/>
          </a:xfrm>
          <a:prstGeom prst="roundRect">
            <a:avLst>
              <a:gd name="adj" fmla="val 20000"/>
            </a:avLst>
          </a:prstGeom>
          <a:solidFill>
            <a:srgbClr val="E4F0EF"/>
          </a:solidFill>
          <a:ln w="9525">
            <a:solidFill>
              <a:srgbClr val="0E7C7B"/>
            </a:solidFill>
            <a:prstDash val="solid"/>
          </a:ln>
        </p:spPr>
      </p:sp>
      <p:sp>
        <p:nvSpPr>
          <p:cNvPr id="32" name="Shape 30"/>
          <p:cNvSpPr/>
          <p:nvPr/>
        </p:nvSpPr>
        <p:spPr>
          <a:xfrm>
            <a:off x="10329672" y="3035808"/>
            <a:ext cx="91440" cy="91440"/>
          </a:xfrm>
          <a:prstGeom prst="roundRect">
            <a:avLst>
              <a:gd name="adj" fmla="val 20000"/>
            </a:avLst>
          </a:prstGeom>
          <a:solidFill>
            <a:srgbClr val="E4F0EF"/>
          </a:solidFill>
          <a:ln w="9525">
            <a:solidFill>
              <a:srgbClr val="0E7C7B"/>
            </a:solidFill>
            <a:prstDash val="solid"/>
          </a:ln>
        </p:spPr>
      </p:sp>
      <p:sp>
        <p:nvSpPr>
          <p:cNvPr id="33" name="Shape 31"/>
          <p:cNvSpPr/>
          <p:nvPr/>
        </p:nvSpPr>
        <p:spPr>
          <a:xfrm>
            <a:off x="10040112" y="3108960"/>
            <a:ext cx="502920" cy="329184"/>
          </a:xfrm>
          <a:prstGeom prst="roundRect">
            <a:avLst>
              <a:gd name="adj" fmla="val 11111"/>
            </a:avLst>
          </a:prstGeom>
          <a:solidFill>
            <a:srgbClr val="E4F0EF"/>
          </a:solidFill>
          <a:ln w="9525">
            <a:solidFill>
              <a:srgbClr val="0E7C7B"/>
            </a:solidFill>
            <a:prstDash val="solid"/>
          </a:ln>
        </p:spPr>
      </p:sp>
      <p:sp>
        <p:nvSpPr>
          <p:cNvPr id="34" name="Text 32"/>
          <p:cNvSpPr/>
          <p:nvPr/>
        </p:nvSpPr>
        <p:spPr>
          <a:xfrm>
            <a:off x="10040112" y="3118104"/>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5" name="Shape 33"/>
          <p:cNvSpPr/>
          <p:nvPr/>
        </p:nvSpPr>
        <p:spPr>
          <a:xfrm>
            <a:off x="10735056" y="3035808"/>
            <a:ext cx="91440" cy="91440"/>
          </a:xfrm>
          <a:prstGeom prst="roundRect">
            <a:avLst>
              <a:gd name="adj" fmla="val 20000"/>
            </a:avLst>
          </a:prstGeom>
          <a:solidFill>
            <a:srgbClr val="FFFFFF"/>
          </a:solidFill>
          <a:ln w="9525">
            <a:solidFill>
              <a:srgbClr val="0E7C7B"/>
            </a:solidFill>
            <a:prstDash val="solid"/>
          </a:ln>
        </p:spPr>
      </p:sp>
      <p:sp>
        <p:nvSpPr>
          <p:cNvPr id="36" name="Shape 34"/>
          <p:cNvSpPr/>
          <p:nvPr/>
        </p:nvSpPr>
        <p:spPr>
          <a:xfrm>
            <a:off x="10917936" y="3035808"/>
            <a:ext cx="91440" cy="91440"/>
          </a:xfrm>
          <a:prstGeom prst="roundRect">
            <a:avLst>
              <a:gd name="adj" fmla="val 20000"/>
            </a:avLst>
          </a:prstGeom>
          <a:solidFill>
            <a:srgbClr val="FFFFFF"/>
          </a:solidFill>
          <a:ln w="9525">
            <a:solidFill>
              <a:srgbClr val="0E7C7B"/>
            </a:solidFill>
            <a:prstDash val="solid"/>
          </a:ln>
        </p:spPr>
      </p:sp>
      <p:sp>
        <p:nvSpPr>
          <p:cNvPr id="37" name="Shape 35"/>
          <p:cNvSpPr/>
          <p:nvPr/>
        </p:nvSpPr>
        <p:spPr>
          <a:xfrm>
            <a:off x="10597896" y="3108960"/>
            <a:ext cx="548640" cy="329184"/>
          </a:xfrm>
          <a:prstGeom prst="roundRect">
            <a:avLst>
              <a:gd name="adj" fmla="val 11111"/>
            </a:avLst>
          </a:prstGeom>
          <a:solidFill>
            <a:srgbClr val="FFFFFF"/>
          </a:solidFill>
          <a:ln w="9525">
            <a:solidFill>
              <a:srgbClr val="0E7C7B"/>
            </a:solidFill>
            <a:prstDash val="solid"/>
          </a:ln>
        </p:spPr>
      </p:sp>
      <p:sp>
        <p:nvSpPr>
          <p:cNvPr id="38" name="Text 36"/>
          <p:cNvSpPr/>
          <p:nvPr/>
        </p:nvSpPr>
        <p:spPr>
          <a:xfrm>
            <a:off x="10597896" y="3118104"/>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39" name="Text 37"/>
          <p:cNvSpPr/>
          <p:nvPr/>
        </p:nvSpPr>
        <p:spPr>
          <a:xfrm>
            <a:off x="6675120" y="3520440"/>
            <a:ext cx="47548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eight bricks — the model receives eight numbered IDs, not forty letters</a:t>
            </a:r>
            <a:endParaRPr lang="en-US" sz="950" dirty="0"/>
          </a:p>
        </p:txBody>
      </p:sp>
      <p:sp>
        <p:nvSpPr>
          <p:cNvPr id="40" name="Shape 38"/>
          <p:cNvSpPr/>
          <p:nvPr/>
        </p:nvSpPr>
        <p:spPr>
          <a:xfrm>
            <a:off x="6400800" y="3977640"/>
            <a:ext cx="5257800" cy="1417320"/>
          </a:xfrm>
          <a:prstGeom prst="roundRect">
            <a:avLst>
              <a:gd name="adj" fmla="val 5161"/>
            </a:avLst>
          </a:prstGeom>
          <a:solidFill>
            <a:srgbClr val="E4F0EF"/>
          </a:solidFill>
          <a:ln/>
        </p:spPr>
      </p:sp>
      <p:sp>
        <p:nvSpPr>
          <p:cNvPr id="41" name="Shape 39"/>
          <p:cNvSpPr/>
          <p:nvPr/>
        </p:nvSpPr>
        <p:spPr>
          <a:xfrm>
            <a:off x="6565392" y="4494276"/>
            <a:ext cx="384048" cy="384048"/>
          </a:xfrm>
          <a:prstGeom prst="ellipse">
            <a:avLst/>
          </a:prstGeom>
          <a:solidFill>
            <a:srgbClr val="0E7C7B"/>
          </a:solidFill>
          <a:ln/>
        </p:spPr>
      </p:sp>
      <p:pic>
        <p:nvPicPr>
          <p:cNvPr id="42" name="Image 0" descr="/home/user/Claude-Works/ai-training-prompt-engineering/src/assets/icons/layers_w.png">    </p:cNvPr>
          <p:cNvPicPr>
            <a:picLocks noChangeAspect="1"/>
          </p:cNvPicPr>
          <p:nvPr/>
        </p:nvPicPr>
        <p:blipFill>
          <a:blip r:embed="rId1"/>
          <a:stretch>
            <a:fillRect/>
          </a:stretch>
        </p:blipFill>
        <p:spPr>
          <a:xfrm>
            <a:off x="6665244" y="4594128"/>
            <a:ext cx="184343" cy="184343"/>
          </a:xfrm>
          <a:prstGeom prst="rect">
            <a:avLst/>
          </a:prstGeom>
        </p:spPr>
      </p:pic>
      <p:sp>
        <p:nvSpPr>
          <p:cNvPr id="43" name="Text 40"/>
          <p:cNvSpPr/>
          <p:nvPr/>
        </p:nvSpPr>
        <p:spPr>
          <a:xfrm>
            <a:off x="7114032" y="4050792"/>
            <a:ext cx="4315968" cy="127101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4" name="Shape 41"/>
          <p:cNvSpPr/>
          <p:nvPr/>
        </p:nvSpPr>
        <p:spPr>
          <a:xfrm>
            <a:off x="502920" y="4434840"/>
            <a:ext cx="5669280" cy="1828800"/>
          </a:xfrm>
          <a:prstGeom prst="roundRect">
            <a:avLst>
              <a:gd name="adj" fmla="val 4000"/>
            </a:avLst>
          </a:prstGeom>
          <a:solidFill>
            <a:srgbClr val="E4F0EF"/>
          </a:solidFill>
          <a:ln/>
        </p:spPr>
      </p:sp>
      <p:sp>
        <p:nvSpPr>
          <p:cNvPr id="45" name="Shape 42"/>
          <p:cNvSpPr/>
          <p:nvPr/>
        </p:nvSpPr>
        <p:spPr>
          <a:xfrm>
            <a:off x="649224" y="4553712"/>
            <a:ext cx="365760" cy="365760"/>
          </a:xfrm>
          <a:prstGeom prst="ellipse">
            <a:avLst/>
          </a:prstGeom>
          <a:solidFill>
            <a:srgbClr val="0E7C7B"/>
          </a:solidFill>
          <a:ln/>
        </p:spPr>
      </p:sp>
      <p:pic>
        <p:nvPicPr>
          <p:cNvPr id="46" name="Image 1" descr="/home/user/Claude-Works/ai-training-prompt-engineering/src/assets/icons/robot_w.png">    </p:cNvPr>
          <p:cNvPicPr>
            <a:picLocks noChangeAspect="1"/>
          </p:cNvPicPr>
          <p:nvPr/>
        </p:nvPicPr>
        <p:blipFill>
          <a:blip r:embed="rId2"/>
          <a:stretch>
            <a:fillRect/>
          </a:stretch>
        </p:blipFill>
        <p:spPr>
          <a:xfrm>
            <a:off x="744322" y="4648810"/>
            <a:ext cx="175565" cy="175565"/>
          </a:xfrm>
          <a:prstGeom prst="rect">
            <a:avLst/>
          </a:prstGeom>
        </p:spPr>
      </p:pic>
      <p:sp>
        <p:nvSpPr>
          <p:cNvPr id="47" name="Shape 43"/>
          <p:cNvSpPr/>
          <p:nvPr/>
        </p:nvSpPr>
        <p:spPr>
          <a:xfrm>
            <a:off x="1106424" y="4581144"/>
            <a:ext cx="1188720" cy="310896"/>
          </a:xfrm>
          <a:prstGeom prst="roundRect">
            <a:avLst>
              <a:gd name="adj" fmla="val 23529"/>
            </a:avLst>
          </a:prstGeom>
          <a:solidFill>
            <a:srgbClr val="0E7C7B"/>
          </a:solidFill>
          <a:ln/>
        </p:spPr>
      </p:sp>
      <p:sp>
        <p:nvSpPr>
          <p:cNvPr id="48" name="Text 44"/>
          <p:cNvSpPr/>
          <p:nvPr/>
        </p:nvSpPr>
        <p:spPr>
          <a:xfrm>
            <a:off x="1106424" y="459028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3/8</a:t>
            </a:r>
            <a:endParaRPr lang="en-US" sz="950" dirty="0"/>
          </a:p>
        </p:txBody>
      </p:sp>
      <p:sp>
        <p:nvSpPr>
          <p:cNvPr id="49" name="Text 45"/>
          <p:cNvSpPr/>
          <p:nvPr/>
        </p:nvSpPr>
        <p:spPr>
          <a:xfrm>
            <a:off x="2404872" y="4590288"/>
            <a:ext cx="35204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Bricks, not letters</a:t>
            </a:r>
            <a:endParaRPr lang="en-US" sz="1050" dirty="0"/>
          </a:p>
        </p:txBody>
      </p:sp>
      <p:sp>
        <p:nvSpPr>
          <p:cNvPr id="50" name="Text 46"/>
          <p:cNvSpPr/>
          <p:nvPr/>
        </p:nvSpPr>
        <p:spPr>
          <a:xfrm>
            <a:off x="685800" y="4965192"/>
            <a:ext cx="5303520" cy="1170432"/>
          </a:xfrm>
          <a:prstGeom prst="rect">
            <a:avLst/>
          </a:prstGeom>
          <a:noFill/>
          <a:ln/>
        </p:spPr>
        <p:txBody>
          <a:bodyPr wrap="square" lIns="0" tIns="0" rIns="0" bIns="0" rtlCol="0" anchor="t"/>
          <a:lstStyle/>
          <a:p>
            <a:pPr indent="0" marL="0">
              <a:lnSpc>
                <a:spcPct val="110000"/>
              </a:lnSpc>
              <a:buNone/>
            </a:pPr>
            <a:r>
              <a:rPr lang="en-US" sz="860" dirty="0">
                <a:solidFill>
                  <a:srgbClr val="232A31"/>
                </a:solidFill>
                <a:latin typeface="Consolas" pitchFamily="34" charset="0"/>
                <a:ea typeface="Consolas" pitchFamily="34" charset="-122"/>
                <a:cs typeface="Consolas" pitchFamily="34" charset="-120"/>
              </a:rPr>
              <a:t>You don’t read letters — you read tokens: chunks of text, like LEGO bricks. Teach me this in under 150 words, like I’m a new office colleague. 1) Chop this sentence into token-style chunks, putting | between chunks (a rough split is fine): “Our quarterly onboarding checklist is ready.” 2) One short sentence each: (a) why letter-counting can go wrong for you; (b) what to ask you FIRST when I need letter-perfect work; (c) why tokens are what I pay for and what fills your memory of our chat. Plain language.</a:t>
            </a:r>
            <a:endParaRPr lang="en-US"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514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By 2026, ~1M tokens (≈1,500 pages) is the flagship standard. Consumer apps often enforce smaller limits than the raw model.</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“Fits on the desk” ≠ “gets read carefully”: accuracy is highest at the start and end of a long context and sags in the middle (“lost in the middle”).</a:t>
            </a:r>
            <a:endParaRPr lang="en-US" sz="1150" dirty="0"/>
          </a:p>
        </p:txBody>
      </p:sp>
      <p:sp>
        <p:nvSpPr>
          <p:cNvPr id="7" name="Shape 5"/>
          <p:cNvSpPr/>
          <p:nvPr/>
        </p:nvSpPr>
        <p:spPr>
          <a:xfrm>
            <a:off x="6400800" y="1481328"/>
            <a:ext cx="5257800" cy="2194560"/>
          </a:xfrm>
          <a:prstGeom prst="roundRect">
            <a:avLst>
              <a:gd name="adj" fmla="val 3333"/>
            </a:avLst>
          </a:prstGeom>
          <a:solidFill>
            <a:srgbClr val="F2F5F6"/>
          </a:solidFill>
          <a:ln/>
        </p:spPr>
      </p:sp>
      <p:sp>
        <p:nvSpPr>
          <p:cNvPr id="8" name="Text 6"/>
          <p:cNvSpPr/>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What’s on the desk right now</a:t>
            </a:r>
            <a:endParaRPr lang="en-US" sz="1400" dirty="0"/>
          </a:p>
        </p:txBody>
      </p:sp>
      <p:sp>
        <p:nvSpPr>
          <p:cNvPr id="9" name="Shape 7"/>
          <p:cNvSpPr/>
          <p:nvPr/>
        </p:nvSpPr>
        <p:spPr>
          <a:xfrm>
            <a:off x="6675120" y="2084832"/>
            <a:ext cx="347472" cy="347472"/>
          </a:xfrm>
          <a:prstGeom prst="ellipse">
            <a:avLst/>
          </a:prstGeom>
          <a:solidFill>
            <a:srgbClr val="46545F"/>
          </a:solidFill>
          <a:ln/>
        </p:spPr>
      </p:sp>
      <p:pic>
        <p:nvPicPr>
          <p:cNvPr id="10" name="Image 0" descr="/home/user/Claude-Works/ai-training-prompt-engineering/src/assets/icons/file_w.png">    </p:cNvPr>
          <p:cNvPicPr>
            <a:picLocks noChangeAspect="1"/>
          </p:cNvPicPr>
          <p:nvPr/>
        </p:nvPicPr>
        <p:blipFill>
          <a:blip r:embed="rId1"/>
          <a:stretch>
            <a:fillRect/>
          </a:stretch>
        </p:blipFill>
        <p:spPr>
          <a:xfrm>
            <a:off x="6765463" y="2175175"/>
            <a:ext cx="166787" cy="166787"/>
          </a:xfrm>
          <a:prstGeom prst="rect">
            <a:avLst/>
          </a:prstGeom>
        </p:spPr>
      </p:pic>
      <p:sp>
        <p:nvSpPr>
          <p:cNvPr id="11" name="Text 8"/>
          <p:cNvSpPr/>
          <p:nvPr/>
        </p:nvSpPr>
        <p:spPr>
          <a:xfrm>
            <a:off x="7132320" y="2093976"/>
            <a:ext cx="2011680" cy="658368"/>
          </a:xfrm>
          <a:prstGeom prst="rect">
            <a:avLst/>
          </a:prstGeom>
          <a:noFill/>
          <a:ln/>
        </p:spPr>
        <p:txBody>
          <a:bodyPr wrap="square" lIns="0" tIns="0" rIns="0" bIns="0" rtlCol="0" anchor="ctr"/>
          <a:lstStyle/>
          <a:p>
            <a:pPr indent="0" marL="0">
              <a:lnSpc>
                <a:spcPct val="100000"/>
              </a:lnSpc>
              <a:buNone/>
            </a:pPr>
            <a:r>
              <a:rPr lang="en-US" sz="980" dirty="0">
                <a:solidFill>
                  <a:srgbClr val="46545F"/>
                </a:solidFill>
                <a:latin typeface="Calibri" pitchFamily="34" charset="0"/>
                <a:ea typeface="Calibri" pitchFamily="34" charset="-122"/>
                <a:cs typeface="Calibri" pitchFamily="34" charset="-120"/>
              </a:rPr>
              <a:t>System prompt &amp; instructions</a:t>
            </a:r>
            <a:endParaRPr lang="en-US" sz="980" dirty="0"/>
          </a:p>
        </p:txBody>
      </p:sp>
      <p:sp>
        <p:nvSpPr>
          <p:cNvPr id="12" name="Shape 9"/>
          <p:cNvSpPr/>
          <p:nvPr/>
        </p:nvSpPr>
        <p:spPr>
          <a:xfrm>
            <a:off x="9189720" y="2084832"/>
            <a:ext cx="347472" cy="347472"/>
          </a:xfrm>
          <a:prstGeom prst="ellipse">
            <a:avLst/>
          </a:prstGeom>
          <a:solidFill>
            <a:srgbClr val="46545F"/>
          </a:solidFill>
          <a:ln/>
        </p:spPr>
      </p:sp>
      <p:pic>
        <p:nvPicPr>
          <p:cNvPr id="13" name="Image 1" descr="/home/user/Claude-Works/ai-training-prompt-engineering/src/assets/icons/chat_w.png">    </p:cNvPr>
          <p:cNvPicPr>
            <a:picLocks noChangeAspect="1"/>
          </p:cNvPicPr>
          <p:nvPr/>
        </p:nvPicPr>
        <p:blipFill>
          <a:blip r:embed="rId2"/>
          <a:stretch>
            <a:fillRect/>
          </a:stretch>
        </p:blipFill>
        <p:spPr>
          <a:xfrm>
            <a:off x="9280063" y="2175175"/>
            <a:ext cx="166787" cy="166787"/>
          </a:xfrm>
          <a:prstGeom prst="rect">
            <a:avLst/>
          </a:prstGeom>
        </p:spPr>
      </p:pic>
      <p:sp>
        <p:nvSpPr>
          <p:cNvPr id="14" name="Text 10"/>
          <p:cNvSpPr/>
          <p:nvPr/>
        </p:nvSpPr>
        <p:spPr>
          <a:xfrm>
            <a:off x="9646920" y="2093976"/>
            <a:ext cx="2011680" cy="658368"/>
          </a:xfrm>
          <a:prstGeom prst="rect">
            <a:avLst/>
          </a:prstGeom>
          <a:noFill/>
          <a:ln/>
        </p:spPr>
        <p:txBody>
          <a:bodyPr wrap="square" lIns="0" tIns="0" rIns="0" bIns="0" rtlCol="0" anchor="ctr"/>
          <a:lstStyle/>
          <a:p>
            <a:pPr indent="0" marL="0">
              <a:lnSpc>
                <a:spcPct val="100000"/>
              </a:lnSpc>
              <a:buNone/>
            </a:pPr>
            <a:r>
              <a:rPr lang="en-US" sz="980" dirty="0">
                <a:solidFill>
                  <a:srgbClr val="46545F"/>
                </a:solidFill>
                <a:latin typeface="Calibri" pitchFamily="34" charset="0"/>
                <a:ea typeface="Calibri" pitchFamily="34" charset="-122"/>
                <a:cs typeface="Calibri" pitchFamily="34" charset="-120"/>
              </a:rPr>
              <a:t>Every prior turn — both sides</a:t>
            </a:r>
            <a:endParaRPr lang="en-US" sz="980" dirty="0"/>
          </a:p>
        </p:txBody>
      </p:sp>
      <p:sp>
        <p:nvSpPr>
          <p:cNvPr id="15" name="Shape 11"/>
          <p:cNvSpPr/>
          <p:nvPr/>
        </p:nvSpPr>
        <p:spPr>
          <a:xfrm>
            <a:off x="6675120" y="2834640"/>
            <a:ext cx="347472" cy="347472"/>
          </a:xfrm>
          <a:prstGeom prst="ellipse">
            <a:avLst/>
          </a:prstGeom>
          <a:solidFill>
            <a:srgbClr val="46545F"/>
          </a:solidFill>
          <a:ln/>
        </p:spPr>
      </p:sp>
      <p:pic>
        <p:nvPicPr>
          <p:cNvPr id="16" name="Image 2" descr="/home/user/Claude-Works/ai-training-prompt-engineering/src/assets/icons/paperclip_w.png">    </p:cNvPr>
          <p:cNvPicPr>
            <a:picLocks noChangeAspect="1"/>
          </p:cNvPicPr>
          <p:nvPr/>
        </p:nvPicPr>
        <p:blipFill>
          <a:blip r:embed="rId3"/>
          <a:stretch>
            <a:fillRect/>
          </a:stretch>
        </p:blipFill>
        <p:spPr>
          <a:xfrm>
            <a:off x="6765463" y="2924983"/>
            <a:ext cx="166787" cy="166787"/>
          </a:xfrm>
          <a:prstGeom prst="rect">
            <a:avLst/>
          </a:prstGeom>
        </p:spPr>
      </p:pic>
      <p:sp>
        <p:nvSpPr>
          <p:cNvPr id="17" name="Text 12"/>
          <p:cNvSpPr/>
          <p:nvPr/>
        </p:nvSpPr>
        <p:spPr>
          <a:xfrm>
            <a:off x="7132320" y="2843784"/>
            <a:ext cx="2011680" cy="658368"/>
          </a:xfrm>
          <a:prstGeom prst="rect">
            <a:avLst/>
          </a:prstGeom>
          <a:noFill/>
          <a:ln/>
        </p:spPr>
        <p:txBody>
          <a:bodyPr wrap="square" lIns="0" tIns="0" rIns="0" bIns="0" rtlCol="0" anchor="ctr"/>
          <a:lstStyle/>
          <a:p>
            <a:pPr indent="0" marL="0">
              <a:lnSpc>
                <a:spcPct val="100000"/>
              </a:lnSpc>
              <a:buNone/>
            </a:pPr>
            <a:r>
              <a:rPr lang="en-US" sz="980" dirty="0">
                <a:solidFill>
                  <a:srgbClr val="46545F"/>
                </a:solidFill>
                <a:latin typeface="Calibri" pitchFamily="34" charset="0"/>
                <a:ea typeface="Calibri" pitchFamily="34" charset="-122"/>
                <a:cs typeface="Calibri" pitchFamily="34" charset="-120"/>
              </a:rPr>
              <a:t>Attached documents</a:t>
            </a:r>
            <a:endParaRPr lang="en-US" sz="980" dirty="0"/>
          </a:p>
        </p:txBody>
      </p:sp>
      <p:sp>
        <p:nvSpPr>
          <p:cNvPr id="18" name="Shape 13"/>
          <p:cNvSpPr/>
          <p:nvPr/>
        </p:nvSpPr>
        <p:spPr>
          <a:xfrm>
            <a:off x="9189720" y="2834640"/>
            <a:ext cx="347472" cy="347472"/>
          </a:xfrm>
          <a:prstGeom prst="ellipse">
            <a:avLst/>
          </a:prstGeom>
          <a:solidFill>
            <a:srgbClr val="46545F"/>
          </a:solidFill>
          <a:ln/>
        </p:spPr>
      </p:sp>
      <p:pic>
        <p:nvPicPr>
          <p:cNvPr id="19" name="Image 3" descr="/home/user/Claude-Works/ai-training-prompt-engineering/src/assets/icons/search_w.png">    </p:cNvPr>
          <p:cNvPicPr>
            <a:picLocks noChangeAspect="1"/>
          </p:cNvPicPr>
          <p:nvPr/>
        </p:nvPicPr>
        <p:blipFill>
          <a:blip r:embed="rId4"/>
          <a:stretch>
            <a:fillRect/>
          </a:stretch>
        </p:blipFill>
        <p:spPr>
          <a:xfrm>
            <a:off x="9280063" y="2924983"/>
            <a:ext cx="166787" cy="166787"/>
          </a:xfrm>
          <a:prstGeom prst="rect">
            <a:avLst/>
          </a:prstGeom>
        </p:spPr>
      </p:pic>
      <p:sp>
        <p:nvSpPr>
          <p:cNvPr id="20" name="Text 14"/>
          <p:cNvSpPr/>
          <p:nvPr/>
        </p:nvSpPr>
        <p:spPr>
          <a:xfrm>
            <a:off x="9646920" y="2843784"/>
            <a:ext cx="2011680" cy="658368"/>
          </a:xfrm>
          <a:prstGeom prst="rect">
            <a:avLst/>
          </a:prstGeom>
          <a:noFill/>
          <a:ln/>
        </p:spPr>
        <p:txBody>
          <a:bodyPr wrap="square" lIns="0" tIns="0" rIns="0" bIns="0" rtlCol="0" anchor="ctr"/>
          <a:lstStyle/>
          <a:p>
            <a:pPr indent="0" marL="0">
              <a:lnSpc>
                <a:spcPct val="100000"/>
              </a:lnSpc>
              <a:buNone/>
            </a:pPr>
            <a:r>
              <a:rPr lang="en-US" sz="980" dirty="0">
                <a:solidFill>
                  <a:srgbClr val="46545F"/>
                </a:solidFill>
                <a:latin typeface="Calibri" pitchFamily="34" charset="0"/>
                <a:ea typeface="Calibri" pitchFamily="34" charset="-122"/>
                <a:cs typeface="Calibri" pitchFamily="34" charset="-120"/>
              </a:rPr>
              <a:t>Tool &amp; search results</a:t>
            </a:r>
            <a:endParaRPr lang="en-US" sz="980" dirty="0"/>
          </a:p>
        </p:txBody>
      </p:sp>
      <p:sp>
        <p:nvSpPr>
          <p:cNvPr id="21" name="Shape 15"/>
          <p:cNvSpPr/>
          <p:nvPr/>
        </p:nvSpPr>
        <p:spPr>
          <a:xfrm>
            <a:off x="6400800" y="3803904"/>
            <a:ext cx="5257800" cy="1170432"/>
          </a:xfrm>
          <a:prstGeom prst="roundRect">
            <a:avLst>
              <a:gd name="adj" fmla="val 6250"/>
            </a:avLst>
          </a:prstGeom>
          <a:solidFill>
            <a:srgbClr val="E4F0EF"/>
          </a:solidFill>
          <a:ln/>
        </p:spPr>
      </p:sp>
      <p:sp>
        <p:nvSpPr>
          <p:cNvPr id="22" name="Shape 16"/>
          <p:cNvSpPr/>
          <p:nvPr/>
        </p:nvSpPr>
        <p:spPr>
          <a:xfrm>
            <a:off x="6565392" y="4197096"/>
            <a:ext cx="384048" cy="384048"/>
          </a:xfrm>
          <a:prstGeom prst="ellipse">
            <a:avLst/>
          </a:prstGeom>
          <a:solidFill>
            <a:srgbClr val="0E7C7B"/>
          </a:solidFill>
          <a:ln/>
        </p:spPr>
      </p:sp>
      <p:pic>
        <p:nvPicPr>
          <p:cNvPr id="23" name="Image 4" descr="/home/user/Claude-Works/ai-training-prompt-engineering/src/assets/icons/check_w.png">    </p:cNvPr>
          <p:cNvPicPr>
            <a:picLocks noChangeAspect="1"/>
          </p:cNvPicPr>
          <p:nvPr/>
        </p:nvPicPr>
        <p:blipFill>
          <a:blip r:embed="rId5"/>
          <a:stretch>
            <a:fillRect/>
          </a:stretch>
        </p:blipFill>
        <p:spPr>
          <a:xfrm>
            <a:off x="6665244" y="4296948"/>
            <a:ext cx="184343" cy="184343"/>
          </a:xfrm>
          <a:prstGeom prst="rect">
            <a:avLst/>
          </a:prstGeom>
        </p:spPr>
      </p:pic>
      <p:sp>
        <p:nvSpPr>
          <p:cNvPr id="24" name="Text 17"/>
          <p:cNvSpPr/>
          <p:nvPr/>
        </p:nvSpPr>
        <p:spPr>
          <a:xfrm>
            <a:off x="7114032" y="3877056"/>
            <a:ext cx="4315968" cy="1024128"/>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050" dirty="0"/>
          </a:p>
          <a:p>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① long documents at the TOP, question at the END (~30% better answers) · ② label multiple documents · ③ new topic → new chat · ④ long thread → run the handoff move below.</a:t>
            </a:r>
            <a:endParaRPr lang="en-US" sz="1050" dirty="0"/>
          </a:p>
        </p:txBody>
      </p:sp>
      <p:sp>
        <p:nvSpPr>
          <p:cNvPr id="25" name="Shape 18"/>
          <p:cNvSpPr/>
          <p:nvPr/>
        </p:nvSpPr>
        <p:spPr>
          <a:xfrm>
            <a:off x="502920" y="4114800"/>
            <a:ext cx="5669280" cy="859536"/>
          </a:xfrm>
          <a:prstGeom prst="roundRect">
            <a:avLst>
              <a:gd name="adj" fmla="val 8511"/>
            </a:avLst>
          </a:prstGeom>
          <a:solidFill>
            <a:srgbClr val="FBF0E0"/>
          </a:solidFill>
          <a:ln/>
        </p:spPr>
      </p:sp>
      <p:sp>
        <p:nvSpPr>
          <p:cNvPr id="26" name="Text 19"/>
          <p:cNvSpPr/>
          <p:nvPr/>
        </p:nvSpPr>
        <p:spPr>
          <a:xfrm>
            <a:off x="777240" y="4206240"/>
            <a:ext cx="5212080" cy="694944"/>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exactly what agentic tools bolt onto the desk — Part 5.</a:t>
            </a:r>
            <a:endParaRPr lang="en-US" sz="1100" dirty="0"/>
          </a:p>
        </p:txBody>
      </p:sp>
      <p:sp>
        <p:nvSpPr>
          <p:cNvPr id="27" name="Shape 20"/>
          <p:cNvSpPr/>
          <p:nvPr/>
        </p:nvSpPr>
        <p:spPr>
          <a:xfrm>
            <a:off x="502920" y="5102352"/>
            <a:ext cx="11155680" cy="1371600"/>
          </a:xfrm>
          <a:prstGeom prst="roundRect">
            <a:avLst>
              <a:gd name="adj" fmla="val 5333"/>
            </a:avLst>
          </a:prstGeom>
          <a:solidFill>
            <a:srgbClr val="E4F0EF"/>
          </a:solidFill>
          <a:ln/>
        </p:spPr>
      </p:sp>
      <p:sp>
        <p:nvSpPr>
          <p:cNvPr id="28" name="Shape 21"/>
          <p:cNvSpPr/>
          <p:nvPr/>
        </p:nvSpPr>
        <p:spPr>
          <a:xfrm>
            <a:off x="649224" y="5221224"/>
            <a:ext cx="365760" cy="365760"/>
          </a:xfrm>
          <a:prstGeom prst="ellipse">
            <a:avLst/>
          </a:prstGeom>
          <a:solidFill>
            <a:srgbClr val="0E7C7B"/>
          </a:solidFill>
          <a:ln/>
        </p:spPr>
      </p:sp>
      <p:pic>
        <p:nvPicPr>
          <p:cNvPr id="29" name="Image 5" descr="/home/user/Claude-Works/ai-training-prompt-engineering/src/assets/icons/robot_w.png">    </p:cNvPr>
          <p:cNvPicPr>
            <a:picLocks noChangeAspect="1"/>
          </p:cNvPicPr>
          <p:nvPr/>
        </p:nvPicPr>
        <p:blipFill>
          <a:blip r:embed="rId6"/>
          <a:stretch>
            <a:fillRect/>
          </a:stretch>
        </p:blipFill>
        <p:spPr>
          <a:xfrm>
            <a:off x="744322" y="5316322"/>
            <a:ext cx="175565" cy="175565"/>
          </a:xfrm>
          <a:prstGeom prst="rect">
            <a:avLst/>
          </a:prstGeom>
        </p:spPr>
      </p:pic>
      <p:sp>
        <p:nvSpPr>
          <p:cNvPr id="30" name="Shape 22"/>
          <p:cNvSpPr/>
          <p:nvPr/>
        </p:nvSpPr>
        <p:spPr>
          <a:xfrm>
            <a:off x="1106424" y="5248656"/>
            <a:ext cx="1188720" cy="310896"/>
          </a:xfrm>
          <a:prstGeom prst="roundRect">
            <a:avLst>
              <a:gd name="adj" fmla="val 23529"/>
            </a:avLst>
          </a:prstGeom>
          <a:solidFill>
            <a:srgbClr val="0E7C7B"/>
          </a:solidFill>
          <a:ln/>
        </p:spPr>
      </p:sp>
      <p:sp>
        <p:nvSpPr>
          <p:cNvPr id="31" name="Text 23"/>
          <p:cNvSpPr/>
          <p:nvPr/>
        </p:nvSpPr>
        <p:spPr>
          <a:xfrm>
            <a:off x="1106424" y="525780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4/8</a:t>
            </a:r>
            <a:endParaRPr lang="en-US" sz="950" dirty="0"/>
          </a:p>
        </p:txBody>
      </p:sp>
      <p:sp>
        <p:nvSpPr>
          <p:cNvPr id="32" name="Text 24"/>
          <p:cNvSpPr/>
          <p:nvPr/>
        </p:nvSpPr>
        <p:spPr>
          <a:xfrm>
            <a:off x="2404872" y="5257800"/>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handoff note — the habit, performed</a:t>
            </a:r>
            <a:endParaRPr lang="en-US" sz="1050" dirty="0"/>
          </a:p>
        </p:txBody>
      </p:sp>
      <p:sp>
        <p:nvSpPr>
          <p:cNvPr id="33" name="Text 25"/>
          <p:cNvSpPr/>
          <p:nvPr/>
        </p:nvSpPr>
        <p:spPr>
          <a:xfrm>
            <a:off x="685800" y="5632704"/>
            <a:ext cx="10789920" cy="713232"/>
          </a:xfrm>
          <a:prstGeom prst="rect">
            <a:avLst/>
          </a:prstGeom>
          <a:noFill/>
          <a:ln/>
        </p:spPr>
        <p:txBody>
          <a:bodyPr wrap="square" lIns="0" tIns="0" rIns="0" bIns="0" rtlCol="0" anchor="t"/>
          <a:lstStyle/>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One day this chat gets too long, or I close it — and your desk is swept clean. Boil our course thread so far into a handoff note titled HANDOFF 4/8, under 80 words (shorter is fine): everything a brand-new chat would need to continue my training — what course this is, which numbered exercises I’ve done, what comes next. Under the note, two plain sentences: what happens to everything here the moment this chat closes? Last line: what would you need to remember me across chats? Just name it — we get there in Part 5.</a:t>
            </a:r>
            <a:endParaRPr lang="en-US" sz="8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25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25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1 · Ask</a:t>
            </a:r>
            <a:endParaRPr lang="en-US" sz="130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98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2 · Retrieve</a:t>
            </a:r>
            <a:endParaRPr lang="en-US" sz="130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98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3 · Augment</a:t>
            </a:r>
            <a:endParaRPr lang="en-US" sz="130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98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4 · Generate</a:t>
            </a:r>
            <a:endParaRPr lang="en-US" sz="130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980" dirty="0"/>
          </a:p>
        </p:txBody>
      </p:sp>
      <p:sp>
        <p:nvSpPr>
          <p:cNvPr id="30" name="Shape 24"/>
          <p:cNvSpPr/>
          <p:nvPr/>
        </p:nvSpPr>
        <p:spPr>
          <a:xfrm>
            <a:off x="502920" y="4096512"/>
            <a:ext cx="5486400" cy="1645920"/>
          </a:xfrm>
          <a:prstGeom prst="roundRect">
            <a:avLst>
              <a:gd name="adj" fmla="val 4444"/>
            </a:avLst>
          </a:prstGeom>
          <a:solidFill>
            <a:srgbClr val="E7F2EC"/>
          </a:solidFill>
          <a:ln/>
        </p:spPr>
      </p:sp>
      <p:sp>
        <p:nvSpPr>
          <p:cNvPr id="31" name="Text 25"/>
          <p:cNvSpPr/>
          <p:nvPr/>
        </p:nvSpPr>
        <p:spPr>
          <a:xfrm>
            <a:off x="777240" y="4261104"/>
            <a:ext cx="5029200" cy="1371600"/>
          </a:xfrm>
          <a:prstGeom prst="rect">
            <a:avLst/>
          </a:prstGeom>
          <a:noFill/>
          <a:ln/>
        </p:spPr>
        <p:txBody>
          <a:bodyPr wrap="square" lIns="0" tIns="0" rIns="0" bIns="0" rtlCol="0" anchor="ctr"/>
          <a:lstStyle/>
          <a:p>
            <a:pPr indent="0" marL="0">
              <a:lnSpc>
                <a:spcPct val="106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current (re-index a doc in minutes, no retraining) · checkable (citations to the exact passage) · private (retrieval feeds one answer; it teaches the model nothing) · access-aware (you only retrieve what you’re allowed to see).</a:t>
            </a:r>
            <a:endParaRPr lang="en-US" sz="1150" dirty="0"/>
          </a:p>
        </p:txBody>
      </p:sp>
      <p:sp>
        <p:nvSpPr>
          <p:cNvPr id="32" name="Shape 26"/>
          <p:cNvSpPr/>
          <p:nvPr/>
        </p:nvSpPr>
        <p:spPr>
          <a:xfrm>
            <a:off x="6172200" y="4096512"/>
            <a:ext cx="5486400" cy="1645920"/>
          </a:xfrm>
          <a:prstGeom prst="roundRect">
            <a:avLst>
              <a:gd name="adj" fmla="val 4444"/>
            </a:avLst>
          </a:prstGeom>
          <a:solidFill>
            <a:srgbClr val="F9E9E8"/>
          </a:solidFill>
          <a:ln/>
        </p:spPr>
      </p:sp>
      <p:sp>
        <p:nvSpPr>
          <p:cNvPr id="33" name="Text 27"/>
          <p:cNvSpPr/>
          <p:nvPr/>
        </p:nvSpPr>
        <p:spPr>
          <a:xfrm>
            <a:off x="6446520" y="4261104"/>
            <a:ext cx="5029200" cy="1371600"/>
          </a:xfrm>
          <a:prstGeom prst="rect">
            <a:avLst/>
          </a:prstGeom>
          <a:noFill/>
          <a:ln/>
        </p:spPr>
        <p:txBody>
          <a:bodyPr wrap="square" lIns="0" tIns="0" rIns="0" bIns="0" rtlCol="0" anchor="ctr"/>
          <a:lstStyle/>
          <a:p>
            <a:pPr indent="0" marL="0">
              <a:lnSpc>
                <a:spcPct val="106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if retrieval fetches the wrong page — an outdated revision, a near-miss document — the model still writes a fluent, confident, cited answer from it. Bad retrieval = confident wrong answer. So: check the citation, not just the prose.</a:t>
            </a:r>
            <a:endParaRPr lang="en-US" sz="1150" dirty="0"/>
          </a:p>
        </p:txBody>
      </p:sp>
      <p:sp>
        <p:nvSpPr>
          <p:cNvPr id="34" name="Shape 28"/>
          <p:cNvSpPr/>
          <p:nvPr/>
        </p:nvSpPr>
        <p:spPr>
          <a:xfrm>
            <a:off x="502920" y="5870448"/>
            <a:ext cx="11155680" cy="566928"/>
          </a:xfrm>
          <a:prstGeom prst="roundRect">
            <a:avLst>
              <a:gd name="adj" fmla="val 12903"/>
            </a:avLst>
          </a:prstGeom>
          <a:solidFill>
            <a:srgbClr val="E4F0EF"/>
          </a:solidFill>
          <a:ln/>
        </p:spPr>
      </p:sp>
      <p:sp>
        <p:nvSpPr>
          <p:cNvPr id="35" name="Shape 29"/>
          <p:cNvSpPr/>
          <p:nvPr/>
        </p:nvSpPr>
        <p:spPr>
          <a:xfrm>
            <a:off x="667512" y="5961888"/>
            <a:ext cx="384048" cy="384048"/>
          </a:xfrm>
          <a:prstGeom prst="ellipse">
            <a:avLst/>
          </a:prstGeom>
          <a:solidFill>
            <a:srgbClr val="0E7C7B"/>
          </a:solidFill>
          <a:ln/>
        </p:spPr>
      </p:sp>
      <p:pic>
        <p:nvPicPr>
          <p:cNvPr id="36" name="Image 4" descr="/home/user/Claude-Works/ai-training-prompt-engineering/src/assets/icons/home_w.png">    </p:cNvPr>
          <p:cNvPicPr>
            <a:picLocks noChangeAspect="1"/>
          </p:cNvPicPr>
          <p:nvPr/>
        </p:nvPicPr>
        <p:blipFill>
          <a:blip r:embed="rId5"/>
          <a:stretch>
            <a:fillRect/>
          </a:stretch>
        </p:blipFill>
        <p:spPr>
          <a:xfrm>
            <a:off x="767364" y="6061740"/>
            <a:ext cx="184343" cy="184343"/>
          </a:xfrm>
          <a:prstGeom prst="rect">
            <a:avLst/>
          </a:prstGeom>
        </p:spPr>
      </p:pic>
      <p:sp>
        <p:nvSpPr>
          <p:cNvPr id="37" name="Text 30"/>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first, retrieve second, fine-tune last</a:t>
            </a:r>
            <a:endParaRPr lang="en-US" sz="3000" dirty="0"/>
          </a:p>
        </p:txBody>
      </p:sp>
      <p:sp>
        <p:nvSpPr>
          <p:cNvPr id="6" name="Shape 4"/>
          <p:cNvSpPr/>
          <p:nvPr/>
        </p:nvSpPr>
        <p:spPr>
          <a:xfrm>
            <a:off x="502920" y="1481328"/>
            <a:ext cx="5486400" cy="877824"/>
          </a:xfrm>
          <a:prstGeom prst="roundRect">
            <a:avLst>
              <a:gd name="adj" fmla="val 8333"/>
            </a:avLst>
          </a:prstGeom>
          <a:solidFill>
            <a:srgbClr val="E4F0EF"/>
          </a:solidFill>
          <a:ln/>
        </p:spPr>
      </p:sp>
      <p:sp>
        <p:nvSpPr>
          <p:cNvPr id="7" name="Shape 5"/>
          <p:cNvSpPr/>
          <p:nvPr/>
        </p:nvSpPr>
        <p:spPr>
          <a:xfrm>
            <a:off x="713232" y="1700784"/>
            <a:ext cx="438912" cy="438912"/>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27349" y="1814901"/>
            <a:ext cx="210678" cy="210678"/>
          </a:xfrm>
          <a:prstGeom prst="rect">
            <a:avLst/>
          </a:prstGeom>
        </p:spPr>
      </p:pic>
      <p:sp>
        <p:nvSpPr>
          <p:cNvPr id="9" name="Text 6"/>
          <p:cNvSpPr/>
          <p:nvPr/>
        </p:nvSpPr>
        <p:spPr>
          <a:xfrm>
            <a:off x="1298448" y="1554480"/>
            <a:ext cx="4572000" cy="749808"/>
          </a:xfrm>
          <a:prstGeom prst="rect">
            <a:avLst/>
          </a:prstGeom>
          <a:noFill/>
          <a:ln/>
        </p:spPr>
        <p:txBody>
          <a:bodyPr wrap="square" lIns="0" tIns="0" rIns="0" bIns="0" rtlCol="0" anchor="ctr"/>
          <a:lstStyle/>
          <a:p>
            <a:pPr indent="0" marL="0">
              <a:lnSpc>
                <a:spcPct val="103000"/>
              </a:lnSpc>
              <a:buNone/>
            </a:pPr>
            <a:r>
              <a:rPr lang="en-US" sz="1250" b="1" dirty="0">
                <a:solidFill>
                  <a:srgbClr val="232A31"/>
                </a:solidFill>
                <a:latin typeface="Calibri" pitchFamily="34" charset="0"/>
                <a:ea typeface="Calibri" pitchFamily="34" charset="-122"/>
                <a:cs typeface="Calibri" pitchFamily="34" charset="-120"/>
              </a:rPr>
              <a:t>Prompting — </a:t>
            </a:r>
            <a:pPr indent="0" marL="0">
              <a:lnSpc>
                <a:spcPct val="103000"/>
              </a:lnSpc>
              <a:spcAft>
                <a:spcPts val="200"/>
              </a:spcAft>
              <a:buNone/>
            </a:pPr>
            <a:r>
              <a:rPr lang="en-US" sz="1100" i="1" dirty="0">
                <a:solidFill>
                  <a:srgbClr val="0A5B5A"/>
                </a:solidFill>
                <a:latin typeface="Calibri" pitchFamily="34" charset="0"/>
                <a:ea typeface="Calibri" pitchFamily="34" charset="-122"/>
                <a:cs typeface="Calibri" pitchFamily="34" charset="-120"/>
              </a:rPr>
              <a:t>instructions to a skilled temp</a:t>
            </a:r>
            <a:endParaRPr lang="en-US" sz="125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Free, instant, works on every model. Style, format, framing, examples. 90% of the value — this course.</a:t>
            </a:r>
            <a:endParaRPr lang="en-US" sz="1250" dirty="0"/>
          </a:p>
        </p:txBody>
      </p:sp>
      <p:sp>
        <p:nvSpPr>
          <p:cNvPr id="10" name="Shape 7"/>
          <p:cNvSpPr/>
          <p:nvPr/>
        </p:nvSpPr>
        <p:spPr>
          <a:xfrm>
            <a:off x="502920" y="2468880"/>
            <a:ext cx="5486400" cy="877824"/>
          </a:xfrm>
          <a:prstGeom prst="roundRect">
            <a:avLst>
              <a:gd name="adj" fmla="val 8333"/>
            </a:avLst>
          </a:prstGeom>
          <a:solidFill>
            <a:srgbClr val="F2F5F6"/>
          </a:solidFill>
          <a:ln/>
        </p:spPr>
      </p:sp>
      <p:sp>
        <p:nvSpPr>
          <p:cNvPr id="11" name="Shape 8"/>
          <p:cNvSpPr/>
          <p:nvPr/>
        </p:nvSpPr>
        <p:spPr>
          <a:xfrm>
            <a:off x="713232" y="2688336"/>
            <a:ext cx="438912" cy="438912"/>
          </a:xfrm>
          <a:prstGeom prst="ellipse">
            <a:avLst/>
          </a:prstGeom>
          <a:solidFill>
            <a:srgbClr val="0E7C7B"/>
          </a:solidFill>
          <a:ln/>
        </p:spPr>
      </p:sp>
      <p:pic>
        <p:nvPicPr>
          <p:cNvPr id="12" name="Image 1" descr="/home/user/Claude-Works/ai-training-prompt-engineering/src/assets/icons/book_w.png">    </p:cNvPr>
          <p:cNvPicPr>
            <a:picLocks noChangeAspect="1"/>
          </p:cNvPicPr>
          <p:nvPr/>
        </p:nvPicPr>
        <p:blipFill>
          <a:blip r:embed="rId2"/>
          <a:stretch>
            <a:fillRect/>
          </a:stretch>
        </p:blipFill>
        <p:spPr>
          <a:xfrm>
            <a:off x="827349" y="2802453"/>
            <a:ext cx="210678" cy="210678"/>
          </a:xfrm>
          <a:prstGeom prst="rect">
            <a:avLst/>
          </a:prstGeom>
        </p:spPr>
      </p:pic>
      <p:sp>
        <p:nvSpPr>
          <p:cNvPr id="13" name="Text 9"/>
          <p:cNvSpPr/>
          <p:nvPr/>
        </p:nvSpPr>
        <p:spPr>
          <a:xfrm>
            <a:off x="1298448" y="2542032"/>
            <a:ext cx="4572000" cy="749808"/>
          </a:xfrm>
          <a:prstGeom prst="rect">
            <a:avLst/>
          </a:prstGeom>
          <a:noFill/>
          <a:ln/>
        </p:spPr>
        <p:txBody>
          <a:bodyPr wrap="square" lIns="0" tIns="0" rIns="0" bIns="0" rtlCol="0" anchor="ctr"/>
          <a:lstStyle/>
          <a:p>
            <a:pPr indent="0" marL="0">
              <a:lnSpc>
                <a:spcPct val="103000"/>
              </a:lnSpc>
              <a:buNone/>
            </a:pPr>
            <a:r>
              <a:rPr lang="en-US" sz="1250" b="1" dirty="0">
                <a:solidFill>
                  <a:srgbClr val="232A31"/>
                </a:solidFill>
                <a:latin typeface="Calibri" pitchFamily="34" charset="0"/>
                <a:ea typeface="Calibri" pitchFamily="34" charset="-122"/>
                <a:cs typeface="Calibri" pitchFamily="34" charset="-120"/>
              </a:rPr>
              <a:t>RAG / retrieval — </a:t>
            </a:r>
            <a:pPr indent="0" marL="0">
              <a:lnSpc>
                <a:spcPct val="103000"/>
              </a:lnSpc>
              <a:spcAft>
                <a:spcPts val="200"/>
              </a:spcAft>
              <a:buNone/>
            </a:pPr>
            <a:r>
              <a:rPr lang="en-US" sz="1100" i="1" dirty="0">
                <a:solidFill>
                  <a:srgbClr val="0A5B5A"/>
                </a:solidFill>
                <a:latin typeface="Calibri" pitchFamily="34" charset="0"/>
                <a:ea typeface="Calibri" pitchFamily="34" charset="-122"/>
                <a:cs typeface="Calibri" pitchFamily="34" charset="-120"/>
              </a:rPr>
              <a:t>hand the temp your binder</a:t>
            </a:r>
            <a:endParaRPr lang="en-US" sz="125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Adds knowledge: current, private, citable. For facts the model can’t know.</a:t>
            </a:r>
            <a:endParaRPr lang="en-US" sz="1250" dirty="0"/>
          </a:p>
        </p:txBody>
      </p:sp>
      <p:sp>
        <p:nvSpPr>
          <p:cNvPr id="14" name="Shape 10"/>
          <p:cNvSpPr/>
          <p:nvPr/>
        </p:nvSpPr>
        <p:spPr>
          <a:xfrm>
            <a:off x="502920" y="3456432"/>
            <a:ext cx="5486400" cy="877824"/>
          </a:xfrm>
          <a:prstGeom prst="roundRect">
            <a:avLst>
              <a:gd name="adj" fmla="val 8333"/>
            </a:avLst>
          </a:prstGeom>
          <a:solidFill>
            <a:srgbClr val="F2F5F6"/>
          </a:solidFill>
          <a:ln/>
        </p:spPr>
      </p:sp>
      <p:sp>
        <p:nvSpPr>
          <p:cNvPr id="15" name="Shape 11"/>
          <p:cNvSpPr/>
          <p:nvPr/>
        </p:nvSpPr>
        <p:spPr>
          <a:xfrm>
            <a:off x="713232" y="3675888"/>
            <a:ext cx="438912" cy="438912"/>
          </a:xfrm>
          <a:prstGeom prst="ellipse">
            <a:avLst/>
          </a:prstGeom>
          <a:solidFill>
            <a:srgbClr val="0E7C7B"/>
          </a:solidFill>
          <a:ln/>
        </p:spPr>
      </p:sp>
      <p:pic>
        <p:nvPicPr>
          <p:cNvPr id="16" name="Image 2" descr="/home/user/Claude-Works/ai-training-prompt-engineering/src/assets/icons/cpu_w.png">    </p:cNvPr>
          <p:cNvPicPr>
            <a:picLocks noChangeAspect="1"/>
          </p:cNvPicPr>
          <p:nvPr/>
        </p:nvPicPr>
        <p:blipFill>
          <a:blip r:embed="rId3"/>
          <a:stretch>
            <a:fillRect/>
          </a:stretch>
        </p:blipFill>
        <p:spPr>
          <a:xfrm>
            <a:off x="827349" y="3790005"/>
            <a:ext cx="210678" cy="210678"/>
          </a:xfrm>
          <a:prstGeom prst="rect">
            <a:avLst/>
          </a:prstGeom>
        </p:spPr>
      </p:pic>
      <p:sp>
        <p:nvSpPr>
          <p:cNvPr id="17" name="Text 12"/>
          <p:cNvSpPr/>
          <p:nvPr/>
        </p:nvSpPr>
        <p:spPr>
          <a:xfrm>
            <a:off x="1298448" y="3529584"/>
            <a:ext cx="4572000" cy="749808"/>
          </a:xfrm>
          <a:prstGeom prst="rect">
            <a:avLst/>
          </a:prstGeom>
          <a:noFill/>
          <a:ln/>
        </p:spPr>
        <p:txBody>
          <a:bodyPr wrap="square" lIns="0" tIns="0" rIns="0" bIns="0" rtlCol="0" anchor="ctr"/>
          <a:lstStyle/>
          <a:p>
            <a:pPr indent="0" marL="0">
              <a:lnSpc>
                <a:spcPct val="103000"/>
              </a:lnSpc>
              <a:buNone/>
            </a:pPr>
            <a:r>
              <a:rPr lang="en-US" sz="1250" b="1" dirty="0">
                <a:solidFill>
                  <a:srgbClr val="232A31"/>
                </a:solidFill>
                <a:latin typeface="Calibri" pitchFamily="34" charset="0"/>
                <a:ea typeface="Calibri" pitchFamily="34" charset="-122"/>
                <a:cs typeface="Calibri" pitchFamily="34" charset="-120"/>
              </a:rPr>
              <a:t>Fine-tuning — </a:t>
            </a:r>
            <a:pPr indent="0" marL="0">
              <a:lnSpc>
                <a:spcPct val="103000"/>
              </a:lnSpc>
              <a:spcAft>
                <a:spcPts val="200"/>
              </a:spcAft>
              <a:buNone/>
            </a:pPr>
            <a:r>
              <a:rPr lang="en-US" sz="1100" i="1" dirty="0">
                <a:solidFill>
                  <a:srgbClr val="0A5B5A"/>
                </a:solidFill>
                <a:latin typeface="Calibri" pitchFamily="34" charset="0"/>
                <a:ea typeface="Calibri" pitchFamily="34" charset="-122"/>
                <a:cs typeface="Calibri" pitchFamily="34" charset="-120"/>
              </a:rPr>
              <a:t>send them to a training course</a:t>
            </a:r>
            <a:endParaRPr lang="en-US" sz="1250" dirty="0"/>
          </a:p>
          <a:p>
            <a:pPr indent="0" marL="0">
              <a:lnSpc>
                <a:spcPct val="103000"/>
              </a:lnSpc>
              <a:buNone/>
            </a:pPr>
            <a:r>
              <a:rPr lang="en-US" sz="980" dirty="0">
                <a:solidFill>
                  <a:srgbClr val="46545F"/>
                </a:solidFill>
                <a:latin typeface="Calibri" pitchFamily="34" charset="0"/>
                <a:ea typeface="Calibri" pitchFamily="34" charset="-122"/>
                <a:cs typeface="Calibri" pitchFamily="34" charset="-120"/>
              </a:rPr>
              <a:t>Changes the model’s habits permanently. Slow, per-model, high maintenance. Rarely the answer.</a:t>
            </a:r>
            <a:endParaRPr lang="en-US" sz="1250" dirty="0"/>
          </a:p>
        </p:txBody>
      </p:sp>
      <p:sp>
        <p:nvSpPr>
          <p:cNvPr id="18" name="Shape 13"/>
          <p:cNvSpPr/>
          <p:nvPr/>
        </p:nvSpPr>
        <p:spPr>
          <a:xfrm>
            <a:off x="502920" y="4572000"/>
            <a:ext cx="5486400" cy="1463040"/>
          </a:xfrm>
          <a:prstGeom prst="roundRect">
            <a:avLst>
              <a:gd name="adj" fmla="val 5000"/>
            </a:avLst>
          </a:prstGeom>
          <a:solidFill>
            <a:srgbClr val="FBF0E0"/>
          </a:solidFill>
          <a:ln/>
        </p:spPr>
      </p:sp>
      <p:sp>
        <p:nvSpPr>
          <p:cNvPr id="19" name="Shape 14"/>
          <p:cNvSpPr/>
          <p:nvPr/>
        </p:nvSpPr>
        <p:spPr>
          <a:xfrm>
            <a:off x="667512" y="5111496"/>
            <a:ext cx="384048" cy="384048"/>
          </a:xfrm>
          <a:prstGeom prst="ellipse">
            <a:avLst/>
          </a:prstGeom>
          <a:solidFill>
            <a:srgbClr val="B96A1B"/>
          </a:solidFill>
          <a:ln/>
        </p:spPr>
      </p:sp>
      <p:pic>
        <p:nvPicPr>
          <p:cNvPr id="20" name="Image 3" descr="/home/user/Claude-Works/ai-training-prompt-engineering/src/assets/icons/help_w.png">    </p:cNvPr>
          <p:cNvPicPr>
            <a:picLocks noChangeAspect="1"/>
          </p:cNvPicPr>
          <p:nvPr/>
        </p:nvPicPr>
        <p:blipFill>
          <a:blip r:embed="rId4"/>
          <a:stretch>
            <a:fillRect/>
          </a:stretch>
        </p:blipFill>
        <p:spPr>
          <a:xfrm>
            <a:off x="767364" y="5211348"/>
            <a:ext cx="184343" cy="184343"/>
          </a:xfrm>
          <a:prstGeom prst="rect">
            <a:avLst/>
          </a:prstGeom>
        </p:spPr>
      </p:pic>
      <p:sp>
        <p:nvSpPr>
          <p:cNvPr id="21" name="Text 15"/>
          <p:cNvSpPr/>
          <p:nvPr/>
        </p:nvSpPr>
        <p:spPr>
          <a:xfrm>
            <a:off x="1216152" y="4645152"/>
            <a:ext cx="4544568" cy="131673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One question triages everything: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is the AI missing knowledge, or misbehaving with knowledge it already has? Missing → retrieve. Misbehaving → prompt. A deep habit that must hold at huge volume, with no room to paste instructions → fine-tune (rare).</a:t>
            </a:r>
            <a:endParaRPr lang="en-US" sz="1150" dirty="0"/>
          </a:p>
        </p:txBody>
      </p:sp>
      <p:sp>
        <p:nvSpPr>
          <p:cNvPr id="22" name="Shape 16"/>
          <p:cNvSpPr/>
          <p:nvPr/>
        </p:nvSpPr>
        <p:spPr>
          <a:xfrm>
            <a:off x="6172200" y="1481328"/>
            <a:ext cx="5486400" cy="4553712"/>
          </a:xfrm>
          <a:prstGeom prst="roundRect">
            <a:avLst>
              <a:gd name="adj" fmla="val 1606"/>
            </a:avLst>
          </a:prstGeom>
          <a:solidFill>
            <a:srgbClr val="E4F0EF"/>
          </a:solidFill>
          <a:ln/>
        </p:spPr>
      </p:sp>
      <p:sp>
        <p:nvSpPr>
          <p:cNvPr id="23" name="Shape 17"/>
          <p:cNvSpPr/>
          <p:nvPr/>
        </p:nvSpPr>
        <p:spPr>
          <a:xfrm>
            <a:off x="6318504" y="1600200"/>
            <a:ext cx="365760" cy="365760"/>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6413602" y="1695298"/>
            <a:ext cx="175565" cy="175565"/>
          </a:xfrm>
          <a:prstGeom prst="rect">
            <a:avLst/>
          </a:prstGeom>
        </p:spPr>
      </p:pic>
      <p:sp>
        <p:nvSpPr>
          <p:cNvPr id="25" name="Shape 18"/>
          <p:cNvSpPr/>
          <p:nvPr/>
        </p:nvSpPr>
        <p:spPr>
          <a:xfrm>
            <a:off x="6775704" y="1627632"/>
            <a:ext cx="1188720" cy="310896"/>
          </a:xfrm>
          <a:prstGeom prst="roundRect">
            <a:avLst>
              <a:gd name="adj" fmla="val 23529"/>
            </a:avLst>
          </a:prstGeom>
          <a:solidFill>
            <a:srgbClr val="0E7C7B"/>
          </a:solidFill>
          <a:ln/>
        </p:spPr>
      </p:sp>
      <p:sp>
        <p:nvSpPr>
          <p:cNvPr id="26" name="Text 19"/>
          <p:cNvSpPr/>
          <p:nvPr/>
        </p:nvSpPr>
        <p:spPr>
          <a:xfrm>
            <a:off x="6775704" y="1636776"/>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5/8</a:t>
            </a:r>
            <a:endParaRPr lang="en-US" sz="950" dirty="0"/>
          </a:p>
        </p:txBody>
      </p:sp>
      <p:sp>
        <p:nvSpPr>
          <p:cNvPr id="27" name="Text 20"/>
          <p:cNvSpPr/>
          <p:nvPr/>
        </p:nvSpPr>
        <p:spPr>
          <a:xfrm>
            <a:off x="8074152" y="1636776"/>
            <a:ext cx="333756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The triage drill — you sort, it grades</a:t>
            </a:r>
            <a:endParaRPr lang="en-US" sz="1050" dirty="0"/>
          </a:p>
        </p:txBody>
      </p:sp>
      <p:sp>
        <p:nvSpPr>
          <p:cNvPr id="28" name="Text 21"/>
          <p:cNvSpPr/>
          <p:nvPr/>
        </p:nvSpPr>
        <p:spPr>
          <a:xfrm>
            <a:off x="6355080" y="2011680"/>
            <a:ext cx="5120640" cy="3895344"/>
          </a:xfrm>
          <a:prstGeom prst="rect">
            <a:avLst/>
          </a:prstGeom>
          <a:noFill/>
          <a:ln/>
        </p:spPr>
        <p:txBody>
          <a:bodyPr wrap="square" lIns="0" tIns="0" rIns="0" bIns="0" rtlCol="0" anchor="t"/>
          <a:lstStyle/>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Course log — Escalation Ladder triage drill. Show me the six problems below as a numbered list, then STOP and wait. I’ll answer each with P (better prompt), R (retrieval) or F (fine-tune). Then grade me in under 150 words — rule: missing or outdated knowledge → R · has what it needs but acts wrong → P · deep habit at huge volume → F. Count defensible answers correct. End with my score and the one question to ask before choosing a rung.</a:t>
            </a:r>
            <a:endParaRPr lang="en-US" sz="880" dirty="0"/>
          </a:p>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1 Product descriptions never match our three-bullet brand-voice guide.</a:t>
            </a:r>
            <a:endParaRPr lang="en-US" sz="880" dirty="0"/>
          </a:p>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2 Confidently answers vacation-policy questions — with last year’s rules.</a:t>
            </a:r>
            <a:endParaRPr lang="en-US" sz="880" dirty="0"/>
          </a:p>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3 Support replies are accurate but twice as long as anyone reads.</a:t>
            </a:r>
            <a:endParaRPr lang="en-US" sz="880" dirty="0"/>
          </a:p>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4 Can’t answer “what did we decide in the March pricing review?” — it’s all in our meeting notes.</a:t>
            </a:r>
            <a:endParaRPr lang="en-US" sz="880" dirty="0"/>
          </a:p>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5 A dictation tool garbles a specialty’s spoken shorthand thousands of times a day; no pasted document changes how it hears.</a:t>
            </a:r>
            <a:endParaRPr lang="en-US" sz="880" dirty="0"/>
          </a:p>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6 Our review AI must apply a 40-page internal rubric to every contract — pasting it crowds out the contract itself.</a:t>
            </a:r>
            <a:endParaRPr lang="en-US" sz="8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 (1 of 2)</a:t>
            </a:r>
            <a:endParaRPr lang="en-US" sz="3000" dirty="0"/>
          </a:p>
        </p:txBody>
      </p:sp>
      <p:sp>
        <p:nvSpPr>
          <p:cNvPr id="6" name="Text 4"/>
          <p:cNvSpPr/>
          <p:nvPr/>
        </p:nvSpPr>
        <p:spPr>
          <a:xfrm>
            <a:off x="502920" y="1517904"/>
            <a:ext cx="5669280" cy="2606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 (compute spent at answer time).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System 1 vs System 2: fast intuition for routine asks; slow deliberation where being wrong is expensive.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The bill: thinking tokens are charged as output tokens — the expensive kind. A hard question can quietly cost 5–20× a simple one.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Why the fast tier got so good: models built huge but waking only a fraction per question (MoE — Part 2 tells that story), and big models teaching small ones (distillation).</a:t>
            </a:r>
            <a:endParaRPr lang="en-US" sz="1150" dirty="0"/>
          </a:p>
        </p:txBody>
      </p:sp>
      <p:sp>
        <p:nvSpPr>
          <p:cNvPr id="7" name="Shape 5"/>
          <p:cNvSpPr/>
          <p:nvPr/>
        </p:nvSpPr>
        <p:spPr>
          <a:xfrm>
            <a:off x="502920" y="4279392"/>
            <a:ext cx="5669280" cy="822960"/>
          </a:xfrm>
          <a:prstGeom prst="roundRect">
            <a:avLst>
              <a:gd name="adj" fmla="val 8889"/>
            </a:avLst>
          </a:prstGeom>
          <a:solidFill>
            <a:srgbClr val="E7F2EC"/>
          </a:solidFill>
          <a:ln/>
        </p:spPr>
      </p:sp>
      <p:sp>
        <p:nvSpPr>
          <p:cNvPr id="8" name="Text 6"/>
          <p:cNvSpPr/>
          <p:nvPr/>
        </p:nvSpPr>
        <p:spPr>
          <a:xfrm>
            <a:off x="777240" y="4370832"/>
            <a:ext cx="5212080" cy="658368"/>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020" dirty="0">
                <a:solidFill>
                  <a:srgbClr val="46545F"/>
                </a:solidFill>
                <a:latin typeface="Calibri" pitchFamily="34" charset="0"/>
                <a:ea typeface="Calibri" pitchFamily="34" charset="-122"/>
                <a:cs typeface="Calibri" pitchFamily="34" charset="-120"/>
              </a:rPr>
              <a:t>multi-step analysis · math · root-cause work · code · tradeoffs across a long document · planning an agent’s job.</a:t>
            </a:r>
            <a:endParaRPr lang="en-US" sz="1100" dirty="0"/>
          </a:p>
        </p:txBody>
      </p:sp>
      <p:sp>
        <p:nvSpPr>
          <p:cNvPr id="9" name="Shape 7"/>
          <p:cNvSpPr/>
          <p:nvPr/>
        </p:nvSpPr>
        <p:spPr>
          <a:xfrm>
            <a:off x="502920" y="5193792"/>
            <a:ext cx="5669280" cy="822960"/>
          </a:xfrm>
          <a:prstGeom prst="roundRect">
            <a:avLst>
              <a:gd name="adj" fmla="val 8889"/>
            </a:avLst>
          </a:prstGeom>
          <a:solidFill>
            <a:srgbClr val="FBF0E0"/>
          </a:solidFill>
          <a:ln/>
        </p:spPr>
      </p:sp>
      <p:sp>
        <p:nvSpPr>
          <p:cNvPr id="10" name="Text 8"/>
          <p:cNvSpPr/>
          <p:nvPr/>
        </p:nvSpPr>
        <p:spPr>
          <a:xfrm>
            <a:off x="777240" y="5285232"/>
            <a:ext cx="5212080" cy="658368"/>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020" dirty="0">
                <a:solidFill>
                  <a:srgbClr val="46545F"/>
                </a:solidFill>
                <a:latin typeface="Calibri" pitchFamily="34" charset="0"/>
                <a:ea typeface="Calibri" pitchFamily="34" charset="-122"/>
                <a:cs typeface="Calibri" pitchFamily="34" charset="-120"/>
              </a:rPr>
              <a:t>lookups · reformatting · summaries · routine drafting — you’d pay time and tokens for deliberation you don’t need.</a:t>
            </a:r>
            <a:endParaRPr lang="en-US" sz="1100" dirty="0"/>
          </a:p>
        </p:txBody>
      </p:sp>
      <p:sp>
        <p:nvSpPr>
          <p:cNvPr id="11" name="Shape 9"/>
          <p:cNvSpPr/>
          <p:nvPr/>
        </p:nvSpPr>
        <p:spPr>
          <a:xfrm>
            <a:off x="6400800" y="1517904"/>
            <a:ext cx="5257800" cy="4526280"/>
          </a:xfrm>
          <a:prstGeom prst="roundRect">
            <a:avLst>
              <a:gd name="adj" fmla="val 1616"/>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6/8</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Same brain, two speeds</a:t>
            </a:r>
            <a:endParaRPr lang="en-US" sz="1050" dirty="0"/>
          </a:p>
        </p:txBody>
      </p:sp>
      <p:sp>
        <p:nvSpPr>
          <p:cNvPr id="17" name="Text 14"/>
          <p:cNvSpPr/>
          <p:nvPr/>
        </p:nvSpPr>
        <p:spPr>
          <a:xfrm>
            <a:off x="6583680" y="2048256"/>
            <a:ext cx="4892040" cy="3867912"/>
          </a:xfrm>
          <a:prstGeom prst="rect">
            <a:avLst/>
          </a:prstGeom>
          <a:noFill/>
          <a:ln/>
        </p:spPr>
        <p:txBody>
          <a:bodyPr wrap="square" lIns="0" tIns="0" rIns="0" bIns="0" rtlCol="0" anchor="t"/>
          <a:lstStyle/>
          <a:p>
            <a:pPr indent="0" marL="0">
              <a:lnSpc>
                <a:spcPct val="110000"/>
              </a:lnSpc>
              <a:buNone/>
            </a:pPr>
            <a:r>
              <a:rPr lang="en-US" sz="900" dirty="0">
                <a:solidFill>
                  <a:srgbClr val="232A31"/>
                </a:solidFill>
                <a:latin typeface="Consolas" pitchFamily="34" charset="0"/>
                <a:ea typeface="Consolas" pitchFamily="34" charset="-122"/>
                <a:cs typeface="Consolas" pitchFamily="34" charset="-120"/>
              </a:rPr>
              <a:t>Course log — Fast answers vs careful answers. Five colleagues — Ana, Ben, Chloe, Dev, Ema — present Monday–Friday, one per day. Rules: Ana not Monday · Dev the day right after Ana · Ema on Tuesday or Wednesday · Ben earlier in the week than Chloe · Chloe the day right before Ema.</a:t>
            </a:r>
            <a:endParaRPr lang="en-US" sz="900" dirty="0"/>
          </a:p>
          <a:p>
            <a:pPr indent="0" marL="0">
              <a:lnSpc>
                <a:spcPct val="110000"/>
              </a:lnSpc>
              <a:buNone/>
            </a:pPr>
            <a:r>
              <a:rPr lang="en-US" sz="900" dirty="0">
                <a:solidFill>
                  <a:srgbClr val="232A31"/>
                </a:solidFill>
                <a:latin typeface="Consolas" pitchFamily="34" charset="0"/>
                <a:ea typeface="Consolas" pitchFamily="34" charset="-122"/>
                <a:cs typeface="Consolas" pitchFamily="34" charset="-120"/>
              </a:rPr>
              <a:t>PART 1 — FAST: your instant answer — five names with days, one line, nothing else.</a:t>
            </a:r>
            <a:endParaRPr lang="en-US" sz="900" dirty="0"/>
          </a:p>
          <a:p>
            <a:pPr indent="0" marL="0">
              <a:lnSpc>
                <a:spcPct val="110000"/>
              </a:lnSpc>
              <a:buNone/>
            </a:pPr>
            <a:r>
              <a:rPr lang="en-US" sz="900" dirty="0">
                <a:solidFill>
                  <a:srgbClr val="232A31"/>
                </a:solidFill>
                <a:latin typeface="Consolas" pitchFamily="34" charset="0"/>
                <a:ea typeface="Consolas" pitchFamily="34" charset="-122"/>
                <a:cs typeface="Consolas" pitchFamily="34" charset="-120"/>
              </a:rPr>
              <a:t>PART 2 — CAREFUL: now solve it as if it really mattered — step by step, check every rule, state your final answer. Under 250 words.</a:t>
            </a:r>
            <a:endParaRPr lang="en-US" sz="900" dirty="0"/>
          </a:p>
          <a:p>
            <a:pPr indent="0" marL="0">
              <a:lnSpc>
                <a:spcPct val="110000"/>
              </a:lnSpc>
              <a:buNone/>
            </a:pPr>
            <a:r>
              <a:rPr lang="en-US" sz="900" dirty="0">
                <a:solidFill>
                  <a:srgbClr val="232A31"/>
                </a:solidFill>
                <a:latin typeface="Consolas" pitchFamily="34" charset="0"/>
                <a:ea typeface="Consolas" pitchFamily="34" charset="-122"/>
                <a:cs typeface="Consolas" pitchFamily="34" charset="-120"/>
              </a:rPr>
              <a:t>PART 3 — THE BILL: estimate the word count of each part. If every word cost the same, how many times more expensive was the careful version? Did your two answers agree? One sentence: when is fast enough — and when is it not?</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 (2 of 2)</a:t>
            </a:r>
            <a:endParaRPr lang="en-US" sz="3000" dirty="0"/>
          </a:p>
        </p:txBody>
      </p:sp>
      <p:sp>
        <p:nvSpPr>
          <p:cNvPr id="6" name="Shape 4"/>
          <p:cNvSpPr/>
          <p:nvPr/>
        </p:nvSpPr>
        <p:spPr>
          <a:xfrm>
            <a:off x="502920" y="1481328"/>
            <a:ext cx="5394960" cy="3017520"/>
          </a:xfrm>
          <a:prstGeom prst="roundRect">
            <a:avLst>
              <a:gd name="adj" fmla="val 2424"/>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384048"/>
          </a:xfrm>
          <a:prstGeom prst="roundRect">
            <a:avLst>
              <a:gd name="adj" fmla="val 14286"/>
            </a:avLst>
          </a:prstGeom>
          <a:solidFill>
            <a:srgbClr val="E4F0EF"/>
          </a:solidFill>
          <a:ln w="9525">
            <a:solidFill>
              <a:srgbClr val="0E7C7B"/>
            </a:solidFill>
            <a:prstDash val="solid"/>
          </a:ln>
        </p:spPr>
      </p:sp>
      <p:sp>
        <p:nvSpPr>
          <p:cNvPr id="9" name="Text 7"/>
          <p:cNvSpPr/>
          <p:nvPr/>
        </p:nvSpPr>
        <p:spPr>
          <a:xfrm>
            <a:off x="822960" y="2093976"/>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Quick answer</a:t>
            </a:r>
            <a:endParaRPr lang="en-US" sz="860" dirty="0"/>
          </a:p>
        </p:txBody>
      </p:sp>
      <p:sp>
        <p:nvSpPr>
          <p:cNvPr id="10" name="Text 8"/>
          <p:cNvSpPr/>
          <p:nvPr/>
        </p:nvSpPr>
        <p:spPr>
          <a:xfrm>
            <a:off x="3730752" y="2093976"/>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1×  </a:t>
            </a:r>
            <a:pPr indent="0" marL="0">
              <a:buNone/>
            </a:pPr>
            <a:r>
              <a:rPr lang="en-US" sz="900" dirty="0">
                <a:solidFill>
                  <a:srgbClr val="46545F"/>
                </a:solidFill>
                <a:latin typeface="Calibri" pitchFamily="34" charset="0"/>
                <a:ea typeface="Calibri" pitchFamily="34" charset="-122"/>
                <a:cs typeface="Calibri" pitchFamily="34" charset="-120"/>
              </a:rPr>
              <a:t>one pass, instant</a:t>
            </a:r>
            <a:endParaRPr lang="en-US" sz="1000" dirty="0"/>
          </a:p>
        </p:txBody>
      </p:sp>
      <p:sp>
        <p:nvSpPr>
          <p:cNvPr id="11" name="Shape 9"/>
          <p:cNvSpPr/>
          <p:nvPr/>
        </p:nvSpPr>
        <p:spPr>
          <a:xfrm>
            <a:off x="905256" y="2560320"/>
            <a:ext cx="2331720" cy="384048"/>
          </a:xfrm>
          <a:prstGeom prst="roundRect">
            <a:avLst>
              <a:gd name="adj" fmla="val 14286"/>
            </a:avLst>
          </a:prstGeom>
          <a:solidFill>
            <a:srgbClr val="E4F0EF"/>
          </a:solidFill>
          <a:ln w="9525">
            <a:solidFill>
              <a:srgbClr val="0E7C7B"/>
            </a:solidFill>
            <a:prstDash val="solid"/>
          </a:ln>
        </p:spPr>
      </p:sp>
      <p:sp>
        <p:nvSpPr>
          <p:cNvPr id="12" name="Text 10"/>
          <p:cNvSpPr/>
          <p:nvPr/>
        </p:nvSpPr>
        <p:spPr>
          <a:xfrm>
            <a:off x="950976" y="2569464"/>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Thinking / extended reasoning</a:t>
            </a:r>
            <a:endParaRPr lang="en-US" sz="860" dirty="0"/>
          </a:p>
        </p:txBody>
      </p:sp>
      <p:sp>
        <p:nvSpPr>
          <p:cNvPr id="13" name="Text 11"/>
          <p:cNvSpPr/>
          <p:nvPr/>
        </p:nvSpPr>
        <p:spPr>
          <a:xfrm>
            <a:off x="3730752" y="2569464"/>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5–20×  </a:t>
            </a:r>
            <a:pPr indent="0" marL="0">
              <a:buNone/>
            </a:pPr>
            <a:r>
              <a:rPr lang="en-US" sz="900" dirty="0">
                <a:solidFill>
                  <a:srgbClr val="46545F"/>
                </a:solidFill>
                <a:latin typeface="Calibri" pitchFamily="34" charset="0"/>
                <a:ea typeface="Calibri" pitchFamily="34" charset="-122"/>
                <a:cs typeface="Calibri" pitchFamily="34" charset="-120"/>
              </a:rPr>
              <a:t>drafts and checks before answering</a:t>
            </a:r>
            <a:endParaRPr lang="en-US" sz="1000" dirty="0"/>
          </a:p>
        </p:txBody>
      </p:sp>
      <p:sp>
        <p:nvSpPr>
          <p:cNvPr id="14" name="Shape 12"/>
          <p:cNvSpPr/>
          <p:nvPr/>
        </p:nvSpPr>
        <p:spPr>
          <a:xfrm>
            <a:off x="1033272" y="3035808"/>
            <a:ext cx="2331720" cy="384048"/>
          </a:xfrm>
          <a:prstGeom prst="roundRect">
            <a:avLst>
              <a:gd name="adj" fmla="val 14286"/>
            </a:avLst>
          </a:prstGeom>
          <a:solidFill>
            <a:srgbClr val="E4F0EF"/>
          </a:solidFill>
          <a:ln w="9525">
            <a:solidFill>
              <a:srgbClr val="0E7C7B"/>
            </a:solidFill>
            <a:prstDash val="solid"/>
          </a:ln>
        </p:spPr>
      </p:sp>
      <p:sp>
        <p:nvSpPr>
          <p:cNvPr id="15" name="Text 13"/>
          <p:cNvSpPr/>
          <p:nvPr/>
        </p:nvSpPr>
        <p:spPr>
          <a:xfrm>
            <a:off x="1078992" y="3044952"/>
            <a:ext cx="2240280" cy="365760"/>
          </a:xfrm>
          <a:prstGeom prst="rect">
            <a:avLst/>
          </a:prstGeom>
          <a:noFill/>
          <a:ln/>
        </p:spPr>
        <p:txBody>
          <a:bodyPr wrap="square" lIns="0" tIns="0" rIns="0" bIns="0" rtlCol="0" anchor="ctr"/>
          <a:lstStyle/>
          <a:p>
            <a:pPr indent="0" marL="0">
              <a:buNone/>
            </a:pPr>
            <a:r>
              <a:rPr lang="en-US" sz="860" b="1" dirty="0">
                <a:solidFill>
                  <a:srgbClr val="0A5B5A"/>
                </a:solidFill>
                <a:latin typeface="Calibri" pitchFamily="34" charset="0"/>
                <a:ea typeface="Calibri" pitchFamily="34" charset="-122"/>
                <a:cs typeface="Calibri" pitchFamily="34" charset="-120"/>
              </a:rPr>
              <a:t>Web search</a:t>
            </a:r>
            <a:endParaRPr lang="en-US" sz="860" dirty="0"/>
          </a:p>
        </p:txBody>
      </p:sp>
      <p:sp>
        <p:nvSpPr>
          <p:cNvPr id="16" name="Text 14"/>
          <p:cNvSpPr/>
          <p:nvPr/>
        </p:nvSpPr>
        <p:spPr>
          <a:xfrm>
            <a:off x="3730752" y="3044952"/>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+sources  </a:t>
            </a:r>
            <a:pPr indent="0" marL="0">
              <a:buNone/>
            </a:pPr>
            <a:r>
              <a:rPr lang="en-US" sz="900" dirty="0">
                <a:solidFill>
                  <a:srgbClr val="46545F"/>
                </a:solidFill>
                <a:latin typeface="Calibri" pitchFamily="34" charset="0"/>
                <a:ea typeface="Calibri" pitchFamily="34" charset="-122"/>
                <a:cs typeface="Calibri" pitchFamily="34" charset="-120"/>
              </a:rPr>
              <a:t>grounds the answer in live pages</a:t>
            </a:r>
            <a:endParaRPr lang="en-US" sz="1000" dirty="0"/>
          </a:p>
        </p:txBody>
      </p:sp>
      <p:sp>
        <p:nvSpPr>
          <p:cNvPr id="17" name="Shape 15"/>
          <p:cNvSpPr/>
          <p:nvPr/>
        </p:nvSpPr>
        <p:spPr>
          <a:xfrm>
            <a:off x="1161288" y="3511296"/>
            <a:ext cx="2331720" cy="384048"/>
          </a:xfrm>
          <a:prstGeom prst="roundRect">
            <a:avLst>
              <a:gd name="adj" fmla="val 14286"/>
            </a:avLst>
          </a:prstGeom>
          <a:solidFill>
            <a:srgbClr val="0E7C7B"/>
          </a:solidFill>
          <a:ln w="9525">
            <a:solidFill>
              <a:srgbClr val="0E7C7B"/>
            </a:solidFill>
            <a:prstDash val="solid"/>
          </a:ln>
        </p:spPr>
      </p:sp>
      <p:sp>
        <p:nvSpPr>
          <p:cNvPr id="18" name="Text 16"/>
          <p:cNvSpPr/>
          <p:nvPr/>
        </p:nvSpPr>
        <p:spPr>
          <a:xfrm>
            <a:off x="1207008" y="3520440"/>
            <a:ext cx="2240280" cy="365760"/>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Deep research</a:t>
            </a:r>
            <a:endParaRPr lang="en-US" sz="860" dirty="0"/>
          </a:p>
        </p:txBody>
      </p:sp>
      <p:sp>
        <p:nvSpPr>
          <p:cNvPr id="19" name="Text 17"/>
          <p:cNvSpPr/>
          <p:nvPr/>
        </p:nvSpPr>
        <p:spPr>
          <a:xfrm>
            <a:off x="3730752" y="3520440"/>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100×+  </a:t>
            </a:r>
            <a:pPr indent="0" marL="0">
              <a:buNone/>
            </a:pPr>
            <a:r>
              <a:rPr lang="en-US" sz="900" dirty="0">
                <a:solidFill>
                  <a:srgbClr val="46545F"/>
                </a:solidFill>
                <a:latin typeface="Calibri" pitchFamily="34" charset="0"/>
                <a:ea typeface="Calibri" pitchFamily="34" charset="-122"/>
                <a:cs typeface="Calibri" pitchFamily="34" charset="-120"/>
              </a:rPr>
              <a:t>browses for minutes, returns a cited report</a:t>
            </a:r>
            <a:endParaRPr lang="en-US" sz="1000" dirty="0"/>
          </a:p>
        </p:txBody>
      </p:sp>
      <p:sp>
        <p:nvSpPr>
          <p:cNvPr id="20" name="Shape 18"/>
          <p:cNvSpPr/>
          <p:nvPr/>
        </p:nvSpPr>
        <p:spPr>
          <a:xfrm>
            <a:off x="1289304" y="3986784"/>
            <a:ext cx="2331720" cy="384048"/>
          </a:xfrm>
          <a:prstGeom prst="roundRect">
            <a:avLst>
              <a:gd name="adj" fmla="val 14286"/>
            </a:avLst>
          </a:prstGeom>
          <a:solidFill>
            <a:srgbClr val="0E7C7B"/>
          </a:solidFill>
          <a:ln w="9525">
            <a:solidFill>
              <a:srgbClr val="0E7C7B"/>
            </a:solidFill>
            <a:prstDash val="solid"/>
          </a:ln>
        </p:spPr>
      </p:sp>
      <p:sp>
        <p:nvSpPr>
          <p:cNvPr id="21" name="Text 19"/>
          <p:cNvSpPr/>
          <p:nvPr/>
        </p:nvSpPr>
        <p:spPr>
          <a:xfrm>
            <a:off x="1335024" y="3995928"/>
            <a:ext cx="2240280" cy="365760"/>
          </a:xfrm>
          <a:prstGeom prst="rect">
            <a:avLst/>
          </a:prstGeom>
          <a:noFill/>
          <a:ln/>
        </p:spPr>
        <p:txBody>
          <a:bodyPr wrap="square" lIns="0" tIns="0" rIns="0" bIns="0" rtlCol="0" anchor="ctr"/>
          <a:lstStyle/>
          <a:p>
            <a:pPr indent="0" marL="0">
              <a:buNone/>
            </a:pPr>
            <a:r>
              <a:rPr lang="en-US" sz="860" b="1" dirty="0">
                <a:solidFill>
                  <a:srgbClr val="FFFFFF"/>
                </a:solidFill>
                <a:latin typeface="Calibri" pitchFamily="34" charset="0"/>
                <a:ea typeface="Calibri" pitchFamily="34" charset="-122"/>
                <a:cs typeface="Calibri" pitchFamily="34" charset="-120"/>
              </a:rPr>
              <a:t>Agent modes</a:t>
            </a:r>
            <a:endParaRPr lang="en-US" sz="860" dirty="0"/>
          </a:p>
        </p:txBody>
      </p:sp>
      <p:sp>
        <p:nvSpPr>
          <p:cNvPr id="22" name="Text 20"/>
          <p:cNvSpPr/>
          <p:nvPr/>
        </p:nvSpPr>
        <p:spPr>
          <a:xfrm>
            <a:off x="3730752" y="3995928"/>
            <a:ext cx="2103120" cy="365760"/>
          </a:xfrm>
          <a:prstGeom prst="rect">
            <a:avLst/>
          </a:prstGeom>
          <a:noFill/>
          <a:ln/>
        </p:spPr>
        <p:txBody>
          <a:bodyPr wrap="square" lIns="0" tIns="0" rIns="0" bIns="0" rtlCol="0" anchor="ctr"/>
          <a:lstStyle/>
          <a:p>
            <a:pPr indent="0" marL="0">
              <a:buNone/>
            </a:pPr>
            <a:r>
              <a:rPr lang="en-US" sz="1000" b="1" dirty="0">
                <a:solidFill>
                  <a:srgbClr val="B96A1B"/>
                </a:solidFill>
                <a:latin typeface="Calibri" pitchFamily="34" charset="0"/>
                <a:ea typeface="Calibri" pitchFamily="34" charset="-122"/>
                <a:cs typeface="Calibri" pitchFamily="34" charset="-120"/>
              </a:rPr>
              <a:t>the most  </a:t>
            </a:r>
            <a:pPr indent="0" marL="0">
              <a:buNone/>
            </a:pPr>
            <a:r>
              <a:rPr lang="en-US" sz="900" dirty="0">
                <a:solidFill>
                  <a:srgbClr val="46545F"/>
                </a:solidFill>
                <a:latin typeface="Calibri" pitchFamily="34" charset="0"/>
                <a:ea typeface="Calibri" pitchFamily="34" charset="-122"/>
                <a:cs typeface="Calibri" pitchFamily="34" charset="-120"/>
              </a:rPr>
              <a:t>plans and acts across many steps for you</a:t>
            </a:r>
            <a:endParaRPr lang="en-US" sz="1000" dirty="0"/>
          </a:p>
        </p:txBody>
      </p:sp>
      <p:sp>
        <p:nvSpPr>
          <p:cNvPr id="23" name="Shape 21"/>
          <p:cNvSpPr/>
          <p:nvPr/>
        </p:nvSpPr>
        <p:spPr>
          <a:xfrm>
            <a:off x="6035040" y="1481328"/>
            <a:ext cx="5623560" cy="3017520"/>
          </a:xfrm>
          <a:prstGeom prst="roundRect">
            <a:avLst>
              <a:gd name="adj" fmla="val 2424"/>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Text 23"/>
          <p:cNvSpPr/>
          <p:nvPr/>
        </p:nvSpPr>
        <p:spPr>
          <a:xfrm>
            <a:off x="6291072" y="2103120"/>
            <a:ext cx="11887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ChatGPT</a:t>
            </a:r>
            <a:endParaRPr lang="en-US" sz="1050" dirty="0"/>
          </a:p>
        </p:txBody>
      </p:sp>
      <p:sp>
        <p:nvSpPr>
          <p:cNvPr id="26" name="Text 24"/>
          <p:cNvSpPr/>
          <p:nvPr/>
        </p:nvSpPr>
        <p:spPr>
          <a:xfrm>
            <a:off x="7543800" y="2103120"/>
            <a:ext cx="3977640" cy="420624"/>
          </a:xfrm>
          <a:prstGeom prst="rect">
            <a:avLst/>
          </a:prstGeom>
          <a:noFill/>
          <a:ln/>
        </p:spPr>
        <p:txBody>
          <a:bodyPr wrap="square" lIns="0" tIns="0" rIns="0" bIns="0" rtlCol="0" anchor="ctr"/>
          <a:lstStyle/>
          <a:p>
            <a:pPr indent="0" marL="0">
              <a:lnSpc>
                <a:spcPct val="98000"/>
              </a:lnSpc>
              <a:buNone/>
            </a:pPr>
            <a:r>
              <a:rPr lang="en-US" sz="900" dirty="0">
                <a:solidFill>
                  <a:srgbClr val="46545F"/>
                </a:solidFill>
                <a:latin typeface="Calibri" pitchFamily="34" charset="0"/>
                <a:ea typeface="Calibri" pitchFamily="34" charset="-122"/>
                <a:cs typeface="Calibri" pitchFamily="34" charset="-120"/>
              </a:rPr>
              <a:t>deep research · thinking slider (paid) · “Think” button (free)</a:t>
            </a:r>
            <a:endParaRPr lang="en-US" sz="900" dirty="0"/>
          </a:p>
        </p:txBody>
      </p:sp>
      <p:sp>
        <p:nvSpPr>
          <p:cNvPr id="27" name="Text 25"/>
          <p:cNvSpPr/>
          <p:nvPr/>
        </p:nvSpPr>
        <p:spPr>
          <a:xfrm>
            <a:off x="6291072" y="2578608"/>
            <a:ext cx="11887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Gemini</a:t>
            </a:r>
            <a:endParaRPr lang="en-US" sz="1050" dirty="0"/>
          </a:p>
        </p:txBody>
      </p:sp>
      <p:sp>
        <p:nvSpPr>
          <p:cNvPr id="28" name="Text 26"/>
          <p:cNvSpPr/>
          <p:nvPr/>
        </p:nvSpPr>
        <p:spPr>
          <a:xfrm>
            <a:off x="7543800" y="2578608"/>
            <a:ext cx="3977640" cy="420624"/>
          </a:xfrm>
          <a:prstGeom prst="rect">
            <a:avLst/>
          </a:prstGeom>
          <a:noFill/>
          <a:ln/>
        </p:spPr>
        <p:txBody>
          <a:bodyPr wrap="square" lIns="0" tIns="0" rIns="0" bIns="0" rtlCol="0" anchor="ctr"/>
          <a:lstStyle/>
          <a:p>
            <a:pPr indent="0" marL="0">
              <a:lnSpc>
                <a:spcPct val="98000"/>
              </a:lnSpc>
              <a:buNone/>
            </a:pPr>
            <a:r>
              <a:rPr lang="en-US" sz="90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00" dirty="0"/>
          </a:p>
        </p:txBody>
      </p:sp>
      <p:sp>
        <p:nvSpPr>
          <p:cNvPr id="29" name="Text 27"/>
          <p:cNvSpPr/>
          <p:nvPr/>
        </p:nvSpPr>
        <p:spPr>
          <a:xfrm>
            <a:off x="6291072" y="3054096"/>
            <a:ext cx="11887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Claude</a:t>
            </a:r>
            <a:endParaRPr lang="en-US" sz="1050" dirty="0"/>
          </a:p>
        </p:txBody>
      </p:sp>
      <p:sp>
        <p:nvSpPr>
          <p:cNvPr id="30" name="Text 28"/>
          <p:cNvSpPr/>
          <p:nvPr/>
        </p:nvSpPr>
        <p:spPr>
          <a:xfrm>
            <a:off x="7543800" y="3054096"/>
            <a:ext cx="3977640" cy="420624"/>
          </a:xfrm>
          <a:prstGeom prst="rect">
            <a:avLst/>
          </a:prstGeom>
          <a:noFill/>
          <a:ln/>
        </p:spPr>
        <p:txBody>
          <a:bodyPr wrap="square" lIns="0" tIns="0" rIns="0" bIns="0" rtlCol="0" anchor="ctr"/>
          <a:lstStyle/>
          <a:p>
            <a:pPr indent="0" marL="0">
              <a:lnSpc>
                <a:spcPct val="98000"/>
              </a:lnSpc>
              <a:buNone/>
            </a:pPr>
            <a:r>
              <a:rPr lang="en-US" sz="900" dirty="0">
                <a:solidFill>
                  <a:srgbClr val="46545F"/>
                </a:solidFill>
                <a:latin typeface="Calibri" pitchFamily="34" charset="0"/>
                <a:ea typeface="Calibri" pitchFamily="34" charset="-122"/>
                <a:cs typeface="Calibri" pitchFamily="34" charset="-120"/>
              </a:rPr>
              <a:t>Research (paid plans) · extended thinking</a:t>
            </a:r>
            <a:endParaRPr lang="en-US" sz="900" dirty="0"/>
          </a:p>
        </p:txBody>
      </p:sp>
      <p:sp>
        <p:nvSpPr>
          <p:cNvPr id="31" name="Text 29"/>
          <p:cNvSpPr/>
          <p:nvPr/>
        </p:nvSpPr>
        <p:spPr>
          <a:xfrm>
            <a:off x="6291072" y="3529584"/>
            <a:ext cx="11887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Copilot</a:t>
            </a:r>
            <a:endParaRPr lang="en-US" sz="1050" dirty="0"/>
          </a:p>
        </p:txBody>
      </p:sp>
      <p:sp>
        <p:nvSpPr>
          <p:cNvPr id="32" name="Text 30"/>
          <p:cNvSpPr/>
          <p:nvPr/>
        </p:nvSpPr>
        <p:spPr>
          <a:xfrm>
            <a:off x="7543800" y="3529584"/>
            <a:ext cx="3977640" cy="420624"/>
          </a:xfrm>
          <a:prstGeom prst="rect">
            <a:avLst/>
          </a:prstGeom>
          <a:noFill/>
          <a:ln/>
        </p:spPr>
        <p:txBody>
          <a:bodyPr wrap="square" lIns="0" tIns="0" rIns="0" bIns="0" rtlCol="0" anchor="ctr"/>
          <a:lstStyle/>
          <a:p>
            <a:pPr indent="0" marL="0">
              <a:lnSpc>
                <a:spcPct val="98000"/>
              </a:lnSpc>
              <a:buNone/>
            </a:pPr>
            <a:r>
              <a:rPr lang="en-US" sz="90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00" dirty="0"/>
          </a:p>
        </p:txBody>
      </p:sp>
      <p:sp>
        <p:nvSpPr>
          <p:cNvPr id="33" name="Text 31"/>
          <p:cNvSpPr/>
          <p:nvPr/>
        </p:nvSpPr>
        <p:spPr>
          <a:xfrm>
            <a:off x="6291072" y="4005072"/>
            <a:ext cx="1188720" cy="420624"/>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Perplexity</a:t>
            </a:r>
            <a:endParaRPr lang="en-US" sz="1050" dirty="0"/>
          </a:p>
        </p:txBody>
      </p:sp>
      <p:sp>
        <p:nvSpPr>
          <p:cNvPr id="34" name="Text 32"/>
          <p:cNvSpPr/>
          <p:nvPr/>
        </p:nvSpPr>
        <p:spPr>
          <a:xfrm>
            <a:off x="7543800" y="4005072"/>
            <a:ext cx="3977640" cy="420624"/>
          </a:xfrm>
          <a:prstGeom prst="rect">
            <a:avLst/>
          </a:prstGeom>
          <a:noFill/>
          <a:ln/>
        </p:spPr>
        <p:txBody>
          <a:bodyPr wrap="square" lIns="0" tIns="0" rIns="0" bIns="0" rtlCol="0" anchor="ctr"/>
          <a:lstStyle/>
          <a:p>
            <a:pPr indent="0" marL="0">
              <a:lnSpc>
                <a:spcPct val="98000"/>
              </a:lnSpc>
              <a:buNone/>
            </a:pPr>
            <a:r>
              <a:rPr lang="en-US" sz="900" dirty="0">
                <a:solidFill>
                  <a:srgbClr val="46545F"/>
                </a:solidFill>
                <a:latin typeface="Calibri" pitchFamily="34" charset="0"/>
                <a:ea typeface="Calibri" pitchFamily="34" charset="-122"/>
                <a:cs typeface="Calibri" pitchFamily="34" charset="-120"/>
              </a:rPr>
              <a:t>Search · Research · Create files and apps</a:t>
            </a:r>
            <a:endParaRPr lang="en-US" sz="900" dirty="0"/>
          </a:p>
        </p:txBody>
      </p:sp>
      <p:sp>
        <p:nvSpPr>
          <p:cNvPr id="35" name="Text 33"/>
          <p:cNvSpPr/>
          <p:nvPr/>
        </p:nvSpPr>
        <p:spPr>
          <a:xfrm>
            <a:off x="502920" y="4590288"/>
            <a:ext cx="11155680" cy="384048"/>
          </a:xfrm>
          <a:prstGeom prst="rect">
            <a:avLst/>
          </a:prstGeom>
          <a:noFill/>
          <a:ln/>
        </p:spPr>
        <p:txBody>
          <a:bodyPr wrap="square" lIns="0" tIns="0" rIns="0" bIns="0" rtlCol="0" anchor="ctr"/>
          <a:lstStyle/>
          <a:p>
            <a:pPr indent="0" marL="0">
              <a:lnSpc>
                <a:spcPct val="105000"/>
              </a:lnSpc>
              <a:buNone/>
            </a:pPr>
            <a:r>
              <a:rPr lang="en-US" sz="105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050" dirty="0"/>
          </a:p>
        </p:txBody>
      </p:sp>
      <p:sp>
        <p:nvSpPr>
          <p:cNvPr id="36" name="Shape 34"/>
          <p:cNvSpPr/>
          <p:nvPr/>
        </p:nvSpPr>
        <p:spPr>
          <a:xfrm>
            <a:off x="502920" y="5029200"/>
            <a:ext cx="11155680" cy="1417320"/>
          </a:xfrm>
          <a:prstGeom prst="roundRect">
            <a:avLst>
              <a:gd name="adj" fmla="val 5161"/>
            </a:avLst>
          </a:prstGeom>
          <a:solidFill>
            <a:srgbClr val="E4F0EF"/>
          </a:solidFill>
          <a:ln/>
        </p:spPr>
      </p:sp>
      <p:sp>
        <p:nvSpPr>
          <p:cNvPr id="37" name="Shape 35"/>
          <p:cNvSpPr/>
          <p:nvPr/>
        </p:nvSpPr>
        <p:spPr>
          <a:xfrm>
            <a:off x="649224" y="5148072"/>
            <a:ext cx="365760" cy="365760"/>
          </a:xfrm>
          <a:prstGeom prst="ellipse">
            <a:avLst/>
          </a:prstGeom>
          <a:solidFill>
            <a:srgbClr val="0E7C7B"/>
          </a:solidFill>
          <a:ln/>
        </p:spPr>
      </p:sp>
      <p:pic>
        <p:nvPicPr>
          <p:cNvPr id="38" name="Image 0" descr="/home/user/Claude-Works/ai-training-prompt-engineering/src/assets/icons/robot_w.png">    </p:cNvPr>
          <p:cNvPicPr>
            <a:picLocks noChangeAspect="1"/>
          </p:cNvPicPr>
          <p:nvPr/>
        </p:nvPicPr>
        <p:blipFill>
          <a:blip r:embed="rId1"/>
          <a:stretch>
            <a:fillRect/>
          </a:stretch>
        </p:blipFill>
        <p:spPr>
          <a:xfrm>
            <a:off x="744322" y="5243170"/>
            <a:ext cx="175565" cy="175565"/>
          </a:xfrm>
          <a:prstGeom prst="rect">
            <a:avLst/>
          </a:prstGeom>
        </p:spPr>
      </p:pic>
      <p:sp>
        <p:nvSpPr>
          <p:cNvPr id="39" name="Shape 36"/>
          <p:cNvSpPr/>
          <p:nvPr/>
        </p:nvSpPr>
        <p:spPr>
          <a:xfrm>
            <a:off x="1106424" y="5175504"/>
            <a:ext cx="1188720" cy="310896"/>
          </a:xfrm>
          <a:prstGeom prst="roundRect">
            <a:avLst>
              <a:gd name="adj" fmla="val 23529"/>
            </a:avLst>
          </a:prstGeom>
          <a:solidFill>
            <a:srgbClr val="0E7C7B"/>
          </a:solidFill>
          <a:ln/>
        </p:spPr>
      </p:sp>
      <p:sp>
        <p:nvSpPr>
          <p:cNvPr id="40" name="Text 37"/>
          <p:cNvSpPr/>
          <p:nvPr/>
        </p:nvSpPr>
        <p:spPr>
          <a:xfrm>
            <a:off x="1106424" y="518464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7/8</a:t>
            </a:r>
            <a:endParaRPr lang="en-US" sz="950" dirty="0"/>
          </a:p>
        </p:txBody>
      </p:sp>
      <p:sp>
        <p:nvSpPr>
          <p:cNvPr id="41" name="Text 38"/>
          <p:cNvSpPr/>
          <p:nvPr/>
        </p:nvSpPr>
        <p:spPr>
          <a:xfrm>
            <a:off x="2404872" y="518464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Ask your own product for its menu</a:t>
            </a:r>
            <a:endParaRPr lang="en-US" sz="1050" dirty="0"/>
          </a:p>
        </p:txBody>
      </p:sp>
      <p:sp>
        <p:nvSpPr>
          <p:cNvPr id="42" name="Text 39"/>
          <p:cNvSpPr/>
          <p:nvPr/>
        </p:nvSpPr>
        <p:spPr>
          <a:xfrm>
            <a:off x="685800" y="5559552"/>
            <a:ext cx="10789920" cy="758952"/>
          </a:xfrm>
          <a:prstGeom prst="rect">
            <a:avLst/>
          </a:prstGeom>
          <a:noFill/>
          <a:ln/>
        </p:spPr>
        <p:txBody>
          <a:bodyPr wrap="square" lIns="0" tIns="0" rIns="0" bIns="0" rtlCol="0" anchor="t"/>
          <a:lstStyle/>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Course log — The feature menu. You are the product I’m typing into right now. List the answer modes and major features this product offers me — quick answer, deeper-thinking mode, web search, a deep-research mode that browses for minutes, any agent mode. Only what really exists today. A tight table, max 6 rows: what it’s called here · what it does differently behind the scenes · rough effort vs a quick answer (1×, 5–20×, 100×+) · one task where it’s the smallest mode that succeeds · one task where it’s overkill · where I switch it on — say “unsure” rather than guess. End with a one-sentence rule for picking the smallest mode that can succeed.</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 (1 of 2)</a:t>
            </a:r>
            <a:endParaRPr lang="en-US" sz="3000" dirty="0"/>
          </a:p>
        </p:txBody>
      </p:sp>
      <p:sp>
        <p:nvSpPr>
          <p:cNvPr id="6" name="Text 4"/>
          <p:cNvSpPr/>
          <p:nvPr/>
        </p:nvSpPr>
        <p:spPr>
          <a:xfrm>
            <a:off x="502920" y="1517904"/>
            <a:ext cx="5577840" cy="4206240"/>
          </a:xfrm>
          <a:prstGeom prst="rect">
            <a:avLst/>
          </a:prstGeom>
          <a:noFill/>
          <a:ln/>
        </p:spPr>
        <p:txBody>
          <a:bodyPr wrap="square" lIns="0" tIns="0" rIns="0" bIns="0" rtlCol="0" anchor="t"/>
          <a:lstStyle/>
          <a:p>
            <a:pPr algn="l" marL="127000" indent="-127000">
              <a:lnSpc>
                <a:spcPct val="104000"/>
              </a:lnSpc>
              <a:spcAft>
                <a:spcPts val="900"/>
              </a:spcAft>
              <a:buSzPct val="100000"/>
              <a:buChar char="•"/>
            </a:pPr>
            <a:r>
              <a:rPr lang="en-US" sz="118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Fluency and truth usually coincide — except where training data is thin: rare facts, exact citations, numbers, names.</a:t>
            </a:r>
            <a:endParaRPr lang="en-US" sz="1180" dirty="0"/>
          </a:p>
          <a:p>
            <a:pPr algn="l" marL="127000" indent="-127000">
              <a:lnSpc>
                <a:spcPct val="104000"/>
              </a:lnSpc>
              <a:spcAft>
                <a:spcPts val="900"/>
              </a:spcAft>
              <a:buSzPct val="100000"/>
              <a:buChar char="•"/>
            </a:pPr>
            <a:r>
              <a:rPr lang="en-US" sz="1180" b="1" dirty="0">
                <a:solidFill>
                  <a:srgbClr val="46545F"/>
                </a:solidFill>
                <a:latin typeface="Calibri" pitchFamily="34" charset="0"/>
                <a:ea typeface="Calibri" pitchFamily="34" charset="-122"/>
                <a:cs typeface="Calibri" pitchFamily="34" charset="-120"/>
              </a:rPr>
              <a:t>OpenAI’s own 2025 research: hallucination is a statistically expected result of standard training — benchmarks reward confident guessing over “I don’t know,” so models learn to be good test-takers.</a:t>
            </a:r>
            <a:endParaRPr lang="en-US" sz="1180" dirty="0"/>
          </a:p>
          <a:p>
            <a:pPr algn="l" marL="127000" indent="-127000">
              <a:lnSpc>
                <a:spcPct val="104000"/>
              </a:lnSpc>
              <a:spcAft>
                <a:spcPts val="900"/>
              </a:spcAft>
              <a:buSzPct val="100000"/>
              <a:buChar char="•"/>
            </a:pPr>
            <a:r>
              <a:rPr lang="en-US" sz="1180" dirty="0">
                <a:solidFill>
                  <a:srgbClr val="46545F"/>
                </a:solidFill>
                <a:latin typeface="Calibri" pitchFamily="34" charset="0"/>
                <a:ea typeface="Calibri" pitchFamily="34" charset="-122"/>
                <a:cs typeface="Calibri" pitchFamily="34" charset="-120"/>
              </a:rPr>
              <a:t>The better word is confabulation: the model isn’t seeing things — it fills gaps with plausible material, in-format. Fake citations LOOK like citations; fake URLs look like URLs.</a:t>
            </a:r>
            <a:endParaRPr lang="en-US" sz="1180" dirty="0"/>
          </a:p>
          <a:p>
            <a:pPr algn="l" marL="127000" indent="-127000">
              <a:lnSpc>
                <a:spcPct val="104000"/>
              </a:lnSpc>
              <a:spcAft>
                <a:spcPts val="900"/>
              </a:spcAft>
              <a:buSzPct val="100000"/>
              <a:buChar char="•"/>
            </a:pPr>
            <a:r>
              <a:rPr lang="en-US" sz="1180" dirty="0">
                <a:solidFill>
                  <a:srgbClr val="46545F"/>
                </a:solidFill>
                <a:latin typeface="Calibri" pitchFamily="34" charset="0"/>
                <a:ea typeface="Calibri" pitchFamily="34" charset="-122"/>
                <a:cs typeface="Calibri" pitchFamily="34" charset="-120"/>
              </a:rPr>
              <a:t>Think of an improv actor who never breaks character: the show must go on, so gaps get filled with the most plausible line — delivered with total confidence.</a:t>
            </a:r>
            <a:endParaRPr lang="en-US" sz="1180" dirty="0"/>
          </a:p>
        </p:txBody>
      </p:sp>
      <p:sp>
        <p:nvSpPr>
          <p:cNvPr id="7" name="Shape 5"/>
          <p:cNvSpPr/>
          <p:nvPr/>
        </p:nvSpPr>
        <p:spPr>
          <a:xfrm>
            <a:off x="6263640" y="1517904"/>
            <a:ext cx="5394960" cy="1024128"/>
          </a:xfrm>
          <a:prstGeom prst="roundRect">
            <a:avLst>
              <a:gd name="adj" fmla="val 7143"/>
            </a:avLst>
          </a:prstGeom>
          <a:solidFill>
            <a:srgbClr val="F2F5F6"/>
          </a:solidFill>
          <a:ln/>
        </p:spPr>
      </p:sp>
      <p:sp>
        <p:nvSpPr>
          <p:cNvPr id="8" name="Text 6"/>
          <p:cNvSpPr/>
          <p:nvPr/>
        </p:nvSpPr>
        <p:spPr>
          <a:xfrm>
            <a:off x="6510528" y="1591056"/>
            <a:ext cx="4937760" cy="896112"/>
          </a:xfrm>
          <a:prstGeom prst="rect">
            <a:avLst/>
          </a:prstGeom>
          <a:noFill/>
          <a:ln/>
        </p:spPr>
        <p:txBody>
          <a:bodyPr wrap="square" lIns="0" tIns="0" rIns="0" bIns="0" rtlCol="0" anchor="ctr"/>
          <a:lstStyle/>
          <a:p>
            <a:pPr indent="0" marL="0">
              <a:lnSpc>
                <a:spcPct val="104000"/>
              </a:lnSpc>
              <a:spcAft>
                <a:spcPts val="200"/>
              </a:spcAft>
              <a:buNone/>
            </a:pPr>
            <a:r>
              <a:rPr lang="en-US" sz="1150" b="1" dirty="0">
                <a:solidFill>
                  <a:srgbClr val="0A5B5A"/>
                </a:solidFill>
                <a:latin typeface="Calibri" pitchFamily="34" charset="0"/>
                <a:ea typeface="Calibri" pitchFamily="34" charset="-122"/>
                <a:cs typeface="Calibri" pitchFamily="34" charset="-120"/>
              </a:rPr>
              <a:t>1 · Invented facts</a:t>
            </a:r>
            <a:endParaRPr lang="en-US" sz="1150" dirty="0"/>
          </a:p>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Free recall where data was thin — a confident wrong fact. (The Bard telescope flub, next slide.)</a:t>
            </a:r>
            <a:endParaRPr lang="en-US" sz="1150" dirty="0"/>
          </a:p>
        </p:txBody>
      </p:sp>
      <p:sp>
        <p:nvSpPr>
          <p:cNvPr id="9" name="Shape 7"/>
          <p:cNvSpPr/>
          <p:nvPr/>
        </p:nvSpPr>
        <p:spPr>
          <a:xfrm>
            <a:off x="6263640" y="2651760"/>
            <a:ext cx="5394960" cy="1024128"/>
          </a:xfrm>
          <a:prstGeom prst="roundRect">
            <a:avLst>
              <a:gd name="adj" fmla="val 7143"/>
            </a:avLst>
          </a:prstGeom>
          <a:solidFill>
            <a:srgbClr val="F2F5F6"/>
          </a:solidFill>
          <a:ln/>
        </p:spPr>
      </p:sp>
      <p:sp>
        <p:nvSpPr>
          <p:cNvPr id="10" name="Text 8"/>
          <p:cNvSpPr/>
          <p:nvPr/>
        </p:nvSpPr>
        <p:spPr>
          <a:xfrm>
            <a:off x="6510528" y="2724912"/>
            <a:ext cx="4937760" cy="896112"/>
          </a:xfrm>
          <a:prstGeom prst="rect">
            <a:avLst/>
          </a:prstGeom>
          <a:noFill/>
          <a:ln/>
        </p:spPr>
        <p:txBody>
          <a:bodyPr wrap="square" lIns="0" tIns="0" rIns="0" bIns="0" rtlCol="0" anchor="ctr"/>
          <a:lstStyle/>
          <a:p>
            <a:pPr indent="0" marL="0">
              <a:lnSpc>
                <a:spcPct val="104000"/>
              </a:lnSpc>
              <a:spcAft>
                <a:spcPts val="200"/>
              </a:spcAft>
              <a:buNone/>
            </a:pPr>
            <a:r>
              <a:rPr lang="en-US" sz="1150" b="1" dirty="0">
                <a:solidFill>
                  <a:srgbClr val="0A5B5A"/>
                </a:solidFill>
                <a:latin typeface="Calibri" pitchFamily="34" charset="0"/>
                <a:ea typeface="Calibri" pitchFamily="34" charset="-122"/>
                <a:cs typeface="Calibri" pitchFamily="34" charset="-120"/>
              </a:rPr>
              <a:t>2 · Invented sources</a:t>
            </a:r>
            <a:endParaRPr lang="en-US" sz="1150" dirty="0"/>
          </a:p>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Citations, cases, book titles that look perfectly real — and don’t exist. (The ChatGPT lawyer.)</a:t>
            </a:r>
            <a:endParaRPr lang="en-US" sz="1150" dirty="0"/>
          </a:p>
        </p:txBody>
      </p:sp>
      <p:sp>
        <p:nvSpPr>
          <p:cNvPr id="11" name="Shape 9"/>
          <p:cNvSpPr/>
          <p:nvPr/>
        </p:nvSpPr>
        <p:spPr>
          <a:xfrm>
            <a:off x="6263640" y="3785616"/>
            <a:ext cx="5394960" cy="1024128"/>
          </a:xfrm>
          <a:prstGeom prst="roundRect">
            <a:avLst>
              <a:gd name="adj" fmla="val 7143"/>
            </a:avLst>
          </a:prstGeom>
          <a:solidFill>
            <a:srgbClr val="F9E9E8"/>
          </a:solidFill>
          <a:ln/>
        </p:spPr>
      </p:sp>
      <p:sp>
        <p:nvSpPr>
          <p:cNvPr id="12" name="Text 10"/>
          <p:cNvSpPr/>
          <p:nvPr/>
        </p:nvSpPr>
        <p:spPr>
          <a:xfrm>
            <a:off x="6510528" y="3858768"/>
            <a:ext cx="4937760" cy="896112"/>
          </a:xfrm>
          <a:prstGeom prst="rect">
            <a:avLst/>
          </a:prstGeom>
          <a:noFill/>
          <a:ln/>
        </p:spPr>
        <p:txBody>
          <a:bodyPr wrap="square" lIns="0" tIns="0" rIns="0" bIns="0" rtlCol="0" anchor="ctr"/>
          <a:lstStyle/>
          <a:p>
            <a:pPr indent="0" marL="0">
              <a:lnSpc>
                <a:spcPct val="104000"/>
              </a:lnSpc>
              <a:spcAft>
                <a:spcPts val="200"/>
              </a:spcAft>
              <a:buNone/>
            </a:pPr>
            <a:r>
              <a:rPr lang="en-US" sz="1150" b="1" dirty="0">
                <a:solidFill>
                  <a:srgbClr val="AF3230"/>
                </a:solidFill>
                <a:latin typeface="Calibri" pitchFamily="34" charset="0"/>
                <a:ea typeface="Calibri" pitchFamily="34" charset="-122"/>
                <a:cs typeface="Calibri" pitchFamily="34" charset="-120"/>
              </a:rPr>
              <a:t>3 · Confidently wrong from a bad source</a:t>
            </a:r>
            <a:endParaRPr lang="en-US" sz="1150" dirty="0"/>
          </a:p>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Fluent, cited — and built on a joke or the wrong revision. (Glue on pizza.)</a:t>
            </a:r>
            <a:endParaRPr lang="en-US" sz="1150" dirty="0"/>
          </a:p>
        </p:txBody>
      </p:sp>
      <p:sp>
        <p:nvSpPr>
          <p:cNvPr id="13" name="Shape 11"/>
          <p:cNvSpPr/>
          <p:nvPr/>
        </p:nvSpPr>
        <p:spPr>
          <a:xfrm>
            <a:off x="6263640" y="4919472"/>
            <a:ext cx="5394960" cy="1024128"/>
          </a:xfrm>
          <a:prstGeom prst="roundRect">
            <a:avLst>
              <a:gd name="adj" fmla="val 7143"/>
            </a:avLst>
          </a:prstGeom>
          <a:solidFill>
            <a:srgbClr val="F2F5F6"/>
          </a:solidFill>
          <a:ln/>
        </p:spPr>
      </p:sp>
      <p:sp>
        <p:nvSpPr>
          <p:cNvPr id="14" name="Text 12"/>
          <p:cNvSpPr/>
          <p:nvPr/>
        </p:nvSpPr>
        <p:spPr>
          <a:xfrm>
            <a:off x="6510528" y="4992624"/>
            <a:ext cx="4937760" cy="896112"/>
          </a:xfrm>
          <a:prstGeom prst="rect">
            <a:avLst/>
          </a:prstGeom>
          <a:noFill/>
          <a:ln/>
        </p:spPr>
        <p:txBody>
          <a:bodyPr wrap="square" lIns="0" tIns="0" rIns="0" bIns="0" rtlCol="0" anchor="ctr"/>
          <a:lstStyle/>
          <a:p>
            <a:pPr indent="0" marL="0">
              <a:lnSpc>
                <a:spcPct val="104000"/>
              </a:lnSpc>
              <a:spcAft>
                <a:spcPts val="200"/>
              </a:spcAft>
              <a:buNone/>
            </a:pPr>
            <a:r>
              <a:rPr lang="en-US" sz="1150" b="1" dirty="0">
                <a:solidFill>
                  <a:srgbClr val="0A5B5A"/>
                </a:solidFill>
                <a:latin typeface="Calibri" pitchFamily="34" charset="0"/>
                <a:ea typeface="Calibri" pitchFamily="34" charset="-122"/>
                <a:cs typeface="Calibri" pitchFamily="34" charset="-120"/>
              </a:rPr>
              <a:t>4 · Runs with your false premise</a:t>
            </a:r>
            <a:endParaRPr lang="en-US" sz="1150" dirty="0"/>
          </a:p>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It assumes your prompt is true: feed it a wrong “fact” and it builds on it politely.</a:t>
            </a:r>
            <a:endParaRPr lang="en-US" sz="1150" dirty="0"/>
          </a:p>
        </p:txBody>
      </p:sp>
      <p:sp>
        <p:nvSpPr>
          <p:cNvPr id="15" name="Text 13"/>
          <p:cNvSpPr/>
          <p:nvPr/>
        </p:nvSpPr>
        <p:spPr>
          <a:xfrm>
            <a:off x="502920" y="603504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Four kinds — one root: the show must go on. The next slide is what that cost in public.</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 (2 of 2)</a:t>
            </a:r>
            <a:endParaRPr lang="en-US" sz="3000" dirty="0"/>
          </a:p>
        </p:txBody>
      </p:sp>
      <p:sp>
        <p:nvSpPr>
          <p:cNvPr id="6" name="Shape 4"/>
          <p:cNvSpPr/>
          <p:nvPr/>
        </p:nvSpPr>
        <p:spPr>
          <a:xfrm>
            <a:off x="502920" y="1481328"/>
            <a:ext cx="5440680" cy="1426464"/>
          </a:xfrm>
          <a:prstGeom prst="roundRect">
            <a:avLst>
              <a:gd name="adj" fmla="val 512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72768"/>
            <a:ext cx="4572000" cy="1280160"/>
          </a:xfrm>
          <a:prstGeom prst="rect">
            <a:avLst/>
          </a:prstGeom>
          <a:noFill/>
          <a:ln/>
        </p:spPr>
        <p:txBody>
          <a:bodyPr wrap="square" lIns="0" tIns="0" rIns="0" bIns="0" rtlCol="0" anchor="ctr"/>
          <a:lstStyle/>
          <a:p>
            <a:pPr indent="0" marL="0">
              <a:lnSpc>
                <a:spcPct val="104000"/>
              </a:lnSpc>
              <a:spcAft>
                <a:spcPts val="300"/>
              </a:spcAft>
              <a:buNone/>
            </a:pPr>
            <a:r>
              <a:rPr lang="en-US" sz="1150" b="1" dirty="0">
                <a:solidFill>
                  <a:srgbClr val="232A31"/>
                </a:solidFill>
                <a:latin typeface="Calibri" pitchFamily="34" charset="0"/>
                <a:ea typeface="Calibri" pitchFamily="34" charset="-122"/>
                <a:cs typeface="Calibri" pitchFamily="34" charset="-120"/>
              </a:rPr>
              <a:t>Glue on pizza · May 2024</a:t>
            </a:r>
            <a:endParaRPr lang="en-US" sz="1150" dirty="0"/>
          </a:p>
          <a:p>
            <a:pPr indent="0" marL="0">
              <a:lnSpc>
                <a:spcPct val="104000"/>
              </a:lnSpc>
              <a:buNone/>
            </a:pPr>
            <a:r>
              <a:rPr lang="en-US" sz="97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a satire article as advice. Global mockery; the feature was scaled back within days.</a:t>
            </a:r>
            <a:endParaRPr lang="en-US" sz="1150" dirty="0"/>
          </a:p>
        </p:txBody>
      </p:sp>
      <p:sp>
        <p:nvSpPr>
          <p:cNvPr id="10" name="Shape 7"/>
          <p:cNvSpPr/>
          <p:nvPr/>
        </p:nvSpPr>
        <p:spPr>
          <a:xfrm>
            <a:off x="6172200" y="1481328"/>
            <a:ext cx="5440680" cy="1426464"/>
          </a:xfrm>
          <a:prstGeom prst="roundRect">
            <a:avLst>
              <a:gd name="adj" fmla="val 512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72768"/>
            <a:ext cx="4572000" cy="1280160"/>
          </a:xfrm>
          <a:prstGeom prst="rect">
            <a:avLst/>
          </a:prstGeom>
          <a:noFill/>
          <a:ln/>
        </p:spPr>
        <p:txBody>
          <a:bodyPr wrap="square" lIns="0" tIns="0" rIns="0" bIns="0" rtlCol="0" anchor="ctr"/>
          <a:lstStyle/>
          <a:p>
            <a:pPr indent="0" marL="0">
              <a:lnSpc>
                <a:spcPct val="104000"/>
              </a:lnSpc>
              <a:spcAft>
                <a:spcPts val="300"/>
              </a:spcAft>
              <a:buNone/>
            </a:pPr>
            <a:r>
              <a:rPr lang="en-US" sz="1150" b="1" dirty="0">
                <a:solidFill>
                  <a:srgbClr val="232A31"/>
                </a:solidFill>
                <a:latin typeface="Calibri" pitchFamily="34" charset="0"/>
                <a:ea typeface="Calibri" pitchFamily="34" charset="-122"/>
                <a:cs typeface="Calibri" pitchFamily="34" charset="-120"/>
              </a:rPr>
              <a:t>The ChatGPT lawyer · Jun 2023</a:t>
            </a:r>
            <a:endParaRPr lang="en-US" sz="1150" dirty="0"/>
          </a:p>
          <a:p>
            <a:pPr indent="0" marL="0">
              <a:lnSpc>
                <a:spcPct val="104000"/>
              </a:lnSpc>
              <a:buNone/>
            </a:pPr>
            <a:r>
              <a:rPr lang="en-US" sz="970" dirty="0">
                <a:solidFill>
                  <a:srgbClr val="46545F"/>
                </a:solidFill>
                <a:latin typeface="Calibri" pitchFamily="34" charset="0"/>
                <a:ea typeface="Calibri" pitchFamily="34" charset="-122"/>
                <a:cs typeface="Calibri" pitchFamily="34" charset="-120"/>
              </a:rPr>
              <a:t>A New York lawyer filed six court cases that didn’t exist — then asked ChatGPT whether they were real. It said yes. $5,000 sanction, apology letters ordered (Mata v. Avianca).</a:t>
            </a:r>
            <a:endParaRPr lang="en-US" sz="1150" dirty="0"/>
          </a:p>
        </p:txBody>
      </p:sp>
      <p:sp>
        <p:nvSpPr>
          <p:cNvPr id="14" name="Shape 10"/>
          <p:cNvSpPr/>
          <p:nvPr/>
        </p:nvSpPr>
        <p:spPr>
          <a:xfrm>
            <a:off x="502920" y="3017520"/>
            <a:ext cx="5440680" cy="1426464"/>
          </a:xfrm>
          <a:prstGeom prst="roundRect">
            <a:avLst>
              <a:gd name="adj" fmla="val 512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108960"/>
            <a:ext cx="4572000" cy="1280160"/>
          </a:xfrm>
          <a:prstGeom prst="rect">
            <a:avLst/>
          </a:prstGeom>
          <a:noFill/>
          <a:ln/>
        </p:spPr>
        <p:txBody>
          <a:bodyPr wrap="square" lIns="0" tIns="0" rIns="0" bIns="0" rtlCol="0" anchor="ctr"/>
          <a:lstStyle/>
          <a:p>
            <a:pPr indent="0" marL="0">
              <a:lnSpc>
                <a:spcPct val="104000"/>
              </a:lnSpc>
              <a:spcAft>
                <a:spcPts val="300"/>
              </a:spcAft>
              <a:buNone/>
            </a:pPr>
            <a:r>
              <a:rPr lang="en-US" sz="1150" b="1" dirty="0">
                <a:solidFill>
                  <a:srgbClr val="232A31"/>
                </a:solidFill>
                <a:latin typeface="Calibri" pitchFamily="34" charset="0"/>
                <a:ea typeface="Calibri" pitchFamily="34" charset="-122"/>
                <a:cs typeface="Calibri" pitchFamily="34" charset="-120"/>
              </a:rPr>
              <a:t>Air Canada’s chatbot · Feb 2024</a:t>
            </a:r>
            <a:endParaRPr lang="en-US" sz="1150" dirty="0"/>
          </a:p>
          <a:p>
            <a:pPr indent="0" marL="0">
              <a:lnSpc>
                <a:spcPct val="104000"/>
              </a:lnSpc>
              <a:buNone/>
            </a:pPr>
            <a:r>
              <a:rPr lang="en-US" sz="97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claim that the bot was “a separate legal entity.” Your company owns what its chatbot says.</a:t>
            </a:r>
            <a:endParaRPr lang="en-US" sz="1150" dirty="0"/>
          </a:p>
        </p:txBody>
      </p:sp>
      <p:sp>
        <p:nvSpPr>
          <p:cNvPr id="18" name="Shape 13"/>
          <p:cNvSpPr/>
          <p:nvPr/>
        </p:nvSpPr>
        <p:spPr>
          <a:xfrm>
            <a:off x="6172200" y="3017520"/>
            <a:ext cx="5440680" cy="1426464"/>
          </a:xfrm>
          <a:prstGeom prst="roundRect">
            <a:avLst>
              <a:gd name="adj" fmla="val 512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108960"/>
            <a:ext cx="4572000" cy="1280160"/>
          </a:xfrm>
          <a:prstGeom prst="rect">
            <a:avLst/>
          </a:prstGeom>
          <a:noFill/>
          <a:ln/>
        </p:spPr>
        <p:txBody>
          <a:bodyPr wrap="square" lIns="0" tIns="0" rIns="0" bIns="0" rtlCol="0" anchor="ctr"/>
          <a:lstStyle/>
          <a:p>
            <a:pPr indent="0" marL="0">
              <a:lnSpc>
                <a:spcPct val="104000"/>
              </a:lnSpc>
              <a:spcAft>
                <a:spcPts val="300"/>
              </a:spcAft>
              <a:buNone/>
            </a:pPr>
            <a:r>
              <a:rPr lang="en-US" sz="1150" b="1" dirty="0">
                <a:solidFill>
                  <a:srgbClr val="232A31"/>
                </a:solidFill>
                <a:latin typeface="Calibri" pitchFamily="34" charset="0"/>
                <a:ea typeface="Calibri" pitchFamily="34" charset="-122"/>
                <a:cs typeface="Calibri" pitchFamily="34" charset="-120"/>
              </a:rPr>
              <a:t>The Big Four arc · 2025–26</a:t>
            </a:r>
            <a:endParaRPr lang="en-US" sz="1150" dirty="0"/>
          </a:p>
          <a:p>
            <a:pPr indent="0" marL="0">
              <a:lnSpc>
                <a:spcPct val="104000"/>
              </a:lnSpc>
              <a:buNone/>
            </a:pPr>
            <a:r>
              <a:rPr lang="en-US" sz="970" dirty="0">
                <a:solidFill>
                  <a:srgbClr val="46545F"/>
                </a:solidFill>
                <a:latin typeface="Calibri" pitchFamily="34" charset="0"/>
                <a:ea typeface="Calibri" pitchFamily="34" charset="-122"/>
                <a:cs typeface="Calibri" pitchFamily="34" charset="-120"/>
              </a:rPr>
              <a:t>Deloitte refunded a government report over invented citations; EY pulled a report with 16 of 27 references fake; KPMG’s report on agentic-AI excellence had 5 of 45 citations check out.</a:t>
            </a:r>
            <a:endParaRPr lang="en-US" sz="1150" dirty="0"/>
          </a:p>
        </p:txBody>
      </p:sp>
      <p:sp>
        <p:nvSpPr>
          <p:cNvPr id="22" name="Shape 16"/>
          <p:cNvSpPr/>
          <p:nvPr/>
        </p:nvSpPr>
        <p:spPr>
          <a:xfrm>
            <a:off x="502920" y="4681728"/>
            <a:ext cx="11155680" cy="502920"/>
          </a:xfrm>
          <a:prstGeom prst="roundRect">
            <a:avLst>
              <a:gd name="adj" fmla="val 14545"/>
            </a:avLst>
          </a:prstGeom>
          <a:solidFill>
            <a:srgbClr val="FBF0E0"/>
          </a:solidFill>
          <a:ln/>
        </p:spPr>
      </p:sp>
      <p:sp>
        <p:nvSpPr>
          <p:cNvPr id="23" name="Shape 17"/>
          <p:cNvSpPr/>
          <p:nvPr/>
        </p:nvSpPr>
        <p:spPr>
          <a:xfrm>
            <a:off x="667512" y="4741164"/>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841016"/>
            <a:ext cx="184343" cy="184343"/>
          </a:xfrm>
          <a:prstGeom prst="rect">
            <a:avLst/>
          </a:prstGeom>
        </p:spPr>
      </p:pic>
      <p:sp>
        <p:nvSpPr>
          <p:cNvPr id="25" name="Text 18"/>
          <p:cNvSpPr/>
          <p:nvPr/>
        </p:nvSpPr>
        <p:spPr>
          <a:xfrm>
            <a:off x="1216152" y="47548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100" dirty="0"/>
          </a:p>
        </p:txBody>
      </p:sp>
      <p:sp>
        <p:nvSpPr>
          <p:cNvPr id="26" name="Shape 19"/>
          <p:cNvSpPr/>
          <p:nvPr/>
        </p:nvSpPr>
        <p:spPr>
          <a:xfrm>
            <a:off x="502920" y="5303520"/>
            <a:ext cx="11155680" cy="502920"/>
          </a:xfrm>
          <a:prstGeom prst="roundRect">
            <a:avLst>
              <a:gd name="adj" fmla="val 14545"/>
            </a:avLst>
          </a:prstGeom>
          <a:solidFill>
            <a:srgbClr val="E4F0EF"/>
          </a:solidFill>
          <a:ln/>
        </p:spPr>
      </p:sp>
      <p:sp>
        <p:nvSpPr>
          <p:cNvPr id="27" name="Shape 20"/>
          <p:cNvSpPr/>
          <p:nvPr/>
        </p:nvSpPr>
        <p:spPr>
          <a:xfrm>
            <a:off x="667512" y="5362956"/>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62808"/>
            <a:ext cx="184343" cy="184343"/>
          </a:xfrm>
          <a:prstGeom prst="rect">
            <a:avLst/>
          </a:prstGeom>
        </p:spPr>
      </p:pic>
      <p:sp>
        <p:nvSpPr>
          <p:cNvPr id="29" name="Text 21"/>
          <p:cNvSpPr/>
          <p:nvPr/>
        </p:nvSpPr>
        <p:spPr>
          <a:xfrm>
            <a:off x="1216152" y="5376672"/>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100" dirty="0"/>
          </a:p>
        </p:txBody>
      </p:sp>
      <p:sp>
        <p:nvSpPr>
          <p:cNvPr id="30" name="Shape 22"/>
          <p:cNvSpPr/>
          <p:nvPr/>
        </p:nvSpPr>
        <p:spPr>
          <a:xfrm>
            <a:off x="502920" y="5925312"/>
            <a:ext cx="11155680" cy="502920"/>
          </a:xfrm>
          <a:prstGeom prst="roundRect">
            <a:avLst>
              <a:gd name="adj" fmla="val 14545"/>
            </a:avLst>
          </a:prstGeom>
          <a:solidFill>
            <a:srgbClr val="F9E9E8"/>
          </a:solidFill>
          <a:ln/>
        </p:spPr>
      </p:sp>
      <p:sp>
        <p:nvSpPr>
          <p:cNvPr id="31" name="Shape 23"/>
          <p:cNvSpPr/>
          <p:nvPr/>
        </p:nvSpPr>
        <p:spPr>
          <a:xfrm>
            <a:off x="667512" y="5984748"/>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84600"/>
            <a:ext cx="184343" cy="184343"/>
          </a:xfrm>
          <a:prstGeom prst="rect">
            <a:avLst/>
          </a:prstGeom>
        </p:spPr>
      </p:pic>
      <p:sp>
        <p:nvSpPr>
          <p:cNvPr id="33" name="Text 24"/>
          <p:cNvSpPr/>
          <p:nvPr/>
        </p:nvSpPr>
        <p:spPr>
          <a:xfrm>
            <a:off x="1216152" y="5998464"/>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ASSISTANTS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names — and what each is genuinely known for</a:t>
            </a:r>
            <a:endParaRPr lang="en-US" sz="3000" dirty="0"/>
          </a:p>
        </p:txBody>
      </p:sp>
      <p:sp>
        <p:nvSpPr>
          <p:cNvPr id="6" name="Shape 4"/>
          <p:cNvSpPr/>
          <p:nvPr/>
        </p:nvSpPr>
        <p:spPr>
          <a:xfrm>
            <a:off x="502920" y="1481328"/>
            <a:ext cx="3611880" cy="2121408"/>
          </a:xfrm>
          <a:prstGeom prst="roundRect">
            <a:avLst>
              <a:gd name="adj" fmla="val 3448"/>
            </a:avLst>
          </a:prstGeom>
          <a:solidFill>
            <a:srgbClr val="F2F5F6"/>
          </a:solidFill>
          <a:ln/>
        </p:spPr>
      </p:sp>
      <p:sp>
        <p:nvSpPr>
          <p:cNvPr id="7" name="Text 5"/>
          <p:cNvSpPr/>
          <p:nvPr/>
        </p:nvSpPr>
        <p:spPr>
          <a:xfrm>
            <a:off x="722376" y="1591056"/>
            <a:ext cx="3108960" cy="329184"/>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Claude</a:t>
            </a:r>
            <a:endParaRPr lang="en-US" sz="1550" dirty="0"/>
          </a:p>
        </p:txBody>
      </p:sp>
      <p:sp>
        <p:nvSpPr>
          <p:cNvPr id="8" name="Text 6"/>
          <p:cNvSpPr/>
          <p:nvPr/>
        </p:nvSpPr>
        <p:spPr>
          <a:xfrm>
            <a:off x="722376" y="1920240"/>
            <a:ext cx="3200400" cy="274320"/>
          </a:xfrm>
          <a:prstGeom prst="rect">
            <a:avLst/>
          </a:prstGeom>
          <a:noFill/>
          <a:ln/>
        </p:spPr>
        <p:txBody>
          <a:bodyPr wrap="square" lIns="0" tIns="0" rIns="0" bIns="0" rtlCol="0" anchor="ctr"/>
          <a:lstStyle/>
          <a:p>
            <a:pPr indent="0" marL="0">
              <a:buNone/>
            </a:pPr>
            <a:r>
              <a:rPr lang="en-US" sz="820" b="1" spc="40" kern="0" dirty="0">
                <a:solidFill>
                  <a:srgbClr val="7A8790"/>
                </a:solidFill>
                <a:latin typeface="Calibri" pitchFamily="34" charset="0"/>
                <a:ea typeface="Calibri" pitchFamily="34" charset="-122"/>
                <a:cs typeface="Calibri" pitchFamily="34" charset="-120"/>
              </a:rPr>
              <a:t>Anthropic · Fable 5 / Opus 5 / Sonnet 5 / Haiku 4.5</a:t>
            </a:r>
            <a:endParaRPr lang="en-US" sz="820" dirty="0"/>
          </a:p>
        </p:txBody>
      </p:sp>
      <p:sp>
        <p:nvSpPr>
          <p:cNvPr id="9" name="Text 7"/>
          <p:cNvSpPr/>
          <p:nvPr/>
        </p:nvSpPr>
        <p:spPr>
          <a:xfrm>
            <a:off x="722376" y="2231136"/>
            <a:ext cx="3200400" cy="868680"/>
          </a:xfrm>
          <a:prstGeom prst="rect">
            <a:avLst/>
          </a:prstGeom>
          <a:noFill/>
          <a:ln/>
        </p:spPr>
        <p:txBody>
          <a:bodyPr wrap="square" lIns="0" tIns="0" rIns="0" bIns="0" rtlCol="0" anchor="ctr"/>
          <a:lstStyle/>
          <a:p>
            <a:pPr indent="0" marL="0">
              <a:lnSpc>
                <a:spcPct val="102000"/>
              </a:lnSpc>
              <a:buNone/>
            </a:pPr>
            <a:r>
              <a:rPr lang="en-US" sz="920" dirty="0">
                <a:solidFill>
                  <a:srgbClr val="46545F"/>
                </a:solidFill>
                <a:latin typeface="Calibri" pitchFamily="34" charset="0"/>
                <a:ea typeface="Calibri" pitchFamily="34" charset="-122"/>
                <a:cs typeface="Calibri" pitchFamily="34" charset="-120"/>
              </a:rPr>
              <a:t>Known for: best-in-class coding &amp; agentic work — tops SWE-bench AND OpenAI’s own real-work eval (GDPval); 1M-token documents; 2026 writing evals rank it #1 for careful prose.</a:t>
            </a:r>
            <a:endParaRPr lang="en-US" sz="920" dirty="0"/>
          </a:p>
        </p:txBody>
      </p:sp>
      <p:sp>
        <p:nvSpPr>
          <p:cNvPr id="10" name="Text 8"/>
          <p:cNvSpPr/>
          <p:nvPr/>
        </p:nvSpPr>
        <p:spPr>
          <a:xfrm>
            <a:off x="722376" y="3108960"/>
            <a:ext cx="3200400" cy="457200"/>
          </a:xfrm>
          <a:prstGeom prst="rect">
            <a:avLst/>
          </a:prstGeom>
          <a:noFill/>
          <a:ln/>
        </p:spPr>
        <p:txBody>
          <a:bodyPr wrap="square" lIns="0" tIns="0" rIns="0" bIns="0" rtlCol="0" anchor="ctr"/>
          <a:lstStyle/>
          <a:p>
            <a:pPr indent="0" marL="0">
              <a:lnSpc>
                <a:spcPct val="98000"/>
              </a:lnSpc>
              <a:buNone/>
            </a:pPr>
            <a:r>
              <a:rPr lang="en-US" sz="840" i="1" dirty="0">
                <a:solidFill>
                  <a:srgbClr val="B96A1B"/>
                </a:solidFill>
                <a:latin typeface="Calibri" pitchFamily="34" charset="0"/>
                <a:ea typeface="Calibri" pitchFamily="34" charset="-122"/>
                <a:cs typeface="Calibri" pitchFamily="34" charset="-120"/>
              </a:rPr>
              <a:t>Caveat: premium pricing at the top tier; flagship can refuse high-risk domains by design.</a:t>
            </a:r>
            <a:endParaRPr lang="en-US" sz="840" dirty="0"/>
          </a:p>
        </p:txBody>
      </p:sp>
      <p:sp>
        <p:nvSpPr>
          <p:cNvPr id="11" name="Shape 9"/>
          <p:cNvSpPr/>
          <p:nvPr/>
        </p:nvSpPr>
        <p:spPr>
          <a:xfrm>
            <a:off x="4325112" y="1481328"/>
            <a:ext cx="3611880" cy="2121408"/>
          </a:xfrm>
          <a:prstGeom prst="roundRect">
            <a:avLst>
              <a:gd name="adj" fmla="val 3448"/>
            </a:avLst>
          </a:prstGeom>
          <a:solidFill>
            <a:srgbClr val="F2F5F6"/>
          </a:solidFill>
          <a:ln/>
        </p:spPr>
      </p:sp>
      <p:sp>
        <p:nvSpPr>
          <p:cNvPr id="12" name="Text 10"/>
          <p:cNvSpPr/>
          <p:nvPr/>
        </p:nvSpPr>
        <p:spPr>
          <a:xfrm>
            <a:off x="4544568" y="1591056"/>
            <a:ext cx="3108960" cy="329184"/>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ChatGPT</a:t>
            </a:r>
            <a:endParaRPr lang="en-US" sz="1550" dirty="0"/>
          </a:p>
        </p:txBody>
      </p:sp>
      <p:sp>
        <p:nvSpPr>
          <p:cNvPr id="13" name="Text 11"/>
          <p:cNvSpPr/>
          <p:nvPr/>
        </p:nvSpPr>
        <p:spPr>
          <a:xfrm>
            <a:off x="4544568" y="1920240"/>
            <a:ext cx="3200400" cy="274320"/>
          </a:xfrm>
          <a:prstGeom prst="rect">
            <a:avLst/>
          </a:prstGeom>
          <a:noFill/>
          <a:ln/>
        </p:spPr>
        <p:txBody>
          <a:bodyPr wrap="square" lIns="0" tIns="0" rIns="0" bIns="0" rtlCol="0" anchor="ctr"/>
          <a:lstStyle/>
          <a:p>
            <a:pPr indent="0" marL="0">
              <a:buNone/>
            </a:pPr>
            <a:r>
              <a:rPr lang="en-US" sz="820" b="1" spc="40" kern="0" dirty="0">
                <a:solidFill>
                  <a:srgbClr val="7A8790"/>
                </a:solidFill>
                <a:latin typeface="Calibri" pitchFamily="34" charset="0"/>
                <a:ea typeface="Calibri" pitchFamily="34" charset="-122"/>
                <a:cs typeface="Calibri" pitchFamily="34" charset="-120"/>
              </a:rPr>
              <a:t>OpenAI · GPT-5.6 family (Sol / Terra / Luna)</a:t>
            </a:r>
            <a:endParaRPr lang="en-US" sz="820" dirty="0"/>
          </a:p>
        </p:txBody>
      </p:sp>
      <p:sp>
        <p:nvSpPr>
          <p:cNvPr id="14" name="Text 12"/>
          <p:cNvSpPr/>
          <p:nvPr/>
        </p:nvSpPr>
        <p:spPr>
          <a:xfrm>
            <a:off x="4544568" y="2231136"/>
            <a:ext cx="3200400" cy="868680"/>
          </a:xfrm>
          <a:prstGeom prst="rect">
            <a:avLst/>
          </a:prstGeom>
          <a:noFill/>
          <a:ln/>
        </p:spPr>
        <p:txBody>
          <a:bodyPr wrap="square" lIns="0" tIns="0" rIns="0" bIns="0" rtlCol="0" anchor="ctr"/>
          <a:lstStyle/>
          <a:p>
            <a:pPr indent="0" marL="0">
              <a:lnSpc>
                <a:spcPct val="102000"/>
              </a:lnSpc>
              <a:buNone/>
            </a:pPr>
            <a:r>
              <a:rPr lang="en-US" sz="920" dirty="0">
                <a:solidFill>
                  <a:srgbClr val="46545F"/>
                </a:solidFill>
                <a:latin typeface="Calibri" pitchFamily="34" charset="0"/>
                <a:ea typeface="Calibri" pitchFamily="34" charset="-122"/>
                <a:cs typeface="Calibri" pitchFamily="34" charset="-120"/>
              </a:rPr>
              <a:t>Known for: the everything assistant — fastest at drafts, options and marketing copy; largest user base; images, voice, agent mode.</a:t>
            </a:r>
            <a:endParaRPr lang="en-US" sz="920" dirty="0"/>
          </a:p>
        </p:txBody>
      </p:sp>
      <p:sp>
        <p:nvSpPr>
          <p:cNvPr id="15" name="Text 13"/>
          <p:cNvSpPr/>
          <p:nvPr/>
        </p:nvSpPr>
        <p:spPr>
          <a:xfrm>
            <a:off x="4544568" y="3108960"/>
            <a:ext cx="3200400" cy="457200"/>
          </a:xfrm>
          <a:prstGeom prst="rect">
            <a:avLst/>
          </a:prstGeom>
          <a:noFill/>
          <a:ln/>
        </p:spPr>
        <p:txBody>
          <a:bodyPr wrap="square" lIns="0" tIns="0" rIns="0" bIns="0" rtlCol="0" anchor="ctr"/>
          <a:lstStyle/>
          <a:p>
            <a:pPr indent="0" marL="0">
              <a:lnSpc>
                <a:spcPct val="98000"/>
              </a:lnSpc>
              <a:buNone/>
            </a:pPr>
            <a:r>
              <a:rPr lang="en-US" sz="840" i="1" dirty="0">
                <a:solidFill>
                  <a:srgbClr val="B96A1B"/>
                </a:solidFill>
                <a:latin typeface="Calibri" pitchFamily="34" charset="0"/>
                <a:ea typeface="Calibri" pitchFamily="34" charset="-122"/>
                <a:cs typeface="Calibri" pitchFamily="34" charset="-120"/>
              </a:rPr>
              <a:t>Caveat: fast model churn and renaming; check data settings before regulated content.</a:t>
            </a:r>
            <a:endParaRPr lang="en-US" sz="840" dirty="0"/>
          </a:p>
        </p:txBody>
      </p:sp>
      <p:sp>
        <p:nvSpPr>
          <p:cNvPr id="16" name="Shape 14"/>
          <p:cNvSpPr/>
          <p:nvPr/>
        </p:nvSpPr>
        <p:spPr>
          <a:xfrm>
            <a:off x="8147304" y="1481328"/>
            <a:ext cx="3611880" cy="2121408"/>
          </a:xfrm>
          <a:prstGeom prst="roundRect">
            <a:avLst>
              <a:gd name="adj" fmla="val 3448"/>
            </a:avLst>
          </a:prstGeom>
          <a:solidFill>
            <a:srgbClr val="F2F5F6"/>
          </a:solidFill>
          <a:ln/>
        </p:spPr>
      </p:sp>
      <p:sp>
        <p:nvSpPr>
          <p:cNvPr id="17" name="Text 15"/>
          <p:cNvSpPr/>
          <p:nvPr/>
        </p:nvSpPr>
        <p:spPr>
          <a:xfrm>
            <a:off x="8366760" y="1591056"/>
            <a:ext cx="3108960" cy="329184"/>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Gemini</a:t>
            </a:r>
            <a:endParaRPr lang="en-US" sz="1550" dirty="0"/>
          </a:p>
        </p:txBody>
      </p:sp>
      <p:sp>
        <p:nvSpPr>
          <p:cNvPr id="18" name="Text 16"/>
          <p:cNvSpPr/>
          <p:nvPr/>
        </p:nvSpPr>
        <p:spPr>
          <a:xfrm>
            <a:off x="8366760" y="1920240"/>
            <a:ext cx="3200400" cy="274320"/>
          </a:xfrm>
          <a:prstGeom prst="rect">
            <a:avLst/>
          </a:prstGeom>
          <a:noFill/>
          <a:ln/>
        </p:spPr>
        <p:txBody>
          <a:bodyPr wrap="square" lIns="0" tIns="0" rIns="0" bIns="0" rtlCol="0" anchor="ctr"/>
          <a:lstStyle/>
          <a:p>
            <a:pPr indent="0" marL="0">
              <a:buNone/>
            </a:pPr>
            <a:r>
              <a:rPr lang="en-US" sz="820" b="1" spc="40" kern="0" dirty="0">
                <a:solidFill>
                  <a:srgbClr val="7A8790"/>
                </a:solidFill>
                <a:latin typeface="Calibri" pitchFamily="34" charset="0"/>
                <a:ea typeface="Calibri" pitchFamily="34" charset="-122"/>
                <a:cs typeface="Calibri" pitchFamily="34" charset="-120"/>
              </a:rPr>
              <a:t>Google · Gemini 3 / 3.1 Pro / 3.6 Flash + Deep Think</a:t>
            </a:r>
            <a:endParaRPr lang="en-US" sz="820" dirty="0"/>
          </a:p>
        </p:txBody>
      </p:sp>
      <p:sp>
        <p:nvSpPr>
          <p:cNvPr id="19" name="Text 17"/>
          <p:cNvSpPr/>
          <p:nvPr/>
        </p:nvSpPr>
        <p:spPr>
          <a:xfrm>
            <a:off x="8366760" y="2231136"/>
            <a:ext cx="3200400" cy="868680"/>
          </a:xfrm>
          <a:prstGeom prst="rect">
            <a:avLst/>
          </a:prstGeom>
          <a:noFill/>
          <a:ln/>
        </p:spPr>
        <p:txBody>
          <a:bodyPr wrap="square" lIns="0" tIns="0" rIns="0" bIns="0" rtlCol="0" anchor="ctr"/>
          <a:lstStyle/>
          <a:p>
            <a:pPr indent="0" marL="0">
              <a:lnSpc>
                <a:spcPct val="102000"/>
              </a:lnSpc>
              <a:buNone/>
            </a:pPr>
            <a:r>
              <a:rPr lang="en-US" sz="920" dirty="0">
                <a:solidFill>
                  <a:srgbClr val="46545F"/>
                </a:solidFill>
                <a:latin typeface="Calibri" pitchFamily="34" charset="0"/>
                <a:ea typeface="Calibri" pitchFamily="34" charset="-122"/>
                <a:cs typeface="Calibri" pitchFamily="34" charset="-120"/>
              </a:rPr>
              <a:t>Known for: multimodal breadth (video, images, audio) and the deepest Workspace integration — 1B+ monthly users; default AI in Gmail/Docs/Meet.</a:t>
            </a:r>
            <a:endParaRPr lang="en-US" sz="920" dirty="0"/>
          </a:p>
        </p:txBody>
      </p:sp>
      <p:sp>
        <p:nvSpPr>
          <p:cNvPr id="20" name="Text 18"/>
          <p:cNvSpPr/>
          <p:nvPr/>
        </p:nvSpPr>
        <p:spPr>
          <a:xfrm>
            <a:off x="8366760" y="3108960"/>
            <a:ext cx="3200400" cy="457200"/>
          </a:xfrm>
          <a:prstGeom prst="rect">
            <a:avLst/>
          </a:prstGeom>
          <a:noFill/>
          <a:ln/>
        </p:spPr>
        <p:txBody>
          <a:bodyPr wrap="square" lIns="0" tIns="0" rIns="0" bIns="0" rtlCol="0" anchor="ctr"/>
          <a:lstStyle/>
          <a:p>
            <a:pPr indent="0" marL="0">
              <a:lnSpc>
                <a:spcPct val="98000"/>
              </a:lnSpc>
              <a:buNone/>
            </a:pPr>
            <a:r>
              <a:rPr lang="en-US" sz="840" i="1" dirty="0">
                <a:solidFill>
                  <a:srgbClr val="B96A1B"/>
                </a:solidFill>
                <a:latin typeface="Calibri" pitchFamily="34" charset="0"/>
                <a:ea typeface="Calibri" pitchFamily="34" charset="-122"/>
                <a:cs typeface="Calibri" pitchFamily="34" charset="-120"/>
              </a:rPr>
              <a:t>Caveat: model-name sprawl; best reasoning sits behind the Ultra tier.</a:t>
            </a:r>
            <a:endParaRPr lang="en-US" sz="840" dirty="0"/>
          </a:p>
        </p:txBody>
      </p:sp>
      <p:sp>
        <p:nvSpPr>
          <p:cNvPr id="21" name="Shape 19"/>
          <p:cNvSpPr/>
          <p:nvPr/>
        </p:nvSpPr>
        <p:spPr>
          <a:xfrm>
            <a:off x="502920" y="3767328"/>
            <a:ext cx="3611880" cy="2121408"/>
          </a:xfrm>
          <a:prstGeom prst="roundRect">
            <a:avLst>
              <a:gd name="adj" fmla="val 3448"/>
            </a:avLst>
          </a:prstGeom>
          <a:solidFill>
            <a:srgbClr val="F2F5F6"/>
          </a:solidFill>
          <a:ln/>
        </p:spPr>
      </p:sp>
      <p:sp>
        <p:nvSpPr>
          <p:cNvPr id="22" name="Text 20"/>
          <p:cNvSpPr/>
          <p:nvPr/>
        </p:nvSpPr>
        <p:spPr>
          <a:xfrm>
            <a:off x="722376" y="3877056"/>
            <a:ext cx="3108960" cy="329184"/>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Copilot</a:t>
            </a:r>
            <a:endParaRPr lang="en-US" sz="1550" dirty="0"/>
          </a:p>
        </p:txBody>
      </p:sp>
      <p:sp>
        <p:nvSpPr>
          <p:cNvPr id="23" name="Text 21"/>
          <p:cNvSpPr/>
          <p:nvPr/>
        </p:nvSpPr>
        <p:spPr>
          <a:xfrm>
            <a:off x="722376" y="4206240"/>
            <a:ext cx="3200400" cy="274320"/>
          </a:xfrm>
          <a:prstGeom prst="rect">
            <a:avLst/>
          </a:prstGeom>
          <a:noFill/>
          <a:ln/>
        </p:spPr>
        <p:txBody>
          <a:bodyPr wrap="square" lIns="0" tIns="0" rIns="0" bIns="0" rtlCol="0" anchor="ctr"/>
          <a:lstStyle/>
          <a:p>
            <a:pPr indent="0" marL="0">
              <a:buNone/>
            </a:pPr>
            <a:r>
              <a:rPr lang="en-US" sz="820" b="1" spc="40" kern="0" dirty="0">
                <a:solidFill>
                  <a:srgbClr val="7A8790"/>
                </a:solidFill>
                <a:latin typeface="Calibri" pitchFamily="34" charset="0"/>
                <a:ea typeface="Calibri" pitchFamily="34" charset="-122"/>
                <a:cs typeface="Calibri" pitchFamily="34" charset="-120"/>
              </a:rPr>
              <a:t>Microsoft · GPT-5.6 preferred + Claude selectable</a:t>
            </a:r>
            <a:endParaRPr lang="en-US" sz="820" dirty="0"/>
          </a:p>
        </p:txBody>
      </p:sp>
      <p:sp>
        <p:nvSpPr>
          <p:cNvPr id="24" name="Text 22"/>
          <p:cNvSpPr/>
          <p:nvPr/>
        </p:nvSpPr>
        <p:spPr>
          <a:xfrm>
            <a:off x="722376" y="4517136"/>
            <a:ext cx="3200400" cy="868680"/>
          </a:xfrm>
          <a:prstGeom prst="rect">
            <a:avLst/>
          </a:prstGeom>
          <a:noFill/>
          <a:ln/>
        </p:spPr>
        <p:txBody>
          <a:bodyPr wrap="square" lIns="0" tIns="0" rIns="0" bIns="0" rtlCol="0" anchor="ctr"/>
          <a:lstStyle/>
          <a:p>
            <a:pPr indent="0" marL="0">
              <a:lnSpc>
                <a:spcPct val="102000"/>
              </a:lnSpc>
              <a:buNone/>
            </a:pPr>
            <a:r>
              <a:rPr lang="en-US" sz="920" dirty="0">
                <a:solidFill>
                  <a:srgbClr val="46545F"/>
                </a:solidFill>
                <a:latin typeface="Calibri" pitchFamily="34" charset="0"/>
                <a:ea typeface="Calibri" pitchFamily="34" charset="-122"/>
                <a:cs typeface="Calibri" pitchFamily="34" charset="-120"/>
              </a:rPr>
              <a:t>Known for: ubiquity and governance — 30M+ paid seats inside the M365 compliance boundary IT already audits. Its Cowork agent runs on Claude technology.</a:t>
            </a:r>
            <a:endParaRPr lang="en-US" sz="920" dirty="0"/>
          </a:p>
        </p:txBody>
      </p:sp>
      <p:sp>
        <p:nvSpPr>
          <p:cNvPr id="25" name="Text 23"/>
          <p:cNvSpPr/>
          <p:nvPr/>
        </p:nvSpPr>
        <p:spPr>
          <a:xfrm>
            <a:off x="722376" y="5394960"/>
            <a:ext cx="3200400" cy="457200"/>
          </a:xfrm>
          <a:prstGeom prst="rect">
            <a:avLst/>
          </a:prstGeom>
          <a:noFill/>
          <a:ln/>
        </p:spPr>
        <p:txBody>
          <a:bodyPr wrap="square" lIns="0" tIns="0" rIns="0" bIns="0" rtlCol="0" anchor="ctr"/>
          <a:lstStyle/>
          <a:p>
            <a:pPr indent="0" marL="0">
              <a:lnSpc>
                <a:spcPct val="98000"/>
              </a:lnSpc>
              <a:buNone/>
            </a:pPr>
            <a:r>
              <a:rPr lang="en-US" sz="840" i="1" dirty="0">
                <a:solidFill>
                  <a:srgbClr val="B96A1B"/>
                </a:solidFill>
                <a:latin typeface="Calibri" pitchFamily="34" charset="0"/>
                <a:ea typeface="Calibri" pitchFamily="34" charset="-122"/>
                <a:cs typeface="Calibri" pitchFamily="34" charset="-120"/>
              </a:rPr>
              <a:t>Caveat: licenses others’ models; admin flags mean colleagues get different capabilities.</a:t>
            </a:r>
            <a:endParaRPr lang="en-US" sz="840" dirty="0"/>
          </a:p>
        </p:txBody>
      </p:sp>
      <p:sp>
        <p:nvSpPr>
          <p:cNvPr id="26" name="Shape 24"/>
          <p:cNvSpPr/>
          <p:nvPr/>
        </p:nvSpPr>
        <p:spPr>
          <a:xfrm>
            <a:off x="4325112" y="3767328"/>
            <a:ext cx="3611880" cy="2121408"/>
          </a:xfrm>
          <a:prstGeom prst="roundRect">
            <a:avLst>
              <a:gd name="adj" fmla="val 3448"/>
            </a:avLst>
          </a:prstGeom>
          <a:solidFill>
            <a:srgbClr val="F2F5F6"/>
          </a:solidFill>
          <a:ln/>
        </p:spPr>
      </p:sp>
      <p:sp>
        <p:nvSpPr>
          <p:cNvPr id="27" name="Text 25"/>
          <p:cNvSpPr/>
          <p:nvPr/>
        </p:nvSpPr>
        <p:spPr>
          <a:xfrm>
            <a:off x="4544568" y="3877056"/>
            <a:ext cx="3108960" cy="329184"/>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Perplexity</a:t>
            </a:r>
            <a:endParaRPr lang="en-US" sz="1550" dirty="0"/>
          </a:p>
        </p:txBody>
      </p:sp>
      <p:sp>
        <p:nvSpPr>
          <p:cNvPr id="28" name="Text 26"/>
          <p:cNvSpPr/>
          <p:nvPr/>
        </p:nvSpPr>
        <p:spPr>
          <a:xfrm>
            <a:off x="4544568" y="4206240"/>
            <a:ext cx="3200400" cy="274320"/>
          </a:xfrm>
          <a:prstGeom prst="rect">
            <a:avLst/>
          </a:prstGeom>
          <a:noFill/>
          <a:ln/>
        </p:spPr>
        <p:txBody>
          <a:bodyPr wrap="square" lIns="0" tIns="0" rIns="0" bIns="0" rtlCol="0" anchor="ctr"/>
          <a:lstStyle/>
          <a:p>
            <a:pPr indent="0" marL="0">
              <a:buNone/>
            </a:pPr>
            <a:r>
              <a:rPr lang="en-US" sz="820" b="1" spc="40" kern="0" dirty="0">
                <a:solidFill>
                  <a:srgbClr val="7A8790"/>
                </a:solidFill>
                <a:latin typeface="Calibri" pitchFamily="34" charset="0"/>
                <a:ea typeface="Calibri" pitchFamily="34" charset="-122"/>
                <a:cs typeface="Calibri" pitchFamily="34" charset="-120"/>
              </a:rPr>
              <a:t>Perplexity · own stack + Model Council (GPT+Claude+Gemini)</a:t>
            </a:r>
            <a:endParaRPr lang="en-US" sz="820" dirty="0"/>
          </a:p>
        </p:txBody>
      </p:sp>
      <p:sp>
        <p:nvSpPr>
          <p:cNvPr id="29" name="Text 27"/>
          <p:cNvSpPr/>
          <p:nvPr/>
        </p:nvSpPr>
        <p:spPr>
          <a:xfrm>
            <a:off x="4544568" y="4517136"/>
            <a:ext cx="3200400" cy="868680"/>
          </a:xfrm>
          <a:prstGeom prst="rect">
            <a:avLst/>
          </a:prstGeom>
          <a:noFill/>
          <a:ln/>
        </p:spPr>
        <p:txBody>
          <a:bodyPr wrap="square" lIns="0" tIns="0" rIns="0" bIns="0" rtlCol="0" anchor="ctr"/>
          <a:lstStyle/>
          <a:p>
            <a:pPr indent="0" marL="0">
              <a:lnSpc>
                <a:spcPct val="102000"/>
              </a:lnSpc>
              <a:buNone/>
            </a:pPr>
            <a:r>
              <a:rPr lang="en-US" sz="920" dirty="0">
                <a:solidFill>
                  <a:srgbClr val="46545F"/>
                </a:solidFill>
                <a:latin typeface="Calibri" pitchFamily="34" charset="0"/>
                <a:ea typeface="Calibri" pitchFamily="34" charset="-122"/>
                <a:cs typeface="Calibri" pitchFamily="34" charset="-120"/>
              </a:rPr>
              <a:t>Known for: research with receipts — ~94% of answers carry inline citations; lowest citation-error rate in CJR’s AI-search testing; Comet browser.</a:t>
            </a:r>
            <a:endParaRPr lang="en-US" sz="920" dirty="0"/>
          </a:p>
        </p:txBody>
      </p:sp>
      <p:sp>
        <p:nvSpPr>
          <p:cNvPr id="30" name="Text 28"/>
          <p:cNvSpPr/>
          <p:nvPr/>
        </p:nvSpPr>
        <p:spPr>
          <a:xfrm>
            <a:off x="4544568" y="5394960"/>
            <a:ext cx="3200400" cy="457200"/>
          </a:xfrm>
          <a:prstGeom prst="rect">
            <a:avLst/>
          </a:prstGeom>
          <a:noFill/>
          <a:ln/>
        </p:spPr>
        <p:txBody>
          <a:bodyPr wrap="square" lIns="0" tIns="0" rIns="0" bIns="0" rtlCol="0" anchor="ctr"/>
          <a:lstStyle/>
          <a:p>
            <a:pPr indent="0" marL="0">
              <a:lnSpc>
                <a:spcPct val="98000"/>
              </a:lnSpc>
              <a:buNone/>
            </a:pPr>
            <a:r>
              <a:rPr lang="en-US" sz="840" i="1" dirty="0">
                <a:solidFill>
                  <a:srgbClr val="B96A1B"/>
                </a:solidFill>
                <a:latin typeface="Calibri" pitchFamily="34" charset="0"/>
                <a:ea typeface="Calibri" pitchFamily="34" charset="-122"/>
                <a:cs typeface="Calibri" pitchFamily="34" charset="-120"/>
              </a:rPr>
              <a:t>Caveat: a citation isn’t proof — click through before quoting anywhere formal.</a:t>
            </a:r>
            <a:endParaRPr lang="en-US" sz="840" dirty="0"/>
          </a:p>
        </p:txBody>
      </p:sp>
      <p:sp>
        <p:nvSpPr>
          <p:cNvPr id="31" name="Shape 29"/>
          <p:cNvSpPr/>
          <p:nvPr/>
        </p:nvSpPr>
        <p:spPr>
          <a:xfrm>
            <a:off x="8147304" y="3767328"/>
            <a:ext cx="3611880" cy="2121408"/>
          </a:xfrm>
          <a:prstGeom prst="roundRect">
            <a:avLst>
              <a:gd name="adj" fmla="val 3448"/>
            </a:avLst>
          </a:prstGeom>
          <a:solidFill>
            <a:srgbClr val="F2F5F6"/>
          </a:solidFill>
          <a:ln/>
        </p:spPr>
      </p:sp>
      <p:sp>
        <p:nvSpPr>
          <p:cNvPr id="32" name="Text 30"/>
          <p:cNvSpPr/>
          <p:nvPr/>
        </p:nvSpPr>
        <p:spPr>
          <a:xfrm>
            <a:off x="8366760" y="3877056"/>
            <a:ext cx="3108960" cy="329184"/>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Grok</a:t>
            </a:r>
            <a:endParaRPr lang="en-US" sz="1550" dirty="0"/>
          </a:p>
        </p:txBody>
      </p:sp>
      <p:sp>
        <p:nvSpPr>
          <p:cNvPr id="33" name="Text 31"/>
          <p:cNvSpPr/>
          <p:nvPr/>
        </p:nvSpPr>
        <p:spPr>
          <a:xfrm>
            <a:off x="8366760" y="4206240"/>
            <a:ext cx="3200400" cy="274320"/>
          </a:xfrm>
          <a:prstGeom prst="rect">
            <a:avLst/>
          </a:prstGeom>
          <a:noFill/>
          <a:ln/>
        </p:spPr>
        <p:txBody>
          <a:bodyPr wrap="square" lIns="0" tIns="0" rIns="0" bIns="0" rtlCol="0" anchor="ctr"/>
          <a:lstStyle/>
          <a:p>
            <a:pPr indent="0" marL="0">
              <a:buNone/>
            </a:pPr>
            <a:r>
              <a:rPr lang="en-US" sz="820" b="1" spc="40" kern="0" dirty="0">
                <a:solidFill>
                  <a:srgbClr val="7A8790"/>
                </a:solidFill>
                <a:latin typeface="Calibri" pitchFamily="34" charset="0"/>
                <a:ea typeface="Calibri" pitchFamily="34" charset="-122"/>
                <a:cs typeface="Calibri" pitchFamily="34" charset="-120"/>
              </a:rPr>
              <a:t>xAI (SpaceX) · Grok 4.6</a:t>
            </a:r>
            <a:endParaRPr lang="en-US" sz="820" dirty="0"/>
          </a:p>
        </p:txBody>
      </p:sp>
      <p:sp>
        <p:nvSpPr>
          <p:cNvPr id="34" name="Text 32"/>
          <p:cNvSpPr/>
          <p:nvPr/>
        </p:nvSpPr>
        <p:spPr>
          <a:xfrm>
            <a:off x="8366760" y="4517136"/>
            <a:ext cx="3200400" cy="868680"/>
          </a:xfrm>
          <a:prstGeom prst="rect">
            <a:avLst/>
          </a:prstGeom>
          <a:noFill/>
          <a:ln/>
        </p:spPr>
        <p:txBody>
          <a:bodyPr wrap="square" lIns="0" tIns="0" rIns="0" bIns="0" rtlCol="0" anchor="ctr"/>
          <a:lstStyle/>
          <a:p>
            <a:pPr indent="0" marL="0">
              <a:lnSpc>
                <a:spcPct val="102000"/>
              </a:lnSpc>
              <a:buNone/>
            </a:pPr>
            <a:r>
              <a:rPr lang="en-US" sz="920" dirty="0">
                <a:solidFill>
                  <a:srgbClr val="46545F"/>
                </a:solidFill>
                <a:latin typeface="Calibri" pitchFamily="34" charset="0"/>
                <a:ea typeface="Calibri" pitchFamily="34" charset="-122"/>
                <a:cs typeface="Calibri" pitchFamily="34" charset="-120"/>
              </a:rPr>
              <a:t>Known for: blunt on purpose — “Unhinged” is a literal voice mode; real-time X data; aggressive price-performance.</a:t>
            </a:r>
            <a:endParaRPr lang="en-US" sz="920" dirty="0"/>
          </a:p>
        </p:txBody>
      </p:sp>
      <p:sp>
        <p:nvSpPr>
          <p:cNvPr id="35" name="Text 33"/>
          <p:cNvSpPr/>
          <p:nvPr/>
        </p:nvSpPr>
        <p:spPr>
          <a:xfrm>
            <a:off x="8366760" y="5394960"/>
            <a:ext cx="3200400" cy="457200"/>
          </a:xfrm>
          <a:prstGeom prst="rect">
            <a:avLst/>
          </a:prstGeom>
          <a:noFill/>
          <a:ln/>
        </p:spPr>
        <p:txBody>
          <a:bodyPr wrap="square" lIns="0" tIns="0" rIns="0" bIns="0" rtlCol="0" anchor="ctr"/>
          <a:lstStyle/>
          <a:p>
            <a:pPr indent="0" marL="0">
              <a:lnSpc>
                <a:spcPct val="98000"/>
              </a:lnSpc>
              <a:buNone/>
            </a:pPr>
            <a:r>
              <a:rPr lang="en-US" sz="840" i="1" dirty="0">
                <a:solidFill>
                  <a:srgbClr val="B96A1B"/>
                </a:solidFill>
                <a:latin typeface="Calibri" pitchFamily="34" charset="0"/>
                <a:ea typeface="Calibri" pitchFamily="34" charset="-122"/>
                <a:cs typeface="Calibri" pitchFamily="34" charset="-120"/>
              </a:rPr>
              <a:t>Caveat: fewer guardrails has meant real incidents (Jul 2025 public apology) — care for brand-sensitive work.</a:t>
            </a:r>
            <a:endParaRPr lang="en-US" sz="840" dirty="0"/>
          </a:p>
        </p:txBody>
      </p:sp>
      <p:sp>
        <p:nvSpPr>
          <p:cNvPr id="36" name="Text 34"/>
          <p:cNvSpPr/>
          <p:nvPr/>
        </p:nvSpPr>
        <p:spPr>
          <a:xfrm>
            <a:off x="502920" y="6108192"/>
            <a:ext cx="11155680" cy="36576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Which of these can see company data? Two slides ahead — trust is about the account tier, not the logo. Names and fortes verified Sep 9, 2026 — they will have moved; the habits in Parts 3–5 don’t move at all.</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81328"/>
            <a:ext cx="4937760" cy="1627632"/>
          </a:xfrm>
          <a:prstGeom prst="roundRect">
            <a:avLst>
              <a:gd name="adj" fmla="val 4494"/>
            </a:avLst>
          </a:prstGeom>
          <a:solidFill>
            <a:srgbClr val="F2F5F6"/>
          </a:solidFill>
          <a:ln/>
        </p:spPr>
      </p:sp>
      <p:sp>
        <p:nvSpPr>
          <p:cNvPr id="7" name="Text 5"/>
          <p:cNvSpPr/>
          <p:nvPr/>
        </p:nvSpPr>
        <p:spPr>
          <a:xfrm>
            <a:off x="749808" y="1627632"/>
            <a:ext cx="44805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8" name="Text 6"/>
          <p:cNvSpPr/>
          <p:nvPr/>
        </p:nvSpPr>
        <p:spPr>
          <a:xfrm>
            <a:off x="795528" y="1975104"/>
            <a:ext cx="4434840" cy="109728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960" dirty="0">
                <a:solidFill>
                  <a:srgbClr val="46545F"/>
                </a:solidFill>
                <a:latin typeface="Calibri" pitchFamily="34" charset="0"/>
                <a:ea typeface="Calibri" pitchFamily="34" charset="-122"/>
                <a:cs typeface="Calibri" pitchFamily="34" charset="-120"/>
              </a:rPr>
              <a:t>DeepSeek-R1: open-weights reasoning rivaling OpenAI’s o1 — MIT-licensed, free to download</a:t>
            </a:r>
            <a:endParaRPr lang="en-US" sz="960" dirty="0"/>
          </a:p>
          <a:p>
            <a:pPr algn="l" marL="127000" indent="-127000">
              <a:lnSpc>
                <a:spcPct val="104000"/>
              </a:lnSpc>
              <a:spcAft>
                <a:spcPts val="400"/>
              </a:spcAft>
              <a:buSzPct val="100000"/>
              <a:buChar char="•"/>
            </a:pPr>
            <a:r>
              <a:rPr lang="en-US" sz="960" dirty="0">
                <a:solidFill>
                  <a:srgbClr val="46545F"/>
                </a:solidFill>
                <a:latin typeface="Calibri" pitchFamily="34" charset="0"/>
                <a:ea typeface="Calibri" pitchFamily="34" charset="-122"/>
                <a:cs typeface="Calibri" pitchFamily="34" charset="-120"/>
              </a:rPr>
              <a:t>Nvidia lost $589B in one day (Jan 27) — the largest single-day loss in market history at the time</a:t>
            </a:r>
            <a:endParaRPr lang="en-US" sz="960" dirty="0"/>
          </a:p>
          <a:p>
            <a:pPr algn="l" marL="127000" indent="-127000">
              <a:lnSpc>
                <a:spcPct val="104000"/>
              </a:lnSpc>
              <a:spcAft>
                <a:spcPts val="400"/>
              </a:spcAft>
              <a:buSzPct val="100000"/>
              <a:buChar char="•"/>
            </a:pPr>
            <a:r>
              <a:rPr lang="en-US" sz="960" b="1" dirty="0">
                <a:solidFill>
                  <a:srgbClr val="46545F"/>
                </a:solidFill>
                <a:latin typeface="Calibri" pitchFamily="34" charset="0"/>
                <a:ea typeface="Calibri" pitchFamily="34" charset="-122"/>
                <a:cs typeface="Calibri" pitchFamily="34" charset="-120"/>
              </a:rPr>
              <a:t>The “$5.6M training cost”? The fuel for the final winning race — not the racing team. Real efficiency, oversold headline.</a:t>
            </a:r>
            <a:endParaRPr lang="en-US" sz="960" dirty="0"/>
          </a:p>
        </p:txBody>
      </p:sp>
      <p:sp>
        <p:nvSpPr>
          <p:cNvPr id="9" name="Shape 7"/>
          <p:cNvSpPr/>
          <p:nvPr/>
        </p:nvSpPr>
        <p:spPr>
          <a:xfrm>
            <a:off x="502920" y="3218688"/>
            <a:ext cx="4937760" cy="1783080"/>
          </a:xfrm>
          <a:prstGeom prst="roundRect">
            <a:avLst>
              <a:gd name="adj" fmla="val 4103"/>
            </a:avLst>
          </a:prstGeom>
          <a:solidFill>
            <a:srgbClr val="E4F0EF"/>
          </a:solidFill>
          <a:ln/>
        </p:spPr>
      </p:sp>
      <p:sp>
        <p:nvSpPr>
          <p:cNvPr id="10" name="Text 8"/>
          <p:cNvSpPr/>
          <p:nvPr/>
        </p:nvSpPr>
        <p:spPr>
          <a:xfrm>
            <a:off x="749808" y="3364992"/>
            <a:ext cx="44805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sp>
        <p:nvSpPr>
          <p:cNvPr id="11" name="Text 9"/>
          <p:cNvSpPr/>
          <p:nvPr/>
        </p:nvSpPr>
        <p:spPr>
          <a:xfrm>
            <a:off x="777240" y="3694176"/>
            <a:ext cx="4434840" cy="1234440"/>
          </a:xfrm>
          <a:prstGeom prst="rect">
            <a:avLst/>
          </a:prstGeom>
          <a:noFill/>
          <a:ln/>
        </p:spPr>
        <p:txBody>
          <a:bodyPr wrap="square" lIns="0" tIns="0" rIns="0" bIns="0" rtlCol="0" anchor="ctr"/>
          <a:lstStyle/>
          <a:p>
            <a:pPr indent="0" marL="0">
              <a:lnSpc>
                <a:spcPct val="108000"/>
              </a:lnSpc>
              <a:buNone/>
            </a:pPr>
            <a:r>
              <a:rPr lang="en-US" sz="1020" dirty="0">
                <a:solidFill>
                  <a:srgbClr val="46545F"/>
                </a:solidFill>
                <a:latin typeface="Calibri" pitchFamily="34" charset="0"/>
                <a:ea typeface="Calibri" pitchFamily="34" charset="-122"/>
                <a:cs typeface="Calibri" pitchFamily="34" charset="-120"/>
              </a:rPr>
              <a:t>The model is built like a huge specialist hospital: 671 billion parameters on the books, but only ~37 billion — the relevant departments — wake up for any one question. You pay for the specialists consulted, not the whole building. Add distillation (big models teaching small ones) and frontier ability stops being luxury-priced.</a:t>
            </a:r>
            <a:endParaRPr lang="en-US" sz="1020" dirty="0"/>
          </a:p>
        </p:txBody>
      </p:sp>
      <p:sp>
        <p:nvSpPr>
          <p:cNvPr id="12" name="Shape 10"/>
          <p:cNvSpPr/>
          <p:nvPr/>
        </p:nvSpPr>
        <p:spPr>
          <a:xfrm>
            <a:off x="5623560" y="1481328"/>
            <a:ext cx="6035040" cy="3520440"/>
          </a:xfrm>
          <a:prstGeom prst="roundRect">
            <a:avLst>
              <a:gd name="adj" fmla="val 2078"/>
            </a:avLst>
          </a:prstGeom>
          <a:solidFill>
            <a:srgbClr val="F2F5F6"/>
          </a:solidFill>
          <a:ln/>
        </p:spPr>
      </p:sp>
      <p:sp>
        <p:nvSpPr>
          <p:cNvPr id="13" name="Text 11"/>
          <p:cNvSpPr/>
          <p:nvPr/>
        </p:nvSpPr>
        <p:spPr>
          <a:xfrm>
            <a:off x="5870448" y="1627632"/>
            <a:ext cx="557784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R1 vs o1 — matched on most, ~27× cheaper</a:t>
            </a:r>
            <a:endParaRPr lang="en-US" sz="1300" dirty="0"/>
          </a:p>
        </p:txBody>
      </p:sp>
      <p:sp>
        <p:nvSpPr>
          <p:cNvPr id="14" name="Text 12"/>
          <p:cNvSpPr/>
          <p:nvPr/>
        </p:nvSpPr>
        <p:spPr>
          <a:xfrm>
            <a:off x="5870448" y="2029968"/>
            <a:ext cx="2286000" cy="457200"/>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Math olympiad (AIME 2024)</a:t>
            </a:r>
            <a:endParaRPr lang="en-US" sz="900" dirty="0"/>
          </a:p>
        </p:txBody>
      </p:sp>
      <p:sp>
        <p:nvSpPr>
          <p:cNvPr id="15" name="Shape 13"/>
          <p:cNvSpPr/>
          <p:nvPr/>
        </p:nvSpPr>
        <p:spPr>
          <a:xfrm>
            <a:off x="8229600" y="2057400"/>
            <a:ext cx="1860713" cy="164592"/>
          </a:xfrm>
          <a:prstGeom prst="roundRect">
            <a:avLst>
              <a:gd name="adj" fmla="val 16667"/>
            </a:avLst>
          </a:prstGeom>
          <a:solidFill>
            <a:srgbClr val="0E7C7B"/>
          </a:solidFill>
          <a:ln/>
        </p:spPr>
      </p:sp>
      <p:sp>
        <p:nvSpPr>
          <p:cNvPr id="16" name="Text 14"/>
          <p:cNvSpPr/>
          <p:nvPr/>
        </p:nvSpPr>
        <p:spPr>
          <a:xfrm>
            <a:off x="10108601" y="2020824"/>
            <a:ext cx="502920" cy="219456"/>
          </a:xfrm>
          <a:prstGeom prst="rect">
            <a:avLst/>
          </a:prstGeom>
          <a:noFill/>
          <a:ln/>
        </p:spPr>
        <p:txBody>
          <a:bodyPr wrap="square" lIns="0" tIns="0" rIns="0" bIns="0" rtlCol="0" anchor="ctr"/>
          <a:lstStyle/>
          <a:p>
            <a:pPr indent="0" marL="0">
              <a:buNone/>
            </a:pPr>
            <a:r>
              <a:rPr lang="en-US" sz="800" b="1" dirty="0">
                <a:solidFill>
                  <a:srgbClr val="0A5B5A"/>
                </a:solidFill>
                <a:latin typeface="Calibri" pitchFamily="34" charset="0"/>
                <a:ea typeface="Calibri" pitchFamily="34" charset="-122"/>
                <a:cs typeface="Calibri" pitchFamily="34" charset="-120"/>
              </a:rPr>
              <a:t>79.8</a:t>
            </a:r>
            <a:endParaRPr lang="en-US" sz="800" dirty="0"/>
          </a:p>
        </p:txBody>
      </p:sp>
      <p:sp>
        <p:nvSpPr>
          <p:cNvPr id="17" name="Shape 15"/>
          <p:cNvSpPr/>
          <p:nvPr/>
        </p:nvSpPr>
        <p:spPr>
          <a:xfrm>
            <a:off x="8229600" y="2258568"/>
            <a:ext cx="1846722" cy="164592"/>
          </a:xfrm>
          <a:prstGeom prst="roundRect">
            <a:avLst>
              <a:gd name="adj" fmla="val 16667"/>
            </a:avLst>
          </a:prstGeom>
          <a:solidFill>
            <a:srgbClr val="46545F"/>
          </a:solidFill>
          <a:ln/>
        </p:spPr>
      </p:sp>
      <p:sp>
        <p:nvSpPr>
          <p:cNvPr id="18" name="Text 16"/>
          <p:cNvSpPr/>
          <p:nvPr/>
        </p:nvSpPr>
        <p:spPr>
          <a:xfrm>
            <a:off x="10094610" y="2221992"/>
            <a:ext cx="502920" cy="219456"/>
          </a:xfrm>
          <a:prstGeom prst="rect">
            <a:avLst/>
          </a:prstGeom>
          <a:noFill/>
          <a:ln/>
        </p:spPr>
        <p:txBody>
          <a:bodyPr wrap="square" lIns="0" tIns="0" rIns="0" bIns="0" rtlCol="0" anchor="ctr"/>
          <a:lstStyle/>
          <a:p>
            <a:pPr indent="0" marL="0">
              <a:buNone/>
            </a:pPr>
            <a:r>
              <a:rPr lang="en-US" sz="800" dirty="0">
                <a:solidFill>
                  <a:srgbClr val="46545F"/>
                </a:solidFill>
                <a:latin typeface="Calibri" pitchFamily="34" charset="0"/>
                <a:ea typeface="Calibri" pitchFamily="34" charset="-122"/>
                <a:cs typeface="Calibri" pitchFamily="34" charset="-120"/>
              </a:rPr>
              <a:t>79.2</a:t>
            </a:r>
            <a:endParaRPr lang="en-US" sz="800" dirty="0"/>
          </a:p>
        </p:txBody>
      </p:sp>
      <p:sp>
        <p:nvSpPr>
          <p:cNvPr id="19" name="Text 17"/>
          <p:cNvSpPr/>
          <p:nvPr/>
        </p:nvSpPr>
        <p:spPr>
          <a:xfrm>
            <a:off x="5870448" y="2542032"/>
            <a:ext cx="2286000" cy="457200"/>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MATH-500</a:t>
            </a:r>
            <a:endParaRPr lang="en-US" sz="900" dirty="0"/>
          </a:p>
        </p:txBody>
      </p:sp>
      <p:sp>
        <p:nvSpPr>
          <p:cNvPr id="20" name="Shape 18"/>
          <p:cNvSpPr/>
          <p:nvPr/>
        </p:nvSpPr>
        <p:spPr>
          <a:xfrm>
            <a:off x="8229600" y="2569464"/>
            <a:ext cx="2268764" cy="164592"/>
          </a:xfrm>
          <a:prstGeom prst="roundRect">
            <a:avLst>
              <a:gd name="adj" fmla="val 16667"/>
            </a:avLst>
          </a:prstGeom>
          <a:solidFill>
            <a:srgbClr val="0E7C7B"/>
          </a:solidFill>
          <a:ln/>
        </p:spPr>
      </p:sp>
      <p:sp>
        <p:nvSpPr>
          <p:cNvPr id="21" name="Text 19"/>
          <p:cNvSpPr/>
          <p:nvPr/>
        </p:nvSpPr>
        <p:spPr>
          <a:xfrm>
            <a:off x="10516652" y="2532888"/>
            <a:ext cx="502920" cy="219456"/>
          </a:xfrm>
          <a:prstGeom prst="rect">
            <a:avLst/>
          </a:prstGeom>
          <a:noFill/>
          <a:ln/>
        </p:spPr>
        <p:txBody>
          <a:bodyPr wrap="square" lIns="0" tIns="0" rIns="0" bIns="0" rtlCol="0" anchor="ctr"/>
          <a:lstStyle/>
          <a:p>
            <a:pPr indent="0" marL="0">
              <a:buNone/>
            </a:pPr>
            <a:r>
              <a:rPr lang="en-US" sz="800" b="1" dirty="0">
                <a:solidFill>
                  <a:srgbClr val="0A5B5A"/>
                </a:solidFill>
                <a:latin typeface="Calibri" pitchFamily="34" charset="0"/>
                <a:ea typeface="Calibri" pitchFamily="34" charset="-122"/>
                <a:cs typeface="Calibri" pitchFamily="34" charset="-120"/>
              </a:rPr>
              <a:t>97.3</a:t>
            </a:r>
            <a:endParaRPr lang="en-US" sz="800" dirty="0"/>
          </a:p>
        </p:txBody>
      </p:sp>
      <p:sp>
        <p:nvSpPr>
          <p:cNvPr id="22" name="Shape 20"/>
          <p:cNvSpPr/>
          <p:nvPr/>
        </p:nvSpPr>
        <p:spPr>
          <a:xfrm>
            <a:off x="8229600" y="2770632"/>
            <a:ext cx="2247778" cy="164592"/>
          </a:xfrm>
          <a:prstGeom prst="roundRect">
            <a:avLst>
              <a:gd name="adj" fmla="val 16667"/>
            </a:avLst>
          </a:prstGeom>
          <a:solidFill>
            <a:srgbClr val="46545F"/>
          </a:solidFill>
          <a:ln/>
        </p:spPr>
      </p:sp>
      <p:sp>
        <p:nvSpPr>
          <p:cNvPr id="23" name="Text 21"/>
          <p:cNvSpPr/>
          <p:nvPr/>
        </p:nvSpPr>
        <p:spPr>
          <a:xfrm>
            <a:off x="10495666" y="2734056"/>
            <a:ext cx="502920" cy="219456"/>
          </a:xfrm>
          <a:prstGeom prst="rect">
            <a:avLst/>
          </a:prstGeom>
          <a:noFill/>
          <a:ln/>
        </p:spPr>
        <p:txBody>
          <a:bodyPr wrap="square" lIns="0" tIns="0" rIns="0" bIns="0" rtlCol="0" anchor="ctr"/>
          <a:lstStyle/>
          <a:p>
            <a:pPr indent="0" marL="0">
              <a:buNone/>
            </a:pPr>
            <a:r>
              <a:rPr lang="en-US" sz="800" dirty="0">
                <a:solidFill>
                  <a:srgbClr val="46545F"/>
                </a:solidFill>
                <a:latin typeface="Calibri" pitchFamily="34" charset="0"/>
                <a:ea typeface="Calibri" pitchFamily="34" charset="-122"/>
                <a:cs typeface="Calibri" pitchFamily="34" charset="-120"/>
              </a:rPr>
              <a:t>96.4</a:t>
            </a:r>
            <a:endParaRPr lang="en-US" sz="800" dirty="0"/>
          </a:p>
        </p:txBody>
      </p:sp>
      <p:sp>
        <p:nvSpPr>
          <p:cNvPr id="24" name="Text 22"/>
          <p:cNvSpPr/>
          <p:nvPr/>
        </p:nvSpPr>
        <p:spPr>
          <a:xfrm>
            <a:off x="5870448" y="3054096"/>
            <a:ext cx="2286000" cy="457200"/>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Coding agent (SWE-bench)</a:t>
            </a:r>
            <a:endParaRPr lang="en-US" sz="900" dirty="0"/>
          </a:p>
        </p:txBody>
      </p:sp>
      <p:sp>
        <p:nvSpPr>
          <p:cNvPr id="25" name="Shape 23"/>
          <p:cNvSpPr/>
          <p:nvPr/>
        </p:nvSpPr>
        <p:spPr>
          <a:xfrm>
            <a:off x="8229600" y="3081528"/>
            <a:ext cx="1147206" cy="164592"/>
          </a:xfrm>
          <a:prstGeom prst="roundRect">
            <a:avLst>
              <a:gd name="adj" fmla="val 16667"/>
            </a:avLst>
          </a:prstGeom>
          <a:solidFill>
            <a:srgbClr val="0E7C7B"/>
          </a:solidFill>
          <a:ln/>
        </p:spPr>
      </p:sp>
      <p:sp>
        <p:nvSpPr>
          <p:cNvPr id="26" name="Text 24"/>
          <p:cNvSpPr/>
          <p:nvPr/>
        </p:nvSpPr>
        <p:spPr>
          <a:xfrm>
            <a:off x="9395094" y="3044952"/>
            <a:ext cx="502920" cy="219456"/>
          </a:xfrm>
          <a:prstGeom prst="rect">
            <a:avLst/>
          </a:prstGeom>
          <a:noFill/>
          <a:ln/>
        </p:spPr>
        <p:txBody>
          <a:bodyPr wrap="square" lIns="0" tIns="0" rIns="0" bIns="0" rtlCol="0" anchor="ctr"/>
          <a:lstStyle/>
          <a:p>
            <a:pPr indent="0" marL="0">
              <a:buNone/>
            </a:pPr>
            <a:r>
              <a:rPr lang="en-US" sz="800" b="1" dirty="0">
                <a:solidFill>
                  <a:srgbClr val="0A5B5A"/>
                </a:solidFill>
                <a:latin typeface="Calibri" pitchFamily="34" charset="0"/>
                <a:ea typeface="Calibri" pitchFamily="34" charset="-122"/>
                <a:cs typeface="Calibri" pitchFamily="34" charset="-120"/>
              </a:rPr>
              <a:t>49.2</a:t>
            </a:r>
            <a:endParaRPr lang="en-US" sz="800" dirty="0"/>
          </a:p>
        </p:txBody>
      </p:sp>
      <p:sp>
        <p:nvSpPr>
          <p:cNvPr id="27" name="Shape 25"/>
          <p:cNvSpPr/>
          <p:nvPr/>
        </p:nvSpPr>
        <p:spPr>
          <a:xfrm>
            <a:off x="8229600" y="3282696"/>
            <a:ext cx="1140211" cy="164592"/>
          </a:xfrm>
          <a:prstGeom prst="roundRect">
            <a:avLst>
              <a:gd name="adj" fmla="val 16667"/>
            </a:avLst>
          </a:prstGeom>
          <a:solidFill>
            <a:srgbClr val="46545F"/>
          </a:solidFill>
          <a:ln/>
        </p:spPr>
      </p:sp>
      <p:sp>
        <p:nvSpPr>
          <p:cNvPr id="28" name="Text 26"/>
          <p:cNvSpPr/>
          <p:nvPr/>
        </p:nvSpPr>
        <p:spPr>
          <a:xfrm>
            <a:off x="9388099" y="3246120"/>
            <a:ext cx="502920" cy="219456"/>
          </a:xfrm>
          <a:prstGeom prst="rect">
            <a:avLst/>
          </a:prstGeom>
          <a:noFill/>
          <a:ln/>
        </p:spPr>
        <p:txBody>
          <a:bodyPr wrap="square" lIns="0" tIns="0" rIns="0" bIns="0" rtlCol="0" anchor="ctr"/>
          <a:lstStyle/>
          <a:p>
            <a:pPr indent="0" marL="0">
              <a:buNone/>
            </a:pPr>
            <a:r>
              <a:rPr lang="en-US" sz="800" dirty="0">
                <a:solidFill>
                  <a:srgbClr val="46545F"/>
                </a:solidFill>
                <a:latin typeface="Calibri" pitchFamily="34" charset="0"/>
                <a:ea typeface="Calibri" pitchFamily="34" charset="-122"/>
                <a:cs typeface="Calibri" pitchFamily="34" charset="-120"/>
              </a:rPr>
              <a:t>48.9</a:t>
            </a:r>
            <a:endParaRPr lang="en-US" sz="800" dirty="0"/>
          </a:p>
        </p:txBody>
      </p:sp>
      <p:sp>
        <p:nvSpPr>
          <p:cNvPr id="29" name="Text 27"/>
          <p:cNvSpPr/>
          <p:nvPr/>
        </p:nvSpPr>
        <p:spPr>
          <a:xfrm>
            <a:off x="5870448" y="3566160"/>
            <a:ext cx="2286000" cy="457200"/>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Science PhD (GPQA)</a:t>
            </a:r>
            <a:endParaRPr lang="en-US" sz="900" dirty="0"/>
          </a:p>
        </p:txBody>
      </p:sp>
      <p:sp>
        <p:nvSpPr>
          <p:cNvPr id="30" name="Shape 28"/>
          <p:cNvSpPr/>
          <p:nvPr/>
        </p:nvSpPr>
        <p:spPr>
          <a:xfrm>
            <a:off x="8229600" y="3593592"/>
            <a:ext cx="1667180" cy="164592"/>
          </a:xfrm>
          <a:prstGeom prst="roundRect">
            <a:avLst>
              <a:gd name="adj" fmla="val 16667"/>
            </a:avLst>
          </a:prstGeom>
          <a:solidFill>
            <a:srgbClr val="0E7C7B"/>
          </a:solidFill>
          <a:ln/>
        </p:spPr>
      </p:sp>
      <p:sp>
        <p:nvSpPr>
          <p:cNvPr id="31" name="Text 29"/>
          <p:cNvSpPr/>
          <p:nvPr/>
        </p:nvSpPr>
        <p:spPr>
          <a:xfrm>
            <a:off x="9915068" y="3557016"/>
            <a:ext cx="502920" cy="219456"/>
          </a:xfrm>
          <a:prstGeom prst="rect">
            <a:avLst/>
          </a:prstGeom>
          <a:noFill/>
          <a:ln/>
        </p:spPr>
        <p:txBody>
          <a:bodyPr wrap="square" lIns="0" tIns="0" rIns="0" bIns="0" rtlCol="0" anchor="ctr"/>
          <a:lstStyle/>
          <a:p>
            <a:pPr indent="0" marL="0">
              <a:buNone/>
            </a:pPr>
            <a:r>
              <a:rPr lang="en-US" sz="800" b="1" dirty="0">
                <a:solidFill>
                  <a:srgbClr val="0A5B5A"/>
                </a:solidFill>
                <a:latin typeface="Calibri" pitchFamily="34" charset="0"/>
                <a:ea typeface="Calibri" pitchFamily="34" charset="-122"/>
                <a:cs typeface="Calibri" pitchFamily="34" charset="-120"/>
              </a:rPr>
              <a:t>71.5</a:t>
            </a:r>
            <a:endParaRPr lang="en-US" sz="800" dirty="0"/>
          </a:p>
        </p:txBody>
      </p:sp>
      <p:sp>
        <p:nvSpPr>
          <p:cNvPr id="32" name="Shape 30"/>
          <p:cNvSpPr/>
          <p:nvPr/>
        </p:nvSpPr>
        <p:spPr>
          <a:xfrm>
            <a:off x="8229600" y="3794760"/>
            <a:ext cx="1765112" cy="164592"/>
          </a:xfrm>
          <a:prstGeom prst="roundRect">
            <a:avLst>
              <a:gd name="adj" fmla="val 16667"/>
            </a:avLst>
          </a:prstGeom>
          <a:solidFill>
            <a:srgbClr val="46545F"/>
          </a:solidFill>
          <a:ln/>
        </p:spPr>
      </p:sp>
      <p:sp>
        <p:nvSpPr>
          <p:cNvPr id="33" name="Text 31"/>
          <p:cNvSpPr/>
          <p:nvPr/>
        </p:nvSpPr>
        <p:spPr>
          <a:xfrm>
            <a:off x="10013000" y="3758184"/>
            <a:ext cx="502920" cy="219456"/>
          </a:xfrm>
          <a:prstGeom prst="rect">
            <a:avLst/>
          </a:prstGeom>
          <a:noFill/>
          <a:ln/>
        </p:spPr>
        <p:txBody>
          <a:bodyPr wrap="square" lIns="0" tIns="0" rIns="0" bIns="0" rtlCol="0" anchor="ctr"/>
          <a:lstStyle/>
          <a:p>
            <a:pPr indent="0" marL="0">
              <a:buNone/>
            </a:pPr>
            <a:r>
              <a:rPr lang="en-US" sz="800" dirty="0">
                <a:solidFill>
                  <a:srgbClr val="46545F"/>
                </a:solidFill>
                <a:latin typeface="Calibri" pitchFamily="34" charset="0"/>
                <a:ea typeface="Calibri" pitchFamily="34" charset="-122"/>
                <a:cs typeface="Calibri" pitchFamily="34" charset="-120"/>
              </a:rPr>
              <a:t>75.7</a:t>
            </a:r>
            <a:endParaRPr lang="en-US" sz="800" dirty="0"/>
          </a:p>
        </p:txBody>
      </p:sp>
      <p:sp>
        <p:nvSpPr>
          <p:cNvPr id="34" name="Text 32"/>
          <p:cNvSpPr/>
          <p:nvPr/>
        </p:nvSpPr>
        <p:spPr>
          <a:xfrm>
            <a:off x="5870448" y="4078224"/>
            <a:ext cx="2286000" cy="457200"/>
          </a:xfrm>
          <a:prstGeom prst="rect">
            <a:avLst/>
          </a:prstGeom>
          <a:noFill/>
          <a:ln/>
        </p:spPr>
        <p:txBody>
          <a:bodyPr wrap="square" lIns="0" tIns="0" rIns="0" bIns="0" rtlCol="0" anchor="ctr"/>
          <a:lstStyle/>
          <a:p>
            <a:pPr indent="0" marL="0">
              <a:lnSpc>
                <a:spcPct val="95000"/>
              </a:lnSpc>
              <a:buNone/>
            </a:pPr>
            <a:r>
              <a:rPr lang="en-US" sz="900" dirty="0">
                <a:solidFill>
                  <a:srgbClr val="46545F"/>
                </a:solidFill>
                <a:latin typeface="Calibri" pitchFamily="34" charset="0"/>
                <a:ea typeface="Calibri" pitchFamily="34" charset="-122"/>
                <a:cs typeface="Calibri" pitchFamily="34" charset="-120"/>
              </a:rPr>
              <a:t>Codeforces (percentile)</a:t>
            </a:r>
            <a:endParaRPr lang="en-US" sz="900" dirty="0"/>
          </a:p>
        </p:txBody>
      </p:sp>
      <p:sp>
        <p:nvSpPr>
          <p:cNvPr id="35" name="Shape 33"/>
          <p:cNvSpPr/>
          <p:nvPr/>
        </p:nvSpPr>
        <p:spPr>
          <a:xfrm>
            <a:off x="8229600" y="4105656"/>
            <a:ext cx="2245446" cy="164592"/>
          </a:xfrm>
          <a:prstGeom prst="roundRect">
            <a:avLst>
              <a:gd name="adj" fmla="val 16667"/>
            </a:avLst>
          </a:prstGeom>
          <a:solidFill>
            <a:srgbClr val="0E7C7B"/>
          </a:solidFill>
          <a:ln/>
        </p:spPr>
      </p:sp>
      <p:sp>
        <p:nvSpPr>
          <p:cNvPr id="36" name="Text 34"/>
          <p:cNvSpPr/>
          <p:nvPr/>
        </p:nvSpPr>
        <p:spPr>
          <a:xfrm>
            <a:off x="10493334" y="4069080"/>
            <a:ext cx="502920" cy="219456"/>
          </a:xfrm>
          <a:prstGeom prst="rect">
            <a:avLst/>
          </a:prstGeom>
          <a:noFill/>
          <a:ln/>
        </p:spPr>
        <p:txBody>
          <a:bodyPr wrap="square" lIns="0" tIns="0" rIns="0" bIns="0" rtlCol="0" anchor="ctr"/>
          <a:lstStyle/>
          <a:p>
            <a:pPr indent="0" marL="0">
              <a:buNone/>
            </a:pPr>
            <a:r>
              <a:rPr lang="en-US" sz="800" b="1" dirty="0">
                <a:solidFill>
                  <a:srgbClr val="0A5B5A"/>
                </a:solidFill>
                <a:latin typeface="Calibri" pitchFamily="34" charset="0"/>
                <a:ea typeface="Calibri" pitchFamily="34" charset="-122"/>
                <a:cs typeface="Calibri" pitchFamily="34" charset="-120"/>
              </a:rPr>
              <a:t>96.3</a:t>
            </a:r>
            <a:endParaRPr lang="en-US" sz="800" dirty="0"/>
          </a:p>
        </p:txBody>
      </p:sp>
      <p:sp>
        <p:nvSpPr>
          <p:cNvPr id="37" name="Shape 35"/>
          <p:cNvSpPr/>
          <p:nvPr/>
        </p:nvSpPr>
        <p:spPr>
          <a:xfrm>
            <a:off x="8229600" y="4306824"/>
            <a:ext cx="2252442" cy="164592"/>
          </a:xfrm>
          <a:prstGeom prst="roundRect">
            <a:avLst>
              <a:gd name="adj" fmla="val 16667"/>
            </a:avLst>
          </a:prstGeom>
          <a:solidFill>
            <a:srgbClr val="46545F"/>
          </a:solidFill>
          <a:ln/>
        </p:spPr>
      </p:sp>
      <p:sp>
        <p:nvSpPr>
          <p:cNvPr id="38" name="Text 36"/>
          <p:cNvSpPr/>
          <p:nvPr/>
        </p:nvSpPr>
        <p:spPr>
          <a:xfrm>
            <a:off x="10500330" y="4270248"/>
            <a:ext cx="502920" cy="219456"/>
          </a:xfrm>
          <a:prstGeom prst="rect">
            <a:avLst/>
          </a:prstGeom>
          <a:noFill/>
          <a:ln/>
        </p:spPr>
        <p:txBody>
          <a:bodyPr wrap="square" lIns="0" tIns="0" rIns="0" bIns="0" rtlCol="0" anchor="ctr"/>
          <a:lstStyle/>
          <a:p>
            <a:pPr indent="0" marL="0">
              <a:buNone/>
            </a:pPr>
            <a:r>
              <a:rPr lang="en-US" sz="800" dirty="0">
                <a:solidFill>
                  <a:srgbClr val="46545F"/>
                </a:solidFill>
                <a:latin typeface="Calibri" pitchFamily="34" charset="0"/>
                <a:ea typeface="Calibri" pitchFamily="34" charset="-122"/>
                <a:cs typeface="Calibri" pitchFamily="34" charset="-120"/>
              </a:rPr>
              <a:t>96.6</a:t>
            </a:r>
            <a:endParaRPr lang="en-US" sz="800" dirty="0"/>
          </a:p>
        </p:txBody>
      </p:sp>
      <p:sp>
        <p:nvSpPr>
          <p:cNvPr id="39" name="Text 37"/>
          <p:cNvSpPr/>
          <p:nvPr/>
        </p:nvSpPr>
        <p:spPr>
          <a:xfrm>
            <a:off x="5870448" y="4608576"/>
            <a:ext cx="5577840" cy="219456"/>
          </a:xfrm>
          <a:prstGeom prst="rect">
            <a:avLst/>
          </a:prstGeom>
          <a:noFill/>
          <a:ln/>
        </p:spPr>
        <p:txBody>
          <a:bodyPr wrap="square" lIns="0" tIns="0" rIns="0" bIns="0" rtlCol="0" anchor="ctr"/>
          <a:lstStyle/>
          <a:p>
            <a:pPr indent="0" marL="0">
              <a:buNone/>
            </a:pPr>
            <a:r>
              <a:rPr lang="en-US" sz="850" b="1" dirty="0">
                <a:solidFill>
                  <a:srgbClr val="0E7C7B"/>
                </a:solidFill>
                <a:latin typeface="Calibri" pitchFamily="34" charset="0"/>
                <a:ea typeface="Calibri" pitchFamily="34" charset="-122"/>
                <a:cs typeface="Calibri" pitchFamily="34" charset="-120"/>
              </a:rPr>
              <a:t>■</a:t>
            </a:r>
            <a:pPr indent="0" marL="0">
              <a:buNone/>
            </a:pPr>
            <a:r>
              <a:rPr lang="en-US" sz="800" dirty="0">
                <a:solidFill>
                  <a:srgbClr val="46545F"/>
                </a:solidFill>
                <a:latin typeface="Calibri" pitchFamily="34" charset="0"/>
                <a:ea typeface="Calibri" pitchFamily="34" charset="-122"/>
                <a:cs typeface="Calibri" pitchFamily="34" charset="-120"/>
              </a:rPr>
              <a:t> DeepSeek-R1  </a:t>
            </a:r>
            <a:pPr indent="0" marL="0">
              <a:buNone/>
            </a:pPr>
            <a:r>
              <a:rPr lang="en-US" sz="850" b="1" dirty="0">
                <a:solidFill>
                  <a:srgbClr val="46545F"/>
                </a:solidFill>
                <a:latin typeface="Calibri" pitchFamily="34" charset="0"/>
                <a:ea typeface="Calibri" pitchFamily="34" charset="-122"/>
                <a:cs typeface="Calibri" pitchFamily="34" charset="-120"/>
              </a:rPr>
              <a:t>■</a:t>
            </a:r>
            <a:pPr indent="0" marL="0">
              <a:buNone/>
            </a:pPr>
            <a:r>
              <a:rPr lang="en-US" sz="800" dirty="0">
                <a:solidFill>
                  <a:srgbClr val="7A8790"/>
                </a:solidFill>
                <a:latin typeface="Calibri" pitchFamily="34" charset="0"/>
                <a:ea typeface="Calibri" pitchFamily="34" charset="-122"/>
                <a:cs typeface="Calibri" pitchFamily="34" charset="-120"/>
              </a:rPr>
              <a:t> OpenAI o1 · Codeforces = human percentile · R1 paper, Jan 2025</a:t>
            </a:r>
            <a:endParaRPr lang="en-US" sz="850" dirty="0"/>
          </a:p>
        </p:txBody>
      </p:sp>
      <p:sp>
        <p:nvSpPr>
          <p:cNvPr id="40" name="Text 38"/>
          <p:cNvSpPr/>
          <p:nvPr/>
        </p:nvSpPr>
        <p:spPr>
          <a:xfrm>
            <a:off x="5870448" y="4846320"/>
            <a:ext cx="5577840" cy="457200"/>
          </a:xfrm>
          <a:prstGeom prst="rect">
            <a:avLst/>
          </a:prstGeom>
          <a:noFill/>
          <a:ln/>
        </p:spPr>
        <p:txBody>
          <a:bodyPr wrap="square" lIns="0" tIns="0" rIns="0" bIns="0" rtlCol="0" anchor="ctr"/>
          <a:lstStyle/>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The bill: </a:t>
            </a:r>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$2.19 vs $60 per million output tokens — a $100 o1 workload cost ~$3.60 on R1. This is why the thinking and deep-research modes from Part 1 didn’t stay luxury-priced.</a:t>
            </a:r>
            <a:endParaRPr lang="en-US" sz="1050" dirty="0"/>
          </a:p>
        </p:txBody>
      </p:sp>
      <p:sp>
        <p:nvSpPr>
          <p:cNvPr id="41" name="Shape 39"/>
          <p:cNvSpPr/>
          <p:nvPr/>
        </p:nvSpPr>
        <p:spPr>
          <a:xfrm>
            <a:off x="502920" y="5440680"/>
            <a:ext cx="11155680" cy="1024128"/>
          </a:xfrm>
          <a:prstGeom prst="roundRect">
            <a:avLst>
              <a:gd name="adj" fmla="val 7143"/>
            </a:avLst>
          </a:prstGeom>
          <a:solidFill>
            <a:srgbClr val="E4F0EF"/>
          </a:solidFill>
          <a:ln/>
        </p:spPr>
      </p:sp>
      <p:sp>
        <p:nvSpPr>
          <p:cNvPr id="42" name="Shape 40"/>
          <p:cNvSpPr/>
          <p:nvPr/>
        </p:nvSpPr>
        <p:spPr>
          <a:xfrm>
            <a:off x="649224" y="5559552"/>
            <a:ext cx="365760" cy="365760"/>
          </a:xfrm>
          <a:prstGeom prst="ellipse">
            <a:avLst/>
          </a:prstGeom>
          <a:solidFill>
            <a:srgbClr val="0E7C7B"/>
          </a:solidFill>
          <a:ln/>
        </p:spPr>
      </p:sp>
      <p:pic>
        <p:nvPicPr>
          <p:cNvPr id="43" name="Image 0" descr="/home/user/Claude-Works/ai-training-prompt-engineering/src/assets/icons/robot_w.png">    </p:cNvPr>
          <p:cNvPicPr>
            <a:picLocks noChangeAspect="1"/>
          </p:cNvPicPr>
          <p:nvPr/>
        </p:nvPicPr>
        <p:blipFill>
          <a:blip r:embed="rId1"/>
          <a:stretch>
            <a:fillRect/>
          </a:stretch>
        </p:blipFill>
        <p:spPr>
          <a:xfrm>
            <a:off x="744322" y="5654650"/>
            <a:ext cx="175565" cy="175565"/>
          </a:xfrm>
          <a:prstGeom prst="rect">
            <a:avLst/>
          </a:prstGeom>
        </p:spPr>
      </p:pic>
      <p:sp>
        <p:nvSpPr>
          <p:cNvPr id="44" name="Shape 41"/>
          <p:cNvSpPr/>
          <p:nvPr/>
        </p:nvSpPr>
        <p:spPr>
          <a:xfrm>
            <a:off x="1106424" y="5586984"/>
            <a:ext cx="1188720" cy="310896"/>
          </a:xfrm>
          <a:prstGeom prst="roundRect">
            <a:avLst>
              <a:gd name="adj" fmla="val 23529"/>
            </a:avLst>
          </a:prstGeom>
          <a:solidFill>
            <a:srgbClr val="0E7C7B"/>
          </a:solidFill>
          <a:ln/>
        </p:spPr>
      </p:sp>
      <p:sp>
        <p:nvSpPr>
          <p:cNvPr id="45" name="Text 42"/>
          <p:cNvSpPr/>
          <p:nvPr/>
        </p:nvSpPr>
        <p:spPr>
          <a:xfrm>
            <a:off x="1106424" y="55961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8/8</a:t>
            </a:r>
            <a:endParaRPr lang="en-US" sz="950" dirty="0"/>
          </a:p>
        </p:txBody>
      </p:sp>
      <p:sp>
        <p:nvSpPr>
          <p:cNvPr id="46" name="Text 43"/>
          <p:cNvSpPr/>
          <p:nvPr/>
        </p:nvSpPr>
        <p:spPr>
          <a:xfrm>
            <a:off x="2404872" y="5596128"/>
            <a:ext cx="9006840" cy="292608"/>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MoE, explained by your own assistant</a:t>
            </a:r>
            <a:endParaRPr lang="en-US" sz="1050" dirty="0"/>
          </a:p>
        </p:txBody>
      </p:sp>
      <p:sp>
        <p:nvSpPr>
          <p:cNvPr id="47" name="Text 44"/>
          <p:cNvSpPr/>
          <p:nvPr/>
        </p:nvSpPr>
        <p:spPr>
          <a:xfrm>
            <a:off x="685800" y="5971032"/>
            <a:ext cx="10789920" cy="365760"/>
          </a:xfrm>
          <a:prstGeom prst="rect">
            <a:avLst/>
          </a:prstGeom>
          <a:noFill/>
          <a:ln/>
        </p:spPr>
        <p:txBody>
          <a:bodyPr wrap="square" lIns="0" tIns="0" rIns="0" bIns="0" rtlCol="0" anchor="t"/>
          <a:lstStyle/>
          <a:p>
            <a:pPr indent="0" marL="0">
              <a:lnSpc>
                <a:spcPct val="110000"/>
              </a:lnSpc>
              <a:buNone/>
            </a:pPr>
            <a:r>
              <a:rPr lang="en-US" sz="880" dirty="0">
                <a:solidFill>
                  <a:srgbClr val="232A31"/>
                </a:solidFill>
                <a:latin typeface="Consolas" pitchFamily="34" charset="0"/>
                <a:ea typeface="Consolas" pitchFamily="34" charset="-122"/>
                <a:cs typeface="Consolas" pitchFamily="34" charset="-120"/>
              </a:rPr>
              <a:t>Course log — the specialist hospital. Explain Mixture of Experts to me like a colleague: a model built as a huge specialist hospital where only a few departments wake up for each question. Then, plainly: why did this make powerful AI dramatically cheaper in 2025 — and what does it have to do with the deep-research and thinking modes in my own AI app? Under 120 words.</a:t>
            </a:r>
            <a:endParaRPr lang="en-US" sz="8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Trust the tier, not the logo — Sep 2026</a:t>
            </a:r>
            <a:endParaRPr lang="en-US" sz="3000" dirty="0"/>
          </a:p>
        </p:txBody>
      </p:sp>
      <p:sp>
        <p:nvSpPr>
          <p:cNvPr id="6" name="Text 4"/>
          <p:cNvSpPr/>
          <p:nvPr/>
        </p:nvSpPr>
        <p:spPr>
          <a:xfrm>
            <a:off x="502920" y="1371600"/>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Whose servers, where</a:t>
            </a:r>
            <a:endParaRPr lang="en-US" sz="1300" dirty="0"/>
          </a:p>
        </p:txBody>
      </p:sp>
      <p:sp>
        <p:nvSpPr>
          <p:cNvPr id="7" name="Shape 5"/>
          <p:cNvSpPr/>
          <p:nvPr/>
        </p:nvSpPr>
        <p:spPr>
          <a:xfrm>
            <a:off x="502920" y="1737360"/>
            <a:ext cx="5394960" cy="402336"/>
          </a:xfrm>
          <a:prstGeom prst="roundRect">
            <a:avLst>
              <a:gd name="adj" fmla="val 18182"/>
            </a:avLst>
          </a:prstGeom>
          <a:solidFill>
            <a:srgbClr val="F2F5F6"/>
          </a:solidFill>
          <a:ln/>
        </p:spPr>
      </p:sp>
      <p:sp>
        <p:nvSpPr>
          <p:cNvPr id="8" name="Text 6"/>
          <p:cNvSpPr/>
          <p:nvPr/>
        </p:nvSpPr>
        <p:spPr>
          <a:xfrm>
            <a:off x="685800" y="1755648"/>
            <a:ext cx="1417320" cy="36576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Anthropic</a:t>
            </a:r>
            <a:endParaRPr lang="en-US" sz="950" dirty="0"/>
          </a:p>
        </p:txBody>
      </p:sp>
      <p:sp>
        <p:nvSpPr>
          <p:cNvPr id="9" name="Text 7"/>
          <p:cNvSpPr/>
          <p:nvPr/>
        </p:nvSpPr>
        <p:spPr>
          <a:xfrm>
            <a:off x="2148840" y="17556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stored in the US · EU via cloud partners (Bedrock / Vertex / Foundry)</a:t>
            </a:r>
            <a:endParaRPr lang="en-US" sz="840" dirty="0"/>
          </a:p>
        </p:txBody>
      </p:sp>
      <p:sp>
        <p:nvSpPr>
          <p:cNvPr id="10" name="Shape 8"/>
          <p:cNvSpPr/>
          <p:nvPr/>
        </p:nvSpPr>
        <p:spPr>
          <a:xfrm>
            <a:off x="502920" y="2194560"/>
            <a:ext cx="5394960" cy="402336"/>
          </a:xfrm>
          <a:prstGeom prst="roundRect">
            <a:avLst>
              <a:gd name="adj" fmla="val 18182"/>
            </a:avLst>
          </a:prstGeom>
          <a:solidFill>
            <a:srgbClr val="FFFFFF"/>
          </a:solidFill>
          <a:ln w="9525">
            <a:solidFill>
              <a:srgbClr val="DCE3E6"/>
            </a:solidFill>
            <a:prstDash val="solid"/>
          </a:ln>
        </p:spPr>
      </p:sp>
      <p:sp>
        <p:nvSpPr>
          <p:cNvPr id="11" name="Text 9"/>
          <p:cNvSpPr/>
          <p:nvPr/>
        </p:nvSpPr>
        <p:spPr>
          <a:xfrm>
            <a:off x="685800" y="2212848"/>
            <a:ext cx="1417320" cy="36576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OpenAI</a:t>
            </a:r>
            <a:endParaRPr lang="en-US" sz="950" dirty="0"/>
          </a:p>
        </p:txBody>
      </p:sp>
      <p:sp>
        <p:nvSpPr>
          <p:cNvPr id="12" name="Text 10"/>
          <p:cNvSpPr/>
          <p:nvPr/>
        </p:nvSpPr>
        <p:spPr>
          <a:xfrm>
            <a:off x="2148840" y="22128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EU residency (2025) + in-region processing (2026) — business tiers only</a:t>
            </a:r>
            <a:endParaRPr lang="en-US" sz="840" dirty="0"/>
          </a:p>
        </p:txBody>
      </p:sp>
      <p:sp>
        <p:nvSpPr>
          <p:cNvPr id="13" name="Shape 11"/>
          <p:cNvSpPr/>
          <p:nvPr/>
        </p:nvSpPr>
        <p:spPr>
          <a:xfrm>
            <a:off x="502920" y="2651760"/>
            <a:ext cx="5394960" cy="402336"/>
          </a:xfrm>
          <a:prstGeom prst="roundRect">
            <a:avLst>
              <a:gd name="adj" fmla="val 18182"/>
            </a:avLst>
          </a:prstGeom>
          <a:solidFill>
            <a:srgbClr val="F2F5F6"/>
          </a:solidFill>
          <a:ln/>
        </p:spPr>
      </p:sp>
      <p:sp>
        <p:nvSpPr>
          <p:cNvPr id="14" name="Text 12"/>
          <p:cNvSpPr/>
          <p:nvPr/>
        </p:nvSpPr>
        <p:spPr>
          <a:xfrm>
            <a:off x="685800" y="2670048"/>
            <a:ext cx="1417320" cy="36576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Google</a:t>
            </a:r>
            <a:endParaRPr lang="en-US" sz="950" dirty="0"/>
          </a:p>
        </p:txBody>
      </p:sp>
      <p:sp>
        <p:nvSpPr>
          <p:cNvPr id="15" name="Text 13"/>
          <p:cNvSpPr/>
          <p:nvPr/>
        </p:nvSpPr>
        <p:spPr>
          <a:xfrm>
            <a:off x="2148840" y="26700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enterprise: residency by region · consumer: reviewed chats kept up to 3 yrs</a:t>
            </a:r>
            <a:endParaRPr lang="en-US" sz="840" dirty="0"/>
          </a:p>
        </p:txBody>
      </p:sp>
      <p:sp>
        <p:nvSpPr>
          <p:cNvPr id="16" name="Shape 14"/>
          <p:cNvSpPr/>
          <p:nvPr/>
        </p:nvSpPr>
        <p:spPr>
          <a:xfrm>
            <a:off x="502920" y="3108960"/>
            <a:ext cx="5394960" cy="402336"/>
          </a:xfrm>
          <a:prstGeom prst="roundRect">
            <a:avLst>
              <a:gd name="adj" fmla="val 18182"/>
            </a:avLst>
          </a:prstGeom>
          <a:solidFill>
            <a:srgbClr val="FFFFFF"/>
          </a:solidFill>
          <a:ln w="9525">
            <a:solidFill>
              <a:srgbClr val="DCE3E6"/>
            </a:solidFill>
            <a:prstDash val="solid"/>
          </a:ln>
        </p:spPr>
      </p:sp>
      <p:sp>
        <p:nvSpPr>
          <p:cNvPr id="17" name="Text 15"/>
          <p:cNvSpPr/>
          <p:nvPr/>
        </p:nvSpPr>
        <p:spPr>
          <a:xfrm>
            <a:off x="685800" y="3127248"/>
            <a:ext cx="1417320" cy="36576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Microsoft</a:t>
            </a:r>
            <a:endParaRPr lang="en-US" sz="950" dirty="0"/>
          </a:p>
        </p:txBody>
      </p:sp>
      <p:sp>
        <p:nvSpPr>
          <p:cNvPr id="18" name="Text 16"/>
          <p:cNvSpPr/>
          <p:nvPr/>
        </p:nvSpPr>
        <p:spPr>
          <a:xfrm>
            <a:off x="2148840" y="31272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EU Data Boundary — but Claude models inside Copilot sit outside it</a:t>
            </a:r>
            <a:endParaRPr lang="en-US" sz="840" dirty="0"/>
          </a:p>
        </p:txBody>
      </p:sp>
      <p:sp>
        <p:nvSpPr>
          <p:cNvPr id="19" name="Shape 17"/>
          <p:cNvSpPr/>
          <p:nvPr/>
        </p:nvSpPr>
        <p:spPr>
          <a:xfrm>
            <a:off x="502920" y="3566160"/>
            <a:ext cx="5394960" cy="402336"/>
          </a:xfrm>
          <a:prstGeom prst="roundRect">
            <a:avLst>
              <a:gd name="adj" fmla="val 18182"/>
            </a:avLst>
          </a:prstGeom>
          <a:solidFill>
            <a:srgbClr val="F2F5F6"/>
          </a:solidFill>
          <a:ln/>
        </p:spPr>
      </p:sp>
      <p:sp>
        <p:nvSpPr>
          <p:cNvPr id="20" name="Text 18"/>
          <p:cNvSpPr/>
          <p:nvPr/>
        </p:nvSpPr>
        <p:spPr>
          <a:xfrm>
            <a:off x="685800" y="3584448"/>
            <a:ext cx="1417320" cy="36576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xAI</a:t>
            </a:r>
            <a:endParaRPr lang="en-US" sz="950" dirty="0"/>
          </a:p>
        </p:txBody>
      </p:sp>
      <p:sp>
        <p:nvSpPr>
          <p:cNvPr id="21" name="Text 19"/>
          <p:cNvSpPr/>
          <p:nvPr/>
        </p:nvSpPr>
        <p:spPr>
          <a:xfrm>
            <a:off x="2148840" y="35844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own US data centers (Memphis) · no residency options published</a:t>
            </a:r>
            <a:endParaRPr lang="en-US" sz="840" dirty="0"/>
          </a:p>
        </p:txBody>
      </p:sp>
      <p:sp>
        <p:nvSpPr>
          <p:cNvPr id="22" name="Shape 20"/>
          <p:cNvSpPr/>
          <p:nvPr/>
        </p:nvSpPr>
        <p:spPr>
          <a:xfrm>
            <a:off x="502920" y="4023360"/>
            <a:ext cx="5394960" cy="402336"/>
          </a:xfrm>
          <a:prstGeom prst="roundRect">
            <a:avLst>
              <a:gd name="adj" fmla="val 18182"/>
            </a:avLst>
          </a:prstGeom>
          <a:solidFill>
            <a:srgbClr val="FFFFFF"/>
          </a:solidFill>
          <a:ln w="9525">
            <a:solidFill>
              <a:srgbClr val="DCE3E6"/>
            </a:solidFill>
            <a:prstDash val="solid"/>
          </a:ln>
        </p:spPr>
      </p:sp>
      <p:sp>
        <p:nvSpPr>
          <p:cNvPr id="23" name="Text 21"/>
          <p:cNvSpPr/>
          <p:nvPr/>
        </p:nvSpPr>
        <p:spPr>
          <a:xfrm>
            <a:off x="685800" y="4041648"/>
            <a:ext cx="1417320" cy="365760"/>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Perplexity</a:t>
            </a:r>
            <a:endParaRPr lang="en-US" sz="950" dirty="0"/>
          </a:p>
        </p:txBody>
      </p:sp>
      <p:sp>
        <p:nvSpPr>
          <p:cNvPr id="24" name="Text 22"/>
          <p:cNvSpPr/>
          <p:nvPr/>
        </p:nvSpPr>
        <p:spPr>
          <a:xfrm>
            <a:off x="2148840" y="40416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AWS, worldwide · no residency options published</a:t>
            </a:r>
            <a:endParaRPr lang="en-US" sz="840" dirty="0"/>
          </a:p>
        </p:txBody>
      </p:sp>
      <p:sp>
        <p:nvSpPr>
          <p:cNvPr id="25" name="Shape 23"/>
          <p:cNvSpPr/>
          <p:nvPr/>
        </p:nvSpPr>
        <p:spPr>
          <a:xfrm>
            <a:off x="502920" y="4480560"/>
            <a:ext cx="5394960" cy="402336"/>
          </a:xfrm>
          <a:prstGeom prst="roundRect">
            <a:avLst>
              <a:gd name="adj" fmla="val 18182"/>
            </a:avLst>
          </a:prstGeom>
          <a:solidFill>
            <a:srgbClr val="F2F5F6"/>
          </a:solidFill>
          <a:ln/>
        </p:spPr>
      </p:sp>
      <p:sp>
        <p:nvSpPr>
          <p:cNvPr id="26" name="Text 24"/>
          <p:cNvSpPr/>
          <p:nvPr/>
        </p:nvSpPr>
        <p:spPr>
          <a:xfrm>
            <a:off x="685800" y="4498848"/>
            <a:ext cx="1417320" cy="365760"/>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DeepSeek</a:t>
            </a:r>
            <a:endParaRPr lang="en-US" sz="950" dirty="0"/>
          </a:p>
        </p:txBody>
      </p:sp>
      <p:sp>
        <p:nvSpPr>
          <p:cNvPr id="27" name="Text 25"/>
          <p:cNvSpPr/>
          <p:nvPr/>
        </p:nvSpPr>
        <p:spPr>
          <a:xfrm>
            <a:off x="2148840" y="44988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“stored in the People’s Republic of China” — its own privacy policy</a:t>
            </a:r>
            <a:endParaRPr lang="en-US" sz="840" dirty="0"/>
          </a:p>
        </p:txBody>
      </p:sp>
      <p:sp>
        <p:nvSpPr>
          <p:cNvPr id="28" name="Shape 26"/>
          <p:cNvSpPr/>
          <p:nvPr/>
        </p:nvSpPr>
        <p:spPr>
          <a:xfrm>
            <a:off x="502920" y="4937760"/>
            <a:ext cx="5394960" cy="402336"/>
          </a:xfrm>
          <a:prstGeom prst="roundRect">
            <a:avLst>
              <a:gd name="adj" fmla="val 18182"/>
            </a:avLst>
          </a:prstGeom>
          <a:solidFill>
            <a:srgbClr val="FFFFFF"/>
          </a:solidFill>
          <a:ln w="9525">
            <a:solidFill>
              <a:srgbClr val="DCE3E6"/>
            </a:solidFill>
            <a:prstDash val="solid"/>
          </a:ln>
        </p:spPr>
      </p:sp>
      <p:sp>
        <p:nvSpPr>
          <p:cNvPr id="29" name="Text 27"/>
          <p:cNvSpPr/>
          <p:nvPr/>
        </p:nvSpPr>
        <p:spPr>
          <a:xfrm>
            <a:off x="685800" y="4956048"/>
            <a:ext cx="1417320" cy="365760"/>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Kimi (Moonshot)</a:t>
            </a:r>
            <a:endParaRPr lang="en-US" sz="950" dirty="0"/>
          </a:p>
        </p:txBody>
      </p:sp>
      <p:sp>
        <p:nvSpPr>
          <p:cNvPr id="30" name="Text 28"/>
          <p:cNvSpPr/>
          <p:nvPr/>
        </p:nvSpPr>
        <p:spPr>
          <a:xfrm>
            <a:off x="2148840" y="49560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PRC storage · training opt-out only via customer service</a:t>
            </a:r>
            <a:endParaRPr lang="en-US" sz="840" dirty="0"/>
          </a:p>
        </p:txBody>
      </p:sp>
      <p:sp>
        <p:nvSpPr>
          <p:cNvPr id="31" name="Shape 29"/>
          <p:cNvSpPr/>
          <p:nvPr/>
        </p:nvSpPr>
        <p:spPr>
          <a:xfrm>
            <a:off x="502920" y="5394960"/>
            <a:ext cx="5394960" cy="402336"/>
          </a:xfrm>
          <a:prstGeom prst="roundRect">
            <a:avLst>
              <a:gd name="adj" fmla="val 18182"/>
            </a:avLst>
          </a:prstGeom>
          <a:solidFill>
            <a:srgbClr val="F2F5F6"/>
          </a:solidFill>
          <a:ln/>
        </p:spPr>
      </p:sp>
      <p:sp>
        <p:nvSpPr>
          <p:cNvPr id="32" name="Text 30"/>
          <p:cNvSpPr/>
          <p:nvPr/>
        </p:nvSpPr>
        <p:spPr>
          <a:xfrm>
            <a:off x="685800" y="5413248"/>
            <a:ext cx="1417320" cy="365760"/>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Z.ai (Zhipu)</a:t>
            </a:r>
            <a:endParaRPr lang="en-US" sz="950" dirty="0"/>
          </a:p>
        </p:txBody>
      </p:sp>
      <p:sp>
        <p:nvSpPr>
          <p:cNvPr id="33" name="Text 31"/>
          <p:cNvSpPr/>
          <p:nvPr/>
        </p:nvSpPr>
        <p:spPr>
          <a:xfrm>
            <a:off x="2148840" y="5413248"/>
            <a:ext cx="3657600" cy="365760"/>
          </a:xfrm>
          <a:prstGeom prst="rect">
            <a:avLst/>
          </a:prstGeom>
          <a:noFill/>
          <a:ln/>
        </p:spPr>
        <p:txBody>
          <a:bodyPr wrap="square" lIns="0" tIns="0" rIns="0" bIns="0" rtlCol="0" anchor="ctr"/>
          <a:lstStyle/>
          <a:p>
            <a:pPr indent="0" marL="0">
              <a:lnSpc>
                <a:spcPct val="95000"/>
              </a:lnSpc>
              <a:buNone/>
            </a:pPr>
            <a:r>
              <a:rPr lang="en-US" sz="840" dirty="0">
                <a:solidFill>
                  <a:srgbClr val="46545F"/>
                </a:solidFill>
                <a:latin typeface="Calibri" pitchFamily="34" charset="0"/>
                <a:ea typeface="Calibri" pitchFamily="34" charset="-122"/>
                <a:cs typeface="Calibri" pitchFamily="34" charset="-120"/>
              </a:rPr>
              <a:t>Singapore processing · parent on the US Entity List</a:t>
            </a:r>
            <a:endParaRPr lang="en-US" sz="840" dirty="0"/>
          </a:p>
        </p:txBody>
      </p:sp>
      <p:sp>
        <p:nvSpPr>
          <p:cNvPr id="34" name="Shape 32"/>
          <p:cNvSpPr/>
          <p:nvPr/>
        </p:nvSpPr>
        <p:spPr>
          <a:xfrm>
            <a:off x="6080760" y="1371600"/>
            <a:ext cx="5577840" cy="1389888"/>
          </a:xfrm>
          <a:prstGeom prst="roundRect">
            <a:avLst>
              <a:gd name="adj" fmla="val 5263"/>
            </a:avLst>
          </a:prstGeom>
          <a:solidFill>
            <a:srgbClr val="E7F2EC"/>
          </a:solidFill>
          <a:ln/>
        </p:spPr>
      </p:sp>
      <p:sp>
        <p:nvSpPr>
          <p:cNvPr id="35" name="Text 33"/>
          <p:cNvSpPr/>
          <p:nvPr/>
        </p:nvSpPr>
        <p:spPr>
          <a:xfrm>
            <a:off x="6327648" y="1463040"/>
            <a:ext cx="5120640" cy="1225296"/>
          </a:xfrm>
          <a:prstGeom prst="rect">
            <a:avLst/>
          </a:prstGeom>
          <a:noFill/>
          <a:ln/>
        </p:spPr>
        <p:txBody>
          <a:bodyPr wrap="square" lIns="0" tIns="0" rIns="0" bIns="0" rtlCol="0" anchor="ctr"/>
          <a:lstStyle/>
          <a:p>
            <a:pPr indent="0" marL="0">
              <a:lnSpc>
                <a:spcPct val="105000"/>
              </a:lnSpc>
              <a:spcAft>
                <a:spcPts val="300"/>
              </a:spcAft>
              <a:buNone/>
            </a:pPr>
            <a:r>
              <a:rPr lang="en-US" sz="1080" b="1" dirty="0">
                <a:solidFill>
                  <a:srgbClr val="3B8560"/>
                </a:solidFill>
                <a:latin typeface="Calibri" pitchFamily="34" charset="0"/>
                <a:ea typeface="Calibri" pitchFamily="34" charset="-122"/>
                <a:cs typeface="Calibri" pitchFamily="34" charset="-120"/>
              </a:rPr>
              <a:t>GREEN · Company tenant — approved for work data, within policy</a:t>
            </a:r>
            <a:endParaRPr lang="en-US" sz="1080" dirty="0"/>
          </a:p>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Enterprise/business accounts: no training on your data by default (every major vendor), audit controls, contracts. This is where company work belongs.</a:t>
            </a:r>
            <a:endParaRPr lang="en-US" sz="1080" dirty="0"/>
          </a:p>
        </p:txBody>
      </p:sp>
      <p:sp>
        <p:nvSpPr>
          <p:cNvPr id="36" name="Shape 34"/>
          <p:cNvSpPr/>
          <p:nvPr/>
        </p:nvSpPr>
        <p:spPr>
          <a:xfrm>
            <a:off x="6080760" y="2880360"/>
            <a:ext cx="5577840" cy="1389888"/>
          </a:xfrm>
          <a:prstGeom prst="roundRect">
            <a:avLst>
              <a:gd name="adj" fmla="val 5263"/>
            </a:avLst>
          </a:prstGeom>
          <a:solidFill>
            <a:srgbClr val="FBF0E0"/>
          </a:solidFill>
          <a:ln/>
        </p:spPr>
      </p:sp>
      <p:sp>
        <p:nvSpPr>
          <p:cNvPr id="37" name="Text 35"/>
          <p:cNvSpPr/>
          <p:nvPr/>
        </p:nvSpPr>
        <p:spPr>
          <a:xfrm>
            <a:off x="6327648" y="2971800"/>
            <a:ext cx="5120640" cy="1225296"/>
          </a:xfrm>
          <a:prstGeom prst="rect">
            <a:avLst/>
          </a:prstGeom>
          <a:noFill/>
          <a:ln/>
        </p:spPr>
        <p:txBody>
          <a:bodyPr wrap="square" lIns="0" tIns="0" rIns="0" bIns="0" rtlCol="0" anchor="ctr"/>
          <a:lstStyle/>
          <a:p>
            <a:pPr indent="0" marL="0">
              <a:lnSpc>
                <a:spcPct val="105000"/>
              </a:lnSpc>
              <a:spcAft>
                <a:spcPts val="300"/>
              </a:spcAft>
              <a:buNone/>
            </a:pPr>
            <a:r>
              <a:rPr lang="en-US" sz="1080" b="1" dirty="0">
                <a:solidFill>
                  <a:srgbClr val="B96A1B"/>
                </a:solidFill>
                <a:latin typeface="Calibri" pitchFamily="34" charset="0"/>
                <a:ea typeface="Calibri" pitchFamily="34" charset="-122"/>
                <a:cs typeface="Calibri" pitchFamily="34" charset="-120"/>
              </a:rPr>
              <a:t>YELLOW · Personal account — public material only</a:t>
            </a:r>
            <a:endParaRPr lang="en-US" sz="1080" dirty="0"/>
          </a:p>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Every vendor trains on consumer chats by default. The 2025 leaks all happened here: 370K Grok chats indexed by Google; “deleted” chats preserved for court cases. Never client or regulated data.</a:t>
            </a:r>
            <a:endParaRPr lang="en-US" sz="1080" dirty="0"/>
          </a:p>
        </p:txBody>
      </p:sp>
      <p:sp>
        <p:nvSpPr>
          <p:cNvPr id="38" name="Shape 36"/>
          <p:cNvSpPr/>
          <p:nvPr/>
        </p:nvSpPr>
        <p:spPr>
          <a:xfrm>
            <a:off x="6080760" y="4389120"/>
            <a:ext cx="5577840" cy="1389888"/>
          </a:xfrm>
          <a:prstGeom prst="roundRect">
            <a:avLst>
              <a:gd name="adj" fmla="val 5263"/>
            </a:avLst>
          </a:prstGeom>
          <a:solidFill>
            <a:srgbClr val="F9E9E8"/>
          </a:solidFill>
          <a:ln/>
        </p:spPr>
      </p:sp>
      <p:sp>
        <p:nvSpPr>
          <p:cNvPr id="39" name="Text 37"/>
          <p:cNvSpPr/>
          <p:nvPr/>
        </p:nvSpPr>
        <p:spPr>
          <a:xfrm>
            <a:off x="6327648" y="4480560"/>
            <a:ext cx="5120640" cy="1225296"/>
          </a:xfrm>
          <a:prstGeom prst="rect">
            <a:avLst/>
          </a:prstGeom>
          <a:noFill/>
          <a:ln/>
        </p:spPr>
        <p:txBody>
          <a:bodyPr wrap="square" lIns="0" tIns="0" rIns="0" bIns="0" rtlCol="0" anchor="ctr"/>
          <a:lstStyle/>
          <a:p>
            <a:pPr indent="0" marL="0">
              <a:lnSpc>
                <a:spcPct val="105000"/>
              </a:lnSpc>
              <a:spcAft>
                <a:spcPts val="300"/>
              </a:spcAft>
              <a:buNone/>
            </a:pPr>
            <a:r>
              <a:rPr lang="en-US" sz="1080" b="1" dirty="0">
                <a:solidFill>
                  <a:srgbClr val="AF3230"/>
                </a:solidFill>
                <a:latin typeface="Calibri" pitchFamily="34" charset="0"/>
                <a:ea typeface="Calibri" pitchFamily="34" charset="-122"/>
                <a:cs typeface="Calibri" pitchFamily="34" charset="-120"/>
              </a:rPr>
              <a:t>RED · China-hosted consumer apps — no company data, ever</a:t>
            </a:r>
            <a:endParaRPr lang="en-US" sz="1080" dirty="0"/>
          </a:p>
          <a:p>
            <a:pPr indent="0" marL="0">
              <a:lnSpc>
                <a:spcPct val="105000"/>
              </a:lnSpc>
              <a:buNone/>
            </a:pPr>
            <a:r>
              <a:rPr lang="en-US" sz="940" dirty="0">
                <a:solidFill>
                  <a:srgbClr val="46545F"/>
                </a:solidFill>
                <a:latin typeface="Calibri" pitchFamily="34" charset="0"/>
                <a:ea typeface="Calibri" pitchFamily="34" charset="-122"/>
                <a:cs typeface="Calibri" pitchFamily="34" charset="-120"/>
              </a:rPr>
              <a:t>The app sends data to China, under Chinese law (Italy blocked DeepSeek). The open-weight MODELS are a different object: run by IT on approved US/EU servers, they send nothing anywhere. The app, not the model, is the risk.</a:t>
            </a:r>
            <a:endParaRPr lang="en-US" sz="1080" dirty="0"/>
          </a:p>
        </p:txBody>
      </p:sp>
      <p:sp>
        <p:nvSpPr>
          <p:cNvPr id="40" name="Shape 38"/>
          <p:cNvSpPr/>
          <p:nvPr/>
        </p:nvSpPr>
        <p:spPr>
          <a:xfrm>
            <a:off x="502920" y="5943600"/>
            <a:ext cx="11155680" cy="548640"/>
          </a:xfrm>
          <a:prstGeom prst="roundRect">
            <a:avLst>
              <a:gd name="adj" fmla="val 13333"/>
            </a:avLst>
          </a:prstGeom>
          <a:solidFill>
            <a:srgbClr val="E4F0EF"/>
          </a:solidFill>
          <a:ln/>
        </p:spPr>
      </p:sp>
      <p:sp>
        <p:nvSpPr>
          <p:cNvPr id="41" name="Shape 39"/>
          <p:cNvSpPr/>
          <p:nvPr/>
        </p:nvSpPr>
        <p:spPr>
          <a:xfrm>
            <a:off x="667512" y="6025896"/>
            <a:ext cx="384048" cy="384048"/>
          </a:xfrm>
          <a:prstGeom prst="ellipse">
            <a:avLst/>
          </a:prstGeom>
          <a:solidFill>
            <a:srgbClr val="0E7C7B"/>
          </a:solidFill>
          <a:ln/>
        </p:spPr>
      </p:sp>
      <p:pic>
        <p:nvPicPr>
          <p:cNvPr id="42" name="Image 0" descr="/home/user/Claude-Works/ai-training-prompt-engineering/src/assets/icons/key_w.png">    </p:cNvPr>
          <p:cNvPicPr>
            <a:picLocks noChangeAspect="1"/>
          </p:cNvPicPr>
          <p:nvPr/>
        </p:nvPicPr>
        <p:blipFill>
          <a:blip r:embed="rId1"/>
          <a:stretch>
            <a:fillRect/>
          </a:stretch>
        </p:blipFill>
        <p:spPr>
          <a:xfrm>
            <a:off x="767364" y="6125748"/>
            <a:ext cx="184343" cy="184343"/>
          </a:xfrm>
          <a:prstGeom prst="rect">
            <a:avLst/>
          </a:prstGeom>
        </p:spPr>
      </p:pic>
      <p:sp>
        <p:nvSpPr>
          <p:cNvPr id="43" name="Text 4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One question decides: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does company data leave your network — and whose account is it on? Company tenant → work. Personal → public material only. China-hosted app → never.</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ellipse">
            <a:avLst/>
          </a:prstGeom>
          <a:solidFill>
            <a:srgbClr val="0E7C7B"/>
          </a:solidFill>
          <a:ln/>
        </p:spPr>
      </p:sp>
      <p:pic>
        <p:nvPicPr>
          <p:cNvPr id="8" name="Image 0" descr="/home/user/Claude-Works/ai-training-prompt-engineering/src/assets/icons/terminal_w.png">    </p:cNvPr>
          <p:cNvPicPr>
            <a:picLocks noChangeAspect="1"/>
          </p:cNvPicPr>
          <p:nvPr/>
        </p:nvPicPr>
        <p:blipFill>
          <a:blip r:embed="rId1"/>
          <a:stretch>
            <a:fillRect/>
          </a:stretch>
        </p:blipFill>
        <p:spPr>
          <a:xfrm>
            <a:off x="786384" y="1874520"/>
            <a:ext cx="219456" cy="219456"/>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Anthropic</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0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ellipse">
            <a:avLst/>
          </a:prstGeom>
          <a:solidFill>
            <a:srgbClr val="0E7C7B"/>
          </a:solidFill>
          <a:ln/>
        </p:spPr>
      </p:sp>
      <p:pic>
        <p:nvPicPr>
          <p:cNvPr id="12" name="Image 1" descr="/home/user/Claude-Works/ai-training-prompt-engineering/src/assets/icons/users_w.png">    </p:cNvPr>
          <p:cNvPicPr>
            <a:picLocks noChangeAspect="1"/>
          </p:cNvPicPr>
          <p:nvPr/>
        </p:nvPicPr>
        <p:blipFill>
          <a:blip r:embed="rId2"/>
          <a:stretch>
            <a:fillRect/>
          </a:stretch>
        </p:blipFill>
        <p:spPr>
          <a:xfrm>
            <a:off x="6455664" y="1874520"/>
            <a:ext cx="219456" cy="219456"/>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Anthropic</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0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ellipse">
            <a:avLst/>
          </a:prstGeom>
          <a:solidFill>
            <a:srgbClr val="0E7C7B"/>
          </a:solidFill>
          <a:ln/>
        </p:spPr>
      </p:sp>
      <p:pic>
        <p:nvPicPr>
          <p:cNvPr id="16" name="Image 2" descr="/home/user/Claude-Works/ai-training-prompt-engineering/src/assets/icons/zap_w.png">    </p:cNvPr>
          <p:cNvPicPr>
            <a:picLocks noChangeAspect="1"/>
          </p:cNvPicPr>
          <p:nvPr/>
        </p:nvPicPr>
        <p:blipFill>
          <a:blip r:embed="rId3"/>
          <a:stretch>
            <a:fillRect/>
          </a:stretch>
        </p:blipFill>
        <p:spPr>
          <a:xfrm>
            <a:off x="786384" y="3044952"/>
            <a:ext cx="219456" cy="219456"/>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OpenAI</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0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ellipse">
            <a:avLst/>
          </a:prstGeom>
          <a:solidFill>
            <a:srgbClr val="0E7C7B"/>
          </a:solidFill>
          <a:ln/>
        </p:spPr>
      </p:sp>
      <p:pic>
        <p:nvPicPr>
          <p:cNvPr id="20" name="Image 3" descr="/home/user/Claude-Works/ai-training-prompt-engineering/src/assets/icons/grid_w.png">    </p:cNvPr>
          <p:cNvPicPr>
            <a:picLocks noChangeAspect="1"/>
          </p:cNvPicPr>
          <p:nvPr/>
        </p:nvPicPr>
        <p:blipFill>
          <a:blip r:embed="rId4"/>
          <a:stretch>
            <a:fillRect/>
          </a:stretch>
        </p:blipFill>
        <p:spPr>
          <a:xfrm>
            <a:off x="6455664" y="3044952"/>
            <a:ext cx="219456" cy="219456"/>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Microsoft</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0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86384" y="4215384"/>
            <a:ext cx="219456" cy="219456"/>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independent (Singapore)</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 and Beijing forced the deal apart. Try it personally; don’t feed it company data.</a:t>
            </a:r>
            <a:endParaRPr lang="en-US" sz="120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ellipse">
            <a:avLst/>
          </a:prstGeom>
          <a:solidFill>
            <a:srgbClr val="0E7C7B"/>
          </a:solidFill>
          <a:ln/>
        </p:spPr>
      </p:sp>
      <p:pic>
        <p:nvPicPr>
          <p:cNvPr id="28" name="Image 5" descr="/home/user/Claude-Works/ai-training-prompt-engineering/src/assets/icons/sitemap_w.png">    </p:cNvPr>
          <p:cNvPicPr>
            <a:picLocks noChangeAspect="1"/>
          </p:cNvPicPr>
          <p:nvPr/>
        </p:nvPicPr>
        <p:blipFill>
          <a:blip r:embed="rId6"/>
          <a:stretch>
            <a:fillRect/>
          </a:stretch>
        </p:blipFill>
        <p:spPr>
          <a:xfrm>
            <a:off x="6455664" y="4215384"/>
            <a:ext cx="219456" cy="219456"/>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Notion</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0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ellipse">
            <a:avLst/>
          </a:prstGeom>
          <a:solidFill>
            <a:srgbClr val="0E7C7B"/>
          </a:solidFill>
          <a:ln/>
        </p:spPr>
      </p:sp>
      <p:pic>
        <p:nvPicPr>
          <p:cNvPr id="32" name="Image 6" descr="/home/user/Claude-Works/ai-training-prompt-engineering/src/assets/icons/branch_w.png">    </p:cNvPr>
          <p:cNvPicPr>
            <a:picLocks noChangeAspect="1"/>
          </p:cNvPicPr>
          <p:nvPr/>
        </p:nvPicPr>
        <p:blipFill>
          <a:blip r:embed="rId7"/>
          <a:stretch>
            <a:fillRect/>
          </a:stretch>
        </p:blipFill>
        <p:spPr>
          <a:xfrm>
            <a:off x="786384" y="5385816"/>
            <a:ext cx="219456" cy="219456"/>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n8n · Zapier</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0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0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00" dirty="0">
                <a:solidFill>
                  <a:srgbClr val="7A8790"/>
                </a:solidFill>
                <a:latin typeface="Calibri" pitchFamily="34" charset="0"/>
                <a:ea typeface="Calibri" pitchFamily="34" charset="-122"/>
                <a:cs typeface="Calibri" pitchFamily="34" charset="-120"/>
              </a:rPr>
              <a:t>open source</a:t>
            </a:r>
            <a:endParaRPr lang="en-US" sz="1200" dirty="0"/>
          </a:p>
          <a:p>
            <a:pPr indent="0" marL="0">
              <a:lnSpc>
                <a:spcPct val="100000"/>
              </a:lnSpc>
              <a:buNone/>
            </a:pPr>
            <a:r>
              <a:rPr lang="en-US" sz="92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come in Part 5.</a:t>
            </a:r>
            <a:endParaRPr lang="en-US" sz="1200" dirty="0"/>
          </a:p>
        </p:txBody>
      </p:sp>
      <p:sp>
        <p:nvSpPr>
          <p:cNvPr id="38" name="Text 28"/>
          <p:cNvSpPr/>
          <p:nvPr/>
        </p:nvSpPr>
        <p:spPr>
          <a:xfrm>
            <a:off x="502920" y="6172200"/>
            <a:ext cx="11155680" cy="32004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Coding IDEs (Cursor · GitHub Copilot · Devin) and browser agents (Comet · Claude in Chrome) exist too — engineering and power-user tools; ask IT before either.</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SPECIALIST SHELF · THE MAKERS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great tool per job — September 2026</a:t>
            </a:r>
            <a:endParaRPr lang="en-US" sz="3000" dirty="0"/>
          </a:p>
        </p:txBody>
      </p:sp>
      <p:sp>
        <p:nvSpPr>
          <p:cNvPr id="6" name="Shape 4"/>
          <p:cNvSpPr/>
          <p:nvPr/>
        </p:nvSpPr>
        <p:spPr>
          <a:xfrm>
            <a:off x="502920" y="1463040"/>
            <a:ext cx="5440680" cy="1024128"/>
          </a:xfrm>
          <a:prstGeom prst="roundRect">
            <a:avLst>
              <a:gd name="adj" fmla="val 7143"/>
            </a:avLst>
          </a:prstGeom>
          <a:solidFill>
            <a:srgbClr val="F2F5F6"/>
          </a:solidFill>
          <a:ln/>
        </p:spPr>
      </p:sp>
      <p:sp>
        <p:nvSpPr>
          <p:cNvPr id="7" name="Shape 5"/>
          <p:cNvSpPr/>
          <p:nvPr/>
        </p:nvSpPr>
        <p:spPr>
          <a:xfrm>
            <a:off x="667512" y="1737360"/>
            <a:ext cx="457200" cy="457200"/>
          </a:xfrm>
          <a:prstGeom prst="ellipse">
            <a:avLst/>
          </a:prstGeom>
          <a:solidFill>
            <a:srgbClr val="0E7C7B"/>
          </a:solidFill>
          <a:ln/>
        </p:spPr>
      </p:sp>
      <p:pic>
        <p:nvPicPr>
          <p:cNvPr id="8" name="Image 0" descr="/home/user/Claude-Works/ai-training-prompt-engineering/src/assets/icons/book_w.png">    </p:cNvPr>
          <p:cNvPicPr>
            <a:picLocks noChangeAspect="1"/>
          </p:cNvPicPr>
          <p:nvPr/>
        </p:nvPicPr>
        <p:blipFill>
          <a:blip r:embed="rId1"/>
          <a:stretch>
            <a:fillRect/>
          </a:stretch>
        </p:blipFill>
        <p:spPr>
          <a:xfrm>
            <a:off x="786384" y="1856232"/>
            <a:ext cx="219456" cy="219456"/>
          </a:xfrm>
          <a:prstGeom prst="rect">
            <a:avLst/>
          </a:prstGeom>
        </p:spPr>
      </p:pic>
      <p:sp>
        <p:nvSpPr>
          <p:cNvPr id="9" name="Text 6"/>
          <p:cNvSpPr/>
          <p:nvPr/>
        </p:nvSpPr>
        <p:spPr>
          <a:xfrm>
            <a:off x="1234440" y="1508760"/>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Gemini Notebook (was NotebookLM)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Google</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Upload YOUR documents, get cited answers, audio overviews, mind maps. Grounded in your sources = low hallucination. The most useful new tool for this room.</a:t>
            </a:r>
            <a:endParaRPr lang="en-US" sz="1150" dirty="0"/>
          </a:p>
        </p:txBody>
      </p:sp>
      <p:sp>
        <p:nvSpPr>
          <p:cNvPr id="10" name="Shape 7"/>
          <p:cNvSpPr/>
          <p:nvPr/>
        </p:nvSpPr>
        <p:spPr>
          <a:xfrm>
            <a:off x="6172200" y="1463040"/>
            <a:ext cx="5440680" cy="1024128"/>
          </a:xfrm>
          <a:prstGeom prst="roundRect">
            <a:avLst>
              <a:gd name="adj" fmla="val 7143"/>
            </a:avLst>
          </a:prstGeom>
          <a:solidFill>
            <a:srgbClr val="F2F5F6"/>
          </a:solidFill>
          <a:ln/>
        </p:spPr>
      </p:sp>
      <p:sp>
        <p:nvSpPr>
          <p:cNvPr id="11" name="Shape 8"/>
          <p:cNvSpPr/>
          <p:nvPr/>
        </p:nvSpPr>
        <p:spPr>
          <a:xfrm>
            <a:off x="6336792" y="1737360"/>
            <a:ext cx="457200" cy="457200"/>
          </a:xfrm>
          <a:prstGeom prst="ellipse">
            <a:avLst/>
          </a:prstGeom>
          <a:solidFill>
            <a:srgbClr val="0E7C7B"/>
          </a:solidFill>
          <a:ln/>
        </p:spPr>
      </p:sp>
      <p:pic>
        <p:nvPicPr>
          <p:cNvPr id="12" name="Image 1" descr="/home/user/Claude-Works/ai-training-prompt-engineering/src/assets/icons/mic_w.png">    </p:cNvPr>
          <p:cNvPicPr>
            <a:picLocks noChangeAspect="1"/>
          </p:cNvPicPr>
          <p:nvPr/>
        </p:nvPicPr>
        <p:blipFill>
          <a:blip r:embed="rId2"/>
          <a:stretch>
            <a:fillRect/>
          </a:stretch>
        </p:blipFill>
        <p:spPr>
          <a:xfrm>
            <a:off x="6455664" y="1856232"/>
            <a:ext cx="219456" cy="219456"/>
          </a:xfrm>
          <a:prstGeom prst="rect">
            <a:avLst/>
          </a:prstGeom>
        </p:spPr>
      </p:pic>
      <p:sp>
        <p:nvSpPr>
          <p:cNvPr id="13" name="Text 9"/>
          <p:cNvSpPr/>
          <p:nvPr/>
        </p:nvSpPr>
        <p:spPr>
          <a:xfrm>
            <a:off x="6903720" y="1508760"/>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Meeting notes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Teams / Zoom native · Granola</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your native tool first (IT-sanctioned). Granola is the bot-free best-in-class — but recording consent policy applies either way.</a:t>
            </a:r>
            <a:endParaRPr lang="en-US" sz="1150" dirty="0"/>
          </a:p>
        </p:txBody>
      </p:sp>
      <p:sp>
        <p:nvSpPr>
          <p:cNvPr id="14" name="Shape 10"/>
          <p:cNvSpPr/>
          <p:nvPr/>
        </p:nvSpPr>
        <p:spPr>
          <a:xfrm>
            <a:off x="502920" y="2596896"/>
            <a:ext cx="5440680" cy="1024128"/>
          </a:xfrm>
          <a:prstGeom prst="roundRect">
            <a:avLst>
              <a:gd name="adj" fmla="val 7143"/>
            </a:avLst>
          </a:prstGeom>
          <a:solidFill>
            <a:srgbClr val="F2F5F6"/>
          </a:solidFill>
          <a:ln/>
        </p:spPr>
      </p:sp>
      <p:sp>
        <p:nvSpPr>
          <p:cNvPr id="15" name="Shape 11"/>
          <p:cNvSpPr/>
          <p:nvPr/>
        </p:nvSpPr>
        <p:spPr>
          <a:xfrm>
            <a:off x="667512" y="2871216"/>
            <a:ext cx="457200" cy="457200"/>
          </a:xfrm>
          <a:prstGeom prst="ellipse">
            <a:avLst/>
          </a:prstGeom>
          <a:solidFill>
            <a:srgbClr val="0E7C7B"/>
          </a:solidFill>
          <a:ln/>
        </p:spPr>
      </p:sp>
      <p:pic>
        <p:nvPicPr>
          <p:cNvPr id="16" name="Image 2" descr="/home/user/Claude-Works/ai-training-prompt-engineering/src/assets/icons/layout_w.png">    </p:cNvPr>
          <p:cNvPicPr>
            <a:picLocks noChangeAspect="1"/>
          </p:cNvPicPr>
          <p:nvPr/>
        </p:nvPicPr>
        <p:blipFill>
          <a:blip r:embed="rId3"/>
          <a:stretch>
            <a:fillRect/>
          </a:stretch>
        </p:blipFill>
        <p:spPr>
          <a:xfrm>
            <a:off x="786384" y="2990088"/>
            <a:ext cx="219456" cy="219456"/>
          </a:xfrm>
          <a:prstGeom prst="rect">
            <a:avLst/>
          </a:prstGeom>
        </p:spPr>
      </p:pic>
      <p:sp>
        <p:nvSpPr>
          <p:cNvPr id="17" name="Text 12"/>
          <p:cNvSpPr/>
          <p:nvPr/>
        </p:nvSpPr>
        <p:spPr>
          <a:xfrm>
            <a:off x="1234440" y="2642616"/>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Decks &amp; design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Gamma · Canva AI</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Gamma: a full deck from a prompt (70M users). Canva: the design suite marketing already licenses, now with conversational AI.</a:t>
            </a:r>
            <a:endParaRPr lang="en-US" sz="1150" dirty="0"/>
          </a:p>
        </p:txBody>
      </p:sp>
      <p:sp>
        <p:nvSpPr>
          <p:cNvPr id="18" name="Shape 13"/>
          <p:cNvSpPr/>
          <p:nvPr/>
        </p:nvSpPr>
        <p:spPr>
          <a:xfrm>
            <a:off x="6172200" y="2596896"/>
            <a:ext cx="5440680" cy="1024128"/>
          </a:xfrm>
          <a:prstGeom prst="roundRect">
            <a:avLst>
              <a:gd name="adj" fmla="val 7143"/>
            </a:avLst>
          </a:prstGeom>
          <a:solidFill>
            <a:srgbClr val="F2F5F6"/>
          </a:solidFill>
          <a:ln/>
        </p:spPr>
      </p:sp>
      <p:sp>
        <p:nvSpPr>
          <p:cNvPr id="19" name="Shape 14"/>
          <p:cNvSpPr/>
          <p:nvPr/>
        </p:nvSpPr>
        <p:spPr>
          <a:xfrm>
            <a:off x="6336792" y="2871216"/>
            <a:ext cx="457200" cy="457200"/>
          </a:xfrm>
          <a:prstGeom prst="ellipse">
            <a:avLst/>
          </a:prstGeom>
          <a:solidFill>
            <a:srgbClr val="0E7C7B"/>
          </a:solidFill>
          <a:ln/>
        </p:spPr>
      </p:sp>
      <p:pic>
        <p:nvPicPr>
          <p:cNvPr id="20" name="Image 3" descr="/home/user/Claude-Works/ai-training-prompt-engineering/src/assets/icons/image_w.png">    </p:cNvPr>
          <p:cNvPicPr>
            <a:picLocks noChangeAspect="1"/>
          </p:cNvPicPr>
          <p:nvPr/>
        </p:nvPicPr>
        <p:blipFill>
          <a:blip r:embed="rId4"/>
          <a:stretch>
            <a:fillRect/>
          </a:stretch>
        </p:blipFill>
        <p:spPr>
          <a:xfrm>
            <a:off x="6455664" y="2990088"/>
            <a:ext cx="219456" cy="219456"/>
          </a:xfrm>
          <a:prstGeom prst="rect">
            <a:avLst/>
          </a:prstGeom>
        </p:spPr>
      </p:pic>
      <p:sp>
        <p:nvSpPr>
          <p:cNvPr id="21" name="Text 15"/>
          <p:cNvSpPr/>
          <p:nvPr/>
        </p:nvSpPr>
        <p:spPr>
          <a:xfrm>
            <a:off x="6903720" y="2642616"/>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Images — the safe lane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Adobe Firefly</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Trained only on licensed content and ships with legal indemnification — the corporate pick. ChatGPT Images 2.0 / Nano Banana 2 are already in your chatbot for internal drafts.</a:t>
            </a:r>
            <a:endParaRPr lang="en-US" sz="1150" dirty="0"/>
          </a:p>
        </p:txBody>
      </p:sp>
      <p:sp>
        <p:nvSpPr>
          <p:cNvPr id="22" name="Shape 16"/>
          <p:cNvSpPr/>
          <p:nvPr/>
        </p:nvSpPr>
        <p:spPr>
          <a:xfrm>
            <a:off x="502920" y="3730752"/>
            <a:ext cx="5440680" cy="1024128"/>
          </a:xfrm>
          <a:prstGeom prst="roundRect">
            <a:avLst>
              <a:gd name="adj" fmla="val 7143"/>
            </a:avLst>
          </a:prstGeom>
          <a:solidFill>
            <a:srgbClr val="F2F5F6"/>
          </a:solidFill>
          <a:ln/>
        </p:spPr>
      </p:sp>
      <p:sp>
        <p:nvSpPr>
          <p:cNvPr id="23" name="Shape 17"/>
          <p:cNvSpPr/>
          <p:nvPr/>
        </p:nvSpPr>
        <p:spPr>
          <a:xfrm>
            <a:off x="667512" y="4005072"/>
            <a:ext cx="457200" cy="457200"/>
          </a:xfrm>
          <a:prstGeom prst="ellipse">
            <a:avLst/>
          </a:prstGeom>
          <a:solidFill>
            <a:srgbClr val="0E7C7B"/>
          </a:solidFill>
          <a:ln/>
        </p:spPr>
      </p:sp>
      <p:pic>
        <p:nvPicPr>
          <p:cNvPr id="24" name="Image 4" descr="/home/user/Claude-Works/ai-training-prompt-engineering/src/assets/icons/html_w.png">    </p:cNvPr>
          <p:cNvPicPr>
            <a:picLocks noChangeAspect="1"/>
          </p:cNvPicPr>
          <p:nvPr/>
        </p:nvPicPr>
        <p:blipFill>
          <a:blip r:embed="rId5"/>
          <a:stretch>
            <a:fillRect/>
          </a:stretch>
        </p:blipFill>
        <p:spPr>
          <a:xfrm>
            <a:off x="786384" y="4123944"/>
            <a:ext cx="219456" cy="219456"/>
          </a:xfrm>
          <a:prstGeom prst="rect">
            <a:avLst/>
          </a:prstGeom>
        </p:spPr>
      </p:pic>
      <p:sp>
        <p:nvSpPr>
          <p:cNvPr id="25" name="Text 18"/>
          <p:cNvSpPr/>
          <p:nvPr/>
        </p:nvSpPr>
        <p:spPr>
          <a:xfrm>
            <a:off x="1234440" y="3776472"/>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Apps without code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Lovable</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Describe an app in plain language → working web app with database and login (Adidas, NVIDIA use it). Security review before real company data.</a:t>
            </a:r>
            <a:endParaRPr lang="en-US" sz="1150" dirty="0"/>
          </a:p>
        </p:txBody>
      </p:sp>
      <p:sp>
        <p:nvSpPr>
          <p:cNvPr id="26" name="Shape 19"/>
          <p:cNvSpPr/>
          <p:nvPr/>
        </p:nvSpPr>
        <p:spPr>
          <a:xfrm>
            <a:off x="6172200" y="3730752"/>
            <a:ext cx="5440680" cy="1024128"/>
          </a:xfrm>
          <a:prstGeom prst="roundRect">
            <a:avLst>
              <a:gd name="adj" fmla="val 7143"/>
            </a:avLst>
          </a:prstGeom>
          <a:solidFill>
            <a:srgbClr val="F2F5F6"/>
          </a:solidFill>
          <a:ln/>
        </p:spPr>
      </p:sp>
      <p:sp>
        <p:nvSpPr>
          <p:cNvPr id="27" name="Shape 20"/>
          <p:cNvSpPr/>
          <p:nvPr/>
        </p:nvSpPr>
        <p:spPr>
          <a:xfrm>
            <a:off x="6336792" y="4005072"/>
            <a:ext cx="457200" cy="457200"/>
          </a:xfrm>
          <a:prstGeom prst="ellipse">
            <a:avLst/>
          </a:prstGeom>
          <a:solidFill>
            <a:srgbClr val="0E7C7B"/>
          </a:solidFill>
          <a:ln/>
        </p:spPr>
      </p:sp>
      <p:pic>
        <p:nvPicPr>
          <p:cNvPr id="28" name="Image 5" descr="/home/user/Claude-Works/ai-training-prompt-engineering/src/assets/icons/translate_w.png">    </p:cNvPr>
          <p:cNvPicPr>
            <a:picLocks noChangeAspect="1"/>
          </p:cNvPicPr>
          <p:nvPr/>
        </p:nvPicPr>
        <p:blipFill>
          <a:blip r:embed="rId6"/>
          <a:stretch>
            <a:fillRect/>
          </a:stretch>
        </p:blipFill>
        <p:spPr>
          <a:xfrm>
            <a:off x="6455664" y="4123944"/>
            <a:ext cx="219456" cy="219456"/>
          </a:xfrm>
          <a:prstGeom prst="rect">
            <a:avLst/>
          </a:prstGeom>
        </p:spPr>
      </p:pic>
      <p:sp>
        <p:nvSpPr>
          <p:cNvPr id="29" name="Text 21"/>
          <p:cNvSpPr/>
          <p:nvPr/>
        </p:nvSpPr>
        <p:spPr>
          <a:xfrm>
            <a:off x="6903720" y="3776472"/>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Voice &amp; language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ElevenLabs · DeepL</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ElevenLabs: narrated training modules, dubbing (consent rules for voice cloning). DeepL: real-time spoken translation + document-grade language work.</a:t>
            </a:r>
            <a:endParaRPr lang="en-US" sz="1150" dirty="0"/>
          </a:p>
        </p:txBody>
      </p:sp>
      <p:sp>
        <p:nvSpPr>
          <p:cNvPr id="30" name="Shape 22"/>
          <p:cNvSpPr/>
          <p:nvPr/>
        </p:nvSpPr>
        <p:spPr>
          <a:xfrm>
            <a:off x="502920" y="4864608"/>
            <a:ext cx="5440680" cy="1024128"/>
          </a:xfrm>
          <a:prstGeom prst="roundRect">
            <a:avLst>
              <a:gd name="adj" fmla="val 7143"/>
            </a:avLst>
          </a:prstGeom>
          <a:solidFill>
            <a:srgbClr val="F2F5F6"/>
          </a:solidFill>
          <a:ln/>
        </p:spPr>
      </p:sp>
      <p:sp>
        <p:nvSpPr>
          <p:cNvPr id="31" name="Shape 23"/>
          <p:cNvSpPr/>
          <p:nvPr/>
        </p:nvSpPr>
        <p:spPr>
          <a:xfrm>
            <a:off x="667512" y="5138928"/>
            <a:ext cx="457200" cy="457200"/>
          </a:xfrm>
          <a:prstGeom prst="ellipse">
            <a:avLst/>
          </a:prstGeom>
          <a:solidFill>
            <a:srgbClr val="0E7C7B"/>
          </a:solidFill>
          <a:ln/>
        </p:spPr>
      </p:sp>
      <p:pic>
        <p:nvPicPr>
          <p:cNvPr id="32" name="Image 6" descr="/home/user/Claude-Works/ai-training-prompt-engineering/src/assets/icons/video_w.png">    </p:cNvPr>
          <p:cNvPicPr>
            <a:picLocks noChangeAspect="1"/>
          </p:cNvPicPr>
          <p:nvPr/>
        </p:nvPicPr>
        <p:blipFill>
          <a:blip r:embed="rId7"/>
          <a:stretch>
            <a:fillRect/>
          </a:stretch>
        </p:blipFill>
        <p:spPr>
          <a:xfrm>
            <a:off x="786384" y="5257800"/>
            <a:ext cx="219456" cy="219456"/>
          </a:xfrm>
          <a:prstGeom prst="rect">
            <a:avLst/>
          </a:prstGeom>
        </p:spPr>
      </p:pic>
      <p:sp>
        <p:nvSpPr>
          <p:cNvPr id="33" name="Text 24"/>
          <p:cNvSpPr/>
          <p:nvPr/>
        </p:nvSpPr>
        <p:spPr>
          <a:xfrm>
            <a:off x="1234440" y="4910328"/>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Video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Veo 3.1 (in Google tools)</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Good enough for internal video today. Cautionary tale: OpenAI’s famous Sora app shut down 14 months after launch — never build a process on a consumer app.</a:t>
            </a:r>
            <a:endParaRPr lang="en-US" sz="1150" dirty="0"/>
          </a:p>
        </p:txBody>
      </p:sp>
      <p:sp>
        <p:nvSpPr>
          <p:cNvPr id="34" name="Shape 25"/>
          <p:cNvSpPr/>
          <p:nvPr/>
        </p:nvSpPr>
        <p:spPr>
          <a:xfrm>
            <a:off x="6172200" y="4864608"/>
            <a:ext cx="5440680" cy="1024128"/>
          </a:xfrm>
          <a:prstGeom prst="roundRect">
            <a:avLst>
              <a:gd name="adj" fmla="val 7143"/>
            </a:avLst>
          </a:prstGeom>
          <a:solidFill>
            <a:srgbClr val="E4F0EF"/>
          </a:solidFill>
          <a:ln/>
        </p:spPr>
      </p:sp>
      <p:sp>
        <p:nvSpPr>
          <p:cNvPr id="35" name="Shape 26"/>
          <p:cNvSpPr/>
          <p:nvPr/>
        </p:nvSpPr>
        <p:spPr>
          <a:xfrm>
            <a:off x="6336792" y="5138928"/>
            <a:ext cx="457200" cy="457200"/>
          </a:xfrm>
          <a:prstGeom prst="ellipse">
            <a:avLst/>
          </a:prstGeom>
          <a:solidFill>
            <a:srgbClr val="0E7C7B"/>
          </a:solidFill>
          <a:ln/>
        </p:spPr>
      </p:sp>
      <p:pic>
        <p:nvPicPr>
          <p:cNvPr id="36" name="Image 7" descr="/home/user/Claude-Works/ai-training-prompt-engineering/src/assets/icons/search_w.png">    </p:cNvPr>
          <p:cNvPicPr>
            <a:picLocks noChangeAspect="1"/>
          </p:cNvPicPr>
          <p:nvPr/>
        </p:nvPicPr>
        <p:blipFill>
          <a:blip r:embed="rId8"/>
          <a:stretch>
            <a:fillRect/>
          </a:stretch>
        </p:blipFill>
        <p:spPr>
          <a:xfrm>
            <a:off x="6455664" y="5257800"/>
            <a:ext cx="219456" cy="219456"/>
          </a:xfrm>
          <a:prstGeom prst="rect">
            <a:avLst/>
          </a:prstGeom>
        </p:spPr>
      </p:pic>
      <p:sp>
        <p:nvSpPr>
          <p:cNvPr id="37" name="Text 27"/>
          <p:cNvSpPr/>
          <p:nvPr/>
        </p:nvSpPr>
        <p:spPr>
          <a:xfrm>
            <a:off x="6903720" y="4910328"/>
            <a:ext cx="4572000" cy="932688"/>
          </a:xfrm>
          <a:prstGeom prst="rect">
            <a:avLst/>
          </a:prstGeom>
          <a:noFill/>
          <a:ln/>
        </p:spPr>
        <p:txBody>
          <a:bodyPr wrap="square" lIns="0" tIns="0" rIns="0" bIns="0" rtlCol="0" anchor="ctr"/>
          <a:lstStyle/>
          <a:p>
            <a:pPr indent="0" marL="0">
              <a:lnSpc>
                <a:spcPct val="100000"/>
              </a:lnSpc>
              <a:buNone/>
            </a:pPr>
            <a:r>
              <a:rPr lang="en-US" sz="1150" b="1" dirty="0">
                <a:solidFill>
                  <a:srgbClr val="232A31"/>
                </a:solidFill>
                <a:latin typeface="Calibri" pitchFamily="34" charset="0"/>
                <a:ea typeface="Calibri" pitchFamily="34" charset="-122"/>
                <a:cs typeface="Calibri" pitchFamily="34" charset="-120"/>
              </a:rPr>
              <a:t>Find more, forever  </a:t>
            </a:r>
            <a:pPr indent="0" marL="0">
              <a:lnSpc>
                <a:spcPct val="100000"/>
              </a:lnSpc>
              <a:spcAft>
                <a:spcPts val="200"/>
              </a:spcAft>
              <a:buNone/>
            </a:pPr>
            <a:r>
              <a:rPr lang="en-US" sz="880" dirty="0">
                <a:solidFill>
                  <a:srgbClr val="7A8790"/>
                </a:solidFill>
                <a:latin typeface="Calibri" pitchFamily="34" charset="0"/>
                <a:ea typeface="Calibri" pitchFamily="34" charset="-122"/>
                <a:cs typeface="Calibri" pitchFamily="34" charset="-120"/>
              </a:rPr>
              <a:t>your own assistant</a:t>
            </a:r>
            <a:endParaRPr lang="en-US" sz="1150" dirty="0"/>
          </a:p>
          <a:p>
            <a:pPr indent="0" marL="0">
              <a:lnSpc>
                <a:spcPct val="100000"/>
              </a:lnSpc>
              <a:buNone/>
            </a:pPr>
            <a:r>
              <a:rPr lang="en-US" sz="900" dirty="0">
                <a:solidFill>
                  <a:srgbClr val="46545F"/>
                </a:solidFill>
                <a:latin typeface="Calibri" pitchFamily="34" charset="0"/>
                <a:ea typeface="Calibri" pitchFamily="34" charset="-122"/>
                <a:cs typeface="Calibri" pitchFamily="34" charset="-120"/>
              </a:rPr>
              <a:t>Tools change monthly. Ask your approved AI: “Search the web: what are the best current tools for [my task], and which are enterprise-safe?” That answer never goes stale.</a:t>
            </a:r>
            <a:endParaRPr lang="en-US" sz="1150" dirty="0"/>
          </a:p>
        </p:txBody>
      </p:sp>
      <p:sp>
        <p:nvSpPr>
          <p:cNvPr id="38" name="Shape 28"/>
          <p:cNvSpPr/>
          <p:nvPr/>
        </p:nvSpPr>
        <p:spPr>
          <a:xfrm>
            <a:off x="502920" y="6035040"/>
            <a:ext cx="11155680" cy="475488"/>
          </a:xfrm>
          <a:prstGeom prst="roundRect">
            <a:avLst>
              <a:gd name="adj" fmla="val 15385"/>
            </a:avLst>
          </a:prstGeom>
          <a:solidFill>
            <a:srgbClr val="FBF0E0"/>
          </a:solidFill>
          <a:ln/>
        </p:spPr>
      </p:sp>
      <p:sp>
        <p:nvSpPr>
          <p:cNvPr id="39" name="Shape 29"/>
          <p:cNvSpPr/>
          <p:nvPr/>
        </p:nvSpPr>
        <p:spPr>
          <a:xfrm>
            <a:off x="667512" y="6080760"/>
            <a:ext cx="384048" cy="384048"/>
          </a:xfrm>
          <a:prstGeom prst="ellipse">
            <a:avLst/>
          </a:prstGeom>
          <a:solidFill>
            <a:srgbClr val="B96A1B"/>
          </a:solidFill>
          <a:ln/>
        </p:spPr>
      </p:sp>
      <p:pic>
        <p:nvPicPr>
          <p:cNvPr id="40" name="Image 8" descr="/home/user/Claude-Works/ai-training-prompt-engineering/src/assets/icons/shield_w.png">    </p:cNvPr>
          <p:cNvPicPr>
            <a:picLocks noChangeAspect="1"/>
          </p:cNvPicPr>
          <p:nvPr/>
        </p:nvPicPr>
        <p:blipFill>
          <a:blip r:embed="rId9"/>
          <a:stretch>
            <a:fillRect/>
          </a:stretch>
        </p:blipFill>
        <p:spPr>
          <a:xfrm>
            <a:off x="767364" y="6180612"/>
            <a:ext cx="184343" cy="184343"/>
          </a:xfrm>
          <a:prstGeom prst="rect">
            <a:avLst/>
          </a:prstGeom>
        </p:spPr>
      </p:pic>
      <p:sp>
        <p:nvSpPr>
          <p:cNvPr id="41" name="Text 30"/>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Standing rule: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your organization’s AI policy and approved-tool list outrank every name on these two slides.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21</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seven techniques — and for every one of them: what it buys you, and the evidence behind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parts — this is what good looks like</a:t>
            </a:r>
            <a:endParaRPr lang="en-US" sz="3000" dirty="0"/>
          </a:p>
        </p:txBody>
      </p:sp>
      <p:sp>
        <p:nvSpPr>
          <p:cNvPr id="6" name="Shape 4"/>
          <p:cNvSpPr/>
          <p:nvPr/>
        </p:nvSpPr>
        <p:spPr>
          <a:xfrm>
            <a:off x="502920" y="1481328"/>
            <a:ext cx="7178040" cy="804672"/>
          </a:xfrm>
          <a:prstGeom prst="roundRect">
            <a:avLst>
              <a:gd name="adj" fmla="val 9091"/>
            </a:avLst>
          </a:prstGeom>
          <a:solidFill>
            <a:srgbClr val="F2F5F6"/>
          </a:solidFill>
          <a:ln/>
        </p:spPr>
      </p:sp>
      <p:sp>
        <p:nvSpPr>
          <p:cNvPr id="7" name="Shape 5"/>
          <p:cNvSpPr/>
          <p:nvPr/>
        </p:nvSpPr>
        <p:spPr>
          <a:xfrm>
            <a:off x="713232" y="1682496"/>
            <a:ext cx="1234440" cy="402336"/>
          </a:xfrm>
          <a:prstGeom prst="roundRect">
            <a:avLst>
              <a:gd name="adj" fmla="val 15909"/>
            </a:avLst>
          </a:prstGeom>
          <a:solidFill>
            <a:srgbClr val="0E7C7B"/>
          </a:solidFill>
          <a:ln/>
        </p:spPr>
      </p:sp>
      <p:sp>
        <p:nvSpPr>
          <p:cNvPr id="8" name="Text 6"/>
          <p:cNvSpPr/>
          <p:nvPr/>
        </p:nvSpPr>
        <p:spPr>
          <a:xfrm>
            <a:off x="713232" y="1691640"/>
            <a:ext cx="1234440" cy="38404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ROLE</a:t>
            </a:r>
            <a:endParaRPr lang="en-US" sz="1050" dirty="0"/>
          </a:p>
        </p:txBody>
      </p:sp>
      <p:sp>
        <p:nvSpPr>
          <p:cNvPr id="9" name="Text 7"/>
          <p:cNvSpPr/>
          <p:nvPr/>
        </p:nvSpPr>
        <p:spPr>
          <a:xfrm>
            <a:off x="2121408" y="1554480"/>
            <a:ext cx="5349240" cy="658368"/>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50" dirty="0"/>
          </a:p>
        </p:txBody>
      </p:sp>
      <p:sp>
        <p:nvSpPr>
          <p:cNvPr id="10" name="Shape 8"/>
          <p:cNvSpPr/>
          <p:nvPr/>
        </p:nvSpPr>
        <p:spPr>
          <a:xfrm>
            <a:off x="502920" y="2377440"/>
            <a:ext cx="7178040" cy="804672"/>
          </a:xfrm>
          <a:prstGeom prst="roundRect">
            <a:avLst>
              <a:gd name="adj" fmla="val 9091"/>
            </a:avLst>
          </a:prstGeom>
          <a:solidFill>
            <a:srgbClr val="FFFFFF"/>
          </a:solidFill>
          <a:ln w="9525">
            <a:solidFill>
              <a:srgbClr val="DCE3E6"/>
            </a:solidFill>
            <a:prstDash val="solid"/>
          </a:ln>
        </p:spPr>
      </p:sp>
      <p:sp>
        <p:nvSpPr>
          <p:cNvPr id="11" name="Shape 9"/>
          <p:cNvSpPr/>
          <p:nvPr/>
        </p:nvSpPr>
        <p:spPr>
          <a:xfrm>
            <a:off x="713232" y="2578608"/>
            <a:ext cx="1234440" cy="402336"/>
          </a:xfrm>
          <a:prstGeom prst="roundRect">
            <a:avLst>
              <a:gd name="adj" fmla="val 15909"/>
            </a:avLst>
          </a:prstGeom>
          <a:solidFill>
            <a:srgbClr val="0E7C7B"/>
          </a:solidFill>
          <a:ln/>
        </p:spPr>
      </p:sp>
      <p:sp>
        <p:nvSpPr>
          <p:cNvPr id="12" name="Text 10"/>
          <p:cNvSpPr/>
          <p:nvPr/>
        </p:nvSpPr>
        <p:spPr>
          <a:xfrm>
            <a:off x="713232" y="2587752"/>
            <a:ext cx="1234440" cy="38404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TASK</a:t>
            </a:r>
            <a:endParaRPr lang="en-US" sz="1050" dirty="0"/>
          </a:p>
        </p:txBody>
      </p:sp>
      <p:sp>
        <p:nvSpPr>
          <p:cNvPr id="13" name="Text 11"/>
          <p:cNvSpPr/>
          <p:nvPr/>
        </p:nvSpPr>
        <p:spPr>
          <a:xfrm>
            <a:off x="2121408" y="2450592"/>
            <a:ext cx="5349240" cy="658368"/>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50" dirty="0"/>
          </a:p>
        </p:txBody>
      </p:sp>
      <p:sp>
        <p:nvSpPr>
          <p:cNvPr id="14" name="Shape 12"/>
          <p:cNvSpPr/>
          <p:nvPr/>
        </p:nvSpPr>
        <p:spPr>
          <a:xfrm>
            <a:off x="502920" y="3273552"/>
            <a:ext cx="7178040" cy="804672"/>
          </a:xfrm>
          <a:prstGeom prst="roundRect">
            <a:avLst>
              <a:gd name="adj" fmla="val 9091"/>
            </a:avLst>
          </a:prstGeom>
          <a:solidFill>
            <a:srgbClr val="F2F5F6"/>
          </a:solidFill>
          <a:ln/>
        </p:spPr>
      </p:sp>
      <p:sp>
        <p:nvSpPr>
          <p:cNvPr id="15" name="Shape 13"/>
          <p:cNvSpPr/>
          <p:nvPr/>
        </p:nvSpPr>
        <p:spPr>
          <a:xfrm>
            <a:off x="713232" y="3474720"/>
            <a:ext cx="1234440" cy="402336"/>
          </a:xfrm>
          <a:prstGeom prst="roundRect">
            <a:avLst>
              <a:gd name="adj" fmla="val 15909"/>
            </a:avLst>
          </a:prstGeom>
          <a:solidFill>
            <a:srgbClr val="0E7C7B"/>
          </a:solidFill>
          <a:ln/>
        </p:spPr>
      </p:sp>
      <p:sp>
        <p:nvSpPr>
          <p:cNvPr id="16" name="Text 14"/>
          <p:cNvSpPr/>
          <p:nvPr/>
        </p:nvSpPr>
        <p:spPr>
          <a:xfrm>
            <a:off x="713232" y="3483864"/>
            <a:ext cx="1234440" cy="38404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CONTEXT</a:t>
            </a:r>
            <a:endParaRPr lang="en-US" sz="1050" dirty="0"/>
          </a:p>
        </p:txBody>
      </p:sp>
      <p:sp>
        <p:nvSpPr>
          <p:cNvPr id="17" name="Text 15"/>
          <p:cNvSpPr/>
          <p:nvPr/>
        </p:nvSpPr>
        <p:spPr>
          <a:xfrm>
            <a:off x="2121408" y="3346704"/>
            <a:ext cx="5349240" cy="658368"/>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onsolas" pitchFamily="34" charset="0"/>
                <a:ea typeface="Consolas" pitchFamily="34" charset="-122"/>
                <a:cs typeface="Consolas" pitchFamily="34" charset="-120"/>
              </a:rPr>
              <a:t>“Return rate = returns ÷ units shipped. The export has a totals row — exclude it.”</a:t>
            </a:r>
            <a:endParaRPr lang="en-US" sz="1050" dirty="0"/>
          </a:p>
        </p:txBody>
      </p:sp>
      <p:sp>
        <p:nvSpPr>
          <p:cNvPr id="18" name="Shape 16"/>
          <p:cNvSpPr/>
          <p:nvPr/>
        </p:nvSpPr>
        <p:spPr>
          <a:xfrm>
            <a:off x="502920" y="4169664"/>
            <a:ext cx="7178040" cy="804672"/>
          </a:xfrm>
          <a:prstGeom prst="roundRect">
            <a:avLst>
              <a:gd name="adj" fmla="val 9091"/>
            </a:avLst>
          </a:prstGeom>
          <a:solidFill>
            <a:srgbClr val="FFFFFF"/>
          </a:solidFill>
          <a:ln w="9525">
            <a:solidFill>
              <a:srgbClr val="DCE3E6"/>
            </a:solidFill>
            <a:prstDash val="solid"/>
          </a:ln>
        </p:spPr>
      </p:sp>
      <p:sp>
        <p:nvSpPr>
          <p:cNvPr id="19" name="Shape 17"/>
          <p:cNvSpPr/>
          <p:nvPr/>
        </p:nvSpPr>
        <p:spPr>
          <a:xfrm>
            <a:off x="713232" y="4370832"/>
            <a:ext cx="1234440" cy="402336"/>
          </a:xfrm>
          <a:prstGeom prst="roundRect">
            <a:avLst>
              <a:gd name="adj" fmla="val 15909"/>
            </a:avLst>
          </a:prstGeom>
          <a:solidFill>
            <a:srgbClr val="0E7C7B"/>
          </a:solidFill>
          <a:ln/>
        </p:spPr>
      </p:sp>
      <p:sp>
        <p:nvSpPr>
          <p:cNvPr id="20" name="Text 18"/>
          <p:cNvSpPr/>
          <p:nvPr/>
        </p:nvSpPr>
        <p:spPr>
          <a:xfrm>
            <a:off x="713232" y="4379976"/>
            <a:ext cx="1234440" cy="38404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FORMAT</a:t>
            </a:r>
            <a:endParaRPr lang="en-US" sz="1050" dirty="0"/>
          </a:p>
        </p:txBody>
      </p:sp>
      <p:sp>
        <p:nvSpPr>
          <p:cNvPr id="21" name="Text 19"/>
          <p:cNvSpPr/>
          <p:nvPr/>
        </p:nvSpPr>
        <p:spPr>
          <a:xfrm>
            <a:off x="2121408" y="4242816"/>
            <a:ext cx="5349240" cy="658368"/>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onsolas" pitchFamily="34" charset="0"/>
                <a:ea typeface="Consolas" pitchFamily="34" charset="-122"/>
                <a:cs typeface="Consolas" pitchFamily="34" charset="-120"/>
              </a:rPr>
              <a:t>“≤ 150 words: the headline number first, then three bullets; caveats last.”</a:t>
            </a:r>
            <a:endParaRPr lang="en-US" sz="1050" dirty="0"/>
          </a:p>
        </p:txBody>
      </p:sp>
      <p:sp>
        <p:nvSpPr>
          <p:cNvPr id="22" name="Shape 20"/>
          <p:cNvSpPr/>
          <p:nvPr/>
        </p:nvSpPr>
        <p:spPr>
          <a:xfrm>
            <a:off x="502920" y="5065776"/>
            <a:ext cx="7178040" cy="804672"/>
          </a:xfrm>
          <a:prstGeom prst="roundRect">
            <a:avLst>
              <a:gd name="adj" fmla="val 9091"/>
            </a:avLst>
          </a:prstGeom>
          <a:solidFill>
            <a:srgbClr val="F2F5F6"/>
          </a:solidFill>
          <a:ln/>
        </p:spPr>
      </p:sp>
      <p:sp>
        <p:nvSpPr>
          <p:cNvPr id="23" name="Shape 21"/>
          <p:cNvSpPr/>
          <p:nvPr/>
        </p:nvSpPr>
        <p:spPr>
          <a:xfrm>
            <a:off x="713232" y="5266944"/>
            <a:ext cx="1234440" cy="402336"/>
          </a:xfrm>
          <a:prstGeom prst="roundRect">
            <a:avLst>
              <a:gd name="adj" fmla="val 15909"/>
            </a:avLst>
          </a:prstGeom>
          <a:solidFill>
            <a:srgbClr val="0E7C7B"/>
          </a:solidFill>
          <a:ln/>
        </p:spPr>
      </p:sp>
      <p:sp>
        <p:nvSpPr>
          <p:cNvPr id="24" name="Text 22"/>
          <p:cNvSpPr/>
          <p:nvPr/>
        </p:nvSpPr>
        <p:spPr>
          <a:xfrm>
            <a:off x="713232" y="5276088"/>
            <a:ext cx="1234440" cy="38404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EXAMPLES</a:t>
            </a:r>
            <a:endParaRPr lang="en-US" sz="1050" dirty="0"/>
          </a:p>
        </p:txBody>
      </p:sp>
      <p:sp>
        <p:nvSpPr>
          <p:cNvPr id="25" name="Text 23"/>
          <p:cNvSpPr/>
          <p:nvPr/>
        </p:nvSpPr>
        <p:spPr>
          <a:xfrm>
            <a:off x="2121408" y="5138928"/>
            <a:ext cx="5349240" cy="658368"/>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onsolas" pitchFamily="34" charset="0"/>
                <a:ea typeface="Consolas" pitchFamily="34" charset="-122"/>
                <a:cs typeface="Consolas" pitchFamily="34" charset="-120"/>
              </a:rPr>
              <a:t>&lt;example&gt; March’s summary — the one the team liked &lt;/example&gt; + one edge case.</a:t>
            </a:r>
            <a:endParaRPr lang="en-US" sz="1050" dirty="0"/>
          </a:p>
        </p:txBody>
      </p:sp>
      <p:sp>
        <p:nvSpPr>
          <p:cNvPr id="26" name="Shape 24"/>
          <p:cNvSpPr/>
          <p:nvPr/>
        </p:nvSpPr>
        <p:spPr>
          <a:xfrm>
            <a:off x="7909560" y="1481328"/>
            <a:ext cx="3749040" cy="4443984"/>
          </a:xfrm>
          <a:prstGeom prst="roundRect">
            <a:avLst>
              <a:gd name="adj" fmla="val 1951"/>
            </a:avLst>
          </a:prstGeom>
          <a:solidFill>
            <a:srgbClr val="F2F5F6"/>
          </a:solidFill>
          <a:ln/>
        </p:spPr>
      </p:sp>
      <p:sp>
        <p:nvSpPr>
          <p:cNvPr id="27" name="Text 25"/>
          <p:cNvSpPr/>
          <p:nvPr/>
        </p:nvSpPr>
        <p:spPr>
          <a:xfrm>
            <a:off x="8138160" y="1682496"/>
            <a:ext cx="3291840" cy="36576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Same recipe, every vendor</a:t>
            </a:r>
            <a:endParaRPr lang="en-US" sz="1350" dirty="0"/>
          </a:p>
        </p:txBody>
      </p:sp>
      <p:sp>
        <p:nvSpPr>
          <p:cNvPr id="28" name="Text 26"/>
          <p:cNvSpPr/>
          <p:nvPr/>
        </p:nvSpPr>
        <p:spPr>
          <a:xfrm>
            <a:off x="8138160" y="2148840"/>
            <a:ext cx="3291840" cy="274320"/>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Anthropic</a:t>
            </a:r>
            <a:endParaRPr lang="en-US" sz="1100" dirty="0"/>
          </a:p>
        </p:txBody>
      </p:sp>
      <p:sp>
        <p:nvSpPr>
          <p:cNvPr id="29" name="Text 27"/>
          <p:cNvSpPr/>
          <p:nvPr/>
        </p:nvSpPr>
        <p:spPr>
          <a:xfrm>
            <a:off x="8138160" y="2404872"/>
            <a:ext cx="3291840" cy="411480"/>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role · clear, direct task · context · format · examples</a:t>
            </a:r>
            <a:endParaRPr lang="en-US" sz="930" dirty="0"/>
          </a:p>
        </p:txBody>
      </p:sp>
      <p:sp>
        <p:nvSpPr>
          <p:cNvPr id="30" name="Text 28"/>
          <p:cNvSpPr/>
          <p:nvPr/>
        </p:nvSpPr>
        <p:spPr>
          <a:xfrm>
            <a:off x="8138160" y="2898648"/>
            <a:ext cx="3291840" cy="274320"/>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OpenAI</a:t>
            </a:r>
            <a:endParaRPr lang="en-US" sz="1100" dirty="0"/>
          </a:p>
        </p:txBody>
      </p:sp>
      <p:sp>
        <p:nvSpPr>
          <p:cNvPr id="31" name="Text 29"/>
          <p:cNvSpPr/>
          <p:nvPr/>
        </p:nvSpPr>
        <p:spPr>
          <a:xfrm>
            <a:off x="8138160" y="3154680"/>
            <a:ext cx="3291840" cy="411480"/>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role &amp; instructions · context · format · few-shot if needed</a:t>
            </a:r>
            <a:endParaRPr lang="en-US" sz="930" dirty="0"/>
          </a:p>
        </p:txBody>
      </p:sp>
      <p:sp>
        <p:nvSpPr>
          <p:cNvPr id="32" name="Text 30"/>
          <p:cNvSpPr/>
          <p:nvPr/>
        </p:nvSpPr>
        <p:spPr>
          <a:xfrm>
            <a:off x="8138160" y="3648456"/>
            <a:ext cx="3291840" cy="274320"/>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Google</a:t>
            </a:r>
            <a:endParaRPr lang="en-US" sz="1100" dirty="0"/>
          </a:p>
        </p:txBody>
      </p:sp>
      <p:sp>
        <p:nvSpPr>
          <p:cNvPr id="33" name="Text 31"/>
          <p:cNvSpPr/>
          <p:nvPr/>
        </p:nvSpPr>
        <p:spPr>
          <a:xfrm>
            <a:off x="8138160" y="3904488"/>
            <a:ext cx="3291840" cy="411480"/>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Persona · Task · Context · Format</a:t>
            </a:r>
            <a:endParaRPr lang="en-US" sz="930" dirty="0"/>
          </a:p>
        </p:txBody>
      </p:sp>
      <p:sp>
        <p:nvSpPr>
          <p:cNvPr id="34" name="Text 32"/>
          <p:cNvSpPr/>
          <p:nvPr/>
        </p:nvSpPr>
        <p:spPr>
          <a:xfrm>
            <a:off x="8138160" y="4398264"/>
            <a:ext cx="3291840" cy="274320"/>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Microsoft</a:t>
            </a:r>
            <a:endParaRPr lang="en-US" sz="1100" dirty="0"/>
          </a:p>
        </p:txBody>
      </p:sp>
      <p:sp>
        <p:nvSpPr>
          <p:cNvPr id="35" name="Text 33"/>
          <p:cNvSpPr/>
          <p:nvPr/>
        </p:nvSpPr>
        <p:spPr>
          <a:xfrm>
            <a:off x="8138160" y="4654296"/>
            <a:ext cx="3291840" cy="411480"/>
          </a:xfrm>
          <a:prstGeom prst="rect">
            <a:avLst/>
          </a:prstGeom>
          <a:noFill/>
          <a:ln/>
        </p:spPr>
        <p:txBody>
          <a:bodyPr wrap="square" lIns="0" tIns="0" rIns="0" bIns="0" rtlCol="0" anchor="ctr"/>
          <a:lstStyle/>
          <a:p>
            <a:pPr indent="0" marL="0">
              <a:lnSpc>
                <a:spcPct val="100000"/>
              </a:lnSpc>
              <a:buNone/>
            </a:pPr>
            <a:r>
              <a:rPr lang="en-US" sz="930" dirty="0">
                <a:solidFill>
                  <a:srgbClr val="46545F"/>
                </a:solidFill>
                <a:latin typeface="Calibri" pitchFamily="34" charset="0"/>
                <a:ea typeface="Calibri" pitchFamily="34" charset="-122"/>
                <a:cs typeface="Calibri" pitchFamily="34" charset="-120"/>
              </a:rPr>
              <a:t>Goal · Context · Source · Expectations</a:t>
            </a:r>
            <a:endParaRPr lang="en-US" sz="930" dirty="0"/>
          </a:p>
        </p:txBody>
      </p:sp>
      <p:sp>
        <p:nvSpPr>
          <p:cNvPr id="36" name="Text 34"/>
          <p:cNvSpPr/>
          <p:nvPr/>
        </p:nvSpPr>
        <p:spPr>
          <a:xfrm>
            <a:off x="8138160" y="5230368"/>
            <a:ext cx="3291840" cy="594360"/>
          </a:xfrm>
          <a:prstGeom prst="rect">
            <a:avLst/>
          </a:prstGeom>
          <a:noFill/>
          <a:ln/>
        </p:spPr>
        <p:txBody>
          <a:bodyPr wrap="square" lIns="0" tIns="0" rIns="0" bIns="0" rtlCol="0" anchor="ctr"/>
          <a:lstStyle/>
          <a:p>
            <a:pPr indent="0" marL="0">
              <a:lnSpc>
                <a:spcPct val="108000"/>
              </a:lnSpc>
              <a:buNone/>
            </a:pPr>
            <a:r>
              <a:rPr lang="en-US" sz="950" i="1" dirty="0">
                <a:solidFill>
                  <a:srgbClr val="7A8790"/>
                </a:solidFill>
                <a:latin typeface="Calibri" pitchFamily="34" charset="0"/>
                <a:ea typeface="Calibri" pitchFamily="34" charset="-122"/>
                <a:cs typeface="Calibri" pitchFamily="34" charset="-120"/>
              </a:rPr>
              <a:t>Four official prompting guides, one anatomy — the names differ; the recipe doesn’t.</a:t>
            </a:r>
            <a:endParaRPr lang="en-US" sz="950" dirty="0"/>
          </a:p>
        </p:txBody>
      </p:sp>
      <p:sp>
        <p:nvSpPr>
          <p:cNvPr id="37" name="Shape 35"/>
          <p:cNvSpPr/>
          <p:nvPr/>
        </p:nvSpPr>
        <p:spPr>
          <a:xfrm>
            <a:off x="502920" y="6053328"/>
            <a:ext cx="11155680" cy="457200"/>
          </a:xfrm>
          <a:prstGeom prst="roundRect">
            <a:avLst>
              <a:gd name="adj" fmla="val 16000"/>
            </a:avLst>
          </a:prstGeom>
          <a:solidFill>
            <a:srgbClr val="E4F0EF"/>
          </a:solidFill>
          <a:ln/>
        </p:spPr>
      </p:sp>
      <p:sp>
        <p:nvSpPr>
          <p:cNvPr id="38" name="Shape 36"/>
          <p:cNvSpPr/>
          <p:nvPr/>
        </p:nvSpPr>
        <p:spPr>
          <a:xfrm>
            <a:off x="667512" y="6089904"/>
            <a:ext cx="384048" cy="384048"/>
          </a:xfrm>
          <a:prstGeom prst="ellipse">
            <a:avLst/>
          </a:prstGeom>
          <a:solidFill>
            <a:srgbClr val="0E7C7B"/>
          </a:solidFill>
          <a:ln/>
        </p:spPr>
      </p:sp>
      <p:pic>
        <p:nvPicPr>
          <p:cNvPr id="39" name="Image 0" descr="/home/user/Claude-Works/ai-training-prompt-engineering/src/assets/icons/edit_w.png">    </p:cNvPr>
          <p:cNvPicPr>
            <a:picLocks noChangeAspect="1"/>
          </p:cNvPicPr>
          <p:nvPr/>
        </p:nvPicPr>
        <p:blipFill>
          <a:blip r:embed="rId1"/>
          <a:stretch>
            <a:fillRect/>
          </a:stretch>
        </p:blipFill>
        <p:spPr>
          <a:xfrm>
            <a:off x="767364" y="6189756"/>
            <a:ext cx="184343" cy="184343"/>
          </a:xfrm>
          <a:prstGeom prst="rect">
            <a:avLst/>
          </a:prstGeom>
        </p:spPr>
      </p:pic>
      <p:sp>
        <p:nvSpPr>
          <p:cNvPr id="40" name="Text 37"/>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Google’s data point: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most fruitful prompts averaged ~21 words with context — most people type fewer than nine. A good prompt is a short briefing, not a search query.</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who is answering — behaviors, not titles</a:t>
            </a:r>
            <a:endParaRPr lang="en-US" sz="92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readers spot an assigned personality up to 80% of the time. Behavioral commitments are checkable in the output; a title is a vibe it can fake. Beware: dumbed-down personas measurably HURT accuracy.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(Zheng 2024 · Wharton 2025 · PersonaLLM 2024)</a:t>
            </a:r>
            <a:endParaRPr lang="en-US" sz="102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“You are a senior analyst.”</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93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verb + object + audience + success criterion</a:t>
            </a:r>
            <a:endParaRPr lang="en-US" sz="92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and vague prompts are twice as likely to break when the model updates. A precise ask carries its own completion test; a vague one gets a fluent answer to a vaguer question.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(Yang et al. 2025)</a:t>
            </a:r>
            <a:endParaRPr lang="en-US" sz="102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“Analyze the returns data.”</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“What is the return rate by site for Q2, vs the 2% target?”</a:t>
            </a:r>
            <a:endParaRPr lang="en-US" sz="930" dirty="0"/>
          </a:p>
        </p:txBody>
      </p:sp>
      <p:sp>
        <p:nvSpPr>
          <p:cNvPr id="16" name="Text 14"/>
          <p:cNvSpPr/>
          <p:nvPr/>
        </p:nvSpPr>
        <p:spPr>
          <a:xfrm>
            <a:off x="502920" y="619963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Read each pair aloud — the weak→strong contrast is the lesson.</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what the model cannot know on its own</a:t>
            </a:r>
            <a:endParaRPr lang="en-US" sz="92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telling a model to answer from the supplied text cut memory-override errors from 35% to 3%, and lifted accuracy on unanswerable questions from 31% to 88%. The flip side: it trusts your context even when it’s wrong — quality is on you.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(Zhou 2023 · Omar 2025)</a:t>
            </a:r>
            <a:endParaRPr lang="en-US" sz="102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“Use our standard definitions.”</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93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the output contract — shape, cap, tone</a:t>
            </a:r>
            <a:endParaRPr lang="en-US" sz="92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 and the 2024 scare that strict formats hurt reasoning didn’t survive replication.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(OpenAI 2024 · JSONSchemaBench 2025)</a:t>
            </a:r>
            <a:endParaRPr lang="en-US" sz="102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“Keep it short and professional.”</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930" dirty="0"/>
          </a:p>
        </p:txBody>
      </p:sp>
      <p:sp>
        <p:nvSpPr>
          <p:cNvPr id="16" name="Text 14"/>
          <p:cNvSpPr/>
          <p:nvPr/>
        </p:nvSpPr>
        <p:spPr>
          <a:xfrm>
            <a:off x="502920" y="6199632"/>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Context is the anti-hallucination element; Format is the anti-rework element.</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3–5 diverse demonstrations, edge case included</a:t>
            </a:r>
            <a:endParaRPr lang="en-US" sz="92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the model imitates what it sees: examples teach format and style (few-shot lifted GPT-3 from 64% to 71% on trivia; on modern tuned models they steer shape more than facts). Include one edge case — it copies your edge-case handling too.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(Brown 2020 · Min 2022)</a:t>
            </a:r>
            <a:endParaRPr lang="en-US" sz="102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7000"/>
              </a:lnSpc>
              <a:buNone/>
            </a:pPr>
            <a:r>
              <a:rPr lang="en-US" sz="930" b="1" dirty="0">
                <a:solidFill>
                  <a:srgbClr val="AF3230"/>
                </a:solidFill>
                <a:latin typeface="Calibri" pitchFamily="34" charset="0"/>
                <a:ea typeface="Calibri" pitchFamily="34" charset="-122"/>
                <a:cs typeface="Calibri" pitchFamily="34" charset="-120"/>
              </a:rPr>
              <a:t>weak   </a:t>
            </a:r>
            <a:pPr indent="0" marL="0">
              <a:lnSpc>
                <a:spcPct val="107000"/>
              </a:lnSpc>
              <a:spcAft>
                <a:spcPts val="500"/>
              </a:spcAft>
              <a:buNone/>
            </a:pPr>
            <a:r>
              <a:rPr lang="en-US" sz="960" i="1" dirty="0">
                <a:solidFill>
                  <a:srgbClr val="46545F"/>
                </a:solidFill>
                <a:latin typeface="Calibri" pitchFamily="34" charset="0"/>
                <a:ea typeface="Calibri" pitchFamily="34" charset="-122"/>
                <a:cs typeface="Calibri" pitchFamily="34" charset="-120"/>
              </a:rPr>
              <a:t>three clones of the happy case</a:t>
            </a:r>
            <a:endParaRPr lang="en-US" sz="930" dirty="0"/>
          </a:p>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one typical + one edge + one reject case, fenced in tags</a:t>
            </a:r>
            <a:endParaRPr lang="en-US" sz="93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permission to not know</a:t>
            </a:r>
            <a:endParaRPr lang="en-US" sz="92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an honest “the document doesn’t say” instead of an invented answer.</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models are trained on tests that reward guessing over abstaining. One sentence of permission cut hallucinations on planted-error questions from 53% to 23% (GPT-4o) — and under 8% on GPT-5. </a:t>
            </a:r>
            <a:pPr indent="0" marL="0">
              <a:lnSpc>
                <a:spcPct val="107000"/>
              </a:lnSpc>
              <a:buNone/>
            </a:pPr>
            <a:r>
              <a:rPr lang="en-US" sz="860" i="1" dirty="0">
                <a:solidFill>
                  <a:srgbClr val="7A8790"/>
                </a:solidFill>
                <a:latin typeface="Calibri" pitchFamily="34" charset="0"/>
                <a:ea typeface="Calibri" pitchFamily="34" charset="-122"/>
                <a:cs typeface="Calibri" pitchFamily="34" charset="-120"/>
              </a:rPr>
              <a:t>(Omar 2025 · OpenAI 2025)</a:t>
            </a:r>
            <a:endParaRPr lang="en-US" sz="102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“If the document doesn’t say — say so.”</a:t>
            </a:r>
            <a:endParaRPr lang="en-US" sz="93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920" i="1" dirty="0">
                <a:solidFill>
                  <a:srgbClr val="232A31"/>
                </a:solidFill>
                <a:latin typeface="Calibri" pitchFamily="34" charset="0"/>
                <a:ea typeface="Calibri" pitchFamily="34" charset="-122"/>
                <a:cs typeface="Calibri" pitchFamily="34" charset="-120"/>
              </a:rPr>
              <a:t>the scope boundary</a:t>
            </a:r>
            <a:endParaRPr lang="en-US" sz="92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2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2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20" dirty="0"/>
          </a:p>
          <a:p>
            <a:pPr indent="0" marL="0">
              <a:lnSpc>
                <a:spcPct val="107000"/>
              </a:lnSpc>
              <a:buNone/>
            </a:pPr>
            <a:r>
              <a:rPr lang="en-US" sz="102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2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2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7000"/>
              </a:lnSpc>
              <a:buNone/>
            </a:pPr>
            <a:r>
              <a:rPr lang="en-US" sz="930" b="1" dirty="0">
                <a:solidFill>
                  <a:srgbClr val="3B8560"/>
                </a:solidFill>
                <a:latin typeface="Calibri" pitchFamily="34" charset="0"/>
                <a:ea typeface="Calibri" pitchFamily="34" charset="-122"/>
                <a:cs typeface="Calibri" pitchFamily="34" charset="-120"/>
              </a:rPr>
              <a:t>strong </a:t>
            </a:r>
            <a:pPr indent="0" marL="0">
              <a:lnSpc>
                <a:spcPct val="107000"/>
              </a:lnSpc>
              <a:buNone/>
            </a:pPr>
            <a:r>
              <a:rPr lang="en-US" sz="96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93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Seven elements. Each moves something out of your head onto the page — when output disappoints, one of them stayed in your head.</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The seven elements you just met are the catalog’s spine. Each breaks into attributes — the slots you fill — and each slot into vetted options — proven ways to fill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you just saw on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Two wings: these seven generative elements, and the twelve agentic blocks of Part 5’s mission brief.</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Use it at the moment of doubt: something disappointed → name the element → pick a stronger fill from the menu. You don’t study it; you look things up in it.</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95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95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elements</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(7 generative · 12 agentic)</a:t>
            </a:r>
            <a:endParaRPr lang="en-US" sz="90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attributes —</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the slots you fill</a:t>
            </a:r>
            <a:endParaRPr lang="en-US" sz="90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vetted options,</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each with guidance</a:t>
            </a:r>
            <a:endParaRPr lang="en-US" sz="90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presets — one-click</a:t>
            </a:r>
            <a:endParaRPr lang="en-US" sz="900" dirty="0"/>
          </a:p>
          <a:p>
            <a:pPr algn="ctr" indent="0" marL="0">
              <a:lnSpc>
                <a:spcPct val="102000"/>
              </a:lnSpc>
              <a:buNone/>
            </a:pPr>
            <a:r>
              <a:rPr lang="en-US" sz="900" dirty="0">
                <a:solidFill>
                  <a:srgbClr val="46545F"/>
                </a:solidFill>
                <a:latin typeface="Calibri" pitchFamily="34" charset="0"/>
                <a:ea typeface="Calibri" pitchFamily="34" charset="-122"/>
                <a:cs typeface="Calibri" pitchFamily="34" charset="-120"/>
              </a:rPr>
              <a:t>starting templates</a:t>
            </a:r>
            <a:endParaRPr lang="en-US" sz="90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TECHNIQUES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1 OF 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Techniques 1–4 — with lines to steal</a:t>
            </a:r>
            <a:endParaRPr lang="en-US" sz="3000" dirty="0"/>
          </a:p>
        </p:txBody>
      </p:sp>
      <p:sp>
        <p:nvSpPr>
          <p:cNvPr id="6" name="Shape 4"/>
          <p:cNvSpPr/>
          <p:nvPr/>
        </p:nvSpPr>
        <p:spPr>
          <a:xfrm>
            <a:off x="502920" y="1481328"/>
            <a:ext cx="5440680" cy="1956816"/>
          </a:xfrm>
          <a:prstGeom prst="roundRect">
            <a:avLst>
              <a:gd name="adj" fmla="val 3738"/>
            </a:avLst>
          </a:prstGeom>
          <a:solidFill>
            <a:srgbClr val="F2F5F6"/>
          </a:solidFill>
          <a:ln/>
        </p:spPr>
      </p:sp>
      <p:sp>
        <p:nvSpPr>
          <p:cNvPr id="7" name="Shape 5"/>
          <p:cNvSpPr/>
          <p:nvPr/>
        </p:nvSpPr>
        <p:spPr>
          <a:xfrm>
            <a:off x="685800" y="1664208"/>
            <a:ext cx="420624" cy="420624"/>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95162" y="1773570"/>
            <a:ext cx="201900" cy="201900"/>
          </a:xfrm>
          <a:prstGeom prst="rect">
            <a:avLst/>
          </a:prstGeom>
        </p:spPr>
      </p:pic>
      <p:sp>
        <p:nvSpPr>
          <p:cNvPr id="9" name="Text 6"/>
          <p:cNvSpPr/>
          <p:nvPr/>
        </p:nvSpPr>
        <p:spPr>
          <a:xfrm>
            <a:off x="123444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1 · Be specific — and say why</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Name the audience, length, constraints — and the reason behind a rule; stated reasons measurably improve compliance.</a:t>
            </a:r>
            <a:endParaRPr lang="en-US" sz="1250" dirty="0"/>
          </a:p>
        </p:txBody>
      </p:sp>
      <p:sp>
        <p:nvSpPr>
          <p:cNvPr id="10" name="Shape 7"/>
          <p:cNvSpPr/>
          <p:nvPr/>
        </p:nvSpPr>
        <p:spPr>
          <a:xfrm>
            <a:off x="722376" y="2743200"/>
            <a:ext cx="5029200" cy="566928"/>
          </a:xfrm>
          <a:prstGeom prst="roundRect">
            <a:avLst>
              <a:gd name="adj" fmla="val 8065"/>
            </a:avLst>
          </a:prstGeom>
          <a:solidFill>
            <a:srgbClr val="FFFFFF"/>
          </a:solidFill>
          <a:ln w="9525">
            <a:solidFill>
              <a:srgbClr val="DCE3E6"/>
            </a:solidFill>
            <a:prstDash val="solid"/>
          </a:ln>
        </p:spPr>
      </p:sp>
      <p:sp>
        <p:nvSpPr>
          <p:cNvPr id="11" name="Text 8"/>
          <p:cNvSpPr/>
          <p:nvPr/>
        </p:nvSpPr>
        <p:spPr>
          <a:xfrm>
            <a:off x="85039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“Two paragraphs for the plant manager, no jargon — this will be read aloud, so no bullet lists.”</a:t>
            </a:r>
            <a:endParaRPr lang="en-US" sz="880" dirty="0"/>
          </a:p>
        </p:txBody>
      </p:sp>
      <p:sp>
        <p:nvSpPr>
          <p:cNvPr id="12" name="Shape 9"/>
          <p:cNvSpPr/>
          <p:nvPr/>
        </p:nvSpPr>
        <p:spPr>
          <a:xfrm>
            <a:off x="6172200" y="1481328"/>
            <a:ext cx="5440680" cy="1956816"/>
          </a:xfrm>
          <a:prstGeom prst="roundRect">
            <a:avLst>
              <a:gd name="adj" fmla="val 3738"/>
            </a:avLst>
          </a:prstGeom>
          <a:solidFill>
            <a:srgbClr val="F2F5F6"/>
          </a:solidFill>
          <a:ln/>
        </p:spPr>
      </p:sp>
      <p:sp>
        <p:nvSpPr>
          <p:cNvPr id="13" name="Shape 10"/>
          <p:cNvSpPr/>
          <p:nvPr/>
        </p:nvSpPr>
        <p:spPr>
          <a:xfrm>
            <a:off x="6355080" y="1664208"/>
            <a:ext cx="420624" cy="420624"/>
          </a:xfrm>
          <a:prstGeom prst="ellipse">
            <a:avLst/>
          </a:prstGeom>
          <a:solidFill>
            <a:srgbClr val="0E7C7B"/>
          </a:solidFill>
          <a:ln/>
        </p:spPr>
      </p:sp>
      <p:pic>
        <p:nvPicPr>
          <p:cNvPr id="14" name="Image 1" descr="/home/user/Claude-Works/ai-training-prompt-engineering/src/assets/icons/copy_w.png">    </p:cNvPr>
          <p:cNvPicPr>
            <a:picLocks noChangeAspect="1"/>
          </p:cNvPicPr>
          <p:nvPr/>
        </p:nvPicPr>
        <p:blipFill>
          <a:blip r:embed="rId2"/>
          <a:stretch>
            <a:fillRect/>
          </a:stretch>
        </p:blipFill>
        <p:spPr>
          <a:xfrm>
            <a:off x="6464442" y="1773570"/>
            <a:ext cx="201900" cy="201900"/>
          </a:xfrm>
          <a:prstGeom prst="rect">
            <a:avLst/>
          </a:prstGeom>
        </p:spPr>
      </p:pic>
      <p:sp>
        <p:nvSpPr>
          <p:cNvPr id="15" name="Text 11"/>
          <p:cNvSpPr/>
          <p:nvPr/>
        </p:nvSpPr>
        <p:spPr>
          <a:xfrm>
            <a:off x="690372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2 · Show 3–5 examples</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most reliable way to control format, tone, and structure. Diverse and realistic — it imitates what it sees.</a:t>
            </a:r>
            <a:endParaRPr lang="en-US" sz="1250" dirty="0"/>
          </a:p>
        </p:txBody>
      </p:sp>
      <p:sp>
        <p:nvSpPr>
          <p:cNvPr id="16" name="Shape 12"/>
          <p:cNvSpPr/>
          <p:nvPr/>
        </p:nvSpPr>
        <p:spPr>
          <a:xfrm>
            <a:off x="6391656" y="2743200"/>
            <a:ext cx="5029200" cy="566928"/>
          </a:xfrm>
          <a:prstGeom prst="roundRect">
            <a:avLst>
              <a:gd name="adj" fmla="val 8065"/>
            </a:avLst>
          </a:prstGeom>
          <a:solidFill>
            <a:srgbClr val="FFFFFF"/>
          </a:solidFill>
          <a:ln w="9525">
            <a:solidFill>
              <a:srgbClr val="DCE3E6"/>
            </a:solidFill>
            <a:prstDash val="solid"/>
          </a:ln>
        </p:spPr>
      </p:sp>
      <p:sp>
        <p:nvSpPr>
          <p:cNvPr id="17" name="Text 13"/>
          <p:cNvSpPr/>
          <p:nvPr/>
        </p:nvSpPr>
        <p:spPr>
          <a:xfrm>
            <a:off x="651967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“Here are two summaries the team liked, and one we rejected — match the first two.”</a:t>
            </a:r>
            <a:endParaRPr lang="en-US" sz="880" dirty="0"/>
          </a:p>
        </p:txBody>
      </p:sp>
      <p:sp>
        <p:nvSpPr>
          <p:cNvPr id="18" name="Shape 14"/>
          <p:cNvSpPr/>
          <p:nvPr/>
        </p:nvSpPr>
        <p:spPr>
          <a:xfrm>
            <a:off x="502920" y="3566160"/>
            <a:ext cx="5440680" cy="1956816"/>
          </a:xfrm>
          <a:prstGeom prst="roundRect">
            <a:avLst>
              <a:gd name="adj" fmla="val 3738"/>
            </a:avLst>
          </a:prstGeom>
          <a:solidFill>
            <a:srgbClr val="F2F5F6"/>
          </a:solidFill>
          <a:ln/>
        </p:spPr>
      </p:sp>
      <p:sp>
        <p:nvSpPr>
          <p:cNvPr id="19" name="Shape 15"/>
          <p:cNvSpPr/>
          <p:nvPr/>
        </p:nvSpPr>
        <p:spPr>
          <a:xfrm>
            <a:off x="685800" y="3749040"/>
            <a:ext cx="420624" cy="420624"/>
          </a:xfrm>
          <a:prstGeom prst="ellipse">
            <a:avLst/>
          </a:prstGeom>
          <a:solidFill>
            <a:srgbClr val="0E7C7B"/>
          </a:solidFill>
          <a:ln/>
        </p:spPr>
      </p:sp>
      <p:pic>
        <p:nvPicPr>
          <p:cNvPr id="20" name="Image 2" descr="/home/user/Claude-Works/ai-training-prompt-engineering/src/assets/icons/layers_w.png">    </p:cNvPr>
          <p:cNvPicPr>
            <a:picLocks noChangeAspect="1"/>
          </p:cNvPicPr>
          <p:nvPr/>
        </p:nvPicPr>
        <p:blipFill>
          <a:blip r:embed="rId3"/>
          <a:stretch>
            <a:fillRect/>
          </a:stretch>
        </p:blipFill>
        <p:spPr>
          <a:xfrm>
            <a:off x="795162" y="3858402"/>
            <a:ext cx="201900" cy="201900"/>
          </a:xfrm>
          <a:prstGeom prst="rect">
            <a:avLst/>
          </a:prstGeom>
        </p:spPr>
      </p:pic>
      <p:sp>
        <p:nvSpPr>
          <p:cNvPr id="21" name="Text 16"/>
          <p:cNvSpPr/>
          <p:nvPr/>
        </p:nvSpPr>
        <p:spPr>
          <a:xfrm>
            <a:off x="123444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3 · Structure with tags</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Separate instructions / context / input with labeled fences. The model never confuses your orders with the material.</a:t>
            </a:r>
            <a:endParaRPr lang="en-US" sz="1250" dirty="0"/>
          </a:p>
        </p:txBody>
      </p:sp>
      <p:sp>
        <p:nvSpPr>
          <p:cNvPr id="22" name="Shape 17"/>
          <p:cNvSpPr/>
          <p:nvPr/>
        </p:nvSpPr>
        <p:spPr>
          <a:xfrm>
            <a:off x="722376" y="4828032"/>
            <a:ext cx="5029200" cy="566928"/>
          </a:xfrm>
          <a:prstGeom prst="roundRect">
            <a:avLst>
              <a:gd name="adj" fmla="val 8065"/>
            </a:avLst>
          </a:prstGeom>
          <a:solidFill>
            <a:srgbClr val="FFFFFF"/>
          </a:solidFill>
          <a:ln w="9525">
            <a:solidFill>
              <a:srgbClr val="DCE3E6"/>
            </a:solidFill>
            <a:prstDash val="solid"/>
          </a:ln>
        </p:spPr>
      </p:sp>
      <p:sp>
        <p:nvSpPr>
          <p:cNvPr id="23" name="Text 18"/>
          <p:cNvSpPr/>
          <p:nvPr/>
        </p:nvSpPr>
        <p:spPr>
          <a:xfrm>
            <a:off x="85039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&lt;instructions&gt; summarize &lt;/instructions&gt;  &lt;report&gt; …pasted text… &lt;/report&gt;</a:t>
            </a:r>
            <a:endParaRPr lang="en-US" sz="880" dirty="0"/>
          </a:p>
        </p:txBody>
      </p:sp>
      <p:sp>
        <p:nvSpPr>
          <p:cNvPr id="24" name="Shape 19"/>
          <p:cNvSpPr/>
          <p:nvPr/>
        </p:nvSpPr>
        <p:spPr>
          <a:xfrm>
            <a:off x="6172200" y="3566160"/>
            <a:ext cx="5440680" cy="1956816"/>
          </a:xfrm>
          <a:prstGeom prst="roundRect">
            <a:avLst>
              <a:gd name="adj" fmla="val 3738"/>
            </a:avLst>
          </a:prstGeom>
          <a:solidFill>
            <a:srgbClr val="F2F5F6"/>
          </a:solidFill>
          <a:ln/>
        </p:spPr>
      </p:sp>
      <p:sp>
        <p:nvSpPr>
          <p:cNvPr id="25" name="Shape 20"/>
          <p:cNvSpPr/>
          <p:nvPr/>
        </p:nvSpPr>
        <p:spPr>
          <a:xfrm>
            <a:off x="6355080" y="3749040"/>
            <a:ext cx="420624" cy="420624"/>
          </a:xfrm>
          <a:prstGeom prst="ellipse">
            <a:avLst/>
          </a:prstGeom>
          <a:solidFill>
            <a:srgbClr val="0E7C7B"/>
          </a:solidFill>
          <a:ln/>
        </p:spPr>
      </p:sp>
      <p:pic>
        <p:nvPicPr>
          <p:cNvPr id="26" name="Image 3" descr="/home/user/Claude-Works/ai-training-prompt-engineering/src/assets/icons/help_w.png">    </p:cNvPr>
          <p:cNvPicPr>
            <a:picLocks noChangeAspect="1"/>
          </p:cNvPicPr>
          <p:nvPr/>
        </p:nvPicPr>
        <p:blipFill>
          <a:blip r:embed="rId4"/>
          <a:stretch>
            <a:fillRect/>
          </a:stretch>
        </p:blipFill>
        <p:spPr>
          <a:xfrm>
            <a:off x="6464442" y="3858402"/>
            <a:ext cx="201900" cy="201900"/>
          </a:xfrm>
          <a:prstGeom prst="rect">
            <a:avLst/>
          </a:prstGeom>
        </p:spPr>
      </p:pic>
      <p:sp>
        <p:nvSpPr>
          <p:cNvPr id="27" name="Text 21"/>
          <p:cNvSpPr/>
          <p:nvPr/>
        </p:nvSpPr>
        <p:spPr>
          <a:xfrm>
            <a:off x="690372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4 · Give it an out</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Permission to admit uncertainty — cuts invented answers by half or more (the numbers were two slides back).</a:t>
            </a:r>
            <a:endParaRPr lang="en-US" sz="1250" dirty="0"/>
          </a:p>
        </p:txBody>
      </p:sp>
      <p:sp>
        <p:nvSpPr>
          <p:cNvPr id="28" name="Shape 22"/>
          <p:cNvSpPr/>
          <p:nvPr/>
        </p:nvSpPr>
        <p:spPr>
          <a:xfrm>
            <a:off x="6391656" y="4828032"/>
            <a:ext cx="5029200" cy="566928"/>
          </a:xfrm>
          <a:prstGeom prst="roundRect">
            <a:avLst>
              <a:gd name="adj" fmla="val 8065"/>
            </a:avLst>
          </a:prstGeom>
          <a:solidFill>
            <a:srgbClr val="FFFFFF"/>
          </a:solidFill>
          <a:ln w="9525">
            <a:solidFill>
              <a:srgbClr val="DCE3E6"/>
            </a:solidFill>
            <a:prstDash val="solid"/>
          </a:ln>
        </p:spPr>
      </p:sp>
      <p:sp>
        <p:nvSpPr>
          <p:cNvPr id="29" name="Text 23"/>
          <p:cNvSpPr/>
          <p:nvPr/>
        </p:nvSpPr>
        <p:spPr>
          <a:xfrm>
            <a:off x="651967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“If the spec doesn’t cover it, say ‘not specified’ — don’t guess.”</a:t>
            </a:r>
            <a:endParaRPr lang="en-US" sz="880" dirty="0"/>
          </a:p>
        </p:txBody>
      </p:sp>
      <p:sp>
        <p:nvSpPr>
          <p:cNvPr id="30" name="Shape 24"/>
          <p:cNvSpPr/>
          <p:nvPr/>
        </p:nvSpPr>
        <p:spPr>
          <a:xfrm>
            <a:off x="502920" y="5596128"/>
            <a:ext cx="11155680" cy="502920"/>
          </a:xfrm>
          <a:prstGeom prst="roundRect">
            <a:avLst>
              <a:gd name="adj" fmla="val 14545"/>
            </a:avLst>
          </a:prstGeom>
          <a:solidFill>
            <a:srgbClr val="E4F0EF"/>
          </a:solidFill>
          <a:ln/>
        </p:spPr>
      </p:sp>
      <p:sp>
        <p:nvSpPr>
          <p:cNvPr id="31" name="Shape 25"/>
          <p:cNvSpPr/>
          <p:nvPr/>
        </p:nvSpPr>
        <p:spPr>
          <a:xfrm>
            <a:off x="667512" y="5655564"/>
            <a:ext cx="384048" cy="384048"/>
          </a:xfrm>
          <a:prstGeom prst="ellipse">
            <a:avLst/>
          </a:prstGeom>
          <a:solidFill>
            <a:srgbClr val="0E7C7B"/>
          </a:solidFill>
          <a:ln/>
        </p:spPr>
      </p:sp>
      <p:pic>
        <p:nvPicPr>
          <p:cNvPr id="32" name="Image 4" descr="/home/user/Claude-Works/ai-training-prompt-engineering/src/assets/icons/check_w.png">    </p:cNvPr>
          <p:cNvPicPr>
            <a:picLocks noChangeAspect="1"/>
          </p:cNvPicPr>
          <p:nvPr/>
        </p:nvPicPr>
        <p:blipFill>
          <a:blip r:embed="rId5"/>
          <a:stretch>
            <a:fillRect/>
          </a:stretch>
        </p:blipFill>
        <p:spPr>
          <a:xfrm>
            <a:off x="767364" y="5755416"/>
            <a:ext cx="184343" cy="184343"/>
          </a:xfrm>
          <a:prstGeom prst="rect">
            <a:avLst/>
          </a:prstGeom>
        </p:spPr>
      </p:pic>
      <p:sp>
        <p:nvSpPr>
          <p:cNvPr id="33" name="Text 26"/>
          <p:cNvSpPr/>
          <p:nvPr/>
        </p:nvSpPr>
        <p:spPr>
          <a:xfrm>
            <a:off x="1216152" y="56692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Nothing new here: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techniques 1–4 are the seven elements, applied — you met every one of them this part.</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TECHNIQUES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2 OF 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Techniques 5–7 — with lines to steal</a:t>
            </a:r>
            <a:endParaRPr lang="en-US" sz="3000" dirty="0"/>
          </a:p>
        </p:txBody>
      </p:sp>
      <p:sp>
        <p:nvSpPr>
          <p:cNvPr id="6" name="Shape 4"/>
          <p:cNvSpPr/>
          <p:nvPr/>
        </p:nvSpPr>
        <p:spPr>
          <a:xfrm>
            <a:off x="502920" y="1481328"/>
            <a:ext cx="5440680" cy="1956816"/>
          </a:xfrm>
          <a:prstGeom prst="roundRect">
            <a:avLst>
              <a:gd name="adj" fmla="val 3738"/>
            </a:avLst>
          </a:prstGeom>
          <a:solidFill>
            <a:srgbClr val="F2F5F6"/>
          </a:solidFill>
          <a:ln/>
        </p:spPr>
      </p:sp>
      <p:sp>
        <p:nvSpPr>
          <p:cNvPr id="7" name="Shape 5"/>
          <p:cNvSpPr/>
          <p:nvPr/>
        </p:nvSpPr>
        <p:spPr>
          <a:xfrm>
            <a:off x="685800" y="1664208"/>
            <a:ext cx="420624" cy="420624"/>
          </a:xfrm>
          <a:prstGeom prst="ellipse">
            <a:avLst/>
          </a:prstGeom>
          <a:solidFill>
            <a:srgbClr val="0E7C7B"/>
          </a:solidFill>
          <a:ln/>
        </p:spPr>
      </p:sp>
      <p:pic>
        <p:nvPicPr>
          <p:cNvPr id="8" name="Image 0" descr="/home/user/Claude-Works/ai-training-prompt-engineering/src/assets/icons/branch_w.png">    </p:cNvPr>
          <p:cNvPicPr>
            <a:picLocks noChangeAspect="1"/>
          </p:cNvPicPr>
          <p:nvPr/>
        </p:nvPicPr>
        <p:blipFill>
          <a:blip r:embed="rId1"/>
          <a:stretch>
            <a:fillRect/>
          </a:stretch>
        </p:blipFill>
        <p:spPr>
          <a:xfrm>
            <a:off x="795162" y="1773570"/>
            <a:ext cx="201900" cy="201900"/>
          </a:xfrm>
          <a:prstGeom prst="rect">
            <a:avLst/>
          </a:prstGeom>
        </p:spPr>
      </p:pic>
      <p:sp>
        <p:nvSpPr>
          <p:cNvPr id="9" name="Text 6"/>
          <p:cNvSpPr/>
          <p:nvPr/>
        </p:nvSpPr>
        <p:spPr>
          <a:xfrm>
            <a:off x="123444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5 · Chain the work</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Big job → sequential prompts with an approval between steps. You get inspectable intermediates — an audit trail.</a:t>
            </a:r>
            <a:endParaRPr lang="en-US" sz="1250" dirty="0"/>
          </a:p>
        </p:txBody>
      </p:sp>
      <p:sp>
        <p:nvSpPr>
          <p:cNvPr id="10" name="Shape 7"/>
          <p:cNvSpPr/>
          <p:nvPr/>
        </p:nvSpPr>
        <p:spPr>
          <a:xfrm>
            <a:off x="722376" y="2743200"/>
            <a:ext cx="5029200" cy="566928"/>
          </a:xfrm>
          <a:prstGeom prst="roundRect">
            <a:avLst>
              <a:gd name="adj" fmla="val 8065"/>
            </a:avLst>
          </a:prstGeom>
          <a:solidFill>
            <a:srgbClr val="FFFFFF"/>
          </a:solidFill>
          <a:ln w="9525">
            <a:solidFill>
              <a:srgbClr val="DCE3E6"/>
            </a:solidFill>
            <a:prstDash val="solid"/>
          </a:ln>
        </p:spPr>
      </p:sp>
      <p:sp>
        <p:nvSpPr>
          <p:cNvPr id="11" name="Text 8"/>
          <p:cNvSpPr/>
          <p:nvPr/>
        </p:nvSpPr>
        <p:spPr>
          <a:xfrm>
            <a:off x="85039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“First: outline only. I’ll approve it. Then draft section by section.”</a:t>
            </a:r>
            <a:endParaRPr lang="en-US" sz="880" dirty="0"/>
          </a:p>
        </p:txBody>
      </p:sp>
      <p:sp>
        <p:nvSpPr>
          <p:cNvPr id="12" name="Shape 9"/>
          <p:cNvSpPr/>
          <p:nvPr/>
        </p:nvSpPr>
        <p:spPr>
          <a:xfrm>
            <a:off x="6172200" y="1481328"/>
            <a:ext cx="5440680" cy="1956816"/>
          </a:xfrm>
          <a:prstGeom prst="roundRect">
            <a:avLst>
              <a:gd name="adj" fmla="val 3738"/>
            </a:avLst>
          </a:prstGeom>
          <a:solidFill>
            <a:srgbClr val="F2F5F6"/>
          </a:solidFill>
          <a:ln/>
        </p:spPr>
      </p:sp>
      <p:sp>
        <p:nvSpPr>
          <p:cNvPr id="13" name="Shape 10"/>
          <p:cNvSpPr/>
          <p:nvPr/>
        </p:nvSpPr>
        <p:spPr>
          <a:xfrm>
            <a:off x="6355080" y="1664208"/>
            <a:ext cx="420624" cy="420624"/>
          </a:xfrm>
          <a:prstGeom prst="ellipse">
            <a:avLst/>
          </a:prstGeom>
          <a:solidFill>
            <a:srgbClr val="0E7C7B"/>
          </a:solidFill>
          <a:ln/>
        </p:spPr>
      </p:sp>
      <p:pic>
        <p:nvPicPr>
          <p:cNvPr id="14" name="Image 1" descr="/home/user/Claude-Works/ai-training-prompt-engineering/src/assets/icons/eye_w.png">    </p:cNvPr>
          <p:cNvPicPr>
            <a:picLocks noChangeAspect="1"/>
          </p:cNvPicPr>
          <p:nvPr/>
        </p:nvPicPr>
        <p:blipFill>
          <a:blip r:embed="rId2"/>
          <a:stretch>
            <a:fillRect/>
          </a:stretch>
        </p:blipFill>
        <p:spPr>
          <a:xfrm>
            <a:off x="6464442" y="1773570"/>
            <a:ext cx="201900" cy="201900"/>
          </a:xfrm>
          <a:prstGeom prst="rect">
            <a:avLst/>
          </a:prstGeom>
        </p:spPr>
      </p:pic>
      <p:sp>
        <p:nvSpPr>
          <p:cNvPr id="15" name="Text 11"/>
          <p:cNvSpPr/>
          <p:nvPr/>
        </p:nvSpPr>
        <p:spPr>
          <a:xfrm>
            <a:off x="6903720" y="1591056"/>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6 · Self-check against criteria</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 named checklist works; “are you sure?” alone makes models WORSE (it flips correct answers).</a:t>
            </a:r>
            <a:endParaRPr lang="en-US" sz="1250" dirty="0"/>
          </a:p>
        </p:txBody>
      </p:sp>
      <p:sp>
        <p:nvSpPr>
          <p:cNvPr id="16" name="Shape 12"/>
          <p:cNvSpPr/>
          <p:nvPr/>
        </p:nvSpPr>
        <p:spPr>
          <a:xfrm>
            <a:off x="6391656" y="2743200"/>
            <a:ext cx="5029200" cy="566928"/>
          </a:xfrm>
          <a:prstGeom prst="roundRect">
            <a:avLst>
              <a:gd name="adj" fmla="val 8065"/>
            </a:avLst>
          </a:prstGeom>
          <a:solidFill>
            <a:srgbClr val="FFFFFF"/>
          </a:solidFill>
          <a:ln w="9525">
            <a:solidFill>
              <a:srgbClr val="DCE3E6"/>
            </a:solidFill>
            <a:prstDash val="solid"/>
          </a:ln>
        </p:spPr>
      </p:sp>
      <p:sp>
        <p:nvSpPr>
          <p:cNvPr id="17" name="Text 13"/>
          <p:cNvSpPr/>
          <p:nvPr/>
        </p:nvSpPr>
        <p:spPr>
          <a:xfrm>
            <a:off x="6519672" y="2779776"/>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“Before finishing, verify: every number has a source · sections under 120 words · no recommendation without a risk.”</a:t>
            </a:r>
            <a:endParaRPr lang="en-US" sz="880" dirty="0"/>
          </a:p>
        </p:txBody>
      </p:sp>
      <p:sp>
        <p:nvSpPr>
          <p:cNvPr id="18" name="Shape 14"/>
          <p:cNvSpPr/>
          <p:nvPr/>
        </p:nvSpPr>
        <p:spPr>
          <a:xfrm>
            <a:off x="502920" y="3566160"/>
            <a:ext cx="5440680" cy="1956816"/>
          </a:xfrm>
          <a:prstGeom prst="roundRect">
            <a:avLst>
              <a:gd name="adj" fmla="val 3738"/>
            </a:avLst>
          </a:prstGeom>
          <a:solidFill>
            <a:srgbClr val="F2F5F6"/>
          </a:solidFill>
          <a:ln/>
        </p:spPr>
      </p:sp>
      <p:sp>
        <p:nvSpPr>
          <p:cNvPr id="19" name="Shape 15"/>
          <p:cNvSpPr/>
          <p:nvPr/>
        </p:nvSpPr>
        <p:spPr>
          <a:xfrm>
            <a:off x="685800" y="3749040"/>
            <a:ext cx="420624" cy="420624"/>
          </a:xfrm>
          <a:prstGeom prst="ellipse">
            <a:avLst/>
          </a:prstGeom>
          <a:solidFill>
            <a:srgbClr val="0E7C7B"/>
          </a:solidFill>
          <a:ln/>
        </p:spPr>
      </p:sp>
      <p:pic>
        <p:nvPicPr>
          <p:cNvPr id="20" name="Image 2" descr="/home/user/Claude-Works/ai-training-prompt-engineering/src/assets/icons/zap_w.png">    </p:cNvPr>
          <p:cNvPicPr>
            <a:picLocks noChangeAspect="1"/>
          </p:cNvPicPr>
          <p:nvPr/>
        </p:nvPicPr>
        <p:blipFill>
          <a:blip r:embed="rId3"/>
          <a:stretch>
            <a:fillRect/>
          </a:stretch>
        </p:blipFill>
        <p:spPr>
          <a:xfrm>
            <a:off x="795162" y="3858402"/>
            <a:ext cx="201900" cy="201900"/>
          </a:xfrm>
          <a:prstGeom prst="rect">
            <a:avLst/>
          </a:prstGeom>
        </p:spPr>
      </p:pic>
      <p:sp>
        <p:nvSpPr>
          <p:cNvPr id="21" name="Text 16"/>
          <p:cNvSpPr/>
          <p:nvPr/>
        </p:nvSpPr>
        <p:spPr>
          <a:xfrm>
            <a:off x="1234440" y="3675888"/>
            <a:ext cx="4572000" cy="100584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7 · Metaprompting</a:t>
            </a:r>
            <a:endParaRPr lang="en-US" sz="12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Ask the model to improve your prompt — measured practice now, productized by every vendor.</a:t>
            </a:r>
            <a:endParaRPr lang="en-US" sz="1250" dirty="0"/>
          </a:p>
        </p:txBody>
      </p:sp>
      <p:sp>
        <p:nvSpPr>
          <p:cNvPr id="22" name="Shape 17"/>
          <p:cNvSpPr/>
          <p:nvPr/>
        </p:nvSpPr>
        <p:spPr>
          <a:xfrm>
            <a:off x="722376" y="4828032"/>
            <a:ext cx="5029200" cy="566928"/>
          </a:xfrm>
          <a:prstGeom prst="roundRect">
            <a:avLst>
              <a:gd name="adj" fmla="val 8065"/>
            </a:avLst>
          </a:prstGeom>
          <a:solidFill>
            <a:srgbClr val="FFFFFF"/>
          </a:solidFill>
          <a:ln w="9525">
            <a:solidFill>
              <a:srgbClr val="DCE3E6"/>
            </a:solidFill>
            <a:prstDash val="solid"/>
          </a:ln>
        </p:spPr>
      </p:sp>
      <p:sp>
        <p:nvSpPr>
          <p:cNvPr id="23" name="Text 18"/>
          <p:cNvSpPr/>
          <p:nvPr/>
        </p:nvSpPr>
        <p:spPr>
          <a:xfrm>
            <a:off x="850392" y="4864608"/>
            <a:ext cx="4800600" cy="493776"/>
          </a:xfrm>
          <a:prstGeom prst="rect">
            <a:avLst/>
          </a:prstGeom>
          <a:noFill/>
          <a:ln/>
        </p:spPr>
        <p:txBody>
          <a:bodyPr wrap="square" lIns="0" tIns="0" rIns="0" bIns="0" rtlCol="0" anchor="ctr"/>
          <a:lstStyle/>
          <a:p>
            <a:pPr indent="0" marL="0">
              <a:lnSpc>
                <a:spcPct val="102000"/>
              </a:lnSpc>
              <a:buNone/>
            </a:pPr>
            <a:r>
              <a:rPr lang="en-US" sz="880" dirty="0">
                <a:solidFill>
                  <a:srgbClr val="0A5B5A"/>
                </a:solidFill>
                <a:latin typeface="Consolas" pitchFamily="34" charset="0"/>
                <a:ea typeface="Consolas" pitchFamily="34" charset="-122"/>
                <a:cs typeface="Consolas" pitchFamily="34" charset="-120"/>
              </a:rPr>
              <a:t>“Here’s my prompt and what it produced. What should I add or delete to get X more consistently?”</a:t>
            </a:r>
            <a:endParaRPr lang="en-US" sz="880" dirty="0"/>
          </a:p>
        </p:txBody>
      </p:sp>
      <p:sp>
        <p:nvSpPr>
          <p:cNvPr id="24" name="Shape 19"/>
          <p:cNvSpPr/>
          <p:nvPr/>
        </p:nvSpPr>
        <p:spPr>
          <a:xfrm>
            <a:off x="6172200" y="3566160"/>
            <a:ext cx="5440680" cy="1956816"/>
          </a:xfrm>
          <a:prstGeom prst="roundRect">
            <a:avLst>
              <a:gd name="adj" fmla="val 3738"/>
            </a:avLst>
          </a:prstGeom>
          <a:solidFill>
            <a:srgbClr val="FBF0E0"/>
          </a:solidFill>
          <a:ln/>
        </p:spPr>
      </p:sp>
      <p:sp>
        <p:nvSpPr>
          <p:cNvPr id="25" name="Shape 20"/>
          <p:cNvSpPr/>
          <p:nvPr/>
        </p:nvSpPr>
        <p:spPr>
          <a:xfrm>
            <a:off x="6355080" y="3749040"/>
            <a:ext cx="420624" cy="420624"/>
          </a:xfrm>
          <a:prstGeom prst="ellipse">
            <a:avLst/>
          </a:prstGeom>
          <a:solidFill>
            <a:srgbClr val="B96A1B"/>
          </a:solidFill>
          <a:ln/>
        </p:spPr>
      </p:sp>
      <p:pic>
        <p:nvPicPr>
          <p:cNvPr id="26" name="Image 3" descr="/home/user/Claude-Works/ai-training-prompt-engineering/src/assets/icons/clock_w.png">    </p:cNvPr>
          <p:cNvPicPr>
            <a:picLocks noChangeAspect="1"/>
          </p:cNvPicPr>
          <p:nvPr/>
        </p:nvPicPr>
        <p:blipFill>
          <a:blip r:embed="rId4"/>
          <a:stretch>
            <a:fillRect/>
          </a:stretch>
        </p:blipFill>
        <p:spPr>
          <a:xfrm>
            <a:off x="6464442" y="3858402"/>
            <a:ext cx="201900" cy="201900"/>
          </a:xfrm>
          <a:prstGeom prst="rect">
            <a:avLst/>
          </a:prstGeom>
        </p:spPr>
      </p:pic>
      <p:sp>
        <p:nvSpPr>
          <p:cNvPr id="27" name="Text 21"/>
          <p:cNvSpPr/>
          <p:nvPr/>
        </p:nvSpPr>
        <p:spPr>
          <a:xfrm>
            <a:off x="6903720" y="3703320"/>
            <a:ext cx="4572000" cy="1691640"/>
          </a:xfrm>
          <a:prstGeom prst="rect">
            <a:avLst/>
          </a:prstGeom>
          <a:noFill/>
          <a:ln/>
        </p:spPr>
        <p:txBody>
          <a:bodyPr wrap="square" lIns="0" tIns="0" rIns="0" bIns="0" rtlCol="0" anchor="ctr"/>
          <a:lstStyle/>
          <a:p>
            <a:pPr indent="0" marL="0">
              <a:lnSpc>
                <a:spcPct val="108000"/>
              </a:lnSpc>
              <a:spcAft>
                <a:spcPts val="300"/>
              </a:spcAft>
              <a:buNone/>
            </a:pPr>
            <a:r>
              <a:rPr lang="en-US" sz="1250" b="1" dirty="0">
                <a:solidFill>
                  <a:srgbClr val="232A31"/>
                </a:solidFill>
                <a:latin typeface="Calibri" pitchFamily="34" charset="0"/>
                <a:ea typeface="Calibri" pitchFamily="34" charset="-122"/>
                <a:cs typeface="Calibri" pitchFamily="34" charset="-120"/>
              </a:rPr>
              <a:t>Where’s “think step by step”? </a:t>
            </a:r>
            <a:endParaRPr lang="en-US" sz="125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Retired to the bench — today’s models reason by default, and boilerplate step-by-step can even hurt. The expired-advice slide, two ahead, settles it.</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What’s proven, what’s myth — in plain terms</a:t>
            </a:r>
            <a:endParaRPr lang="en-US" sz="3000" dirty="0"/>
          </a:p>
        </p:txBody>
      </p:sp>
      <p:sp>
        <p:nvSpPr>
          <p:cNvPr id="6" name="Shape 4"/>
          <p:cNvSpPr/>
          <p:nvPr/>
        </p:nvSpPr>
        <p:spPr>
          <a:xfrm>
            <a:off x="502920" y="1508760"/>
            <a:ext cx="5486400" cy="2377440"/>
          </a:xfrm>
          <a:prstGeom prst="roundRect">
            <a:avLst>
              <a:gd name="adj" fmla="val 3077"/>
            </a:avLst>
          </a:prstGeom>
          <a:solidFill>
            <a:srgbClr val="E7F2EC"/>
          </a:solidFill>
          <a:ln/>
        </p:spPr>
      </p:sp>
      <p:sp>
        <p:nvSpPr>
          <p:cNvPr id="7" name="Shape 5"/>
          <p:cNvSpPr/>
          <p:nvPr/>
        </p:nvSpPr>
        <p:spPr>
          <a:xfrm>
            <a:off x="777240" y="1737360"/>
            <a:ext cx="457200" cy="457200"/>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96112" y="1856232"/>
            <a:ext cx="219456" cy="219456"/>
          </a:xfrm>
          <a:prstGeom prst="rect">
            <a:avLst/>
          </a:prstGeom>
        </p:spPr>
      </p:pic>
      <p:sp>
        <p:nvSpPr>
          <p:cNvPr id="9" name="Text 6"/>
          <p:cNvSpPr/>
          <p:nvPr/>
        </p:nvSpPr>
        <p:spPr>
          <a:xfrm>
            <a:off x="1371600" y="1783080"/>
            <a:ext cx="40233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Proven to work</a:t>
            </a:r>
            <a:endParaRPr lang="en-US" sz="1500" dirty="0"/>
          </a:p>
        </p:txBody>
      </p:sp>
      <p:sp>
        <p:nvSpPr>
          <p:cNvPr id="10" name="Text 7"/>
          <p:cNvSpPr/>
          <p:nvPr/>
        </p:nvSpPr>
        <p:spPr>
          <a:xfrm>
            <a:off x="822960" y="2286000"/>
            <a:ext cx="4937760" cy="15544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00" dirty="0">
                <a:solidFill>
                  <a:srgbClr val="46545F"/>
                </a:solidFill>
                <a:latin typeface="Calibri" pitchFamily="34" charset="0"/>
                <a:ea typeface="Calibri" pitchFamily="34" charset="-122"/>
                <a:cs typeface="Calibri" pitchFamily="34" charset="-120"/>
              </a:rPr>
              <a:t>Being specific, giving context, showing examples — every vendor guide and every study agree</a:t>
            </a:r>
            <a:endParaRPr lang="en-US" sz="1100" dirty="0"/>
          </a:p>
          <a:p>
            <a:pPr algn="l" marL="127000" indent="-127000">
              <a:lnSpc>
                <a:spcPct val="104000"/>
              </a:lnSpc>
              <a:spcAft>
                <a:spcPts val="600"/>
              </a:spcAft>
              <a:buSzPct val="100000"/>
              <a:buChar char="•"/>
            </a:pPr>
            <a:r>
              <a:rPr lang="en-US" sz="1100" dirty="0">
                <a:solidFill>
                  <a:srgbClr val="46545F"/>
                </a:solidFill>
                <a:latin typeface="Calibri" pitchFamily="34" charset="0"/>
                <a:ea typeface="Calibri" pitchFamily="34" charset="-122"/>
                <a:cs typeface="Calibri" pitchFamily="34" charset="-120"/>
              </a:rPr>
              <a:t>Templates beat improvisation: identical asks, phrased differently, swung accuracy by up to 76 points — write it once, well, and reuse it</a:t>
            </a:r>
            <a:endParaRPr lang="en-US" sz="1100" dirty="0"/>
          </a:p>
          <a:p>
            <a:pPr algn="l" marL="127000" indent="-127000">
              <a:lnSpc>
                <a:spcPct val="104000"/>
              </a:lnSpc>
              <a:spcAft>
                <a:spcPts val="600"/>
              </a:spcAft>
              <a:buSzPct val="100000"/>
              <a:buChar char="•"/>
            </a:pPr>
            <a:r>
              <a:rPr lang="en-US" sz="1100" dirty="0">
                <a:solidFill>
                  <a:srgbClr val="46545F"/>
                </a:solidFill>
                <a:latin typeface="Calibri" pitchFamily="34" charset="0"/>
                <a:ea typeface="Calibri" pitchFamily="34" charset="-122"/>
                <a:cs typeface="Calibri" pitchFamily="34" charset="-120"/>
              </a:rPr>
              <a:t>Roles shape tone and voice reliably — use them for voice, not for smarts …</a:t>
            </a:r>
            <a:endParaRPr lang="en-US" sz="1100" dirty="0"/>
          </a:p>
        </p:txBody>
      </p:sp>
      <p:sp>
        <p:nvSpPr>
          <p:cNvPr id="11" name="Shape 8"/>
          <p:cNvSpPr/>
          <p:nvPr/>
        </p:nvSpPr>
        <p:spPr>
          <a:xfrm>
            <a:off x="502920" y="4069080"/>
            <a:ext cx="5486400" cy="2011680"/>
          </a:xfrm>
          <a:prstGeom prst="roundRect">
            <a:avLst>
              <a:gd name="adj" fmla="val 3636"/>
            </a:avLst>
          </a:prstGeom>
          <a:solidFill>
            <a:srgbClr val="F9E9E8"/>
          </a:solidFill>
          <a:ln/>
        </p:spPr>
      </p:sp>
      <p:sp>
        <p:nvSpPr>
          <p:cNvPr id="12" name="Shape 9"/>
          <p:cNvSpPr/>
          <p:nvPr/>
        </p:nvSpPr>
        <p:spPr>
          <a:xfrm>
            <a:off x="777240" y="4279392"/>
            <a:ext cx="457200" cy="457200"/>
          </a:xfrm>
          <a:prstGeom prst="ellipse">
            <a:avLst/>
          </a:prstGeom>
          <a:solidFill>
            <a:srgbClr val="AF3230"/>
          </a:solidFill>
          <a:ln/>
        </p:spPr>
      </p:sp>
      <p:pic>
        <p:nvPicPr>
          <p:cNvPr id="13" name="Image 1" descr="/home/user/Claude-Works/ai-training-prompt-engineering/src/assets/icons/x_w.png">    </p:cNvPr>
          <p:cNvPicPr>
            <a:picLocks noChangeAspect="1"/>
          </p:cNvPicPr>
          <p:nvPr/>
        </p:nvPicPr>
        <p:blipFill>
          <a:blip r:embed="rId2"/>
          <a:stretch>
            <a:fillRect/>
          </a:stretch>
        </p:blipFill>
        <p:spPr>
          <a:xfrm>
            <a:off x="896112" y="4398264"/>
            <a:ext cx="219456" cy="219456"/>
          </a:xfrm>
          <a:prstGeom prst="rect">
            <a:avLst/>
          </a:prstGeom>
        </p:spPr>
      </p:pic>
      <p:sp>
        <p:nvSpPr>
          <p:cNvPr id="14" name="Text 10"/>
          <p:cNvSpPr/>
          <p:nvPr/>
        </p:nvSpPr>
        <p:spPr>
          <a:xfrm>
            <a:off x="1371600" y="4315968"/>
            <a:ext cx="40233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Myth — save your typing</a:t>
            </a:r>
            <a:endParaRPr lang="en-US" sz="1500" dirty="0"/>
          </a:p>
        </p:txBody>
      </p:sp>
      <p:sp>
        <p:nvSpPr>
          <p:cNvPr id="15" name="Text 11"/>
          <p:cNvSpPr/>
          <p:nvPr/>
        </p:nvSpPr>
        <p:spPr>
          <a:xfrm>
            <a:off x="822960" y="4800600"/>
            <a:ext cx="4937760" cy="1188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00" dirty="0">
                <a:solidFill>
                  <a:srgbClr val="46545F"/>
                </a:solidFill>
                <a:latin typeface="Calibri" pitchFamily="34" charset="0"/>
                <a:ea typeface="Calibri" pitchFamily="34" charset="-122"/>
                <a:cs typeface="Calibri" pitchFamily="34" charset="-120"/>
              </a:rPr>
              <a:t>… but “you are a genius” adds zero accuracy (162 personas tested: no gain; replicated 2025)</a:t>
            </a:r>
            <a:endParaRPr lang="en-US" sz="1100" dirty="0"/>
          </a:p>
          <a:p>
            <a:pPr algn="l" marL="127000" indent="-127000">
              <a:lnSpc>
                <a:spcPct val="104000"/>
              </a:lnSpc>
              <a:spcAft>
                <a:spcPts val="600"/>
              </a:spcAft>
              <a:buSzPct val="100000"/>
              <a:buChar char="•"/>
            </a:pPr>
            <a:r>
              <a:rPr lang="en-US" sz="1100" dirty="0">
                <a:solidFill>
                  <a:srgbClr val="46545F"/>
                </a:solidFill>
                <a:latin typeface="Calibri" pitchFamily="34" charset="0"/>
                <a:ea typeface="Calibri" pitchFamily="34" charset="-122"/>
                <a:cs typeface="Calibri" pitchFamily="34" charset="-120"/>
              </a:rPr>
              <a:t>Tips, threats, politeness theater: “I’ll tip $1,000” changed nothing that survives repetition</a:t>
            </a:r>
            <a:endParaRPr lang="en-US" sz="1100" dirty="0"/>
          </a:p>
        </p:txBody>
      </p:sp>
      <p:sp>
        <p:nvSpPr>
          <p:cNvPr id="16" name="Shape 12"/>
          <p:cNvSpPr/>
          <p:nvPr/>
        </p:nvSpPr>
        <p:spPr>
          <a:xfrm>
            <a:off x="6172200" y="1508760"/>
            <a:ext cx="5486400" cy="4572000"/>
          </a:xfrm>
          <a:prstGeom prst="roundRect">
            <a:avLst>
              <a:gd name="adj" fmla="val 1600"/>
            </a:avLst>
          </a:prstGeom>
          <a:solidFill>
            <a:srgbClr val="F2F5F6"/>
          </a:solidFill>
          <a:ln/>
        </p:spPr>
      </p:sp>
      <p:sp>
        <p:nvSpPr>
          <p:cNvPr id="17" name="Text 13"/>
          <p:cNvSpPr/>
          <p:nvPr/>
        </p:nvSpPr>
        <p:spPr>
          <a:xfrm>
            <a:off x="6446520" y="1737360"/>
            <a:ext cx="49377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bias to design against: AI mirrors you</a:t>
            </a:r>
            <a:endParaRPr lang="en-US" sz="1500" dirty="0"/>
          </a:p>
        </p:txBody>
      </p:sp>
      <p:sp>
        <p:nvSpPr>
          <p:cNvPr id="18" name="Text 14"/>
          <p:cNvSpPr/>
          <p:nvPr/>
        </p:nvSpPr>
        <p:spPr>
          <a:xfrm>
            <a:off x="6492240" y="2212848"/>
            <a:ext cx="4937760" cy="201168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Across 11 leading models, AI affirmed users’ actions ~49% more often than humans do (Stanford/CMU, Science 2026)</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single flattering exchange measurably raised users’ conviction they were right</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Root cause: models are trained on human preferences — and we prefer agreement</a:t>
            </a:r>
            <a:endParaRPr lang="en-US" sz="1150" dirty="0"/>
          </a:p>
        </p:txBody>
      </p:sp>
      <p:sp>
        <p:nvSpPr>
          <p:cNvPr id="19" name="Shape 15"/>
          <p:cNvSpPr/>
          <p:nvPr/>
        </p:nvSpPr>
        <p:spPr>
          <a:xfrm>
            <a:off x="6446520" y="4434840"/>
            <a:ext cx="4937760" cy="1463040"/>
          </a:xfrm>
          <a:prstGeom prst="roundRect">
            <a:avLst>
              <a:gd name="adj" fmla="val 5000"/>
            </a:avLst>
          </a:prstGeom>
          <a:solidFill>
            <a:srgbClr val="E4F0EF"/>
          </a:solidFill>
          <a:ln/>
        </p:spPr>
      </p:sp>
      <p:sp>
        <p:nvSpPr>
          <p:cNvPr id="20" name="Shape 16"/>
          <p:cNvSpPr/>
          <p:nvPr/>
        </p:nvSpPr>
        <p:spPr>
          <a:xfrm>
            <a:off x="6611112" y="4974336"/>
            <a:ext cx="384048" cy="384048"/>
          </a:xfrm>
          <a:prstGeom prst="ellipse">
            <a:avLst/>
          </a:prstGeom>
          <a:solidFill>
            <a:srgbClr val="0E7C7B"/>
          </a:solidFill>
          <a:ln/>
        </p:spPr>
      </p:sp>
      <p:pic>
        <p:nvPicPr>
          <p:cNvPr id="21" name="Image 2" descr="/home/user/Claude-Works/ai-training-prompt-engineering/src/assets/icons/shield_w.png">    </p:cNvPr>
          <p:cNvPicPr>
            <a:picLocks noChangeAspect="1"/>
          </p:cNvPicPr>
          <p:nvPr/>
        </p:nvPicPr>
        <p:blipFill>
          <a:blip r:embed="rId3"/>
          <a:stretch>
            <a:fillRect/>
          </a:stretch>
        </p:blipFill>
        <p:spPr>
          <a:xfrm>
            <a:off x="6710964" y="5074188"/>
            <a:ext cx="184343" cy="184343"/>
          </a:xfrm>
          <a:prstGeom prst="rect">
            <a:avLst/>
          </a:prstGeom>
        </p:spPr>
      </p:pic>
      <p:sp>
        <p:nvSpPr>
          <p:cNvPr id="22" name="Text 17"/>
          <p:cNvSpPr/>
          <p:nvPr/>
        </p:nvSpPr>
        <p:spPr>
          <a:xfrm>
            <a:off x="7159752" y="4507992"/>
            <a:ext cx="3995928" cy="13167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countermeasures: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don’t treat “are you sure?” as verification.</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UPDATE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ADVICE THAT EXPIRED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Learned prompting in 2023? Unlearn two things</a:t>
            </a:r>
            <a:endParaRPr lang="en-US" sz="3000" dirty="0"/>
          </a:p>
        </p:txBody>
      </p:sp>
      <p:sp>
        <p:nvSpPr>
          <p:cNvPr id="6" name="Shape 4"/>
          <p:cNvSpPr/>
          <p:nvPr/>
        </p:nvSpPr>
        <p:spPr>
          <a:xfrm>
            <a:off x="502920" y="1508760"/>
            <a:ext cx="5440680" cy="1353312"/>
          </a:xfrm>
          <a:prstGeom prst="roundRect">
            <a:avLst>
              <a:gd name="adj" fmla="val 5405"/>
            </a:avLst>
          </a:prstGeom>
          <a:solidFill>
            <a:srgbClr val="F2F5F6"/>
          </a:solidFill>
          <a:ln/>
        </p:spPr>
      </p:sp>
      <p:sp>
        <p:nvSpPr>
          <p:cNvPr id="7" name="Shape 5"/>
          <p:cNvSpPr/>
          <p:nvPr/>
        </p:nvSpPr>
        <p:spPr>
          <a:xfrm>
            <a:off x="685800" y="1911096"/>
            <a:ext cx="475488" cy="475488"/>
          </a:xfrm>
          <a:prstGeom prst="ellipse">
            <a:avLst/>
          </a:prstGeom>
          <a:solidFill>
            <a:srgbClr val="46545F"/>
          </a:solidFill>
          <a:ln/>
        </p:spPr>
      </p:sp>
      <p:pic>
        <p:nvPicPr>
          <p:cNvPr id="8" name="Image 0" descr="/home/user/Claude-Works/ai-training-prompt-engineering/src/assets/icons/x_w.png">    </p:cNvPr>
          <p:cNvPicPr>
            <a:picLocks noChangeAspect="1"/>
          </p:cNvPicPr>
          <p:nvPr/>
        </p:nvPicPr>
        <p:blipFill>
          <a:blip r:embed="rId1"/>
          <a:stretch>
            <a:fillRect/>
          </a:stretch>
        </p:blipFill>
        <p:spPr>
          <a:xfrm>
            <a:off x="809427" y="2034723"/>
            <a:ext cx="228234" cy="228234"/>
          </a:xfrm>
          <a:prstGeom prst="rect">
            <a:avLst/>
          </a:prstGeom>
        </p:spPr>
      </p:pic>
      <p:sp>
        <p:nvSpPr>
          <p:cNvPr id="9" name="Text 6"/>
          <p:cNvSpPr/>
          <p:nvPr/>
        </p:nvSpPr>
        <p:spPr>
          <a:xfrm>
            <a:off x="1307592" y="1600200"/>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Retire: “think step by step”</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Reasoning is built in now. OpenAI: “avoid chain-of-thought prompts.” Anthropic: general instructions beat hand-written step plans. Keep it only as a fallback for non-thinking modes.</a:t>
            </a:r>
            <a:endParaRPr lang="en-US" sz="1250" dirty="0"/>
          </a:p>
        </p:txBody>
      </p:sp>
      <p:sp>
        <p:nvSpPr>
          <p:cNvPr id="10" name="Shape 7"/>
          <p:cNvSpPr/>
          <p:nvPr/>
        </p:nvSpPr>
        <p:spPr>
          <a:xfrm>
            <a:off x="6172200" y="1508760"/>
            <a:ext cx="5440680" cy="1353312"/>
          </a:xfrm>
          <a:prstGeom prst="roundRect">
            <a:avLst>
              <a:gd name="adj" fmla="val 5405"/>
            </a:avLst>
          </a:prstGeom>
          <a:solidFill>
            <a:srgbClr val="F2F5F6"/>
          </a:solidFill>
          <a:ln/>
        </p:spPr>
      </p:sp>
      <p:sp>
        <p:nvSpPr>
          <p:cNvPr id="11" name="Shape 8"/>
          <p:cNvSpPr/>
          <p:nvPr/>
        </p:nvSpPr>
        <p:spPr>
          <a:xfrm>
            <a:off x="6355080" y="1911096"/>
            <a:ext cx="475488" cy="475488"/>
          </a:xfrm>
          <a:prstGeom prst="ellipse">
            <a:avLst/>
          </a:prstGeom>
          <a:solidFill>
            <a:srgbClr val="46545F"/>
          </a:solidFill>
          <a:ln/>
        </p:spPr>
      </p:sp>
      <p:pic>
        <p:nvPicPr>
          <p:cNvPr id="12" name="Image 1" descr="/home/user/Claude-Works/ai-training-prompt-engineering/src/assets/icons/x_w.png">    </p:cNvPr>
          <p:cNvPicPr>
            <a:picLocks noChangeAspect="1"/>
          </p:cNvPicPr>
          <p:nvPr/>
        </p:nvPicPr>
        <p:blipFill>
          <a:blip r:embed="rId2"/>
          <a:stretch>
            <a:fillRect/>
          </a:stretch>
        </p:blipFill>
        <p:spPr>
          <a:xfrm>
            <a:off x="6478707" y="2034723"/>
            <a:ext cx="228234" cy="228234"/>
          </a:xfrm>
          <a:prstGeom prst="rect">
            <a:avLst/>
          </a:prstGeom>
        </p:spPr>
      </p:pic>
      <p:sp>
        <p:nvSpPr>
          <p:cNvPr id="13" name="Text 9"/>
          <p:cNvSpPr/>
          <p:nvPr/>
        </p:nvSpPr>
        <p:spPr>
          <a:xfrm>
            <a:off x="6976872" y="1600200"/>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Retire: piles of examples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Zero-shot first; add examples only if the format drifts. On some reasoning models, few-shot measurably HURTS (DeepSeek-R1’s own paper).</a:t>
            </a:r>
            <a:endParaRPr lang="en-US" sz="1250" dirty="0"/>
          </a:p>
        </p:txBody>
      </p:sp>
      <p:sp>
        <p:nvSpPr>
          <p:cNvPr id="14" name="Shape 10"/>
          <p:cNvSpPr/>
          <p:nvPr/>
        </p:nvSpPr>
        <p:spPr>
          <a:xfrm>
            <a:off x="502920" y="2990088"/>
            <a:ext cx="5440680" cy="1353312"/>
          </a:xfrm>
          <a:prstGeom prst="roundRect">
            <a:avLst>
              <a:gd name="adj" fmla="val 5405"/>
            </a:avLst>
          </a:prstGeom>
          <a:solidFill>
            <a:srgbClr val="F2F5F6"/>
          </a:solidFill>
          <a:ln/>
        </p:spPr>
      </p:sp>
      <p:sp>
        <p:nvSpPr>
          <p:cNvPr id="15" name="Shape 11"/>
          <p:cNvSpPr/>
          <p:nvPr/>
        </p:nvSpPr>
        <p:spPr>
          <a:xfrm>
            <a:off x="685800" y="3392424"/>
            <a:ext cx="475488" cy="475488"/>
          </a:xfrm>
          <a:prstGeom prst="ellipse">
            <a:avLst/>
          </a:prstGeom>
          <a:solidFill>
            <a:srgbClr val="B96A1B"/>
          </a:solidFill>
          <a:ln/>
        </p:spPr>
      </p:sp>
      <p:pic>
        <p:nvPicPr>
          <p:cNvPr id="16" name="Image 2" descr="/home/user/Claude-Works/ai-training-prompt-engineering/src/assets/icons/alert_w.png">    </p:cNvPr>
          <p:cNvPicPr>
            <a:picLocks noChangeAspect="1"/>
          </p:cNvPicPr>
          <p:nvPr/>
        </p:nvPicPr>
        <p:blipFill>
          <a:blip r:embed="rId3"/>
          <a:stretch>
            <a:fillRect/>
          </a:stretch>
        </p:blipFill>
        <p:spPr>
          <a:xfrm>
            <a:off x="809427" y="3516051"/>
            <a:ext cx="228234" cy="228234"/>
          </a:xfrm>
          <a:prstGeom prst="rect">
            <a:avLst/>
          </a:prstGeom>
        </p:spPr>
      </p:pic>
      <p:sp>
        <p:nvSpPr>
          <p:cNvPr id="17" name="Text 12"/>
          <p:cNvSpPr/>
          <p:nvPr/>
        </p:nvSpPr>
        <p:spPr>
          <a:xfrm>
            <a:off x="1307592" y="3081528"/>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New risk: contradictions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Conflicting instructions are worse now — the model burns thinking tokens trying to reconcile them. Audit your prompt for rules that collide.</a:t>
            </a:r>
            <a:endParaRPr lang="en-US" sz="1250" dirty="0"/>
          </a:p>
        </p:txBody>
      </p:sp>
      <p:sp>
        <p:nvSpPr>
          <p:cNvPr id="18" name="Shape 13"/>
          <p:cNvSpPr/>
          <p:nvPr/>
        </p:nvSpPr>
        <p:spPr>
          <a:xfrm>
            <a:off x="6172200" y="2990088"/>
            <a:ext cx="5440680" cy="1353312"/>
          </a:xfrm>
          <a:prstGeom prst="roundRect">
            <a:avLst>
              <a:gd name="adj" fmla="val 5405"/>
            </a:avLst>
          </a:prstGeom>
          <a:solidFill>
            <a:srgbClr val="F2F5F6"/>
          </a:solidFill>
          <a:ln/>
        </p:spPr>
      </p:sp>
      <p:sp>
        <p:nvSpPr>
          <p:cNvPr id="19" name="Shape 14"/>
          <p:cNvSpPr/>
          <p:nvPr/>
        </p:nvSpPr>
        <p:spPr>
          <a:xfrm>
            <a:off x="6355080" y="3392424"/>
            <a:ext cx="475488" cy="475488"/>
          </a:xfrm>
          <a:prstGeom prst="ellipse">
            <a:avLst/>
          </a:prstGeom>
          <a:solidFill>
            <a:srgbClr val="B96A1B"/>
          </a:solidFill>
          <a:ln/>
        </p:spPr>
      </p:sp>
      <p:pic>
        <p:nvPicPr>
          <p:cNvPr id="20" name="Image 3" descr="/home/user/Claude-Works/ai-training-prompt-engineering/src/assets/icons/sliders_w.png">    </p:cNvPr>
          <p:cNvPicPr>
            <a:picLocks noChangeAspect="1"/>
          </p:cNvPicPr>
          <p:nvPr/>
        </p:nvPicPr>
        <p:blipFill>
          <a:blip r:embed="rId4"/>
          <a:stretch>
            <a:fillRect/>
          </a:stretch>
        </p:blipFill>
        <p:spPr>
          <a:xfrm>
            <a:off x="6478707" y="3516051"/>
            <a:ext cx="228234" cy="228234"/>
          </a:xfrm>
          <a:prstGeom prst="rect">
            <a:avLst/>
          </a:prstGeom>
        </p:spPr>
      </p:pic>
      <p:sp>
        <p:nvSpPr>
          <p:cNvPr id="21" name="Text 15"/>
          <p:cNvSpPr/>
          <p:nvPr/>
        </p:nvSpPr>
        <p:spPr>
          <a:xfrm>
            <a:off x="6976872" y="3081528"/>
            <a:ext cx="4526280" cy="1188720"/>
          </a:xfrm>
          <a:prstGeom prst="rect">
            <a:avLst/>
          </a:prstGeom>
          <a:noFill/>
          <a:ln/>
        </p:spPr>
        <p:txBody>
          <a:bodyPr wrap="square" lIns="0" tIns="0" rIns="0" bIns="0" rtlCol="0" anchor="ctr"/>
          <a:lstStyle/>
          <a:p>
            <a:pPr indent="0" marL="0">
              <a:lnSpc>
                <a:spcPct val="105000"/>
              </a:lnSpc>
              <a:spcAft>
                <a:spcPts val="300"/>
              </a:spcAft>
              <a:buNone/>
            </a:pPr>
            <a:r>
              <a:rPr lang="en-US" sz="1250" b="1" dirty="0">
                <a:solidFill>
                  <a:srgbClr val="232A31"/>
                </a:solidFill>
                <a:latin typeface="Calibri" pitchFamily="34" charset="0"/>
                <a:ea typeface="Calibri" pitchFamily="34" charset="-122"/>
                <a:cs typeface="Calibri" pitchFamily="34" charset="-120"/>
              </a:rPr>
              <a:t>What replaced the magic words</a:t>
            </a:r>
            <a:endParaRPr lang="en-US" sz="125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Depth is a setting now — the thinking modes and effort dials from Part 1. Say how hard to think in the app’s controls, not in incantations.</a:t>
            </a:r>
            <a:endParaRPr lang="en-US" sz="1250" dirty="0"/>
          </a:p>
        </p:txBody>
      </p:sp>
      <p:sp>
        <p:nvSpPr>
          <p:cNvPr id="22" name="Shape 16"/>
          <p:cNvSpPr/>
          <p:nvPr/>
        </p:nvSpPr>
        <p:spPr>
          <a:xfrm>
            <a:off x="502920" y="4709160"/>
            <a:ext cx="11155680" cy="1325880"/>
          </a:xfrm>
          <a:prstGeom prst="roundRect">
            <a:avLst>
              <a:gd name="adj" fmla="val 5517"/>
            </a:avLst>
          </a:prstGeom>
          <a:solidFill>
            <a:srgbClr val="E4F0EF"/>
          </a:solidFill>
          <a:ln/>
        </p:spPr>
      </p:sp>
      <p:sp>
        <p:nvSpPr>
          <p:cNvPr id="23" name="Shape 17"/>
          <p:cNvSpPr/>
          <p:nvPr/>
        </p:nvSpPr>
        <p:spPr>
          <a:xfrm>
            <a:off x="667512" y="5180076"/>
            <a:ext cx="384048" cy="384048"/>
          </a:xfrm>
          <a:prstGeom prst="ellipse">
            <a:avLst/>
          </a:prstGeom>
          <a:solidFill>
            <a:srgbClr val="0E7C7B"/>
          </a:solidFill>
          <a:ln/>
        </p:spPr>
      </p:sp>
      <p:pic>
        <p:nvPicPr>
          <p:cNvPr id="24" name="Image 4" descr="/home/user/Claude-Works/ai-training-prompt-engineering/src/assets/icons/check_w.png">    </p:cNvPr>
          <p:cNvPicPr>
            <a:picLocks noChangeAspect="1"/>
          </p:cNvPicPr>
          <p:nvPr/>
        </p:nvPicPr>
        <p:blipFill>
          <a:blip r:embed="rId5"/>
          <a:stretch>
            <a:fillRect/>
          </a:stretch>
        </p:blipFill>
        <p:spPr>
          <a:xfrm>
            <a:off x="767364" y="5279928"/>
            <a:ext cx="184343" cy="184343"/>
          </a:xfrm>
          <a:prstGeom prst="rect">
            <a:avLst/>
          </a:prstGeom>
        </p:spPr>
      </p:pic>
      <p:sp>
        <p:nvSpPr>
          <p:cNvPr id="25" name="Text 18"/>
          <p:cNvSpPr/>
          <p:nvPr/>
        </p:nvSpPr>
        <p:spPr>
          <a:xfrm>
            <a:off x="1216152" y="4782312"/>
            <a:ext cx="10213848" cy="117957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What did NOT change: </a:t>
            </a:r>
            <a:endParaRPr lang="en-US" sz="1250" dirty="0"/>
          </a:p>
          <a:p>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clarity and specificity · relevant context and sources · output format · giving an out · grounding in documents · iteration. The anatomy from the top of this part applies to every model you will ever use — the scaffolding tricks retire, the briefing skills compound.</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ITERATION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HABIT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Draft → Inspect → Refine → Standardize (PDCA)</a:t>
            </a:r>
            <a:endParaRPr lang="en-US" sz="3000" dirty="0"/>
          </a:p>
        </p:txBody>
      </p:sp>
      <p:sp>
        <p:nvSpPr>
          <p:cNvPr id="6" name="Shape 4"/>
          <p:cNvSpPr/>
          <p:nvPr/>
        </p:nvSpPr>
        <p:spPr>
          <a:xfrm>
            <a:off x="502920" y="1481328"/>
            <a:ext cx="2651760" cy="1737360"/>
          </a:xfrm>
          <a:prstGeom prst="roundRect">
            <a:avLst>
              <a:gd name="adj" fmla="val 4211"/>
            </a:avLst>
          </a:prstGeom>
          <a:solidFill>
            <a:srgbClr val="F2F5F6"/>
          </a:solidFill>
          <a:ln/>
        </p:spPr>
      </p:sp>
      <p:sp>
        <p:nvSpPr>
          <p:cNvPr id="7" name="Shape 5"/>
          <p:cNvSpPr/>
          <p:nvPr/>
        </p:nvSpPr>
        <p:spPr>
          <a:xfrm>
            <a:off x="685800" y="1627632"/>
            <a:ext cx="402336" cy="402336"/>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790407" y="1732239"/>
            <a:ext cx="193121" cy="193121"/>
          </a:xfrm>
          <a:prstGeom prst="rect">
            <a:avLst/>
          </a:prstGeom>
        </p:spPr>
      </p:pic>
      <p:sp>
        <p:nvSpPr>
          <p:cNvPr id="9" name="Text 6"/>
          <p:cNvSpPr/>
          <p:nvPr/>
        </p:nvSpPr>
        <p:spPr>
          <a:xfrm>
            <a:off x="117957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1 · Draft</a:t>
            </a:r>
            <a:endParaRPr lang="en-US" sz="1300" dirty="0"/>
          </a:p>
        </p:txBody>
      </p:sp>
      <p:sp>
        <p:nvSpPr>
          <p:cNvPr id="10" name="Shape 7"/>
          <p:cNvSpPr/>
          <p:nvPr/>
        </p:nvSpPr>
        <p:spPr>
          <a:xfrm>
            <a:off x="685800" y="2103120"/>
            <a:ext cx="1371600" cy="256032"/>
          </a:xfrm>
          <a:prstGeom prst="roundRect">
            <a:avLst>
              <a:gd name="adj" fmla="val 21429"/>
            </a:avLst>
          </a:prstGeom>
          <a:solidFill>
            <a:srgbClr val="FBF0E0"/>
          </a:solidFill>
          <a:ln w="7620">
            <a:solidFill>
              <a:srgbClr val="B96A1B"/>
            </a:solidFill>
            <a:prstDash val="solid"/>
          </a:ln>
        </p:spPr>
      </p:sp>
      <p:sp>
        <p:nvSpPr>
          <p:cNvPr id="11" name="Text 8"/>
          <p:cNvSpPr/>
          <p:nvPr/>
        </p:nvSpPr>
        <p:spPr>
          <a:xfrm>
            <a:off x="685800" y="211226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PLAN + DO</a:t>
            </a:r>
            <a:endParaRPr lang="en-US" sz="750" dirty="0"/>
          </a:p>
        </p:txBody>
      </p:sp>
      <p:sp>
        <p:nvSpPr>
          <p:cNvPr id="12" name="Text 9"/>
          <p:cNvSpPr/>
          <p:nvPr/>
        </p:nvSpPr>
        <p:spPr>
          <a:xfrm>
            <a:off x="685800" y="2414016"/>
            <a:ext cx="2331720" cy="777240"/>
          </a:xfrm>
          <a:prstGeom prst="rect">
            <a:avLst/>
          </a:prstGeom>
          <a:noFill/>
          <a:ln/>
        </p:spPr>
        <p:txBody>
          <a:bodyPr wrap="square" lIns="0" tIns="0" rIns="0" bIns="0" rtlCol="0" anchor="ctr"/>
          <a:lstStyle/>
          <a:p>
            <a:pPr indent="0" marL="0">
              <a:lnSpc>
                <a:spcPct val="104000"/>
              </a:lnSpc>
              <a:buNone/>
            </a:pPr>
            <a:r>
              <a:rPr lang="en-US" sz="930" dirty="0">
                <a:solidFill>
                  <a:srgbClr val="46545F"/>
                </a:solidFill>
                <a:latin typeface="Calibri" pitchFamily="34" charset="0"/>
                <a:ea typeface="Calibri" pitchFamily="34" charset="-122"/>
                <a:cs typeface="Calibri" pitchFamily="34" charset="-120"/>
              </a:rPr>
              <a:t>Write the prompt with the anatomy: role, task, context, format, examples.</a:t>
            </a:r>
            <a:endParaRPr lang="en-US" sz="930" dirty="0"/>
          </a:p>
        </p:txBody>
      </p:sp>
      <p:sp>
        <p:nvSpPr>
          <p:cNvPr id="13" name="Shape 10"/>
          <p:cNvSpPr/>
          <p:nvPr/>
        </p:nvSpPr>
        <p:spPr>
          <a:xfrm>
            <a:off x="3291840" y="1481328"/>
            <a:ext cx="2651760" cy="1737360"/>
          </a:xfrm>
          <a:prstGeom prst="roundRect">
            <a:avLst>
              <a:gd name="adj" fmla="val 4211"/>
            </a:avLst>
          </a:prstGeom>
          <a:solidFill>
            <a:srgbClr val="F2F5F6"/>
          </a:solidFill>
          <a:ln/>
        </p:spPr>
      </p:sp>
      <p:sp>
        <p:nvSpPr>
          <p:cNvPr id="14" name="Shape 11"/>
          <p:cNvSpPr/>
          <p:nvPr/>
        </p:nvSpPr>
        <p:spPr>
          <a:xfrm>
            <a:off x="3474720" y="1627632"/>
            <a:ext cx="402336" cy="402336"/>
          </a:xfrm>
          <a:prstGeom prst="ellipse">
            <a:avLst/>
          </a:prstGeom>
          <a:solidFill>
            <a:srgbClr val="0E7C7B"/>
          </a:solidFill>
          <a:ln/>
        </p:spPr>
      </p:sp>
      <p:pic>
        <p:nvPicPr>
          <p:cNvPr id="15" name="Image 1" descr="/home/user/Claude-Works/ai-training-prompt-engineering/src/assets/icons/eye_w.png">    </p:cNvPr>
          <p:cNvPicPr>
            <a:picLocks noChangeAspect="1"/>
          </p:cNvPicPr>
          <p:nvPr/>
        </p:nvPicPr>
        <p:blipFill>
          <a:blip r:embed="rId2"/>
          <a:stretch>
            <a:fillRect/>
          </a:stretch>
        </p:blipFill>
        <p:spPr>
          <a:xfrm>
            <a:off x="3579327" y="1732239"/>
            <a:ext cx="193121" cy="193121"/>
          </a:xfrm>
          <a:prstGeom prst="rect">
            <a:avLst/>
          </a:prstGeom>
        </p:spPr>
      </p:pic>
      <p:sp>
        <p:nvSpPr>
          <p:cNvPr id="16" name="Text 12"/>
          <p:cNvSpPr/>
          <p:nvPr/>
        </p:nvSpPr>
        <p:spPr>
          <a:xfrm>
            <a:off x="3968496" y="166420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2 · Inspect</a:t>
            </a:r>
            <a:endParaRPr lang="en-US" sz="1300" dirty="0"/>
          </a:p>
        </p:txBody>
      </p:sp>
      <p:sp>
        <p:nvSpPr>
          <p:cNvPr id="17" name="Shape 13"/>
          <p:cNvSpPr/>
          <p:nvPr/>
        </p:nvSpPr>
        <p:spPr>
          <a:xfrm>
            <a:off x="3474720" y="2103120"/>
            <a:ext cx="1371600" cy="256032"/>
          </a:xfrm>
          <a:prstGeom prst="roundRect">
            <a:avLst>
              <a:gd name="adj" fmla="val 21429"/>
            </a:avLst>
          </a:prstGeom>
          <a:solidFill>
            <a:srgbClr val="FBF0E0"/>
          </a:solidFill>
          <a:ln w="7620">
            <a:solidFill>
              <a:srgbClr val="B96A1B"/>
            </a:solidFill>
            <a:prstDash val="solid"/>
          </a:ln>
        </p:spPr>
      </p:sp>
      <p:sp>
        <p:nvSpPr>
          <p:cNvPr id="18" name="Text 14"/>
          <p:cNvSpPr/>
          <p:nvPr/>
        </p:nvSpPr>
        <p:spPr>
          <a:xfrm>
            <a:off x="3474720" y="211226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CHECK</a:t>
            </a:r>
            <a:endParaRPr lang="en-US" sz="750" dirty="0"/>
          </a:p>
        </p:txBody>
      </p:sp>
      <p:sp>
        <p:nvSpPr>
          <p:cNvPr id="19" name="Text 15"/>
          <p:cNvSpPr/>
          <p:nvPr/>
        </p:nvSpPr>
        <p:spPr>
          <a:xfrm>
            <a:off x="3474720" y="2414016"/>
            <a:ext cx="2331720" cy="777240"/>
          </a:xfrm>
          <a:prstGeom prst="rect">
            <a:avLst/>
          </a:prstGeom>
          <a:noFill/>
          <a:ln/>
        </p:spPr>
        <p:txBody>
          <a:bodyPr wrap="square" lIns="0" tIns="0" rIns="0" bIns="0" rtlCol="0" anchor="ctr"/>
          <a:lstStyle/>
          <a:p>
            <a:pPr indent="0" marL="0">
              <a:lnSpc>
                <a:spcPct val="104000"/>
              </a:lnSpc>
              <a:buNone/>
            </a:pPr>
            <a:r>
              <a:rPr lang="en-US" sz="930" dirty="0">
                <a:solidFill>
                  <a:srgbClr val="46545F"/>
                </a:solidFill>
                <a:latin typeface="Calibri" pitchFamily="34" charset="0"/>
                <a:ea typeface="Calibri" pitchFamily="34" charset="-122"/>
                <a:cs typeface="Calibri" pitchFamily="34" charset="-120"/>
              </a:rPr>
              <a:t>Wrong output? Don’t reword at random — use the grid on the right to name the failed element.</a:t>
            </a:r>
            <a:endParaRPr lang="en-US" sz="930" dirty="0"/>
          </a:p>
        </p:txBody>
      </p:sp>
      <p:sp>
        <p:nvSpPr>
          <p:cNvPr id="20" name="Shape 16"/>
          <p:cNvSpPr/>
          <p:nvPr/>
        </p:nvSpPr>
        <p:spPr>
          <a:xfrm>
            <a:off x="502920" y="3355848"/>
            <a:ext cx="2651760" cy="1737360"/>
          </a:xfrm>
          <a:prstGeom prst="roundRect">
            <a:avLst>
              <a:gd name="adj" fmla="val 4211"/>
            </a:avLst>
          </a:prstGeom>
          <a:solidFill>
            <a:srgbClr val="F2F5F6"/>
          </a:solidFill>
          <a:ln/>
        </p:spPr>
      </p:sp>
      <p:sp>
        <p:nvSpPr>
          <p:cNvPr id="21" name="Shape 17"/>
          <p:cNvSpPr/>
          <p:nvPr/>
        </p:nvSpPr>
        <p:spPr>
          <a:xfrm>
            <a:off x="685800" y="3502152"/>
            <a:ext cx="402336" cy="402336"/>
          </a:xfrm>
          <a:prstGeom prst="ellipse">
            <a:avLst/>
          </a:prstGeom>
          <a:solidFill>
            <a:srgbClr val="0E7C7B"/>
          </a:solidFill>
          <a:ln/>
        </p:spPr>
      </p:sp>
      <p:pic>
        <p:nvPicPr>
          <p:cNvPr id="22" name="Image 2" descr="/home/user/Claude-Works/ai-training-prompt-engineering/src/assets/icons/refresh_w.png">    </p:cNvPr>
          <p:cNvPicPr>
            <a:picLocks noChangeAspect="1"/>
          </p:cNvPicPr>
          <p:nvPr/>
        </p:nvPicPr>
        <p:blipFill>
          <a:blip r:embed="rId3"/>
          <a:stretch>
            <a:fillRect/>
          </a:stretch>
        </p:blipFill>
        <p:spPr>
          <a:xfrm>
            <a:off x="790407" y="3606759"/>
            <a:ext cx="193121" cy="193121"/>
          </a:xfrm>
          <a:prstGeom prst="rect">
            <a:avLst/>
          </a:prstGeom>
        </p:spPr>
      </p:pic>
      <p:sp>
        <p:nvSpPr>
          <p:cNvPr id="23" name="Text 18"/>
          <p:cNvSpPr/>
          <p:nvPr/>
        </p:nvSpPr>
        <p:spPr>
          <a:xfrm>
            <a:off x="117957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3 · Refine</a:t>
            </a:r>
            <a:endParaRPr lang="en-US" sz="1300" dirty="0"/>
          </a:p>
        </p:txBody>
      </p:sp>
      <p:sp>
        <p:nvSpPr>
          <p:cNvPr id="24" name="Shape 19"/>
          <p:cNvSpPr/>
          <p:nvPr/>
        </p:nvSpPr>
        <p:spPr>
          <a:xfrm>
            <a:off x="685800" y="3977640"/>
            <a:ext cx="1371600" cy="256032"/>
          </a:xfrm>
          <a:prstGeom prst="roundRect">
            <a:avLst>
              <a:gd name="adj" fmla="val 21429"/>
            </a:avLst>
          </a:prstGeom>
          <a:solidFill>
            <a:srgbClr val="FBF0E0"/>
          </a:solidFill>
          <a:ln w="7620">
            <a:solidFill>
              <a:srgbClr val="B96A1B"/>
            </a:solidFill>
            <a:prstDash val="solid"/>
          </a:ln>
        </p:spPr>
      </p:sp>
      <p:sp>
        <p:nvSpPr>
          <p:cNvPr id="25" name="Text 20"/>
          <p:cNvSpPr/>
          <p:nvPr/>
        </p:nvSpPr>
        <p:spPr>
          <a:xfrm>
            <a:off x="685800" y="398678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ACT</a:t>
            </a:r>
            <a:endParaRPr lang="en-US" sz="750" dirty="0"/>
          </a:p>
        </p:txBody>
      </p:sp>
      <p:sp>
        <p:nvSpPr>
          <p:cNvPr id="26" name="Text 21"/>
          <p:cNvSpPr/>
          <p:nvPr/>
        </p:nvSpPr>
        <p:spPr>
          <a:xfrm>
            <a:off x="685800" y="4288536"/>
            <a:ext cx="2331720" cy="777240"/>
          </a:xfrm>
          <a:prstGeom prst="rect">
            <a:avLst/>
          </a:prstGeom>
          <a:noFill/>
          <a:ln/>
        </p:spPr>
        <p:txBody>
          <a:bodyPr wrap="square" lIns="0" tIns="0" rIns="0" bIns="0" rtlCol="0" anchor="ctr"/>
          <a:lstStyle/>
          <a:p>
            <a:pPr indent="0" marL="0">
              <a:lnSpc>
                <a:spcPct val="104000"/>
              </a:lnSpc>
              <a:buNone/>
            </a:pPr>
            <a:r>
              <a:rPr lang="en-US" sz="930" dirty="0">
                <a:solidFill>
                  <a:srgbClr val="46545F"/>
                </a:solidFill>
                <a:latin typeface="Calibri" pitchFamily="34" charset="0"/>
                <a:ea typeface="Calibri" pitchFamily="34" charset="-122"/>
                <a:cs typeface="Calibri" pitchFamily="34" charset="-120"/>
              </a:rPr>
              <a:t>Fix that one element — or metaprompt: “rewrite this prompt so it more consistently produces X.”</a:t>
            </a:r>
            <a:endParaRPr lang="en-US" sz="930" dirty="0"/>
          </a:p>
        </p:txBody>
      </p:sp>
      <p:sp>
        <p:nvSpPr>
          <p:cNvPr id="27" name="Shape 22"/>
          <p:cNvSpPr/>
          <p:nvPr/>
        </p:nvSpPr>
        <p:spPr>
          <a:xfrm>
            <a:off x="3291840" y="3355848"/>
            <a:ext cx="2651760" cy="1737360"/>
          </a:xfrm>
          <a:prstGeom prst="roundRect">
            <a:avLst>
              <a:gd name="adj" fmla="val 4211"/>
            </a:avLst>
          </a:prstGeom>
          <a:solidFill>
            <a:srgbClr val="E4F0EF"/>
          </a:solidFill>
          <a:ln/>
        </p:spPr>
      </p:sp>
      <p:sp>
        <p:nvSpPr>
          <p:cNvPr id="28" name="Shape 23"/>
          <p:cNvSpPr/>
          <p:nvPr/>
        </p:nvSpPr>
        <p:spPr>
          <a:xfrm>
            <a:off x="3474720" y="3502152"/>
            <a:ext cx="402336" cy="402336"/>
          </a:xfrm>
          <a:prstGeom prst="ellipse">
            <a:avLst/>
          </a:prstGeom>
          <a:solidFill>
            <a:srgbClr val="0E7C7B"/>
          </a:solidFill>
          <a:ln/>
        </p:spPr>
      </p:sp>
      <p:pic>
        <p:nvPicPr>
          <p:cNvPr id="29" name="Image 3" descr="/home/user/Claude-Works/ai-training-prompt-engineering/src/assets/icons/save_w.png">    </p:cNvPr>
          <p:cNvPicPr>
            <a:picLocks noChangeAspect="1"/>
          </p:cNvPicPr>
          <p:nvPr/>
        </p:nvPicPr>
        <p:blipFill>
          <a:blip r:embed="rId4"/>
          <a:stretch>
            <a:fillRect/>
          </a:stretch>
        </p:blipFill>
        <p:spPr>
          <a:xfrm>
            <a:off x="3579327" y="3606759"/>
            <a:ext cx="193121" cy="193121"/>
          </a:xfrm>
          <a:prstGeom prst="rect">
            <a:avLst/>
          </a:prstGeom>
        </p:spPr>
      </p:pic>
      <p:sp>
        <p:nvSpPr>
          <p:cNvPr id="30" name="Text 24"/>
          <p:cNvSpPr/>
          <p:nvPr/>
        </p:nvSpPr>
        <p:spPr>
          <a:xfrm>
            <a:off x="3968496" y="3538728"/>
            <a:ext cx="192024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4 · Standardize</a:t>
            </a:r>
            <a:endParaRPr lang="en-US" sz="1300" dirty="0"/>
          </a:p>
        </p:txBody>
      </p:sp>
      <p:sp>
        <p:nvSpPr>
          <p:cNvPr id="31" name="Shape 25"/>
          <p:cNvSpPr/>
          <p:nvPr/>
        </p:nvSpPr>
        <p:spPr>
          <a:xfrm>
            <a:off x="3474720" y="3977640"/>
            <a:ext cx="1371600" cy="256032"/>
          </a:xfrm>
          <a:prstGeom prst="roundRect">
            <a:avLst>
              <a:gd name="adj" fmla="val 21429"/>
            </a:avLst>
          </a:prstGeom>
          <a:solidFill>
            <a:srgbClr val="FBF0E0"/>
          </a:solidFill>
          <a:ln w="7620">
            <a:solidFill>
              <a:srgbClr val="B96A1B"/>
            </a:solidFill>
            <a:prstDash val="solid"/>
          </a:ln>
        </p:spPr>
      </p:sp>
      <p:sp>
        <p:nvSpPr>
          <p:cNvPr id="32" name="Text 26"/>
          <p:cNvSpPr/>
          <p:nvPr/>
        </p:nvSpPr>
        <p:spPr>
          <a:xfrm>
            <a:off x="3474720" y="3986784"/>
            <a:ext cx="1371600" cy="237744"/>
          </a:xfrm>
          <a:prstGeom prst="rect">
            <a:avLst/>
          </a:prstGeom>
          <a:noFill/>
          <a:ln/>
        </p:spPr>
        <p:txBody>
          <a:bodyPr wrap="square" lIns="0" tIns="0" rIns="0" bIns="0" rtlCol="0" anchor="ctr"/>
          <a:lstStyle/>
          <a:p>
            <a:pPr algn="ctr" indent="0" marL="0">
              <a:buNone/>
            </a:pPr>
            <a:r>
              <a:rPr lang="en-US" sz="750" b="1" spc="50" kern="0" dirty="0">
                <a:solidFill>
                  <a:srgbClr val="B96A1B"/>
                </a:solidFill>
                <a:latin typeface="Calibri" pitchFamily="34" charset="0"/>
                <a:ea typeface="Calibri" pitchFamily="34" charset="-122"/>
                <a:cs typeface="Calibri" pitchFamily="34" charset="-120"/>
              </a:rPr>
              <a:t>STANDARD WORK</a:t>
            </a:r>
            <a:endParaRPr lang="en-US" sz="750" dirty="0"/>
          </a:p>
        </p:txBody>
      </p:sp>
      <p:sp>
        <p:nvSpPr>
          <p:cNvPr id="33" name="Text 27"/>
          <p:cNvSpPr/>
          <p:nvPr/>
        </p:nvSpPr>
        <p:spPr>
          <a:xfrm>
            <a:off x="3474720" y="4288536"/>
            <a:ext cx="2331720" cy="777240"/>
          </a:xfrm>
          <a:prstGeom prst="rect">
            <a:avLst/>
          </a:prstGeom>
          <a:noFill/>
          <a:ln/>
        </p:spPr>
        <p:txBody>
          <a:bodyPr wrap="square" lIns="0" tIns="0" rIns="0" bIns="0" rtlCol="0" anchor="ctr"/>
          <a:lstStyle/>
          <a:p>
            <a:pPr indent="0" marL="0">
              <a:lnSpc>
                <a:spcPct val="104000"/>
              </a:lnSpc>
              <a:buNone/>
            </a:pPr>
            <a:r>
              <a:rPr lang="en-US" sz="930" dirty="0">
                <a:solidFill>
                  <a:srgbClr val="46545F"/>
                </a:solidFill>
                <a:latin typeface="Calibri" pitchFamily="34" charset="0"/>
                <a:ea typeface="Calibri" pitchFamily="34" charset="-122"/>
                <a:cs typeface="Calibri" pitchFamily="34" charset="-120"/>
              </a:rPr>
              <a:t>Works twice? Name it, version it, put it in the library. Then improve the standard, not the improvisation.</a:t>
            </a:r>
            <a:endParaRPr lang="en-US" sz="930" dirty="0"/>
          </a:p>
        </p:txBody>
      </p:sp>
      <p:sp>
        <p:nvSpPr>
          <p:cNvPr id="34" name="Shape 28"/>
          <p:cNvSpPr/>
          <p:nvPr/>
        </p:nvSpPr>
        <p:spPr>
          <a:xfrm>
            <a:off x="6263640" y="1481328"/>
            <a:ext cx="5394960" cy="3749040"/>
          </a:xfrm>
          <a:prstGeom prst="roundRect">
            <a:avLst>
              <a:gd name="adj" fmla="val 1951"/>
            </a:avLst>
          </a:prstGeom>
          <a:solidFill>
            <a:srgbClr val="F2F5F6"/>
          </a:solidFill>
          <a:ln/>
        </p:spPr>
      </p:sp>
      <p:sp>
        <p:nvSpPr>
          <p:cNvPr id="35" name="Text 29"/>
          <p:cNvSpPr/>
          <p:nvPr/>
        </p:nvSpPr>
        <p:spPr>
          <a:xfrm>
            <a:off x="6510528" y="1645920"/>
            <a:ext cx="493776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Inspect with this — which element failed?</a:t>
            </a:r>
            <a:endParaRPr lang="en-US" sz="1350" dirty="0"/>
          </a:p>
        </p:txBody>
      </p:sp>
      <p:sp>
        <p:nvSpPr>
          <p:cNvPr id="36" name="Text 30"/>
          <p:cNvSpPr/>
          <p:nvPr/>
        </p:nvSpPr>
        <p:spPr>
          <a:xfrm>
            <a:off x="6510528" y="2084832"/>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wrong altitude, tone, or posture</a:t>
            </a:r>
            <a:endParaRPr lang="en-US" sz="980" dirty="0"/>
          </a:p>
        </p:txBody>
      </p:sp>
      <p:sp>
        <p:nvSpPr>
          <p:cNvPr id="37" name="Text 31"/>
          <p:cNvSpPr/>
          <p:nvPr/>
        </p:nvSpPr>
        <p:spPr>
          <a:xfrm>
            <a:off x="9875520" y="2084832"/>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Role</a:t>
            </a:r>
            <a:endParaRPr lang="en-US" sz="980" dirty="0"/>
          </a:p>
        </p:txBody>
      </p:sp>
      <p:sp>
        <p:nvSpPr>
          <p:cNvPr id="38" name="Shape 32"/>
          <p:cNvSpPr/>
          <p:nvPr/>
        </p:nvSpPr>
        <p:spPr>
          <a:xfrm>
            <a:off x="6510528" y="2505456"/>
            <a:ext cx="4892040" cy="0"/>
          </a:xfrm>
          <a:prstGeom prst="line">
            <a:avLst/>
          </a:prstGeom>
          <a:noFill/>
          <a:ln w="6350">
            <a:solidFill>
              <a:srgbClr val="DCE3E6"/>
            </a:solidFill>
            <a:prstDash val="solid"/>
          </a:ln>
        </p:spPr>
      </p:sp>
      <p:sp>
        <p:nvSpPr>
          <p:cNvPr id="39" name="Text 33"/>
          <p:cNvSpPr/>
          <p:nvPr/>
        </p:nvSpPr>
        <p:spPr>
          <a:xfrm>
            <a:off x="6510528" y="2532888"/>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answers a different (or vaguer) question</a:t>
            </a:r>
            <a:endParaRPr lang="en-US" sz="980" dirty="0"/>
          </a:p>
        </p:txBody>
      </p:sp>
      <p:sp>
        <p:nvSpPr>
          <p:cNvPr id="40" name="Text 34"/>
          <p:cNvSpPr/>
          <p:nvPr/>
        </p:nvSpPr>
        <p:spPr>
          <a:xfrm>
            <a:off x="9875520" y="2532888"/>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Task</a:t>
            </a:r>
            <a:endParaRPr lang="en-US" sz="980" dirty="0"/>
          </a:p>
        </p:txBody>
      </p:sp>
      <p:sp>
        <p:nvSpPr>
          <p:cNvPr id="41" name="Shape 35"/>
          <p:cNvSpPr/>
          <p:nvPr/>
        </p:nvSpPr>
        <p:spPr>
          <a:xfrm>
            <a:off x="6510528" y="2953512"/>
            <a:ext cx="4892040" cy="0"/>
          </a:xfrm>
          <a:prstGeom prst="line">
            <a:avLst/>
          </a:prstGeom>
          <a:noFill/>
          <a:ln w="6350">
            <a:solidFill>
              <a:srgbClr val="DCE3E6"/>
            </a:solidFill>
            <a:prstDash val="solid"/>
          </a:ln>
        </p:spPr>
      </p:sp>
      <p:sp>
        <p:nvSpPr>
          <p:cNvPr id="42" name="Text 36"/>
          <p:cNvSpPr/>
          <p:nvPr/>
        </p:nvSpPr>
        <p:spPr>
          <a:xfrm>
            <a:off x="6510528" y="2980944"/>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generically right, specifically wrong for us</a:t>
            </a:r>
            <a:endParaRPr lang="en-US" sz="980" dirty="0"/>
          </a:p>
        </p:txBody>
      </p:sp>
      <p:sp>
        <p:nvSpPr>
          <p:cNvPr id="43" name="Text 37"/>
          <p:cNvSpPr/>
          <p:nvPr/>
        </p:nvSpPr>
        <p:spPr>
          <a:xfrm>
            <a:off x="9875520" y="2980944"/>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Context</a:t>
            </a:r>
            <a:endParaRPr lang="en-US" sz="980" dirty="0"/>
          </a:p>
        </p:txBody>
      </p:sp>
      <p:sp>
        <p:nvSpPr>
          <p:cNvPr id="44" name="Shape 38"/>
          <p:cNvSpPr/>
          <p:nvPr/>
        </p:nvSpPr>
        <p:spPr>
          <a:xfrm>
            <a:off x="6510528" y="3401568"/>
            <a:ext cx="4892040" cy="0"/>
          </a:xfrm>
          <a:prstGeom prst="line">
            <a:avLst/>
          </a:prstGeom>
          <a:noFill/>
          <a:ln w="6350">
            <a:solidFill>
              <a:srgbClr val="DCE3E6"/>
            </a:solidFill>
            <a:prstDash val="solid"/>
          </a:ln>
        </p:spPr>
      </p:sp>
      <p:sp>
        <p:nvSpPr>
          <p:cNvPr id="45" name="Text 39"/>
          <p:cNvSpPr/>
          <p:nvPr/>
        </p:nvSpPr>
        <p:spPr>
          <a:xfrm>
            <a:off x="6510528" y="3429000"/>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right content, unusable shape or length</a:t>
            </a:r>
            <a:endParaRPr lang="en-US" sz="980" dirty="0"/>
          </a:p>
        </p:txBody>
      </p:sp>
      <p:sp>
        <p:nvSpPr>
          <p:cNvPr id="46" name="Text 40"/>
          <p:cNvSpPr/>
          <p:nvPr/>
        </p:nvSpPr>
        <p:spPr>
          <a:xfrm>
            <a:off x="9875520" y="3429000"/>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Format</a:t>
            </a:r>
            <a:endParaRPr lang="en-US" sz="980" dirty="0"/>
          </a:p>
        </p:txBody>
      </p:sp>
      <p:sp>
        <p:nvSpPr>
          <p:cNvPr id="47" name="Shape 41"/>
          <p:cNvSpPr/>
          <p:nvPr/>
        </p:nvSpPr>
        <p:spPr>
          <a:xfrm>
            <a:off x="6510528" y="3849624"/>
            <a:ext cx="4892040" cy="0"/>
          </a:xfrm>
          <a:prstGeom prst="line">
            <a:avLst/>
          </a:prstGeom>
          <a:noFill/>
          <a:ln w="6350">
            <a:solidFill>
              <a:srgbClr val="DCE3E6"/>
            </a:solidFill>
            <a:prstDash val="solid"/>
          </a:ln>
        </p:spPr>
      </p:sp>
      <p:sp>
        <p:nvSpPr>
          <p:cNvPr id="48" name="Text 42"/>
          <p:cNvSpPr/>
          <p:nvPr/>
        </p:nvSpPr>
        <p:spPr>
          <a:xfrm>
            <a:off x="6510528" y="3877056"/>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doesn’t match the standard in your head</a:t>
            </a:r>
            <a:endParaRPr lang="en-US" sz="980" dirty="0"/>
          </a:p>
        </p:txBody>
      </p:sp>
      <p:sp>
        <p:nvSpPr>
          <p:cNvPr id="49" name="Text 43"/>
          <p:cNvSpPr/>
          <p:nvPr/>
        </p:nvSpPr>
        <p:spPr>
          <a:xfrm>
            <a:off x="9875520" y="3877056"/>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Examples</a:t>
            </a:r>
            <a:endParaRPr lang="en-US" sz="980" dirty="0"/>
          </a:p>
        </p:txBody>
      </p:sp>
      <p:sp>
        <p:nvSpPr>
          <p:cNvPr id="50" name="Shape 44"/>
          <p:cNvSpPr/>
          <p:nvPr/>
        </p:nvSpPr>
        <p:spPr>
          <a:xfrm>
            <a:off x="6510528" y="4297680"/>
            <a:ext cx="4892040" cy="0"/>
          </a:xfrm>
          <a:prstGeom prst="line">
            <a:avLst/>
          </a:prstGeom>
          <a:noFill/>
          <a:ln w="6350">
            <a:solidFill>
              <a:srgbClr val="DCE3E6"/>
            </a:solidFill>
            <a:prstDash val="solid"/>
          </a:ln>
        </p:spPr>
      </p:sp>
      <p:sp>
        <p:nvSpPr>
          <p:cNvPr id="51" name="Text 45"/>
          <p:cNvSpPr/>
          <p:nvPr/>
        </p:nvSpPr>
        <p:spPr>
          <a:xfrm>
            <a:off x="6510528" y="4325112"/>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confidently invented</a:t>
            </a:r>
            <a:endParaRPr lang="en-US" sz="980" dirty="0"/>
          </a:p>
        </p:txBody>
      </p:sp>
      <p:sp>
        <p:nvSpPr>
          <p:cNvPr id="52" name="Text 46"/>
          <p:cNvSpPr/>
          <p:nvPr/>
        </p:nvSpPr>
        <p:spPr>
          <a:xfrm>
            <a:off x="9875520" y="4325112"/>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The Out (missing)</a:t>
            </a:r>
            <a:endParaRPr lang="en-US" sz="980" dirty="0"/>
          </a:p>
        </p:txBody>
      </p:sp>
      <p:sp>
        <p:nvSpPr>
          <p:cNvPr id="53" name="Shape 47"/>
          <p:cNvSpPr/>
          <p:nvPr/>
        </p:nvSpPr>
        <p:spPr>
          <a:xfrm>
            <a:off x="6510528" y="4745736"/>
            <a:ext cx="4892040" cy="0"/>
          </a:xfrm>
          <a:prstGeom prst="line">
            <a:avLst/>
          </a:prstGeom>
          <a:noFill/>
          <a:ln w="6350">
            <a:solidFill>
              <a:srgbClr val="DCE3E6"/>
            </a:solidFill>
            <a:prstDash val="solid"/>
          </a:ln>
        </p:spPr>
      </p:sp>
      <p:sp>
        <p:nvSpPr>
          <p:cNvPr id="54" name="Text 48"/>
          <p:cNvSpPr/>
          <p:nvPr/>
        </p:nvSpPr>
        <p:spPr>
          <a:xfrm>
            <a:off x="6510528" y="4773168"/>
            <a:ext cx="3291840" cy="384048"/>
          </a:xfrm>
          <a:prstGeom prst="rect">
            <a:avLst/>
          </a:prstGeom>
          <a:noFill/>
          <a:ln/>
        </p:spPr>
        <p:txBody>
          <a:bodyPr wrap="square" lIns="0" tIns="0" rIns="0" bIns="0" rtlCol="0" anchor="ctr"/>
          <a:lstStyle/>
          <a:p>
            <a:pPr indent="0" marL="0">
              <a:buNone/>
            </a:pPr>
            <a:r>
              <a:rPr lang="en-US" sz="980" dirty="0">
                <a:solidFill>
                  <a:srgbClr val="46545F"/>
                </a:solidFill>
                <a:latin typeface="Calibri" pitchFamily="34" charset="0"/>
                <a:ea typeface="Calibri" pitchFamily="34" charset="-122"/>
                <a:cs typeface="Calibri" pitchFamily="34" charset="-120"/>
              </a:rPr>
              <a:t>sprawls past what you asked</a:t>
            </a:r>
            <a:endParaRPr lang="en-US" sz="980" dirty="0"/>
          </a:p>
        </p:txBody>
      </p:sp>
      <p:sp>
        <p:nvSpPr>
          <p:cNvPr id="55" name="Text 49"/>
          <p:cNvSpPr/>
          <p:nvPr/>
        </p:nvSpPr>
        <p:spPr>
          <a:xfrm>
            <a:off x="9875520" y="4773168"/>
            <a:ext cx="1600200" cy="384048"/>
          </a:xfrm>
          <a:prstGeom prst="rect">
            <a:avLst/>
          </a:prstGeom>
          <a:noFill/>
          <a:ln/>
        </p:spPr>
        <p:txBody>
          <a:bodyPr wrap="square" lIns="0" tIns="0" rIns="0" bIns="0" rtlCol="0" anchor="ctr"/>
          <a:lstStyle/>
          <a:p>
            <a:pPr indent="0" marL="0">
              <a:buNone/>
            </a:pPr>
            <a:r>
              <a:rPr lang="en-US" sz="980" b="1" dirty="0">
                <a:solidFill>
                  <a:srgbClr val="0A5B5A"/>
                </a:solidFill>
                <a:latin typeface="Calibri" pitchFamily="34" charset="0"/>
                <a:ea typeface="Calibri" pitchFamily="34" charset="-122"/>
                <a:cs typeface="Calibri" pitchFamily="34" charset="-120"/>
              </a:rPr>
              <a:t>The Stop (missing)</a:t>
            </a:r>
            <a:endParaRPr lang="en-US" sz="980" dirty="0"/>
          </a:p>
        </p:txBody>
      </p:sp>
      <p:sp>
        <p:nvSpPr>
          <p:cNvPr id="56" name="Shape 50"/>
          <p:cNvSpPr/>
          <p:nvPr/>
        </p:nvSpPr>
        <p:spPr>
          <a:xfrm>
            <a:off x="502920" y="5440680"/>
            <a:ext cx="11155680" cy="1005840"/>
          </a:xfrm>
          <a:prstGeom prst="roundRect">
            <a:avLst>
              <a:gd name="adj" fmla="val 7273"/>
            </a:avLst>
          </a:prstGeom>
          <a:solidFill>
            <a:srgbClr val="FBF0E0"/>
          </a:solidFill>
          <a:ln/>
        </p:spPr>
      </p:sp>
      <p:sp>
        <p:nvSpPr>
          <p:cNvPr id="57" name="Shape 51"/>
          <p:cNvSpPr/>
          <p:nvPr/>
        </p:nvSpPr>
        <p:spPr>
          <a:xfrm>
            <a:off x="667512" y="5751576"/>
            <a:ext cx="384048" cy="384048"/>
          </a:xfrm>
          <a:prstGeom prst="ellipse">
            <a:avLst/>
          </a:prstGeom>
          <a:solidFill>
            <a:srgbClr val="B96A1B"/>
          </a:solidFill>
          <a:ln/>
        </p:spPr>
      </p:sp>
      <p:pic>
        <p:nvPicPr>
          <p:cNvPr id="58" name="Image 4" descr="/home/user/Claude-Works/ai-training-prompt-engineering/src/assets/icons/target_w.png">    </p:cNvPr>
          <p:cNvPicPr>
            <a:picLocks noChangeAspect="1"/>
          </p:cNvPicPr>
          <p:nvPr/>
        </p:nvPicPr>
        <p:blipFill>
          <a:blip r:embed="rId5"/>
          <a:stretch>
            <a:fillRect/>
          </a:stretch>
        </p:blipFill>
        <p:spPr>
          <a:xfrm>
            <a:off x="767364" y="5851428"/>
            <a:ext cx="184343" cy="184343"/>
          </a:xfrm>
          <a:prstGeom prst="rect">
            <a:avLst/>
          </a:prstGeom>
        </p:spPr>
      </p:pic>
      <p:sp>
        <p:nvSpPr>
          <p:cNvPr id="59" name="Text 52"/>
          <p:cNvSpPr/>
          <p:nvPr/>
        </p:nvSpPr>
        <p:spPr>
          <a:xfrm>
            <a:off x="1216152" y="5513832"/>
            <a:ext cx="10213848" cy="85953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Where this sits — and why it will feel familiar: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this is PDCA — Plan-Do-Check-Act, the Deming/Toyota improvement cycle — applied to prompts. The Lean Enterprise Institute now literally teaches “Prompt-Do-Check-Act.” This loop is the hinge of the course: Part 3 taught the elements; this habit turns them into tested templates; Part 6 turns templates into a team asset.</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REBUILD ONE LINE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minutes with the seven elements</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F2F5F6"/>
          </a:solidFill>
          <a:ln/>
        </p:spPr>
      </p:sp>
      <p:sp>
        <p:nvSpPr>
          <p:cNvPr id="10" name="Text 7"/>
          <p:cNvSpPr/>
          <p:nvPr/>
        </p:nvSpPr>
        <p:spPr>
          <a:xfrm>
            <a:off x="777240" y="1828800"/>
            <a:ext cx="6035040" cy="320040"/>
          </a:xfrm>
          <a:prstGeom prst="rect">
            <a:avLst/>
          </a:prstGeom>
          <a:noFill/>
          <a:ln/>
        </p:spPr>
        <p:txBody>
          <a:bodyPr wrap="square" lIns="0" tIns="0" rIns="0" bIns="0" rtlCol="0" anchor="ctr"/>
          <a:lstStyle/>
          <a:p>
            <a:pPr indent="0" marL="0">
              <a:buNone/>
            </a:pPr>
            <a:r>
              <a:rPr lang="en-US" sz="1200" b="1" dirty="0">
                <a:solidFill>
                  <a:srgbClr val="46545F"/>
                </a:solidFill>
                <a:latin typeface="Calibri" pitchFamily="34" charset="0"/>
                <a:ea typeface="Calibri" pitchFamily="34" charset="-122"/>
                <a:cs typeface="Calibri" pitchFamily="34" charset="-120"/>
              </a:rPr>
              <a:t>Everyone starts from the same weak line:</a:t>
            </a:r>
            <a:endParaRPr lang="en-US" sz="1200" dirty="0"/>
          </a:p>
        </p:txBody>
      </p:sp>
      <p:sp>
        <p:nvSpPr>
          <p:cNvPr id="11" name="Text 8"/>
          <p:cNvSpPr/>
          <p:nvPr/>
        </p:nvSpPr>
        <p:spPr>
          <a:xfrm>
            <a:off x="777240" y="2212848"/>
            <a:ext cx="6126480" cy="457200"/>
          </a:xfrm>
          <a:prstGeom prst="rect">
            <a:avLst/>
          </a:prstGeom>
          <a:noFill/>
          <a:ln/>
        </p:spPr>
        <p:txBody>
          <a:bodyPr wrap="square" lIns="0" tIns="0" rIns="0" bIns="0" rtlCol="0" anchor="ctr"/>
          <a:lstStyle/>
          <a:p>
            <a:pPr indent="0" marL="0">
              <a:buNone/>
            </a:pPr>
            <a:r>
              <a:rPr lang="en-US" sz="1600" dirty="0">
                <a:solidFill>
                  <a:srgbClr val="0A5B5A"/>
                </a:solidFill>
                <a:latin typeface="Consolas" pitchFamily="34" charset="0"/>
                <a:ea typeface="Consolas" pitchFamily="34" charset="-122"/>
                <a:cs typeface="Consolas" pitchFamily="34" charset="-120"/>
              </a:rPr>
              <a:t>“Summarize this report.”</a:t>
            </a:r>
            <a:endParaRPr lang="en-US" sz="1600" dirty="0"/>
          </a:p>
        </p:txBody>
      </p:sp>
      <p:sp>
        <p:nvSpPr>
          <p:cNvPr id="12" name="Text 9"/>
          <p:cNvSpPr/>
          <p:nvPr/>
        </p:nvSpPr>
        <p:spPr>
          <a:xfrm>
            <a:off x="822960" y="2834640"/>
            <a:ext cx="6035040" cy="17373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Three minutes, in your course log: upgrade it — add a Role, an audience in the Task, a numeric Format cap, and an Out.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Then compare with a neighbor: whose version produces the more useful summary — and which ELEMENT made the difference?</a:t>
            </a:r>
            <a:endParaRPr lang="en-US" sz="1200" dirty="0"/>
          </a:p>
        </p:txBody>
      </p:sp>
      <p:sp>
        <p:nvSpPr>
          <p:cNvPr id="13" name="Shape 10"/>
          <p:cNvSpPr/>
          <p:nvPr/>
        </p:nvSpPr>
        <p:spPr>
          <a:xfrm>
            <a:off x="7543800" y="1600200"/>
            <a:ext cx="4114800" cy="3108960"/>
          </a:xfrm>
          <a:prstGeom prst="roundRect">
            <a:avLst>
              <a:gd name="adj" fmla="val 2353"/>
            </a:avLst>
          </a:prstGeom>
          <a:solidFill>
            <a:srgbClr val="FBF0E0"/>
          </a:solidFill>
          <a:ln/>
        </p:spPr>
      </p:sp>
      <p:sp>
        <p:nvSpPr>
          <p:cNvPr id="14" name="Text 11"/>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One strong answer (presenter only)</a:t>
            </a:r>
            <a:endParaRPr lang="en-US" sz="1150" dirty="0"/>
          </a:p>
          <a:p>
            <a:pPr indent="0" marL="0">
              <a:lnSpc>
                <a:spcPct val="112000"/>
              </a:lnSpc>
              <a:buNone/>
            </a:pPr>
            <a:r>
              <a:rPr lang="en-US" sz="1080" i="1" dirty="0">
                <a:solidFill>
                  <a:srgbClr val="46545F"/>
                </a:solidFill>
                <a:latin typeface="Calibri" pitchFamily="34" charset="0"/>
                <a:ea typeface="Calibri" pitchFamily="34" charset="-122"/>
                <a:cs typeface="Calibri" pitchFamily="34" charset="-120"/>
              </a:rPr>
              <a:t>“You are a precise editor. Summarize the attached report for a cross-functional partner in ≤ 150 words: the three things they must know, what changed, and what it does NOT cover. If the report doesn’t say, say so.”</a:t>
            </a:r>
            <a:endParaRPr lang="en-US" sz="1150" dirty="0"/>
          </a:p>
        </p:txBody>
      </p:sp>
      <p:sp>
        <p:nvSpPr>
          <p:cNvPr id="15" name="Text 12"/>
          <p:cNvSpPr/>
          <p:nvPr/>
        </p:nvSpPr>
        <p:spPr>
          <a:xfrm>
            <a:off x="502920" y="4983480"/>
            <a:ext cx="11155680" cy="36576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Why this rep: it is the one moment Part 3 asks you to WRITE — the elements stick when your hands use them once. Skippable if running long.</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Data analysis: five blocks that keep numbers honest</a:t>
            </a:r>
            <a:endParaRPr lang="en-US" sz="3000" dirty="0"/>
          </a:p>
        </p:txBody>
      </p:sp>
      <p:sp>
        <p:nvSpPr>
          <p:cNvPr id="6" name="Shape 4"/>
          <p:cNvSpPr/>
          <p:nvPr/>
        </p:nvSpPr>
        <p:spPr>
          <a:xfrm>
            <a:off x="502920" y="1481328"/>
            <a:ext cx="11155680" cy="822960"/>
          </a:xfrm>
          <a:prstGeom prst="roundRect">
            <a:avLst>
              <a:gd name="adj" fmla="val 8889"/>
            </a:avLst>
          </a:prstGeom>
          <a:solidFill>
            <a:srgbClr val="F2F5F6"/>
          </a:solidFill>
          <a:ln/>
        </p:spPr>
      </p:sp>
      <p:sp>
        <p:nvSpPr>
          <p:cNvPr id="7" name="Text 5"/>
          <p:cNvSpPr/>
          <p:nvPr/>
        </p:nvSpPr>
        <p:spPr>
          <a:xfrm>
            <a:off x="731520" y="15544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&lt;role&gt;</a:t>
            </a:r>
            <a:endParaRPr lang="en-US" sz="1250" dirty="0"/>
          </a:p>
        </p:txBody>
      </p:sp>
      <p:sp>
        <p:nvSpPr>
          <p:cNvPr id="8" name="Text 6"/>
          <p:cNvSpPr/>
          <p:nvPr/>
        </p:nvSpPr>
        <p:spPr>
          <a:xfrm>
            <a:off x="2240280" y="15453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A careful analyst who computes by running code — never mental math — states n, never drops data silently.</a:t>
            </a:r>
            <a:endParaRPr lang="en-US" sz="1000" dirty="0"/>
          </a:p>
        </p:txBody>
      </p:sp>
      <p:sp>
        <p:nvSpPr>
          <p:cNvPr id="9" name="Text 7"/>
          <p:cNvSpPr/>
          <p:nvPr/>
        </p:nvSpPr>
        <p:spPr>
          <a:xfrm>
            <a:off x="7543800" y="15453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LLM arithmetic is unreliable; code execution makes the math real. If your tool can’t run code, don’t trust computed numbers.</a:t>
            </a:r>
            <a:endParaRPr lang="en-US" sz="930" dirty="0"/>
          </a:p>
        </p:txBody>
      </p:sp>
      <p:sp>
        <p:nvSpPr>
          <p:cNvPr id="10" name="Shape 8"/>
          <p:cNvSpPr/>
          <p:nvPr/>
        </p:nvSpPr>
        <p:spPr>
          <a:xfrm>
            <a:off x="502920" y="2395728"/>
            <a:ext cx="11155680" cy="822960"/>
          </a:xfrm>
          <a:prstGeom prst="roundRect">
            <a:avLst>
              <a:gd name="adj" fmla="val 8889"/>
            </a:avLst>
          </a:prstGeom>
          <a:solidFill>
            <a:srgbClr val="FFFFFF"/>
          </a:solidFill>
          <a:ln w="9525">
            <a:solidFill>
              <a:srgbClr val="DCE3E6"/>
            </a:solidFill>
            <a:prstDash val="solid"/>
          </a:ln>
        </p:spPr>
      </p:sp>
      <p:sp>
        <p:nvSpPr>
          <p:cNvPr id="11" name="Text 9"/>
          <p:cNvSpPr/>
          <p:nvPr/>
        </p:nvSpPr>
        <p:spPr>
          <a:xfrm>
            <a:off x="731520" y="24688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&lt;data&gt;</a:t>
            </a:r>
            <a:endParaRPr lang="en-US" sz="1250" dirty="0"/>
          </a:p>
        </p:txBody>
      </p:sp>
      <p:sp>
        <p:nvSpPr>
          <p:cNvPr id="12" name="Text 10"/>
          <p:cNvSpPr/>
          <p:nvPr/>
        </p:nvSpPr>
        <p:spPr>
          <a:xfrm>
            <a:off x="2240280" y="24597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File, sheet, header row, what one row means, exact column names, known issues, metric definitions.</a:t>
            </a:r>
            <a:endParaRPr lang="en-US" sz="1000" dirty="0"/>
          </a:p>
        </p:txBody>
      </p:sp>
      <p:sp>
        <p:nvSpPr>
          <p:cNvPr id="13" name="Text 11"/>
          <p:cNvSpPr/>
          <p:nvPr/>
        </p:nvSpPr>
        <p:spPr>
          <a:xfrm>
            <a:off x="7543800" y="24597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The model guessing your grain and denominator is the #1 source of wrong answers. Schema first.</a:t>
            </a:r>
            <a:endParaRPr lang="en-US" sz="930" dirty="0"/>
          </a:p>
        </p:txBody>
      </p:sp>
      <p:sp>
        <p:nvSpPr>
          <p:cNvPr id="14" name="Shape 12"/>
          <p:cNvSpPr/>
          <p:nvPr/>
        </p:nvSpPr>
        <p:spPr>
          <a:xfrm>
            <a:off x="502920" y="3310128"/>
            <a:ext cx="11155680" cy="822960"/>
          </a:xfrm>
          <a:prstGeom prst="roundRect">
            <a:avLst>
              <a:gd name="adj" fmla="val 8889"/>
            </a:avLst>
          </a:prstGeom>
          <a:solidFill>
            <a:srgbClr val="F2F5F6"/>
          </a:solidFill>
          <a:ln/>
        </p:spPr>
      </p:sp>
      <p:sp>
        <p:nvSpPr>
          <p:cNvPr id="15" name="Text 13"/>
          <p:cNvSpPr/>
          <p:nvPr/>
        </p:nvSpPr>
        <p:spPr>
          <a:xfrm>
            <a:off x="731520" y="33832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&lt;task&gt;</a:t>
            </a:r>
            <a:endParaRPr lang="en-US" sz="1250" dirty="0"/>
          </a:p>
        </p:txBody>
      </p:sp>
      <p:sp>
        <p:nvSpPr>
          <p:cNvPr id="16" name="Text 14"/>
          <p:cNvSpPr/>
          <p:nvPr/>
        </p:nvSpPr>
        <p:spPr>
          <a:xfrm>
            <a:off x="2240280" y="33741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Numbered questions in priority order — “and stop when they’re answered.”</a:t>
            </a:r>
            <a:endParaRPr lang="en-US" sz="1000" dirty="0"/>
          </a:p>
        </p:txBody>
      </p:sp>
      <p:sp>
        <p:nvSpPr>
          <p:cNvPr id="17" name="Text 15"/>
          <p:cNvSpPr/>
          <p:nvPr/>
        </p:nvSpPr>
        <p:spPr>
          <a:xfrm>
            <a:off x="7543800" y="33741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Topics generate exploration; questions generate answers. The stop rule prevents ten charts and no answer.</a:t>
            </a:r>
            <a:endParaRPr lang="en-US" sz="930" dirty="0"/>
          </a:p>
        </p:txBody>
      </p:sp>
      <p:sp>
        <p:nvSpPr>
          <p:cNvPr id="18" name="Shape 16"/>
          <p:cNvSpPr/>
          <p:nvPr/>
        </p:nvSpPr>
        <p:spPr>
          <a:xfrm>
            <a:off x="502920" y="4224528"/>
            <a:ext cx="11155680" cy="822960"/>
          </a:xfrm>
          <a:prstGeom prst="roundRect">
            <a:avLst>
              <a:gd name="adj" fmla="val 8889"/>
            </a:avLst>
          </a:prstGeom>
          <a:solidFill>
            <a:srgbClr val="FFFFFF"/>
          </a:solidFill>
          <a:ln w="9525">
            <a:solidFill>
              <a:srgbClr val="DCE3E6"/>
            </a:solidFill>
            <a:prstDash val="solid"/>
          </a:ln>
        </p:spPr>
      </p:sp>
      <p:sp>
        <p:nvSpPr>
          <p:cNvPr id="19" name="Text 17"/>
          <p:cNvSpPr/>
          <p:nvPr/>
        </p:nvSpPr>
        <p:spPr>
          <a:xfrm>
            <a:off x="731520" y="42976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&lt;method&gt;</a:t>
            </a:r>
            <a:endParaRPr lang="en-US" sz="1250" dirty="0"/>
          </a:p>
        </p:txBody>
      </p:sp>
      <p:sp>
        <p:nvSpPr>
          <p:cNvPr id="20" name="Text 18"/>
          <p:cNvSpPr/>
          <p:nvPr/>
        </p:nvSpPr>
        <p:spPr>
          <a:xfrm>
            <a:off x="2240280" y="42885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Profile the data first and show me; reconcile to a known total; flag n &lt; 20; descriptive stats only, “associated with” not “caused by.”</a:t>
            </a:r>
            <a:endParaRPr lang="en-US" sz="1000" dirty="0"/>
          </a:p>
        </p:txBody>
      </p:sp>
      <p:sp>
        <p:nvSpPr>
          <p:cNvPr id="21" name="Text 19"/>
          <p:cNvSpPr/>
          <p:nvPr/>
        </p:nvSpPr>
        <p:spPr>
          <a:xfrm>
            <a:off x="7543800" y="42885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One reconciliation anchor beats ten checks. Language discipline survives into the deck your leadership reads.</a:t>
            </a:r>
            <a:endParaRPr lang="en-US" sz="930" dirty="0"/>
          </a:p>
        </p:txBody>
      </p:sp>
      <p:sp>
        <p:nvSpPr>
          <p:cNvPr id="22" name="Shape 20"/>
          <p:cNvSpPr/>
          <p:nvPr/>
        </p:nvSpPr>
        <p:spPr>
          <a:xfrm>
            <a:off x="502920" y="5138928"/>
            <a:ext cx="11155680" cy="822960"/>
          </a:xfrm>
          <a:prstGeom prst="roundRect">
            <a:avLst>
              <a:gd name="adj" fmla="val 8889"/>
            </a:avLst>
          </a:prstGeom>
          <a:solidFill>
            <a:srgbClr val="F2F5F6"/>
          </a:solidFill>
          <a:ln/>
        </p:spPr>
      </p:sp>
      <p:sp>
        <p:nvSpPr>
          <p:cNvPr id="23" name="Text 21"/>
          <p:cNvSpPr/>
          <p:nvPr/>
        </p:nvSpPr>
        <p:spPr>
          <a:xfrm>
            <a:off x="731520" y="5212080"/>
            <a:ext cx="1371600" cy="676656"/>
          </a:xfrm>
          <a:prstGeom prst="rect">
            <a:avLst/>
          </a:prstGeom>
          <a:noFill/>
          <a:ln/>
        </p:spPr>
        <p:txBody>
          <a:bodyPr wrap="square" lIns="0" tIns="0" rIns="0" bIns="0" rtlCol="0" anchor="ctr"/>
          <a:lstStyle/>
          <a:p>
            <a:pPr indent="0" marL="0">
              <a:buNone/>
            </a:pPr>
            <a:r>
              <a:rPr lang="en-US" sz="1250" b="1" dirty="0">
                <a:solidFill>
                  <a:srgbClr val="0A5B5A"/>
                </a:solidFill>
                <a:latin typeface="Consolas" pitchFamily="34" charset="0"/>
                <a:ea typeface="Consolas" pitchFamily="34" charset="-122"/>
                <a:cs typeface="Consolas" pitchFamily="34" charset="-120"/>
              </a:rPr>
              <a:t>&lt;format&gt;</a:t>
            </a:r>
            <a:endParaRPr lang="en-US" sz="1250" dirty="0"/>
          </a:p>
        </p:txBody>
      </p:sp>
      <p:sp>
        <p:nvSpPr>
          <p:cNvPr id="24" name="Text 22"/>
          <p:cNvSpPr/>
          <p:nvPr/>
        </p:nvSpPr>
        <p:spPr>
          <a:xfrm>
            <a:off x="2240280" y="5202936"/>
            <a:ext cx="5120640" cy="694944"/>
          </a:xfrm>
          <a:prstGeom prst="rect">
            <a:avLst/>
          </a:prstGeom>
          <a:noFill/>
          <a:ln/>
        </p:spPr>
        <p:txBody>
          <a:bodyPr wrap="square" lIns="0" tIns="0" rIns="0" bIns="0" rtlCol="0" anchor="ctr"/>
          <a:lstStyle/>
          <a:p>
            <a:pPr indent="0" marL="0">
              <a:lnSpc>
                <a:spcPct val="102000"/>
              </a:lnSpc>
              <a:buNone/>
            </a:pPr>
            <a:r>
              <a:rPr lang="en-US" sz="1000" dirty="0">
                <a:solidFill>
                  <a:srgbClr val="232A31"/>
                </a:solidFill>
                <a:latin typeface="Calibri" pitchFamily="34" charset="0"/>
                <a:ea typeface="Calibri" pitchFamily="34" charset="-122"/>
                <a:cs typeface="Calibri" pitchFamily="34" charset="-120"/>
              </a:rPr>
              <a:t>Headline answer first with the number, then the table; assumptions and caveats at the end.</a:t>
            </a:r>
            <a:endParaRPr lang="en-US" sz="1000" dirty="0"/>
          </a:p>
        </p:txBody>
      </p:sp>
      <p:sp>
        <p:nvSpPr>
          <p:cNvPr id="25" name="Text 23"/>
          <p:cNvSpPr/>
          <p:nvPr/>
        </p:nvSpPr>
        <p:spPr>
          <a:xfrm>
            <a:off x="7543800" y="5202936"/>
            <a:ext cx="3931920" cy="694944"/>
          </a:xfrm>
          <a:prstGeom prst="rect">
            <a:avLst/>
          </a:prstGeom>
          <a:noFill/>
          <a:ln/>
        </p:spPr>
        <p:txBody>
          <a:bodyPr wrap="square" lIns="0" tIns="0" rIns="0" bIns="0" rtlCol="0" anchor="ctr"/>
          <a:lstStyle/>
          <a:p>
            <a:pPr indent="0" marL="0">
              <a:lnSpc>
                <a:spcPct val="100000"/>
              </a:lnSpc>
              <a:buNone/>
            </a:pPr>
            <a:r>
              <a:rPr lang="en-US" sz="93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930" dirty="0"/>
          </a:p>
        </p:txBody>
      </p:sp>
      <p:sp>
        <p:nvSpPr>
          <p:cNvPr id="26" name="Text 24"/>
          <p:cNvSpPr/>
          <p:nvPr/>
        </p:nvSpPr>
        <p:spPr>
          <a:xfrm>
            <a:off x="502920" y="6108192"/>
            <a:ext cx="7315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block · what goes in it · why it’s there</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pack (in the handouts)</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Data_Analytics_Practice.xlsx — 12 months of fictional supplier deliveries: 4 sites × 3 suppliers, 144 rows (units, returns, defects, inspection hours, cost, on-time).</a:t>
            </a:r>
            <a:endParaRPr lang="en-US" sz="1080" dirty="0"/>
          </a:p>
          <a:p>
            <a:pPr algn="l" marL="127000" indent="-127000">
              <a:lnSpc>
                <a:spcPct val="104000"/>
              </a:lnSpc>
              <a:spcAft>
                <a:spcPts val="700"/>
              </a:spcAft>
              <a:buSzPct val="100000"/>
              <a:buChar char="•"/>
            </a:pPr>
            <a:r>
              <a:rPr lang="en-US" sz="1080" b="1" dirty="0">
                <a:solidFill>
                  <a:srgbClr val="46545F"/>
                </a:solidFill>
                <a:latin typeface="Calibri" pitchFamily="34" charset="0"/>
                <a:ea typeface="Calibri" pitchFamily="34" charset="-122"/>
                <a:cs typeface="Calibri" pitchFamily="34" charset="-120"/>
              </a:rPr>
              <a:t>A README sheet defines every column — that sheet IS your &lt;data&gt; block: paste it, don’t retype it.</a:t>
            </a:r>
            <a:endParaRPr lang="en-US" sz="1080" dirty="0"/>
          </a:p>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08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57200"/>
          </a:xfrm>
          <a:prstGeom prst="roundRect">
            <a:avLst>
              <a:gd name="adj" fmla="val 16000"/>
            </a:avLst>
          </a:prstGeom>
          <a:solidFill>
            <a:srgbClr val="0E7C7B"/>
          </a:solidFill>
          <a:ln/>
        </p:spPr>
      </p:sp>
      <p:sp>
        <p:nvSpPr>
          <p:cNvPr id="12" name="Text 10"/>
          <p:cNvSpPr/>
          <p:nvPr/>
        </p:nvSpPr>
        <p:spPr>
          <a:xfrm>
            <a:off x="6355080" y="1517904"/>
            <a:ext cx="5120640" cy="38404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STEP 0 · Upload, profile, stop</a:t>
            </a:r>
            <a:endParaRPr lang="en-US" sz="1200" dirty="0"/>
          </a:p>
        </p:txBody>
      </p:sp>
      <p:sp>
        <p:nvSpPr>
          <p:cNvPr id="13" name="Shape 11"/>
          <p:cNvSpPr/>
          <p:nvPr/>
        </p:nvSpPr>
        <p:spPr>
          <a:xfrm>
            <a:off x="6172200" y="2048256"/>
            <a:ext cx="5486400" cy="1920240"/>
          </a:xfrm>
          <a:prstGeom prst="roundRect">
            <a:avLst>
              <a:gd name="adj" fmla="val 3810"/>
            </a:avLst>
          </a:prstGeom>
          <a:solidFill>
            <a:srgbClr val="FFFFFF"/>
          </a:solidFill>
          <a:ln w="9525">
            <a:solidFill>
              <a:srgbClr val="DCE3E6"/>
            </a:solidFill>
            <a:prstDash val="solid"/>
          </a:ln>
        </p:spPr>
      </p:sp>
      <p:sp>
        <p:nvSpPr>
          <p:cNvPr id="14" name="Text 12"/>
          <p:cNvSpPr/>
          <p:nvPr/>
        </p:nvSpPr>
        <p:spPr>
          <a:xfrm>
            <a:off x="6355080" y="2176272"/>
            <a:ext cx="5120640" cy="1645920"/>
          </a:xfrm>
          <a:prstGeom prst="rect">
            <a:avLst/>
          </a:prstGeom>
          <a:noFill/>
          <a:ln/>
        </p:spPr>
        <p:txBody>
          <a:bodyPr wrap="square" lIns="0" tIns="0" rIns="0" bIns="0" rtlCol="0" anchor="ctr"/>
          <a:lstStyle/>
          <a:p>
            <a:pPr indent="0" marL="0">
              <a:lnSpc>
                <a:spcPct val="115000"/>
              </a:lnSpc>
              <a:buNone/>
            </a:pPr>
            <a:r>
              <a:rPr lang="en-US" sz="1050" dirty="0">
                <a:solidFill>
                  <a:srgbClr val="0A5B5A"/>
                </a:solidFill>
                <a:latin typeface="Consolas" pitchFamily="34" charset="0"/>
                <a:ea typeface="Consolas" pitchFamily="34" charset="-122"/>
                <a:cs typeface="Consolas" pitchFamily="34" charset="-120"/>
              </a:rPr>
              <a:t>Here is Data_Analytics_Practice.xlsx. Before any analysis: profile it — rows, columns, types, missing or odd values, and anything that would trip a calculation. Show me the profile and STOP. Do not analyze yet.</a:t>
            </a:r>
            <a:endParaRPr lang="en-US" sz="1050" dirty="0"/>
          </a:p>
        </p:txBody>
      </p:sp>
      <p:sp>
        <p:nvSpPr>
          <p:cNvPr id="15" name="Shape 13"/>
          <p:cNvSpPr/>
          <p:nvPr/>
        </p:nvSpPr>
        <p:spPr>
          <a:xfrm>
            <a:off x="6172200" y="4114800"/>
            <a:ext cx="5486400" cy="1901952"/>
          </a:xfrm>
          <a:prstGeom prst="roundRect">
            <a:avLst>
              <a:gd name="adj" fmla="val 3846"/>
            </a:avLst>
          </a:prstGeom>
          <a:solidFill>
            <a:srgbClr val="FBF0E0"/>
          </a:solidFill>
          <a:ln/>
        </p:spPr>
      </p:sp>
      <p:sp>
        <p:nvSpPr>
          <p:cNvPr id="16" name="Text 14"/>
          <p:cNvSpPr/>
          <p:nvPr/>
        </p:nvSpPr>
        <p:spPr>
          <a:xfrm>
            <a:off x="6382512" y="4279392"/>
            <a:ext cx="5074920" cy="1645920"/>
          </a:xfrm>
          <a:prstGeom prst="rect">
            <a:avLst/>
          </a:prstGeom>
          <a:noFill/>
          <a:ln/>
        </p:spPr>
        <p:txBody>
          <a:bodyPr wrap="square" lIns="0" tIns="0" rIns="0" bIns="0" rtlCol="0" anchor="ctr"/>
          <a:lstStyle/>
          <a:p>
            <a:pPr indent="0" marL="0">
              <a:lnSpc>
                <a:spcPct val="110000"/>
              </a:lnSpc>
              <a:spcAft>
                <a:spcPts val="400"/>
              </a:spcAft>
              <a:buNone/>
            </a:pPr>
            <a:r>
              <a:rPr lang="en-US" sz="1150" b="1" dirty="0">
                <a:solidFill>
                  <a:srgbClr val="B96A1B"/>
                </a:solidFill>
                <a:latin typeface="Calibri" pitchFamily="34" charset="0"/>
                <a:ea typeface="Calibri" pitchFamily="34" charset="-122"/>
                <a:cs typeface="Calibri" pitchFamily="34" charset="-120"/>
              </a:rPr>
              <a:t>What a good profile comes back with: </a:t>
            </a:r>
            <a:endParaRPr lang="en-US" sz="115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144 data rows + a TOTAL row that must be excluded · one Inspection_Hours cell that says “n/a” · clean types everywhere else. If your AI missed either quirk — you just learned why Step 0 exists. Tell it, and make it re-profile.</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384048"/>
          </a:xfrm>
          <a:prstGeom prst="roundRect">
            <a:avLst>
              <a:gd name="adj" fmla="val 16667"/>
            </a:avLst>
          </a:prstGeom>
          <a:solidFill>
            <a:srgbClr val="0E7C7B"/>
          </a:solidFill>
          <a:ln/>
        </p:spPr>
      </p:sp>
      <p:sp>
        <p:nvSpPr>
          <p:cNvPr id="7" name="Text 5"/>
          <p:cNvSpPr/>
          <p:nvPr/>
        </p:nvSpPr>
        <p:spPr>
          <a:xfrm>
            <a:off x="685800" y="1508760"/>
            <a:ext cx="10789920" cy="32918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STEP 1 · Ask numbered questions (not topics)</a:t>
            </a:r>
            <a:endParaRPr lang="en-US" sz="1100" dirty="0"/>
          </a:p>
        </p:txBody>
      </p:sp>
      <p:sp>
        <p:nvSpPr>
          <p:cNvPr id="8" name="Shape 6"/>
          <p:cNvSpPr/>
          <p:nvPr/>
        </p:nvSpPr>
        <p:spPr>
          <a:xfrm>
            <a:off x="502920" y="1920240"/>
            <a:ext cx="11155680" cy="1005840"/>
          </a:xfrm>
          <a:prstGeom prst="roundRect">
            <a:avLst>
              <a:gd name="adj" fmla="val 7273"/>
            </a:avLst>
          </a:prstGeom>
          <a:solidFill>
            <a:srgbClr val="FFFFFF"/>
          </a:solidFill>
          <a:ln w="9525">
            <a:solidFill>
              <a:srgbClr val="DCE3E6"/>
            </a:solidFill>
            <a:prstDash val="solid"/>
          </a:ln>
        </p:spPr>
      </p:sp>
      <p:sp>
        <p:nvSpPr>
          <p:cNvPr id="9" name="Text 7"/>
          <p:cNvSpPr/>
          <p:nvPr/>
        </p:nvSpPr>
        <p:spPr>
          <a:xfrm>
            <a:off x="685800" y="1993392"/>
            <a:ext cx="10789920" cy="859536"/>
          </a:xfrm>
          <a:prstGeom prst="rect">
            <a:avLst/>
          </a:prstGeom>
          <a:noFill/>
          <a:ln/>
        </p:spPr>
        <p:txBody>
          <a:bodyPr wrap="square" lIns="0" tIns="0" rIns="0" bIns="0" rtlCol="0" anchor="ctr"/>
          <a:lstStyle/>
          <a:p>
            <a:pPr indent="0" marL="0">
              <a:lnSpc>
                <a:spcPct val="108000"/>
              </a:lnSpc>
              <a:buNone/>
            </a:pPr>
            <a:r>
              <a:rPr lang="en-US" sz="86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860" dirty="0"/>
          </a:p>
        </p:txBody>
      </p:sp>
      <p:sp>
        <p:nvSpPr>
          <p:cNvPr id="10" name="Shape 8"/>
          <p:cNvSpPr/>
          <p:nvPr/>
        </p:nvSpPr>
        <p:spPr>
          <a:xfrm>
            <a:off x="502920" y="2999232"/>
            <a:ext cx="11155680" cy="384048"/>
          </a:xfrm>
          <a:prstGeom prst="roundRect">
            <a:avLst>
              <a:gd name="adj" fmla="val 16667"/>
            </a:avLst>
          </a:prstGeom>
          <a:solidFill>
            <a:srgbClr val="0E7C7B"/>
          </a:solidFill>
          <a:ln/>
        </p:spPr>
      </p:sp>
      <p:sp>
        <p:nvSpPr>
          <p:cNvPr id="11" name="Text 9"/>
          <p:cNvSpPr/>
          <p:nvPr/>
        </p:nvSpPr>
        <p:spPr>
          <a:xfrm>
            <a:off x="685800" y="3026664"/>
            <a:ext cx="10789920" cy="32918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STEP 2 · Comparative analysis — the scorecard</a:t>
            </a:r>
            <a:endParaRPr lang="en-US" sz="1100" dirty="0"/>
          </a:p>
        </p:txBody>
      </p:sp>
      <p:sp>
        <p:nvSpPr>
          <p:cNvPr id="12" name="Shape 10"/>
          <p:cNvSpPr/>
          <p:nvPr/>
        </p:nvSpPr>
        <p:spPr>
          <a:xfrm>
            <a:off x="502920" y="3438144"/>
            <a:ext cx="11155680" cy="841248"/>
          </a:xfrm>
          <a:prstGeom prst="roundRect">
            <a:avLst>
              <a:gd name="adj" fmla="val 8696"/>
            </a:avLst>
          </a:prstGeom>
          <a:solidFill>
            <a:srgbClr val="FFFFFF"/>
          </a:solidFill>
          <a:ln w="9525">
            <a:solidFill>
              <a:srgbClr val="DCE3E6"/>
            </a:solidFill>
            <a:prstDash val="solid"/>
          </a:ln>
        </p:spPr>
      </p:sp>
      <p:sp>
        <p:nvSpPr>
          <p:cNvPr id="13" name="Text 11"/>
          <p:cNvSpPr/>
          <p:nvPr/>
        </p:nvSpPr>
        <p:spPr>
          <a:xfrm>
            <a:off x="685800" y="3511296"/>
            <a:ext cx="10789920" cy="694944"/>
          </a:xfrm>
          <a:prstGeom prst="rect">
            <a:avLst/>
          </a:prstGeom>
          <a:noFill/>
          <a:ln/>
        </p:spPr>
        <p:txBody>
          <a:bodyPr wrap="square" lIns="0" tIns="0" rIns="0" bIns="0" rtlCol="0" anchor="ctr"/>
          <a:lstStyle/>
          <a:p>
            <a:pPr indent="0" marL="0">
              <a:lnSpc>
                <a:spcPct val="108000"/>
              </a:lnSpc>
              <a:buNone/>
            </a:pPr>
            <a:r>
              <a:rPr lang="en-US" sz="86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860" dirty="0"/>
          </a:p>
        </p:txBody>
      </p:sp>
      <p:sp>
        <p:nvSpPr>
          <p:cNvPr id="14" name="Shape 12"/>
          <p:cNvSpPr/>
          <p:nvPr/>
        </p:nvSpPr>
        <p:spPr>
          <a:xfrm>
            <a:off x="502920" y="4517136"/>
            <a:ext cx="11155680" cy="384048"/>
          </a:xfrm>
          <a:prstGeom prst="roundRect">
            <a:avLst>
              <a:gd name="adj" fmla="val 16667"/>
            </a:avLst>
          </a:prstGeom>
          <a:solidFill>
            <a:srgbClr val="0E7C7B"/>
          </a:solidFill>
          <a:ln/>
        </p:spPr>
      </p:sp>
      <p:sp>
        <p:nvSpPr>
          <p:cNvPr id="15" name="Text 13"/>
          <p:cNvSpPr/>
          <p:nvPr/>
        </p:nvSpPr>
        <p:spPr>
          <a:xfrm>
            <a:off x="685800" y="4544568"/>
            <a:ext cx="10789920" cy="32918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STEP 3 · The trust check</a:t>
            </a:r>
            <a:endParaRPr lang="en-US" sz="1100" dirty="0"/>
          </a:p>
        </p:txBody>
      </p:sp>
      <p:sp>
        <p:nvSpPr>
          <p:cNvPr id="16" name="Shape 14"/>
          <p:cNvSpPr/>
          <p:nvPr/>
        </p:nvSpPr>
        <p:spPr>
          <a:xfrm>
            <a:off x="502920" y="4956048"/>
            <a:ext cx="11155680" cy="841248"/>
          </a:xfrm>
          <a:prstGeom prst="roundRect">
            <a:avLst>
              <a:gd name="adj" fmla="val 8696"/>
            </a:avLst>
          </a:prstGeom>
          <a:solidFill>
            <a:srgbClr val="FFFFFF"/>
          </a:solidFill>
          <a:ln w="9525">
            <a:solidFill>
              <a:srgbClr val="DCE3E6"/>
            </a:solidFill>
            <a:prstDash val="solid"/>
          </a:ln>
        </p:spPr>
      </p:sp>
      <p:sp>
        <p:nvSpPr>
          <p:cNvPr id="17" name="Text 15"/>
          <p:cNvSpPr/>
          <p:nvPr/>
        </p:nvSpPr>
        <p:spPr>
          <a:xfrm>
            <a:off x="685800" y="5029200"/>
            <a:ext cx="10789920" cy="694944"/>
          </a:xfrm>
          <a:prstGeom prst="rect">
            <a:avLst/>
          </a:prstGeom>
          <a:noFill/>
          <a:ln/>
        </p:spPr>
        <p:txBody>
          <a:bodyPr wrap="square" lIns="0" tIns="0" rIns="0" bIns="0" rtlCol="0" anchor="ctr"/>
          <a:lstStyle/>
          <a:p>
            <a:pPr indent="0" marL="0">
              <a:lnSpc>
                <a:spcPct val="108000"/>
              </a:lnSpc>
              <a:buNone/>
            </a:pPr>
            <a:r>
              <a:rPr lang="en-US" sz="86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860" dirty="0"/>
          </a:p>
        </p:txBody>
      </p:sp>
      <p:sp>
        <p:nvSpPr>
          <p:cNvPr id="18" name="Shape 16"/>
          <p:cNvSpPr/>
          <p:nvPr/>
        </p:nvSpPr>
        <p:spPr>
          <a:xfrm>
            <a:off x="502920" y="6126480"/>
            <a:ext cx="11155680" cy="384048"/>
          </a:xfrm>
          <a:prstGeom prst="roundRect">
            <a:avLst>
              <a:gd name="adj" fmla="val 19048"/>
            </a:avLst>
          </a:prstGeom>
          <a:solidFill>
            <a:srgbClr val="FBF0E0"/>
          </a:solidFill>
          <a:ln/>
        </p:spPr>
      </p:sp>
      <p:sp>
        <p:nvSpPr>
          <p:cNvPr id="19" name="Shape 17"/>
          <p:cNvSpPr/>
          <p:nvPr/>
        </p:nvSpPr>
        <p:spPr>
          <a:xfrm>
            <a:off x="667512" y="6126480"/>
            <a:ext cx="384048" cy="384048"/>
          </a:xfrm>
          <a:prstGeom prst="ellipse">
            <a:avLst/>
          </a:prstGeom>
          <a:solidFill>
            <a:srgbClr val="B96A1B"/>
          </a:solidFill>
          <a:ln/>
        </p:spPr>
      </p:sp>
      <p:pic>
        <p:nvPicPr>
          <p:cNvPr id="20"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1" name="Text 18"/>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8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080" dirty="0"/>
          </a:p>
          <a:p>
            <a:pPr algn="l" marL="127000" indent="-127000">
              <a:lnSpc>
                <a:spcPct val="104000"/>
              </a:lnSpc>
              <a:spcAft>
                <a:spcPts val="700"/>
              </a:spcAft>
              <a:buSzPct val="100000"/>
              <a:buChar char="•"/>
            </a:pPr>
            <a:r>
              <a:rPr lang="en-US" sz="108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08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384048"/>
          </a:xfrm>
          <a:prstGeom prst="roundRect">
            <a:avLst>
              <a:gd name="adj" fmla="val 16667"/>
            </a:avLst>
          </a:prstGeom>
          <a:solidFill>
            <a:srgbClr val="0E7C7B"/>
          </a:solidFill>
          <a:ln/>
        </p:spPr>
      </p:sp>
      <p:sp>
        <p:nvSpPr>
          <p:cNvPr id="12" name="Text 10"/>
          <p:cNvSpPr/>
          <p:nvPr/>
        </p:nvSpPr>
        <p:spPr>
          <a:xfrm>
            <a:off x="6355080" y="1508760"/>
            <a:ext cx="5120640" cy="32918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STEP 1 · Extract &amp; normalize</a:t>
            </a:r>
            <a:endParaRPr lang="en-US" sz="1100" dirty="0"/>
          </a:p>
        </p:txBody>
      </p:sp>
      <p:sp>
        <p:nvSpPr>
          <p:cNvPr id="13" name="Shape 11"/>
          <p:cNvSpPr/>
          <p:nvPr/>
        </p:nvSpPr>
        <p:spPr>
          <a:xfrm>
            <a:off x="6172200" y="1920240"/>
            <a:ext cx="5486400" cy="1773936"/>
          </a:xfrm>
          <a:prstGeom prst="roundRect">
            <a:avLst>
              <a:gd name="adj" fmla="val 4124"/>
            </a:avLst>
          </a:prstGeom>
          <a:solidFill>
            <a:srgbClr val="FFFFFF"/>
          </a:solidFill>
          <a:ln w="9525">
            <a:solidFill>
              <a:srgbClr val="DCE3E6"/>
            </a:solidFill>
            <a:prstDash val="solid"/>
          </a:ln>
        </p:spPr>
      </p:sp>
      <p:sp>
        <p:nvSpPr>
          <p:cNvPr id="14" name="Text 12"/>
          <p:cNvSpPr/>
          <p:nvPr/>
        </p:nvSpPr>
        <p:spPr>
          <a:xfrm>
            <a:off x="6355080" y="2011680"/>
            <a:ext cx="5120640" cy="1591056"/>
          </a:xfrm>
          <a:prstGeom prst="rect">
            <a:avLst/>
          </a:prstGeom>
          <a:noFill/>
          <a:ln/>
        </p:spPr>
        <p:txBody>
          <a:bodyPr wrap="square" lIns="0" tIns="0" rIns="0" bIns="0" rtlCol="0" anchor="ctr"/>
          <a:lstStyle/>
          <a:p>
            <a:pPr indent="0" marL="0">
              <a:lnSpc>
                <a:spcPct val="110000"/>
              </a:lnSpc>
              <a:buNone/>
            </a:pPr>
            <a:r>
              <a:rPr lang="en-US" sz="88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880" dirty="0"/>
          </a:p>
        </p:txBody>
      </p:sp>
      <p:sp>
        <p:nvSpPr>
          <p:cNvPr id="15" name="Shape 13"/>
          <p:cNvSpPr/>
          <p:nvPr/>
        </p:nvSpPr>
        <p:spPr>
          <a:xfrm>
            <a:off x="6172200" y="3785616"/>
            <a:ext cx="5486400" cy="384048"/>
          </a:xfrm>
          <a:prstGeom prst="roundRect">
            <a:avLst>
              <a:gd name="adj" fmla="val 16667"/>
            </a:avLst>
          </a:prstGeom>
          <a:solidFill>
            <a:srgbClr val="0E7C7B"/>
          </a:solidFill>
          <a:ln/>
        </p:spPr>
      </p:sp>
      <p:sp>
        <p:nvSpPr>
          <p:cNvPr id="16" name="Text 14"/>
          <p:cNvSpPr/>
          <p:nvPr/>
        </p:nvSpPr>
        <p:spPr>
          <a:xfrm>
            <a:off x="6355080" y="3813048"/>
            <a:ext cx="5120640" cy="32918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STEP 2 · Recommend, with caveats</a:t>
            </a:r>
            <a:endParaRPr lang="en-US" sz="1100" dirty="0"/>
          </a:p>
        </p:txBody>
      </p:sp>
      <p:sp>
        <p:nvSpPr>
          <p:cNvPr id="17" name="Shape 15"/>
          <p:cNvSpPr/>
          <p:nvPr/>
        </p:nvSpPr>
        <p:spPr>
          <a:xfrm>
            <a:off x="6172200" y="4224528"/>
            <a:ext cx="5486400" cy="1773936"/>
          </a:xfrm>
          <a:prstGeom prst="roundRect">
            <a:avLst>
              <a:gd name="adj" fmla="val 4124"/>
            </a:avLst>
          </a:prstGeom>
          <a:solidFill>
            <a:srgbClr val="FFFFFF"/>
          </a:solidFill>
          <a:ln w="9525">
            <a:solidFill>
              <a:srgbClr val="DCE3E6"/>
            </a:solidFill>
            <a:prstDash val="solid"/>
          </a:ln>
        </p:spPr>
      </p:sp>
      <p:sp>
        <p:nvSpPr>
          <p:cNvPr id="18" name="Text 16"/>
          <p:cNvSpPr/>
          <p:nvPr/>
        </p:nvSpPr>
        <p:spPr>
          <a:xfrm>
            <a:off x="6355080" y="4315968"/>
            <a:ext cx="5120640" cy="1591056"/>
          </a:xfrm>
          <a:prstGeom prst="rect">
            <a:avLst/>
          </a:prstGeom>
          <a:noFill/>
          <a:ln/>
        </p:spPr>
        <p:txBody>
          <a:bodyPr wrap="square" lIns="0" tIns="0" rIns="0" bIns="0" rtlCol="0" anchor="ctr"/>
          <a:lstStyle/>
          <a:p>
            <a:pPr indent="0" marL="0">
              <a:lnSpc>
                <a:spcPct val="110000"/>
              </a:lnSpc>
              <a:buNone/>
            </a:pPr>
            <a:r>
              <a:rPr lang="en-US" sz="88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880" dirty="0"/>
          </a:p>
        </p:txBody>
      </p:sp>
      <p:sp>
        <p:nvSpPr>
          <p:cNvPr id="19" name="Text 17"/>
          <p:cNvSpPr/>
          <p:nvPr/>
        </p:nvSpPr>
        <p:spPr>
          <a:xfrm>
            <a:off x="502920" y="6144768"/>
            <a:ext cx="11155680" cy="29260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Works the same in a chat upload, Copilot, or your company assistant — this is G8 (summarize &amp; compare) grown teeth.</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384048"/>
          </a:xfrm>
          <a:prstGeom prst="roundRect">
            <a:avLst>
              <a:gd name="adj" fmla="val 16667"/>
            </a:avLst>
          </a:prstGeom>
          <a:solidFill>
            <a:srgbClr val="0E7C7B"/>
          </a:solidFill>
          <a:ln/>
        </p:spPr>
      </p:sp>
      <p:sp>
        <p:nvSpPr>
          <p:cNvPr id="7" name="Text 5"/>
          <p:cNvSpPr/>
          <p:nvPr/>
        </p:nvSpPr>
        <p:spPr>
          <a:xfrm>
            <a:off x="685800" y="1508760"/>
            <a:ext cx="10789920" cy="329184"/>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STEP 4 · The deliverable</a:t>
            </a:r>
            <a:endParaRPr lang="en-US" sz="1100" dirty="0"/>
          </a:p>
        </p:txBody>
      </p:sp>
      <p:sp>
        <p:nvSpPr>
          <p:cNvPr id="8" name="Shape 6"/>
          <p:cNvSpPr/>
          <p:nvPr/>
        </p:nvSpPr>
        <p:spPr>
          <a:xfrm>
            <a:off x="502920" y="1920240"/>
            <a:ext cx="11155680" cy="1234440"/>
          </a:xfrm>
          <a:prstGeom prst="roundRect">
            <a:avLst>
              <a:gd name="adj" fmla="val 5926"/>
            </a:avLst>
          </a:prstGeom>
          <a:solidFill>
            <a:srgbClr val="FFFFFF"/>
          </a:solidFill>
          <a:ln w="9525">
            <a:solidFill>
              <a:srgbClr val="DCE3E6"/>
            </a:solidFill>
            <a:prstDash val="solid"/>
          </a:ln>
        </p:spPr>
      </p:sp>
      <p:sp>
        <p:nvSpPr>
          <p:cNvPr id="9" name="Text 7"/>
          <p:cNvSpPr/>
          <p:nvPr/>
        </p:nvSpPr>
        <p:spPr>
          <a:xfrm>
            <a:off x="685800" y="2011680"/>
            <a:ext cx="10789920" cy="1078992"/>
          </a:xfrm>
          <a:prstGeom prst="rect">
            <a:avLst/>
          </a:prstGeom>
          <a:noFill/>
          <a:ln/>
        </p:spPr>
        <p:txBody>
          <a:bodyPr wrap="square" lIns="0" tIns="0" rIns="0" bIns="0" rtlCol="0" anchor="ctr"/>
          <a:lstStyle/>
          <a:p>
            <a:pPr indent="0" marL="0">
              <a:lnSpc>
                <a:spcPct val="112000"/>
              </a:lnSpc>
              <a:buNone/>
            </a:pPr>
            <a:r>
              <a:rPr lang="en-US" sz="92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920" dirty="0"/>
          </a:p>
        </p:txBody>
      </p:sp>
      <p:sp>
        <p:nvSpPr>
          <p:cNvPr id="10" name="Shape 8"/>
          <p:cNvSpPr/>
          <p:nvPr/>
        </p:nvSpPr>
        <p:spPr>
          <a:xfrm>
            <a:off x="502920" y="3337560"/>
            <a:ext cx="5394960" cy="2514600"/>
          </a:xfrm>
          <a:prstGeom prst="roundRect">
            <a:avLst>
              <a:gd name="adj" fmla="val 2909"/>
            </a:avLst>
          </a:prstGeom>
          <a:solidFill>
            <a:srgbClr val="F2F5F6"/>
          </a:solidFill>
          <a:ln/>
        </p:spPr>
      </p:sp>
      <p:sp>
        <p:nvSpPr>
          <p:cNvPr id="11" name="Text 9"/>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2" name="Shape 10"/>
          <p:cNvSpPr/>
          <p:nvPr/>
        </p:nvSpPr>
        <p:spPr>
          <a:xfrm>
            <a:off x="6172200" y="3337560"/>
            <a:ext cx="5486400" cy="2514600"/>
          </a:xfrm>
          <a:prstGeom prst="roundRect">
            <a:avLst>
              <a:gd name="adj" fmla="val 2909"/>
            </a:avLst>
          </a:prstGeom>
          <a:solidFill>
            <a:srgbClr val="E4F0EF"/>
          </a:solidFill>
          <a:ln/>
        </p:spPr>
      </p:sp>
      <p:sp>
        <p:nvSpPr>
          <p:cNvPr id="13" name="Text 11"/>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08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4" name="Shape 12"/>
          <p:cNvSpPr/>
          <p:nvPr/>
        </p:nvSpPr>
        <p:spPr>
          <a:xfrm>
            <a:off x="502920" y="6035040"/>
            <a:ext cx="11155680" cy="457200"/>
          </a:xfrm>
          <a:prstGeom prst="roundRect">
            <a:avLst>
              <a:gd name="adj" fmla="val 16000"/>
            </a:avLst>
          </a:prstGeom>
          <a:solidFill>
            <a:srgbClr val="F9E9E8"/>
          </a:solidFill>
          <a:ln/>
        </p:spPr>
      </p:sp>
      <p:sp>
        <p:nvSpPr>
          <p:cNvPr id="15" name="Shape 13"/>
          <p:cNvSpPr/>
          <p:nvPr/>
        </p:nvSpPr>
        <p:spPr>
          <a:xfrm>
            <a:off x="667512" y="6071616"/>
            <a:ext cx="384048" cy="384048"/>
          </a:xfrm>
          <a:prstGeom prst="ellipse">
            <a:avLst/>
          </a:prstGeom>
          <a:solidFill>
            <a:srgbClr val="AF3230"/>
          </a:solidFill>
          <a:ln/>
        </p:spPr>
      </p:sp>
      <p:pic>
        <p:nvPicPr>
          <p:cNvPr id="16"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7" name="Text 14"/>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 1</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THE BLIND CRITIQUE (G3)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Watch sycophancy die in real time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Set up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Open a fresh chat. Paste a real (or prepared) draft — a plan, a memo — introduced as “a colleague’s draft.” Do not hint at your view.</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G3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Ask for: the strongest case AGAINST · the three weakest points and how a critic attacks each · what evidence would prove it wrong · overall read only at the end.</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The contrast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Now ask the naive way in a second chat: “I wrote this — what do you think?” Compare the two answers side by side.</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737360"/>
            <a:ext cx="3474720" cy="3291840"/>
          </a:xfrm>
          <a:prstGeom prst="rect">
            <a:avLst/>
          </a:prstGeom>
          <a:noFill/>
          <a:ln/>
        </p:spPr>
        <p:txBody>
          <a:bodyPr wrap="square" lIns="0" tIns="0" rIns="0" bIns="0" rtlCol="0" anchor="ctr"/>
          <a:lstStyle/>
          <a:p>
            <a:pPr indent="0" marL="0">
              <a:lnSpc>
                <a:spcPct val="110000"/>
              </a:lnSpc>
              <a:spcAft>
                <a:spcPts val="500"/>
              </a:spcAft>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blind version finds real weaknesses; the “I wrote this” version compliments first and softens everything. Same model, same draft — the only change is what you revealed.</a:t>
            </a:r>
            <a:endParaRPr lang="en-US" sz="1200" dirty="0"/>
          </a:p>
          <a:p>
            <a:pPr indent="0" marL="0">
              <a:lnSpc>
                <a:spcPct val="110000"/>
              </a:lnSpc>
              <a:buNone/>
            </a:pP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science: models affirm users ~49% more than humans do. Blinding is the fix you can do today.</a:t>
            </a:r>
            <a:endParaRPr lang="en-US" sz="1200" dirty="0"/>
          </a:p>
        </p:txBody>
      </p:sp>
      <p:sp>
        <p:nvSpPr>
          <p:cNvPr id="14" name="Shape 12"/>
          <p:cNvSpPr/>
          <p:nvPr/>
        </p:nvSpPr>
        <p:spPr>
          <a:xfrm>
            <a:off x="502920" y="5349240"/>
            <a:ext cx="11155680" cy="685800"/>
          </a:xfrm>
          <a:prstGeom prst="roundRect">
            <a:avLst>
              <a:gd name="adj" fmla="val 10667"/>
            </a:avLst>
          </a:prstGeom>
          <a:solidFill>
            <a:srgbClr val="E4F0EF"/>
          </a:solidFill>
          <a:ln/>
        </p:spPr>
      </p:sp>
      <p:sp>
        <p:nvSpPr>
          <p:cNvPr id="15" name="Shape 13"/>
          <p:cNvSpPr/>
          <p:nvPr/>
        </p:nvSpPr>
        <p:spPr>
          <a:xfrm>
            <a:off x="667512" y="5500116"/>
            <a:ext cx="384048" cy="384048"/>
          </a:xfrm>
          <a:prstGeom prst="ellipse">
            <a:avLst/>
          </a:prstGeom>
          <a:solidFill>
            <a:srgbClr val="0E7C7B"/>
          </a:solidFill>
          <a:ln/>
        </p:spPr>
      </p:sp>
      <p:pic>
        <p:nvPicPr>
          <p:cNvPr id="16" name="Image 0" descr="/home/user/Claude-Works/ai-training-prompt-engineering/src/assets/icons/zap_w.png">    </p:cNvPr>
          <p:cNvPicPr>
            <a:picLocks noChangeAspect="1"/>
          </p:cNvPicPr>
          <p:nvPr/>
        </p:nvPicPr>
        <p:blipFill>
          <a:blip r:embed="rId1"/>
          <a:stretch>
            <a:fillRect/>
          </a:stretch>
        </p:blipFill>
        <p:spPr>
          <a:xfrm>
            <a:off x="767364" y="5599968"/>
            <a:ext cx="184343" cy="184343"/>
          </a:xfrm>
          <a:prstGeom prst="rect">
            <a:avLst/>
          </a:prstGeom>
        </p:spPr>
      </p:pic>
      <p:sp>
        <p:nvSpPr>
          <p:cNvPr id="17" name="Text 14"/>
          <p:cNvSpPr/>
          <p:nvPr/>
        </p:nvSpPr>
        <p:spPr>
          <a:xfrm>
            <a:off x="1216152" y="5422392"/>
            <a:ext cx="10213848" cy="53949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This is the Part 4 rep: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everyone runs the blind critique on something of their own before the next block.</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737360"/>
            <a:ext cx="3474720" cy="3291840"/>
          </a:xfrm>
          <a:prstGeom prst="rect">
            <a:avLst/>
          </a:prstGeom>
          <a:noFill/>
          <a:ln/>
        </p:spPr>
        <p:txBody>
          <a:bodyPr wrap="square" lIns="0" tIns="0" rIns="0" bIns="0" rtlCol="0" anchor="ctr"/>
          <a:lstStyle/>
          <a:p>
            <a:pPr indent="0" marL="0">
              <a:lnSpc>
                <a:spcPct val="110000"/>
              </a:lnSpc>
              <a:spcAft>
                <a:spcPts val="500"/>
              </a:spcAft>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The deliverable is a tool, not a text. The spec lines that made it trustworthy: single file · offline · data embedded · nothing hard-coded · formulas on screen.</a:t>
            </a:r>
            <a:endParaRPr lang="en-US" sz="1200" dirty="0"/>
          </a:p>
          <a:p>
            <a:pPr indent="0" marL="0">
              <a:lnSpc>
                <a:spcPct val="110000"/>
              </a:lnSpc>
              <a:buNone/>
            </a:pPr>
            <a:endParaRPr lang="en-US" sz="1200" dirty="0"/>
          </a:p>
          <a:p>
            <a:pPr indent="0" marL="0">
              <a:lnSpc>
                <a:spcPct val="110000"/>
              </a:lnSpc>
              <a:buNone/>
            </a:pPr>
            <a:r>
              <a:rPr lang="en-US" sz="1080" dirty="0">
                <a:solidFill>
                  <a:srgbClr val="46545F"/>
                </a:solidFill>
                <a:latin typeface="Calibri" pitchFamily="34" charset="0"/>
                <a:ea typeface="Calibri" pitchFamily="34" charset="-122"/>
                <a:cs typeface="Calibri" pitchFamily="34" charset="-120"/>
              </a:rPr>
              <a:t>Caveats to say out loud: it is a snapshot, not a live system — and share the FILE, not a public link.</a:t>
            </a:r>
            <a:endParaRPr lang="en-US" sz="1200" dirty="0"/>
          </a:p>
        </p:txBody>
      </p:sp>
      <p:sp>
        <p:nvSpPr>
          <p:cNvPr id="14" name="Shape 12"/>
          <p:cNvSpPr/>
          <p:nvPr/>
        </p:nvSpPr>
        <p:spPr>
          <a:xfrm>
            <a:off x="502920" y="5349240"/>
            <a:ext cx="11155680" cy="685800"/>
          </a:xfrm>
          <a:prstGeom prst="roundRect">
            <a:avLst>
              <a:gd name="adj" fmla="val 10667"/>
            </a:avLst>
          </a:prstGeom>
          <a:solidFill>
            <a:srgbClr val="F2F5F6"/>
          </a:solidFill>
          <a:ln w="9525">
            <a:solidFill>
              <a:srgbClr val="DCE3E6"/>
            </a:solidFill>
            <a:prstDash val="solid"/>
          </a:ln>
        </p:spPr>
      </p:sp>
      <p:sp>
        <p:nvSpPr>
          <p:cNvPr id="15" name="Shape 13"/>
          <p:cNvSpPr/>
          <p:nvPr/>
        </p:nvSpPr>
        <p:spPr>
          <a:xfrm>
            <a:off x="667512" y="5500116"/>
            <a:ext cx="384048" cy="384048"/>
          </a:xfrm>
          <a:prstGeom prst="ellipse">
            <a:avLst/>
          </a:prstGeom>
          <a:solidFill>
            <a:srgbClr val="46545F"/>
          </a:solidFill>
          <a:ln/>
        </p:spPr>
      </p:sp>
      <p:pic>
        <p:nvPicPr>
          <p:cNvPr id="16" name="Image 0" descr="/home/user/Claude-Works/ai-training-prompt-engineering/src/assets/icons/refresh_w.png">    </p:cNvPr>
          <p:cNvPicPr>
            <a:picLocks noChangeAspect="1"/>
          </p:cNvPicPr>
          <p:nvPr/>
        </p:nvPicPr>
        <p:blipFill>
          <a:blip r:embed="rId1"/>
          <a:stretch>
            <a:fillRect/>
          </a:stretch>
        </p:blipFill>
        <p:spPr>
          <a:xfrm>
            <a:off x="767364" y="5599968"/>
            <a:ext cx="184343" cy="184343"/>
          </a:xfrm>
          <a:prstGeom prst="rect">
            <a:avLst/>
          </a:prstGeom>
        </p:spPr>
      </p:pic>
      <p:sp>
        <p:nvSpPr>
          <p:cNvPr id="17" name="Text 14"/>
          <p:cNvSpPr/>
          <p:nvPr/>
        </p:nvSpPr>
        <p:spPr>
          <a:xfrm>
            <a:off x="1216152" y="5422392"/>
            <a:ext cx="10213848" cy="539496"/>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08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08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08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08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08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94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08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89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89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2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502920"/>
          </a:xfrm>
          <a:prstGeom prst="rect">
            <a:avLst/>
          </a:prstGeom>
          <a:noFill/>
          <a:ln/>
        </p:spPr>
        <p:txBody>
          <a:bodyPr wrap="square" lIns="0" tIns="0" rIns="0" bIns="0" rtlCol="0" anchor="ctr"/>
          <a:lstStyle/>
          <a:p>
            <a:pPr indent="0" marL="0">
              <a:lnSpc>
                <a:spcPct val="105000"/>
              </a:lnSpc>
              <a:buNone/>
            </a:pPr>
            <a:r>
              <a:rPr lang="en-US" sz="95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81328"/>
            <a:ext cx="5394960" cy="2788920"/>
          </a:xfrm>
          <a:prstGeom prst="roundRect">
            <a:avLst>
              <a:gd name="adj" fmla="val 2623"/>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Copilot mechanics worth knowing</a:t>
            </a:r>
            <a:endParaRPr lang="en-US" sz="1300" dirty="0"/>
          </a:p>
        </p:txBody>
      </p:sp>
      <p:sp>
        <p:nvSpPr>
          <p:cNvPr id="8" name="Text 6"/>
          <p:cNvSpPr/>
          <p:nvPr/>
        </p:nvSpPr>
        <p:spPr>
          <a:xfrm>
            <a:off x="822960" y="2048256"/>
            <a:ext cx="4846320" cy="219456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980" b="1" dirty="0">
                <a:solidFill>
                  <a:srgbClr val="46545F"/>
                </a:solidFill>
                <a:latin typeface="Calibri" pitchFamily="34" charset="0"/>
                <a:ea typeface="Calibri" pitchFamily="34" charset="-122"/>
                <a:cs typeface="Calibri" pitchFamily="34" charset="-120"/>
              </a:rPr>
              <a:t>“Summary by Copilot” reads the whole thread and adds numbered citations — click one to jump to the email it came from. Verify names and dates through them.</a:t>
            </a:r>
            <a:endParaRPr lang="en-US" sz="980" dirty="0"/>
          </a:p>
          <a:p>
            <a:pPr algn="l" marL="127000" indent="-127000">
              <a:lnSpc>
                <a:spcPct val="104000"/>
              </a:lnSpc>
              <a:spcAft>
                <a:spcPts val="600"/>
              </a:spcAft>
              <a:buSzPct val="100000"/>
              <a:buChar char="•"/>
            </a:pPr>
            <a:r>
              <a:rPr lang="en-US" sz="980" dirty="0">
                <a:solidFill>
                  <a:srgbClr val="46545F"/>
                </a:solidFill>
                <a:latin typeface="Calibri" pitchFamily="34" charset="0"/>
                <a:ea typeface="Calibri" pitchFamily="34" charset="-122"/>
                <a:cs typeface="Calibri" pitchFamily="34" charset="-120"/>
              </a:rPr>
              <a:t>Then REFINE in the pane: “List the action items” · “Who owes the next reply, and by when?” · “What did you base that on?”</a:t>
            </a:r>
            <a:endParaRPr lang="en-US" sz="980" dirty="0"/>
          </a:p>
          <a:p>
            <a:pPr algn="l" marL="127000" indent="-127000">
              <a:lnSpc>
                <a:spcPct val="104000"/>
              </a:lnSpc>
              <a:spcAft>
                <a:spcPts val="600"/>
              </a:spcAft>
              <a:buSzPct val="100000"/>
              <a:buChar char="•"/>
            </a:pPr>
            <a:r>
              <a:rPr lang="en-US" sz="980" dirty="0">
                <a:solidFill>
                  <a:srgbClr val="46545F"/>
                </a:solidFill>
                <a:latin typeface="Calibri" pitchFamily="34" charset="0"/>
                <a:ea typeface="Calibri" pitchFamily="34" charset="-122"/>
                <a:cs typeface="Calibri" pitchFamily="34" charset="-120"/>
              </a:rPr>
              <a:t>Limits: attachments are NOT read (use “Summarize a file” explicitly) · shared/delegate mailboxes and encrypted mail are out of scope · very short threads produce nothing.</a:t>
            </a:r>
            <a:endParaRPr lang="en-US" sz="980" dirty="0"/>
          </a:p>
          <a:p>
            <a:pPr algn="l" marL="127000" indent="-127000">
              <a:lnSpc>
                <a:spcPct val="104000"/>
              </a:lnSpc>
              <a:spcAft>
                <a:spcPts val="600"/>
              </a:spcAft>
              <a:buSzPct val="100000"/>
              <a:buChar char="•"/>
            </a:pPr>
            <a:r>
              <a:rPr lang="en-US" sz="980" dirty="0">
                <a:solidFill>
                  <a:srgbClr val="46545F"/>
                </a:solidFill>
                <a:latin typeface="Calibri" pitchFamily="34" charset="0"/>
                <a:ea typeface="Calibri" pitchFamily="34" charset="-122"/>
                <a:cs typeface="Calibri" pitchFamily="34" charset="-120"/>
              </a:rPr>
              <a:t>Microsoft’s own prompt anatomy is our anatomy: Goal · Context · Source · Expectations — “Write a summary based on all emails from Sam in the past two weeks.”</a:t>
            </a:r>
            <a:endParaRPr lang="en-US" sz="980" dirty="0"/>
          </a:p>
        </p:txBody>
      </p:sp>
      <p:sp>
        <p:nvSpPr>
          <p:cNvPr id="9" name="Shape 7"/>
          <p:cNvSpPr/>
          <p:nvPr/>
        </p:nvSpPr>
        <p:spPr>
          <a:xfrm>
            <a:off x="6172200" y="1481328"/>
            <a:ext cx="5486400" cy="365760"/>
          </a:xfrm>
          <a:prstGeom prst="roundRect">
            <a:avLst>
              <a:gd name="adj" fmla="val 17500"/>
            </a:avLst>
          </a:prstGeom>
          <a:solidFill>
            <a:srgbClr val="0E7C7B"/>
          </a:solidFill>
          <a:ln/>
        </p:spPr>
      </p:sp>
      <p:sp>
        <p:nvSpPr>
          <p:cNvPr id="10" name="Text 8"/>
          <p:cNvSpPr/>
          <p:nvPr/>
        </p:nvSpPr>
        <p:spPr>
          <a:xfrm>
            <a:off x="6355080" y="1499616"/>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STEP 1 · The brief</a:t>
            </a:r>
            <a:endParaRPr lang="en-US" sz="1050" dirty="0"/>
          </a:p>
        </p:txBody>
      </p:sp>
      <p:sp>
        <p:nvSpPr>
          <p:cNvPr id="11" name="Shape 9"/>
          <p:cNvSpPr/>
          <p:nvPr/>
        </p:nvSpPr>
        <p:spPr>
          <a:xfrm>
            <a:off x="6172200" y="1901952"/>
            <a:ext cx="5486400" cy="1042416"/>
          </a:xfrm>
          <a:prstGeom prst="roundRect">
            <a:avLst>
              <a:gd name="adj" fmla="val 7018"/>
            </a:avLst>
          </a:prstGeom>
          <a:solidFill>
            <a:srgbClr val="FFFFFF"/>
          </a:solidFill>
          <a:ln w="9525">
            <a:solidFill>
              <a:srgbClr val="DCE3E6"/>
            </a:solidFill>
            <a:prstDash val="solid"/>
          </a:ln>
        </p:spPr>
      </p:sp>
      <p:sp>
        <p:nvSpPr>
          <p:cNvPr id="12" name="Text 10"/>
          <p:cNvSpPr/>
          <p:nvPr/>
        </p:nvSpPr>
        <p:spPr>
          <a:xfrm>
            <a:off x="6355080" y="1975104"/>
            <a:ext cx="5120640" cy="896112"/>
          </a:xfrm>
          <a:prstGeom prst="rect">
            <a:avLst/>
          </a:prstGeom>
          <a:noFill/>
          <a:ln/>
        </p:spPr>
        <p:txBody>
          <a:bodyPr wrap="square" lIns="0" tIns="0" rIns="0" bIns="0" rtlCol="0" anchor="ctr"/>
          <a:lstStyle/>
          <a:p>
            <a:pPr indent="0" marL="0">
              <a:lnSpc>
                <a:spcPct val="108000"/>
              </a:lnSpc>
              <a:buNone/>
            </a:pPr>
            <a:r>
              <a:rPr lang="en-US" sz="86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860" dirty="0"/>
          </a:p>
        </p:txBody>
      </p:sp>
      <p:sp>
        <p:nvSpPr>
          <p:cNvPr id="13" name="Shape 11"/>
          <p:cNvSpPr/>
          <p:nvPr/>
        </p:nvSpPr>
        <p:spPr>
          <a:xfrm>
            <a:off x="6172200" y="3035808"/>
            <a:ext cx="5486400" cy="365760"/>
          </a:xfrm>
          <a:prstGeom prst="roundRect">
            <a:avLst>
              <a:gd name="adj" fmla="val 17500"/>
            </a:avLst>
          </a:prstGeom>
          <a:solidFill>
            <a:srgbClr val="0E7C7B"/>
          </a:solidFill>
          <a:ln/>
        </p:spPr>
      </p:sp>
      <p:sp>
        <p:nvSpPr>
          <p:cNvPr id="14" name="Text 12"/>
          <p:cNvSpPr/>
          <p:nvPr/>
        </p:nvSpPr>
        <p:spPr>
          <a:xfrm>
            <a:off x="6355080" y="3054096"/>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STEP 2 · Reply prep</a:t>
            </a:r>
            <a:endParaRPr lang="en-US" sz="1050" dirty="0"/>
          </a:p>
        </p:txBody>
      </p:sp>
      <p:sp>
        <p:nvSpPr>
          <p:cNvPr id="15" name="Shape 13"/>
          <p:cNvSpPr/>
          <p:nvPr/>
        </p:nvSpPr>
        <p:spPr>
          <a:xfrm>
            <a:off x="6172200" y="3456432"/>
            <a:ext cx="5486400" cy="1042416"/>
          </a:xfrm>
          <a:prstGeom prst="roundRect">
            <a:avLst>
              <a:gd name="adj" fmla="val 7018"/>
            </a:avLst>
          </a:prstGeom>
          <a:solidFill>
            <a:srgbClr val="FFFFFF"/>
          </a:solidFill>
          <a:ln w="9525">
            <a:solidFill>
              <a:srgbClr val="DCE3E6"/>
            </a:solidFill>
            <a:prstDash val="solid"/>
          </a:ln>
        </p:spPr>
      </p:sp>
      <p:sp>
        <p:nvSpPr>
          <p:cNvPr id="16" name="Text 14"/>
          <p:cNvSpPr/>
          <p:nvPr/>
        </p:nvSpPr>
        <p:spPr>
          <a:xfrm>
            <a:off x="6355080" y="3529584"/>
            <a:ext cx="5120640" cy="896112"/>
          </a:xfrm>
          <a:prstGeom prst="rect">
            <a:avLst/>
          </a:prstGeom>
          <a:noFill/>
          <a:ln/>
        </p:spPr>
        <p:txBody>
          <a:bodyPr wrap="square" lIns="0" tIns="0" rIns="0" bIns="0" rtlCol="0" anchor="ctr"/>
          <a:lstStyle/>
          <a:p>
            <a:pPr indent="0" marL="0">
              <a:lnSpc>
                <a:spcPct val="108000"/>
              </a:lnSpc>
              <a:buNone/>
            </a:pPr>
            <a:r>
              <a:rPr lang="en-US" sz="86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860" dirty="0"/>
          </a:p>
        </p:txBody>
      </p:sp>
      <p:sp>
        <p:nvSpPr>
          <p:cNvPr id="17" name="Shape 15"/>
          <p:cNvSpPr/>
          <p:nvPr/>
        </p:nvSpPr>
        <p:spPr>
          <a:xfrm>
            <a:off x="6172200" y="4590288"/>
            <a:ext cx="5486400" cy="365760"/>
          </a:xfrm>
          <a:prstGeom prst="roundRect">
            <a:avLst>
              <a:gd name="adj" fmla="val 17500"/>
            </a:avLst>
          </a:prstGeom>
          <a:solidFill>
            <a:srgbClr val="0E7C7B"/>
          </a:solidFill>
          <a:ln/>
        </p:spPr>
      </p:sp>
      <p:sp>
        <p:nvSpPr>
          <p:cNvPr id="18" name="Text 16"/>
          <p:cNvSpPr/>
          <p:nvPr/>
        </p:nvSpPr>
        <p:spPr>
          <a:xfrm>
            <a:off x="6355080" y="4608576"/>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STEP 3 · The reply</a:t>
            </a:r>
            <a:endParaRPr lang="en-US" sz="1050" dirty="0"/>
          </a:p>
        </p:txBody>
      </p:sp>
      <p:sp>
        <p:nvSpPr>
          <p:cNvPr id="19" name="Shape 17"/>
          <p:cNvSpPr/>
          <p:nvPr/>
        </p:nvSpPr>
        <p:spPr>
          <a:xfrm>
            <a:off x="6172200" y="5010912"/>
            <a:ext cx="5486400" cy="1042416"/>
          </a:xfrm>
          <a:prstGeom prst="roundRect">
            <a:avLst>
              <a:gd name="adj" fmla="val 7018"/>
            </a:avLst>
          </a:prstGeom>
          <a:solidFill>
            <a:srgbClr val="FFFFFF"/>
          </a:solidFill>
          <a:ln w="9525">
            <a:solidFill>
              <a:srgbClr val="DCE3E6"/>
            </a:solidFill>
            <a:prstDash val="solid"/>
          </a:ln>
        </p:spPr>
      </p:sp>
      <p:sp>
        <p:nvSpPr>
          <p:cNvPr id="20" name="Text 18"/>
          <p:cNvSpPr/>
          <p:nvPr/>
        </p:nvSpPr>
        <p:spPr>
          <a:xfrm>
            <a:off x="6355080" y="5084064"/>
            <a:ext cx="5120640" cy="896112"/>
          </a:xfrm>
          <a:prstGeom prst="rect">
            <a:avLst/>
          </a:prstGeom>
          <a:noFill/>
          <a:ln/>
        </p:spPr>
        <p:txBody>
          <a:bodyPr wrap="square" lIns="0" tIns="0" rIns="0" bIns="0" rtlCol="0" anchor="ctr"/>
          <a:lstStyle/>
          <a:p>
            <a:pPr indent="0" marL="0">
              <a:lnSpc>
                <a:spcPct val="108000"/>
              </a:lnSpc>
              <a:buNone/>
            </a:pPr>
            <a:r>
              <a:rPr lang="en-US" sz="86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860" dirty="0"/>
          </a:p>
        </p:txBody>
      </p:sp>
      <p:sp>
        <p:nvSpPr>
          <p:cNvPr id="21" name="Shape 19"/>
          <p:cNvSpPr/>
          <p:nvPr/>
        </p:nvSpPr>
        <p:spPr>
          <a:xfrm>
            <a:off x="502920" y="4407408"/>
            <a:ext cx="5394960" cy="1691640"/>
          </a:xfrm>
          <a:prstGeom prst="roundRect">
            <a:avLst>
              <a:gd name="adj" fmla="val 4324"/>
            </a:avLst>
          </a:prstGeom>
          <a:solidFill>
            <a:srgbClr val="F9E9E8"/>
          </a:solidFill>
          <a:ln/>
        </p:spPr>
      </p:sp>
      <p:sp>
        <p:nvSpPr>
          <p:cNvPr id="22" name="Shape 20"/>
          <p:cNvSpPr/>
          <p:nvPr/>
        </p:nvSpPr>
        <p:spPr>
          <a:xfrm>
            <a:off x="667512" y="5061204"/>
            <a:ext cx="384048" cy="384048"/>
          </a:xfrm>
          <a:prstGeom prst="ellipse">
            <a:avLst/>
          </a:prstGeom>
          <a:solidFill>
            <a:srgbClr val="AF3230"/>
          </a:solidFill>
          <a:ln/>
        </p:spPr>
      </p:sp>
      <p:pic>
        <p:nvPicPr>
          <p:cNvPr id="23" name="Image 0" descr="/home/user/Claude-Works/ai-training-prompt-engineering/src/assets/icons/alert_w.png">    </p:cNvPr>
          <p:cNvPicPr>
            <a:picLocks noChangeAspect="1"/>
          </p:cNvPicPr>
          <p:nvPr/>
        </p:nvPicPr>
        <p:blipFill>
          <a:blip r:embed="rId1"/>
          <a:stretch>
            <a:fillRect/>
          </a:stretch>
        </p:blipFill>
        <p:spPr>
          <a:xfrm>
            <a:off x="767364" y="5161056"/>
            <a:ext cx="184343" cy="184343"/>
          </a:xfrm>
          <a:prstGeom prst="rect">
            <a:avLst/>
          </a:prstGeom>
        </p:spPr>
      </p:pic>
      <p:sp>
        <p:nvSpPr>
          <p:cNvPr id="24" name="Text 21"/>
          <p:cNvSpPr/>
          <p:nvPr/>
        </p:nvSpPr>
        <p:spPr>
          <a:xfrm>
            <a:off x="1216152" y="4480560"/>
            <a:ext cx="4453128" cy="154533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it reports the FIRST date, not the moved one · it drops qualifiers (“approved with a cap” becomes “approved”) · it invents owners for vague “I’ll look into it” lines. The three rules in our prompt exist because of these three failures.</a:t>
            </a:r>
            <a:endParaRPr lang="en-US" sz="1050" dirty="0"/>
          </a:p>
        </p:txBody>
      </p:sp>
      <p:sp>
        <p:nvSpPr>
          <p:cNvPr id="25" name="Text 22"/>
          <p:cNvSpPr/>
          <p:nvPr/>
        </p:nvSpPr>
        <p:spPr>
          <a:xfrm>
            <a:off x="502920" y="6199632"/>
            <a:ext cx="11155680" cy="29260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Same prompts work in any assistant — Copilot just adds the citations and the tenant boundary (Part 2: green tier).</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98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THE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FULL PLAYBOOK TRAVELS WITH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Eight generative templates — copy, fill, run</a:t>
            </a:r>
            <a:endParaRPr lang="en-US" sz="3000" dirty="0"/>
          </a:p>
        </p:txBody>
      </p:sp>
      <p:sp>
        <p:nvSpPr>
          <p:cNvPr id="6" name="Shape 4"/>
          <p:cNvSpPr/>
          <p:nvPr/>
        </p:nvSpPr>
        <p:spPr>
          <a:xfrm>
            <a:off x="502920" y="1508760"/>
            <a:ext cx="5440680" cy="914400"/>
          </a:xfrm>
          <a:prstGeom prst="roundRect">
            <a:avLst>
              <a:gd name="adj" fmla="val 8000"/>
            </a:avLst>
          </a:prstGeom>
          <a:solidFill>
            <a:srgbClr val="F2F5F6"/>
          </a:solidFill>
          <a:ln/>
        </p:spPr>
      </p:sp>
      <p:sp>
        <p:nvSpPr>
          <p:cNvPr id="7" name="Text 5"/>
          <p:cNvSpPr/>
          <p:nvPr/>
        </p:nvSpPr>
        <p:spPr>
          <a:xfrm>
            <a:off x="722376" y="1581912"/>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G1 · Writing &amp; editing</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raw material in, hard word cap, “add no facts” — edit beats draft</a:t>
            </a:r>
            <a:endParaRPr lang="en-US" sz="1200" dirty="0"/>
          </a:p>
        </p:txBody>
      </p:sp>
      <p:sp>
        <p:nvSpPr>
          <p:cNvPr id="8" name="Shape 6"/>
          <p:cNvSpPr/>
          <p:nvPr/>
        </p:nvSpPr>
        <p:spPr>
          <a:xfrm>
            <a:off x="6172200" y="1508760"/>
            <a:ext cx="5440680" cy="914400"/>
          </a:xfrm>
          <a:prstGeom prst="roundRect">
            <a:avLst>
              <a:gd name="adj" fmla="val 8000"/>
            </a:avLst>
          </a:prstGeom>
          <a:solidFill>
            <a:srgbClr val="F2F5F6"/>
          </a:solidFill>
          <a:ln/>
        </p:spPr>
      </p:sp>
      <p:sp>
        <p:nvSpPr>
          <p:cNvPr id="9" name="Text 7"/>
          <p:cNvSpPr/>
          <p:nvPr/>
        </p:nvSpPr>
        <p:spPr>
          <a:xfrm>
            <a:off x="6391656" y="1581912"/>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G2 · Data analysis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exact columns, code-not-vibes, reconcile to a known total, then stop</a:t>
            </a:r>
            <a:endParaRPr lang="en-US" sz="1200" dirty="0"/>
          </a:p>
        </p:txBody>
      </p:sp>
      <p:sp>
        <p:nvSpPr>
          <p:cNvPr id="10" name="Shape 8"/>
          <p:cNvSpPr/>
          <p:nvPr/>
        </p:nvSpPr>
        <p:spPr>
          <a:xfrm>
            <a:off x="502920" y="2551176"/>
            <a:ext cx="5440680" cy="914400"/>
          </a:xfrm>
          <a:prstGeom prst="roundRect">
            <a:avLst>
              <a:gd name="adj" fmla="val 8000"/>
            </a:avLst>
          </a:prstGeom>
          <a:solidFill>
            <a:srgbClr val="F2F5F6"/>
          </a:solidFill>
          <a:ln/>
        </p:spPr>
      </p:sp>
      <p:sp>
        <p:nvSpPr>
          <p:cNvPr id="11" name="Text 9"/>
          <p:cNvSpPr/>
          <p:nvPr/>
        </p:nvSpPr>
        <p:spPr>
          <a:xfrm>
            <a:off x="722376" y="2624328"/>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G3 · Evaluations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anchored rubric, quotes as evidence, blind critique — you just watched it</a:t>
            </a:r>
            <a:endParaRPr lang="en-US" sz="1200" dirty="0"/>
          </a:p>
        </p:txBody>
      </p:sp>
      <p:sp>
        <p:nvSpPr>
          <p:cNvPr id="12" name="Shape 10"/>
          <p:cNvSpPr/>
          <p:nvPr/>
        </p:nvSpPr>
        <p:spPr>
          <a:xfrm>
            <a:off x="6172200" y="2551176"/>
            <a:ext cx="5440680" cy="914400"/>
          </a:xfrm>
          <a:prstGeom prst="roundRect">
            <a:avLst>
              <a:gd name="adj" fmla="val 8000"/>
            </a:avLst>
          </a:prstGeom>
          <a:solidFill>
            <a:srgbClr val="F2F5F6"/>
          </a:solidFill>
          <a:ln/>
        </p:spPr>
      </p:sp>
      <p:sp>
        <p:nvSpPr>
          <p:cNvPr id="13" name="Text 11"/>
          <p:cNvSpPr/>
          <p:nvPr/>
        </p:nvSpPr>
        <p:spPr>
          <a:xfrm>
            <a:off x="6391656" y="2624328"/>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G4 · Spreadsheets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README tab, formulas not values, cleaning with a logged rule per change</a:t>
            </a:r>
            <a:endParaRPr lang="en-US" sz="1200" dirty="0"/>
          </a:p>
        </p:txBody>
      </p:sp>
      <p:sp>
        <p:nvSpPr>
          <p:cNvPr id="14" name="Shape 12"/>
          <p:cNvSpPr/>
          <p:nvPr/>
        </p:nvSpPr>
        <p:spPr>
          <a:xfrm>
            <a:off x="502920" y="3593592"/>
            <a:ext cx="5440680" cy="914400"/>
          </a:xfrm>
          <a:prstGeom prst="roundRect">
            <a:avLst>
              <a:gd name="adj" fmla="val 8000"/>
            </a:avLst>
          </a:prstGeom>
          <a:solidFill>
            <a:srgbClr val="F2F5F6"/>
          </a:solidFill>
          <a:ln/>
        </p:spPr>
      </p:sp>
      <p:sp>
        <p:nvSpPr>
          <p:cNvPr id="15" name="Text 13"/>
          <p:cNvSpPr/>
          <p:nvPr/>
        </p:nvSpPr>
        <p:spPr>
          <a:xfrm>
            <a:off x="722376" y="3666744"/>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G5 · Presentations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titles state findings with numbers; approve text before rendering</a:t>
            </a:r>
            <a:endParaRPr lang="en-US" sz="1200" dirty="0"/>
          </a:p>
        </p:txBody>
      </p:sp>
      <p:sp>
        <p:nvSpPr>
          <p:cNvPr id="16" name="Shape 14"/>
          <p:cNvSpPr/>
          <p:nvPr/>
        </p:nvSpPr>
        <p:spPr>
          <a:xfrm>
            <a:off x="6172200" y="3593592"/>
            <a:ext cx="5440680" cy="914400"/>
          </a:xfrm>
          <a:prstGeom prst="roundRect">
            <a:avLst>
              <a:gd name="adj" fmla="val 8000"/>
            </a:avLst>
          </a:prstGeom>
          <a:solidFill>
            <a:srgbClr val="F2F5F6"/>
          </a:solidFill>
          <a:ln/>
        </p:spPr>
      </p:sp>
      <p:sp>
        <p:nvSpPr>
          <p:cNvPr id="17" name="Text 15"/>
          <p:cNvSpPr/>
          <p:nvPr/>
        </p:nvSpPr>
        <p:spPr>
          <a:xfrm>
            <a:off x="6391656" y="3666744"/>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G6 · Interactive HTML</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single file, offline, auditable — you just watched it</a:t>
            </a:r>
            <a:endParaRPr lang="en-US" sz="1200" dirty="0"/>
          </a:p>
        </p:txBody>
      </p:sp>
      <p:sp>
        <p:nvSpPr>
          <p:cNvPr id="18" name="Shape 16"/>
          <p:cNvSpPr/>
          <p:nvPr/>
        </p:nvSpPr>
        <p:spPr>
          <a:xfrm>
            <a:off x="502920" y="4636008"/>
            <a:ext cx="5440680" cy="914400"/>
          </a:xfrm>
          <a:prstGeom prst="roundRect">
            <a:avLst>
              <a:gd name="adj" fmla="val 8000"/>
            </a:avLst>
          </a:prstGeom>
          <a:solidFill>
            <a:srgbClr val="F2F5F6"/>
          </a:solidFill>
          <a:ln/>
        </p:spPr>
      </p:sp>
      <p:sp>
        <p:nvSpPr>
          <p:cNvPr id="19" name="Text 17"/>
          <p:cNvSpPr/>
          <p:nvPr/>
        </p:nvSpPr>
        <p:spPr>
          <a:xfrm>
            <a:off x="722376" y="4709160"/>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G7 · Research briefs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a question not a topic; every bullet gets a link + date; demand the gaps</a:t>
            </a:r>
            <a:endParaRPr lang="en-US" sz="1200" dirty="0"/>
          </a:p>
        </p:txBody>
      </p:sp>
      <p:sp>
        <p:nvSpPr>
          <p:cNvPr id="20" name="Shape 18"/>
          <p:cNvSpPr/>
          <p:nvPr/>
        </p:nvSpPr>
        <p:spPr>
          <a:xfrm>
            <a:off x="6172200" y="4636008"/>
            <a:ext cx="5440680" cy="914400"/>
          </a:xfrm>
          <a:prstGeom prst="roundRect">
            <a:avLst>
              <a:gd name="adj" fmla="val 8000"/>
            </a:avLst>
          </a:prstGeom>
          <a:solidFill>
            <a:srgbClr val="F2F5F6"/>
          </a:solidFill>
          <a:ln/>
        </p:spPr>
      </p:sp>
      <p:sp>
        <p:nvSpPr>
          <p:cNvPr id="21" name="Text 19"/>
          <p:cNvSpPr/>
          <p:nvPr/>
        </p:nvSpPr>
        <p:spPr>
          <a:xfrm>
            <a:off x="6391656" y="4709160"/>
            <a:ext cx="5029200" cy="786384"/>
          </a:xfrm>
          <a:prstGeom prst="rect">
            <a:avLst/>
          </a:prstGeom>
          <a:noFill/>
          <a:ln/>
        </p:spPr>
        <p:txBody>
          <a:bodyPr wrap="square" lIns="0" tIns="0" rIns="0" bIns="0" rtlCol="0" anchor="ctr"/>
          <a:lstStyle/>
          <a:p>
            <a:pPr indent="0" marL="0">
              <a:lnSpc>
                <a:spcPct val="102000"/>
              </a:lnSpc>
              <a:spcAft>
                <a:spcPts val="200"/>
              </a:spcAft>
              <a:buNone/>
            </a:pPr>
            <a:r>
              <a:rPr lang="en-US" sz="1200" b="1" dirty="0">
                <a:solidFill>
                  <a:srgbClr val="0A5B5A"/>
                </a:solidFill>
                <a:latin typeface="Calibri" pitchFamily="34" charset="0"/>
                <a:ea typeface="Calibri" pitchFamily="34" charset="-122"/>
                <a:cs typeface="Calibri" pitchFamily="34" charset="-120"/>
              </a:rPr>
              <a:t>G8 · Documents</a:t>
            </a:r>
            <a:endParaRPr lang="en-US" sz="1200" dirty="0"/>
          </a:p>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summaries serve a decision; verbatim quotes for anything load-bearing — the quote comparison was this</a:t>
            </a:r>
            <a:endParaRPr lang="en-US" sz="1200" dirty="0"/>
          </a:p>
        </p:txBody>
      </p:sp>
      <p:sp>
        <p:nvSpPr>
          <p:cNvPr id="22" name="Shape 20"/>
          <p:cNvSpPr/>
          <p:nvPr/>
        </p:nvSpPr>
        <p:spPr>
          <a:xfrm>
            <a:off x="502920" y="5806440"/>
            <a:ext cx="11155680" cy="594360"/>
          </a:xfrm>
          <a:prstGeom prst="roundRect">
            <a:avLst>
              <a:gd name="adj" fmla="val 12308"/>
            </a:avLst>
          </a:prstGeom>
          <a:solidFill>
            <a:srgbClr val="E4F0EF"/>
          </a:solidFill>
          <a:ln/>
        </p:spPr>
      </p:sp>
      <p:sp>
        <p:nvSpPr>
          <p:cNvPr id="23" name="Shape 21"/>
          <p:cNvSpPr/>
          <p:nvPr/>
        </p:nvSpPr>
        <p:spPr>
          <a:xfrm>
            <a:off x="667512" y="5911596"/>
            <a:ext cx="384048" cy="384048"/>
          </a:xfrm>
          <a:prstGeom prst="ellipse">
            <a:avLst/>
          </a:prstGeom>
          <a:solidFill>
            <a:srgbClr val="0E7C7B"/>
          </a:solidFill>
          <a:ln/>
        </p:spPr>
      </p:sp>
      <p:pic>
        <p:nvPicPr>
          <p:cNvPr id="24" name="Image 0" descr="/home/user/Claude-Works/ai-training-prompt-engineering/src/assets/icons/download_w.png">    </p:cNvPr>
          <p:cNvPicPr>
            <a:picLocks noChangeAspect="1"/>
          </p:cNvPicPr>
          <p:nvPr/>
        </p:nvPicPr>
        <p:blipFill>
          <a:blip r:embed="rId1"/>
          <a:stretch>
            <a:fillRect/>
          </a:stretch>
        </p:blipFill>
        <p:spPr>
          <a:xfrm>
            <a:off x="767364" y="6011448"/>
            <a:ext cx="184343" cy="184343"/>
          </a:xfrm>
          <a:prstGeom prst="rect">
            <a:avLst/>
          </a:prstGeom>
        </p:spPr>
      </p:pic>
      <p:sp>
        <p:nvSpPr>
          <p:cNvPr id="25" name="Text 22"/>
          <p:cNvSpPr/>
          <p:nvPr/>
        </p:nvSpPr>
        <p:spPr>
          <a:xfrm>
            <a:off x="1216152" y="587959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handout pack: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prompt-library/ (all 13 templates with filled examples and pitfalls) · the practice pack (dataset, quotations, email thread) · the Template Creator + Configurator · the cheat sheet, ELEMENTS guide, and Taxonomy Reference.</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SESSION 2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SESSION 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6000"/>
              </a:lnSpc>
              <a:spcAft>
                <a:spcPts val="200"/>
              </a:spcAft>
              <a:buNone/>
            </a:pPr>
            <a:r>
              <a:rPr lang="en-US" sz="1300" b="1" dirty="0">
                <a:solidFill>
                  <a:srgbClr val="232A31"/>
                </a:solidFill>
                <a:latin typeface="Calibri" pitchFamily="34" charset="0"/>
                <a:ea typeface="Calibri" pitchFamily="34" charset="-122"/>
                <a:cs typeface="Calibri" pitchFamily="34" charset="-120"/>
              </a:rPr>
              <a:t>The anatomy</a:t>
            </a:r>
            <a:endParaRPr lang="en-US" sz="13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Every vendor teaches the same recipe.</a:t>
            </a:r>
            <a:endParaRPr lang="en-US" sz="130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6000"/>
              </a:lnSpc>
              <a:spcAft>
                <a:spcPts val="200"/>
              </a:spcAft>
              <a:buNone/>
            </a:pPr>
            <a:r>
              <a:rPr lang="en-US" sz="1300" b="1" dirty="0">
                <a:solidFill>
                  <a:srgbClr val="232A31"/>
                </a:solidFill>
                <a:latin typeface="Calibri" pitchFamily="34" charset="0"/>
                <a:ea typeface="Calibri" pitchFamily="34" charset="-122"/>
                <a:cs typeface="Calibri" pitchFamily="34" charset="-120"/>
              </a:rPr>
              <a:t>Seven techniques</a:t>
            </a:r>
            <a:endParaRPr lang="en-US" sz="13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specificity-with-why, examples, tags, the out, chaining, self-check, metaprompting.</a:t>
            </a:r>
            <a:endParaRPr lang="en-US" sz="130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6000"/>
              </a:lnSpc>
              <a:spcAft>
                <a:spcPts val="200"/>
              </a:spcAft>
              <a:buNone/>
            </a:pPr>
            <a:r>
              <a:rPr lang="en-US" sz="1300" b="1" dirty="0">
                <a:solidFill>
                  <a:srgbClr val="232A31"/>
                </a:solidFill>
                <a:latin typeface="Calibri" pitchFamily="34" charset="0"/>
                <a:ea typeface="Calibri" pitchFamily="34" charset="-122"/>
                <a:cs typeface="Calibri" pitchFamily="34" charset="-120"/>
              </a:rPr>
              <a:t>The evidence rules</a:t>
            </a:r>
            <a:endParaRPr lang="en-US" sz="13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never reveal your preference when asking for judgment.</a:t>
            </a:r>
            <a:endParaRPr lang="en-US" sz="130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6000"/>
              </a:lnSpc>
              <a:spcAft>
                <a:spcPts val="200"/>
              </a:spcAft>
              <a:buNone/>
            </a:pPr>
            <a:r>
              <a:rPr lang="en-US" sz="1300" b="1" dirty="0">
                <a:solidFill>
                  <a:srgbClr val="232A31"/>
                </a:solidFill>
                <a:latin typeface="Calibri" pitchFamily="34" charset="0"/>
                <a:ea typeface="Calibri" pitchFamily="34" charset="-122"/>
                <a:cs typeface="Calibri" pitchFamily="34" charset="-120"/>
              </a:rPr>
              <a:t>The take-home</a:t>
            </a:r>
            <a:endParaRPr lang="en-US" sz="1300" dirty="0"/>
          </a:p>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eight templates + the Template Creator — the blind critique was homework; who ran it?</a:t>
            </a:r>
            <a:endParaRPr lang="en-US" sz="130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read files, search, look at state</a:t>
            </a:r>
            <a:endParaRPr lang="en-US" sz="83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one step: edit, run, query, write</a:t>
            </a:r>
            <a:endParaRPr lang="en-US" sz="83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check the result against the goal</a:t>
            </a:r>
            <a:endParaRPr lang="en-US" sz="83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830" dirty="0">
                <a:solidFill>
                  <a:srgbClr val="46545F"/>
                </a:solidFill>
                <a:latin typeface="Calibri" pitchFamily="34" charset="0"/>
                <a:ea typeface="Calibri" pitchFamily="34" charset="-122"/>
                <a:cs typeface="Calibri" pitchFamily="34" charset="-120"/>
              </a:rPr>
              <a:t>adjust and continue — or stop</a:t>
            </a:r>
            <a:endParaRPr lang="en-US" sz="83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274320"/>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95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08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08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 by mid-2026.</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Context window is short-term memory; notes, logs, and git are long-term. Nothing survives a session unless written down.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3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WHAT TO WRITE</a:t>
            </a:r>
            <a:endParaRPr lang="en-US" sz="96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JOB TO RUN</a:t>
            </a:r>
            <a:endParaRPr lang="en-US" sz="96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role · task · context · format · examples</a:t>
            </a:r>
            <a:endParaRPr lang="en-US" sz="96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0A5B5A"/>
                </a:solidFill>
                <a:latin typeface="Calibri" pitchFamily="34" charset="0"/>
                <a:ea typeface="Calibri" pitchFamily="34" charset="-122"/>
                <a:cs typeface="Calibri" pitchFamily="34" charset="-120"/>
              </a:rPr>
              <a:t>all of that, PLUS: mission &amp; definition of done · environment &amp; file boundaries · allowed tools · process phases &amp; gates · autonomy rules · self-checks · deliverables &amp; logs</a:t>
            </a:r>
            <a:endParaRPr lang="en-US" sz="96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one response you read</a:t>
            </a:r>
            <a:endParaRPr lang="en-US" sz="96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actions + artifacts + a report with evidence</a:t>
            </a:r>
            <a:endParaRPr lang="en-US" sz="96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bad text — just re-prompt</a:t>
            </a:r>
            <a:endParaRPr lang="en-US" sz="96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96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reader and editor</a:t>
            </a:r>
            <a:endParaRPr lang="en-US" sz="96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delegator and reviewer at checkpoints</a:t>
            </a:r>
            <a:endParaRPr lang="en-US" sz="96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briefing a ghost-writer</a:t>
            </a:r>
            <a:endParaRPr lang="en-US" sz="96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960" dirty="0">
                <a:solidFill>
                  <a:srgbClr val="46545F"/>
                </a:solidFill>
                <a:latin typeface="Calibri" pitchFamily="34" charset="0"/>
                <a:ea typeface="Calibri" pitchFamily="34" charset="-122"/>
                <a:cs typeface="Calibri" pitchFamily="34" charset="-120"/>
              </a:rPr>
              <a:t>a work order for a contractor</a:t>
            </a:r>
            <a:endParaRPr lang="en-US" sz="9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&lt;role&gt;</a:t>
            </a:r>
            <a:endParaRPr lang="en-US" sz="95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persists across unsupervised decisions → behaviors only</a:t>
            </a:r>
            <a:endParaRPr lang="en-US" sz="95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&lt;mission&gt;</a:t>
            </a:r>
            <a:endParaRPr lang="en-US" sz="95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definition of done — the loop needs an exit condition</a:t>
            </a:r>
            <a:endParaRPr lang="en-US" sz="95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&lt;context&gt; + &lt;inputs&gt;</a:t>
            </a:r>
            <a:endParaRPr lang="en-US" sz="95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 per-source register with grain &amp; trust — agents touch every source repeatedly</a:t>
            </a:r>
            <a:endParaRPr lang="en-US" sz="95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&lt;outputs&gt; + &lt;reporting&gt;</a:t>
            </a:r>
            <a:endParaRPr lang="en-US" sz="95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95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the filled brief</a:t>
            </a:r>
            <a:endParaRPr lang="en-US" sz="95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 worked run is the agentic few-shot</a:t>
            </a:r>
            <a:endParaRPr lang="en-US" sz="95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UNKNOWN → open items</a:t>
            </a:r>
            <a:endParaRPr lang="en-US" sz="95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not-knowing becomes a logged, owned item</a:t>
            </a:r>
            <a:endParaRPr lang="en-US" sz="95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gates + autonomy rules</a:t>
            </a:r>
            <a:endParaRPr lang="en-US" sz="95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scope control becomes checkpointed process</a:t>
            </a:r>
            <a:endParaRPr lang="en-US" sz="95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95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95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95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93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one goal, one audience, one deadline, “done looks like…”</a:t>
            </a:r>
            <a:endParaRPr lang="en-US" sz="93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93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93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93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93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93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93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93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non-negotiables: never invent data, versioned outputs, assumptions logged</a:t>
            </a:r>
            <a:endParaRPr lang="en-US" sz="93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definition of done as a checklist the agent must satisfy — and you can audit</a:t>
            </a:r>
            <a:endParaRPr lang="en-US" sz="93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930" dirty="0">
                <a:solidFill>
                  <a:srgbClr val="46545F"/>
                </a:solidFill>
                <a:latin typeface="Calibri" pitchFamily="34" charset="0"/>
                <a:ea typeface="Calibri" pitchFamily="34" charset="-122"/>
                <a:cs typeface="Calibri" pitchFamily="34" charset="-120"/>
              </a:rPr>
              <a:t>the exact shape of the final message: status, headline, evidence, open items</a:t>
            </a:r>
            <a:endParaRPr lang="en-US" sz="930" dirty="0"/>
          </a:p>
        </p:txBody>
      </p:sp>
      <p:sp>
        <p:nvSpPr>
          <p:cNvPr id="42" name="Shape 40"/>
          <p:cNvSpPr/>
          <p:nvPr/>
        </p:nvSpPr>
        <p:spPr>
          <a:xfrm>
            <a:off x="502920" y="5943600"/>
            <a:ext cx="11155680" cy="502920"/>
          </a:xfrm>
          <a:prstGeom prst="roundRect">
            <a:avLst>
              <a:gd name="adj" fmla="val 14545"/>
            </a:avLst>
          </a:prstGeom>
          <a:solidFill>
            <a:srgbClr val="E4F0EF"/>
          </a:solidFill>
          <a:ln/>
        </p:spPr>
      </p:sp>
      <p:sp>
        <p:nvSpPr>
          <p:cNvPr id="43" name="Shape 41"/>
          <p:cNvSpPr/>
          <p:nvPr/>
        </p:nvSpPr>
        <p:spPr>
          <a:xfrm>
            <a:off x="667512" y="6003036"/>
            <a:ext cx="384048" cy="384048"/>
          </a:xfrm>
          <a:prstGeom prst="ellipse">
            <a:avLst/>
          </a:prstGeom>
          <a:solidFill>
            <a:srgbClr val="0E7C7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2888"/>
            <a:ext cx="184343" cy="184343"/>
          </a:xfrm>
          <a:prstGeom prst="rect">
            <a:avLst/>
          </a:prstGeom>
        </p:spPr>
      </p:pic>
      <p:sp>
        <p:nvSpPr>
          <p:cNvPr id="45" name="Text 42"/>
          <p:cNvSpPr/>
          <p:nvPr/>
        </p:nvSpPr>
        <p:spPr>
          <a:xfrm>
            <a:off x="1216152" y="6016752"/>
            <a:ext cx="10213848" cy="356616"/>
          </a:xfrm>
          <a:prstGeom prst="rect">
            <a:avLst/>
          </a:prstGeom>
          <a:noFill/>
          <a:ln/>
        </p:spPr>
        <p:txBody>
          <a:bodyPr wrap="square" lIns="0" tIns="0" rIns="0" bIns="0" rtlCol="0" anchor="ctr"/>
          <a:lstStyle/>
          <a:p>
            <a:pPr indent="0" marL="0">
              <a:lnSpc>
                <a:spcPct val="106000"/>
              </a:lnSpc>
              <a:buNone/>
            </a:pPr>
            <a:r>
              <a:rPr lang="en-US" sz="1050" b="1" dirty="0">
                <a:solidFill>
                  <a:srgbClr val="0A5B5A"/>
                </a:solidFill>
                <a:latin typeface="Calibri" pitchFamily="34" charset="0"/>
                <a:ea typeface="Calibri" pitchFamily="34" charset="-122"/>
                <a:cs typeface="Calibri" pitchFamily="34" charset="-120"/>
              </a:rPr>
              <a:t>Grounding: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every block maps to vendor guidance — verifiable done-criteria, file boundaries, least-privilege tools, phased plans with approval, ask-before-irreversible, evidence over assertions.</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read-only; hash and profile every input; parse with explicit types; fix nothing yet</a:t>
            </a:r>
            <a:endParaRPr lang="en-US" sz="93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one schema, ordered rules — each logged with rows affected; metrics defined as cards</a:t>
            </a:r>
            <a:endParaRPr lang="en-US" sz="93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93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93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93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93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any data is touched: the agent restates metrics, schema, assumptions — you confirm. Catches the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Reversible? proceed. Irreversible? ask.</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Edits in a scratch folder are reversible. Deleting, sending, publishing, overwriting a master — the prompt must say: stop and ask first.</a:t>
            </a:r>
            <a:endParaRPr lang="en-US" sz="1300" dirty="0"/>
          </a:p>
        </p:txBody>
      </p:sp>
      <p:sp>
        <p:nvSpPr>
          <p:cNvPr id="9" name="Shape 6"/>
          <p:cNvSpPr/>
          <p:nvPr/>
        </p:nvSpPr>
        <p:spPr>
          <a:xfrm>
            <a:off x="502920" y="2459736"/>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78608"/>
            <a:ext cx="219456" cy="219456"/>
          </a:xfrm>
          <a:prstGeom prst="rect">
            <a:avLst/>
          </a:prstGeom>
        </p:spPr>
      </p:pic>
      <p:sp>
        <p:nvSpPr>
          <p:cNvPr id="11" name="Text 7"/>
          <p:cNvSpPr/>
          <p:nvPr/>
        </p:nvSpPr>
        <p:spPr>
          <a:xfrm>
            <a:off x="1161288" y="2368296"/>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Least privilege</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300" dirty="0"/>
          </a:p>
        </p:txBody>
      </p:sp>
      <p:sp>
        <p:nvSpPr>
          <p:cNvPr id="12" name="Shape 8"/>
          <p:cNvSpPr/>
          <p:nvPr/>
        </p:nvSpPr>
        <p:spPr>
          <a:xfrm>
            <a:off x="502920" y="3392424"/>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511296"/>
            <a:ext cx="219456" cy="219456"/>
          </a:xfrm>
          <a:prstGeom prst="rect">
            <a:avLst/>
          </a:prstGeom>
        </p:spPr>
      </p:pic>
      <p:sp>
        <p:nvSpPr>
          <p:cNvPr id="14" name="Text 9"/>
          <p:cNvSpPr/>
          <p:nvPr/>
        </p:nvSpPr>
        <p:spPr>
          <a:xfrm>
            <a:off x="1161288" y="3300984"/>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Prompt injection is real</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 of that trifecta.</a:t>
            </a:r>
            <a:endParaRPr lang="en-US" sz="1300" dirty="0"/>
          </a:p>
        </p:txBody>
      </p:sp>
      <p:sp>
        <p:nvSpPr>
          <p:cNvPr id="15" name="Shape 10"/>
          <p:cNvSpPr/>
          <p:nvPr/>
        </p:nvSpPr>
        <p:spPr>
          <a:xfrm>
            <a:off x="502920" y="4325112"/>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443984"/>
            <a:ext cx="219456" cy="219456"/>
          </a:xfrm>
          <a:prstGeom prst="rect">
            <a:avLst/>
          </a:prstGeom>
        </p:spPr>
      </p:pic>
      <p:sp>
        <p:nvSpPr>
          <p:cNvPr id="17" name="Text 11"/>
          <p:cNvSpPr/>
          <p:nvPr/>
        </p:nvSpPr>
        <p:spPr>
          <a:xfrm>
            <a:off x="1161288" y="4233672"/>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Vet third-party “skills”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300" dirty="0"/>
          </a:p>
        </p:txBody>
      </p:sp>
      <p:sp>
        <p:nvSpPr>
          <p:cNvPr id="18" name="Shape 12"/>
          <p:cNvSpPr/>
          <p:nvPr/>
        </p:nvSpPr>
        <p:spPr>
          <a:xfrm>
            <a:off x="502920" y="5257800"/>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76672"/>
            <a:ext cx="219456" cy="219456"/>
          </a:xfrm>
          <a:prstGeom prst="rect">
            <a:avLst/>
          </a:prstGeom>
        </p:spPr>
      </p:pic>
      <p:sp>
        <p:nvSpPr>
          <p:cNvPr id="20" name="Text 13"/>
          <p:cNvSpPr/>
          <p:nvPr/>
        </p:nvSpPr>
        <p:spPr>
          <a:xfrm>
            <a:off x="1161288" y="5166360"/>
            <a:ext cx="10497312" cy="896112"/>
          </a:xfrm>
          <a:prstGeom prst="rect">
            <a:avLst/>
          </a:prstGeom>
          <a:noFill/>
          <a:ln/>
        </p:spPr>
        <p:txBody>
          <a:bodyPr wrap="square" lIns="0" tIns="0" rIns="0" bIns="0" rtlCol="0" anchor="t"/>
          <a:lstStyle/>
          <a:p>
            <a:pPr algn="l" indent="0" marL="0">
              <a:lnSpc>
                <a:spcPct val="105000"/>
              </a:lnSpc>
              <a:spcAft>
                <a:spcPts val="200"/>
              </a:spcAft>
              <a:buNone/>
            </a:pPr>
            <a:r>
              <a:rPr lang="en-US" sz="1300" b="1" dirty="0">
                <a:solidFill>
                  <a:srgbClr val="232A31"/>
                </a:solidFill>
                <a:latin typeface="Calibri" pitchFamily="34" charset="0"/>
                <a:ea typeface="Calibri" pitchFamily="34" charset="-122"/>
                <a:cs typeface="Calibri" pitchFamily="34" charset="-120"/>
              </a:rPr>
              <a:t>Demand evidence, not assertions</a:t>
            </a:r>
            <a:endParaRPr lang="en-US" sz="130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“Done” means: the check it ran, the output it got, the file re-opened and verified. Spot-check agent work like any new hire’s — trust grows with track record.</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A shared database — Notion, SharePoint list,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Project instructions, Claude Skills, Gems, Copilot agents: the prompt loads itself when the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20" dirty="0">
                <a:solidFill>
                  <a:srgbClr val="46545F"/>
                </a:solidFill>
                <a:latin typeface="Calibri" pitchFamily="34" charset="0"/>
                <a:ea typeface="Calibri" pitchFamily="34" charset="-122"/>
                <a:cs typeface="Calibri" pitchFamily="34" charset="-120"/>
              </a:rPr>
              <a:t>CLAUDE.md / AGENTS.md / briefs in the repo, versioned in git, reviewed like code. Where agentic briefs live.</a:t>
            </a:r>
            <a:endParaRPr lang="en-US" sz="1250" dirty="0"/>
          </a:p>
        </p:txBody>
      </p:sp>
      <p:sp>
        <p:nvSpPr>
          <p:cNvPr id="21" name="Shape 14"/>
          <p:cNvSpPr/>
          <p:nvPr/>
        </p:nvSpPr>
        <p:spPr>
          <a:xfrm>
            <a:off x="7086600" y="1481328"/>
            <a:ext cx="4572000" cy="2834640"/>
          </a:xfrm>
          <a:prstGeom prst="roundRect">
            <a:avLst>
              <a:gd name="adj" fmla="val 2581"/>
            </a:avLst>
          </a:prstGeom>
          <a:solidFill>
            <a:srgbClr val="E4F0EF"/>
          </a:solidFill>
          <a:ln/>
        </p:spPr>
      </p:sp>
      <p:sp>
        <p:nvSpPr>
          <p:cNvPr id="22" name="Text 15"/>
          <p:cNvSpPr/>
          <p:nvPr/>
        </p:nvSpPr>
        <p:spPr>
          <a:xfrm>
            <a:off x="7333488" y="1664208"/>
            <a:ext cx="4114800" cy="36576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promotion trigger</a:t>
            </a:r>
            <a:endParaRPr lang="en-US" sz="1400" dirty="0"/>
          </a:p>
        </p:txBody>
      </p:sp>
      <p:sp>
        <p:nvSpPr>
          <p:cNvPr id="23" name="Text 16"/>
          <p:cNvSpPr/>
          <p:nvPr/>
        </p:nvSpPr>
        <p:spPr>
          <a:xfrm>
            <a:off x="7333488" y="2103120"/>
            <a:ext cx="4114800" cy="2103120"/>
          </a:xfrm>
          <a:prstGeom prst="rect">
            <a:avLst/>
          </a:prstGeom>
          <a:noFill/>
          <a:ln/>
        </p:spPr>
        <p:txBody>
          <a:bodyPr wrap="square" lIns="0" tIns="0" rIns="0" bIns="0" rtlCol="0" anchor="ctr"/>
          <a:lstStyle/>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Anthropic’s rule of thumb: the moment you’ve explained the same task more than once, it’s time to package it.</a:t>
            </a:r>
            <a:endParaRPr lang="en-US" sz="1150" dirty="0"/>
          </a:p>
          <a:p>
            <a:pPr indent="0" marL="0">
              <a:lnSpc>
                <a:spcPct val="112000"/>
              </a:lnSpc>
              <a:buNone/>
            </a:pPr>
            <a:endParaRPr lang="en-US" sz="1150" dirty="0"/>
          </a:p>
          <a:p>
            <a:pPr indent="0" marL="0">
              <a:lnSpc>
                <a:spcPct val="112000"/>
              </a:lnSpc>
              <a:buNone/>
            </a:pPr>
            <a:r>
              <a:rPr lang="en-US" sz="1150" dirty="0">
                <a:solidFill>
                  <a:srgbClr val="46545F"/>
                </a:solidFill>
                <a:latin typeface="Calibri" pitchFamily="34" charset="0"/>
                <a:ea typeface="Calibri" pitchFamily="34" charset="-122"/>
                <a:cs typeface="Calibri" pitchFamily="34" charset="-120"/>
              </a:rPr>
              <a:t>Refined an approach you want repeated? Package it. Quality depends on reference material? Package it with the material.</a:t>
            </a:r>
            <a:endParaRPr lang="en-US" sz="1150" dirty="0"/>
          </a:p>
        </p:txBody>
      </p:sp>
      <p:sp>
        <p:nvSpPr>
          <p:cNvPr id="24" name="Shape 17"/>
          <p:cNvSpPr/>
          <p:nvPr/>
        </p:nvSpPr>
        <p:spPr>
          <a:xfrm>
            <a:off x="7086600" y="4480560"/>
            <a:ext cx="4572000" cy="1554480"/>
          </a:xfrm>
          <a:prstGeom prst="roundRect">
            <a:avLst>
              <a:gd name="adj" fmla="val 4706"/>
            </a:avLst>
          </a:prstGeom>
          <a:solidFill>
            <a:srgbClr val="F2F5F6"/>
          </a:solidFill>
          <a:ln/>
        </p:spPr>
      </p:sp>
      <p:sp>
        <p:nvSpPr>
          <p:cNvPr id="25" name="Text 18"/>
          <p:cNvSpPr/>
          <p:nvPr/>
        </p:nvSpPr>
        <p:spPr>
          <a:xfrm>
            <a:off x="7333488" y="4645152"/>
            <a:ext cx="4114800" cy="128016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232A31"/>
                </a:solidFill>
                <a:latin typeface="Calibri" pitchFamily="34" charset="0"/>
                <a:ea typeface="Calibri" pitchFamily="34" charset="-122"/>
                <a:cs typeface="Calibri" pitchFamily="34" charset="-120"/>
              </a:rPr>
              <a:t>A familiar discipline: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a prompt library is run like controlled work instructions — a name, an owner, a revision, a review date. Same muscle, lighter weight.</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3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3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3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3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The team library database: name · purpose · template · owner · version + change note · models tested · last tested · example output · status</a:t>
            </a:r>
            <a:endParaRPr lang="en-US" sz="103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30" dirty="0">
                <a:solidFill>
                  <a:srgbClr val="46545F"/>
                </a:solidFill>
                <a:latin typeface="Calibri" pitchFamily="34" charset="0"/>
                <a:ea typeface="Calibri" pitchFamily="34" charset="-122"/>
                <a:cs typeface="Calibri" pitchFamily="34" charset="-120"/>
              </a:rPr>
              <a:t>CLAUDE.md / AGENTS.md at the root · briefs and skills in versioned folders · reviewed like code — this training’s repo is the worked example</a:t>
            </a:r>
            <a:endParaRPr lang="en-US" sz="1030" dirty="0"/>
          </a:p>
        </p:txBody>
      </p:sp>
      <p:sp>
        <p:nvSpPr>
          <p:cNvPr id="24" name="Shape 22"/>
          <p:cNvSpPr/>
          <p:nvPr/>
        </p:nvSpPr>
        <p:spPr>
          <a:xfrm>
            <a:off x="502920" y="6080760"/>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117336"/>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217188"/>
            <a:ext cx="184343" cy="184343"/>
          </a:xfrm>
          <a:prstGeom prst="rect">
            <a:avLst/>
          </a:prstGeom>
        </p:spPr>
      </p:pic>
      <p:sp>
        <p:nvSpPr>
          <p:cNvPr id="27" name="Text 24"/>
          <p:cNvSpPr/>
          <p:nvPr/>
        </p:nvSpPr>
        <p:spPr>
          <a:xfrm>
            <a:off x="1216152" y="6153912"/>
            <a:ext cx="10213848" cy="310896"/>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Test on 3–5 real cases (one edge case) before marking approved; re-test after model changes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98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Anatomy beats inspiration: Role · Task · Context · Format · Examples. Every vendor teaches the same recipe.</a:t>
            </a:r>
            <a:endParaRPr lang="en-US" sz="98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The context window is a desk, not a filing cabinet: long documents at the top, question at the end, fresh chat per topic.</a:t>
            </a:r>
            <a:endParaRPr lang="en-US" sz="98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98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98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98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98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 rules.</a:t>
            </a:r>
            <a:endParaRPr lang="en-US" sz="98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Gates catch errors at the cheapest point: definitions before data, reconciliation before analysis, headlines before rendering.</a:t>
            </a:r>
            <a:endParaRPr lang="en-US" sz="98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98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98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1115568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618488"/>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1 · Anatomy rebuild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prompt you actually used last week. Rebuild it with the five-block anatomy (G-templates as reference). Run both versions; compare outputs side by side. Then ask the model to improve your rebuilt prompt — metaprompting — and run that too.</a:t>
            </a:r>
            <a:endParaRPr lang="en-US" sz="1350" dirty="0"/>
          </a:p>
        </p:txBody>
      </p:sp>
      <p:sp>
        <p:nvSpPr>
          <p:cNvPr id="10" name="Text 7"/>
          <p:cNvSpPr/>
          <p:nvPr/>
        </p:nvSpPr>
        <p:spPr>
          <a:xfrm>
            <a:off x="9052560" y="1618488"/>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000" dirty="0"/>
          </a:p>
        </p:txBody>
      </p:sp>
      <p:sp>
        <p:nvSpPr>
          <p:cNvPr id="11" name="Shape 8"/>
          <p:cNvSpPr/>
          <p:nvPr/>
        </p:nvSpPr>
        <p:spPr>
          <a:xfrm>
            <a:off x="502920" y="3044952"/>
            <a:ext cx="11155680" cy="1389888"/>
          </a:xfrm>
          <a:prstGeom prst="roundRect">
            <a:avLst>
              <a:gd name="adj" fmla="val 5263"/>
            </a:avLst>
          </a:prstGeom>
          <a:solidFill>
            <a:srgbClr val="F2F5F6"/>
          </a:solidFill>
          <a:ln/>
        </p:spPr>
      </p:sp>
      <p:sp>
        <p:nvSpPr>
          <p:cNvPr id="12" name="Shape 9"/>
          <p:cNvSpPr/>
          <p:nvPr/>
        </p:nvSpPr>
        <p:spPr>
          <a:xfrm>
            <a:off x="777240" y="3447288"/>
            <a:ext cx="548640" cy="548640"/>
          </a:xfrm>
          <a:prstGeom prst="ellipse">
            <a:avLst/>
          </a:prstGeom>
          <a:solidFill>
            <a:srgbClr val="0E7C7B"/>
          </a:solidFill>
          <a:ln/>
        </p:spPr>
      </p:sp>
      <p:pic>
        <p:nvPicPr>
          <p:cNvPr id="13"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4" name="Text 10"/>
          <p:cNvSpPr/>
          <p:nvPr/>
        </p:nvSpPr>
        <p:spPr>
          <a:xfrm>
            <a:off x="1508760" y="3154680"/>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2 · Blind review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Take a document or plan you own. Paste it as “a colleague’s draft” and run G3’s critique template: case against, three weakest points, what evidence would change the verdict. Do NOT hint at your view.</a:t>
            </a:r>
            <a:endParaRPr lang="en-US" sz="1350" dirty="0"/>
          </a:p>
        </p:txBody>
      </p:sp>
      <p:sp>
        <p:nvSpPr>
          <p:cNvPr id="15" name="Text 11"/>
          <p:cNvSpPr/>
          <p:nvPr/>
        </p:nvSpPr>
        <p:spPr>
          <a:xfrm>
            <a:off x="9052560" y="3154680"/>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000" dirty="0"/>
          </a:p>
        </p:txBody>
      </p:sp>
      <p:sp>
        <p:nvSpPr>
          <p:cNvPr id="16" name="Shape 12"/>
          <p:cNvSpPr/>
          <p:nvPr/>
        </p:nvSpPr>
        <p:spPr>
          <a:xfrm>
            <a:off x="502920" y="4581144"/>
            <a:ext cx="11155680" cy="1389888"/>
          </a:xfrm>
          <a:prstGeom prst="roundRect">
            <a:avLst>
              <a:gd name="adj" fmla="val 5263"/>
            </a:avLst>
          </a:prstGeom>
          <a:solidFill>
            <a:srgbClr val="F2F5F6"/>
          </a:solidFill>
          <a:ln/>
        </p:spPr>
      </p:sp>
      <p:sp>
        <p:nvSpPr>
          <p:cNvPr id="17" name="Shape 13"/>
          <p:cNvSpPr/>
          <p:nvPr/>
        </p:nvSpPr>
        <p:spPr>
          <a:xfrm>
            <a:off x="777240" y="4983480"/>
            <a:ext cx="548640" cy="548640"/>
          </a:xfrm>
          <a:prstGeom prst="ellipse">
            <a:avLst/>
          </a:prstGeom>
          <a:solidFill>
            <a:srgbClr val="0E7C7B"/>
          </a:solidFill>
          <a:ln/>
        </p:spPr>
      </p:sp>
      <p:pic>
        <p:nvPicPr>
          <p:cNvPr id="18"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9" name="Text 14"/>
          <p:cNvSpPr/>
          <p:nvPr/>
        </p:nvSpPr>
        <p:spPr>
          <a:xfrm>
            <a:off x="1508760" y="4690872"/>
            <a:ext cx="7406640" cy="1188720"/>
          </a:xfrm>
          <a:prstGeom prst="rect">
            <a:avLst/>
          </a:prstGeom>
          <a:noFill/>
          <a:ln/>
        </p:spPr>
        <p:txBody>
          <a:bodyPr wrap="square" lIns="0" tIns="0" rIns="0" bIns="0" rtlCol="0" anchor="ctr"/>
          <a:lstStyle/>
          <a:p>
            <a:pPr indent="0" marL="0">
              <a:lnSpc>
                <a:spcPct val="107000"/>
              </a:lnSpc>
              <a:spcAft>
                <a:spcPts val="300"/>
              </a:spcAft>
              <a:buNone/>
            </a:pPr>
            <a:r>
              <a:rPr lang="en-US" sz="1350" b="1" dirty="0">
                <a:solidFill>
                  <a:srgbClr val="232A31"/>
                </a:solidFill>
                <a:latin typeface="Calibri" pitchFamily="34" charset="0"/>
                <a:ea typeface="Calibri" pitchFamily="34" charset="-122"/>
                <a:cs typeface="Calibri" pitchFamily="34" charset="-120"/>
              </a:rPr>
              <a:t>Exercise 3 · First mission brief  </a:t>
            </a:r>
            <a:endParaRPr lang="en-US" sz="1350" dirty="0"/>
          </a:p>
          <a:p>
            <a:pPr indent="0" marL="0">
              <a:lnSpc>
                <a:spcPct val="107000"/>
              </a:lnSpc>
              <a:buNone/>
            </a:pPr>
            <a:r>
              <a:rPr lang="en-US" sz="110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You don’t need an agent to run it today: writing the brief is the skill.</a:t>
            </a:r>
            <a:endParaRPr lang="en-US" sz="1350" dirty="0"/>
          </a:p>
        </p:txBody>
      </p:sp>
      <p:sp>
        <p:nvSpPr>
          <p:cNvPr id="20" name="Text 15"/>
          <p:cNvSpPr/>
          <p:nvPr/>
        </p:nvSpPr>
        <p:spPr>
          <a:xfrm>
            <a:off x="9052560" y="4690872"/>
            <a:ext cx="2468880" cy="1188720"/>
          </a:xfrm>
          <a:prstGeom prst="rect">
            <a:avLst/>
          </a:prstGeom>
          <a:noFill/>
          <a:ln/>
        </p:spPr>
        <p:txBody>
          <a:bodyPr wrap="square" lIns="0" tIns="0" rIns="0" bIns="0" rtlCol="0" anchor="ctr"/>
          <a:lstStyle/>
          <a:p>
            <a:pPr indent="0" marL="0">
              <a:lnSpc>
                <a:spcPct val="108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nineteen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05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05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05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05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05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05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05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05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05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teaching by 3–5 examples in the prompt</a:t>
            </a:r>
            <a:endParaRPr lang="en-US" sz="105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05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asking the model to critique or rewrite your prompt</a:t>
            </a:r>
            <a:endParaRPr lang="en-US" sz="105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05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05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05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05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05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05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05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element → attribute → option catalog behind the Template Creator — your parts list for prompts</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Identity &amp; role</a:t>
            </a:r>
            <a:endParaRPr lang="en-US" sz="93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88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Zheng 2024 · Salewski 2023</a:t>
            </a:r>
            <a:endParaRPr lang="en-US" sz="82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Behavioral rules</a:t>
            </a:r>
            <a:endParaRPr lang="en-US" sz="93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88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hallucination docs</a:t>
            </a:r>
            <a:endParaRPr lang="en-US" sz="82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Stance &amp; blinding</a:t>
            </a:r>
            <a:endParaRPr lang="en-US" sz="93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88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Cheng, Science 2026 · Sharma 2023</a:t>
            </a:r>
            <a:endParaRPr lang="en-US" sz="82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Task verb &amp; question</a:t>
            </a:r>
            <a:endParaRPr lang="en-US" sz="93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88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Google guide · OpenAI GPT-5 guide</a:t>
            </a:r>
            <a:endParaRPr lang="en-US" sz="82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Purpose — the why</a:t>
            </a:r>
            <a:endParaRPr lang="en-US" sz="93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88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best practices</a:t>
            </a:r>
            <a:endParaRPr lang="en-US" sz="82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Context &amp; glossary</a:t>
            </a:r>
            <a:endParaRPr lang="en-US" sz="93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88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2025, why LMs hallucinate</a:t>
            </a:r>
            <a:endParaRPr lang="en-US" sz="82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Material placement</a:t>
            </a:r>
            <a:endParaRPr lang="en-US" sz="93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88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long-context · Liu 2023</a:t>
            </a:r>
            <a:endParaRPr lang="en-US" sz="82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Format &amp; length</a:t>
            </a:r>
            <a:endParaRPr lang="en-US" sz="93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88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Sclar, ICLR 2024</a:t>
            </a:r>
            <a:endParaRPr lang="en-US" sz="82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Examples</a:t>
            </a:r>
            <a:endParaRPr lang="en-US" sz="93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model imitates format, tone, AND edge-case behavior; exemplar choice and order alone can swing accuracy from chance to 90%+. Zero-shot first on thinking models.</a:t>
            </a:r>
            <a:endParaRPr lang="en-US" sz="88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Brown 2020 · Lu 2021 · DeepSeek-R1</a:t>
            </a:r>
            <a:endParaRPr lang="en-US" sz="82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The Out &amp; the Stop</a:t>
            </a:r>
            <a:endParaRPr lang="en-US" sz="93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88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docs · OpenAI 2025</a:t>
            </a:r>
            <a:endParaRPr lang="en-US" sz="82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Posture &amp; standing rules</a:t>
            </a:r>
            <a:endParaRPr lang="en-US" sz="93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88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harness guidance</a:t>
            </a:r>
            <a:endParaRPr lang="en-US" sz="82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Done + verifiable-by</a:t>
            </a:r>
            <a:endParaRPr lang="en-US" sz="93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88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memory-tool (verbatim)</a:t>
            </a:r>
            <a:endParaRPr lang="en-US" sz="82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Environment boundaries</a:t>
            </a:r>
            <a:endParaRPr lang="en-US" sz="93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88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Claude Code protected paths</a:t>
            </a:r>
            <a:endParaRPr lang="en-US" sz="82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Least-privilege tools</a:t>
            </a:r>
            <a:endParaRPr lang="en-US" sz="93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88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practical guide · NCSC</a:t>
            </a:r>
            <a:endParaRPr lang="en-US" sz="82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Input register &amp; trust</a:t>
            </a:r>
            <a:endParaRPr lang="en-US" sz="93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88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pipeline/register discipline</a:t>
            </a:r>
            <a:endParaRPr lang="en-US" sz="82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Plan steps &amp; methods</a:t>
            </a:r>
            <a:endParaRPr lang="en-US" sz="93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88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chaining · Faith &amp; Fate 2023</a:t>
            </a:r>
            <a:endParaRPr lang="en-US" sz="82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Checks: anchor · hard · soft</a:t>
            </a:r>
            <a:endParaRPr lang="en-US" sz="93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88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Agent SDK</a:t>
            </a:r>
            <a:endParaRPr lang="en-US" sz="82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Gates &amp; autonomy</a:t>
            </a:r>
            <a:endParaRPr lang="en-US" sz="93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88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OpenAI guide · Feng et al. 2025</a:t>
            </a:r>
            <a:endParaRPr lang="en-US" sz="82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Logs &amp; reproducibility</a:t>
            </a:r>
            <a:endParaRPr lang="en-US" sz="93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88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Anthropic harness guidance</a:t>
            </a:r>
            <a:endParaRPr lang="en-US" sz="82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930" b="1" dirty="0">
                <a:solidFill>
                  <a:srgbClr val="232A31"/>
                </a:solidFill>
                <a:latin typeface="Calibri" pitchFamily="34" charset="0"/>
                <a:ea typeface="Calibri" pitchFamily="34" charset="-122"/>
                <a:cs typeface="Calibri" pitchFamily="34" charset="-120"/>
              </a:rPr>
              <a:t>Report shape &amp; discipline</a:t>
            </a:r>
            <a:endParaRPr lang="en-US" sz="93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88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88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820" i="1" dirty="0">
                <a:solidFill>
                  <a:srgbClr val="7A8790"/>
                </a:solidFill>
                <a:latin typeface="Calibri" pitchFamily="34" charset="0"/>
                <a:ea typeface="Calibri" pitchFamily="34" charset="-122"/>
                <a:cs typeface="Calibri" pitchFamily="34" charset="-120"/>
              </a:rPr>
              <a:t>SDK status enums · harness docs</a:t>
            </a:r>
            <a:endParaRPr lang="en-US" sz="82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Anthropic — Prompting best practices; long-context tips; reduce-hallucinations; Building Effective Agents; Claude Code best practices; context engineering</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Google — Gemini for Workspace prompting guides (Persona-Task-Context-Format)</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Microsoft — Copilot prompt guidance (Goal-Context-Source-Expectations); Copilot agents docs</a:t>
            </a:r>
            <a:endParaRPr lang="en-US" sz="9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9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OWASP LLM Top 10 (2025) · UK NCSC agentic-AI guidance · Cisco AI Defense (skills audit) · Harmonic Security (shadow-AI prompts)</a:t>
            </a:r>
            <a:endParaRPr lang="en-US" sz="900" dirty="0"/>
          </a:p>
          <a:p>
            <a:pPr algn="l" marL="127000" indent="-127000">
              <a:lnSpc>
                <a:spcPct val="104000"/>
              </a:lnSpc>
              <a:spcAft>
                <a:spcPts val="700"/>
              </a:spcAft>
              <a:buSzPct val="100000"/>
              <a:buChar char="•"/>
            </a:pPr>
            <a:r>
              <a:rPr lang="en-US" sz="900" dirty="0">
                <a:solidFill>
                  <a:srgbClr val="46545F"/>
                </a:solidFill>
                <a:latin typeface="Calibri" pitchFamily="34" charset="0"/>
                <a:ea typeface="Calibri" pitchFamily="34" charset="-122"/>
                <a:cs typeface="Calibri" pitchFamily="34" charset="-120"/>
              </a:rPr>
              <a:t>Vendor launch posts &amp; major-outlet reporting (Reuters, CNBC, TechCrunch, Bloomberg) for all product dates</a:t>
            </a:r>
            <a:endParaRPr lang="en-US" sz="9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Mollick — Co-Intelligence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working-with-AI mindset book; read first</a:t>
            </a:r>
            <a:endParaRPr lang="en-US" sz="105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Kneusel — How AI Works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concepts of Part 1, gently and rigorously</a:t>
            </a:r>
            <a:endParaRPr lang="en-US" sz="105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the five principles, applied — closest to Parts 3–4</a:t>
            </a:r>
            <a:endParaRPr lang="en-US" sz="105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05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Huyen — AI Engineering (O’Reilly 2025)</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RAG, agents, evaluation — the engineering behind Part 5</a:t>
            </a:r>
            <a:endParaRPr lang="en-US" sz="105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05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050" dirty="0"/>
          </a:p>
          <a:p>
            <a:pPr indent="0" marL="0">
              <a:lnSpc>
                <a:spcPct val="105000"/>
              </a:lnSpc>
              <a:buNone/>
            </a:pPr>
            <a:r>
              <a:rPr lang="en-US" sz="950" dirty="0">
                <a:solidFill>
                  <a:srgbClr val="46545F"/>
                </a:solidFill>
                <a:latin typeface="Calibri" pitchFamily="34" charset="0"/>
                <a:ea typeface="Calibri" pitchFamily="34" charset="-122"/>
                <a:cs typeface="Calibri" pitchFamily="34" charset="-120"/>
              </a:rPr>
              <a:t>visual internals: tokens, embeddings, transformers</a:t>
            </a:r>
            <a:endParaRPr lang="en-US" sz="105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67</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1051560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sp>
        <p:nvSpPr>
          <p:cNvPr id="5" name="Text 3"/>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2026-09-09T02:39:50Z</dcterms:created>
  <dcterms:modified xsi:type="dcterms:W3CDTF">2026-09-09T02:39:50Z</dcterms:modified>
</cp:coreProperties>
</file>