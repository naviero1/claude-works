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training goes deeper than the general AI onboarding: it is specifically about prompting — the skill — across two modes: generative (AI that talks) and agentic (AI that works). Everything is dated August 2026 because this field moves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this is a craft course, not a product demo. The library ships with the training — everything shown is take-home. Stress the two-mode framing early; it recurs on every slide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Runs as one 2-hour session or two 1-hour halves (split after Part 4). Parts 3-5 are the heart; Part 1 earns the vocabulary those parts rely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eras framing is a teaching synthesis — each transition is well documented, but present it as “a useful way to see 70 years,” not official taxonomy. The rules era = writing the SOP yourself; the learning era = deriving the SOP from a thousand examples — that lands with quality engineers. Winters lesson: over-promising causes funding collapse; healthy skepticism is historically 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beats: (1) everything since 2017 is one architecture, scaled; (2) adoption stats end on the tension — everyone chats with AI, almost nobody has industrialized delegation to agents yet. Learning to brief agents well now is a genuine head start. Sources: Reuters/UBS 2023, TechCrunch Feb 2026, Google Aug 2026, Stanford HAI AI Index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“Autocomplete trained on the internet; RLHF is the finishing school.” The right-hand callout is the thesis of the whole course: prompting matters because the prompt is the entire interface. InstructGPT fact worth telling: raters preferred a well-tuned 1.3B model over raw 175B GPT-3 — tuning beat 100x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strawberry-letter-counting failure is famous — explain the mechanism (it never sees letters) so the audience can predict this class of failure, not just memorize one example. Token math preview: it also explains context windows (next slide) and pricing.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desk analogy carries the course. “Lost in the middle” is Liu et al. 2023 (TACL) — U-shaped accuracy by position; still true in modern long-context models for non-literal tasks. The 30% figure is Anthropic’s own long-context guidance. 1M-token standard verified Aug 2026 across Claude Fable/Sonnet 5, GPT-5.6, Gemini 3.1 Pro, DeepSeek V4, Qwen3.8, Kimi K3.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Open-book exam analogy: the student still writes the answer, from pages a librarian fetched — if the librarian pulls rev B instead of rev D, the student confidently cites the wrong page. This is the engine behind internal assistants and Copilot-over-SharePoint. Retrieval ≠ training is the privacy point to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Escalation rule: cheapest and most reversible first. When someone proposes “let’s fine-tune on our procedures,” the first question is: knowledge problem (→RAG) or behavior problem (→maybe fine-tune)? Most enterprise cases are knowledge problems. Frontier flagships mostly aren’t fine-tunable anyway (as of Aug 2026); open-weight models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Reasoning models are what make reliable agents feasible — planning quality is the bottleneck for multi-step work. Note the honest caveat: the model isn’t literally “thinking”; it generates intermediate tokens that improve the final answer. The cost asymmetry surprises people: budget reasoning like you budget an engineer’s deep-work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OpenAI 2025 paper (“Why language models hallucinate”) is a gift for this slide: the vendor itself explains that eval incentives reward guessing. None of the three cures eliminates hallucination — they convert unverifiable claims into verifiable ones. This closes Part 1; Part 2 is the tool landscape.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each, then move — the matrix on slide 19 does the practical work. Names to say: Claude Fable 5 (Jun 2026, current flagship), GPT-5.6 Sol/Terra/Luna (Jul 2026), Gemini 3 family, Copilot now lets you pick Claude inside Office (Researcher, Excel Agent Mode). Grok note: xAI was acquired by SpaceX (Feb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fuel-bill analogy keeps the cost claim honest (SemiAnalysis: total hardware spend &gt;$500M). The Airbnb story teaches both sides: CEO praised Qwen as “fast and cheap” for customer service — then Congress asked questions, and the defense was exactly “self-hosted open weights: we send no data to China.” Which sets up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distinction to hammer: hosted app/API (data to China; what regulators banned) vs self-hosted weights (a file on your GPUs; the Airbnb defense). Both sentences are simultaneously true: “never company data in Chinese consumer apps” AND “IT may evaluate self-hosted weights through governance review.” For this audience: treat open-weight models like SOUP — software of unknown provenance with documented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 appears twice in this training on purpose: it is the tool this deck’s own materials were built with, and the natural home of the agentic templates in Part 5. OpenClaw: created by Peter Steinberger; renamed Clawdbot → Moltbot → OpenClaw after trademark issues; the maintainer’s own warning — “if you can’t run a command line, this is far too dangerous to use safely” — plus CVEs, 135K exposed instances, and a malicious #1-ranked community skill (Cisco).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screenshot-and-keep slide. Walk two rows the audience cares most about (data analysis, presentations) and let the rest be reference. Reinforce the policy caveat verbally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private-test-set habit is the practical takeaway — it converts leaderboard anxiety into a 60-second routine. Sources for the caution: LMArena July 2026 re-baseline; SWE-bench Verified saturation reporting; Artificial Analysis clustering.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frameworks are near-identical: Google calls it Persona-Task-Context-Format; Microsoft Goal-Context-Source-Expectations; Anthropic and OpenAI teach the same elements. The 21-words stat is from Google’s Oct 2024 Workspace guide (dropped in the newer edition — teach as directional, not gospel). Anthropic’s golden rule belongs in the room: show your prompt to a colleague with minimal context — if they’d be confused, the model will be too. Continuity hook: our own library teaches the same skeleton — the internal crash course’s “5 building blocks” (Role, Context, Task, Format, Tone) and CRISP checklist, and Phoenix &amp; Taylor’s Five Principles (Give Direction, Specify Format, Provide Examples, Evaluate Quality, Divide Labor). One anatomy, many aliases.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technique traces to vendor docs and research: examples = Brown et al. 2020 few-shot; the out = Anthropic hallucination guidance; chaining = Anthropic 2026 (“still useful when you need to inspect intermediate outputs”); self-check needs concrete criteria (self-correction research shows “are you sure?” can make answers worse). Metaprompting is now productized: OpenAI Prompt Optimizer, Anthropic prompt improver, Google “Make this a power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worth naming aloud: format brittleness = Sclar et al. ICLR 2024 (up to 76-point swings from formatting alone — the case for tested, versioned templates; think gauge R&amp;R for prompts). Personas = Zheng et al. EMNLP 2024. Tipping = Salinas &amp; Morstatter, ACL 2024. Sycophancy = Cheng et al., Science 2026 (arXiv 2510.01395). The lesson isn’t “AI lies” — it’s “AI mirrors you”; blind it to your preference before asking for judgment.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inoculates against stale advice from 2023-era blog posts. Sources: OpenAI reasoning best practices (“avoid chain-of-thought prompts”, “try zero shot first”), Anthropic prompting best practices 2026 (“prefer general instructions over prescriptive steps”), GPT-5 guide (contradiction cost), DeepSeek-R1 paper (few-shot degrades). Close on the reassurance: the durable 80% is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diagnose-by-element trick makes iteration systematic instead of random retyping. Metaprompting demo idea (live): paste a mediocre prompt, ask the assistant to critique and rewrite it, run both, compare. Bridge: Part 4 is the library of already-iterated templates.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these are starting points to adapt, not scripts. Generative templates (G) run in any chat assistant; agentic templates (A, in teal) are for Claude Code / Cowork-class tools — Part 5 explains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one row at a time; the right column is the teaching. Evidence for code-not-vibes: GPT-4 scored ~59% on 3-digit x 3-digit multiplication, falling toward zero as digits grow (Faith and Fate, NeurIPS 2023) — code execution hands the model a calculator. All four major tools now run code for analysis. This anatomy generalizes: every template is blocks + reasons. For recurring or multi-file pipelines, the agentic sibling is A2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edits-beat-drafts point is backed by OpenAI/NBER usage data: writing ≈ 40% of work messages, and about two-thirds of those are edits of user text, not new drafting. Length caps and the no-new-facts rule address the two most common AI-writing complaints.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LLM-as-judge research: GPT-4-class judges reached &gt;80% agreement with human preferences — the same as human-human agreement (Zheng et al., MT-Bench, NeurIPS 2023); biases (position, verbosity, self-preference) are from the same paper. 2026 caution: a judge can be highly repeatable and still biased — a consistent judge is not necessarily a fair judge. G3 mitigates mechanically: rubric anchors, quotes as evidence, independent-then-compare, blinding. Use cases in the room: supplier proposals, SOP drafts, report QC. Screening inspection, not final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templates encode the same philosophy: specification beats hope. Message titles are evidence-backed: assertion-evidence slides (sentence headline + visual evidence) measurably beat topic-title + bullets for comprehension and recall (Penn State, Alley et al., p&lt;.01). Trust calibration for sheets: Microsoft itself reports Excel Agent Mode at 57.2% vs a ~71% human baseline on real spreadsheet tasks — a strong intern, not a signed-off spreadsheet. The text-before-render gate bridges to agentic gates in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G6 is the sleeper hit for engineers: a self-contained dashboard or calculator colleagues can open anywhere, no install, no server, auditable formulas. The constraint “single file, offline” is what makes it safe and shareable. G7 formalizes the verification habit for research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framing is vendor-verbatim (Anthropic Agent SDK: gather context → take action → verify work → repeat). Distinguish agents from scripted automation: scripts break when reality varies; agents read the result and adjust. MCP numbers as of Jul 2026 per the MCP project blog.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slow down on. The agentic column is a superset: everything from Part 3 still applies — the additions exist because actions, unlike text, have consequences. The contractor analogy is our framing, but rests directly on OpenAI’s “on your behalf” definition and Anthropic’s guidance that specs name files, scope, and end-to-end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read all twelve — pick three: &lt;checks&gt; (the run can fail loudly instead of finishing wrong), &lt;process&gt; gates (errors caught at the cheap end), &lt;reporting&gt; (a status you read in 30 seconds). The full annotated template with a fill-in guide is prompt-library/agentic/A1; A2 is the complete worked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ETL→Presentation template (A2) in the library — a real, reusable prompt for any “take data, make it trustworthy, put the answer in front of people” job. The three gates catch the three error classes in ascending cost: definition errors, data errors, message errors. Autonomy rules stop the agent from asking about everything or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injection slide-within-a-slide: “lethal trifecta” = private data + untrusted content + external communication (Willison, 2025) — remove any one and exfiltration paths close.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agentic prompting pays compound interest: recurring reports, cycles, reviews become ten-line prompts against a versioned standing brief. AGENTS.md is the cross-vendor equivalent (60k+ open-source projects use it; governed by the Linux Foundation’s Agentic AI Foundation). Bridge to Part 6: the standing brief IS a managed prompt — so let’s talk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ladder maps effort to value: most people should live at rungs 2–3 within a month. Rung 4 is where consistency stops depending on people remembering; rung 5 is where the agentic briefs from Part 5 live. The SOP analogy is a process analogy — don’t imply regulatory equivalence.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 The library-fields row is the practical takeaway for teams without any of these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governance card matters most in this room: prompts are documents. The {{placeholder}} rule is doing double duty — reuse AND keeping sensitive values out of stored text. Market-churn example if asked: Humanloop (early leader) shut down Sept 2025 when Anthropic hired the team; the practice survived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them slowly; this is the slide people photograph. Each maps back to a part: 1–2 anatomy, 3–5 concepts, 6–7 evidence, 8–9 agentic, 10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exercise 1 live in the session if time allows — pick a volunteer’s real prompt. Exercises 2 and 3 work as homework with a share-back next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Print-friendly reference. All sixteen were used in context during the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auditability: nothing in the deck is vibes. If someone challenges a number, the notes folder has the URL and the date it was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six books are real and in print — most are in the team’s shared library already. Reading order: Mollick for mindset, Phoenix &amp; Taylor for craft, Huyen when you’re building agents seriously.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connecting to the previous training’s habit line: draft with AI, decide with judgment — now extended with: delegate with a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1.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slideLayout" Target="../slideLayouts/slideLayout1.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slideLayout" Target="../slideLayouts/slideLayout1.xml"/><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502920" y="914400"/>
            <a:ext cx="7315200" cy="320040"/>
          </a:xfrm>
          <a:prstGeom prst="rect">
            <a:avLst/>
          </a:prstGeom>
          <a:noFill/>
          <a:ln/>
        </p:spPr>
        <p:txBody>
          <a:bodyPr wrap="square" lIns="0" tIns="0" rIns="0" bIns="0" rtlCol="0" anchor="ctr"/>
          <a:lstStyle/>
          <a:p>
            <a:pPr indent="0" marL="0">
              <a:buNone/>
            </a:pPr>
            <a:r>
              <a:rPr lang="en-US" sz="1300" b="1" spc="300" kern="0" dirty="0">
                <a:solidFill>
                  <a:srgbClr val="5FB8B0"/>
                </a:solidFill>
                <a:latin typeface="Calibri" pitchFamily="34" charset="0"/>
                <a:ea typeface="Calibri" pitchFamily="34" charset="-122"/>
                <a:cs typeface="Calibri" pitchFamily="34" charset="-120"/>
              </a:rPr>
              <a:t>EMPLOYEE TRAINING · AUGUST 2026</a:t>
            </a:r>
            <a:endParaRPr lang="en-US" sz="1300" dirty="0"/>
          </a:p>
        </p:txBody>
      </p:sp>
      <p:sp>
        <p:nvSpPr>
          <p:cNvPr id="3" name="Text 1"/>
          <p:cNvSpPr/>
          <p:nvPr/>
        </p:nvSpPr>
        <p:spPr>
          <a:xfrm>
            <a:off x="502920" y="1280160"/>
            <a:ext cx="11155680" cy="960120"/>
          </a:xfrm>
          <a:prstGeom prst="rect">
            <a:avLst/>
          </a:prstGeom>
          <a:noFill/>
          <a:ln/>
        </p:spPr>
        <p:txBody>
          <a:bodyPr wrap="square" lIns="0" tIns="0" rIns="0" bIns="0" rtlCol="0" anchor="ctr"/>
          <a:lstStyle/>
          <a:p>
            <a:pPr indent="0" marL="0">
              <a:buNone/>
            </a:pPr>
            <a:r>
              <a:rPr lang="en-US" sz="5400" b="1" dirty="0">
                <a:solidFill>
                  <a:srgbClr val="ECF2F4"/>
                </a:solidFill>
                <a:latin typeface="Cambria" pitchFamily="34" charset="0"/>
                <a:ea typeface="Cambria" pitchFamily="34" charset="-122"/>
                <a:cs typeface="Cambria" pitchFamily="34" charset="-120"/>
              </a:rPr>
              <a:t>From Prompts to Agents</a:t>
            </a:r>
            <a:endParaRPr lang="en-US" sz="5400" dirty="0"/>
          </a:p>
        </p:txBody>
      </p:sp>
      <p:sp>
        <p:nvSpPr>
          <p:cNvPr id="4" name="Text 2"/>
          <p:cNvSpPr/>
          <p:nvPr/>
        </p:nvSpPr>
        <p:spPr>
          <a:xfrm>
            <a:off x="502920" y="2331720"/>
            <a:ext cx="9601200" cy="777240"/>
          </a:xfrm>
          <a:prstGeom prst="rect">
            <a:avLst/>
          </a:prstGeom>
          <a:noFill/>
          <a:ln/>
        </p:spPr>
        <p:txBody>
          <a:bodyPr wrap="square" lIns="0" tIns="0" rIns="0" bIns="0" rtlCol="0" anchor="ctr"/>
          <a:lstStyle/>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 focused course on prompt engineering — for generative AI you talk to,</a:t>
            </a:r>
            <a:endParaRPr lang="en-US" sz="1600" dirty="0"/>
          </a:p>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and agentic AI you delegate to.</a:t>
            </a:r>
            <a:endParaRPr lang="en-US" sz="1600" dirty="0"/>
          </a:p>
        </p:txBody>
      </p:sp>
      <p:sp>
        <p:nvSpPr>
          <p:cNvPr id="5" name="Shape 3"/>
          <p:cNvSpPr/>
          <p:nvPr/>
        </p:nvSpPr>
        <p:spPr>
          <a:xfrm>
            <a:off x="502920" y="3520440"/>
            <a:ext cx="3611880" cy="1600200"/>
          </a:xfrm>
          <a:prstGeom prst="roundRect">
            <a:avLst>
              <a:gd name="adj" fmla="val 4571"/>
            </a:avLst>
          </a:prstGeom>
          <a:solidFill>
            <a:srgbClr val="2A3842"/>
          </a:solidFill>
          <a:ln/>
        </p:spPr>
      </p:sp>
      <p:sp>
        <p:nvSpPr>
          <p:cNvPr id="6" name="Text 4"/>
          <p:cNvSpPr/>
          <p:nvPr/>
        </p:nvSpPr>
        <p:spPr>
          <a:xfrm>
            <a:off x="758952"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PRIMER</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History &amp; core concepts</a:t>
            </a:r>
            <a:endParaRPr lang="en-US" sz="1200" dirty="0"/>
          </a:p>
          <a:p>
            <a:pPr indent="0" marL="0">
              <a:lnSpc>
                <a:spcPct val="105000"/>
              </a:lnSpc>
              <a:buNone/>
            </a:pPr>
            <a:r>
              <a:rPr lang="en-US" sz="1000" dirty="0">
                <a:solidFill>
                  <a:srgbClr val="A9BBC4"/>
                </a:solidFill>
                <a:latin typeface="Calibri" pitchFamily="34" charset="0"/>
                <a:ea typeface="Calibri" pitchFamily="34" charset="-122"/>
                <a:cs typeface="Calibri" pitchFamily="34" charset="-120"/>
              </a:rPr>
              <a:t>four eras of AI · tokens · context windows · RAG · reasoning models · hallucination</a:t>
            </a:r>
            <a:endParaRPr lang="en-US" sz="1200" dirty="0"/>
          </a:p>
        </p:txBody>
      </p:sp>
      <p:sp>
        <p:nvSpPr>
          <p:cNvPr id="7" name="Shape 5"/>
          <p:cNvSpPr/>
          <p:nvPr/>
        </p:nvSpPr>
        <p:spPr>
          <a:xfrm>
            <a:off x="4325112" y="3520440"/>
            <a:ext cx="3611880" cy="1600200"/>
          </a:xfrm>
          <a:prstGeom prst="roundRect">
            <a:avLst>
              <a:gd name="adj" fmla="val 4571"/>
            </a:avLst>
          </a:prstGeom>
          <a:solidFill>
            <a:srgbClr val="2A3842"/>
          </a:solidFill>
          <a:ln/>
        </p:spPr>
      </p:sp>
      <p:sp>
        <p:nvSpPr>
          <p:cNvPr id="8" name="Text 6"/>
          <p:cNvSpPr/>
          <p:nvPr/>
        </p:nvSpPr>
        <p:spPr>
          <a:xfrm>
            <a:off x="4581144"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CRAFT</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Prompt engineering</a:t>
            </a:r>
            <a:endParaRPr lang="en-US" sz="1200" dirty="0"/>
          </a:p>
          <a:p>
            <a:pPr indent="0" marL="0">
              <a:lnSpc>
                <a:spcPct val="105000"/>
              </a:lnSpc>
              <a:buNone/>
            </a:pPr>
            <a:r>
              <a:rPr lang="en-US" sz="1000" dirty="0">
                <a:solidFill>
                  <a:srgbClr val="A9BBC4"/>
                </a:solidFill>
                <a:latin typeface="Calibri" pitchFamily="34" charset="0"/>
                <a:ea typeface="Calibri" pitchFamily="34" charset="-122"/>
                <a:cs typeface="Calibri" pitchFamily="34" charset="-120"/>
              </a:rPr>
              <a:t>the universal anatomy · seven techniques · what the evidence says · a template playbook</a:t>
            </a:r>
            <a:endParaRPr lang="en-US" sz="1200" dirty="0"/>
          </a:p>
        </p:txBody>
      </p:sp>
      <p:sp>
        <p:nvSpPr>
          <p:cNvPr id="9" name="Shape 7"/>
          <p:cNvSpPr/>
          <p:nvPr/>
        </p:nvSpPr>
        <p:spPr>
          <a:xfrm>
            <a:off x="8147304" y="3520440"/>
            <a:ext cx="3611880" cy="1600200"/>
          </a:xfrm>
          <a:prstGeom prst="roundRect">
            <a:avLst>
              <a:gd name="adj" fmla="val 4571"/>
            </a:avLst>
          </a:prstGeom>
          <a:solidFill>
            <a:srgbClr val="2A3842"/>
          </a:solidFill>
          <a:ln/>
        </p:spPr>
      </p:sp>
      <p:sp>
        <p:nvSpPr>
          <p:cNvPr id="10" name="Text 8"/>
          <p:cNvSpPr/>
          <p:nvPr/>
        </p:nvSpPr>
        <p:spPr>
          <a:xfrm>
            <a:off x="8403336"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LEAP</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Agentic AI</a:t>
            </a:r>
            <a:endParaRPr lang="en-US" sz="1200" dirty="0"/>
          </a:p>
          <a:p>
            <a:pPr indent="0" marL="0">
              <a:lnSpc>
                <a:spcPct val="105000"/>
              </a:lnSpc>
              <a:buNone/>
            </a:pPr>
            <a:r>
              <a:rPr lang="en-US" sz="1000" dirty="0">
                <a:solidFill>
                  <a:srgbClr val="A9BBC4"/>
                </a:solidFill>
                <a:latin typeface="Calibri" pitchFamily="34" charset="0"/>
                <a:ea typeface="Calibri" pitchFamily="34" charset="-122"/>
                <a:cs typeface="Calibri" pitchFamily="34" charset="-120"/>
              </a:rPr>
              <a:t>tools &amp; models worth knowing · mission briefs · guardrails · managing your prompt library</a:t>
            </a:r>
            <a:endParaRPr lang="en-US" sz="1200" dirty="0"/>
          </a:p>
        </p:txBody>
      </p:sp>
      <p:sp>
        <p:nvSpPr>
          <p:cNvPr id="11" name="Text 9"/>
          <p:cNvSpPr/>
          <p:nvPr/>
        </p:nvSpPr>
        <p:spPr>
          <a:xfrm>
            <a:off x="502920" y="5760720"/>
            <a:ext cx="11155680" cy="365760"/>
          </a:xfrm>
          <a:prstGeom prst="rect">
            <a:avLst/>
          </a:prstGeom>
          <a:noFill/>
          <a:ln/>
        </p:spPr>
        <p:txBody>
          <a:bodyPr wrap="square" lIns="0" tIns="0" rIns="0" bIns="0" rtlCol="0" anchor="ctr"/>
          <a:lstStyle/>
          <a:p>
            <a:pPr indent="0" marL="0">
              <a:buNone/>
            </a:pPr>
            <a:r>
              <a:rPr lang="en-US" sz="1050" i="1" dirty="0">
                <a:solidFill>
                  <a:srgbClr val="A9BBC4"/>
                </a:solidFill>
                <a:latin typeface="Calibri" pitchFamily="34" charset="0"/>
                <a:ea typeface="Calibri" pitchFamily="34" charset="-122"/>
                <a:cs typeface="Calibri" pitchFamily="34" charset="-120"/>
              </a:rPr>
              <a:t>Companion to “Working Smart with AI.” All examples are generic — no internal document names or confidential data appear anywhere.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WELCOME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WELCOME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skill, two modes — and a library you keep</a:t>
            </a:r>
            <a:endParaRPr lang="en-US" sz="3000" dirty="0"/>
          </a:p>
        </p:txBody>
      </p:sp>
      <p:sp>
        <p:nvSpPr>
          <p:cNvPr id="6" name="Text 4"/>
          <p:cNvSpPr/>
          <p:nvPr/>
        </p:nvSpPr>
        <p:spPr>
          <a:xfrm>
            <a:off x="502920" y="1554480"/>
            <a:ext cx="5577840" cy="2377440"/>
          </a:xfrm>
          <a:prstGeom prst="rect">
            <a:avLst/>
          </a:prstGeom>
          <a:noFill/>
          <a:ln/>
        </p:spPr>
        <p:txBody>
          <a:bodyPr wrap="square" lIns="0" tIns="0" rIns="0" bIns="0" rtlCol="0" anchor="t"/>
          <a:lstStyle/>
          <a:p>
            <a:pPr algn="l" marL="127000" indent="-127000">
              <a:lnSpc>
                <a:spcPct val="104000"/>
              </a:lnSpc>
              <a:spcAft>
                <a:spcPts val="1000"/>
              </a:spcAft>
              <a:buSzPct val="100000"/>
              <a:buChar char="•"/>
            </a:pPr>
            <a:r>
              <a:rPr lang="en-US" sz="1300" b="1" dirty="0">
                <a:solidFill>
                  <a:srgbClr val="46545F"/>
                </a:solidFill>
                <a:latin typeface="Calibri" pitchFamily="34" charset="0"/>
                <a:ea typeface="Calibri" pitchFamily="34" charset="-122"/>
                <a:cs typeface="Calibri" pitchFamily="34" charset="-120"/>
              </a:rPr>
              <a:t>Prompting is the one AI skill that transfers everywhere: every assistant, every vendor, every year. Models change monthly; the craft compounds.</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The same skill has two modes now. Generative: you ask, it writes, you act. Agentic: you brief it, it plans, uses tools, checks itself, and delivers.</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Each mode needs a different kind of prompt — that distinction is the backbone of this training.</a:t>
            </a:r>
            <a:endParaRPr lang="en-US" sz="1300" dirty="0"/>
          </a:p>
        </p:txBody>
      </p:sp>
      <p:sp>
        <p:nvSpPr>
          <p:cNvPr id="7" name="Shape 5"/>
          <p:cNvSpPr/>
          <p:nvPr/>
        </p:nvSpPr>
        <p:spPr>
          <a:xfrm>
            <a:off x="502920" y="4206240"/>
            <a:ext cx="5577840" cy="1783080"/>
          </a:xfrm>
          <a:prstGeom prst="roundRect">
            <a:avLst>
              <a:gd name="adj" fmla="val 4103"/>
            </a:avLst>
          </a:prstGeom>
          <a:solidFill>
            <a:srgbClr val="E4F0EF"/>
          </a:solidFill>
          <a:ln/>
        </p:spPr>
      </p:sp>
      <p:sp>
        <p:nvSpPr>
          <p:cNvPr id="8" name="Shape 6"/>
          <p:cNvSpPr/>
          <p:nvPr/>
        </p:nvSpPr>
        <p:spPr>
          <a:xfrm>
            <a:off x="667512" y="4905756"/>
            <a:ext cx="384048" cy="384048"/>
          </a:xfrm>
          <a:prstGeom prst="ellipse">
            <a:avLst/>
          </a:prstGeom>
          <a:solidFill>
            <a:srgbClr val="0E7C7B"/>
          </a:solidFill>
          <a:ln/>
        </p:spPr>
      </p:sp>
      <p:pic>
        <p:nvPicPr>
          <p:cNvPr id="9" name="Image 0" descr="/home/user/Claude-Works/ai-training-prompt-engineering/src/assets/icons/zap_w.png">    </p:cNvPr>
          <p:cNvPicPr>
            <a:picLocks noChangeAspect="1"/>
          </p:cNvPicPr>
          <p:nvPr/>
        </p:nvPicPr>
        <p:blipFill>
          <a:blip r:embed="rId1"/>
          <a:stretch>
            <a:fillRect/>
          </a:stretch>
        </p:blipFill>
        <p:spPr>
          <a:xfrm>
            <a:off x="767364" y="5005608"/>
            <a:ext cx="184343" cy="184343"/>
          </a:xfrm>
          <a:prstGeom prst="rect">
            <a:avLst/>
          </a:prstGeom>
        </p:spPr>
      </p:pic>
      <p:sp>
        <p:nvSpPr>
          <p:cNvPr id="10" name="Text 7"/>
          <p:cNvSpPr/>
          <p:nvPr/>
        </p:nvSpPr>
        <p:spPr>
          <a:xfrm>
            <a:off x="1216152" y="4279392"/>
            <a:ext cx="4636008" cy="1636776"/>
          </a:xfrm>
          <a:prstGeom prst="rect">
            <a:avLst/>
          </a:prstGeom>
          <a:noFill/>
          <a:ln/>
        </p:spPr>
        <p:txBody>
          <a:bodyPr wrap="square" lIns="0" tIns="0" rIns="0" bIns="0" rtlCol="0" anchor="ctr"/>
          <a:lstStyle/>
          <a:p>
            <a:pPr indent="0" marL="0">
              <a:lnSpc>
                <a:spcPct val="106000"/>
              </a:lnSpc>
              <a:buNone/>
            </a:pPr>
            <a:r>
              <a:rPr lang="en-US" sz="1300" b="1" dirty="0">
                <a:solidFill>
                  <a:srgbClr val="0A5B5A"/>
                </a:solidFill>
                <a:latin typeface="Calibri" pitchFamily="34" charset="0"/>
                <a:ea typeface="Calibri" pitchFamily="34" charset="-122"/>
                <a:cs typeface="Calibri" pitchFamily="34" charset="-120"/>
              </a:rPr>
              <a:t>The 10-second version: </a:t>
            </a:r>
            <a:endParaRPr lang="en-US" sz="1250" dirty="0"/>
          </a:p>
          <a:p>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a generative prompt describes what to write.</a:t>
            </a:r>
            <a:endParaRPr lang="en-US" sz="1250" dirty="0"/>
          </a:p>
          <a:p>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An agentic prompt describes a job to run — goal, inputs, checks, and when to stop and ask you.</a:t>
            </a:r>
            <a:endParaRPr lang="en-US" sz="1250" dirty="0"/>
          </a:p>
        </p:txBody>
      </p:sp>
      <p:sp>
        <p:nvSpPr>
          <p:cNvPr id="11" name="Shape 8"/>
          <p:cNvSpPr/>
          <p:nvPr/>
        </p:nvSpPr>
        <p:spPr>
          <a:xfrm>
            <a:off x="6400800" y="1417320"/>
            <a:ext cx="5257800" cy="4572000"/>
          </a:xfrm>
          <a:prstGeom prst="roundRect">
            <a:avLst>
              <a:gd name="adj" fmla="val 1600"/>
            </a:avLst>
          </a:prstGeom>
          <a:solidFill>
            <a:srgbClr val="F2F5F6"/>
          </a:solidFill>
          <a:ln/>
        </p:spPr>
      </p:sp>
      <p:sp>
        <p:nvSpPr>
          <p:cNvPr id="12" name="Text 9"/>
          <p:cNvSpPr/>
          <p:nvPr/>
        </p:nvSpPr>
        <p:spPr>
          <a:xfrm>
            <a:off x="6675120" y="1645920"/>
            <a:ext cx="4754880" cy="365760"/>
          </a:xfrm>
          <a:prstGeom prst="rect">
            <a:avLst/>
          </a:prstGeom>
          <a:noFill/>
          <a:ln/>
        </p:spPr>
        <p:txBody>
          <a:bodyPr wrap="square" lIns="0" tIns="0" rIns="0" bIns="0" rtlCol="0" anchor="ctr"/>
          <a:lstStyle/>
          <a:p>
            <a:pPr indent="0" marL="0">
              <a:buNone/>
            </a:pPr>
            <a:r>
              <a:rPr lang="en-US" sz="1700" b="1" dirty="0">
                <a:solidFill>
                  <a:srgbClr val="232A31"/>
                </a:solidFill>
                <a:latin typeface="Cambria" pitchFamily="34" charset="0"/>
                <a:ea typeface="Cambria" pitchFamily="34" charset="-122"/>
                <a:cs typeface="Cambria" pitchFamily="34" charset="-120"/>
              </a:rPr>
              <a:t>You leave with</a:t>
            </a:r>
            <a:endParaRPr lang="en-US" sz="1700" dirty="0"/>
          </a:p>
        </p:txBody>
      </p:sp>
      <p:sp>
        <p:nvSpPr>
          <p:cNvPr id="13" name="Text 10"/>
          <p:cNvSpPr/>
          <p:nvPr/>
        </p:nvSpPr>
        <p:spPr>
          <a:xfrm>
            <a:off x="6720840" y="2103120"/>
            <a:ext cx="4663440" cy="3749040"/>
          </a:xfrm>
          <a:prstGeom prst="rect">
            <a:avLst/>
          </a:prstGeom>
          <a:noFill/>
          <a:ln/>
        </p:spPr>
        <p:txBody>
          <a:bodyPr wrap="square" lIns="0" tIns="0" rIns="0" bIns="0" rtlCol="0" anchor="t"/>
          <a:lstStyle/>
          <a:p>
            <a:pPr algn="l" marL="127000" indent="-127000">
              <a:lnSpc>
                <a:spcPct val="104000"/>
              </a:lnSpc>
              <a:spcAft>
                <a:spcPts val="900"/>
              </a:spcAft>
              <a:buSzPct val="100000"/>
              <a:buChar char="•"/>
            </a:pPr>
            <a:r>
              <a:rPr lang="en-US" sz="1250" dirty="0">
                <a:solidFill>
                  <a:srgbClr val="46545F"/>
                </a:solidFill>
                <a:latin typeface="Calibri" pitchFamily="34" charset="0"/>
                <a:ea typeface="Calibri" pitchFamily="34" charset="-122"/>
                <a:cs typeface="Calibri" pitchFamily="34" charset="-120"/>
              </a:rPr>
              <a:t>A working vocabulary: tokens, context windows, RAG, reasoning models — enough to see through vendor noise</a:t>
            </a:r>
            <a:endParaRPr lang="en-US" sz="1250" dirty="0"/>
          </a:p>
          <a:p>
            <a:pPr algn="l" marL="127000" indent="-127000">
              <a:lnSpc>
                <a:spcPct val="104000"/>
              </a:lnSpc>
              <a:spcAft>
                <a:spcPts val="900"/>
              </a:spcAft>
              <a:buSzPct val="100000"/>
              <a:buChar char="•"/>
            </a:pPr>
            <a:r>
              <a:rPr lang="en-US" sz="1250" dirty="0">
                <a:solidFill>
                  <a:srgbClr val="46545F"/>
                </a:solidFill>
                <a:latin typeface="Calibri" pitchFamily="34" charset="0"/>
                <a:ea typeface="Calibri" pitchFamily="34" charset="-122"/>
                <a:cs typeface="Calibri" pitchFamily="34" charset="-120"/>
              </a:rPr>
              <a:t>A tool map for August 2026 — including what the Chinese open-weight labs changed</a:t>
            </a:r>
            <a:endParaRPr lang="en-US" sz="1250" dirty="0"/>
          </a:p>
          <a:p>
            <a:pPr algn="l" marL="127000" indent="-127000">
              <a:lnSpc>
                <a:spcPct val="104000"/>
              </a:lnSpc>
              <a:spcAft>
                <a:spcPts val="900"/>
              </a:spcAft>
              <a:buSzPct val="100000"/>
              <a:buChar char="•"/>
            </a:pPr>
            <a:r>
              <a:rPr lang="en-US" sz="1250" dirty="0">
                <a:solidFill>
                  <a:srgbClr val="46545F"/>
                </a:solidFill>
                <a:latin typeface="Calibri" pitchFamily="34" charset="0"/>
                <a:ea typeface="Calibri" pitchFamily="34" charset="-122"/>
                <a:cs typeface="Calibri" pitchFamily="34" charset="-120"/>
              </a:rPr>
              <a:t>The universal prompt anatomy + seven techniques that cover almost everything</a:t>
            </a:r>
            <a:endParaRPr lang="en-US" sz="1250" dirty="0"/>
          </a:p>
          <a:p>
            <a:pPr algn="l" marL="127000" indent="-127000">
              <a:lnSpc>
                <a:spcPct val="104000"/>
              </a:lnSpc>
              <a:spcAft>
                <a:spcPts val="900"/>
              </a:spcAft>
              <a:buSzPct val="100000"/>
              <a:buChar char="•"/>
            </a:pPr>
            <a:r>
              <a:rPr lang="en-US" sz="1250" b="1" dirty="0">
                <a:solidFill>
                  <a:srgbClr val="46545F"/>
                </a:solidFill>
                <a:latin typeface="Calibri" pitchFamily="34" charset="0"/>
                <a:ea typeface="Calibri" pitchFamily="34" charset="-122"/>
                <a:cs typeface="Calibri" pitchFamily="34" charset="-120"/>
              </a:rPr>
              <a:t>A prompt library: 8 generative + 5 agentic templates, ready to copy and adapt</a:t>
            </a:r>
            <a:endParaRPr lang="en-US" sz="1250" dirty="0"/>
          </a:p>
          <a:p>
            <a:pPr algn="l" marL="127000" indent="-127000">
              <a:lnSpc>
                <a:spcPct val="104000"/>
              </a:lnSpc>
              <a:spcAft>
                <a:spcPts val="900"/>
              </a:spcAft>
              <a:buSzPct val="100000"/>
              <a:buChar char="•"/>
            </a:pPr>
            <a:r>
              <a:rPr lang="en-US" sz="1250" dirty="0">
                <a:solidFill>
                  <a:srgbClr val="46545F"/>
                </a:solidFill>
                <a:latin typeface="Calibri" pitchFamily="34" charset="0"/>
                <a:ea typeface="Calibri" pitchFamily="34" charset="-122"/>
                <a:cs typeface="Calibri" pitchFamily="34" charset="-120"/>
              </a:rPr>
              <a:t>Conventions for storing, versioning, and sharing prompts as a team</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HOW THIS TRAINING WORKS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 parts — concepts first, craft second, delegation third</a:t>
            </a:r>
            <a:endParaRPr lang="en-US" sz="3000" dirty="0"/>
          </a:p>
        </p:txBody>
      </p:sp>
      <p:sp>
        <p:nvSpPr>
          <p:cNvPr id="6" name="Shape 4"/>
          <p:cNvSpPr/>
          <p:nvPr/>
        </p:nvSpPr>
        <p:spPr>
          <a:xfrm>
            <a:off x="502920" y="1554480"/>
            <a:ext cx="3611880" cy="1901952"/>
          </a:xfrm>
          <a:prstGeom prst="roundRect">
            <a:avLst>
              <a:gd name="adj" fmla="val 3846"/>
            </a:avLst>
          </a:prstGeom>
          <a:solidFill>
            <a:srgbClr val="E4F0EF"/>
          </a:solidFill>
          <a:ln/>
        </p:spPr>
      </p:sp>
      <p:sp>
        <p:nvSpPr>
          <p:cNvPr id="7" name="Text 5"/>
          <p:cNvSpPr/>
          <p:nvPr/>
        </p:nvSpPr>
        <p:spPr>
          <a:xfrm>
            <a:off x="731520" y="1700784"/>
            <a:ext cx="2743200" cy="365760"/>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1 · The primer</a:t>
            </a:r>
            <a:endParaRPr lang="en-US" sz="1550" dirty="0"/>
          </a:p>
        </p:txBody>
      </p:sp>
      <p:sp>
        <p:nvSpPr>
          <p:cNvPr id="8" name="Text 6"/>
          <p:cNvSpPr/>
          <p:nvPr/>
        </p:nvSpPr>
        <p:spPr>
          <a:xfrm>
            <a:off x="3108960" y="1737360"/>
            <a:ext cx="868680" cy="274320"/>
          </a:xfrm>
          <a:prstGeom prst="rect">
            <a:avLst/>
          </a:prstGeom>
          <a:noFill/>
          <a:ln/>
        </p:spPr>
        <p:txBody>
          <a:bodyPr wrap="square" lIns="0" tIns="0" rIns="0" bIns="0" rtlCol="0" anchor="ctr"/>
          <a:lstStyle/>
          <a:p>
            <a:pPr algn="r" indent="0" marL="0">
              <a:buNone/>
            </a:pPr>
            <a:r>
              <a:rPr lang="en-US" sz="950" b="1" dirty="0">
                <a:solidFill>
                  <a:srgbClr val="7A8790"/>
                </a:solidFill>
                <a:latin typeface="Calibri" pitchFamily="34" charset="0"/>
                <a:ea typeface="Calibri" pitchFamily="34" charset="-122"/>
                <a:cs typeface="Calibri" pitchFamily="34" charset="-120"/>
              </a:rPr>
              <a:t>~25 min</a:t>
            </a:r>
            <a:endParaRPr lang="en-US" sz="950" dirty="0"/>
          </a:p>
        </p:txBody>
      </p:sp>
      <p:sp>
        <p:nvSpPr>
          <p:cNvPr id="9" name="Text 7"/>
          <p:cNvSpPr/>
          <p:nvPr/>
        </p:nvSpPr>
        <p:spPr>
          <a:xfrm>
            <a:off x="731520" y="2121408"/>
            <a:ext cx="3154680" cy="1234440"/>
          </a:xfrm>
          <a:prstGeom prst="rect">
            <a:avLst/>
          </a:prstGeom>
          <a:noFill/>
          <a:ln/>
        </p:spPr>
        <p:txBody>
          <a:bodyPr wrap="square" lIns="0" tIns="0" rIns="0" bIns="0" rtlCol="0" anchor="ctr"/>
          <a:lstStyle/>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Four eras of AI · how LLMs actually work: tokens, context, RAG, reasoning, hallucination</a:t>
            </a:r>
            <a:endParaRPr lang="en-US" sz="1100" dirty="0"/>
          </a:p>
        </p:txBody>
      </p:sp>
      <p:sp>
        <p:nvSpPr>
          <p:cNvPr id="10" name="Shape 8"/>
          <p:cNvSpPr/>
          <p:nvPr/>
        </p:nvSpPr>
        <p:spPr>
          <a:xfrm>
            <a:off x="4325112" y="1554480"/>
            <a:ext cx="3611880" cy="1901952"/>
          </a:xfrm>
          <a:prstGeom prst="roundRect">
            <a:avLst>
              <a:gd name="adj" fmla="val 3846"/>
            </a:avLst>
          </a:prstGeom>
          <a:solidFill>
            <a:srgbClr val="F2F5F6"/>
          </a:solidFill>
          <a:ln/>
        </p:spPr>
      </p:sp>
      <p:sp>
        <p:nvSpPr>
          <p:cNvPr id="11" name="Text 9"/>
          <p:cNvSpPr/>
          <p:nvPr/>
        </p:nvSpPr>
        <p:spPr>
          <a:xfrm>
            <a:off x="4553712" y="1700784"/>
            <a:ext cx="2743200" cy="365760"/>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2 · Models &amp; tools</a:t>
            </a:r>
            <a:endParaRPr lang="en-US" sz="1550" dirty="0"/>
          </a:p>
        </p:txBody>
      </p:sp>
      <p:sp>
        <p:nvSpPr>
          <p:cNvPr id="12" name="Text 10"/>
          <p:cNvSpPr/>
          <p:nvPr/>
        </p:nvSpPr>
        <p:spPr>
          <a:xfrm>
            <a:off x="6931152" y="1737360"/>
            <a:ext cx="868680" cy="274320"/>
          </a:xfrm>
          <a:prstGeom prst="rect">
            <a:avLst/>
          </a:prstGeom>
          <a:noFill/>
          <a:ln/>
        </p:spPr>
        <p:txBody>
          <a:bodyPr wrap="square" lIns="0" tIns="0" rIns="0" bIns="0" rtlCol="0" anchor="ctr"/>
          <a:lstStyle/>
          <a:p>
            <a:pPr algn="r" indent="0" marL="0">
              <a:buNone/>
            </a:pPr>
            <a:r>
              <a:rPr lang="en-US" sz="950" b="1" dirty="0">
                <a:solidFill>
                  <a:srgbClr val="7A8790"/>
                </a:solidFill>
                <a:latin typeface="Calibri" pitchFamily="34" charset="0"/>
                <a:ea typeface="Calibri" pitchFamily="34" charset="-122"/>
                <a:cs typeface="Calibri" pitchFamily="34" charset="-120"/>
              </a:rPr>
              <a:t>~20 min</a:t>
            </a:r>
            <a:endParaRPr lang="en-US" sz="950" dirty="0"/>
          </a:p>
        </p:txBody>
      </p:sp>
      <p:sp>
        <p:nvSpPr>
          <p:cNvPr id="13" name="Text 11"/>
          <p:cNvSpPr/>
          <p:nvPr/>
        </p:nvSpPr>
        <p:spPr>
          <a:xfrm>
            <a:off x="4553712" y="2121408"/>
            <a:ext cx="3154680" cy="1234440"/>
          </a:xfrm>
          <a:prstGeom prst="rect">
            <a:avLst/>
          </a:prstGeom>
          <a:noFill/>
          <a:ln/>
        </p:spPr>
        <p:txBody>
          <a:bodyPr wrap="square" lIns="0" tIns="0" rIns="0" bIns="0" rtlCol="0" anchor="ctr"/>
          <a:lstStyle/>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The Aug-2026 landscape · each model’s forte · the Chinese wave · agentic tool gallery</a:t>
            </a:r>
            <a:endParaRPr lang="en-US" sz="1100" dirty="0"/>
          </a:p>
        </p:txBody>
      </p:sp>
      <p:sp>
        <p:nvSpPr>
          <p:cNvPr id="14" name="Shape 12"/>
          <p:cNvSpPr/>
          <p:nvPr/>
        </p:nvSpPr>
        <p:spPr>
          <a:xfrm>
            <a:off x="8147304" y="1554480"/>
            <a:ext cx="3611880" cy="1901952"/>
          </a:xfrm>
          <a:prstGeom prst="roundRect">
            <a:avLst>
              <a:gd name="adj" fmla="val 3846"/>
            </a:avLst>
          </a:prstGeom>
          <a:solidFill>
            <a:srgbClr val="E4F0EF"/>
          </a:solidFill>
          <a:ln/>
        </p:spPr>
      </p:sp>
      <p:sp>
        <p:nvSpPr>
          <p:cNvPr id="15" name="Text 13"/>
          <p:cNvSpPr/>
          <p:nvPr/>
        </p:nvSpPr>
        <p:spPr>
          <a:xfrm>
            <a:off x="8375904" y="1700784"/>
            <a:ext cx="2743200" cy="365760"/>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3 · Prompt engineering</a:t>
            </a:r>
            <a:endParaRPr lang="en-US" sz="1550" dirty="0"/>
          </a:p>
        </p:txBody>
      </p:sp>
      <p:sp>
        <p:nvSpPr>
          <p:cNvPr id="16" name="Text 14"/>
          <p:cNvSpPr/>
          <p:nvPr/>
        </p:nvSpPr>
        <p:spPr>
          <a:xfrm>
            <a:off x="10753344" y="1737360"/>
            <a:ext cx="868680" cy="274320"/>
          </a:xfrm>
          <a:prstGeom prst="rect">
            <a:avLst/>
          </a:prstGeom>
          <a:noFill/>
          <a:ln/>
        </p:spPr>
        <p:txBody>
          <a:bodyPr wrap="square" lIns="0" tIns="0" rIns="0" bIns="0" rtlCol="0" anchor="ctr"/>
          <a:lstStyle/>
          <a:p>
            <a:pPr algn="r" indent="0" marL="0">
              <a:buNone/>
            </a:pPr>
            <a:r>
              <a:rPr lang="en-US" sz="950" b="1" dirty="0">
                <a:solidFill>
                  <a:srgbClr val="7A8790"/>
                </a:solidFill>
                <a:latin typeface="Calibri" pitchFamily="34" charset="0"/>
                <a:ea typeface="Calibri" pitchFamily="34" charset="-122"/>
                <a:cs typeface="Calibri" pitchFamily="34" charset="-120"/>
              </a:rPr>
              <a:t>~20 min</a:t>
            </a:r>
            <a:endParaRPr lang="en-US" sz="950" dirty="0"/>
          </a:p>
        </p:txBody>
      </p:sp>
      <p:sp>
        <p:nvSpPr>
          <p:cNvPr id="17" name="Text 15"/>
          <p:cNvSpPr/>
          <p:nvPr/>
        </p:nvSpPr>
        <p:spPr>
          <a:xfrm>
            <a:off x="8375904" y="2121408"/>
            <a:ext cx="3154680" cy="1234440"/>
          </a:xfrm>
          <a:prstGeom prst="rect">
            <a:avLst/>
          </a:prstGeom>
          <a:noFill/>
          <a:ln/>
        </p:spPr>
        <p:txBody>
          <a:bodyPr wrap="square" lIns="0" tIns="0" rIns="0" bIns="0" rtlCol="0" anchor="ctr"/>
          <a:lstStyle/>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The universal anatomy · seven techniques · evidence vs. myth · prompting thinking models</a:t>
            </a:r>
            <a:endParaRPr lang="en-US" sz="1100" dirty="0"/>
          </a:p>
        </p:txBody>
      </p:sp>
      <p:sp>
        <p:nvSpPr>
          <p:cNvPr id="18" name="Shape 16"/>
          <p:cNvSpPr/>
          <p:nvPr/>
        </p:nvSpPr>
        <p:spPr>
          <a:xfrm>
            <a:off x="502920" y="3639312"/>
            <a:ext cx="3611880" cy="1901952"/>
          </a:xfrm>
          <a:prstGeom prst="roundRect">
            <a:avLst>
              <a:gd name="adj" fmla="val 3846"/>
            </a:avLst>
          </a:prstGeom>
          <a:solidFill>
            <a:srgbClr val="F2F5F6"/>
          </a:solidFill>
          <a:ln/>
        </p:spPr>
      </p:sp>
      <p:sp>
        <p:nvSpPr>
          <p:cNvPr id="19" name="Text 17"/>
          <p:cNvSpPr/>
          <p:nvPr/>
        </p:nvSpPr>
        <p:spPr>
          <a:xfrm>
            <a:off x="731520" y="3785616"/>
            <a:ext cx="2743200" cy="365760"/>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4 · The playbook</a:t>
            </a:r>
            <a:endParaRPr lang="en-US" sz="1550" dirty="0"/>
          </a:p>
        </p:txBody>
      </p:sp>
      <p:sp>
        <p:nvSpPr>
          <p:cNvPr id="20" name="Text 18"/>
          <p:cNvSpPr/>
          <p:nvPr/>
        </p:nvSpPr>
        <p:spPr>
          <a:xfrm>
            <a:off x="3108960" y="3822192"/>
            <a:ext cx="868680" cy="274320"/>
          </a:xfrm>
          <a:prstGeom prst="rect">
            <a:avLst/>
          </a:prstGeom>
          <a:noFill/>
          <a:ln/>
        </p:spPr>
        <p:txBody>
          <a:bodyPr wrap="square" lIns="0" tIns="0" rIns="0" bIns="0" rtlCol="0" anchor="ctr"/>
          <a:lstStyle/>
          <a:p>
            <a:pPr algn="r" indent="0" marL="0">
              <a:buNone/>
            </a:pPr>
            <a:r>
              <a:rPr lang="en-US" sz="950" b="1" dirty="0">
                <a:solidFill>
                  <a:srgbClr val="7A8790"/>
                </a:solidFill>
                <a:latin typeface="Calibri" pitchFamily="34" charset="0"/>
                <a:ea typeface="Calibri" pitchFamily="34" charset="-122"/>
                <a:cs typeface="Calibri" pitchFamily="34" charset="-120"/>
              </a:rPr>
              <a:t>~20 min</a:t>
            </a:r>
            <a:endParaRPr lang="en-US" sz="950" dirty="0"/>
          </a:p>
        </p:txBody>
      </p:sp>
      <p:sp>
        <p:nvSpPr>
          <p:cNvPr id="21" name="Text 19"/>
          <p:cNvSpPr/>
          <p:nvPr/>
        </p:nvSpPr>
        <p:spPr>
          <a:xfrm>
            <a:off x="731520" y="4206240"/>
            <a:ext cx="3154680" cy="1234440"/>
          </a:xfrm>
          <a:prstGeom prst="rect">
            <a:avLst/>
          </a:prstGeom>
          <a:noFill/>
          <a:ln/>
        </p:spPr>
        <p:txBody>
          <a:bodyPr wrap="square" lIns="0" tIns="0" rIns="0" bIns="0" rtlCol="0" anchor="ctr"/>
          <a:lstStyle/>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Templates applied: data analysis · writing · evaluations · spreadsheets · decks · interactive HTML</a:t>
            </a:r>
            <a:endParaRPr lang="en-US" sz="1100" dirty="0"/>
          </a:p>
        </p:txBody>
      </p:sp>
      <p:sp>
        <p:nvSpPr>
          <p:cNvPr id="22" name="Shape 20"/>
          <p:cNvSpPr/>
          <p:nvPr/>
        </p:nvSpPr>
        <p:spPr>
          <a:xfrm>
            <a:off x="4325112" y="3639312"/>
            <a:ext cx="3611880" cy="1901952"/>
          </a:xfrm>
          <a:prstGeom prst="roundRect">
            <a:avLst>
              <a:gd name="adj" fmla="val 3846"/>
            </a:avLst>
          </a:prstGeom>
          <a:solidFill>
            <a:srgbClr val="E4F0EF"/>
          </a:solidFill>
          <a:ln/>
        </p:spPr>
      </p:sp>
      <p:sp>
        <p:nvSpPr>
          <p:cNvPr id="23" name="Text 21"/>
          <p:cNvSpPr/>
          <p:nvPr/>
        </p:nvSpPr>
        <p:spPr>
          <a:xfrm>
            <a:off x="4553712" y="3785616"/>
            <a:ext cx="2743200" cy="365760"/>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5 · Agentic prompting</a:t>
            </a:r>
            <a:endParaRPr lang="en-US" sz="1550" dirty="0"/>
          </a:p>
        </p:txBody>
      </p:sp>
      <p:sp>
        <p:nvSpPr>
          <p:cNvPr id="24" name="Text 22"/>
          <p:cNvSpPr/>
          <p:nvPr/>
        </p:nvSpPr>
        <p:spPr>
          <a:xfrm>
            <a:off x="6931152" y="3822192"/>
            <a:ext cx="868680" cy="274320"/>
          </a:xfrm>
          <a:prstGeom prst="rect">
            <a:avLst/>
          </a:prstGeom>
          <a:noFill/>
          <a:ln/>
        </p:spPr>
        <p:txBody>
          <a:bodyPr wrap="square" lIns="0" tIns="0" rIns="0" bIns="0" rtlCol="0" anchor="ctr"/>
          <a:lstStyle/>
          <a:p>
            <a:pPr algn="r" indent="0" marL="0">
              <a:buNone/>
            </a:pPr>
            <a:r>
              <a:rPr lang="en-US" sz="950" b="1" dirty="0">
                <a:solidFill>
                  <a:srgbClr val="7A8790"/>
                </a:solidFill>
                <a:latin typeface="Calibri" pitchFamily="34" charset="0"/>
                <a:ea typeface="Calibri" pitchFamily="34" charset="-122"/>
                <a:cs typeface="Calibri" pitchFamily="34" charset="-120"/>
              </a:rPr>
              <a:t>~25 min</a:t>
            </a:r>
            <a:endParaRPr lang="en-US" sz="950" dirty="0"/>
          </a:p>
        </p:txBody>
      </p:sp>
      <p:sp>
        <p:nvSpPr>
          <p:cNvPr id="25" name="Text 23"/>
          <p:cNvSpPr/>
          <p:nvPr/>
        </p:nvSpPr>
        <p:spPr>
          <a:xfrm>
            <a:off x="4553712" y="4206240"/>
            <a:ext cx="3154680" cy="1234440"/>
          </a:xfrm>
          <a:prstGeom prst="rect">
            <a:avLst/>
          </a:prstGeom>
          <a:noFill/>
          <a:ln/>
        </p:spPr>
        <p:txBody>
          <a:bodyPr wrap="square" lIns="0" tIns="0" rIns="0" bIns="0" rtlCol="0" anchor="ctr"/>
          <a:lstStyle/>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The mission brief · worked example (data → validated slide) · gates, autonomy &amp; guardrails</a:t>
            </a:r>
            <a:endParaRPr lang="en-US" sz="1100" dirty="0"/>
          </a:p>
        </p:txBody>
      </p:sp>
      <p:sp>
        <p:nvSpPr>
          <p:cNvPr id="26" name="Shape 24"/>
          <p:cNvSpPr/>
          <p:nvPr/>
        </p:nvSpPr>
        <p:spPr>
          <a:xfrm>
            <a:off x="8147304" y="3639312"/>
            <a:ext cx="3611880" cy="1901952"/>
          </a:xfrm>
          <a:prstGeom prst="roundRect">
            <a:avLst>
              <a:gd name="adj" fmla="val 3846"/>
            </a:avLst>
          </a:prstGeom>
          <a:solidFill>
            <a:srgbClr val="F2F5F6"/>
          </a:solidFill>
          <a:ln/>
        </p:spPr>
      </p:sp>
      <p:sp>
        <p:nvSpPr>
          <p:cNvPr id="27" name="Text 25"/>
          <p:cNvSpPr/>
          <p:nvPr/>
        </p:nvSpPr>
        <p:spPr>
          <a:xfrm>
            <a:off x="8375904" y="3785616"/>
            <a:ext cx="2743200" cy="365760"/>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6 · Prompt management</a:t>
            </a:r>
            <a:endParaRPr lang="en-US" sz="1550" dirty="0"/>
          </a:p>
        </p:txBody>
      </p:sp>
      <p:sp>
        <p:nvSpPr>
          <p:cNvPr id="28" name="Text 26"/>
          <p:cNvSpPr/>
          <p:nvPr/>
        </p:nvSpPr>
        <p:spPr>
          <a:xfrm>
            <a:off x="10753344" y="3822192"/>
            <a:ext cx="868680" cy="274320"/>
          </a:xfrm>
          <a:prstGeom prst="rect">
            <a:avLst/>
          </a:prstGeom>
          <a:noFill/>
          <a:ln/>
        </p:spPr>
        <p:txBody>
          <a:bodyPr wrap="square" lIns="0" tIns="0" rIns="0" bIns="0" rtlCol="0" anchor="ctr"/>
          <a:lstStyle/>
          <a:p>
            <a:pPr algn="r" indent="0" marL="0">
              <a:buNone/>
            </a:pPr>
            <a:r>
              <a:rPr lang="en-US" sz="950" b="1" dirty="0">
                <a:solidFill>
                  <a:srgbClr val="7A8790"/>
                </a:solidFill>
                <a:latin typeface="Calibri" pitchFamily="34" charset="0"/>
                <a:ea typeface="Calibri" pitchFamily="34" charset="-122"/>
                <a:cs typeface="Calibri" pitchFamily="34" charset="-120"/>
              </a:rPr>
              <a:t>~10 min</a:t>
            </a:r>
            <a:endParaRPr lang="en-US" sz="950" dirty="0"/>
          </a:p>
        </p:txBody>
      </p:sp>
      <p:sp>
        <p:nvSpPr>
          <p:cNvPr id="29" name="Text 27"/>
          <p:cNvSpPr/>
          <p:nvPr/>
        </p:nvSpPr>
        <p:spPr>
          <a:xfrm>
            <a:off x="8375904" y="4206240"/>
            <a:ext cx="3154680" cy="1234440"/>
          </a:xfrm>
          <a:prstGeom prst="rect">
            <a:avLst/>
          </a:prstGeom>
          <a:noFill/>
          <a:ln/>
        </p:spPr>
        <p:txBody>
          <a:bodyPr wrap="square" lIns="0" tIns="0" rIns="0" bIns="0" rtlCol="0" anchor="ctr"/>
          <a:lstStyle/>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Store, version, share: from a personal doc to a team library that survives staff turnover</a:t>
            </a:r>
            <a:endParaRPr lang="en-US" sz="1100" dirty="0"/>
          </a:p>
        </p:txBody>
      </p:sp>
      <p:sp>
        <p:nvSpPr>
          <p:cNvPr id="30" name="Shape 28"/>
          <p:cNvSpPr/>
          <p:nvPr/>
        </p:nvSpPr>
        <p:spPr>
          <a:xfrm>
            <a:off x="502920" y="5715000"/>
            <a:ext cx="11155680" cy="685800"/>
          </a:xfrm>
          <a:prstGeom prst="roundRect">
            <a:avLst>
              <a:gd name="adj" fmla="val 10667"/>
            </a:avLst>
          </a:prstGeom>
          <a:solidFill>
            <a:srgbClr val="FBF0E0"/>
          </a:solidFill>
          <a:ln/>
        </p:spPr>
      </p:sp>
      <p:sp>
        <p:nvSpPr>
          <p:cNvPr id="31" name="Shape 29"/>
          <p:cNvSpPr/>
          <p:nvPr/>
        </p:nvSpPr>
        <p:spPr>
          <a:xfrm>
            <a:off x="667512" y="5865876"/>
            <a:ext cx="384048" cy="384048"/>
          </a:xfrm>
          <a:prstGeom prst="ellipse">
            <a:avLst/>
          </a:prstGeom>
          <a:solidFill>
            <a:srgbClr val="B96A1B"/>
          </a:solidFill>
          <a:ln/>
        </p:spPr>
      </p:sp>
      <p:pic>
        <p:nvPicPr>
          <p:cNvPr id="32" name="Image 0" descr="/home/user/Claude-Works/ai-training-prompt-engineering/src/assets/icons/download_w.png">    </p:cNvPr>
          <p:cNvPicPr>
            <a:picLocks noChangeAspect="1"/>
          </p:cNvPicPr>
          <p:nvPr/>
        </p:nvPicPr>
        <p:blipFill>
          <a:blip r:embed="rId1"/>
          <a:stretch>
            <a:fillRect/>
          </a:stretch>
        </p:blipFill>
        <p:spPr>
          <a:xfrm>
            <a:off x="767364" y="5965728"/>
            <a:ext cx="184343" cy="184343"/>
          </a:xfrm>
          <a:prstGeom prst="rect">
            <a:avLst/>
          </a:prstGeom>
        </p:spPr>
      </p:pic>
      <p:sp>
        <p:nvSpPr>
          <p:cNvPr id="33" name="Text 30"/>
          <p:cNvSpPr/>
          <p:nvPr/>
        </p:nvSpPr>
        <p:spPr>
          <a:xfrm>
            <a:off x="1216152" y="578815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Take-home set: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this deck · the prompt library (13 templates) · a one-page prompt-anatomy cheat sheet.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4</a:t>
            </a:r>
            <a:endParaRPr lang="en-US" sz="850" dirty="0"/>
          </a:p>
        </p:txBody>
      </p:sp>
      <p:sp>
        <p:nvSpPr>
          <p:cNvPr id="3" name="Text 1"/>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1 · THE PRIMER</a:t>
            </a:r>
            <a:endParaRPr lang="en-US" sz="1600" dirty="0"/>
          </a:p>
        </p:txBody>
      </p:sp>
      <p:sp>
        <p:nvSpPr>
          <p:cNvPr id="4" name="Text 2"/>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Where this came from,</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and how it actually works</a:t>
            </a:r>
            <a:endParaRPr lang="en-US" sz="4400" dirty="0"/>
          </a:p>
        </p:txBody>
      </p:sp>
      <p:sp>
        <p:nvSpPr>
          <p:cNvPr id="5" name="Text 3"/>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Seventy years in two slides, then the six concepts that make you fluent: tokens, context, RAG, reasoning, hallucination — and why prompting exists at all.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SEVENTY YEARS IN ONE SLIDE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eras: rules → learning → generative → agentic</a:t>
            </a:r>
            <a:endParaRPr lang="en-US" sz="3000" dirty="0"/>
          </a:p>
        </p:txBody>
      </p:sp>
      <p:sp>
        <p:nvSpPr>
          <p:cNvPr id="6" name="Shape 4"/>
          <p:cNvSpPr/>
          <p:nvPr/>
        </p:nvSpPr>
        <p:spPr>
          <a:xfrm>
            <a:off x="502920" y="1554480"/>
            <a:ext cx="2697480" cy="3291840"/>
          </a:xfrm>
          <a:prstGeom prst="roundRect">
            <a:avLst>
              <a:gd name="adj" fmla="val 2712"/>
            </a:avLst>
          </a:prstGeom>
          <a:solidFill>
            <a:srgbClr val="F2F5F6"/>
          </a:solidFill>
          <a:ln/>
        </p:spPr>
      </p:sp>
      <p:sp>
        <p:nvSpPr>
          <p:cNvPr id="7" name="Shape 5"/>
          <p:cNvSpPr/>
          <p:nvPr/>
        </p:nvSpPr>
        <p:spPr>
          <a:xfrm>
            <a:off x="722376" y="1783080"/>
            <a:ext cx="475488" cy="475488"/>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46003" y="1906707"/>
            <a:ext cx="228234" cy="228234"/>
          </a:xfrm>
          <a:prstGeom prst="rect">
            <a:avLst/>
          </a:prstGeom>
        </p:spPr>
      </p:pic>
      <p:sp>
        <p:nvSpPr>
          <p:cNvPr id="9" name="Text 6"/>
          <p:cNvSpPr/>
          <p:nvPr/>
        </p:nvSpPr>
        <p:spPr>
          <a:xfrm>
            <a:off x="1325880" y="1810512"/>
            <a:ext cx="1828800" cy="320040"/>
          </a:xfrm>
          <a:prstGeom prst="rect">
            <a:avLst/>
          </a:prstGeom>
          <a:noFill/>
          <a:ln/>
        </p:spPr>
        <p:txBody>
          <a:bodyPr wrap="square" lIns="0" tIns="0" rIns="0" bIns="0" rtlCol="0" anchor="ctr"/>
          <a:lstStyle/>
          <a:p>
            <a:pPr indent="0" marL="0">
              <a:buNone/>
            </a:pPr>
            <a:r>
              <a:rPr lang="en-US" sz="1550" b="1" dirty="0">
                <a:solidFill>
                  <a:srgbClr val="232A31"/>
                </a:solidFill>
                <a:latin typeface="Cambria" pitchFamily="34" charset="0"/>
                <a:ea typeface="Cambria" pitchFamily="34" charset="-122"/>
                <a:cs typeface="Cambria" pitchFamily="34" charset="-120"/>
              </a:rPr>
              <a:t>Rules</a:t>
            </a:r>
            <a:endParaRPr lang="en-US" sz="1550" dirty="0"/>
          </a:p>
        </p:txBody>
      </p:sp>
      <p:sp>
        <p:nvSpPr>
          <p:cNvPr id="10" name="Text 7"/>
          <p:cNvSpPr/>
          <p:nvPr/>
        </p:nvSpPr>
        <p:spPr>
          <a:xfrm>
            <a:off x="1325880" y="2121408"/>
            <a:ext cx="1828800" cy="256032"/>
          </a:xfrm>
          <a:prstGeom prst="rect">
            <a:avLst/>
          </a:prstGeom>
          <a:noFill/>
          <a:ln/>
        </p:spPr>
        <p:txBody>
          <a:bodyPr wrap="square" lIns="0" tIns="0" rIns="0" bIns="0" rtlCol="0" anchor="ctr"/>
          <a:lstStyle/>
          <a:p>
            <a:pPr indent="0" marL="0">
              <a:buNone/>
            </a:pPr>
            <a:r>
              <a:rPr lang="en-US" sz="950" b="1" dirty="0">
                <a:solidFill>
                  <a:srgbClr val="7A8790"/>
                </a:solidFill>
                <a:latin typeface="Calibri" pitchFamily="34" charset="0"/>
                <a:ea typeface="Calibri" pitchFamily="34" charset="-122"/>
                <a:cs typeface="Calibri" pitchFamily="34" charset="-120"/>
              </a:rPr>
              <a:t>1950s–1990s</a:t>
            </a:r>
            <a:endParaRPr lang="en-US" sz="950" dirty="0"/>
          </a:p>
        </p:txBody>
      </p:sp>
      <p:sp>
        <p:nvSpPr>
          <p:cNvPr id="11" name="Text 8"/>
          <p:cNvSpPr/>
          <p:nvPr/>
        </p:nvSpPr>
        <p:spPr>
          <a:xfrm>
            <a:off x="722376" y="2514600"/>
            <a:ext cx="2286000" cy="2194560"/>
          </a:xfrm>
          <a:prstGeom prst="rect">
            <a:avLst/>
          </a:prstGeom>
          <a:noFill/>
          <a:ln/>
        </p:spPr>
        <p:txBody>
          <a:bodyPr wrap="square" lIns="0" tIns="0" rIns="0" bIns="0" rtlCol="0" anchor="ctr"/>
          <a:lstStyle/>
          <a:p>
            <a:pPr indent="0" marL="0">
              <a:lnSpc>
                <a:spcPct val="110000"/>
              </a:lnSpc>
              <a:buNone/>
            </a:pPr>
            <a:r>
              <a:rPr lang="en-US" sz="1060" dirty="0">
                <a:solidFill>
                  <a:srgbClr val="46545F"/>
                </a:solidFill>
                <a:latin typeface="Calibri" pitchFamily="34" charset="0"/>
                <a:ea typeface="Calibri" pitchFamily="34" charset="-122"/>
                <a:cs typeface="Calibri" pitchFamily="34" charset="-120"/>
              </a:rPr>
              <a:t>Humans hand-code the logic: “if X then Y.” Expert systems shine, then crack — rules can’t cover messy reality. Twice, hype outruns results: the “AI winters.”</a:t>
            </a:r>
            <a:endParaRPr lang="en-US" sz="1060" dirty="0"/>
          </a:p>
        </p:txBody>
      </p:sp>
      <p:sp>
        <p:nvSpPr>
          <p:cNvPr id="12" name="Shape 9"/>
          <p:cNvSpPr/>
          <p:nvPr/>
        </p:nvSpPr>
        <p:spPr>
          <a:xfrm>
            <a:off x="3218688" y="3154680"/>
            <a:ext cx="182880" cy="0"/>
          </a:xfrm>
          <a:prstGeom prst="line">
            <a:avLst/>
          </a:prstGeom>
          <a:noFill/>
          <a:ln w="28575">
            <a:solidFill>
              <a:srgbClr val="0E7C7B"/>
            </a:solidFill>
            <a:prstDash val="solid"/>
            <a:tailEnd type="triangle"/>
          </a:ln>
        </p:spPr>
      </p:sp>
      <p:sp>
        <p:nvSpPr>
          <p:cNvPr id="13" name="Shape 10"/>
          <p:cNvSpPr/>
          <p:nvPr/>
        </p:nvSpPr>
        <p:spPr>
          <a:xfrm>
            <a:off x="3419856" y="1554480"/>
            <a:ext cx="2697480" cy="3291840"/>
          </a:xfrm>
          <a:prstGeom prst="roundRect">
            <a:avLst>
              <a:gd name="adj" fmla="val 2712"/>
            </a:avLst>
          </a:prstGeom>
          <a:solidFill>
            <a:srgbClr val="F2F5F6"/>
          </a:solidFill>
          <a:ln/>
        </p:spPr>
      </p:sp>
      <p:sp>
        <p:nvSpPr>
          <p:cNvPr id="14" name="Shape 11"/>
          <p:cNvSpPr/>
          <p:nvPr/>
        </p:nvSpPr>
        <p:spPr>
          <a:xfrm>
            <a:off x="3639312" y="1783080"/>
            <a:ext cx="475488" cy="475488"/>
          </a:xfrm>
          <a:prstGeom prst="ellipse">
            <a:avLst/>
          </a:prstGeom>
          <a:solidFill>
            <a:srgbClr val="0E7C7B"/>
          </a:solidFill>
          <a:ln/>
        </p:spPr>
      </p:sp>
      <p:pic>
        <p:nvPicPr>
          <p:cNvPr id="15" name="Image 1" descr="/home/user/Claude-Works/ai-training-prompt-engineering/src/assets/icons/chart_w.png">    </p:cNvPr>
          <p:cNvPicPr>
            <a:picLocks noChangeAspect="1"/>
          </p:cNvPicPr>
          <p:nvPr/>
        </p:nvPicPr>
        <p:blipFill>
          <a:blip r:embed="rId2"/>
          <a:stretch>
            <a:fillRect/>
          </a:stretch>
        </p:blipFill>
        <p:spPr>
          <a:xfrm>
            <a:off x="3762939" y="1906707"/>
            <a:ext cx="228234" cy="228234"/>
          </a:xfrm>
          <a:prstGeom prst="rect">
            <a:avLst/>
          </a:prstGeom>
        </p:spPr>
      </p:pic>
      <p:sp>
        <p:nvSpPr>
          <p:cNvPr id="16" name="Text 12"/>
          <p:cNvSpPr/>
          <p:nvPr/>
        </p:nvSpPr>
        <p:spPr>
          <a:xfrm>
            <a:off x="4242816" y="1810512"/>
            <a:ext cx="1828800" cy="320040"/>
          </a:xfrm>
          <a:prstGeom prst="rect">
            <a:avLst/>
          </a:prstGeom>
          <a:noFill/>
          <a:ln/>
        </p:spPr>
        <p:txBody>
          <a:bodyPr wrap="square" lIns="0" tIns="0" rIns="0" bIns="0" rtlCol="0" anchor="ctr"/>
          <a:lstStyle/>
          <a:p>
            <a:pPr indent="0" marL="0">
              <a:buNone/>
            </a:pPr>
            <a:r>
              <a:rPr lang="en-US" sz="1550" b="1" dirty="0">
                <a:solidFill>
                  <a:srgbClr val="232A31"/>
                </a:solidFill>
                <a:latin typeface="Cambria" pitchFamily="34" charset="0"/>
                <a:ea typeface="Cambria" pitchFamily="34" charset="-122"/>
                <a:cs typeface="Cambria" pitchFamily="34" charset="-120"/>
              </a:rPr>
              <a:t>Learning</a:t>
            </a:r>
            <a:endParaRPr lang="en-US" sz="1550" dirty="0"/>
          </a:p>
        </p:txBody>
      </p:sp>
      <p:sp>
        <p:nvSpPr>
          <p:cNvPr id="17" name="Text 13"/>
          <p:cNvSpPr/>
          <p:nvPr/>
        </p:nvSpPr>
        <p:spPr>
          <a:xfrm>
            <a:off x="4242816" y="2121408"/>
            <a:ext cx="1828800" cy="256032"/>
          </a:xfrm>
          <a:prstGeom prst="rect">
            <a:avLst/>
          </a:prstGeom>
          <a:noFill/>
          <a:ln/>
        </p:spPr>
        <p:txBody>
          <a:bodyPr wrap="square" lIns="0" tIns="0" rIns="0" bIns="0" rtlCol="0" anchor="ctr"/>
          <a:lstStyle/>
          <a:p>
            <a:pPr indent="0" marL="0">
              <a:buNone/>
            </a:pPr>
            <a:r>
              <a:rPr lang="en-US" sz="950" b="1" dirty="0">
                <a:solidFill>
                  <a:srgbClr val="7A8790"/>
                </a:solidFill>
                <a:latin typeface="Calibri" pitchFamily="34" charset="0"/>
                <a:ea typeface="Calibri" pitchFamily="34" charset="-122"/>
                <a:cs typeface="Calibri" pitchFamily="34" charset="-120"/>
              </a:rPr>
              <a:t>1990s–2010s</a:t>
            </a:r>
            <a:endParaRPr lang="en-US" sz="950" dirty="0"/>
          </a:p>
        </p:txBody>
      </p:sp>
      <p:sp>
        <p:nvSpPr>
          <p:cNvPr id="18" name="Text 14"/>
          <p:cNvSpPr/>
          <p:nvPr/>
        </p:nvSpPr>
        <p:spPr>
          <a:xfrm>
            <a:off x="3639312" y="2514600"/>
            <a:ext cx="2286000" cy="2194560"/>
          </a:xfrm>
          <a:prstGeom prst="rect">
            <a:avLst/>
          </a:prstGeom>
          <a:noFill/>
          <a:ln/>
        </p:spPr>
        <p:txBody>
          <a:bodyPr wrap="square" lIns="0" tIns="0" rIns="0" bIns="0" rtlCol="0" anchor="ctr"/>
          <a:lstStyle/>
          <a:p>
            <a:pPr indent="0" marL="0">
              <a:lnSpc>
                <a:spcPct val="110000"/>
              </a:lnSpc>
              <a:buNone/>
            </a:pPr>
            <a:r>
              <a:rPr lang="en-US" sz="1060" dirty="0">
                <a:solidFill>
                  <a:srgbClr val="46545F"/>
                </a:solidFill>
                <a:latin typeface="Calibri" pitchFamily="34" charset="0"/>
                <a:ea typeface="Calibri" pitchFamily="34" charset="-122"/>
                <a:cs typeface="Calibri" pitchFamily="34" charset="-120"/>
              </a:rPr>
              <a:t>The flip: stop writing rules, let the system find patterns in examples. Spam filters, search, recommendations. 2012: deep neural nets + GPUs crush image recognition (AlexNet).</a:t>
            </a:r>
            <a:endParaRPr lang="en-US" sz="1060" dirty="0"/>
          </a:p>
        </p:txBody>
      </p:sp>
      <p:sp>
        <p:nvSpPr>
          <p:cNvPr id="19" name="Shape 15"/>
          <p:cNvSpPr/>
          <p:nvPr/>
        </p:nvSpPr>
        <p:spPr>
          <a:xfrm>
            <a:off x="6135624" y="3154680"/>
            <a:ext cx="182880" cy="0"/>
          </a:xfrm>
          <a:prstGeom prst="line">
            <a:avLst/>
          </a:prstGeom>
          <a:noFill/>
          <a:ln w="28575">
            <a:solidFill>
              <a:srgbClr val="0E7C7B"/>
            </a:solidFill>
            <a:prstDash val="solid"/>
            <a:tailEnd type="triangle"/>
          </a:ln>
        </p:spPr>
      </p:sp>
      <p:sp>
        <p:nvSpPr>
          <p:cNvPr id="20" name="Shape 16"/>
          <p:cNvSpPr/>
          <p:nvPr/>
        </p:nvSpPr>
        <p:spPr>
          <a:xfrm>
            <a:off x="6336792" y="1554480"/>
            <a:ext cx="2697480" cy="3291840"/>
          </a:xfrm>
          <a:prstGeom prst="roundRect">
            <a:avLst>
              <a:gd name="adj" fmla="val 2712"/>
            </a:avLst>
          </a:prstGeom>
          <a:solidFill>
            <a:srgbClr val="E4F0EF"/>
          </a:solidFill>
          <a:ln/>
        </p:spPr>
      </p:sp>
      <p:sp>
        <p:nvSpPr>
          <p:cNvPr id="21" name="Shape 17"/>
          <p:cNvSpPr/>
          <p:nvPr/>
        </p:nvSpPr>
        <p:spPr>
          <a:xfrm>
            <a:off x="6556248" y="1783080"/>
            <a:ext cx="475488" cy="475488"/>
          </a:xfrm>
          <a:prstGeom prst="ellipse">
            <a:avLst/>
          </a:prstGeom>
          <a:solidFill>
            <a:srgbClr val="0E7C7B"/>
          </a:solidFill>
          <a:ln/>
        </p:spPr>
      </p:sp>
      <p:pic>
        <p:nvPicPr>
          <p:cNvPr id="22" name="Image 2" descr="/home/user/Claude-Works/ai-training-prompt-engineering/src/assets/icons/brain_w.png">    </p:cNvPr>
          <p:cNvPicPr>
            <a:picLocks noChangeAspect="1"/>
          </p:cNvPicPr>
          <p:nvPr/>
        </p:nvPicPr>
        <p:blipFill>
          <a:blip r:embed="rId3"/>
          <a:stretch>
            <a:fillRect/>
          </a:stretch>
        </p:blipFill>
        <p:spPr>
          <a:xfrm>
            <a:off x="6679875" y="1906707"/>
            <a:ext cx="228234" cy="228234"/>
          </a:xfrm>
          <a:prstGeom prst="rect">
            <a:avLst/>
          </a:prstGeom>
        </p:spPr>
      </p:pic>
      <p:sp>
        <p:nvSpPr>
          <p:cNvPr id="23" name="Text 18"/>
          <p:cNvSpPr/>
          <p:nvPr/>
        </p:nvSpPr>
        <p:spPr>
          <a:xfrm>
            <a:off x="7159752" y="1810512"/>
            <a:ext cx="1828800" cy="320040"/>
          </a:xfrm>
          <a:prstGeom prst="rect">
            <a:avLst/>
          </a:prstGeom>
          <a:noFill/>
          <a:ln/>
        </p:spPr>
        <p:txBody>
          <a:bodyPr wrap="square" lIns="0" tIns="0" rIns="0" bIns="0" rtlCol="0" anchor="ctr"/>
          <a:lstStyle/>
          <a:p>
            <a:pPr indent="0" marL="0">
              <a:buNone/>
            </a:pPr>
            <a:r>
              <a:rPr lang="en-US" sz="1550" b="1" dirty="0">
                <a:solidFill>
                  <a:srgbClr val="232A31"/>
                </a:solidFill>
                <a:latin typeface="Cambria" pitchFamily="34" charset="0"/>
                <a:ea typeface="Cambria" pitchFamily="34" charset="-122"/>
                <a:cs typeface="Cambria" pitchFamily="34" charset="-120"/>
              </a:rPr>
              <a:t>Generative</a:t>
            </a:r>
            <a:endParaRPr lang="en-US" sz="1550" dirty="0"/>
          </a:p>
        </p:txBody>
      </p:sp>
      <p:sp>
        <p:nvSpPr>
          <p:cNvPr id="24" name="Text 19"/>
          <p:cNvSpPr/>
          <p:nvPr/>
        </p:nvSpPr>
        <p:spPr>
          <a:xfrm>
            <a:off x="7159752" y="2121408"/>
            <a:ext cx="1828800" cy="256032"/>
          </a:xfrm>
          <a:prstGeom prst="rect">
            <a:avLst/>
          </a:prstGeom>
          <a:noFill/>
          <a:ln/>
        </p:spPr>
        <p:txBody>
          <a:bodyPr wrap="square" lIns="0" tIns="0" rIns="0" bIns="0" rtlCol="0" anchor="ctr"/>
          <a:lstStyle/>
          <a:p>
            <a:pPr indent="0" marL="0">
              <a:buNone/>
            </a:pPr>
            <a:r>
              <a:rPr lang="en-US" sz="950" b="1" dirty="0">
                <a:solidFill>
                  <a:srgbClr val="7A8790"/>
                </a:solidFill>
                <a:latin typeface="Calibri" pitchFamily="34" charset="0"/>
                <a:ea typeface="Calibri" pitchFamily="34" charset="-122"/>
                <a:cs typeface="Calibri" pitchFamily="34" charset="-120"/>
              </a:rPr>
              <a:t>2017–</a:t>
            </a:r>
            <a:endParaRPr lang="en-US" sz="950" dirty="0"/>
          </a:p>
        </p:txBody>
      </p:sp>
      <p:sp>
        <p:nvSpPr>
          <p:cNvPr id="25" name="Text 20"/>
          <p:cNvSpPr/>
          <p:nvPr/>
        </p:nvSpPr>
        <p:spPr>
          <a:xfrm>
            <a:off x="6556248" y="2514600"/>
            <a:ext cx="2286000" cy="2194560"/>
          </a:xfrm>
          <a:prstGeom prst="rect">
            <a:avLst/>
          </a:prstGeom>
          <a:noFill/>
          <a:ln/>
        </p:spPr>
        <p:txBody>
          <a:bodyPr wrap="square" lIns="0" tIns="0" rIns="0" bIns="0" rtlCol="0" anchor="ctr"/>
          <a:lstStyle/>
          <a:p>
            <a:pPr indent="0" marL="0">
              <a:lnSpc>
                <a:spcPct val="110000"/>
              </a:lnSpc>
              <a:buNone/>
            </a:pPr>
            <a:r>
              <a:rPr lang="en-US" sz="1060" dirty="0">
                <a:solidFill>
                  <a:srgbClr val="46545F"/>
                </a:solidFill>
                <a:latin typeface="Calibri" pitchFamily="34" charset="0"/>
                <a:ea typeface="Calibri" pitchFamily="34" charset="-122"/>
                <a:cs typeface="Calibri" pitchFamily="34" charset="-120"/>
              </a:rPr>
              <a:t>The Transformer (2017) lets models train on the whole internet in parallel. Predict-the-next-word at that scale writes, summarizes, codes. ChatGPT makes it a product (2022).</a:t>
            </a:r>
            <a:endParaRPr lang="en-US" sz="1060" dirty="0"/>
          </a:p>
        </p:txBody>
      </p:sp>
      <p:sp>
        <p:nvSpPr>
          <p:cNvPr id="26" name="Shape 21"/>
          <p:cNvSpPr/>
          <p:nvPr/>
        </p:nvSpPr>
        <p:spPr>
          <a:xfrm>
            <a:off x="9052560" y="3154680"/>
            <a:ext cx="182880" cy="0"/>
          </a:xfrm>
          <a:prstGeom prst="line">
            <a:avLst/>
          </a:prstGeom>
          <a:noFill/>
          <a:ln w="28575">
            <a:solidFill>
              <a:srgbClr val="0E7C7B"/>
            </a:solidFill>
            <a:prstDash val="solid"/>
            <a:tailEnd type="triangle"/>
          </a:ln>
        </p:spPr>
      </p:sp>
      <p:sp>
        <p:nvSpPr>
          <p:cNvPr id="27" name="Shape 22"/>
          <p:cNvSpPr/>
          <p:nvPr/>
        </p:nvSpPr>
        <p:spPr>
          <a:xfrm>
            <a:off x="9253728" y="1554480"/>
            <a:ext cx="2697480" cy="3291840"/>
          </a:xfrm>
          <a:prstGeom prst="roundRect">
            <a:avLst>
              <a:gd name="adj" fmla="val 2712"/>
            </a:avLst>
          </a:prstGeom>
          <a:solidFill>
            <a:srgbClr val="E4F0EF"/>
          </a:solidFill>
          <a:ln/>
        </p:spPr>
      </p:sp>
      <p:sp>
        <p:nvSpPr>
          <p:cNvPr id="28" name="Shape 23"/>
          <p:cNvSpPr/>
          <p:nvPr/>
        </p:nvSpPr>
        <p:spPr>
          <a:xfrm>
            <a:off x="9473184" y="1783080"/>
            <a:ext cx="475488" cy="475488"/>
          </a:xfrm>
          <a:prstGeom prst="ellipse">
            <a:avLst/>
          </a:prstGeom>
          <a:solidFill>
            <a:srgbClr val="0E7C7B"/>
          </a:solidFill>
          <a:ln/>
        </p:spPr>
      </p:sp>
      <p:pic>
        <p:nvPicPr>
          <p:cNvPr id="29" name="Image 3" descr="/home/user/Claude-Works/ai-training-prompt-engineering/src/assets/icons/robot_w.png">    </p:cNvPr>
          <p:cNvPicPr>
            <a:picLocks noChangeAspect="1"/>
          </p:cNvPicPr>
          <p:nvPr/>
        </p:nvPicPr>
        <p:blipFill>
          <a:blip r:embed="rId4"/>
          <a:stretch>
            <a:fillRect/>
          </a:stretch>
        </p:blipFill>
        <p:spPr>
          <a:xfrm>
            <a:off x="9596811" y="1906707"/>
            <a:ext cx="228234" cy="228234"/>
          </a:xfrm>
          <a:prstGeom prst="rect">
            <a:avLst/>
          </a:prstGeom>
        </p:spPr>
      </p:pic>
      <p:sp>
        <p:nvSpPr>
          <p:cNvPr id="30" name="Text 24"/>
          <p:cNvSpPr/>
          <p:nvPr/>
        </p:nvSpPr>
        <p:spPr>
          <a:xfrm>
            <a:off x="10076688" y="1810512"/>
            <a:ext cx="1828800" cy="320040"/>
          </a:xfrm>
          <a:prstGeom prst="rect">
            <a:avLst/>
          </a:prstGeom>
          <a:noFill/>
          <a:ln/>
        </p:spPr>
        <p:txBody>
          <a:bodyPr wrap="square" lIns="0" tIns="0" rIns="0" bIns="0" rtlCol="0" anchor="ctr"/>
          <a:lstStyle/>
          <a:p>
            <a:pPr indent="0" marL="0">
              <a:buNone/>
            </a:pPr>
            <a:r>
              <a:rPr lang="en-US" sz="1550" b="1" dirty="0">
                <a:solidFill>
                  <a:srgbClr val="232A31"/>
                </a:solidFill>
                <a:latin typeface="Cambria" pitchFamily="34" charset="0"/>
                <a:ea typeface="Cambria" pitchFamily="34" charset="-122"/>
                <a:cs typeface="Cambria" pitchFamily="34" charset="-120"/>
              </a:rPr>
              <a:t>Agentic</a:t>
            </a:r>
            <a:endParaRPr lang="en-US" sz="1550" dirty="0"/>
          </a:p>
        </p:txBody>
      </p:sp>
      <p:sp>
        <p:nvSpPr>
          <p:cNvPr id="31" name="Text 25"/>
          <p:cNvSpPr/>
          <p:nvPr/>
        </p:nvSpPr>
        <p:spPr>
          <a:xfrm>
            <a:off x="10076688" y="2121408"/>
            <a:ext cx="1828800" cy="256032"/>
          </a:xfrm>
          <a:prstGeom prst="rect">
            <a:avLst/>
          </a:prstGeom>
          <a:noFill/>
          <a:ln/>
        </p:spPr>
        <p:txBody>
          <a:bodyPr wrap="square" lIns="0" tIns="0" rIns="0" bIns="0" rtlCol="0" anchor="ctr"/>
          <a:lstStyle/>
          <a:p>
            <a:pPr indent="0" marL="0">
              <a:buNone/>
            </a:pPr>
            <a:r>
              <a:rPr lang="en-US" sz="950" b="1" dirty="0">
                <a:solidFill>
                  <a:srgbClr val="7A8790"/>
                </a:solidFill>
                <a:latin typeface="Calibri" pitchFamily="34" charset="0"/>
                <a:ea typeface="Calibri" pitchFamily="34" charset="-122"/>
                <a:cs typeface="Calibri" pitchFamily="34" charset="-120"/>
              </a:rPr>
              <a:t>2024–</a:t>
            </a:r>
            <a:endParaRPr lang="en-US" sz="950" dirty="0"/>
          </a:p>
        </p:txBody>
      </p:sp>
      <p:sp>
        <p:nvSpPr>
          <p:cNvPr id="32" name="Text 26"/>
          <p:cNvSpPr/>
          <p:nvPr/>
        </p:nvSpPr>
        <p:spPr>
          <a:xfrm>
            <a:off x="9473184" y="2514600"/>
            <a:ext cx="2286000" cy="2194560"/>
          </a:xfrm>
          <a:prstGeom prst="rect">
            <a:avLst/>
          </a:prstGeom>
          <a:noFill/>
          <a:ln/>
        </p:spPr>
        <p:txBody>
          <a:bodyPr wrap="square" lIns="0" tIns="0" rIns="0" bIns="0" rtlCol="0" anchor="ctr"/>
          <a:lstStyle/>
          <a:p>
            <a:pPr indent="0" marL="0">
              <a:lnSpc>
                <a:spcPct val="110000"/>
              </a:lnSpc>
              <a:buNone/>
            </a:pPr>
            <a:r>
              <a:rPr lang="en-US" sz="1060" dirty="0">
                <a:solidFill>
                  <a:srgbClr val="46545F"/>
                </a:solidFill>
                <a:latin typeface="Calibri" pitchFamily="34" charset="0"/>
                <a:ea typeface="Calibri" pitchFamily="34" charset="-122"/>
                <a:cs typeface="Calibri" pitchFamily="34" charset="-120"/>
              </a:rPr>
              <a:t>Models get “arms”: tools, browsers, files, code. Reasoning models plan multi-step work; agents execute it with limited supervision. Where the frontier is now.</a:t>
            </a:r>
            <a:endParaRPr lang="en-US" sz="1060" dirty="0"/>
          </a:p>
        </p:txBody>
      </p:sp>
      <p:sp>
        <p:nvSpPr>
          <p:cNvPr id="33" name="Shape 27"/>
          <p:cNvSpPr/>
          <p:nvPr/>
        </p:nvSpPr>
        <p:spPr>
          <a:xfrm>
            <a:off x="502920" y="5120640"/>
            <a:ext cx="11155680" cy="960120"/>
          </a:xfrm>
          <a:prstGeom prst="roundRect">
            <a:avLst>
              <a:gd name="adj" fmla="val 7619"/>
            </a:avLst>
          </a:prstGeom>
          <a:solidFill>
            <a:srgbClr val="FBF0E0"/>
          </a:solidFill>
          <a:ln/>
        </p:spPr>
      </p:sp>
      <p:sp>
        <p:nvSpPr>
          <p:cNvPr id="34" name="Shape 28"/>
          <p:cNvSpPr/>
          <p:nvPr/>
        </p:nvSpPr>
        <p:spPr>
          <a:xfrm>
            <a:off x="667512" y="5408676"/>
            <a:ext cx="384048" cy="384048"/>
          </a:xfrm>
          <a:prstGeom prst="ellipse">
            <a:avLst/>
          </a:prstGeom>
          <a:solidFill>
            <a:srgbClr val="B96A1B"/>
          </a:solidFill>
          <a:ln/>
        </p:spPr>
      </p:sp>
      <p:pic>
        <p:nvPicPr>
          <p:cNvPr id="35" name="Image 4" descr="/home/user/Claude-Works/ai-training-prompt-engineering/src/assets/icons/trend_w.png">    </p:cNvPr>
          <p:cNvPicPr>
            <a:picLocks noChangeAspect="1"/>
          </p:cNvPicPr>
          <p:nvPr/>
        </p:nvPicPr>
        <p:blipFill>
          <a:blip r:embed="rId5"/>
          <a:stretch>
            <a:fillRect/>
          </a:stretch>
        </p:blipFill>
        <p:spPr>
          <a:xfrm>
            <a:off x="767364" y="5508528"/>
            <a:ext cx="184343" cy="184343"/>
          </a:xfrm>
          <a:prstGeom prst="rect">
            <a:avLst/>
          </a:prstGeom>
        </p:spPr>
      </p:pic>
      <p:sp>
        <p:nvSpPr>
          <p:cNvPr id="36" name="Text 29"/>
          <p:cNvSpPr/>
          <p:nvPr/>
        </p:nvSpPr>
        <p:spPr>
          <a:xfrm>
            <a:off x="1216152" y="5193792"/>
            <a:ext cx="10213848" cy="81381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Why the last decade exploded — scaling laws (2020):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bigger model + more data + more compute = predictably better results. Progress stopped being a research gamble and became an investment roadmap.</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DECADE THAT CHANGED WORK</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2017 → 2026: from one paper to a billion users</a:t>
            </a:r>
            <a:endParaRPr lang="en-US" sz="3000" dirty="0"/>
          </a:p>
        </p:txBody>
      </p:sp>
      <p:sp>
        <p:nvSpPr>
          <p:cNvPr id="6" name="Text 4"/>
          <p:cNvSpPr/>
          <p:nvPr/>
        </p:nvSpPr>
        <p:spPr>
          <a:xfrm>
            <a:off x="502920" y="148132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2017</a:t>
            </a:r>
            <a:endParaRPr lang="en-US" sz="1500" dirty="0"/>
          </a:p>
        </p:txBody>
      </p:sp>
      <p:sp>
        <p:nvSpPr>
          <p:cNvPr id="7" name="Text 5"/>
          <p:cNvSpPr/>
          <p:nvPr/>
        </p:nvSpPr>
        <p:spPr>
          <a:xfrm>
            <a:off x="1417320" y="148132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The Transformer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“Attention Is All You Need” (Google) — an architecture that scales with hardware</a:t>
            </a:r>
            <a:endParaRPr lang="en-US" sz="1250" dirty="0"/>
          </a:p>
        </p:txBody>
      </p:sp>
      <p:sp>
        <p:nvSpPr>
          <p:cNvPr id="8" name="Text 6"/>
          <p:cNvSpPr/>
          <p:nvPr/>
        </p:nvSpPr>
        <p:spPr>
          <a:xfrm>
            <a:off x="502920" y="2231136"/>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2020</a:t>
            </a:r>
            <a:endParaRPr lang="en-US" sz="1500" dirty="0"/>
          </a:p>
        </p:txBody>
      </p:sp>
      <p:sp>
        <p:nvSpPr>
          <p:cNvPr id="9" name="Text 7"/>
          <p:cNvSpPr/>
          <p:nvPr/>
        </p:nvSpPr>
        <p:spPr>
          <a:xfrm>
            <a:off x="1417320" y="2231136"/>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GPT-3: few-shot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show it examples in the prompt, it does the task — prompt engineering is born</a:t>
            </a:r>
            <a:endParaRPr lang="en-US" sz="1250" dirty="0"/>
          </a:p>
        </p:txBody>
      </p:sp>
      <p:sp>
        <p:nvSpPr>
          <p:cNvPr id="10" name="Text 8"/>
          <p:cNvSpPr/>
          <p:nvPr/>
        </p:nvSpPr>
        <p:spPr>
          <a:xfrm>
            <a:off x="502920" y="2980944"/>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2022</a:t>
            </a:r>
            <a:endParaRPr lang="en-US" sz="1500" dirty="0"/>
          </a:p>
        </p:txBody>
      </p:sp>
      <p:sp>
        <p:nvSpPr>
          <p:cNvPr id="11" name="Text 9"/>
          <p:cNvSpPr/>
          <p:nvPr/>
        </p:nvSpPr>
        <p:spPr>
          <a:xfrm>
            <a:off x="1417320" y="2980944"/>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RLHF + ChatGPT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instruction tuning turns a predictor into an assistant; 100M users in 2 months</a:t>
            </a:r>
            <a:endParaRPr lang="en-US" sz="1250" dirty="0"/>
          </a:p>
        </p:txBody>
      </p:sp>
      <p:sp>
        <p:nvSpPr>
          <p:cNvPr id="12" name="Text 10"/>
          <p:cNvSpPr/>
          <p:nvPr/>
        </p:nvSpPr>
        <p:spPr>
          <a:xfrm>
            <a:off x="502920" y="3730752"/>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2024</a:t>
            </a:r>
            <a:endParaRPr lang="en-US" sz="1500" dirty="0"/>
          </a:p>
        </p:txBody>
      </p:sp>
      <p:sp>
        <p:nvSpPr>
          <p:cNvPr id="13" name="Text 11"/>
          <p:cNvSpPr/>
          <p:nvPr/>
        </p:nvSpPr>
        <p:spPr>
          <a:xfrm>
            <a:off x="1417320" y="3730752"/>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Reasoning models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OpenAI o1 “thinks” before answering — pay compute at answer time, not just training</a:t>
            </a:r>
            <a:endParaRPr lang="en-US" sz="1250" dirty="0"/>
          </a:p>
        </p:txBody>
      </p:sp>
      <p:sp>
        <p:nvSpPr>
          <p:cNvPr id="14" name="Text 12"/>
          <p:cNvSpPr/>
          <p:nvPr/>
        </p:nvSpPr>
        <p:spPr>
          <a:xfrm>
            <a:off x="502920" y="4480560"/>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2025</a:t>
            </a:r>
            <a:endParaRPr lang="en-US" sz="1500" dirty="0"/>
          </a:p>
        </p:txBody>
      </p:sp>
      <p:sp>
        <p:nvSpPr>
          <p:cNvPr id="15" name="Text 13"/>
          <p:cNvSpPr/>
          <p:nvPr/>
        </p:nvSpPr>
        <p:spPr>
          <a:xfrm>
            <a:off x="1417320" y="4480560"/>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The agentic turn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DeepSeek R1 open-weights reasoning · computer &amp; browser use · Claude Code · ChatGPT agent</a:t>
            </a:r>
            <a:endParaRPr lang="en-US" sz="1250" dirty="0"/>
          </a:p>
        </p:txBody>
      </p:sp>
      <p:sp>
        <p:nvSpPr>
          <p:cNvPr id="16" name="Text 14"/>
          <p:cNvSpPr/>
          <p:nvPr/>
        </p:nvSpPr>
        <p:spPr>
          <a:xfrm>
            <a:off x="502920" y="523036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2026</a:t>
            </a:r>
            <a:endParaRPr lang="en-US" sz="1500" dirty="0"/>
          </a:p>
        </p:txBody>
      </p:sp>
      <p:sp>
        <p:nvSpPr>
          <p:cNvPr id="17" name="Text 15"/>
          <p:cNvSpPr/>
          <p:nvPr/>
        </p:nvSpPr>
        <p:spPr>
          <a:xfrm>
            <a:off x="1417320" y="523036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Agents for everyone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Claude Cowork brings the coding-agent engine to general office work</a:t>
            </a:r>
            <a:endParaRPr lang="en-US" sz="1250" dirty="0"/>
          </a:p>
        </p:txBody>
      </p:sp>
      <p:sp>
        <p:nvSpPr>
          <p:cNvPr id="18" name="Shape 16"/>
          <p:cNvSpPr/>
          <p:nvPr/>
        </p:nvSpPr>
        <p:spPr>
          <a:xfrm>
            <a:off x="1298448" y="1554480"/>
            <a:ext cx="0" cy="4297680"/>
          </a:xfrm>
          <a:prstGeom prst="line">
            <a:avLst/>
          </a:prstGeom>
          <a:noFill/>
          <a:ln w="19050">
            <a:solidFill>
              <a:srgbClr val="DCE3E6"/>
            </a:solidFill>
            <a:prstDash val="solid"/>
          </a:ln>
        </p:spPr>
      </p:sp>
      <p:sp>
        <p:nvSpPr>
          <p:cNvPr id="19" name="Shape 17"/>
          <p:cNvSpPr/>
          <p:nvPr/>
        </p:nvSpPr>
        <p:spPr>
          <a:xfrm>
            <a:off x="7589520" y="1481328"/>
            <a:ext cx="4069080" cy="4480560"/>
          </a:xfrm>
          <a:prstGeom prst="roundRect">
            <a:avLst>
              <a:gd name="adj" fmla="val 1798"/>
            </a:avLst>
          </a:prstGeom>
          <a:solidFill>
            <a:srgbClr val="F2F5F6"/>
          </a:solidFill>
          <a:ln/>
        </p:spPr>
      </p:sp>
      <p:sp>
        <p:nvSpPr>
          <p:cNvPr id="20" name="Text 18"/>
          <p:cNvSpPr/>
          <p:nvPr/>
        </p:nvSpPr>
        <p:spPr>
          <a:xfrm>
            <a:off x="7863840" y="1691640"/>
            <a:ext cx="35661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Adoption, in numbers</a:t>
            </a:r>
            <a:endParaRPr lang="en-US" sz="1500" dirty="0"/>
          </a:p>
        </p:txBody>
      </p:sp>
      <p:sp>
        <p:nvSpPr>
          <p:cNvPr id="21" name="Text 19"/>
          <p:cNvSpPr/>
          <p:nvPr/>
        </p:nvSpPr>
        <p:spPr>
          <a:xfrm>
            <a:off x="7882128" y="2148840"/>
            <a:ext cx="3566160" cy="3657600"/>
          </a:xfrm>
          <a:prstGeom prst="rect">
            <a:avLst/>
          </a:prstGeom>
          <a:noFill/>
          <a:ln/>
        </p:spPr>
        <p:txBody>
          <a:bodyPr wrap="square" lIns="0" tIns="0" rIns="0" bIns="0" rtlCol="0" anchor="t"/>
          <a:lstStyle/>
          <a:p>
            <a:pPr algn="l" marL="127000" indent="-127000">
              <a:lnSpc>
                <a:spcPct val="104000"/>
              </a:lnSpc>
              <a:spcAft>
                <a:spcPts val="900"/>
              </a:spcAft>
              <a:buSzPct val="100000"/>
              <a:buChar char="•"/>
            </a:pPr>
            <a:r>
              <a:rPr lang="en-US" sz="1150" dirty="0">
                <a:solidFill>
                  <a:srgbClr val="46545F"/>
                </a:solidFill>
                <a:latin typeface="Calibri" pitchFamily="34" charset="0"/>
                <a:ea typeface="Calibri" pitchFamily="34" charset="-122"/>
                <a:cs typeface="Calibri" pitchFamily="34" charset="-120"/>
              </a:rPr>
              <a:t>ChatGPT: 100M users in 2 months (2023) — fastest consumer ramp ever recorded; 900M+ weekly users by Feb 2026</a:t>
            </a:r>
            <a:endParaRPr lang="en-US" sz="1150" dirty="0"/>
          </a:p>
          <a:p>
            <a:pPr algn="l" marL="127000" indent="-127000">
              <a:lnSpc>
                <a:spcPct val="104000"/>
              </a:lnSpc>
              <a:spcAft>
                <a:spcPts val="900"/>
              </a:spcAft>
              <a:buSzPct val="100000"/>
              <a:buChar char="•"/>
            </a:pPr>
            <a:r>
              <a:rPr lang="en-US" sz="1150" dirty="0">
                <a:solidFill>
                  <a:srgbClr val="46545F"/>
                </a:solidFill>
                <a:latin typeface="Calibri" pitchFamily="34" charset="0"/>
                <a:ea typeface="Calibri" pitchFamily="34" charset="-122"/>
                <a:cs typeface="Calibri" pitchFamily="34" charset="-120"/>
              </a:rPr>
              <a:t>Google Gemini app: 1B monthly users (Aug 2026)</a:t>
            </a:r>
            <a:endParaRPr lang="en-US" sz="1150" dirty="0"/>
          </a:p>
          <a:p>
            <a:pPr algn="l" marL="127000" indent="-127000">
              <a:lnSpc>
                <a:spcPct val="104000"/>
              </a:lnSpc>
              <a:spcAft>
                <a:spcPts val="900"/>
              </a:spcAft>
              <a:buSzPct val="100000"/>
              <a:buChar char="•"/>
            </a:pPr>
            <a:r>
              <a:rPr lang="en-US" sz="1150" dirty="0">
                <a:solidFill>
                  <a:srgbClr val="46545F"/>
                </a:solidFill>
                <a:latin typeface="Calibri" pitchFamily="34" charset="0"/>
                <a:ea typeface="Calibri" pitchFamily="34" charset="-122"/>
                <a:cs typeface="Calibri" pitchFamily="34" charset="-120"/>
              </a:rPr>
              <a:t>88% of organizations now use AI somewhere; generative AI ~70% (Stanford AI Index 2026)</a:t>
            </a:r>
            <a:endParaRPr lang="en-US" sz="1150" dirty="0"/>
          </a:p>
          <a:p>
            <a:pPr algn="l" marL="127000" indent="-127000">
              <a:lnSpc>
                <a:spcPct val="104000"/>
              </a:lnSpc>
              <a:spcAft>
                <a:spcPts val="900"/>
              </a:spcAft>
              <a:buSzPct val="100000"/>
              <a:buChar char="•"/>
            </a:pPr>
            <a:r>
              <a:rPr lang="en-US" sz="1150" b="1" dirty="0">
                <a:solidFill>
                  <a:srgbClr val="46545F"/>
                </a:solidFill>
                <a:latin typeface="Calibri" pitchFamily="34" charset="0"/>
                <a:ea typeface="Calibri" pitchFamily="34" charset="-122"/>
                <a:cs typeface="Calibri" pitchFamily="34" charset="-120"/>
              </a:rPr>
              <a:t>But agent deployment is still single-digit % across most business functions — the gap is the opportunity</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HOW LLMS WORK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UNDER THE HOOD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prediction engine, sent to finishing school</a:t>
            </a:r>
            <a:endParaRPr lang="en-US" sz="3000" dirty="0"/>
          </a:p>
        </p:txBody>
      </p:sp>
      <p:sp>
        <p:nvSpPr>
          <p:cNvPr id="6" name="Shape 4"/>
          <p:cNvSpPr/>
          <p:nvPr/>
        </p:nvSpPr>
        <p:spPr>
          <a:xfrm>
            <a:off x="502920" y="1554480"/>
            <a:ext cx="3611880" cy="2743200"/>
          </a:xfrm>
          <a:prstGeom prst="roundRect">
            <a:avLst>
              <a:gd name="adj" fmla="val 2667"/>
            </a:avLst>
          </a:prstGeom>
          <a:solidFill>
            <a:srgbClr val="F2F5F6"/>
          </a:solidFill>
          <a:ln/>
        </p:spPr>
      </p:sp>
      <p:sp>
        <p:nvSpPr>
          <p:cNvPr id="7" name="Shape 5"/>
          <p:cNvSpPr/>
          <p:nvPr/>
        </p:nvSpPr>
        <p:spPr>
          <a:xfrm>
            <a:off x="758952" y="1783080"/>
            <a:ext cx="502920" cy="502920"/>
          </a:xfrm>
          <a:prstGeom prst="ellipse">
            <a:avLst/>
          </a:prstGeom>
          <a:solidFill>
            <a:srgbClr val="0E7C7B"/>
          </a:solidFill>
          <a:ln/>
        </p:spPr>
      </p:sp>
      <p:pic>
        <p:nvPicPr>
          <p:cNvPr id="8" name="Image 0" descr="/home/user/Claude-Works/ai-training-prompt-engineering/src/assets/icons/database_w.png">    </p:cNvPr>
          <p:cNvPicPr>
            <a:picLocks noChangeAspect="1"/>
          </p:cNvPicPr>
          <p:nvPr/>
        </p:nvPicPr>
        <p:blipFill>
          <a:blip r:embed="rId1"/>
          <a:stretch>
            <a:fillRect/>
          </a:stretch>
        </p:blipFill>
        <p:spPr>
          <a:xfrm>
            <a:off x="889711" y="1913839"/>
            <a:ext cx="241402" cy="241402"/>
          </a:xfrm>
          <a:prstGeom prst="rect">
            <a:avLst/>
          </a:prstGeom>
        </p:spPr>
      </p:pic>
      <p:sp>
        <p:nvSpPr>
          <p:cNvPr id="9" name="Text 6"/>
          <p:cNvSpPr/>
          <p:nvPr/>
        </p:nvSpPr>
        <p:spPr>
          <a:xfrm>
            <a:off x="758952" y="2395728"/>
            <a:ext cx="3108960" cy="365760"/>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1 · Pretraining</a:t>
            </a:r>
            <a:endParaRPr lang="en-US" sz="1450" dirty="0"/>
          </a:p>
        </p:txBody>
      </p:sp>
      <p:sp>
        <p:nvSpPr>
          <p:cNvPr id="10" name="Text 7"/>
          <p:cNvSpPr/>
          <p:nvPr/>
        </p:nvSpPr>
        <p:spPr>
          <a:xfrm>
            <a:off x="758952" y="2788920"/>
            <a:ext cx="3127248" cy="1417320"/>
          </a:xfrm>
          <a:prstGeom prst="rect">
            <a:avLst/>
          </a:prstGeom>
          <a:noFill/>
          <a:ln/>
        </p:spPr>
        <p:txBody>
          <a:bodyPr wrap="square" lIns="0" tIns="0" rIns="0" bIns="0" rtlCol="0" anchor="ctr"/>
          <a:lstStyle/>
          <a:p>
            <a:pPr indent="0" marL="0">
              <a:lnSpc>
                <a:spcPct val="108000"/>
              </a:lnSpc>
              <a:buNone/>
            </a:pPr>
            <a:r>
              <a:rPr lang="en-US" sz="1080" dirty="0">
                <a:solidFill>
                  <a:srgbClr val="46545F"/>
                </a:solidFill>
                <a:latin typeface="Calibri" pitchFamily="34" charset="0"/>
                <a:ea typeface="Calibri" pitchFamily="34" charset="-122"/>
                <a:cs typeface="Calibri" pitchFamily="34" charset="-120"/>
              </a:rPr>
              <a:t>Months, trillions of words: learn to predict the next token on internet-scale text. Language, facts, and reasoning patterns compress into billions of learned weights.</a:t>
            </a:r>
            <a:endParaRPr lang="en-US" sz="1080" dirty="0"/>
          </a:p>
        </p:txBody>
      </p:sp>
      <p:sp>
        <p:nvSpPr>
          <p:cNvPr id="11" name="Shape 8"/>
          <p:cNvSpPr/>
          <p:nvPr/>
        </p:nvSpPr>
        <p:spPr>
          <a:xfrm>
            <a:off x="4133088" y="2880360"/>
            <a:ext cx="182880" cy="0"/>
          </a:xfrm>
          <a:prstGeom prst="line">
            <a:avLst/>
          </a:prstGeom>
          <a:noFill/>
          <a:ln w="28575">
            <a:solidFill>
              <a:srgbClr val="0E7C7B"/>
            </a:solidFill>
            <a:prstDash val="solid"/>
            <a:tailEnd type="triangle"/>
          </a:ln>
        </p:spPr>
      </p:sp>
      <p:sp>
        <p:nvSpPr>
          <p:cNvPr id="12" name="Shape 9"/>
          <p:cNvSpPr/>
          <p:nvPr/>
        </p:nvSpPr>
        <p:spPr>
          <a:xfrm>
            <a:off x="4325112" y="1554480"/>
            <a:ext cx="3611880" cy="2743200"/>
          </a:xfrm>
          <a:prstGeom prst="roundRect">
            <a:avLst>
              <a:gd name="adj" fmla="val 2667"/>
            </a:avLst>
          </a:prstGeom>
          <a:solidFill>
            <a:srgbClr val="F2F5F6"/>
          </a:solidFill>
          <a:ln/>
        </p:spPr>
      </p:sp>
      <p:sp>
        <p:nvSpPr>
          <p:cNvPr id="13" name="Shape 10"/>
          <p:cNvSpPr/>
          <p:nvPr/>
        </p:nvSpPr>
        <p:spPr>
          <a:xfrm>
            <a:off x="4581144" y="1783080"/>
            <a:ext cx="502920" cy="502920"/>
          </a:xfrm>
          <a:prstGeom prst="ellipse">
            <a:avLst/>
          </a:prstGeom>
          <a:solidFill>
            <a:srgbClr val="0E7C7B"/>
          </a:solidFill>
          <a:ln/>
        </p:spPr>
      </p:sp>
      <p:pic>
        <p:nvPicPr>
          <p:cNvPr id="14" name="Image 1" descr="/home/user/Claude-Works/ai-training-prompt-engineering/src/assets/icons/list_w.png">    </p:cNvPr>
          <p:cNvPicPr>
            <a:picLocks noChangeAspect="1"/>
          </p:cNvPicPr>
          <p:nvPr/>
        </p:nvPicPr>
        <p:blipFill>
          <a:blip r:embed="rId2"/>
          <a:stretch>
            <a:fillRect/>
          </a:stretch>
        </p:blipFill>
        <p:spPr>
          <a:xfrm>
            <a:off x="4711903" y="1913839"/>
            <a:ext cx="241402" cy="241402"/>
          </a:xfrm>
          <a:prstGeom prst="rect">
            <a:avLst/>
          </a:prstGeom>
        </p:spPr>
      </p:pic>
      <p:sp>
        <p:nvSpPr>
          <p:cNvPr id="15" name="Text 11"/>
          <p:cNvSpPr/>
          <p:nvPr/>
        </p:nvSpPr>
        <p:spPr>
          <a:xfrm>
            <a:off x="4581144" y="2395728"/>
            <a:ext cx="3108960" cy="365760"/>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2 · Instruction tuning</a:t>
            </a:r>
            <a:endParaRPr lang="en-US" sz="1450" dirty="0"/>
          </a:p>
        </p:txBody>
      </p:sp>
      <p:sp>
        <p:nvSpPr>
          <p:cNvPr id="16" name="Text 12"/>
          <p:cNvSpPr/>
          <p:nvPr/>
        </p:nvSpPr>
        <p:spPr>
          <a:xfrm>
            <a:off x="4581144" y="2788920"/>
            <a:ext cx="3127248" cy="1417320"/>
          </a:xfrm>
          <a:prstGeom prst="rect">
            <a:avLst/>
          </a:prstGeom>
          <a:noFill/>
          <a:ln/>
        </p:spPr>
        <p:txBody>
          <a:bodyPr wrap="square" lIns="0" tIns="0" rIns="0" bIns="0" rtlCol="0" anchor="ctr"/>
          <a:lstStyle/>
          <a:p>
            <a:pPr indent="0" marL="0">
              <a:lnSpc>
                <a:spcPct val="108000"/>
              </a:lnSpc>
              <a:buNone/>
            </a:pPr>
            <a:r>
              <a:rPr lang="en-US" sz="1080" dirty="0">
                <a:solidFill>
                  <a:srgbClr val="46545F"/>
                </a:solidFill>
                <a:latin typeface="Calibri" pitchFamily="34" charset="0"/>
                <a:ea typeface="Calibri" pitchFamily="34" charset="-122"/>
                <a:cs typeface="Calibri" pitchFamily="34" charset="-120"/>
              </a:rPr>
              <a:t>Curated example dialogues teach it to follow instructions and answer questions — instead of just continuing your text.</a:t>
            </a:r>
            <a:endParaRPr lang="en-US" sz="1080" dirty="0"/>
          </a:p>
        </p:txBody>
      </p:sp>
      <p:sp>
        <p:nvSpPr>
          <p:cNvPr id="17" name="Shape 13"/>
          <p:cNvSpPr/>
          <p:nvPr/>
        </p:nvSpPr>
        <p:spPr>
          <a:xfrm>
            <a:off x="7955280" y="2880360"/>
            <a:ext cx="182880" cy="0"/>
          </a:xfrm>
          <a:prstGeom prst="line">
            <a:avLst/>
          </a:prstGeom>
          <a:noFill/>
          <a:ln w="28575">
            <a:solidFill>
              <a:srgbClr val="0E7C7B"/>
            </a:solidFill>
            <a:prstDash val="solid"/>
            <a:tailEnd type="triangle"/>
          </a:ln>
        </p:spPr>
      </p:sp>
      <p:sp>
        <p:nvSpPr>
          <p:cNvPr id="18" name="Shape 14"/>
          <p:cNvSpPr/>
          <p:nvPr/>
        </p:nvSpPr>
        <p:spPr>
          <a:xfrm>
            <a:off x="8147304" y="1554480"/>
            <a:ext cx="3611880" cy="2743200"/>
          </a:xfrm>
          <a:prstGeom prst="roundRect">
            <a:avLst>
              <a:gd name="adj" fmla="val 2667"/>
            </a:avLst>
          </a:prstGeom>
          <a:solidFill>
            <a:srgbClr val="F2F5F6"/>
          </a:solidFill>
          <a:ln/>
        </p:spPr>
      </p:sp>
      <p:sp>
        <p:nvSpPr>
          <p:cNvPr id="19" name="Shape 15"/>
          <p:cNvSpPr/>
          <p:nvPr/>
        </p:nvSpPr>
        <p:spPr>
          <a:xfrm>
            <a:off x="8403336" y="1783080"/>
            <a:ext cx="502920" cy="502920"/>
          </a:xfrm>
          <a:prstGeom prst="ellipse">
            <a:avLst/>
          </a:prstGeom>
          <a:solidFill>
            <a:srgbClr val="0E7C7B"/>
          </a:solidFill>
          <a:ln/>
        </p:spPr>
      </p:sp>
      <p:pic>
        <p:nvPicPr>
          <p:cNvPr id="20" name="Image 2" descr="/home/user/Claude-Works/ai-training-prompt-engineering/src/assets/icons/thumbsup_w.png">    </p:cNvPr>
          <p:cNvPicPr>
            <a:picLocks noChangeAspect="1"/>
          </p:cNvPicPr>
          <p:nvPr/>
        </p:nvPicPr>
        <p:blipFill>
          <a:blip r:embed="rId3"/>
          <a:stretch>
            <a:fillRect/>
          </a:stretch>
        </p:blipFill>
        <p:spPr>
          <a:xfrm>
            <a:off x="8534095" y="1913839"/>
            <a:ext cx="241402" cy="241402"/>
          </a:xfrm>
          <a:prstGeom prst="rect">
            <a:avLst/>
          </a:prstGeom>
        </p:spPr>
      </p:pic>
      <p:sp>
        <p:nvSpPr>
          <p:cNvPr id="21" name="Text 16"/>
          <p:cNvSpPr/>
          <p:nvPr/>
        </p:nvSpPr>
        <p:spPr>
          <a:xfrm>
            <a:off x="8403336" y="2395728"/>
            <a:ext cx="3108960" cy="365760"/>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3 · Human feedback (RLHF)</a:t>
            </a:r>
            <a:endParaRPr lang="en-US" sz="1450" dirty="0"/>
          </a:p>
        </p:txBody>
      </p:sp>
      <p:sp>
        <p:nvSpPr>
          <p:cNvPr id="22" name="Text 17"/>
          <p:cNvSpPr/>
          <p:nvPr/>
        </p:nvSpPr>
        <p:spPr>
          <a:xfrm>
            <a:off x="8403336" y="2788920"/>
            <a:ext cx="3127248" cy="1417320"/>
          </a:xfrm>
          <a:prstGeom prst="rect">
            <a:avLst/>
          </a:prstGeom>
          <a:noFill/>
          <a:ln/>
        </p:spPr>
        <p:txBody>
          <a:bodyPr wrap="square" lIns="0" tIns="0" rIns="0" bIns="0" rtlCol="0" anchor="ctr"/>
          <a:lstStyle/>
          <a:p>
            <a:pPr indent="0" marL="0">
              <a:lnSpc>
                <a:spcPct val="108000"/>
              </a:lnSpc>
              <a:buNone/>
            </a:pPr>
            <a:r>
              <a:rPr lang="en-US" sz="1080" dirty="0">
                <a:solidFill>
                  <a:srgbClr val="46545F"/>
                </a:solidFill>
                <a:latin typeface="Calibri" pitchFamily="34" charset="0"/>
                <a:ea typeface="Calibri" pitchFamily="34" charset="-122"/>
                <a:cs typeface="Calibri" pitchFamily="34" charset="-120"/>
              </a:rPr>
              <a:t>People rank outputs; the model is tuned toward helpful, honest, harmless. This step turned raw predictors into assistants — and made ChatGPT possible.</a:t>
            </a:r>
            <a:endParaRPr lang="en-US" sz="1080" dirty="0"/>
          </a:p>
        </p:txBody>
      </p:sp>
      <p:sp>
        <p:nvSpPr>
          <p:cNvPr id="23" name="Shape 18"/>
          <p:cNvSpPr/>
          <p:nvPr/>
        </p:nvSpPr>
        <p:spPr>
          <a:xfrm>
            <a:off x="502920" y="4572000"/>
            <a:ext cx="5486400" cy="1463040"/>
          </a:xfrm>
          <a:prstGeom prst="roundRect">
            <a:avLst>
              <a:gd name="adj" fmla="val 5000"/>
            </a:avLst>
          </a:prstGeom>
          <a:solidFill>
            <a:srgbClr val="E4F0EF"/>
          </a:solidFill>
          <a:ln/>
        </p:spPr>
      </p:sp>
      <p:sp>
        <p:nvSpPr>
          <p:cNvPr id="24" name="Shape 19"/>
          <p:cNvSpPr/>
          <p:nvPr/>
        </p:nvSpPr>
        <p:spPr>
          <a:xfrm>
            <a:off x="667512" y="5111496"/>
            <a:ext cx="384048" cy="384048"/>
          </a:xfrm>
          <a:prstGeom prst="ellipse">
            <a:avLst/>
          </a:prstGeom>
          <a:solidFill>
            <a:srgbClr val="0E7C7B"/>
          </a:solidFill>
          <a:ln/>
        </p:spPr>
      </p:sp>
      <p:pic>
        <p:nvPicPr>
          <p:cNvPr id="25" name="Image 3" descr="/home/user/Claude-Works/ai-training-prompt-engineering/src/assets/icons/clock_w.png">    </p:cNvPr>
          <p:cNvPicPr>
            <a:picLocks noChangeAspect="1"/>
          </p:cNvPicPr>
          <p:nvPr/>
        </p:nvPicPr>
        <p:blipFill>
          <a:blip r:embed="rId4"/>
          <a:stretch>
            <a:fillRect/>
          </a:stretch>
        </p:blipFill>
        <p:spPr>
          <a:xfrm>
            <a:off x="767364" y="5211348"/>
            <a:ext cx="184343" cy="184343"/>
          </a:xfrm>
          <a:prstGeom prst="rect">
            <a:avLst/>
          </a:prstGeom>
        </p:spPr>
      </p:pic>
      <p:sp>
        <p:nvSpPr>
          <p:cNvPr id="26" name="Text 20"/>
          <p:cNvSpPr/>
          <p:nvPr/>
        </p:nvSpPr>
        <p:spPr>
          <a:xfrm>
            <a:off x="1216152" y="4645152"/>
            <a:ext cx="4544568" cy="1316736"/>
          </a:xfrm>
          <a:prstGeom prst="rect">
            <a:avLst/>
          </a:prstGeom>
          <a:noFill/>
          <a:ln/>
        </p:spPr>
        <p:txBody>
          <a:bodyPr wrap="square" lIns="0" tIns="0" rIns="0" bIns="0" rtlCol="0" anchor="ctr"/>
          <a:lstStyle/>
          <a:p>
            <a:pPr indent="0" marL="0">
              <a:lnSpc>
                <a:spcPct val="106000"/>
              </a:lnSpc>
              <a:buNone/>
            </a:pPr>
            <a:r>
              <a:rPr lang="en-US" sz="1250" b="1" dirty="0">
                <a:solidFill>
                  <a:srgbClr val="0A5B5A"/>
                </a:solidFill>
                <a:latin typeface="Calibri" pitchFamily="34" charset="0"/>
                <a:ea typeface="Calibri" pitchFamily="34" charset="-122"/>
                <a:cs typeface="Calibri" pitchFamily="34" charset="-120"/>
              </a:rPr>
              <a:t>Knowledge is frozen at the cutoff. </a:t>
            </a:r>
            <a:endParaRPr lang="en-US" sz="120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Training ends months before release; the model recalls patterns, it doesn’t look things up. Anything newer needs web search or your documents in the prompt.</a:t>
            </a:r>
            <a:endParaRPr lang="en-US" sz="1200" dirty="0"/>
          </a:p>
        </p:txBody>
      </p:sp>
      <p:sp>
        <p:nvSpPr>
          <p:cNvPr id="27" name="Shape 21"/>
          <p:cNvSpPr/>
          <p:nvPr/>
        </p:nvSpPr>
        <p:spPr>
          <a:xfrm>
            <a:off x="6172200" y="4572000"/>
            <a:ext cx="5486400" cy="1463040"/>
          </a:xfrm>
          <a:prstGeom prst="roundRect">
            <a:avLst>
              <a:gd name="adj" fmla="val 5000"/>
            </a:avLst>
          </a:prstGeom>
          <a:solidFill>
            <a:srgbClr val="FBF0E0"/>
          </a:solidFill>
          <a:ln/>
        </p:spPr>
      </p:sp>
      <p:sp>
        <p:nvSpPr>
          <p:cNvPr id="28" name="Shape 22"/>
          <p:cNvSpPr/>
          <p:nvPr/>
        </p:nvSpPr>
        <p:spPr>
          <a:xfrm>
            <a:off x="6336792" y="5111496"/>
            <a:ext cx="384048" cy="384048"/>
          </a:xfrm>
          <a:prstGeom prst="ellipse">
            <a:avLst/>
          </a:prstGeom>
          <a:solidFill>
            <a:srgbClr val="B96A1B"/>
          </a:solidFill>
          <a:ln/>
        </p:spPr>
      </p:sp>
      <p:pic>
        <p:nvPicPr>
          <p:cNvPr id="29" name="Image 4" descr="/home/user/Claude-Works/ai-training-prompt-engineering/src/assets/icons/compass_w.png">    </p:cNvPr>
          <p:cNvPicPr>
            <a:picLocks noChangeAspect="1"/>
          </p:cNvPicPr>
          <p:nvPr/>
        </p:nvPicPr>
        <p:blipFill>
          <a:blip r:embed="rId5"/>
          <a:stretch>
            <a:fillRect/>
          </a:stretch>
        </p:blipFill>
        <p:spPr>
          <a:xfrm>
            <a:off x="6436644" y="5211348"/>
            <a:ext cx="184343" cy="184343"/>
          </a:xfrm>
          <a:prstGeom prst="rect">
            <a:avLst/>
          </a:prstGeom>
        </p:spPr>
      </p:pic>
      <p:sp>
        <p:nvSpPr>
          <p:cNvPr id="30" name="Text 23"/>
          <p:cNvSpPr/>
          <p:nvPr/>
        </p:nvSpPr>
        <p:spPr>
          <a:xfrm>
            <a:off x="6885432" y="4645152"/>
            <a:ext cx="4544568" cy="131673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Why prompting exists: </a:t>
            </a:r>
            <a:endParaRPr lang="en-US" sz="120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model completes your text. The prompt is the only steering wheel you have — everything it knows about your task, audience, and standards must be in it.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1 · TOKENS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model reads bricks, not letters</a:t>
            </a:r>
            <a:endParaRPr lang="en-US" sz="3000" dirty="0"/>
          </a:p>
        </p:txBody>
      </p:sp>
      <p:sp>
        <p:nvSpPr>
          <p:cNvPr id="6" name="Text 4"/>
          <p:cNvSpPr/>
          <p:nvPr/>
        </p:nvSpPr>
        <p:spPr>
          <a:xfrm>
            <a:off x="502920" y="1554480"/>
            <a:ext cx="5669280" cy="2743200"/>
          </a:xfrm>
          <a:prstGeom prst="rect">
            <a:avLst/>
          </a:prstGeom>
          <a:noFill/>
          <a:ln/>
        </p:spPr>
        <p:txBody>
          <a:bodyPr wrap="square" lIns="0" tIns="0" rIns="0" bIns="0" rtlCol="0" anchor="t"/>
          <a:lstStyle/>
          <a:p>
            <a:pPr algn="l" marL="127000" indent="-127000">
              <a:lnSpc>
                <a:spcPct val="104000"/>
              </a:lnSpc>
              <a:spcAft>
                <a:spcPts val="900"/>
              </a:spcAft>
              <a:buSzPct val="100000"/>
              <a:buChar char="•"/>
            </a:pPr>
            <a:r>
              <a:rPr lang="en-US" sz="1250" dirty="0">
                <a:solidFill>
                  <a:srgbClr val="46545F"/>
                </a:solidFill>
                <a:latin typeface="Calibri" pitchFamily="34" charset="0"/>
                <a:ea typeface="Calibri" pitchFamily="34" charset="-122"/>
                <a:cs typeface="Calibri" pitchFamily="34" charset="-120"/>
              </a:rPr>
              <a:t>Text is chopped into tokens — word chunks from a fixed vocabulary. Common words are one token; rare ones get built from pieces (“ham·bur·ger”).</a:t>
            </a:r>
            <a:endParaRPr lang="en-US" sz="1250" dirty="0"/>
          </a:p>
          <a:p>
            <a:pPr algn="l" marL="127000" indent="-127000">
              <a:lnSpc>
                <a:spcPct val="104000"/>
              </a:lnSpc>
              <a:spcAft>
                <a:spcPts val="900"/>
              </a:spcAft>
              <a:buSzPct val="100000"/>
              <a:buChar char="•"/>
            </a:pPr>
            <a:r>
              <a:rPr lang="en-US" sz="1250" dirty="0">
                <a:solidFill>
                  <a:srgbClr val="46545F"/>
                </a:solidFill>
                <a:latin typeface="Calibri" pitchFamily="34" charset="0"/>
                <a:ea typeface="Calibri" pitchFamily="34" charset="-122"/>
                <a:cs typeface="Calibri" pitchFamily="34" charset="-120"/>
              </a:rPr>
              <a:t>Rules of thumb (English): 1 token ≈ 4 characters ≈ ¾ of a word. A 50-page document ≈ 25–35K tokens.</a:t>
            </a:r>
            <a:endParaRPr lang="en-US" sz="1250" dirty="0"/>
          </a:p>
          <a:p>
            <a:pPr algn="l" marL="127000" indent="-127000">
              <a:lnSpc>
                <a:spcPct val="104000"/>
              </a:lnSpc>
              <a:spcAft>
                <a:spcPts val="900"/>
              </a:spcAft>
              <a:buSzPct val="100000"/>
              <a:buChar char="•"/>
            </a:pPr>
            <a:r>
              <a:rPr lang="en-US" sz="1250" b="1" dirty="0">
                <a:solidFill>
                  <a:srgbClr val="46545F"/>
                </a:solidFill>
                <a:latin typeface="Calibri" pitchFamily="34" charset="0"/>
                <a:ea typeface="Calibri" pitchFamily="34" charset="-122"/>
                <a:cs typeface="Calibri" pitchFamily="34" charset="-120"/>
              </a:rPr>
              <a:t>The model never sees letters — “strawberry” arrives as one or two IDs. That’s why letter-counting and character-exact edits fail: it’s working from hearing, not spelling.</a:t>
            </a:r>
            <a:endParaRPr lang="en-US" sz="1250" dirty="0"/>
          </a:p>
          <a:p>
            <a:pPr algn="l" marL="127000" indent="-127000">
              <a:lnSpc>
                <a:spcPct val="104000"/>
              </a:lnSpc>
              <a:spcAft>
                <a:spcPts val="900"/>
              </a:spcAft>
              <a:buSzPct val="100000"/>
              <a:buChar char="•"/>
            </a:pPr>
            <a:r>
              <a:rPr lang="en-US" sz="1250" dirty="0">
                <a:solidFill>
                  <a:srgbClr val="46545F"/>
                </a:solidFill>
                <a:latin typeface="Calibri" pitchFamily="34" charset="0"/>
                <a:ea typeface="Calibri" pitchFamily="34" charset="-122"/>
                <a:cs typeface="Calibri" pitchFamily="34" charset="-120"/>
              </a:rPr>
              <a:t>Everything is priced and limited in tokens — input and output. Output tokens cost ~5× input, because generation is serial.</a:t>
            </a:r>
            <a:endParaRPr lang="en-US" sz="1250" dirty="0"/>
          </a:p>
        </p:txBody>
      </p:sp>
      <p:sp>
        <p:nvSpPr>
          <p:cNvPr id="7" name="Shape 5"/>
          <p:cNvSpPr/>
          <p:nvPr/>
        </p:nvSpPr>
        <p:spPr>
          <a:xfrm>
            <a:off x="6400800" y="1554480"/>
            <a:ext cx="5257800" cy="2377440"/>
          </a:xfrm>
          <a:prstGeom prst="roundRect">
            <a:avLst>
              <a:gd name="adj" fmla="val 3077"/>
            </a:avLst>
          </a:prstGeom>
          <a:solidFill>
            <a:srgbClr val="F2F5F6"/>
          </a:solidFill>
          <a:ln/>
        </p:spPr>
      </p:sp>
      <p:sp>
        <p:nvSpPr>
          <p:cNvPr id="8" name="Text 6"/>
          <p:cNvSpPr/>
          <p:nvPr/>
        </p:nvSpPr>
        <p:spPr>
          <a:xfrm>
            <a:off x="6675120" y="1755648"/>
            <a:ext cx="475488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LEGO bricks of text</a:t>
            </a:r>
            <a:endParaRPr lang="en-US" sz="1500" dirty="0"/>
          </a:p>
        </p:txBody>
      </p:sp>
      <p:sp>
        <p:nvSpPr>
          <p:cNvPr id="9" name="Text 7"/>
          <p:cNvSpPr/>
          <p:nvPr/>
        </p:nvSpPr>
        <p:spPr>
          <a:xfrm>
            <a:off x="6675120" y="2176272"/>
            <a:ext cx="4754880" cy="914400"/>
          </a:xfrm>
          <a:prstGeom prst="rect">
            <a:avLst/>
          </a:prstGeom>
          <a:noFill/>
          <a:ln/>
        </p:spPr>
        <p:txBody>
          <a:bodyPr wrap="square" lIns="0" tIns="0" rIns="0" bIns="0" rtlCol="0" anchor="ctr"/>
          <a:lstStyle/>
          <a:p>
            <a:pPr indent="0" marL="0">
              <a:lnSpc>
                <a:spcPct val="110000"/>
              </a:lnSpc>
              <a:buNone/>
            </a:pPr>
            <a:r>
              <a:rPr lang="en-US" sz="1150" dirty="0">
                <a:solidFill>
                  <a:srgbClr val="46545F"/>
                </a:solidFill>
                <a:latin typeface="Calibri" pitchFamily="34" charset="0"/>
                <a:ea typeface="Calibri" pitchFamily="34" charset="-122"/>
                <a:cs typeface="Calibri" pitchFamily="34" charset="-120"/>
              </a:rPr>
              <a:t>Common words are pre-molded bricks; unusual words get assembled from smaller pieces. You pay by the brick, not by the sentence — and the builder has never seen inside a brick.</a:t>
            </a:r>
            <a:endParaRPr lang="en-US" sz="1150" dirty="0"/>
          </a:p>
        </p:txBody>
      </p:sp>
      <p:sp>
        <p:nvSpPr>
          <p:cNvPr id="10" name="Text 8"/>
          <p:cNvSpPr/>
          <p:nvPr/>
        </p:nvSpPr>
        <p:spPr>
          <a:xfrm>
            <a:off x="6675120" y="3200400"/>
            <a:ext cx="4754880" cy="457200"/>
          </a:xfrm>
          <a:prstGeom prst="rect">
            <a:avLst/>
          </a:prstGeom>
          <a:noFill/>
          <a:ln/>
        </p:spPr>
        <p:txBody>
          <a:bodyPr wrap="square" lIns="0" tIns="0" rIns="0" bIns="0" rtlCol="0" anchor="ctr"/>
          <a:lstStyle/>
          <a:p>
            <a:pPr indent="0" marL="0">
              <a:buNone/>
            </a:pPr>
            <a:r>
              <a:rPr lang="en-US" sz="1100" dirty="0">
                <a:solidFill>
                  <a:srgbClr val="0A5B5A"/>
                </a:solidFill>
                <a:latin typeface="Consolas" pitchFamily="34" charset="0"/>
                <a:ea typeface="Consolas" pitchFamily="34" charset="-122"/>
                <a:cs typeface="Consolas" pitchFamily="34" charset="-120"/>
              </a:rPr>
              <a:t>“ Analyzing | the | supplier | ’s | first | - | pass | yield ”</a:t>
            </a:r>
            <a:endParaRPr lang="en-US" sz="1100" dirty="0"/>
          </a:p>
        </p:txBody>
      </p:sp>
      <p:sp>
        <p:nvSpPr>
          <p:cNvPr id="11" name="Shape 9"/>
          <p:cNvSpPr/>
          <p:nvPr/>
        </p:nvSpPr>
        <p:spPr>
          <a:xfrm>
            <a:off x="6400800" y="4160520"/>
            <a:ext cx="5257800" cy="1828800"/>
          </a:xfrm>
          <a:prstGeom prst="roundRect">
            <a:avLst>
              <a:gd name="adj" fmla="val 4000"/>
            </a:avLst>
          </a:prstGeom>
          <a:solidFill>
            <a:srgbClr val="E4F0EF"/>
          </a:solidFill>
          <a:ln/>
        </p:spPr>
      </p:sp>
      <p:sp>
        <p:nvSpPr>
          <p:cNvPr id="12" name="Shape 10"/>
          <p:cNvSpPr/>
          <p:nvPr/>
        </p:nvSpPr>
        <p:spPr>
          <a:xfrm>
            <a:off x="6565392" y="4882896"/>
            <a:ext cx="384048" cy="384048"/>
          </a:xfrm>
          <a:prstGeom prst="ellipse">
            <a:avLst/>
          </a:prstGeom>
          <a:solidFill>
            <a:srgbClr val="0E7C7B"/>
          </a:solidFill>
          <a:ln/>
        </p:spPr>
      </p:sp>
      <p:pic>
        <p:nvPicPr>
          <p:cNvPr id="13" name="Image 0" descr="/home/user/Claude-Works/ai-training-prompt-engineering/src/assets/icons/layers_w.png">    </p:cNvPr>
          <p:cNvPicPr>
            <a:picLocks noChangeAspect="1"/>
          </p:cNvPicPr>
          <p:nvPr/>
        </p:nvPicPr>
        <p:blipFill>
          <a:blip r:embed="rId1"/>
          <a:stretch>
            <a:fillRect/>
          </a:stretch>
        </p:blipFill>
        <p:spPr>
          <a:xfrm>
            <a:off x="6665244" y="4982748"/>
            <a:ext cx="184343" cy="184343"/>
          </a:xfrm>
          <a:prstGeom prst="rect">
            <a:avLst/>
          </a:prstGeom>
        </p:spPr>
      </p:pic>
      <p:sp>
        <p:nvSpPr>
          <p:cNvPr id="14" name="Text 11"/>
          <p:cNvSpPr/>
          <p:nvPr/>
        </p:nvSpPr>
        <p:spPr>
          <a:xfrm>
            <a:off x="7114032" y="4233672"/>
            <a:ext cx="4315968" cy="1682496"/>
          </a:xfrm>
          <a:prstGeom prst="rect">
            <a:avLst/>
          </a:prstGeom>
          <a:noFill/>
          <a:ln/>
        </p:spPr>
        <p:txBody>
          <a:bodyPr wrap="square" lIns="0" tIns="0" rIns="0" bIns="0" rtlCol="0" anchor="ctr"/>
          <a:lstStyle/>
          <a:p>
            <a:pPr indent="0" marL="0">
              <a:lnSpc>
                <a:spcPct val="106000"/>
              </a:lnSpc>
              <a:buNone/>
            </a:pPr>
            <a:r>
              <a:rPr lang="en-US" sz="1250" b="1" dirty="0">
                <a:solidFill>
                  <a:srgbClr val="0A5B5A"/>
                </a:solidFill>
                <a:latin typeface="Calibri" pitchFamily="34" charset="0"/>
                <a:ea typeface="Calibri" pitchFamily="34" charset="-122"/>
                <a:cs typeface="Calibri" pitchFamily="34" charset="-120"/>
              </a:rPr>
              <a:t>So what, for daily work: </a:t>
            </a:r>
            <a:endParaRPr lang="en-US" sz="120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paste-heavy prompts burn budget and context fast · non-English and dense technical text cost more tokens · use AI for language, software for characters (counts, checksums, exact IDs).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2 · CONTEXT WINDOW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desk, not a filing cabinet</a:t>
            </a:r>
            <a:endParaRPr lang="en-US" sz="3000" dirty="0"/>
          </a:p>
        </p:txBody>
      </p:sp>
      <p:sp>
        <p:nvSpPr>
          <p:cNvPr id="6" name="Text 4"/>
          <p:cNvSpPr/>
          <p:nvPr/>
        </p:nvSpPr>
        <p:spPr>
          <a:xfrm>
            <a:off x="502920" y="1508760"/>
            <a:ext cx="5669280" cy="265176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50" dirty="0">
                <a:solidFill>
                  <a:srgbClr val="46545F"/>
                </a:solidFill>
                <a:latin typeface="Calibri" pitchFamily="34" charset="0"/>
                <a:ea typeface="Calibri" pitchFamily="34" charset="-122"/>
                <a:cs typeface="Calibri" pitchFamily="34" charset="-120"/>
              </a:rPr>
              <a:t>The context window is working memory for one conversation: your question, the system prompt, chat history, attached files, and search results must all fit on the desk.</a:t>
            </a:r>
            <a:endParaRPr lang="en-US" sz="1250" dirty="0"/>
          </a:p>
          <a:p>
            <a:pPr algn="l" marL="127000" indent="-127000">
              <a:lnSpc>
                <a:spcPct val="104000"/>
              </a:lnSpc>
              <a:spcAft>
                <a:spcPts val="800"/>
              </a:spcAft>
              <a:buSzPct val="100000"/>
              <a:buChar char="•"/>
            </a:pPr>
            <a:r>
              <a:rPr lang="en-US" sz="1250" dirty="0">
                <a:solidFill>
                  <a:srgbClr val="46545F"/>
                </a:solidFill>
                <a:latin typeface="Calibri" pitchFamily="34" charset="0"/>
                <a:ea typeface="Calibri" pitchFamily="34" charset="-122"/>
                <a:cs typeface="Calibri" pitchFamily="34" charset="-120"/>
              </a:rPr>
              <a:t>Close the chat and the desk is swept clean. Nothing persists unless a memory feature or a saved file re-loads it.</a:t>
            </a:r>
            <a:endParaRPr lang="en-US" sz="1250" dirty="0"/>
          </a:p>
          <a:p>
            <a:pPr algn="l" marL="127000" indent="-127000">
              <a:lnSpc>
                <a:spcPct val="104000"/>
              </a:lnSpc>
              <a:spcAft>
                <a:spcPts val="800"/>
              </a:spcAft>
              <a:buSzPct val="100000"/>
              <a:buChar char="•"/>
            </a:pPr>
            <a:r>
              <a:rPr lang="en-US" sz="1250" dirty="0">
                <a:solidFill>
                  <a:srgbClr val="46545F"/>
                </a:solidFill>
                <a:latin typeface="Calibri" pitchFamily="34" charset="0"/>
                <a:ea typeface="Calibri" pitchFamily="34" charset="-122"/>
                <a:cs typeface="Calibri" pitchFamily="34" charset="-120"/>
              </a:rPr>
              <a:t>By Aug 2026, ~1M tokens (≈1,500 pages) is the flagship standard — Claude, GPT-5.x, Gemini, and the Chinese open-weight flagships alike. Consumer apps often enforce smaller limits than the raw model.</a:t>
            </a:r>
            <a:endParaRPr lang="en-US" sz="1250" dirty="0"/>
          </a:p>
          <a:p>
            <a:pPr algn="l" marL="127000" indent="-127000">
              <a:lnSpc>
                <a:spcPct val="104000"/>
              </a:lnSpc>
              <a:spcAft>
                <a:spcPts val="800"/>
              </a:spcAft>
              <a:buSzPct val="100000"/>
              <a:buChar char="•"/>
            </a:pPr>
            <a:r>
              <a:rPr lang="en-US" sz="1250" b="1" dirty="0">
                <a:solidFill>
                  <a:srgbClr val="46545F"/>
                </a:solidFill>
                <a:latin typeface="Calibri" pitchFamily="34" charset="0"/>
                <a:ea typeface="Calibri" pitchFamily="34" charset="-122"/>
                <a:cs typeface="Calibri" pitchFamily="34" charset="-120"/>
              </a:rPr>
              <a:t>“Fits on the desk” ≠ “gets read carefully”: accuracy is highest at the start and end of a long context and sags in the middle (“lost in the middle”).</a:t>
            </a:r>
            <a:endParaRPr lang="en-US" sz="1250" dirty="0"/>
          </a:p>
        </p:txBody>
      </p:sp>
      <p:sp>
        <p:nvSpPr>
          <p:cNvPr id="7" name="Shape 5"/>
          <p:cNvSpPr/>
          <p:nvPr/>
        </p:nvSpPr>
        <p:spPr>
          <a:xfrm>
            <a:off x="6400800" y="1508760"/>
            <a:ext cx="5257800" cy="2286000"/>
          </a:xfrm>
          <a:prstGeom prst="roundRect">
            <a:avLst>
              <a:gd name="adj" fmla="val 3200"/>
            </a:avLst>
          </a:prstGeom>
          <a:solidFill>
            <a:srgbClr val="F2F5F6"/>
          </a:solidFill>
          <a:ln/>
        </p:spPr>
      </p:sp>
      <p:sp>
        <p:nvSpPr>
          <p:cNvPr id="8" name="Text 6"/>
          <p:cNvSpPr/>
          <p:nvPr/>
        </p:nvSpPr>
        <p:spPr>
          <a:xfrm>
            <a:off x="6675120" y="1691640"/>
            <a:ext cx="4754880" cy="365760"/>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What’s on the desk right now</a:t>
            </a:r>
            <a:endParaRPr lang="en-US" sz="1450" dirty="0"/>
          </a:p>
        </p:txBody>
      </p:sp>
      <p:sp>
        <p:nvSpPr>
          <p:cNvPr id="9" name="Shape 7"/>
          <p:cNvSpPr/>
          <p:nvPr/>
        </p:nvSpPr>
        <p:spPr>
          <a:xfrm>
            <a:off x="6675120" y="2148840"/>
            <a:ext cx="365760" cy="365760"/>
          </a:xfrm>
          <a:prstGeom prst="ellipse">
            <a:avLst/>
          </a:prstGeom>
          <a:solidFill>
            <a:srgbClr val="46545F"/>
          </a:solidFill>
          <a:ln/>
        </p:spPr>
      </p:sp>
      <p:pic>
        <p:nvPicPr>
          <p:cNvPr id="10" name="Image 0" descr="/home/user/Claude-Works/ai-training-prompt-engineering/src/assets/icons/file_w.png">    </p:cNvPr>
          <p:cNvPicPr>
            <a:picLocks noChangeAspect="1"/>
          </p:cNvPicPr>
          <p:nvPr/>
        </p:nvPicPr>
        <p:blipFill>
          <a:blip r:embed="rId1"/>
          <a:stretch>
            <a:fillRect/>
          </a:stretch>
        </p:blipFill>
        <p:spPr>
          <a:xfrm>
            <a:off x="6770218" y="2243938"/>
            <a:ext cx="175565" cy="175565"/>
          </a:xfrm>
          <a:prstGeom prst="rect">
            <a:avLst/>
          </a:prstGeom>
        </p:spPr>
      </p:pic>
      <p:sp>
        <p:nvSpPr>
          <p:cNvPr id="11" name="Text 8"/>
          <p:cNvSpPr/>
          <p:nvPr/>
        </p:nvSpPr>
        <p:spPr>
          <a:xfrm>
            <a:off x="7150608" y="2167128"/>
            <a:ext cx="2011680" cy="685800"/>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System prompt &amp; instructions</a:t>
            </a:r>
            <a:endParaRPr lang="en-US" sz="1000" dirty="0"/>
          </a:p>
        </p:txBody>
      </p:sp>
      <p:sp>
        <p:nvSpPr>
          <p:cNvPr id="12" name="Shape 9"/>
          <p:cNvSpPr/>
          <p:nvPr/>
        </p:nvSpPr>
        <p:spPr>
          <a:xfrm>
            <a:off x="9189720" y="2148840"/>
            <a:ext cx="365760" cy="365760"/>
          </a:xfrm>
          <a:prstGeom prst="ellipse">
            <a:avLst/>
          </a:prstGeom>
          <a:solidFill>
            <a:srgbClr val="46545F"/>
          </a:solidFill>
          <a:ln/>
        </p:spPr>
      </p:sp>
      <p:pic>
        <p:nvPicPr>
          <p:cNvPr id="13" name="Image 1" descr="/home/user/Claude-Works/ai-training-prompt-engineering/src/assets/icons/chat_w.png">    </p:cNvPr>
          <p:cNvPicPr>
            <a:picLocks noChangeAspect="1"/>
          </p:cNvPicPr>
          <p:nvPr/>
        </p:nvPicPr>
        <p:blipFill>
          <a:blip r:embed="rId2"/>
          <a:stretch>
            <a:fillRect/>
          </a:stretch>
        </p:blipFill>
        <p:spPr>
          <a:xfrm>
            <a:off x="9284818" y="2243938"/>
            <a:ext cx="175565" cy="175565"/>
          </a:xfrm>
          <a:prstGeom prst="rect">
            <a:avLst/>
          </a:prstGeom>
        </p:spPr>
      </p:pic>
      <p:sp>
        <p:nvSpPr>
          <p:cNvPr id="14" name="Text 10"/>
          <p:cNvSpPr/>
          <p:nvPr/>
        </p:nvSpPr>
        <p:spPr>
          <a:xfrm>
            <a:off x="9665208" y="2167128"/>
            <a:ext cx="2011680" cy="685800"/>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Every prior turn — both sides</a:t>
            </a:r>
            <a:endParaRPr lang="en-US" sz="1000" dirty="0"/>
          </a:p>
        </p:txBody>
      </p:sp>
      <p:sp>
        <p:nvSpPr>
          <p:cNvPr id="15" name="Shape 11"/>
          <p:cNvSpPr/>
          <p:nvPr/>
        </p:nvSpPr>
        <p:spPr>
          <a:xfrm>
            <a:off x="6675120" y="2926080"/>
            <a:ext cx="365760" cy="365760"/>
          </a:xfrm>
          <a:prstGeom prst="ellipse">
            <a:avLst/>
          </a:prstGeom>
          <a:solidFill>
            <a:srgbClr val="46545F"/>
          </a:solidFill>
          <a:ln/>
        </p:spPr>
      </p:sp>
      <p:pic>
        <p:nvPicPr>
          <p:cNvPr id="16" name="Image 2" descr="/home/user/Claude-Works/ai-training-prompt-engineering/src/assets/icons/paperclip_w.png">    </p:cNvPr>
          <p:cNvPicPr>
            <a:picLocks noChangeAspect="1"/>
          </p:cNvPicPr>
          <p:nvPr/>
        </p:nvPicPr>
        <p:blipFill>
          <a:blip r:embed="rId3"/>
          <a:stretch>
            <a:fillRect/>
          </a:stretch>
        </p:blipFill>
        <p:spPr>
          <a:xfrm>
            <a:off x="6770218" y="3021178"/>
            <a:ext cx="175565" cy="175565"/>
          </a:xfrm>
          <a:prstGeom prst="rect">
            <a:avLst/>
          </a:prstGeom>
        </p:spPr>
      </p:pic>
      <p:sp>
        <p:nvSpPr>
          <p:cNvPr id="17" name="Text 12"/>
          <p:cNvSpPr/>
          <p:nvPr/>
        </p:nvSpPr>
        <p:spPr>
          <a:xfrm>
            <a:off x="7150608" y="2944368"/>
            <a:ext cx="2011680" cy="685800"/>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Attached documents</a:t>
            </a:r>
            <a:endParaRPr lang="en-US" sz="1000" dirty="0"/>
          </a:p>
        </p:txBody>
      </p:sp>
      <p:sp>
        <p:nvSpPr>
          <p:cNvPr id="18" name="Shape 13"/>
          <p:cNvSpPr/>
          <p:nvPr/>
        </p:nvSpPr>
        <p:spPr>
          <a:xfrm>
            <a:off x="9189720" y="2926080"/>
            <a:ext cx="365760" cy="365760"/>
          </a:xfrm>
          <a:prstGeom prst="ellipse">
            <a:avLst/>
          </a:prstGeom>
          <a:solidFill>
            <a:srgbClr val="46545F"/>
          </a:solidFill>
          <a:ln/>
        </p:spPr>
      </p:sp>
      <p:pic>
        <p:nvPicPr>
          <p:cNvPr id="19" name="Image 3" descr="/home/user/Claude-Works/ai-training-prompt-engineering/src/assets/icons/search_w.png">    </p:cNvPr>
          <p:cNvPicPr>
            <a:picLocks noChangeAspect="1"/>
          </p:cNvPicPr>
          <p:nvPr/>
        </p:nvPicPr>
        <p:blipFill>
          <a:blip r:embed="rId4"/>
          <a:stretch>
            <a:fillRect/>
          </a:stretch>
        </p:blipFill>
        <p:spPr>
          <a:xfrm>
            <a:off x="9284818" y="3021178"/>
            <a:ext cx="175565" cy="175565"/>
          </a:xfrm>
          <a:prstGeom prst="rect">
            <a:avLst/>
          </a:prstGeom>
        </p:spPr>
      </p:pic>
      <p:sp>
        <p:nvSpPr>
          <p:cNvPr id="20" name="Text 14"/>
          <p:cNvSpPr/>
          <p:nvPr/>
        </p:nvSpPr>
        <p:spPr>
          <a:xfrm>
            <a:off x="9665208" y="2944368"/>
            <a:ext cx="2011680" cy="685800"/>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Tool &amp; search results</a:t>
            </a:r>
            <a:endParaRPr lang="en-US" sz="1000" dirty="0"/>
          </a:p>
        </p:txBody>
      </p:sp>
      <p:sp>
        <p:nvSpPr>
          <p:cNvPr id="21" name="Shape 15"/>
          <p:cNvSpPr/>
          <p:nvPr/>
        </p:nvSpPr>
        <p:spPr>
          <a:xfrm>
            <a:off x="6400800" y="3977640"/>
            <a:ext cx="5257800" cy="2011680"/>
          </a:xfrm>
          <a:prstGeom prst="roundRect">
            <a:avLst>
              <a:gd name="adj" fmla="val 3636"/>
            </a:avLst>
          </a:prstGeom>
          <a:solidFill>
            <a:srgbClr val="E4F0EF"/>
          </a:solidFill>
          <a:ln/>
        </p:spPr>
      </p:sp>
      <p:sp>
        <p:nvSpPr>
          <p:cNvPr id="22" name="Shape 16"/>
          <p:cNvSpPr/>
          <p:nvPr/>
        </p:nvSpPr>
        <p:spPr>
          <a:xfrm>
            <a:off x="6565392" y="4791456"/>
            <a:ext cx="384048" cy="384048"/>
          </a:xfrm>
          <a:prstGeom prst="ellipse">
            <a:avLst/>
          </a:prstGeom>
          <a:solidFill>
            <a:srgbClr val="0E7C7B"/>
          </a:solidFill>
          <a:ln/>
        </p:spPr>
      </p:sp>
      <p:pic>
        <p:nvPicPr>
          <p:cNvPr id="23" name="Image 4" descr="/home/user/Claude-Works/ai-training-prompt-engineering/src/assets/icons/check_w.png">    </p:cNvPr>
          <p:cNvPicPr>
            <a:picLocks noChangeAspect="1"/>
          </p:cNvPicPr>
          <p:nvPr/>
        </p:nvPicPr>
        <p:blipFill>
          <a:blip r:embed="rId5"/>
          <a:stretch>
            <a:fillRect/>
          </a:stretch>
        </p:blipFill>
        <p:spPr>
          <a:xfrm>
            <a:off x="6665244" y="4891308"/>
            <a:ext cx="184343" cy="184343"/>
          </a:xfrm>
          <a:prstGeom prst="rect">
            <a:avLst/>
          </a:prstGeom>
        </p:spPr>
      </p:pic>
      <p:sp>
        <p:nvSpPr>
          <p:cNvPr id="24" name="Text 17"/>
          <p:cNvSpPr/>
          <p:nvPr/>
        </p:nvSpPr>
        <p:spPr>
          <a:xfrm>
            <a:off x="7114032" y="4050792"/>
            <a:ext cx="4315968" cy="1865376"/>
          </a:xfrm>
          <a:prstGeom prst="rect">
            <a:avLst/>
          </a:prstGeom>
          <a:noFill/>
          <a:ln/>
        </p:spPr>
        <p:txBody>
          <a:bodyPr wrap="square" lIns="0" tIns="0" rIns="0" bIns="0" rtlCol="0" anchor="ctr"/>
          <a:lstStyle/>
          <a:p>
            <a:pPr indent="0" marL="0">
              <a:lnSpc>
                <a:spcPct val="106000"/>
              </a:lnSpc>
              <a:buNone/>
            </a:pPr>
            <a:r>
              <a:rPr lang="en-US" sz="1250" b="1" dirty="0">
                <a:solidFill>
                  <a:srgbClr val="0A5B5A"/>
                </a:solidFill>
                <a:latin typeface="Calibri" pitchFamily="34" charset="0"/>
                <a:ea typeface="Calibri" pitchFamily="34" charset="-122"/>
                <a:cs typeface="Calibri" pitchFamily="34" charset="-120"/>
              </a:rPr>
              <a:t>Habits that exploit the desk: </a:t>
            </a:r>
            <a:endParaRPr lang="en-US" sz="120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① long documents at the TOP, question at the END — Anthropic measured up to ~30% better answers · ② label multiple documents clearly · ③ new topic → new chat: stale history pollutes attention · ④ very long thread → ask for a summary, carry it into a fresh chat.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3 · RAG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open-book exam — audit the librarian</a:t>
            </a:r>
            <a:endParaRPr lang="en-US" sz="3000" dirty="0"/>
          </a:p>
        </p:txBody>
      </p:sp>
      <p:sp>
        <p:nvSpPr>
          <p:cNvPr id="6" name="Text 4"/>
          <p:cNvSpPr/>
          <p:nvPr/>
        </p:nvSpPr>
        <p:spPr>
          <a:xfrm>
            <a:off x="502920" y="1298448"/>
            <a:ext cx="11155680" cy="384048"/>
          </a:xfrm>
          <a:prstGeom prst="rect">
            <a:avLst/>
          </a:prstGeom>
          <a:noFill/>
          <a:ln/>
        </p:spPr>
        <p:txBody>
          <a:bodyPr wrap="square" lIns="0" tIns="0" rIns="0" bIns="0" rtlCol="0" anchor="ctr"/>
          <a:lstStyle/>
          <a:p>
            <a:pPr indent="0" marL="0">
              <a:buNone/>
            </a:pPr>
            <a:r>
              <a:rPr lang="en-US" sz="1300" dirty="0">
                <a:solidFill>
                  <a:srgbClr val="46545F"/>
                </a:solidFill>
                <a:latin typeface="Calibri" pitchFamily="34" charset="0"/>
                <a:ea typeface="Calibri" pitchFamily="34" charset="-122"/>
                <a:cs typeface="Calibri" pitchFamily="34" charset="-120"/>
              </a:rPr>
              <a:t>The problem RAG solves: the model’s knowledge is frozen and public; your work runs on private documents it has never seen — and must never be trained on.</a:t>
            </a:r>
            <a:endParaRPr lang="en-US" sz="1300" dirty="0"/>
          </a:p>
        </p:txBody>
      </p:sp>
      <p:sp>
        <p:nvSpPr>
          <p:cNvPr id="7" name="Shape 5"/>
          <p:cNvSpPr/>
          <p:nvPr/>
        </p:nvSpPr>
        <p:spPr>
          <a:xfrm>
            <a:off x="502920" y="1828800"/>
            <a:ext cx="2606040" cy="2286000"/>
          </a:xfrm>
          <a:prstGeom prst="roundRect">
            <a:avLst>
              <a:gd name="adj" fmla="val 3200"/>
            </a:avLst>
          </a:prstGeom>
          <a:solidFill>
            <a:srgbClr val="F2F5F6"/>
          </a:solidFill>
          <a:ln/>
        </p:spPr>
      </p:sp>
      <p:sp>
        <p:nvSpPr>
          <p:cNvPr id="8" name="Shape 6"/>
          <p:cNvSpPr/>
          <p:nvPr/>
        </p:nvSpPr>
        <p:spPr>
          <a:xfrm>
            <a:off x="722376" y="2029968"/>
            <a:ext cx="457200" cy="457200"/>
          </a:xfrm>
          <a:prstGeom prst="ellipse">
            <a:avLst/>
          </a:prstGeom>
          <a:solidFill>
            <a:srgbClr val="0E7C7B"/>
          </a:solidFill>
          <a:ln/>
        </p:spPr>
      </p:sp>
      <p:pic>
        <p:nvPicPr>
          <p:cNvPr id="9" name="Image 0" descr="/home/user/Claude-Works/ai-training-prompt-engineering/src/assets/icons/chat_w.png">    </p:cNvPr>
          <p:cNvPicPr>
            <a:picLocks noChangeAspect="1"/>
          </p:cNvPicPr>
          <p:nvPr/>
        </p:nvPicPr>
        <p:blipFill>
          <a:blip r:embed="rId1"/>
          <a:stretch>
            <a:fillRect/>
          </a:stretch>
        </p:blipFill>
        <p:spPr>
          <a:xfrm>
            <a:off x="841248" y="2148840"/>
            <a:ext cx="219456" cy="219456"/>
          </a:xfrm>
          <a:prstGeom prst="rect">
            <a:avLst/>
          </a:prstGeom>
        </p:spPr>
      </p:pic>
      <p:sp>
        <p:nvSpPr>
          <p:cNvPr id="10" name="Text 7"/>
          <p:cNvSpPr/>
          <p:nvPr/>
        </p:nvSpPr>
        <p:spPr>
          <a:xfrm>
            <a:off x="722376" y="2606040"/>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Ask</a:t>
            </a:r>
            <a:endParaRPr lang="en-US" sz="1350" dirty="0"/>
          </a:p>
        </p:txBody>
      </p:sp>
      <p:sp>
        <p:nvSpPr>
          <p:cNvPr id="11" name="Text 8"/>
          <p:cNvSpPr/>
          <p:nvPr/>
        </p:nvSpPr>
        <p:spPr>
          <a:xfrm>
            <a:off x="722376" y="2944368"/>
            <a:ext cx="2212848" cy="1097280"/>
          </a:xfrm>
          <a:prstGeom prst="rect">
            <a:avLst/>
          </a:prstGeom>
          <a:noFill/>
          <a:ln/>
        </p:spPr>
        <p:txBody>
          <a:bodyPr wrap="square" lIns="0" tIns="0" rIns="0" bIns="0" rtlCol="0" anchor="ctr"/>
          <a:lstStyle/>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Plain question: “What does the supplier agreement say about re-inspection?”</a:t>
            </a:r>
            <a:endParaRPr lang="en-US" sz="1020" dirty="0"/>
          </a:p>
        </p:txBody>
      </p:sp>
      <p:sp>
        <p:nvSpPr>
          <p:cNvPr id="12" name="Shape 9"/>
          <p:cNvSpPr/>
          <p:nvPr/>
        </p:nvSpPr>
        <p:spPr>
          <a:xfrm>
            <a:off x="3127248" y="2880360"/>
            <a:ext cx="274320" cy="0"/>
          </a:xfrm>
          <a:prstGeom prst="line">
            <a:avLst/>
          </a:prstGeom>
          <a:noFill/>
          <a:ln w="28575">
            <a:solidFill>
              <a:srgbClr val="0E7C7B"/>
            </a:solidFill>
            <a:prstDash val="solid"/>
            <a:tailEnd type="triangle"/>
          </a:ln>
        </p:spPr>
      </p:sp>
      <p:sp>
        <p:nvSpPr>
          <p:cNvPr id="13" name="Shape 10"/>
          <p:cNvSpPr/>
          <p:nvPr/>
        </p:nvSpPr>
        <p:spPr>
          <a:xfrm>
            <a:off x="3419856" y="1828800"/>
            <a:ext cx="2606040" cy="2286000"/>
          </a:xfrm>
          <a:prstGeom prst="roundRect">
            <a:avLst>
              <a:gd name="adj" fmla="val 3200"/>
            </a:avLst>
          </a:prstGeom>
          <a:solidFill>
            <a:srgbClr val="F2F5F6"/>
          </a:solidFill>
          <a:ln/>
        </p:spPr>
      </p:sp>
      <p:sp>
        <p:nvSpPr>
          <p:cNvPr id="14" name="Shape 11"/>
          <p:cNvSpPr/>
          <p:nvPr/>
        </p:nvSpPr>
        <p:spPr>
          <a:xfrm>
            <a:off x="3639312" y="2029968"/>
            <a:ext cx="457200" cy="457200"/>
          </a:xfrm>
          <a:prstGeom prst="ellipse">
            <a:avLst/>
          </a:prstGeom>
          <a:solidFill>
            <a:srgbClr val="0E7C7B"/>
          </a:solidFill>
          <a:ln/>
        </p:spPr>
      </p:sp>
      <p:pic>
        <p:nvPicPr>
          <p:cNvPr id="15" name="Image 1" descr="/home/user/Claude-Works/ai-training-prompt-engineering/src/assets/icons/search_w.png">    </p:cNvPr>
          <p:cNvPicPr>
            <a:picLocks noChangeAspect="1"/>
          </p:cNvPicPr>
          <p:nvPr/>
        </p:nvPicPr>
        <p:blipFill>
          <a:blip r:embed="rId2"/>
          <a:stretch>
            <a:fillRect/>
          </a:stretch>
        </p:blipFill>
        <p:spPr>
          <a:xfrm>
            <a:off x="3758184" y="2148840"/>
            <a:ext cx="219456" cy="219456"/>
          </a:xfrm>
          <a:prstGeom prst="rect">
            <a:avLst/>
          </a:prstGeom>
        </p:spPr>
      </p:pic>
      <p:sp>
        <p:nvSpPr>
          <p:cNvPr id="16" name="Text 12"/>
          <p:cNvSpPr/>
          <p:nvPr/>
        </p:nvSpPr>
        <p:spPr>
          <a:xfrm>
            <a:off x="3639312" y="2606040"/>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Retrieve</a:t>
            </a:r>
            <a:endParaRPr lang="en-US" sz="1350" dirty="0"/>
          </a:p>
        </p:txBody>
      </p:sp>
      <p:sp>
        <p:nvSpPr>
          <p:cNvPr id="17" name="Text 13"/>
          <p:cNvSpPr/>
          <p:nvPr/>
        </p:nvSpPr>
        <p:spPr>
          <a:xfrm>
            <a:off x="3639312" y="2944368"/>
            <a:ext cx="2212848" cy="1097280"/>
          </a:xfrm>
          <a:prstGeom prst="rect">
            <a:avLst/>
          </a:prstGeom>
          <a:noFill/>
          <a:ln/>
        </p:spPr>
        <p:txBody>
          <a:bodyPr wrap="square" lIns="0" tIns="0" rIns="0" bIns="0" rtlCol="0" anchor="ctr"/>
          <a:lstStyle/>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Semantic search finds the most relevant passages — by meaning, not keywords.</a:t>
            </a:r>
            <a:endParaRPr lang="en-US" sz="1020" dirty="0"/>
          </a:p>
        </p:txBody>
      </p:sp>
      <p:sp>
        <p:nvSpPr>
          <p:cNvPr id="18" name="Shape 14"/>
          <p:cNvSpPr/>
          <p:nvPr/>
        </p:nvSpPr>
        <p:spPr>
          <a:xfrm>
            <a:off x="6044184" y="2880360"/>
            <a:ext cx="274320" cy="0"/>
          </a:xfrm>
          <a:prstGeom prst="line">
            <a:avLst/>
          </a:prstGeom>
          <a:noFill/>
          <a:ln w="28575">
            <a:solidFill>
              <a:srgbClr val="0E7C7B"/>
            </a:solidFill>
            <a:prstDash val="solid"/>
            <a:tailEnd type="triangle"/>
          </a:ln>
        </p:spPr>
      </p:sp>
      <p:sp>
        <p:nvSpPr>
          <p:cNvPr id="19" name="Shape 15"/>
          <p:cNvSpPr/>
          <p:nvPr/>
        </p:nvSpPr>
        <p:spPr>
          <a:xfrm>
            <a:off x="6336792" y="1828800"/>
            <a:ext cx="2606040" cy="2286000"/>
          </a:xfrm>
          <a:prstGeom prst="roundRect">
            <a:avLst>
              <a:gd name="adj" fmla="val 3200"/>
            </a:avLst>
          </a:prstGeom>
          <a:solidFill>
            <a:srgbClr val="F2F5F6"/>
          </a:solidFill>
          <a:ln/>
        </p:spPr>
      </p:sp>
      <p:sp>
        <p:nvSpPr>
          <p:cNvPr id="20" name="Shape 16"/>
          <p:cNvSpPr/>
          <p:nvPr/>
        </p:nvSpPr>
        <p:spPr>
          <a:xfrm>
            <a:off x="6556248" y="2029968"/>
            <a:ext cx="457200" cy="457200"/>
          </a:xfrm>
          <a:prstGeom prst="ellipse">
            <a:avLst/>
          </a:prstGeom>
          <a:solidFill>
            <a:srgbClr val="0E7C7B"/>
          </a:solidFill>
          <a:ln/>
        </p:spPr>
      </p:sp>
      <p:pic>
        <p:nvPicPr>
          <p:cNvPr id="21" name="Image 2" descr="/home/user/Claude-Works/ai-training-prompt-engineering/src/assets/icons/layers_w.png">    </p:cNvPr>
          <p:cNvPicPr>
            <a:picLocks noChangeAspect="1"/>
          </p:cNvPicPr>
          <p:nvPr/>
        </p:nvPicPr>
        <p:blipFill>
          <a:blip r:embed="rId3"/>
          <a:stretch>
            <a:fillRect/>
          </a:stretch>
        </p:blipFill>
        <p:spPr>
          <a:xfrm>
            <a:off x="6675120" y="2148840"/>
            <a:ext cx="219456" cy="219456"/>
          </a:xfrm>
          <a:prstGeom prst="rect">
            <a:avLst/>
          </a:prstGeom>
        </p:spPr>
      </p:pic>
      <p:sp>
        <p:nvSpPr>
          <p:cNvPr id="22" name="Text 17"/>
          <p:cNvSpPr/>
          <p:nvPr/>
        </p:nvSpPr>
        <p:spPr>
          <a:xfrm>
            <a:off x="6556248" y="2606040"/>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Augment</a:t>
            </a:r>
            <a:endParaRPr lang="en-US" sz="1350" dirty="0"/>
          </a:p>
        </p:txBody>
      </p:sp>
      <p:sp>
        <p:nvSpPr>
          <p:cNvPr id="23" name="Text 18"/>
          <p:cNvSpPr/>
          <p:nvPr/>
        </p:nvSpPr>
        <p:spPr>
          <a:xfrm>
            <a:off x="6556248" y="2944368"/>
            <a:ext cx="2212848" cy="1097280"/>
          </a:xfrm>
          <a:prstGeom prst="rect">
            <a:avLst/>
          </a:prstGeom>
          <a:noFill/>
          <a:ln/>
        </p:spPr>
        <p:txBody>
          <a:bodyPr wrap="square" lIns="0" tIns="0" rIns="0" bIns="0" rtlCol="0" anchor="ctr"/>
          <a:lstStyle/>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Those passages are placed on the model’s desk, behind the scenes.</a:t>
            </a:r>
            <a:endParaRPr lang="en-US" sz="1020" dirty="0"/>
          </a:p>
        </p:txBody>
      </p:sp>
      <p:sp>
        <p:nvSpPr>
          <p:cNvPr id="24" name="Shape 19"/>
          <p:cNvSpPr/>
          <p:nvPr/>
        </p:nvSpPr>
        <p:spPr>
          <a:xfrm>
            <a:off x="8961120" y="2880360"/>
            <a:ext cx="274320" cy="0"/>
          </a:xfrm>
          <a:prstGeom prst="line">
            <a:avLst/>
          </a:prstGeom>
          <a:noFill/>
          <a:ln w="28575">
            <a:solidFill>
              <a:srgbClr val="0E7C7B"/>
            </a:solidFill>
            <a:prstDash val="solid"/>
            <a:tailEnd type="triangle"/>
          </a:ln>
        </p:spPr>
      </p:sp>
      <p:sp>
        <p:nvSpPr>
          <p:cNvPr id="25" name="Shape 20"/>
          <p:cNvSpPr/>
          <p:nvPr/>
        </p:nvSpPr>
        <p:spPr>
          <a:xfrm>
            <a:off x="9253728" y="1828800"/>
            <a:ext cx="2606040" cy="2286000"/>
          </a:xfrm>
          <a:prstGeom prst="roundRect">
            <a:avLst>
              <a:gd name="adj" fmla="val 3200"/>
            </a:avLst>
          </a:prstGeom>
          <a:solidFill>
            <a:srgbClr val="F2F5F6"/>
          </a:solidFill>
          <a:ln/>
        </p:spPr>
      </p:sp>
      <p:sp>
        <p:nvSpPr>
          <p:cNvPr id="26" name="Shape 21"/>
          <p:cNvSpPr/>
          <p:nvPr/>
        </p:nvSpPr>
        <p:spPr>
          <a:xfrm>
            <a:off x="9473184" y="2029968"/>
            <a:ext cx="457200" cy="457200"/>
          </a:xfrm>
          <a:prstGeom prst="ellipse">
            <a:avLst/>
          </a:prstGeom>
          <a:solidFill>
            <a:srgbClr val="0E7C7B"/>
          </a:solidFill>
          <a:ln/>
        </p:spPr>
      </p:sp>
      <p:pic>
        <p:nvPicPr>
          <p:cNvPr id="27" name="Image 3" descr="/home/user/Claude-Works/ai-training-prompt-engineering/src/assets/icons/check_w.png">    </p:cNvPr>
          <p:cNvPicPr>
            <a:picLocks noChangeAspect="1"/>
          </p:cNvPicPr>
          <p:nvPr/>
        </p:nvPicPr>
        <p:blipFill>
          <a:blip r:embed="rId4"/>
          <a:stretch>
            <a:fillRect/>
          </a:stretch>
        </p:blipFill>
        <p:spPr>
          <a:xfrm>
            <a:off x="9592056" y="2148840"/>
            <a:ext cx="219456" cy="219456"/>
          </a:xfrm>
          <a:prstGeom prst="rect">
            <a:avLst/>
          </a:prstGeom>
        </p:spPr>
      </p:pic>
      <p:sp>
        <p:nvSpPr>
          <p:cNvPr id="28" name="Text 22"/>
          <p:cNvSpPr/>
          <p:nvPr/>
        </p:nvSpPr>
        <p:spPr>
          <a:xfrm>
            <a:off x="9473184" y="2606040"/>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4 · Generate</a:t>
            </a:r>
            <a:endParaRPr lang="en-US" sz="1350" dirty="0"/>
          </a:p>
        </p:txBody>
      </p:sp>
      <p:sp>
        <p:nvSpPr>
          <p:cNvPr id="29" name="Text 23"/>
          <p:cNvSpPr/>
          <p:nvPr/>
        </p:nvSpPr>
        <p:spPr>
          <a:xfrm>
            <a:off x="9473184" y="2944368"/>
            <a:ext cx="2212848" cy="1097280"/>
          </a:xfrm>
          <a:prstGeom prst="rect">
            <a:avLst/>
          </a:prstGeom>
          <a:noFill/>
          <a:ln/>
        </p:spPr>
        <p:txBody>
          <a:bodyPr wrap="square" lIns="0" tIns="0" rIns="0" bIns="0" rtlCol="0" anchor="ctr"/>
          <a:lstStyle/>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The model answers from the supplied text — and cites where it looked.</a:t>
            </a:r>
            <a:endParaRPr lang="en-US" sz="1020" dirty="0"/>
          </a:p>
        </p:txBody>
      </p:sp>
      <p:sp>
        <p:nvSpPr>
          <p:cNvPr id="30" name="Shape 24"/>
          <p:cNvSpPr/>
          <p:nvPr/>
        </p:nvSpPr>
        <p:spPr>
          <a:xfrm>
            <a:off x="502920" y="4343400"/>
            <a:ext cx="5486400" cy="1783080"/>
          </a:xfrm>
          <a:prstGeom prst="roundRect">
            <a:avLst>
              <a:gd name="adj" fmla="val 4103"/>
            </a:avLst>
          </a:prstGeom>
          <a:solidFill>
            <a:srgbClr val="E7F2EC"/>
          </a:solidFill>
          <a:ln/>
        </p:spPr>
      </p:sp>
      <p:sp>
        <p:nvSpPr>
          <p:cNvPr id="31" name="Text 25"/>
          <p:cNvSpPr/>
          <p:nvPr/>
        </p:nvSpPr>
        <p:spPr>
          <a:xfrm>
            <a:off x="777240" y="4526280"/>
            <a:ext cx="5029200" cy="1463040"/>
          </a:xfrm>
          <a:prstGeom prst="rect">
            <a:avLst/>
          </a:prstGeom>
          <a:noFill/>
          <a:ln/>
        </p:spPr>
        <p:txBody>
          <a:bodyPr wrap="square" lIns="0" tIns="0" rIns="0" bIns="0" rtlCol="0" anchor="ctr"/>
          <a:lstStyle/>
          <a:p>
            <a:pPr indent="0" marL="0">
              <a:lnSpc>
                <a:spcPct val="108000"/>
              </a:lnSpc>
              <a:spcAft>
                <a:spcPts val="300"/>
              </a:spcAft>
              <a:buNone/>
            </a:pPr>
            <a:r>
              <a:rPr lang="en-US" sz="1200" b="1" dirty="0">
                <a:solidFill>
                  <a:srgbClr val="232A31"/>
                </a:solidFill>
                <a:latin typeface="Calibri" pitchFamily="34" charset="0"/>
                <a:ea typeface="Calibri" pitchFamily="34" charset="-122"/>
                <a:cs typeface="Calibri" pitchFamily="34" charset="-120"/>
              </a:rPr>
              <a:t>Why enterprises build on it: </a:t>
            </a:r>
            <a:endParaRPr lang="en-US" sz="12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current (re-index a doc in minutes, no retraining) · checkable (citations to the exact passage) · private (retrieval feeds one answer; it teaches the model nothing) · access-aware (you only retrieve what you’re allowed to see).</a:t>
            </a:r>
            <a:endParaRPr lang="en-US" sz="1200" dirty="0"/>
          </a:p>
        </p:txBody>
      </p:sp>
      <p:sp>
        <p:nvSpPr>
          <p:cNvPr id="32" name="Shape 26"/>
          <p:cNvSpPr/>
          <p:nvPr/>
        </p:nvSpPr>
        <p:spPr>
          <a:xfrm>
            <a:off x="6172200" y="4343400"/>
            <a:ext cx="5486400" cy="1783080"/>
          </a:xfrm>
          <a:prstGeom prst="roundRect">
            <a:avLst>
              <a:gd name="adj" fmla="val 4103"/>
            </a:avLst>
          </a:prstGeom>
          <a:solidFill>
            <a:srgbClr val="F9E9E8"/>
          </a:solidFill>
          <a:ln/>
        </p:spPr>
      </p:sp>
      <p:sp>
        <p:nvSpPr>
          <p:cNvPr id="33" name="Text 27"/>
          <p:cNvSpPr/>
          <p:nvPr/>
        </p:nvSpPr>
        <p:spPr>
          <a:xfrm>
            <a:off x="6446520" y="4526280"/>
            <a:ext cx="5029200" cy="1463040"/>
          </a:xfrm>
          <a:prstGeom prst="rect">
            <a:avLst/>
          </a:prstGeom>
          <a:noFill/>
          <a:ln/>
        </p:spPr>
        <p:txBody>
          <a:bodyPr wrap="square" lIns="0" tIns="0" rIns="0" bIns="0" rtlCol="0" anchor="ctr"/>
          <a:lstStyle/>
          <a:p>
            <a:pPr indent="0" marL="0">
              <a:lnSpc>
                <a:spcPct val="108000"/>
              </a:lnSpc>
              <a:spcAft>
                <a:spcPts val="300"/>
              </a:spcAft>
              <a:buNone/>
            </a:pPr>
            <a:r>
              <a:rPr lang="en-US" sz="1200" b="1" dirty="0">
                <a:solidFill>
                  <a:srgbClr val="AF3230"/>
                </a:solidFill>
                <a:latin typeface="Calibri" pitchFamily="34" charset="0"/>
                <a:ea typeface="Calibri" pitchFamily="34" charset="-122"/>
                <a:cs typeface="Calibri" pitchFamily="34" charset="-120"/>
              </a:rPr>
              <a:t>The failure mode to respect: </a:t>
            </a:r>
            <a:endParaRPr lang="en-US" sz="12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if retrieval fetches the wrong page — an outdated revision, a near-miss document — the model still writes a fluent, confident, cited answer from it. Bad retrieval = confident wrong answer. So: check the citation, not just the prose.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4 · THE ESCALATION LADDER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Prompt first, retrieve second, fine-tune last</a:t>
            </a:r>
            <a:endParaRPr lang="en-US" sz="3000" dirty="0"/>
          </a:p>
        </p:txBody>
      </p:sp>
      <p:sp>
        <p:nvSpPr>
          <p:cNvPr id="6" name="Shape 4"/>
          <p:cNvSpPr/>
          <p:nvPr/>
        </p:nvSpPr>
        <p:spPr>
          <a:xfrm>
            <a:off x="502920" y="1554480"/>
            <a:ext cx="7315200" cy="1325880"/>
          </a:xfrm>
          <a:prstGeom prst="roundRect">
            <a:avLst>
              <a:gd name="adj" fmla="val 5517"/>
            </a:avLst>
          </a:prstGeom>
          <a:solidFill>
            <a:srgbClr val="E4F0EF"/>
          </a:solidFill>
          <a:ln/>
        </p:spPr>
      </p:sp>
      <p:sp>
        <p:nvSpPr>
          <p:cNvPr id="7" name="Shape 5"/>
          <p:cNvSpPr/>
          <p:nvPr/>
        </p:nvSpPr>
        <p:spPr>
          <a:xfrm>
            <a:off x="749808" y="1938528"/>
            <a:ext cx="502920" cy="50292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80567" y="2069287"/>
            <a:ext cx="241402" cy="241402"/>
          </a:xfrm>
          <a:prstGeom prst="rect">
            <a:avLst/>
          </a:prstGeom>
        </p:spPr>
      </p:pic>
      <p:sp>
        <p:nvSpPr>
          <p:cNvPr id="9" name="Text 6"/>
          <p:cNvSpPr/>
          <p:nvPr/>
        </p:nvSpPr>
        <p:spPr>
          <a:xfrm>
            <a:off x="1417320" y="1664208"/>
            <a:ext cx="6217920" cy="1143000"/>
          </a:xfrm>
          <a:prstGeom prst="rect">
            <a:avLst/>
          </a:prstGeom>
          <a:noFill/>
          <a:ln/>
        </p:spPr>
        <p:txBody>
          <a:bodyPr wrap="square" lIns="0" tIns="0" rIns="0" bIns="0" rtlCol="0" anchor="ctr"/>
          <a:lstStyle/>
          <a:p>
            <a:pPr indent="0" marL="0">
              <a:lnSpc>
                <a:spcPct val="106000"/>
              </a:lnSpc>
              <a:buNone/>
            </a:pPr>
            <a:r>
              <a:rPr lang="en-US" sz="1400" b="1" dirty="0">
                <a:solidFill>
                  <a:srgbClr val="232A31"/>
                </a:solidFill>
                <a:latin typeface="Calibri" pitchFamily="34" charset="0"/>
                <a:ea typeface="Calibri" pitchFamily="34" charset="-122"/>
                <a:cs typeface="Calibri" pitchFamily="34" charset="-120"/>
              </a:rPr>
              <a:t>Prompting — </a:t>
            </a:r>
            <a:pPr indent="0" marL="0">
              <a:lnSpc>
                <a:spcPct val="106000"/>
              </a:lnSpc>
              <a:spcAft>
                <a:spcPts val="300"/>
              </a:spcAft>
              <a:buNone/>
            </a:pPr>
            <a:r>
              <a:rPr lang="en-US" sz="1250" i="1" dirty="0">
                <a:solidFill>
                  <a:srgbClr val="0A5B5A"/>
                </a:solidFill>
                <a:latin typeface="Calibri" pitchFamily="34" charset="0"/>
                <a:ea typeface="Calibri" pitchFamily="34" charset="-122"/>
                <a:cs typeface="Calibri" pitchFamily="34" charset="-120"/>
              </a:rPr>
              <a:t>Instructions to a skilled temp</a:t>
            </a:r>
            <a:endParaRPr lang="en-US" sz="14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Costs nothing, changes instantly, works on every model. Handles style, format, task framing, examples. Where 90% of value lives — this course.</a:t>
            </a:r>
            <a:endParaRPr lang="en-US" sz="1400" dirty="0"/>
          </a:p>
        </p:txBody>
      </p:sp>
      <p:sp>
        <p:nvSpPr>
          <p:cNvPr id="10" name="Shape 7"/>
          <p:cNvSpPr/>
          <p:nvPr/>
        </p:nvSpPr>
        <p:spPr>
          <a:xfrm>
            <a:off x="502920" y="3035808"/>
            <a:ext cx="7315200" cy="1325880"/>
          </a:xfrm>
          <a:prstGeom prst="roundRect">
            <a:avLst>
              <a:gd name="adj" fmla="val 5517"/>
            </a:avLst>
          </a:prstGeom>
          <a:solidFill>
            <a:srgbClr val="F2F5F6"/>
          </a:solidFill>
          <a:ln/>
        </p:spPr>
      </p:sp>
      <p:sp>
        <p:nvSpPr>
          <p:cNvPr id="11" name="Shape 8"/>
          <p:cNvSpPr/>
          <p:nvPr/>
        </p:nvSpPr>
        <p:spPr>
          <a:xfrm>
            <a:off x="749808" y="3419856"/>
            <a:ext cx="502920" cy="502920"/>
          </a:xfrm>
          <a:prstGeom prst="ellipse">
            <a:avLst/>
          </a:prstGeom>
          <a:solidFill>
            <a:srgbClr val="0E7C7B"/>
          </a:solidFill>
          <a:ln/>
        </p:spPr>
      </p:sp>
      <p:pic>
        <p:nvPicPr>
          <p:cNvPr id="12" name="Image 1" descr="/home/user/Claude-Works/ai-training-prompt-engineering/src/assets/icons/book_w.png">    </p:cNvPr>
          <p:cNvPicPr>
            <a:picLocks noChangeAspect="1"/>
          </p:cNvPicPr>
          <p:nvPr/>
        </p:nvPicPr>
        <p:blipFill>
          <a:blip r:embed="rId2"/>
          <a:stretch>
            <a:fillRect/>
          </a:stretch>
        </p:blipFill>
        <p:spPr>
          <a:xfrm>
            <a:off x="880567" y="3550615"/>
            <a:ext cx="241402" cy="241402"/>
          </a:xfrm>
          <a:prstGeom prst="rect">
            <a:avLst/>
          </a:prstGeom>
        </p:spPr>
      </p:pic>
      <p:sp>
        <p:nvSpPr>
          <p:cNvPr id="13" name="Text 9"/>
          <p:cNvSpPr/>
          <p:nvPr/>
        </p:nvSpPr>
        <p:spPr>
          <a:xfrm>
            <a:off x="1417320" y="3145536"/>
            <a:ext cx="6217920" cy="1143000"/>
          </a:xfrm>
          <a:prstGeom prst="rect">
            <a:avLst/>
          </a:prstGeom>
          <a:noFill/>
          <a:ln/>
        </p:spPr>
        <p:txBody>
          <a:bodyPr wrap="square" lIns="0" tIns="0" rIns="0" bIns="0" rtlCol="0" anchor="ctr"/>
          <a:lstStyle/>
          <a:p>
            <a:pPr indent="0" marL="0">
              <a:lnSpc>
                <a:spcPct val="106000"/>
              </a:lnSpc>
              <a:buNone/>
            </a:pPr>
            <a:r>
              <a:rPr lang="en-US" sz="1400" b="1" dirty="0">
                <a:solidFill>
                  <a:srgbClr val="232A31"/>
                </a:solidFill>
                <a:latin typeface="Calibri" pitchFamily="34" charset="0"/>
                <a:ea typeface="Calibri" pitchFamily="34" charset="-122"/>
                <a:cs typeface="Calibri" pitchFamily="34" charset="-120"/>
              </a:rPr>
              <a:t>RAG / retrieval — </a:t>
            </a:r>
            <a:pPr indent="0" marL="0">
              <a:lnSpc>
                <a:spcPct val="106000"/>
              </a:lnSpc>
              <a:spcAft>
                <a:spcPts val="300"/>
              </a:spcAft>
              <a:buNone/>
            </a:pPr>
            <a:r>
              <a:rPr lang="en-US" sz="1250" i="1" dirty="0">
                <a:solidFill>
                  <a:srgbClr val="0A5B5A"/>
                </a:solidFill>
                <a:latin typeface="Calibri" pitchFamily="34" charset="0"/>
                <a:ea typeface="Calibri" pitchFamily="34" charset="-122"/>
                <a:cs typeface="Calibri" pitchFamily="34" charset="-120"/>
              </a:rPr>
              <a:t>Hand the temp your binder</a:t>
            </a:r>
            <a:endParaRPr lang="en-US" sz="14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Adds knowledge: current, private, citable. The answer changes when the binder changes. For facts the model can’t know.</a:t>
            </a:r>
            <a:endParaRPr lang="en-US" sz="1400" dirty="0"/>
          </a:p>
        </p:txBody>
      </p:sp>
      <p:sp>
        <p:nvSpPr>
          <p:cNvPr id="14" name="Shape 10"/>
          <p:cNvSpPr/>
          <p:nvPr/>
        </p:nvSpPr>
        <p:spPr>
          <a:xfrm>
            <a:off x="502920" y="4517136"/>
            <a:ext cx="7315200" cy="1325880"/>
          </a:xfrm>
          <a:prstGeom prst="roundRect">
            <a:avLst>
              <a:gd name="adj" fmla="val 5517"/>
            </a:avLst>
          </a:prstGeom>
          <a:solidFill>
            <a:srgbClr val="F2F5F6"/>
          </a:solidFill>
          <a:ln/>
        </p:spPr>
      </p:sp>
      <p:sp>
        <p:nvSpPr>
          <p:cNvPr id="15" name="Shape 11"/>
          <p:cNvSpPr/>
          <p:nvPr/>
        </p:nvSpPr>
        <p:spPr>
          <a:xfrm>
            <a:off x="749808" y="4901184"/>
            <a:ext cx="502920" cy="502920"/>
          </a:xfrm>
          <a:prstGeom prst="ellipse">
            <a:avLst/>
          </a:prstGeom>
          <a:solidFill>
            <a:srgbClr val="0E7C7B"/>
          </a:solidFill>
          <a:ln/>
        </p:spPr>
      </p:sp>
      <p:pic>
        <p:nvPicPr>
          <p:cNvPr id="16" name="Image 2" descr="/home/user/Claude-Works/ai-training-prompt-engineering/src/assets/icons/cpu_w.png">    </p:cNvPr>
          <p:cNvPicPr>
            <a:picLocks noChangeAspect="1"/>
          </p:cNvPicPr>
          <p:nvPr/>
        </p:nvPicPr>
        <p:blipFill>
          <a:blip r:embed="rId3"/>
          <a:stretch>
            <a:fillRect/>
          </a:stretch>
        </p:blipFill>
        <p:spPr>
          <a:xfrm>
            <a:off x="880567" y="5031943"/>
            <a:ext cx="241402" cy="241402"/>
          </a:xfrm>
          <a:prstGeom prst="rect">
            <a:avLst/>
          </a:prstGeom>
        </p:spPr>
      </p:pic>
      <p:sp>
        <p:nvSpPr>
          <p:cNvPr id="17" name="Text 12"/>
          <p:cNvSpPr/>
          <p:nvPr/>
        </p:nvSpPr>
        <p:spPr>
          <a:xfrm>
            <a:off x="1417320" y="4626864"/>
            <a:ext cx="6217920" cy="1143000"/>
          </a:xfrm>
          <a:prstGeom prst="rect">
            <a:avLst/>
          </a:prstGeom>
          <a:noFill/>
          <a:ln/>
        </p:spPr>
        <p:txBody>
          <a:bodyPr wrap="square" lIns="0" tIns="0" rIns="0" bIns="0" rtlCol="0" anchor="ctr"/>
          <a:lstStyle/>
          <a:p>
            <a:pPr indent="0" marL="0">
              <a:lnSpc>
                <a:spcPct val="106000"/>
              </a:lnSpc>
              <a:buNone/>
            </a:pPr>
            <a:r>
              <a:rPr lang="en-US" sz="1400" b="1" dirty="0">
                <a:solidFill>
                  <a:srgbClr val="232A31"/>
                </a:solidFill>
                <a:latin typeface="Calibri" pitchFamily="34" charset="0"/>
                <a:ea typeface="Calibri" pitchFamily="34" charset="-122"/>
                <a:cs typeface="Calibri" pitchFamily="34" charset="-120"/>
              </a:rPr>
              <a:t>Fine-tuning — </a:t>
            </a:r>
            <a:pPr indent="0" marL="0">
              <a:lnSpc>
                <a:spcPct val="106000"/>
              </a:lnSpc>
              <a:spcAft>
                <a:spcPts val="300"/>
              </a:spcAft>
              <a:buNone/>
            </a:pPr>
            <a:r>
              <a:rPr lang="en-US" sz="1250" i="1" dirty="0">
                <a:solidFill>
                  <a:srgbClr val="0A5B5A"/>
                </a:solidFill>
                <a:latin typeface="Calibri" pitchFamily="34" charset="0"/>
                <a:ea typeface="Calibri" pitchFamily="34" charset="-122"/>
                <a:cs typeface="Calibri" pitchFamily="34" charset="-120"/>
              </a:rPr>
              <a:t>Send them to a training course</a:t>
            </a:r>
            <a:endParaRPr lang="en-US" sz="14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Changes the model’s weights: permanent habits — a house style, a niche format, a distilled small model. Slow, per-model, high maintenance. Rarely the answer for knowledge.</a:t>
            </a:r>
            <a:endParaRPr lang="en-US" sz="1400" dirty="0"/>
          </a:p>
        </p:txBody>
      </p:sp>
      <p:sp>
        <p:nvSpPr>
          <p:cNvPr id="18" name="Shape 13"/>
          <p:cNvSpPr/>
          <p:nvPr/>
        </p:nvSpPr>
        <p:spPr>
          <a:xfrm>
            <a:off x="8092440" y="1554480"/>
            <a:ext cx="3566160" cy="4434840"/>
          </a:xfrm>
          <a:prstGeom prst="roundRect">
            <a:avLst>
              <a:gd name="adj" fmla="val 2051"/>
            </a:avLst>
          </a:prstGeom>
          <a:solidFill>
            <a:srgbClr val="F2F5F6"/>
          </a:solidFill>
          <a:ln/>
        </p:spPr>
      </p:sp>
      <p:sp>
        <p:nvSpPr>
          <p:cNvPr id="19" name="Text 14"/>
          <p:cNvSpPr/>
          <p:nvPr/>
        </p:nvSpPr>
        <p:spPr>
          <a:xfrm>
            <a:off x="8339328" y="1755648"/>
            <a:ext cx="3108960" cy="36576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One line on embeddings</a:t>
            </a:r>
            <a:endParaRPr lang="en-US" sz="1400" dirty="0"/>
          </a:p>
        </p:txBody>
      </p:sp>
      <p:sp>
        <p:nvSpPr>
          <p:cNvPr id="20" name="Text 15"/>
          <p:cNvSpPr/>
          <p:nvPr/>
        </p:nvSpPr>
        <p:spPr>
          <a:xfrm>
            <a:off x="8339328" y="2194560"/>
            <a:ext cx="3154680" cy="3566160"/>
          </a:xfrm>
          <a:prstGeom prst="rect">
            <a:avLst/>
          </a:prstGeom>
          <a:noFill/>
          <a:ln/>
        </p:spPr>
        <p:txBody>
          <a:bodyPr wrap="square" lIns="0" tIns="0" rIns="0" bIns="0" rtlCol="0" anchor="ctr"/>
          <a:lstStyle/>
          <a:p>
            <a:pPr indent="0" marL="0">
              <a:lnSpc>
                <a:spcPct val="112000"/>
              </a:lnSpc>
              <a:buNone/>
            </a:pPr>
            <a:r>
              <a:rPr lang="en-US" sz="1100" dirty="0">
                <a:solidFill>
                  <a:srgbClr val="46545F"/>
                </a:solidFill>
                <a:latin typeface="Calibri" pitchFamily="34" charset="0"/>
                <a:ea typeface="Calibri" pitchFamily="34" charset="-122"/>
                <a:cs typeface="Calibri" pitchFamily="34" charset="-120"/>
              </a:rPr>
              <a:t>Behind retrieval: every text gets a GPS coordinate for meaning — a vector — and “nearby” means “similar,” even with zero shared words. It’s why semantic search finds “vendor inspection nonconformance” when you asked about “supplier audit findings”…</a:t>
            </a:r>
            <a:endParaRPr lang="en-US" sz="1100" dirty="0"/>
          </a:p>
          <a:p>
            <a:pPr indent="0" marL="0">
              <a:lnSpc>
                <a:spcPct val="112000"/>
              </a:lnSpc>
              <a:buNone/>
            </a:pPr>
            <a:endParaRPr lang="en-US" sz="1100" dirty="0"/>
          </a:p>
          <a:p>
            <a:pPr indent="0" marL="0">
              <a:lnSpc>
                <a:spcPct val="112000"/>
              </a:lnSpc>
              <a:buNone/>
            </a:pPr>
            <a:r>
              <a:rPr lang="en-US" sz="1100" dirty="0">
                <a:solidFill>
                  <a:srgbClr val="46545F"/>
                </a:solidFill>
                <a:latin typeface="Calibri" pitchFamily="34" charset="0"/>
                <a:ea typeface="Calibri" pitchFamily="34" charset="-122"/>
                <a:cs typeface="Calibri" pitchFamily="34" charset="-120"/>
              </a:rPr>
              <a:t>…and why it sometimes returns something conceptually close but factually wrong. The librarian works by meaning, not by truth.</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REASONING MODELS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Buying the model time to think — when it’s worth it</a:t>
            </a:r>
            <a:endParaRPr lang="en-US" sz="3000" dirty="0"/>
          </a:p>
        </p:txBody>
      </p:sp>
      <p:sp>
        <p:nvSpPr>
          <p:cNvPr id="6" name="Text 4"/>
          <p:cNvSpPr/>
          <p:nvPr/>
        </p:nvSpPr>
        <p:spPr>
          <a:xfrm>
            <a:off x="502920" y="1554480"/>
            <a:ext cx="5669280" cy="3108960"/>
          </a:xfrm>
          <a:prstGeom prst="rect">
            <a:avLst/>
          </a:prstGeom>
          <a:noFill/>
          <a:ln/>
        </p:spPr>
        <p:txBody>
          <a:bodyPr wrap="square" lIns="0" tIns="0" rIns="0" bIns="0" rtlCol="0" anchor="t"/>
          <a:lstStyle/>
          <a:p>
            <a:pPr algn="l" marL="127000" indent="-127000">
              <a:lnSpc>
                <a:spcPct val="104000"/>
              </a:lnSpc>
              <a:spcAft>
                <a:spcPts val="900"/>
              </a:spcAft>
              <a:buSzPct val="100000"/>
              <a:buChar char="•"/>
            </a:pPr>
            <a:r>
              <a:rPr lang="en-US" sz="1250" dirty="0">
                <a:solidFill>
                  <a:srgbClr val="46545F"/>
                </a:solidFill>
                <a:latin typeface="Calibri" pitchFamily="34" charset="0"/>
                <a:ea typeface="Calibri" pitchFamily="34" charset="-122"/>
                <a:cs typeface="Calibri" pitchFamily="34" charset="-120"/>
              </a:rPr>
              <a:t>Since OpenAI’s o1 (2024): models can draft, check, and revise internally before answering — spending extra compute at answer time on hard problems.</a:t>
            </a:r>
            <a:endParaRPr lang="en-US" sz="1250" dirty="0"/>
          </a:p>
          <a:p>
            <a:pPr algn="l" marL="127000" indent="-127000">
              <a:lnSpc>
                <a:spcPct val="104000"/>
              </a:lnSpc>
              <a:spcAft>
                <a:spcPts val="900"/>
              </a:spcAft>
              <a:buSzPct val="100000"/>
              <a:buChar char="•"/>
            </a:pPr>
            <a:r>
              <a:rPr lang="en-US" sz="1250" dirty="0">
                <a:solidFill>
                  <a:srgbClr val="46545F"/>
                </a:solidFill>
                <a:latin typeface="Calibri" pitchFamily="34" charset="0"/>
                <a:ea typeface="Calibri" pitchFamily="34" charset="-122"/>
                <a:cs typeface="Calibri" pitchFamily="34" charset="-120"/>
              </a:rPr>
              <a:t>By 2026 it’s adaptive, not a separate product: flagships decide how long to think, and you can set effort (fast → extended thinking).</a:t>
            </a:r>
            <a:endParaRPr lang="en-US" sz="1250" dirty="0"/>
          </a:p>
          <a:p>
            <a:pPr algn="l" marL="127000" indent="-127000">
              <a:lnSpc>
                <a:spcPct val="104000"/>
              </a:lnSpc>
              <a:spcAft>
                <a:spcPts val="900"/>
              </a:spcAft>
              <a:buSzPct val="100000"/>
              <a:buChar char="•"/>
            </a:pPr>
            <a:r>
              <a:rPr lang="en-US" sz="1250" b="1" dirty="0">
                <a:solidFill>
                  <a:srgbClr val="46545F"/>
                </a:solidFill>
                <a:latin typeface="Calibri" pitchFamily="34" charset="0"/>
                <a:ea typeface="Calibri" pitchFamily="34" charset="-122"/>
                <a:cs typeface="Calibri" pitchFamily="34" charset="-120"/>
              </a:rPr>
              <a:t>The bill: thinking tokens are charged as output tokens — the expensive kind — and add seconds to minutes. A hard question can quietly cost 5–20× a simple one.</a:t>
            </a:r>
            <a:endParaRPr lang="en-US" sz="1250" dirty="0"/>
          </a:p>
          <a:p>
            <a:pPr algn="l" marL="127000" indent="-127000">
              <a:lnSpc>
                <a:spcPct val="104000"/>
              </a:lnSpc>
              <a:spcAft>
                <a:spcPts val="900"/>
              </a:spcAft>
              <a:buSzPct val="100000"/>
              <a:buChar char="•"/>
            </a:pPr>
            <a:r>
              <a:rPr lang="en-US" sz="1250" dirty="0">
                <a:solidFill>
                  <a:srgbClr val="46545F"/>
                </a:solidFill>
                <a:latin typeface="Calibri" pitchFamily="34" charset="0"/>
                <a:ea typeface="Calibri" pitchFamily="34" charset="-122"/>
                <a:cs typeface="Calibri" pitchFamily="34" charset="-120"/>
              </a:rPr>
              <a:t>System 1 vs System 2: fast intuition for routine asks; slow deliberation for the problems where being wrong is expensive.</a:t>
            </a:r>
            <a:endParaRPr lang="en-US" sz="1250" dirty="0"/>
          </a:p>
        </p:txBody>
      </p:sp>
      <p:sp>
        <p:nvSpPr>
          <p:cNvPr id="7" name="Shape 5"/>
          <p:cNvSpPr/>
          <p:nvPr/>
        </p:nvSpPr>
        <p:spPr>
          <a:xfrm>
            <a:off x="6400800" y="1554480"/>
            <a:ext cx="5257800" cy="2103120"/>
          </a:xfrm>
          <a:prstGeom prst="roundRect">
            <a:avLst>
              <a:gd name="adj" fmla="val 3478"/>
            </a:avLst>
          </a:prstGeom>
          <a:solidFill>
            <a:srgbClr val="E7F2EC"/>
          </a:solidFill>
          <a:ln/>
        </p:spPr>
      </p:sp>
      <p:sp>
        <p:nvSpPr>
          <p:cNvPr id="8" name="Text 6"/>
          <p:cNvSpPr/>
          <p:nvPr/>
        </p:nvSpPr>
        <p:spPr>
          <a:xfrm>
            <a:off x="6675120" y="1737360"/>
            <a:ext cx="4754880" cy="1783080"/>
          </a:xfrm>
          <a:prstGeom prst="rect">
            <a:avLst/>
          </a:prstGeom>
          <a:noFill/>
          <a:ln/>
        </p:spPr>
        <p:txBody>
          <a:bodyPr wrap="square" lIns="0" tIns="0" rIns="0" bIns="0" rtlCol="0" anchor="ctr"/>
          <a:lstStyle/>
          <a:p>
            <a:pPr indent="0" marL="0">
              <a:lnSpc>
                <a:spcPct val="110000"/>
              </a:lnSpc>
              <a:spcAft>
                <a:spcPts val="400"/>
              </a:spcAft>
              <a:buNone/>
            </a:pPr>
            <a:r>
              <a:rPr lang="en-US" sz="1250" b="1" dirty="0">
                <a:solidFill>
                  <a:srgbClr val="232A31"/>
                </a:solidFill>
                <a:latin typeface="Calibri" pitchFamily="34" charset="0"/>
                <a:ea typeface="Calibri" pitchFamily="34" charset="-122"/>
                <a:cs typeface="Calibri" pitchFamily="34" charset="-120"/>
              </a:rPr>
              <a:t>Turn thinking ON for: </a:t>
            </a:r>
            <a:endParaRPr lang="en-US" sz="1250" dirty="0"/>
          </a:p>
          <a:p>
            <a:pPr indent="0" marL="0">
              <a:lnSpc>
                <a:spcPct val="110000"/>
              </a:lnSpc>
              <a:buNone/>
            </a:pPr>
            <a:r>
              <a:rPr lang="en-US" sz="1150" dirty="0">
                <a:solidFill>
                  <a:srgbClr val="46545F"/>
                </a:solidFill>
                <a:latin typeface="Calibri" pitchFamily="34" charset="0"/>
                <a:ea typeface="Calibri" pitchFamily="34" charset="-122"/>
                <a:cs typeface="Calibri" pitchFamily="34" charset="-120"/>
              </a:rPr>
              <a:t>multi-step analysis · math and anything numeric · root-cause reasoning · code · weighing tradeoffs across a long document · drafting the plan an agent will execute.</a:t>
            </a:r>
            <a:endParaRPr lang="en-US" sz="1250" dirty="0"/>
          </a:p>
        </p:txBody>
      </p:sp>
      <p:sp>
        <p:nvSpPr>
          <p:cNvPr id="9" name="Shape 7"/>
          <p:cNvSpPr/>
          <p:nvPr/>
        </p:nvSpPr>
        <p:spPr>
          <a:xfrm>
            <a:off x="6400800" y="3886200"/>
            <a:ext cx="5257800" cy="2103120"/>
          </a:xfrm>
          <a:prstGeom prst="roundRect">
            <a:avLst>
              <a:gd name="adj" fmla="val 3478"/>
            </a:avLst>
          </a:prstGeom>
          <a:solidFill>
            <a:srgbClr val="FBF0E0"/>
          </a:solidFill>
          <a:ln/>
        </p:spPr>
      </p:sp>
      <p:sp>
        <p:nvSpPr>
          <p:cNvPr id="10" name="Text 8"/>
          <p:cNvSpPr/>
          <p:nvPr/>
        </p:nvSpPr>
        <p:spPr>
          <a:xfrm>
            <a:off x="6675120" y="4069080"/>
            <a:ext cx="4754880" cy="1783080"/>
          </a:xfrm>
          <a:prstGeom prst="rect">
            <a:avLst/>
          </a:prstGeom>
          <a:noFill/>
          <a:ln/>
        </p:spPr>
        <p:txBody>
          <a:bodyPr wrap="square" lIns="0" tIns="0" rIns="0" bIns="0" rtlCol="0" anchor="ctr"/>
          <a:lstStyle/>
          <a:p>
            <a:pPr indent="0" marL="0">
              <a:lnSpc>
                <a:spcPct val="110000"/>
              </a:lnSpc>
              <a:spcAft>
                <a:spcPts val="400"/>
              </a:spcAft>
              <a:buNone/>
            </a:pPr>
            <a:r>
              <a:rPr lang="en-US" sz="1250" b="1" dirty="0">
                <a:solidFill>
                  <a:srgbClr val="232A31"/>
                </a:solidFill>
                <a:latin typeface="Calibri" pitchFamily="34" charset="0"/>
                <a:ea typeface="Calibri" pitchFamily="34" charset="-122"/>
                <a:cs typeface="Calibri" pitchFamily="34" charset="-120"/>
              </a:rPr>
              <a:t>Skip it for: </a:t>
            </a:r>
            <a:endParaRPr lang="en-US" sz="1250" dirty="0"/>
          </a:p>
          <a:p>
            <a:pPr indent="0" marL="0">
              <a:lnSpc>
                <a:spcPct val="110000"/>
              </a:lnSpc>
              <a:buNone/>
            </a:pPr>
            <a:r>
              <a:rPr lang="en-US" sz="1150" dirty="0">
                <a:solidFill>
                  <a:srgbClr val="46545F"/>
                </a:solidFill>
                <a:latin typeface="Calibri" pitchFamily="34" charset="0"/>
                <a:ea typeface="Calibri" pitchFamily="34" charset="-122"/>
                <a:cs typeface="Calibri" pitchFamily="34" charset="-120"/>
              </a:rPr>
              <a:t>lookups · reformatting · summaries · routine drafting. You pay in time and tokens for deliberation you don’t need — and (Part 3 preview) “think step by step” prompts are now often redundant: the model already does.</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HALLUCINATION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Fluency is not evidence</a:t>
            </a:r>
            <a:endParaRPr lang="en-US" sz="3000" dirty="0"/>
          </a:p>
        </p:txBody>
      </p:sp>
      <p:sp>
        <p:nvSpPr>
          <p:cNvPr id="6" name="Text 4"/>
          <p:cNvSpPr/>
          <p:nvPr/>
        </p:nvSpPr>
        <p:spPr>
          <a:xfrm>
            <a:off x="502920" y="1554480"/>
            <a:ext cx="5669280" cy="3291840"/>
          </a:xfrm>
          <a:prstGeom prst="rect">
            <a:avLst/>
          </a:prstGeom>
          <a:noFill/>
          <a:ln/>
        </p:spPr>
        <p:txBody>
          <a:bodyPr wrap="square" lIns="0" tIns="0" rIns="0" bIns="0" rtlCol="0" anchor="t"/>
          <a:lstStyle/>
          <a:p>
            <a:pPr algn="l" marL="127000" indent="-127000">
              <a:lnSpc>
                <a:spcPct val="104000"/>
              </a:lnSpc>
              <a:spcAft>
                <a:spcPts val="1000"/>
              </a:spcAft>
              <a:buSzPct val="100000"/>
              <a:buChar char="•"/>
            </a:pPr>
            <a:r>
              <a:rPr lang="en-US" sz="1250" dirty="0">
                <a:solidFill>
                  <a:srgbClr val="46545F"/>
                </a:solidFill>
                <a:latin typeface="Calibri" pitchFamily="34" charset="0"/>
                <a:ea typeface="Calibri" pitchFamily="34" charset="-122"/>
                <a:cs typeface="Calibri" pitchFamily="34" charset="-120"/>
              </a:rPr>
              <a:t>The mechanism: models are optimized for the most plausible next token, not the most true one. Fluency and truth usually coincide — except where training data is thin: rare facts, exact citations, numbers, names.</a:t>
            </a:r>
            <a:endParaRPr lang="en-US" sz="1250" dirty="0"/>
          </a:p>
          <a:p>
            <a:pPr algn="l" marL="127000" indent="-127000">
              <a:lnSpc>
                <a:spcPct val="104000"/>
              </a:lnSpc>
              <a:spcAft>
                <a:spcPts val="1000"/>
              </a:spcAft>
              <a:buSzPct val="100000"/>
              <a:buChar char="•"/>
            </a:pPr>
            <a:r>
              <a:rPr lang="en-US" sz="1250" b="1" dirty="0">
                <a:solidFill>
                  <a:srgbClr val="46545F"/>
                </a:solidFill>
                <a:latin typeface="Calibri" pitchFamily="34" charset="0"/>
                <a:ea typeface="Calibri" pitchFamily="34" charset="-122"/>
                <a:cs typeface="Calibri" pitchFamily="34" charset="-120"/>
              </a:rPr>
              <a:t>OpenAI’s own 2025 research: hallucination is a statistically expected result of standard training — benchmarks reward confident guessing over “I don’t know,” so models learn to be good test-takers.</a:t>
            </a:r>
            <a:endParaRPr lang="en-US" sz="1250" dirty="0"/>
          </a:p>
          <a:p>
            <a:pPr algn="l" marL="127000" indent="-127000">
              <a:lnSpc>
                <a:spcPct val="104000"/>
              </a:lnSpc>
              <a:spcAft>
                <a:spcPts val="1000"/>
              </a:spcAft>
              <a:buSzPct val="100000"/>
              <a:buChar char="•"/>
            </a:pPr>
            <a:r>
              <a:rPr lang="en-US" sz="1250" dirty="0">
                <a:solidFill>
                  <a:srgbClr val="46545F"/>
                </a:solidFill>
                <a:latin typeface="Calibri" pitchFamily="34" charset="0"/>
                <a:ea typeface="Calibri" pitchFamily="34" charset="-122"/>
                <a:cs typeface="Calibri" pitchFamily="34" charset="-120"/>
              </a:rPr>
              <a:t>The assertive tone carries no information about reliability. An improv actor never breaks character — the show must go on, so gaps get filled with the most plausible line.</a:t>
            </a:r>
            <a:endParaRPr lang="en-US" sz="1250" dirty="0"/>
          </a:p>
        </p:txBody>
      </p:sp>
      <p:sp>
        <p:nvSpPr>
          <p:cNvPr id="7" name="Shape 5"/>
          <p:cNvSpPr/>
          <p:nvPr/>
        </p:nvSpPr>
        <p:spPr>
          <a:xfrm>
            <a:off x="6400800" y="1554480"/>
            <a:ext cx="5257800" cy="1371600"/>
          </a:xfrm>
          <a:prstGeom prst="roundRect">
            <a:avLst>
              <a:gd name="adj" fmla="val 5333"/>
            </a:avLst>
          </a:prstGeom>
          <a:solidFill>
            <a:srgbClr val="F2F5F6"/>
          </a:solidFill>
          <a:ln/>
        </p:spPr>
      </p:sp>
      <p:sp>
        <p:nvSpPr>
          <p:cNvPr id="8" name="Shape 6"/>
          <p:cNvSpPr/>
          <p:nvPr/>
        </p:nvSpPr>
        <p:spPr>
          <a:xfrm>
            <a:off x="6629400" y="1938528"/>
            <a:ext cx="457200" cy="457200"/>
          </a:xfrm>
          <a:prstGeom prst="ellipse">
            <a:avLst/>
          </a:prstGeom>
          <a:solidFill>
            <a:srgbClr val="0E7C7B"/>
          </a:solidFill>
          <a:ln/>
        </p:spPr>
      </p:sp>
      <p:pic>
        <p:nvPicPr>
          <p:cNvPr id="9" name="Image 0" descr="/home/user/Claude-Works/ai-training-prompt-engineering/src/assets/icons/book_w.png">    </p:cNvPr>
          <p:cNvPicPr>
            <a:picLocks noChangeAspect="1"/>
          </p:cNvPicPr>
          <p:nvPr/>
        </p:nvPicPr>
        <p:blipFill>
          <a:blip r:embed="rId1"/>
          <a:stretch>
            <a:fillRect/>
          </a:stretch>
        </p:blipFill>
        <p:spPr>
          <a:xfrm>
            <a:off x="6748272" y="2057400"/>
            <a:ext cx="219456" cy="219456"/>
          </a:xfrm>
          <a:prstGeom prst="rect">
            <a:avLst/>
          </a:prstGeom>
        </p:spPr>
      </p:pic>
      <p:sp>
        <p:nvSpPr>
          <p:cNvPr id="10" name="Text 7"/>
          <p:cNvSpPr/>
          <p:nvPr/>
        </p:nvSpPr>
        <p:spPr>
          <a:xfrm>
            <a:off x="7223760" y="1664208"/>
            <a:ext cx="4251960" cy="1188720"/>
          </a:xfrm>
          <a:prstGeom prst="rect">
            <a:avLst/>
          </a:prstGeom>
          <a:noFill/>
          <a:ln/>
        </p:spPr>
        <p:txBody>
          <a:bodyPr wrap="square" lIns="0" tIns="0" rIns="0" bIns="0" rtlCol="0" anchor="ctr"/>
          <a:lstStyle/>
          <a:p>
            <a:pPr indent="0" marL="0">
              <a:lnSpc>
                <a:spcPct val="107000"/>
              </a:lnSpc>
              <a:spcAft>
                <a:spcPts val="200"/>
              </a:spcAft>
              <a:buNone/>
            </a:pPr>
            <a:r>
              <a:rPr lang="en-US" sz="1300" b="1" dirty="0">
                <a:solidFill>
                  <a:srgbClr val="232A31"/>
                </a:solidFill>
                <a:latin typeface="Calibri" pitchFamily="34" charset="0"/>
                <a:ea typeface="Calibri" pitchFamily="34" charset="-122"/>
                <a:cs typeface="Calibri" pitchFamily="34" charset="-120"/>
              </a:rPr>
              <a:t>Ground it</a:t>
            </a:r>
            <a:endParaRPr lang="en-US" sz="1300" dirty="0"/>
          </a:p>
          <a:p>
            <a:pPr indent="0" marL="0">
              <a:lnSpc>
                <a:spcPct val="107000"/>
              </a:lnSpc>
              <a:buNone/>
            </a:pPr>
            <a:r>
              <a:rPr lang="en-US" sz="1080" dirty="0">
                <a:solidFill>
                  <a:srgbClr val="46545F"/>
                </a:solidFill>
                <a:latin typeface="Calibri" pitchFamily="34" charset="0"/>
                <a:ea typeface="Calibri" pitchFamily="34" charset="-122"/>
                <a:cs typeface="Calibri" pitchFamily="34" charset="-120"/>
              </a:rPr>
              <a:t>Give it the source: attach the document, use RAG/search — answering from supplied text beats free recall.</a:t>
            </a:r>
            <a:endParaRPr lang="en-US" sz="1300" dirty="0"/>
          </a:p>
        </p:txBody>
      </p:sp>
      <p:sp>
        <p:nvSpPr>
          <p:cNvPr id="11" name="Shape 8"/>
          <p:cNvSpPr/>
          <p:nvPr/>
        </p:nvSpPr>
        <p:spPr>
          <a:xfrm>
            <a:off x="6400800" y="3063240"/>
            <a:ext cx="5257800" cy="1371600"/>
          </a:xfrm>
          <a:prstGeom prst="roundRect">
            <a:avLst>
              <a:gd name="adj" fmla="val 5333"/>
            </a:avLst>
          </a:prstGeom>
          <a:solidFill>
            <a:srgbClr val="F2F5F6"/>
          </a:solidFill>
          <a:ln/>
        </p:spPr>
      </p:sp>
      <p:sp>
        <p:nvSpPr>
          <p:cNvPr id="12" name="Shape 9"/>
          <p:cNvSpPr/>
          <p:nvPr/>
        </p:nvSpPr>
        <p:spPr>
          <a:xfrm>
            <a:off x="6629400" y="3447288"/>
            <a:ext cx="457200" cy="457200"/>
          </a:xfrm>
          <a:prstGeom prst="ellipse">
            <a:avLst/>
          </a:prstGeom>
          <a:solidFill>
            <a:srgbClr val="0E7C7B"/>
          </a:solidFill>
          <a:ln/>
        </p:spPr>
      </p:sp>
      <p:pic>
        <p:nvPicPr>
          <p:cNvPr id="13" name="Image 1" descr="/home/user/Claude-Works/ai-training-prompt-engineering/src/assets/icons/eye_w.png">    </p:cNvPr>
          <p:cNvPicPr>
            <a:picLocks noChangeAspect="1"/>
          </p:cNvPicPr>
          <p:nvPr/>
        </p:nvPicPr>
        <p:blipFill>
          <a:blip r:embed="rId2"/>
          <a:stretch>
            <a:fillRect/>
          </a:stretch>
        </p:blipFill>
        <p:spPr>
          <a:xfrm>
            <a:off x="6748272" y="3566160"/>
            <a:ext cx="219456" cy="219456"/>
          </a:xfrm>
          <a:prstGeom prst="rect">
            <a:avLst/>
          </a:prstGeom>
        </p:spPr>
      </p:pic>
      <p:sp>
        <p:nvSpPr>
          <p:cNvPr id="14" name="Text 10"/>
          <p:cNvSpPr/>
          <p:nvPr/>
        </p:nvSpPr>
        <p:spPr>
          <a:xfrm>
            <a:off x="7223760" y="3172968"/>
            <a:ext cx="4251960" cy="1188720"/>
          </a:xfrm>
          <a:prstGeom prst="rect">
            <a:avLst/>
          </a:prstGeom>
          <a:noFill/>
          <a:ln/>
        </p:spPr>
        <p:txBody>
          <a:bodyPr wrap="square" lIns="0" tIns="0" rIns="0" bIns="0" rtlCol="0" anchor="ctr"/>
          <a:lstStyle/>
          <a:p>
            <a:pPr indent="0" marL="0">
              <a:lnSpc>
                <a:spcPct val="107000"/>
              </a:lnSpc>
              <a:spcAft>
                <a:spcPts val="200"/>
              </a:spcAft>
              <a:buNone/>
            </a:pPr>
            <a:r>
              <a:rPr lang="en-US" sz="1300" b="1" dirty="0">
                <a:solidFill>
                  <a:srgbClr val="232A31"/>
                </a:solidFill>
                <a:latin typeface="Calibri" pitchFamily="34" charset="0"/>
                <a:ea typeface="Calibri" pitchFamily="34" charset="-122"/>
                <a:cs typeface="Calibri" pitchFamily="34" charset="-120"/>
              </a:rPr>
              <a:t>Cite it</a:t>
            </a:r>
            <a:endParaRPr lang="en-US" sz="1300" dirty="0"/>
          </a:p>
          <a:p>
            <a:pPr indent="0" marL="0">
              <a:lnSpc>
                <a:spcPct val="107000"/>
              </a:lnSpc>
              <a:buNone/>
            </a:pPr>
            <a:r>
              <a:rPr lang="en-US" sz="1080" dirty="0">
                <a:solidFill>
                  <a:srgbClr val="46545F"/>
                </a:solidFill>
                <a:latin typeface="Calibri" pitchFamily="34" charset="0"/>
                <a:ea typeface="Calibri" pitchFamily="34" charset="-122"/>
                <a:cs typeface="Calibri" pitchFamily="34" charset="-120"/>
              </a:rPr>
              <a:t>Demand citations and an “I don’t know” escape hatch: “If the text doesn’t say, say so.”</a:t>
            </a:r>
            <a:endParaRPr lang="en-US" sz="1300" dirty="0"/>
          </a:p>
        </p:txBody>
      </p:sp>
      <p:sp>
        <p:nvSpPr>
          <p:cNvPr id="15" name="Shape 11"/>
          <p:cNvSpPr/>
          <p:nvPr/>
        </p:nvSpPr>
        <p:spPr>
          <a:xfrm>
            <a:off x="6400800" y="4572000"/>
            <a:ext cx="5257800" cy="1371600"/>
          </a:xfrm>
          <a:prstGeom prst="roundRect">
            <a:avLst>
              <a:gd name="adj" fmla="val 5333"/>
            </a:avLst>
          </a:prstGeom>
          <a:solidFill>
            <a:srgbClr val="E4F0EF"/>
          </a:solidFill>
          <a:ln/>
        </p:spPr>
      </p:sp>
      <p:sp>
        <p:nvSpPr>
          <p:cNvPr id="16" name="Shape 12"/>
          <p:cNvSpPr/>
          <p:nvPr/>
        </p:nvSpPr>
        <p:spPr>
          <a:xfrm>
            <a:off x="6629400" y="4956048"/>
            <a:ext cx="457200" cy="457200"/>
          </a:xfrm>
          <a:prstGeom prst="ellipse">
            <a:avLst/>
          </a:prstGeom>
          <a:solidFill>
            <a:srgbClr val="0E7C7B"/>
          </a:solidFill>
          <a:ln/>
        </p:spPr>
      </p:sp>
      <p:pic>
        <p:nvPicPr>
          <p:cNvPr id="17" name="Image 2" descr="/home/user/Claude-Works/ai-training-prompt-engineering/src/assets/icons/check_w.png">    </p:cNvPr>
          <p:cNvPicPr>
            <a:picLocks noChangeAspect="1"/>
          </p:cNvPicPr>
          <p:nvPr/>
        </p:nvPicPr>
        <p:blipFill>
          <a:blip r:embed="rId3"/>
          <a:stretch>
            <a:fillRect/>
          </a:stretch>
        </p:blipFill>
        <p:spPr>
          <a:xfrm>
            <a:off x="6748272" y="5074920"/>
            <a:ext cx="219456" cy="219456"/>
          </a:xfrm>
          <a:prstGeom prst="rect">
            <a:avLst/>
          </a:prstGeom>
        </p:spPr>
      </p:pic>
      <p:sp>
        <p:nvSpPr>
          <p:cNvPr id="18" name="Text 13"/>
          <p:cNvSpPr/>
          <p:nvPr/>
        </p:nvSpPr>
        <p:spPr>
          <a:xfrm>
            <a:off x="7223760" y="4681728"/>
            <a:ext cx="4251960" cy="1188720"/>
          </a:xfrm>
          <a:prstGeom prst="rect">
            <a:avLst/>
          </a:prstGeom>
          <a:noFill/>
          <a:ln/>
        </p:spPr>
        <p:txBody>
          <a:bodyPr wrap="square" lIns="0" tIns="0" rIns="0" bIns="0" rtlCol="0" anchor="ctr"/>
          <a:lstStyle/>
          <a:p>
            <a:pPr indent="0" marL="0">
              <a:lnSpc>
                <a:spcPct val="107000"/>
              </a:lnSpc>
              <a:spcAft>
                <a:spcPts val="200"/>
              </a:spcAft>
              <a:buNone/>
            </a:pPr>
            <a:r>
              <a:rPr lang="en-US" sz="1300" b="1" dirty="0">
                <a:solidFill>
                  <a:srgbClr val="232A31"/>
                </a:solidFill>
                <a:latin typeface="Calibri" pitchFamily="34" charset="0"/>
                <a:ea typeface="Calibri" pitchFamily="34" charset="-122"/>
                <a:cs typeface="Calibri" pitchFamily="34" charset="-120"/>
              </a:rPr>
              <a:t>Verify it</a:t>
            </a:r>
            <a:endParaRPr lang="en-US" sz="1300" dirty="0"/>
          </a:p>
          <a:p>
            <a:pPr indent="0" marL="0">
              <a:lnSpc>
                <a:spcPct val="107000"/>
              </a:lnSpc>
              <a:buNone/>
            </a:pPr>
            <a:r>
              <a:rPr lang="en-US" sz="1080" dirty="0">
                <a:solidFill>
                  <a:srgbClr val="46545F"/>
                </a:solidFill>
                <a:latin typeface="Calibri" pitchFamily="34" charset="0"/>
                <a:ea typeface="Calibri" pitchFamily="34" charset="-122"/>
                <a:cs typeface="Calibri" pitchFamily="34" charset="-120"/>
              </a:rPr>
              <a:t>Check what matters before it ships: quotes, numbers, clauses, anything regulatory. Your domain knowledge is the safety net.</a:t>
            </a:r>
            <a:endParaRPr lang="en-US" sz="1300" dirty="0"/>
          </a:p>
        </p:txBody>
      </p:sp>
      <p:sp>
        <p:nvSpPr>
          <p:cNvPr id="19" name="Shape 14"/>
          <p:cNvSpPr/>
          <p:nvPr/>
        </p:nvSpPr>
        <p:spPr>
          <a:xfrm>
            <a:off x="502920" y="5120640"/>
            <a:ext cx="5669280" cy="914400"/>
          </a:xfrm>
          <a:prstGeom prst="roundRect">
            <a:avLst>
              <a:gd name="adj" fmla="val 8000"/>
            </a:avLst>
          </a:prstGeom>
          <a:solidFill>
            <a:srgbClr val="F9E9E8"/>
          </a:solidFill>
          <a:ln/>
        </p:spPr>
      </p:sp>
      <p:sp>
        <p:nvSpPr>
          <p:cNvPr id="20" name="Shape 15"/>
          <p:cNvSpPr/>
          <p:nvPr/>
        </p:nvSpPr>
        <p:spPr>
          <a:xfrm>
            <a:off x="667512" y="5385816"/>
            <a:ext cx="384048" cy="384048"/>
          </a:xfrm>
          <a:prstGeom prst="ellipse">
            <a:avLst/>
          </a:prstGeom>
          <a:solidFill>
            <a:srgbClr val="AF3230"/>
          </a:solidFill>
          <a:ln/>
        </p:spPr>
      </p:sp>
      <p:pic>
        <p:nvPicPr>
          <p:cNvPr id="21" name="Image 3" descr="/home/user/Claude-Works/ai-training-prompt-engineering/src/assets/icons/alert_w.png">    </p:cNvPr>
          <p:cNvPicPr>
            <a:picLocks noChangeAspect="1"/>
          </p:cNvPicPr>
          <p:nvPr/>
        </p:nvPicPr>
        <p:blipFill>
          <a:blip r:embed="rId4"/>
          <a:stretch>
            <a:fillRect/>
          </a:stretch>
        </p:blipFill>
        <p:spPr>
          <a:xfrm>
            <a:off x="767364" y="5485668"/>
            <a:ext cx="184343" cy="184343"/>
          </a:xfrm>
          <a:prstGeom prst="rect">
            <a:avLst/>
          </a:prstGeom>
        </p:spPr>
      </p:pic>
      <p:sp>
        <p:nvSpPr>
          <p:cNvPr id="22" name="Text 16"/>
          <p:cNvSpPr/>
          <p:nvPr/>
        </p:nvSpPr>
        <p:spPr>
          <a:xfrm>
            <a:off x="1216152" y="5193792"/>
            <a:ext cx="4727448" cy="768096"/>
          </a:xfrm>
          <a:prstGeom prst="rect">
            <a:avLst/>
          </a:prstGeom>
          <a:noFill/>
          <a:ln/>
        </p:spPr>
        <p:txBody>
          <a:bodyPr wrap="square" lIns="0" tIns="0" rIns="0" bIns="0" rtlCol="0" anchor="ctr"/>
          <a:lstStyle/>
          <a:p>
            <a:pPr indent="0" marL="0">
              <a:lnSpc>
                <a:spcPct val="106000"/>
              </a:lnSpc>
              <a:buNone/>
            </a:pPr>
            <a:r>
              <a:rPr lang="en-US" sz="1250" b="1" dirty="0">
                <a:solidFill>
                  <a:srgbClr val="AF3230"/>
                </a:solidFill>
                <a:latin typeface="Calibri" pitchFamily="34" charset="0"/>
                <a:ea typeface="Calibri" pitchFamily="34" charset="-122"/>
                <a:cs typeface="Calibri" pitchFamily="34" charset="-120"/>
              </a:rPr>
              <a:t>House rule: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every uncited standard clause, date, number, or quote is a draft until verified.</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14</a:t>
            </a:r>
            <a:endParaRPr lang="en-US" sz="850" dirty="0"/>
          </a:p>
        </p:txBody>
      </p:sp>
      <p:sp>
        <p:nvSpPr>
          <p:cNvPr id="3" name="Text 1"/>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2 · MODELS &amp; TOOLS</a:t>
            </a:r>
            <a:endParaRPr lang="en-US" sz="1600" dirty="0"/>
          </a:p>
        </p:txBody>
      </p:sp>
      <p:sp>
        <p:nvSpPr>
          <p:cNvPr id="4" name="Text 2"/>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landscape,</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August 2026</a:t>
            </a:r>
            <a:endParaRPr lang="en-US" sz="4400" dirty="0"/>
          </a:p>
        </p:txBody>
      </p:sp>
      <p:sp>
        <p:nvSpPr>
          <p:cNvPr id="5" name="Text 3"/>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Who makes what, what each is genuinely good at, what the Chinese open-weight wave changed — and which agentic tools are worth knowing by name. Everything on these slides is dated: this field re-ranks monthly.</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ASSISTANTS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ASSISTANTS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 names cover the chat landscape — August 2026</a:t>
            </a:r>
            <a:endParaRPr lang="en-US" sz="3000" dirty="0"/>
          </a:p>
        </p:txBody>
      </p:sp>
      <p:sp>
        <p:nvSpPr>
          <p:cNvPr id="6" name="Shape 4"/>
          <p:cNvSpPr/>
          <p:nvPr/>
        </p:nvSpPr>
        <p:spPr>
          <a:xfrm>
            <a:off x="502920" y="1481328"/>
            <a:ext cx="3611880" cy="2121408"/>
          </a:xfrm>
          <a:prstGeom prst="roundRect">
            <a:avLst>
              <a:gd name="adj" fmla="val 3448"/>
            </a:avLst>
          </a:prstGeom>
          <a:solidFill>
            <a:srgbClr val="F2F5F6"/>
          </a:solidFill>
          <a:ln/>
        </p:spPr>
      </p:sp>
      <p:sp>
        <p:nvSpPr>
          <p:cNvPr id="7" name="Text 5"/>
          <p:cNvSpPr/>
          <p:nvPr/>
        </p:nvSpPr>
        <p:spPr>
          <a:xfrm>
            <a:off x="722376" y="1609344"/>
            <a:ext cx="3108960" cy="347472"/>
          </a:xfrm>
          <a:prstGeom prst="rect">
            <a:avLst/>
          </a:prstGeom>
          <a:noFill/>
          <a:ln/>
        </p:spPr>
        <p:txBody>
          <a:bodyPr wrap="square" lIns="0" tIns="0" rIns="0" bIns="0" rtlCol="0" anchor="ctr"/>
          <a:lstStyle/>
          <a:p>
            <a:pPr indent="0" marL="0">
              <a:buNone/>
            </a:pPr>
            <a:r>
              <a:rPr lang="en-US" sz="1600" b="1" dirty="0">
                <a:solidFill>
                  <a:srgbClr val="0A5B5A"/>
                </a:solidFill>
                <a:latin typeface="Cambria" pitchFamily="34" charset="0"/>
                <a:ea typeface="Cambria" pitchFamily="34" charset="-122"/>
                <a:cs typeface="Cambria" pitchFamily="34" charset="-120"/>
              </a:rPr>
              <a:t>Claude</a:t>
            </a:r>
            <a:endParaRPr lang="en-US" sz="1600" dirty="0"/>
          </a:p>
        </p:txBody>
      </p:sp>
      <p:sp>
        <p:nvSpPr>
          <p:cNvPr id="8" name="Text 6"/>
          <p:cNvSpPr/>
          <p:nvPr/>
        </p:nvSpPr>
        <p:spPr>
          <a:xfrm>
            <a:off x="722376" y="1956816"/>
            <a:ext cx="3200400" cy="292608"/>
          </a:xfrm>
          <a:prstGeom prst="rect">
            <a:avLst/>
          </a:prstGeom>
          <a:noFill/>
          <a:ln/>
        </p:spPr>
        <p:txBody>
          <a:bodyPr wrap="square" lIns="0" tIns="0" rIns="0" bIns="0" rtlCol="0" anchor="ctr"/>
          <a:lstStyle/>
          <a:p>
            <a:pPr indent="0" marL="0">
              <a:buNone/>
            </a:pPr>
            <a:r>
              <a:rPr lang="en-US" sz="860" b="1" spc="50" kern="0" dirty="0">
                <a:solidFill>
                  <a:srgbClr val="7A8790"/>
                </a:solidFill>
                <a:latin typeface="Calibri" pitchFamily="34" charset="0"/>
                <a:ea typeface="Calibri" pitchFamily="34" charset="-122"/>
                <a:cs typeface="Calibri" pitchFamily="34" charset="-120"/>
              </a:rPr>
              <a:t>Anthropic · Fable 5 / Opus 5 / Sonnet 5 / Haiku 4.5</a:t>
            </a:r>
            <a:endParaRPr lang="en-US" sz="860" dirty="0"/>
          </a:p>
        </p:txBody>
      </p:sp>
      <p:sp>
        <p:nvSpPr>
          <p:cNvPr id="9" name="Text 7"/>
          <p:cNvSpPr/>
          <p:nvPr/>
        </p:nvSpPr>
        <p:spPr>
          <a:xfrm>
            <a:off x="722376" y="2286000"/>
            <a:ext cx="3200400" cy="777240"/>
          </a:xfrm>
          <a:prstGeom prst="rect">
            <a:avLst/>
          </a:prstGeom>
          <a:noFill/>
          <a:ln/>
        </p:spPr>
        <p:txBody>
          <a:bodyPr wrap="square" lIns="0" tIns="0" rIns="0" bIns="0" rtlCol="0" anchor="ctr"/>
          <a:lstStyle/>
          <a:p>
            <a:pPr indent="0" marL="0">
              <a:lnSpc>
                <a:spcPct val="104000"/>
              </a:lnSpc>
              <a:buNone/>
            </a:pPr>
            <a:r>
              <a:rPr lang="en-US" sz="960" dirty="0">
                <a:solidFill>
                  <a:srgbClr val="46545F"/>
                </a:solidFill>
                <a:latin typeface="Calibri" pitchFamily="34" charset="0"/>
                <a:ea typeface="Calibri" pitchFamily="34" charset="-122"/>
                <a:cs typeface="Calibri" pitchFamily="34" charset="-120"/>
              </a:rPr>
              <a:t>Forte: agentic work &amp; coding (top of SWE-bench), long documents (1M ctx), careful writing.</a:t>
            </a:r>
            <a:endParaRPr lang="en-US" sz="960" dirty="0"/>
          </a:p>
        </p:txBody>
      </p:sp>
      <p:sp>
        <p:nvSpPr>
          <p:cNvPr id="10" name="Text 8"/>
          <p:cNvSpPr/>
          <p:nvPr/>
        </p:nvSpPr>
        <p:spPr>
          <a:xfrm>
            <a:off x="722376" y="3054096"/>
            <a:ext cx="3200400" cy="502920"/>
          </a:xfrm>
          <a:prstGeom prst="rect">
            <a:avLst/>
          </a:prstGeom>
          <a:noFill/>
          <a:ln/>
        </p:spPr>
        <p:txBody>
          <a:bodyPr wrap="square" lIns="0" tIns="0" rIns="0" bIns="0" rtlCol="0" anchor="ctr"/>
          <a:lstStyle/>
          <a:p>
            <a:pPr indent="0" marL="0">
              <a:lnSpc>
                <a:spcPct val="100000"/>
              </a:lnSpc>
              <a:buNone/>
            </a:pPr>
            <a:r>
              <a:rPr lang="en-US" sz="880" i="1" dirty="0">
                <a:solidFill>
                  <a:srgbClr val="B96A1B"/>
                </a:solidFill>
                <a:latin typeface="Calibri" pitchFamily="34" charset="0"/>
                <a:ea typeface="Calibri" pitchFamily="34" charset="-122"/>
                <a:cs typeface="Calibri" pitchFamily="34" charset="-120"/>
              </a:rPr>
              <a:t>Caveat: premium pricing at the top tier; flagship can refuse high-risk domains by design.</a:t>
            </a:r>
            <a:endParaRPr lang="en-US" sz="880" dirty="0"/>
          </a:p>
        </p:txBody>
      </p:sp>
      <p:sp>
        <p:nvSpPr>
          <p:cNvPr id="11" name="Shape 9"/>
          <p:cNvSpPr/>
          <p:nvPr/>
        </p:nvSpPr>
        <p:spPr>
          <a:xfrm>
            <a:off x="4325112" y="1481328"/>
            <a:ext cx="3611880" cy="2121408"/>
          </a:xfrm>
          <a:prstGeom prst="roundRect">
            <a:avLst>
              <a:gd name="adj" fmla="val 3448"/>
            </a:avLst>
          </a:prstGeom>
          <a:solidFill>
            <a:srgbClr val="F2F5F6"/>
          </a:solidFill>
          <a:ln/>
        </p:spPr>
      </p:sp>
      <p:sp>
        <p:nvSpPr>
          <p:cNvPr id="12" name="Text 10"/>
          <p:cNvSpPr/>
          <p:nvPr/>
        </p:nvSpPr>
        <p:spPr>
          <a:xfrm>
            <a:off x="4544568" y="1609344"/>
            <a:ext cx="3108960" cy="347472"/>
          </a:xfrm>
          <a:prstGeom prst="rect">
            <a:avLst/>
          </a:prstGeom>
          <a:noFill/>
          <a:ln/>
        </p:spPr>
        <p:txBody>
          <a:bodyPr wrap="square" lIns="0" tIns="0" rIns="0" bIns="0" rtlCol="0" anchor="ctr"/>
          <a:lstStyle/>
          <a:p>
            <a:pPr indent="0" marL="0">
              <a:buNone/>
            </a:pPr>
            <a:r>
              <a:rPr lang="en-US" sz="1600" b="1" dirty="0">
                <a:solidFill>
                  <a:srgbClr val="0A5B5A"/>
                </a:solidFill>
                <a:latin typeface="Cambria" pitchFamily="34" charset="0"/>
                <a:ea typeface="Cambria" pitchFamily="34" charset="-122"/>
                <a:cs typeface="Cambria" pitchFamily="34" charset="-120"/>
              </a:rPr>
              <a:t>ChatGPT</a:t>
            </a:r>
            <a:endParaRPr lang="en-US" sz="1600" dirty="0"/>
          </a:p>
        </p:txBody>
      </p:sp>
      <p:sp>
        <p:nvSpPr>
          <p:cNvPr id="13" name="Text 11"/>
          <p:cNvSpPr/>
          <p:nvPr/>
        </p:nvSpPr>
        <p:spPr>
          <a:xfrm>
            <a:off x="4544568" y="1956816"/>
            <a:ext cx="3200400" cy="292608"/>
          </a:xfrm>
          <a:prstGeom prst="rect">
            <a:avLst/>
          </a:prstGeom>
          <a:noFill/>
          <a:ln/>
        </p:spPr>
        <p:txBody>
          <a:bodyPr wrap="square" lIns="0" tIns="0" rIns="0" bIns="0" rtlCol="0" anchor="ctr"/>
          <a:lstStyle/>
          <a:p>
            <a:pPr indent="0" marL="0">
              <a:buNone/>
            </a:pPr>
            <a:r>
              <a:rPr lang="en-US" sz="860" b="1" spc="50" kern="0" dirty="0">
                <a:solidFill>
                  <a:srgbClr val="7A8790"/>
                </a:solidFill>
                <a:latin typeface="Calibri" pitchFamily="34" charset="0"/>
                <a:ea typeface="Calibri" pitchFamily="34" charset="-122"/>
                <a:cs typeface="Calibri" pitchFamily="34" charset="-120"/>
              </a:rPr>
              <a:t>OpenAI · GPT-5.6 family (Sol / Terra / Luna)</a:t>
            </a:r>
            <a:endParaRPr lang="en-US" sz="860" dirty="0"/>
          </a:p>
        </p:txBody>
      </p:sp>
      <p:sp>
        <p:nvSpPr>
          <p:cNvPr id="14" name="Text 12"/>
          <p:cNvSpPr/>
          <p:nvPr/>
        </p:nvSpPr>
        <p:spPr>
          <a:xfrm>
            <a:off x="4544568" y="2286000"/>
            <a:ext cx="3200400" cy="777240"/>
          </a:xfrm>
          <a:prstGeom prst="rect">
            <a:avLst/>
          </a:prstGeom>
          <a:noFill/>
          <a:ln/>
        </p:spPr>
        <p:txBody>
          <a:bodyPr wrap="square" lIns="0" tIns="0" rIns="0" bIns="0" rtlCol="0" anchor="ctr"/>
          <a:lstStyle/>
          <a:p>
            <a:pPr indent="0" marL="0">
              <a:lnSpc>
                <a:spcPct val="104000"/>
              </a:lnSpc>
              <a:buNone/>
            </a:pPr>
            <a:r>
              <a:rPr lang="en-US" sz="960" dirty="0">
                <a:solidFill>
                  <a:srgbClr val="46545F"/>
                </a:solidFill>
                <a:latin typeface="Calibri" pitchFamily="34" charset="0"/>
                <a:ea typeface="Calibri" pitchFamily="34" charset="-122"/>
                <a:cs typeface="Calibri" pitchFamily="34" charset="-120"/>
              </a:rPr>
              <a:t>Forte: the all-rounder with the largest user base — reasoning, images, voice, Work agent mode.</a:t>
            </a:r>
            <a:endParaRPr lang="en-US" sz="960" dirty="0"/>
          </a:p>
        </p:txBody>
      </p:sp>
      <p:sp>
        <p:nvSpPr>
          <p:cNvPr id="15" name="Text 13"/>
          <p:cNvSpPr/>
          <p:nvPr/>
        </p:nvSpPr>
        <p:spPr>
          <a:xfrm>
            <a:off x="4544568" y="3054096"/>
            <a:ext cx="3200400" cy="502920"/>
          </a:xfrm>
          <a:prstGeom prst="rect">
            <a:avLst/>
          </a:prstGeom>
          <a:noFill/>
          <a:ln/>
        </p:spPr>
        <p:txBody>
          <a:bodyPr wrap="square" lIns="0" tIns="0" rIns="0" bIns="0" rtlCol="0" anchor="ctr"/>
          <a:lstStyle/>
          <a:p>
            <a:pPr indent="0" marL="0">
              <a:lnSpc>
                <a:spcPct val="100000"/>
              </a:lnSpc>
              <a:buNone/>
            </a:pPr>
            <a:r>
              <a:rPr lang="en-US" sz="880" i="1" dirty="0">
                <a:solidFill>
                  <a:srgbClr val="B96A1B"/>
                </a:solidFill>
                <a:latin typeface="Calibri" pitchFamily="34" charset="0"/>
                <a:ea typeface="Calibri" pitchFamily="34" charset="-122"/>
                <a:cs typeface="Calibri" pitchFamily="34" charset="-120"/>
              </a:rPr>
              <a:t>Caveat: fast model churn and renaming; check tenant/data settings before regulated content.</a:t>
            </a:r>
            <a:endParaRPr lang="en-US" sz="880" dirty="0"/>
          </a:p>
        </p:txBody>
      </p:sp>
      <p:sp>
        <p:nvSpPr>
          <p:cNvPr id="16" name="Shape 14"/>
          <p:cNvSpPr/>
          <p:nvPr/>
        </p:nvSpPr>
        <p:spPr>
          <a:xfrm>
            <a:off x="8147304" y="1481328"/>
            <a:ext cx="3611880" cy="2121408"/>
          </a:xfrm>
          <a:prstGeom prst="roundRect">
            <a:avLst>
              <a:gd name="adj" fmla="val 3448"/>
            </a:avLst>
          </a:prstGeom>
          <a:solidFill>
            <a:srgbClr val="F2F5F6"/>
          </a:solidFill>
          <a:ln/>
        </p:spPr>
      </p:sp>
      <p:sp>
        <p:nvSpPr>
          <p:cNvPr id="17" name="Text 15"/>
          <p:cNvSpPr/>
          <p:nvPr/>
        </p:nvSpPr>
        <p:spPr>
          <a:xfrm>
            <a:off x="8366760" y="1609344"/>
            <a:ext cx="3108960" cy="347472"/>
          </a:xfrm>
          <a:prstGeom prst="rect">
            <a:avLst/>
          </a:prstGeom>
          <a:noFill/>
          <a:ln/>
        </p:spPr>
        <p:txBody>
          <a:bodyPr wrap="square" lIns="0" tIns="0" rIns="0" bIns="0" rtlCol="0" anchor="ctr"/>
          <a:lstStyle/>
          <a:p>
            <a:pPr indent="0" marL="0">
              <a:buNone/>
            </a:pPr>
            <a:r>
              <a:rPr lang="en-US" sz="1600" b="1" dirty="0">
                <a:solidFill>
                  <a:srgbClr val="0A5B5A"/>
                </a:solidFill>
                <a:latin typeface="Cambria" pitchFamily="34" charset="0"/>
                <a:ea typeface="Cambria" pitchFamily="34" charset="-122"/>
                <a:cs typeface="Cambria" pitchFamily="34" charset="-120"/>
              </a:rPr>
              <a:t>Gemini</a:t>
            </a:r>
            <a:endParaRPr lang="en-US" sz="1600" dirty="0"/>
          </a:p>
        </p:txBody>
      </p:sp>
      <p:sp>
        <p:nvSpPr>
          <p:cNvPr id="18" name="Text 16"/>
          <p:cNvSpPr/>
          <p:nvPr/>
        </p:nvSpPr>
        <p:spPr>
          <a:xfrm>
            <a:off x="8366760" y="1956816"/>
            <a:ext cx="3200400" cy="292608"/>
          </a:xfrm>
          <a:prstGeom prst="rect">
            <a:avLst/>
          </a:prstGeom>
          <a:noFill/>
          <a:ln/>
        </p:spPr>
        <p:txBody>
          <a:bodyPr wrap="square" lIns="0" tIns="0" rIns="0" bIns="0" rtlCol="0" anchor="ctr"/>
          <a:lstStyle/>
          <a:p>
            <a:pPr indent="0" marL="0">
              <a:buNone/>
            </a:pPr>
            <a:r>
              <a:rPr lang="en-US" sz="860" b="1" spc="50" kern="0" dirty="0">
                <a:solidFill>
                  <a:srgbClr val="7A8790"/>
                </a:solidFill>
                <a:latin typeface="Calibri" pitchFamily="34" charset="0"/>
                <a:ea typeface="Calibri" pitchFamily="34" charset="-122"/>
                <a:cs typeface="Calibri" pitchFamily="34" charset="-120"/>
              </a:rPr>
              <a:t>Google · Gemini 3 / 3.1 Pro / 3.6 Flash + Deep Think</a:t>
            </a:r>
            <a:endParaRPr lang="en-US" sz="860" dirty="0"/>
          </a:p>
        </p:txBody>
      </p:sp>
      <p:sp>
        <p:nvSpPr>
          <p:cNvPr id="19" name="Text 17"/>
          <p:cNvSpPr/>
          <p:nvPr/>
        </p:nvSpPr>
        <p:spPr>
          <a:xfrm>
            <a:off x="8366760" y="2286000"/>
            <a:ext cx="3200400" cy="777240"/>
          </a:xfrm>
          <a:prstGeom prst="rect">
            <a:avLst/>
          </a:prstGeom>
          <a:noFill/>
          <a:ln/>
        </p:spPr>
        <p:txBody>
          <a:bodyPr wrap="square" lIns="0" tIns="0" rIns="0" bIns="0" rtlCol="0" anchor="ctr"/>
          <a:lstStyle/>
          <a:p>
            <a:pPr indent="0" marL="0">
              <a:lnSpc>
                <a:spcPct val="104000"/>
              </a:lnSpc>
              <a:buNone/>
            </a:pPr>
            <a:r>
              <a:rPr lang="en-US" sz="960" dirty="0">
                <a:solidFill>
                  <a:srgbClr val="46545F"/>
                </a:solidFill>
                <a:latin typeface="Calibri" pitchFamily="34" charset="0"/>
                <a:ea typeface="Calibri" pitchFamily="34" charset="-122"/>
                <a:cs typeface="Calibri" pitchFamily="34" charset="-120"/>
              </a:rPr>
              <a:t>Forte: deepest multimodal stack (Veo video, Nano Banana images), Workspace integration, giant context.</a:t>
            </a:r>
            <a:endParaRPr lang="en-US" sz="960" dirty="0"/>
          </a:p>
        </p:txBody>
      </p:sp>
      <p:sp>
        <p:nvSpPr>
          <p:cNvPr id="20" name="Text 18"/>
          <p:cNvSpPr/>
          <p:nvPr/>
        </p:nvSpPr>
        <p:spPr>
          <a:xfrm>
            <a:off x="8366760" y="3054096"/>
            <a:ext cx="3200400" cy="502920"/>
          </a:xfrm>
          <a:prstGeom prst="rect">
            <a:avLst/>
          </a:prstGeom>
          <a:noFill/>
          <a:ln/>
        </p:spPr>
        <p:txBody>
          <a:bodyPr wrap="square" lIns="0" tIns="0" rIns="0" bIns="0" rtlCol="0" anchor="ctr"/>
          <a:lstStyle/>
          <a:p>
            <a:pPr indent="0" marL="0">
              <a:lnSpc>
                <a:spcPct val="100000"/>
              </a:lnSpc>
              <a:buNone/>
            </a:pPr>
            <a:r>
              <a:rPr lang="en-US" sz="880" i="1" dirty="0">
                <a:solidFill>
                  <a:srgbClr val="B96A1B"/>
                </a:solidFill>
                <a:latin typeface="Calibri" pitchFamily="34" charset="0"/>
                <a:ea typeface="Calibri" pitchFamily="34" charset="-122"/>
                <a:cs typeface="Calibri" pitchFamily="34" charset="-120"/>
              </a:rPr>
              <a:t>Caveat: confusing model-name sprawl; best reasoning sits behind the Ultra tier.</a:t>
            </a:r>
            <a:endParaRPr lang="en-US" sz="880" dirty="0"/>
          </a:p>
        </p:txBody>
      </p:sp>
      <p:sp>
        <p:nvSpPr>
          <p:cNvPr id="21" name="Shape 19"/>
          <p:cNvSpPr/>
          <p:nvPr/>
        </p:nvSpPr>
        <p:spPr>
          <a:xfrm>
            <a:off x="502920" y="3767328"/>
            <a:ext cx="3611880" cy="2121408"/>
          </a:xfrm>
          <a:prstGeom prst="roundRect">
            <a:avLst>
              <a:gd name="adj" fmla="val 3448"/>
            </a:avLst>
          </a:prstGeom>
          <a:solidFill>
            <a:srgbClr val="F2F5F6"/>
          </a:solidFill>
          <a:ln/>
        </p:spPr>
      </p:sp>
      <p:sp>
        <p:nvSpPr>
          <p:cNvPr id="22" name="Text 20"/>
          <p:cNvSpPr/>
          <p:nvPr/>
        </p:nvSpPr>
        <p:spPr>
          <a:xfrm>
            <a:off x="722376" y="3895344"/>
            <a:ext cx="3108960" cy="347472"/>
          </a:xfrm>
          <a:prstGeom prst="rect">
            <a:avLst/>
          </a:prstGeom>
          <a:noFill/>
          <a:ln/>
        </p:spPr>
        <p:txBody>
          <a:bodyPr wrap="square" lIns="0" tIns="0" rIns="0" bIns="0" rtlCol="0" anchor="ctr"/>
          <a:lstStyle/>
          <a:p>
            <a:pPr indent="0" marL="0">
              <a:buNone/>
            </a:pPr>
            <a:r>
              <a:rPr lang="en-US" sz="1600" b="1" dirty="0">
                <a:solidFill>
                  <a:srgbClr val="0A5B5A"/>
                </a:solidFill>
                <a:latin typeface="Cambria" pitchFamily="34" charset="0"/>
                <a:ea typeface="Cambria" pitchFamily="34" charset="-122"/>
                <a:cs typeface="Cambria" pitchFamily="34" charset="-120"/>
              </a:rPr>
              <a:t>Copilot</a:t>
            </a:r>
            <a:endParaRPr lang="en-US" sz="1600" dirty="0"/>
          </a:p>
        </p:txBody>
      </p:sp>
      <p:sp>
        <p:nvSpPr>
          <p:cNvPr id="23" name="Text 21"/>
          <p:cNvSpPr/>
          <p:nvPr/>
        </p:nvSpPr>
        <p:spPr>
          <a:xfrm>
            <a:off x="722376" y="4242816"/>
            <a:ext cx="3200400" cy="292608"/>
          </a:xfrm>
          <a:prstGeom prst="rect">
            <a:avLst/>
          </a:prstGeom>
          <a:noFill/>
          <a:ln/>
        </p:spPr>
        <p:txBody>
          <a:bodyPr wrap="square" lIns="0" tIns="0" rIns="0" bIns="0" rtlCol="0" anchor="ctr"/>
          <a:lstStyle/>
          <a:p>
            <a:pPr indent="0" marL="0">
              <a:buNone/>
            </a:pPr>
            <a:r>
              <a:rPr lang="en-US" sz="860" b="1" spc="50" kern="0" dirty="0">
                <a:solidFill>
                  <a:srgbClr val="7A8790"/>
                </a:solidFill>
                <a:latin typeface="Calibri" pitchFamily="34" charset="0"/>
                <a:ea typeface="Calibri" pitchFamily="34" charset="-122"/>
                <a:cs typeface="Calibri" pitchFamily="34" charset="-120"/>
              </a:rPr>
              <a:t>Microsoft · GPT-5.6 preferred + Claude selectable</a:t>
            </a:r>
            <a:endParaRPr lang="en-US" sz="860" dirty="0"/>
          </a:p>
        </p:txBody>
      </p:sp>
      <p:sp>
        <p:nvSpPr>
          <p:cNvPr id="24" name="Text 22"/>
          <p:cNvSpPr/>
          <p:nvPr/>
        </p:nvSpPr>
        <p:spPr>
          <a:xfrm>
            <a:off x="722376" y="4572000"/>
            <a:ext cx="3200400" cy="777240"/>
          </a:xfrm>
          <a:prstGeom prst="rect">
            <a:avLst/>
          </a:prstGeom>
          <a:noFill/>
          <a:ln/>
        </p:spPr>
        <p:txBody>
          <a:bodyPr wrap="square" lIns="0" tIns="0" rIns="0" bIns="0" rtlCol="0" anchor="ctr"/>
          <a:lstStyle/>
          <a:p>
            <a:pPr indent="0" marL="0">
              <a:lnSpc>
                <a:spcPct val="104000"/>
              </a:lnSpc>
              <a:buNone/>
            </a:pPr>
            <a:r>
              <a:rPr lang="en-US" sz="960" dirty="0">
                <a:solidFill>
                  <a:srgbClr val="46545F"/>
                </a:solidFill>
                <a:latin typeface="Calibri" pitchFamily="34" charset="0"/>
                <a:ea typeface="Calibri" pitchFamily="34" charset="-122"/>
                <a:cs typeface="Calibri" pitchFamily="34" charset="-120"/>
              </a:rPr>
              <a:t>Forte: lives inside Word, Excel, Outlook, Teams with tenant-level governance — the sanctioned default at most enterprises.</a:t>
            </a:r>
            <a:endParaRPr lang="en-US" sz="960" dirty="0"/>
          </a:p>
        </p:txBody>
      </p:sp>
      <p:sp>
        <p:nvSpPr>
          <p:cNvPr id="25" name="Text 23"/>
          <p:cNvSpPr/>
          <p:nvPr/>
        </p:nvSpPr>
        <p:spPr>
          <a:xfrm>
            <a:off x="722376" y="5340096"/>
            <a:ext cx="3200400" cy="502920"/>
          </a:xfrm>
          <a:prstGeom prst="rect">
            <a:avLst/>
          </a:prstGeom>
          <a:noFill/>
          <a:ln/>
        </p:spPr>
        <p:txBody>
          <a:bodyPr wrap="square" lIns="0" tIns="0" rIns="0" bIns="0" rtlCol="0" anchor="ctr"/>
          <a:lstStyle/>
          <a:p>
            <a:pPr indent="0" marL="0">
              <a:lnSpc>
                <a:spcPct val="100000"/>
              </a:lnSpc>
              <a:buNone/>
            </a:pPr>
            <a:r>
              <a:rPr lang="en-US" sz="880" i="1" dirty="0">
                <a:solidFill>
                  <a:srgbClr val="B96A1B"/>
                </a:solidFill>
                <a:latin typeface="Calibri" pitchFamily="34" charset="0"/>
                <a:ea typeface="Calibri" pitchFamily="34" charset="-122"/>
                <a:cs typeface="Calibri" pitchFamily="34" charset="-120"/>
              </a:rPr>
              <a:t>Caveat: admin flags mean colleagues get different capabilities; opaque model labels.</a:t>
            </a:r>
            <a:endParaRPr lang="en-US" sz="880" dirty="0"/>
          </a:p>
        </p:txBody>
      </p:sp>
      <p:sp>
        <p:nvSpPr>
          <p:cNvPr id="26" name="Shape 24"/>
          <p:cNvSpPr/>
          <p:nvPr/>
        </p:nvSpPr>
        <p:spPr>
          <a:xfrm>
            <a:off x="4325112" y="3767328"/>
            <a:ext cx="3611880" cy="2121408"/>
          </a:xfrm>
          <a:prstGeom prst="roundRect">
            <a:avLst>
              <a:gd name="adj" fmla="val 3448"/>
            </a:avLst>
          </a:prstGeom>
          <a:solidFill>
            <a:srgbClr val="F2F5F6"/>
          </a:solidFill>
          <a:ln/>
        </p:spPr>
      </p:sp>
      <p:sp>
        <p:nvSpPr>
          <p:cNvPr id="27" name="Text 25"/>
          <p:cNvSpPr/>
          <p:nvPr/>
        </p:nvSpPr>
        <p:spPr>
          <a:xfrm>
            <a:off x="4544568" y="3895344"/>
            <a:ext cx="3108960" cy="347472"/>
          </a:xfrm>
          <a:prstGeom prst="rect">
            <a:avLst/>
          </a:prstGeom>
          <a:noFill/>
          <a:ln/>
        </p:spPr>
        <p:txBody>
          <a:bodyPr wrap="square" lIns="0" tIns="0" rIns="0" bIns="0" rtlCol="0" anchor="ctr"/>
          <a:lstStyle/>
          <a:p>
            <a:pPr indent="0" marL="0">
              <a:buNone/>
            </a:pPr>
            <a:r>
              <a:rPr lang="en-US" sz="1600" b="1" dirty="0">
                <a:solidFill>
                  <a:srgbClr val="0A5B5A"/>
                </a:solidFill>
                <a:latin typeface="Cambria" pitchFamily="34" charset="0"/>
                <a:ea typeface="Cambria" pitchFamily="34" charset="-122"/>
                <a:cs typeface="Cambria" pitchFamily="34" charset="-120"/>
              </a:rPr>
              <a:t>Perplexity</a:t>
            </a:r>
            <a:endParaRPr lang="en-US" sz="1600" dirty="0"/>
          </a:p>
        </p:txBody>
      </p:sp>
      <p:sp>
        <p:nvSpPr>
          <p:cNvPr id="28" name="Text 26"/>
          <p:cNvSpPr/>
          <p:nvPr/>
        </p:nvSpPr>
        <p:spPr>
          <a:xfrm>
            <a:off x="4544568" y="4242816"/>
            <a:ext cx="3200400" cy="292608"/>
          </a:xfrm>
          <a:prstGeom prst="rect">
            <a:avLst/>
          </a:prstGeom>
          <a:noFill/>
          <a:ln/>
        </p:spPr>
        <p:txBody>
          <a:bodyPr wrap="square" lIns="0" tIns="0" rIns="0" bIns="0" rtlCol="0" anchor="ctr"/>
          <a:lstStyle/>
          <a:p>
            <a:pPr indent="0" marL="0">
              <a:buNone/>
            </a:pPr>
            <a:r>
              <a:rPr lang="en-US" sz="860" b="1" spc="50" kern="0" dirty="0">
                <a:solidFill>
                  <a:srgbClr val="7A8790"/>
                </a:solidFill>
                <a:latin typeface="Calibri" pitchFamily="34" charset="0"/>
                <a:ea typeface="Calibri" pitchFamily="34" charset="-122"/>
                <a:cs typeface="Calibri" pitchFamily="34" charset="-120"/>
              </a:rPr>
              <a:t>Perplexity · own stack + Model Council (GPT+Claude+Gemini)</a:t>
            </a:r>
            <a:endParaRPr lang="en-US" sz="860" dirty="0"/>
          </a:p>
        </p:txBody>
      </p:sp>
      <p:sp>
        <p:nvSpPr>
          <p:cNvPr id="29" name="Text 27"/>
          <p:cNvSpPr/>
          <p:nvPr/>
        </p:nvSpPr>
        <p:spPr>
          <a:xfrm>
            <a:off x="4544568" y="4572000"/>
            <a:ext cx="3200400" cy="777240"/>
          </a:xfrm>
          <a:prstGeom prst="rect">
            <a:avLst/>
          </a:prstGeom>
          <a:noFill/>
          <a:ln/>
        </p:spPr>
        <p:txBody>
          <a:bodyPr wrap="square" lIns="0" tIns="0" rIns="0" bIns="0" rtlCol="0" anchor="ctr"/>
          <a:lstStyle/>
          <a:p>
            <a:pPr indent="0" marL="0">
              <a:lnSpc>
                <a:spcPct val="104000"/>
              </a:lnSpc>
              <a:buNone/>
            </a:pPr>
            <a:r>
              <a:rPr lang="en-US" sz="960" dirty="0">
                <a:solidFill>
                  <a:srgbClr val="46545F"/>
                </a:solidFill>
                <a:latin typeface="Calibri" pitchFamily="34" charset="0"/>
                <a:ea typeface="Calibri" pitchFamily="34" charset="-122"/>
                <a:cs typeface="Calibri" pitchFamily="34" charset="-120"/>
              </a:rPr>
              <a:t>Forte: cited web research — Pro Search reads 300+ sources; Comet agentic browser.</a:t>
            </a:r>
            <a:endParaRPr lang="en-US" sz="960" dirty="0"/>
          </a:p>
        </p:txBody>
      </p:sp>
      <p:sp>
        <p:nvSpPr>
          <p:cNvPr id="30" name="Text 28"/>
          <p:cNvSpPr/>
          <p:nvPr/>
        </p:nvSpPr>
        <p:spPr>
          <a:xfrm>
            <a:off x="4544568" y="5340096"/>
            <a:ext cx="3200400" cy="502920"/>
          </a:xfrm>
          <a:prstGeom prst="rect">
            <a:avLst/>
          </a:prstGeom>
          <a:noFill/>
          <a:ln/>
        </p:spPr>
        <p:txBody>
          <a:bodyPr wrap="square" lIns="0" tIns="0" rIns="0" bIns="0" rtlCol="0" anchor="ctr"/>
          <a:lstStyle/>
          <a:p>
            <a:pPr indent="0" marL="0">
              <a:lnSpc>
                <a:spcPct val="100000"/>
              </a:lnSpc>
              <a:buNone/>
            </a:pPr>
            <a:r>
              <a:rPr lang="en-US" sz="880" i="1" dirty="0">
                <a:solidFill>
                  <a:srgbClr val="B96A1B"/>
                </a:solidFill>
                <a:latin typeface="Calibri" pitchFamily="34" charset="0"/>
                <a:ea typeface="Calibri" pitchFamily="34" charset="-122"/>
                <a:cs typeface="Calibri" pitchFamily="34" charset="-120"/>
              </a:rPr>
              <a:t>Caveat: a citation isn’t proof — click through before quoting anywhere formal.</a:t>
            </a:r>
            <a:endParaRPr lang="en-US" sz="880" dirty="0"/>
          </a:p>
        </p:txBody>
      </p:sp>
      <p:sp>
        <p:nvSpPr>
          <p:cNvPr id="31" name="Shape 29"/>
          <p:cNvSpPr/>
          <p:nvPr/>
        </p:nvSpPr>
        <p:spPr>
          <a:xfrm>
            <a:off x="8147304" y="3767328"/>
            <a:ext cx="3611880" cy="2121408"/>
          </a:xfrm>
          <a:prstGeom prst="roundRect">
            <a:avLst>
              <a:gd name="adj" fmla="val 3448"/>
            </a:avLst>
          </a:prstGeom>
          <a:solidFill>
            <a:srgbClr val="F2F5F6"/>
          </a:solidFill>
          <a:ln/>
        </p:spPr>
      </p:sp>
      <p:sp>
        <p:nvSpPr>
          <p:cNvPr id="32" name="Text 30"/>
          <p:cNvSpPr/>
          <p:nvPr/>
        </p:nvSpPr>
        <p:spPr>
          <a:xfrm>
            <a:off x="8366760" y="3895344"/>
            <a:ext cx="3108960" cy="347472"/>
          </a:xfrm>
          <a:prstGeom prst="rect">
            <a:avLst/>
          </a:prstGeom>
          <a:noFill/>
          <a:ln/>
        </p:spPr>
        <p:txBody>
          <a:bodyPr wrap="square" lIns="0" tIns="0" rIns="0" bIns="0" rtlCol="0" anchor="ctr"/>
          <a:lstStyle/>
          <a:p>
            <a:pPr indent="0" marL="0">
              <a:buNone/>
            </a:pPr>
            <a:r>
              <a:rPr lang="en-US" sz="1600" b="1" dirty="0">
                <a:solidFill>
                  <a:srgbClr val="0A5B5A"/>
                </a:solidFill>
                <a:latin typeface="Cambria" pitchFamily="34" charset="0"/>
                <a:ea typeface="Cambria" pitchFamily="34" charset="-122"/>
                <a:cs typeface="Cambria" pitchFamily="34" charset="-120"/>
              </a:rPr>
              <a:t>Grok</a:t>
            </a:r>
            <a:endParaRPr lang="en-US" sz="1600" dirty="0"/>
          </a:p>
        </p:txBody>
      </p:sp>
      <p:sp>
        <p:nvSpPr>
          <p:cNvPr id="33" name="Text 31"/>
          <p:cNvSpPr/>
          <p:nvPr/>
        </p:nvSpPr>
        <p:spPr>
          <a:xfrm>
            <a:off x="8366760" y="4242816"/>
            <a:ext cx="3200400" cy="292608"/>
          </a:xfrm>
          <a:prstGeom prst="rect">
            <a:avLst/>
          </a:prstGeom>
          <a:noFill/>
          <a:ln/>
        </p:spPr>
        <p:txBody>
          <a:bodyPr wrap="square" lIns="0" tIns="0" rIns="0" bIns="0" rtlCol="0" anchor="ctr"/>
          <a:lstStyle/>
          <a:p>
            <a:pPr indent="0" marL="0">
              <a:buNone/>
            </a:pPr>
            <a:r>
              <a:rPr lang="en-US" sz="860" b="1" spc="50" kern="0" dirty="0">
                <a:solidFill>
                  <a:srgbClr val="7A8790"/>
                </a:solidFill>
                <a:latin typeface="Calibri" pitchFamily="34" charset="0"/>
                <a:ea typeface="Calibri" pitchFamily="34" charset="-122"/>
                <a:cs typeface="Calibri" pitchFamily="34" charset="-120"/>
              </a:rPr>
              <a:t>SpaceXAI · Grok 4.6</a:t>
            </a:r>
            <a:endParaRPr lang="en-US" sz="860" dirty="0"/>
          </a:p>
        </p:txBody>
      </p:sp>
      <p:sp>
        <p:nvSpPr>
          <p:cNvPr id="34" name="Text 32"/>
          <p:cNvSpPr/>
          <p:nvPr/>
        </p:nvSpPr>
        <p:spPr>
          <a:xfrm>
            <a:off x="8366760" y="4572000"/>
            <a:ext cx="3200400" cy="777240"/>
          </a:xfrm>
          <a:prstGeom prst="rect">
            <a:avLst/>
          </a:prstGeom>
          <a:noFill/>
          <a:ln/>
        </p:spPr>
        <p:txBody>
          <a:bodyPr wrap="square" lIns="0" tIns="0" rIns="0" bIns="0" rtlCol="0" anchor="ctr"/>
          <a:lstStyle/>
          <a:p>
            <a:pPr indent="0" marL="0">
              <a:lnSpc>
                <a:spcPct val="104000"/>
              </a:lnSpc>
              <a:buNone/>
            </a:pPr>
            <a:r>
              <a:rPr lang="en-US" sz="960" dirty="0">
                <a:solidFill>
                  <a:srgbClr val="46545F"/>
                </a:solidFill>
                <a:latin typeface="Calibri" pitchFamily="34" charset="0"/>
                <a:ea typeface="Calibri" pitchFamily="34" charset="-122"/>
                <a:cs typeface="Calibri" pitchFamily="34" charset="-120"/>
              </a:rPr>
              <a:t>Forte: aggressive price-performance and speed; real-time X data; coding-agent focus.</a:t>
            </a:r>
            <a:endParaRPr lang="en-US" sz="960" dirty="0"/>
          </a:p>
        </p:txBody>
      </p:sp>
      <p:sp>
        <p:nvSpPr>
          <p:cNvPr id="35" name="Text 33"/>
          <p:cNvSpPr/>
          <p:nvPr/>
        </p:nvSpPr>
        <p:spPr>
          <a:xfrm>
            <a:off x="8366760" y="5340096"/>
            <a:ext cx="3200400" cy="502920"/>
          </a:xfrm>
          <a:prstGeom prst="rect">
            <a:avLst/>
          </a:prstGeom>
          <a:noFill/>
          <a:ln/>
        </p:spPr>
        <p:txBody>
          <a:bodyPr wrap="square" lIns="0" tIns="0" rIns="0" bIns="0" rtlCol="0" anchor="ctr"/>
          <a:lstStyle/>
          <a:p>
            <a:pPr indent="0" marL="0">
              <a:lnSpc>
                <a:spcPct val="100000"/>
              </a:lnSpc>
              <a:buNone/>
            </a:pPr>
            <a:r>
              <a:rPr lang="en-US" sz="880" i="1" dirty="0">
                <a:solidFill>
                  <a:srgbClr val="B96A1B"/>
                </a:solidFill>
                <a:latin typeface="Calibri" pitchFamily="34" charset="0"/>
                <a:ea typeface="Calibri" pitchFamily="34" charset="-122"/>
                <a:cs typeface="Calibri" pitchFamily="34" charset="-120"/>
              </a:rPr>
              <a:t>Caveat: lighter enterprise governance history — apply extra review at work.</a:t>
            </a:r>
            <a:endParaRPr lang="en-US" sz="880" dirty="0"/>
          </a:p>
        </p:txBody>
      </p:sp>
      <p:sp>
        <p:nvSpPr>
          <p:cNvPr id="36" name="Text 34"/>
          <p:cNvSpPr/>
          <p:nvPr/>
        </p:nvSpPr>
        <p:spPr>
          <a:xfrm>
            <a:off x="502920" y="6108192"/>
            <a:ext cx="11155680" cy="32004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Model names verified Aug 21, 2026 — they will have moved by the time you read this. The fortes move slower; the habits in Parts 3–5 don’t move at all.</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CHINESE WAVE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DEEPSEEK MOMENT — AND AFTER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What the Chinese labs brought to the table</a:t>
            </a:r>
            <a:endParaRPr lang="en-US" sz="3000" dirty="0"/>
          </a:p>
        </p:txBody>
      </p:sp>
      <p:sp>
        <p:nvSpPr>
          <p:cNvPr id="6" name="Shape 4"/>
          <p:cNvSpPr/>
          <p:nvPr/>
        </p:nvSpPr>
        <p:spPr>
          <a:xfrm>
            <a:off x="502920" y="1481328"/>
            <a:ext cx="4937760" cy="2286000"/>
          </a:xfrm>
          <a:prstGeom prst="roundRect">
            <a:avLst>
              <a:gd name="adj" fmla="val 3200"/>
            </a:avLst>
          </a:prstGeom>
          <a:solidFill>
            <a:srgbClr val="F2F5F6"/>
          </a:solidFill>
          <a:ln/>
        </p:spPr>
      </p:sp>
      <p:sp>
        <p:nvSpPr>
          <p:cNvPr id="7" name="Text 5"/>
          <p:cNvSpPr/>
          <p:nvPr/>
        </p:nvSpPr>
        <p:spPr>
          <a:xfrm>
            <a:off x="749808" y="1664208"/>
            <a:ext cx="448056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January 2025, in three facts</a:t>
            </a:r>
            <a:endParaRPr lang="en-US" sz="1400" dirty="0"/>
          </a:p>
        </p:txBody>
      </p:sp>
      <p:sp>
        <p:nvSpPr>
          <p:cNvPr id="8" name="Text 6"/>
          <p:cNvSpPr/>
          <p:nvPr/>
        </p:nvSpPr>
        <p:spPr>
          <a:xfrm>
            <a:off x="795528" y="2057400"/>
            <a:ext cx="4434840" cy="169164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080" dirty="0">
                <a:solidFill>
                  <a:srgbClr val="46545F"/>
                </a:solidFill>
                <a:latin typeface="Calibri" pitchFamily="34" charset="0"/>
                <a:ea typeface="Calibri" pitchFamily="34" charset="-122"/>
                <a:cs typeface="Calibri" pitchFamily="34" charset="-120"/>
              </a:rPr>
              <a:t>DeepSeek-R1: open-weights reasoning rivaling OpenAI’s o1, MIT-licensed, ~96% cheaper per token</a:t>
            </a:r>
            <a:endParaRPr lang="en-US" sz="1080" dirty="0"/>
          </a:p>
          <a:p>
            <a:pPr algn="l" marL="127000" indent="-127000">
              <a:lnSpc>
                <a:spcPct val="104000"/>
              </a:lnSpc>
              <a:spcAft>
                <a:spcPts val="600"/>
              </a:spcAft>
              <a:buSzPct val="100000"/>
              <a:buChar char="•"/>
            </a:pPr>
            <a:r>
              <a:rPr lang="en-US" sz="1080" dirty="0">
                <a:solidFill>
                  <a:srgbClr val="46545F"/>
                </a:solidFill>
                <a:latin typeface="Calibri" pitchFamily="34" charset="0"/>
                <a:ea typeface="Calibri" pitchFamily="34" charset="-122"/>
                <a:cs typeface="Calibri" pitchFamily="34" charset="-120"/>
              </a:rPr>
              <a:t>Nvidia lost $589B in one day (Jan 27) — the largest single-day loss in market history at the time</a:t>
            </a:r>
            <a:endParaRPr lang="en-US" sz="1080" dirty="0"/>
          </a:p>
          <a:p>
            <a:pPr algn="l" marL="127000" indent="-127000">
              <a:lnSpc>
                <a:spcPct val="104000"/>
              </a:lnSpc>
              <a:spcAft>
                <a:spcPts val="600"/>
              </a:spcAft>
              <a:buSzPct val="100000"/>
              <a:buChar char="•"/>
            </a:pPr>
            <a:r>
              <a:rPr lang="en-US" sz="1080" b="1" dirty="0">
                <a:solidFill>
                  <a:srgbClr val="46545F"/>
                </a:solidFill>
                <a:latin typeface="Calibri" pitchFamily="34" charset="0"/>
                <a:ea typeface="Calibri" pitchFamily="34" charset="-122"/>
                <a:cs typeface="Calibri" pitchFamily="34" charset="-120"/>
              </a:rPr>
              <a:t>The “$5.6M training cost”? Final-run fuel bill, not the cost of the racing team — real efficiency, oversold headline</a:t>
            </a:r>
            <a:endParaRPr lang="en-US" sz="1080" dirty="0"/>
          </a:p>
        </p:txBody>
      </p:sp>
      <p:sp>
        <p:nvSpPr>
          <p:cNvPr id="9" name="Shape 7"/>
          <p:cNvSpPr/>
          <p:nvPr/>
        </p:nvSpPr>
        <p:spPr>
          <a:xfrm>
            <a:off x="502920" y="3913632"/>
            <a:ext cx="4937760" cy="2148840"/>
          </a:xfrm>
          <a:prstGeom prst="roundRect">
            <a:avLst>
              <a:gd name="adj" fmla="val 3404"/>
            </a:avLst>
          </a:prstGeom>
          <a:solidFill>
            <a:srgbClr val="E4F0EF"/>
          </a:solidFill>
          <a:ln/>
        </p:spPr>
      </p:sp>
      <p:sp>
        <p:nvSpPr>
          <p:cNvPr id="10" name="Text 8"/>
          <p:cNvSpPr/>
          <p:nvPr/>
        </p:nvSpPr>
        <p:spPr>
          <a:xfrm>
            <a:off x="749808" y="4078224"/>
            <a:ext cx="448056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The gap, measured</a:t>
            </a:r>
            <a:endParaRPr lang="en-US" sz="1400" dirty="0"/>
          </a:p>
        </p:txBody>
      </p:sp>
      <p:sp>
        <p:nvSpPr>
          <p:cNvPr id="11" name="Text 9"/>
          <p:cNvSpPr/>
          <p:nvPr/>
        </p:nvSpPr>
        <p:spPr>
          <a:xfrm>
            <a:off x="795528" y="4462272"/>
            <a:ext cx="4434840" cy="155448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080" dirty="0">
                <a:solidFill>
                  <a:srgbClr val="46545F"/>
                </a:solidFill>
                <a:latin typeface="Calibri" pitchFamily="34" charset="0"/>
                <a:ea typeface="Calibri" pitchFamily="34" charset="-122"/>
                <a:cs typeface="Calibri" pitchFamily="34" charset="-120"/>
              </a:rPr>
              <a:t>US–China top-model gap: ~3% (Stanford AI Index 2026) — down from 18–32 points in 2023</a:t>
            </a:r>
            <a:endParaRPr lang="en-US" sz="1080" dirty="0"/>
          </a:p>
          <a:p>
            <a:pPr algn="l" marL="127000" indent="-127000">
              <a:lnSpc>
                <a:spcPct val="104000"/>
              </a:lnSpc>
              <a:spcAft>
                <a:spcPts val="600"/>
              </a:spcAft>
              <a:buSzPct val="100000"/>
              <a:buChar char="•"/>
            </a:pPr>
            <a:r>
              <a:rPr lang="en-US" sz="1080" dirty="0">
                <a:solidFill>
                  <a:srgbClr val="46545F"/>
                </a:solidFill>
                <a:latin typeface="Calibri" pitchFamily="34" charset="0"/>
                <a:ea typeface="Calibri" pitchFamily="34" charset="-122"/>
                <a:cs typeface="Calibri" pitchFamily="34" charset="-120"/>
              </a:rPr>
              <a:t>…achieved on ~23× less visible private AI investment ($286B US vs $12B China, 2025)</a:t>
            </a:r>
            <a:endParaRPr lang="en-US" sz="1080" dirty="0"/>
          </a:p>
        </p:txBody>
      </p:sp>
      <p:sp>
        <p:nvSpPr>
          <p:cNvPr id="12" name="Text 10"/>
          <p:cNvSpPr/>
          <p:nvPr/>
        </p:nvSpPr>
        <p:spPr>
          <a:xfrm>
            <a:off x="5806440" y="1481328"/>
            <a:ext cx="548640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What they brought</a:t>
            </a:r>
            <a:endParaRPr lang="en-US" sz="1500" dirty="0"/>
          </a:p>
        </p:txBody>
      </p:sp>
      <p:sp>
        <p:nvSpPr>
          <p:cNvPr id="13" name="Shape 11"/>
          <p:cNvSpPr/>
          <p:nvPr/>
        </p:nvSpPr>
        <p:spPr>
          <a:xfrm>
            <a:off x="5806440" y="1984248"/>
            <a:ext cx="420624" cy="420624"/>
          </a:xfrm>
          <a:prstGeom prst="ellipse">
            <a:avLst/>
          </a:prstGeom>
          <a:solidFill>
            <a:srgbClr val="0E7C7B"/>
          </a:solidFill>
          <a:ln/>
        </p:spPr>
      </p:sp>
      <p:pic>
        <p:nvPicPr>
          <p:cNvPr id="14" name="Image 0" descr="/home/user/Claude-Works/ai-training-prompt-engineering/src/assets/icons/package_w.png">    </p:cNvPr>
          <p:cNvPicPr>
            <a:picLocks noChangeAspect="1"/>
          </p:cNvPicPr>
          <p:nvPr/>
        </p:nvPicPr>
        <p:blipFill>
          <a:blip r:embed="rId1"/>
          <a:stretch>
            <a:fillRect/>
          </a:stretch>
        </p:blipFill>
        <p:spPr>
          <a:xfrm>
            <a:off x="5915802" y="2093610"/>
            <a:ext cx="201900" cy="201900"/>
          </a:xfrm>
          <a:prstGeom prst="rect">
            <a:avLst/>
          </a:prstGeom>
        </p:spPr>
      </p:pic>
      <p:sp>
        <p:nvSpPr>
          <p:cNvPr id="15" name="Text 12"/>
          <p:cNvSpPr/>
          <p:nvPr/>
        </p:nvSpPr>
        <p:spPr>
          <a:xfrm>
            <a:off x="6428232" y="1892808"/>
            <a:ext cx="5230368" cy="804672"/>
          </a:xfrm>
          <a:prstGeom prst="rect">
            <a:avLst/>
          </a:prstGeom>
          <a:noFill/>
          <a:ln/>
        </p:spPr>
        <p:txBody>
          <a:bodyPr wrap="square" lIns="0" tIns="0" rIns="0" bIns="0" rtlCol="0" anchor="t"/>
          <a:lstStyle/>
          <a:p>
            <a:pPr algn="l" indent="0" marL="0">
              <a:lnSpc>
                <a:spcPct val="105000"/>
              </a:lnSpc>
              <a:spcAft>
                <a:spcPts val="200"/>
              </a:spcAft>
              <a:buNone/>
            </a:pPr>
            <a:r>
              <a:rPr lang="en-US" sz="1200" b="1" dirty="0">
                <a:solidFill>
                  <a:srgbClr val="232A31"/>
                </a:solidFill>
                <a:latin typeface="Calibri" pitchFamily="34" charset="0"/>
                <a:ea typeface="Calibri" pitchFamily="34" charset="-122"/>
                <a:cs typeface="Calibri" pitchFamily="34" charset="-120"/>
              </a:rPr>
              <a:t>Open weights, permissive licenses</a:t>
            </a:r>
            <a:endParaRPr lang="en-US" sz="1200" dirty="0"/>
          </a:p>
          <a:p>
            <a:pPr algn="l" indent="0" marL="0">
              <a:lnSpc>
                <a:spcPct val="105000"/>
              </a:lnSpc>
              <a:buNone/>
            </a:pPr>
            <a:r>
              <a:rPr lang="en-US" sz="980" dirty="0">
                <a:solidFill>
                  <a:srgbClr val="46545F"/>
                </a:solidFill>
                <a:latin typeface="Calibri" pitchFamily="34" charset="0"/>
                <a:ea typeface="Calibri" pitchFamily="34" charset="-122"/>
                <a:cs typeface="Calibri" pitchFamily="34" charset="-120"/>
              </a:rPr>
              <a:t>MIT / Apache models you can download, self-host, fine-tune — data never leaves your infrastructure</a:t>
            </a:r>
            <a:endParaRPr lang="en-US" sz="1200" dirty="0"/>
          </a:p>
        </p:txBody>
      </p:sp>
      <p:sp>
        <p:nvSpPr>
          <p:cNvPr id="16" name="Shape 13"/>
          <p:cNvSpPr/>
          <p:nvPr/>
        </p:nvSpPr>
        <p:spPr>
          <a:xfrm>
            <a:off x="5806440" y="2825496"/>
            <a:ext cx="420624" cy="420624"/>
          </a:xfrm>
          <a:prstGeom prst="ellipse">
            <a:avLst/>
          </a:prstGeom>
          <a:solidFill>
            <a:srgbClr val="0E7C7B"/>
          </a:solidFill>
          <a:ln/>
        </p:spPr>
      </p:sp>
      <p:pic>
        <p:nvPicPr>
          <p:cNvPr id="17" name="Image 1" descr="/home/user/Claude-Works/ai-training-prompt-engineering/src/assets/icons/cpu_w.png">    </p:cNvPr>
          <p:cNvPicPr>
            <a:picLocks noChangeAspect="1"/>
          </p:cNvPicPr>
          <p:nvPr/>
        </p:nvPicPr>
        <p:blipFill>
          <a:blip r:embed="rId2"/>
          <a:stretch>
            <a:fillRect/>
          </a:stretch>
        </p:blipFill>
        <p:spPr>
          <a:xfrm>
            <a:off x="5915802" y="2934858"/>
            <a:ext cx="201900" cy="201900"/>
          </a:xfrm>
          <a:prstGeom prst="rect">
            <a:avLst/>
          </a:prstGeom>
        </p:spPr>
      </p:pic>
      <p:sp>
        <p:nvSpPr>
          <p:cNvPr id="18" name="Text 14"/>
          <p:cNvSpPr/>
          <p:nvPr/>
        </p:nvSpPr>
        <p:spPr>
          <a:xfrm>
            <a:off x="6428232" y="2734056"/>
            <a:ext cx="5230368" cy="804672"/>
          </a:xfrm>
          <a:prstGeom prst="rect">
            <a:avLst/>
          </a:prstGeom>
          <a:noFill/>
          <a:ln/>
        </p:spPr>
        <p:txBody>
          <a:bodyPr wrap="square" lIns="0" tIns="0" rIns="0" bIns="0" rtlCol="0" anchor="t"/>
          <a:lstStyle/>
          <a:p>
            <a:pPr algn="l" indent="0" marL="0">
              <a:lnSpc>
                <a:spcPct val="105000"/>
              </a:lnSpc>
              <a:spcAft>
                <a:spcPts val="200"/>
              </a:spcAft>
              <a:buNone/>
            </a:pPr>
            <a:r>
              <a:rPr lang="en-US" sz="1200" b="1" dirty="0">
                <a:solidFill>
                  <a:srgbClr val="232A31"/>
                </a:solidFill>
                <a:latin typeface="Calibri" pitchFamily="34" charset="0"/>
                <a:ea typeface="Calibri" pitchFamily="34" charset="-122"/>
                <a:cs typeface="Calibri" pitchFamily="34" charset="-120"/>
              </a:rPr>
              <a:t>Efficiency as a discipline</a:t>
            </a:r>
            <a:endParaRPr lang="en-US" sz="1200" dirty="0"/>
          </a:p>
          <a:p>
            <a:pPr algn="l" indent="0" marL="0">
              <a:lnSpc>
                <a:spcPct val="105000"/>
              </a:lnSpc>
              <a:buNone/>
            </a:pPr>
            <a:r>
              <a:rPr lang="en-US" sz="980" dirty="0">
                <a:solidFill>
                  <a:srgbClr val="46545F"/>
                </a:solidFill>
                <a:latin typeface="Calibri" pitchFamily="34" charset="0"/>
                <a:ea typeface="Calibri" pitchFamily="34" charset="-122"/>
                <a:cs typeface="Calibri" pitchFamily="34" charset="-120"/>
              </a:rPr>
              <a:t>Mixture-of-Experts (671B total, ~37B working per token) + distillation: frontier ability at a fraction of the cost</a:t>
            </a:r>
            <a:endParaRPr lang="en-US" sz="1200" dirty="0"/>
          </a:p>
        </p:txBody>
      </p:sp>
      <p:sp>
        <p:nvSpPr>
          <p:cNvPr id="19" name="Shape 15"/>
          <p:cNvSpPr/>
          <p:nvPr/>
        </p:nvSpPr>
        <p:spPr>
          <a:xfrm>
            <a:off x="5806440" y="3666744"/>
            <a:ext cx="420624" cy="420624"/>
          </a:xfrm>
          <a:prstGeom prst="ellipse">
            <a:avLst/>
          </a:prstGeom>
          <a:solidFill>
            <a:srgbClr val="0E7C7B"/>
          </a:solidFill>
          <a:ln/>
        </p:spPr>
      </p:sp>
      <p:pic>
        <p:nvPicPr>
          <p:cNvPr id="20" name="Image 2" descr="/home/user/Claude-Works/ai-training-prompt-engineering/src/assets/icons/dollar_w.png">    </p:cNvPr>
          <p:cNvPicPr>
            <a:picLocks noChangeAspect="1"/>
          </p:cNvPicPr>
          <p:nvPr/>
        </p:nvPicPr>
        <p:blipFill>
          <a:blip r:embed="rId3"/>
          <a:stretch>
            <a:fillRect/>
          </a:stretch>
        </p:blipFill>
        <p:spPr>
          <a:xfrm>
            <a:off x="5915802" y="3776106"/>
            <a:ext cx="201900" cy="201900"/>
          </a:xfrm>
          <a:prstGeom prst="rect">
            <a:avLst/>
          </a:prstGeom>
        </p:spPr>
      </p:pic>
      <p:sp>
        <p:nvSpPr>
          <p:cNvPr id="21" name="Text 16"/>
          <p:cNvSpPr/>
          <p:nvPr/>
        </p:nvSpPr>
        <p:spPr>
          <a:xfrm>
            <a:off x="6428232" y="3575304"/>
            <a:ext cx="5230368" cy="804672"/>
          </a:xfrm>
          <a:prstGeom prst="rect">
            <a:avLst/>
          </a:prstGeom>
          <a:noFill/>
          <a:ln/>
        </p:spPr>
        <p:txBody>
          <a:bodyPr wrap="square" lIns="0" tIns="0" rIns="0" bIns="0" rtlCol="0" anchor="t"/>
          <a:lstStyle/>
          <a:p>
            <a:pPr algn="l" indent="0" marL="0">
              <a:lnSpc>
                <a:spcPct val="105000"/>
              </a:lnSpc>
              <a:spcAft>
                <a:spcPts val="200"/>
              </a:spcAft>
              <a:buNone/>
            </a:pPr>
            <a:r>
              <a:rPr lang="en-US" sz="1200" b="1" dirty="0">
                <a:solidFill>
                  <a:srgbClr val="232A31"/>
                </a:solidFill>
                <a:latin typeface="Calibri" pitchFamily="34" charset="0"/>
                <a:ea typeface="Calibri" pitchFamily="34" charset="-122"/>
                <a:cs typeface="Calibri" pitchFamily="34" charset="-120"/>
              </a:rPr>
              <a:t>Price pressure on everyone</a:t>
            </a:r>
            <a:endParaRPr lang="en-US" sz="1200" dirty="0"/>
          </a:p>
          <a:p>
            <a:pPr algn="l" indent="0" marL="0">
              <a:lnSpc>
                <a:spcPct val="105000"/>
              </a:lnSpc>
              <a:buNone/>
            </a:pPr>
            <a:r>
              <a:rPr lang="en-US" sz="980" dirty="0">
                <a:solidFill>
                  <a:srgbClr val="46545F"/>
                </a:solidFill>
                <a:latin typeface="Calibri" pitchFamily="34" charset="0"/>
                <a:ea typeface="Calibri" pitchFamily="34" charset="-122"/>
                <a:cs typeface="Calibri" pitchFamily="34" charset="-120"/>
              </a:rPr>
              <a:t>forced US labs to respond — OpenAI shipped its first open-weight models since GPT-2 (gpt-oss, Aug 2025)</a:t>
            </a:r>
            <a:endParaRPr lang="en-US" sz="1200" dirty="0"/>
          </a:p>
        </p:txBody>
      </p:sp>
      <p:sp>
        <p:nvSpPr>
          <p:cNvPr id="22" name="Shape 17"/>
          <p:cNvSpPr/>
          <p:nvPr/>
        </p:nvSpPr>
        <p:spPr>
          <a:xfrm>
            <a:off x="5806440" y="4507992"/>
            <a:ext cx="420624" cy="420624"/>
          </a:xfrm>
          <a:prstGeom prst="ellipse">
            <a:avLst/>
          </a:prstGeom>
          <a:solidFill>
            <a:srgbClr val="0E7C7B"/>
          </a:solidFill>
          <a:ln/>
        </p:spPr>
      </p:sp>
      <p:pic>
        <p:nvPicPr>
          <p:cNvPr id="23" name="Image 3" descr="/home/user/Claude-Works/ai-training-prompt-engineering/src/assets/icons/robot_w.png">    </p:cNvPr>
          <p:cNvPicPr>
            <a:picLocks noChangeAspect="1"/>
          </p:cNvPicPr>
          <p:nvPr/>
        </p:nvPicPr>
        <p:blipFill>
          <a:blip r:embed="rId4"/>
          <a:stretch>
            <a:fillRect/>
          </a:stretch>
        </p:blipFill>
        <p:spPr>
          <a:xfrm>
            <a:off x="5915802" y="4617354"/>
            <a:ext cx="201900" cy="201900"/>
          </a:xfrm>
          <a:prstGeom prst="rect">
            <a:avLst/>
          </a:prstGeom>
        </p:spPr>
      </p:pic>
      <p:sp>
        <p:nvSpPr>
          <p:cNvPr id="24" name="Text 18"/>
          <p:cNvSpPr/>
          <p:nvPr/>
        </p:nvSpPr>
        <p:spPr>
          <a:xfrm>
            <a:off x="6428232" y="4416552"/>
            <a:ext cx="5230368" cy="804672"/>
          </a:xfrm>
          <a:prstGeom prst="rect">
            <a:avLst/>
          </a:prstGeom>
          <a:noFill/>
          <a:ln/>
        </p:spPr>
        <p:txBody>
          <a:bodyPr wrap="square" lIns="0" tIns="0" rIns="0" bIns="0" rtlCol="0" anchor="t"/>
          <a:lstStyle/>
          <a:p>
            <a:pPr algn="l" indent="0" marL="0">
              <a:lnSpc>
                <a:spcPct val="105000"/>
              </a:lnSpc>
              <a:spcAft>
                <a:spcPts val="200"/>
              </a:spcAft>
              <a:buNone/>
            </a:pPr>
            <a:r>
              <a:rPr lang="en-US" sz="1200" b="1" dirty="0">
                <a:solidFill>
                  <a:srgbClr val="232A31"/>
                </a:solidFill>
                <a:latin typeface="Calibri" pitchFamily="34" charset="0"/>
                <a:ea typeface="Calibri" pitchFamily="34" charset="-122"/>
                <a:cs typeface="Calibri" pitchFamily="34" charset="-120"/>
              </a:rPr>
              <a:t>Open agentic models</a:t>
            </a:r>
            <a:endParaRPr lang="en-US" sz="1200" dirty="0"/>
          </a:p>
          <a:p>
            <a:pPr algn="l" indent="0" marL="0">
              <a:lnSpc>
                <a:spcPct val="105000"/>
              </a:lnSpc>
              <a:buNone/>
            </a:pPr>
            <a:r>
              <a:rPr lang="en-US" sz="980" dirty="0">
                <a:solidFill>
                  <a:srgbClr val="46545F"/>
                </a:solidFill>
                <a:latin typeface="Calibri" pitchFamily="34" charset="0"/>
                <a:ea typeface="Calibri" pitchFamily="34" charset="-122"/>
                <a:cs typeface="Calibri" pitchFamily="34" charset="-120"/>
              </a:rPr>
              <a:t>Kimi K2 line: trillion-parameter open models chaining hundreds of tool calls</a:t>
            </a:r>
            <a:endParaRPr lang="en-US" sz="1200" dirty="0"/>
          </a:p>
        </p:txBody>
      </p:sp>
      <p:sp>
        <p:nvSpPr>
          <p:cNvPr id="25" name="Shape 19"/>
          <p:cNvSpPr/>
          <p:nvPr/>
        </p:nvSpPr>
        <p:spPr>
          <a:xfrm>
            <a:off x="5806440" y="5349240"/>
            <a:ext cx="420624" cy="420624"/>
          </a:xfrm>
          <a:prstGeom prst="ellipse">
            <a:avLst/>
          </a:prstGeom>
          <a:solidFill>
            <a:srgbClr val="0E7C7B"/>
          </a:solidFill>
          <a:ln/>
        </p:spPr>
      </p:sp>
      <p:pic>
        <p:nvPicPr>
          <p:cNvPr id="26" name="Image 4" descr="/home/user/Claude-Works/ai-training-prompt-engineering/src/assets/icons/globe_w.png">    </p:cNvPr>
          <p:cNvPicPr>
            <a:picLocks noChangeAspect="1"/>
          </p:cNvPicPr>
          <p:nvPr/>
        </p:nvPicPr>
        <p:blipFill>
          <a:blip r:embed="rId5"/>
          <a:stretch>
            <a:fillRect/>
          </a:stretch>
        </p:blipFill>
        <p:spPr>
          <a:xfrm>
            <a:off x="5915802" y="5458602"/>
            <a:ext cx="201900" cy="201900"/>
          </a:xfrm>
          <a:prstGeom prst="rect">
            <a:avLst/>
          </a:prstGeom>
        </p:spPr>
      </p:pic>
      <p:sp>
        <p:nvSpPr>
          <p:cNvPr id="27" name="Text 20"/>
          <p:cNvSpPr/>
          <p:nvPr/>
        </p:nvSpPr>
        <p:spPr>
          <a:xfrm>
            <a:off x="6428232" y="5257800"/>
            <a:ext cx="5230368" cy="804672"/>
          </a:xfrm>
          <a:prstGeom prst="rect">
            <a:avLst/>
          </a:prstGeom>
          <a:noFill/>
          <a:ln/>
        </p:spPr>
        <p:txBody>
          <a:bodyPr wrap="square" lIns="0" tIns="0" rIns="0" bIns="0" rtlCol="0" anchor="t"/>
          <a:lstStyle/>
          <a:p>
            <a:pPr algn="l" indent="0" marL="0">
              <a:lnSpc>
                <a:spcPct val="105000"/>
              </a:lnSpc>
              <a:spcAft>
                <a:spcPts val="200"/>
              </a:spcAft>
              <a:buNone/>
            </a:pPr>
            <a:r>
              <a:rPr lang="en-US" sz="1200" b="1" dirty="0">
                <a:solidFill>
                  <a:srgbClr val="232A31"/>
                </a:solidFill>
                <a:latin typeface="Calibri" pitchFamily="34" charset="0"/>
                <a:ea typeface="Calibri" pitchFamily="34" charset="-122"/>
                <a:cs typeface="Calibri" pitchFamily="34" charset="-120"/>
              </a:rPr>
              <a:t>Global adoption</a:t>
            </a:r>
            <a:endParaRPr lang="en-US" sz="1200" dirty="0"/>
          </a:p>
          <a:p>
            <a:pPr algn="l" indent="0" marL="0">
              <a:lnSpc>
                <a:spcPct val="105000"/>
              </a:lnSpc>
              <a:buNone/>
            </a:pPr>
            <a:r>
              <a:rPr lang="en-US" sz="980" dirty="0">
                <a:solidFill>
                  <a:srgbClr val="46545F"/>
                </a:solidFill>
                <a:latin typeface="Calibri" pitchFamily="34" charset="0"/>
                <a:ea typeface="Calibri" pitchFamily="34" charset="-122"/>
                <a:cs typeface="Calibri" pitchFamily="34" charset="-120"/>
              </a:rPr>
              <a:t>Alibaba’s Qwen: the most-downloaded open family on Hugging Face, ~150K derivative models; US firms (famously Airbnb) self-host it</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CHINESE WAVE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WHO’S WHO — AND THE RULE THAT KEEPS YOU SAFE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app sends data to China. The weights are just a file.</a:t>
            </a:r>
            <a:endParaRPr lang="en-US" sz="3000" dirty="0"/>
          </a:p>
        </p:txBody>
      </p:sp>
      <p:sp>
        <p:nvSpPr>
          <p:cNvPr id="6" name="Shape 4"/>
          <p:cNvSpPr/>
          <p:nvPr/>
        </p:nvSpPr>
        <p:spPr>
          <a:xfrm>
            <a:off x="502920" y="1481328"/>
            <a:ext cx="5394960" cy="621792"/>
          </a:xfrm>
          <a:prstGeom prst="roundRect">
            <a:avLst>
              <a:gd name="adj" fmla="val 11765"/>
            </a:avLst>
          </a:prstGeom>
          <a:solidFill>
            <a:srgbClr val="F2F5F6"/>
          </a:solidFill>
          <a:ln/>
        </p:spPr>
      </p:sp>
      <p:sp>
        <p:nvSpPr>
          <p:cNvPr id="7" name="Text 5"/>
          <p:cNvSpPr/>
          <p:nvPr/>
        </p:nvSpPr>
        <p:spPr>
          <a:xfrm>
            <a:off x="713232" y="1536192"/>
            <a:ext cx="2011680" cy="512064"/>
          </a:xfrm>
          <a:prstGeom prst="rect">
            <a:avLst/>
          </a:prstGeom>
          <a:noFill/>
          <a:ln/>
        </p:spPr>
        <p:txBody>
          <a:bodyPr wrap="square" lIns="0" tIns="0" rIns="0" bIns="0" rtlCol="0" anchor="ctr"/>
          <a:lstStyle/>
          <a:p>
            <a:pPr indent="0" marL="0">
              <a:buNone/>
            </a:pPr>
            <a:r>
              <a:rPr lang="en-US" sz="1150" b="1" dirty="0">
                <a:solidFill>
                  <a:srgbClr val="0A5B5A"/>
                </a:solidFill>
                <a:latin typeface="Cambria" pitchFamily="34" charset="0"/>
                <a:ea typeface="Cambria" pitchFamily="34" charset="-122"/>
                <a:cs typeface="Cambria" pitchFamily="34" charset="-120"/>
              </a:rPr>
              <a:t>DeepSeek</a:t>
            </a:r>
            <a:endParaRPr lang="en-US" sz="1150" dirty="0"/>
          </a:p>
        </p:txBody>
      </p:sp>
      <p:sp>
        <p:nvSpPr>
          <p:cNvPr id="8" name="Text 6"/>
          <p:cNvSpPr/>
          <p:nvPr/>
        </p:nvSpPr>
        <p:spPr>
          <a:xfrm>
            <a:off x="2743200" y="1527048"/>
            <a:ext cx="3063240" cy="530352"/>
          </a:xfrm>
          <a:prstGeom prst="rect">
            <a:avLst/>
          </a:prstGeom>
          <a:noFill/>
          <a:ln/>
        </p:spPr>
        <p:txBody>
          <a:bodyPr wrap="square" lIns="0" tIns="0" rIns="0" bIns="0" rtlCol="0" anchor="ctr"/>
          <a:lstStyle/>
          <a:p>
            <a:pPr indent="0" marL="0">
              <a:lnSpc>
                <a:spcPct val="98000"/>
              </a:lnSpc>
              <a:buNone/>
            </a:pPr>
            <a:r>
              <a:rPr lang="en-US" sz="920" dirty="0">
                <a:solidFill>
                  <a:srgbClr val="46545F"/>
                </a:solidFill>
                <a:latin typeface="Calibri" pitchFamily="34" charset="0"/>
                <a:ea typeface="Calibri" pitchFamily="34" charset="-122"/>
                <a:cs typeface="Calibri" pitchFamily="34" charset="-120"/>
              </a:rPr>
              <a:t>MoE pioneer; R1 reasoning; V4 line current (open weights)</a:t>
            </a:r>
            <a:endParaRPr lang="en-US" sz="920" dirty="0"/>
          </a:p>
        </p:txBody>
      </p:sp>
      <p:sp>
        <p:nvSpPr>
          <p:cNvPr id="9" name="Shape 7"/>
          <p:cNvSpPr/>
          <p:nvPr/>
        </p:nvSpPr>
        <p:spPr>
          <a:xfrm>
            <a:off x="502920" y="2194560"/>
            <a:ext cx="5394960" cy="621792"/>
          </a:xfrm>
          <a:prstGeom prst="roundRect">
            <a:avLst>
              <a:gd name="adj" fmla="val 11765"/>
            </a:avLst>
          </a:prstGeom>
          <a:solidFill>
            <a:srgbClr val="F2F5F6"/>
          </a:solidFill>
          <a:ln/>
        </p:spPr>
      </p:sp>
      <p:sp>
        <p:nvSpPr>
          <p:cNvPr id="10" name="Text 8"/>
          <p:cNvSpPr/>
          <p:nvPr/>
        </p:nvSpPr>
        <p:spPr>
          <a:xfrm>
            <a:off x="713232" y="2249424"/>
            <a:ext cx="2011680" cy="512064"/>
          </a:xfrm>
          <a:prstGeom prst="rect">
            <a:avLst/>
          </a:prstGeom>
          <a:noFill/>
          <a:ln/>
        </p:spPr>
        <p:txBody>
          <a:bodyPr wrap="square" lIns="0" tIns="0" rIns="0" bIns="0" rtlCol="0" anchor="ctr"/>
          <a:lstStyle/>
          <a:p>
            <a:pPr indent="0" marL="0">
              <a:buNone/>
            </a:pPr>
            <a:r>
              <a:rPr lang="en-US" sz="1150" b="1" dirty="0">
                <a:solidFill>
                  <a:srgbClr val="0A5B5A"/>
                </a:solidFill>
                <a:latin typeface="Cambria" pitchFamily="34" charset="0"/>
                <a:ea typeface="Cambria" pitchFamily="34" charset="-122"/>
                <a:cs typeface="Cambria" pitchFamily="34" charset="-120"/>
              </a:rPr>
              <a:t>Qwen (Alibaba)</a:t>
            </a:r>
            <a:endParaRPr lang="en-US" sz="1150" dirty="0"/>
          </a:p>
        </p:txBody>
      </p:sp>
      <p:sp>
        <p:nvSpPr>
          <p:cNvPr id="11" name="Text 9"/>
          <p:cNvSpPr/>
          <p:nvPr/>
        </p:nvSpPr>
        <p:spPr>
          <a:xfrm>
            <a:off x="2743200" y="2240280"/>
            <a:ext cx="3063240" cy="530352"/>
          </a:xfrm>
          <a:prstGeom prst="rect">
            <a:avLst/>
          </a:prstGeom>
          <a:noFill/>
          <a:ln/>
        </p:spPr>
        <p:txBody>
          <a:bodyPr wrap="square" lIns="0" tIns="0" rIns="0" bIns="0" rtlCol="0" anchor="ctr"/>
          <a:lstStyle/>
          <a:p>
            <a:pPr indent="0" marL="0">
              <a:lnSpc>
                <a:spcPct val="98000"/>
              </a:lnSpc>
              <a:buNone/>
            </a:pPr>
            <a:r>
              <a:rPr lang="en-US" sz="920" dirty="0">
                <a:solidFill>
                  <a:srgbClr val="46545F"/>
                </a:solidFill>
                <a:latin typeface="Calibri" pitchFamily="34" charset="0"/>
                <a:ea typeface="Calibri" pitchFamily="34" charset="-122"/>
                <a:cs typeface="Calibri" pitchFamily="34" charset="-120"/>
              </a:rPr>
              <a:t>the open ecosystem leader; Apache 2.0; every size from laptop to trillion-class</a:t>
            </a:r>
            <a:endParaRPr lang="en-US" sz="920" dirty="0"/>
          </a:p>
        </p:txBody>
      </p:sp>
      <p:sp>
        <p:nvSpPr>
          <p:cNvPr id="12" name="Shape 10"/>
          <p:cNvSpPr/>
          <p:nvPr/>
        </p:nvSpPr>
        <p:spPr>
          <a:xfrm>
            <a:off x="502920" y="2907792"/>
            <a:ext cx="5394960" cy="621792"/>
          </a:xfrm>
          <a:prstGeom prst="roundRect">
            <a:avLst>
              <a:gd name="adj" fmla="val 11765"/>
            </a:avLst>
          </a:prstGeom>
          <a:solidFill>
            <a:srgbClr val="F2F5F6"/>
          </a:solidFill>
          <a:ln/>
        </p:spPr>
      </p:sp>
      <p:sp>
        <p:nvSpPr>
          <p:cNvPr id="13" name="Text 11"/>
          <p:cNvSpPr/>
          <p:nvPr/>
        </p:nvSpPr>
        <p:spPr>
          <a:xfrm>
            <a:off x="713232" y="2962656"/>
            <a:ext cx="2011680" cy="512064"/>
          </a:xfrm>
          <a:prstGeom prst="rect">
            <a:avLst/>
          </a:prstGeom>
          <a:noFill/>
          <a:ln/>
        </p:spPr>
        <p:txBody>
          <a:bodyPr wrap="square" lIns="0" tIns="0" rIns="0" bIns="0" rtlCol="0" anchor="ctr"/>
          <a:lstStyle/>
          <a:p>
            <a:pPr indent="0" marL="0">
              <a:buNone/>
            </a:pPr>
            <a:r>
              <a:rPr lang="en-US" sz="1150" b="1" dirty="0">
                <a:solidFill>
                  <a:srgbClr val="0A5B5A"/>
                </a:solidFill>
                <a:latin typeface="Cambria" pitchFamily="34" charset="0"/>
                <a:ea typeface="Cambria" pitchFamily="34" charset="-122"/>
                <a:cs typeface="Cambria" pitchFamily="34" charset="-120"/>
              </a:rPr>
              <a:t>Kimi (Moonshot)</a:t>
            </a:r>
            <a:endParaRPr lang="en-US" sz="1150" dirty="0"/>
          </a:p>
        </p:txBody>
      </p:sp>
      <p:sp>
        <p:nvSpPr>
          <p:cNvPr id="14" name="Text 12"/>
          <p:cNvSpPr/>
          <p:nvPr/>
        </p:nvSpPr>
        <p:spPr>
          <a:xfrm>
            <a:off x="2743200" y="2953512"/>
            <a:ext cx="3063240" cy="530352"/>
          </a:xfrm>
          <a:prstGeom prst="rect">
            <a:avLst/>
          </a:prstGeom>
          <a:noFill/>
          <a:ln/>
        </p:spPr>
        <p:txBody>
          <a:bodyPr wrap="square" lIns="0" tIns="0" rIns="0" bIns="0" rtlCol="0" anchor="ctr"/>
          <a:lstStyle/>
          <a:p>
            <a:pPr indent="0" marL="0">
              <a:lnSpc>
                <a:spcPct val="98000"/>
              </a:lnSpc>
              <a:buNone/>
            </a:pPr>
            <a:r>
              <a:rPr lang="en-US" sz="920" dirty="0">
                <a:solidFill>
                  <a:srgbClr val="46545F"/>
                </a:solidFill>
                <a:latin typeface="Calibri" pitchFamily="34" charset="0"/>
                <a:ea typeface="Calibri" pitchFamily="34" charset="-122"/>
                <a:cs typeface="Calibri" pitchFamily="34" charset="-120"/>
              </a:rPr>
              <a:t>agentic specialist; 1T-param open models built for tool use</a:t>
            </a:r>
            <a:endParaRPr lang="en-US" sz="920" dirty="0"/>
          </a:p>
        </p:txBody>
      </p:sp>
      <p:sp>
        <p:nvSpPr>
          <p:cNvPr id="15" name="Shape 13"/>
          <p:cNvSpPr/>
          <p:nvPr/>
        </p:nvSpPr>
        <p:spPr>
          <a:xfrm>
            <a:off x="502920" y="3621024"/>
            <a:ext cx="5394960" cy="621792"/>
          </a:xfrm>
          <a:prstGeom prst="roundRect">
            <a:avLst>
              <a:gd name="adj" fmla="val 11765"/>
            </a:avLst>
          </a:prstGeom>
          <a:solidFill>
            <a:srgbClr val="F2F5F6"/>
          </a:solidFill>
          <a:ln/>
        </p:spPr>
      </p:sp>
      <p:sp>
        <p:nvSpPr>
          <p:cNvPr id="16" name="Text 14"/>
          <p:cNvSpPr/>
          <p:nvPr/>
        </p:nvSpPr>
        <p:spPr>
          <a:xfrm>
            <a:off x="713232" y="3675888"/>
            <a:ext cx="2011680" cy="512064"/>
          </a:xfrm>
          <a:prstGeom prst="rect">
            <a:avLst/>
          </a:prstGeom>
          <a:noFill/>
          <a:ln/>
        </p:spPr>
        <p:txBody>
          <a:bodyPr wrap="square" lIns="0" tIns="0" rIns="0" bIns="0" rtlCol="0" anchor="ctr"/>
          <a:lstStyle/>
          <a:p>
            <a:pPr indent="0" marL="0">
              <a:buNone/>
            </a:pPr>
            <a:r>
              <a:rPr lang="en-US" sz="1150" b="1" dirty="0">
                <a:solidFill>
                  <a:srgbClr val="0A5B5A"/>
                </a:solidFill>
                <a:latin typeface="Cambria" pitchFamily="34" charset="0"/>
                <a:ea typeface="Cambria" pitchFamily="34" charset="-122"/>
                <a:cs typeface="Cambria" pitchFamily="34" charset="-120"/>
              </a:rPr>
              <a:t>GLM (Z.ai / Zhipu)</a:t>
            </a:r>
            <a:endParaRPr lang="en-US" sz="1150" dirty="0"/>
          </a:p>
        </p:txBody>
      </p:sp>
      <p:sp>
        <p:nvSpPr>
          <p:cNvPr id="17" name="Text 15"/>
          <p:cNvSpPr/>
          <p:nvPr/>
        </p:nvSpPr>
        <p:spPr>
          <a:xfrm>
            <a:off x="2743200" y="3666744"/>
            <a:ext cx="3063240" cy="530352"/>
          </a:xfrm>
          <a:prstGeom prst="rect">
            <a:avLst/>
          </a:prstGeom>
          <a:noFill/>
          <a:ln/>
        </p:spPr>
        <p:txBody>
          <a:bodyPr wrap="square" lIns="0" tIns="0" rIns="0" bIns="0" rtlCol="0" anchor="ctr"/>
          <a:lstStyle/>
          <a:p>
            <a:pPr indent="0" marL="0">
              <a:lnSpc>
                <a:spcPct val="98000"/>
              </a:lnSpc>
              <a:buNone/>
            </a:pPr>
            <a:r>
              <a:rPr lang="en-US" sz="920" dirty="0">
                <a:solidFill>
                  <a:srgbClr val="46545F"/>
                </a:solidFill>
                <a:latin typeface="Calibri" pitchFamily="34" charset="0"/>
                <a:ea typeface="Calibri" pitchFamily="34" charset="-122"/>
                <a:cs typeface="Calibri" pitchFamily="34" charset="-120"/>
              </a:rPr>
              <a:t>MIT-licensed agent/coding models; on the US Entity List — procurement red flag</a:t>
            </a:r>
            <a:endParaRPr lang="en-US" sz="920" dirty="0"/>
          </a:p>
        </p:txBody>
      </p:sp>
      <p:sp>
        <p:nvSpPr>
          <p:cNvPr id="18" name="Shape 16"/>
          <p:cNvSpPr/>
          <p:nvPr/>
        </p:nvSpPr>
        <p:spPr>
          <a:xfrm>
            <a:off x="502920" y="4334256"/>
            <a:ext cx="5394960" cy="621792"/>
          </a:xfrm>
          <a:prstGeom prst="roundRect">
            <a:avLst>
              <a:gd name="adj" fmla="val 11765"/>
            </a:avLst>
          </a:prstGeom>
          <a:solidFill>
            <a:srgbClr val="F2F5F6"/>
          </a:solidFill>
          <a:ln/>
        </p:spPr>
      </p:sp>
      <p:sp>
        <p:nvSpPr>
          <p:cNvPr id="19" name="Text 17"/>
          <p:cNvSpPr/>
          <p:nvPr/>
        </p:nvSpPr>
        <p:spPr>
          <a:xfrm>
            <a:off x="713232" y="4389120"/>
            <a:ext cx="2011680" cy="512064"/>
          </a:xfrm>
          <a:prstGeom prst="rect">
            <a:avLst/>
          </a:prstGeom>
          <a:noFill/>
          <a:ln/>
        </p:spPr>
        <p:txBody>
          <a:bodyPr wrap="square" lIns="0" tIns="0" rIns="0" bIns="0" rtlCol="0" anchor="ctr"/>
          <a:lstStyle/>
          <a:p>
            <a:pPr indent="0" marL="0">
              <a:buNone/>
            </a:pPr>
            <a:r>
              <a:rPr lang="en-US" sz="1150" b="1" dirty="0">
                <a:solidFill>
                  <a:srgbClr val="0A5B5A"/>
                </a:solidFill>
                <a:latin typeface="Cambria" pitchFamily="34" charset="0"/>
                <a:ea typeface="Cambria" pitchFamily="34" charset="-122"/>
                <a:cs typeface="Cambria" pitchFamily="34" charset="-120"/>
              </a:rPr>
              <a:t>MiniMax · Baidu · Tencent</a:t>
            </a:r>
            <a:endParaRPr lang="en-US" sz="1150" dirty="0"/>
          </a:p>
        </p:txBody>
      </p:sp>
      <p:sp>
        <p:nvSpPr>
          <p:cNvPr id="20" name="Text 18"/>
          <p:cNvSpPr/>
          <p:nvPr/>
        </p:nvSpPr>
        <p:spPr>
          <a:xfrm>
            <a:off x="2743200" y="4379976"/>
            <a:ext cx="3063240" cy="530352"/>
          </a:xfrm>
          <a:prstGeom prst="rect">
            <a:avLst/>
          </a:prstGeom>
          <a:noFill/>
          <a:ln/>
        </p:spPr>
        <p:txBody>
          <a:bodyPr wrap="square" lIns="0" tIns="0" rIns="0" bIns="0" rtlCol="0" anchor="ctr"/>
          <a:lstStyle/>
          <a:p>
            <a:pPr indent="0" marL="0">
              <a:lnSpc>
                <a:spcPct val="98000"/>
              </a:lnSpc>
              <a:buNone/>
            </a:pPr>
            <a:r>
              <a:rPr lang="en-US" sz="920" dirty="0">
                <a:solidFill>
                  <a:srgbClr val="46545F"/>
                </a:solidFill>
                <a:latin typeface="Calibri" pitchFamily="34" charset="0"/>
                <a:ea typeface="Calibri" pitchFamily="34" charset="-122"/>
                <a:cs typeface="Calibri" pitchFamily="34" charset="-120"/>
              </a:rPr>
              <a:t>long-context leader · Ernie went open 2025 · broad open portfolio</a:t>
            </a:r>
            <a:endParaRPr lang="en-US" sz="920" dirty="0"/>
          </a:p>
        </p:txBody>
      </p:sp>
      <p:sp>
        <p:nvSpPr>
          <p:cNvPr id="21" name="Shape 19"/>
          <p:cNvSpPr/>
          <p:nvPr/>
        </p:nvSpPr>
        <p:spPr>
          <a:xfrm>
            <a:off x="6172200" y="1481328"/>
            <a:ext cx="5486400" cy="2194560"/>
          </a:xfrm>
          <a:prstGeom prst="roundRect">
            <a:avLst>
              <a:gd name="adj" fmla="val 3333"/>
            </a:avLst>
          </a:prstGeom>
          <a:solidFill>
            <a:srgbClr val="F9E9E8"/>
          </a:solidFill>
          <a:ln/>
        </p:spPr>
      </p:sp>
      <p:sp>
        <p:nvSpPr>
          <p:cNvPr id="22" name="Text 20"/>
          <p:cNvSpPr/>
          <p:nvPr/>
        </p:nvSpPr>
        <p:spPr>
          <a:xfrm>
            <a:off x="6419088" y="1645920"/>
            <a:ext cx="5029200" cy="320040"/>
          </a:xfrm>
          <a:prstGeom prst="rect">
            <a:avLst/>
          </a:prstGeom>
          <a:noFill/>
          <a:ln/>
        </p:spPr>
        <p:txBody>
          <a:bodyPr wrap="square" lIns="0" tIns="0" rIns="0" bIns="0" rtlCol="0" anchor="ctr"/>
          <a:lstStyle/>
          <a:p>
            <a:pPr indent="0" marL="0">
              <a:buNone/>
            </a:pPr>
            <a:r>
              <a:rPr lang="en-US" sz="1350" b="1" dirty="0">
                <a:solidFill>
                  <a:srgbClr val="AF3230"/>
                </a:solidFill>
                <a:latin typeface="Cambria" pitchFamily="34" charset="0"/>
                <a:ea typeface="Cambria" pitchFamily="34" charset="-122"/>
                <a:cs typeface="Cambria" pitchFamily="34" charset="-120"/>
              </a:rPr>
              <a:t>Consumer apps: not for work. Ever.</a:t>
            </a:r>
            <a:endParaRPr lang="en-US" sz="1350" dirty="0"/>
          </a:p>
        </p:txBody>
      </p:sp>
      <p:sp>
        <p:nvSpPr>
          <p:cNvPr id="23" name="Text 21"/>
          <p:cNvSpPr/>
          <p:nvPr/>
        </p:nvSpPr>
        <p:spPr>
          <a:xfrm>
            <a:off x="6464808" y="2011680"/>
            <a:ext cx="4937760" cy="160020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050" dirty="0">
                <a:solidFill>
                  <a:srgbClr val="46545F"/>
                </a:solidFill>
                <a:latin typeface="Calibri" pitchFamily="34" charset="0"/>
                <a:ea typeface="Calibri" pitchFamily="34" charset="-122"/>
                <a:cs typeface="Calibri" pitchFamily="34" charset="-120"/>
              </a:rPr>
              <a:t>Data goes to servers in China, under Chinese law — Italy blocked the DeepSeek app; banned on government devices in the US, Australia, South Korea, Taiwan…</a:t>
            </a:r>
            <a:endParaRPr lang="en-US" sz="1050" dirty="0"/>
          </a:p>
          <a:p>
            <a:pPr algn="l" marL="127000" indent="-127000">
              <a:lnSpc>
                <a:spcPct val="104000"/>
              </a:lnSpc>
              <a:spcAft>
                <a:spcPts val="600"/>
              </a:spcAft>
              <a:buSzPct val="100000"/>
              <a:buChar char="•"/>
            </a:pPr>
            <a:r>
              <a:rPr lang="en-US" sz="1050" b="1" dirty="0">
                <a:solidFill>
                  <a:srgbClr val="46545F"/>
                </a:solidFill>
                <a:latin typeface="Calibri" pitchFamily="34" charset="0"/>
                <a:ea typeface="Calibri" pitchFamily="34" charset="-122"/>
                <a:cs typeface="Calibri" pitchFamily="34" charset="-120"/>
              </a:rPr>
              <a:t>1 in 25 enterprise AI prompts went to a China-based app in 2025 — mostly without IT knowing (Harmonic, 22M prompts)</a:t>
            </a:r>
            <a:endParaRPr lang="en-US" sz="1050" dirty="0"/>
          </a:p>
        </p:txBody>
      </p:sp>
      <p:sp>
        <p:nvSpPr>
          <p:cNvPr id="24" name="Shape 22"/>
          <p:cNvSpPr/>
          <p:nvPr/>
        </p:nvSpPr>
        <p:spPr>
          <a:xfrm>
            <a:off x="6172200" y="3840480"/>
            <a:ext cx="5486400" cy="2194560"/>
          </a:xfrm>
          <a:prstGeom prst="roundRect">
            <a:avLst>
              <a:gd name="adj" fmla="val 3333"/>
            </a:avLst>
          </a:prstGeom>
          <a:solidFill>
            <a:srgbClr val="E7F2EC"/>
          </a:solidFill>
          <a:ln/>
        </p:spPr>
      </p:sp>
      <p:sp>
        <p:nvSpPr>
          <p:cNvPr id="25" name="Text 23"/>
          <p:cNvSpPr/>
          <p:nvPr/>
        </p:nvSpPr>
        <p:spPr>
          <a:xfrm>
            <a:off x="6419088" y="4005072"/>
            <a:ext cx="5029200" cy="320040"/>
          </a:xfrm>
          <a:prstGeom prst="rect">
            <a:avLst/>
          </a:prstGeom>
          <a:noFill/>
          <a:ln/>
        </p:spPr>
        <p:txBody>
          <a:bodyPr wrap="square" lIns="0" tIns="0" rIns="0" bIns="0" rtlCol="0" anchor="ctr"/>
          <a:lstStyle/>
          <a:p>
            <a:pPr indent="0" marL="0">
              <a:buNone/>
            </a:pPr>
            <a:r>
              <a:rPr lang="en-US" sz="1350" b="1" dirty="0">
                <a:solidFill>
                  <a:srgbClr val="3B8560"/>
                </a:solidFill>
                <a:latin typeface="Cambria" pitchFamily="34" charset="0"/>
                <a:ea typeface="Cambria" pitchFamily="34" charset="-122"/>
                <a:cs typeface="Cambria" pitchFamily="34" charset="-120"/>
              </a:rPr>
              <a:t>Self-hosted open weights: a different question</a:t>
            </a:r>
            <a:endParaRPr lang="en-US" sz="1350" dirty="0"/>
          </a:p>
        </p:txBody>
      </p:sp>
      <p:sp>
        <p:nvSpPr>
          <p:cNvPr id="26" name="Text 24"/>
          <p:cNvSpPr/>
          <p:nvPr/>
        </p:nvSpPr>
        <p:spPr>
          <a:xfrm>
            <a:off x="6464808" y="4370832"/>
            <a:ext cx="4937760" cy="155448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050" dirty="0">
                <a:solidFill>
                  <a:srgbClr val="46545F"/>
                </a:solidFill>
                <a:latin typeface="Calibri" pitchFamily="34" charset="0"/>
                <a:ea typeface="Calibri" pitchFamily="34" charset="-122"/>
                <a:cs typeface="Calibri" pitchFamily="34" charset="-120"/>
              </a:rPr>
              <a:t>Restaurant vs cookbook: the app sees your order; the downloaded weights cook at home — nothing is sent anywhere</a:t>
            </a:r>
            <a:endParaRPr lang="en-US" sz="1050" dirty="0"/>
          </a:p>
          <a:p>
            <a:pPr algn="l" marL="127000" indent="-127000">
              <a:lnSpc>
                <a:spcPct val="104000"/>
              </a:lnSpc>
              <a:spcAft>
                <a:spcPts val="600"/>
              </a:spcAft>
              <a:buSzPct val="100000"/>
              <a:buChar char="•"/>
            </a:pPr>
            <a:r>
              <a:rPr lang="en-US" sz="1050" dirty="0">
                <a:solidFill>
                  <a:srgbClr val="46545F"/>
                </a:solidFill>
                <a:latin typeface="Calibri" pitchFamily="34" charset="0"/>
                <a:ea typeface="Calibri" pitchFamily="34" charset="-122"/>
                <a:cs typeface="Calibri" pitchFamily="34" charset="-120"/>
              </a:rPr>
              <a:t>Still IT/governance territory: licenses, Entity-List vendors, and alignment quirks travel with the weights (a local R1 still won’t discuss Tiananmen) — evaluate like any software of unknown provenance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AGENTIC TOOLS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AGENT GALLERY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Names you’ll hear — and what each is actually for</a:t>
            </a:r>
            <a:endParaRPr lang="en-US" sz="3000" dirty="0"/>
          </a:p>
        </p:txBody>
      </p:sp>
      <p:sp>
        <p:nvSpPr>
          <p:cNvPr id="6" name="Shape 4"/>
          <p:cNvSpPr/>
          <p:nvPr/>
        </p:nvSpPr>
        <p:spPr>
          <a:xfrm>
            <a:off x="502920" y="1463040"/>
            <a:ext cx="5440680" cy="1060704"/>
          </a:xfrm>
          <a:prstGeom prst="roundRect">
            <a:avLst>
              <a:gd name="adj" fmla="val 6897"/>
            </a:avLst>
          </a:prstGeom>
          <a:solidFill>
            <a:srgbClr val="F2F5F6"/>
          </a:solidFill>
          <a:ln/>
        </p:spPr>
      </p:sp>
      <p:sp>
        <p:nvSpPr>
          <p:cNvPr id="7" name="Shape 5"/>
          <p:cNvSpPr/>
          <p:nvPr/>
        </p:nvSpPr>
        <p:spPr>
          <a:xfrm>
            <a:off x="667512" y="1755648"/>
            <a:ext cx="457200" cy="457200"/>
          </a:xfrm>
          <a:prstGeom prst="ellipse">
            <a:avLst/>
          </a:prstGeom>
          <a:solidFill>
            <a:srgbClr val="0E7C7B"/>
          </a:solidFill>
          <a:ln/>
        </p:spPr>
      </p:sp>
      <p:pic>
        <p:nvPicPr>
          <p:cNvPr id="8" name="Image 0" descr="/home/user/Claude-Works/ai-training-prompt-engineering/src/assets/icons/terminal_w.png">    </p:cNvPr>
          <p:cNvPicPr>
            <a:picLocks noChangeAspect="1"/>
          </p:cNvPicPr>
          <p:nvPr/>
        </p:nvPicPr>
        <p:blipFill>
          <a:blip r:embed="rId1"/>
          <a:stretch>
            <a:fillRect/>
          </a:stretch>
        </p:blipFill>
        <p:spPr>
          <a:xfrm>
            <a:off x="786384" y="1874520"/>
            <a:ext cx="219456" cy="219456"/>
          </a:xfrm>
          <a:prstGeom prst="rect">
            <a:avLst/>
          </a:prstGeom>
        </p:spPr>
      </p:pic>
      <p:sp>
        <p:nvSpPr>
          <p:cNvPr id="9" name="Text 6"/>
          <p:cNvSpPr/>
          <p:nvPr/>
        </p:nvSpPr>
        <p:spPr>
          <a:xfrm>
            <a:off x="1234440" y="1517904"/>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Claude Code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Anthropic</a:t>
            </a:r>
            <a:endParaRPr lang="en-US" sz="1200" dirty="0"/>
          </a:p>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Agentic coding AND general file/data automation — terminal, desktop, web. Points at a real folder: reads PDFs, builds spreadsheets, writes reports. Skills make workflows repeatable.</a:t>
            </a:r>
            <a:endParaRPr lang="en-US" sz="1200" dirty="0"/>
          </a:p>
        </p:txBody>
      </p:sp>
      <p:sp>
        <p:nvSpPr>
          <p:cNvPr id="10" name="Shape 7"/>
          <p:cNvSpPr/>
          <p:nvPr/>
        </p:nvSpPr>
        <p:spPr>
          <a:xfrm>
            <a:off x="6172200" y="1463040"/>
            <a:ext cx="5440680" cy="1060704"/>
          </a:xfrm>
          <a:prstGeom prst="roundRect">
            <a:avLst>
              <a:gd name="adj" fmla="val 6897"/>
            </a:avLst>
          </a:prstGeom>
          <a:solidFill>
            <a:srgbClr val="F2F5F6"/>
          </a:solidFill>
          <a:ln/>
        </p:spPr>
      </p:sp>
      <p:sp>
        <p:nvSpPr>
          <p:cNvPr id="11" name="Shape 8"/>
          <p:cNvSpPr/>
          <p:nvPr/>
        </p:nvSpPr>
        <p:spPr>
          <a:xfrm>
            <a:off x="6336792" y="1755648"/>
            <a:ext cx="457200" cy="457200"/>
          </a:xfrm>
          <a:prstGeom prst="ellipse">
            <a:avLst/>
          </a:prstGeom>
          <a:solidFill>
            <a:srgbClr val="0E7C7B"/>
          </a:solidFill>
          <a:ln/>
        </p:spPr>
      </p:sp>
      <p:pic>
        <p:nvPicPr>
          <p:cNvPr id="12" name="Image 1" descr="/home/user/Claude-Works/ai-training-prompt-engineering/src/assets/icons/users_w.png">    </p:cNvPr>
          <p:cNvPicPr>
            <a:picLocks noChangeAspect="1"/>
          </p:cNvPicPr>
          <p:nvPr/>
        </p:nvPicPr>
        <p:blipFill>
          <a:blip r:embed="rId2"/>
          <a:stretch>
            <a:fillRect/>
          </a:stretch>
        </p:blipFill>
        <p:spPr>
          <a:xfrm>
            <a:off x="6455664" y="1874520"/>
            <a:ext cx="219456" cy="219456"/>
          </a:xfrm>
          <a:prstGeom prst="rect">
            <a:avLst/>
          </a:prstGeom>
        </p:spPr>
      </p:pic>
      <p:sp>
        <p:nvSpPr>
          <p:cNvPr id="13" name="Text 9"/>
          <p:cNvSpPr/>
          <p:nvPr/>
        </p:nvSpPr>
        <p:spPr>
          <a:xfrm>
            <a:off x="6903720" y="1517904"/>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Claude Cowork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Anthropic</a:t>
            </a:r>
            <a:endParaRPr lang="en-US" sz="1200" dirty="0"/>
          </a:p>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The same engine packaged for non-technical knowledge work: “describe the outcome, step away, come back to finished files.”</a:t>
            </a:r>
            <a:endParaRPr lang="en-US" sz="1200" dirty="0"/>
          </a:p>
        </p:txBody>
      </p:sp>
      <p:sp>
        <p:nvSpPr>
          <p:cNvPr id="14" name="Shape 10"/>
          <p:cNvSpPr/>
          <p:nvPr/>
        </p:nvSpPr>
        <p:spPr>
          <a:xfrm>
            <a:off x="502920" y="2633472"/>
            <a:ext cx="5440680" cy="1060704"/>
          </a:xfrm>
          <a:prstGeom prst="roundRect">
            <a:avLst>
              <a:gd name="adj" fmla="val 6897"/>
            </a:avLst>
          </a:prstGeom>
          <a:solidFill>
            <a:srgbClr val="F2F5F6"/>
          </a:solidFill>
          <a:ln/>
        </p:spPr>
      </p:sp>
      <p:sp>
        <p:nvSpPr>
          <p:cNvPr id="15" name="Shape 11"/>
          <p:cNvSpPr/>
          <p:nvPr/>
        </p:nvSpPr>
        <p:spPr>
          <a:xfrm>
            <a:off x="667512" y="2926080"/>
            <a:ext cx="457200" cy="457200"/>
          </a:xfrm>
          <a:prstGeom prst="ellipse">
            <a:avLst/>
          </a:prstGeom>
          <a:solidFill>
            <a:srgbClr val="0E7C7B"/>
          </a:solidFill>
          <a:ln/>
        </p:spPr>
      </p:sp>
      <p:pic>
        <p:nvPicPr>
          <p:cNvPr id="16" name="Image 2" descr="/home/user/Claude-Works/ai-training-prompt-engineering/src/assets/icons/zap_w.png">    </p:cNvPr>
          <p:cNvPicPr>
            <a:picLocks noChangeAspect="1"/>
          </p:cNvPicPr>
          <p:nvPr/>
        </p:nvPicPr>
        <p:blipFill>
          <a:blip r:embed="rId3"/>
          <a:stretch>
            <a:fillRect/>
          </a:stretch>
        </p:blipFill>
        <p:spPr>
          <a:xfrm>
            <a:off x="786384" y="3044952"/>
            <a:ext cx="219456" cy="219456"/>
          </a:xfrm>
          <a:prstGeom prst="rect">
            <a:avLst/>
          </a:prstGeom>
        </p:spPr>
      </p:pic>
      <p:sp>
        <p:nvSpPr>
          <p:cNvPr id="17" name="Text 12"/>
          <p:cNvSpPr/>
          <p:nvPr/>
        </p:nvSpPr>
        <p:spPr>
          <a:xfrm>
            <a:off x="1234440" y="2688336"/>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ChatGPT Work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OpenAI</a:t>
            </a:r>
            <a:endParaRPr lang="en-US" sz="1200" dirty="0"/>
          </a:p>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Agent mode beside Chat and Codex: connects Slack/Gmail/Drive, runs scheduled tasks, produces decks, sheets, small apps.</a:t>
            </a:r>
            <a:endParaRPr lang="en-US" sz="1200" dirty="0"/>
          </a:p>
        </p:txBody>
      </p:sp>
      <p:sp>
        <p:nvSpPr>
          <p:cNvPr id="18" name="Shape 13"/>
          <p:cNvSpPr/>
          <p:nvPr/>
        </p:nvSpPr>
        <p:spPr>
          <a:xfrm>
            <a:off x="6172200" y="2633472"/>
            <a:ext cx="5440680" cy="1060704"/>
          </a:xfrm>
          <a:prstGeom prst="roundRect">
            <a:avLst>
              <a:gd name="adj" fmla="val 6897"/>
            </a:avLst>
          </a:prstGeom>
          <a:solidFill>
            <a:srgbClr val="F2F5F6"/>
          </a:solidFill>
          <a:ln/>
        </p:spPr>
      </p:sp>
      <p:sp>
        <p:nvSpPr>
          <p:cNvPr id="19" name="Shape 14"/>
          <p:cNvSpPr/>
          <p:nvPr/>
        </p:nvSpPr>
        <p:spPr>
          <a:xfrm>
            <a:off x="6336792" y="2926080"/>
            <a:ext cx="457200" cy="457200"/>
          </a:xfrm>
          <a:prstGeom prst="ellipse">
            <a:avLst/>
          </a:prstGeom>
          <a:solidFill>
            <a:srgbClr val="0E7C7B"/>
          </a:solidFill>
          <a:ln/>
        </p:spPr>
      </p:sp>
      <p:pic>
        <p:nvPicPr>
          <p:cNvPr id="20" name="Image 3" descr="/home/user/Claude-Works/ai-training-prompt-engineering/src/assets/icons/grid_w.png">    </p:cNvPr>
          <p:cNvPicPr>
            <a:picLocks noChangeAspect="1"/>
          </p:cNvPicPr>
          <p:nvPr/>
        </p:nvPicPr>
        <p:blipFill>
          <a:blip r:embed="rId4"/>
          <a:stretch>
            <a:fillRect/>
          </a:stretch>
        </p:blipFill>
        <p:spPr>
          <a:xfrm>
            <a:off x="6455664" y="3044952"/>
            <a:ext cx="219456" cy="219456"/>
          </a:xfrm>
          <a:prstGeom prst="rect">
            <a:avLst/>
          </a:prstGeom>
        </p:spPr>
      </p:pic>
      <p:sp>
        <p:nvSpPr>
          <p:cNvPr id="21" name="Text 15"/>
          <p:cNvSpPr/>
          <p:nvPr/>
        </p:nvSpPr>
        <p:spPr>
          <a:xfrm>
            <a:off x="6903720" y="2688336"/>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Copilot agents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Microsoft</a:t>
            </a:r>
            <a:endParaRPr lang="en-US" sz="1200" dirty="0"/>
          </a:p>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Researcher, Analyst, Excel Agent Mode, Copilot Studio — governed agents inside your tenant. The path of least resistance at most enterprises.</a:t>
            </a:r>
            <a:endParaRPr lang="en-US" sz="1200" dirty="0"/>
          </a:p>
        </p:txBody>
      </p:sp>
      <p:sp>
        <p:nvSpPr>
          <p:cNvPr id="22" name="Shape 16"/>
          <p:cNvSpPr/>
          <p:nvPr/>
        </p:nvSpPr>
        <p:spPr>
          <a:xfrm>
            <a:off x="502920" y="3803904"/>
            <a:ext cx="5440680" cy="1060704"/>
          </a:xfrm>
          <a:prstGeom prst="roundRect">
            <a:avLst>
              <a:gd name="adj" fmla="val 6897"/>
            </a:avLst>
          </a:prstGeom>
          <a:solidFill>
            <a:srgbClr val="F2F5F6"/>
          </a:solidFill>
          <a:ln/>
        </p:spPr>
      </p:sp>
      <p:sp>
        <p:nvSpPr>
          <p:cNvPr id="23" name="Shape 17"/>
          <p:cNvSpPr/>
          <p:nvPr/>
        </p:nvSpPr>
        <p:spPr>
          <a:xfrm>
            <a:off x="667512" y="4096512"/>
            <a:ext cx="457200" cy="457200"/>
          </a:xfrm>
          <a:prstGeom prst="ellipse">
            <a:avLst/>
          </a:prstGeom>
          <a:solidFill>
            <a:srgbClr val="0E7C7B"/>
          </a:solidFill>
          <a:ln/>
        </p:spPr>
      </p:sp>
      <p:pic>
        <p:nvPicPr>
          <p:cNvPr id="24" name="Image 4" descr="/home/user/Claude-Works/ai-training-prompt-engineering/src/assets/icons/code_w.png">    </p:cNvPr>
          <p:cNvPicPr>
            <a:picLocks noChangeAspect="1"/>
          </p:cNvPicPr>
          <p:nvPr/>
        </p:nvPicPr>
        <p:blipFill>
          <a:blip r:embed="rId5"/>
          <a:stretch>
            <a:fillRect/>
          </a:stretch>
        </p:blipFill>
        <p:spPr>
          <a:xfrm>
            <a:off x="786384" y="4215384"/>
            <a:ext cx="219456" cy="219456"/>
          </a:xfrm>
          <a:prstGeom prst="rect">
            <a:avLst/>
          </a:prstGeom>
        </p:spPr>
      </p:pic>
      <p:sp>
        <p:nvSpPr>
          <p:cNvPr id="25" name="Text 18"/>
          <p:cNvSpPr/>
          <p:nvPr/>
        </p:nvSpPr>
        <p:spPr>
          <a:xfrm>
            <a:off x="1234440" y="3858768"/>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Coding IDEs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Cursor · Devin · GitHub Copilot</a:t>
            </a:r>
            <a:endParaRPr lang="en-US" sz="1200" dirty="0"/>
          </a:p>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Developer-grade agents: multi-file refactors, assign-an-issue-get-a-PR. Engineering tools, not business-user tools.</a:t>
            </a:r>
            <a:endParaRPr lang="en-US" sz="1200" dirty="0"/>
          </a:p>
        </p:txBody>
      </p:sp>
      <p:sp>
        <p:nvSpPr>
          <p:cNvPr id="26" name="Shape 19"/>
          <p:cNvSpPr/>
          <p:nvPr/>
        </p:nvSpPr>
        <p:spPr>
          <a:xfrm>
            <a:off x="6172200" y="3803904"/>
            <a:ext cx="5440680" cy="1060704"/>
          </a:xfrm>
          <a:prstGeom prst="roundRect">
            <a:avLst>
              <a:gd name="adj" fmla="val 6897"/>
            </a:avLst>
          </a:prstGeom>
          <a:solidFill>
            <a:srgbClr val="F2F5F6"/>
          </a:solidFill>
          <a:ln/>
        </p:spPr>
      </p:sp>
      <p:sp>
        <p:nvSpPr>
          <p:cNvPr id="27" name="Shape 20"/>
          <p:cNvSpPr/>
          <p:nvPr/>
        </p:nvSpPr>
        <p:spPr>
          <a:xfrm>
            <a:off x="6336792" y="4096512"/>
            <a:ext cx="457200" cy="457200"/>
          </a:xfrm>
          <a:prstGeom prst="ellipse">
            <a:avLst/>
          </a:prstGeom>
          <a:solidFill>
            <a:srgbClr val="0E7C7B"/>
          </a:solidFill>
          <a:ln/>
        </p:spPr>
      </p:sp>
      <p:pic>
        <p:nvPicPr>
          <p:cNvPr id="28" name="Image 5" descr="/home/user/Claude-Works/ai-training-prompt-engineering/src/assets/icons/globe_w.png">    </p:cNvPr>
          <p:cNvPicPr>
            <a:picLocks noChangeAspect="1"/>
          </p:cNvPicPr>
          <p:nvPr/>
        </p:nvPicPr>
        <p:blipFill>
          <a:blip r:embed="rId6"/>
          <a:stretch>
            <a:fillRect/>
          </a:stretch>
        </p:blipFill>
        <p:spPr>
          <a:xfrm>
            <a:off x="6455664" y="4215384"/>
            <a:ext cx="219456" cy="219456"/>
          </a:xfrm>
          <a:prstGeom prst="rect">
            <a:avLst/>
          </a:prstGeom>
        </p:spPr>
      </p:pic>
      <p:sp>
        <p:nvSpPr>
          <p:cNvPr id="29" name="Text 21"/>
          <p:cNvSpPr/>
          <p:nvPr/>
        </p:nvSpPr>
        <p:spPr>
          <a:xfrm>
            <a:off x="6903720" y="3858768"/>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Browser agents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Comet · Claude in Chrome</a:t>
            </a:r>
            <a:endParaRPr lang="en-US" sz="1200" dirty="0"/>
          </a:p>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The assistant rides in your browser, sees pages, acts on them. Powerful; injection-prone — treat every page as untrusted input.</a:t>
            </a:r>
            <a:endParaRPr lang="en-US" sz="1200" dirty="0"/>
          </a:p>
        </p:txBody>
      </p:sp>
      <p:sp>
        <p:nvSpPr>
          <p:cNvPr id="30" name="Shape 22"/>
          <p:cNvSpPr/>
          <p:nvPr/>
        </p:nvSpPr>
        <p:spPr>
          <a:xfrm>
            <a:off x="502920" y="4974336"/>
            <a:ext cx="5440680" cy="1060704"/>
          </a:xfrm>
          <a:prstGeom prst="roundRect">
            <a:avLst>
              <a:gd name="adj" fmla="val 6897"/>
            </a:avLst>
          </a:prstGeom>
          <a:solidFill>
            <a:srgbClr val="F2F5F6"/>
          </a:solidFill>
          <a:ln/>
        </p:spPr>
      </p:sp>
      <p:sp>
        <p:nvSpPr>
          <p:cNvPr id="31" name="Shape 23"/>
          <p:cNvSpPr/>
          <p:nvPr/>
        </p:nvSpPr>
        <p:spPr>
          <a:xfrm>
            <a:off x="667512" y="5266944"/>
            <a:ext cx="457200" cy="457200"/>
          </a:xfrm>
          <a:prstGeom prst="ellipse">
            <a:avLst/>
          </a:prstGeom>
          <a:solidFill>
            <a:srgbClr val="0E7C7B"/>
          </a:solidFill>
          <a:ln/>
        </p:spPr>
      </p:sp>
      <p:pic>
        <p:nvPicPr>
          <p:cNvPr id="32" name="Image 6" descr="/home/user/Claude-Works/ai-training-prompt-engineering/src/assets/icons/branch_w.png">    </p:cNvPr>
          <p:cNvPicPr>
            <a:picLocks noChangeAspect="1"/>
          </p:cNvPicPr>
          <p:nvPr/>
        </p:nvPicPr>
        <p:blipFill>
          <a:blip r:embed="rId7"/>
          <a:stretch>
            <a:fillRect/>
          </a:stretch>
        </p:blipFill>
        <p:spPr>
          <a:xfrm>
            <a:off x="786384" y="5385816"/>
            <a:ext cx="219456" cy="219456"/>
          </a:xfrm>
          <a:prstGeom prst="rect">
            <a:avLst/>
          </a:prstGeom>
        </p:spPr>
      </p:pic>
      <p:sp>
        <p:nvSpPr>
          <p:cNvPr id="33" name="Text 24"/>
          <p:cNvSpPr/>
          <p:nvPr/>
        </p:nvSpPr>
        <p:spPr>
          <a:xfrm>
            <a:off x="1234440" y="5029200"/>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Automation platforms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n8n · Zapier</a:t>
            </a:r>
            <a:endParaRPr lang="en-US" sz="1200" dirty="0"/>
          </a:p>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Wire apps together with agent steps in the flow: n8n for technical/self-hosted, Zapier for business users, 8,000+ connectors.</a:t>
            </a:r>
            <a:endParaRPr lang="en-US" sz="1200" dirty="0"/>
          </a:p>
        </p:txBody>
      </p:sp>
      <p:sp>
        <p:nvSpPr>
          <p:cNvPr id="34" name="Shape 25"/>
          <p:cNvSpPr/>
          <p:nvPr/>
        </p:nvSpPr>
        <p:spPr>
          <a:xfrm>
            <a:off x="6172200" y="4974336"/>
            <a:ext cx="5440680" cy="1060704"/>
          </a:xfrm>
          <a:prstGeom prst="roundRect">
            <a:avLst>
              <a:gd name="adj" fmla="val 6897"/>
            </a:avLst>
          </a:prstGeom>
          <a:solidFill>
            <a:srgbClr val="FBF0E0"/>
          </a:solidFill>
          <a:ln/>
        </p:spPr>
      </p:sp>
      <p:sp>
        <p:nvSpPr>
          <p:cNvPr id="35" name="Shape 26"/>
          <p:cNvSpPr/>
          <p:nvPr/>
        </p:nvSpPr>
        <p:spPr>
          <a:xfrm>
            <a:off x="6336792" y="5266944"/>
            <a:ext cx="457200" cy="457200"/>
          </a:xfrm>
          <a:prstGeom prst="ellipse">
            <a:avLst/>
          </a:prstGeom>
          <a:solidFill>
            <a:srgbClr val="B96A1B"/>
          </a:solidFill>
          <a:ln/>
        </p:spPr>
      </p:sp>
      <p:pic>
        <p:nvPicPr>
          <p:cNvPr id="36" name="Image 7" descr="/home/user/Claude-Works/ai-training-prompt-engineering/src/assets/icons/alert_w.png">    </p:cNvPr>
          <p:cNvPicPr>
            <a:picLocks noChangeAspect="1"/>
          </p:cNvPicPr>
          <p:nvPr/>
        </p:nvPicPr>
        <p:blipFill>
          <a:blip r:embed="rId8"/>
          <a:stretch>
            <a:fillRect/>
          </a:stretch>
        </p:blipFill>
        <p:spPr>
          <a:xfrm>
            <a:off x="6455664" y="5385816"/>
            <a:ext cx="219456" cy="219456"/>
          </a:xfrm>
          <a:prstGeom prst="rect">
            <a:avLst/>
          </a:prstGeom>
        </p:spPr>
      </p:pic>
      <p:sp>
        <p:nvSpPr>
          <p:cNvPr id="37" name="Text 27"/>
          <p:cNvSpPr/>
          <p:nvPr/>
        </p:nvSpPr>
        <p:spPr>
          <a:xfrm>
            <a:off x="6903720" y="5029200"/>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OpenClaw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open source</a:t>
            </a:r>
            <a:endParaRPr lang="en-US" sz="1200" dirty="0"/>
          </a:p>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DIY personal agent run from WhatsApp/Telegram; ~250K GitHub stars — and 2026’s security cautionary tale. Not for corporate use; its lessons are slide 38.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RIGHT TOOL FOR THE TASK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MATRIX</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Right tool for the task — August 2026</a:t>
            </a:r>
            <a:endParaRPr lang="en-US" sz="3000" dirty="0"/>
          </a:p>
        </p:txBody>
      </p:sp>
      <p:sp>
        <p:nvSpPr>
          <p:cNvPr id="6" name="Shape 4"/>
          <p:cNvSpPr/>
          <p:nvPr/>
        </p:nvSpPr>
        <p:spPr>
          <a:xfrm>
            <a:off x="502920" y="1463040"/>
            <a:ext cx="11155680" cy="502920"/>
          </a:xfrm>
          <a:prstGeom prst="roundRect">
            <a:avLst>
              <a:gd name="adj" fmla="val 14545"/>
            </a:avLst>
          </a:prstGeom>
          <a:solidFill>
            <a:srgbClr val="F2F5F6"/>
          </a:solidFill>
          <a:ln/>
        </p:spPr>
      </p:sp>
      <p:sp>
        <p:nvSpPr>
          <p:cNvPr id="7" name="Text 5"/>
          <p:cNvSpPr/>
          <p:nvPr/>
        </p:nvSpPr>
        <p:spPr>
          <a:xfrm>
            <a:off x="713232" y="1499616"/>
            <a:ext cx="3291840" cy="42976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Long documents &amp; doc comparison</a:t>
            </a:r>
            <a:endParaRPr lang="en-US" sz="1050" dirty="0"/>
          </a:p>
        </p:txBody>
      </p:sp>
      <p:sp>
        <p:nvSpPr>
          <p:cNvPr id="8" name="Text 6"/>
          <p:cNvSpPr/>
          <p:nvPr/>
        </p:nvSpPr>
        <p:spPr>
          <a:xfrm>
            <a:off x="4114800" y="1499616"/>
            <a:ext cx="7360920" cy="429768"/>
          </a:xfrm>
          <a:prstGeom prst="rect">
            <a:avLst/>
          </a:prstGeom>
          <a:noFill/>
          <a:ln/>
        </p:spPr>
        <p:txBody>
          <a:bodyPr wrap="square" lIns="0" tIns="0" rIns="0" bIns="0" rtlCol="0" anchor="ctr"/>
          <a:lstStyle/>
          <a:p>
            <a:pPr indent="0" marL="0">
              <a:lnSpc>
                <a:spcPct val="95000"/>
              </a:lnSpc>
              <a:buNone/>
            </a:pPr>
            <a:r>
              <a:rPr lang="en-US" sz="960" dirty="0">
                <a:solidFill>
                  <a:srgbClr val="46545F"/>
                </a:solidFill>
                <a:latin typeface="Calibri" pitchFamily="34" charset="0"/>
                <a:ea typeface="Calibri" pitchFamily="34" charset="-122"/>
                <a:cs typeface="Calibri" pitchFamily="34" charset="-120"/>
              </a:rPr>
              <a:t>Claude or Gemini (1M-class context) · confidential material → your approved internal tool only</a:t>
            </a:r>
            <a:endParaRPr lang="en-US" sz="960" dirty="0"/>
          </a:p>
        </p:txBody>
      </p:sp>
      <p:sp>
        <p:nvSpPr>
          <p:cNvPr id="9" name="Shape 7"/>
          <p:cNvSpPr/>
          <p:nvPr/>
        </p:nvSpPr>
        <p:spPr>
          <a:xfrm>
            <a:off x="502920" y="2039112"/>
            <a:ext cx="11155680" cy="502920"/>
          </a:xfrm>
          <a:prstGeom prst="roundRect">
            <a:avLst>
              <a:gd name="adj" fmla="val 14545"/>
            </a:avLst>
          </a:prstGeom>
          <a:solidFill>
            <a:srgbClr val="FFFFFF"/>
          </a:solidFill>
          <a:ln w="9525">
            <a:solidFill>
              <a:srgbClr val="DCE3E6"/>
            </a:solidFill>
            <a:prstDash val="solid"/>
          </a:ln>
        </p:spPr>
      </p:sp>
      <p:sp>
        <p:nvSpPr>
          <p:cNvPr id="10" name="Text 8"/>
          <p:cNvSpPr/>
          <p:nvPr/>
        </p:nvSpPr>
        <p:spPr>
          <a:xfrm>
            <a:off x="713232" y="2075688"/>
            <a:ext cx="3291840" cy="42976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Data analysis</a:t>
            </a:r>
            <a:endParaRPr lang="en-US" sz="1050" dirty="0"/>
          </a:p>
        </p:txBody>
      </p:sp>
      <p:sp>
        <p:nvSpPr>
          <p:cNvPr id="11" name="Text 9"/>
          <p:cNvSpPr/>
          <p:nvPr/>
        </p:nvSpPr>
        <p:spPr>
          <a:xfrm>
            <a:off x="4114800" y="2075688"/>
            <a:ext cx="7360920" cy="429768"/>
          </a:xfrm>
          <a:prstGeom prst="rect">
            <a:avLst/>
          </a:prstGeom>
          <a:noFill/>
          <a:ln/>
        </p:spPr>
        <p:txBody>
          <a:bodyPr wrap="square" lIns="0" tIns="0" rIns="0" bIns="0" rtlCol="0" anchor="ctr"/>
          <a:lstStyle/>
          <a:p>
            <a:pPr indent="0" marL="0">
              <a:lnSpc>
                <a:spcPct val="95000"/>
              </a:lnSpc>
              <a:buNone/>
            </a:pPr>
            <a:r>
              <a:rPr lang="en-US" sz="960" dirty="0">
                <a:solidFill>
                  <a:srgbClr val="46545F"/>
                </a:solidFill>
                <a:latin typeface="Calibri" pitchFamily="34" charset="0"/>
                <a:ea typeface="Calibri" pitchFamily="34" charset="-122"/>
                <a:cs typeface="Calibri" pitchFamily="34" charset="-120"/>
              </a:rPr>
              <a:t>Copilot Excel Agent Mode (in-tenant) · Claude / ChatGPT with code execution · agentic: Claude Code / Cowork for file crunching</a:t>
            </a:r>
            <a:endParaRPr lang="en-US" sz="960" dirty="0"/>
          </a:p>
        </p:txBody>
      </p:sp>
      <p:sp>
        <p:nvSpPr>
          <p:cNvPr id="12" name="Shape 10"/>
          <p:cNvSpPr/>
          <p:nvPr/>
        </p:nvSpPr>
        <p:spPr>
          <a:xfrm>
            <a:off x="502920" y="2615184"/>
            <a:ext cx="11155680" cy="502920"/>
          </a:xfrm>
          <a:prstGeom prst="roundRect">
            <a:avLst>
              <a:gd name="adj" fmla="val 14545"/>
            </a:avLst>
          </a:prstGeom>
          <a:solidFill>
            <a:srgbClr val="F2F5F6"/>
          </a:solidFill>
          <a:ln/>
        </p:spPr>
      </p:sp>
      <p:sp>
        <p:nvSpPr>
          <p:cNvPr id="13" name="Text 11"/>
          <p:cNvSpPr/>
          <p:nvPr/>
        </p:nvSpPr>
        <p:spPr>
          <a:xfrm>
            <a:off x="713232" y="2651760"/>
            <a:ext cx="3291840" cy="42976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Presentations &amp; documents</a:t>
            </a:r>
            <a:endParaRPr lang="en-US" sz="1050" dirty="0"/>
          </a:p>
        </p:txBody>
      </p:sp>
      <p:sp>
        <p:nvSpPr>
          <p:cNvPr id="14" name="Text 12"/>
          <p:cNvSpPr/>
          <p:nvPr/>
        </p:nvSpPr>
        <p:spPr>
          <a:xfrm>
            <a:off x="4114800" y="2651760"/>
            <a:ext cx="7360920" cy="429768"/>
          </a:xfrm>
          <a:prstGeom prst="rect">
            <a:avLst/>
          </a:prstGeom>
          <a:noFill/>
          <a:ln/>
        </p:spPr>
        <p:txBody>
          <a:bodyPr wrap="square" lIns="0" tIns="0" rIns="0" bIns="0" rtlCol="0" anchor="ctr"/>
          <a:lstStyle/>
          <a:p>
            <a:pPr indent="0" marL="0">
              <a:lnSpc>
                <a:spcPct val="95000"/>
              </a:lnSpc>
              <a:buNone/>
            </a:pPr>
            <a:r>
              <a:rPr lang="en-US" sz="960" dirty="0">
                <a:solidFill>
                  <a:srgbClr val="46545F"/>
                </a:solidFill>
                <a:latin typeface="Calibri" pitchFamily="34" charset="0"/>
                <a:ea typeface="Calibri" pitchFamily="34" charset="-122"/>
                <a:cs typeface="Calibri" pitchFamily="34" charset="-120"/>
              </a:rPr>
              <a:t>Copilot in PowerPoint (your templates) · Claude Cowork / ChatGPT Work build full files</a:t>
            </a:r>
            <a:endParaRPr lang="en-US" sz="960" dirty="0"/>
          </a:p>
        </p:txBody>
      </p:sp>
      <p:sp>
        <p:nvSpPr>
          <p:cNvPr id="15" name="Shape 13"/>
          <p:cNvSpPr/>
          <p:nvPr/>
        </p:nvSpPr>
        <p:spPr>
          <a:xfrm>
            <a:off x="502920" y="3191256"/>
            <a:ext cx="11155680" cy="502920"/>
          </a:xfrm>
          <a:prstGeom prst="roundRect">
            <a:avLst>
              <a:gd name="adj" fmla="val 14545"/>
            </a:avLst>
          </a:prstGeom>
          <a:solidFill>
            <a:srgbClr val="FFFFFF"/>
          </a:solidFill>
          <a:ln w="9525">
            <a:solidFill>
              <a:srgbClr val="DCE3E6"/>
            </a:solidFill>
            <a:prstDash val="solid"/>
          </a:ln>
        </p:spPr>
      </p:sp>
      <p:sp>
        <p:nvSpPr>
          <p:cNvPr id="16" name="Text 14"/>
          <p:cNvSpPr/>
          <p:nvPr/>
        </p:nvSpPr>
        <p:spPr>
          <a:xfrm>
            <a:off x="713232" y="3227832"/>
            <a:ext cx="3291840" cy="42976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Cited web research</a:t>
            </a:r>
            <a:endParaRPr lang="en-US" sz="1050" dirty="0"/>
          </a:p>
        </p:txBody>
      </p:sp>
      <p:sp>
        <p:nvSpPr>
          <p:cNvPr id="17" name="Text 15"/>
          <p:cNvSpPr/>
          <p:nvPr/>
        </p:nvSpPr>
        <p:spPr>
          <a:xfrm>
            <a:off x="4114800" y="3227832"/>
            <a:ext cx="7360920" cy="429768"/>
          </a:xfrm>
          <a:prstGeom prst="rect">
            <a:avLst/>
          </a:prstGeom>
          <a:noFill/>
          <a:ln/>
        </p:spPr>
        <p:txBody>
          <a:bodyPr wrap="square" lIns="0" tIns="0" rIns="0" bIns="0" rtlCol="0" anchor="ctr"/>
          <a:lstStyle/>
          <a:p>
            <a:pPr indent="0" marL="0">
              <a:lnSpc>
                <a:spcPct val="95000"/>
              </a:lnSpc>
              <a:buNone/>
            </a:pPr>
            <a:r>
              <a:rPr lang="en-US" sz="960" dirty="0">
                <a:solidFill>
                  <a:srgbClr val="46545F"/>
                </a:solidFill>
                <a:latin typeface="Calibri" pitchFamily="34" charset="0"/>
                <a:ea typeface="Calibri" pitchFamily="34" charset="-122"/>
                <a:cs typeface="Calibri" pitchFamily="34" charset="-120"/>
              </a:rPr>
              <a:t>Perplexity first · deep-research modes in ChatGPT / Gemini / Claude · verify citations regardless</a:t>
            </a:r>
            <a:endParaRPr lang="en-US" sz="960" dirty="0"/>
          </a:p>
        </p:txBody>
      </p:sp>
      <p:sp>
        <p:nvSpPr>
          <p:cNvPr id="18" name="Shape 16"/>
          <p:cNvSpPr/>
          <p:nvPr/>
        </p:nvSpPr>
        <p:spPr>
          <a:xfrm>
            <a:off x="502920" y="3767328"/>
            <a:ext cx="11155680" cy="502920"/>
          </a:xfrm>
          <a:prstGeom prst="roundRect">
            <a:avLst>
              <a:gd name="adj" fmla="val 14545"/>
            </a:avLst>
          </a:prstGeom>
          <a:solidFill>
            <a:srgbClr val="F2F5F6"/>
          </a:solidFill>
          <a:ln/>
        </p:spPr>
      </p:sp>
      <p:sp>
        <p:nvSpPr>
          <p:cNvPr id="19" name="Text 17"/>
          <p:cNvSpPr/>
          <p:nvPr/>
        </p:nvSpPr>
        <p:spPr>
          <a:xfrm>
            <a:off x="713232" y="3803904"/>
            <a:ext cx="3291840" cy="42976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Writing &amp; editing</a:t>
            </a:r>
            <a:endParaRPr lang="en-US" sz="1050" dirty="0"/>
          </a:p>
        </p:txBody>
      </p:sp>
      <p:sp>
        <p:nvSpPr>
          <p:cNvPr id="20" name="Text 18"/>
          <p:cNvSpPr/>
          <p:nvPr/>
        </p:nvSpPr>
        <p:spPr>
          <a:xfrm>
            <a:off x="4114800" y="3803904"/>
            <a:ext cx="7360920" cy="429768"/>
          </a:xfrm>
          <a:prstGeom prst="rect">
            <a:avLst/>
          </a:prstGeom>
          <a:noFill/>
          <a:ln/>
        </p:spPr>
        <p:txBody>
          <a:bodyPr wrap="square" lIns="0" tIns="0" rIns="0" bIns="0" rtlCol="0" anchor="ctr"/>
          <a:lstStyle/>
          <a:p>
            <a:pPr indent="0" marL="0">
              <a:lnSpc>
                <a:spcPct val="95000"/>
              </a:lnSpc>
              <a:buNone/>
            </a:pPr>
            <a:r>
              <a:rPr lang="en-US" sz="960" dirty="0">
                <a:solidFill>
                  <a:srgbClr val="46545F"/>
                </a:solidFill>
                <a:latin typeface="Calibri" pitchFamily="34" charset="0"/>
                <a:ea typeface="Calibri" pitchFamily="34" charset="-122"/>
                <a:cs typeface="Calibri" pitchFamily="34" charset="-120"/>
              </a:rPr>
              <a:t>All capable; Claude for careful long-form · Copilot for in-place edits in Outlook/Word</a:t>
            </a:r>
            <a:endParaRPr lang="en-US" sz="960" dirty="0"/>
          </a:p>
        </p:txBody>
      </p:sp>
      <p:sp>
        <p:nvSpPr>
          <p:cNvPr id="21" name="Shape 19"/>
          <p:cNvSpPr/>
          <p:nvPr/>
        </p:nvSpPr>
        <p:spPr>
          <a:xfrm>
            <a:off x="502920" y="4343400"/>
            <a:ext cx="11155680" cy="502920"/>
          </a:xfrm>
          <a:prstGeom prst="roundRect">
            <a:avLst>
              <a:gd name="adj" fmla="val 14545"/>
            </a:avLst>
          </a:prstGeom>
          <a:solidFill>
            <a:srgbClr val="FFFFFF"/>
          </a:solidFill>
          <a:ln w="9525">
            <a:solidFill>
              <a:srgbClr val="DCE3E6"/>
            </a:solidFill>
            <a:prstDash val="solid"/>
          </a:ln>
        </p:spPr>
      </p:sp>
      <p:sp>
        <p:nvSpPr>
          <p:cNvPr id="22" name="Text 20"/>
          <p:cNvSpPr/>
          <p:nvPr/>
        </p:nvSpPr>
        <p:spPr>
          <a:xfrm>
            <a:off x="713232" y="4379976"/>
            <a:ext cx="3291840" cy="42976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Coding &amp; repo work</a:t>
            </a:r>
            <a:endParaRPr lang="en-US" sz="1050" dirty="0"/>
          </a:p>
        </p:txBody>
      </p:sp>
      <p:sp>
        <p:nvSpPr>
          <p:cNvPr id="23" name="Text 21"/>
          <p:cNvSpPr/>
          <p:nvPr/>
        </p:nvSpPr>
        <p:spPr>
          <a:xfrm>
            <a:off x="4114800" y="4379976"/>
            <a:ext cx="7360920" cy="429768"/>
          </a:xfrm>
          <a:prstGeom prst="rect">
            <a:avLst/>
          </a:prstGeom>
          <a:noFill/>
          <a:ln/>
        </p:spPr>
        <p:txBody>
          <a:bodyPr wrap="square" lIns="0" tIns="0" rIns="0" bIns="0" rtlCol="0" anchor="ctr"/>
          <a:lstStyle/>
          <a:p>
            <a:pPr indent="0" marL="0">
              <a:lnSpc>
                <a:spcPct val="95000"/>
              </a:lnSpc>
              <a:buNone/>
            </a:pPr>
            <a:r>
              <a:rPr lang="en-US" sz="960" dirty="0">
                <a:solidFill>
                  <a:srgbClr val="46545F"/>
                </a:solidFill>
                <a:latin typeface="Calibri" pitchFamily="34" charset="0"/>
                <a:ea typeface="Calibri" pitchFamily="34" charset="-122"/>
                <a:cs typeface="Calibri" pitchFamily="34" charset="-120"/>
              </a:rPr>
              <a:t>Claude Code · Cursor · GitHub Copilot · (SWE-bench leaders: Claude Opus 5 / Fable 5, ~95–96%)</a:t>
            </a:r>
            <a:endParaRPr lang="en-US" sz="960" dirty="0"/>
          </a:p>
        </p:txBody>
      </p:sp>
      <p:sp>
        <p:nvSpPr>
          <p:cNvPr id="24" name="Shape 22"/>
          <p:cNvSpPr/>
          <p:nvPr/>
        </p:nvSpPr>
        <p:spPr>
          <a:xfrm>
            <a:off x="502920" y="4919472"/>
            <a:ext cx="11155680" cy="502920"/>
          </a:xfrm>
          <a:prstGeom prst="roundRect">
            <a:avLst>
              <a:gd name="adj" fmla="val 14545"/>
            </a:avLst>
          </a:prstGeom>
          <a:solidFill>
            <a:srgbClr val="F2F5F6"/>
          </a:solidFill>
          <a:ln/>
        </p:spPr>
      </p:sp>
      <p:sp>
        <p:nvSpPr>
          <p:cNvPr id="25" name="Text 23"/>
          <p:cNvSpPr/>
          <p:nvPr/>
        </p:nvSpPr>
        <p:spPr>
          <a:xfrm>
            <a:off x="713232" y="4956048"/>
            <a:ext cx="3291840" cy="42976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Images · video</a:t>
            </a:r>
            <a:endParaRPr lang="en-US" sz="1050" dirty="0"/>
          </a:p>
        </p:txBody>
      </p:sp>
      <p:sp>
        <p:nvSpPr>
          <p:cNvPr id="26" name="Text 24"/>
          <p:cNvSpPr/>
          <p:nvPr/>
        </p:nvSpPr>
        <p:spPr>
          <a:xfrm>
            <a:off x="4114800" y="4956048"/>
            <a:ext cx="7360920" cy="429768"/>
          </a:xfrm>
          <a:prstGeom prst="rect">
            <a:avLst/>
          </a:prstGeom>
          <a:noFill/>
          <a:ln/>
        </p:spPr>
        <p:txBody>
          <a:bodyPr wrap="square" lIns="0" tIns="0" rIns="0" bIns="0" rtlCol="0" anchor="ctr"/>
          <a:lstStyle/>
          <a:p>
            <a:pPr indent="0" marL="0">
              <a:lnSpc>
                <a:spcPct val="95000"/>
              </a:lnSpc>
              <a:buNone/>
            </a:pPr>
            <a:r>
              <a:rPr lang="en-US" sz="960" dirty="0">
                <a:solidFill>
                  <a:srgbClr val="46545F"/>
                </a:solidFill>
                <a:latin typeface="Calibri" pitchFamily="34" charset="0"/>
                <a:ea typeface="Calibri" pitchFamily="34" charset="-122"/>
                <a:cs typeface="Calibri" pitchFamily="34" charset="-120"/>
              </a:rPr>
              <a:t>ChatGPT Images 2.0 (photoreal) · Nano Banana 2 (stylized/text) · Veo 3.1 (video)</a:t>
            </a:r>
            <a:endParaRPr lang="en-US" sz="960" dirty="0"/>
          </a:p>
        </p:txBody>
      </p:sp>
      <p:sp>
        <p:nvSpPr>
          <p:cNvPr id="27" name="Shape 25"/>
          <p:cNvSpPr/>
          <p:nvPr/>
        </p:nvSpPr>
        <p:spPr>
          <a:xfrm>
            <a:off x="502920" y="5495544"/>
            <a:ext cx="11155680" cy="502920"/>
          </a:xfrm>
          <a:prstGeom prst="roundRect">
            <a:avLst>
              <a:gd name="adj" fmla="val 14545"/>
            </a:avLst>
          </a:prstGeom>
          <a:solidFill>
            <a:srgbClr val="FFFFFF"/>
          </a:solidFill>
          <a:ln w="9525">
            <a:solidFill>
              <a:srgbClr val="DCE3E6"/>
            </a:solidFill>
            <a:prstDash val="solid"/>
          </a:ln>
        </p:spPr>
      </p:sp>
      <p:sp>
        <p:nvSpPr>
          <p:cNvPr id="28" name="Text 26"/>
          <p:cNvSpPr/>
          <p:nvPr/>
        </p:nvSpPr>
        <p:spPr>
          <a:xfrm>
            <a:off x="713232" y="5532120"/>
            <a:ext cx="3291840" cy="42976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Speed &amp; bulk / self-hosting</a:t>
            </a:r>
            <a:endParaRPr lang="en-US" sz="1050" dirty="0"/>
          </a:p>
        </p:txBody>
      </p:sp>
      <p:sp>
        <p:nvSpPr>
          <p:cNvPr id="29" name="Text 27"/>
          <p:cNvSpPr/>
          <p:nvPr/>
        </p:nvSpPr>
        <p:spPr>
          <a:xfrm>
            <a:off x="4114800" y="5532120"/>
            <a:ext cx="7360920" cy="429768"/>
          </a:xfrm>
          <a:prstGeom prst="rect">
            <a:avLst/>
          </a:prstGeom>
          <a:noFill/>
          <a:ln/>
        </p:spPr>
        <p:txBody>
          <a:bodyPr wrap="square" lIns="0" tIns="0" rIns="0" bIns="0" rtlCol="0" anchor="ctr"/>
          <a:lstStyle/>
          <a:p>
            <a:pPr indent="0" marL="0">
              <a:lnSpc>
                <a:spcPct val="95000"/>
              </a:lnSpc>
              <a:buNone/>
            </a:pPr>
            <a:r>
              <a:rPr lang="en-US" sz="960" dirty="0">
                <a:solidFill>
                  <a:srgbClr val="46545F"/>
                </a:solidFill>
                <a:latin typeface="Calibri" pitchFamily="34" charset="0"/>
                <a:ea typeface="Calibri" pitchFamily="34" charset="-122"/>
                <a:cs typeface="Calibri" pitchFamily="34" charset="-120"/>
              </a:rPr>
              <a:t>Gemini Flash, Claude Haiku (cheap+fast) · open weights (Qwen, DeepSeek, Kimi) via approved infra</a:t>
            </a:r>
            <a:endParaRPr lang="en-US" sz="960" dirty="0"/>
          </a:p>
        </p:txBody>
      </p:sp>
      <p:sp>
        <p:nvSpPr>
          <p:cNvPr id="30" name="Shape 28"/>
          <p:cNvSpPr/>
          <p:nvPr/>
        </p:nvSpPr>
        <p:spPr>
          <a:xfrm>
            <a:off x="502920" y="6053328"/>
            <a:ext cx="11155680" cy="438912"/>
          </a:xfrm>
          <a:prstGeom prst="roundRect">
            <a:avLst>
              <a:gd name="adj" fmla="val 16667"/>
            </a:avLst>
          </a:prstGeom>
          <a:solidFill>
            <a:srgbClr val="FBF0E0"/>
          </a:solidFill>
          <a:ln/>
        </p:spPr>
      </p:sp>
      <p:sp>
        <p:nvSpPr>
          <p:cNvPr id="31" name="Shape 29"/>
          <p:cNvSpPr/>
          <p:nvPr/>
        </p:nvSpPr>
        <p:spPr>
          <a:xfrm>
            <a:off x="667512" y="6080760"/>
            <a:ext cx="384048" cy="384048"/>
          </a:xfrm>
          <a:prstGeom prst="ellipse">
            <a:avLst/>
          </a:prstGeom>
          <a:solidFill>
            <a:srgbClr val="B96A1B"/>
          </a:solidFill>
          <a:ln/>
        </p:spPr>
      </p:sp>
      <p:pic>
        <p:nvPicPr>
          <p:cNvPr id="32" name="Image 0" descr="/home/user/Claude-Works/ai-training-prompt-engineering/src/assets/icons/shield_w.png">    </p:cNvPr>
          <p:cNvPicPr>
            <a:picLocks noChangeAspect="1"/>
          </p:cNvPicPr>
          <p:nvPr/>
        </p:nvPicPr>
        <p:blipFill>
          <a:blip r:embed="rId1"/>
          <a:stretch>
            <a:fillRect/>
          </a:stretch>
        </p:blipFill>
        <p:spPr>
          <a:xfrm>
            <a:off x="767364" y="6180612"/>
            <a:ext cx="184343" cy="184343"/>
          </a:xfrm>
          <a:prstGeom prst="rect">
            <a:avLst/>
          </a:prstGeom>
        </p:spPr>
      </p:pic>
      <p:sp>
        <p:nvSpPr>
          <p:cNvPr id="33" name="Text 30"/>
          <p:cNvSpPr/>
          <p:nvPr/>
        </p:nvSpPr>
        <p:spPr>
          <a:xfrm>
            <a:off x="1216152" y="6126480"/>
            <a:ext cx="10213848" cy="292608"/>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Standing rule: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your organization’s AI policy and approved-tool list outrank every cell of this table.</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READING THE LEADERBOARDS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A CAUTION ON RANKINGS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Fortes, not absolutes: how to read AI leaderboards</a:t>
            </a:r>
            <a:endParaRPr lang="en-US" sz="3000" dirty="0"/>
          </a:p>
        </p:txBody>
      </p:sp>
      <p:sp>
        <p:nvSpPr>
          <p:cNvPr id="6" name="Text 4"/>
          <p:cNvSpPr/>
          <p:nvPr/>
        </p:nvSpPr>
        <p:spPr>
          <a:xfrm>
            <a:off x="502920" y="1554480"/>
            <a:ext cx="5669280" cy="3108960"/>
          </a:xfrm>
          <a:prstGeom prst="rect">
            <a:avLst/>
          </a:prstGeom>
          <a:noFill/>
          <a:ln/>
        </p:spPr>
        <p:txBody>
          <a:bodyPr wrap="square" lIns="0" tIns="0" rIns="0" bIns="0" rtlCol="0" anchor="t"/>
          <a:lstStyle/>
          <a:p>
            <a:pPr algn="l" marL="127000" indent="-127000">
              <a:lnSpc>
                <a:spcPct val="104000"/>
              </a:lnSpc>
              <a:spcAft>
                <a:spcPts val="900"/>
              </a:spcAft>
              <a:buSzPct val="100000"/>
              <a:buChar char="•"/>
            </a:pPr>
            <a:r>
              <a:rPr lang="en-US" sz="1250" dirty="0">
                <a:solidFill>
                  <a:srgbClr val="46545F"/>
                </a:solidFill>
                <a:latin typeface="Calibri" pitchFamily="34" charset="0"/>
                <a:ea typeface="Calibri" pitchFamily="34" charset="-122"/>
                <a:cs typeface="Calibri" pitchFamily="34" charset="-120"/>
              </a:rPr>
              <a:t>Top models now cluster within ~1 point on major indexes; leaderboards re-rank monthly (one arena re-baselined its entire scale in July 2026).</a:t>
            </a:r>
            <a:endParaRPr lang="en-US" sz="1250" dirty="0"/>
          </a:p>
          <a:p>
            <a:pPr algn="l" marL="127000" indent="-127000">
              <a:lnSpc>
                <a:spcPct val="104000"/>
              </a:lnSpc>
              <a:spcAft>
                <a:spcPts val="900"/>
              </a:spcAft>
              <a:buSzPct val="100000"/>
              <a:buChar char="•"/>
            </a:pPr>
            <a:r>
              <a:rPr lang="en-US" sz="1250" dirty="0">
                <a:solidFill>
                  <a:srgbClr val="46545F"/>
                </a:solidFill>
                <a:latin typeface="Calibri" pitchFamily="34" charset="0"/>
                <a:ea typeface="Calibri" pitchFamily="34" charset="-122"/>
                <a:cs typeface="Calibri" pitchFamily="34" charset="-120"/>
              </a:rPr>
              <a:t>Benchmarks saturate and leak: the standard coding benchmark is “nearing saturation,” with audits finding flawed test cases.</a:t>
            </a:r>
            <a:endParaRPr lang="en-US" sz="1250" dirty="0"/>
          </a:p>
          <a:p>
            <a:pPr algn="l" marL="127000" indent="-127000">
              <a:lnSpc>
                <a:spcPct val="104000"/>
              </a:lnSpc>
              <a:spcAft>
                <a:spcPts val="900"/>
              </a:spcAft>
              <a:buSzPct val="100000"/>
              <a:buChar char="•"/>
            </a:pPr>
            <a:r>
              <a:rPr lang="en-US" sz="1250" b="1" dirty="0">
                <a:solidFill>
                  <a:srgbClr val="46545F"/>
                </a:solidFill>
                <a:latin typeface="Calibri" pitchFamily="34" charset="0"/>
                <a:ea typeface="Calibri" pitchFamily="34" charset="-122"/>
                <a:cs typeface="Calibri" pitchFamily="34" charset="-120"/>
              </a:rPr>
              <a:t>Vendor-reported numbers are marketing until independently reproduced — label them as claims.</a:t>
            </a:r>
            <a:endParaRPr lang="en-US" sz="1250" dirty="0"/>
          </a:p>
          <a:p>
            <a:pPr algn="l" marL="127000" indent="-127000">
              <a:lnSpc>
                <a:spcPct val="104000"/>
              </a:lnSpc>
              <a:spcAft>
                <a:spcPts val="900"/>
              </a:spcAft>
              <a:buSzPct val="100000"/>
              <a:buChar char="•"/>
            </a:pPr>
            <a:r>
              <a:rPr lang="en-US" sz="1250" dirty="0">
                <a:solidFill>
                  <a:srgbClr val="46545F"/>
                </a:solidFill>
                <a:latin typeface="Calibri" pitchFamily="34" charset="0"/>
                <a:ea typeface="Calibri" pitchFamily="34" charset="-122"/>
                <a:cs typeface="Calibri" pitchFamily="34" charset="-120"/>
              </a:rPr>
              <a:t>So: use rankings to build a shortlist; use YOUR task — your documents, your data, your formats — to pick the winner.</a:t>
            </a:r>
            <a:endParaRPr lang="en-US" sz="1250" dirty="0"/>
          </a:p>
        </p:txBody>
      </p:sp>
      <p:sp>
        <p:nvSpPr>
          <p:cNvPr id="7" name="Shape 5"/>
          <p:cNvSpPr/>
          <p:nvPr/>
        </p:nvSpPr>
        <p:spPr>
          <a:xfrm>
            <a:off x="6400800" y="1554480"/>
            <a:ext cx="5257800" cy="3108960"/>
          </a:xfrm>
          <a:prstGeom prst="roundRect">
            <a:avLst>
              <a:gd name="adj" fmla="val 2353"/>
            </a:avLst>
          </a:prstGeom>
          <a:solidFill>
            <a:srgbClr val="E4F0EF"/>
          </a:solidFill>
          <a:ln/>
        </p:spPr>
      </p:sp>
      <p:sp>
        <p:nvSpPr>
          <p:cNvPr id="8" name="Text 6"/>
          <p:cNvSpPr/>
          <p:nvPr/>
        </p:nvSpPr>
        <p:spPr>
          <a:xfrm>
            <a:off x="6675120" y="1783080"/>
            <a:ext cx="4754880" cy="365760"/>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Power tools from four good brands</a:t>
            </a:r>
            <a:endParaRPr lang="en-US" sz="1450" dirty="0"/>
          </a:p>
        </p:txBody>
      </p:sp>
      <p:sp>
        <p:nvSpPr>
          <p:cNvPr id="9" name="Text 7"/>
          <p:cNvSpPr/>
          <p:nvPr/>
        </p:nvSpPr>
        <p:spPr>
          <a:xfrm>
            <a:off x="6675120" y="2240280"/>
            <a:ext cx="4754880" cy="2286000"/>
          </a:xfrm>
          <a:prstGeom prst="rect">
            <a:avLst/>
          </a:prstGeom>
          <a:noFill/>
          <a:ln/>
        </p:spPr>
        <p:txBody>
          <a:bodyPr wrap="square" lIns="0" tIns="0" rIns="0" bIns="0" rtlCol="0" anchor="ctr"/>
          <a:lstStyle/>
          <a:p>
            <a:pPr indent="0" marL="0">
              <a:lnSpc>
                <a:spcPct val="115000"/>
              </a:lnSpc>
              <a:buNone/>
            </a:pPr>
            <a:r>
              <a:rPr lang="en-US" sz="1200" dirty="0">
                <a:solidFill>
                  <a:srgbClr val="46545F"/>
                </a:solidFill>
                <a:latin typeface="Calibri" pitchFamily="34" charset="0"/>
                <a:ea typeface="Calibri" pitchFamily="34" charset="-122"/>
                <a:cs typeface="Calibri" pitchFamily="34" charset="-120"/>
              </a:rPr>
              <a:t>Any of them can drive a screw. You pick by fit for the job, what’s already in your shop (your IT stack, your data governance), and how it feels in your hand — not by last month’s magazine review.</a:t>
            </a:r>
            <a:endParaRPr lang="en-US" sz="1200" dirty="0"/>
          </a:p>
          <a:p>
            <a:pPr indent="0" marL="0">
              <a:lnSpc>
                <a:spcPct val="115000"/>
              </a:lnSpc>
              <a:buNone/>
            </a:pPr>
            <a:endParaRPr lang="en-US" sz="1200" dirty="0"/>
          </a:p>
          <a:p>
            <a:pPr indent="0" marL="0">
              <a:lnSpc>
                <a:spcPct val="115000"/>
              </a:lnSpc>
              <a:buNone/>
            </a:pPr>
            <a:r>
              <a:rPr lang="en-US" sz="1200" dirty="0">
                <a:solidFill>
                  <a:srgbClr val="46545F"/>
                </a:solidFill>
                <a:latin typeface="Calibri" pitchFamily="34" charset="0"/>
                <a:ea typeface="Calibri" pitchFamily="34" charset="-122"/>
                <a:cs typeface="Calibri" pitchFamily="34" charset="-120"/>
              </a:rPr>
              <a:t>The skills in Parts 3–5 transfer across all of them. That’s why this training teaches prompting, not products.</a:t>
            </a:r>
            <a:endParaRPr lang="en-US" sz="1200" dirty="0"/>
          </a:p>
        </p:txBody>
      </p:sp>
      <p:sp>
        <p:nvSpPr>
          <p:cNvPr id="10" name="Shape 8"/>
          <p:cNvSpPr/>
          <p:nvPr/>
        </p:nvSpPr>
        <p:spPr>
          <a:xfrm>
            <a:off x="502920" y="4983480"/>
            <a:ext cx="11155680" cy="1051560"/>
          </a:xfrm>
          <a:prstGeom prst="roundRect">
            <a:avLst>
              <a:gd name="adj" fmla="val 6957"/>
            </a:avLst>
          </a:prstGeom>
          <a:solidFill>
            <a:srgbClr val="F2F5F6"/>
          </a:solidFill>
          <a:ln w="9525">
            <a:solidFill>
              <a:srgbClr val="DCE3E6"/>
            </a:solidFill>
            <a:prstDash val="solid"/>
          </a:ln>
        </p:spPr>
      </p:sp>
      <p:sp>
        <p:nvSpPr>
          <p:cNvPr id="11" name="Shape 9"/>
          <p:cNvSpPr/>
          <p:nvPr/>
        </p:nvSpPr>
        <p:spPr>
          <a:xfrm>
            <a:off x="667512" y="5317236"/>
            <a:ext cx="384048" cy="384048"/>
          </a:xfrm>
          <a:prstGeom prst="ellipse">
            <a:avLst/>
          </a:prstGeom>
          <a:solidFill>
            <a:srgbClr val="46545F"/>
          </a:solidFill>
          <a:ln/>
        </p:spPr>
      </p:sp>
      <p:pic>
        <p:nvPicPr>
          <p:cNvPr id="12" name="Image 0" descr="/home/user/Claude-Works/ai-training-prompt-engineering/src/assets/icons/target_w.png">    </p:cNvPr>
          <p:cNvPicPr>
            <a:picLocks noChangeAspect="1"/>
          </p:cNvPicPr>
          <p:nvPr/>
        </p:nvPicPr>
        <p:blipFill>
          <a:blip r:embed="rId1"/>
          <a:stretch>
            <a:fillRect/>
          </a:stretch>
        </p:blipFill>
        <p:spPr>
          <a:xfrm>
            <a:off x="767364" y="5417088"/>
            <a:ext cx="184343" cy="184343"/>
          </a:xfrm>
          <a:prstGeom prst="rect">
            <a:avLst/>
          </a:prstGeom>
        </p:spPr>
      </p:pic>
      <p:sp>
        <p:nvSpPr>
          <p:cNvPr id="13" name="Text 10"/>
          <p:cNvSpPr/>
          <p:nvPr/>
        </p:nvSpPr>
        <p:spPr>
          <a:xfrm>
            <a:off x="1216152" y="5056632"/>
            <a:ext cx="10213848" cy="90525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A 60-second benchmark of your own: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keep three of your real tasks (one analysis, one document, one deck) as a private test set. When a new model ships, run them. Your test set beats every leaderboard for deciding what YOU should use.</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21</a:t>
            </a:r>
            <a:endParaRPr lang="en-US" sz="850" dirty="0"/>
          </a:p>
        </p:txBody>
      </p:sp>
      <p:sp>
        <p:nvSpPr>
          <p:cNvPr id="3" name="Text 1"/>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3 · PROMPT ENGINEERING</a:t>
            </a:r>
            <a:endParaRPr lang="en-US" sz="1600" dirty="0"/>
          </a:p>
        </p:txBody>
      </p:sp>
      <p:sp>
        <p:nvSpPr>
          <p:cNvPr id="4" name="Text 2"/>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craft: getting what</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you actually meant</a:t>
            </a:r>
            <a:endParaRPr lang="en-US" sz="4400" dirty="0"/>
          </a:p>
        </p:txBody>
      </p:sp>
      <p:sp>
        <p:nvSpPr>
          <p:cNvPr id="5" name="Text 3"/>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Every AI vendor publishes prompting guidance. It converges on one anatomy and a handful of techniques — this part teaches them, with the evidence for what works and what’s myth.</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ANATOMY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UNIVERSAL ANATOMY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vendors, one recipe: Role · Task · Context · Format · Examples</a:t>
            </a:r>
            <a:endParaRPr lang="en-US" sz="3000" dirty="0"/>
          </a:p>
        </p:txBody>
      </p:sp>
      <p:sp>
        <p:nvSpPr>
          <p:cNvPr id="6" name="Text 4"/>
          <p:cNvSpPr/>
          <p:nvPr/>
        </p:nvSpPr>
        <p:spPr>
          <a:xfrm>
            <a:off x="2148840" y="1481328"/>
            <a:ext cx="2331720" cy="292608"/>
          </a:xfrm>
          <a:prstGeom prst="rect">
            <a:avLst/>
          </a:prstGeom>
          <a:noFill/>
          <a:ln/>
        </p:spPr>
        <p:txBody>
          <a:bodyPr wrap="square" lIns="0" tIns="0" rIns="0" bIns="0" rtlCol="0" anchor="ctr"/>
          <a:lstStyle/>
          <a:p>
            <a:pPr indent="0" marL="0">
              <a:buNone/>
            </a:pPr>
            <a:r>
              <a:rPr lang="en-US" sz="1150" b="1" dirty="0">
                <a:solidFill>
                  <a:srgbClr val="0A5B5A"/>
                </a:solidFill>
                <a:latin typeface="Calibri" pitchFamily="34" charset="0"/>
                <a:ea typeface="Calibri" pitchFamily="34" charset="-122"/>
                <a:cs typeface="Calibri" pitchFamily="34" charset="-120"/>
              </a:rPr>
              <a:t>Anthropic</a:t>
            </a:r>
            <a:endParaRPr lang="en-US" sz="1150" dirty="0"/>
          </a:p>
        </p:txBody>
      </p:sp>
      <p:sp>
        <p:nvSpPr>
          <p:cNvPr id="7" name="Text 5"/>
          <p:cNvSpPr/>
          <p:nvPr/>
        </p:nvSpPr>
        <p:spPr>
          <a:xfrm>
            <a:off x="4572000" y="1481328"/>
            <a:ext cx="2331720" cy="292608"/>
          </a:xfrm>
          <a:prstGeom prst="rect">
            <a:avLst/>
          </a:prstGeom>
          <a:noFill/>
          <a:ln/>
        </p:spPr>
        <p:txBody>
          <a:bodyPr wrap="square" lIns="0" tIns="0" rIns="0" bIns="0" rtlCol="0" anchor="ctr"/>
          <a:lstStyle/>
          <a:p>
            <a:pPr indent="0" marL="0">
              <a:buNone/>
            </a:pPr>
            <a:r>
              <a:rPr lang="en-US" sz="1150" b="1" dirty="0">
                <a:solidFill>
                  <a:srgbClr val="0A5B5A"/>
                </a:solidFill>
                <a:latin typeface="Calibri" pitchFamily="34" charset="0"/>
                <a:ea typeface="Calibri" pitchFamily="34" charset="-122"/>
                <a:cs typeface="Calibri" pitchFamily="34" charset="-120"/>
              </a:rPr>
              <a:t>OpenAI</a:t>
            </a:r>
            <a:endParaRPr lang="en-US" sz="1150" dirty="0"/>
          </a:p>
        </p:txBody>
      </p:sp>
      <p:sp>
        <p:nvSpPr>
          <p:cNvPr id="8" name="Text 6"/>
          <p:cNvSpPr/>
          <p:nvPr/>
        </p:nvSpPr>
        <p:spPr>
          <a:xfrm>
            <a:off x="6995160" y="1481328"/>
            <a:ext cx="2331720" cy="292608"/>
          </a:xfrm>
          <a:prstGeom prst="rect">
            <a:avLst/>
          </a:prstGeom>
          <a:noFill/>
          <a:ln/>
        </p:spPr>
        <p:txBody>
          <a:bodyPr wrap="square" lIns="0" tIns="0" rIns="0" bIns="0" rtlCol="0" anchor="ctr"/>
          <a:lstStyle/>
          <a:p>
            <a:pPr indent="0" marL="0">
              <a:buNone/>
            </a:pPr>
            <a:r>
              <a:rPr lang="en-US" sz="1150" b="1" dirty="0">
                <a:solidFill>
                  <a:srgbClr val="0A5B5A"/>
                </a:solidFill>
                <a:latin typeface="Calibri" pitchFamily="34" charset="0"/>
                <a:ea typeface="Calibri" pitchFamily="34" charset="-122"/>
                <a:cs typeface="Calibri" pitchFamily="34" charset="-120"/>
              </a:rPr>
              <a:t>Google</a:t>
            </a:r>
            <a:endParaRPr lang="en-US" sz="1150" dirty="0"/>
          </a:p>
        </p:txBody>
      </p:sp>
      <p:sp>
        <p:nvSpPr>
          <p:cNvPr id="9" name="Text 7"/>
          <p:cNvSpPr/>
          <p:nvPr/>
        </p:nvSpPr>
        <p:spPr>
          <a:xfrm>
            <a:off x="9418320" y="1481328"/>
            <a:ext cx="2240280" cy="292608"/>
          </a:xfrm>
          <a:prstGeom prst="rect">
            <a:avLst/>
          </a:prstGeom>
          <a:noFill/>
          <a:ln/>
        </p:spPr>
        <p:txBody>
          <a:bodyPr wrap="square" lIns="0" tIns="0" rIns="0" bIns="0" rtlCol="0" anchor="ctr"/>
          <a:lstStyle/>
          <a:p>
            <a:pPr indent="0" marL="0">
              <a:buNone/>
            </a:pPr>
            <a:r>
              <a:rPr lang="en-US" sz="1150" b="1" dirty="0">
                <a:solidFill>
                  <a:srgbClr val="0A5B5A"/>
                </a:solidFill>
                <a:latin typeface="Calibri" pitchFamily="34" charset="0"/>
                <a:ea typeface="Calibri" pitchFamily="34" charset="-122"/>
                <a:cs typeface="Calibri" pitchFamily="34" charset="-120"/>
              </a:rPr>
              <a:t>Microsoft</a:t>
            </a:r>
            <a:endParaRPr lang="en-US" sz="1150" dirty="0"/>
          </a:p>
        </p:txBody>
      </p:sp>
      <p:sp>
        <p:nvSpPr>
          <p:cNvPr id="10" name="Shape 8"/>
          <p:cNvSpPr/>
          <p:nvPr/>
        </p:nvSpPr>
        <p:spPr>
          <a:xfrm>
            <a:off x="502920" y="1828800"/>
            <a:ext cx="11155680" cy="621792"/>
          </a:xfrm>
          <a:prstGeom prst="roundRect">
            <a:avLst>
              <a:gd name="adj" fmla="val 11765"/>
            </a:avLst>
          </a:prstGeom>
          <a:solidFill>
            <a:srgbClr val="F2F5F6"/>
          </a:solidFill>
          <a:ln/>
        </p:spPr>
      </p:sp>
      <p:sp>
        <p:nvSpPr>
          <p:cNvPr id="11" name="Text 9"/>
          <p:cNvSpPr/>
          <p:nvPr/>
        </p:nvSpPr>
        <p:spPr>
          <a:xfrm>
            <a:off x="685800" y="1901952"/>
            <a:ext cx="1371600" cy="45720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Role</a:t>
            </a:r>
            <a:endParaRPr lang="en-US" sz="1350" dirty="0"/>
          </a:p>
        </p:txBody>
      </p:sp>
      <p:sp>
        <p:nvSpPr>
          <p:cNvPr id="12" name="Text 10"/>
          <p:cNvSpPr/>
          <p:nvPr/>
        </p:nvSpPr>
        <p:spPr>
          <a:xfrm>
            <a:off x="2148840" y="1883664"/>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“Give Claude a role” (system prompt)</a:t>
            </a:r>
            <a:endParaRPr lang="en-US" sz="930" dirty="0"/>
          </a:p>
        </p:txBody>
      </p:sp>
      <p:sp>
        <p:nvSpPr>
          <p:cNvPr id="13" name="Text 11"/>
          <p:cNvSpPr/>
          <p:nvPr/>
        </p:nvSpPr>
        <p:spPr>
          <a:xfrm>
            <a:off x="4572000" y="1883664"/>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role / developer message</a:t>
            </a:r>
            <a:endParaRPr lang="en-US" sz="930" dirty="0"/>
          </a:p>
        </p:txBody>
      </p:sp>
      <p:sp>
        <p:nvSpPr>
          <p:cNvPr id="14" name="Text 12"/>
          <p:cNvSpPr/>
          <p:nvPr/>
        </p:nvSpPr>
        <p:spPr>
          <a:xfrm>
            <a:off x="6995160" y="1883664"/>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Persona</a:t>
            </a:r>
            <a:endParaRPr lang="en-US" sz="930" dirty="0"/>
          </a:p>
        </p:txBody>
      </p:sp>
      <p:sp>
        <p:nvSpPr>
          <p:cNvPr id="15" name="Text 13"/>
          <p:cNvSpPr/>
          <p:nvPr/>
        </p:nvSpPr>
        <p:spPr>
          <a:xfrm>
            <a:off x="9418320" y="1883664"/>
            <a:ext cx="210312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(part of Context)</a:t>
            </a:r>
            <a:endParaRPr lang="en-US" sz="930" dirty="0"/>
          </a:p>
        </p:txBody>
      </p:sp>
      <p:sp>
        <p:nvSpPr>
          <p:cNvPr id="16" name="Shape 14"/>
          <p:cNvSpPr/>
          <p:nvPr/>
        </p:nvSpPr>
        <p:spPr>
          <a:xfrm>
            <a:off x="502920" y="2542032"/>
            <a:ext cx="11155680" cy="621792"/>
          </a:xfrm>
          <a:prstGeom prst="roundRect">
            <a:avLst>
              <a:gd name="adj" fmla="val 11765"/>
            </a:avLst>
          </a:prstGeom>
          <a:solidFill>
            <a:srgbClr val="FFFFFF"/>
          </a:solidFill>
          <a:ln w="9525">
            <a:solidFill>
              <a:srgbClr val="DCE3E6"/>
            </a:solidFill>
            <a:prstDash val="solid"/>
          </a:ln>
        </p:spPr>
      </p:sp>
      <p:sp>
        <p:nvSpPr>
          <p:cNvPr id="17" name="Text 15"/>
          <p:cNvSpPr/>
          <p:nvPr/>
        </p:nvSpPr>
        <p:spPr>
          <a:xfrm>
            <a:off x="685800" y="2615184"/>
            <a:ext cx="1371600" cy="45720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Task</a:t>
            </a:r>
            <a:endParaRPr lang="en-US" sz="1350" dirty="0"/>
          </a:p>
        </p:txBody>
      </p:sp>
      <p:sp>
        <p:nvSpPr>
          <p:cNvPr id="18" name="Text 16"/>
          <p:cNvSpPr/>
          <p:nvPr/>
        </p:nvSpPr>
        <p:spPr>
          <a:xfrm>
            <a:off x="2148840" y="2596896"/>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“Be clear and direct”</a:t>
            </a:r>
            <a:endParaRPr lang="en-US" sz="930" dirty="0"/>
          </a:p>
        </p:txBody>
      </p:sp>
      <p:sp>
        <p:nvSpPr>
          <p:cNvPr id="19" name="Text 17"/>
          <p:cNvSpPr/>
          <p:nvPr/>
        </p:nvSpPr>
        <p:spPr>
          <a:xfrm>
            <a:off x="4572000" y="2596896"/>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“simple and direct” instructions</a:t>
            </a:r>
            <a:endParaRPr lang="en-US" sz="930" dirty="0"/>
          </a:p>
        </p:txBody>
      </p:sp>
      <p:sp>
        <p:nvSpPr>
          <p:cNvPr id="20" name="Text 18"/>
          <p:cNvSpPr/>
          <p:nvPr/>
        </p:nvSpPr>
        <p:spPr>
          <a:xfrm>
            <a:off x="6995160" y="2596896"/>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Task — “the most important component”</a:t>
            </a:r>
            <a:endParaRPr lang="en-US" sz="930" dirty="0"/>
          </a:p>
        </p:txBody>
      </p:sp>
      <p:sp>
        <p:nvSpPr>
          <p:cNvPr id="21" name="Text 19"/>
          <p:cNvSpPr/>
          <p:nvPr/>
        </p:nvSpPr>
        <p:spPr>
          <a:xfrm>
            <a:off x="9418320" y="2596896"/>
            <a:ext cx="210312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Goal — the only required part</a:t>
            </a:r>
            <a:endParaRPr lang="en-US" sz="930" dirty="0"/>
          </a:p>
        </p:txBody>
      </p:sp>
      <p:sp>
        <p:nvSpPr>
          <p:cNvPr id="22" name="Shape 20"/>
          <p:cNvSpPr/>
          <p:nvPr/>
        </p:nvSpPr>
        <p:spPr>
          <a:xfrm>
            <a:off x="502920" y="3255264"/>
            <a:ext cx="11155680" cy="621792"/>
          </a:xfrm>
          <a:prstGeom prst="roundRect">
            <a:avLst>
              <a:gd name="adj" fmla="val 11765"/>
            </a:avLst>
          </a:prstGeom>
          <a:solidFill>
            <a:srgbClr val="F2F5F6"/>
          </a:solidFill>
          <a:ln/>
        </p:spPr>
      </p:sp>
      <p:sp>
        <p:nvSpPr>
          <p:cNvPr id="23" name="Text 21"/>
          <p:cNvSpPr/>
          <p:nvPr/>
        </p:nvSpPr>
        <p:spPr>
          <a:xfrm>
            <a:off x="685800" y="3328416"/>
            <a:ext cx="1371600" cy="45720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Context</a:t>
            </a:r>
            <a:endParaRPr lang="en-US" sz="1350" dirty="0"/>
          </a:p>
        </p:txBody>
      </p:sp>
      <p:sp>
        <p:nvSpPr>
          <p:cNvPr id="24" name="Text 22"/>
          <p:cNvSpPr/>
          <p:nvPr/>
        </p:nvSpPr>
        <p:spPr>
          <a:xfrm>
            <a:off x="2148840" y="3310128"/>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“Add context — explain why”</a:t>
            </a:r>
            <a:endParaRPr lang="en-US" sz="930" dirty="0"/>
          </a:p>
        </p:txBody>
      </p:sp>
      <p:sp>
        <p:nvSpPr>
          <p:cNvPr id="25" name="Text 23"/>
          <p:cNvSpPr/>
          <p:nvPr/>
        </p:nvSpPr>
        <p:spPr>
          <a:xfrm>
            <a:off x="4572000" y="3310128"/>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context sections, delimiters</a:t>
            </a:r>
            <a:endParaRPr lang="en-US" sz="930" dirty="0"/>
          </a:p>
        </p:txBody>
      </p:sp>
      <p:sp>
        <p:nvSpPr>
          <p:cNvPr id="26" name="Text 24"/>
          <p:cNvSpPr/>
          <p:nvPr/>
        </p:nvSpPr>
        <p:spPr>
          <a:xfrm>
            <a:off x="6995160" y="3310128"/>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Context</a:t>
            </a:r>
            <a:endParaRPr lang="en-US" sz="930" dirty="0"/>
          </a:p>
        </p:txBody>
      </p:sp>
      <p:sp>
        <p:nvSpPr>
          <p:cNvPr id="27" name="Text 25"/>
          <p:cNvSpPr/>
          <p:nvPr/>
        </p:nvSpPr>
        <p:spPr>
          <a:xfrm>
            <a:off x="9418320" y="3310128"/>
            <a:ext cx="210312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Context + Source</a:t>
            </a:r>
            <a:endParaRPr lang="en-US" sz="930" dirty="0"/>
          </a:p>
        </p:txBody>
      </p:sp>
      <p:sp>
        <p:nvSpPr>
          <p:cNvPr id="28" name="Shape 26"/>
          <p:cNvSpPr/>
          <p:nvPr/>
        </p:nvSpPr>
        <p:spPr>
          <a:xfrm>
            <a:off x="502920" y="3968496"/>
            <a:ext cx="11155680" cy="621792"/>
          </a:xfrm>
          <a:prstGeom prst="roundRect">
            <a:avLst>
              <a:gd name="adj" fmla="val 11765"/>
            </a:avLst>
          </a:prstGeom>
          <a:solidFill>
            <a:srgbClr val="FFFFFF"/>
          </a:solidFill>
          <a:ln w="9525">
            <a:solidFill>
              <a:srgbClr val="DCE3E6"/>
            </a:solidFill>
            <a:prstDash val="solid"/>
          </a:ln>
        </p:spPr>
      </p:sp>
      <p:sp>
        <p:nvSpPr>
          <p:cNvPr id="29" name="Text 27"/>
          <p:cNvSpPr/>
          <p:nvPr/>
        </p:nvSpPr>
        <p:spPr>
          <a:xfrm>
            <a:off x="685800" y="4041648"/>
            <a:ext cx="1371600" cy="45720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Format</a:t>
            </a:r>
            <a:endParaRPr lang="en-US" sz="1350" dirty="0"/>
          </a:p>
        </p:txBody>
      </p:sp>
      <p:sp>
        <p:nvSpPr>
          <p:cNvPr id="30" name="Text 28"/>
          <p:cNvSpPr/>
          <p:nvPr/>
        </p:nvSpPr>
        <p:spPr>
          <a:xfrm>
            <a:off x="2148840" y="4023360"/>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format control, XML tags</a:t>
            </a:r>
            <a:endParaRPr lang="en-US" sz="930" dirty="0"/>
          </a:p>
        </p:txBody>
      </p:sp>
      <p:sp>
        <p:nvSpPr>
          <p:cNvPr id="31" name="Text 29"/>
          <p:cNvSpPr/>
          <p:nvPr/>
        </p:nvSpPr>
        <p:spPr>
          <a:xfrm>
            <a:off x="4572000" y="4023360"/>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format specs, verbosity</a:t>
            </a:r>
            <a:endParaRPr lang="en-US" sz="930" dirty="0"/>
          </a:p>
        </p:txBody>
      </p:sp>
      <p:sp>
        <p:nvSpPr>
          <p:cNvPr id="32" name="Text 30"/>
          <p:cNvSpPr/>
          <p:nvPr/>
        </p:nvSpPr>
        <p:spPr>
          <a:xfrm>
            <a:off x="6995160" y="4023360"/>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Format</a:t>
            </a:r>
            <a:endParaRPr lang="en-US" sz="930" dirty="0"/>
          </a:p>
        </p:txBody>
      </p:sp>
      <p:sp>
        <p:nvSpPr>
          <p:cNvPr id="33" name="Text 31"/>
          <p:cNvSpPr/>
          <p:nvPr/>
        </p:nvSpPr>
        <p:spPr>
          <a:xfrm>
            <a:off x="9418320" y="4023360"/>
            <a:ext cx="210312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Expectations</a:t>
            </a:r>
            <a:endParaRPr lang="en-US" sz="930" dirty="0"/>
          </a:p>
        </p:txBody>
      </p:sp>
      <p:sp>
        <p:nvSpPr>
          <p:cNvPr id="34" name="Shape 32"/>
          <p:cNvSpPr/>
          <p:nvPr/>
        </p:nvSpPr>
        <p:spPr>
          <a:xfrm>
            <a:off x="502920" y="4681728"/>
            <a:ext cx="11155680" cy="621792"/>
          </a:xfrm>
          <a:prstGeom prst="roundRect">
            <a:avLst>
              <a:gd name="adj" fmla="val 11765"/>
            </a:avLst>
          </a:prstGeom>
          <a:solidFill>
            <a:srgbClr val="F2F5F6"/>
          </a:solidFill>
          <a:ln/>
        </p:spPr>
      </p:sp>
      <p:sp>
        <p:nvSpPr>
          <p:cNvPr id="35" name="Text 33"/>
          <p:cNvSpPr/>
          <p:nvPr/>
        </p:nvSpPr>
        <p:spPr>
          <a:xfrm>
            <a:off x="685800" y="4754880"/>
            <a:ext cx="1371600" cy="45720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Examples</a:t>
            </a:r>
            <a:endParaRPr lang="en-US" sz="1350" dirty="0"/>
          </a:p>
        </p:txBody>
      </p:sp>
      <p:sp>
        <p:nvSpPr>
          <p:cNvPr id="36" name="Text 34"/>
          <p:cNvSpPr/>
          <p:nvPr/>
        </p:nvSpPr>
        <p:spPr>
          <a:xfrm>
            <a:off x="2148840" y="4736592"/>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3–5 diverse, tagged examples</a:t>
            </a:r>
            <a:endParaRPr lang="en-US" sz="930" dirty="0"/>
          </a:p>
        </p:txBody>
      </p:sp>
      <p:sp>
        <p:nvSpPr>
          <p:cNvPr id="37" name="Text 35"/>
          <p:cNvSpPr/>
          <p:nvPr/>
        </p:nvSpPr>
        <p:spPr>
          <a:xfrm>
            <a:off x="4572000" y="4736592"/>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“few-shot if needed”</a:t>
            </a:r>
            <a:endParaRPr lang="en-US" sz="930" dirty="0"/>
          </a:p>
        </p:txBody>
      </p:sp>
      <p:sp>
        <p:nvSpPr>
          <p:cNvPr id="38" name="Text 36"/>
          <p:cNvSpPr/>
          <p:nvPr/>
        </p:nvSpPr>
        <p:spPr>
          <a:xfrm>
            <a:off x="6995160" y="4736592"/>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(use your documents)</a:t>
            </a:r>
            <a:endParaRPr lang="en-US" sz="930" dirty="0"/>
          </a:p>
        </p:txBody>
      </p:sp>
      <p:sp>
        <p:nvSpPr>
          <p:cNvPr id="39" name="Text 37"/>
          <p:cNvSpPr/>
          <p:nvPr/>
        </p:nvSpPr>
        <p:spPr>
          <a:xfrm>
            <a:off x="9418320" y="4736592"/>
            <a:ext cx="210312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(iterate with follow-ups)</a:t>
            </a:r>
            <a:endParaRPr lang="en-US" sz="930" dirty="0"/>
          </a:p>
        </p:txBody>
      </p:sp>
      <p:sp>
        <p:nvSpPr>
          <p:cNvPr id="40" name="Shape 38"/>
          <p:cNvSpPr/>
          <p:nvPr/>
        </p:nvSpPr>
        <p:spPr>
          <a:xfrm>
            <a:off x="502920" y="5532120"/>
            <a:ext cx="11155680" cy="868680"/>
          </a:xfrm>
          <a:prstGeom prst="roundRect">
            <a:avLst>
              <a:gd name="adj" fmla="val 8421"/>
            </a:avLst>
          </a:prstGeom>
          <a:solidFill>
            <a:srgbClr val="E4F0EF"/>
          </a:solidFill>
          <a:ln/>
        </p:spPr>
      </p:sp>
      <p:sp>
        <p:nvSpPr>
          <p:cNvPr id="41" name="Shape 39"/>
          <p:cNvSpPr/>
          <p:nvPr/>
        </p:nvSpPr>
        <p:spPr>
          <a:xfrm>
            <a:off x="667512" y="5774436"/>
            <a:ext cx="384048" cy="384048"/>
          </a:xfrm>
          <a:prstGeom prst="ellipse">
            <a:avLst/>
          </a:prstGeom>
          <a:solidFill>
            <a:srgbClr val="0E7C7B"/>
          </a:solidFill>
          <a:ln/>
        </p:spPr>
      </p:sp>
      <p:pic>
        <p:nvPicPr>
          <p:cNvPr id="42" name="Image 0" descr="/home/user/Claude-Works/ai-training-prompt-engineering/src/assets/icons/edit_w.png">    </p:cNvPr>
          <p:cNvPicPr>
            <a:picLocks noChangeAspect="1"/>
          </p:cNvPicPr>
          <p:nvPr/>
        </p:nvPicPr>
        <p:blipFill>
          <a:blip r:embed="rId1"/>
          <a:stretch>
            <a:fillRect/>
          </a:stretch>
        </p:blipFill>
        <p:spPr>
          <a:xfrm>
            <a:off x="767364" y="5874288"/>
            <a:ext cx="184343" cy="184343"/>
          </a:xfrm>
          <a:prstGeom prst="rect">
            <a:avLst/>
          </a:prstGeom>
        </p:spPr>
      </p:pic>
      <p:sp>
        <p:nvSpPr>
          <p:cNvPr id="43" name="Text 40"/>
          <p:cNvSpPr/>
          <p:nvPr/>
        </p:nvSpPr>
        <p:spPr>
          <a:xfrm>
            <a:off x="1216152" y="5605272"/>
            <a:ext cx="10213848" cy="722376"/>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Google’s data point: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the most fruitful prompts averaged ~21 words with context — most people type fewer than nine. A good prompt is a short briefing, not a search query.</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TECHNIQUES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TOOLKIT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Seven techniques cover almost everything</a:t>
            </a:r>
            <a:endParaRPr lang="en-US" sz="3000" dirty="0"/>
          </a:p>
        </p:txBody>
      </p:sp>
      <p:sp>
        <p:nvSpPr>
          <p:cNvPr id="6" name="Shape 4"/>
          <p:cNvSpPr/>
          <p:nvPr/>
        </p:nvSpPr>
        <p:spPr>
          <a:xfrm>
            <a:off x="502920" y="1481328"/>
            <a:ext cx="5440680" cy="1060704"/>
          </a:xfrm>
          <a:prstGeom prst="roundRect">
            <a:avLst>
              <a:gd name="adj" fmla="val 6897"/>
            </a:avLst>
          </a:prstGeom>
          <a:solidFill>
            <a:srgbClr val="F2F5F6"/>
          </a:solidFill>
          <a:ln/>
        </p:spPr>
      </p:sp>
      <p:sp>
        <p:nvSpPr>
          <p:cNvPr id="7" name="Shape 5"/>
          <p:cNvSpPr/>
          <p:nvPr/>
        </p:nvSpPr>
        <p:spPr>
          <a:xfrm>
            <a:off x="667512" y="1764792"/>
            <a:ext cx="457200" cy="45720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786384" y="1883664"/>
            <a:ext cx="219456" cy="219456"/>
          </a:xfrm>
          <a:prstGeom prst="rect">
            <a:avLst/>
          </a:prstGeom>
        </p:spPr>
      </p:pic>
      <p:sp>
        <p:nvSpPr>
          <p:cNvPr id="9" name="Text 6"/>
          <p:cNvSpPr/>
          <p:nvPr/>
        </p:nvSpPr>
        <p:spPr>
          <a:xfrm>
            <a:off x="1252728" y="1545336"/>
            <a:ext cx="4572000" cy="932688"/>
          </a:xfrm>
          <a:prstGeom prst="rect">
            <a:avLst/>
          </a:prstGeom>
          <a:noFill/>
          <a:ln/>
        </p:spPr>
        <p:txBody>
          <a:bodyPr wrap="square" lIns="0" tIns="0" rIns="0" bIns="0" rtlCol="0" anchor="ctr"/>
          <a:lstStyle/>
          <a:p>
            <a:pPr indent="0" marL="0">
              <a:lnSpc>
                <a:spcPct val="103000"/>
              </a:lnSpc>
              <a:spcAft>
                <a:spcPts val="200"/>
              </a:spcAft>
              <a:buNone/>
            </a:pPr>
            <a:r>
              <a:rPr lang="en-US" sz="1200" b="1" dirty="0">
                <a:solidFill>
                  <a:srgbClr val="232A31"/>
                </a:solidFill>
                <a:latin typeface="Calibri" pitchFamily="34" charset="0"/>
                <a:ea typeface="Calibri" pitchFamily="34" charset="-122"/>
                <a:cs typeface="Calibri" pitchFamily="34" charset="-120"/>
              </a:rPr>
              <a:t>1 · Be specific — and say why</a:t>
            </a:r>
            <a:endParaRPr lang="en-US" sz="12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Name the audience, length, constraints. Explaining the reason behind a rule (“this will be read aloud, so no ellipses”) measurably improves compliance.</a:t>
            </a:r>
            <a:endParaRPr lang="en-US" sz="1200" dirty="0"/>
          </a:p>
        </p:txBody>
      </p:sp>
      <p:sp>
        <p:nvSpPr>
          <p:cNvPr id="10" name="Shape 7"/>
          <p:cNvSpPr/>
          <p:nvPr/>
        </p:nvSpPr>
        <p:spPr>
          <a:xfrm>
            <a:off x="6172200" y="1481328"/>
            <a:ext cx="5440680" cy="1060704"/>
          </a:xfrm>
          <a:prstGeom prst="roundRect">
            <a:avLst>
              <a:gd name="adj" fmla="val 6897"/>
            </a:avLst>
          </a:prstGeom>
          <a:solidFill>
            <a:srgbClr val="F2F5F6"/>
          </a:solidFill>
          <a:ln/>
        </p:spPr>
      </p:sp>
      <p:sp>
        <p:nvSpPr>
          <p:cNvPr id="11" name="Shape 8"/>
          <p:cNvSpPr/>
          <p:nvPr/>
        </p:nvSpPr>
        <p:spPr>
          <a:xfrm>
            <a:off x="6336792" y="1764792"/>
            <a:ext cx="457200" cy="457200"/>
          </a:xfrm>
          <a:prstGeom prst="ellipse">
            <a:avLst/>
          </a:prstGeom>
          <a:solidFill>
            <a:srgbClr val="0E7C7B"/>
          </a:solidFill>
          <a:ln/>
        </p:spPr>
      </p:sp>
      <p:pic>
        <p:nvPicPr>
          <p:cNvPr id="12" name="Image 1" descr="/home/user/Claude-Works/ai-training-prompt-engineering/src/assets/icons/copy_w.png">    </p:cNvPr>
          <p:cNvPicPr>
            <a:picLocks noChangeAspect="1"/>
          </p:cNvPicPr>
          <p:nvPr/>
        </p:nvPicPr>
        <p:blipFill>
          <a:blip r:embed="rId2"/>
          <a:stretch>
            <a:fillRect/>
          </a:stretch>
        </p:blipFill>
        <p:spPr>
          <a:xfrm>
            <a:off x="6455664" y="1883664"/>
            <a:ext cx="219456" cy="219456"/>
          </a:xfrm>
          <a:prstGeom prst="rect">
            <a:avLst/>
          </a:prstGeom>
        </p:spPr>
      </p:pic>
      <p:sp>
        <p:nvSpPr>
          <p:cNvPr id="13" name="Text 9"/>
          <p:cNvSpPr/>
          <p:nvPr/>
        </p:nvSpPr>
        <p:spPr>
          <a:xfrm>
            <a:off x="6922008" y="1545336"/>
            <a:ext cx="4572000" cy="932688"/>
          </a:xfrm>
          <a:prstGeom prst="rect">
            <a:avLst/>
          </a:prstGeom>
          <a:noFill/>
          <a:ln/>
        </p:spPr>
        <p:txBody>
          <a:bodyPr wrap="square" lIns="0" tIns="0" rIns="0" bIns="0" rtlCol="0" anchor="ctr"/>
          <a:lstStyle/>
          <a:p>
            <a:pPr indent="0" marL="0">
              <a:lnSpc>
                <a:spcPct val="103000"/>
              </a:lnSpc>
              <a:spcAft>
                <a:spcPts val="200"/>
              </a:spcAft>
              <a:buNone/>
            </a:pPr>
            <a:r>
              <a:rPr lang="en-US" sz="1200" b="1" dirty="0">
                <a:solidFill>
                  <a:srgbClr val="232A31"/>
                </a:solidFill>
                <a:latin typeface="Calibri" pitchFamily="34" charset="0"/>
                <a:ea typeface="Calibri" pitchFamily="34" charset="-122"/>
                <a:cs typeface="Calibri" pitchFamily="34" charset="-120"/>
              </a:rPr>
              <a:t>2 · Show 3–5 examples</a:t>
            </a:r>
            <a:endParaRPr lang="en-US" sz="12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The most reliable way to control format, tone, and structure. Make them diverse and realistic — the model imitates what it sees.</a:t>
            </a:r>
            <a:endParaRPr lang="en-US" sz="1200" dirty="0"/>
          </a:p>
        </p:txBody>
      </p:sp>
      <p:sp>
        <p:nvSpPr>
          <p:cNvPr id="14" name="Shape 10"/>
          <p:cNvSpPr/>
          <p:nvPr/>
        </p:nvSpPr>
        <p:spPr>
          <a:xfrm>
            <a:off x="502920" y="2651760"/>
            <a:ext cx="5440680" cy="1060704"/>
          </a:xfrm>
          <a:prstGeom prst="roundRect">
            <a:avLst>
              <a:gd name="adj" fmla="val 6897"/>
            </a:avLst>
          </a:prstGeom>
          <a:solidFill>
            <a:srgbClr val="F2F5F6"/>
          </a:solidFill>
          <a:ln/>
        </p:spPr>
      </p:sp>
      <p:sp>
        <p:nvSpPr>
          <p:cNvPr id="15" name="Shape 11"/>
          <p:cNvSpPr/>
          <p:nvPr/>
        </p:nvSpPr>
        <p:spPr>
          <a:xfrm>
            <a:off x="667512" y="2935224"/>
            <a:ext cx="457200" cy="457200"/>
          </a:xfrm>
          <a:prstGeom prst="ellipse">
            <a:avLst/>
          </a:prstGeom>
          <a:solidFill>
            <a:srgbClr val="0E7C7B"/>
          </a:solidFill>
          <a:ln/>
        </p:spPr>
      </p:sp>
      <p:pic>
        <p:nvPicPr>
          <p:cNvPr id="16" name="Image 2" descr="/home/user/Claude-Works/ai-training-prompt-engineering/src/assets/icons/layers_w.png">    </p:cNvPr>
          <p:cNvPicPr>
            <a:picLocks noChangeAspect="1"/>
          </p:cNvPicPr>
          <p:nvPr/>
        </p:nvPicPr>
        <p:blipFill>
          <a:blip r:embed="rId3"/>
          <a:stretch>
            <a:fillRect/>
          </a:stretch>
        </p:blipFill>
        <p:spPr>
          <a:xfrm>
            <a:off x="786384" y="3054096"/>
            <a:ext cx="219456" cy="219456"/>
          </a:xfrm>
          <a:prstGeom prst="rect">
            <a:avLst/>
          </a:prstGeom>
        </p:spPr>
      </p:pic>
      <p:sp>
        <p:nvSpPr>
          <p:cNvPr id="17" name="Text 12"/>
          <p:cNvSpPr/>
          <p:nvPr/>
        </p:nvSpPr>
        <p:spPr>
          <a:xfrm>
            <a:off x="1252728" y="2715768"/>
            <a:ext cx="4572000" cy="932688"/>
          </a:xfrm>
          <a:prstGeom prst="rect">
            <a:avLst/>
          </a:prstGeom>
          <a:noFill/>
          <a:ln/>
        </p:spPr>
        <p:txBody>
          <a:bodyPr wrap="square" lIns="0" tIns="0" rIns="0" bIns="0" rtlCol="0" anchor="ctr"/>
          <a:lstStyle/>
          <a:p>
            <a:pPr indent="0" marL="0">
              <a:lnSpc>
                <a:spcPct val="103000"/>
              </a:lnSpc>
              <a:spcAft>
                <a:spcPts val="200"/>
              </a:spcAft>
              <a:buNone/>
            </a:pPr>
            <a:r>
              <a:rPr lang="en-US" sz="1200" b="1" dirty="0">
                <a:solidFill>
                  <a:srgbClr val="232A31"/>
                </a:solidFill>
                <a:latin typeface="Calibri" pitchFamily="34" charset="0"/>
                <a:ea typeface="Calibri" pitchFamily="34" charset="-122"/>
                <a:cs typeface="Calibri" pitchFamily="34" charset="-120"/>
              </a:rPr>
              <a:t>3 · Structure with tags</a:t>
            </a:r>
            <a:endParaRPr lang="en-US" sz="12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Separate instructions / context / input with XML tags or headers. Unambiguous parsing; survives copy-paste into any tool.</a:t>
            </a:r>
            <a:endParaRPr lang="en-US" sz="1200" dirty="0"/>
          </a:p>
        </p:txBody>
      </p:sp>
      <p:sp>
        <p:nvSpPr>
          <p:cNvPr id="18" name="Shape 13"/>
          <p:cNvSpPr/>
          <p:nvPr/>
        </p:nvSpPr>
        <p:spPr>
          <a:xfrm>
            <a:off x="6172200" y="2651760"/>
            <a:ext cx="5440680" cy="1060704"/>
          </a:xfrm>
          <a:prstGeom prst="roundRect">
            <a:avLst>
              <a:gd name="adj" fmla="val 6897"/>
            </a:avLst>
          </a:prstGeom>
          <a:solidFill>
            <a:srgbClr val="F2F5F6"/>
          </a:solidFill>
          <a:ln/>
        </p:spPr>
      </p:sp>
      <p:sp>
        <p:nvSpPr>
          <p:cNvPr id="19" name="Shape 14"/>
          <p:cNvSpPr/>
          <p:nvPr/>
        </p:nvSpPr>
        <p:spPr>
          <a:xfrm>
            <a:off x="6336792" y="2935224"/>
            <a:ext cx="457200" cy="457200"/>
          </a:xfrm>
          <a:prstGeom prst="ellipse">
            <a:avLst/>
          </a:prstGeom>
          <a:solidFill>
            <a:srgbClr val="0E7C7B"/>
          </a:solidFill>
          <a:ln/>
        </p:spPr>
      </p:sp>
      <p:pic>
        <p:nvPicPr>
          <p:cNvPr id="20" name="Image 3" descr="/home/user/Claude-Works/ai-training-prompt-engineering/src/assets/icons/help_w.png">    </p:cNvPr>
          <p:cNvPicPr>
            <a:picLocks noChangeAspect="1"/>
          </p:cNvPicPr>
          <p:nvPr/>
        </p:nvPicPr>
        <p:blipFill>
          <a:blip r:embed="rId4"/>
          <a:stretch>
            <a:fillRect/>
          </a:stretch>
        </p:blipFill>
        <p:spPr>
          <a:xfrm>
            <a:off x="6455664" y="3054096"/>
            <a:ext cx="219456" cy="219456"/>
          </a:xfrm>
          <a:prstGeom prst="rect">
            <a:avLst/>
          </a:prstGeom>
        </p:spPr>
      </p:pic>
      <p:sp>
        <p:nvSpPr>
          <p:cNvPr id="21" name="Text 15"/>
          <p:cNvSpPr/>
          <p:nvPr/>
        </p:nvSpPr>
        <p:spPr>
          <a:xfrm>
            <a:off x="6922008" y="2715768"/>
            <a:ext cx="4572000" cy="932688"/>
          </a:xfrm>
          <a:prstGeom prst="rect">
            <a:avLst/>
          </a:prstGeom>
          <a:noFill/>
          <a:ln/>
        </p:spPr>
        <p:txBody>
          <a:bodyPr wrap="square" lIns="0" tIns="0" rIns="0" bIns="0" rtlCol="0" anchor="ctr"/>
          <a:lstStyle/>
          <a:p>
            <a:pPr indent="0" marL="0">
              <a:lnSpc>
                <a:spcPct val="103000"/>
              </a:lnSpc>
              <a:spcAft>
                <a:spcPts val="200"/>
              </a:spcAft>
              <a:buNone/>
            </a:pPr>
            <a:r>
              <a:rPr lang="en-US" sz="1200" b="1" dirty="0">
                <a:solidFill>
                  <a:srgbClr val="232A31"/>
                </a:solidFill>
                <a:latin typeface="Calibri" pitchFamily="34" charset="0"/>
                <a:ea typeface="Calibri" pitchFamily="34" charset="-122"/>
                <a:cs typeface="Calibri" pitchFamily="34" charset="-120"/>
              </a:rPr>
              <a:t>4 · Give it an out</a:t>
            </a:r>
            <a:endParaRPr lang="en-US" sz="12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“If the document doesn’t say, say so.” Permission to admit uncertainty drastically cuts invented answers.</a:t>
            </a:r>
            <a:endParaRPr lang="en-US" sz="1200" dirty="0"/>
          </a:p>
        </p:txBody>
      </p:sp>
      <p:sp>
        <p:nvSpPr>
          <p:cNvPr id="22" name="Shape 16"/>
          <p:cNvSpPr/>
          <p:nvPr/>
        </p:nvSpPr>
        <p:spPr>
          <a:xfrm>
            <a:off x="502920" y="3822192"/>
            <a:ext cx="5440680" cy="1060704"/>
          </a:xfrm>
          <a:prstGeom prst="roundRect">
            <a:avLst>
              <a:gd name="adj" fmla="val 6897"/>
            </a:avLst>
          </a:prstGeom>
          <a:solidFill>
            <a:srgbClr val="F2F5F6"/>
          </a:solidFill>
          <a:ln/>
        </p:spPr>
      </p:sp>
      <p:sp>
        <p:nvSpPr>
          <p:cNvPr id="23" name="Shape 17"/>
          <p:cNvSpPr/>
          <p:nvPr/>
        </p:nvSpPr>
        <p:spPr>
          <a:xfrm>
            <a:off x="667512" y="4105656"/>
            <a:ext cx="457200" cy="457200"/>
          </a:xfrm>
          <a:prstGeom prst="ellipse">
            <a:avLst/>
          </a:prstGeom>
          <a:solidFill>
            <a:srgbClr val="0E7C7B"/>
          </a:solidFill>
          <a:ln/>
        </p:spPr>
      </p:sp>
      <p:pic>
        <p:nvPicPr>
          <p:cNvPr id="24" name="Image 4" descr="/home/user/Claude-Works/ai-training-prompt-engineering/src/assets/icons/branch_w.png">    </p:cNvPr>
          <p:cNvPicPr>
            <a:picLocks noChangeAspect="1"/>
          </p:cNvPicPr>
          <p:nvPr/>
        </p:nvPicPr>
        <p:blipFill>
          <a:blip r:embed="rId5"/>
          <a:stretch>
            <a:fillRect/>
          </a:stretch>
        </p:blipFill>
        <p:spPr>
          <a:xfrm>
            <a:off x="786384" y="4224528"/>
            <a:ext cx="219456" cy="219456"/>
          </a:xfrm>
          <a:prstGeom prst="rect">
            <a:avLst/>
          </a:prstGeom>
        </p:spPr>
      </p:pic>
      <p:sp>
        <p:nvSpPr>
          <p:cNvPr id="25" name="Text 18"/>
          <p:cNvSpPr/>
          <p:nvPr/>
        </p:nvSpPr>
        <p:spPr>
          <a:xfrm>
            <a:off x="1252728" y="3886200"/>
            <a:ext cx="4572000" cy="932688"/>
          </a:xfrm>
          <a:prstGeom prst="rect">
            <a:avLst/>
          </a:prstGeom>
          <a:noFill/>
          <a:ln/>
        </p:spPr>
        <p:txBody>
          <a:bodyPr wrap="square" lIns="0" tIns="0" rIns="0" bIns="0" rtlCol="0" anchor="ctr"/>
          <a:lstStyle/>
          <a:p>
            <a:pPr indent="0" marL="0">
              <a:lnSpc>
                <a:spcPct val="103000"/>
              </a:lnSpc>
              <a:spcAft>
                <a:spcPts val="200"/>
              </a:spcAft>
              <a:buNone/>
            </a:pPr>
            <a:r>
              <a:rPr lang="en-US" sz="1200" b="1" dirty="0">
                <a:solidFill>
                  <a:srgbClr val="232A31"/>
                </a:solidFill>
                <a:latin typeface="Calibri" pitchFamily="34" charset="0"/>
                <a:ea typeface="Calibri" pitchFamily="34" charset="-122"/>
                <a:cs typeface="Calibri" pitchFamily="34" charset="-120"/>
              </a:rPr>
              <a:t>5 · Chain the work</a:t>
            </a:r>
            <a:endParaRPr lang="en-US" sz="12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Big job → sequential prompts: draft → review against criteria → refine. You get inspectable intermediates — an audit trail.</a:t>
            </a:r>
            <a:endParaRPr lang="en-US" sz="1200" dirty="0"/>
          </a:p>
        </p:txBody>
      </p:sp>
      <p:sp>
        <p:nvSpPr>
          <p:cNvPr id="26" name="Shape 19"/>
          <p:cNvSpPr/>
          <p:nvPr/>
        </p:nvSpPr>
        <p:spPr>
          <a:xfrm>
            <a:off x="6172200" y="3822192"/>
            <a:ext cx="5440680" cy="1060704"/>
          </a:xfrm>
          <a:prstGeom prst="roundRect">
            <a:avLst>
              <a:gd name="adj" fmla="val 6897"/>
            </a:avLst>
          </a:prstGeom>
          <a:solidFill>
            <a:srgbClr val="F2F5F6"/>
          </a:solidFill>
          <a:ln/>
        </p:spPr>
      </p:sp>
      <p:sp>
        <p:nvSpPr>
          <p:cNvPr id="27" name="Shape 20"/>
          <p:cNvSpPr/>
          <p:nvPr/>
        </p:nvSpPr>
        <p:spPr>
          <a:xfrm>
            <a:off x="6336792" y="4105656"/>
            <a:ext cx="457200" cy="457200"/>
          </a:xfrm>
          <a:prstGeom prst="ellipse">
            <a:avLst/>
          </a:prstGeom>
          <a:solidFill>
            <a:srgbClr val="0E7C7B"/>
          </a:solidFill>
          <a:ln/>
        </p:spPr>
      </p:sp>
      <p:pic>
        <p:nvPicPr>
          <p:cNvPr id="28" name="Image 5" descr="/home/user/Claude-Works/ai-training-prompt-engineering/src/assets/icons/eye_w.png">    </p:cNvPr>
          <p:cNvPicPr>
            <a:picLocks noChangeAspect="1"/>
          </p:cNvPicPr>
          <p:nvPr/>
        </p:nvPicPr>
        <p:blipFill>
          <a:blip r:embed="rId6"/>
          <a:stretch>
            <a:fillRect/>
          </a:stretch>
        </p:blipFill>
        <p:spPr>
          <a:xfrm>
            <a:off x="6455664" y="4224528"/>
            <a:ext cx="219456" cy="219456"/>
          </a:xfrm>
          <a:prstGeom prst="rect">
            <a:avLst/>
          </a:prstGeom>
        </p:spPr>
      </p:pic>
      <p:sp>
        <p:nvSpPr>
          <p:cNvPr id="29" name="Text 21"/>
          <p:cNvSpPr/>
          <p:nvPr/>
        </p:nvSpPr>
        <p:spPr>
          <a:xfrm>
            <a:off x="6922008" y="3886200"/>
            <a:ext cx="4572000" cy="932688"/>
          </a:xfrm>
          <a:prstGeom prst="rect">
            <a:avLst/>
          </a:prstGeom>
          <a:noFill/>
          <a:ln/>
        </p:spPr>
        <p:txBody>
          <a:bodyPr wrap="square" lIns="0" tIns="0" rIns="0" bIns="0" rtlCol="0" anchor="ctr"/>
          <a:lstStyle/>
          <a:p>
            <a:pPr indent="0" marL="0">
              <a:lnSpc>
                <a:spcPct val="103000"/>
              </a:lnSpc>
              <a:spcAft>
                <a:spcPts val="200"/>
              </a:spcAft>
              <a:buNone/>
            </a:pPr>
            <a:r>
              <a:rPr lang="en-US" sz="1200" b="1" dirty="0">
                <a:solidFill>
                  <a:srgbClr val="232A31"/>
                </a:solidFill>
                <a:latin typeface="Calibri" pitchFamily="34" charset="0"/>
                <a:ea typeface="Calibri" pitchFamily="34" charset="-122"/>
                <a:cs typeface="Calibri" pitchFamily="34" charset="-120"/>
              </a:rPr>
              <a:t>6 · Self-check against criteria</a:t>
            </a:r>
            <a:endParaRPr lang="en-US" sz="12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“Before finishing, verify against [checklist].” Works when criteria are concrete; “are you sure?” alone doesn’t.</a:t>
            </a:r>
            <a:endParaRPr lang="en-US" sz="1200" dirty="0"/>
          </a:p>
        </p:txBody>
      </p:sp>
      <p:sp>
        <p:nvSpPr>
          <p:cNvPr id="30" name="Shape 22"/>
          <p:cNvSpPr/>
          <p:nvPr/>
        </p:nvSpPr>
        <p:spPr>
          <a:xfrm>
            <a:off x="502920" y="4992624"/>
            <a:ext cx="5440680" cy="1060704"/>
          </a:xfrm>
          <a:prstGeom prst="roundRect">
            <a:avLst>
              <a:gd name="adj" fmla="val 6897"/>
            </a:avLst>
          </a:prstGeom>
          <a:solidFill>
            <a:srgbClr val="F2F5F6"/>
          </a:solidFill>
          <a:ln/>
        </p:spPr>
      </p:sp>
      <p:sp>
        <p:nvSpPr>
          <p:cNvPr id="31" name="Shape 23"/>
          <p:cNvSpPr/>
          <p:nvPr/>
        </p:nvSpPr>
        <p:spPr>
          <a:xfrm>
            <a:off x="667512" y="5276088"/>
            <a:ext cx="457200" cy="457200"/>
          </a:xfrm>
          <a:prstGeom prst="ellipse">
            <a:avLst/>
          </a:prstGeom>
          <a:solidFill>
            <a:srgbClr val="0E7C7B"/>
          </a:solidFill>
          <a:ln/>
        </p:spPr>
      </p:sp>
      <p:pic>
        <p:nvPicPr>
          <p:cNvPr id="32" name="Image 6" descr="/home/user/Claude-Works/ai-training-prompt-engineering/src/assets/icons/zap_w.png">    </p:cNvPr>
          <p:cNvPicPr>
            <a:picLocks noChangeAspect="1"/>
          </p:cNvPicPr>
          <p:nvPr/>
        </p:nvPicPr>
        <p:blipFill>
          <a:blip r:embed="rId7"/>
          <a:stretch>
            <a:fillRect/>
          </a:stretch>
        </p:blipFill>
        <p:spPr>
          <a:xfrm>
            <a:off x="786384" y="5394960"/>
            <a:ext cx="219456" cy="219456"/>
          </a:xfrm>
          <a:prstGeom prst="rect">
            <a:avLst/>
          </a:prstGeom>
        </p:spPr>
      </p:pic>
      <p:sp>
        <p:nvSpPr>
          <p:cNvPr id="33" name="Text 24"/>
          <p:cNvSpPr/>
          <p:nvPr/>
        </p:nvSpPr>
        <p:spPr>
          <a:xfrm>
            <a:off x="1252728" y="5056632"/>
            <a:ext cx="4572000" cy="932688"/>
          </a:xfrm>
          <a:prstGeom prst="rect">
            <a:avLst/>
          </a:prstGeom>
          <a:noFill/>
          <a:ln/>
        </p:spPr>
        <p:txBody>
          <a:bodyPr wrap="square" lIns="0" tIns="0" rIns="0" bIns="0" rtlCol="0" anchor="ctr"/>
          <a:lstStyle/>
          <a:p>
            <a:pPr indent="0" marL="0">
              <a:lnSpc>
                <a:spcPct val="103000"/>
              </a:lnSpc>
              <a:spcAft>
                <a:spcPts val="200"/>
              </a:spcAft>
              <a:buNone/>
            </a:pPr>
            <a:r>
              <a:rPr lang="en-US" sz="1200" b="1" dirty="0">
                <a:solidFill>
                  <a:srgbClr val="232A31"/>
                </a:solidFill>
                <a:latin typeface="Calibri" pitchFamily="34" charset="0"/>
                <a:ea typeface="Calibri" pitchFamily="34" charset="-122"/>
                <a:cs typeface="Calibri" pitchFamily="34" charset="-120"/>
              </a:rPr>
              <a:t>7 · Metaprompting</a:t>
            </a:r>
            <a:endParaRPr lang="en-US" sz="12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Ask the model to improve your prompt: “What should I add or delete to get X more consistently?” Official practice at OpenAI, Anthropic, and Google.</a:t>
            </a:r>
            <a:endParaRPr lang="en-US" sz="1200" dirty="0"/>
          </a:p>
        </p:txBody>
      </p:sp>
      <p:sp>
        <p:nvSpPr>
          <p:cNvPr id="34" name="Shape 25"/>
          <p:cNvSpPr/>
          <p:nvPr/>
        </p:nvSpPr>
        <p:spPr>
          <a:xfrm>
            <a:off x="6172200" y="5029200"/>
            <a:ext cx="5486400" cy="1051560"/>
          </a:xfrm>
          <a:prstGeom prst="roundRect">
            <a:avLst>
              <a:gd name="adj" fmla="val 6957"/>
            </a:avLst>
          </a:prstGeom>
          <a:solidFill>
            <a:srgbClr val="FBF0E0"/>
          </a:solidFill>
          <a:ln/>
        </p:spPr>
      </p:sp>
      <p:sp>
        <p:nvSpPr>
          <p:cNvPr id="35" name="Shape 26"/>
          <p:cNvSpPr/>
          <p:nvPr/>
        </p:nvSpPr>
        <p:spPr>
          <a:xfrm>
            <a:off x="6336792" y="5362956"/>
            <a:ext cx="384048" cy="384048"/>
          </a:xfrm>
          <a:prstGeom prst="ellipse">
            <a:avLst/>
          </a:prstGeom>
          <a:solidFill>
            <a:srgbClr val="B96A1B"/>
          </a:solidFill>
          <a:ln/>
        </p:spPr>
      </p:sp>
      <p:pic>
        <p:nvPicPr>
          <p:cNvPr id="36" name="Image 7" descr="/home/user/Claude-Works/ai-training-prompt-engineering/src/assets/icons/clock_w.png">    </p:cNvPr>
          <p:cNvPicPr>
            <a:picLocks noChangeAspect="1"/>
          </p:cNvPicPr>
          <p:nvPr/>
        </p:nvPicPr>
        <p:blipFill>
          <a:blip r:embed="rId8"/>
          <a:stretch>
            <a:fillRect/>
          </a:stretch>
        </p:blipFill>
        <p:spPr>
          <a:xfrm>
            <a:off x="6436644" y="5462808"/>
            <a:ext cx="184343" cy="184343"/>
          </a:xfrm>
          <a:prstGeom prst="rect">
            <a:avLst/>
          </a:prstGeom>
        </p:spPr>
      </p:pic>
      <p:sp>
        <p:nvSpPr>
          <p:cNvPr id="37" name="Text 27"/>
          <p:cNvSpPr/>
          <p:nvPr/>
        </p:nvSpPr>
        <p:spPr>
          <a:xfrm>
            <a:off x="6885432" y="5102352"/>
            <a:ext cx="4544568" cy="905256"/>
          </a:xfrm>
          <a:prstGeom prst="rect">
            <a:avLst/>
          </a:prstGeom>
          <a:noFill/>
          <a:ln/>
        </p:spPr>
        <p:txBody>
          <a:bodyPr wrap="square" lIns="0" tIns="0" rIns="0" bIns="0" rtlCol="0" anchor="ctr"/>
          <a:lstStyle/>
          <a:p>
            <a:pPr indent="0" marL="0">
              <a:lnSpc>
                <a:spcPct val="106000"/>
              </a:lnSpc>
              <a:buNone/>
            </a:pPr>
            <a:r>
              <a:rPr lang="en-US" sz="1150" b="1" dirty="0">
                <a:solidFill>
                  <a:srgbClr val="232A31"/>
                </a:solidFill>
                <a:latin typeface="Calibri" pitchFamily="34" charset="0"/>
                <a:ea typeface="Calibri" pitchFamily="34" charset="-122"/>
                <a:cs typeface="Calibri" pitchFamily="34" charset="-120"/>
              </a:rPr>
              <a:t>Where’s “think step by step”?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Retired to the bench — today’s models reason by default. The 2026 version is slide 25.</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WHAT THE EVIDENCE SAYS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EVIDENCE CORNER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What works, what’s myth — and the bias to design against</a:t>
            </a:r>
            <a:endParaRPr lang="en-US" sz="3000" dirty="0"/>
          </a:p>
        </p:txBody>
      </p:sp>
      <p:sp>
        <p:nvSpPr>
          <p:cNvPr id="6" name="Shape 4"/>
          <p:cNvSpPr/>
          <p:nvPr/>
        </p:nvSpPr>
        <p:spPr>
          <a:xfrm>
            <a:off x="502920" y="1508760"/>
            <a:ext cx="5486400" cy="2377440"/>
          </a:xfrm>
          <a:prstGeom prst="roundRect">
            <a:avLst>
              <a:gd name="adj" fmla="val 3077"/>
            </a:avLst>
          </a:prstGeom>
          <a:solidFill>
            <a:srgbClr val="E7F2EC"/>
          </a:solidFill>
          <a:ln/>
        </p:spPr>
      </p:sp>
      <p:sp>
        <p:nvSpPr>
          <p:cNvPr id="7" name="Shape 5"/>
          <p:cNvSpPr/>
          <p:nvPr/>
        </p:nvSpPr>
        <p:spPr>
          <a:xfrm>
            <a:off x="777240" y="1737360"/>
            <a:ext cx="457200" cy="457200"/>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896112" y="1856232"/>
            <a:ext cx="219456" cy="219456"/>
          </a:xfrm>
          <a:prstGeom prst="rect">
            <a:avLst/>
          </a:prstGeom>
        </p:spPr>
      </p:pic>
      <p:sp>
        <p:nvSpPr>
          <p:cNvPr id="9" name="Text 6"/>
          <p:cNvSpPr/>
          <p:nvPr/>
        </p:nvSpPr>
        <p:spPr>
          <a:xfrm>
            <a:off x="1371600" y="1783080"/>
            <a:ext cx="40233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Holds up</a:t>
            </a:r>
            <a:endParaRPr lang="en-US" sz="1500" dirty="0"/>
          </a:p>
        </p:txBody>
      </p:sp>
      <p:sp>
        <p:nvSpPr>
          <p:cNvPr id="10" name="Text 7"/>
          <p:cNvSpPr/>
          <p:nvPr/>
        </p:nvSpPr>
        <p:spPr>
          <a:xfrm>
            <a:off x="822960" y="2286000"/>
            <a:ext cx="4937760" cy="155448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Specificity, context, and examples — every vendor, every study</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Structure: tiny format changes swing accuracy by up to 76 points across phrasings — templates beat improvisation</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Personas shape tone and framing (what they’re for) …</a:t>
            </a:r>
            <a:endParaRPr lang="en-US" sz="1150" dirty="0"/>
          </a:p>
        </p:txBody>
      </p:sp>
      <p:sp>
        <p:nvSpPr>
          <p:cNvPr id="11" name="Shape 8"/>
          <p:cNvSpPr/>
          <p:nvPr/>
        </p:nvSpPr>
        <p:spPr>
          <a:xfrm>
            <a:off x="502920" y="4069080"/>
            <a:ext cx="5486400" cy="2011680"/>
          </a:xfrm>
          <a:prstGeom prst="roundRect">
            <a:avLst>
              <a:gd name="adj" fmla="val 3636"/>
            </a:avLst>
          </a:prstGeom>
          <a:solidFill>
            <a:srgbClr val="F9E9E8"/>
          </a:solidFill>
          <a:ln/>
        </p:spPr>
      </p:sp>
      <p:sp>
        <p:nvSpPr>
          <p:cNvPr id="12" name="Shape 9"/>
          <p:cNvSpPr/>
          <p:nvPr/>
        </p:nvSpPr>
        <p:spPr>
          <a:xfrm>
            <a:off x="777240" y="4279392"/>
            <a:ext cx="457200" cy="457200"/>
          </a:xfrm>
          <a:prstGeom prst="ellipse">
            <a:avLst/>
          </a:prstGeom>
          <a:solidFill>
            <a:srgbClr val="AF3230"/>
          </a:solidFill>
          <a:ln/>
        </p:spPr>
      </p:sp>
      <p:pic>
        <p:nvPicPr>
          <p:cNvPr id="13" name="Image 1" descr="/home/user/Claude-Works/ai-training-prompt-engineering/src/assets/icons/x_w.png">    </p:cNvPr>
          <p:cNvPicPr>
            <a:picLocks noChangeAspect="1"/>
          </p:cNvPicPr>
          <p:nvPr/>
        </p:nvPicPr>
        <p:blipFill>
          <a:blip r:embed="rId2"/>
          <a:stretch>
            <a:fillRect/>
          </a:stretch>
        </p:blipFill>
        <p:spPr>
          <a:xfrm>
            <a:off x="896112" y="4398264"/>
            <a:ext cx="219456" cy="219456"/>
          </a:xfrm>
          <a:prstGeom prst="rect">
            <a:avLst/>
          </a:prstGeom>
        </p:spPr>
      </p:pic>
      <p:sp>
        <p:nvSpPr>
          <p:cNvPr id="14" name="Text 10"/>
          <p:cNvSpPr/>
          <p:nvPr/>
        </p:nvSpPr>
        <p:spPr>
          <a:xfrm>
            <a:off x="1371600" y="4315968"/>
            <a:ext cx="40233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Doesn’t hold up</a:t>
            </a:r>
            <a:endParaRPr lang="en-US" sz="1500" dirty="0"/>
          </a:p>
        </p:txBody>
      </p:sp>
      <p:sp>
        <p:nvSpPr>
          <p:cNvPr id="15" name="Text 11"/>
          <p:cNvSpPr/>
          <p:nvPr/>
        </p:nvSpPr>
        <p:spPr>
          <a:xfrm>
            <a:off x="822960" y="4800600"/>
            <a:ext cx="4937760" cy="118872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 but “you are a genius” doesn’t improve factual accuracy (162-persona study: no gain)</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Tips, threats, politeness games: “even tipping a lavish $1000” didn’t change accuracy — small, unstable effects at best</a:t>
            </a:r>
            <a:endParaRPr lang="en-US" sz="1150" dirty="0"/>
          </a:p>
        </p:txBody>
      </p:sp>
      <p:sp>
        <p:nvSpPr>
          <p:cNvPr id="16" name="Shape 12"/>
          <p:cNvSpPr/>
          <p:nvPr/>
        </p:nvSpPr>
        <p:spPr>
          <a:xfrm>
            <a:off x="6172200" y="1508760"/>
            <a:ext cx="5486400" cy="4572000"/>
          </a:xfrm>
          <a:prstGeom prst="roundRect">
            <a:avLst>
              <a:gd name="adj" fmla="val 1600"/>
            </a:avLst>
          </a:prstGeom>
          <a:solidFill>
            <a:srgbClr val="F2F5F6"/>
          </a:solidFill>
          <a:ln/>
        </p:spPr>
      </p:sp>
      <p:sp>
        <p:nvSpPr>
          <p:cNvPr id="17" name="Text 13"/>
          <p:cNvSpPr/>
          <p:nvPr/>
        </p:nvSpPr>
        <p:spPr>
          <a:xfrm>
            <a:off x="6446520" y="1737360"/>
            <a:ext cx="49377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bias to design against: sycophancy</a:t>
            </a:r>
            <a:endParaRPr lang="en-US" sz="1500" dirty="0"/>
          </a:p>
        </p:txBody>
      </p:sp>
      <p:sp>
        <p:nvSpPr>
          <p:cNvPr id="18" name="Text 14"/>
          <p:cNvSpPr/>
          <p:nvPr/>
        </p:nvSpPr>
        <p:spPr>
          <a:xfrm>
            <a:off x="6492240" y="2212848"/>
            <a:ext cx="4937760" cy="201168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Across 11 leading models, AI affirmed users’ actions ~49% more often than humans do (Stanford/CMU, Science 2026)</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 single flattering exchange measurably raised users’ conviction they were right</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Root cause: models are trained on human preferences — and we prefer agreement</a:t>
            </a:r>
            <a:endParaRPr lang="en-US" sz="1150" dirty="0"/>
          </a:p>
        </p:txBody>
      </p:sp>
      <p:sp>
        <p:nvSpPr>
          <p:cNvPr id="19" name="Shape 15"/>
          <p:cNvSpPr/>
          <p:nvPr/>
        </p:nvSpPr>
        <p:spPr>
          <a:xfrm>
            <a:off x="6446520" y="4434840"/>
            <a:ext cx="4937760" cy="1463040"/>
          </a:xfrm>
          <a:prstGeom prst="roundRect">
            <a:avLst>
              <a:gd name="adj" fmla="val 5000"/>
            </a:avLst>
          </a:prstGeom>
          <a:solidFill>
            <a:srgbClr val="E4F0EF"/>
          </a:solidFill>
          <a:ln/>
        </p:spPr>
      </p:sp>
      <p:sp>
        <p:nvSpPr>
          <p:cNvPr id="20" name="Shape 16"/>
          <p:cNvSpPr/>
          <p:nvPr/>
        </p:nvSpPr>
        <p:spPr>
          <a:xfrm>
            <a:off x="6611112" y="4974336"/>
            <a:ext cx="384048" cy="384048"/>
          </a:xfrm>
          <a:prstGeom prst="ellipse">
            <a:avLst/>
          </a:prstGeom>
          <a:solidFill>
            <a:srgbClr val="0E7C7B"/>
          </a:solidFill>
          <a:ln/>
        </p:spPr>
      </p:sp>
      <p:pic>
        <p:nvPicPr>
          <p:cNvPr id="21" name="Image 2" descr="/home/user/Claude-Works/ai-training-prompt-engineering/src/assets/icons/shield_w.png">    </p:cNvPr>
          <p:cNvPicPr>
            <a:picLocks noChangeAspect="1"/>
          </p:cNvPicPr>
          <p:nvPr/>
        </p:nvPicPr>
        <p:blipFill>
          <a:blip r:embed="rId3"/>
          <a:stretch>
            <a:fillRect/>
          </a:stretch>
        </p:blipFill>
        <p:spPr>
          <a:xfrm>
            <a:off x="6710964" y="5074188"/>
            <a:ext cx="184343" cy="184343"/>
          </a:xfrm>
          <a:prstGeom prst="rect">
            <a:avLst/>
          </a:prstGeom>
        </p:spPr>
      </p:pic>
      <p:sp>
        <p:nvSpPr>
          <p:cNvPr id="22" name="Text 17"/>
          <p:cNvSpPr/>
          <p:nvPr/>
        </p:nvSpPr>
        <p:spPr>
          <a:xfrm>
            <a:off x="7159752" y="4507992"/>
            <a:ext cx="3995928" cy="131673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countermeasures: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never reveal your preferred answer when asking for a review · ask for the case AGAINST (“three weakest points”) · paste your draft as “a colleague’s” · don’t treat “are you sure?” as verification.</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THINKING MODELS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2026 UPDATE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Prompting thinking models: less scaffolding, more clarity</a:t>
            </a:r>
            <a:endParaRPr lang="en-US" sz="3000" dirty="0"/>
          </a:p>
        </p:txBody>
      </p:sp>
      <p:sp>
        <p:nvSpPr>
          <p:cNvPr id="6" name="Shape 4"/>
          <p:cNvSpPr/>
          <p:nvPr/>
        </p:nvSpPr>
        <p:spPr>
          <a:xfrm>
            <a:off x="502920" y="1508760"/>
            <a:ext cx="5440680" cy="1353312"/>
          </a:xfrm>
          <a:prstGeom prst="roundRect">
            <a:avLst>
              <a:gd name="adj" fmla="val 5405"/>
            </a:avLst>
          </a:prstGeom>
          <a:solidFill>
            <a:srgbClr val="F2F5F6"/>
          </a:solidFill>
          <a:ln/>
        </p:spPr>
      </p:sp>
      <p:sp>
        <p:nvSpPr>
          <p:cNvPr id="7" name="Shape 5"/>
          <p:cNvSpPr/>
          <p:nvPr/>
        </p:nvSpPr>
        <p:spPr>
          <a:xfrm>
            <a:off x="685800" y="1911096"/>
            <a:ext cx="475488" cy="475488"/>
          </a:xfrm>
          <a:prstGeom prst="ellipse">
            <a:avLst/>
          </a:prstGeom>
          <a:solidFill>
            <a:srgbClr val="46545F"/>
          </a:solidFill>
          <a:ln/>
        </p:spPr>
      </p:sp>
      <p:pic>
        <p:nvPicPr>
          <p:cNvPr id="8" name="Image 0" descr="/home/user/Claude-Works/ai-training-prompt-engineering/src/assets/icons/x_w.png">    </p:cNvPr>
          <p:cNvPicPr>
            <a:picLocks noChangeAspect="1"/>
          </p:cNvPicPr>
          <p:nvPr/>
        </p:nvPicPr>
        <p:blipFill>
          <a:blip r:embed="rId1"/>
          <a:stretch>
            <a:fillRect/>
          </a:stretch>
        </p:blipFill>
        <p:spPr>
          <a:xfrm>
            <a:off x="809427" y="2034723"/>
            <a:ext cx="228234" cy="228234"/>
          </a:xfrm>
          <a:prstGeom prst="rect">
            <a:avLst/>
          </a:prstGeom>
        </p:spPr>
      </p:pic>
      <p:sp>
        <p:nvSpPr>
          <p:cNvPr id="9" name="Text 6"/>
          <p:cNvSpPr/>
          <p:nvPr/>
        </p:nvSpPr>
        <p:spPr>
          <a:xfrm>
            <a:off x="1307592" y="1600200"/>
            <a:ext cx="4526280" cy="118872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Retire: “think step by step”</a:t>
            </a:r>
            <a:endParaRPr lang="en-US" sz="125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Reasoning is built in. OpenAI: “avoid chain-of-thought prompts.” Anthropic: “think thoroughly” beats a hand-written step plan. Manual CoT is a fallback for non-thinking modes.</a:t>
            </a:r>
            <a:endParaRPr lang="en-US" sz="1250" dirty="0"/>
          </a:p>
        </p:txBody>
      </p:sp>
      <p:sp>
        <p:nvSpPr>
          <p:cNvPr id="10" name="Shape 7"/>
          <p:cNvSpPr/>
          <p:nvPr/>
        </p:nvSpPr>
        <p:spPr>
          <a:xfrm>
            <a:off x="6172200" y="1508760"/>
            <a:ext cx="5440680" cy="1353312"/>
          </a:xfrm>
          <a:prstGeom prst="roundRect">
            <a:avLst>
              <a:gd name="adj" fmla="val 5405"/>
            </a:avLst>
          </a:prstGeom>
          <a:solidFill>
            <a:srgbClr val="F2F5F6"/>
          </a:solidFill>
          <a:ln/>
        </p:spPr>
      </p:sp>
      <p:sp>
        <p:nvSpPr>
          <p:cNvPr id="11" name="Shape 8"/>
          <p:cNvSpPr/>
          <p:nvPr/>
        </p:nvSpPr>
        <p:spPr>
          <a:xfrm>
            <a:off x="6355080" y="1911096"/>
            <a:ext cx="475488" cy="475488"/>
          </a:xfrm>
          <a:prstGeom prst="ellipse">
            <a:avLst/>
          </a:prstGeom>
          <a:solidFill>
            <a:srgbClr val="46545F"/>
          </a:solidFill>
          <a:ln/>
        </p:spPr>
      </p:sp>
      <p:pic>
        <p:nvPicPr>
          <p:cNvPr id="12" name="Image 1" descr="/home/user/Claude-Works/ai-training-prompt-engineering/src/assets/icons/x_w.png">    </p:cNvPr>
          <p:cNvPicPr>
            <a:picLocks noChangeAspect="1"/>
          </p:cNvPicPr>
          <p:nvPr/>
        </p:nvPicPr>
        <p:blipFill>
          <a:blip r:embed="rId2"/>
          <a:stretch>
            <a:fillRect/>
          </a:stretch>
        </p:blipFill>
        <p:spPr>
          <a:xfrm>
            <a:off x="6478707" y="2034723"/>
            <a:ext cx="228234" cy="228234"/>
          </a:xfrm>
          <a:prstGeom prst="rect">
            <a:avLst/>
          </a:prstGeom>
        </p:spPr>
      </p:pic>
      <p:sp>
        <p:nvSpPr>
          <p:cNvPr id="13" name="Text 9"/>
          <p:cNvSpPr/>
          <p:nvPr/>
        </p:nvSpPr>
        <p:spPr>
          <a:xfrm>
            <a:off x="6976872" y="1600200"/>
            <a:ext cx="4526280" cy="118872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Retire: piles of examples</a:t>
            </a:r>
            <a:endParaRPr lang="en-US" sz="125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Zero-shot first; add examples only if the format drifts. On some reasoning models few-shot measurably hurts (DeepSeek-R1’s own paper).</a:t>
            </a:r>
            <a:endParaRPr lang="en-US" sz="1250" dirty="0"/>
          </a:p>
        </p:txBody>
      </p:sp>
      <p:sp>
        <p:nvSpPr>
          <p:cNvPr id="14" name="Shape 10"/>
          <p:cNvSpPr/>
          <p:nvPr/>
        </p:nvSpPr>
        <p:spPr>
          <a:xfrm>
            <a:off x="502920" y="2990088"/>
            <a:ext cx="5440680" cy="1353312"/>
          </a:xfrm>
          <a:prstGeom prst="roundRect">
            <a:avLst>
              <a:gd name="adj" fmla="val 5405"/>
            </a:avLst>
          </a:prstGeom>
          <a:solidFill>
            <a:srgbClr val="F2F5F6"/>
          </a:solidFill>
          <a:ln/>
        </p:spPr>
      </p:sp>
      <p:sp>
        <p:nvSpPr>
          <p:cNvPr id="15" name="Shape 11"/>
          <p:cNvSpPr/>
          <p:nvPr/>
        </p:nvSpPr>
        <p:spPr>
          <a:xfrm>
            <a:off x="685800" y="3392424"/>
            <a:ext cx="475488" cy="475488"/>
          </a:xfrm>
          <a:prstGeom prst="ellipse">
            <a:avLst/>
          </a:prstGeom>
          <a:solidFill>
            <a:srgbClr val="B96A1B"/>
          </a:solidFill>
          <a:ln/>
        </p:spPr>
      </p:sp>
      <p:pic>
        <p:nvPicPr>
          <p:cNvPr id="16" name="Image 2" descr="/home/user/Claude-Works/ai-training-prompt-engineering/src/assets/icons/alert_w.png">    </p:cNvPr>
          <p:cNvPicPr>
            <a:picLocks noChangeAspect="1"/>
          </p:cNvPicPr>
          <p:nvPr/>
        </p:nvPicPr>
        <p:blipFill>
          <a:blip r:embed="rId3"/>
          <a:stretch>
            <a:fillRect/>
          </a:stretch>
        </p:blipFill>
        <p:spPr>
          <a:xfrm>
            <a:off x="809427" y="3516051"/>
            <a:ext cx="228234" cy="228234"/>
          </a:xfrm>
          <a:prstGeom prst="rect">
            <a:avLst/>
          </a:prstGeom>
        </p:spPr>
      </p:pic>
      <p:sp>
        <p:nvSpPr>
          <p:cNvPr id="17" name="Text 12"/>
          <p:cNvSpPr/>
          <p:nvPr/>
        </p:nvSpPr>
        <p:spPr>
          <a:xfrm>
            <a:off x="1307592" y="3081528"/>
            <a:ext cx="4526280" cy="118872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New risk: contradictions</a:t>
            </a:r>
            <a:endParaRPr lang="en-US" sz="125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Conflicting instructions are worse now — the model burns thinking tokens trying to reconcile them. Audit your prompt for rules that collide.</a:t>
            </a:r>
            <a:endParaRPr lang="en-US" sz="1250" dirty="0"/>
          </a:p>
        </p:txBody>
      </p:sp>
      <p:sp>
        <p:nvSpPr>
          <p:cNvPr id="18" name="Shape 13"/>
          <p:cNvSpPr/>
          <p:nvPr/>
        </p:nvSpPr>
        <p:spPr>
          <a:xfrm>
            <a:off x="6172200" y="2990088"/>
            <a:ext cx="5440680" cy="1353312"/>
          </a:xfrm>
          <a:prstGeom prst="roundRect">
            <a:avLst>
              <a:gd name="adj" fmla="val 5405"/>
            </a:avLst>
          </a:prstGeom>
          <a:solidFill>
            <a:srgbClr val="F2F5F6"/>
          </a:solidFill>
          <a:ln/>
        </p:spPr>
      </p:sp>
      <p:sp>
        <p:nvSpPr>
          <p:cNvPr id="19" name="Shape 14"/>
          <p:cNvSpPr/>
          <p:nvPr/>
        </p:nvSpPr>
        <p:spPr>
          <a:xfrm>
            <a:off x="6355080" y="3392424"/>
            <a:ext cx="475488" cy="475488"/>
          </a:xfrm>
          <a:prstGeom prst="ellipse">
            <a:avLst/>
          </a:prstGeom>
          <a:solidFill>
            <a:srgbClr val="B96A1B"/>
          </a:solidFill>
          <a:ln/>
        </p:spPr>
      </p:sp>
      <p:pic>
        <p:nvPicPr>
          <p:cNvPr id="20" name="Image 3" descr="/home/user/Claude-Works/ai-training-prompt-engineering/src/assets/icons/sliders_w.png">    </p:cNvPr>
          <p:cNvPicPr>
            <a:picLocks noChangeAspect="1"/>
          </p:cNvPicPr>
          <p:nvPr/>
        </p:nvPicPr>
        <p:blipFill>
          <a:blip r:embed="rId4"/>
          <a:stretch>
            <a:fillRect/>
          </a:stretch>
        </p:blipFill>
        <p:spPr>
          <a:xfrm>
            <a:off x="6478707" y="3516051"/>
            <a:ext cx="228234" cy="228234"/>
          </a:xfrm>
          <a:prstGeom prst="rect">
            <a:avLst/>
          </a:prstGeom>
        </p:spPr>
      </p:pic>
      <p:sp>
        <p:nvSpPr>
          <p:cNvPr id="21" name="Text 15"/>
          <p:cNvSpPr/>
          <p:nvPr/>
        </p:nvSpPr>
        <p:spPr>
          <a:xfrm>
            <a:off x="6976872" y="3081528"/>
            <a:ext cx="4526280" cy="118872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New control: effort dials</a:t>
            </a:r>
            <a:endParaRPr lang="en-US" sz="125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Depth is set by parameters (thinking effort, verbosity), not magic words. Say how hard to think; don’t script how.</a:t>
            </a:r>
            <a:endParaRPr lang="en-US" sz="1250" dirty="0"/>
          </a:p>
        </p:txBody>
      </p:sp>
      <p:sp>
        <p:nvSpPr>
          <p:cNvPr id="22" name="Shape 16"/>
          <p:cNvSpPr/>
          <p:nvPr/>
        </p:nvSpPr>
        <p:spPr>
          <a:xfrm>
            <a:off x="502920" y="4709160"/>
            <a:ext cx="11155680" cy="1325880"/>
          </a:xfrm>
          <a:prstGeom prst="roundRect">
            <a:avLst>
              <a:gd name="adj" fmla="val 5517"/>
            </a:avLst>
          </a:prstGeom>
          <a:solidFill>
            <a:srgbClr val="E4F0EF"/>
          </a:solidFill>
          <a:ln/>
        </p:spPr>
      </p:sp>
      <p:sp>
        <p:nvSpPr>
          <p:cNvPr id="23" name="Shape 17"/>
          <p:cNvSpPr/>
          <p:nvPr/>
        </p:nvSpPr>
        <p:spPr>
          <a:xfrm>
            <a:off x="667512" y="5180076"/>
            <a:ext cx="384048" cy="384048"/>
          </a:xfrm>
          <a:prstGeom prst="ellipse">
            <a:avLst/>
          </a:prstGeom>
          <a:solidFill>
            <a:srgbClr val="0E7C7B"/>
          </a:solidFill>
          <a:ln/>
        </p:spPr>
      </p:sp>
      <p:pic>
        <p:nvPicPr>
          <p:cNvPr id="24" name="Image 4" descr="/home/user/Claude-Works/ai-training-prompt-engineering/src/assets/icons/check_w.png">    </p:cNvPr>
          <p:cNvPicPr>
            <a:picLocks noChangeAspect="1"/>
          </p:cNvPicPr>
          <p:nvPr/>
        </p:nvPicPr>
        <p:blipFill>
          <a:blip r:embed="rId5"/>
          <a:stretch>
            <a:fillRect/>
          </a:stretch>
        </p:blipFill>
        <p:spPr>
          <a:xfrm>
            <a:off x="767364" y="5279928"/>
            <a:ext cx="184343" cy="184343"/>
          </a:xfrm>
          <a:prstGeom prst="rect">
            <a:avLst/>
          </a:prstGeom>
        </p:spPr>
      </p:pic>
      <p:sp>
        <p:nvSpPr>
          <p:cNvPr id="25" name="Text 18"/>
          <p:cNvSpPr/>
          <p:nvPr/>
        </p:nvSpPr>
        <p:spPr>
          <a:xfrm>
            <a:off x="1216152" y="4782312"/>
            <a:ext cx="10213848" cy="1179576"/>
          </a:xfrm>
          <a:prstGeom prst="rect">
            <a:avLst/>
          </a:prstGeom>
          <a:noFill/>
          <a:ln/>
        </p:spPr>
        <p:txBody>
          <a:bodyPr wrap="square" lIns="0" tIns="0" rIns="0" bIns="0" rtlCol="0" anchor="ctr"/>
          <a:lstStyle/>
          <a:p>
            <a:pPr indent="0" marL="0">
              <a:lnSpc>
                <a:spcPct val="106000"/>
              </a:lnSpc>
              <a:buNone/>
            </a:pPr>
            <a:r>
              <a:rPr lang="en-US" sz="1300" b="1" dirty="0">
                <a:solidFill>
                  <a:srgbClr val="0A5B5A"/>
                </a:solidFill>
                <a:latin typeface="Calibri" pitchFamily="34" charset="0"/>
                <a:ea typeface="Calibri" pitchFamily="34" charset="-122"/>
                <a:cs typeface="Calibri" pitchFamily="34" charset="-120"/>
              </a:rPr>
              <a:t>What did NOT change: </a:t>
            </a:r>
            <a:endParaRPr lang="en-US" sz="1250" dirty="0"/>
          </a:p>
          <a:p>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clarity and specificity · relevant context and sources · output format · giving an out · grounding in documents · iteration. The anatomy from slide 22 applies to every model you will ever use — the scaffolding tricks retire, the briefing skills compound.</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ITERATION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HABIT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Prompts are drafts — iterate, then standardize</a:t>
            </a:r>
            <a:endParaRPr lang="en-US" sz="3000" dirty="0"/>
          </a:p>
        </p:txBody>
      </p:sp>
      <p:sp>
        <p:nvSpPr>
          <p:cNvPr id="6" name="Shape 4"/>
          <p:cNvSpPr/>
          <p:nvPr/>
        </p:nvSpPr>
        <p:spPr>
          <a:xfrm>
            <a:off x="502920" y="1554480"/>
            <a:ext cx="2697480" cy="2377440"/>
          </a:xfrm>
          <a:prstGeom prst="roundRect">
            <a:avLst>
              <a:gd name="adj" fmla="val 3077"/>
            </a:avLst>
          </a:prstGeom>
          <a:solidFill>
            <a:srgbClr val="F2F5F6"/>
          </a:solidFill>
          <a:ln/>
        </p:spPr>
      </p:sp>
      <p:sp>
        <p:nvSpPr>
          <p:cNvPr id="7" name="Shape 5"/>
          <p:cNvSpPr/>
          <p:nvPr/>
        </p:nvSpPr>
        <p:spPr>
          <a:xfrm>
            <a:off x="722376" y="1783080"/>
            <a:ext cx="475488" cy="475488"/>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46003" y="1906707"/>
            <a:ext cx="228234" cy="228234"/>
          </a:xfrm>
          <a:prstGeom prst="rect">
            <a:avLst/>
          </a:prstGeom>
        </p:spPr>
      </p:pic>
      <p:sp>
        <p:nvSpPr>
          <p:cNvPr id="9" name="Text 6"/>
          <p:cNvSpPr/>
          <p:nvPr/>
        </p:nvSpPr>
        <p:spPr>
          <a:xfrm>
            <a:off x="1325880" y="1847088"/>
            <a:ext cx="1783080" cy="36576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1 · Draft</a:t>
            </a:r>
            <a:endParaRPr lang="en-US" sz="1400" dirty="0"/>
          </a:p>
        </p:txBody>
      </p:sp>
      <p:sp>
        <p:nvSpPr>
          <p:cNvPr id="10" name="Text 7"/>
          <p:cNvSpPr/>
          <p:nvPr/>
        </p:nvSpPr>
        <p:spPr>
          <a:xfrm>
            <a:off x="722376" y="2377440"/>
            <a:ext cx="2286000" cy="146304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Write the prompt with the anatomy: role, task, context, format, examples.</a:t>
            </a:r>
            <a:endParaRPr lang="en-US" sz="1050" dirty="0"/>
          </a:p>
        </p:txBody>
      </p:sp>
      <p:sp>
        <p:nvSpPr>
          <p:cNvPr id="11" name="Shape 8"/>
          <p:cNvSpPr/>
          <p:nvPr/>
        </p:nvSpPr>
        <p:spPr>
          <a:xfrm>
            <a:off x="3218688" y="2697480"/>
            <a:ext cx="182880" cy="0"/>
          </a:xfrm>
          <a:prstGeom prst="line">
            <a:avLst/>
          </a:prstGeom>
          <a:noFill/>
          <a:ln w="28575">
            <a:solidFill>
              <a:srgbClr val="0E7C7B"/>
            </a:solidFill>
            <a:prstDash val="solid"/>
            <a:tailEnd type="triangle"/>
          </a:ln>
        </p:spPr>
      </p:sp>
      <p:sp>
        <p:nvSpPr>
          <p:cNvPr id="12" name="Shape 9"/>
          <p:cNvSpPr/>
          <p:nvPr/>
        </p:nvSpPr>
        <p:spPr>
          <a:xfrm>
            <a:off x="3419856" y="1554480"/>
            <a:ext cx="2697480" cy="2377440"/>
          </a:xfrm>
          <a:prstGeom prst="roundRect">
            <a:avLst>
              <a:gd name="adj" fmla="val 3077"/>
            </a:avLst>
          </a:prstGeom>
          <a:solidFill>
            <a:srgbClr val="F2F5F6"/>
          </a:solidFill>
          <a:ln/>
        </p:spPr>
      </p:sp>
      <p:sp>
        <p:nvSpPr>
          <p:cNvPr id="13" name="Shape 10"/>
          <p:cNvSpPr/>
          <p:nvPr/>
        </p:nvSpPr>
        <p:spPr>
          <a:xfrm>
            <a:off x="3639312" y="1783080"/>
            <a:ext cx="475488" cy="475488"/>
          </a:xfrm>
          <a:prstGeom prst="ellipse">
            <a:avLst/>
          </a:prstGeom>
          <a:solidFill>
            <a:srgbClr val="0E7C7B"/>
          </a:solidFill>
          <a:ln/>
        </p:spPr>
      </p:sp>
      <p:pic>
        <p:nvPicPr>
          <p:cNvPr id="14" name="Image 1" descr="/home/user/Claude-Works/ai-training-prompt-engineering/src/assets/icons/eye_w.png">    </p:cNvPr>
          <p:cNvPicPr>
            <a:picLocks noChangeAspect="1"/>
          </p:cNvPicPr>
          <p:nvPr/>
        </p:nvPicPr>
        <p:blipFill>
          <a:blip r:embed="rId2"/>
          <a:stretch>
            <a:fillRect/>
          </a:stretch>
        </p:blipFill>
        <p:spPr>
          <a:xfrm>
            <a:off x="3762939" y="1906707"/>
            <a:ext cx="228234" cy="228234"/>
          </a:xfrm>
          <a:prstGeom prst="rect">
            <a:avLst/>
          </a:prstGeom>
        </p:spPr>
      </p:pic>
      <p:sp>
        <p:nvSpPr>
          <p:cNvPr id="15" name="Text 11"/>
          <p:cNvSpPr/>
          <p:nvPr/>
        </p:nvSpPr>
        <p:spPr>
          <a:xfrm>
            <a:off x="4242816" y="1847088"/>
            <a:ext cx="1783080" cy="36576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2 · Inspect</a:t>
            </a:r>
            <a:endParaRPr lang="en-US" sz="1400" dirty="0"/>
          </a:p>
        </p:txBody>
      </p:sp>
      <p:sp>
        <p:nvSpPr>
          <p:cNvPr id="16" name="Text 12"/>
          <p:cNvSpPr/>
          <p:nvPr/>
        </p:nvSpPr>
        <p:spPr>
          <a:xfrm>
            <a:off x="3639312" y="2377440"/>
            <a:ext cx="2286000" cy="146304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Wrong output? Diagnose which element failed: wrong altitude (role), wrong content (context), wrong shape (format), wrong style (examples).</a:t>
            </a:r>
            <a:endParaRPr lang="en-US" sz="1050" dirty="0"/>
          </a:p>
        </p:txBody>
      </p:sp>
      <p:sp>
        <p:nvSpPr>
          <p:cNvPr id="17" name="Shape 13"/>
          <p:cNvSpPr/>
          <p:nvPr/>
        </p:nvSpPr>
        <p:spPr>
          <a:xfrm>
            <a:off x="6135624" y="2697480"/>
            <a:ext cx="182880" cy="0"/>
          </a:xfrm>
          <a:prstGeom prst="line">
            <a:avLst/>
          </a:prstGeom>
          <a:noFill/>
          <a:ln w="28575">
            <a:solidFill>
              <a:srgbClr val="0E7C7B"/>
            </a:solidFill>
            <a:prstDash val="solid"/>
            <a:tailEnd type="triangle"/>
          </a:ln>
        </p:spPr>
      </p:sp>
      <p:sp>
        <p:nvSpPr>
          <p:cNvPr id="18" name="Shape 14"/>
          <p:cNvSpPr/>
          <p:nvPr/>
        </p:nvSpPr>
        <p:spPr>
          <a:xfrm>
            <a:off x="6336792" y="1554480"/>
            <a:ext cx="2697480" cy="2377440"/>
          </a:xfrm>
          <a:prstGeom prst="roundRect">
            <a:avLst>
              <a:gd name="adj" fmla="val 3077"/>
            </a:avLst>
          </a:prstGeom>
          <a:solidFill>
            <a:srgbClr val="F2F5F6"/>
          </a:solidFill>
          <a:ln/>
        </p:spPr>
      </p:sp>
      <p:sp>
        <p:nvSpPr>
          <p:cNvPr id="19" name="Shape 15"/>
          <p:cNvSpPr/>
          <p:nvPr/>
        </p:nvSpPr>
        <p:spPr>
          <a:xfrm>
            <a:off x="6556248" y="1783080"/>
            <a:ext cx="475488" cy="475488"/>
          </a:xfrm>
          <a:prstGeom prst="ellipse">
            <a:avLst/>
          </a:prstGeom>
          <a:solidFill>
            <a:srgbClr val="0E7C7B"/>
          </a:solidFill>
          <a:ln/>
        </p:spPr>
      </p:sp>
      <p:pic>
        <p:nvPicPr>
          <p:cNvPr id="20" name="Image 2" descr="/home/user/Claude-Works/ai-training-prompt-engineering/src/assets/icons/refresh_w.png">    </p:cNvPr>
          <p:cNvPicPr>
            <a:picLocks noChangeAspect="1"/>
          </p:cNvPicPr>
          <p:nvPr/>
        </p:nvPicPr>
        <p:blipFill>
          <a:blip r:embed="rId3"/>
          <a:stretch>
            <a:fillRect/>
          </a:stretch>
        </p:blipFill>
        <p:spPr>
          <a:xfrm>
            <a:off x="6679875" y="1906707"/>
            <a:ext cx="228234" cy="228234"/>
          </a:xfrm>
          <a:prstGeom prst="rect">
            <a:avLst/>
          </a:prstGeom>
        </p:spPr>
      </p:pic>
      <p:sp>
        <p:nvSpPr>
          <p:cNvPr id="21" name="Text 16"/>
          <p:cNvSpPr/>
          <p:nvPr/>
        </p:nvSpPr>
        <p:spPr>
          <a:xfrm>
            <a:off x="7159752" y="1847088"/>
            <a:ext cx="1783080" cy="36576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3 · Refine</a:t>
            </a:r>
            <a:endParaRPr lang="en-US" sz="1400" dirty="0"/>
          </a:p>
        </p:txBody>
      </p:sp>
      <p:sp>
        <p:nvSpPr>
          <p:cNvPr id="22" name="Text 17"/>
          <p:cNvSpPr/>
          <p:nvPr/>
        </p:nvSpPr>
        <p:spPr>
          <a:xfrm>
            <a:off x="6556248" y="2377440"/>
            <a:ext cx="2286000" cy="146304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Fix that element — or ask the model itself: “rewrite this prompt so it more consistently produces X.”</a:t>
            </a:r>
            <a:endParaRPr lang="en-US" sz="1050" dirty="0"/>
          </a:p>
        </p:txBody>
      </p:sp>
      <p:sp>
        <p:nvSpPr>
          <p:cNvPr id="23" name="Shape 18"/>
          <p:cNvSpPr/>
          <p:nvPr/>
        </p:nvSpPr>
        <p:spPr>
          <a:xfrm>
            <a:off x="9052560" y="2697480"/>
            <a:ext cx="182880" cy="0"/>
          </a:xfrm>
          <a:prstGeom prst="line">
            <a:avLst/>
          </a:prstGeom>
          <a:noFill/>
          <a:ln w="28575">
            <a:solidFill>
              <a:srgbClr val="0E7C7B"/>
            </a:solidFill>
            <a:prstDash val="solid"/>
            <a:tailEnd type="triangle"/>
          </a:ln>
        </p:spPr>
      </p:sp>
      <p:sp>
        <p:nvSpPr>
          <p:cNvPr id="24" name="Shape 19"/>
          <p:cNvSpPr/>
          <p:nvPr/>
        </p:nvSpPr>
        <p:spPr>
          <a:xfrm>
            <a:off x="9253728" y="1554480"/>
            <a:ext cx="2697480" cy="2377440"/>
          </a:xfrm>
          <a:prstGeom prst="roundRect">
            <a:avLst>
              <a:gd name="adj" fmla="val 3077"/>
            </a:avLst>
          </a:prstGeom>
          <a:solidFill>
            <a:srgbClr val="E4F0EF"/>
          </a:solidFill>
          <a:ln/>
        </p:spPr>
      </p:sp>
      <p:sp>
        <p:nvSpPr>
          <p:cNvPr id="25" name="Shape 20"/>
          <p:cNvSpPr/>
          <p:nvPr/>
        </p:nvSpPr>
        <p:spPr>
          <a:xfrm>
            <a:off x="9473184" y="1783080"/>
            <a:ext cx="475488" cy="475488"/>
          </a:xfrm>
          <a:prstGeom prst="ellipse">
            <a:avLst/>
          </a:prstGeom>
          <a:solidFill>
            <a:srgbClr val="0E7C7B"/>
          </a:solidFill>
          <a:ln/>
        </p:spPr>
      </p:sp>
      <p:pic>
        <p:nvPicPr>
          <p:cNvPr id="26" name="Image 3" descr="/home/user/Claude-Works/ai-training-prompt-engineering/src/assets/icons/save_w.png">    </p:cNvPr>
          <p:cNvPicPr>
            <a:picLocks noChangeAspect="1"/>
          </p:cNvPicPr>
          <p:nvPr/>
        </p:nvPicPr>
        <p:blipFill>
          <a:blip r:embed="rId4"/>
          <a:stretch>
            <a:fillRect/>
          </a:stretch>
        </p:blipFill>
        <p:spPr>
          <a:xfrm>
            <a:off x="9596811" y="1906707"/>
            <a:ext cx="228234" cy="228234"/>
          </a:xfrm>
          <a:prstGeom prst="rect">
            <a:avLst/>
          </a:prstGeom>
        </p:spPr>
      </p:pic>
      <p:sp>
        <p:nvSpPr>
          <p:cNvPr id="27" name="Text 21"/>
          <p:cNvSpPr/>
          <p:nvPr/>
        </p:nvSpPr>
        <p:spPr>
          <a:xfrm>
            <a:off x="10076688" y="1847088"/>
            <a:ext cx="1783080" cy="36576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4 · Standardize</a:t>
            </a:r>
            <a:endParaRPr lang="en-US" sz="1400" dirty="0"/>
          </a:p>
        </p:txBody>
      </p:sp>
      <p:sp>
        <p:nvSpPr>
          <p:cNvPr id="28" name="Text 22"/>
          <p:cNvSpPr/>
          <p:nvPr/>
        </p:nvSpPr>
        <p:spPr>
          <a:xfrm>
            <a:off x="9473184" y="2377440"/>
            <a:ext cx="2286000" cy="146304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Works twice? Name it, version it, put it in the library. A tested template beats a daily improvisation.</a:t>
            </a:r>
            <a:endParaRPr lang="en-US" sz="1050" dirty="0"/>
          </a:p>
        </p:txBody>
      </p:sp>
      <p:sp>
        <p:nvSpPr>
          <p:cNvPr id="29" name="Shape 23"/>
          <p:cNvSpPr/>
          <p:nvPr/>
        </p:nvSpPr>
        <p:spPr>
          <a:xfrm>
            <a:off x="502920" y="4251960"/>
            <a:ext cx="11155680" cy="868680"/>
          </a:xfrm>
          <a:prstGeom prst="roundRect">
            <a:avLst>
              <a:gd name="adj" fmla="val 8421"/>
            </a:avLst>
          </a:prstGeom>
          <a:solidFill>
            <a:srgbClr val="F2F5F6"/>
          </a:solidFill>
          <a:ln w="9525">
            <a:solidFill>
              <a:srgbClr val="DCE3E6"/>
            </a:solidFill>
            <a:prstDash val="solid"/>
          </a:ln>
        </p:spPr>
      </p:sp>
      <p:sp>
        <p:nvSpPr>
          <p:cNvPr id="30" name="Shape 24"/>
          <p:cNvSpPr/>
          <p:nvPr/>
        </p:nvSpPr>
        <p:spPr>
          <a:xfrm>
            <a:off x="667512" y="4494276"/>
            <a:ext cx="384048" cy="384048"/>
          </a:xfrm>
          <a:prstGeom prst="ellipse">
            <a:avLst/>
          </a:prstGeom>
          <a:solidFill>
            <a:srgbClr val="46545F"/>
          </a:solidFill>
          <a:ln/>
        </p:spPr>
      </p:sp>
      <p:pic>
        <p:nvPicPr>
          <p:cNvPr id="31" name="Image 4" descr="/home/user/Claude-Works/ai-training-prompt-engineering/src/assets/icons/users_w.png">    </p:cNvPr>
          <p:cNvPicPr>
            <a:picLocks noChangeAspect="1"/>
          </p:cNvPicPr>
          <p:nvPr/>
        </p:nvPicPr>
        <p:blipFill>
          <a:blip r:embed="rId5"/>
          <a:stretch>
            <a:fillRect/>
          </a:stretch>
        </p:blipFill>
        <p:spPr>
          <a:xfrm>
            <a:off x="767364" y="4594128"/>
            <a:ext cx="184343" cy="184343"/>
          </a:xfrm>
          <a:prstGeom prst="rect">
            <a:avLst/>
          </a:prstGeom>
        </p:spPr>
      </p:pic>
      <p:sp>
        <p:nvSpPr>
          <p:cNvPr id="32" name="Text 25"/>
          <p:cNvSpPr/>
          <p:nvPr/>
        </p:nvSpPr>
        <p:spPr>
          <a:xfrm>
            <a:off x="1216152" y="4325112"/>
            <a:ext cx="10213848" cy="72237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Anthropic’s golden rule: </a:t>
            </a:r>
            <a:pPr indent="0" marL="0">
              <a:lnSpc>
                <a:spcPct val="106000"/>
              </a:lnSpc>
              <a:buNone/>
            </a:pPr>
            <a:r>
              <a:rPr lang="en-US" sz="1250" i="1" dirty="0">
                <a:solidFill>
                  <a:srgbClr val="46545F"/>
                </a:solidFill>
                <a:latin typeface="Calibri" pitchFamily="34" charset="0"/>
                <a:ea typeface="Calibri" pitchFamily="34" charset="-122"/>
                <a:cs typeface="Calibri" pitchFamily="34" charset="-120"/>
              </a:rPr>
              <a:t>“Show your prompt to a colleague with minimal context and ask them to follow it. If they’d be confused, Claude will be too.”</a:t>
            </a:r>
            <a:endParaRPr lang="en-US" sz="1250" dirty="0"/>
          </a:p>
        </p:txBody>
      </p:sp>
      <p:sp>
        <p:nvSpPr>
          <p:cNvPr id="33" name="Shape 26"/>
          <p:cNvSpPr/>
          <p:nvPr/>
        </p:nvSpPr>
        <p:spPr>
          <a:xfrm>
            <a:off x="502920" y="5257800"/>
            <a:ext cx="11155680" cy="868680"/>
          </a:xfrm>
          <a:prstGeom prst="roundRect">
            <a:avLst>
              <a:gd name="adj" fmla="val 8421"/>
            </a:avLst>
          </a:prstGeom>
          <a:solidFill>
            <a:srgbClr val="FBF0E0"/>
          </a:solidFill>
          <a:ln/>
        </p:spPr>
      </p:sp>
      <p:sp>
        <p:nvSpPr>
          <p:cNvPr id="34" name="Shape 27"/>
          <p:cNvSpPr/>
          <p:nvPr/>
        </p:nvSpPr>
        <p:spPr>
          <a:xfrm>
            <a:off x="667512" y="5500116"/>
            <a:ext cx="384048" cy="384048"/>
          </a:xfrm>
          <a:prstGeom prst="ellipse">
            <a:avLst/>
          </a:prstGeom>
          <a:solidFill>
            <a:srgbClr val="B96A1B"/>
          </a:solidFill>
          <a:ln/>
        </p:spPr>
      </p:sp>
      <p:pic>
        <p:nvPicPr>
          <p:cNvPr id="35" name="Image 5" descr="/home/user/Claude-Works/ai-training-prompt-engineering/src/assets/icons/target_w.png">    </p:cNvPr>
          <p:cNvPicPr>
            <a:picLocks noChangeAspect="1"/>
          </p:cNvPicPr>
          <p:nvPr/>
        </p:nvPicPr>
        <p:blipFill>
          <a:blip r:embed="rId6"/>
          <a:stretch>
            <a:fillRect/>
          </a:stretch>
        </p:blipFill>
        <p:spPr>
          <a:xfrm>
            <a:off x="767364" y="5599968"/>
            <a:ext cx="184343" cy="184343"/>
          </a:xfrm>
          <a:prstGeom prst="rect">
            <a:avLst/>
          </a:prstGeom>
        </p:spPr>
      </p:pic>
      <p:sp>
        <p:nvSpPr>
          <p:cNvPr id="36" name="Text 28"/>
          <p:cNvSpPr/>
          <p:nvPr/>
        </p:nvSpPr>
        <p:spPr>
          <a:xfrm>
            <a:off x="1216152" y="5330952"/>
            <a:ext cx="10213848" cy="72237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Why standardize?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Outputs swing wildly with tiny phrasing changes. A tested, versioned template is your gauge-R&amp;R answer to prompt variability — which is exactly what Part 4 hands you.</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27</a:t>
            </a:r>
            <a:endParaRPr lang="en-US" sz="850" dirty="0"/>
          </a:p>
        </p:txBody>
      </p:sp>
      <p:sp>
        <p:nvSpPr>
          <p:cNvPr id="3" name="Text 1"/>
          <p:cNvSpPr/>
          <p:nvPr/>
        </p:nvSpPr>
        <p:spPr>
          <a:xfrm>
            <a:off x="502920" y="192024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4 · THE PLAYBOOK</a:t>
            </a:r>
            <a:endParaRPr lang="en-US" sz="1600" dirty="0"/>
          </a:p>
        </p:txBody>
      </p:sp>
      <p:sp>
        <p:nvSpPr>
          <p:cNvPr id="4" name="Text 2"/>
          <p:cNvSpPr/>
          <p:nvPr/>
        </p:nvSpPr>
        <p:spPr>
          <a:xfrm>
            <a:off x="502920" y="237744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Thirteen templates,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ready to copy</a:t>
            </a:r>
            <a:endParaRPr lang="en-US" sz="4400" dirty="0"/>
          </a:p>
        </p:txBody>
      </p:sp>
      <p:sp>
        <p:nvSpPr>
          <p:cNvPr id="5" name="Text 3"/>
          <p:cNvSpPr/>
          <p:nvPr/>
        </p:nvSpPr>
        <p:spPr>
          <a:xfrm>
            <a:off x="502920" y="42062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Eight generative + five agentic, shipped with this training in prompt-library/.</a:t>
            </a:r>
            <a:endParaRPr lang="en-US" sz="1500" dirty="0"/>
          </a:p>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Each: the template · a filled example · why it works · the pitfalls.</a:t>
            </a:r>
            <a:endParaRPr lang="en-US" sz="1500" dirty="0"/>
          </a:p>
        </p:txBody>
      </p:sp>
      <p:sp>
        <p:nvSpPr>
          <p:cNvPr id="6" name="Text 4"/>
          <p:cNvSpPr/>
          <p:nvPr/>
        </p:nvSpPr>
        <p:spPr>
          <a:xfrm>
            <a:off x="502920"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G1 Writing &amp; editing</a:t>
            </a:r>
            <a:endParaRPr lang="en-US" sz="1050" dirty="0"/>
          </a:p>
        </p:txBody>
      </p:sp>
      <p:sp>
        <p:nvSpPr>
          <p:cNvPr id="7" name="Text 5"/>
          <p:cNvSpPr/>
          <p:nvPr/>
        </p:nvSpPr>
        <p:spPr>
          <a:xfrm>
            <a:off x="3355848"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G2 Data analysis</a:t>
            </a:r>
            <a:endParaRPr lang="en-US" sz="1050" dirty="0"/>
          </a:p>
        </p:txBody>
      </p:sp>
      <p:sp>
        <p:nvSpPr>
          <p:cNvPr id="8" name="Text 6"/>
          <p:cNvSpPr/>
          <p:nvPr/>
        </p:nvSpPr>
        <p:spPr>
          <a:xfrm>
            <a:off x="6208776"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G3 Evaluations &amp; rubrics</a:t>
            </a:r>
            <a:endParaRPr lang="en-US" sz="1050" dirty="0"/>
          </a:p>
        </p:txBody>
      </p:sp>
      <p:sp>
        <p:nvSpPr>
          <p:cNvPr id="9" name="Text 7"/>
          <p:cNvSpPr/>
          <p:nvPr/>
        </p:nvSpPr>
        <p:spPr>
          <a:xfrm>
            <a:off x="9061704"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G4 Spreadsheets</a:t>
            </a:r>
            <a:endParaRPr lang="en-US" sz="1050" dirty="0"/>
          </a:p>
        </p:txBody>
      </p:sp>
      <p:sp>
        <p:nvSpPr>
          <p:cNvPr id="10" name="Text 8"/>
          <p:cNvSpPr/>
          <p:nvPr/>
        </p:nvSpPr>
        <p:spPr>
          <a:xfrm>
            <a:off x="502920"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G5 Presentations</a:t>
            </a:r>
            <a:endParaRPr lang="en-US" sz="1050" dirty="0"/>
          </a:p>
        </p:txBody>
      </p:sp>
      <p:sp>
        <p:nvSpPr>
          <p:cNvPr id="11" name="Text 9"/>
          <p:cNvSpPr/>
          <p:nvPr/>
        </p:nvSpPr>
        <p:spPr>
          <a:xfrm>
            <a:off x="3355848"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G6 Interactive HTML</a:t>
            </a:r>
            <a:endParaRPr lang="en-US" sz="1050" dirty="0"/>
          </a:p>
        </p:txBody>
      </p:sp>
      <p:sp>
        <p:nvSpPr>
          <p:cNvPr id="12" name="Text 10"/>
          <p:cNvSpPr/>
          <p:nvPr/>
        </p:nvSpPr>
        <p:spPr>
          <a:xfrm>
            <a:off x="6208776"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G7 Research briefs</a:t>
            </a:r>
            <a:endParaRPr lang="en-US" sz="1050" dirty="0"/>
          </a:p>
        </p:txBody>
      </p:sp>
      <p:sp>
        <p:nvSpPr>
          <p:cNvPr id="13" name="Text 11"/>
          <p:cNvSpPr/>
          <p:nvPr/>
        </p:nvSpPr>
        <p:spPr>
          <a:xfrm>
            <a:off x="9061704"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G8 Summarize &amp; compare</a:t>
            </a:r>
            <a:endParaRPr lang="en-US" sz="1050" dirty="0"/>
          </a:p>
        </p:txBody>
      </p:sp>
      <p:sp>
        <p:nvSpPr>
          <p:cNvPr id="14" name="Text 12"/>
          <p:cNvSpPr/>
          <p:nvPr/>
        </p:nvSpPr>
        <p:spPr>
          <a:xfrm>
            <a:off x="502920"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A1 Mission brief</a:t>
            </a:r>
            <a:endParaRPr lang="en-US" sz="1050" dirty="0"/>
          </a:p>
        </p:txBody>
      </p:sp>
      <p:sp>
        <p:nvSpPr>
          <p:cNvPr id="15" name="Text 13"/>
          <p:cNvSpPr/>
          <p:nvPr/>
        </p:nvSpPr>
        <p:spPr>
          <a:xfrm>
            <a:off x="3355848"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A2 ETL → presentation</a:t>
            </a:r>
            <a:endParaRPr lang="en-US" sz="1050" dirty="0"/>
          </a:p>
        </p:txBody>
      </p:sp>
      <p:sp>
        <p:nvSpPr>
          <p:cNvPr id="16" name="Text 14"/>
          <p:cNvSpPr/>
          <p:nvPr/>
        </p:nvSpPr>
        <p:spPr>
          <a:xfrm>
            <a:off x="6208776"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A3 Recurring cycle</a:t>
            </a:r>
            <a:endParaRPr lang="en-US" sz="1050" dirty="0"/>
          </a:p>
        </p:txBody>
      </p:sp>
      <p:sp>
        <p:nvSpPr>
          <p:cNvPr id="17" name="Text 15"/>
          <p:cNvSpPr/>
          <p:nvPr/>
        </p:nvSpPr>
        <p:spPr>
          <a:xfrm>
            <a:off x="9061704"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A4 CLAUDE.md starter</a:t>
            </a:r>
            <a:endParaRPr lang="en-US" sz="1050" dirty="0"/>
          </a:p>
        </p:txBody>
      </p:sp>
      <p:sp>
        <p:nvSpPr>
          <p:cNvPr id="18" name="Text 16"/>
          <p:cNvSpPr/>
          <p:nvPr/>
        </p:nvSpPr>
        <p:spPr>
          <a:xfrm>
            <a:off x="502920" y="6281928"/>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A5 Document pipeline</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DATA ANALYSIS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ANATOMY · G2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Data analysis: five blocks that keep numbers honest</a:t>
            </a:r>
            <a:endParaRPr lang="en-US" sz="3000" dirty="0"/>
          </a:p>
        </p:txBody>
      </p:sp>
      <p:sp>
        <p:nvSpPr>
          <p:cNvPr id="6" name="Shape 4"/>
          <p:cNvSpPr/>
          <p:nvPr/>
        </p:nvSpPr>
        <p:spPr>
          <a:xfrm>
            <a:off x="502920" y="1481328"/>
            <a:ext cx="11155680" cy="822960"/>
          </a:xfrm>
          <a:prstGeom prst="roundRect">
            <a:avLst>
              <a:gd name="adj" fmla="val 8889"/>
            </a:avLst>
          </a:prstGeom>
          <a:solidFill>
            <a:srgbClr val="F2F5F6"/>
          </a:solidFill>
          <a:ln/>
        </p:spPr>
      </p:sp>
      <p:sp>
        <p:nvSpPr>
          <p:cNvPr id="7" name="Text 5"/>
          <p:cNvSpPr/>
          <p:nvPr/>
        </p:nvSpPr>
        <p:spPr>
          <a:xfrm>
            <a:off x="731520" y="1554480"/>
            <a:ext cx="1371600" cy="676656"/>
          </a:xfrm>
          <a:prstGeom prst="rect">
            <a:avLst/>
          </a:prstGeom>
          <a:noFill/>
          <a:ln/>
        </p:spPr>
        <p:txBody>
          <a:bodyPr wrap="square" lIns="0" tIns="0" rIns="0" bIns="0" rtlCol="0" anchor="ctr"/>
          <a:lstStyle/>
          <a:p>
            <a:pPr indent="0" marL="0">
              <a:buNone/>
            </a:pPr>
            <a:r>
              <a:rPr lang="en-US" sz="1250" b="1" dirty="0">
                <a:solidFill>
                  <a:srgbClr val="0A5B5A"/>
                </a:solidFill>
                <a:latin typeface="Consolas" pitchFamily="34" charset="0"/>
                <a:ea typeface="Consolas" pitchFamily="34" charset="-122"/>
                <a:cs typeface="Consolas" pitchFamily="34" charset="-120"/>
              </a:rPr>
              <a:t>&lt;role&gt;</a:t>
            </a:r>
            <a:endParaRPr lang="en-US" sz="1250" dirty="0"/>
          </a:p>
        </p:txBody>
      </p:sp>
      <p:sp>
        <p:nvSpPr>
          <p:cNvPr id="8" name="Text 6"/>
          <p:cNvSpPr/>
          <p:nvPr/>
        </p:nvSpPr>
        <p:spPr>
          <a:xfrm>
            <a:off x="2240280" y="1545336"/>
            <a:ext cx="5120640" cy="694944"/>
          </a:xfrm>
          <a:prstGeom prst="rect">
            <a:avLst/>
          </a:prstGeom>
          <a:noFill/>
          <a:ln/>
        </p:spPr>
        <p:txBody>
          <a:bodyPr wrap="square" lIns="0" tIns="0" rIns="0" bIns="0" rtlCol="0" anchor="ctr"/>
          <a:lstStyle/>
          <a:p>
            <a:pPr indent="0" marL="0">
              <a:lnSpc>
                <a:spcPct val="102000"/>
              </a:lnSpc>
              <a:buNone/>
            </a:pPr>
            <a:r>
              <a:rPr lang="en-US" sz="1000" dirty="0">
                <a:solidFill>
                  <a:srgbClr val="232A31"/>
                </a:solidFill>
                <a:latin typeface="Calibri" pitchFamily="34" charset="0"/>
                <a:ea typeface="Calibri" pitchFamily="34" charset="-122"/>
                <a:cs typeface="Calibri" pitchFamily="34" charset="-120"/>
              </a:rPr>
              <a:t>A careful analyst who computes by running code — never mental math — states n, never drops data silently.</a:t>
            </a:r>
            <a:endParaRPr lang="en-US" sz="1000" dirty="0"/>
          </a:p>
        </p:txBody>
      </p:sp>
      <p:sp>
        <p:nvSpPr>
          <p:cNvPr id="9" name="Text 7"/>
          <p:cNvSpPr/>
          <p:nvPr/>
        </p:nvSpPr>
        <p:spPr>
          <a:xfrm>
            <a:off x="7543800" y="1545336"/>
            <a:ext cx="3931920" cy="694944"/>
          </a:xfrm>
          <a:prstGeom prst="rect">
            <a:avLst/>
          </a:prstGeom>
          <a:noFill/>
          <a:ln/>
        </p:spPr>
        <p:txBody>
          <a:bodyPr wrap="square" lIns="0" tIns="0" rIns="0" bIns="0" rtlCol="0" anchor="ctr"/>
          <a:lstStyle/>
          <a:p>
            <a:pPr indent="0" marL="0">
              <a:lnSpc>
                <a:spcPct val="100000"/>
              </a:lnSpc>
              <a:buNone/>
            </a:pPr>
            <a:r>
              <a:rPr lang="en-US" sz="930" i="1" dirty="0">
                <a:solidFill>
                  <a:srgbClr val="46545F"/>
                </a:solidFill>
                <a:latin typeface="Calibri" pitchFamily="34" charset="0"/>
                <a:ea typeface="Calibri" pitchFamily="34" charset="-122"/>
                <a:cs typeface="Calibri" pitchFamily="34" charset="-120"/>
              </a:rPr>
              <a:t>LLM arithmetic is unreliable; code execution makes the math real. If your tool can’t run code, don’t trust computed numbers.</a:t>
            </a:r>
            <a:endParaRPr lang="en-US" sz="930" dirty="0"/>
          </a:p>
        </p:txBody>
      </p:sp>
      <p:sp>
        <p:nvSpPr>
          <p:cNvPr id="10" name="Shape 8"/>
          <p:cNvSpPr/>
          <p:nvPr/>
        </p:nvSpPr>
        <p:spPr>
          <a:xfrm>
            <a:off x="502920" y="2395728"/>
            <a:ext cx="11155680" cy="822960"/>
          </a:xfrm>
          <a:prstGeom prst="roundRect">
            <a:avLst>
              <a:gd name="adj" fmla="val 8889"/>
            </a:avLst>
          </a:prstGeom>
          <a:solidFill>
            <a:srgbClr val="FFFFFF"/>
          </a:solidFill>
          <a:ln w="9525">
            <a:solidFill>
              <a:srgbClr val="DCE3E6"/>
            </a:solidFill>
            <a:prstDash val="solid"/>
          </a:ln>
        </p:spPr>
      </p:sp>
      <p:sp>
        <p:nvSpPr>
          <p:cNvPr id="11" name="Text 9"/>
          <p:cNvSpPr/>
          <p:nvPr/>
        </p:nvSpPr>
        <p:spPr>
          <a:xfrm>
            <a:off x="731520" y="2468880"/>
            <a:ext cx="1371600" cy="676656"/>
          </a:xfrm>
          <a:prstGeom prst="rect">
            <a:avLst/>
          </a:prstGeom>
          <a:noFill/>
          <a:ln/>
        </p:spPr>
        <p:txBody>
          <a:bodyPr wrap="square" lIns="0" tIns="0" rIns="0" bIns="0" rtlCol="0" anchor="ctr"/>
          <a:lstStyle/>
          <a:p>
            <a:pPr indent="0" marL="0">
              <a:buNone/>
            </a:pPr>
            <a:r>
              <a:rPr lang="en-US" sz="1250" b="1" dirty="0">
                <a:solidFill>
                  <a:srgbClr val="0A5B5A"/>
                </a:solidFill>
                <a:latin typeface="Consolas" pitchFamily="34" charset="0"/>
                <a:ea typeface="Consolas" pitchFamily="34" charset="-122"/>
                <a:cs typeface="Consolas" pitchFamily="34" charset="-120"/>
              </a:rPr>
              <a:t>&lt;data&gt;</a:t>
            </a:r>
            <a:endParaRPr lang="en-US" sz="1250" dirty="0"/>
          </a:p>
        </p:txBody>
      </p:sp>
      <p:sp>
        <p:nvSpPr>
          <p:cNvPr id="12" name="Text 10"/>
          <p:cNvSpPr/>
          <p:nvPr/>
        </p:nvSpPr>
        <p:spPr>
          <a:xfrm>
            <a:off x="2240280" y="2459736"/>
            <a:ext cx="5120640" cy="694944"/>
          </a:xfrm>
          <a:prstGeom prst="rect">
            <a:avLst/>
          </a:prstGeom>
          <a:noFill/>
          <a:ln/>
        </p:spPr>
        <p:txBody>
          <a:bodyPr wrap="square" lIns="0" tIns="0" rIns="0" bIns="0" rtlCol="0" anchor="ctr"/>
          <a:lstStyle/>
          <a:p>
            <a:pPr indent="0" marL="0">
              <a:lnSpc>
                <a:spcPct val="102000"/>
              </a:lnSpc>
              <a:buNone/>
            </a:pPr>
            <a:r>
              <a:rPr lang="en-US" sz="1000" dirty="0">
                <a:solidFill>
                  <a:srgbClr val="232A31"/>
                </a:solidFill>
                <a:latin typeface="Calibri" pitchFamily="34" charset="0"/>
                <a:ea typeface="Calibri" pitchFamily="34" charset="-122"/>
                <a:cs typeface="Calibri" pitchFamily="34" charset="-120"/>
              </a:rPr>
              <a:t>File, sheet, header row, what one row means, exact column names, known issues, metric definitions.</a:t>
            </a:r>
            <a:endParaRPr lang="en-US" sz="1000" dirty="0"/>
          </a:p>
        </p:txBody>
      </p:sp>
      <p:sp>
        <p:nvSpPr>
          <p:cNvPr id="13" name="Text 11"/>
          <p:cNvSpPr/>
          <p:nvPr/>
        </p:nvSpPr>
        <p:spPr>
          <a:xfrm>
            <a:off x="7543800" y="2459736"/>
            <a:ext cx="3931920" cy="694944"/>
          </a:xfrm>
          <a:prstGeom prst="rect">
            <a:avLst/>
          </a:prstGeom>
          <a:noFill/>
          <a:ln/>
        </p:spPr>
        <p:txBody>
          <a:bodyPr wrap="square" lIns="0" tIns="0" rIns="0" bIns="0" rtlCol="0" anchor="ctr"/>
          <a:lstStyle/>
          <a:p>
            <a:pPr indent="0" marL="0">
              <a:lnSpc>
                <a:spcPct val="100000"/>
              </a:lnSpc>
              <a:buNone/>
            </a:pPr>
            <a:r>
              <a:rPr lang="en-US" sz="930" i="1" dirty="0">
                <a:solidFill>
                  <a:srgbClr val="46545F"/>
                </a:solidFill>
                <a:latin typeface="Calibri" pitchFamily="34" charset="0"/>
                <a:ea typeface="Calibri" pitchFamily="34" charset="-122"/>
                <a:cs typeface="Calibri" pitchFamily="34" charset="-120"/>
              </a:rPr>
              <a:t>The model guessing your grain and denominator is the #1 source of wrong answers. Schema first.</a:t>
            </a:r>
            <a:endParaRPr lang="en-US" sz="930" dirty="0"/>
          </a:p>
        </p:txBody>
      </p:sp>
      <p:sp>
        <p:nvSpPr>
          <p:cNvPr id="14" name="Shape 12"/>
          <p:cNvSpPr/>
          <p:nvPr/>
        </p:nvSpPr>
        <p:spPr>
          <a:xfrm>
            <a:off x="502920" y="3310128"/>
            <a:ext cx="11155680" cy="822960"/>
          </a:xfrm>
          <a:prstGeom prst="roundRect">
            <a:avLst>
              <a:gd name="adj" fmla="val 8889"/>
            </a:avLst>
          </a:prstGeom>
          <a:solidFill>
            <a:srgbClr val="F2F5F6"/>
          </a:solidFill>
          <a:ln/>
        </p:spPr>
      </p:sp>
      <p:sp>
        <p:nvSpPr>
          <p:cNvPr id="15" name="Text 13"/>
          <p:cNvSpPr/>
          <p:nvPr/>
        </p:nvSpPr>
        <p:spPr>
          <a:xfrm>
            <a:off x="731520" y="3383280"/>
            <a:ext cx="1371600" cy="676656"/>
          </a:xfrm>
          <a:prstGeom prst="rect">
            <a:avLst/>
          </a:prstGeom>
          <a:noFill/>
          <a:ln/>
        </p:spPr>
        <p:txBody>
          <a:bodyPr wrap="square" lIns="0" tIns="0" rIns="0" bIns="0" rtlCol="0" anchor="ctr"/>
          <a:lstStyle/>
          <a:p>
            <a:pPr indent="0" marL="0">
              <a:buNone/>
            </a:pPr>
            <a:r>
              <a:rPr lang="en-US" sz="1250" b="1" dirty="0">
                <a:solidFill>
                  <a:srgbClr val="0A5B5A"/>
                </a:solidFill>
                <a:latin typeface="Consolas" pitchFamily="34" charset="0"/>
                <a:ea typeface="Consolas" pitchFamily="34" charset="-122"/>
                <a:cs typeface="Consolas" pitchFamily="34" charset="-120"/>
              </a:rPr>
              <a:t>&lt;task&gt;</a:t>
            </a:r>
            <a:endParaRPr lang="en-US" sz="1250" dirty="0"/>
          </a:p>
        </p:txBody>
      </p:sp>
      <p:sp>
        <p:nvSpPr>
          <p:cNvPr id="16" name="Text 14"/>
          <p:cNvSpPr/>
          <p:nvPr/>
        </p:nvSpPr>
        <p:spPr>
          <a:xfrm>
            <a:off x="2240280" y="3374136"/>
            <a:ext cx="5120640" cy="694944"/>
          </a:xfrm>
          <a:prstGeom prst="rect">
            <a:avLst/>
          </a:prstGeom>
          <a:noFill/>
          <a:ln/>
        </p:spPr>
        <p:txBody>
          <a:bodyPr wrap="square" lIns="0" tIns="0" rIns="0" bIns="0" rtlCol="0" anchor="ctr"/>
          <a:lstStyle/>
          <a:p>
            <a:pPr indent="0" marL="0">
              <a:lnSpc>
                <a:spcPct val="102000"/>
              </a:lnSpc>
              <a:buNone/>
            </a:pPr>
            <a:r>
              <a:rPr lang="en-US" sz="1000" dirty="0">
                <a:solidFill>
                  <a:srgbClr val="232A31"/>
                </a:solidFill>
                <a:latin typeface="Calibri" pitchFamily="34" charset="0"/>
                <a:ea typeface="Calibri" pitchFamily="34" charset="-122"/>
                <a:cs typeface="Calibri" pitchFamily="34" charset="-120"/>
              </a:rPr>
              <a:t>Numbered questions in priority order — “and stop when they’re answered.”</a:t>
            </a:r>
            <a:endParaRPr lang="en-US" sz="1000" dirty="0"/>
          </a:p>
        </p:txBody>
      </p:sp>
      <p:sp>
        <p:nvSpPr>
          <p:cNvPr id="17" name="Text 15"/>
          <p:cNvSpPr/>
          <p:nvPr/>
        </p:nvSpPr>
        <p:spPr>
          <a:xfrm>
            <a:off x="7543800" y="3374136"/>
            <a:ext cx="3931920" cy="694944"/>
          </a:xfrm>
          <a:prstGeom prst="rect">
            <a:avLst/>
          </a:prstGeom>
          <a:noFill/>
          <a:ln/>
        </p:spPr>
        <p:txBody>
          <a:bodyPr wrap="square" lIns="0" tIns="0" rIns="0" bIns="0" rtlCol="0" anchor="ctr"/>
          <a:lstStyle/>
          <a:p>
            <a:pPr indent="0" marL="0">
              <a:lnSpc>
                <a:spcPct val="100000"/>
              </a:lnSpc>
              <a:buNone/>
            </a:pPr>
            <a:r>
              <a:rPr lang="en-US" sz="930" i="1" dirty="0">
                <a:solidFill>
                  <a:srgbClr val="46545F"/>
                </a:solidFill>
                <a:latin typeface="Calibri" pitchFamily="34" charset="0"/>
                <a:ea typeface="Calibri" pitchFamily="34" charset="-122"/>
                <a:cs typeface="Calibri" pitchFamily="34" charset="-120"/>
              </a:rPr>
              <a:t>Topics generate exploration; questions generate answers. The stop rule prevents ten charts and no answer.</a:t>
            </a:r>
            <a:endParaRPr lang="en-US" sz="930" dirty="0"/>
          </a:p>
        </p:txBody>
      </p:sp>
      <p:sp>
        <p:nvSpPr>
          <p:cNvPr id="18" name="Shape 16"/>
          <p:cNvSpPr/>
          <p:nvPr/>
        </p:nvSpPr>
        <p:spPr>
          <a:xfrm>
            <a:off x="502920" y="4224528"/>
            <a:ext cx="11155680" cy="822960"/>
          </a:xfrm>
          <a:prstGeom prst="roundRect">
            <a:avLst>
              <a:gd name="adj" fmla="val 8889"/>
            </a:avLst>
          </a:prstGeom>
          <a:solidFill>
            <a:srgbClr val="FFFFFF"/>
          </a:solidFill>
          <a:ln w="9525">
            <a:solidFill>
              <a:srgbClr val="DCE3E6"/>
            </a:solidFill>
            <a:prstDash val="solid"/>
          </a:ln>
        </p:spPr>
      </p:sp>
      <p:sp>
        <p:nvSpPr>
          <p:cNvPr id="19" name="Text 17"/>
          <p:cNvSpPr/>
          <p:nvPr/>
        </p:nvSpPr>
        <p:spPr>
          <a:xfrm>
            <a:off x="731520" y="4297680"/>
            <a:ext cx="1371600" cy="676656"/>
          </a:xfrm>
          <a:prstGeom prst="rect">
            <a:avLst/>
          </a:prstGeom>
          <a:noFill/>
          <a:ln/>
        </p:spPr>
        <p:txBody>
          <a:bodyPr wrap="square" lIns="0" tIns="0" rIns="0" bIns="0" rtlCol="0" anchor="ctr"/>
          <a:lstStyle/>
          <a:p>
            <a:pPr indent="0" marL="0">
              <a:buNone/>
            </a:pPr>
            <a:r>
              <a:rPr lang="en-US" sz="1250" b="1" dirty="0">
                <a:solidFill>
                  <a:srgbClr val="0A5B5A"/>
                </a:solidFill>
                <a:latin typeface="Consolas" pitchFamily="34" charset="0"/>
                <a:ea typeface="Consolas" pitchFamily="34" charset="-122"/>
                <a:cs typeface="Consolas" pitchFamily="34" charset="-120"/>
              </a:rPr>
              <a:t>&lt;method&gt;</a:t>
            </a:r>
            <a:endParaRPr lang="en-US" sz="1250" dirty="0"/>
          </a:p>
        </p:txBody>
      </p:sp>
      <p:sp>
        <p:nvSpPr>
          <p:cNvPr id="20" name="Text 18"/>
          <p:cNvSpPr/>
          <p:nvPr/>
        </p:nvSpPr>
        <p:spPr>
          <a:xfrm>
            <a:off x="2240280" y="4288536"/>
            <a:ext cx="5120640" cy="694944"/>
          </a:xfrm>
          <a:prstGeom prst="rect">
            <a:avLst/>
          </a:prstGeom>
          <a:noFill/>
          <a:ln/>
        </p:spPr>
        <p:txBody>
          <a:bodyPr wrap="square" lIns="0" tIns="0" rIns="0" bIns="0" rtlCol="0" anchor="ctr"/>
          <a:lstStyle/>
          <a:p>
            <a:pPr indent="0" marL="0">
              <a:lnSpc>
                <a:spcPct val="102000"/>
              </a:lnSpc>
              <a:buNone/>
            </a:pPr>
            <a:r>
              <a:rPr lang="en-US" sz="1000" dirty="0">
                <a:solidFill>
                  <a:srgbClr val="232A31"/>
                </a:solidFill>
                <a:latin typeface="Calibri" pitchFamily="34" charset="0"/>
                <a:ea typeface="Calibri" pitchFamily="34" charset="-122"/>
                <a:cs typeface="Calibri" pitchFamily="34" charset="-120"/>
              </a:rPr>
              <a:t>Profile the data first and show me; reconcile to a known total; flag n &lt; 20; descriptive stats only, “associated with” not “caused by.”</a:t>
            </a:r>
            <a:endParaRPr lang="en-US" sz="1000" dirty="0"/>
          </a:p>
        </p:txBody>
      </p:sp>
      <p:sp>
        <p:nvSpPr>
          <p:cNvPr id="21" name="Text 19"/>
          <p:cNvSpPr/>
          <p:nvPr/>
        </p:nvSpPr>
        <p:spPr>
          <a:xfrm>
            <a:off x="7543800" y="4288536"/>
            <a:ext cx="3931920" cy="694944"/>
          </a:xfrm>
          <a:prstGeom prst="rect">
            <a:avLst/>
          </a:prstGeom>
          <a:noFill/>
          <a:ln/>
        </p:spPr>
        <p:txBody>
          <a:bodyPr wrap="square" lIns="0" tIns="0" rIns="0" bIns="0" rtlCol="0" anchor="ctr"/>
          <a:lstStyle/>
          <a:p>
            <a:pPr indent="0" marL="0">
              <a:lnSpc>
                <a:spcPct val="100000"/>
              </a:lnSpc>
              <a:buNone/>
            </a:pPr>
            <a:r>
              <a:rPr lang="en-US" sz="930" i="1" dirty="0">
                <a:solidFill>
                  <a:srgbClr val="46545F"/>
                </a:solidFill>
                <a:latin typeface="Calibri" pitchFamily="34" charset="0"/>
                <a:ea typeface="Calibri" pitchFamily="34" charset="-122"/>
                <a:cs typeface="Calibri" pitchFamily="34" charset="-120"/>
              </a:rPr>
              <a:t>One reconciliation anchor beats ten checks. Language discipline survives into the deck your leadership reads.</a:t>
            </a:r>
            <a:endParaRPr lang="en-US" sz="930" dirty="0"/>
          </a:p>
        </p:txBody>
      </p:sp>
      <p:sp>
        <p:nvSpPr>
          <p:cNvPr id="22" name="Shape 20"/>
          <p:cNvSpPr/>
          <p:nvPr/>
        </p:nvSpPr>
        <p:spPr>
          <a:xfrm>
            <a:off x="502920" y="5138928"/>
            <a:ext cx="11155680" cy="822960"/>
          </a:xfrm>
          <a:prstGeom prst="roundRect">
            <a:avLst>
              <a:gd name="adj" fmla="val 8889"/>
            </a:avLst>
          </a:prstGeom>
          <a:solidFill>
            <a:srgbClr val="F2F5F6"/>
          </a:solidFill>
          <a:ln/>
        </p:spPr>
      </p:sp>
      <p:sp>
        <p:nvSpPr>
          <p:cNvPr id="23" name="Text 21"/>
          <p:cNvSpPr/>
          <p:nvPr/>
        </p:nvSpPr>
        <p:spPr>
          <a:xfrm>
            <a:off x="731520" y="5212080"/>
            <a:ext cx="1371600" cy="676656"/>
          </a:xfrm>
          <a:prstGeom prst="rect">
            <a:avLst/>
          </a:prstGeom>
          <a:noFill/>
          <a:ln/>
        </p:spPr>
        <p:txBody>
          <a:bodyPr wrap="square" lIns="0" tIns="0" rIns="0" bIns="0" rtlCol="0" anchor="ctr"/>
          <a:lstStyle/>
          <a:p>
            <a:pPr indent="0" marL="0">
              <a:buNone/>
            </a:pPr>
            <a:r>
              <a:rPr lang="en-US" sz="1250" b="1" dirty="0">
                <a:solidFill>
                  <a:srgbClr val="0A5B5A"/>
                </a:solidFill>
                <a:latin typeface="Consolas" pitchFamily="34" charset="0"/>
                <a:ea typeface="Consolas" pitchFamily="34" charset="-122"/>
                <a:cs typeface="Consolas" pitchFamily="34" charset="-120"/>
              </a:rPr>
              <a:t>&lt;format&gt;</a:t>
            </a:r>
            <a:endParaRPr lang="en-US" sz="1250" dirty="0"/>
          </a:p>
        </p:txBody>
      </p:sp>
      <p:sp>
        <p:nvSpPr>
          <p:cNvPr id="24" name="Text 22"/>
          <p:cNvSpPr/>
          <p:nvPr/>
        </p:nvSpPr>
        <p:spPr>
          <a:xfrm>
            <a:off x="2240280" y="5202936"/>
            <a:ext cx="5120640" cy="694944"/>
          </a:xfrm>
          <a:prstGeom prst="rect">
            <a:avLst/>
          </a:prstGeom>
          <a:noFill/>
          <a:ln/>
        </p:spPr>
        <p:txBody>
          <a:bodyPr wrap="square" lIns="0" tIns="0" rIns="0" bIns="0" rtlCol="0" anchor="ctr"/>
          <a:lstStyle/>
          <a:p>
            <a:pPr indent="0" marL="0">
              <a:lnSpc>
                <a:spcPct val="102000"/>
              </a:lnSpc>
              <a:buNone/>
            </a:pPr>
            <a:r>
              <a:rPr lang="en-US" sz="1000" dirty="0">
                <a:solidFill>
                  <a:srgbClr val="232A31"/>
                </a:solidFill>
                <a:latin typeface="Calibri" pitchFamily="34" charset="0"/>
                <a:ea typeface="Calibri" pitchFamily="34" charset="-122"/>
                <a:cs typeface="Calibri" pitchFamily="34" charset="-120"/>
              </a:rPr>
              <a:t>Headline answer first with the number, then the table; assumptions and caveats at the end.</a:t>
            </a:r>
            <a:endParaRPr lang="en-US" sz="1000" dirty="0"/>
          </a:p>
        </p:txBody>
      </p:sp>
      <p:sp>
        <p:nvSpPr>
          <p:cNvPr id="25" name="Text 23"/>
          <p:cNvSpPr/>
          <p:nvPr/>
        </p:nvSpPr>
        <p:spPr>
          <a:xfrm>
            <a:off x="7543800" y="5202936"/>
            <a:ext cx="3931920" cy="694944"/>
          </a:xfrm>
          <a:prstGeom prst="rect">
            <a:avLst/>
          </a:prstGeom>
          <a:noFill/>
          <a:ln/>
        </p:spPr>
        <p:txBody>
          <a:bodyPr wrap="square" lIns="0" tIns="0" rIns="0" bIns="0" rtlCol="0" anchor="ctr"/>
          <a:lstStyle/>
          <a:p>
            <a:pPr indent="0" marL="0">
              <a:lnSpc>
                <a:spcPct val="100000"/>
              </a:lnSpc>
              <a:buNone/>
            </a:pPr>
            <a:r>
              <a:rPr lang="en-US" sz="930" i="1" dirty="0">
                <a:solidFill>
                  <a:srgbClr val="46545F"/>
                </a:solidFill>
                <a:latin typeface="Calibri" pitchFamily="34" charset="0"/>
                <a:ea typeface="Calibri" pitchFamily="34" charset="-122"/>
                <a:cs typeface="Calibri" pitchFamily="34" charset="-120"/>
              </a:rPr>
              <a:t>You read the answer in 10 seconds and audit the rest only if it matters.</a:t>
            </a:r>
            <a:endParaRPr lang="en-US" sz="930" dirty="0"/>
          </a:p>
        </p:txBody>
      </p:sp>
      <p:sp>
        <p:nvSpPr>
          <p:cNvPr id="26" name="Text 24"/>
          <p:cNvSpPr/>
          <p:nvPr/>
        </p:nvSpPr>
        <p:spPr>
          <a:xfrm>
            <a:off x="502920" y="6108192"/>
            <a:ext cx="731520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block · what goes in it · why it’s there</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WRITING &amp; DOCUMENTS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TEMPLATES G1 + G8</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Writing and long documents: edit beats draft</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G1 · Writing &amp; editing</a:t>
            </a:r>
            <a:endParaRPr lang="en-US" sz="1500" dirty="0"/>
          </a:p>
        </p:txBody>
      </p:sp>
      <p:sp>
        <p:nvSpPr>
          <p:cNvPr id="8" name="Text 6"/>
          <p:cNvSpPr/>
          <p:nvPr/>
        </p:nvSpPr>
        <p:spPr>
          <a:xfrm>
            <a:off x="82296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Most workplace writing requests are edits of text you supply — feed raw material, don’t ask for blank-page magic</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Frame the job of the message: “the reader should know / decide / do X” — a success criterion, not a topic</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Hard length caps (“≤ 120 words — cut content before quality”): uncapped AI runs 2–3× too long</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“Do not add facts beyond the material” — the highest-value line in the template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Voice: build a STYLE CARD once from 2–3 writing samples; reuse it forever</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Edit mode returns a change list — you accept or reject each change, so you stay the author</a:t>
            </a:r>
            <a:endParaRPr lang="en-US" sz="1150" dirty="0"/>
          </a:p>
        </p:txBody>
      </p:sp>
      <p:sp>
        <p:nvSpPr>
          <p:cNvPr id="9" name="Shape 7"/>
          <p:cNvSpPr/>
          <p:nvPr/>
        </p:nvSpPr>
        <p:spPr>
          <a:xfrm>
            <a:off x="6172200" y="1508760"/>
            <a:ext cx="5486400" cy="4526280"/>
          </a:xfrm>
          <a:prstGeom prst="roundRect">
            <a:avLst>
              <a:gd name="adj" fmla="val 1616"/>
            </a:avLst>
          </a:prstGeom>
          <a:solidFill>
            <a:srgbClr val="F2F5F6"/>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G8 · Summarize &amp; compare</a:t>
            </a:r>
            <a:endParaRPr lang="en-US" sz="1500" dirty="0"/>
          </a:p>
        </p:txBody>
      </p:sp>
      <p:sp>
        <p:nvSpPr>
          <p:cNvPr id="11" name="Text 9"/>
          <p:cNvSpPr/>
          <p:nvPr/>
        </p:nvSpPr>
        <p:spPr>
          <a:xfrm>
            <a:off x="649224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Summaries serve a decision: “for [audience] who must [decide X]” — otherwise the model keeps the wrong 10%</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Always ask: “what does this document NOT cover that the reader will assume it does?” — kills the completeness illusion</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Verbatim quotes with location for anything contractual, regulatory, or numeric — paraphrase is where obligations drift</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Version compare: substantive diffs in a table, conflicts flagged, both sides quoted</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Meeting notes → action table with owner, due date, and the source sentence; unassigned stays UNASSIGNED</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EVALUATIONS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G3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AI as reviewer: rubric first, judgment second — yours last</a:t>
            </a:r>
            <a:endParaRPr lang="en-US" sz="3000" dirty="0"/>
          </a:p>
        </p:txBody>
      </p:sp>
      <p:sp>
        <p:nvSpPr>
          <p:cNvPr id="6" name="Shape 4"/>
          <p:cNvSpPr/>
          <p:nvPr/>
        </p:nvSpPr>
        <p:spPr>
          <a:xfrm>
            <a:off x="502920" y="1508760"/>
            <a:ext cx="6858000" cy="1280160"/>
          </a:xfrm>
          <a:prstGeom prst="roundRect">
            <a:avLst>
              <a:gd name="adj" fmla="val 5714"/>
            </a:avLst>
          </a:prstGeom>
          <a:solidFill>
            <a:srgbClr val="F2F5F6"/>
          </a:solidFill>
          <a:ln/>
        </p:spPr>
      </p:sp>
      <p:sp>
        <p:nvSpPr>
          <p:cNvPr id="7" name="Shape 5"/>
          <p:cNvSpPr/>
          <p:nvPr/>
        </p:nvSpPr>
        <p:spPr>
          <a:xfrm>
            <a:off x="749808" y="1874520"/>
            <a:ext cx="502920" cy="502920"/>
          </a:xfrm>
          <a:prstGeom prst="ellipse">
            <a:avLst/>
          </a:prstGeom>
          <a:solidFill>
            <a:srgbClr val="0E7C7B"/>
          </a:solidFill>
          <a:ln/>
        </p:spPr>
      </p:sp>
      <p:pic>
        <p:nvPicPr>
          <p:cNvPr id="8" name="Image 0" descr="/home/user/Claude-Works/ai-training-prompt-engineering/src/assets/icons/list_w.png">    </p:cNvPr>
          <p:cNvPicPr>
            <a:picLocks noChangeAspect="1"/>
          </p:cNvPicPr>
          <p:nvPr/>
        </p:nvPicPr>
        <p:blipFill>
          <a:blip r:embed="rId1"/>
          <a:stretch>
            <a:fillRect/>
          </a:stretch>
        </p:blipFill>
        <p:spPr>
          <a:xfrm>
            <a:off x="880567" y="2005279"/>
            <a:ext cx="241402" cy="241402"/>
          </a:xfrm>
          <a:prstGeom prst="rect">
            <a:avLst/>
          </a:prstGeom>
        </p:spPr>
      </p:pic>
      <p:sp>
        <p:nvSpPr>
          <p:cNvPr id="9" name="Text 6"/>
          <p:cNvSpPr/>
          <p:nvPr/>
        </p:nvSpPr>
        <p:spPr>
          <a:xfrm>
            <a:off x="1463040" y="1600200"/>
            <a:ext cx="5715000" cy="1097280"/>
          </a:xfrm>
          <a:prstGeom prst="rect">
            <a:avLst/>
          </a:prstGeom>
          <a:noFill/>
          <a:ln/>
        </p:spPr>
        <p:txBody>
          <a:bodyPr wrap="square" lIns="0" tIns="0" rIns="0" bIns="0" rtlCol="0" anchor="ctr"/>
          <a:lstStyle/>
          <a:p>
            <a:pPr indent="0" marL="0">
              <a:lnSpc>
                <a:spcPct val="106000"/>
              </a:lnSpc>
              <a:spcAft>
                <a:spcPts val="300"/>
              </a:spcAft>
              <a:buNone/>
            </a:pPr>
            <a:r>
              <a:rPr lang="en-US" sz="1350" b="1" dirty="0">
                <a:solidFill>
                  <a:srgbClr val="232A31"/>
                </a:solidFill>
                <a:latin typeface="Calibri" pitchFamily="34" charset="0"/>
                <a:ea typeface="Calibri" pitchFamily="34" charset="-122"/>
                <a:cs typeface="Calibri" pitchFamily="34" charset="-120"/>
              </a:rPr>
              <a:t>Rubric grading</a:t>
            </a:r>
            <a:endParaRPr lang="en-US" sz="1350" dirty="0"/>
          </a:p>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Anchored 1–5 scale per criterion · “quotes as evidence” · “not addressed = 1, no credit for what you assume” · then: gaps + the questions to ask the author.</a:t>
            </a:r>
            <a:endParaRPr lang="en-US" sz="1350" dirty="0"/>
          </a:p>
        </p:txBody>
      </p:sp>
      <p:sp>
        <p:nvSpPr>
          <p:cNvPr id="10" name="Shape 7"/>
          <p:cNvSpPr/>
          <p:nvPr/>
        </p:nvSpPr>
        <p:spPr>
          <a:xfrm>
            <a:off x="502920" y="2926080"/>
            <a:ext cx="6858000" cy="1280160"/>
          </a:xfrm>
          <a:prstGeom prst="roundRect">
            <a:avLst>
              <a:gd name="adj" fmla="val 5714"/>
            </a:avLst>
          </a:prstGeom>
          <a:solidFill>
            <a:srgbClr val="F2F5F6"/>
          </a:solidFill>
          <a:ln/>
        </p:spPr>
      </p:sp>
      <p:sp>
        <p:nvSpPr>
          <p:cNvPr id="11" name="Shape 8"/>
          <p:cNvSpPr/>
          <p:nvPr/>
        </p:nvSpPr>
        <p:spPr>
          <a:xfrm>
            <a:off x="749808" y="3291840"/>
            <a:ext cx="502920" cy="502920"/>
          </a:xfrm>
          <a:prstGeom prst="ellipse">
            <a:avLst/>
          </a:prstGeom>
          <a:solidFill>
            <a:srgbClr val="0E7C7B"/>
          </a:solidFill>
          <a:ln/>
        </p:spPr>
      </p:sp>
      <p:pic>
        <p:nvPicPr>
          <p:cNvPr id="12" name="Image 1" descr="/home/user/Claude-Works/ai-training-prompt-engineering/src/assets/icons/scale_w.png">    </p:cNvPr>
          <p:cNvPicPr>
            <a:picLocks noChangeAspect="1"/>
          </p:cNvPicPr>
          <p:nvPr/>
        </p:nvPicPr>
        <p:blipFill>
          <a:blip r:embed="rId2"/>
          <a:stretch>
            <a:fillRect/>
          </a:stretch>
        </p:blipFill>
        <p:spPr>
          <a:xfrm>
            <a:off x="880567" y="3422599"/>
            <a:ext cx="241402" cy="241402"/>
          </a:xfrm>
          <a:prstGeom prst="rect">
            <a:avLst/>
          </a:prstGeom>
        </p:spPr>
      </p:pic>
      <p:sp>
        <p:nvSpPr>
          <p:cNvPr id="13" name="Text 9"/>
          <p:cNvSpPr/>
          <p:nvPr/>
        </p:nvSpPr>
        <p:spPr>
          <a:xfrm>
            <a:off x="1463040" y="3017520"/>
            <a:ext cx="5715000" cy="1097280"/>
          </a:xfrm>
          <a:prstGeom prst="rect">
            <a:avLst/>
          </a:prstGeom>
          <a:noFill/>
          <a:ln/>
        </p:spPr>
        <p:txBody>
          <a:bodyPr wrap="square" lIns="0" tIns="0" rIns="0" bIns="0" rtlCol="0" anchor="ctr"/>
          <a:lstStyle/>
          <a:p>
            <a:pPr indent="0" marL="0">
              <a:lnSpc>
                <a:spcPct val="106000"/>
              </a:lnSpc>
              <a:spcAft>
                <a:spcPts val="300"/>
              </a:spcAft>
              <a:buNone/>
            </a:pPr>
            <a:r>
              <a:rPr lang="en-US" sz="1350" b="1" dirty="0">
                <a:solidFill>
                  <a:srgbClr val="232A31"/>
                </a:solidFill>
                <a:latin typeface="Calibri" pitchFamily="34" charset="0"/>
                <a:ea typeface="Calibri" pitchFamily="34" charset="-122"/>
                <a:cs typeface="Calibri" pitchFamily="34" charset="-120"/>
              </a:rPr>
              <a:t>Pairwise comparison</a:t>
            </a:r>
            <a:endParaRPr lang="en-US" sz="1350" dirty="0"/>
          </a:p>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Score each option independently first, then head-to-head per criterion. Substance over polish, explicitly — and re-check imagining reverse reading order.</a:t>
            </a:r>
            <a:endParaRPr lang="en-US" sz="1350" dirty="0"/>
          </a:p>
        </p:txBody>
      </p:sp>
      <p:sp>
        <p:nvSpPr>
          <p:cNvPr id="14" name="Shape 10"/>
          <p:cNvSpPr/>
          <p:nvPr/>
        </p:nvSpPr>
        <p:spPr>
          <a:xfrm>
            <a:off x="502920" y="4343400"/>
            <a:ext cx="6858000" cy="1280160"/>
          </a:xfrm>
          <a:prstGeom prst="roundRect">
            <a:avLst>
              <a:gd name="adj" fmla="val 5714"/>
            </a:avLst>
          </a:prstGeom>
          <a:solidFill>
            <a:srgbClr val="F2F5F6"/>
          </a:solidFill>
          <a:ln/>
        </p:spPr>
      </p:sp>
      <p:sp>
        <p:nvSpPr>
          <p:cNvPr id="15" name="Shape 11"/>
          <p:cNvSpPr/>
          <p:nvPr/>
        </p:nvSpPr>
        <p:spPr>
          <a:xfrm>
            <a:off x="749808" y="4709160"/>
            <a:ext cx="502920" cy="502920"/>
          </a:xfrm>
          <a:prstGeom prst="ellipse">
            <a:avLst/>
          </a:prstGeom>
          <a:solidFill>
            <a:srgbClr val="0E7C7B"/>
          </a:solidFill>
          <a:ln/>
        </p:spPr>
      </p:sp>
      <p:pic>
        <p:nvPicPr>
          <p:cNvPr id="16" name="Image 2" descr="/home/user/Claude-Works/ai-training-prompt-engineering/src/assets/icons/shield_w.png">    </p:cNvPr>
          <p:cNvPicPr>
            <a:picLocks noChangeAspect="1"/>
          </p:cNvPicPr>
          <p:nvPr/>
        </p:nvPicPr>
        <p:blipFill>
          <a:blip r:embed="rId3"/>
          <a:stretch>
            <a:fillRect/>
          </a:stretch>
        </p:blipFill>
        <p:spPr>
          <a:xfrm>
            <a:off x="880567" y="4839919"/>
            <a:ext cx="241402" cy="241402"/>
          </a:xfrm>
          <a:prstGeom prst="rect">
            <a:avLst/>
          </a:prstGeom>
        </p:spPr>
      </p:pic>
      <p:sp>
        <p:nvSpPr>
          <p:cNvPr id="17" name="Text 12"/>
          <p:cNvSpPr/>
          <p:nvPr/>
        </p:nvSpPr>
        <p:spPr>
          <a:xfrm>
            <a:off x="1463040" y="4434840"/>
            <a:ext cx="5715000" cy="1097280"/>
          </a:xfrm>
          <a:prstGeom prst="rect">
            <a:avLst/>
          </a:prstGeom>
          <a:noFill/>
          <a:ln/>
        </p:spPr>
        <p:txBody>
          <a:bodyPr wrap="square" lIns="0" tIns="0" rIns="0" bIns="0" rtlCol="0" anchor="ctr"/>
          <a:lstStyle/>
          <a:p>
            <a:pPr indent="0" marL="0">
              <a:lnSpc>
                <a:spcPct val="106000"/>
              </a:lnSpc>
              <a:spcAft>
                <a:spcPts val="300"/>
              </a:spcAft>
              <a:buNone/>
            </a:pPr>
            <a:r>
              <a:rPr lang="en-US" sz="1350" b="1" dirty="0">
                <a:solidFill>
                  <a:srgbClr val="232A31"/>
                </a:solidFill>
                <a:latin typeface="Calibri" pitchFamily="34" charset="0"/>
                <a:ea typeface="Calibri" pitchFamily="34" charset="-122"/>
                <a:cs typeface="Calibri" pitchFamily="34" charset="-120"/>
              </a:rPr>
              <a:t>Critique my work</a:t>
            </a:r>
            <a:endParaRPr lang="en-US" sz="1350" dirty="0"/>
          </a:p>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Steelman the opposite position · three weakest points · “what evidence would prove this wrong?” · overall read only at the end. Never say which option you prefer.</a:t>
            </a:r>
            <a:endParaRPr lang="en-US" sz="1350" dirty="0"/>
          </a:p>
        </p:txBody>
      </p:sp>
      <p:sp>
        <p:nvSpPr>
          <p:cNvPr id="18" name="Shape 13"/>
          <p:cNvSpPr/>
          <p:nvPr/>
        </p:nvSpPr>
        <p:spPr>
          <a:xfrm>
            <a:off x="7635240" y="1508760"/>
            <a:ext cx="4023360" cy="4251960"/>
          </a:xfrm>
          <a:prstGeom prst="roundRect">
            <a:avLst>
              <a:gd name="adj" fmla="val 1818"/>
            </a:avLst>
          </a:prstGeom>
          <a:solidFill>
            <a:srgbClr val="FBF0E0"/>
          </a:solidFill>
          <a:ln/>
        </p:spPr>
      </p:sp>
      <p:sp>
        <p:nvSpPr>
          <p:cNvPr id="19" name="Text 14"/>
          <p:cNvSpPr/>
          <p:nvPr/>
        </p:nvSpPr>
        <p:spPr>
          <a:xfrm>
            <a:off x="7882128" y="1719072"/>
            <a:ext cx="3566160" cy="36576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Judge biases to design around</a:t>
            </a:r>
            <a:endParaRPr lang="en-US" sz="1350" dirty="0"/>
          </a:p>
        </p:txBody>
      </p:sp>
      <p:sp>
        <p:nvSpPr>
          <p:cNvPr id="20" name="Text 15"/>
          <p:cNvSpPr/>
          <p:nvPr/>
        </p:nvSpPr>
        <p:spPr>
          <a:xfrm>
            <a:off x="7909560" y="2176272"/>
            <a:ext cx="3520440" cy="34747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Position bias — favors the first/last option read</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Verbosity bias — longer reads as better</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Self-preference — models rate their own style highly</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Sycophancy — mirrors any preference you leak</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Countered by: rubrics, quotes-as-evidence, independent-then-compare, blind authorship, two runs</a:t>
            </a:r>
            <a:endParaRPr lang="en-US" sz="1100" dirty="0"/>
          </a:p>
        </p:txBody>
      </p:sp>
      <p:sp>
        <p:nvSpPr>
          <p:cNvPr id="21" name="Shape 16"/>
          <p:cNvSpPr/>
          <p:nvPr/>
        </p:nvSpPr>
        <p:spPr>
          <a:xfrm>
            <a:off x="502920" y="5897880"/>
            <a:ext cx="11155680" cy="566928"/>
          </a:xfrm>
          <a:prstGeom prst="roundRect">
            <a:avLst>
              <a:gd name="adj" fmla="val 12903"/>
            </a:avLst>
          </a:prstGeom>
          <a:solidFill>
            <a:srgbClr val="F9E9E8"/>
          </a:solidFill>
          <a:ln/>
        </p:spPr>
      </p:sp>
      <p:sp>
        <p:nvSpPr>
          <p:cNvPr id="22" name="Shape 17"/>
          <p:cNvSpPr/>
          <p:nvPr/>
        </p:nvSpPr>
        <p:spPr>
          <a:xfrm>
            <a:off x="667512" y="5989320"/>
            <a:ext cx="384048" cy="384048"/>
          </a:xfrm>
          <a:prstGeom prst="ellipse">
            <a:avLst/>
          </a:prstGeom>
          <a:solidFill>
            <a:srgbClr val="AF3230"/>
          </a:solidFill>
          <a:ln/>
        </p:spPr>
      </p:sp>
      <p:pic>
        <p:nvPicPr>
          <p:cNvPr id="23" name="Image 3" descr="/home/user/Claude-Works/ai-training-prompt-engineering/src/assets/icons/hand_w.png">    </p:cNvPr>
          <p:cNvPicPr>
            <a:picLocks noChangeAspect="1"/>
          </p:cNvPicPr>
          <p:nvPr/>
        </p:nvPicPr>
        <p:blipFill>
          <a:blip r:embed="rId4"/>
          <a:stretch>
            <a:fillRect/>
          </a:stretch>
        </p:blipFill>
        <p:spPr>
          <a:xfrm>
            <a:off x="767364" y="6089172"/>
            <a:ext cx="184343" cy="184343"/>
          </a:xfrm>
          <a:prstGeom prst="rect">
            <a:avLst/>
          </a:prstGeom>
        </p:spPr>
      </p:pic>
      <p:sp>
        <p:nvSpPr>
          <p:cNvPr id="24" name="Text 18"/>
          <p:cNvSpPr/>
          <p:nvPr/>
        </p:nvSpPr>
        <p:spPr>
          <a:xfrm>
            <a:off x="1216152" y="5971032"/>
            <a:ext cx="10213848" cy="420624"/>
          </a:xfrm>
          <a:prstGeom prst="rect">
            <a:avLst/>
          </a:prstGeom>
          <a:noFill/>
          <a:ln/>
        </p:spPr>
        <p:txBody>
          <a:bodyPr wrap="square" lIns="0" tIns="0" rIns="0" bIns="0" rtlCol="0" anchor="ctr"/>
          <a:lstStyle/>
          <a:p>
            <a:pPr indent="0" marL="0">
              <a:lnSpc>
                <a:spcPct val="106000"/>
              </a:lnSpc>
              <a:buNone/>
            </a:pPr>
            <a:r>
              <a:rPr lang="en-US" sz="1150" b="1" dirty="0">
                <a:solidFill>
                  <a:srgbClr val="AF3230"/>
                </a:solidFill>
                <a:latin typeface="Calibri" pitchFamily="34" charset="0"/>
                <a:ea typeface="Calibri" pitchFamily="34" charset="-122"/>
                <a:cs typeface="Calibri" pitchFamily="34" charset="-120"/>
              </a:rPr>
              <a:t>Boundary: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consequential calls — people, money, compliance — get a human owner. AI narrows the field and sharpens questions; it doesn’t sign.</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FILES THAT DO WORK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TEMPLATES G4 + G5</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Spreadsheets and decks: specify like an engineer</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G4 · Spreadsheets</a:t>
            </a:r>
            <a:endParaRPr lang="en-US" sz="1500" dirty="0"/>
          </a:p>
        </p:txBody>
      </p:sp>
      <p:sp>
        <p:nvSpPr>
          <p:cNvPr id="8" name="Text 6"/>
          <p:cNvSpPr/>
          <p:nvPr/>
        </p:nvSpPr>
        <p:spPr>
          <a:xfrm>
            <a:off x="82296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Name exact columns (“C = Ship Date, F = Qty”) — the single highest-leverage habit; it’s Microsoft’s own #1 tip</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Every workbook ships a README tab: sources, as-of date, metric definitions, assumptions, change log</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Formulas, not pasted values — the file must survive a data update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Cleaning: values unchanged, every rule logged with rows affected, oddities listed for review — never silently “fixed”</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Formula help: explained piece by piece before insertion + a 3-row hand check</a:t>
            </a:r>
            <a:endParaRPr lang="en-US" sz="1150" dirty="0"/>
          </a:p>
        </p:txBody>
      </p:sp>
      <p:sp>
        <p:nvSpPr>
          <p:cNvPr id="9" name="Shape 7"/>
          <p:cNvSpPr/>
          <p:nvPr/>
        </p:nvSpPr>
        <p:spPr>
          <a:xfrm>
            <a:off x="6172200" y="1508760"/>
            <a:ext cx="5486400" cy="4526280"/>
          </a:xfrm>
          <a:prstGeom prst="roundRect">
            <a:avLst>
              <a:gd name="adj" fmla="val 1616"/>
            </a:avLst>
          </a:prstGeom>
          <a:solidFill>
            <a:srgbClr val="F2F5F6"/>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G5 · Presentations</a:t>
            </a:r>
            <a:endParaRPr lang="en-US" sz="1500" dirty="0"/>
          </a:p>
        </p:txBody>
      </p:sp>
      <p:sp>
        <p:nvSpPr>
          <p:cNvPr id="11" name="Text 9"/>
          <p:cNvSpPr/>
          <p:nvPr/>
        </p:nvSpPr>
        <p:spPr>
          <a:xfrm>
            <a:off x="649224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Flow: content → outline → approval → deck. Never “make me a presentation about X”</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Titles state findings with the number (“Scrap fell 40% after the fixture change”), never topics (“Scrap update”)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Audience + minutes-of-their-time in the prompt sets the altitude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Gate: titles + bullets as plain text for approval BEFORE rendering — re-rendering is cheap, re-thinking a circulated deck is not</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Speaker notes + source/as-of footer on every data slide</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BEYOND OFFICE FILES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TEMPLATES G6 + G7</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Interactive HTML — and research that cites its sources</a:t>
            </a:r>
            <a:endParaRPr lang="en-US" sz="3000" dirty="0"/>
          </a:p>
        </p:txBody>
      </p:sp>
      <p:sp>
        <p:nvSpPr>
          <p:cNvPr id="6" name="Shape 4"/>
          <p:cNvSpPr/>
          <p:nvPr/>
        </p:nvSpPr>
        <p:spPr>
          <a:xfrm>
            <a:off x="502920" y="1508760"/>
            <a:ext cx="5486400" cy="4526280"/>
          </a:xfrm>
          <a:prstGeom prst="roundRect">
            <a:avLst>
              <a:gd name="adj" fmla="val 1616"/>
            </a:avLst>
          </a:prstGeom>
          <a:solidFill>
            <a:srgbClr val="E4F0EF"/>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G6 · Interactive HTML</a:t>
            </a:r>
            <a:endParaRPr lang="en-US" sz="1500" dirty="0"/>
          </a:p>
        </p:txBody>
      </p:sp>
      <p:sp>
        <p:nvSpPr>
          <p:cNvPr id="8" name="Text 6"/>
          <p:cNvSpPr/>
          <p:nvPr/>
        </p:nvSpPr>
        <p:spPr>
          <a:xfrm>
            <a:off x="82296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When the audience will explore — filter, sort, what-if — one HTML file beats a deck or spreadsheet</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Ask for: single file, data embedded, works offline from disk on a locked-down laptop — email it or drop it on SharePoint</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Shapes: KPI dashboard with filters · what-if calculator (formulas shown on screen, auditable) · searchable team tracker / reference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All numbers computed from embedded data — no hard-coded results you can’t trace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Treat the file like the data inside it: same confidentiality class · give it an owner + as-of banner, or it goes stale-but-credible</a:t>
            </a:r>
            <a:endParaRPr lang="en-US" sz="1150" dirty="0"/>
          </a:p>
        </p:txBody>
      </p:sp>
      <p:sp>
        <p:nvSpPr>
          <p:cNvPr id="9" name="Shape 7"/>
          <p:cNvSpPr/>
          <p:nvPr/>
        </p:nvSpPr>
        <p:spPr>
          <a:xfrm>
            <a:off x="6172200" y="1508760"/>
            <a:ext cx="5486400" cy="4526280"/>
          </a:xfrm>
          <a:prstGeom prst="roundRect">
            <a:avLst>
              <a:gd name="adj" fmla="val 1616"/>
            </a:avLst>
          </a:prstGeom>
          <a:solidFill>
            <a:srgbClr val="F2F5F6"/>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G7 · Research briefs</a:t>
            </a:r>
            <a:endParaRPr lang="en-US" sz="1500" dirty="0"/>
          </a:p>
        </p:txBody>
      </p:sp>
      <p:sp>
        <p:nvSpPr>
          <p:cNvPr id="11" name="Text 9"/>
          <p:cNvSpPr/>
          <p:nvPr/>
        </p:nvSpPr>
        <p:spPr>
          <a:xfrm>
            <a:off x="649224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 research question, not a topic — plus the decision it feeds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Use tools that actually search and cite; never trust from-memory citations</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Every bullet ends with a link and a date; no link → labeled “unsourced — verify”</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Demand the gaps section: “what the sources do NOT establish” — where honesty lives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Spot-check 2–3 load-bearing links before you forward; for big calls, run the question in a second tool and mind the disagreements</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33</a:t>
            </a:r>
            <a:endParaRPr lang="en-US" sz="850" dirty="0"/>
          </a:p>
        </p:txBody>
      </p:sp>
      <p:sp>
        <p:nvSpPr>
          <p:cNvPr id="3" name="Text 1"/>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5 · AGENTIC AI</a:t>
            </a:r>
            <a:endParaRPr lang="en-US" sz="1600" dirty="0"/>
          </a:p>
        </p:txBody>
      </p:sp>
      <p:sp>
        <p:nvSpPr>
          <p:cNvPr id="4" name="Text 2"/>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From asking</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to delegating</a:t>
            </a:r>
            <a:endParaRPr lang="en-US" sz="4400" dirty="0"/>
          </a:p>
        </p:txBody>
      </p:sp>
      <p:sp>
        <p:nvSpPr>
          <p:cNvPr id="5" name="Text 3"/>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Chat prompts ask for text. Agentic prompts hand over a job — which changes what a prompt must contain: environment, process, checks, and when to stop and ask you.</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WHAT AN AGENT 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MECHANICS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agent = model + tools + instructions, run in a loop</a:t>
            </a:r>
            <a:endParaRPr lang="en-US" sz="3000" dirty="0"/>
          </a:p>
        </p:txBody>
      </p:sp>
      <p:sp>
        <p:nvSpPr>
          <p:cNvPr id="6" name="Shape 4"/>
          <p:cNvSpPr/>
          <p:nvPr/>
        </p:nvSpPr>
        <p:spPr>
          <a:xfrm>
            <a:off x="502920" y="1600200"/>
            <a:ext cx="1325880" cy="1051560"/>
          </a:xfrm>
          <a:prstGeom prst="roundRect">
            <a:avLst>
              <a:gd name="adj" fmla="val 6957"/>
            </a:avLst>
          </a:prstGeom>
          <a:solidFill>
            <a:srgbClr val="E4F0EF"/>
          </a:solidFill>
          <a:ln/>
        </p:spPr>
      </p:sp>
      <p:sp>
        <p:nvSpPr>
          <p:cNvPr id="7" name="Text 5"/>
          <p:cNvSpPr/>
          <p:nvPr/>
        </p:nvSpPr>
        <p:spPr>
          <a:xfrm>
            <a:off x="502920"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Gather</a:t>
            </a:r>
            <a:endParaRPr lang="en-US" sz="1300" dirty="0"/>
          </a:p>
        </p:txBody>
      </p:sp>
      <p:sp>
        <p:nvSpPr>
          <p:cNvPr id="8" name="Text 6"/>
          <p:cNvSpPr/>
          <p:nvPr/>
        </p:nvSpPr>
        <p:spPr>
          <a:xfrm>
            <a:off x="557784" y="2066544"/>
            <a:ext cx="1216152" cy="548640"/>
          </a:xfrm>
          <a:prstGeom prst="rect">
            <a:avLst/>
          </a:prstGeom>
          <a:noFill/>
          <a:ln/>
        </p:spPr>
        <p:txBody>
          <a:bodyPr wrap="square" lIns="0" tIns="0" rIns="0" bIns="0" rtlCol="0" anchor="ctr"/>
          <a:lstStyle/>
          <a:p>
            <a:pPr algn="ctr" indent="0" marL="0">
              <a:lnSpc>
                <a:spcPct val="100000"/>
              </a:lnSpc>
              <a:buNone/>
            </a:pPr>
            <a:r>
              <a:rPr lang="en-US" sz="830" dirty="0">
                <a:solidFill>
                  <a:srgbClr val="46545F"/>
                </a:solidFill>
                <a:latin typeface="Calibri" pitchFamily="34" charset="0"/>
                <a:ea typeface="Calibri" pitchFamily="34" charset="-122"/>
                <a:cs typeface="Calibri" pitchFamily="34" charset="-120"/>
              </a:rPr>
              <a:t>read files, search, look at state</a:t>
            </a:r>
            <a:endParaRPr lang="en-US" sz="830" dirty="0"/>
          </a:p>
        </p:txBody>
      </p:sp>
      <p:sp>
        <p:nvSpPr>
          <p:cNvPr id="9" name="Shape 7"/>
          <p:cNvSpPr/>
          <p:nvPr/>
        </p:nvSpPr>
        <p:spPr>
          <a:xfrm>
            <a:off x="1837944" y="2121408"/>
            <a:ext cx="146304" cy="0"/>
          </a:xfrm>
          <a:prstGeom prst="line">
            <a:avLst/>
          </a:prstGeom>
          <a:noFill/>
          <a:ln w="28575">
            <a:solidFill>
              <a:srgbClr val="0E7C7B"/>
            </a:solidFill>
            <a:prstDash val="solid"/>
            <a:tailEnd type="triangle"/>
          </a:ln>
        </p:spPr>
      </p:sp>
      <p:sp>
        <p:nvSpPr>
          <p:cNvPr id="10" name="Shape 8"/>
          <p:cNvSpPr/>
          <p:nvPr/>
        </p:nvSpPr>
        <p:spPr>
          <a:xfrm>
            <a:off x="1984248" y="1600200"/>
            <a:ext cx="1325880" cy="1051560"/>
          </a:xfrm>
          <a:prstGeom prst="roundRect">
            <a:avLst>
              <a:gd name="adj" fmla="val 6957"/>
            </a:avLst>
          </a:prstGeom>
          <a:solidFill>
            <a:srgbClr val="E4F0EF"/>
          </a:solidFill>
          <a:ln/>
        </p:spPr>
      </p:sp>
      <p:sp>
        <p:nvSpPr>
          <p:cNvPr id="11" name="Text 9"/>
          <p:cNvSpPr/>
          <p:nvPr/>
        </p:nvSpPr>
        <p:spPr>
          <a:xfrm>
            <a:off x="1984248"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Act</a:t>
            </a:r>
            <a:endParaRPr lang="en-US" sz="1300" dirty="0"/>
          </a:p>
        </p:txBody>
      </p:sp>
      <p:sp>
        <p:nvSpPr>
          <p:cNvPr id="12" name="Text 10"/>
          <p:cNvSpPr/>
          <p:nvPr/>
        </p:nvSpPr>
        <p:spPr>
          <a:xfrm>
            <a:off x="2039112" y="2066544"/>
            <a:ext cx="1216152" cy="548640"/>
          </a:xfrm>
          <a:prstGeom prst="rect">
            <a:avLst/>
          </a:prstGeom>
          <a:noFill/>
          <a:ln/>
        </p:spPr>
        <p:txBody>
          <a:bodyPr wrap="square" lIns="0" tIns="0" rIns="0" bIns="0" rtlCol="0" anchor="ctr"/>
          <a:lstStyle/>
          <a:p>
            <a:pPr algn="ctr" indent="0" marL="0">
              <a:lnSpc>
                <a:spcPct val="100000"/>
              </a:lnSpc>
              <a:buNone/>
            </a:pPr>
            <a:r>
              <a:rPr lang="en-US" sz="830" dirty="0">
                <a:solidFill>
                  <a:srgbClr val="46545F"/>
                </a:solidFill>
                <a:latin typeface="Calibri" pitchFamily="34" charset="0"/>
                <a:ea typeface="Calibri" pitchFamily="34" charset="-122"/>
                <a:cs typeface="Calibri" pitchFamily="34" charset="-120"/>
              </a:rPr>
              <a:t>one step: edit, run, query, write</a:t>
            </a:r>
            <a:endParaRPr lang="en-US" sz="830" dirty="0"/>
          </a:p>
        </p:txBody>
      </p:sp>
      <p:sp>
        <p:nvSpPr>
          <p:cNvPr id="13" name="Shape 11"/>
          <p:cNvSpPr/>
          <p:nvPr/>
        </p:nvSpPr>
        <p:spPr>
          <a:xfrm>
            <a:off x="3319272" y="2121408"/>
            <a:ext cx="146304" cy="0"/>
          </a:xfrm>
          <a:prstGeom prst="line">
            <a:avLst/>
          </a:prstGeom>
          <a:noFill/>
          <a:ln w="28575">
            <a:solidFill>
              <a:srgbClr val="0E7C7B"/>
            </a:solidFill>
            <a:prstDash val="solid"/>
            <a:tailEnd type="triangle"/>
          </a:ln>
        </p:spPr>
      </p:sp>
      <p:sp>
        <p:nvSpPr>
          <p:cNvPr id="14" name="Shape 12"/>
          <p:cNvSpPr/>
          <p:nvPr/>
        </p:nvSpPr>
        <p:spPr>
          <a:xfrm>
            <a:off x="3465576" y="1600200"/>
            <a:ext cx="1325880" cy="1051560"/>
          </a:xfrm>
          <a:prstGeom prst="roundRect">
            <a:avLst>
              <a:gd name="adj" fmla="val 6957"/>
            </a:avLst>
          </a:prstGeom>
          <a:solidFill>
            <a:srgbClr val="E4F0EF"/>
          </a:solidFill>
          <a:ln/>
        </p:spPr>
      </p:sp>
      <p:sp>
        <p:nvSpPr>
          <p:cNvPr id="15" name="Text 13"/>
          <p:cNvSpPr/>
          <p:nvPr/>
        </p:nvSpPr>
        <p:spPr>
          <a:xfrm>
            <a:off x="3465576"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Verify</a:t>
            </a:r>
            <a:endParaRPr lang="en-US" sz="1300" dirty="0"/>
          </a:p>
        </p:txBody>
      </p:sp>
      <p:sp>
        <p:nvSpPr>
          <p:cNvPr id="16" name="Text 14"/>
          <p:cNvSpPr/>
          <p:nvPr/>
        </p:nvSpPr>
        <p:spPr>
          <a:xfrm>
            <a:off x="3520440" y="2066544"/>
            <a:ext cx="1216152" cy="548640"/>
          </a:xfrm>
          <a:prstGeom prst="rect">
            <a:avLst/>
          </a:prstGeom>
          <a:noFill/>
          <a:ln/>
        </p:spPr>
        <p:txBody>
          <a:bodyPr wrap="square" lIns="0" tIns="0" rIns="0" bIns="0" rtlCol="0" anchor="ctr"/>
          <a:lstStyle/>
          <a:p>
            <a:pPr algn="ctr" indent="0" marL="0">
              <a:lnSpc>
                <a:spcPct val="100000"/>
              </a:lnSpc>
              <a:buNone/>
            </a:pPr>
            <a:r>
              <a:rPr lang="en-US" sz="830" dirty="0">
                <a:solidFill>
                  <a:srgbClr val="46545F"/>
                </a:solidFill>
                <a:latin typeface="Calibri" pitchFamily="34" charset="0"/>
                <a:ea typeface="Calibri" pitchFamily="34" charset="-122"/>
                <a:cs typeface="Calibri" pitchFamily="34" charset="-120"/>
              </a:rPr>
              <a:t>check the result against the goal</a:t>
            </a:r>
            <a:endParaRPr lang="en-US" sz="830" dirty="0"/>
          </a:p>
        </p:txBody>
      </p:sp>
      <p:sp>
        <p:nvSpPr>
          <p:cNvPr id="17" name="Shape 15"/>
          <p:cNvSpPr/>
          <p:nvPr/>
        </p:nvSpPr>
        <p:spPr>
          <a:xfrm>
            <a:off x="4800600" y="2121408"/>
            <a:ext cx="146304" cy="0"/>
          </a:xfrm>
          <a:prstGeom prst="line">
            <a:avLst/>
          </a:prstGeom>
          <a:noFill/>
          <a:ln w="28575">
            <a:solidFill>
              <a:srgbClr val="0E7C7B"/>
            </a:solidFill>
            <a:prstDash val="solid"/>
            <a:tailEnd type="triangle"/>
          </a:ln>
        </p:spPr>
      </p:sp>
      <p:sp>
        <p:nvSpPr>
          <p:cNvPr id="18" name="Shape 16"/>
          <p:cNvSpPr/>
          <p:nvPr/>
        </p:nvSpPr>
        <p:spPr>
          <a:xfrm>
            <a:off x="4946904" y="1600200"/>
            <a:ext cx="1325880" cy="1051560"/>
          </a:xfrm>
          <a:prstGeom prst="roundRect">
            <a:avLst>
              <a:gd name="adj" fmla="val 6957"/>
            </a:avLst>
          </a:prstGeom>
          <a:solidFill>
            <a:srgbClr val="E4F0EF"/>
          </a:solidFill>
          <a:ln/>
        </p:spPr>
      </p:sp>
      <p:sp>
        <p:nvSpPr>
          <p:cNvPr id="19" name="Text 17"/>
          <p:cNvSpPr/>
          <p:nvPr/>
        </p:nvSpPr>
        <p:spPr>
          <a:xfrm>
            <a:off x="4946904"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Repeat</a:t>
            </a:r>
            <a:endParaRPr lang="en-US" sz="1300" dirty="0"/>
          </a:p>
        </p:txBody>
      </p:sp>
      <p:sp>
        <p:nvSpPr>
          <p:cNvPr id="20" name="Text 18"/>
          <p:cNvSpPr/>
          <p:nvPr/>
        </p:nvSpPr>
        <p:spPr>
          <a:xfrm>
            <a:off x="5001768" y="2066544"/>
            <a:ext cx="1216152" cy="548640"/>
          </a:xfrm>
          <a:prstGeom prst="rect">
            <a:avLst/>
          </a:prstGeom>
          <a:noFill/>
          <a:ln/>
        </p:spPr>
        <p:txBody>
          <a:bodyPr wrap="square" lIns="0" tIns="0" rIns="0" bIns="0" rtlCol="0" anchor="ctr"/>
          <a:lstStyle/>
          <a:p>
            <a:pPr algn="ctr" indent="0" marL="0">
              <a:lnSpc>
                <a:spcPct val="100000"/>
              </a:lnSpc>
              <a:buNone/>
            </a:pPr>
            <a:r>
              <a:rPr lang="en-US" sz="830" dirty="0">
                <a:solidFill>
                  <a:srgbClr val="46545F"/>
                </a:solidFill>
                <a:latin typeface="Calibri" pitchFamily="34" charset="0"/>
                <a:ea typeface="Calibri" pitchFamily="34" charset="-122"/>
                <a:cs typeface="Calibri" pitchFamily="34" charset="-120"/>
              </a:rPr>
              <a:t>adjust and continue — or stop</a:t>
            </a:r>
            <a:endParaRPr lang="en-US" sz="830" dirty="0"/>
          </a:p>
        </p:txBody>
      </p:sp>
      <p:sp>
        <p:nvSpPr>
          <p:cNvPr id="21" name="Shape 19"/>
          <p:cNvSpPr/>
          <p:nvPr/>
        </p:nvSpPr>
        <p:spPr>
          <a:xfrm>
            <a:off x="6144768" y="2651760"/>
            <a:ext cx="0" cy="365760"/>
          </a:xfrm>
          <a:prstGeom prst="line">
            <a:avLst/>
          </a:prstGeom>
          <a:noFill/>
          <a:ln w="19050">
            <a:solidFill>
              <a:srgbClr val="7A8790"/>
            </a:solidFill>
            <a:prstDash val="solid"/>
          </a:ln>
        </p:spPr>
      </p:sp>
      <p:sp>
        <p:nvSpPr>
          <p:cNvPr id="22" name="Shape 20"/>
          <p:cNvSpPr/>
          <p:nvPr/>
        </p:nvSpPr>
        <p:spPr>
          <a:xfrm>
            <a:off x="1161288" y="3017520"/>
            <a:ext cx="4983480" cy="0"/>
          </a:xfrm>
          <a:prstGeom prst="line">
            <a:avLst/>
          </a:prstGeom>
          <a:noFill/>
          <a:ln w="19050">
            <a:solidFill>
              <a:srgbClr val="7A8790"/>
            </a:solidFill>
            <a:prstDash val="solid"/>
          </a:ln>
        </p:spPr>
      </p:sp>
      <p:sp>
        <p:nvSpPr>
          <p:cNvPr id="23" name="Shape 21"/>
          <p:cNvSpPr/>
          <p:nvPr/>
        </p:nvSpPr>
        <p:spPr>
          <a:xfrm>
            <a:off x="1161288" y="2670048"/>
            <a:ext cx="0" cy="347472"/>
          </a:xfrm>
          <a:prstGeom prst="line">
            <a:avLst/>
          </a:prstGeom>
          <a:noFill/>
          <a:ln w="19050">
            <a:solidFill>
              <a:srgbClr val="7A8790"/>
            </a:solidFill>
            <a:prstDash val="solid"/>
            <a:tailEnd type="triangle"/>
          </a:ln>
        </p:spPr>
      </p:sp>
      <p:sp>
        <p:nvSpPr>
          <p:cNvPr id="24" name="Text 22"/>
          <p:cNvSpPr/>
          <p:nvPr/>
        </p:nvSpPr>
        <p:spPr>
          <a:xfrm>
            <a:off x="1371600" y="3072384"/>
            <a:ext cx="502920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…until the goal is met, a check fails, or a guardrail says “ask the human”</a:t>
            </a:r>
            <a:endParaRPr lang="en-US" sz="950" dirty="0"/>
          </a:p>
        </p:txBody>
      </p:sp>
      <p:sp>
        <p:nvSpPr>
          <p:cNvPr id="25" name="Shape 23"/>
          <p:cNvSpPr/>
          <p:nvPr/>
        </p:nvSpPr>
        <p:spPr>
          <a:xfrm>
            <a:off x="6766560" y="1600200"/>
            <a:ext cx="4892040" cy="1783080"/>
          </a:xfrm>
          <a:prstGeom prst="roundRect">
            <a:avLst>
              <a:gd name="adj" fmla="val 4103"/>
            </a:avLst>
          </a:prstGeom>
          <a:solidFill>
            <a:srgbClr val="F2F5F6"/>
          </a:solidFill>
          <a:ln/>
        </p:spPr>
      </p:sp>
      <p:sp>
        <p:nvSpPr>
          <p:cNvPr id="26" name="Text 24"/>
          <p:cNvSpPr/>
          <p:nvPr/>
        </p:nvSpPr>
        <p:spPr>
          <a:xfrm>
            <a:off x="6995160" y="1755648"/>
            <a:ext cx="448056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In the vendors’ words</a:t>
            </a:r>
            <a:endParaRPr lang="en-US" sz="1300" dirty="0"/>
          </a:p>
        </p:txBody>
      </p:sp>
      <p:sp>
        <p:nvSpPr>
          <p:cNvPr id="27" name="Text 25"/>
          <p:cNvSpPr/>
          <p:nvPr/>
        </p:nvSpPr>
        <p:spPr>
          <a:xfrm>
            <a:off x="6995160" y="2121408"/>
            <a:ext cx="4434840" cy="1188720"/>
          </a:xfrm>
          <a:prstGeom prst="rect">
            <a:avLst/>
          </a:prstGeom>
          <a:noFill/>
          <a:ln/>
        </p:spPr>
        <p:txBody>
          <a:bodyPr wrap="square" lIns="0" tIns="0" rIns="0" bIns="0" rtlCol="0" anchor="ctr"/>
          <a:lstStyle/>
          <a:p>
            <a:pPr indent="0" marL="0">
              <a:lnSpc>
                <a:spcPct val="110000"/>
              </a:lnSpc>
              <a:buNone/>
            </a:pPr>
            <a:r>
              <a:rPr lang="en-US" sz="1080" i="1" dirty="0">
                <a:solidFill>
                  <a:srgbClr val="46545F"/>
                </a:solidFill>
                <a:latin typeface="Calibri" pitchFamily="34" charset="0"/>
                <a:ea typeface="Calibri" pitchFamily="34" charset="-122"/>
                <a:cs typeface="Calibri" pitchFamily="34" charset="-120"/>
              </a:rPr>
              <a:t>“Systems that independently accomplish tasks on your behalf” (OpenAI) · models that “dynamically direct their own processes and tool usage” (Anthropic) — a chatbot that answers and waits is not an agent.</a:t>
            </a:r>
            <a:endParaRPr lang="en-US" sz="1080" dirty="0"/>
          </a:p>
        </p:txBody>
      </p:sp>
      <p:sp>
        <p:nvSpPr>
          <p:cNvPr id="28" name="Shape 26"/>
          <p:cNvSpPr/>
          <p:nvPr/>
        </p:nvSpPr>
        <p:spPr>
          <a:xfrm>
            <a:off x="502920" y="3611880"/>
            <a:ext cx="5440680" cy="1097280"/>
          </a:xfrm>
          <a:prstGeom prst="roundRect">
            <a:avLst>
              <a:gd name="adj" fmla="val 6667"/>
            </a:avLst>
          </a:prstGeom>
          <a:solidFill>
            <a:srgbClr val="F2F5F6"/>
          </a:solidFill>
          <a:ln/>
        </p:spPr>
      </p:sp>
      <p:sp>
        <p:nvSpPr>
          <p:cNvPr id="29" name="Shape 27"/>
          <p:cNvSpPr/>
          <p:nvPr/>
        </p:nvSpPr>
        <p:spPr>
          <a:xfrm>
            <a:off x="685800" y="3922776"/>
            <a:ext cx="457200" cy="457200"/>
          </a:xfrm>
          <a:prstGeom prst="ellipse">
            <a:avLst/>
          </a:prstGeom>
          <a:solidFill>
            <a:srgbClr val="46545F"/>
          </a:solidFill>
          <a:ln/>
        </p:spPr>
      </p:sp>
      <p:pic>
        <p:nvPicPr>
          <p:cNvPr id="30" name="Image 0" descr="/home/user/Claude-Works/ai-training-prompt-engineering/src/assets/icons/tool_w.png">    </p:cNvPr>
          <p:cNvPicPr>
            <a:picLocks noChangeAspect="1"/>
          </p:cNvPicPr>
          <p:nvPr/>
        </p:nvPicPr>
        <p:blipFill>
          <a:blip r:embed="rId1"/>
          <a:stretch>
            <a:fillRect/>
          </a:stretch>
        </p:blipFill>
        <p:spPr>
          <a:xfrm>
            <a:off x="804672" y="4041648"/>
            <a:ext cx="219456" cy="219456"/>
          </a:xfrm>
          <a:prstGeom prst="rect">
            <a:avLst/>
          </a:prstGeom>
        </p:spPr>
      </p:pic>
      <p:sp>
        <p:nvSpPr>
          <p:cNvPr id="31" name="Text 28"/>
          <p:cNvSpPr/>
          <p:nvPr/>
        </p:nvSpPr>
        <p:spPr>
          <a:xfrm>
            <a:off x="128016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Tools — the arms</a:t>
            </a:r>
            <a:endParaRPr lang="en-US" sz="1250" dirty="0"/>
          </a:p>
          <a:p>
            <a:pPr indent="0" marL="0">
              <a:lnSpc>
                <a:spcPct val="104000"/>
              </a:lnSpc>
              <a:buNone/>
            </a:pPr>
            <a:r>
              <a:rPr lang="en-US" sz="1030" dirty="0">
                <a:solidFill>
                  <a:srgbClr val="46545F"/>
                </a:solidFill>
                <a:latin typeface="Calibri" pitchFamily="34" charset="0"/>
                <a:ea typeface="Calibri" pitchFamily="34" charset="-122"/>
                <a:cs typeface="Calibri" pitchFamily="34" charset="-120"/>
              </a:rPr>
              <a:t>files, shell, browsers, spreadsheets, email, code. The model requests; the harness executes.</a:t>
            </a:r>
            <a:endParaRPr lang="en-US" sz="1250" dirty="0"/>
          </a:p>
        </p:txBody>
      </p:sp>
      <p:sp>
        <p:nvSpPr>
          <p:cNvPr id="32" name="Shape 29"/>
          <p:cNvSpPr/>
          <p:nvPr/>
        </p:nvSpPr>
        <p:spPr>
          <a:xfrm>
            <a:off x="6172200" y="3611880"/>
            <a:ext cx="5440680" cy="1097280"/>
          </a:xfrm>
          <a:prstGeom prst="roundRect">
            <a:avLst>
              <a:gd name="adj" fmla="val 6667"/>
            </a:avLst>
          </a:prstGeom>
          <a:solidFill>
            <a:srgbClr val="F2F5F6"/>
          </a:solidFill>
          <a:ln/>
        </p:spPr>
      </p:sp>
      <p:sp>
        <p:nvSpPr>
          <p:cNvPr id="33" name="Shape 30"/>
          <p:cNvSpPr/>
          <p:nvPr/>
        </p:nvSpPr>
        <p:spPr>
          <a:xfrm>
            <a:off x="6355080" y="3922776"/>
            <a:ext cx="457200" cy="457200"/>
          </a:xfrm>
          <a:prstGeom prst="ellipse">
            <a:avLst/>
          </a:prstGeom>
          <a:solidFill>
            <a:srgbClr val="46545F"/>
          </a:solidFill>
          <a:ln/>
        </p:spPr>
      </p:sp>
      <p:pic>
        <p:nvPicPr>
          <p:cNvPr id="34" name="Image 1" descr="/home/user/Claude-Works/ai-training-prompt-engineering/src/assets/icons/branch_w.png">    </p:cNvPr>
          <p:cNvPicPr>
            <a:picLocks noChangeAspect="1"/>
          </p:cNvPicPr>
          <p:nvPr/>
        </p:nvPicPr>
        <p:blipFill>
          <a:blip r:embed="rId2"/>
          <a:stretch>
            <a:fillRect/>
          </a:stretch>
        </p:blipFill>
        <p:spPr>
          <a:xfrm>
            <a:off x="6473952" y="4041648"/>
            <a:ext cx="219456" cy="219456"/>
          </a:xfrm>
          <a:prstGeom prst="rect">
            <a:avLst/>
          </a:prstGeom>
        </p:spPr>
      </p:pic>
      <p:sp>
        <p:nvSpPr>
          <p:cNvPr id="35" name="Text 31"/>
          <p:cNvSpPr/>
          <p:nvPr/>
        </p:nvSpPr>
        <p:spPr>
          <a:xfrm>
            <a:off x="694944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MCP — the standard port</a:t>
            </a:r>
            <a:endParaRPr lang="en-US" sz="1250" dirty="0"/>
          </a:p>
          <a:p>
            <a:pPr indent="0" marL="0">
              <a:lnSpc>
                <a:spcPct val="104000"/>
              </a:lnSpc>
              <a:buNone/>
            </a:pPr>
            <a:r>
              <a:rPr lang="en-US" sz="1030" dirty="0">
                <a:solidFill>
                  <a:srgbClr val="46545F"/>
                </a:solidFill>
                <a:latin typeface="Calibri" pitchFamily="34" charset="0"/>
                <a:ea typeface="Calibri" pitchFamily="34" charset="-122"/>
                <a:cs typeface="Calibri" pitchFamily="34" charset="-120"/>
              </a:rPr>
              <a:t>“USB-C of AI”: one open protocol to plug tools into any agent. Linux Foundation-governed since Dec 2025; ~half a billion SDK downloads/month by mid-2026.</a:t>
            </a:r>
            <a:endParaRPr lang="en-US" sz="1250" dirty="0"/>
          </a:p>
        </p:txBody>
      </p:sp>
      <p:sp>
        <p:nvSpPr>
          <p:cNvPr id="36" name="Shape 32"/>
          <p:cNvSpPr/>
          <p:nvPr/>
        </p:nvSpPr>
        <p:spPr>
          <a:xfrm>
            <a:off x="502920" y="4846320"/>
            <a:ext cx="5440680" cy="1097280"/>
          </a:xfrm>
          <a:prstGeom prst="roundRect">
            <a:avLst>
              <a:gd name="adj" fmla="val 6667"/>
            </a:avLst>
          </a:prstGeom>
          <a:solidFill>
            <a:srgbClr val="F2F5F6"/>
          </a:solidFill>
          <a:ln/>
        </p:spPr>
      </p:sp>
      <p:sp>
        <p:nvSpPr>
          <p:cNvPr id="37" name="Shape 33"/>
          <p:cNvSpPr/>
          <p:nvPr/>
        </p:nvSpPr>
        <p:spPr>
          <a:xfrm>
            <a:off x="685800" y="5157216"/>
            <a:ext cx="457200" cy="457200"/>
          </a:xfrm>
          <a:prstGeom prst="ellipse">
            <a:avLst/>
          </a:prstGeom>
          <a:solidFill>
            <a:srgbClr val="46545F"/>
          </a:solidFill>
          <a:ln/>
        </p:spPr>
      </p:sp>
      <p:pic>
        <p:nvPicPr>
          <p:cNvPr id="38" name="Image 2" descr="/home/user/Claude-Works/ai-training-prompt-engineering/src/assets/icons/memory_w.png">    </p:cNvPr>
          <p:cNvPicPr>
            <a:picLocks noChangeAspect="1"/>
          </p:cNvPicPr>
          <p:nvPr/>
        </p:nvPicPr>
        <p:blipFill>
          <a:blip r:embed="rId3"/>
          <a:stretch>
            <a:fillRect/>
          </a:stretch>
        </p:blipFill>
        <p:spPr>
          <a:xfrm>
            <a:off x="804672" y="5276088"/>
            <a:ext cx="219456" cy="219456"/>
          </a:xfrm>
          <a:prstGeom prst="rect">
            <a:avLst/>
          </a:prstGeom>
        </p:spPr>
      </p:pic>
      <p:sp>
        <p:nvSpPr>
          <p:cNvPr id="39" name="Text 34"/>
          <p:cNvSpPr/>
          <p:nvPr/>
        </p:nvSpPr>
        <p:spPr>
          <a:xfrm>
            <a:off x="128016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Memory = files</a:t>
            </a:r>
            <a:endParaRPr lang="en-US" sz="1250" dirty="0"/>
          </a:p>
          <a:p>
            <a:pPr indent="0" marL="0">
              <a:lnSpc>
                <a:spcPct val="104000"/>
              </a:lnSpc>
              <a:buNone/>
            </a:pPr>
            <a:r>
              <a:rPr lang="en-US" sz="1030" dirty="0">
                <a:solidFill>
                  <a:srgbClr val="46545F"/>
                </a:solidFill>
                <a:latin typeface="Calibri" pitchFamily="34" charset="0"/>
                <a:ea typeface="Calibri" pitchFamily="34" charset="-122"/>
                <a:cs typeface="Calibri" pitchFamily="34" charset="-120"/>
              </a:rPr>
              <a:t>Context window is short-term memory; notes, logs, and git are long-term. Nothing survives a session unless written down.</a:t>
            </a:r>
            <a:endParaRPr lang="en-US" sz="1250" dirty="0"/>
          </a:p>
        </p:txBody>
      </p:sp>
      <p:sp>
        <p:nvSpPr>
          <p:cNvPr id="40" name="Shape 35"/>
          <p:cNvSpPr/>
          <p:nvPr/>
        </p:nvSpPr>
        <p:spPr>
          <a:xfrm>
            <a:off x="6172200" y="4846320"/>
            <a:ext cx="5440680" cy="1097280"/>
          </a:xfrm>
          <a:prstGeom prst="roundRect">
            <a:avLst>
              <a:gd name="adj" fmla="val 6667"/>
            </a:avLst>
          </a:prstGeom>
          <a:solidFill>
            <a:srgbClr val="F2F5F6"/>
          </a:solidFill>
          <a:ln/>
        </p:spPr>
      </p:sp>
      <p:sp>
        <p:nvSpPr>
          <p:cNvPr id="41" name="Shape 36"/>
          <p:cNvSpPr/>
          <p:nvPr/>
        </p:nvSpPr>
        <p:spPr>
          <a:xfrm>
            <a:off x="6355080" y="5157216"/>
            <a:ext cx="457200" cy="457200"/>
          </a:xfrm>
          <a:prstGeom prst="ellipse">
            <a:avLst/>
          </a:prstGeom>
          <a:solidFill>
            <a:srgbClr val="46545F"/>
          </a:solidFill>
          <a:ln/>
        </p:spPr>
      </p:sp>
      <p:pic>
        <p:nvPicPr>
          <p:cNvPr id="42" name="Image 3" descr="/home/user/Claude-Works/ai-training-prompt-engineering/src/assets/icons/shield_w.png">    </p:cNvPr>
          <p:cNvPicPr>
            <a:picLocks noChangeAspect="1"/>
          </p:cNvPicPr>
          <p:nvPr/>
        </p:nvPicPr>
        <p:blipFill>
          <a:blip r:embed="rId4"/>
          <a:stretch>
            <a:fillRect/>
          </a:stretch>
        </p:blipFill>
        <p:spPr>
          <a:xfrm>
            <a:off x="6473952" y="5276088"/>
            <a:ext cx="219456" cy="219456"/>
          </a:xfrm>
          <a:prstGeom prst="rect">
            <a:avLst/>
          </a:prstGeom>
        </p:spPr>
      </p:pic>
      <p:sp>
        <p:nvSpPr>
          <p:cNvPr id="43" name="Text 37"/>
          <p:cNvSpPr/>
          <p:nvPr/>
        </p:nvSpPr>
        <p:spPr>
          <a:xfrm>
            <a:off x="694944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Guardrails</a:t>
            </a:r>
            <a:endParaRPr lang="en-US" sz="1250" dirty="0"/>
          </a:p>
          <a:p>
            <a:pPr indent="0" marL="0">
              <a:lnSpc>
                <a:spcPct val="104000"/>
              </a:lnSpc>
              <a:buNone/>
            </a:pPr>
            <a:r>
              <a:rPr lang="en-US" sz="1030" dirty="0">
                <a:solidFill>
                  <a:srgbClr val="46545F"/>
                </a:solidFill>
                <a:latin typeface="Calibri" pitchFamily="34" charset="0"/>
                <a:ea typeface="Calibri" pitchFamily="34" charset="-122"/>
                <a:cs typeface="Calibri" pitchFamily="34" charset="-120"/>
              </a:rPr>
              <a:t>permissions, sandboxes, approval gates for consequential actions. The subject of slide 38.</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KEY DISTINCTION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HEART OF THIS TRAINING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generative prompt writes. An agentic prompt commissions.</a:t>
            </a:r>
            <a:endParaRPr lang="en-US" sz="3000" dirty="0"/>
          </a:p>
        </p:txBody>
      </p:sp>
      <p:sp>
        <p:nvSpPr>
          <p:cNvPr id="6" name="Text 4"/>
          <p:cNvSpPr/>
          <p:nvPr/>
        </p:nvSpPr>
        <p:spPr>
          <a:xfrm>
            <a:off x="2377440" y="1481328"/>
            <a:ext cx="4023360" cy="320040"/>
          </a:xfrm>
          <a:prstGeom prst="rect">
            <a:avLst/>
          </a:prstGeom>
          <a:noFill/>
          <a:ln/>
        </p:spPr>
        <p:txBody>
          <a:bodyPr wrap="square" lIns="0" tIns="0" rIns="0" bIns="0" rtlCol="0" anchor="ctr"/>
          <a:lstStyle/>
          <a:p>
            <a:pPr indent="0" marL="0">
              <a:buNone/>
            </a:pPr>
            <a:r>
              <a:rPr lang="en-US" sz="1350" b="1" dirty="0">
                <a:solidFill>
                  <a:srgbClr val="46545F"/>
                </a:solidFill>
                <a:latin typeface="Cambria" pitchFamily="34" charset="0"/>
                <a:ea typeface="Cambria" pitchFamily="34" charset="-122"/>
                <a:cs typeface="Cambria" pitchFamily="34" charset="-120"/>
              </a:rPr>
              <a:t>Generative (chat)</a:t>
            </a:r>
            <a:endParaRPr lang="en-US" sz="1350" dirty="0"/>
          </a:p>
        </p:txBody>
      </p:sp>
      <p:sp>
        <p:nvSpPr>
          <p:cNvPr id="7" name="Text 5"/>
          <p:cNvSpPr/>
          <p:nvPr/>
        </p:nvSpPr>
        <p:spPr>
          <a:xfrm>
            <a:off x="6720840" y="1481328"/>
            <a:ext cx="457200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Agentic</a:t>
            </a:r>
            <a:endParaRPr lang="en-US" sz="1350" dirty="0"/>
          </a:p>
        </p:txBody>
      </p:sp>
      <p:sp>
        <p:nvSpPr>
          <p:cNvPr id="8" name="Shape 6"/>
          <p:cNvSpPr/>
          <p:nvPr/>
        </p:nvSpPr>
        <p:spPr>
          <a:xfrm>
            <a:off x="502920" y="1847088"/>
            <a:ext cx="11155680" cy="621792"/>
          </a:xfrm>
          <a:prstGeom prst="roundRect">
            <a:avLst>
              <a:gd name="adj" fmla="val 11765"/>
            </a:avLst>
          </a:prstGeom>
          <a:solidFill>
            <a:srgbClr val="F2F5F6"/>
          </a:solidFill>
          <a:ln/>
        </p:spPr>
      </p:sp>
      <p:sp>
        <p:nvSpPr>
          <p:cNvPr id="9" name="Text 7"/>
          <p:cNvSpPr/>
          <p:nvPr/>
        </p:nvSpPr>
        <p:spPr>
          <a:xfrm>
            <a:off x="685800" y="190195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Specifies</a:t>
            </a:r>
            <a:endParaRPr lang="en-US" sz="1050" dirty="0"/>
          </a:p>
        </p:txBody>
      </p:sp>
      <p:sp>
        <p:nvSpPr>
          <p:cNvPr id="10" name="Text 8"/>
          <p:cNvSpPr/>
          <p:nvPr/>
        </p:nvSpPr>
        <p:spPr>
          <a:xfrm>
            <a:off x="2377440" y="1892808"/>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WHAT TO WRITE</a:t>
            </a:r>
            <a:endParaRPr lang="en-US" sz="960" dirty="0"/>
          </a:p>
        </p:txBody>
      </p:sp>
      <p:sp>
        <p:nvSpPr>
          <p:cNvPr id="11" name="Text 9"/>
          <p:cNvSpPr/>
          <p:nvPr/>
        </p:nvSpPr>
        <p:spPr>
          <a:xfrm>
            <a:off x="6720840" y="1892808"/>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A JOB TO RUN</a:t>
            </a:r>
            <a:endParaRPr lang="en-US" sz="960" dirty="0"/>
          </a:p>
        </p:txBody>
      </p:sp>
      <p:sp>
        <p:nvSpPr>
          <p:cNvPr id="12" name="Shape 10"/>
          <p:cNvSpPr/>
          <p:nvPr/>
        </p:nvSpPr>
        <p:spPr>
          <a:xfrm>
            <a:off x="502920" y="2560320"/>
            <a:ext cx="11155680" cy="621792"/>
          </a:xfrm>
          <a:prstGeom prst="roundRect">
            <a:avLst>
              <a:gd name="adj" fmla="val 11765"/>
            </a:avLst>
          </a:prstGeom>
          <a:solidFill>
            <a:srgbClr val="FFFFFF"/>
          </a:solidFill>
          <a:ln w="9525">
            <a:solidFill>
              <a:srgbClr val="DCE3E6"/>
            </a:solidFill>
            <a:prstDash val="solid"/>
          </a:ln>
        </p:spPr>
      </p:sp>
      <p:sp>
        <p:nvSpPr>
          <p:cNvPr id="13" name="Text 11"/>
          <p:cNvSpPr/>
          <p:nvPr/>
        </p:nvSpPr>
        <p:spPr>
          <a:xfrm>
            <a:off x="685800" y="2615184"/>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Contains</a:t>
            </a:r>
            <a:endParaRPr lang="en-US" sz="1050" dirty="0"/>
          </a:p>
        </p:txBody>
      </p:sp>
      <p:sp>
        <p:nvSpPr>
          <p:cNvPr id="14" name="Text 12"/>
          <p:cNvSpPr/>
          <p:nvPr/>
        </p:nvSpPr>
        <p:spPr>
          <a:xfrm>
            <a:off x="2377440" y="2606040"/>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role · task · context · format · examples</a:t>
            </a:r>
            <a:endParaRPr lang="en-US" sz="960" dirty="0"/>
          </a:p>
        </p:txBody>
      </p:sp>
      <p:sp>
        <p:nvSpPr>
          <p:cNvPr id="15" name="Text 13"/>
          <p:cNvSpPr/>
          <p:nvPr/>
        </p:nvSpPr>
        <p:spPr>
          <a:xfrm>
            <a:off x="6720840" y="2606040"/>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0A5B5A"/>
                </a:solidFill>
                <a:latin typeface="Calibri" pitchFamily="34" charset="0"/>
                <a:ea typeface="Calibri" pitchFamily="34" charset="-122"/>
                <a:cs typeface="Calibri" pitchFamily="34" charset="-120"/>
              </a:rPr>
              <a:t>all of that, PLUS: mission &amp; definition of done · environment &amp; file boundaries · allowed tools · process phases &amp; gates · autonomy rules · self-checks · deliverables &amp; logs</a:t>
            </a:r>
            <a:endParaRPr lang="en-US" sz="960" dirty="0"/>
          </a:p>
        </p:txBody>
      </p:sp>
      <p:sp>
        <p:nvSpPr>
          <p:cNvPr id="16" name="Shape 14"/>
          <p:cNvSpPr/>
          <p:nvPr/>
        </p:nvSpPr>
        <p:spPr>
          <a:xfrm>
            <a:off x="502920" y="3273552"/>
            <a:ext cx="11155680" cy="621792"/>
          </a:xfrm>
          <a:prstGeom prst="roundRect">
            <a:avLst>
              <a:gd name="adj" fmla="val 11765"/>
            </a:avLst>
          </a:prstGeom>
          <a:solidFill>
            <a:srgbClr val="F2F5F6"/>
          </a:solidFill>
          <a:ln/>
        </p:spPr>
      </p:sp>
      <p:sp>
        <p:nvSpPr>
          <p:cNvPr id="17" name="Text 15"/>
          <p:cNvSpPr/>
          <p:nvPr/>
        </p:nvSpPr>
        <p:spPr>
          <a:xfrm>
            <a:off x="685800" y="3328416"/>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Produces</a:t>
            </a:r>
            <a:endParaRPr lang="en-US" sz="1050" dirty="0"/>
          </a:p>
        </p:txBody>
      </p:sp>
      <p:sp>
        <p:nvSpPr>
          <p:cNvPr id="18" name="Text 16"/>
          <p:cNvSpPr/>
          <p:nvPr/>
        </p:nvSpPr>
        <p:spPr>
          <a:xfrm>
            <a:off x="2377440" y="3319272"/>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one response you read</a:t>
            </a:r>
            <a:endParaRPr lang="en-US" sz="960" dirty="0"/>
          </a:p>
        </p:txBody>
      </p:sp>
      <p:sp>
        <p:nvSpPr>
          <p:cNvPr id="19" name="Text 17"/>
          <p:cNvSpPr/>
          <p:nvPr/>
        </p:nvSpPr>
        <p:spPr>
          <a:xfrm>
            <a:off x="6720840" y="3319272"/>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actions + artifacts + a report with evidence</a:t>
            </a:r>
            <a:endParaRPr lang="en-US" sz="960" dirty="0"/>
          </a:p>
        </p:txBody>
      </p:sp>
      <p:sp>
        <p:nvSpPr>
          <p:cNvPr id="20" name="Shape 18"/>
          <p:cNvSpPr/>
          <p:nvPr/>
        </p:nvSpPr>
        <p:spPr>
          <a:xfrm>
            <a:off x="502920" y="3986784"/>
            <a:ext cx="11155680" cy="621792"/>
          </a:xfrm>
          <a:prstGeom prst="roundRect">
            <a:avLst>
              <a:gd name="adj" fmla="val 11765"/>
            </a:avLst>
          </a:prstGeom>
          <a:solidFill>
            <a:srgbClr val="FFFFFF"/>
          </a:solidFill>
          <a:ln w="9525">
            <a:solidFill>
              <a:srgbClr val="DCE3E6"/>
            </a:solidFill>
            <a:prstDash val="solid"/>
          </a:ln>
        </p:spPr>
      </p:sp>
      <p:sp>
        <p:nvSpPr>
          <p:cNvPr id="21" name="Text 19"/>
          <p:cNvSpPr/>
          <p:nvPr/>
        </p:nvSpPr>
        <p:spPr>
          <a:xfrm>
            <a:off x="685800" y="4041648"/>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Failure mode</a:t>
            </a:r>
            <a:endParaRPr lang="en-US" sz="1050" dirty="0"/>
          </a:p>
        </p:txBody>
      </p:sp>
      <p:sp>
        <p:nvSpPr>
          <p:cNvPr id="22" name="Text 20"/>
          <p:cNvSpPr/>
          <p:nvPr/>
        </p:nvSpPr>
        <p:spPr>
          <a:xfrm>
            <a:off x="2377440" y="4032504"/>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bad text — just re-prompt</a:t>
            </a:r>
            <a:endParaRPr lang="en-US" sz="960" dirty="0"/>
          </a:p>
        </p:txBody>
      </p:sp>
      <p:sp>
        <p:nvSpPr>
          <p:cNvPr id="23" name="Text 21"/>
          <p:cNvSpPr/>
          <p:nvPr/>
        </p:nvSpPr>
        <p:spPr>
          <a:xfrm>
            <a:off x="6720840" y="4032504"/>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wrong ACTIONS: files changed, emails sent. Hence gates, sandboxes, verification</a:t>
            </a:r>
            <a:endParaRPr lang="en-US" sz="960" dirty="0"/>
          </a:p>
        </p:txBody>
      </p:sp>
      <p:sp>
        <p:nvSpPr>
          <p:cNvPr id="24" name="Shape 22"/>
          <p:cNvSpPr/>
          <p:nvPr/>
        </p:nvSpPr>
        <p:spPr>
          <a:xfrm>
            <a:off x="502920" y="4700016"/>
            <a:ext cx="11155680" cy="621792"/>
          </a:xfrm>
          <a:prstGeom prst="roundRect">
            <a:avLst>
              <a:gd name="adj" fmla="val 11765"/>
            </a:avLst>
          </a:prstGeom>
          <a:solidFill>
            <a:srgbClr val="F2F5F6"/>
          </a:solidFill>
          <a:ln/>
        </p:spPr>
      </p:sp>
      <p:sp>
        <p:nvSpPr>
          <p:cNvPr id="25" name="Text 23"/>
          <p:cNvSpPr/>
          <p:nvPr/>
        </p:nvSpPr>
        <p:spPr>
          <a:xfrm>
            <a:off x="685800" y="4754880"/>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Your role</a:t>
            </a:r>
            <a:endParaRPr lang="en-US" sz="1050" dirty="0"/>
          </a:p>
        </p:txBody>
      </p:sp>
      <p:sp>
        <p:nvSpPr>
          <p:cNvPr id="26" name="Text 24"/>
          <p:cNvSpPr/>
          <p:nvPr/>
        </p:nvSpPr>
        <p:spPr>
          <a:xfrm>
            <a:off x="2377440" y="4745736"/>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reader and editor</a:t>
            </a:r>
            <a:endParaRPr lang="en-US" sz="960" dirty="0"/>
          </a:p>
        </p:txBody>
      </p:sp>
      <p:sp>
        <p:nvSpPr>
          <p:cNvPr id="27" name="Text 25"/>
          <p:cNvSpPr/>
          <p:nvPr/>
        </p:nvSpPr>
        <p:spPr>
          <a:xfrm>
            <a:off x="6720840" y="4745736"/>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delegator and reviewer at checkpoints</a:t>
            </a:r>
            <a:endParaRPr lang="en-US" sz="960" dirty="0"/>
          </a:p>
        </p:txBody>
      </p:sp>
      <p:sp>
        <p:nvSpPr>
          <p:cNvPr id="28" name="Shape 26"/>
          <p:cNvSpPr/>
          <p:nvPr/>
        </p:nvSpPr>
        <p:spPr>
          <a:xfrm>
            <a:off x="502920" y="5413248"/>
            <a:ext cx="11155680" cy="621792"/>
          </a:xfrm>
          <a:prstGeom prst="roundRect">
            <a:avLst>
              <a:gd name="adj" fmla="val 11765"/>
            </a:avLst>
          </a:prstGeom>
          <a:solidFill>
            <a:srgbClr val="FFFFFF"/>
          </a:solidFill>
          <a:ln w="9525">
            <a:solidFill>
              <a:srgbClr val="DCE3E6"/>
            </a:solidFill>
            <a:prstDash val="solid"/>
          </a:ln>
        </p:spPr>
      </p:sp>
      <p:sp>
        <p:nvSpPr>
          <p:cNvPr id="29" name="Text 27"/>
          <p:cNvSpPr/>
          <p:nvPr/>
        </p:nvSpPr>
        <p:spPr>
          <a:xfrm>
            <a:off x="685800" y="546811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Think of it as</a:t>
            </a:r>
            <a:endParaRPr lang="en-US" sz="1050" dirty="0"/>
          </a:p>
        </p:txBody>
      </p:sp>
      <p:sp>
        <p:nvSpPr>
          <p:cNvPr id="30" name="Text 28"/>
          <p:cNvSpPr/>
          <p:nvPr/>
        </p:nvSpPr>
        <p:spPr>
          <a:xfrm>
            <a:off x="2377440" y="5458968"/>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briefing a ghost-writer</a:t>
            </a:r>
            <a:endParaRPr lang="en-US" sz="960" dirty="0"/>
          </a:p>
        </p:txBody>
      </p:sp>
      <p:sp>
        <p:nvSpPr>
          <p:cNvPr id="31" name="Text 29"/>
          <p:cNvSpPr/>
          <p:nvPr/>
        </p:nvSpPr>
        <p:spPr>
          <a:xfrm>
            <a:off x="6720840" y="5458968"/>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a work order for a contractor</a:t>
            </a:r>
            <a:endParaRPr lang="en-US" sz="9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MISSION BRIEF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A1</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mission brief: twelve blocks, each preventing a failure</a:t>
            </a:r>
            <a:endParaRPr lang="en-US" sz="3000" dirty="0"/>
          </a:p>
        </p:txBody>
      </p:sp>
      <p:sp>
        <p:nvSpPr>
          <p:cNvPr id="6" name="Shape 4"/>
          <p:cNvSpPr/>
          <p:nvPr/>
        </p:nvSpPr>
        <p:spPr>
          <a:xfrm>
            <a:off x="502920" y="1481328"/>
            <a:ext cx="5440680" cy="658368"/>
          </a:xfrm>
          <a:prstGeom prst="roundRect">
            <a:avLst>
              <a:gd name="adj" fmla="val 11111"/>
            </a:avLst>
          </a:prstGeom>
          <a:solidFill>
            <a:srgbClr val="F2F5F6"/>
          </a:solidFill>
          <a:ln/>
        </p:spPr>
      </p:sp>
      <p:sp>
        <p:nvSpPr>
          <p:cNvPr id="7" name="Text 5"/>
          <p:cNvSpPr/>
          <p:nvPr/>
        </p:nvSpPr>
        <p:spPr>
          <a:xfrm>
            <a:off x="66751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&lt;role&gt;</a:t>
            </a:r>
            <a:endParaRPr lang="en-US" sz="1050" dirty="0"/>
          </a:p>
        </p:txBody>
      </p:sp>
      <p:sp>
        <p:nvSpPr>
          <p:cNvPr id="8" name="Text 6"/>
          <p:cNvSpPr/>
          <p:nvPr/>
        </p:nvSpPr>
        <p:spPr>
          <a:xfrm>
            <a:off x="2313432" y="1527048"/>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behaviours, not titles — “never invents numbers” beats “senior analyst”</a:t>
            </a:r>
            <a:endParaRPr lang="en-US" sz="930" dirty="0"/>
          </a:p>
        </p:txBody>
      </p:sp>
      <p:sp>
        <p:nvSpPr>
          <p:cNvPr id="9" name="Shape 7"/>
          <p:cNvSpPr/>
          <p:nvPr/>
        </p:nvSpPr>
        <p:spPr>
          <a:xfrm>
            <a:off x="6172200" y="1481328"/>
            <a:ext cx="5440680" cy="658368"/>
          </a:xfrm>
          <a:prstGeom prst="roundRect">
            <a:avLst>
              <a:gd name="adj" fmla="val 11111"/>
            </a:avLst>
          </a:prstGeom>
          <a:solidFill>
            <a:srgbClr val="F2F5F6"/>
          </a:solidFill>
          <a:ln/>
        </p:spPr>
      </p:sp>
      <p:sp>
        <p:nvSpPr>
          <p:cNvPr id="10" name="Text 8"/>
          <p:cNvSpPr/>
          <p:nvPr/>
        </p:nvSpPr>
        <p:spPr>
          <a:xfrm>
            <a:off x="633679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&lt;mission&gt;</a:t>
            </a:r>
            <a:endParaRPr lang="en-US" sz="1050" dirty="0"/>
          </a:p>
        </p:txBody>
      </p:sp>
      <p:sp>
        <p:nvSpPr>
          <p:cNvPr id="11" name="Text 9"/>
          <p:cNvSpPr/>
          <p:nvPr/>
        </p:nvSpPr>
        <p:spPr>
          <a:xfrm>
            <a:off x="7982712" y="1527048"/>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one goal, one audience, one deadline, “done looks like…”</a:t>
            </a:r>
            <a:endParaRPr lang="en-US" sz="930" dirty="0"/>
          </a:p>
        </p:txBody>
      </p:sp>
      <p:sp>
        <p:nvSpPr>
          <p:cNvPr id="12" name="Shape 10"/>
          <p:cNvSpPr/>
          <p:nvPr/>
        </p:nvSpPr>
        <p:spPr>
          <a:xfrm>
            <a:off x="502920" y="2231136"/>
            <a:ext cx="5440680" cy="658368"/>
          </a:xfrm>
          <a:prstGeom prst="roundRect">
            <a:avLst>
              <a:gd name="adj" fmla="val 11111"/>
            </a:avLst>
          </a:prstGeom>
          <a:solidFill>
            <a:srgbClr val="F2F5F6"/>
          </a:solidFill>
          <a:ln/>
        </p:spPr>
      </p:sp>
      <p:sp>
        <p:nvSpPr>
          <p:cNvPr id="13" name="Text 11"/>
          <p:cNvSpPr/>
          <p:nvPr/>
        </p:nvSpPr>
        <p:spPr>
          <a:xfrm>
            <a:off x="66751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&lt;context&gt;</a:t>
            </a:r>
            <a:endParaRPr lang="en-US" sz="1050" dirty="0"/>
          </a:p>
        </p:txBody>
      </p:sp>
      <p:sp>
        <p:nvSpPr>
          <p:cNvPr id="14" name="Text 12"/>
          <p:cNvSpPr/>
          <p:nvPr/>
        </p:nvSpPr>
        <p:spPr>
          <a:xfrm>
            <a:off x="2313432" y="2276856"/>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glossary, quirks, targets — the tribal knowledge it can’t infer</a:t>
            </a:r>
            <a:endParaRPr lang="en-US" sz="930" dirty="0"/>
          </a:p>
        </p:txBody>
      </p:sp>
      <p:sp>
        <p:nvSpPr>
          <p:cNvPr id="15" name="Shape 13"/>
          <p:cNvSpPr/>
          <p:nvPr/>
        </p:nvSpPr>
        <p:spPr>
          <a:xfrm>
            <a:off x="6172200" y="2231136"/>
            <a:ext cx="5440680" cy="658368"/>
          </a:xfrm>
          <a:prstGeom prst="roundRect">
            <a:avLst>
              <a:gd name="adj" fmla="val 11111"/>
            </a:avLst>
          </a:prstGeom>
          <a:solidFill>
            <a:srgbClr val="F2F5F6"/>
          </a:solidFill>
          <a:ln/>
        </p:spPr>
      </p:sp>
      <p:sp>
        <p:nvSpPr>
          <p:cNvPr id="16" name="Text 14"/>
          <p:cNvSpPr/>
          <p:nvPr/>
        </p:nvSpPr>
        <p:spPr>
          <a:xfrm>
            <a:off x="633679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&lt;environment&gt;</a:t>
            </a:r>
            <a:endParaRPr lang="en-US" sz="1050" dirty="0"/>
          </a:p>
        </p:txBody>
      </p:sp>
      <p:sp>
        <p:nvSpPr>
          <p:cNvPr id="17" name="Text 15"/>
          <p:cNvSpPr/>
          <p:nvPr/>
        </p:nvSpPr>
        <p:spPr>
          <a:xfrm>
            <a:off x="7982712" y="2276856"/>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where to read, where to write, what’s forbidden. Inputs are read-only</a:t>
            </a:r>
            <a:endParaRPr lang="en-US" sz="930" dirty="0"/>
          </a:p>
        </p:txBody>
      </p:sp>
      <p:sp>
        <p:nvSpPr>
          <p:cNvPr id="18" name="Shape 16"/>
          <p:cNvSpPr/>
          <p:nvPr/>
        </p:nvSpPr>
        <p:spPr>
          <a:xfrm>
            <a:off x="502920" y="2980944"/>
            <a:ext cx="5440680" cy="658368"/>
          </a:xfrm>
          <a:prstGeom prst="roundRect">
            <a:avLst>
              <a:gd name="adj" fmla="val 11111"/>
            </a:avLst>
          </a:prstGeom>
          <a:solidFill>
            <a:srgbClr val="F2F5F6"/>
          </a:solidFill>
          <a:ln/>
        </p:spPr>
      </p:sp>
      <p:sp>
        <p:nvSpPr>
          <p:cNvPr id="19" name="Text 17"/>
          <p:cNvSpPr/>
          <p:nvPr/>
        </p:nvSpPr>
        <p:spPr>
          <a:xfrm>
            <a:off x="66751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&lt;inputs&gt;</a:t>
            </a:r>
            <a:endParaRPr lang="en-US" sz="1050" dirty="0"/>
          </a:p>
        </p:txBody>
      </p:sp>
      <p:sp>
        <p:nvSpPr>
          <p:cNvPr id="20" name="Text 18"/>
          <p:cNvSpPr/>
          <p:nvPr/>
        </p:nvSpPr>
        <p:spPr>
          <a:xfrm>
            <a:off x="2313432" y="3026664"/>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each source: location, format, what one row means, trust level</a:t>
            </a:r>
            <a:endParaRPr lang="en-US" sz="930" dirty="0"/>
          </a:p>
        </p:txBody>
      </p:sp>
      <p:sp>
        <p:nvSpPr>
          <p:cNvPr id="21" name="Shape 19"/>
          <p:cNvSpPr/>
          <p:nvPr/>
        </p:nvSpPr>
        <p:spPr>
          <a:xfrm>
            <a:off x="6172200" y="2980944"/>
            <a:ext cx="5440680" cy="658368"/>
          </a:xfrm>
          <a:prstGeom prst="roundRect">
            <a:avLst>
              <a:gd name="adj" fmla="val 11111"/>
            </a:avLst>
          </a:prstGeom>
          <a:solidFill>
            <a:srgbClr val="F2F5F6"/>
          </a:solidFill>
          <a:ln/>
        </p:spPr>
      </p:sp>
      <p:sp>
        <p:nvSpPr>
          <p:cNvPr id="22" name="Text 20"/>
          <p:cNvSpPr/>
          <p:nvPr/>
        </p:nvSpPr>
        <p:spPr>
          <a:xfrm>
            <a:off x="633679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&lt;plan&gt;</a:t>
            </a:r>
            <a:endParaRPr lang="en-US" sz="1050" dirty="0"/>
          </a:p>
        </p:txBody>
      </p:sp>
      <p:sp>
        <p:nvSpPr>
          <p:cNvPr id="23" name="Text 21"/>
          <p:cNvSpPr/>
          <p:nvPr/>
        </p:nvSpPr>
        <p:spPr>
          <a:xfrm>
            <a:off x="7982712" y="3026664"/>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the steps in order · methods allowed · methods needing permission</a:t>
            </a:r>
            <a:endParaRPr lang="en-US" sz="930" dirty="0"/>
          </a:p>
        </p:txBody>
      </p:sp>
      <p:sp>
        <p:nvSpPr>
          <p:cNvPr id="24" name="Shape 22"/>
          <p:cNvSpPr/>
          <p:nvPr/>
        </p:nvSpPr>
        <p:spPr>
          <a:xfrm>
            <a:off x="502920" y="3730752"/>
            <a:ext cx="5440680" cy="658368"/>
          </a:xfrm>
          <a:prstGeom prst="roundRect">
            <a:avLst>
              <a:gd name="adj" fmla="val 11111"/>
            </a:avLst>
          </a:prstGeom>
          <a:solidFill>
            <a:srgbClr val="F2F5F6"/>
          </a:solidFill>
          <a:ln/>
        </p:spPr>
      </p:sp>
      <p:sp>
        <p:nvSpPr>
          <p:cNvPr id="25" name="Text 23"/>
          <p:cNvSpPr/>
          <p:nvPr/>
        </p:nvSpPr>
        <p:spPr>
          <a:xfrm>
            <a:off x="66751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&lt;checks&gt;</a:t>
            </a:r>
            <a:endParaRPr lang="en-US" sz="1050" dirty="0"/>
          </a:p>
        </p:txBody>
      </p:sp>
      <p:sp>
        <p:nvSpPr>
          <p:cNvPr id="26" name="Text 24"/>
          <p:cNvSpPr/>
          <p:nvPr/>
        </p:nvSpPr>
        <p:spPr>
          <a:xfrm>
            <a:off x="2313432" y="3776472"/>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HARD (stop the run) vs SOFT (flag) — written so the agent can evaluate them</a:t>
            </a:r>
            <a:endParaRPr lang="en-US" sz="930" dirty="0"/>
          </a:p>
        </p:txBody>
      </p:sp>
      <p:sp>
        <p:nvSpPr>
          <p:cNvPr id="27" name="Shape 25"/>
          <p:cNvSpPr/>
          <p:nvPr/>
        </p:nvSpPr>
        <p:spPr>
          <a:xfrm>
            <a:off x="6172200" y="3730752"/>
            <a:ext cx="5440680" cy="658368"/>
          </a:xfrm>
          <a:prstGeom prst="roundRect">
            <a:avLst>
              <a:gd name="adj" fmla="val 11111"/>
            </a:avLst>
          </a:prstGeom>
          <a:solidFill>
            <a:srgbClr val="F2F5F6"/>
          </a:solidFill>
          <a:ln/>
        </p:spPr>
      </p:sp>
      <p:sp>
        <p:nvSpPr>
          <p:cNvPr id="28" name="Text 26"/>
          <p:cNvSpPr/>
          <p:nvPr/>
        </p:nvSpPr>
        <p:spPr>
          <a:xfrm>
            <a:off x="633679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&lt;outputs&gt;</a:t>
            </a:r>
            <a:endParaRPr lang="en-US" sz="1050" dirty="0"/>
          </a:p>
        </p:txBody>
      </p:sp>
      <p:sp>
        <p:nvSpPr>
          <p:cNvPr id="29" name="Text 27"/>
          <p:cNvSpPr/>
          <p:nvPr/>
        </p:nvSpPr>
        <p:spPr>
          <a:xfrm>
            <a:off x="7982712" y="3776472"/>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exact deliverable names + the three logs: CHANGES · FINDINGS · OPEN_ITEMS</a:t>
            </a:r>
            <a:endParaRPr lang="en-US" sz="930" dirty="0"/>
          </a:p>
        </p:txBody>
      </p:sp>
      <p:sp>
        <p:nvSpPr>
          <p:cNvPr id="30" name="Shape 28"/>
          <p:cNvSpPr/>
          <p:nvPr/>
        </p:nvSpPr>
        <p:spPr>
          <a:xfrm>
            <a:off x="502920" y="4480560"/>
            <a:ext cx="5440680" cy="658368"/>
          </a:xfrm>
          <a:prstGeom prst="roundRect">
            <a:avLst>
              <a:gd name="adj" fmla="val 11111"/>
            </a:avLst>
          </a:prstGeom>
          <a:solidFill>
            <a:srgbClr val="F2F5F6"/>
          </a:solidFill>
          <a:ln/>
        </p:spPr>
      </p:sp>
      <p:sp>
        <p:nvSpPr>
          <p:cNvPr id="31" name="Text 29"/>
          <p:cNvSpPr/>
          <p:nvPr/>
        </p:nvSpPr>
        <p:spPr>
          <a:xfrm>
            <a:off x="66751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&lt;process&gt;</a:t>
            </a:r>
            <a:endParaRPr lang="en-US" sz="1050" dirty="0"/>
          </a:p>
        </p:txBody>
      </p:sp>
      <p:sp>
        <p:nvSpPr>
          <p:cNvPr id="32" name="Text 30"/>
          <p:cNvSpPr/>
          <p:nvPr/>
        </p:nvSpPr>
        <p:spPr>
          <a:xfrm>
            <a:off x="2313432" y="4526280"/>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phases with human gates: definitions → mid-run review → pre-render approval</a:t>
            </a:r>
            <a:endParaRPr lang="en-US" sz="930" dirty="0"/>
          </a:p>
        </p:txBody>
      </p:sp>
      <p:sp>
        <p:nvSpPr>
          <p:cNvPr id="33" name="Shape 31"/>
          <p:cNvSpPr/>
          <p:nvPr/>
        </p:nvSpPr>
        <p:spPr>
          <a:xfrm>
            <a:off x="6172200" y="4480560"/>
            <a:ext cx="5440680" cy="658368"/>
          </a:xfrm>
          <a:prstGeom prst="roundRect">
            <a:avLst>
              <a:gd name="adj" fmla="val 11111"/>
            </a:avLst>
          </a:prstGeom>
          <a:solidFill>
            <a:srgbClr val="F2F5F6"/>
          </a:solidFill>
          <a:ln/>
        </p:spPr>
      </p:sp>
      <p:sp>
        <p:nvSpPr>
          <p:cNvPr id="34" name="Text 32"/>
          <p:cNvSpPr/>
          <p:nvPr/>
        </p:nvSpPr>
        <p:spPr>
          <a:xfrm>
            <a:off x="633679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&lt;rules&gt;</a:t>
            </a:r>
            <a:endParaRPr lang="en-US" sz="1050" dirty="0"/>
          </a:p>
        </p:txBody>
      </p:sp>
      <p:sp>
        <p:nvSpPr>
          <p:cNvPr id="35" name="Text 33"/>
          <p:cNvSpPr/>
          <p:nvPr/>
        </p:nvSpPr>
        <p:spPr>
          <a:xfrm>
            <a:off x="7982712" y="4526280"/>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the non-negotiables: never invent data, versioned outputs, assumptions logged</a:t>
            </a:r>
            <a:endParaRPr lang="en-US" sz="930" dirty="0"/>
          </a:p>
        </p:txBody>
      </p:sp>
      <p:sp>
        <p:nvSpPr>
          <p:cNvPr id="36" name="Shape 34"/>
          <p:cNvSpPr/>
          <p:nvPr/>
        </p:nvSpPr>
        <p:spPr>
          <a:xfrm>
            <a:off x="502920" y="5230368"/>
            <a:ext cx="5440680" cy="658368"/>
          </a:xfrm>
          <a:prstGeom prst="roundRect">
            <a:avLst>
              <a:gd name="adj" fmla="val 11111"/>
            </a:avLst>
          </a:prstGeom>
          <a:solidFill>
            <a:srgbClr val="F2F5F6"/>
          </a:solidFill>
          <a:ln/>
        </p:spPr>
      </p:sp>
      <p:sp>
        <p:nvSpPr>
          <p:cNvPr id="37" name="Text 35"/>
          <p:cNvSpPr/>
          <p:nvPr/>
        </p:nvSpPr>
        <p:spPr>
          <a:xfrm>
            <a:off x="66751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&lt;quality_bar&gt;</a:t>
            </a:r>
            <a:endParaRPr lang="en-US" sz="1050" dirty="0"/>
          </a:p>
        </p:txBody>
      </p:sp>
      <p:sp>
        <p:nvSpPr>
          <p:cNvPr id="38" name="Text 36"/>
          <p:cNvSpPr/>
          <p:nvPr/>
        </p:nvSpPr>
        <p:spPr>
          <a:xfrm>
            <a:off x="2313432" y="5276088"/>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definition of done as a checklist the agent must satisfy — and you can audit</a:t>
            </a:r>
            <a:endParaRPr lang="en-US" sz="930" dirty="0"/>
          </a:p>
        </p:txBody>
      </p:sp>
      <p:sp>
        <p:nvSpPr>
          <p:cNvPr id="39" name="Shape 37"/>
          <p:cNvSpPr/>
          <p:nvPr/>
        </p:nvSpPr>
        <p:spPr>
          <a:xfrm>
            <a:off x="6172200" y="5230368"/>
            <a:ext cx="5440680" cy="658368"/>
          </a:xfrm>
          <a:prstGeom prst="roundRect">
            <a:avLst>
              <a:gd name="adj" fmla="val 11111"/>
            </a:avLst>
          </a:prstGeom>
          <a:solidFill>
            <a:srgbClr val="F2F5F6"/>
          </a:solidFill>
          <a:ln/>
        </p:spPr>
      </p:sp>
      <p:sp>
        <p:nvSpPr>
          <p:cNvPr id="40" name="Text 38"/>
          <p:cNvSpPr/>
          <p:nvPr/>
        </p:nvSpPr>
        <p:spPr>
          <a:xfrm>
            <a:off x="633679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&lt;reporting&gt;</a:t>
            </a:r>
            <a:endParaRPr lang="en-US" sz="1050" dirty="0"/>
          </a:p>
        </p:txBody>
      </p:sp>
      <p:sp>
        <p:nvSpPr>
          <p:cNvPr id="41" name="Text 39"/>
          <p:cNvSpPr/>
          <p:nvPr/>
        </p:nvSpPr>
        <p:spPr>
          <a:xfrm>
            <a:off x="7982712" y="5276088"/>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the exact shape of the final message: status, headline, evidence, open items</a:t>
            </a:r>
            <a:endParaRPr lang="en-US" sz="930" dirty="0"/>
          </a:p>
        </p:txBody>
      </p:sp>
      <p:sp>
        <p:nvSpPr>
          <p:cNvPr id="42" name="Shape 40"/>
          <p:cNvSpPr/>
          <p:nvPr/>
        </p:nvSpPr>
        <p:spPr>
          <a:xfrm>
            <a:off x="502920" y="5943600"/>
            <a:ext cx="11155680" cy="502920"/>
          </a:xfrm>
          <a:prstGeom prst="roundRect">
            <a:avLst>
              <a:gd name="adj" fmla="val 14545"/>
            </a:avLst>
          </a:prstGeom>
          <a:solidFill>
            <a:srgbClr val="E4F0EF"/>
          </a:solidFill>
          <a:ln/>
        </p:spPr>
      </p:sp>
      <p:sp>
        <p:nvSpPr>
          <p:cNvPr id="43" name="Shape 41"/>
          <p:cNvSpPr/>
          <p:nvPr/>
        </p:nvSpPr>
        <p:spPr>
          <a:xfrm>
            <a:off x="667512" y="6003036"/>
            <a:ext cx="384048" cy="384048"/>
          </a:xfrm>
          <a:prstGeom prst="ellipse">
            <a:avLst/>
          </a:prstGeom>
          <a:solidFill>
            <a:srgbClr val="0E7C7B"/>
          </a:solidFill>
          <a:ln/>
        </p:spPr>
      </p:sp>
      <p:pic>
        <p:nvPicPr>
          <p:cNvPr id="44" name="Image 0" descr="/home/user/Claude-Works/ai-training-prompt-engineering/src/assets/icons/check_w.png">    </p:cNvPr>
          <p:cNvPicPr>
            <a:picLocks noChangeAspect="1"/>
          </p:cNvPicPr>
          <p:nvPr/>
        </p:nvPicPr>
        <p:blipFill>
          <a:blip r:embed="rId1"/>
          <a:stretch>
            <a:fillRect/>
          </a:stretch>
        </p:blipFill>
        <p:spPr>
          <a:xfrm>
            <a:off x="767364" y="6102888"/>
            <a:ext cx="184343" cy="184343"/>
          </a:xfrm>
          <a:prstGeom prst="rect">
            <a:avLst/>
          </a:prstGeom>
        </p:spPr>
      </p:pic>
      <p:sp>
        <p:nvSpPr>
          <p:cNvPr id="45" name="Text 42"/>
          <p:cNvSpPr/>
          <p:nvPr/>
        </p:nvSpPr>
        <p:spPr>
          <a:xfrm>
            <a:off x="1216152" y="6016752"/>
            <a:ext cx="10213848" cy="356616"/>
          </a:xfrm>
          <a:prstGeom prst="rect">
            <a:avLst/>
          </a:prstGeom>
          <a:noFill/>
          <a:ln/>
        </p:spPr>
        <p:txBody>
          <a:bodyPr wrap="square" lIns="0" tIns="0" rIns="0" bIns="0" rtlCol="0" anchor="ctr"/>
          <a:lstStyle/>
          <a:p>
            <a:pPr indent="0" marL="0">
              <a:lnSpc>
                <a:spcPct val="106000"/>
              </a:lnSpc>
              <a:buNone/>
            </a:pPr>
            <a:r>
              <a:rPr lang="en-US" sz="1050" b="1" dirty="0">
                <a:solidFill>
                  <a:srgbClr val="0A5B5A"/>
                </a:solidFill>
                <a:latin typeface="Calibri" pitchFamily="34" charset="0"/>
                <a:ea typeface="Calibri" pitchFamily="34" charset="-122"/>
                <a:cs typeface="Calibri" pitchFamily="34" charset="-120"/>
              </a:rPr>
              <a:t>Grounding: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every block maps to vendor guidance — verifiable done-criteria, file boundaries, least-privilege tools, phased plans with approval, ask-before-irreversible, evidence over assertions.</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WORKED EXAMPLE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five links: data in, defensible slide out</a:t>
            </a:r>
            <a:endParaRPr lang="en-US" sz="3000" dirty="0"/>
          </a:p>
        </p:txBody>
      </p:sp>
      <p:sp>
        <p:nvSpPr>
          <p:cNvPr id="6" name="Shape 4"/>
          <p:cNvSpPr/>
          <p:nvPr/>
        </p:nvSpPr>
        <p:spPr>
          <a:xfrm>
            <a:off x="502920" y="1554480"/>
            <a:ext cx="2103120" cy="2286000"/>
          </a:xfrm>
          <a:prstGeom prst="roundRect">
            <a:avLst>
              <a:gd name="adj" fmla="val 3478"/>
            </a:avLst>
          </a:prstGeom>
          <a:solidFill>
            <a:srgbClr val="F2F5F6"/>
          </a:solidFill>
          <a:ln/>
        </p:spPr>
      </p:sp>
      <p:sp>
        <p:nvSpPr>
          <p:cNvPr id="7" name="Shape 5"/>
          <p:cNvSpPr/>
          <p:nvPr/>
        </p:nvSpPr>
        <p:spPr>
          <a:xfrm>
            <a:off x="685800" y="1755648"/>
            <a:ext cx="457200" cy="457200"/>
          </a:xfrm>
          <a:prstGeom prst="ellipse">
            <a:avLst/>
          </a:prstGeom>
          <a:solidFill>
            <a:srgbClr val="0E7C7B"/>
          </a:solidFill>
          <a:ln/>
        </p:spPr>
      </p:sp>
      <p:pic>
        <p:nvPicPr>
          <p:cNvPr id="8" name="Image 0" descr="/home/user/Claude-Works/ai-training-prompt-engineering/src/assets/icons/inbox_w.png">    </p:cNvPr>
          <p:cNvPicPr>
            <a:picLocks noChangeAspect="1"/>
          </p:cNvPicPr>
          <p:nvPr/>
        </p:nvPicPr>
        <p:blipFill>
          <a:blip r:embed="rId1"/>
          <a:stretch>
            <a:fillRect/>
          </a:stretch>
        </p:blipFill>
        <p:spPr>
          <a:xfrm>
            <a:off x="804672" y="1874520"/>
            <a:ext cx="219456" cy="219456"/>
          </a:xfrm>
          <a:prstGeom prst="rect">
            <a:avLst/>
          </a:prstGeom>
        </p:spPr>
      </p:pic>
      <p:sp>
        <p:nvSpPr>
          <p:cNvPr id="9" name="Text 6"/>
          <p:cNvSpPr/>
          <p:nvPr/>
        </p:nvSpPr>
        <p:spPr>
          <a:xfrm>
            <a:off x="685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Extract</a:t>
            </a:r>
            <a:endParaRPr lang="en-US" sz="1350" dirty="0"/>
          </a:p>
        </p:txBody>
      </p:sp>
      <p:sp>
        <p:nvSpPr>
          <p:cNvPr id="10" name="Text 7"/>
          <p:cNvSpPr/>
          <p:nvPr/>
        </p:nvSpPr>
        <p:spPr>
          <a:xfrm>
            <a:off x="685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read-only; hash and profile every input; parse with explicit types; fix nothing yet</a:t>
            </a:r>
            <a:endParaRPr lang="en-US" sz="930" dirty="0"/>
          </a:p>
        </p:txBody>
      </p:sp>
      <p:sp>
        <p:nvSpPr>
          <p:cNvPr id="11" name="Shape 8"/>
          <p:cNvSpPr/>
          <p:nvPr/>
        </p:nvSpPr>
        <p:spPr>
          <a:xfrm>
            <a:off x="2624328" y="2651760"/>
            <a:ext cx="146304" cy="0"/>
          </a:xfrm>
          <a:prstGeom prst="line">
            <a:avLst/>
          </a:prstGeom>
          <a:noFill/>
          <a:ln w="28575">
            <a:solidFill>
              <a:srgbClr val="0E7C7B"/>
            </a:solidFill>
            <a:prstDash val="solid"/>
            <a:tailEnd type="triangle"/>
          </a:ln>
        </p:spPr>
      </p:sp>
      <p:sp>
        <p:nvSpPr>
          <p:cNvPr id="12" name="Shape 9"/>
          <p:cNvSpPr/>
          <p:nvPr/>
        </p:nvSpPr>
        <p:spPr>
          <a:xfrm>
            <a:off x="2788920" y="1554480"/>
            <a:ext cx="2103120" cy="2286000"/>
          </a:xfrm>
          <a:prstGeom prst="roundRect">
            <a:avLst>
              <a:gd name="adj" fmla="val 3478"/>
            </a:avLst>
          </a:prstGeom>
          <a:solidFill>
            <a:srgbClr val="F2F5F6"/>
          </a:solidFill>
          <a:ln/>
        </p:spPr>
      </p:sp>
      <p:sp>
        <p:nvSpPr>
          <p:cNvPr id="13" name="Shape 10"/>
          <p:cNvSpPr/>
          <p:nvPr/>
        </p:nvSpPr>
        <p:spPr>
          <a:xfrm>
            <a:off x="2971800" y="1755648"/>
            <a:ext cx="457200" cy="457200"/>
          </a:xfrm>
          <a:prstGeom prst="ellipse">
            <a:avLst/>
          </a:prstGeom>
          <a:solidFill>
            <a:srgbClr val="0E7C7B"/>
          </a:solidFill>
          <a:ln/>
        </p:spPr>
      </p:sp>
      <p:pic>
        <p:nvPicPr>
          <p:cNvPr id="14" name="Image 1" descr="/home/user/Claude-Works/ai-training-prompt-engineering/src/assets/icons/tool_w.png">    </p:cNvPr>
          <p:cNvPicPr>
            <a:picLocks noChangeAspect="1"/>
          </p:cNvPicPr>
          <p:nvPr/>
        </p:nvPicPr>
        <p:blipFill>
          <a:blip r:embed="rId2"/>
          <a:stretch>
            <a:fillRect/>
          </a:stretch>
        </p:blipFill>
        <p:spPr>
          <a:xfrm>
            <a:off x="3090672" y="1874520"/>
            <a:ext cx="219456" cy="219456"/>
          </a:xfrm>
          <a:prstGeom prst="rect">
            <a:avLst/>
          </a:prstGeom>
        </p:spPr>
      </p:pic>
      <p:sp>
        <p:nvSpPr>
          <p:cNvPr id="15" name="Text 11"/>
          <p:cNvSpPr/>
          <p:nvPr/>
        </p:nvSpPr>
        <p:spPr>
          <a:xfrm>
            <a:off x="2971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Transform</a:t>
            </a:r>
            <a:endParaRPr lang="en-US" sz="1350" dirty="0"/>
          </a:p>
        </p:txBody>
      </p:sp>
      <p:sp>
        <p:nvSpPr>
          <p:cNvPr id="16" name="Text 12"/>
          <p:cNvSpPr/>
          <p:nvPr/>
        </p:nvSpPr>
        <p:spPr>
          <a:xfrm>
            <a:off x="2971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one schema, ordered rules — each logged with rows affected; metrics defined as cards</a:t>
            </a:r>
            <a:endParaRPr lang="en-US" sz="930" dirty="0"/>
          </a:p>
        </p:txBody>
      </p:sp>
      <p:sp>
        <p:nvSpPr>
          <p:cNvPr id="17" name="Shape 13"/>
          <p:cNvSpPr/>
          <p:nvPr/>
        </p:nvSpPr>
        <p:spPr>
          <a:xfrm>
            <a:off x="4910328" y="2651760"/>
            <a:ext cx="146304" cy="0"/>
          </a:xfrm>
          <a:prstGeom prst="line">
            <a:avLst/>
          </a:prstGeom>
          <a:noFill/>
          <a:ln w="28575">
            <a:solidFill>
              <a:srgbClr val="0E7C7B"/>
            </a:solidFill>
            <a:prstDash val="solid"/>
            <a:tailEnd type="triangle"/>
          </a:ln>
        </p:spPr>
      </p:sp>
      <p:sp>
        <p:nvSpPr>
          <p:cNvPr id="18" name="Shape 14"/>
          <p:cNvSpPr/>
          <p:nvPr/>
        </p:nvSpPr>
        <p:spPr>
          <a:xfrm>
            <a:off x="5074920" y="1554480"/>
            <a:ext cx="2103120" cy="2286000"/>
          </a:xfrm>
          <a:prstGeom prst="roundRect">
            <a:avLst>
              <a:gd name="adj" fmla="val 3478"/>
            </a:avLst>
          </a:prstGeom>
          <a:solidFill>
            <a:srgbClr val="F2F5F6"/>
          </a:solidFill>
          <a:ln/>
        </p:spPr>
      </p:sp>
      <p:sp>
        <p:nvSpPr>
          <p:cNvPr id="19" name="Shape 15"/>
          <p:cNvSpPr/>
          <p:nvPr/>
        </p:nvSpPr>
        <p:spPr>
          <a:xfrm>
            <a:off x="5257800" y="1755648"/>
            <a:ext cx="457200" cy="457200"/>
          </a:xfrm>
          <a:prstGeom prst="ellipse">
            <a:avLst/>
          </a:prstGeom>
          <a:solidFill>
            <a:srgbClr val="0E7C7B"/>
          </a:solidFill>
          <a:ln/>
        </p:spPr>
      </p:sp>
      <p:pic>
        <p:nvPicPr>
          <p:cNvPr id="20" name="Image 2" descr="/home/user/Claude-Works/ai-training-prompt-engineering/src/assets/icons/check_w.png">    </p:cNvPr>
          <p:cNvPicPr>
            <a:picLocks noChangeAspect="1"/>
          </p:cNvPicPr>
          <p:nvPr/>
        </p:nvPicPr>
        <p:blipFill>
          <a:blip r:embed="rId3"/>
          <a:stretch>
            <a:fillRect/>
          </a:stretch>
        </p:blipFill>
        <p:spPr>
          <a:xfrm>
            <a:off x="5376672" y="1874520"/>
            <a:ext cx="219456" cy="219456"/>
          </a:xfrm>
          <a:prstGeom prst="rect">
            <a:avLst/>
          </a:prstGeom>
        </p:spPr>
      </p:pic>
      <p:sp>
        <p:nvSpPr>
          <p:cNvPr id="21" name="Text 16"/>
          <p:cNvSpPr/>
          <p:nvPr/>
        </p:nvSpPr>
        <p:spPr>
          <a:xfrm>
            <a:off x="5257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Validate</a:t>
            </a:r>
            <a:endParaRPr lang="en-US" sz="1350" dirty="0"/>
          </a:p>
        </p:txBody>
      </p:sp>
      <p:sp>
        <p:nvSpPr>
          <p:cNvPr id="22" name="Text 17"/>
          <p:cNvSpPr/>
          <p:nvPr/>
        </p:nvSpPr>
        <p:spPr>
          <a:xfrm>
            <a:off x="5257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reconcile to a known total; identities hold; HARD fail = STOP and report</a:t>
            </a:r>
            <a:endParaRPr lang="en-US" sz="930" dirty="0"/>
          </a:p>
        </p:txBody>
      </p:sp>
      <p:sp>
        <p:nvSpPr>
          <p:cNvPr id="23" name="Shape 18"/>
          <p:cNvSpPr/>
          <p:nvPr/>
        </p:nvSpPr>
        <p:spPr>
          <a:xfrm>
            <a:off x="7196328" y="2651760"/>
            <a:ext cx="146304" cy="0"/>
          </a:xfrm>
          <a:prstGeom prst="line">
            <a:avLst/>
          </a:prstGeom>
          <a:noFill/>
          <a:ln w="28575">
            <a:solidFill>
              <a:srgbClr val="0E7C7B"/>
            </a:solidFill>
            <a:prstDash val="solid"/>
            <a:tailEnd type="triangle"/>
          </a:ln>
        </p:spPr>
      </p:sp>
      <p:sp>
        <p:nvSpPr>
          <p:cNvPr id="24" name="Shape 19"/>
          <p:cNvSpPr/>
          <p:nvPr/>
        </p:nvSpPr>
        <p:spPr>
          <a:xfrm>
            <a:off x="7360920" y="1554480"/>
            <a:ext cx="2103120" cy="2286000"/>
          </a:xfrm>
          <a:prstGeom prst="roundRect">
            <a:avLst>
              <a:gd name="adj" fmla="val 3478"/>
            </a:avLst>
          </a:prstGeom>
          <a:solidFill>
            <a:srgbClr val="F2F5F6"/>
          </a:solidFill>
          <a:ln/>
        </p:spPr>
      </p:sp>
      <p:sp>
        <p:nvSpPr>
          <p:cNvPr id="25" name="Shape 20"/>
          <p:cNvSpPr/>
          <p:nvPr/>
        </p:nvSpPr>
        <p:spPr>
          <a:xfrm>
            <a:off x="7543800" y="1755648"/>
            <a:ext cx="457200" cy="457200"/>
          </a:xfrm>
          <a:prstGeom prst="ellipse">
            <a:avLst/>
          </a:prstGeom>
          <a:solidFill>
            <a:srgbClr val="0E7C7B"/>
          </a:solidFill>
          <a:ln/>
        </p:spPr>
      </p:sp>
      <p:pic>
        <p:nvPicPr>
          <p:cNvPr id="26" name="Image 3" descr="/home/user/Claude-Works/ai-training-prompt-engineering/src/assets/icons/chart_w.png">    </p:cNvPr>
          <p:cNvPicPr>
            <a:picLocks noChangeAspect="1"/>
          </p:cNvPicPr>
          <p:nvPr/>
        </p:nvPicPr>
        <p:blipFill>
          <a:blip r:embed="rId4"/>
          <a:stretch>
            <a:fillRect/>
          </a:stretch>
        </p:blipFill>
        <p:spPr>
          <a:xfrm>
            <a:off x="7662672" y="1874520"/>
            <a:ext cx="219456" cy="219456"/>
          </a:xfrm>
          <a:prstGeom prst="rect">
            <a:avLst/>
          </a:prstGeom>
        </p:spPr>
      </p:pic>
      <p:sp>
        <p:nvSpPr>
          <p:cNvPr id="27" name="Text 21"/>
          <p:cNvSpPr/>
          <p:nvPr/>
        </p:nvSpPr>
        <p:spPr>
          <a:xfrm>
            <a:off x="7543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Analyze</a:t>
            </a:r>
            <a:endParaRPr lang="en-US" sz="1350" dirty="0"/>
          </a:p>
        </p:txBody>
      </p:sp>
      <p:sp>
        <p:nvSpPr>
          <p:cNvPr id="28" name="Text 22"/>
          <p:cNvSpPr/>
          <p:nvPr/>
        </p:nvSpPr>
        <p:spPr>
          <a:xfrm>
            <a:off x="7543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answer the numbered questions, then stop; “associated with,” never “caused by”</a:t>
            </a:r>
            <a:endParaRPr lang="en-US" sz="930" dirty="0"/>
          </a:p>
        </p:txBody>
      </p:sp>
      <p:sp>
        <p:nvSpPr>
          <p:cNvPr id="29" name="Shape 23"/>
          <p:cNvSpPr/>
          <p:nvPr/>
        </p:nvSpPr>
        <p:spPr>
          <a:xfrm>
            <a:off x="9482328" y="2651760"/>
            <a:ext cx="146304" cy="0"/>
          </a:xfrm>
          <a:prstGeom prst="line">
            <a:avLst/>
          </a:prstGeom>
          <a:noFill/>
          <a:ln w="28575">
            <a:solidFill>
              <a:srgbClr val="0E7C7B"/>
            </a:solidFill>
            <a:prstDash val="solid"/>
            <a:tailEnd type="triangle"/>
          </a:ln>
        </p:spPr>
      </p:sp>
      <p:sp>
        <p:nvSpPr>
          <p:cNvPr id="30" name="Shape 24"/>
          <p:cNvSpPr/>
          <p:nvPr/>
        </p:nvSpPr>
        <p:spPr>
          <a:xfrm>
            <a:off x="9646920" y="1554480"/>
            <a:ext cx="2103120" cy="2286000"/>
          </a:xfrm>
          <a:prstGeom prst="roundRect">
            <a:avLst>
              <a:gd name="adj" fmla="val 3478"/>
            </a:avLst>
          </a:prstGeom>
          <a:solidFill>
            <a:srgbClr val="F2F5F6"/>
          </a:solidFill>
          <a:ln/>
        </p:spPr>
      </p:sp>
      <p:sp>
        <p:nvSpPr>
          <p:cNvPr id="31" name="Shape 25"/>
          <p:cNvSpPr/>
          <p:nvPr/>
        </p:nvSpPr>
        <p:spPr>
          <a:xfrm>
            <a:off x="9829800" y="1755648"/>
            <a:ext cx="457200" cy="457200"/>
          </a:xfrm>
          <a:prstGeom prst="ellipse">
            <a:avLst/>
          </a:prstGeom>
          <a:solidFill>
            <a:srgbClr val="0E7C7B"/>
          </a:solidFill>
          <a:ln/>
        </p:spPr>
      </p:sp>
      <p:pic>
        <p:nvPicPr>
          <p:cNvPr id="32" name="Image 4" descr="/home/user/Claude-Works/ai-training-prompt-engineering/src/assets/icons/layout_w.png">    </p:cNvPr>
          <p:cNvPicPr>
            <a:picLocks noChangeAspect="1"/>
          </p:cNvPicPr>
          <p:nvPr/>
        </p:nvPicPr>
        <p:blipFill>
          <a:blip r:embed="rId5"/>
          <a:stretch>
            <a:fillRect/>
          </a:stretch>
        </p:blipFill>
        <p:spPr>
          <a:xfrm>
            <a:off x="9948672" y="1874520"/>
            <a:ext cx="219456" cy="219456"/>
          </a:xfrm>
          <a:prstGeom prst="rect">
            <a:avLst/>
          </a:prstGeom>
        </p:spPr>
      </p:pic>
      <p:sp>
        <p:nvSpPr>
          <p:cNvPr id="33" name="Text 26"/>
          <p:cNvSpPr/>
          <p:nvPr/>
        </p:nvSpPr>
        <p:spPr>
          <a:xfrm>
            <a:off x="9829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Present</a:t>
            </a:r>
            <a:endParaRPr lang="en-US" sz="1350" dirty="0"/>
          </a:p>
        </p:txBody>
      </p:sp>
      <p:sp>
        <p:nvSpPr>
          <p:cNvPr id="34" name="Text 27"/>
          <p:cNvSpPr/>
          <p:nvPr/>
        </p:nvSpPr>
        <p:spPr>
          <a:xfrm>
            <a:off x="9829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headline titles with the number; n on every proportion; source + as-of footer</a:t>
            </a:r>
            <a:endParaRPr lang="en-US" sz="930" dirty="0"/>
          </a:p>
        </p:txBody>
      </p:sp>
      <p:sp>
        <p:nvSpPr>
          <p:cNvPr id="35" name="Shape 28"/>
          <p:cNvSpPr/>
          <p:nvPr/>
        </p:nvSpPr>
        <p:spPr>
          <a:xfrm>
            <a:off x="502920" y="4114800"/>
            <a:ext cx="3611880" cy="1325880"/>
          </a:xfrm>
          <a:prstGeom prst="roundRect">
            <a:avLst>
              <a:gd name="adj" fmla="val 5517"/>
            </a:avLst>
          </a:prstGeom>
          <a:solidFill>
            <a:srgbClr val="FBF0E0"/>
          </a:solidFill>
          <a:ln/>
        </p:spPr>
      </p:sp>
      <p:sp>
        <p:nvSpPr>
          <p:cNvPr id="36" name="Text 29"/>
          <p:cNvSpPr/>
          <p:nvPr/>
        </p:nvSpPr>
        <p:spPr>
          <a:xfrm>
            <a:off x="704088"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1 · Definitions</a:t>
            </a:r>
            <a:endParaRPr lang="en-US" sz="12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before any data is touched: the agent restates metrics, schema, assumptions — you confirm. Catches the wrong denominator for pennies.</a:t>
            </a:r>
            <a:endParaRPr lang="en-US" sz="1200" dirty="0"/>
          </a:p>
        </p:txBody>
      </p:sp>
      <p:sp>
        <p:nvSpPr>
          <p:cNvPr id="37" name="Shape 30"/>
          <p:cNvSpPr/>
          <p:nvPr/>
        </p:nvSpPr>
        <p:spPr>
          <a:xfrm>
            <a:off x="4325112" y="4114800"/>
            <a:ext cx="3611880" cy="1325880"/>
          </a:xfrm>
          <a:prstGeom prst="roundRect">
            <a:avLst>
              <a:gd name="adj" fmla="val 5517"/>
            </a:avLst>
          </a:prstGeom>
          <a:solidFill>
            <a:srgbClr val="FBF0E0"/>
          </a:solidFill>
          <a:ln/>
        </p:spPr>
      </p:sp>
      <p:sp>
        <p:nvSpPr>
          <p:cNvPr id="38" name="Text 31"/>
          <p:cNvSpPr/>
          <p:nvPr/>
        </p:nvSpPr>
        <p:spPr>
          <a:xfrm>
            <a:off x="4526280"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2 · Reconciliation</a:t>
            </a:r>
            <a:endParaRPr lang="en-US" sz="12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after transform: totals tie to a number you already trust. Any HARD check fails → the run stops, with the offending rows.</a:t>
            </a:r>
            <a:endParaRPr lang="en-US" sz="1200" dirty="0"/>
          </a:p>
        </p:txBody>
      </p:sp>
      <p:sp>
        <p:nvSpPr>
          <p:cNvPr id="39" name="Shape 32"/>
          <p:cNvSpPr/>
          <p:nvPr/>
        </p:nvSpPr>
        <p:spPr>
          <a:xfrm>
            <a:off x="8147304" y="4114800"/>
            <a:ext cx="3611880" cy="1325880"/>
          </a:xfrm>
          <a:prstGeom prst="roundRect">
            <a:avLst>
              <a:gd name="adj" fmla="val 5517"/>
            </a:avLst>
          </a:prstGeom>
          <a:solidFill>
            <a:srgbClr val="FBF0E0"/>
          </a:solidFill>
          <a:ln/>
        </p:spPr>
      </p:sp>
      <p:sp>
        <p:nvSpPr>
          <p:cNvPr id="40" name="Text 33"/>
          <p:cNvSpPr/>
          <p:nvPr/>
        </p:nvSpPr>
        <p:spPr>
          <a:xfrm>
            <a:off x="8348472"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3 · Headlines</a:t>
            </a:r>
            <a:endParaRPr lang="en-US" sz="12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before rendering: slide titles + bullets as plain text. Re-rendering is cheap; re-thinking a circulated deck is not.</a:t>
            </a:r>
            <a:endParaRPr lang="en-US" sz="1200" dirty="0"/>
          </a:p>
        </p:txBody>
      </p:sp>
      <p:sp>
        <p:nvSpPr>
          <p:cNvPr id="41" name="Shape 34"/>
          <p:cNvSpPr/>
          <p:nvPr/>
        </p:nvSpPr>
        <p:spPr>
          <a:xfrm>
            <a:off x="502920" y="5669280"/>
            <a:ext cx="11155680" cy="685800"/>
          </a:xfrm>
          <a:prstGeom prst="roundRect">
            <a:avLst>
              <a:gd name="adj" fmla="val 10667"/>
            </a:avLst>
          </a:prstGeom>
          <a:solidFill>
            <a:srgbClr val="E4F0EF"/>
          </a:solidFill>
          <a:ln/>
        </p:spPr>
      </p:sp>
      <p:sp>
        <p:nvSpPr>
          <p:cNvPr id="42" name="Shape 35"/>
          <p:cNvSpPr/>
          <p:nvPr/>
        </p:nvSpPr>
        <p:spPr>
          <a:xfrm>
            <a:off x="667512" y="5820156"/>
            <a:ext cx="384048" cy="384048"/>
          </a:xfrm>
          <a:prstGeom prst="ellipse">
            <a:avLst/>
          </a:prstGeom>
          <a:solidFill>
            <a:srgbClr val="0E7C7B"/>
          </a:solidFill>
          <a:ln/>
        </p:spPr>
      </p:sp>
      <p:pic>
        <p:nvPicPr>
          <p:cNvPr id="43" name="Image 5" descr="/home/user/Claude-Works/ai-training-prompt-engineering/src/assets/icons/zap_w.png">    </p:cNvPr>
          <p:cNvPicPr>
            <a:picLocks noChangeAspect="1"/>
          </p:cNvPicPr>
          <p:nvPr/>
        </p:nvPicPr>
        <p:blipFill>
          <a:blip r:embed="rId6"/>
          <a:stretch>
            <a:fillRect/>
          </a:stretch>
        </p:blipFill>
        <p:spPr>
          <a:xfrm>
            <a:off x="767364" y="5920008"/>
            <a:ext cx="184343" cy="184343"/>
          </a:xfrm>
          <a:prstGeom prst="rect">
            <a:avLst/>
          </a:prstGeom>
        </p:spPr>
      </p:pic>
      <p:sp>
        <p:nvSpPr>
          <p:cNvPr id="44" name="Text 36"/>
          <p:cNvSpPr/>
          <p:nvPr/>
        </p:nvSpPr>
        <p:spPr>
          <a:xfrm>
            <a:off x="1216152" y="574243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Between gates: full autonomy.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Ask only if: a HARD check fails · an input isn’t as described · a definition is ambiguous · a published number would change. Otherwise, proceed.</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GUARDRAILS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WORKING SAFELY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Arms need supervision: five rules for delegating</a:t>
            </a:r>
            <a:endParaRPr lang="en-US" sz="3000" dirty="0"/>
          </a:p>
        </p:txBody>
      </p:sp>
      <p:sp>
        <p:nvSpPr>
          <p:cNvPr id="6" name="Shape 4"/>
          <p:cNvSpPr/>
          <p:nvPr/>
        </p:nvSpPr>
        <p:spPr>
          <a:xfrm>
            <a:off x="502920" y="1527048"/>
            <a:ext cx="457200" cy="457200"/>
          </a:xfrm>
          <a:prstGeom prst="ellipse">
            <a:avLst/>
          </a:prstGeom>
          <a:solidFill>
            <a:srgbClr val="0E7C7B"/>
          </a:solidFill>
          <a:ln/>
        </p:spPr>
      </p:sp>
      <p:pic>
        <p:nvPicPr>
          <p:cNvPr id="7" name="Image 0" descr="/home/user/Claude-Works/ai-training-prompt-engineering/src/assets/icons/hand_w.png">    </p:cNvPr>
          <p:cNvPicPr>
            <a:picLocks noChangeAspect="1"/>
          </p:cNvPicPr>
          <p:nvPr/>
        </p:nvPicPr>
        <p:blipFill>
          <a:blip r:embed="rId1"/>
          <a:stretch>
            <a:fillRect/>
          </a:stretch>
        </p:blipFill>
        <p:spPr>
          <a:xfrm>
            <a:off x="621792" y="1645920"/>
            <a:ext cx="219456" cy="219456"/>
          </a:xfrm>
          <a:prstGeom prst="rect">
            <a:avLst/>
          </a:prstGeom>
        </p:spPr>
      </p:pic>
      <p:sp>
        <p:nvSpPr>
          <p:cNvPr id="8" name="Text 5"/>
          <p:cNvSpPr/>
          <p:nvPr/>
        </p:nvSpPr>
        <p:spPr>
          <a:xfrm>
            <a:off x="1161288" y="1435608"/>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Reversible? proceed. Irreversible? ask.</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Edits in a scratch folder are reversible. Deleting, sending, publishing, overwriting a master — the prompt must say: stop and ask first.</a:t>
            </a:r>
            <a:endParaRPr lang="en-US" sz="1300" dirty="0"/>
          </a:p>
        </p:txBody>
      </p:sp>
      <p:sp>
        <p:nvSpPr>
          <p:cNvPr id="9" name="Shape 6"/>
          <p:cNvSpPr/>
          <p:nvPr/>
        </p:nvSpPr>
        <p:spPr>
          <a:xfrm>
            <a:off x="502920" y="2459736"/>
            <a:ext cx="457200" cy="457200"/>
          </a:xfrm>
          <a:prstGeom prst="ellipse">
            <a:avLst/>
          </a:prstGeom>
          <a:solidFill>
            <a:srgbClr val="0E7C7B"/>
          </a:solidFill>
          <a:ln/>
        </p:spPr>
      </p:sp>
      <p:pic>
        <p:nvPicPr>
          <p:cNvPr id="10" name="Image 1" descr="/home/user/Claude-Works/ai-training-prompt-engineering/src/assets/icons/key_w.png">    </p:cNvPr>
          <p:cNvPicPr>
            <a:picLocks noChangeAspect="1"/>
          </p:cNvPicPr>
          <p:nvPr/>
        </p:nvPicPr>
        <p:blipFill>
          <a:blip r:embed="rId2"/>
          <a:stretch>
            <a:fillRect/>
          </a:stretch>
        </p:blipFill>
        <p:spPr>
          <a:xfrm>
            <a:off x="621792" y="2578608"/>
            <a:ext cx="219456" cy="219456"/>
          </a:xfrm>
          <a:prstGeom prst="rect">
            <a:avLst/>
          </a:prstGeom>
        </p:spPr>
      </p:pic>
      <p:sp>
        <p:nvSpPr>
          <p:cNvPr id="11" name="Text 7"/>
          <p:cNvSpPr/>
          <p:nvPr/>
        </p:nvSpPr>
        <p:spPr>
          <a:xfrm>
            <a:off x="1161288" y="2368296"/>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Least privilege</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Give the minimum access for the shortest time. UK NCSC: “If you cannot understand, monitor or contain an agent’s actions, it is not ready for deployment.”</a:t>
            </a:r>
            <a:endParaRPr lang="en-US" sz="1300" dirty="0"/>
          </a:p>
        </p:txBody>
      </p:sp>
      <p:sp>
        <p:nvSpPr>
          <p:cNvPr id="12" name="Shape 8"/>
          <p:cNvSpPr/>
          <p:nvPr/>
        </p:nvSpPr>
        <p:spPr>
          <a:xfrm>
            <a:off x="502920" y="3392424"/>
            <a:ext cx="457200" cy="457200"/>
          </a:xfrm>
          <a:prstGeom prst="ellipse">
            <a:avLst/>
          </a:prstGeom>
          <a:solidFill>
            <a:srgbClr val="AF3230"/>
          </a:solidFill>
          <a:ln/>
        </p:spPr>
      </p:sp>
      <p:pic>
        <p:nvPicPr>
          <p:cNvPr id="13" name="Image 2" descr="/home/user/Claude-Works/ai-training-prompt-engineering/src/assets/icons/alert_w.png">    </p:cNvPr>
          <p:cNvPicPr>
            <a:picLocks noChangeAspect="1"/>
          </p:cNvPicPr>
          <p:nvPr/>
        </p:nvPicPr>
        <p:blipFill>
          <a:blip r:embed="rId3"/>
          <a:stretch>
            <a:fillRect/>
          </a:stretch>
        </p:blipFill>
        <p:spPr>
          <a:xfrm>
            <a:off x="621792" y="3511296"/>
            <a:ext cx="219456" cy="219456"/>
          </a:xfrm>
          <a:prstGeom prst="rect">
            <a:avLst/>
          </a:prstGeom>
        </p:spPr>
      </p:pic>
      <p:sp>
        <p:nvSpPr>
          <p:cNvPr id="14" name="Text 9"/>
          <p:cNvSpPr/>
          <p:nvPr/>
        </p:nvSpPr>
        <p:spPr>
          <a:xfrm>
            <a:off x="1161288" y="3300984"/>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Prompt injection is real</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Anything the agent reads — a web page, an emailed doc, a spreadsheet — can carry hostile instructions. Danger peaks when private data + untrusted content + outbound channels combine: break one leg of that trifecta.</a:t>
            </a:r>
            <a:endParaRPr lang="en-US" sz="1300" dirty="0"/>
          </a:p>
        </p:txBody>
      </p:sp>
      <p:sp>
        <p:nvSpPr>
          <p:cNvPr id="15" name="Shape 10"/>
          <p:cNvSpPr/>
          <p:nvPr/>
        </p:nvSpPr>
        <p:spPr>
          <a:xfrm>
            <a:off x="502920" y="4325112"/>
            <a:ext cx="457200" cy="457200"/>
          </a:xfrm>
          <a:prstGeom prst="ellipse">
            <a:avLst/>
          </a:prstGeom>
          <a:solidFill>
            <a:srgbClr val="AF3230"/>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21792" y="4443984"/>
            <a:ext cx="219456" cy="219456"/>
          </a:xfrm>
          <a:prstGeom prst="rect">
            <a:avLst/>
          </a:prstGeom>
        </p:spPr>
      </p:pic>
      <p:sp>
        <p:nvSpPr>
          <p:cNvPr id="17" name="Text 11"/>
          <p:cNvSpPr/>
          <p:nvPr/>
        </p:nvSpPr>
        <p:spPr>
          <a:xfrm>
            <a:off x="1161288" y="4233672"/>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Vet third-party “skills”</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Community plugins are unsigned code + instructions. The #1-ranked community skill for one popular open agent was silently exfiltrating data (Cisco, Jan 2026). Treat skills like unqualified suppliers: inspect before install.</a:t>
            </a:r>
            <a:endParaRPr lang="en-US" sz="1300" dirty="0"/>
          </a:p>
        </p:txBody>
      </p:sp>
      <p:sp>
        <p:nvSpPr>
          <p:cNvPr id="18" name="Shape 12"/>
          <p:cNvSpPr/>
          <p:nvPr/>
        </p:nvSpPr>
        <p:spPr>
          <a:xfrm>
            <a:off x="502920" y="5257800"/>
            <a:ext cx="457200" cy="457200"/>
          </a:xfrm>
          <a:prstGeom prst="ellipse">
            <a:avLst/>
          </a:prstGeom>
          <a:solidFill>
            <a:srgbClr val="0E7C7B"/>
          </a:solidFill>
          <a:ln/>
        </p:spPr>
      </p:sp>
      <p:pic>
        <p:nvPicPr>
          <p:cNvPr id="19" name="Image 4" descr="/home/user/Claude-Works/ai-training-prompt-engineering/src/assets/icons/eye_w.png">    </p:cNvPr>
          <p:cNvPicPr>
            <a:picLocks noChangeAspect="1"/>
          </p:cNvPicPr>
          <p:nvPr/>
        </p:nvPicPr>
        <p:blipFill>
          <a:blip r:embed="rId5"/>
          <a:stretch>
            <a:fillRect/>
          </a:stretch>
        </p:blipFill>
        <p:spPr>
          <a:xfrm>
            <a:off x="621792" y="5376672"/>
            <a:ext cx="219456" cy="219456"/>
          </a:xfrm>
          <a:prstGeom prst="rect">
            <a:avLst/>
          </a:prstGeom>
        </p:spPr>
      </p:pic>
      <p:sp>
        <p:nvSpPr>
          <p:cNvPr id="20" name="Text 13"/>
          <p:cNvSpPr/>
          <p:nvPr/>
        </p:nvSpPr>
        <p:spPr>
          <a:xfrm>
            <a:off x="1161288" y="5166360"/>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Demand evidence, not assertions</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“Done” means: the check it ran, the output it got, the file re-opened and verified. Spot-check agent work like any new hire’s — trust grows with track record.</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STANDING MEMORY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TEMPLATES A3 + A4</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the brief once — the workspace remembers</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A4 · CLAUDE.md / project instructions</a:t>
            </a:r>
            <a:endParaRPr lang="en-US" sz="1450" dirty="0"/>
          </a:p>
        </p:txBody>
      </p:sp>
      <p:sp>
        <p:nvSpPr>
          <p:cNvPr id="8" name="Text 6"/>
          <p:cNvSpPr/>
          <p:nvPr/>
        </p:nvSpPr>
        <p:spPr>
          <a:xfrm>
            <a:off x="82296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 file the agent reads at the start of every session — the onboarding packet for your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Include: folder layout &amp; read/write boundaries · conventions · standing rules &amp; ask-first list · known data quirks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Exclude: anything it can infer by reading the files, tutorials, stale details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Keep it ≤ ~60 lines. Per line ask: “would removing this cause mistakes?” If not, cut — bloat drowns your real instructions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Never: credentials, personal data. It’s read every session and lives in history</a:t>
            </a:r>
            <a:endParaRPr lang="en-US" sz="1150" dirty="0"/>
          </a:p>
        </p:txBody>
      </p:sp>
      <p:sp>
        <p:nvSpPr>
          <p:cNvPr id="9" name="Shape 7"/>
          <p:cNvSpPr/>
          <p:nvPr/>
        </p:nvSpPr>
        <p:spPr>
          <a:xfrm>
            <a:off x="6172200" y="1508760"/>
            <a:ext cx="5486400" cy="4526280"/>
          </a:xfrm>
          <a:prstGeom prst="roundRect">
            <a:avLst>
              <a:gd name="adj" fmla="val 1616"/>
            </a:avLst>
          </a:prstGeom>
          <a:solidFill>
            <a:srgbClr val="E4F0EF"/>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A3 · Reuse by diff</a:t>
            </a:r>
            <a:endParaRPr lang="en-US" sz="1450" dirty="0"/>
          </a:p>
        </p:txBody>
      </p:sp>
      <p:sp>
        <p:nvSpPr>
          <p:cNvPr id="11" name="Text 9"/>
          <p:cNvSpPr/>
          <p:nvPr/>
        </p:nvSpPr>
        <p:spPr>
          <a:xfrm>
            <a:off x="649224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The economics of agentic prompting: the full mission brief is written once, stored in the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Each cycle’s prompt is then ten lines: new input paths, the as-of date, deltas to watch, this cycle’s extra gate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Delta reporting: compare every headline metric to last cycle; moves beyond threshold get one-line explanations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When a definition changes at a gate — update the standing brief in the same session, log it in CHANGES.md</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After two “just this once” exceptions, fold them into the brief</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40</a:t>
            </a:r>
            <a:endParaRPr lang="en-US" sz="850" dirty="0"/>
          </a:p>
        </p:txBody>
      </p:sp>
      <p:sp>
        <p:nvSpPr>
          <p:cNvPr id="3" name="Text 1"/>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6 · PROMPT MANAGEMENT</a:t>
            </a:r>
            <a:endParaRPr lang="en-US" sz="1600" dirty="0"/>
          </a:p>
        </p:txBody>
      </p:sp>
      <p:sp>
        <p:nvSpPr>
          <p:cNvPr id="4" name="Text 2"/>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Prompts are assets.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Manage them like it.</a:t>
            </a:r>
            <a:endParaRPr lang="en-US" sz="4400" dirty="0"/>
          </a:p>
        </p:txBody>
      </p:sp>
      <p:sp>
        <p:nvSpPr>
          <p:cNvPr id="5" name="Text 3"/>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good prompt took an hour of iteration to earn. Re-typing it from memory throws that hour away — and gives your teammate a worse version than yours.</a:t>
            </a:r>
            <a:endParaRPr lang="en-US" sz="15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THE LADDER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FROM RETYPING TO ASSET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promotion ladder — and when to climb it</a:t>
            </a:r>
            <a:endParaRPr lang="en-US" sz="3000" dirty="0"/>
          </a:p>
        </p:txBody>
      </p:sp>
      <p:sp>
        <p:nvSpPr>
          <p:cNvPr id="6" name="Shape 4"/>
          <p:cNvSpPr/>
          <p:nvPr/>
        </p:nvSpPr>
        <p:spPr>
          <a:xfrm>
            <a:off x="502920" y="1527048"/>
            <a:ext cx="438912" cy="438912"/>
          </a:xfrm>
          <a:prstGeom prst="ellipse">
            <a:avLst/>
          </a:prstGeom>
          <a:solidFill>
            <a:srgbClr val="0E7C7B"/>
          </a:solidFill>
          <a:ln/>
        </p:spPr>
      </p:sp>
      <p:pic>
        <p:nvPicPr>
          <p:cNvPr id="7" name="Image 0" descr="/home/user/Claude-Works/ai-training-prompt-engineering/src/assets/icons/edit_w.png">    </p:cNvPr>
          <p:cNvPicPr>
            <a:picLocks noChangeAspect="1"/>
          </p:cNvPicPr>
          <p:nvPr/>
        </p:nvPicPr>
        <p:blipFill>
          <a:blip r:embed="rId1"/>
          <a:stretch>
            <a:fillRect/>
          </a:stretch>
        </p:blipFill>
        <p:spPr>
          <a:xfrm>
            <a:off x="617037" y="1641165"/>
            <a:ext cx="210678" cy="210678"/>
          </a:xfrm>
          <a:prstGeom prst="rect">
            <a:avLst/>
          </a:prstGeom>
        </p:spPr>
      </p:pic>
      <p:sp>
        <p:nvSpPr>
          <p:cNvPr id="8" name="Text 5"/>
          <p:cNvSpPr/>
          <p:nvPr/>
        </p:nvSpPr>
        <p:spPr>
          <a:xfrm>
            <a:off x="1143000" y="1435608"/>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1 · One-off prompt</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Typed, used, gone. Fine for genuinely one-time asks.</a:t>
            </a:r>
            <a:endParaRPr lang="en-US" sz="1250" dirty="0"/>
          </a:p>
        </p:txBody>
      </p:sp>
      <p:sp>
        <p:nvSpPr>
          <p:cNvPr id="9" name="Shape 6"/>
          <p:cNvSpPr/>
          <p:nvPr/>
        </p:nvSpPr>
        <p:spPr>
          <a:xfrm>
            <a:off x="502920" y="2432304"/>
            <a:ext cx="438912" cy="438912"/>
          </a:xfrm>
          <a:prstGeom prst="ellipse">
            <a:avLst/>
          </a:prstGeom>
          <a:solidFill>
            <a:srgbClr val="0E7C7B"/>
          </a:solidFill>
          <a:ln/>
        </p:spPr>
      </p:sp>
      <p:pic>
        <p:nvPicPr>
          <p:cNvPr id="10" name="Image 1" descr="/home/user/Claude-Works/ai-training-prompt-engineering/src/assets/icons/save_w.png">    </p:cNvPr>
          <p:cNvPicPr>
            <a:picLocks noChangeAspect="1"/>
          </p:cNvPicPr>
          <p:nvPr/>
        </p:nvPicPr>
        <p:blipFill>
          <a:blip r:embed="rId2"/>
          <a:stretch>
            <a:fillRect/>
          </a:stretch>
        </p:blipFill>
        <p:spPr>
          <a:xfrm>
            <a:off x="617037" y="2546421"/>
            <a:ext cx="210678" cy="210678"/>
          </a:xfrm>
          <a:prstGeom prst="rect">
            <a:avLst/>
          </a:prstGeom>
        </p:spPr>
      </p:pic>
      <p:sp>
        <p:nvSpPr>
          <p:cNvPr id="11" name="Text 7"/>
          <p:cNvSpPr/>
          <p:nvPr/>
        </p:nvSpPr>
        <p:spPr>
          <a:xfrm>
            <a:off x="1143000" y="2340864"/>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2 · Personal library</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A saved-prompts doc or text-expander snippets. Zero infrastructure; start today.</a:t>
            </a:r>
            <a:endParaRPr lang="en-US" sz="1250" dirty="0"/>
          </a:p>
        </p:txBody>
      </p:sp>
      <p:sp>
        <p:nvSpPr>
          <p:cNvPr id="12" name="Shape 8"/>
          <p:cNvSpPr/>
          <p:nvPr/>
        </p:nvSpPr>
        <p:spPr>
          <a:xfrm>
            <a:off x="502920" y="3337560"/>
            <a:ext cx="438912" cy="438912"/>
          </a:xfrm>
          <a:prstGeom prst="ellipse">
            <a:avLst/>
          </a:prstGeom>
          <a:solidFill>
            <a:srgbClr val="0E7C7B"/>
          </a:solidFill>
          <a:ln/>
        </p:spPr>
      </p:sp>
      <p:pic>
        <p:nvPicPr>
          <p:cNvPr id="13" name="Image 2" descr="/home/user/Claude-Works/ai-training-prompt-engineering/src/assets/icons/users_w.png">    </p:cNvPr>
          <p:cNvPicPr>
            <a:picLocks noChangeAspect="1"/>
          </p:cNvPicPr>
          <p:nvPr/>
        </p:nvPicPr>
        <p:blipFill>
          <a:blip r:embed="rId3"/>
          <a:stretch>
            <a:fillRect/>
          </a:stretch>
        </p:blipFill>
        <p:spPr>
          <a:xfrm>
            <a:off x="617037" y="3451677"/>
            <a:ext cx="210678" cy="210678"/>
          </a:xfrm>
          <a:prstGeom prst="rect">
            <a:avLst/>
          </a:prstGeom>
        </p:spPr>
      </p:pic>
      <p:sp>
        <p:nvSpPr>
          <p:cNvPr id="14" name="Text 9"/>
          <p:cNvSpPr/>
          <p:nvPr/>
        </p:nvSpPr>
        <p:spPr>
          <a:xfrm>
            <a:off x="1143000" y="3246120"/>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3 · Team library</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A shared database — Notion, SharePoint list, Copilot Prompt Gallery. One tested template, everyone’s baseline.</a:t>
            </a:r>
            <a:endParaRPr lang="en-US" sz="1250" dirty="0"/>
          </a:p>
        </p:txBody>
      </p:sp>
      <p:sp>
        <p:nvSpPr>
          <p:cNvPr id="15" name="Shape 10"/>
          <p:cNvSpPr/>
          <p:nvPr/>
        </p:nvSpPr>
        <p:spPr>
          <a:xfrm>
            <a:off x="502920" y="4242816"/>
            <a:ext cx="438912" cy="438912"/>
          </a:xfrm>
          <a:prstGeom prst="ellipse">
            <a:avLst/>
          </a:prstGeom>
          <a:solidFill>
            <a:srgbClr val="0E7C7B"/>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17037" y="4356933"/>
            <a:ext cx="210678" cy="210678"/>
          </a:xfrm>
          <a:prstGeom prst="rect">
            <a:avLst/>
          </a:prstGeom>
        </p:spPr>
      </p:pic>
      <p:sp>
        <p:nvSpPr>
          <p:cNvPr id="17" name="Text 11"/>
          <p:cNvSpPr/>
          <p:nvPr/>
        </p:nvSpPr>
        <p:spPr>
          <a:xfrm>
            <a:off x="1143000" y="4151376"/>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4 · Packaged &amp; auto-applied</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Project instructions, Claude Skills, Gems, Copilot agents: the prompt loads itself when the context matches.</a:t>
            </a:r>
            <a:endParaRPr lang="en-US" sz="1250" dirty="0"/>
          </a:p>
        </p:txBody>
      </p:sp>
      <p:sp>
        <p:nvSpPr>
          <p:cNvPr id="18" name="Shape 12"/>
          <p:cNvSpPr/>
          <p:nvPr/>
        </p:nvSpPr>
        <p:spPr>
          <a:xfrm>
            <a:off x="502920" y="5148072"/>
            <a:ext cx="438912" cy="438912"/>
          </a:xfrm>
          <a:prstGeom prst="ellipse">
            <a:avLst/>
          </a:prstGeom>
          <a:solidFill>
            <a:srgbClr val="0E7C7B"/>
          </a:solidFill>
          <a:ln/>
        </p:spPr>
      </p:sp>
      <p:pic>
        <p:nvPicPr>
          <p:cNvPr id="19" name="Image 4" descr="/home/user/Claude-Works/ai-training-prompt-engineering/src/assets/icons/branch_w.png">    </p:cNvPr>
          <p:cNvPicPr>
            <a:picLocks noChangeAspect="1"/>
          </p:cNvPicPr>
          <p:nvPr/>
        </p:nvPicPr>
        <p:blipFill>
          <a:blip r:embed="rId5"/>
          <a:stretch>
            <a:fillRect/>
          </a:stretch>
        </p:blipFill>
        <p:spPr>
          <a:xfrm>
            <a:off x="617037" y="5262189"/>
            <a:ext cx="210678" cy="210678"/>
          </a:xfrm>
          <a:prstGeom prst="rect">
            <a:avLst/>
          </a:prstGeom>
        </p:spPr>
      </p:pic>
      <p:sp>
        <p:nvSpPr>
          <p:cNvPr id="20" name="Text 13"/>
          <p:cNvSpPr/>
          <p:nvPr/>
        </p:nvSpPr>
        <p:spPr>
          <a:xfrm>
            <a:off x="1143000" y="5056632"/>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5 · Prompts as code</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CLAUDE.md / AGENTS.md / briefs in the repo, versioned in git, reviewed like code. Where agentic briefs live.</a:t>
            </a:r>
            <a:endParaRPr lang="en-US" sz="1250" dirty="0"/>
          </a:p>
        </p:txBody>
      </p:sp>
      <p:sp>
        <p:nvSpPr>
          <p:cNvPr id="21" name="Shape 14"/>
          <p:cNvSpPr/>
          <p:nvPr/>
        </p:nvSpPr>
        <p:spPr>
          <a:xfrm>
            <a:off x="7086600" y="1481328"/>
            <a:ext cx="4572000" cy="2834640"/>
          </a:xfrm>
          <a:prstGeom prst="roundRect">
            <a:avLst>
              <a:gd name="adj" fmla="val 2581"/>
            </a:avLst>
          </a:prstGeom>
          <a:solidFill>
            <a:srgbClr val="E4F0EF"/>
          </a:solidFill>
          <a:ln/>
        </p:spPr>
      </p:sp>
      <p:sp>
        <p:nvSpPr>
          <p:cNvPr id="22" name="Text 15"/>
          <p:cNvSpPr/>
          <p:nvPr/>
        </p:nvSpPr>
        <p:spPr>
          <a:xfrm>
            <a:off x="7333488" y="1664208"/>
            <a:ext cx="4114800" cy="36576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The promotion trigger</a:t>
            </a:r>
            <a:endParaRPr lang="en-US" sz="1400" dirty="0"/>
          </a:p>
        </p:txBody>
      </p:sp>
      <p:sp>
        <p:nvSpPr>
          <p:cNvPr id="23" name="Text 16"/>
          <p:cNvSpPr/>
          <p:nvPr/>
        </p:nvSpPr>
        <p:spPr>
          <a:xfrm>
            <a:off x="7333488" y="2103120"/>
            <a:ext cx="4114800" cy="2103120"/>
          </a:xfrm>
          <a:prstGeom prst="rect">
            <a:avLst/>
          </a:prstGeom>
          <a:noFill/>
          <a:ln/>
        </p:spPr>
        <p:txBody>
          <a:bodyPr wrap="square" lIns="0" tIns="0" rIns="0" bIns="0" rtlCol="0" anchor="ctr"/>
          <a:lstStyle/>
          <a:p>
            <a:pPr indent="0" marL="0">
              <a:lnSpc>
                <a:spcPct val="112000"/>
              </a:lnSpc>
              <a:buNone/>
            </a:pPr>
            <a:r>
              <a:rPr lang="en-US" sz="1150" dirty="0">
                <a:solidFill>
                  <a:srgbClr val="46545F"/>
                </a:solidFill>
                <a:latin typeface="Calibri" pitchFamily="34" charset="0"/>
                <a:ea typeface="Calibri" pitchFamily="34" charset="-122"/>
                <a:cs typeface="Calibri" pitchFamily="34" charset="-120"/>
              </a:rPr>
              <a:t>Anthropic’s rule of thumb: the moment you’ve explained the same task more than once, it’s time to package it.</a:t>
            </a:r>
            <a:endParaRPr lang="en-US" sz="1150" dirty="0"/>
          </a:p>
          <a:p>
            <a:pPr indent="0" marL="0">
              <a:lnSpc>
                <a:spcPct val="112000"/>
              </a:lnSpc>
              <a:buNone/>
            </a:pPr>
            <a:endParaRPr lang="en-US" sz="1150" dirty="0"/>
          </a:p>
          <a:p>
            <a:pPr indent="0" marL="0">
              <a:lnSpc>
                <a:spcPct val="112000"/>
              </a:lnSpc>
              <a:buNone/>
            </a:pPr>
            <a:r>
              <a:rPr lang="en-US" sz="1150" dirty="0">
                <a:solidFill>
                  <a:srgbClr val="46545F"/>
                </a:solidFill>
                <a:latin typeface="Calibri" pitchFamily="34" charset="0"/>
                <a:ea typeface="Calibri" pitchFamily="34" charset="-122"/>
                <a:cs typeface="Calibri" pitchFamily="34" charset="-120"/>
              </a:rPr>
              <a:t>Refined an approach you want repeated? Package it. Quality depends on reference material? Package it with the material.</a:t>
            </a:r>
            <a:endParaRPr lang="en-US" sz="1150" dirty="0"/>
          </a:p>
        </p:txBody>
      </p:sp>
      <p:sp>
        <p:nvSpPr>
          <p:cNvPr id="24" name="Shape 17"/>
          <p:cNvSpPr/>
          <p:nvPr/>
        </p:nvSpPr>
        <p:spPr>
          <a:xfrm>
            <a:off x="7086600" y="4480560"/>
            <a:ext cx="4572000" cy="1554480"/>
          </a:xfrm>
          <a:prstGeom prst="roundRect">
            <a:avLst>
              <a:gd name="adj" fmla="val 4706"/>
            </a:avLst>
          </a:prstGeom>
          <a:solidFill>
            <a:srgbClr val="F2F5F6"/>
          </a:solidFill>
          <a:ln/>
        </p:spPr>
      </p:sp>
      <p:sp>
        <p:nvSpPr>
          <p:cNvPr id="25" name="Text 18"/>
          <p:cNvSpPr/>
          <p:nvPr/>
        </p:nvSpPr>
        <p:spPr>
          <a:xfrm>
            <a:off x="7333488" y="4645152"/>
            <a:ext cx="4114800" cy="1280160"/>
          </a:xfrm>
          <a:prstGeom prst="rect">
            <a:avLst/>
          </a:prstGeom>
          <a:noFill/>
          <a:ln/>
        </p:spPr>
        <p:txBody>
          <a:bodyPr wrap="square" lIns="0" tIns="0" rIns="0" bIns="0" rtlCol="0" anchor="ctr"/>
          <a:lstStyle/>
          <a:p>
            <a:pPr indent="0" marL="0">
              <a:lnSpc>
                <a:spcPct val="110000"/>
              </a:lnSpc>
              <a:spcAft>
                <a:spcPts val="300"/>
              </a:spcAft>
              <a:buNone/>
            </a:pPr>
            <a:r>
              <a:rPr lang="en-US" sz="1150" b="1" dirty="0">
                <a:solidFill>
                  <a:srgbClr val="232A31"/>
                </a:solidFill>
                <a:latin typeface="Calibri" pitchFamily="34" charset="0"/>
                <a:ea typeface="Calibri" pitchFamily="34" charset="-122"/>
                <a:cs typeface="Calibri" pitchFamily="34" charset="-120"/>
              </a:rPr>
              <a:t>A familiar discipline: </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a prompt library is run like controlled work instructions — a name, an owner, a revision, a review date. Same muscle, lighter weight.</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WHERE THINGS LIVE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STORAGE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Every tool has a home for reusable prompts — Aug 2026</a:t>
            </a:r>
            <a:endParaRPr lang="en-US" sz="3000" dirty="0"/>
          </a:p>
        </p:txBody>
      </p:sp>
      <p:sp>
        <p:nvSpPr>
          <p:cNvPr id="6" name="Shape 4"/>
          <p:cNvSpPr/>
          <p:nvPr/>
        </p:nvSpPr>
        <p:spPr>
          <a:xfrm>
            <a:off x="502920" y="1481328"/>
            <a:ext cx="11155680" cy="658368"/>
          </a:xfrm>
          <a:prstGeom prst="roundRect">
            <a:avLst>
              <a:gd name="adj" fmla="val 11111"/>
            </a:avLst>
          </a:prstGeom>
          <a:solidFill>
            <a:srgbClr val="F2F5F6"/>
          </a:solidFill>
          <a:ln/>
        </p:spPr>
      </p:sp>
      <p:sp>
        <p:nvSpPr>
          <p:cNvPr id="7" name="Text 5"/>
          <p:cNvSpPr/>
          <p:nvPr/>
        </p:nvSpPr>
        <p:spPr>
          <a:xfrm>
            <a:off x="731520" y="154533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ChatGPT</a:t>
            </a:r>
            <a:endParaRPr lang="en-US" sz="1250" dirty="0"/>
          </a:p>
        </p:txBody>
      </p:sp>
      <p:sp>
        <p:nvSpPr>
          <p:cNvPr id="8" name="Text 6"/>
          <p:cNvSpPr/>
          <p:nvPr/>
        </p:nvSpPr>
        <p:spPr>
          <a:xfrm>
            <a:off x="2560320" y="1536192"/>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Projects (files + project instructions) · custom GPTs — transitioning to workspace agents on business plans</a:t>
            </a:r>
            <a:endParaRPr lang="en-US" sz="1030" dirty="0"/>
          </a:p>
        </p:txBody>
      </p:sp>
      <p:sp>
        <p:nvSpPr>
          <p:cNvPr id="9" name="Shape 7"/>
          <p:cNvSpPr/>
          <p:nvPr/>
        </p:nvSpPr>
        <p:spPr>
          <a:xfrm>
            <a:off x="502920" y="2231136"/>
            <a:ext cx="11155680" cy="658368"/>
          </a:xfrm>
          <a:prstGeom prst="roundRect">
            <a:avLst>
              <a:gd name="adj" fmla="val 11111"/>
            </a:avLst>
          </a:prstGeom>
          <a:solidFill>
            <a:srgbClr val="F2F5F6"/>
          </a:solidFill>
          <a:ln/>
        </p:spPr>
      </p:sp>
      <p:sp>
        <p:nvSpPr>
          <p:cNvPr id="10" name="Text 8"/>
          <p:cNvSpPr/>
          <p:nvPr/>
        </p:nvSpPr>
        <p:spPr>
          <a:xfrm>
            <a:off x="731520" y="2295144"/>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Claude</a:t>
            </a:r>
            <a:endParaRPr lang="en-US" sz="1250" dirty="0"/>
          </a:p>
        </p:txBody>
      </p:sp>
      <p:sp>
        <p:nvSpPr>
          <p:cNvPr id="11" name="Text 9"/>
          <p:cNvSpPr/>
          <p:nvPr/>
        </p:nvSpPr>
        <p:spPr>
          <a:xfrm>
            <a:off x="2560320" y="2286000"/>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Projects (instructions + knowledge) · Styles (tone) · Skills — a folder with SKILL.md that loads itself when relevant</a:t>
            </a:r>
            <a:endParaRPr lang="en-US" sz="1030" dirty="0"/>
          </a:p>
        </p:txBody>
      </p:sp>
      <p:sp>
        <p:nvSpPr>
          <p:cNvPr id="12" name="Shape 10"/>
          <p:cNvSpPr/>
          <p:nvPr/>
        </p:nvSpPr>
        <p:spPr>
          <a:xfrm>
            <a:off x="502920" y="2980944"/>
            <a:ext cx="11155680" cy="658368"/>
          </a:xfrm>
          <a:prstGeom prst="roundRect">
            <a:avLst>
              <a:gd name="adj" fmla="val 11111"/>
            </a:avLst>
          </a:prstGeom>
          <a:solidFill>
            <a:srgbClr val="F2F5F6"/>
          </a:solidFill>
          <a:ln/>
        </p:spPr>
      </p:sp>
      <p:sp>
        <p:nvSpPr>
          <p:cNvPr id="13" name="Text 11"/>
          <p:cNvSpPr/>
          <p:nvPr/>
        </p:nvSpPr>
        <p:spPr>
          <a:xfrm>
            <a:off x="731520" y="3044952"/>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Gemini</a:t>
            </a:r>
            <a:endParaRPr lang="en-US" sz="1250" dirty="0"/>
          </a:p>
        </p:txBody>
      </p:sp>
      <p:sp>
        <p:nvSpPr>
          <p:cNvPr id="14" name="Text 12"/>
          <p:cNvSpPr/>
          <p:nvPr/>
        </p:nvSpPr>
        <p:spPr>
          <a:xfrm>
            <a:off x="2560320" y="3035808"/>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Gems (instructions + knowledge files, shareable via Drive permissions) · saved prompt “skills” in Chrome</a:t>
            </a:r>
            <a:endParaRPr lang="en-US" sz="1030" dirty="0"/>
          </a:p>
        </p:txBody>
      </p:sp>
      <p:sp>
        <p:nvSpPr>
          <p:cNvPr id="15" name="Shape 13"/>
          <p:cNvSpPr/>
          <p:nvPr/>
        </p:nvSpPr>
        <p:spPr>
          <a:xfrm>
            <a:off x="502920" y="3730752"/>
            <a:ext cx="11155680" cy="658368"/>
          </a:xfrm>
          <a:prstGeom prst="roundRect">
            <a:avLst>
              <a:gd name="adj" fmla="val 11111"/>
            </a:avLst>
          </a:prstGeom>
          <a:solidFill>
            <a:srgbClr val="F2F5F6"/>
          </a:solidFill>
          <a:ln/>
        </p:spPr>
      </p:sp>
      <p:sp>
        <p:nvSpPr>
          <p:cNvPr id="16" name="Text 14"/>
          <p:cNvSpPr/>
          <p:nvPr/>
        </p:nvSpPr>
        <p:spPr>
          <a:xfrm>
            <a:off x="731520" y="3794760"/>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Copilot</a:t>
            </a:r>
            <a:endParaRPr lang="en-US" sz="1250" dirty="0"/>
          </a:p>
        </p:txBody>
      </p:sp>
      <p:sp>
        <p:nvSpPr>
          <p:cNvPr id="17" name="Text 15"/>
          <p:cNvSpPr/>
          <p:nvPr/>
        </p:nvSpPr>
        <p:spPr>
          <a:xfrm>
            <a:off x="2560320" y="3785616"/>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Prompt Gallery — save, share to a Team, admin-auditable, stays inside your tenant · Agent Builder for packaged agents</a:t>
            </a:r>
            <a:endParaRPr lang="en-US" sz="1030" dirty="0"/>
          </a:p>
        </p:txBody>
      </p:sp>
      <p:sp>
        <p:nvSpPr>
          <p:cNvPr id="18" name="Shape 16"/>
          <p:cNvSpPr/>
          <p:nvPr/>
        </p:nvSpPr>
        <p:spPr>
          <a:xfrm>
            <a:off x="502920" y="4480560"/>
            <a:ext cx="11155680" cy="658368"/>
          </a:xfrm>
          <a:prstGeom prst="roundRect">
            <a:avLst>
              <a:gd name="adj" fmla="val 11111"/>
            </a:avLst>
          </a:prstGeom>
          <a:solidFill>
            <a:srgbClr val="E4F0EF"/>
          </a:solidFill>
          <a:ln/>
        </p:spPr>
      </p:sp>
      <p:sp>
        <p:nvSpPr>
          <p:cNvPr id="19" name="Text 17"/>
          <p:cNvSpPr/>
          <p:nvPr/>
        </p:nvSpPr>
        <p:spPr>
          <a:xfrm>
            <a:off x="731520" y="4544568"/>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Any tool</a:t>
            </a:r>
            <a:endParaRPr lang="en-US" sz="1250" dirty="0"/>
          </a:p>
        </p:txBody>
      </p:sp>
      <p:sp>
        <p:nvSpPr>
          <p:cNvPr id="20" name="Text 18"/>
          <p:cNvSpPr/>
          <p:nvPr/>
        </p:nvSpPr>
        <p:spPr>
          <a:xfrm>
            <a:off x="2560320" y="4535424"/>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The team library database: name · purpose · template · owner · version + change note · models tested · last tested · example output · status</a:t>
            </a:r>
            <a:endParaRPr lang="en-US" sz="1030" dirty="0"/>
          </a:p>
        </p:txBody>
      </p:sp>
      <p:sp>
        <p:nvSpPr>
          <p:cNvPr id="21" name="Shape 19"/>
          <p:cNvSpPr/>
          <p:nvPr/>
        </p:nvSpPr>
        <p:spPr>
          <a:xfrm>
            <a:off x="502920" y="5230368"/>
            <a:ext cx="11155680" cy="658368"/>
          </a:xfrm>
          <a:prstGeom prst="roundRect">
            <a:avLst>
              <a:gd name="adj" fmla="val 11111"/>
            </a:avLst>
          </a:prstGeom>
          <a:solidFill>
            <a:srgbClr val="E4F0EF"/>
          </a:solidFill>
          <a:ln/>
        </p:spPr>
      </p:sp>
      <p:sp>
        <p:nvSpPr>
          <p:cNvPr id="22" name="Text 20"/>
          <p:cNvSpPr/>
          <p:nvPr/>
        </p:nvSpPr>
        <p:spPr>
          <a:xfrm>
            <a:off x="731520" y="529437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Agentic (repo)</a:t>
            </a:r>
            <a:endParaRPr lang="en-US" sz="1250" dirty="0"/>
          </a:p>
        </p:txBody>
      </p:sp>
      <p:sp>
        <p:nvSpPr>
          <p:cNvPr id="23" name="Text 21"/>
          <p:cNvSpPr/>
          <p:nvPr/>
        </p:nvSpPr>
        <p:spPr>
          <a:xfrm>
            <a:off x="2560320" y="5285232"/>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CLAUDE.md / AGENTS.md at the root · briefs and skills in versioned folders · reviewed like code — this training’s repo is the worked example</a:t>
            </a:r>
            <a:endParaRPr lang="en-US" sz="1030" dirty="0"/>
          </a:p>
        </p:txBody>
      </p:sp>
      <p:sp>
        <p:nvSpPr>
          <p:cNvPr id="24" name="Shape 22"/>
          <p:cNvSpPr/>
          <p:nvPr/>
        </p:nvSpPr>
        <p:spPr>
          <a:xfrm>
            <a:off x="502920" y="6080760"/>
            <a:ext cx="11155680" cy="457200"/>
          </a:xfrm>
          <a:prstGeom prst="roundRect">
            <a:avLst>
              <a:gd name="adj" fmla="val 16000"/>
            </a:avLst>
          </a:prstGeom>
          <a:solidFill>
            <a:srgbClr val="F2F5F6"/>
          </a:solidFill>
          <a:ln w="9525">
            <a:solidFill>
              <a:srgbClr val="DCE3E6"/>
            </a:solidFill>
            <a:prstDash val="solid"/>
          </a:ln>
        </p:spPr>
      </p:sp>
      <p:sp>
        <p:nvSpPr>
          <p:cNvPr id="25" name="Shape 23"/>
          <p:cNvSpPr/>
          <p:nvPr/>
        </p:nvSpPr>
        <p:spPr>
          <a:xfrm>
            <a:off x="667512" y="6117336"/>
            <a:ext cx="384048" cy="384048"/>
          </a:xfrm>
          <a:prstGeom prst="ellipse">
            <a:avLst/>
          </a:prstGeom>
          <a:solidFill>
            <a:srgbClr val="46545F"/>
          </a:solidFill>
          <a:ln/>
        </p:spPr>
      </p:sp>
      <p:pic>
        <p:nvPicPr>
          <p:cNvPr id="26" name="Image 0" descr="/home/user/Claude-Works/ai-training-prompt-engineering/src/assets/icons/help_w.png">    </p:cNvPr>
          <p:cNvPicPr>
            <a:picLocks noChangeAspect="1"/>
          </p:cNvPicPr>
          <p:nvPr/>
        </p:nvPicPr>
        <p:blipFill>
          <a:blip r:embed="rId1"/>
          <a:stretch>
            <a:fillRect/>
          </a:stretch>
        </p:blipFill>
        <p:spPr>
          <a:xfrm>
            <a:off x="767364" y="6217188"/>
            <a:ext cx="184343" cy="184343"/>
          </a:xfrm>
          <a:prstGeom prst="rect">
            <a:avLst/>
          </a:prstGeom>
        </p:spPr>
      </p:pic>
      <p:sp>
        <p:nvSpPr>
          <p:cNvPr id="27" name="Text 24"/>
          <p:cNvSpPr/>
          <p:nvPr/>
        </p:nvSpPr>
        <p:spPr>
          <a:xfrm>
            <a:off x="1216152" y="6153912"/>
            <a:ext cx="10213848" cy="310896"/>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Naming collision warning: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“Skills” means a packaged folder at Anthropic but a saved prompt in Chrome’s Gemini — check which one a colleague means.</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CONVENTIONS &amp; GOVERNANCE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HOUSE RULES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Conventions that keep a library alive — and safe</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00" b="1" dirty="0">
                <a:solidFill>
                  <a:srgbClr val="0A5B5A"/>
                </a:solidFill>
                <a:latin typeface="Cambria" pitchFamily="34" charset="0"/>
                <a:ea typeface="Cambria" pitchFamily="34" charset="-122"/>
                <a:cs typeface="Cambria" pitchFamily="34" charset="-120"/>
              </a:rPr>
              <a:t>Conventions (this library uses them)</a:t>
            </a:r>
            <a:endParaRPr lang="en-US" sz="1400" dirty="0"/>
          </a:p>
        </p:txBody>
      </p:sp>
      <p:sp>
        <p:nvSpPr>
          <p:cNvPr id="8" name="Text 6"/>
          <p:cNvSpPr/>
          <p:nvPr/>
        </p:nvSpPr>
        <p:spPr>
          <a:xfrm>
            <a:off x="822960" y="2176272"/>
            <a:ext cx="4937760" cy="37490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{{placeholders}} for everything that changes per run — mail-merge fields for prompts; search for “{{” before running</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[optional] blocks you delete when unused</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Version + one-line change note — Rev A/B/C discipline, lighter weight; note which model it was tested on</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A filled example next to every blank template — the gold standard that shows what “good” looks like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Test on 3–5 real cases (one edge case) before marking approved; re-test after model changes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Every approved prompt has a named owner and a review cadence</a:t>
            </a:r>
            <a:endParaRPr lang="en-US" sz="1100" dirty="0"/>
          </a:p>
        </p:txBody>
      </p:sp>
      <p:sp>
        <p:nvSpPr>
          <p:cNvPr id="9" name="Shape 7"/>
          <p:cNvSpPr/>
          <p:nvPr/>
        </p:nvSpPr>
        <p:spPr>
          <a:xfrm>
            <a:off x="6172200" y="1508760"/>
            <a:ext cx="5486400" cy="2834640"/>
          </a:xfrm>
          <a:prstGeom prst="roundRect">
            <a:avLst>
              <a:gd name="adj" fmla="val 2581"/>
            </a:avLst>
          </a:prstGeom>
          <a:solidFill>
            <a:srgbClr val="F9E9E8"/>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00" b="1" dirty="0">
                <a:solidFill>
                  <a:srgbClr val="AF3230"/>
                </a:solidFill>
                <a:latin typeface="Cambria" pitchFamily="34" charset="0"/>
                <a:ea typeface="Cambria" pitchFamily="34" charset="-122"/>
                <a:cs typeface="Cambria" pitchFamily="34" charset="-120"/>
              </a:rPr>
              <a:t>Governance: prompts contain data</a:t>
            </a:r>
            <a:endParaRPr lang="en-US" sz="1400" dirty="0"/>
          </a:p>
        </p:txBody>
      </p:sp>
      <p:sp>
        <p:nvSpPr>
          <p:cNvPr id="11" name="Text 9"/>
          <p:cNvSpPr/>
          <p:nvPr/>
        </p:nvSpPr>
        <p:spPr>
          <a:xfrm>
            <a:off x="6492240" y="2176272"/>
            <a:ext cx="4937760" cy="21031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A stored prompt often carries supplier names, pricing, findings, draft language — classify the library like the documents it quotes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Never store credentials, personal data, or patient-adjacent examples in a template — {{placeholders}} supply them at run time</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Shared = distributed. Owner approval before team-wide sharing; treat third-party skills like installing software — audit first</a:t>
            </a:r>
            <a:endParaRPr lang="en-US" sz="1100" dirty="0"/>
          </a:p>
        </p:txBody>
      </p:sp>
      <p:sp>
        <p:nvSpPr>
          <p:cNvPr id="12" name="Shape 10"/>
          <p:cNvSpPr/>
          <p:nvPr/>
        </p:nvSpPr>
        <p:spPr>
          <a:xfrm>
            <a:off x="6172200" y="4526280"/>
            <a:ext cx="5486400" cy="1508760"/>
          </a:xfrm>
          <a:prstGeom prst="roundRect">
            <a:avLst>
              <a:gd name="adj" fmla="val 4848"/>
            </a:avLst>
          </a:prstGeom>
          <a:solidFill>
            <a:srgbClr val="E4F0EF"/>
          </a:solidFill>
          <a:ln/>
        </p:spPr>
      </p:sp>
      <p:sp>
        <p:nvSpPr>
          <p:cNvPr id="13" name="Text 11"/>
          <p:cNvSpPr/>
          <p:nvPr/>
        </p:nvSpPr>
        <p:spPr>
          <a:xfrm>
            <a:off x="6446520" y="4690872"/>
            <a:ext cx="4983480" cy="1280160"/>
          </a:xfrm>
          <a:prstGeom prst="rect">
            <a:avLst/>
          </a:prstGeom>
          <a:noFill/>
          <a:ln/>
        </p:spPr>
        <p:txBody>
          <a:bodyPr wrap="square" lIns="0" tIns="0" rIns="0" bIns="0" rtlCol="0" anchor="ctr"/>
          <a:lstStyle/>
          <a:p>
            <a:pPr indent="0" marL="0">
              <a:lnSpc>
                <a:spcPct val="110000"/>
              </a:lnSpc>
              <a:spcAft>
                <a:spcPts val="300"/>
              </a:spcAft>
              <a:buNone/>
            </a:pPr>
            <a:r>
              <a:rPr lang="en-US" sz="1200" b="1" dirty="0">
                <a:solidFill>
                  <a:srgbClr val="0A5B5A"/>
                </a:solidFill>
                <a:latin typeface="Calibri" pitchFamily="34" charset="0"/>
                <a:ea typeface="Calibri" pitchFamily="34" charset="-122"/>
                <a:cs typeface="Calibri" pitchFamily="34" charset="-120"/>
              </a:rPr>
              <a:t>Tools change; the practice doesn’t.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Prompt-tooling startups get acquired and shut down yearly. Version it, test it, own it — that discipline outlives every platform.</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WRAP-UP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WRAP-UP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Ten things worth remembering</a:t>
            </a:r>
            <a:endParaRPr lang="en-US" sz="3000" dirty="0"/>
          </a:p>
        </p:txBody>
      </p:sp>
      <p:sp>
        <p:nvSpPr>
          <p:cNvPr id="6" name="Shape 4"/>
          <p:cNvSpPr/>
          <p:nvPr/>
        </p:nvSpPr>
        <p:spPr>
          <a:xfrm>
            <a:off x="502920" y="1463040"/>
            <a:ext cx="5440680" cy="841248"/>
          </a:xfrm>
          <a:prstGeom prst="roundRect">
            <a:avLst>
              <a:gd name="adj" fmla="val 8696"/>
            </a:avLst>
          </a:prstGeom>
          <a:solidFill>
            <a:srgbClr val="F2F5F6"/>
          </a:solidFill>
          <a:ln/>
        </p:spPr>
      </p:sp>
      <p:sp>
        <p:nvSpPr>
          <p:cNvPr id="7" name="Text 5"/>
          <p:cNvSpPr/>
          <p:nvPr/>
        </p:nvSpPr>
        <p:spPr>
          <a:xfrm>
            <a:off x="61264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16152" y="1517904"/>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The prompt is the whole steering wheel — everything the model knows about your task must be in it (or in files it can read).</a:t>
            </a:r>
            <a:endParaRPr lang="en-US" sz="980" dirty="0"/>
          </a:p>
        </p:txBody>
      </p:sp>
      <p:sp>
        <p:nvSpPr>
          <p:cNvPr id="9" name="Shape 7"/>
          <p:cNvSpPr/>
          <p:nvPr/>
        </p:nvSpPr>
        <p:spPr>
          <a:xfrm>
            <a:off x="6172200" y="1463040"/>
            <a:ext cx="5440680" cy="841248"/>
          </a:xfrm>
          <a:prstGeom prst="roundRect">
            <a:avLst>
              <a:gd name="adj" fmla="val 8696"/>
            </a:avLst>
          </a:prstGeom>
          <a:solidFill>
            <a:srgbClr val="F2F5F6"/>
          </a:solidFill>
          <a:ln/>
        </p:spPr>
      </p:sp>
      <p:sp>
        <p:nvSpPr>
          <p:cNvPr id="10" name="Text 8"/>
          <p:cNvSpPr/>
          <p:nvPr/>
        </p:nvSpPr>
        <p:spPr>
          <a:xfrm>
            <a:off x="628192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6885432" y="1517904"/>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Anatomy beats inspiration: Role · Task · Context · Format · Examples. Every vendor teaches the same recipe.</a:t>
            </a:r>
            <a:endParaRPr lang="en-US" sz="980" dirty="0"/>
          </a:p>
        </p:txBody>
      </p:sp>
      <p:sp>
        <p:nvSpPr>
          <p:cNvPr id="12" name="Shape 10"/>
          <p:cNvSpPr/>
          <p:nvPr/>
        </p:nvSpPr>
        <p:spPr>
          <a:xfrm>
            <a:off x="502920" y="2395728"/>
            <a:ext cx="5440680" cy="841248"/>
          </a:xfrm>
          <a:prstGeom prst="roundRect">
            <a:avLst>
              <a:gd name="adj" fmla="val 8696"/>
            </a:avLst>
          </a:prstGeom>
          <a:solidFill>
            <a:srgbClr val="F2F5F6"/>
          </a:solidFill>
          <a:ln/>
        </p:spPr>
      </p:sp>
      <p:sp>
        <p:nvSpPr>
          <p:cNvPr id="13" name="Text 11"/>
          <p:cNvSpPr/>
          <p:nvPr/>
        </p:nvSpPr>
        <p:spPr>
          <a:xfrm>
            <a:off x="61264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216152" y="2450592"/>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The context window is a desk, not a filing cabinet: long documents at the top, question at the end, fresh chat per topic.</a:t>
            </a:r>
            <a:endParaRPr lang="en-US" sz="980" dirty="0"/>
          </a:p>
        </p:txBody>
      </p:sp>
      <p:sp>
        <p:nvSpPr>
          <p:cNvPr id="15" name="Shape 13"/>
          <p:cNvSpPr/>
          <p:nvPr/>
        </p:nvSpPr>
        <p:spPr>
          <a:xfrm>
            <a:off x="6172200" y="2395728"/>
            <a:ext cx="5440680" cy="841248"/>
          </a:xfrm>
          <a:prstGeom prst="roundRect">
            <a:avLst>
              <a:gd name="adj" fmla="val 8696"/>
            </a:avLst>
          </a:prstGeom>
          <a:solidFill>
            <a:srgbClr val="F2F5F6"/>
          </a:solidFill>
          <a:ln/>
        </p:spPr>
      </p:sp>
      <p:sp>
        <p:nvSpPr>
          <p:cNvPr id="16" name="Text 14"/>
          <p:cNvSpPr/>
          <p:nvPr/>
        </p:nvSpPr>
        <p:spPr>
          <a:xfrm>
            <a:off x="628192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4</a:t>
            </a:r>
            <a:endParaRPr lang="en-US" sz="2000" dirty="0"/>
          </a:p>
        </p:txBody>
      </p:sp>
      <p:sp>
        <p:nvSpPr>
          <p:cNvPr id="17" name="Text 15"/>
          <p:cNvSpPr/>
          <p:nvPr/>
        </p:nvSpPr>
        <p:spPr>
          <a:xfrm>
            <a:off x="6885432" y="2450592"/>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Numbers come from code execution, quotes come from documents, current facts come from search — never from free recall.</a:t>
            </a:r>
            <a:endParaRPr lang="en-US" sz="980" dirty="0"/>
          </a:p>
        </p:txBody>
      </p:sp>
      <p:sp>
        <p:nvSpPr>
          <p:cNvPr id="18" name="Shape 16"/>
          <p:cNvSpPr/>
          <p:nvPr/>
        </p:nvSpPr>
        <p:spPr>
          <a:xfrm>
            <a:off x="502920" y="3328416"/>
            <a:ext cx="5440680" cy="841248"/>
          </a:xfrm>
          <a:prstGeom prst="roundRect">
            <a:avLst>
              <a:gd name="adj" fmla="val 8696"/>
            </a:avLst>
          </a:prstGeom>
          <a:solidFill>
            <a:srgbClr val="F2F5F6"/>
          </a:solidFill>
          <a:ln/>
        </p:spPr>
      </p:sp>
      <p:sp>
        <p:nvSpPr>
          <p:cNvPr id="19" name="Text 17"/>
          <p:cNvSpPr/>
          <p:nvPr/>
        </p:nvSpPr>
        <p:spPr>
          <a:xfrm>
            <a:off x="61264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5</a:t>
            </a:r>
            <a:endParaRPr lang="en-US" sz="2000" dirty="0"/>
          </a:p>
        </p:txBody>
      </p:sp>
      <p:sp>
        <p:nvSpPr>
          <p:cNvPr id="20" name="Text 18"/>
          <p:cNvSpPr/>
          <p:nvPr/>
        </p:nvSpPr>
        <p:spPr>
          <a:xfrm>
            <a:off x="1216152" y="3383280"/>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Fluency is not evidence. Uncited claims are drafts. Give the model an out and demand citations.</a:t>
            </a:r>
            <a:endParaRPr lang="en-US" sz="980" dirty="0"/>
          </a:p>
        </p:txBody>
      </p:sp>
      <p:sp>
        <p:nvSpPr>
          <p:cNvPr id="21" name="Shape 19"/>
          <p:cNvSpPr/>
          <p:nvPr/>
        </p:nvSpPr>
        <p:spPr>
          <a:xfrm>
            <a:off x="6172200" y="3328416"/>
            <a:ext cx="5440680" cy="841248"/>
          </a:xfrm>
          <a:prstGeom prst="roundRect">
            <a:avLst>
              <a:gd name="adj" fmla="val 8696"/>
            </a:avLst>
          </a:prstGeom>
          <a:solidFill>
            <a:srgbClr val="F2F5F6"/>
          </a:solidFill>
          <a:ln/>
        </p:spPr>
      </p:sp>
      <p:sp>
        <p:nvSpPr>
          <p:cNvPr id="22" name="Text 20"/>
          <p:cNvSpPr/>
          <p:nvPr/>
        </p:nvSpPr>
        <p:spPr>
          <a:xfrm>
            <a:off x="628192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6</a:t>
            </a:r>
            <a:endParaRPr lang="en-US" sz="2000" dirty="0"/>
          </a:p>
        </p:txBody>
      </p:sp>
      <p:sp>
        <p:nvSpPr>
          <p:cNvPr id="23" name="Text 21"/>
          <p:cNvSpPr/>
          <p:nvPr/>
        </p:nvSpPr>
        <p:spPr>
          <a:xfrm>
            <a:off x="6885432" y="3383280"/>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Never reveal your preferred answer when asking for judgment — AI affirms you ~49% more than a human would.</a:t>
            </a:r>
            <a:endParaRPr lang="en-US" sz="980" dirty="0"/>
          </a:p>
        </p:txBody>
      </p:sp>
      <p:sp>
        <p:nvSpPr>
          <p:cNvPr id="24" name="Shape 22"/>
          <p:cNvSpPr/>
          <p:nvPr/>
        </p:nvSpPr>
        <p:spPr>
          <a:xfrm>
            <a:off x="502920" y="4261104"/>
            <a:ext cx="5440680" cy="841248"/>
          </a:xfrm>
          <a:prstGeom prst="roundRect">
            <a:avLst>
              <a:gd name="adj" fmla="val 8696"/>
            </a:avLst>
          </a:prstGeom>
          <a:solidFill>
            <a:srgbClr val="F2F5F6"/>
          </a:solidFill>
          <a:ln/>
        </p:spPr>
      </p:sp>
      <p:sp>
        <p:nvSpPr>
          <p:cNvPr id="25" name="Text 23"/>
          <p:cNvSpPr/>
          <p:nvPr/>
        </p:nvSpPr>
        <p:spPr>
          <a:xfrm>
            <a:off x="61264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7</a:t>
            </a:r>
            <a:endParaRPr lang="en-US" sz="2000" dirty="0"/>
          </a:p>
        </p:txBody>
      </p:sp>
      <p:sp>
        <p:nvSpPr>
          <p:cNvPr id="26" name="Text 24"/>
          <p:cNvSpPr/>
          <p:nvPr/>
        </p:nvSpPr>
        <p:spPr>
          <a:xfrm>
            <a:off x="1216152" y="4315968"/>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On thinking models: drop the step-by-step scripts, keep the clarity. Contradictions now cost real money.</a:t>
            </a:r>
            <a:endParaRPr lang="en-US" sz="980" dirty="0"/>
          </a:p>
        </p:txBody>
      </p:sp>
      <p:sp>
        <p:nvSpPr>
          <p:cNvPr id="27" name="Shape 25"/>
          <p:cNvSpPr/>
          <p:nvPr/>
        </p:nvSpPr>
        <p:spPr>
          <a:xfrm>
            <a:off x="6172200" y="4261104"/>
            <a:ext cx="5440680" cy="841248"/>
          </a:xfrm>
          <a:prstGeom prst="roundRect">
            <a:avLst>
              <a:gd name="adj" fmla="val 8696"/>
            </a:avLst>
          </a:prstGeom>
          <a:solidFill>
            <a:srgbClr val="F2F5F6"/>
          </a:solidFill>
          <a:ln/>
        </p:spPr>
      </p:sp>
      <p:sp>
        <p:nvSpPr>
          <p:cNvPr id="28" name="Text 26"/>
          <p:cNvSpPr/>
          <p:nvPr/>
        </p:nvSpPr>
        <p:spPr>
          <a:xfrm>
            <a:off x="628192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8</a:t>
            </a:r>
            <a:endParaRPr lang="en-US" sz="2000" dirty="0"/>
          </a:p>
        </p:txBody>
      </p:sp>
      <p:sp>
        <p:nvSpPr>
          <p:cNvPr id="29" name="Text 27"/>
          <p:cNvSpPr/>
          <p:nvPr/>
        </p:nvSpPr>
        <p:spPr>
          <a:xfrm>
            <a:off x="6885432" y="4315968"/>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A generative prompt says what to write. An agentic prompt is a work order: mission, environment, checks, gates, autonomy rules.</a:t>
            </a:r>
            <a:endParaRPr lang="en-US" sz="980" dirty="0"/>
          </a:p>
        </p:txBody>
      </p:sp>
      <p:sp>
        <p:nvSpPr>
          <p:cNvPr id="30" name="Shape 28"/>
          <p:cNvSpPr/>
          <p:nvPr/>
        </p:nvSpPr>
        <p:spPr>
          <a:xfrm>
            <a:off x="502920" y="5193792"/>
            <a:ext cx="5440680" cy="841248"/>
          </a:xfrm>
          <a:prstGeom prst="roundRect">
            <a:avLst>
              <a:gd name="adj" fmla="val 8696"/>
            </a:avLst>
          </a:prstGeom>
          <a:solidFill>
            <a:srgbClr val="F2F5F6"/>
          </a:solidFill>
          <a:ln/>
        </p:spPr>
      </p:sp>
      <p:sp>
        <p:nvSpPr>
          <p:cNvPr id="31" name="Text 29"/>
          <p:cNvSpPr/>
          <p:nvPr/>
        </p:nvSpPr>
        <p:spPr>
          <a:xfrm>
            <a:off x="61264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9</a:t>
            </a:r>
            <a:endParaRPr lang="en-US" sz="2000" dirty="0"/>
          </a:p>
        </p:txBody>
      </p:sp>
      <p:sp>
        <p:nvSpPr>
          <p:cNvPr id="32" name="Text 30"/>
          <p:cNvSpPr/>
          <p:nvPr/>
        </p:nvSpPr>
        <p:spPr>
          <a:xfrm>
            <a:off x="1216152" y="5248656"/>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Gates catch errors at the cheapest point: definitions before data, reconciliation before analysis, headlines before rendering.</a:t>
            </a:r>
            <a:endParaRPr lang="en-US" sz="980" dirty="0"/>
          </a:p>
        </p:txBody>
      </p:sp>
      <p:sp>
        <p:nvSpPr>
          <p:cNvPr id="33" name="Shape 31"/>
          <p:cNvSpPr/>
          <p:nvPr/>
        </p:nvSpPr>
        <p:spPr>
          <a:xfrm>
            <a:off x="6172200" y="5193792"/>
            <a:ext cx="5440680" cy="841248"/>
          </a:xfrm>
          <a:prstGeom prst="roundRect">
            <a:avLst>
              <a:gd name="adj" fmla="val 8696"/>
            </a:avLst>
          </a:prstGeom>
          <a:solidFill>
            <a:srgbClr val="F2F5F6"/>
          </a:solidFill>
          <a:ln/>
        </p:spPr>
      </p:sp>
      <p:sp>
        <p:nvSpPr>
          <p:cNvPr id="34" name="Text 32"/>
          <p:cNvSpPr/>
          <p:nvPr/>
        </p:nvSpPr>
        <p:spPr>
          <a:xfrm>
            <a:off x="628192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10</a:t>
            </a:r>
            <a:endParaRPr lang="en-US" sz="2000" dirty="0"/>
          </a:p>
        </p:txBody>
      </p:sp>
      <p:sp>
        <p:nvSpPr>
          <p:cNvPr id="35" name="Text 33"/>
          <p:cNvSpPr/>
          <p:nvPr/>
        </p:nvSpPr>
        <p:spPr>
          <a:xfrm>
            <a:off x="6885432" y="5248656"/>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Prompts that work are assets: name them, version them, store them where the team (and the agent) can find them.</a:t>
            </a:r>
            <a:endParaRPr lang="en-US" sz="98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HANDS-ON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HANDS-ON · 15 MINUTES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Three exercises that make it stick</a:t>
            </a:r>
            <a:endParaRPr lang="en-US" sz="3000" dirty="0"/>
          </a:p>
        </p:txBody>
      </p:sp>
      <p:sp>
        <p:nvSpPr>
          <p:cNvPr id="6" name="Shape 4"/>
          <p:cNvSpPr/>
          <p:nvPr/>
        </p:nvSpPr>
        <p:spPr>
          <a:xfrm>
            <a:off x="502920" y="1508760"/>
            <a:ext cx="11155680" cy="1389888"/>
          </a:xfrm>
          <a:prstGeom prst="roundRect">
            <a:avLst>
              <a:gd name="adj" fmla="val 5263"/>
            </a:avLst>
          </a:prstGeom>
          <a:solidFill>
            <a:srgbClr val="F2F5F6"/>
          </a:solidFill>
          <a:ln/>
        </p:spPr>
      </p:sp>
      <p:sp>
        <p:nvSpPr>
          <p:cNvPr id="7" name="Shape 5"/>
          <p:cNvSpPr/>
          <p:nvPr/>
        </p:nvSpPr>
        <p:spPr>
          <a:xfrm>
            <a:off x="777240" y="19110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919886" y="2053742"/>
            <a:ext cx="263347" cy="263347"/>
          </a:xfrm>
          <a:prstGeom prst="rect">
            <a:avLst/>
          </a:prstGeom>
        </p:spPr>
      </p:pic>
      <p:sp>
        <p:nvSpPr>
          <p:cNvPr id="9" name="Text 6"/>
          <p:cNvSpPr/>
          <p:nvPr/>
        </p:nvSpPr>
        <p:spPr>
          <a:xfrm>
            <a:off x="1508760" y="1618488"/>
            <a:ext cx="7406640" cy="1188720"/>
          </a:xfrm>
          <a:prstGeom prst="rect">
            <a:avLst/>
          </a:prstGeom>
          <a:noFill/>
          <a:ln/>
        </p:spPr>
        <p:txBody>
          <a:bodyPr wrap="square" lIns="0" tIns="0" rIns="0" bIns="0" rtlCol="0" anchor="ctr"/>
          <a:lstStyle/>
          <a:p>
            <a:pPr indent="0" marL="0">
              <a:lnSpc>
                <a:spcPct val="107000"/>
              </a:lnSpc>
              <a:spcAft>
                <a:spcPts val="300"/>
              </a:spcAft>
              <a:buNone/>
            </a:pPr>
            <a:r>
              <a:rPr lang="en-US" sz="1350" b="1" dirty="0">
                <a:solidFill>
                  <a:srgbClr val="232A31"/>
                </a:solidFill>
                <a:latin typeface="Calibri" pitchFamily="34" charset="0"/>
                <a:ea typeface="Calibri" pitchFamily="34" charset="-122"/>
                <a:cs typeface="Calibri" pitchFamily="34" charset="-120"/>
              </a:rPr>
              <a:t>Exercise 1 · Anatomy rebuild  </a:t>
            </a:r>
            <a:endParaRPr lang="en-US" sz="1350" dirty="0"/>
          </a:p>
          <a:p>
            <a:pPr indent="0" marL="0">
              <a:lnSpc>
                <a:spcPct val="107000"/>
              </a:lnSpc>
              <a:buNone/>
            </a:pPr>
            <a:r>
              <a:rPr lang="en-US" sz="1100" dirty="0">
                <a:solidFill>
                  <a:srgbClr val="46545F"/>
                </a:solidFill>
                <a:latin typeface="Calibri" pitchFamily="34" charset="0"/>
                <a:ea typeface="Calibri" pitchFamily="34" charset="-122"/>
                <a:cs typeface="Calibri" pitchFamily="34" charset="-120"/>
              </a:rPr>
              <a:t>Take a prompt you actually used last week. Rebuild it with the five-block anatomy (G-templates as reference). Run both versions; compare outputs side by side. Then ask the model to improve your rebuilt prompt — metaprompting — and run that too.</a:t>
            </a:r>
            <a:endParaRPr lang="en-US" sz="1350" dirty="0"/>
          </a:p>
        </p:txBody>
      </p:sp>
      <p:sp>
        <p:nvSpPr>
          <p:cNvPr id="10" name="Text 7"/>
          <p:cNvSpPr/>
          <p:nvPr/>
        </p:nvSpPr>
        <p:spPr>
          <a:xfrm>
            <a:off x="9052560" y="1618488"/>
            <a:ext cx="2468880" cy="1188720"/>
          </a:xfrm>
          <a:prstGeom prst="rect">
            <a:avLst/>
          </a:prstGeom>
          <a:noFill/>
          <a:ln/>
        </p:spPr>
        <p:txBody>
          <a:bodyPr wrap="square" lIns="0" tIns="0" rIns="0" bIns="0" rtlCol="0" anchor="ctr"/>
          <a:lstStyle/>
          <a:p>
            <a:pPr indent="0" marL="0">
              <a:lnSpc>
                <a:spcPct val="108000"/>
              </a:lnSpc>
              <a:buNone/>
            </a:pPr>
            <a:r>
              <a:rPr lang="en-US" sz="1000" i="1" dirty="0">
                <a:solidFill>
                  <a:srgbClr val="0A5B5A"/>
                </a:solidFill>
                <a:latin typeface="Calibri" pitchFamily="34" charset="0"/>
                <a:ea typeface="Calibri" pitchFamily="34" charset="-122"/>
                <a:cs typeface="Calibri" pitchFamily="34" charset="-120"/>
              </a:rPr>
              <a:t>You’ll see the quality jump — and how cheap it was.</a:t>
            </a:r>
            <a:endParaRPr lang="en-US" sz="1000" dirty="0"/>
          </a:p>
        </p:txBody>
      </p:sp>
      <p:sp>
        <p:nvSpPr>
          <p:cNvPr id="11" name="Shape 8"/>
          <p:cNvSpPr/>
          <p:nvPr/>
        </p:nvSpPr>
        <p:spPr>
          <a:xfrm>
            <a:off x="502920" y="3044952"/>
            <a:ext cx="11155680" cy="1389888"/>
          </a:xfrm>
          <a:prstGeom prst="roundRect">
            <a:avLst>
              <a:gd name="adj" fmla="val 5263"/>
            </a:avLst>
          </a:prstGeom>
          <a:solidFill>
            <a:srgbClr val="F2F5F6"/>
          </a:solidFill>
          <a:ln/>
        </p:spPr>
      </p:sp>
      <p:sp>
        <p:nvSpPr>
          <p:cNvPr id="12" name="Shape 9"/>
          <p:cNvSpPr/>
          <p:nvPr/>
        </p:nvSpPr>
        <p:spPr>
          <a:xfrm>
            <a:off x="777240" y="3447288"/>
            <a:ext cx="548640" cy="548640"/>
          </a:xfrm>
          <a:prstGeom prst="ellipse">
            <a:avLst/>
          </a:prstGeom>
          <a:solidFill>
            <a:srgbClr val="0E7C7B"/>
          </a:solidFill>
          <a:ln/>
        </p:spPr>
      </p:sp>
      <p:pic>
        <p:nvPicPr>
          <p:cNvPr id="13" name="Image 1" descr="/home/user/Claude-Works/ai-training-prompt-engineering/src/assets/icons/scale_w.png">    </p:cNvPr>
          <p:cNvPicPr>
            <a:picLocks noChangeAspect="1"/>
          </p:cNvPicPr>
          <p:nvPr/>
        </p:nvPicPr>
        <p:blipFill>
          <a:blip r:embed="rId2"/>
          <a:stretch>
            <a:fillRect/>
          </a:stretch>
        </p:blipFill>
        <p:spPr>
          <a:xfrm>
            <a:off x="919886" y="3589934"/>
            <a:ext cx="263347" cy="263347"/>
          </a:xfrm>
          <a:prstGeom prst="rect">
            <a:avLst/>
          </a:prstGeom>
        </p:spPr>
      </p:pic>
      <p:sp>
        <p:nvSpPr>
          <p:cNvPr id="14" name="Text 10"/>
          <p:cNvSpPr/>
          <p:nvPr/>
        </p:nvSpPr>
        <p:spPr>
          <a:xfrm>
            <a:off x="1508760" y="3154680"/>
            <a:ext cx="7406640" cy="1188720"/>
          </a:xfrm>
          <a:prstGeom prst="rect">
            <a:avLst/>
          </a:prstGeom>
          <a:noFill/>
          <a:ln/>
        </p:spPr>
        <p:txBody>
          <a:bodyPr wrap="square" lIns="0" tIns="0" rIns="0" bIns="0" rtlCol="0" anchor="ctr"/>
          <a:lstStyle/>
          <a:p>
            <a:pPr indent="0" marL="0">
              <a:lnSpc>
                <a:spcPct val="107000"/>
              </a:lnSpc>
              <a:spcAft>
                <a:spcPts val="300"/>
              </a:spcAft>
              <a:buNone/>
            </a:pPr>
            <a:r>
              <a:rPr lang="en-US" sz="1350" b="1" dirty="0">
                <a:solidFill>
                  <a:srgbClr val="232A31"/>
                </a:solidFill>
                <a:latin typeface="Calibri" pitchFamily="34" charset="0"/>
                <a:ea typeface="Calibri" pitchFamily="34" charset="-122"/>
                <a:cs typeface="Calibri" pitchFamily="34" charset="-120"/>
              </a:rPr>
              <a:t>Exercise 2 · Blind review  </a:t>
            </a:r>
            <a:endParaRPr lang="en-US" sz="1350" dirty="0"/>
          </a:p>
          <a:p>
            <a:pPr indent="0" marL="0">
              <a:lnSpc>
                <a:spcPct val="107000"/>
              </a:lnSpc>
              <a:buNone/>
            </a:pPr>
            <a:r>
              <a:rPr lang="en-US" sz="1100" dirty="0">
                <a:solidFill>
                  <a:srgbClr val="46545F"/>
                </a:solidFill>
                <a:latin typeface="Calibri" pitchFamily="34" charset="0"/>
                <a:ea typeface="Calibri" pitchFamily="34" charset="-122"/>
                <a:cs typeface="Calibri" pitchFamily="34" charset="-120"/>
              </a:rPr>
              <a:t>Take a document or plan you own. Paste it as “a colleague’s draft” and run G3’s critique template: case against, three weakest points, what evidence would change the verdict. Do NOT hint at your view.</a:t>
            </a:r>
            <a:endParaRPr lang="en-US" sz="1350" dirty="0"/>
          </a:p>
        </p:txBody>
      </p:sp>
      <p:sp>
        <p:nvSpPr>
          <p:cNvPr id="15" name="Text 11"/>
          <p:cNvSpPr/>
          <p:nvPr/>
        </p:nvSpPr>
        <p:spPr>
          <a:xfrm>
            <a:off x="9052560" y="3154680"/>
            <a:ext cx="2468880" cy="1188720"/>
          </a:xfrm>
          <a:prstGeom prst="rect">
            <a:avLst/>
          </a:prstGeom>
          <a:noFill/>
          <a:ln/>
        </p:spPr>
        <p:txBody>
          <a:bodyPr wrap="square" lIns="0" tIns="0" rIns="0" bIns="0" rtlCol="0" anchor="ctr"/>
          <a:lstStyle/>
          <a:p>
            <a:pPr indent="0" marL="0">
              <a:lnSpc>
                <a:spcPct val="108000"/>
              </a:lnSpc>
              <a:buNone/>
            </a:pPr>
            <a:r>
              <a:rPr lang="en-US" sz="1000" i="1" dirty="0">
                <a:solidFill>
                  <a:srgbClr val="0A5B5A"/>
                </a:solidFill>
                <a:latin typeface="Calibri" pitchFamily="34" charset="0"/>
                <a:ea typeface="Calibri" pitchFamily="34" charset="-122"/>
                <a:cs typeface="Calibri" pitchFamily="34" charset="-120"/>
              </a:rPr>
              <a:t>Most people meet their first honest AI review here.</a:t>
            </a:r>
            <a:endParaRPr lang="en-US" sz="1000" dirty="0"/>
          </a:p>
        </p:txBody>
      </p:sp>
      <p:sp>
        <p:nvSpPr>
          <p:cNvPr id="16" name="Shape 12"/>
          <p:cNvSpPr/>
          <p:nvPr/>
        </p:nvSpPr>
        <p:spPr>
          <a:xfrm>
            <a:off x="502920" y="4581144"/>
            <a:ext cx="11155680" cy="1389888"/>
          </a:xfrm>
          <a:prstGeom prst="roundRect">
            <a:avLst>
              <a:gd name="adj" fmla="val 5263"/>
            </a:avLst>
          </a:prstGeom>
          <a:solidFill>
            <a:srgbClr val="F2F5F6"/>
          </a:solidFill>
          <a:ln/>
        </p:spPr>
      </p:sp>
      <p:sp>
        <p:nvSpPr>
          <p:cNvPr id="17" name="Shape 13"/>
          <p:cNvSpPr/>
          <p:nvPr/>
        </p:nvSpPr>
        <p:spPr>
          <a:xfrm>
            <a:off x="777240" y="4983480"/>
            <a:ext cx="548640" cy="548640"/>
          </a:xfrm>
          <a:prstGeom prst="ellipse">
            <a:avLst/>
          </a:prstGeom>
          <a:solidFill>
            <a:srgbClr val="0E7C7B"/>
          </a:solidFill>
          <a:ln/>
        </p:spPr>
      </p:sp>
      <p:pic>
        <p:nvPicPr>
          <p:cNvPr id="18" name="Image 2" descr="/home/user/Claude-Works/ai-training-prompt-engineering/src/assets/icons/robot_w.png">    </p:cNvPr>
          <p:cNvPicPr>
            <a:picLocks noChangeAspect="1"/>
          </p:cNvPicPr>
          <p:nvPr/>
        </p:nvPicPr>
        <p:blipFill>
          <a:blip r:embed="rId3"/>
          <a:stretch>
            <a:fillRect/>
          </a:stretch>
        </p:blipFill>
        <p:spPr>
          <a:xfrm>
            <a:off x="919886" y="5126126"/>
            <a:ext cx="263347" cy="263347"/>
          </a:xfrm>
          <a:prstGeom prst="rect">
            <a:avLst/>
          </a:prstGeom>
        </p:spPr>
      </p:pic>
      <p:sp>
        <p:nvSpPr>
          <p:cNvPr id="19" name="Text 14"/>
          <p:cNvSpPr/>
          <p:nvPr/>
        </p:nvSpPr>
        <p:spPr>
          <a:xfrm>
            <a:off x="1508760" y="4690872"/>
            <a:ext cx="7406640" cy="1188720"/>
          </a:xfrm>
          <a:prstGeom prst="rect">
            <a:avLst/>
          </a:prstGeom>
          <a:noFill/>
          <a:ln/>
        </p:spPr>
        <p:txBody>
          <a:bodyPr wrap="square" lIns="0" tIns="0" rIns="0" bIns="0" rtlCol="0" anchor="ctr"/>
          <a:lstStyle/>
          <a:p>
            <a:pPr indent="0" marL="0">
              <a:lnSpc>
                <a:spcPct val="107000"/>
              </a:lnSpc>
              <a:spcAft>
                <a:spcPts val="300"/>
              </a:spcAft>
              <a:buNone/>
            </a:pPr>
            <a:r>
              <a:rPr lang="en-US" sz="1350" b="1" dirty="0">
                <a:solidFill>
                  <a:srgbClr val="232A31"/>
                </a:solidFill>
                <a:latin typeface="Calibri" pitchFamily="34" charset="0"/>
                <a:ea typeface="Calibri" pitchFamily="34" charset="-122"/>
                <a:cs typeface="Calibri" pitchFamily="34" charset="-120"/>
              </a:rPr>
              <a:t>Exercise 3 · First mission brief  </a:t>
            </a:r>
            <a:endParaRPr lang="en-US" sz="1350" dirty="0"/>
          </a:p>
          <a:p>
            <a:pPr indent="0" marL="0">
              <a:lnSpc>
                <a:spcPct val="107000"/>
              </a:lnSpc>
              <a:buNone/>
            </a:pPr>
            <a:r>
              <a:rPr lang="en-US" sz="1100" dirty="0">
                <a:solidFill>
                  <a:srgbClr val="46545F"/>
                </a:solidFill>
                <a:latin typeface="Calibri" pitchFamily="34" charset="0"/>
                <a:ea typeface="Calibri" pitchFamily="34" charset="-122"/>
                <a:cs typeface="Calibri" pitchFamily="34" charset="-120"/>
              </a:rPr>
              <a:t>Pick a small recurring job with files (a folder to summarize, a tracker to update). Fill A1’s twelve blocks — placeholders and all. You don’t need an agent to run it today: writing the brief is the skill.</a:t>
            </a:r>
            <a:endParaRPr lang="en-US" sz="1350" dirty="0"/>
          </a:p>
        </p:txBody>
      </p:sp>
      <p:sp>
        <p:nvSpPr>
          <p:cNvPr id="20" name="Text 15"/>
          <p:cNvSpPr/>
          <p:nvPr/>
        </p:nvSpPr>
        <p:spPr>
          <a:xfrm>
            <a:off x="9052560" y="4690872"/>
            <a:ext cx="2468880" cy="1188720"/>
          </a:xfrm>
          <a:prstGeom prst="rect">
            <a:avLst/>
          </a:prstGeom>
          <a:noFill/>
          <a:ln/>
        </p:spPr>
        <p:txBody>
          <a:bodyPr wrap="square" lIns="0" tIns="0" rIns="0" bIns="0" rtlCol="0" anchor="ctr"/>
          <a:lstStyle/>
          <a:p>
            <a:pPr indent="0" marL="0">
              <a:lnSpc>
                <a:spcPct val="108000"/>
              </a:lnSpc>
              <a:buNone/>
            </a:pPr>
            <a:r>
              <a:rPr lang="en-US" sz="1000" i="1" dirty="0">
                <a:solidFill>
                  <a:srgbClr val="0A5B5A"/>
                </a:solidFill>
                <a:latin typeface="Calibri" pitchFamily="34" charset="0"/>
                <a:ea typeface="Calibri" pitchFamily="34" charset="-122"/>
                <a:cs typeface="Calibri" pitchFamily="34" charset="-120"/>
              </a:rPr>
              <a:t>Where the checks and gates feel awkward is where your process was fuzzy all along.</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Glossary — sixteen terms that matter</a:t>
            </a:r>
            <a:endParaRPr lang="en-US" sz="3000" dirty="0"/>
          </a:p>
        </p:txBody>
      </p:sp>
      <p:sp>
        <p:nvSpPr>
          <p:cNvPr id="6" name="Text 4"/>
          <p:cNvSpPr/>
          <p:nvPr/>
        </p:nvSpPr>
        <p:spPr>
          <a:xfrm>
            <a:off x="502920" y="1444752"/>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Token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text chunk a model actually reads (~¾ of a word); pricing and limits count these</a:t>
            </a:r>
            <a:endParaRPr lang="en-US" sz="1050" dirty="0"/>
          </a:p>
        </p:txBody>
      </p:sp>
      <p:sp>
        <p:nvSpPr>
          <p:cNvPr id="7" name="Text 5"/>
          <p:cNvSpPr/>
          <p:nvPr/>
        </p:nvSpPr>
        <p:spPr>
          <a:xfrm>
            <a:off x="6172200" y="1444752"/>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Context window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working memory per conversation — everything must fit; cleared when the chat ends</a:t>
            </a:r>
            <a:endParaRPr lang="en-US" sz="1050" dirty="0"/>
          </a:p>
        </p:txBody>
      </p:sp>
      <p:sp>
        <p:nvSpPr>
          <p:cNvPr id="8" name="Text 6"/>
          <p:cNvSpPr/>
          <p:nvPr/>
        </p:nvSpPr>
        <p:spPr>
          <a:xfrm>
            <a:off x="502920" y="2029968"/>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Knowledge cutoff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where training data stops; anything after needs search or your documents</a:t>
            </a:r>
            <a:endParaRPr lang="en-US" sz="1050" dirty="0"/>
          </a:p>
        </p:txBody>
      </p:sp>
      <p:sp>
        <p:nvSpPr>
          <p:cNvPr id="9" name="Text 7"/>
          <p:cNvSpPr/>
          <p:nvPr/>
        </p:nvSpPr>
        <p:spPr>
          <a:xfrm>
            <a:off x="6172200" y="2029968"/>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RAG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retrieval-augmented generation — fetch relevant passages, answer from them, with citations</a:t>
            </a:r>
            <a:endParaRPr lang="en-US" sz="1050" dirty="0"/>
          </a:p>
        </p:txBody>
      </p:sp>
      <p:sp>
        <p:nvSpPr>
          <p:cNvPr id="10" name="Text 8"/>
          <p:cNvSpPr/>
          <p:nvPr/>
        </p:nvSpPr>
        <p:spPr>
          <a:xfrm>
            <a:off x="502920" y="2615184"/>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Embedding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 text’s coordinate in meaning-space; powers semantic search and RAG retrieval</a:t>
            </a:r>
            <a:endParaRPr lang="en-US" sz="1050" dirty="0"/>
          </a:p>
        </p:txBody>
      </p:sp>
      <p:sp>
        <p:nvSpPr>
          <p:cNvPr id="11" name="Text 9"/>
          <p:cNvSpPr/>
          <p:nvPr/>
        </p:nvSpPr>
        <p:spPr>
          <a:xfrm>
            <a:off x="6172200" y="2615184"/>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Hallucination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fluent, confident, wrong — plausibility optimized instead of truth</a:t>
            </a:r>
            <a:endParaRPr lang="en-US" sz="1050" dirty="0"/>
          </a:p>
        </p:txBody>
      </p:sp>
      <p:sp>
        <p:nvSpPr>
          <p:cNvPr id="12" name="Text 10"/>
          <p:cNvSpPr/>
          <p:nvPr/>
        </p:nvSpPr>
        <p:spPr>
          <a:xfrm>
            <a:off x="502920" y="3200400"/>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Reasoning model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drafts and checks internally before answering; slower, costlier, better at hard problems</a:t>
            </a:r>
            <a:endParaRPr lang="en-US" sz="1050" dirty="0"/>
          </a:p>
        </p:txBody>
      </p:sp>
      <p:sp>
        <p:nvSpPr>
          <p:cNvPr id="13" name="Text 11"/>
          <p:cNvSpPr/>
          <p:nvPr/>
        </p:nvSpPr>
        <p:spPr>
          <a:xfrm>
            <a:off x="6172200" y="3200400"/>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Few-shot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teaching by 3–5 examples in the prompt</a:t>
            </a:r>
            <a:endParaRPr lang="en-US" sz="1050" dirty="0"/>
          </a:p>
        </p:txBody>
      </p:sp>
      <p:sp>
        <p:nvSpPr>
          <p:cNvPr id="14" name="Text 12"/>
          <p:cNvSpPr/>
          <p:nvPr/>
        </p:nvSpPr>
        <p:spPr>
          <a:xfrm>
            <a:off x="502920" y="3785616"/>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Chain-of-thought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prompting visible step-by-step reasoning — now built into thinking models</a:t>
            </a:r>
            <a:endParaRPr lang="en-US" sz="1050" dirty="0"/>
          </a:p>
        </p:txBody>
      </p:sp>
      <p:sp>
        <p:nvSpPr>
          <p:cNvPr id="15" name="Text 13"/>
          <p:cNvSpPr/>
          <p:nvPr/>
        </p:nvSpPr>
        <p:spPr>
          <a:xfrm>
            <a:off x="6172200" y="3785616"/>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Metaprompting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asking the model to critique or rewrite your prompt</a:t>
            </a:r>
            <a:endParaRPr lang="en-US" sz="1050" dirty="0"/>
          </a:p>
        </p:txBody>
      </p:sp>
      <p:sp>
        <p:nvSpPr>
          <p:cNvPr id="16" name="Text 14"/>
          <p:cNvSpPr/>
          <p:nvPr/>
        </p:nvSpPr>
        <p:spPr>
          <a:xfrm>
            <a:off x="502920" y="4370832"/>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Sycophancy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trained tendency to agree with you; blind the review to defuse it</a:t>
            </a:r>
            <a:endParaRPr lang="en-US" sz="1050" dirty="0"/>
          </a:p>
        </p:txBody>
      </p:sp>
      <p:sp>
        <p:nvSpPr>
          <p:cNvPr id="17" name="Text 15"/>
          <p:cNvSpPr/>
          <p:nvPr/>
        </p:nvSpPr>
        <p:spPr>
          <a:xfrm>
            <a:off x="6172200" y="4370832"/>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Agent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model + tools + instructions in a loop, acting until done or stopped</a:t>
            </a:r>
            <a:endParaRPr lang="en-US" sz="1050" dirty="0"/>
          </a:p>
        </p:txBody>
      </p:sp>
      <p:sp>
        <p:nvSpPr>
          <p:cNvPr id="18" name="Text 16"/>
          <p:cNvSpPr/>
          <p:nvPr/>
        </p:nvSpPr>
        <p:spPr>
          <a:xfrm>
            <a:off x="502920" y="4956048"/>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MCP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Model Context Protocol — the open standard for plugging tools into agents</a:t>
            </a:r>
            <a:endParaRPr lang="en-US" sz="1050" dirty="0"/>
          </a:p>
        </p:txBody>
      </p:sp>
      <p:sp>
        <p:nvSpPr>
          <p:cNvPr id="19" name="Text 17"/>
          <p:cNvSpPr/>
          <p:nvPr/>
        </p:nvSpPr>
        <p:spPr>
          <a:xfrm>
            <a:off x="6172200" y="4956048"/>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Mission brief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an agentic prompt: goal, environment, inputs, process, checks, gates, reporting</a:t>
            </a:r>
            <a:endParaRPr lang="en-US" sz="1050" dirty="0"/>
          </a:p>
        </p:txBody>
      </p:sp>
      <p:sp>
        <p:nvSpPr>
          <p:cNvPr id="20" name="Text 18"/>
          <p:cNvSpPr/>
          <p:nvPr/>
        </p:nvSpPr>
        <p:spPr>
          <a:xfrm>
            <a:off x="502920" y="5541264"/>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Gate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 human checkpoint inside an agent’s process — approve before it proceeds</a:t>
            </a:r>
            <a:endParaRPr lang="en-US" sz="1050" dirty="0"/>
          </a:p>
        </p:txBody>
      </p:sp>
      <p:sp>
        <p:nvSpPr>
          <p:cNvPr id="21" name="Text 19"/>
          <p:cNvSpPr/>
          <p:nvPr/>
        </p:nvSpPr>
        <p:spPr>
          <a:xfrm>
            <a:off x="6172200" y="5541264"/>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Open weights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 downloadable model you can self-host — the data-privacy end of the spectrum</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Sources this training is built on</a:t>
            </a:r>
            <a:endParaRPr lang="en-US" sz="3000" dirty="0"/>
          </a:p>
        </p:txBody>
      </p:sp>
      <p:sp>
        <p:nvSpPr>
          <p:cNvPr id="6" name="Shape 4"/>
          <p:cNvSpPr/>
          <p:nvPr/>
        </p:nvSpPr>
        <p:spPr>
          <a:xfrm>
            <a:off x="502920" y="1481328"/>
            <a:ext cx="3611880" cy="4572000"/>
          </a:xfrm>
          <a:prstGeom prst="roundRect">
            <a:avLst>
              <a:gd name="adj" fmla="val 2025"/>
            </a:avLst>
          </a:prstGeom>
          <a:solidFill>
            <a:srgbClr val="F2F5F6"/>
          </a:solidFill>
          <a:ln/>
        </p:spPr>
      </p:sp>
      <p:sp>
        <p:nvSpPr>
          <p:cNvPr id="7" name="Text 5"/>
          <p:cNvSpPr/>
          <p:nvPr/>
        </p:nvSpPr>
        <p:spPr>
          <a:xfrm>
            <a:off x="704088"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Vendor guidance (fetched Aug 2026)</a:t>
            </a:r>
            <a:endParaRPr lang="en-US" sz="1250" dirty="0"/>
          </a:p>
        </p:txBody>
      </p:sp>
      <p:sp>
        <p:nvSpPr>
          <p:cNvPr id="8" name="Text 6"/>
          <p:cNvSpPr/>
          <p:nvPr/>
        </p:nvSpPr>
        <p:spPr>
          <a:xfrm>
            <a:off x="722376"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Anthropic — Prompting best practices; long-context tips; reduce-hallucinations; Building Effective Agents; Claude Code best practices; context engineering</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OpenAI — GPT-5 prompting guide; reasoning best practices; A Practical Guide to Building Agents; Model Spec</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Google — Gemini for Workspace prompting guides (Persona-Task-Context-Format)</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Microsoft — Copilot prompt guidance (Goal-Context-Source-Expectations); Copilot agents docs</a:t>
            </a:r>
            <a:endParaRPr lang="en-US" sz="900" dirty="0"/>
          </a:p>
        </p:txBody>
      </p:sp>
      <p:sp>
        <p:nvSpPr>
          <p:cNvPr id="9" name="Shape 7"/>
          <p:cNvSpPr/>
          <p:nvPr/>
        </p:nvSpPr>
        <p:spPr>
          <a:xfrm>
            <a:off x="4325112" y="1481328"/>
            <a:ext cx="3611880" cy="4572000"/>
          </a:xfrm>
          <a:prstGeom prst="roundRect">
            <a:avLst>
              <a:gd name="adj" fmla="val 2025"/>
            </a:avLst>
          </a:prstGeom>
          <a:solidFill>
            <a:srgbClr val="F2F5F6"/>
          </a:solidFill>
          <a:ln/>
        </p:spPr>
      </p:sp>
      <p:sp>
        <p:nvSpPr>
          <p:cNvPr id="10" name="Text 8"/>
          <p:cNvSpPr/>
          <p:nvPr/>
        </p:nvSpPr>
        <p:spPr>
          <a:xfrm>
            <a:off x="4526280"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Research</a:t>
            </a:r>
            <a:endParaRPr lang="en-US" sz="1250" dirty="0"/>
          </a:p>
        </p:txBody>
      </p:sp>
      <p:sp>
        <p:nvSpPr>
          <p:cNvPr id="11" name="Text 9"/>
          <p:cNvSpPr/>
          <p:nvPr/>
        </p:nvSpPr>
        <p:spPr>
          <a:xfrm>
            <a:off x="4544568"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Brown et al. 2020 (few-shot) · Wei et al. 2022 &amp; Kojima et al. 2022 (chain-of-thought) · Wang et al. 2023 (self-consistency)</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Sclar et al. 2024 (format brittleness) · Zheng et al. 2024 (personas) · Salinas &amp; Morstatter 2024 (tips/perturbations)</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Cheng et al., Science 2026 (sycophancy) · Sharma et al. 2023 (why sycophancy) · Liu et al. 2023 (lost in the middle)</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OpenAI 2025 (why language models hallucinate) · Sprague et al. 2025 (when CoT helps)</a:t>
            </a:r>
            <a:endParaRPr lang="en-US" sz="900" dirty="0"/>
          </a:p>
        </p:txBody>
      </p:sp>
      <p:sp>
        <p:nvSpPr>
          <p:cNvPr id="12" name="Shape 10"/>
          <p:cNvSpPr/>
          <p:nvPr/>
        </p:nvSpPr>
        <p:spPr>
          <a:xfrm>
            <a:off x="8147304" y="1481328"/>
            <a:ext cx="3611880" cy="4572000"/>
          </a:xfrm>
          <a:prstGeom prst="roundRect">
            <a:avLst>
              <a:gd name="adj" fmla="val 2025"/>
            </a:avLst>
          </a:prstGeom>
          <a:solidFill>
            <a:srgbClr val="F2F5F6"/>
          </a:solidFill>
          <a:ln/>
        </p:spPr>
      </p:sp>
      <p:sp>
        <p:nvSpPr>
          <p:cNvPr id="13" name="Text 11"/>
          <p:cNvSpPr/>
          <p:nvPr/>
        </p:nvSpPr>
        <p:spPr>
          <a:xfrm>
            <a:off x="8348472"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Landscape &amp; governance</a:t>
            </a:r>
            <a:endParaRPr lang="en-US" sz="1250" dirty="0"/>
          </a:p>
        </p:txBody>
      </p:sp>
      <p:sp>
        <p:nvSpPr>
          <p:cNvPr id="14" name="Text 12"/>
          <p:cNvSpPr/>
          <p:nvPr/>
        </p:nvSpPr>
        <p:spPr>
          <a:xfrm>
            <a:off x="8366760"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Stanford HAI AI Index 2026 · LMArena / Artificial Analysis / SWE-bench (Aug 2026 snapshots)</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OWASP LLM Top 10 (2025) · UK NCSC agentic-AI guidance · Cisco AI Defense (skills audit) · Harmonic Security (shadow-AI prompts)</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Vendor launch posts &amp; major-outlet reporting (Reuters, CNBC, TechCrunch, Bloomberg) for all product dates</a:t>
            </a:r>
            <a:endParaRPr lang="en-US" sz="900" dirty="0"/>
          </a:p>
        </p:txBody>
      </p:sp>
      <p:sp>
        <p:nvSpPr>
          <p:cNvPr id="15" name="Text 13"/>
          <p:cNvSpPr/>
          <p:nvPr/>
        </p:nvSpPr>
        <p:spPr>
          <a:xfrm>
            <a:off x="502920" y="6172200"/>
            <a:ext cx="11155680" cy="32004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Full source list with URLs: notes/research/ in the training repo — every fact in this deck carries an “as of” date there.</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KEEP LEARNING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KEEP LEARNING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Recommended reading — start practical, go deep</a:t>
            </a:r>
            <a:endParaRPr lang="en-US" sz="3000" dirty="0"/>
          </a:p>
        </p:txBody>
      </p:sp>
      <p:sp>
        <p:nvSpPr>
          <p:cNvPr id="6" name="Shape 4"/>
          <p:cNvSpPr/>
          <p:nvPr/>
        </p:nvSpPr>
        <p:spPr>
          <a:xfrm>
            <a:off x="502920" y="1481328"/>
            <a:ext cx="3611880" cy="4023360"/>
          </a:xfrm>
          <a:prstGeom prst="roundRect">
            <a:avLst>
              <a:gd name="adj" fmla="val 2025"/>
            </a:avLst>
          </a:prstGeom>
          <a:solidFill>
            <a:srgbClr val="F2F5F6"/>
          </a:solidFill>
          <a:ln/>
        </p:spPr>
      </p:sp>
      <p:sp>
        <p:nvSpPr>
          <p:cNvPr id="7" name="Text 5"/>
          <p:cNvSpPr/>
          <p:nvPr/>
        </p:nvSpPr>
        <p:spPr>
          <a:xfrm>
            <a:off x="704088"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Practical start</a:t>
            </a:r>
            <a:endParaRPr lang="en-US" sz="1350" dirty="0"/>
          </a:p>
        </p:txBody>
      </p:sp>
      <p:sp>
        <p:nvSpPr>
          <p:cNvPr id="8" name="Text 6"/>
          <p:cNvSpPr/>
          <p:nvPr/>
        </p:nvSpPr>
        <p:spPr>
          <a:xfrm>
            <a:off x="722376"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Mollick — Co-Intelligence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the working-with-AI mindset book; read first</a:t>
            </a:r>
            <a:endParaRPr lang="en-US" sz="1050" dirty="0"/>
          </a:p>
        </p:txBody>
      </p:sp>
      <p:sp>
        <p:nvSpPr>
          <p:cNvPr id="9" name="Text 7"/>
          <p:cNvSpPr/>
          <p:nvPr/>
        </p:nvSpPr>
        <p:spPr>
          <a:xfrm>
            <a:off x="722376"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Kneusel — How AI Works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the concepts of Part 1, gently and rigorously</a:t>
            </a:r>
            <a:endParaRPr lang="en-US" sz="1050" dirty="0"/>
          </a:p>
        </p:txBody>
      </p:sp>
      <p:sp>
        <p:nvSpPr>
          <p:cNvPr id="10" name="Shape 8"/>
          <p:cNvSpPr/>
          <p:nvPr/>
        </p:nvSpPr>
        <p:spPr>
          <a:xfrm>
            <a:off x="4325112" y="1481328"/>
            <a:ext cx="3611880" cy="4023360"/>
          </a:xfrm>
          <a:prstGeom prst="roundRect">
            <a:avLst>
              <a:gd name="adj" fmla="val 2025"/>
            </a:avLst>
          </a:prstGeom>
          <a:solidFill>
            <a:srgbClr val="E4F0EF"/>
          </a:solidFill>
          <a:ln/>
        </p:spPr>
      </p:sp>
      <p:sp>
        <p:nvSpPr>
          <p:cNvPr id="11" name="Text 9"/>
          <p:cNvSpPr/>
          <p:nvPr/>
        </p:nvSpPr>
        <p:spPr>
          <a:xfrm>
            <a:off x="4526280"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craft</a:t>
            </a:r>
            <a:endParaRPr lang="en-US" sz="1350" dirty="0"/>
          </a:p>
        </p:txBody>
      </p:sp>
      <p:sp>
        <p:nvSpPr>
          <p:cNvPr id="12" name="Text 10"/>
          <p:cNvSpPr/>
          <p:nvPr/>
        </p:nvSpPr>
        <p:spPr>
          <a:xfrm>
            <a:off x="4544568"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Phoenix &amp; Taylor — Prompt Engineering for Generative AI (O’Reilly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the five principles, applied — closest to Parts 3–4</a:t>
            </a:r>
            <a:endParaRPr lang="en-US" sz="1050" dirty="0"/>
          </a:p>
        </p:txBody>
      </p:sp>
      <p:sp>
        <p:nvSpPr>
          <p:cNvPr id="13" name="Text 11"/>
          <p:cNvSpPr/>
          <p:nvPr/>
        </p:nvSpPr>
        <p:spPr>
          <a:xfrm>
            <a:off x="4544568"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Berryman &amp; Ziegler — Prompt Engineering for LLMs (O’Reilly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how prompts actually meet the model; by GitHub Copilot creators</a:t>
            </a:r>
            <a:endParaRPr lang="en-US" sz="1050" dirty="0"/>
          </a:p>
        </p:txBody>
      </p:sp>
      <p:sp>
        <p:nvSpPr>
          <p:cNvPr id="14" name="Shape 12"/>
          <p:cNvSpPr/>
          <p:nvPr/>
        </p:nvSpPr>
        <p:spPr>
          <a:xfrm>
            <a:off x="8147304" y="1481328"/>
            <a:ext cx="3611880" cy="4023360"/>
          </a:xfrm>
          <a:prstGeom prst="roundRect">
            <a:avLst>
              <a:gd name="adj" fmla="val 2025"/>
            </a:avLst>
          </a:prstGeom>
          <a:solidFill>
            <a:srgbClr val="F2F5F6"/>
          </a:solidFill>
          <a:ln/>
        </p:spPr>
      </p:sp>
      <p:sp>
        <p:nvSpPr>
          <p:cNvPr id="15" name="Text 13"/>
          <p:cNvSpPr/>
          <p:nvPr/>
        </p:nvSpPr>
        <p:spPr>
          <a:xfrm>
            <a:off x="8348472"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Going deep</a:t>
            </a:r>
            <a:endParaRPr lang="en-US" sz="1350" dirty="0"/>
          </a:p>
        </p:txBody>
      </p:sp>
      <p:sp>
        <p:nvSpPr>
          <p:cNvPr id="16" name="Text 14"/>
          <p:cNvSpPr/>
          <p:nvPr/>
        </p:nvSpPr>
        <p:spPr>
          <a:xfrm>
            <a:off x="8366760"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Huyen — AI Engineering (O’Reilly 2025)</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RAG, agents, evaluation — the engineering behind Part 5</a:t>
            </a:r>
            <a:endParaRPr lang="en-US" sz="1050" dirty="0"/>
          </a:p>
        </p:txBody>
      </p:sp>
      <p:sp>
        <p:nvSpPr>
          <p:cNvPr id="17" name="Text 15"/>
          <p:cNvSpPr/>
          <p:nvPr/>
        </p:nvSpPr>
        <p:spPr>
          <a:xfrm>
            <a:off x="8366760"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Alammar &amp; Grootendorst — Hands-On Large Language Models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visual internals: tokens, embeddings, transformers</a:t>
            </a:r>
            <a:endParaRPr lang="en-US" sz="1050" dirty="0"/>
          </a:p>
        </p:txBody>
      </p:sp>
      <p:sp>
        <p:nvSpPr>
          <p:cNvPr id="18" name="Shape 16"/>
          <p:cNvSpPr/>
          <p:nvPr/>
        </p:nvSpPr>
        <p:spPr>
          <a:xfrm>
            <a:off x="502920" y="5715000"/>
            <a:ext cx="11155680" cy="685800"/>
          </a:xfrm>
          <a:prstGeom prst="roundRect">
            <a:avLst>
              <a:gd name="adj" fmla="val 10667"/>
            </a:avLst>
          </a:prstGeom>
          <a:solidFill>
            <a:srgbClr val="FBF0E0"/>
          </a:solidFill>
          <a:ln/>
        </p:spPr>
      </p:sp>
      <p:sp>
        <p:nvSpPr>
          <p:cNvPr id="19" name="Shape 17"/>
          <p:cNvSpPr/>
          <p:nvPr/>
        </p:nvSpPr>
        <p:spPr>
          <a:xfrm>
            <a:off x="667512" y="5865876"/>
            <a:ext cx="384048" cy="384048"/>
          </a:xfrm>
          <a:prstGeom prst="ellipse">
            <a:avLst/>
          </a:prstGeom>
          <a:solidFill>
            <a:srgbClr val="B96A1B"/>
          </a:solidFill>
          <a:ln/>
        </p:spPr>
      </p:sp>
      <p:pic>
        <p:nvPicPr>
          <p:cNvPr id="20" name="Image 0" descr="/home/user/Claude-Works/ai-training-prompt-engineering/src/assets/icons/zap_w.png">    </p:cNvPr>
          <p:cNvPicPr>
            <a:picLocks noChangeAspect="1"/>
          </p:cNvPicPr>
          <p:nvPr/>
        </p:nvPicPr>
        <p:blipFill>
          <a:blip r:embed="rId1"/>
          <a:stretch>
            <a:fillRect/>
          </a:stretch>
        </p:blipFill>
        <p:spPr>
          <a:xfrm>
            <a:off x="767364" y="5965728"/>
            <a:ext cx="184343" cy="184343"/>
          </a:xfrm>
          <a:prstGeom prst="rect">
            <a:avLst/>
          </a:prstGeom>
        </p:spPr>
      </p:pic>
      <p:sp>
        <p:nvSpPr>
          <p:cNvPr id="21" name="Text 18"/>
          <p:cNvSpPr/>
          <p:nvPr/>
        </p:nvSpPr>
        <p:spPr>
          <a:xfrm>
            <a:off x="1216152" y="578815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And the fastest teacher of all: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the prompt library in this repo. Copy a template, run it on your real work today, improve it, commit the improvement.</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49</a:t>
            </a:r>
            <a:endParaRPr lang="en-US" sz="850" dirty="0"/>
          </a:p>
        </p:txBody>
      </p:sp>
      <p:sp>
        <p:nvSpPr>
          <p:cNvPr id="3" name="Text 1"/>
          <p:cNvSpPr/>
          <p:nvPr/>
        </p:nvSpPr>
        <p:spPr>
          <a:xfrm>
            <a:off x="502920" y="2194560"/>
            <a:ext cx="10972800" cy="457200"/>
          </a:xfrm>
          <a:prstGeom prst="rect">
            <a:avLst/>
          </a:prstGeom>
          <a:noFill/>
          <a:ln/>
        </p:spPr>
        <p:txBody>
          <a:bodyPr wrap="square" lIns="0" tIns="0" rIns="0" bIns="0" rtlCol="0" anchor="ctr"/>
          <a:lstStyle/>
          <a:p>
            <a:pPr indent="0" marL="0">
              <a:buNone/>
            </a:pPr>
            <a:r>
              <a:rPr lang="en-US" sz="1500" b="1" spc="400" kern="0" dirty="0">
                <a:solidFill>
                  <a:srgbClr val="5FB8B0"/>
                </a:solidFill>
                <a:latin typeface="Calibri" pitchFamily="34" charset="0"/>
                <a:ea typeface="Calibri" pitchFamily="34" charset="-122"/>
                <a:cs typeface="Calibri" pitchFamily="34" charset="-120"/>
              </a:rPr>
              <a:t>FROM PROMPTS TO AGENTS</a:t>
            </a:r>
            <a:endParaRPr lang="en-US" sz="1500" dirty="0"/>
          </a:p>
        </p:txBody>
      </p:sp>
      <p:sp>
        <p:nvSpPr>
          <p:cNvPr id="4" name="Text 2"/>
          <p:cNvSpPr/>
          <p:nvPr/>
        </p:nvSpPr>
        <p:spPr>
          <a:xfrm>
            <a:off x="502920" y="2697480"/>
            <a:ext cx="10515600" cy="2194560"/>
          </a:xfrm>
          <a:prstGeom prst="rect">
            <a:avLst/>
          </a:prstGeom>
          <a:noFill/>
          <a:ln/>
        </p:spPr>
        <p:txBody>
          <a:bodyPr wrap="square" lIns="0" tIns="0" rIns="0" bIns="0" rtlCol="0" anchor="ctr"/>
          <a:lstStyle/>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Draft with AI.</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Decide with judgment.</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Delegate with a brief.</a:t>
            </a:r>
            <a:endParaRPr lang="en-US" sz="4000" dirty="0"/>
          </a:p>
        </p:txBody>
      </p:sp>
      <p:sp>
        <p:nvSpPr>
          <p:cNvPr id="5" name="Text 3"/>
          <p:cNvSpPr/>
          <p:nvPr/>
        </p:nvSpPr>
        <p:spPr>
          <a:xfrm>
            <a:off x="502920" y="5120640"/>
            <a:ext cx="10515600" cy="548640"/>
          </a:xfrm>
          <a:prstGeom prst="rect">
            <a:avLst/>
          </a:prstGeom>
          <a:noFill/>
          <a:ln/>
        </p:spPr>
        <p:txBody>
          <a:bodyPr wrap="square" lIns="0" tIns="0" rIns="0" bIns="0" rtlCol="0" anchor="ctr"/>
          <a:lstStyle/>
          <a:p>
            <a:pPr indent="0" marL="0">
              <a:lnSpc>
                <a:spcPct val="115000"/>
              </a:lnSpc>
              <a:buNone/>
            </a:pPr>
            <a:r>
              <a:rPr lang="en-US" sz="1300" dirty="0">
                <a:solidFill>
                  <a:srgbClr val="A9BBC4"/>
                </a:solidFill>
                <a:latin typeface="Calibri" pitchFamily="34" charset="0"/>
                <a:ea typeface="Calibri" pitchFamily="34" charset="-122"/>
                <a:cs typeface="Calibri" pitchFamily="34" charset="-120"/>
              </a:rPr>
              <a:t>Templates: prompt-library/ · Research &amp; sources: notes/ · Questions and template improvements: open an issue or bring them to the next session.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Prompts to Agents — Prompt Engineering for Generative &amp; Agentic AI</dc:title>
  <dc:subject>PptxGenJS Presentation</dc:subject>
  <dc:creator>Training Team</dc:creator>
  <cp:lastModifiedBy>Training Team</cp:lastModifiedBy>
  <cp:revision>1</cp:revision>
  <dcterms:created xsi:type="dcterms:W3CDTF">2026-08-21T18:23:28Z</dcterms:created>
  <dcterms:modified xsi:type="dcterms:W3CDTF">2026-08-21T18:23:28Z</dcterms:modified>
</cp:coreProperties>
</file>