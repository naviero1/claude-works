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training goes deeper than the general AI onboarding: it is specifically about prompting — the skill — across two modes: generative (AI that talks) and agentic (AI that works). Everything is dated August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welcome+map (v1.1). Two-session delivery: split after Part 4. Each part ends with a skippable three-minute rep. Set the thesis early: two modes, one craft; the library and Creator are the take-home.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eras framing is a teaching synthesis — each transition is well documented, but present it as “a useful way to see 70 years,” not official taxonomy. The rules era = writing the SOP yourself; the learning era = deriving the SOP from a thousand examples — that lands with quality engineers. Winters lesson: over-promising causes funding collapse; healthy skepticism is historically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beats: (1) everything since 2017 is one architecture, scaled; (2) adoption stats end on the tension — everyone chats with AI, almost nobody has industrialized delegation to agents yet. Learning to brief agents well now is a genuine head start. Sources: Reuters/UBS 2023, TechCrunch Feb 2026, Google Aug 2026, Stanford HAI AI Index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“Autocomplete trained on the internet; RLHF is the finishing school.” The right-hand callout is the thesis of the whole course: prompting matters because the prompt is the entire interface. InstructGPT fact worth telling: raters preferred a well-tuned 1.3B model over raw 175B GPT-3 — tuning beat 100x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strawberry-letter-counting failure is famous — explain the mechanism (it never sees letters) so the audience can predict this class of failure, not just memorize one example. Token math preview: it also explains context windows (next slide) and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desk analogy carries the course. “Lost in the middle” is Liu et al. 2023 (TACL) — U-shaped accuracy by position; still true in modern long-context models for non-literal tasks. The 30% figure is Anthropic’s own long-context guidance. 1M-token standard verified Aug 2026 across Claude Fable/Sonnet 5, GPT-5.6, Gemini 3.1 Pro, DeepSeek V4, Qwen3.8, Kimi K3.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Open-book exam analogy: the student still writes the answer, from pages a librarian fetched — if the librarian pulls rev B instead of rev D, the student confidently cites the wrong page. This is the engine behind internal assistants and Copilot-over-SharePoint. Retrieval ≠ training is the privacy point to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v1.1: embeddings sidebar cut — if asked how retrieval finds things: every text gets a coordinate in meaning-space; nearby = similar, even with no shared words. Escalation rule: cheapest and most reversible first. When someone proposes “let’s fine-tune on our procedures,” the first question is: knowledge problem (→RAG) or behavior problem (→maybe fine-tune)? Most enterprise cases are knowledge problems. Frontier flagships mostly aren’t fine-tunable anyway (as of Aug 2026); open-weight models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models are what make reliable agents feasible — planning quality is the bottleneck for multi-step work. Note the honest caveat: the model isn’t literally “thinking”; it generates intermediate tokens that improve the final answer. The cost asymmetry surprises people: budget reasoning like you budget an engineer’s deep-work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OpenAI 2025 paper (“Why language models hallucinate”) is a gift for this slide: the vendor itself explains that eval incentives reward guessing. None of the three cures eliminates hallucination — they convert unverifiable claims into verifiable ones. This closes Part 1; Part 2 is the tool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hard cap. The point is the felt experience of a vague prompt — every gap they name is an element from Part 3. Skip freely if behind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One line each, then move — the matrix on slide 19 does the practical work. Names to say: Claude Fable 5 (Jun 2026, current flagship), GPT-5.6 Sol/Terra/Luna (Jul 2026), Gemini 3 family, Copilot now lets you pick Claude inside Office (Researcher, Excel Agent Mode). Grok note: xAI was acquired by SpaceX (Feb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fuel-bill analogy keeps the cost claim honest (SemiAnalysis: total hardware spend &gt;$500M). The Airbnb story teaches both sides: CEO praised Qwen as “fast and cheap” for customer service — then Congress asked questions, and the defense was exactly “self-hosted open weights: we send no data to China.”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distinction to hammer: hosted app/API (data to China; what regulators banned) vs self-hosted weights (a file on your GPUs; the Airbnb defense). Both sentences are simultaneously true: “never company data in Chinese consumer apps” AND “IT may evaluate self-hosted weights through governance review.” For this audience: treat open-weight models like SOUP — software of unknown provenance with documented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Claude Code appears twice in this training on purpose: it is the tool this deck’s own materials were built with, and the natural home of the agentic templates in Part 5. OpenClaw: created by Peter Steinberger; renamed Clawdbot → Moltbot → OpenClaw after trademark issues; the maintainer’s own warning — “if you can’t run a command line, this is far too dangerous to use safely” — plus CVEs, 135K exposed instances, and a malicious #1-ranked community skill (Cisco).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This is the screenshot-and-keep slide. Walk two rows the audience cares most about (data analysis, presentations) and let the rest be reference. Reinforce the policy caveat verbally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private-test-set habit is the practical takeaway — it converts leaderboard anxiety into a 60-second routine. Sources for the caution: LMArena July 2026 re-baseline; SWE-bench Verified saturation reporting; Artificial Analysis clustering.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everyone writes three tasks. No sharing needed — the artifact is personal. Skip freely if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frameworks are near-identical: Google calls it Persona-Task-Context-Format; Microsoft Goal-Context-Source-Expectations; Anthropic and OpenAI teach the same elements. The 21-words stat is from Google’s Oct 2024 Workspace guide (dropped in the newer edition — teach as directional, not gospel). Anthropic’s golden rule belongs in the room: show your prompt to a colleague with minimal context — if they’d be confused, the model will be too. Continuity hook: our own library teaches the same skeleton — the internal crash course’s “5 building blocks” (Role, Context, Task, Format, Tone) and CRISP checklist, and Phoenix &amp; Taylor’s Five Principles (Give Direction, Specify Format, Provide Examples, Evaluate Quality, Divide Labor). One anatomy, many aliases.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v1.1 addition. One row at a time: name the element, read weak vs strong aloud — the contrast teaches faster than the definition. Role: behaviors are auditable, titles aren’t. Task: a question carries its own completion test. Context: unstated quirks become invented fixes. Format: numeric caps are enforceable, adjectives aren’t. Examples: the model handles edge cases exactly as yours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v1.1 addition. The grid is the practical payoff of the element model: when output disappoints, don’t reword at random — name the failed element and fix that one. This turns iteration from retyping into diagnosis. Same grid opens the ELEMENTS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technique traces to vendor docs and research: examples = Brown et al. 2020 few-shot; the out = Anthropic hallucination guidance; chaining = Anthropic 2026 (“still useful when you need to inspect intermediate outputs”); self-check needs concrete criteria (self-correction research shows “are you sure?” can make answers worse). Metaprompting is now productized: OpenAI Prompt Optimizer, Anthropic prompt improver, Google “Make this a power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worth naming aloud: format brittleness = Sclar et al. ICLR 2024 (up to 76-point swings from formatting alone — the case for tested, versioned templates; think gauge R&amp;R for prompts). Personas = Zheng et al. EMNLP 2024. Tipping = Salinas &amp; Morstatter, ACL 2024. Sycophancy = Cheng et al., Science 2026 (arXiv 2510.01395). The lesson isn’t “AI lies” — it’s “AI mirrors you”; blind it to your preference before asking for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inoculates against stale advice from 2023-era blog posts. Sources: OpenAI reasoning best practices (“avoid chain-of-thought prompts”, “try zero shot first”), Anthropic prompting best practices 2026 (“prefer general instructions over prescriptive steps”), GPT-5 guide (contradiction cost), DeepSeek-R1 paper (few-shot degrades). Close on the reassurance: the durable 80%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diagnose-by-element trick makes iteration systematic instead of random retyping. Metaprompting demo idea (live): paste a mediocre prompt, ask the assistant to critique and rewrite it, run both, compare. Bridge: Part 4 is the library of already-iterated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The neighbor-compare is the learning moment — different fills, same anatomy. Skip freely if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one row at a time; the right column is the teaching. Evidence for code-not-vibes: GPT-4 scored ~59% on 3-digit x 3-digit multiplication, falling toward zero as digits grow (Faith and Fate, NeurIPS 2023) — code execution hands the model a calculator. All four major tools now run code for analysis. This anatomy generalizes: every template is blocks + reasons.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v1.1: replaces the catalog slides. Prepare a safe demo draft in advance (generic plan with 2–3 planted weaknesses). Budget 6–8 minutes. The side-by-side moment is the punchline — let the room read both answers in silence for 20 seconds before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v1.1: second demo. Pre-stage the data table and the G6 prompt in a text file so the demo is paste-paste-run. If generation runs long, have a pre-built copy of the dashboard ready to open — narrate the prompt while it loads. Budget 6–8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v1.1: the catalog is now a handout pointer, not four lecture slides. Walk it in 60 seconds: two templates they just saw demoed, six more that work the same way. Session 1 ends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v1.1: session-2 opener. Ask who ran the blind critique from session 1 —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framing is vendor-verbatim (Anthropic Agent SDK: gather context → take action → verify work → repeat). Distinguish agents from scripted automation: scripts break when reality varies; agents read the result and adjust. MCP numbers as of Jul 2026 per the MCP project blog.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slow down on. The agentic column is a superset: everything from Part 3 still applies — the additions exist because actions, unlike text, have consequences.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v1.1 addition — the deepest idea in the training, promoted from the handout. Read two rows aloud (Task→mission, The Stop→gates); the pattern lands. Then the twelve blocks on the next slide are inevitable rather than arbitrary.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twelve — pick three: &lt;checks&gt; (the run can fail loudly instead of finishing wrong), &lt;process&gt; gates (errors caught at the cheap end), &lt;reporting&gt; (a status you read in 30 seconds). The full annotated template with a fill-in guide is prompt-library/agentic/A1; A2 is the complete worked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ETL→Presentation template (A2) in the library — a real, reusable prompt for any “take data, make it trustworthy, put the answer in front of people” job. The three gates catch the three error classes in ascending cost: definition errors, data errors, message errors. Autonomy rules stop the agent from asking about everything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slide-within-a-slide: “lethal trifecta” = private data + untrusted content + external communication (Willison, 2025) — remove any one and exfiltration paths close.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agentic prompting pays compound interest: recurring reports, cycles, reviews become ten-line prompts against a versioned standing brief. AGENTS.md is the cross-vendor equivalent (60k+ open-source projects use it; governed by the Linux Foundation’s Agentic AI Foundation). Bridge to Part 6: the standing brief IS a managed prompt — so let’s talk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Where the gate or check feels hard to write is where their process was fuzzy all along — say that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maps effort to value: most people should live at rungs 2–3 within a month. Rung 4 is where consistency stops depending on people remembering; rung 5 is where the agentic briefs from Part 5 live. The SOP analogy is a process analogy — don’t imply regulatory equivalence.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 The library-fields row is the practical takeaway for teams without any of these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governance card matters most in this room: prompts are documents. The {{placeholder}} rule is doing double duty — reuse AND keeping sensitive values out of stored text. Market-churn example if asked: Humanloop (early leader) shut down Sept 2025 when Anthropic hired the team; the practice survived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rep — protect these three minutes even if everything else ran long.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them slowly; this is the slide people photograph. Each maps back to a part: 1–2 anatomy, 3–5 concepts, 6–7 evidence, 8–9 agentic, 10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exercise 1 live in the session if time allows — pick a volunteer’s real prompt. Exercises 2 and 3 work as homework with a share-back next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Print-friendly reference. All sixteen were used in context during the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auditability: nothing in the deck is vibes. If someone challenges a number, the notes folder has the URL and the date it was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books are real and in print — most are in the team’s shared library already. Reading order: Mollick for mindset, Phoenix &amp; Taylor for craft, Huyen when you’re building agents seriously.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connecting to the previous training’s habit line: draft with AI, decide with judgment — now extended with: delegate with a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1.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slideLayout" Target="../slideLayouts/slideLayout1.xm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1.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AUGUST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four eras of AI · tokens · context windows · RAG · reasoning models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the universal anatomy · seven techniques · what the evidence says · a template playbook</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skill, two modes — and a library you keep</a:t>
            </a:r>
            <a:endParaRPr lang="en-US" sz="3000" dirty="0"/>
          </a:p>
        </p:txBody>
      </p:sp>
      <p:sp>
        <p:nvSpPr>
          <p:cNvPr id="6" name="Text 4"/>
          <p:cNvSpPr/>
          <p:nvPr/>
        </p:nvSpPr>
        <p:spPr>
          <a:xfrm>
            <a:off x="502920" y="1481328"/>
            <a:ext cx="5577840" cy="228600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250" dirty="0"/>
          </a:p>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The same skill has two modes now. Generative: you ask, it writes, you act. Agentic: you brief it, it plans, uses tools, checks itself, and delivers.</a:t>
            </a:r>
            <a:endParaRPr lang="en-US" sz="1250" dirty="0"/>
          </a:p>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250" dirty="0"/>
          </a:p>
        </p:txBody>
      </p:sp>
      <p:sp>
        <p:nvSpPr>
          <p:cNvPr id="7" name="Shape 5"/>
          <p:cNvSpPr/>
          <p:nvPr/>
        </p:nvSpPr>
        <p:spPr>
          <a:xfrm>
            <a:off x="502920" y="4023360"/>
            <a:ext cx="5577840" cy="1371600"/>
          </a:xfrm>
          <a:prstGeom prst="roundRect">
            <a:avLst>
              <a:gd name="adj" fmla="val 5333"/>
            </a:avLst>
          </a:prstGeom>
          <a:solidFill>
            <a:srgbClr val="E4F0EF"/>
          </a:solidFill>
          <a:ln/>
        </p:spPr>
      </p:sp>
      <p:sp>
        <p:nvSpPr>
          <p:cNvPr id="8" name="Shape 6"/>
          <p:cNvSpPr/>
          <p:nvPr/>
        </p:nvSpPr>
        <p:spPr>
          <a:xfrm>
            <a:off x="667512" y="4517136"/>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4616988"/>
            <a:ext cx="184343" cy="184343"/>
          </a:xfrm>
          <a:prstGeom prst="rect">
            <a:avLst/>
          </a:prstGeom>
        </p:spPr>
      </p:pic>
      <p:sp>
        <p:nvSpPr>
          <p:cNvPr id="10" name="Text 7"/>
          <p:cNvSpPr/>
          <p:nvPr/>
        </p:nvSpPr>
        <p:spPr>
          <a:xfrm>
            <a:off x="1216152" y="4096512"/>
            <a:ext cx="4636008" cy="122529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The 10-second version: </a:t>
            </a:r>
            <a:endParaRPr lang="en-US" sz="1200" dirty="0"/>
          </a:p>
          <a:p>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 generative prompt describes what to write.</a:t>
            </a:r>
            <a:endParaRPr lang="en-US" sz="1200" dirty="0"/>
          </a:p>
          <a:p>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An agentic prompt describes a job to run — goal, inputs, checks, and when to stop and ask you.</a:t>
            </a:r>
            <a:endParaRPr lang="en-US" sz="1200" dirty="0"/>
          </a:p>
        </p:txBody>
      </p:sp>
      <p:sp>
        <p:nvSpPr>
          <p:cNvPr id="11" name="Shape 8"/>
          <p:cNvSpPr/>
          <p:nvPr/>
        </p:nvSpPr>
        <p:spPr>
          <a:xfrm>
            <a:off x="6400800" y="1417320"/>
            <a:ext cx="5257800" cy="2697480"/>
          </a:xfrm>
          <a:prstGeom prst="roundRect">
            <a:avLst>
              <a:gd name="adj" fmla="val 2712"/>
            </a:avLst>
          </a:prstGeom>
          <a:solidFill>
            <a:srgbClr val="F2F5F6"/>
          </a:solidFill>
          <a:ln/>
        </p:spPr>
      </p:sp>
      <p:sp>
        <p:nvSpPr>
          <p:cNvPr id="12" name="Text 9"/>
          <p:cNvSpPr/>
          <p:nvPr/>
        </p:nvSpPr>
        <p:spPr>
          <a:xfrm>
            <a:off x="6675120" y="1627632"/>
            <a:ext cx="4754880" cy="365760"/>
          </a:xfrm>
          <a:prstGeom prst="rect">
            <a:avLst/>
          </a:prstGeom>
          <a:noFill/>
          <a:ln/>
        </p:spPr>
        <p:txBody>
          <a:bodyPr wrap="square" lIns="0" tIns="0" rIns="0" bIns="0" rtlCol="0" anchor="ctr"/>
          <a:lstStyle/>
          <a:p>
            <a:pPr indent="0" marL="0">
              <a:buNone/>
            </a:pPr>
            <a:r>
              <a:rPr lang="en-US" sz="1550" b="1" dirty="0">
                <a:solidFill>
                  <a:srgbClr val="232A31"/>
                </a:solidFill>
                <a:latin typeface="Cambria" pitchFamily="34" charset="0"/>
                <a:ea typeface="Cambria" pitchFamily="34" charset="-122"/>
                <a:cs typeface="Cambria" pitchFamily="34" charset="-120"/>
              </a:rPr>
              <a:t>The map — two one-hour sessions</a:t>
            </a:r>
            <a:endParaRPr lang="en-US" sz="1550" dirty="0"/>
          </a:p>
        </p:txBody>
      </p:sp>
      <p:sp>
        <p:nvSpPr>
          <p:cNvPr id="13" name="Text 10"/>
          <p:cNvSpPr/>
          <p:nvPr/>
        </p:nvSpPr>
        <p:spPr>
          <a:xfrm>
            <a:off x="6675120" y="2029968"/>
            <a:ext cx="4754880" cy="2011680"/>
          </a:xfrm>
          <a:prstGeom prst="rect">
            <a:avLst/>
          </a:prstGeom>
          <a:noFill/>
          <a:ln/>
        </p:spPr>
        <p:txBody>
          <a:bodyPr wrap="square" lIns="0" tIns="0" rIns="0" bIns="0" rtlCol="0" anchor="ctr"/>
          <a:lstStyle/>
          <a:p>
            <a:pPr indent="0" marL="0">
              <a:lnSpc>
                <a:spcPct val="112000"/>
              </a:lnSpc>
              <a:spcAft>
                <a:spcPts val="300"/>
              </a:spcAft>
              <a:buNone/>
            </a:pPr>
            <a:r>
              <a:rPr lang="en-US" sz="1150" b="1" dirty="0">
                <a:solidFill>
                  <a:srgbClr val="0A5B5A"/>
                </a:solidFill>
                <a:latin typeface="Calibri" pitchFamily="34" charset="0"/>
                <a:ea typeface="Calibri" pitchFamily="34" charset="-122"/>
                <a:cs typeface="Calibri" pitchFamily="34" charset="-120"/>
              </a:rPr>
              <a:t>SESSION 1</a:t>
            </a:r>
            <a:endParaRPr lang="en-US" sz="1150" dirty="0"/>
          </a:p>
          <a:p>
            <a:pPr indent="0" marL="0">
              <a:lnSpc>
                <a:spcPct val="112000"/>
              </a:lnSpc>
              <a:spcAft>
                <a:spcPts val="800"/>
              </a:spcAft>
              <a:buNone/>
            </a:pPr>
            <a:r>
              <a:rPr lang="en-US" sz="1100" dirty="0">
                <a:solidFill>
                  <a:srgbClr val="46545F"/>
                </a:solidFill>
                <a:latin typeface="Calibri" pitchFamily="34" charset="0"/>
                <a:ea typeface="Calibri" pitchFamily="34" charset="-122"/>
                <a:cs typeface="Calibri" pitchFamily="34" charset="-120"/>
              </a:rPr>
              <a:t>1 · The primer — how LLMs actually work</a:t>
            </a:r>
            <a:endParaRPr lang="en-US" sz="1150" dirty="0"/>
          </a:p>
          <a:p>
            <a:pPr indent="0" marL="0">
              <a:lnSpc>
                <a:spcPct val="112000"/>
              </a:lnSpc>
              <a:spcAft>
                <a:spcPts val="800"/>
              </a:spcAft>
              <a:buNone/>
            </a:pPr>
            <a:r>
              <a:rPr lang="en-US" sz="1100" dirty="0">
                <a:solidFill>
                  <a:srgbClr val="46545F"/>
                </a:solidFill>
                <a:latin typeface="Calibri" pitchFamily="34" charset="0"/>
                <a:ea typeface="Calibri" pitchFamily="34" charset="-122"/>
                <a:cs typeface="Calibri" pitchFamily="34" charset="-120"/>
              </a:rPr>
              <a:t>2 · Models &amp; tools, August 2026</a:t>
            </a:r>
            <a:endParaRPr lang="en-US" sz="1150" dirty="0"/>
          </a:p>
          <a:p>
            <a:pPr indent="0" marL="0">
              <a:lnSpc>
                <a:spcPct val="112000"/>
              </a:lnSpc>
              <a:spcAft>
                <a:spcPts val="8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50" dirty="0"/>
          </a:p>
          <a:p>
            <a:pPr indent="0" marL="0">
              <a:lnSpc>
                <a:spcPct val="112000"/>
              </a:lnSpc>
              <a:spcAft>
                <a:spcPts val="800"/>
              </a:spcAft>
              <a:buNone/>
            </a:pPr>
            <a:r>
              <a:rPr lang="en-US" sz="1100" dirty="0">
                <a:solidFill>
                  <a:srgbClr val="46545F"/>
                </a:solidFill>
                <a:latin typeface="Calibri" pitchFamily="34" charset="0"/>
                <a:ea typeface="Calibri" pitchFamily="34" charset="-122"/>
                <a:cs typeface="Calibri" pitchFamily="34" charset="-120"/>
              </a:rPr>
              <a:t>4 · The playbook — two live demos</a:t>
            </a:r>
            <a:endParaRPr lang="en-US" sz="1150" dirty="0"/>
          </a:p>
          <a:p>
            <a:pPr indent="0" marL="0">
              <a:lnSpc>
                <a:spcPct val="112000"/>
              </a:lnSpc>
              <a:spcAft>
                <a:spcPts val="300"/>
              </a:spcAft>
              <a:buNone/>
            </a:pPr>
            <a:r>
              <a:rPr lang="en-US" sz="1150" b="1" dirty="0">
                <a:solidFill>
                  <a:srgbClr val="0A5B5A"/>
                </a:solidFill>
                <a:latin typeface="Calibri" pitchFamily="34" charset="0"/>
                <a:ea typeface="Calibri" pitchFamily="34" charset="-122"/>
                <a:cs typeface="Calibri" pitchFamily="34" charset="-120"/>
              </a:rPr>
              <a:t>SESSION 2</a:t>
            </a:r>
            <a:endParaRPr lang="en-US" sz="1150" dirty="0"/>
          </a:p>
          <a:p>
            <a:pPr indent="0" marL="0">
              <a:lnSpc>
                <a:spcPct val="112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50" dirty="0"/>
          </a:p>
          <a:p>
            <a:pPr indent="0" marL="0">
              <a:lnSpc>
                <a:spcPct val="112000"/>
              </a:lnSpc>
              <a:buNone/>
            </a:pPr>
            <a:r>
              <a:rPr lang="en-US" sz="1100" dirty="0">
                <a:solidFill>
                  <a:srgbClr val="46545F"/>
                </a:solidFill>
                <a:latin typeface="Calibri" pitchFamily="34" charset="0"/>
                <a:ea typeface="Calibri" pitchFamily="34" charset="-122"/>
                <a:cs typeface="Calibri" pitchFamily="34" charset="-120"/>
              </a:rPr>
              <a:t>6 · Managing prompts as assets · wrap-up</a:t>
            </a:r>
            <a:endParaRPr lang="en-US" sz="1150" dirty="0"/>
          </a:p>
        </p:txBody>
      </p:sp>
      <p:sp>
        <p:nvSpPr>
          <p:cNvPr id="14" name="Shape 11"/>
          <p:cNvSpPr/>
          <p:nvPr/>
        </p:nvSpPr>
        <p:spPr>
          <a:xfrm>
            <a:off x="6400800" y="4297680"/>
            <a:ext cx="5257800" cy="1737360"/>
          </a:xfrm>
          <a:prstGeom prst="roundRect">
            <a:avLst>
              <a:gd name="adj" fmla="val 4211"/>
            </a:avLst>
          </a:prstGeom>
          <a:solidFill>
            <a:srgbClr val="FBF0E0"/>
          </a:solidFill>
          <a:ln/>
        </p:spPr>
      </p:sp>
      <p:sp>
        <p:nvSpPr>
          <p:cNvPr id="15" name="Shape 12"/>
          <p:cNvSpPr/>
          <p:nvPr/>
        </p:nvSpPr>
        <p:spPr>
          <a:xfrm>
            <a:off x="6565392" y="4974336"/>
            <a:ext cx="384048" cy="384048"/>
          </a:xfrm>
          <a:prstGeom prst="ellipse">
            <a:avLst/>
          </a:prstGeom>
          <a:solidFill>
            <a:srgbClr val="B96A1B"/>
          </a:solidFill>
          <a:ln/>
        </p:spPr>
      </p:sp>
      <p:pic>
        <p:nvPicPr>
          <p:cNvPr id="16" name="Image 1" descr="/home/user/Claude-Works/ai-training-prompt-engineering/src/assets/icons/download_w.png">    </p:cNvPr>
          <p:cNvPicPr>
            <a:picLocks noChangeAspect="1"/>
          </p:cNvPicPr>
          <p:nvPr/>
        </p:nvPicPr>
        <p:blipFill>
          <a:blip r:embed="rId2"/>
          <a:stretch>
            <a:fillRect/>
          </a:stretch>
        </p:blipFill>
        <p:spPr>
          <a:xfrm>
            <a:off x="6665244" y="5074188"/>
            <a:ext cx="184343" cy="184343"/>
          </a:xfrm>
          <a:prstGeom prst="rect">
            <a:avLst/>
          </a:prstGeom>
        </p:spPr>
      </p:pic>
      <p:sp>
        <p:nvSpPr>
          <p:cNvPr id="17" name="Text 13"/>
          <p:cNvSpPr/>
          <p:nvPr/>
        </p:nvSpPr>
        <p:spPr>
          <a:xfrm>
            <a:off x="7114032" y="4370832"/>
            <a:ext cx="4315968" cy="159105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You leave with: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a working AI vocabulary · a tool map · the universal prompt anatomy + seven techniques · a 13-template library with an interactive Template Creator · team conventions for storing and versioning prompts.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Seventy years in two slides, then the six concepts that make you fluent: tokens, context, RAG, reasoning, hallucination — and why prompting exists at all.</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291840"/>
          </a:xfrm>
          <a:prstGeom prst="roundRect">
            <a:avLst>
              <a:gd name="adj" fmla="val 2712"/>
            </a:avLst>
          </a:prstGeom>
          <a:solidFill>
            <a:srgbClr val="F2F5F6"/>
          </a:solidFill>
          <a:ln/>
        </p:spPr>
      </p:sp>
      <p:sp>
        <p:nvSpPr>
          <p:cNvPr id="7" name="Shape 5"/>
          <p:cNvSpPr/>
          <p:nvPr/>
        </p:nvSpPr>
        <p:spPr>
          <a:xfrm>
            <a:off x="722376" y="1783080"/>
            <a:ext cx="475488" cy="475488"/>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6003" y="1906707"/>
            <a:ext cx="228234" cy="228234"/>
          </a:xfrm>
          <a:prstGeom prst="rect">
            <a:avLst/>
          </a:prstGeom>
        </p:spPr>
      </p:pic>
      <p:sp>
        <p:nvSpPr>
          <p:cNvPr id="9" name="Text 6"/>
          <p:cNvSpPr/>
          <p:nvPr/>
        </p:nvSpPr>
        <p:spPr>
          <a:xfrm>
            <a:off x="1325880" y="1810512"/>
            <a:ext cx="1828800" cy="320040"/>
          </a:xfrm>
          <a:prstGeom prst="rect">
            <a:avLst/>
          </a:prstGeom>
          <a:noFill/>
          <a:ln/>
        </p:spPr>
        <p:txBody>
          <a:bodyPr wrap="square" lIns="0" tIns="0" rIns="0" bIns="0" rtlCol="0" anchor="ctr"/>
          <a:lstStyle/>
          <a:p>
            <a:pPr indent="0" marL="0">
              <a:buNone/>
            </a:pPr>
            <a:r>
              <a:rPr lang="en-US" sz="1550" b="1" dirty="0">
                <a:solidFill>
                  <a:srgbClr val="232A31"/>
                </a:solidFill>
                <a:latin typeface="Cambria" pitchFamily="34" charset="0"/>
                <a:ea typeface="Cambria" pitchFamily="34" charset="-122"/>
                <a:cs typeface="Cambria" pitchFamily="34" charset="-120"/>
              </a:rPr>
              <a:t>Rules</a:t>
            </a:r>
            <a:endParaRPr lang="en-US" sz="1550" dirty="0"/>
          </a:p>
        </p:txBody>
      </p:sp>
      <p:sp>
        <p:nvSpPr>
          <p:cNvPr id="10" name="Text 7"/>
          <p:cNvSpPr/>
          <p:nvPr/>
        </p:nvSpPr>
        <p:spPr>
          <a:xfrm>
            <a:off x="1325880" y="2121408"/>
            <a:ext cx="1828800" cy="256032"/>
          </a:xfrm>
          <a:prstGeom prst="rect">
            <a:avLst/>
          </a:prstGeom>
          <a:noFill/>
          <a:ln/>
        </p:spPr>
        <p:txBody>
          <a:bodyPr wrap="square" lIns="0" tIns="0" rIns="0" bIns="0" rtlCol="0" anchor="ctr"/>
          <a:lstStyle/>
          <a:p>
            <a:pPr indent="0" marL="0">
              <a:buNone/>
            </a:pPr>
            <a:r>
              <a:rPr lang="en-US" sz="950" b="1" dirty="0">
                <a:solidFill>
                  <a:srgbClr val="7A8790"/>
                </a:solidFill>
                <a:latin typeface="Calibri" pitchFamily="34" charset="0"/>
                <a:ea typeface="Calibri" pitchFamily="34" charset="-122"/>
                <a:cs typeface="Calibri" pitchFamily="34" charset="-120"/>
              </a:rPr>
              <a:t>1950s–1990s</a:t>
            </a:r>
            <a:endParaRPr lang="en-US" sz="950" dirty="0"/>
          </a:p>
        </p:txBody>
      </p:sp>
      <p:sp>
        <p:nvSpPr>
          <p:cNvPr id="11" name="Text 8"/>
          <p:cNvSpPr/>
          <p:nvPr/>
        </p:nvSpPr>
        <p:spPr>
          <a:xfrm>
            <a:off x="722376" y="2514600"/>
            <a:ext cx="2286000" cy="2194560"/>
          </a:xfrm>
          <a:prstGeom prst="rect">
            <a:avLst/>
          </a:prstGeom>
          <a:noFill/>
          <a:ln/>
        </p:spPr>
        <p:txBody>
          <a:bodyPr wrap="square" lIns="0" tIns="0" rIns="0" bIns="0" rtlCol="0" anchor="ctr"/>
          <a:lstStyle/>
          <a:p>
            <a:pPr indent="0" marL="0">
              <a:lnSpc>
                <a:spcPct val="110000"/>
              </a:lnSpc>
              <a:buNone/>
            </a:pPr>
            <a:r>
              <a:rPr lang="en-US" sz="1060" dirty="0">
                <a:solidFill>
                  <a:srgbClr val="46545F"/>
                </a:solidFill>
                <a:latin typeface="Calibri" pitchFamily="34" charset="0"/>
                <a:ea typeface="Calibri" pitchFamily="34" charset="-122"/>
                <a:cs typeface="Calibri" pitchFamily="34" charset="-120"/>
              </a:rPr>
              <a:t>Humans hand-code the logic: “if X then Y.” Expert systems shine, then crack — rules can’t cover messy reality. Twice, hype outruns results: the “AI winters.”</a:t>
            </a:r>
            <a:endParaRPr lang="en-US" sz="1060" dirty="0"/>
          </a:p>
        </p:txBody>
      </p:sp>
      <p:sp>
        <p:nvSpPr>
          <p:cNvPr id="12" name="Shape 9"/>
          <p:cNvSpPr/>
          <p:nvPr/>
        </p:nvSpPr>
        <p:spPr>
          <a:xfrm>
            <a:off x="3218688" y="3154680"/>
            <a:ext cx="182880" cy="0"/>
          </a:xfrm>
          <a:prstGeom prst="line">
            <a:avLst/>
          </a:prstGeom>
          <a:noFill/>
          <a:ln w="28575">
            <a:solidFill>
              <a:srgbClr val="0E7C7B"/>
            </a:solidFill>
            <a:prstDash val="solid"/>
            <a:tailEnd type="triangle"/>
          </a:ln>
        </p:spPr>
      </p:sp>
      <p:sp>
        <p:nvSpPr>
          <p:cNvPr id="13" name="Shape 10"/>
          <p:cNvSpPr/>
          <p:nvPr/>
        </p:nvSpPr>
        <p:spPr>
          <a:xfrm>
            <a:off x="3419856" y="1554480"/>
            <a:ext cx="2697480" cy="3291840"/>
          </a:xfrm>
          <a:prstGeom prst="roundRect">
            <a:avLst>
              <a:gd name="adj" fmla="val 2712"/>
            </a:avLst>
          </a:prstGeom>
          <a:solidFill>
            <a:srgbClr val="F2F5F6"/>
          </a:solidFill>
          <a:ln/>
        </p:spPr>
      </p:sp>
      <p:sp>
        <p:nvSpPr>
          <p:cNvPr id="14" name="Shape 11"/>
          <p:cNvSpPr/>
          <p:nvPr/>
        </p:nvSpPr>
        <p:spPr>
          <a:xfrm>
            <a:off x="3639312" y="1783080"/>
            <a:ext cx="475488" cy="475488"/>
          </a:xfrm>
          <a:prstGeom prst="ellipse">
            <a:avLst/>
          </a:prstGeom>
          <a:solidFill>
            <a:srgbClr val="0E7C7B"/>
          </a:solidFill>
          <a:ln/>
        </p:spPr>
      </p:sp>
      <p:pic>
        <p:nvPicPr>
          <p:cNvPr id="15" name="Image 1" descr="/home/user/Claude-Works/ai-training-prompt-engineering/src/assets/icons/chart_w.png">    </p:cNvPr>
          <p:cNvPicPr>
            <a:picLocks noChangeAspect="1"/>
          </p:cNvPicPr>
          <p:nvPr/>
        </p:nvPicPr>
        <p:blipFill>
          <a:blip r:embed="rId2"/>
          <a:stretch>
            <a:fillRect/>
          </a:stretch>
        </p:blipFill>
        <p:spPr>
          <a:xfrm>
            <a:off x="3762939" y="1906707"/>
            <a:ext cx="228234" cy="228234"/>
          </a:xfrm>
          <a:prstGeom prst="rect">
            <a:avLst/>
          </a:prstGeom>
        </p:spPr>
      </p:pic>
      <p:sp>
        <p:nvSpPr>
          <p:cNvPr id="16" name="Text 12"/>
          <p:cNvSpPr/>
          <p:nvPr/>
        </p:nvSpPr>
        <p:spPr>
          <a:xfrm>
            <a:off x="4242816" y="1810512"/>
            <a:ext cx="1828800" cy="320040"/>
          </a:xfrm>
          <a:prstGeom prst="rect">
            <a:avLst/>
          </a:prstGeom>
          <a:noFill/>
          <a:ln/>
        </p:spPr>
        <p:txBody>
          <a:bodyPr wrap="square" lIns="0" tIns="0" rIns="0" bIns="0" rtlCol="0" anchor="ctr"/>
          <a:lstStyle/>
          <a:p>
            <a:pPr indent="0" marL="0">
              <a:buNone/>
            </a:pPr>
            <a:r>
              <a:rPr lang="en-US" sz="1550" b="1" dirty="0">
                <a:solidFill>
                  <a:srgbClr val="232A31"/>
                </a:solidFill>
                <a:latin typeface="Cambria" pitchFamily="34" charset="0"/>
                <a:ea typeface="Cambria" pitchFamily="34" charset="-122"/>
                <a:cs typeface="Cambria" pitchFamily="34" charset="-120"/>
              </a:rPr>
              <a:t>Learning</a:t>
            </a:r>
            <a:endParaRPr lang="en-US" sz="1550" dirty="0"/>
          </a:p>
        </p:txBody>
      </p:sp>
      <p:sp>
        <p:nvSpPr>
          <p:cNvPr id="17" name="Text 13"/>
          <p:cNvSpPr/>
          <p:nvPr/>
        </p:nvSpPr>
        <p:spPr>
          <a:xfrm>
            <a:off x="4242816" y="2121408"/>
            <a:ext cx="1828800" cy="256032"/>
          </a:xfrm>
          <a:prstGeom prst="rect">
            <a:avLst/>
          </a:prstGeom>
          <a:noFill/>
          <a:ln/>
        </p:spPr>
        <p:txBody>
          <a:bodyPr wrap="square" lIns="0" tIns="0" rIns="0" bIns="0" rtlCol="0" anchor="ctr"/>
          <a:lstStyle/>
          <a:p>
            <a:pPr indent="0" marL="0">
              <a:buNone/>
            </a:pPr>
            <a:r>
              <a:rPr lang="en-US" sz="950" b="1" dirty="0">
                <a:solidFill>
                  <a:srgbClr val="7A8790"/>
                </a:solidFill>
                <a:latin typeface="Calibri" pitchFamily="34" charset="0"/>
                <a:ea typeface="Calibri" pitchFamily="34" charset="-122"/>
                <a:cs typeface="Calibri" pitchFamily="34" charset="-120"/>
              </a:rPr>
              <a:t>1990s–2010s</a:t>
            </a:r>
            <a:endParaRPr lang="en-US" sz="950" dirty="0"/>
          </a:p>
        </p:txBody>
      </p:sp>
      <p:sp>
        <p:nvSpPr>
          <p:cNvPr id="18" name="Text 14"/>
          <p:cNvSpPr/>
          <p:nvPr/>
        </p:nvSpPr>
        <p:spPr>
          <a:xfrm>
            <a:off x="3639312" y="2514600"/>
            <a:ext cx="2286000" cy="2194560"/>
          </a:xfrm>
          <a:prstGeom prst="rect">
            <a:avLst/>
          </a:prstGeom>
          <a:noFill/>
          <a:ln/>
        </p:spPr>
        <p:txBody>
          <a:bodyPr wrap="square" lIns="0" tIns="0" rIns="0" bIns="0" rtlCol="0" anchor="ctr"/>
          <a:lstStyle/>
          <a:p>
            <a:pPr indent="0" marL="0">
              <a:lnSpc>
                <a:spcPct val="110000"/>
              </a:lnSpc>
              <a:buNone/>
            </a:pPr>
            <a:r>
              <a:rPr lang="en-US" sz="1060" dirty="0">
                <a:solidFill>
                  <a:srgbClr val="46545F"/>
                </a:solidFill>
                <a:latin typeface="Calibri" pitchFamily="34" charset="0"/>
                <a:ea typeface="Calibri" pitchFamily="34" charset="-122"/>
                <a:cs typeface="Calibri" pitchFamily="34" charset="-120"/>
              </a:rPr>
              <a:t>The flip: stop writing rules, let the system find patterns in examples. Spam filters, search, recommendations. 2012: deep neural nets + GPUs crush image recognition (AlexNet).</a:t>
            </a:r>
            <a:endParaRPr lang="en-US" sz="1060" dirty="0"/>
          </a:p>
        </p:txBody>
      </p:sp>
      <p:sp>
        <p:nvSpPr>
          <p:cNvPr id="19" name="Shape 15"/>
          <p:cNvSpPr/>
          <p:nvPr/>
        </p:nvSpPr>
        <p:spPr>
          <a:xfrm>
            <a:off x="6135624" y="3154680"/>
            <a:ext cx="182880" cy="0"/>
          </a:xfrm>
          <a:prstGeom prst="line">
            <a:avLst/>
          </a:prstGeom>
          <a:noFill/>
          <a:ln w="28575">
            <a:solidFill>
              <a:srgbClr val="0E7C7B"/>
            </a:solidFill>
            <a:prstDash val="solid"/>
            <a:tailEnd type="triangle"/>
          </a:ln>
        </p:spPr>
      </p:sp>
      <p:sp>
        <p:nvSpPr>
          <p:cNvPr id="20" name="Shape 16"/>
          <p:cNvSpPr/>
          <p:nvPr/>
        </p:nvSpPr>
        <p:spPr>
          <a:xfrm>
            <a:off x="6336792" y="1554480"/>
            <a:ext cx="2697480" cy="3291840"/>
          </a:xfrm>
          <a:prstGeom prst="roundRect">
            <a:avLst>
              <a:gd name="adj" fmla="val 2712"/>
            </a:avLst>
          </a:prstGeom>
          <a:solidFill>
            <a:srgbClr val="E4F0EF"/>
          </a:solidFill>
          <a:ln/>
        </p:spPr>
      </p:sp>
      <p:sp>
        <p:nvSpPr>
          <p:cNvPr id="21" name="Shape 17"/>
          <p:cNvSpPr/>
          <p:nvPr/>
        </p:nvSpPr>
        <p:spPr>
          <a:xfrm>
            <a:off x="6556248" y="1783080"/>
            <a:ext cx="475488" cy="475488"/>
          </a:xfrm>
          <a:prstGeom prst="ellipse">
            <a:avLst/>
          </a:prstGeom>
          <a:solidFill>
            <a:srgbClr val="0E7C7B"/>
          </a:solidFill>
          <a:ln/>
        </p:spPr>
      </p:sp>
      <p:pic>
        <p:nvPicPr>
          <p:cNvPr id="22" name="Image 2" descr="/home/user/Claude-Works/ai-training-prompt-engineering/src/assets/icons/brain_w.png">    </p:cNvPr>
          <p:cNvPicPr>
            <a:picLocks noChangeAspect="1"/>
          </p:cNvPicPr>
          <p:nvPr/>
        </p:nvPicPr>
        <p:blipFill>
          <a:blip r:embed="rId3"/>
          <a:stretch>
            <a:fillRect/>
          </a:stretch>
        </p:blipFill>
        <p:spPr>
          <a:xfrm>
            <a:off x="6679875" y="1906707"/>
            <a:ext cx="228234" cy="228234"/>
          </a:xfrm>
          <a:prstGeom prst="rect">
            <a:avLst/>
          </a:prstGeom>
        </p:spPr>
      </p:pic>
      <p:sp>
        <p:nvSpPr>
          <p:cNvPr id="23" name="Text 18"/>
          <p:cNvSpPr/>
          <p:nvPr/>
        </p:nvSpPr>
        <p:spPr>
          <a:xfrm>
            <a:off x="7159752" y="1810512"/>
            <a:ext cx="1828800" cy="320040"/>
          </a:xfrm>
          <a:prstGeom prst="rect">
            <a:avLst/>
          </a:prstGeom>
          <a:noFill/>
          <a:ln/>
        </p:spPr>
        <p:txBody>
          <a:bodyPr wrap="square" lIns="0" tIns="0" rIns="0" bIns="0" rtlCol="0" anchor="ctr"/>
          <a:lstStyle/>
          <a:p>
            <a:pPr indent="0" marL="0">
              <a:buNone/>
            </a:pPr>
            <a:r>
              <a:rPr lang="en-US" sz="1550" b="1" dirty="0">
                <a:solidFill>
                  <a:srgbClr val="232A31"/>
                </a:solidFill>
                <a:latin typeface="Cambria" pitchFamily="34" charset="0"/>
                <a:ea typeface="Cambria" pitchFamily="34" charset="-122"/>
                <a:cs typeface="Cambria" pitchFamily="34" charset="-120"/>
              </a:rPr>
              <a:t>Generative</a:t>
            </a:r>
            <a:endParaRPr lang="en-US" sz="1550" dirty="0"/>
          </a:p>
        </p:txBody>
      </p:sp>
      <p:sp>
        <p:nvSpPr>
          <p:cNvPr id="24" name="Text 19"/>
          <p:cNvSpPr/>
          <p:nvPr/>
        </p:nvSpPr>
        <p:spPr>
          <a:xfrm>
            <a:off x="7159752" y="2121408"/>
            <a:ext cx="1828800" cy="256032"/>
          </a:xfrm>
          <a:prstGeom prst="rect">
            <a:avLst/>
          </a:prstGeom>
          <a:noFill/>
          <a:ln/>
        </p:spPr>
        <p:txBody>
          <a:bodyPr wrap="square" lIns="0" tIns="0" rIns="0" bIns="0" rtlCol="0" anchor="ctr"/>
          <a:lstStyle/>
          <a:p>
            <a:pPr indent="0" marL="0">
              <a:buNone/>
            </a:pPr>
            <a:r>
              <a:rPr lang="en-US" sz="950" b="1" dirty="0">
                <a:solidFill>
                  <a:srgbClr val="7A8790"/>
                </a:solidFill>
                <a:latin typeface="Calibri" pitchFamily="34" charset="0"/>
                <a:ea typeface="Calibri" pitchFamily="34" charset="-122"/>
                <a:cs typeface="Calibri" pitchFamily="34" charset="-120"/>
              </a:rPr>
              <a:t>2017–</a:t>
            </a:r>
            <a:endParaRPr lang="en-US" sz="950" dirty="0"/>
          </a:p>
        </p:txBody>
      </p:sp>
      <p:sp>
        <p:nvSpPr>
          <p:cNvPr id="25" name="Text 20"/>
          <p:cNvSpPr/>
          <p:nvPr/>
        </p:nvSpPr>
        <p:spPr>
          <a:xfrm>
            <a:off x="6556248" y="2514600"/>
            <a:ext cx="2286000" cy="2194560"/>
          </a:xfrm>
          <a:prstGeom prst="rect">
            <a:avLst/>
          </a:prstGeom>
          <a:noFill/>
          <a:ln/>
        </p:spPr>
        <p:txBody>
          <a:bodyPr wrap="square" lIns="0" tIns="0" rIns="0" bIns="0" rtlCol="0" anchor="ctr"/>
          <a:lstStyle/>
          <a:p>
            <a:pPr indent="0" marL="0">
              <a:lnSpc>
                <a:spcPct val="110000"/>
              </a:lnSpc>
              <a:buNone/>
            </a:pPr>
            <a:r>
              <a:rPr lang="en-US" sz="1060" dirty="0">
                <a:solidFill>
                  <a:srgbClr val="46545F"/>
                </a:solidFill>
                <a:latin typeface="Calibri" pitchFamily="34" charset="0"/>
                <a:ea typeface="Calibri" pitchFamily="34" charset="-122"/>
                <a:cs typeface="Calibri" pitchFamily="34" charset="-120"/>
              </a:rPr>
              <a:t>The Transformer (2017) lets models train on the whole internet in parallel. Predict-the-next-word at that scale writes, summarizes, codes. ChatGPT makes it a product (2022).</a:t>
            </a:r>
            <a:endParaRPr lang="en-US" sz="1060" dirty="0"/>
          </a:p>
        </p:txBody>
      </p:sp>
      <p:sp>
        <p:nvSpPr>
          <p:cNvPr id="26" name="Shape 21"/>
          <p:cNvSpPr/>
          <p:nvPr/>
        </p:nvSpPr>
        <p:spPr>
          <a:xfrm>
            <a:off x="9052560" y="3154680"/>
            <a:ext cx="182880" cy="0"/>
          </a:xfrm>
          <a:prstGeom prst="line">
            <a:avLst/>
          </a:prstGeom>
          <a:noFill/>
          <a:ln w="28575">
            <a:solidFill>
              <a:srgbClr val="0E7C7B"/>
            </a:solidFill>
            <a:prstDash val="solid"/>
            <a:tailEnd type="triangle"/>
          </a:ln>
        </p:spPr>
      </p:sp>
      <p:sp>
        <p:nvSpPr>
          <p:cNvPr id="27" name="Shape 22"/>
          <p:cNvSpPr/>
          <p:nvPr/>
        </p:nvSpPr>
        <p:spPr>
          <a:xfrm>
            <a:off x="9253728" y="1554480"/>
            <a:ext cx="2697480" cy="3291840"/>
          </a:xfrm>
          <a:prstGeom prst="roundRect">
            <a:avLst>
              <a:gd name="adj" fmla="val 2712"/>
            </a:avLst>
          </a:prstGeom>
          <a:solidFill>
            <a:srgbClr val="E4F0EF"/>
          </a:solidFill>
          <a:ln/>
        </p:spPr>
      </p:sp>
      <p:sp>
        <p:nvSpPr>
          <p:cNvPr id="28" name="Shape 23"/>
          <p:cNvSpPr/>
          <p:nvPr/>
        </p:nvSpPr>
        <p:spPr>
          <a:xfrm>
            <a:off x="9473184" y="1783080"/>
            <a:ext cx="475488" cy="475488"/>
          </a:xfrm>
          <a:prstGeom prst="ellipse">
            <a:avLst/>
          </a:prstGeom>
          <a:solidFill>
            <a:srgbClr val="0E7C7B"/>
          </a:solidFill>
          <a:ln/>
        </p:spPr>
      </p:sp>
      <p:pic>
        <p:nvPicPr>
          <p:cNvPr id="29" name="Image 3" descr="/home/user/Claude-Works/ai-training-prompt-engineering/src/assets/icons/robot_w.png">    </p:cNvPr>
          <p:cNvPicPr>
            <a:picLocks noChangeAspect="1"/>
          </p:cNvPicPr>
          <p:nvPr/>
        </p:nvPicPr>
        <p:blipFill>
          <a:blip r:embed="rId4"/>
          <a:stretch>
            <a:fillRect/>
          </a:stretch>
        </p:blipFill>
        <p:spPr>
          <a:xfrm>
            <a:off x="9596811" y="1906707"/>
            <a:ext cx="228234" cy="228234"/>
          </a:xfrm>
          <a:prstGeom prst="rect">
            <a:avLst/>
          </a:prstGeom>
        </p:spPr>
      </p:pic>
      <p:sp>
        <p:nvSpPr>
          <p:cNvPr id="30" name="Text 24"/>
          <p:cNvSpPr/>
          <p:nvPr/>
        </p:nvSpPr>
        <p:spPr>
          <a:xfrm>
            <a:off x="10076688" y="1810512"/>
            <a:ext cx="1828800" cy="320040"/>
          </a:xfrm>
          <a:prstGeom prst="rect">
            <a:avLst/>
          </a:prstGeom>
          <a:noFill/>
          <a:ln/>
        </p:spPr>
        <p:txBody>
          <a:bodyPr wrap="square" lIns="0" tIns="0" rIns="0" bIns="0" rtlCol="0" anchor="ctr"/>
          <a:lstStyle/>
          <a:p>
            <a:pPr indent="0" marL="0">
              <a:buNone/>
            </a:pPr>
            <a:r>
              <a:rPr lang="en-US" sz="1550" b="1" dirty="0">
                <a:solidFill>
                  <a:srgbClr val="232A31"/>
                </a:solidFill>
                <a:latin typeface="Cambria" pitchFamily="34" charset="0"/>
                <a:ea typeface="Cambria" pitchFamily="34" charset="-122"/>
                <a:cs typeface="Cambria" pitchFamily="34" charset="-120"/>
              </a:rPr>
              <a:t>Agentic</a:t>
            </a:r>
            <a:endParaRPr lang="en-US" sz="1550" dirty="0"/>
          </a:p>
        </p:txBody>
      </p:sp>
      <p:sp>
        <p:nvSpPr>
          <p:cNvPr id="31" name="Text 25"/>
          <p:cNvSpPr/>
          <p:nvPr/>
        </p:nvSpPr>
        <p:spPr>
          <a:xfrm>
            <a:off x="10076688" y="2121408"/>
            <a:ext cx="1828800" cy="256032"/>
          </a:xfrm>
          <a:prstGeom prst="rect">
            <a:avLst/>
          </a:prstGeom>
          <a:noFill/>
          <a:ln/>
        </p:spPr>
        <p:txBody>
          <a:bodyPr wrap="square" lIns="0" tIns="0" rIns="0" bIns="0" rtlCol="0" anchor="ctr"/>
          <a:lstStyle/>
          <a:p>
            <a:pPr indent="0" marL="0">
              <a:buNone/>
            </a:pPr>
            <a:r>
              <a:rPr lang="en-US" sz="950" b="1" dirty="0">
                <a:solidFill>
                  <a:srgbClr val="7A8790"/>
                </a:solidFill>
                <a:latin typeface="Calibri" pitchFamily="34" charset="0"/>
                <a:ea typeface="Calibri" pitchFamily="34" charset="-122"/>
                <a:cs typeface="Calibri" pitchFamily="34" charset="-120"/>
              </a:rPr>
              <a:t>2024–</a:t>
            </a:r>
            <a:endParaRPr lang="en-US" sz="950" dirty="0"/>
          </a:p>
        </p:txBody>
      </p:sp>
      <p:sp>
        <p:nvSpPr>
          <p:cNvPr id="32" name="Text 26"/>
          <p:cNvSpPr/>
          <p:nvPr/>
        </p:nvSpPr>
        <p:spPr>
          <a:xfrm>
            <a:off x="9473184" y="2514600"/>
            <a:ext cx="2286000" cy="2194560"/>
          </a:xfrm>
          <a:prstGeom prst="rect">
            <a:avLst/>
          </a:prstGeom>
          <a:noFill/>
          <a:ln/>
        </p:spPr>
        <p:txBody>
          <a:bodyPr wrap="square" lIns="0" tIns="0" rIns="0" bIns="0" rtlCol="0" anchor="ctr"/>
          <a:lstStyle/>
          <a:p>
            <a:pPr indent="0" marL="0">
              <a:lnSpc>
                <a:spcPct val="110000"/>
              </a:lnSpc>
              <a:buNone/>
            </a:pPr>
            <a:r>
              <a:rPr lang="en-US" sz="106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it with limited supervision. Where the frontier is now.</a:t>
            </a:r>
            <a:endParaRPr lang="en-US" sz="1060" dirty="0"/>
          </a:p>
        </p:txBody>
      </p:sp>
      <p:sp>
        <p:nvSpPr>
          <p:cNvPr id="33" name="Shape 27"/>
          <p:cNvSpPr/>
          <p:nvPr/>
        </p:nvSpPr>
        <p:spPr>
          <a:xfrm>
            <a:off x="502920" y="5120640"/>
            <a:ext cx="11155680" cy="960120"/>
          </a:xfrm>
          <a:prstGeom prst="roundRect">
            <a:avLst>
              <a:gd name="adj" fmla="val 7619"/>
            </a:avLst>
          </a:prstGeom>
          <a:solidFill>
            <a:srgbClr val="FBF0E0"/>
          </a:solidFill>
          <a:ln/>
        </p:spPr>
      </p:sp>
      <p:sp>
        <p:nvSpPr>
          <p:cNvPr id="34" name="Shape 28"/>
          <p:cNvSpPr/>
          <p:nvPr/>
        </p:nvSpPr>
        <p:spPr>
          <a:xfrm>
            <a:off x="667512" y="5408676"/>
            <a:ext cx="384048" cy="384048"/>
          </a:xfrm>
          <a:prstGeom prst="ellipse">
            <a:avLst/>
          </a:prstGeom>
          <a:solidFill>
            <a:srgbClr val="B96A1B"/>
          </a:solidFill>
          <a:ln/>
        </p:spPr>
      </p:sp>
      <p:pic>
        <p:nvPicPr>
          <p:cNvPr id="35"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36" name="Text 29"/>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2017 → 2026: from one paper to a billion users</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an architecture that scales with hardware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GPT-3: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show it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RLHF + ChatGPT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instruction tuning turns a predictor into an assistant;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pay compute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agentic turn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open-weights reasoning · computer &amp; browser use · Claude Code · ChatGPT agent</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Agents for everyone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Cowork brings the coding-agent engine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Adoption, in numbers</a:t>
            </a:r>
            <a:endParaRPr lang="en-US" sz="1500" dirty="0"/>
          </a:p>
        </p:txBody>
      </p:sp>
      <p:sp>
        <p:nvSpPr>
          <p:cNvPr id="21" name="Text 19"/>
          <p:cNvSpPr/>
          <p:nvPr/>
        </p:nvSpPr>
        <p:spPr>
          <a:xfrm>
            <a:off x="7882128" y="2148840"/>
            <a:ext cx="3566160" cy="365760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150" dirty="0">
                <a:solidFill>
                  <a:srgbClr val="46545F"/>
                </a:solidFill>
                <a:latin typeface="Calibri" pitchFamily="34" charset="0"/>
                <a:ea typeface="Calibri" pitchFamily="34" charset="-122"/>
                <a:cs typeface="Calibri" pitchFamily="34" charset="-120"/>
              </a:rPr>
              <a:t>ChatGPT: 100M users in 2 months (2023) — fastest consumer ramp ever recorded; 900M+ weekly users by Feb 2026</a:t>
            </a:r>
            <a:endParaRPr lang="en-US" sz="1150" dirty="0"/>
          </a:p>
          <a:p>
            <a:pPr algn="l" marL="127000" indent="-127000">
              <a:lnSpc>
                <a:spcPct val="104000"/>
              </a:lnSpc>
              <a:spcAft>
                <a:spcPts val="900"/>
              </a:spcAft>
              <a:buSzPct val="100000"/>
              <a:buChar char="•"/>
            </a:pPr>
            <a:r>
              <a:rPr lang="en-US" sz="1150" dirty="0">
                <a:solidFill>
                  <a:srgbClr val="46545F"/>
                </a:solidFill>
                <a:latin typeface="Calibri" pitchFamily="34" charset="0"/>
                <a:ea typeface="Calibri" pitchFamily="34" charset="-122"/>
                <a:cs typeface="Calibri" pitchFamily="34" charset="-120"/>
              </a:rPr>
              <a:t>Google Gemini app: 1B monthly users (Aug 2026)</a:t>
            </a:r>
            <a:endParaRPr lang="en-US" sz="1150" dirty="0"/>
          </a:p>
          <a:p>
            <a:pPr algn="l" marL="127000" indent="-127000">
              <a:lnSpc>
                <a:spcPct val="104000"/>
              </a:lnSpc>
              <a:spcAft>
                <a:spcPts val="900"/>
              </a:spcAft>
              <a:buSzPct val="100000"/>
              <a:buChar char="•"/>
            </a:pPr>
            <a:r>
              <a:rPr lang="en-US" sz="1150" dirty="0">
                <a:solidFill>
                  <a:srgbClr val="46545F"/>
                </a:solidFill>
                <a:latin typeface="Calibri" pitchFamily="34" charset="0"/>
                <a:ea typeface="Calibri" pitchFamily="34" charset="-122"/>
                <a:cs typeface="Calibri" pitchFamily="34" charset="-120"/>
              </a:rPr>
              <a:t>88% of organizations now use AI somewhere; generative AI ~70% (Stanford AI Index 2026)</a:t>
            </a:r>
            <a:endParaRPr lang="en-US" sz="1150" dirty="0"/>
          </a:p>
          <a:p>
            <a:pPr algn="l" marL="127000" indent="-127000">
              <a:lnSpc>
                <a:spcPct val="104000"/>
              </a:lnSpc>
              <a:spcAft>
                <a:spcPts val="900"/>
              </a:spcAft>
              <a:buSzPct val="100000"/>
              <a:buChar char="•"/>
            </a:pPr>
            <a:r>
              <a:rPr lang="en-US" sz="1150" b="1" dirty="0">
                <a:solidFill>
                  <a:srgbClr val="46545F"/>
                </a:solidFill>
                <a:latin typeface="Calibri" pitchFamily="34" charset="0"/>
                <a:ea typeface="Calibri" pitchFamily="34" charset="-122"/>
                <a:cs typeface="Calibri" pitchFamily="34" charset="-120"/>
              </a:rPr>
              <a:t>But agent deployment is still single-digit % across most business functions — the gap is the opportunity</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sp>
        <p:nvSpPr>
          <p:cNvPr id="6" name="Shape 4"/>
          <p:cNvSpPr/>
          <p:nvPr/>
        </p:nvSpPr>
        <p:spPr>
          <a:xfrm>
            <a:off x="502920" y="1554480"/>
            <a:ext cx="3611880" cy="2743200"/>
          </a:xfrm>
          <a:prstGeom prst="roundRect">
            <a:avLst>
              <a:gd name="adj" fmla="val 2667"/>
            </a:avLst>
          </a:prstGeom>
          <a:solidFill>
            <a:srgbClr val="F2F5F6"/>
          </a:solidFill>
          <a:ln/>
        </p:spPr>
      </p:sp>
      <p:sp>
        <p:nvSpPr>
          <p:cNvPr id="7" name="Shape 5"/>
          <p:cNvSpPr/>
          <p:nvPr/>
        </p:nvSpPr>
        <p:spPr>
          <a:xfrm>
            <a:off x="758952" y="1783080"/>
            <a:ext cx="502920" cy="502920"/>
          </a:xfrm>
          <a:prstGeom prst="ellipse">
            <a:avLst/>
          </a:prstGeom>
          <a:solidFill>
            <a:srgbClr val="0E7C7B"/>
          </a:solidFill>
          <a:ln/>
        </p:spPr>
      </p:sp>
      <p:pic>
        <p:nvPicPr>
          <p:cNvPr id="8" name="Image 0" descr="/home/user/Claude-Works/ai-training-prompt-engineering/src/assets/icons/database_w.png">    </p:cNvPr>
          <p:cNvPicPr>
            <a:picLocks noChangeAspect="1"/>
          </p:cNvPicPr>
          <p:nvPr/>
        </p:nvPicPr>
        <p:blipFill>
          <a:blip r:embed="rId1"/>
          <a:stretch>
            <a:fillRect/>
          </a:stretch>
        </p:blipFill>
        <p:spPr>
          <a:xfrm>
            <a:off x="889711" y="1913839"/>
            <a:ext cx="241402" cy="241402"/>
          </a:xfrm>
          <a:prstGeom prst="rect">
            <a:avLst/>
          </a:prstGeom>
        </p:spPr>
      </p:pic>
      <p:sp>
        <p:nvSpPr>
          <p:cNvPr id="9" name="Text 6"/>
          <p:cNvSpPr/>
          <p:nvPr/>
        </p:nvSpPr>
        <p:spPr>
          <a:xfrm>
            <a:off x="758952" y="2395728"/>
            <a:ext cx="310896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1 · Pretraining</a:t>
            </a:r>
            <a:endParaRPr lang="en-US" sz="1450" dirty="0"/>
          </a:p>
        </p:txBody>
      </p:sp>
      <p:sp>
        <p:nvSpPr>
          <p:cNvPr id="10" name="Text 7"/>
          <p:cNvSpPr/>
          <p:nvPr/>
        </p:nvSpPr>
        <p:spPr>
          <a:xfrm>
            <a:off x="758952" y="2788920"/>
            <a:ext cx="3127248" cy="1417320"/>
          </a:xfrm>
          <a:prstGeom prst="rect">
            <a:avLst/>
          </a:prstGeom>
          <a:noFill/>
          <a:ln/>
        </p:spPr>
        <p:txBody>
          <a:bodyPr wrap="square" lIns="0" tIns="0" rIns="0" bIns="0" rtlCol="0" anchor="ctr"/>
          <a:lstStyle/>
          <a:p>
            <a:pPr indent="0" marL="0">
              <a:lnSpc>
                <a:spcPct val="108000"/>
              </a:lnSpc>
              <a:buNone/>
            </a:pPr>
            <a:r>
              <a:rPr lang="en-US" sz="108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80" dirty="0"/>
          </a:p>
        </p:txBody>
      </p:sp>
      <p:sp>
        <p:nvSpPr>
          <p:cNvPr id="11" name="Shape 8"/>
          <p:cNvSpPr/>
          <p:nvPr/>
        </p:nvSpPr>
        <p:spPr>
          <a:xfrm>
            <a:off x="4133088" y="2880360"/>
            <a:ext cx="182880" cy="0"/>
          </a:xfrm>
          <a:prstGeom prst="line">
            <a:avLst/>
          </a:prstGeom>
          <a:noFill/>
          <a:ln w="28575">
            <a:solidFill>
              <a:srgbClr val="0E7C7B"/>
            </a:solidFill>
            <a:prstDash val="solid"/>
            <a:tailEnd type="triangle"/>
          </a:ln>
        </p:spPr>
      </p:sp>
      <p:sp>
        <p:nvSpPr>
          <p:cNvPr id="12" name="Shape 9"/>
          <p:cNvSpPr/>
          <p:nvPr/>
        </p:nvSpPr>
        <p:spPr>
          <a:xfrm>
            <a:off x="4325112" y="1554480"/>
            <a:ext cx="3611880" cy="2743200"/>
          </a:xfrm>
          <a:prstGeom prst="roundRect">
            <a:avLst>
              <a:gd name="adj" fmla="val 2667"/>
            </a:avLst>
          </a:prstGeom>
          <a:solidFill>
            <a:srgbClr val="F2F5F6"/>
          </a:solidFill>
          <a:ln/>
        </p:spPr>
      </p:sp>
      <p:sp>
        <p:nvSpPr>
          <p:cNvPr id="13" name="Shape 10"/>
          <p:cNvSpPr/>
          <p:nvPr/>
        </p:nvSpPr>
        <p:spPr>
          <a:xfrm>
            <a:off x="4581144" y="1783080"/>
            <a:ext cx="502920" cy="502920"/>
          </a:xfrm>
          <a:prstGeom prst="ellipse">
            <a:avLst/>
          </a:prstGeom>
          <a:solidFill>
            <a:srgbClr val="0E7C7B"/>
          </a:solidFill>
          <a:ln/>
        </p:spPr>
      </p:sp>
      <p:pic>
        <p:nvPicPr>
          <p:cNvPr id="14" name="Image 1" descr="/home/user/Claude-Works/ai-training-prompt-engineering/src/assets/icons/list_w.png">    </p:cNvPr>
          <p:cNvPicPr>
            <a:picLocks noChangeAspect="1"/>
          </p:cNvPicPr>
          <p:nvPr/>
        </p:nvPicPr>
        <p:blipFill>
          <a:blip r:embed="rId2"/>
          <a:stretch>
            <a:fillRect/>
          </a:stretch>
        </p:blipFill>
        <p:spPr>
          <a:xfrm>
            <a:off x="4711903" y="1913839"/>
            <a:ext cx="241402" cy="241402"/>
          </a:xfrm>
          <a:prstGeom prst="rect">
            <a:avLst/>
          </a:prstGeom>
        </p:spPr>
      </p:pic>
      <p:sp>
        <p:nvSpPr>
          <p:cNvPr id="15" name="Text 11"/>
          <p:cNvSpPr/>
          <p:nvPr/>
        </p:nvSpPr>
        <p:spPr>
          <a:xfrm>
            <a:off x="4581144" y="2395728"/>
            <a:ext cx="310896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2 · Instruction tuning</a:t>
            </a:r>
            <a:endParaRPr lang="en-US" sz="1450" dirty="0"/>
          </a:p>
        </p:txBody>
      </p:sp>
      <p:sp>
        <p:nvSpPr>
          <p:cNvPr id="16" name="Text 12"/>
          <p:cNvSpPr/>
          <p:nvPr/>
        </p:nvSpPr>
        <p:spPr>
          <a:xfrm>
            <a:off x="4581144" y="2788920"/>
            <a:ext cx="3127248" cy="1417320"/>
          </a:xfrm>
          <a:prstGeom prst="rect">
            <a:avLst/>
          </a:prstGeom>
          <a:noFill/>
          <a:ln/>
        </p:spPr>
        <p:txBody>
          <a:bodyPr wrap="square" lIns="0" tIns="0" rIns="0" bIns="0" rtlCol="0" anchor="ctr"/>
          <a:lstStyle/>
          <a:p>
            <a:pPr indent="0" marL="0">
              <a:lnSpc>
                <a:spcPct val="108000"/>
              </a:lnSpc>
              <a:buNone/>
            </a:pPr>
            <a:r>
              <a:rPr lang="en-US" sz="108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80" dirty="0"/>
          </a:p>
        </p:txBody>
      </p:sp>
      <p:sp>
        <p:nvSpPr>
          <p:cNvPr id="17" name="Shape 13"/>
          <p:cNvSpPr/>
          <p:nvPr/>
        </p:nvSpPr>
        <p:spPr>
          <a:xfrm>
            <a:off x="7955280" y="2880360"/>
            <a:ext cx="182880" cy="0"/>
          </a:xfrm>
          <a:prstGeom prst="line">
            <a:avLst/>
          </a:prstGeom>
          <a:noFill/>
          <a:ln w="28575">
            <a:solidFill>
              <a:srgbClr val="0E7C7B"/>
            </a:solidFill>
            <a:prstDash val="solid"/>
            <a:tailEnd type="triangle"/>
          </a:ln>
        </p:spPr>
      </p:sp>
      <p:sp>
        <p:nvSpPr>
          <p:cNvPr id="18" name="Shape 14"/>
          <p:cNvSpPr/>
          <p:nvPr/>
        </p:nvSpPr>
        <p:spPr>
          <a:xfrm>
            <a:off x="8147304" y="1554480"/>
            <a:ext cx="3611880" cy="2743200"/>
          </a:xfrm>
          <a:prstGeom prst="roundRect">
            <a:avLst>
              <a:gd name="adj" fmla="val 2667"/>
            </a:avLst>
          </a:prstGeom>
          <a:solidFill>
            <a:srgbClr val="F2F5F6"/>
          </a:solidFill>
          <a:ln/>
        </p:spPr>
      </p:sp>
      <p:sp>
        <p:nvSpPr>
          <p:cNvPr id="19" name="Shape 15"/>
          <p:cNvSpPr/>
          <p:nvPr/>
        </p:nvSpPr>
        <p:spPr>
          <a:xfrm>
            <a:off x="8403336" y="1783080"/>
            <a:ext cx="502920" cy="502920"/>
          </a:xfrm>
          <a:prstGeom prst="ellipse">
            <a:avLst/>
          </a:prstGeom>
          <a:solidFill>
            <a:srgbClr val="0E7C7B"/>
          </a:solidFill>
          <a:ln/>
        </p:spPr>
      </p:sp>
      <p:pic>
        <p:nvPicPr>
          <p:cNvPr id="20" name="Image 2" descr="/home/user/Claude-Works/ai-training-prompt-engineering/src/assets/icons/thumbsup_w.png">    </p:cNvPr>
          <p:cNvPicPr>
            <a:picLocks noChangeAspect="1"/>
          </p:cNvPicPr>
          <p:nvPr/>
        </p:nvPicPr>
        <p:blipFill>
          <a:blip r:embed="rId3"/>
          <a:stretch>
            <a:fillRect/>
          </a:stretch>
        </p:blipFill>
        <p:spPr>
          <a:xfrm>
            <a:off x="8534095" y="1913839"/>
            <a:ext cx="241402" cy="241402"/>
          </a:xfrm>
          <a:prstGeom prst="rect">
            <a:avLst/>
          </a:prstGeom>
        </p:spPr>
      </p:pic>
      <p:sp>
        <p:nvSpPr>
          <p:cNvPr id="21" name="Text 16"/>
          <p:cNvSpPr/>
          <p:nvPr/>
        </p:nvSpPr>
        <p:spPr>
          <a:xfrm>
            <a:off x="8403336" y="2395728"/>
            <a:ext cx="310896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3 · Human feedback (RLHF)</a:t>
            </a:r>
            <a:endParaRPr lang="en-US" sz="1450" dirty="0"/>
          </a:p>
        </p:txBody>
      </p:sp>
      <p:sp>
        <p:nvSpPr>
          <p:cNvPr id="22" name="Text 17"/>
          <p:cNvSpPr/>
          <p:nvPr/>
        </p:nvSpPr>
        <p:spPr>
          <a:xfrm>
            <a:off x="8403336" y="2788920"/>
            <a:ext cx="3127248" cy="1417320"/>
          </a:xfrm>
          <a:prstGeom prst="rect">
            <a:avLst/>
          </a:prstGeom>
          <a:noFill/>
          <a:ln/>
        </p:spPr>
        <p:txBody>
          <a:bodyPr wrap="square" lIns="0" tIns="0" rIns="0" bIns="0" rtlCol="0" anchor="ctr"/>
          <a:lstStyle/>
          <a:p>
            <a:pPr indent="0" marL="0">
              <a:lnSpc>
                <a:spcPct val="108000"/>
              </a:lnSpc>
              <a:buNone/>
            </a:pPr>
            <a:r>
              <a:rPr lang="en-US" sz="1080" dirty="0">
                <a:solidFill>
                  <a:srgbClr val="46545F"/>
                </a:solidFill>
                <a:latin typeface="Calibri" pitchFamily="34" charset="0"/>
                <a:ea typeface="Calibri" pitchFamily="34" charset="-122"/>
                <a:cs typeface="Calibri" pitchFamily="34" charset="-120"/>
              </a:rPr>
              <a:t>People rank outputs; the model is tuned toward helpful, honest, harmless. This step turned raw predictors into assistants — and made ChatGPT possible.</a:t>
            </a:r>
            <a:endParaRPr lang="en-US" sz="1080" dirty="0"/>
          </a:p>
        </p:txBody>
      </p:sp>
      <p:sp>
        <p:nvSpPr>
          <p:cNvPr id="23" name="Shape 18"/>
          <p:cNvSpPr/>
          <p:nvPr/>
        </p:nvSpPr>
        <p:spPr>
          <a:xfrm>
            <a:off x="502920" y="4572000"/>
            <a:ext cx="5486400" cy="1463040"/>
          </a:xfrm>
          <a:prstGeom prst="roundRect">
            <a:avLst>
              <a:gd name="adj" fmla="val 5000"/>
            </a:avLst>
          </a:prstGeom>
          <a:solidFill>
            <a:srgbClr val="E4F0EF"/>
          </a:solidFill>
          <a:ln/>
        </p:spPr>
      </p:sp>
      <p:sp>
        <p:nvSpPr>
          <p:cNvPr id="24" name="Shape 19"/>
          <p:cNvSpPr/>
          <p:nvPr/>
        </p:nvSpPr>
        <p:spPr>
          <a:xfrm>
            <a:off x="667512" y="5111496"/>
            <a:ext cx="384048" cy="384048"/>
          </a:xfrm>
          <a:prstGeom prst="ellipse">
            <a:avLst/>
          </a:prstGeom>
          <a:solidFill>
            <a:srgbClr val="0E7C7B"/>
          </a:solidFill>
          <a:ln/>
        </p:spPr>
      </p:sp>
      <p:pic>
        <p:nvPicPr>
          <p:cNvPr id="25" name="Image 3" descr="/home/user/Claude-Works/ai-training-prompt-engineering/src/assets/icons/clock_w.png">    </p:cNvPr>
          <p:cNvPicPr>
            <a:picLocks noChangeAspect="1"/>
          </p:cNvPicPr>
          <p:nvPr/>
        </p:nvPicPr>
        <p:blipFill>
          <a:blip r:embed="rId4"/>
          <a:stretch>
            <a:fillRect/>
          </a:stretch>
        </p:blipFill>
        <p:spPr>
          <a:xfrm>
            <a:off x="767364" y="5211348"/>
            <a:ext cx="184343" cy="184343"/>
          </a:xfrm>
          <a:prstGeom prst="rect">
            <a:avLst/>
          </a:prstGeom>
        </p:spPr>
      </p:pic>
      <p:sp>
        <p:nvSpPr>
          <p:cNvPr id="26" name="Text 20"/>
          <p:cNvSpPr/>
          <p:nvPr/>
        </p:nvSpPr>
        <p:spPr>
          <a:xfrm>
            <a:off x="1216152" y="4645152"/>
            <a:ext cx="4544568" cy="131673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Knowledge is frozen at the cutoff. </a:t>
            </a:r>
            <a:endParaRPr lang="en-US" sz="120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Training ends months before release; the model recalls patterns, it doesn’t look things up. Anything newer needs web search or your documents in the prompt.</a:t>
            </a:r>
            <a:endParaRPr lang="en-US" sz="1200" dirty="0"/>
          </a:p>
        </p:txBody>
      </p:sp>
      <p:sp>
        <p:nvSpPr>
          <p:cNvPr id="27" name="Shape 21"/>
          <p:cNvSpPr/>
          <p:nvPr/>
        </p:nvSpPr>
        <p:spPr>
          <a:xfrm>
            <a:off x="6172200" y="4572000"/>
            <a:ext cx="5486400" cy="1463040"/>
          </a:xfrm>
          <a:prstGeom prst="roundRect">
            <a:avLst>
              <a:gd name="adj" fmla="val 5000"/>
            </a:avLst>
          </a:prstGeom>
          <a:solidFill>
            <a:srgbClr val="FBF0E0"/>
          </a:solidFill>
          <a:ln/>
        </p:spPr>
      </p:sp>
      <p:sp>
        <p:nvSpPr>
          <p:cNvPr id="28" name="Shape 22"/>
          <p:cNvSpPr/>
          <p:nvPr/>
        </p:nvSpPr>
        <p:spPr>
          <a:xfrm>
            <a:off x="6336792" y="5111496"/>
            <a:ext cx="384048" cy="384048"/>
          </a:xfrm>
          <a:prstGeom prst="ellipse">
            <a:avLst/>
          </a:prstGeom>
          <a:solidFill>
            <a:srgbClr val="B96A1B"/>
          </a:solidFill>
          <a:ln/>
        </p:spPr>
      </p:sp>
      <p:pic>
        <p:nvPicPr>
          <p:cNvPr id="29" name="Image 4" descr="/home/user/Claude-Works/ai-training-prompt-engineering/src/assets/icons/compass_w.png">    </p:cNvPr>
          <p:cNvPicPr>
            <a:picLocks noChangeAspect="1"/>
          </p:cNvPicPr>
          <p:nvPr/>
        </p:nvPicPr>
        <p:blipFill>
          <a:blip r:embed="rId5"/>
          <a:stretch>
            <a:fillRect/>
          </a:stretch>
        </p:blipFill>
        <p:spPr>
          <a:xfrm>
            <a:off x="6436644" y="5211348"/>
            <a:ext cx="184343" cy="184343"/>
          </a:xfrm>
          <a:prstGeom prst="rect">
            <a:avLst/>
          </a:prstGeom>
        </p:spPr>
      </p:pic>
      <p:sp>
        <p:nvSpPr>
          <p:cNvPr id="30" name="Text 23"/>
          <p:cNvSpPr/>
          <p:nvPr/>
        </p:nvSpPr>
        <p:spPr>
          <a:xfrm>
            <a:off x="6885432" y="4645152"/>
            <a:ext cx="4544568" cy="131673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prompting exists: </a:t>
            </a:r>
            <a:endParaRPr lang="en-US" sz="120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model completes your text. The prompt is the only steering wheel you have — everything it knows about your task, audience, and standards must be in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54480"/>
            <a:ext cx="5669280" cy="274320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250" dirty="0"/>
          </a:p>
          <a:p>
            <a:pPr algn="l" marL="127000" indent="-127000">
              <a:lnSpc>
                <a:spcPct val="104000"/>
              </a:lnSpc>
              <a:spcAft>
                <a:spcPts val="900"/>
              </a:spcAft>
              <a:buSzPct val="100000"/>
              <a:buChar char="•"/>
            </a:pPr>
            <a:r>
              <a:rPr lang="en-US" sz="1250" b="1" dirty="0">
                <a:solidFill>
                  <a:srgbClr val="46545F"/>
                </a:solidFill>
                <a:latin typeface="Calibri" pitchFamily="34" charset="0"/>
                <a:ea typeface="Calibri" pitchFamily="34" charset="-122"/>
                <a:cs typeface="Calibri" pitchFamily="34" charset="-120"/>
              </a:rPr>
              <a:t>The model never sees letters — “strawberry” arrives as one or two IDs. That’s why letter-counting and character-exact edits fail: it’s working from hearing, not spelling.</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250" dirty="0"/>
          </a:p>
        </p:txBody>
      </p:sp>
      <p:sp>
        <p:nvSpPr>
          <p:cNvPr id="7" name="Shape 5"/>
          <p:cNvSpPr/>
          <p:nvPr/>
        </p:nvSpPr>
        <p:spPr>
          <a:xfrm>
            <a:off x="6400800" y="1554480"/>
            <a:ext cx="5257800" cy="2377440"/>
          </a:xfrm>
          <a:prstGeom prst="roundRect">
            <a:avLst>
              <a:gd name="adj" fmla="val 3077"/>
            </a:avLst>
          </a:prstGeom>
          <a:solidFill>
            <a:srgbClr val="F2F5F6"/>
          </a:solidFill>
          <a:ln/>
        </p:spPr>
      </p:sp>
      <p:sp>
        <p:nvSpPr>
          <p:cNvPr id="8" name="Text 6"/>
          <p:cNvSpPr/>
          <p:nvPr/>
        </p:nvSpPr>
        <p:spPr>
          <a:xfrm>
            <a:off x="6675120" y="1755648"/>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LEGO bricks of text</a:t>
            </a:r>
            <a:endParaRPr lang="en-US" sz="1500" dirty="0"/>
          </a:p>
        </p:txBody>
      </p:sp>
      <p:sp>
        <p:nvSpPr>
          <p:cNvPr id="9" name="Text 7"/>
          <p:cNvSpPr/>
          <p:nvPr/>
        </p:nvSpPr>
        <p:spPr>
          <a:xfrm>
            <a:off x="6675120" y="2176272"/>
            <a:ext cx="4754880" cy="914400"/>
          </a:xfrm>
          <a:prstGeom prst="rect">
            <a:avLst/>
          </a:prstGeom>
          <a:noFill/>
          <a:ln/>
        </p:spPr>
        <p:txBody>
          <a:bodyPr wrap="square" lIns="0" tIns="0" rIns="0" bIns="0" rtlCol="0" anchor="ctr"/>
          <a:lstStyle/>
          <a:p>
            <a:pPr indent="0" marL="0">
              <a:lnSpc>
                <a:spcPct val="110000"/>
              </a:lnSpc>
              <a:buNone/>
            </a:pPr>
            <a:r>
              <a:rPr lang="en-US" sz="1150" dirty="0">
                <a:solidFill>
                  <a:srgbClr val="46545F"/>
                </a:solidFill>
                <a:latin typeface="Calibri" pitchFamily="34" charset="0"/>
                <a:ea typeface="Calibri" pitchFamily="34" charset="-122"/>
                <a:cs typeface="Calibri" pitchFamily="34" charset="-120"/>
              </a:rPr>
              <a:t>Common words are pre-molded bricks; unusual words get assembled from smaller pieces. You pay by the brick, not by the sentence — and the builder has never seen inside a brick.</a:t>
            </a:r>
            <a:endParaRPr lang="en-US" sz="1150" dirty="0"/>
          </a:p>
        </p:txBody>
      </p:sp>
      <p:sp>
        <p:nvSpPr>
          <p:cNvPr id="10" name="Text 8"/>
          <p:cNvSpPr/>
          <p:nvPr/>
        </p:nvSpPr>
        <p:spPr>
          <a:xfrm>
            <a:off x="6675120" y="3200400"/>
            <a:ext cx="4754880" cy="457200"/>
          </a:xfrm>
          <a:prstGeom prst="rect">
            <a:avLst/>
          </a:prstGeom>
          <a:noFill/>
          <a:ln/>
        </p:spPr>
        <p:txBody>
          <a:bodyPr wrap="square" lIns="0" tIns="0" rIns="0" bIns="0" rtlCol="0" anchor="ctr"/>
          <a:lstStyle/>
          <a:p>
            <a:pPr indent="0" marL="0">
              <a:buNone/>
            </a:pPr>
            <a:r>
              <a:rPr lang="en-US" sz="1100" dirty="0">
                <a:solidFill>
                  <a:srgbClr val="0A5B5A"/>
                </a:solidFill>
                <a:latin typeface="Consolas" pitchFamily="34" charset="0"/>
                <a:ea typeface="Consolas" pitchFamily="34" charset="-122"/>
                <a:cs typeface="Consolas" pitchFamily="34" charset="-120"/>
              </a:rPr>
              <a:t>“ Analyzing | the | supplier | ’s | first | - | pass | yield ”</a:t>
            </a:r>
            <a:endParaRPr lang="en-US" sz="1100" dirty="0"/>
          </a:p>
        </p:txBody>
      </p:sp>
      <p:sp>
        <p:nvSpPr>
          <p:cNvPr id="11" name="Shape 9"/>
          <p:cNvSpPr/>
          <p:nvPr/>
        </p:nvSpPr>
        <p:spPr>
          <a:xfrm>
            <a:off x="6400800" y="4160520"/>
            <a:ext cx="5257800" cy="1828800"/>
          </a:xfrm>
          <a:prstGeom prst="roundRect">
            <a:avLst>
              <a:gd name="adj" fmla="val 4000"/>
            </a:avLst>
          </a:prstGeom>
          <a:solidFill>
            <a:srgbClr val="E4F0EF"/>
          </a:solidFill>
          <a:ln/>
        </p:spPr>
      </p:sp>
      <p:sp>
        <p:nvSpPr>
          <p:cNvPr id="12" name="Shape 10"/>
          <p:cNvSpPr/>
          <p:nvPr/>
        </p:nvSpPr>
        <p:spPr>
          <a:xfrm>
            <a:off x="6565392" y="4882896"/>
            <a:ext cx="384048" cy="384048"/>
          </a:xfrm>
          <a:prstGeom prst="ellipse">
            <a:avLst/>
          </a:prstGeom>
          <a:solidFill>
            <a:srgbClr val="0E7C7B"/>
          </a:solidFill>
          <a:ln/>
        </p:spPr>
      </p:sp>
      <p:pic>
        <p:nvPicPr>
          <p:cNvPr id="13" name="Image 0" descr="/home/user/Claude-Works/ai-training-prompt-engineering/src/assets/icons/layers_w.png">    </p:cNvPr>
          <p:cNvPicPr>
            <a:picLocks noChangeAspect="1"/>
          </p:cNvPicPr>
          <p:nvPr/>
        </p:nvPicPr>
        <p:blipFill>
          <a:blip r:embed="rId1"/>
          <a:stretch>
            <a:fillRect/>
          </a:stretch>
        </p:blipFill>
        <p:spPr>
          <a:xfrm>
            <a:off x="6665244" y="4982748"/>
            <a:ext cx="184343" cy="184343"/>
          </a:xfrm>
          <a:prstGeom prst="rect">
            <a:avLst/>
          </a:prstGeom>
        </p:spPr>
      </p:pic>
      <p:sp>
        <p:nvSpPr>
          <p:cNvPr id="14" name="Text 11"/>
          <p:cNvSpPr/>
          <p:nvPr/>
        </p:nvSpPr>
        <p:spPr>
          <a:xfrm>
            <a:off x="7114032" y="4233672"/>
            <a:ext cx="4315968" cy="168249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So what, for daily work: </a:t>
            </a:r>
            <a:endParaRPr lang="en-US" sz="120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508760"/>
            <a:ext cx="566928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50" dirty="0"/>
          </a:p>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50" dirty="0"/>
          </a:p>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By Aug 2026, ~1M tokens (≈1,500 pages) is the flagship standard — Claude, GPT-5.x, Gemini, and the Chinese open-weight flagships alike. Consumer apps often enforce smaller limits than the raw model.</a:t>
            </a:r>
            <a:endParaRPr lang="en-US" sz="1250" dirty="0"/>
          </a:p>
          <a:p>
            <a:pPr algn="l" marL="127000" indent="-127000">
              <a:lnSpc>
                <a:spcPct val="104000"/>
              </a:lnSpc>
              <a:spcAft>
                <a:spcPts val="800"/>
              </a:spcAft>
              <a:buSzPct val="100000"/>
              <a:buChar char="•"/>
            </a:pPr>
            <a:r>
              <a:rPr lang="en-US" sz="1250" b="1" dirty="0">
                <a:solidFill>
                  <a:srgbClr val="46545F"/>
                </a:solidFill>
                <a:latin typeface="Calibri" pitchFamily="34" charset="0"/>
                <a:ea typeface="Calibri" pitchFamily="34" charset="-122"/>
                <a:cs typeface="Calibri" pitchFamily="34" charset="-120"/>
              </a:rPr>
              <a:t>“Fits on the desk” ≠ “gets read carefully”: accuracy is highest at the start and end of a long context and sags in the middle (“lost in the middle”).</a:t>
            </a:r>
            <a:endParaRPr lang="en-US" sz="1250" dirty="0"/>
          </a:p>
        </p:txBody>
      </p:sp>
      <p:sp>
        <p:nvSpPr>
          <p:cNvPr id="7" name="Shape 5"/>
          <p:cNvSpPr/>
          <p:nvPr/>
        </p:nvSpPr>
        <p:spPr>
          <a:xfrm>
            <a:off x="6400800" y="1508760"/>
            <a:ext cx="5257800" cy="2286000"/>
          </a:xfrm>
          <a:prstGeom prst="roundRect">
            <a:avLst>
              <a:gd name="adj" fmla="val 3200"/>
            </a:avLst>
          </a:prstGeom>
          <a:solidFill>
            <a:srgbClr val="F2F5F6"/>
          </a:solidFill>
          <a:ln/>
        </p:spPr>
      </p:sp>
      <p:sp>
        <p:nvSpPr>
          <p:cNvPr id="8" name="Text 6"/>
          <p:cNvSpPr/>
          <p:nvPr/>
        </p:nvSpPr>
        <p:spPr>
          <a:xfrm>
            <a:off x="6675120" y="1691640"/>
            <a:ext cx="475488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What’s on the desk right now</a:t>
            </a:r>
            <a:endParaRPr lang="en-US" sz="1450" dirty="0"/>
          </a:p>
        </p:txBody>
      </p:sp>
      <p:sp>
        <p:nvSpPr>
          <p:cNvPr id="9" name="Shape 7"/>
          <p:cNvSpPr/>
          <p:nvPr/>
        </p:nvSpPr>
        <p:spPr>
          <a:xfrm>
            <a:off x="6675120" y="2148840"/>
            <a:ext cx="365760" cy="365760"/>
          </a:xfrm>
          <a:prstGeom prst="ellipse">
            <a:avLst/>
          </a:prstGeom>
          <a:solidFill>
            <a:srgbClr val="46545F"/>
          </a:solidFill>
          <a:ln/>
        </p:spPr>
      </p:sp>
      <p:pic>
        <p:nvPicPr>
          <p:cNvPr id="10" name="Image 0" descr="/home/user/Claude-Works/ai-training-prompt-engineering/src/assets/icons/file_w.png">    </p:cNvPr>
          <p:cNvPicPr>
            <a:picLocks noChangeAspect="1"/>
          </p:cNvPicPr>
          <p:nvPr/>
        </p:nvPicPr>
        <p:blipFill>
          <a:blip r:embed="rId1"/>
          <a:stretch>
            <a:fillRect/>
          </a:stretch>
        </p:blipFill>
        <p:spPr>
          <a:xfrm>
            <a:off x="6770218" y="2243938"/>
            <a:ext cx="175565" cy="175565"/>
          </a:xfrm>
          <a:prstGeom prst="rect">
            <a:avLst/>
          </a:prstGeom>
        </p:spPr>
      </p:pic>
      <p:sp>
        <p:nvSpPr>
          <p:cNvPr id="11" name="Text 8"/>
          <p:cNvSpPr/>
          <p:nvPr/>
        </p:nvSpPr>
        <p:spPr>
          <a:xfrm>
            <a:off x="7150608" y="2167128"/>
            <a:ext cx="2011680" cy="68580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System prompt &amp; instructions</a:t>
            </a:r>
            <a:endParaRPr lang="en-US" sz="1000" dirty="0"/>
          </a:p>
        </p:txBody>
      </p:sp>
      <p:sp>
        <p:nvSpPr>
          <p:cNvPr id="12" name="Shape 9"/>
          <p:cNvSpPr/>
          <p:nvPr/>
        </p:nvSpPr>
        <p:spPr>
          <a:xfrm>
            <a:off x="9189720" y="2148840"/>
            <a:ext cx="365760" cy="365760"/>
          </a:xfrm>
          <a:prstGeom prst="ellipse">
            <a:avLst/>
          </a:prstGeom>
          <a:solidFill>
            <a:srgbClr val="46545F"/>
          </a:solidFill>
          <a:ln/>
        </p:spPr>
      </p:sp>
      <p:pic>
        <p:nvPicPr>
          <p:cNvPr id="13" name="Image 1" descr="/home/user/Claude-Works/ai-training-prompt-engineering/src/assets/icons/chat_w.png">    </p:cNvPr>
          <p:cNvPicPr>
            <a:picLocks noChangeAspect="1"/>
          </p:cNvPicPr>
          <p:nvPr/>
        </p:nvPicPr>
        <p:blipFill>
          <a:blip r:embed="rId2"/>
          <a:stretch>
            <a:fillRect/>
          </a:stretch>
        </p:blipFill>
        <p:spPr>
          <a:xfrm>
            <a:off x="9284818" y="2243938"/>
            <a:ext cx="175565" cy="175565"/>
          </a:xfrm>
          <a:prstGeom prst="rect">
            <a:avLst/>
          </a:prstGeom>
        </p:spPr>
      </p:pic>
      <p:sp>
        <p:nvSpPr>
          <p:cNvPr id="14" name="Text 10"/>
          <p:cNvSpPr/>
          <p:nvPr/>
        </p:nvSpPr>
        <p:spPr>
          <a:xfrm>
            <a:off x="9665208" y="2167128"/>
            <a:ext cx="2011680" cy="68580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Every prior turn — both sides</a:t>
            </a:r>
            <a:endParaRPr lang="en-US" sz="1000" dirty="0"/>
          </a:p>
        </p:txBody>
      </p:sp>
      <p:sp>
        <p:nvSpPr>
          <p:cNvPr id="15" name="Shape 11"/>
          <p:cNvSpPr/>
          <p:nvPr/>
        </p:nvSpPr>
        <p:spPr>
          <a:xfrm>
            <a:off x="6675120" y="2926080"/>
            <a:ext cx="365760" cy="365760"/>
          </a:xfrm>
          <a:prstGeom prst="ellipse">
            <a:avLst/>
          </a:prstGeom>
          <a:solidFill>
            <a:srgbClr val="46545F"/>
          </a:solidFill>
          <a:ln/>
        </p:spPr>
      </p:sp>
      <p:pic>
        <p:nvPicPr>
          <p:cNvPr id="16" name="Image 2" descr="/home/user/Claude-Works/ai-training-prompt-engineering/src/assets/icons/paperclip_w.png">    </p:cNvPr>
          <p:cNvPicPr>
            <a:picLocks noChangeAspect="1"/>
          </p:cNvPicPr>
          <p:nvPr/>
        </p:nvPicPr>
        <p:blipFill>
          <a:blip r:embed="rId3"/>
          <a:stretch>
            <a:fillRect/>
          </a:stretch>
        </p:blipFill>
        <p:spPr>
          <a:xfrm>
            <a:off x="6770218" y="3021178"/>
            <a:ext cx="175565" cy="175565"/>
          </a:xfrm>
          <a:prstGeom prst="rect">
            <a:avLst/>
          </a:prstGeom>
        </p:spPr>
      </p:pic>
      <p:sp>
        <p:nvSpPr>
          <p:cNvPr id="17" name="Text 12"/>
          <p:cNvSpPr/>
          <p:nvPr/>
        </p:nvSpPr>
        <p:spPr>
          <a:xfrm>
            <a:off x="7150608" y="2944368"/>
            <a:ext cx="2011680" cy="68580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Attached documents</a:t>
            </a:r>
            <a:endParaRPr lang="en-US" sz="1000" dirty="0"/>
          </a:p>
        </p:txBody>
      </p:sp>
      <p:sp>
        <p:nvSpPr>
          <p:cNvPr id="18" name="Shape 13"/>
          <p:cNvSpPr/>
          <p:nvPr/>
        </p:nvSpPr>
        <p:spPr>
          <a:xfrm>
            <a:off x="9189720" y="2926080"/>
            <a:ext cx="365760" cy="365760"/>
          </a:xfrm>
          <a:prstGeom prst="ellipse">
            <a:avLst/>
          </a:prstGeom>
          <a:solidFill>
            <a:srgbClr val="46545F"/>
          </a:solidFill>
          <a:ln/>
        </p:spPr>
      </p:sp>
      <p:pic>
        <p:nvPicPr>
          <p:cNvPr id="19" name="Image 3" descr="/home/user/Claude-Works/ai-training-prompt-engineering/src/assets/icons/search_w.png">    </p:cNvPr>
          <p:cNvPicPr>
            <a:picLocks noChangeAspect="1"/>
          </p:cNvPicPr>
          <p:nvPr/>
        </p:nvPicPr>
        <p:blipFill>
          <a:blip r:embed="rId4"/>
          <a:stretch>
            <a:fillRect/>
          </a:stretch>
        </p:blipFill>
        <p:spPr>
          <a:xfrm>
            <a:off x="9284818" y="3021178"/>
            <a:ext cx="175565" cy="175565"/>
          </a:xfrm>
          <a:prstGeom prst="rect">
            <a:avLst/>
          </a:prstGeom>
        </p:spPr>
      </p:pic>
      <p:sp>
        <p:nvSpPr>
          <p:cNvPr id="20" name="Text 14"/>
          <p:cNvSpPr/>
          <p:nvPr/>
        </p:nvSpPr>
        <p:spPr>
          <a:xfrm>
            <a:off x="9665208" y="2944368"/>
            <a:ext cx="2011680" cy="685800"/>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Tool &amp; search results</a:t>
            </a:r>
            <a:endParaRPr lang="en-US" sz="1000" dirty="0"/>
          </a:p>
        </p:txBody>
      </p:sp>
      <p:sp>
        <p:nvSpPr>
          <p:cNvPr id="21" name="Shape 15"/>
          <p:cNvSpPr/>
          <p:nvPr/>
        </p:nvSpPr>
        <p:spPr>
          <a:xfrm>
            <a:off x="6400800" y="3977640"/>
            <a:ext cx="5257800" cy="2011680"/>
          </a:xfrm>
          <a:prstGeom prst="roundRect">
            <a:avLst>
              <a:gd name="adj" fmla="val 3636"/>
            </a:avLst>
          </a:prstGeom>
          <a:solidFill>
            <a:srgbClr val="E4F0EF"/>
          </a:solidFill>
          <a:ln/>
        </p:spPr>
      </p:sp>
      <p:sp>
        <p:nvSpPr>
          <p:cNvPr id="22" name="Shape 16"/>
          <p:cNvSpPr/>
          <p:nvPr/>
        </p:nvSpPr>
        <p:spPr>
          <a:xfrm>
            <a:off x="6565392" y="4791456"/>
            <a:ext cx="384048" cy="384048"/>
          </a:xfrm>
          <a:prstGeom prst="ellipse">
            <a:avLst/>
          </a:prstGeom>
          <a:solidFill>
            <a:srgbClr val="0E7C7B"/>
          </a:solidFill>
          <a:ln/>
        </p:spPr>
      </p:sp>
      <p:pic>
        <p:nvPicPr>
          <p:cNvPr id="23" name="Image 4" descr="/home/user/Claude-Works/ai-training-prompt-engineering/src/assets/icons/check_w.png">    </p:cNvPr>
          <p:cNvPicPr>
            <a:picLocks noChangeAspect="1"/>
          </p:cNvPicPr>
          <p:nvPr/>
        </p:nvPicPr>
        <p:blipFill>
          <a:blip r:embed="rId5"/>
          <a:stretch>
            <a:fillRect/>
          </a:stretch>
        </p:blipFill>
        <p:spPr>
          <a:xfrm>
            <a:off x="6665244" y="4891308"/>
            <a:ext cx="184343" cy="184343"/>
          </a:xfrm>
          <a:prstGeom prst="rect">
            <a:avLst/>
          </a:prstGeom>
        </p:spPr>
      </p:pic>
      <p:sp>
        <p:nvSpPr>
          <p:cNvPr id="24" name="Text 17"/>
          <p:cNvSpPr/>
          <p:nvPr/>
        </p:nvSpPr>
        <p:spPr>
          <a:xfrm>
            <a:off x="7114032" y="4050792"/>
            <a:ext cx="4315968" cy="186537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Habits that exploit the desk: </a:t>
            </a:r>
            <a:endParaRPr lang="en-US" sz="120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① long documents at the TOP, question at the END — Anthropic measured up to ~30% better answers · ② label multiple documents clearly · ③ new topic → new chat: stale history pollutes attention · ④ very long thread → ask for a summary, carry it into a fresh chat.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28800"/>
            <a:ext cx="2606040" cy="2286000"/>
          </a:xfrm>
          <a:prstGeom prst="roundRect">
            <a:avLst>
              <a:gd name="adj" fmla="val 3200"/>
            </a:avLst>
          </a:prstGeom>
          <a:solidFill>
            <a:srgbClr val="F2F5F6"/>
          </a:solidFill>
          <a:ln/>
        </p:spPr>
      </p:sp>
      <p:sp>
        <p:nvSpPr>
          <p:cNvPr id="8" name="Shape 6"/>
          <p:cNvSpPr/>
          <p:nvPr/>
        </p:nvSpPr>
        <p:spPr>
          <a:xfrm>
            <a:off x="722376" y="2029968"/>
            <a:ext cx="457200" cy="457200"/>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41248" y="2148840"/>
            <a:ext cx="219456" cy="219456"/>
          </a:xfrm>
          <a:prstGeom prst="rect">
            <a:avLst/>
          </a:prstGeom>
        </p:spPr>
      </p:pic>
      <p:sp>
        <p:nvSpPr>
          <p:cNvPr id="10" name="Text 7"/>
          <p:cNvSpPr/>
          <p:nvPr/>
        </p:nvSpPr>
        <p:spPr>
          <a:xfrm>
            <a:off x="722376" y="2606040"/>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944368"/>
            <a:ext cx="2212848" cy="109728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020" dirty="0"/>
          </a:p>
        </p:txBody>
      </p:sp>
      <p:sp>
        <p:nvSpPr>
          <p:cNvPr id="12" name="Shape 9"/>
          <p:cNvSpPr/>
          <p:nvPr/>
        </p:nvSpPr>
        <p:spPr>
          <a:xfrm>
            <a:off x="3127248" y="2880360"/>
            <a:ext cx="274320" cy="0"/>
          </a:xfrm>
          <a:prstGeom prst="line">
            <a:avLst/>
          </a:prstGeom>
          <a:noFill/>
          <a:ln w="28575">
            <a:solidFill>
              <a:srgbClr val="0E7C7B"/>
            </a:solidFill>
            <a:prstDash val="solid"/>
            <a:tailEnd type="triangle"/>
          </a:ln>
        </p:spPr>
      </p:sp>
      <p:sp>
        <p:nvSpPr>
          <p:cNvPr id="13" name="Shape 10"/>
          <p:cNvSpPr/>
          <p:nvPr/>
        </p:nvSpPr>
        <p:spPr>
          <a:xfrm>
            <a:off x="3419856" y="1828800"/>
            <a:ext cx="2606040" cy="2286000"/>
          </a:xfrm>
          <a:prstGeom prst="roundRect">
            <a:avLst>
              <a:gd name="adj" fmla="val 3200"/>
            </a:avLst>
          </a:prstGeom>
          <a:solidFill>
            <a:srgbClr val="F2F5F6"/>
          </a:solidFill>
          <a:ln/>
        </p:spPr>
      </p:sp>
      <p:sp>
        <p:nvSpPr>
          <p:cNvPr id="14" name="Shape 11"/>
          <p:cNvSpPr/>
          <p:nvPr/>
        </p:nvSpPr>
        <p:spPr>
          <a:xfrm>
            <a:off x="3639312" y="2029968"/>
            <a:ext cx="457200" cy="457200"/>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8184" y="2148840"/>
            <a:ext cx="219456" cy="219456"/>
          </a:xfrm>
          <a:prstGeom prst="rect">
            <a:avLst/>
          </a:prstGeom>
        </p:spPr>
      </p:pic>
      <p:sp>
        <p:nvSpPr>
          <p:cNvPr id="16" name="Text 12"/>
          <p:cNvSpPr/>
          <p:nvPr/>
        </p:nvSpPr>
        <p:spPr>
          <a:xfrm>
            <a:off x="3639312" y="2606040"/>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944368"/>
            <a:ext cx="2212848" cy="109728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020" dirty="0"/>
          </a:p>
        </p:txBody>
      </p:sp>
      <p:sp>
        <p:nvSpPr>
          <p:cNvPr id="18" name="Shape 14"/>
          <p:cNvSpPr/>
          <p:nvPr/>
        </p:nvSpPr>
        <p:spPr>
          <a:xfrm>
            <a:off x="6044184" y="2880360"/>
            <a:ext cx="274320" cy="0"/>
          </a:xfrm>
          <a:prstGeom prst="line">
            <a:avLst/>
          </a:prstGeom>
          <a:noFill/>
          <a:ln w="28575">
            <a:solidFill>
              <a:srgbClr val="0E7C7B"/>
            </a:solidFill>
            <a:prstDash val="solid"/>
            <a:tailEnd type="triangle"/>
          </a:ln>
        </p:spPr>
      </p:sp>
      <p:sp>
        <p:nvSpPr>
          <p:cNvPr id="19" name="Shape 15"/>
          <p:cNvSpPr/>
          <p:nvPr/>
        </p:nvSpPr>
        <p:spPr>
          <a:xfrm>
            <a:off x="6336792" y="1828800"/>
            <a:ext cx="2606040" cy="2286000"/>
          </a:xfrm>
          <a:prstGeom prst="roundRect">
            <a:avLst>
              <a:gd name="adj" fmla="val 3200"/>
            </a:avLst>
          </a:prstGeom>
          <a:solidFill>
            <a:srgbClr val="F2F5F6"/>
          </a:solidFill>
          <a:ln/>
        </p:spPr>
      </p:sp>
      <p:sp>
        <p:nvSpPr>
          <p:cNvPr id="20" name="Shape 16"/>
          <p:cNvSpPr/>
          <p:nvPr/>
        </p:nvSpPr>
        <p:spPr>
          <a:xfrm>
            <a:off x="6556248" y="2029968"/>
            <a:ext cx="457200" cy="457200"/>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5120" y="2148840"/>
            <a:ext cx="219456" cy="219456"/>
          </a:xfrm>
          <a:prstGeom prst="rect">
            <a:avLst/>
          </a:prstGeom>
        </p:spPr>
      </p:pic>
      <p:sp>
        <p:nvSpPr>
          <p:cNvPr id="22" name="Text 17"/>
          <p:cNvSpPr/>
          <p:nvPr/>
        </p:nvSpPr>
        <p:spPr>
          <a:xfrm>
            <a:off x="6556248" y="2606040"/>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944368"/>
            <a:ext cx="2212848" cy="109728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020" dirty="0"/>
          </a:p>
        </p:txBody>
      </p:sp>
      <p:sp>
        <p:nvSpPr>
          <p:cNvPr id="24" name="Shape 19"/>
          <p:cNvSpPr/>
          <p:nvPr/>
        </p:nvSpPr>
        <p:spPr>
          <a:xfrm>
            <a:off x="8961120" y="2880360"/>
            <a:ext cx="274320" cy="0"/>
          </a:xfrm>
          <a:prstGeom prst="line">
            <a:avLst/>
          </a:prstGeom>
          <a:noFill/>
          <a:ln w="28575">
            <a:solidFill>
              <a:srgbClr val="0E7C7B"/>
            </a:solidFill>
            <a:prstDash val="solid"/>
            <a:tailEnd type="triangle"/>
          </a:ln>
        </p:spPr>
      </p:sp>
      <p:sp>
        <p:nvSpPr>
          <p:cNvPr id="25" name="Shape 20"/>
          <p:cNvSpPr/>
          <p:nvPr/>
        </p:nvSpPr>
        <p:spPr>
          <a:xfrm>
            <a:off x="9253728" y="1828800"/>
            <a:ext cx="2606040" cy="2286000"/>
          </a:xfrm>
          <a:prstGeom prst="roundRect">
            <a:avLst>
              <a:gd name="adj" fmla="val 3200"/>
            </a:avLst>
          </a:prstGeom>
          <a:solidFill>
            <a:srgbClr val="F2F5F6"/>
          </a:solidFill>
          <a:ln/>
        </p:spPr>
      </p:sp>
      <p:sp>
        <p:nvSpPr>
          <p:cNvPr id="26" name="Shape 21"/>
          <p:cNvSpPr/>
          <p:nvPr/>
        </p:nvSpPr>
        <p:spPr>
          <a:xfrm>
            <a:off x="9473184" y="2029968"/>
            <a:ext cx="457200" cy="457200"/>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92056" y="2148840"/>
            <a:ext cx="219456" cy="219456"/>
          </a:xfrm>
          <a:prstGeom prst="rect">
            <a:avLst/>
          </a:prstGeom>
        </p:spPr>
      </p:pic>
      <p:sp>
        <p:nvSpPr>
          <p:cNvPr id="28" name="Text 22"/>
          <p:cNvSpPr/>
          <p:nvPr/>
        </p:nvSpPr>
        <p:spPr>
          <a:xfrm>
            <a:off x="9473184" y="2606040"/>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944368"/>
            <a:ext cx="2212848" cy="109728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020" dirty="0"/>
          </a:p>
        </p:txBody>
      </p:sp>
      <p:sp>
        <p:nvSpPr>
          <p:cNvPr id="30" name="Shape 24"/>
          <p:cNvSpPr/>
          <p:nvPr/>
        </p:nvSpPr>
        <p:spPr>
          <a:xfrm>
            <a:off x="502920" y="4343400"/>
            <a:ext cx="5486400" cy="1783080"/>
          </a:xfrm>
          <a:prstGeom prst="roundRect">
            <a:avLst>
              <a:gd name="adj" fmla="val 4103"/>
            </a:avLst>
          </a:prstGeom>
          <a:solidFill>
            <a:srgbClr val="E7F2EC"/>
          </a:solidFill>
          <a:ln/>
        </p:spPr>
      </p:sp>
      <p:sp>
        <p:nvSpPr>
          <p:cNvPr id="31" name="Text 25"/>
          <p:cNvSpPr/>
          <p:nvPr/>
        </p:nvSpPr>
        <p:spPr>
          <a:xfrm>
            <a:off x="777240" y="4526280"/>
            <a:ext cx="5029200" cy="1463040"/>
          </a:xfrm>
          <a:prstGeom prst="rect">
            <a:avLst/>
          </a:prstGeom>
          <a:noFill/>
          <a:ln/>
        </p:spPr>
        <p:txBody>
          <a:bodyPr wrap="square" lIns="0" tIns="0" rIns="0" bIns="0" rtlCol="0" anchor="ctr"/>
          <a:lstStyle/>
          <a:p>
            <a:pPr indent="0" marL="0">
              <a:lnSpc>
                <a:spcPct val="108000"/>
              </a:lnSpc>
              <a:spcAft>
                <a:spcPts val="300"/>
              </a:spcAft>
              <a:buNone/>
            </a:pPr>
            <a:r>
              <a:rPr lang="en-US" sz="1200" b="1" dirty="0">
                <a:solidFill>
                  <a:srgbClr val="232A31"/>
                </a:solidFill>
                <a:latin typeface="Calibri" pitchFamily="34" charset="0"/>
                <a:ea typeface="Calibri" pitchFamily="34" charset="-122"/>
                <a:cs typeface="Calibri" pitchFamily="34" charset="-120"/>
              </a:rPr>
              <a:t>Why enterprises build on it: </a:t>
            </a:r>
            <a:endParaRPr lang="en-US" sz="12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current (re-index a doc in minutes, no retraining) · checkable (citations to the exact passage) · private (retrieval feeds one answer; it teaches the model nothing) · access-aware (you only retrieve what you’re allowed to see).</a:t>
            </a:r>
            <a:endParaRPr lang="en-US" sz="1200" dirty="0"/>
          </a:p>
        </p:txBody>
      </p:sp>
      <p:sp>
        <p:nvSpPr>
          <p:cNvPr id="32" name="Shape 26"/>
          <p:cNvSpPr/>
          <p:nvPr/>
        </p:nvSpPr>
        <p:spPr>
          <a:xfrm>
            <a:off x="6172200" y="4343400"/>
            <a:ext cx="5486400" cy="1783080"/>
          </a:xfrm>
          <a:prstGeom prst="roundRect">
            <a:avLst>
              <a:gd name="adj" fmla="val 4103"/>
            </a:avLst>
          </a:prstGeom>
          <a:solidFill>
            <a:srgbClr val="F9E9E8"/>
          </a:solidFill>
          <a:ln/>
        </p:spPr>
      </p:sp>
      <p:sp>
        <p:nvSpPr>
          <p:cNvPr id="33" name="Text 27"/>
          <p:cNvSpPr/>
          <p:nvPr/>
        </p:nvSpPr>
        <p:spPr>
          <a:xfrm>
            <a:off x="6446520" y="4526280"/>
            <a:ext cx="5029200" cy="1463040"/>
          </a:xfrm>
          <a:prstGeom prst="rect">
            <a:avLst/>
          </a:prstGeom>
          <a:noFill/>
          <a:ln/>
        </p:spPr>
        <p:txBody>
          <a:bodyPr wrap="square" lIns="0" tIns="0" rIns="0" bIns="0" rtlCol="0" anchor="ctr"/>
          <a:lstStyle/>
          <a:p>
            <a:pPr indent="0" marL="0">
              <a:lnSpc>
                <a:spcPct val="108000"/>
              </a:lnSpc>
              <a:spcAft>
                <a:spcPts val="300"/>
              </a:spcAft>
              <a:buNone/>
            </a:pPr>
            <a:r>
              <a:rPr lang="en-US" sz="1200" b="1" dirty="0">
                <a:solidFill>
                  <a:srgbClr val="AF3230"/>
                </a:solidFill>
                <a:latin typeface="Calibri" pitchFamily="34" charset="0"/>
                <a:ea typeface="Calibri" pitchFamily="34" charset="-122"/>
                <a:cs typeface="Calibri" pitchFamily="34" charset="-120"/>
              </a:rPr>
              <a:t>The failure mode to respect: </a:t>
            </a:r>
            <a:endParaRPr lang="en-US" sz="12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if retrieval fetches the wrong page — an outdated revision, a near-miss document — the model still writes a fluent, confident, cited answer from it. Bad retrieval = confident wrong answer. So: check the citation, not just the prose.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first, retrieve second, fine-tune last</a:t>
            </a:r>
            <a:endParaRPr lang="en-US" sz="3000" dirty="0"/>
          </a:p>
        </p:txBody>
      </p:sp>
      <p:sp>
        <p:nvSpPr>
          <p:cNvPr id="6" name="Shape 4"/>
          <p:cNvSpPr/>
          <p:nvPr/>
        </p:nvSpPr>
        <p:spPr>
          <a:xfrm>
            <a:off x="502920" y="1554480"/>
            <a:ext cx="11155680" cy="1325880"/>
          </a:xfrm>
          <a:prstGeom prst="roundRect">
            <a:avLst>
              <a:gd name="adj" fmla="val 5517"/>
            </a:avLst>
          </a:prstGeom>
          <a:solidFill>
            <a:srgbClr val="E4F0EF"/>
          </a:solidFill>
          <a:ln/>
        </p:spPr>
      </p:sp>
      <p:sp>
        <p:nvSpPr>
          <p:cNvPr id="7" name="Shape 5"/>
          <p:cNvSpPr/>
          <p:nvPr/>
        </p:nvSpPr>
        <p:spPr>
          <a:xfrm>
            <a:off x="749808" y="1938528"/>
            <a:ext cx="502920" cy="50292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0567" y="2069287"/>
            <a:ext cx="241402" cy="241402"/>
          </a:xfrm>
          <a:prstGeom prst="rect">
            <a:avLst/>
          </a:prstGeom>
        </p:spPr>
      </p:pic>
      <p:sp>
        <p:nvSpPr>
          <p:cNvPr id="9" name="Text 6"/>
          <p:cNvSpPr/>
          <p:nvPr/>
        </p:nvSpPr>
        <p:spPr>
          <a:xfrm>
            <a:off x="1417320" y="1664208"/>
            <a:ext cx="10058400" cy="1143000"/>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Prompting — </a:t>
            </a:r>
            <a:pPr indent="0" marL="0">
              <a:lnSpc>
                <a:spcPct val="106000"/>
              </a:lnSpc>
              <a:spcAft>
                <a:spcPts val="300"/>
              </a:spcAft>
              <a:buNone/>
            </a:pPr>
            <a:r>
              <a:rPr lang="en-US" sz="1250" i="1" dirty="0">
                <a:solidFill>
                  <a:srgbClr val="0A5B5A"/>
                </a:solidFill>
                <a:latin typeface="Calibri" pitchFamily="34" charset="0"/>
                <a:ea typeface="Calibri" pitchFamily="34" charset="-122"/>
                <a:cs typeface="Calibri" pitchFamily="34" charset="-120"/>
              </a:rPr>
              <a:t>Instructions to a skilled temp</a:t>
            </a:r>
            <a:endParaRPr lang="en-US" sz="14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Costs nothing, changes instantly, works on every model. Handles style, format, task framing, examples. Where 90% of value lives — this course.</a:t>
            </a:r>
            <a:endParaRPr lang="en-US" sz="1400" dirty="0"/>
          </a:p>
        </p:txBody>
      </p:sp>
      <p:sp>
        <p:nvSpPr>
          <p:cNvPr id="10" name="Shape 7"/>
          <p:cNvSpPr/>
          <p:nvPr/>
        </p:nvSpPr>
        <p:spPr>
          <a:xfrm>
            <a:off x="502920" y="3035808"/>
            <a:ext cx="11155680" cy="1325880"/>
          </a:xfrm>
          <a:prstGeom prst="roundRect">
            <a:avLst>
              <a:gd name="adj" fmla="val 5517"/>
            </a:avLst>
          </a:prstGeom>
          <a:solidFill>
            <a:srgbClr val="F2F5F6"/>
          </a:solidFill>
          <a:ln/>
        </p:spPr>
      </p:sp>
      <p:sp>
        <p:nvSpPr>
          <p:cNvPr id="11" name="Shape 8"/>
          <p:cNvSpPr/>
          <p:nvPr/>
        </p:nvSpPr>
        <p:spPr>
          <a:xfrm>
            <a:off x="749808" y="3419856"/>
            <a:ext cx="502920" cy="502920"/>
          </a:xfrm>
          <a:prstGeom prst="ellipse">
            <a:avLst/>
          </a:prstGeom>
          <a:solidFill>
            <a:srgbClr val="0E7C7B"/>
          </a:solidFill>
          <a:ln/>
        </p:spPr>
      </p:sp>
      <p:pic>
        <p:nvPicPr>
          <p:cNvPr id="12" name="Image 1" descr="/home/user/Claude-Works/ai-training-prompt-engineering/src/assets/icons/book_w.png">    </p:cNvPr>
          <p:cNvPicPr>
            <a:picLocks noChangeAspect="1"/>
          </p:cNvPicPr>
          <p:nvPr/>
        </p:nvPicPr>
        <p:blipFill>
          <a:blip r:embed="rId2"/>
          <a:stretch>
            <a:fillRect/>
          </a:stretch>
        </p:blipFill>
        <p:spPr>
          <a:xfrm>
            <a:off x="880567" y="3550615"/>
            <a:ext cx="241402" cy="241402"/>
          </a:xfrm>
          <a:prstGeom prst="rect">
            <a:avLst/>
          </a:prstGeom>
        </p:spPr>
      </p:pic>
      <p:sp>
        <p:nvSpPr>
          <p:cNvPr id="13" name="Text 9"/>
          <p:cNvSpPr/>
          <p:nvPr/>
        </p:nvSpPr>
        <p:spPr>
          <a:xfrm>
            <a:off x="1417320" y="3145536"/>
            <a:ext cx="10058400" cy="1143000"/>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RAG / retrieval — </a:t>
            </a:r>
            <a:pPr indent="0" marL="0">
              <a:lnSpc>
                <a:spcPct val="106000"/>
              </a:lnSpc>
              <a:spcAft>
                <a:spcPts val="300"/>
              </a:spcAft>
              <a:buNone/>
            </a:pPr>
            <a:r>
              <a:rPr lang="en-US" sz="1250" i="1" dirty="0">
                <a:solidFill>
                  <a:srgbClr val="0A5B5A"/>
                </a:solidFill>
                <a:latin typeface="Calibri" pitchFamily="34" charset="0"/>
                <a:ea typeface="Calibri" pitchFamily="34" charset="-122"/>
                <a:cs typeface="Calibri" pitchFamily="34" charset="-120"/>
              </a:rPr>
              <a:t>Hand the temp your binder</a:t>
            </a:r>
            <a:endParaRPr lang="en-US" sz="14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Adds knowledge: current, private, citable. The answer changes when the binder changes. For facts the model can’t know.</a:t>
            </a:r>
            <a:endParaRPr lang="en-US" sz="1400" dirty="0"/>
          </a:p>
        </p:txBody>
      </p:sp>
      <p:sp>
        <p:nvSpPr>
          <p:cNvPr id="14" name="Shape 10"/>
          <p:cNvSpPr/>
          <p:nvPr/>
        </p:nvSpPr>
        <p:spPr>
          <a:xfrm>
            <a:off x="502920" y="4517136"/>
            <a:ext cx="11155680" cy="1325880"/>
          </a:xfrm>
          <a:prstGeom prst="roundRect">
            <a:avLst>
              <a:gd name="adj" fmla="val 5517"/>
            </a:avLst>
          </a:prstGeom>
          <a:solidFill>
            <a:srgbClr val="F2F5F6"/>
          </a:solidFill>
          <a:ln/>
        </p:spPr>
      </p:sp>
      <p:sp>
        <p:nvSpPr>
          <p:cNvPr id="15" name="Shape 11"/>
          <p:cNvSpPr/>
          <p:nvPr/>
        </p:nvSpPr>
        <p:spPr>
          <a:xfrm>
            <a:off x="749808" y="4901184"/>
            <a:ext cx="502920" cy="502920"/>
          </a:xfrm>
          <a:prstGeom prst="ellipse">
            <a:avLst/>
          </a:prstGeom>
          <a:solidFill>
            <a:srgbClr val="0E7C7B"/>
          </a:solidFill>
          <a:ln/>
        </p:spPr>
      </p:sp>
      <p:pic>
        <p:nvPicPr>
          <p:cNvPr id="16" name="Image 2" descr="/home/user/Claude-Works/ai-training-prompt-engineering/src/assets/icons/cpu_w.png">    </p:cNvPr>
          <p:cNvPicPr>
            <a:picLocks noChangeAspect="1"/>
          </p:cNvPicPr>
          <p:nvPr/>
        </p:nvPicPr>
        <p:blipFill>
          <a:blip r:embed="rId3"/>
          <a:stretch>
            <a:fillRect/>
          </a:stretch>
        </p:blipFill>
        <p:spPr>
          <a:xfrm>
            <a:off x="880567" y="5031943"/>
            <a:ext cx="241402" cy="241402"/>
          </a:xfrm>
          <a:prstGeom prst="rect">
            <a:avLst/>
          </a:prstGeom>
        </p:spPr>
      </p:pic>
      <p:sp>
        <p:nvSpPr>
          <p:cNvPr id="17" name="Text 12"/>
          <p:cNvSpPr/>
          <p:nvPr/>
        </p:nvSpPr>
        <p:spPr>
          <a:xfrm>
            <a:off x="1417320" y="4626864"/>
            <a:ext cx="10058400" cy="1143000"/>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Fine-tuning — </a:t>
            </a:r>
            <a:pPr indent="0" marL="0">
              <a:lnSpc>
                <a:spcPct val="106000"/>
              </a:lnSpc>
              <a:spcAft>
                <a:spcPts val="300"/>
              </a:spcAft>
              <a:buNone/>
            </a:pPr>
            <a:r>
              <a:rPr lang="en-US" sz="1250" i="1" dirty="0">
                <a:solidFill>
                  <a:srgbClr val="0A5B5A"/>
                </a:solidFill>
                <a:latin typeface="Calibri" pitchFamily="34" charset="0"/>
                <a:ea typeface="Calibri" pitchFamily="34" charset="-122"/>
                <a:cs typeface="Calibri" pitchFamily="34" charset="-120"/>
              </a:rPr>
              <a:t>Send them to a training course</a:t>
            </a:r>
            <a:endParaRPr lang="en-US" sz="14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Changes the model’s weights: permanent habits — a house style, a niche format, a distilled small model. Slow, per-model, high maintenance. Rarely the answer for knowledge.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REASONING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Buying the model time to think — when it’s worth it</a:t>
            </a:r>
            <a:endParaRPr lang="en-US" sz="3000" dirty="0"/>
          </a:p>
        </p:txBody>
      </p:sp>
      <p:sp>
        <p:nvSpPr>
          <p:cNvPr id="6" name="Text 4"/>
          <p:cNvSpPr/>
          <p:nvPr/>
        </p:nvSpPr>
        <p:spPr>
          <a:xfrm>
            <a:off x="502920" y="1554480"/>
            <a:ext cx="5669280" cy="310896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Since OpenAI’s o1 (2024): models can draft, check, and revise internally before answering — spending extra compute at answer time on hard problems.</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By 2026 it’s adaptive, not a separate product: flagships decide how long to think, and you can set effort (fast → extended thinking).</a:t>
            </a:r>
            <a:endParaRPr lang="en-US" sz="1250" dirty="0"/>
          </a:p>
          <a:p>
            <a:pPr algn="l" marL="127000" indent="-127000">
              <a:lnSpc>
                <a:spcPct val="104000"/>
              </a:lnSpc>
              <a:spcAft>
                <a:spcPts val="900"/>
              </a:spcAft>
              <a:buSzPct val="100000"/>
              <a:buChar char="•"/>
            </a:pPr>
            <a:r>
              <a:rPr lang="en-US" sz="1250" b="1" dirty="0">
                <a:solidFill>
                  <a:srgbClr val="46545F"/>
                </a:solidFill>
                <a:latin typeface="Calibri" pitchFamily="34" charset="0"/>
                <a:ea typeface="Calibri" pitchFamily="34" charset="-122"/>
                <a:cs typeface="Calibri" pitchFamily="34" charset="-120"/>
              </a:rPr>
              <a:t>The bill: thinking tokens are charged as output tokens — the expensive kind — and add seconds to minutes. A hard question can quietly cost 5–20× a simple one.</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System 1 vs System 2: fast intuition for routine asks; slow deliberation for the problems where being wrong is expensive.</a:t>
            </a:r>
            <a:endParaRPr lang="en-US" sz="1250" dirty="0"/>
          </a:p>
        </p:txBody>
      </p:sp>
      <p:sp>
        <p:nvSpPr>
          <p:cNvPr id="7" name="Shape 5"/>
          <p:cNvSpPr/>
          <p:nvPr/>
        </p:nvSpPr>
        <p:spPr>
          <a:xfrm>
            <a:off x="6400800" y="1554480"/>
            <a:ext cx="5257800" cy="2103120"/>
          </a:xfrm>
          <a:prstGeom prst="roundRect">
            <a:avLst>
              <a:gd name="adj" fmla="val 3478"/>
            </a:avLst>
          </a:prstGeom>
          <a:solidFill>
            <a:srgbClr val="E7F2EC"/>
          </a:solidFill>
          <a:ln/>
        </p:spPr>
      </p:sp>
      <p:sp>
        <p:nvSpPr>
          <p:cNvPr id="8" name="Text 6"/>
          <p:cNvSpPr/>
          <p:nvPr/>
        </p:nvSpPr>
        <p:spPr>
          <a:xfrm>
            <a:off x="6675120" y="1737360"/>
            <a:ext cx="4754880" cy="1783080"/>
          </a:xfrm>
          <a:prstGeom prst="rect">
            <a:avLst/>
          </a:prstGeom>
          <a:noFill/>
          <a:ln/>
        </p:spPr>
        <p:txBody>
          <a:bodyPr wrap="square" lIns="0" tIns="0" rIns="0" bIns="0" rtlCol="0" anchor="ctr"/>
          <a:lstStyle/>
          <a:p>
            <a:pPr indent="0" marL="0">
              <a:lnSpc>
                <a:spcPct val="110000"/>
              </a:lnSpc>
              <a:spcAft>
                <a:spcPts val="400"/>
              </a:spcAft>
              <a:buNone/>
            </a:pPr>
            <a:r>
              <a:rPr lang="en-US" sz="1250" b="1" dirty="0">
                <a:solidFill>
                  <a:srgbClr val="232A31"/>
                </a:solidFill>
                <a:latin typeface="Calibri" pitchFamily="34" charset="0"/>
                <a:ea typeface="Calibri" pitchFamily="34" charset="-122"/>
                <a:cs typeface="Calibri" pitchFamily="34" charset="-120"/>
              </a:rPr>
              <a:t>Turn thinking ON for: </a:t>
            </a:r>
            <a:endParaRPr lang="en-US" sz="1250" dirty="0"/>
          </a:p>
          <a:p>
            <a:pPr indent="0" marL="0">
              <a:lnSpc>
                <a:spcPct val="110000"/>
              </a:lnSpc>
              <a:buNone/>
            </a:pPr>
            <a:r>
              <a:rPr lang="en-US" sz="1150" dirty="0">
                <a:solidFill>
                  <a:srgbClr val="46545F"/>
                </a:solidFill>
                <a:latin typeface="Calibri" pitchFamily="34" charset="0"/>
                <a:ea typeface="Calibri" pitchFamily="34" charset="-122"/>
                <a:cs typeface="Calibri" pitchFamily="34" charset="-120"/>
              </a:rPr>
              <a:t>multi-step analysis · math and anything numeric · root-cause reasoning · code · weighing tradeoffs across a long document · drafting the plan an agent will execute.</a:t>
            </a:r>
            <a:endParaRPr lang="en-US" sz="1250" dirty="0"/>
          </a:p>
        </p:txBody>
      </p:sp>
      <p:sp>
        <p:nvSpPr>
          <p:cNvPr id="9" name="Shape 7"/>
          <p:cNvSpPr/>
          <p:nvPr/>
        </p:nvSpPr>
        <p:spPr>
          <a:xfrm>
            <a:off x="6400800" y="3886200"/>
            <a:ext cx="5257800" cy="2103120"/>
          </a:xfrm>
          <a:prstGeom prst="roundRect">
            <a:avLst>
              <a:gd name="adj" fmla="val 3478"/>
            </a:avLst>
          </a:prstGeom>
          <a:solidFill>
            <a:srgbClr val="FBF0E0"/>
          </a:solidFill>
          <a:ln/>
        </p:spPr>
      </p:sp>
      <p:sp>
        <p:nvSpPr>
          <p:cNvPr id="10" name="Text 8"/>
          <p:cNvSpPr/>
          <p:nvPr/>
        </p:nvSpPr>
        <p:spPr>
          <a:xfrm>
            <a:off x="6675120" y="4069080"/>
            <a:ext cx="4754880" cy="1783080"/>
          </a:xfrm>
          <a:prstGeom prst="rect">
            <a:avLst/>
          </a:prstGeom>
          <a:noFill/>
          <a:ln/>
        </p:spPr>
        <p:txBody>
          <a:bodyPr wrap="square" lIns="0" tIns="0" rIns="0" bIns="0" rtlCol="0" anchor="ctr"/>
          <a:lstStyle/>
          <a:p>
            <a:pPr indent="0" marL="0">
              <a:lnSpc>
                <a:spcPct val="110000"/>
              </a:lnSpc>
              <a:spcAft>
                <a:spcPts val="400"/>
              </a:spcAft>
              <a:buNone/>
            </a:pPr>
            <a:r>
              <a:rPr lang="en-US" sz="1250" b="1" dirty="0">
                <a:solidFill>
                  <a:srgbClr val="232A31"/>
                </a:solidFill>
                <a:latin typeface="Calibri" pitchFamily="34" charset="0"/>
                <a:ea typeface="Calibri" pitchFamily="34" charset="-122"/>
                <a:cs typeface="Calibri" pitchFamily="34" charset="-120"/>
              </a:rPr>
              <a:t>Skip it for: </a:t>
            </a:r>
            <a:endParaRPr lang="en-US" sz="1250" dirty="0"/>
          </a:p>
          <a:p>
            <a:pPr indent="0" marL="0">
              <a:lnSpc>
                <a:spcPct val="110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You pay in time and tokens for deliberation you don’t need — and (Part 3 preview) “think step by step” prompts are now often redundant: the model already does.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554480"/>
            <a:ext cx="5669280" cy="329184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25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Fluency and truth usually coincide — except where training data is thin: rare facts, exact citations, numbers, names.</a:t>
            </a:r>
            <a:endParaRPr lang="en-US" sz="1250" dirty="0"/>
          </a:p>
          <a:p>
            <a:pPr algn="l" marL="127000" indent="-127000">
              <a:lnSpc>
                <a:spcPct val="104000"/>
              </a:lnSpc>
              <a:spcAft>
                <a:spcPts val="1000"/>
              </a:spcAft>
              <a:buSzPct val="100000"/>
              <a:buChar char="•"/>
            </a:pPr>
            <a:r>
              <a:rPr lang="en-US" sz="1250" b="1" dirty="0">
                <a:solidFill>
                  <a:srgbClr val="46545F"/>
                </a:solidFill>
                <a:latin typeface="Calibri" pitchFamily="34" charset="0"/>
                <a:ea typeface="Calibri" pitchFamily="34" charset="-122"/>
                <a:cs typeface="Calibri" pitchFamily="34" charset="-120"/>
              </a:rPr>
              <a:t>OpenAI’s own 2025 research: hallucination is a statistically expected result of standard training — benchmarks reward confident guessing over “I don’t know,” so models learn to be good test-takers.</a:t>
            </a:r>
            <a:endParaRPr lang="en-US" sz="1250" dirty="0"/>
          </a:p>
          <a:p>
            <a:pPr algn="l" marL="127000" indent="-127000">
              <a:lnSpc>
                <a:spcPct val="104000"/>
              </a:lnSpc>
              <a:spcAft>
                <a:spcPts val="1000"/>
              </a:spcAft>
              <a:buSzPct val="100000"/>
              <a:buChar char="•"/>
            </a:pPr>
            <a:r>
              <a:rPr lang="en-US" sz="1250" dirty="0">
                <a:solidFill>
                  <a:srgbClr val="46545F"/>
                </a:solidFill>
                <a:latin typeface="Calibri" pitchFamily="34" charset="0"/>
                <a:ea typeface="Calibri" pitchFamily="34" charset="-122"/>
                <a:cs typeface="Calibri" pitchFamily="34" charset="-120"/>
              </a:rPr>
              <a:t>The assertive tone carries no information about reliability. An improv actor never breaks character — the show must go on, so gaps get filled with the most plausible line.</a:t>
            </a:r>
            <a:endParaRPr lang="en-US" sz="1250" dirty="0"/>
          </a:p>
        </p:txBody>
      </p:sp>
      <p:sp>
        <p:nvSpPr>
          <p:cNvPr id="7" name="Shape 5"/>
          <p:cNvSpPr/>
          <p:nvPr/>
        </p:nvSpPr>
        <p:spPr>
          <a:xfrm>
            <a:off x="6400800" y="1554480"/>
            <a:ext cx="5257800" cy="1371600"/>
          </a:xfrm>
          <a:prstGeom prst="roundRect">
            <a:avLst>
              <a:gd name="adj" fmla="val 5333"/>
            </a:avLst>
          </a:prstGeom>
          <a:solidFill>
            <a:srgbClr val="F2F5F6"/>
          </a:solidFill>
          <a:ln/>
        </p:spPr>
      </p:sp>
      <p:sp>
        <p:nvSpPr>
          <p:cNvPr id="8" name="Shape 6"/>
          <p:cNvSpPr/>
          <p:nvPr/>
        </p:nvSpPr>
        <p:spPr>
          <a:xfrm>
            <a:off x="6629400" y="1938528"/>
            <a:ext cx="457200" cy="457200"/>
          </a:xfrm>
          <a:prstGeom prst="ellipse">
            <a:avLst/>
          </a:prstGeom>
          <a:solidFill>
            <a:srgbClr val="0E7C7B"/>
          </a:solidFill>
          <a:ln/>
        </p:spPr>
      </p:sp>
      <p:pic>
        <p:nvPicPr>
          <p:cNvPr id="9" name="Image 0" descr="/home/user/Claude-Works/ai-training-prompt-engineering/src/assets/icons/book_w.png">    </p:cNvPr>
          <p:cNvPicPr>
            <a:picLocks noChangeAspect="1"/>
          </p:cNvPicPr>
          <p:nvPr/>
        </p:nvPicPr>
        <p:blipFill>
          <a:blip r:embed="rId1"/>
          <a:stretch>
            <a:fillRect/>
          </a:stretch>
        </p:blipFill>
        <p:spPr>
          <a:xfrm>
            <a:off x="6748272" y="2057400"/>
            <a:ext cx="219456" cy="219456"/>
          </a:xfrm>
          <a:prstGeom prst="rect">
            <a:avLst/>
          </a:prstGeom>
        </p:spPr>
      </p:pic>
      <p:sp>
        <p:nvSpPr>
          <p:cNvPr id="10" name="Text 7"/>
          <p:cNvSpPr/>
          <p:nvPr/>
        </p:nvSpPr>
        <p:spPr>
          <a:xfrm>
            <a:off x="7223760" y="1664208"/>
            <a:ext cx="4251960" cy="1188720"/>
          </a:xfrm>
          <a:prstGeom prst="rect">
            <a:avLst/>
          </a:prstGeom>
          <a:noFill/>
          <a:ln/>
        </p:spPr>
        <p:txBody>
          <a:bodyPr wrap="square" lIns="0" tIns="0" rIns="0" bIns="0" rtlCol="0" anchor="ctr"/>
          <a:lstStyle/>
          <a:p>
            <a:pPr indent="0" marL="0">
              <a:lnSpc>
                <a:spcPct val="107000"/>
              </a:lnSpc>
              <a:spcAft>
                <a:spcPts val="200"/>
              </a:spcAft>
              <a:buNone/>
            </a:pPr>
            <a:r>
              <a:rPr lang="en-US" sz="1300" b="1" dirty="0">
                <a:solidFill>
                  <a:srgbClr val="232A31"/>
                </a:solidFill>
                <a:latin typeface="Calibri" pitchFamily="34" charset="0"/>
                <a:ea typeface="Calibri" pitchFamily="34" charset="-122"/>
                <a:cs typeface="Calibri" pitchFamily="34" charset="-120"/>
              </a:rPr>
              <a:t>Ground it</a:t>
            </a:r>
            <a:endParaRPr lang="en-US" sz="1300" dirty="0"/>
          </a:p>
          <a:p>
            <a:pPr indent="0" marL="0">
              <a:lnSpc>
                <a:spcPct val="107000"/>
              </a:lnSpc>
              <a:buNone/>
            </a:pPr>
            <a:r>
              <a:rPr lang="en-US" sz="1080" dirty="0">
                <a:solidFill>
                  <a:srgbClr val="46545F"/>
                </a:solidFill>
                <a:latin typeface="Calibri" pitchFamily="34" charset="0"/>
                <a:ea typeface="Calibri" pitchFamily="34" charset="-122"/>
                <a:cs typeface="Calibri" pitchFamily="34" charset="-120"/>
              </a:rPr>
              <a:t>Give it the source: attach the document, use RAG/search — answering from supplied text beats free recall.</a:t>
            </a:r>
            <a:endParaRPr lang="en-US" sz="1300" dirty="0"/>
          </a:p>
        </p:txBody>
      </p:sp>
      <p:sp>
        <p:nvSpPr>
          <p:cNvPr id="11" name="Shape 8"/>
          <p:cNvSpPr/>
          <p:nvPr/>
        </p:nvSpPr>
        <p:spPr>
          <a:xfrm>
            <a:off x="6400800" y="3063240"/>
            <a:ext cx="5257800" cy="1371600"/>
          </a:xfrm>
          <a:prstGeom prst="roundRect">
            <a:avLst>
              <a:gd name="adj" fmla="val 5333"/>
            </a:avLst>
          </a:prstGeom>
          <a:solidFill>
            <a:srgbClr val="F2F5F6"/>
          </a:solidFill>
          <a:ln/>
        </p:spPr>
      </p:sp>
      <p:sp>
        <p:nvSpPr>
          <p:cNvPr id="12" name="Shape 9"/>
          <p:cNvSpPr/>
          <p:nvPr/>
        </p:nvSpPr>
        <p:spPr>
          <a:xfrm>
            <a:off x="6629400" y="3447288"/>
            <a:ext cx="457200" cy="457200"/>
          </a:xfrm>
          <a:prstGeom prst="ellipse">
            <a:avLst/>
          </a:prstGeom>
          <a:solidFill>
            <a:srgbClr val="0E7C7B"/>
          </a:solidFill>
          <a:ln/>
        </p:spPr>
      </p:sp>
      <p:pic>
        <p:nvPicPr>
          <p:cNvPr id="13" name="Image 1" descr="/home/user/Claude-Works/ai-training-prompt-engineering/src/assets/icons/eye_w.png">    </p:cNvPr>
          <p:cNvPicPr>
            <a:picLocks noChangeAspect="1"/>
          </p:cNvPicPr>
          <p:nvPr/>
        </p:nvPicPr>
        <p:blipFill>
          <a:blip r:embed="rId2"/>
          <a:stretch>
            <a:fillRect/>
          </a:stretch>
        </p:blipFill>
        <p:spPr>
          <a:xfrm>
            <a:off x="6748272" y="3566160"/>
            <a:ext cx="219456" cy="219456"/>
          </a:xfrm>
          <a:prstGeom prst="rect">
            <a:avLst/>
          </a:prstGeom>
        </p:spPr>
      </p:pic>
      <p:sp>
        <p:nvSpPr>
          <p:cNvPr id="14" name="Text 10"/>
          <p:cNvSpPr/>
          <p:nvPr/>
        </p:nvSpPr>
        <p:spPr>
          <a:xfrm>
            <a:off x="7223760" y="3172968"/>
            <a:ext cx="4251960" cy="1188720"/>
          </a:xfrm>
          <a:prstGeom prst="rect">
            <a:avLst/>
          </a:prstGeom>
          <a:noFill/>
          <a:ln/>
        </p:spPr>
        <p:txBody>
          <a:bodyPr wrap="square" lIns="0" tIns="0" rIns="0" bIns="0" rtlCol="0" anchor="ctr"/>
          <a:lstStyle/>
          <a:p>
            <a:pPr indent="0" marL="0">
              <a:lnSpc>
                <a:spcPct val="107000"/>
              </a:lnSpc>
              <a:spcAft>
                <a:spcPts val="200"/>
              </a:spcAft>
              <a:buNone/>
            </a:pPr>
            <a:r>
              <a:rPr lang="en-US" sz="1300" b="1" dirty="0">
                <a:solidFill>
                  <a:srgbClr val="232A31"/>
                </a:solidFill>
                <a:latin typeface="Calibri" pitchFamily="34" charset="0"/>
                <a:ea typeface="Calibri" pitchFamily="34" charset="-122"/>
                <a:cs typeface="Calibri" pitchFamily="34" charset="-120"/>
              </a:rPr>
              <a:t>Cite it</a:t>
            </a:r>
            <a:endParaRPr lang="en-US" sz="1300" dirty="0"/>
          </a:p>
          <a:p>
            <a:pPr indent="0" marL="0">
              <a:lnSpc>
                <a:spcPct val="107000"/>
              </a:lnSpc>
              <a:buNone/>
            </a:pPr>
            <a:r>
              <a:rPr lang="en-US" sz="1080" dirty="0">
                <a:solidFill>
                  <a:srgbClr val="46545F"/>
                </a:solidFill>
                <a:latin typeface="Calibri" pitchFamily="34" charset="0"/>
                <a:ea typeface="Calibri" pitchFamily="34" charset="-122"/>
                <a:cs typeface="Calibri" pitchFamily="34" charset="-120"/>
              </a:rPr>
              <a:t>Demand citations and an “I don’t know” escape hatch: “If the text doesn’t say, say so.”</a:t>
            </a:r>
            <a:endParaRPr lang="en-US" sz="1300" dirty="0"/>
          </a:p>
        </p:txBody>
      </p:sp>
      <p:sp>
        <p:nvSpPr>
          <p:cNvPr id="15" name="Shape 11"/>
          <p:cNvSpPr/>
          <p:nvPr/>
        </p:nvSpPr>
        <p:spPr>
          <a:xfrm>
            <a:off x="6400800" y="4572000"/>
            <a:ext cx="5257800" cy="1371600"/>
          </a:xfrm>
          <a:prstGeom prst="roundRect">
            <a:avLst>
              <a:gd name="adj" fmla="val 5333"/>
            </a:avLst>
          </a:prstGeom>
          <a:solidFill>
            <a:srgbClr val="E4F0EF"/>
          </a:solidFill>
          <a:ln/>
        </p:spPr>
      </p:sp>
      <p:sp>
        <p:nvSpPr>
          <p:cNvPr id="16" name="Shape 12"/>
          <p:cNvSpPr/>
          <p:nvPr/>
        </p:nvSpPr>
        <p:spPr>
          <a:xfrm>
            <a:off x="6629400" y="4956048"/>
            <a:ext cx="457200" cy="457200"/>
          </a:xfrm>
          <a:prstGeom prst="ellipse">
            <a:avLst/>
          </a:prstGeom>
          <a:solidFill>
            <a:srgbClr val="0E7C7B"/>
          </a:solidFill>
          <a:ln/>
        </p:spPr>
      </p:sp>
      <p:pic>
        <p:nvPicPr>
          <p:cNvPr id="17" name="Image 2" descr="/home/user/Claude-Works/ai-training-prompt-engineering/src/assets/icons/check_w.png">    </p:cNvPr>
          <p:cNvPicPr>
            <a:picLocks noChangeAspect="1"/>
          </p:cNvPicPr>
          <p:nvPr/>
        </p:nvPicPr>
        <p:blipFill>
          <a:blip r:embed="rId3"/>
          <a:stretch>
            <a:fillRect/>
          </a:stretch>
        </p:blipFill>
        <p:spPr>
          <a:xfrm>
            <a:off x="6748272" y="5074920"/>
            <a:ext cx="219456" cy="219456"/>
          </a:xfrm>
          <a:prstGeom prst="rect">
            <a:avLst/>
          </a:prstGeom>
        </p:spPr>
      </p:pic>
      <p:sp>
        <p:nvSpPr>
          <p:cNvPr id="18" name="Text 13"/>
          <p:cNvSpPr/>
          <p:nvPr/>
        </p:nvSpPr>
        <p:spPr>
          <a:xfrm>
            <a:off x="7223760" y="4681728"/>
            <a:ext cx="4251960" cy="1188720"/>
          </a:xfrm>
          <a:prstGeom prst="rect">
            <a:avLst/>
          </a:prstGeom>
          <a:noFill/>
          <a:ln/>
        </p:spPr>
        <p:txBody>
          <a:bodyPr wrap="square" lIns="0" tIns="0" rIns="0" bIns="0" rtlCol="0" anchor="ctr"/>
          <a:lstStyle/>
          <a:p>
            <a:pPr indent="0" marL="0">
              <a:lnSpc>
                <a:spcPct val="107000"/>
              </a:lnSpc>
              <a:spcAft>
                <a:spcPts val="200"/>
              </a:spcAft>
              <a:buNone/>
            </a:pPr>
            <a:r>
              <a:rPr lang="en-US" sz="1300" b="1" dirty="0">
                <a:solidFill>
                  <a:srgbClr val="232A31"/>
                </a:solidFill>
                <a:latin typeface="Calibri" pitchFamily="34" charset="0"/>
                <a:ea typeface="Calibri" pitchFamily="34" charset="-122"/>
                <a:cs typeface="Calibri" pitchFamily="34" charset="-120"/>
              </a:rPr>
              <a:t>Verify it</a:t>
            </a:r>
            <a:endParaRPr lang="en-US" sz="1300" dirty="0"/>
          </a:p>
          <a:p>
            <a:pPr indent="0" marL="0">
              <a:lnSpc>
                <a:spcPct val="107000"/>
              </a:lnSpc>
              <a:buNone/>
            </a:pPr>
            <a:r>
              <a:rPr lang="en-US" sz="1080" dirty="0">
                <a:solidFill>
                  <a:srgbClr val="46545F"/>
                </a:solidFill>
                <a:latin typeface="Calibri" pitchFamily="34" charset="0"/>
                <a:ea typeface="Calibri" pitchFamily="34" charset="-122"/>
                <a:cs typeface="Calibri" pitchFamily="34" charset="-120"/>
              </a:rPr>
              <a:t>Check what matters before it ships: quotes, numbers, clauses, anything regulatory. Your domain knowledge is the safety net.</a:t>
            </a:r>
            <a:endParaRPr lang="en-US" sz="1300" dirty="0"/>
          </a:p>
        </p:txBody>
      </p:sp>
      <p:sp>
        <p:nvSpPr>
          <p:cNvPr id="19" name="Shape 14"/>
          <p:cNvSpPr/>
          <p:nvPr/>
        </p:nvSpPr>
        <p:spPr>
          <a:xfrm>
            <a:off x="502920" y="5120640"/>
            <a:ext cx="5669280" cy="914400"/>
          </a:xfrm>
          <a:prstGeom prst="roundRect">
            <a:avLst>
              <a:gd name="adj" fmla="val 8000"/>
            </a:avLst>
          </a:prstGeom>
          <a:solidFill>
            <a:srgbClr val="F9E9E8"/>
          </a:solidFill>
          <a:ln/>
        </p:spPr>
      </p:sp>
      <p:sp>
        <p:nvSpPr>
          <p:cNvPr id="20" name="Shape 15"/>
          <p:cNvSpPr/>
          <p:nvPr/>
        </p:nvSpPr>
        <p:spPr>
          <a:xfrm>
            <a:off x="667512" y="5385816"/>
            <a:ext cx="384048" cy="384048"/>
          </a:xfrm>
          <a:prstGeom prst="ellipse">
            <a:avLst/>
          </a:prstGeom>
          <a:solidFill>
            <a:srgbClr val="AF3230"/>
          </a:solidFill>
          <a:ln/>
        </p:spPr>
      </p:sp>
      <p:pic>
        <p:nvPicPr>
          <p:cNvPr id="21" name="Image 3" descr="/home/user/Claude-Works/ai-training-prompt-engineering/src/assets/icons/alert_w.png">    </p:cNvPr>
          <p:cNvPicPr>
            <a:picLocks noChangeAspect="1"/>
          </p:cNvPicPr>
          <p:nvPr/>
        </p:nvPicPr>
        <p:blipFill>
          <a:blip r:embed="rId4"/>
          <a:stretch>
            <a:fillRect/>
          </a:stretch>
        </p:blipFill>
        <p:spPr>
          <a:xfrm>
            <a:off x="767364" y="5485668"/>
            <a:ext cx="184343" cy="184343"/>
          </a:xfrm>
          <a:prstGeom prst="rect">
            <a:avLst/>
          </a:prstGeom>
        </p:spPr>
      </p:pic>
      <p:sp>
        <p:nvSpPr>
          <p:cNvPr id="22" name="Text 16"/>
          <p:cNvSpPr/>
          <p:nvPr/>
        </p:nvSpPr>
        <p:spPr>
          <a:xfrm>
            <a:off x="1216152" y="5193792"/>
            <a:ext cx="4727448" cy="768096"/>
          </a:xfrm>
          <a:prstGeom prst="rect">
            <a:avLst/>
          </a:prstGeom>
          <a:noFill/>
          <a:ln/>
        </p:spPr>
        <p:txBody>
          <a:bodyPr wrap="square" lIns="0" tIns="0" rIns="0" bIns="0" rtlCol="0" anchor="ctr"/>
          <a:lstStyle/>
          <a:p>
            <a:pPr indent="0" marL="0">
              <a:lnSpc>
                <a:spcPct val="106000"/>
              </a:lnSpc>
              <a:buNone/>
            </a:pPr>
            <a:r>
              <a:rPr lang="en-US" sz="125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1</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Spot the missing elements</a:t>
            </a:r>
            <a:endParaRPr lang="en-US" sz="3000" dirty="0"/>
          </a:p>
        </p:txBody>
      </p:sp>
      <p:sp>
        <p:nvSpPr>
          <p:cNvPr id="6" name="Shape 4"/>
          <p:cNvSpPr/>
          <p:nvPr/>
        </p:nvSpPr>
        <p:spPr>
          <a:xfrm>
            <a:off x="502920" y="1600200"/>
            <a:ext cx="6766560" cy="3108960"/>
          </a:xfrm>
          <a:prstGeom prst="roundRect">
            <a:avLst>
              <a:gd name="adj" fmla="val 2353"/>
            </a:avLst>
          </a:prstGeom>
          <a:solidFill>
            <a:srgbClr val="F2F5F6"/>
          </a:solidFill>
          <a:ln/>
        </p:spPr>
      </p:sp>
      <p:sp>
        <p:nvSpPr>
          <p:cNvPr id="7" name="Text 5"/>
          <p:cNvSpPr/>
          <p:nvPr/>
        </p:nvSpPr>
        <p:spPr>
          <a:xfrm>
            <a:off x="777240" y="1828800"/>
            <a:ext cx="6035040" cy="320040"/>
          </a:xfrm>
          <a:prstGeom prst="rect">
            <a:avLst/>
          </a:prstGeom>
          <a:noFill/>
          <a:ln/>
        </p:spPr>
        <p:txBody>
          <a:bodyPr wrap="square" lIns="0" tIns="0" rIns="0" bIns="0" rtlCol="0" anchor="ctr"/>
          <a:lstStyle/>
          <a:p>
            <a:pPr indent="0" marL="0">
              <a:buNone/>
            </a:pPr>
            <a:r>
              <a:rPr lang="en-US" sz="1200" b="1" dirty="0">
                <a:solidFill>
                  <a:srgbClr val="46545F"/>
                </a:solidFill>
                <a:latin typeface="Calibri" pitchFamily="34" charset="0"/>
                <a:ea typeface="Calibri" pitchFamily="34" charset="-122"/>
                <a:cs typeface="Calibri" pitchFamily="34" charset="-120"/>
              </a:rPr>
              <a:t>The prompt on the screen:</a:t>
            </a:r>
            <a:endParaRPr lang="en-US" sz="1200" dirty="0"/>
          </a:p>
        </p:txBody>
      </p:sp>
      <p:sp>
        <p:nvSpPr>
          <p:cNvPr id="8" name="Text 6"/>
          <p:cNvSpPr/>
          <p:nvPr/>
        </p:nvSpPr>
        <p:spPr>
          <a:xfrm>
            <a:off x="777240" y="2240280"/>
            <a:ext cx="6126480" cy="640080"/>
          </a:xfrm>
          <a:prstGeom prst="rect">
            <a:avLst/>
          </a:prstGeom>
          <a:noFill/>
          <a:ln/>
        </p:spPr>
        <p:txBody>
          <a:bodyPr wrap="square" lIns="0" tIns="0" rIns="0" bIns="0" rtlCol="0" anchor="ctr"/>
          <a:lstStyle/>
          <a:p>
            <a:pPr indent="0" marL="0">
              <a:lnSpc>
                <a:spcPct val="115000"/>
              </a:lnSpc>
              <a:buNone/>
            </a:pPr>
            <a:r>
              <a:rPr lang="en-US" sz="1500" dirty="0">
                <a:solidFill>
                  <a:srgbClr val="0A5B5A"/>
                </a:solidFill>
                <a:latin typeface="Consolas" pitchFamily="34" charset="0"/>
                <a:ea typeface="Consolas" pitchFamily="34" charset="-122"/>
                <a:cs typeface="Consolas" pitchFamily="34" charset="-120"/>
              </a:rPr>
              <a:t>“Analyze the returns data and make it look good for leadership.”</a:t>
            </a:r>
            <a:endParaRPr lang="en-US" sz="1500" dirty="0"/>
          </a:p>
        </p:txBody>
      </p:sp>
      <p:sp>
        <p:nvSpPr>
          <p:cNvPr id="9" name="Text 7"/>
          <p:cNvSpPr/>
          <p:nvPr/>
        </p:nvSpPr>
        <p:spPr>
          <a:xfrm>
            <a:off x="822960" y="3063240"/>
            <a:ext cx="6035040" cy="1554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One minute, on your own: what would you need to add before trusting the answer?</a:t>
            </a:r>
            <a:endParaRPr lang="en-US" sz="1250" dirty="0"/>
          </a:p>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Two minutes, together: name the missing pieces out loud.</a:t>
            </a:r>
            <a:endParaRPr lang="en-US" sz="1250" dirty="0"/>
          </a:p>
        </p:txBody>
      </p:sp>
      <p:sp>
        <p:nvSpPr>
          <p:cNvPr id="10" name="Shape 8"/>
          <p:cNvSpPr/>
          <p:nvPr/>
        </p:nvSpPr>
        <p:spPr>
          <a:xfrm>
            <a:off x="7543800" y="1600200"/>
            <a:ext cx="4114800" cy="3108960"/>
          </a:xfrm>
          <a:prstGeom prst="roundRect">
            <a:avLst>
              <a:gd name="adj" fmla="val 2353"/>
            </a:avLst>
          </a:prstGeom>
          <a:solidFill>
            <a:srgbClr val="FBF0E0"/>
          </a:solidFill>
          <a:ln/>
        </p:spPr>
      </p:sp>
      <p:sp>
        <p:nvSpPr>
          <p:cNvPr id="11"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B96A1B"/>
                </a:solidFill>
                <a:latin typeface="Calibri" pitchFamily="34" charset="0"/>
                <a:ea typeface="Calibri" pitchFamily="34" charset="-122"/>
                <a:cs typeface="Calibri" pitchFamily="34" charset="-120"/>
              </a:rPr>
              <a:t>For the debrief (presenter only)</a:t>
            </a:r>
            <a:endParaRPr lang="en-US" sz="1150" dirty="0"/>
          </a:p>
          <a:p>
            <a:pPr indent="0" marL="0">
              <a:lnSpc>
                <a:spcPct val="112000"/>
              </a:lnSpc>
              <a:buNone/>
            </a:pPr>
            <a:r>
              <a:rPr lang="en-US" sz="1100" dirty="0">
                <a:solidFill>
                  <a:srgbClr val="46545F"/>
                </a:solidFill>
                <a:latin typeface="Calibri" pitchFamily="34" charset="0"/>
                <a:ea typeface="Calibri" pitchFamily="34" charset="-122"/>
                <a:cs typeface="Calibri" pitchFamily="34" charset="-120"/>
              </a:rPr>
              <a:t>Missing: the actual question (which metric, which period, vs what?) · the audience and their time · a length/format contract · permission to say what the data can’t answer · “compute, don’t estimate.”</a:t>
            </a:r>
            <a:endParaRPr lang="en-US" sz="1150" dirty="0"/>
          </a:p>
        </p:txBody>
      </p:sp>
      <p:sp>
        <p:nvSpPr>
          <p:cNvPr id="12"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same diagnosis returns in Part 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14</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August 2026</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good at, what the Chinese open-weight wave changed — and which agentic tools are worth knowing by name. Everything on these slides is dated: this field re-ranks monthly.</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ASSISTANTS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names cover the chat landscape — August 2026</a:t>
            </a:r>
            <a:endParaRPr lang="en-US" sz="3000" dirty="0"/>
          </a:p>
        </p:txBody>
      </p:sp>
      <p:sp>
        <p:nvSpPr>
          <p:cNvPr id="6" name="Shape 4"/>
          <p:cNvSpPr/>
          <p:nvPr/>
        </p:nvSpPr>
        <p:spPr>
          <a:xfrm>
            <a:off x="502920" y="1481328"/>
            <a:ext cx="3611880" cy="2121408"/>
          </a:xfrm>
          <a:prstGeom prst="roundRect">
            <a:avLst>
              <a:gd name="adj" fmla="val 3448"/>
            </a:avLst>
          </a:prstGeom>
          <a:solidFill>
            <a:srgbClr val="F2F5F6"/>
          </a:solidFill>
          <a:ln/>
        </p:spPr>
      </p:sp>
      <p:sp>
        <p:nvSpPr>
          <p:cNvPr id="7" name="Text 5"/>
          <p:cNvSpPr/>
          <p:nvPr/>
        </p:nvSpPr>
        <p:spPr>
          <a:xfrm>
            <a:off x="722376" y="1609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Claude</a:t>
            </a:r>
            <a:endParaRPr lang="en-US" sz="1600" dirty="0"/>
          </a:p>
        </p:txBody>
      </p:sp>
      <p:sp>
        <p:nvSpPr>
          <p:cNvPr id="8" name="Text 6"/>
          <p:cNvSpPr/>
          <p:nvPr/>
        </p:nvSpPr>
        <p:spPr>
          <a:xfrm>
            <a:off x="722376" y="1956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Anthropic · Fable 5 / Opus 5 / Sonnet 5 / Haiku 4.5</a:t>
            </a:r>
            <a:endParaRPr lang="en-US" sz="860" dirty="0"/>
          </a:p>
        </p:txBody>
      </p:sp>
      <p:sp>
        <p:nvSpPr>
          <p:cNvPr id="9" name="Text 7"/>
          <p:cNvSpPr/>
          <p:nvPr/>
        </p:nvSpPr>
        <p:spPr>
          <a:xfrm>
            <a:off x="722376" y="2286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agentic work &amp; coding (top of SWE-bench), long documents (1M ctx), careful writing.</a:t>
            </a:r>
            <a:endParaRPr lang="en-US" sz="960" dirty="0"/>
          </a:p>
        </p:txBody>
      </p:sp>
      <p:sp>
        <p:nvSpPr>
          <p:cNvPr id="10" name="Text 8"/>
          <p:cNvSpPr/>
          <p:nvPr/>
        </p:nvSpPr>
        <p:spPr>
          <a:xfrm>
            <a:off x="722376" y="3054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premium pricing at the top tier; flagship can refuse high-risk domains by design.</a:t>
            </a:r>
            <a:endParaRPr lang="en-US" sz="880" dirty="0"/>
          </a:p>
        </p:txBody>
      </p:sp>
      <p:sp>
        <p:nvSpPr>
          <p:cNvPr id="11" name="Shape 9"/>
          <p:cNvSpPr/>
          <p:nvPr/>
        </p:nvSpPr>
        <p:spPr>
          <a:xfrm>
            <a:off x="4325112" y="1481328"/>
            <a:ext cx="3611880" cy="2121408"/>
          </a:xfrm>
          <a:prstGeom prst="roundRect">
            <a:avLst>
              <a:gd name="adj" fmla="val 3448"/>
            </a:avLst>
          </a:prstGeom>
          <a:solidFill>
            <a:srgbClr val="F2F5F6"/>
          </a:solidFill>
          <a:ln/>
        </p:spPr>
      </p:sp>
      <p:sp>
        <p:nvSpPr>
          <p:cNvPr id="12" name="Text 10"/>
          <p:cNvSpPr/>
          <p:nvPr/>
        </p:nvSpPr>
        <p:spPr>
          <a:xfrm>
            <a:off x="4544568" y="1609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ChatGPT</a:t>
            </a:r>
            <a:endParaRPr lang="en-US" sz="1600" dirty="0"/>
          </a:p>
        </p:txBody>
      </p:sp>
      <p:sp>
        <p:nvSpPr>
          <p:cNvPr id="13" name="Text 11"/>
          <p:cNvSpPr/>
          <p:nvPr/>
        </p:nvSpPr>
        <p:spPr>
          <a:xfrm>
            <a:off x="4544568" y="1956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OpenAI · GPT-5.6 family (Sol / Terra / Luna)</a:t>
            </a:r>
            <a:endParaRPr lang="en-US" sz="860" dirty="0"/>
          </a:p>
        </p:txBody>
      </p:sp>
      <p:sp>
        <p:nvSpPr>
          <p:cNvPr id="14" name="Text 12"/>
          <p:cNvSpPr/>
          <p:nvPr/>
        </p:nvSpPr>
        <p:spPr>
          <a:xfrm>
            <a:off x="4544568" y="2286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the all-rounder with the largest user base — reasoning, images, voice, Work agent mode.</a:t>
            </a:r>
            <a:endParaRPr lang="en-US" sz="960" dirty="0"/>
          </a:p>
        </p:txBody>
      </p:sp>
      <p:sp>
        <p:nvSpPr>
          <p:cNvPr id="15" name="Text 13"/>
          <p:cNvSpPr/>
          <p:nvPr/>
        </p:nvSpPr>
        <p:spPr>
          <a:xfrm>
            <a:off x="4544568" y="3054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fast model churn and renaming; check tenant/data settings before regulated content.</a:t>
            </a:r>
            <a:endParaRPr lang="en-US" sz="880" dirty="0"/>
          </a:p>
        </p:txBody>
      </p:sp>
      <p:sp>
        <p:nvSpPr>
          <p:cNvPr id="16" name="Shape 14"/>
          <p:cNvSpPr/>
          <p:nvPr/>
        </p:nvSpPr>
        <p:spPr>
          <a:xfrm>
            <a:off x="8147304" y="1481328"/>
            <a:ext cx="3611880" cy="2121408"/>
          </a:xfrm>
          <a:prstGeom prst="roundRect">
            <a:avLst>
              <a:gd name="adj" fmla="val 3448"/>
            </a:avLst>
          </a:prstGeom>
          <a:solidFill>
            <a:srgbClr val="F2F5F6"/>
          </a:solidFill>
          <a:ln/>
        </p:spPr>
      </p:sp>
      <p:sp>
        <p:nvSpPr>
          <p:cNvPr id="17" name="Text 15"/>
          <p:cNvSpPr/>
          <p:nvPr/>
        </p:nvSpPr>
        <p:spPr>
          <a:xfrm>
            <a:off x="8366760" y="1609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Gemini</a:t>
            </a:r>
            <a:endParaRPr lang="en-US" sz="1600" dirty="0"/>
          </a:p>
        </p:txBody>
      </p:sp>
      <p:sp>
        <p:nvSpPr>
          <p:cNvPr id="18" name="Text 16"/>
          <p:cNvSpPr/>
          <p:nvPr/>
        </p:nvSpPr>
        <p:spPr>
          <a:xfrm>
            <a:off x="8366760" y="1956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Google · Gemini 3 / 3.1 Pro / 3.6 Flash + Deep Think</a:t>
            </a:r>
            <a:endParaRPr lang="en-US" sz="860" dirty="0"/>
          </a:p>
        </p:txBody>
      </p:sp>
      <p:sp>
        <p:nvSpPr>
          <p:cNvPr id="19" name="Text 17"/>
          <p:cNvSpPr/>
          <p:nvPr/>
        </p:nvSpPr>
        <p:spPr>
          <a:xfrm>
            <a:off x="8366760" y="2286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deepest multimodal stack (Veo video, Nano Banana images), Workspace integration, giant context.</a:t>
            </a:r>
            <a:endParaRPr lang="en-US" sz="960" dirty="0"/>
          </a:p>
        </p:txBody>
      </p:sp>
      <p:sp>
        <p:nvSpPr>
          <p:cNvPr id="20" name="Text 18"/>
          <p:cNvSpPr/>
          <p:nvPr/>
        </p:nvSpPr>
        <p:spPr>
          <a:xfrm>
            <a:off x="8366760" y="3054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confusing model-name sprawl; best reasoning sits behind the Ultra tier.</a:t>
            </a:r>
            <a:endParaRPr lang="en-US" sz="880" dirty="0"/>
          </a:p>
        </p:txBody>
      </p:sp>
      <p:sp>
        <p:nvSpPr>
          <p:cNvPr id="21" name="Shape 19"/>
          <p:cNvSpPr/>
          <p:nvPr/>
        </p:nvSpPr>
        <p:spPr>
          <a:xfrm>
            <a:off x="502920" y="3767328"/>
            <a:ext cx="3611880" cy="2121408"/>
          </a:xfrm>
          <a:prstGeom prst="roundRect">
            <a:avLst>
              <a:gd name="adj" fmla="val 3448"/>
            </a:avLst>
          </a:prstGeom>
          <a:solidFill>
            <a:srgbClr val="F2F5F6"/>
          </a:solidFill>
          <a:ln/>
        </p:spPr>
      </p:sp>
      <p:sp>
        <p:nvSpPr>
          <p:cNvPr id="22" name="Text 20"/>
          <p:cNvSpPr/>
          <p:nvPr/>
        </p:nvSpPr>
        <p:spPr>
          <a:xfrm>
            <a:off x="722376" y="3895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Copilot</a:t>
            </a:r>
            <a:endParaRPr lang="en-US" sz="1600" dirty="0"/>
          </a:p>
        </p:txBody>
      </p:sp>
      <p:sp>
        <p:nvSpPr>
          <p:cNvPr id="23" name="Text 21"/>
          <p:cNvSpPr/>
          <p:nvPr/>
        </p:nvSpPr>
        <p:spPr>
          <a:xfrm>
            <a:off x="722376" y="4242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Microsoft · GPT-5.6 preferred + Claude selectable</a:t>
            </a:r>
            <a:endParaRPr lang="en-US" sz="860" dirty="0"/>
          </a:p>
        </p:txBody>
      </p:sp>
      <p:sp>
        <p:nvSpPr>
          <p:cNvPr id="24" name="Text 22"/>
          <p:cNvSpPr/>
          <p:nvPr/>
        </p:nvSpPr>
        <p:spPr>
          <a:xfrm>
            <a:off x="722376" y="4572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lives inside Word, Excel, Outlook, Teams with tenant-level governance — the sanctioned default at most enterprises.</a:t>
            </a:r>
            <a:endParaRPr lang="en-US" sz="960" dirty="0"/>
          </a:p>
        </p:txBody>
      </p:sp>
      <p:sp>
        <p:nvSpPr>
          <p:cNvPr id="25" name="Text 23"/>
          <p:cNvSpPr/>
          <p:nvPr/>
        </p:nvSpPr>
        <p:spPr>
          <a:xfrm>
            <a:off x="722376" y="5340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admin flags mean colleagues get different capabilities; opaque model labels.</a:t>
            </a:r>
            <a:endParaRPr lang="en-US" sz="880" dirty="0"/>
          </a:p>
        </p:txBody>
      </p:sp>
      <p:sp>
        <p:nvSpPr>
          <p:cNvPr id="26" name="Shape 24"/>
          <p:cNvSpPr/>
          <p:nvPr/>
        </p:nvSpPr>
        <p:spPr>
          <a:xfrm>
            <a:off x="4325112" y="3767328"/>
            <a:ext cx="3611880" cy="2121408"/>
          </a:xfrm>
          <a:prstGeom prst="roundRect">
            <a:avLst>
              <a:gd name="adj" fmla="val 3448"/>
            </a:avLst>
          </a:prstGeom>
          <a:solidFill>
            <a:srgbClr val="F2F5F6"/>
          </a:solidFill>
          <a:ln/>
        </p:spPr>
      </p:sp>
      <p:sp>
        <p:nvSpPr>
          <p:cNvPr id="27" name="Text 25"/>
          <p:cNvSpPr/>
          <p:nvPr/>
        </p:nvSpPr>
        <p:spPr>
          <a:xfrm>
            <a:off x="4544568" y="3895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Perplexity</a:t>
            </a:r>
            <a:endParaRPr lang="en-US" sz="1600" dirty="0"/>
          </a:p>
        </p:txBody>
      </p:sp>
      <p:sp>
        <p:nvSpPr>
          <p:cNvPr id="28" name="Text 26"/>
          <p:cNvSpPr/>
          <p:nvPr/>
        </p:nvSpPr>
        <p:spPr>
          <a:xfrm>
            <a:off x="4544568" y="4242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Perplexity · own stack + Model Council (GPT+Claude+Gemini)</a:t>
            </a:r>
            <a:endParaRPr lang="en-US" sz="860" dirty="0"/>
          </a:p>
        </p:txBody>
      </p:sp>
      <p:sp>
        <p:nvSpPr>
          <p:cNvPr id="29" name="Text 27"/>
          <p:cNvSpPr/>
          <p:nvPr/>
        </p:nvSpPr>
        <p:spPr>
          <a:xfrm>
            <a:off x="4544568" y="4572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cited web research — Pro Search reads 300+ sources; Comet agentic browser.</a:t>
            </a:r>
            <a:endParaRPr lang="en-US" sz="960" dirty="0"/>
          </a:p>
        </p:txBody>
      </p:sp>
      <p:sp>
        <p:nvSpPr>
          <p:cNvPr id="30" name="Text 28"/>
          <p:cNvSpPr/>
          <p:nvPr/>
        </p:nvSpPr>
        <p:spPr>
          <a:xfrm>
            <a:off x="4544568" y="5340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a citation isn’t proof — click through before quoting anywhere formal.</a:t>
            </a:r>
            <a:endParaRPr lang="en-US" sz="880" dirty="0"/>
          </a:p>
        </p:txBody>
      </p:sp>
      <p:sp>
        <p:nvSpPr>
          <p:cNvPr id="31" name="Shape 29"/>
          <p:cNvSpPr/>
          <p:nvPr/>
        </p:nvSpPr>
        <p:spPr>
          <a:xfrm>
            <a:off x="8147304" y="3767328"/>
            <a:ext cx="3611880" cy="2121408"/>
          </a:xfrm>
          <a:prstGeom prst="roundRect">
            <a:avLst>
              <a:gd name="adj" fmla="val 3448"/>
            </a:avLst>
          </a:prstGeom>
          <a:solidFill>
            <a:srgbClr val="F2F5F6"/>
          </a:solidFill>
          <a:ln/>
        </p:spPr>
      </p:sp>
      <p:sp>
        <p:nvSpPr>
          <p:cNvPr id="32" name="Text 30"/>
          <p:cNvSpPr/>
          <p:nvPr/>
        </p:nvSpPr>
        <p:spPr>
          <a:xfrm>
            <a:off x="8366760" y="3895344"/>
            <a:ext cx="3108960" cy="347472"/>
          </a:xfrm>
          <a:prstGeom prst="rect">
            <a:avLst/>
          </a:prstGeom>
          <a:noFill/>
          <a:ln/>
        </p:spPr>
        <p:txBody>
          <a:bodyPr wrap="square" lIns="0" tIns="0" rIns="0" bIns="0" rtlCol="0" anchor="ctr"/>
          <a:lstStyle/>
          <a:p>
            <a:pPr indent="0" marL="0">
              <a:buNone/>
            </a:pPr>
            <a:r>
              <a:rPr lang="en-US" sz="1600" b="1" dirty="0">
                <a:solidFill>
                  <a:srgbClr val="0A5B5A"/>
                </a:solidFill>
                <a:latin typeface="Cambria" pitchFamily="34" charset="0"/>
                <a:ea typeface="Cambria" pitchFamily="34" charset="-122"/>
                <a:cs typeface="Cambria" pitchFamily="34" charset="-120"/>
              </a:rPr>
              <a:t>Grok</a:t>
            </a:r>
            <a:endParaRPr lang="en-US" sz="1600" dirty="0"/>
          </a:p>
        </p:txBody>
      </p:sp>
      <p:sp>
        <p:nvSpPr>
          <p:cNvPr id="33" name="Text 31"/>
          <p:cNvSpPr/>
          <p:nvPr/>
        </p:nvSpPr>
        <p:spPr>
          <a:xfrm>
            <a:off x="8366760" y="4242816"/>
            <a:ext cx="3200400" cy="292608"/>
          </a:xfrm>
          <a:prstGeom prst="rect">
            <a:avLst/>
          </a:prstGeom>
          <a:noFill/>
          <a:ln/>
        </p:spPr>
        <p:txBody>
          <a:bodyPr wrap="square" lIns="0" tIns="0" rIns="0" bIns="0" rtlCol="0" anchor="ctr"/>
          <a:lstStyle/>
          <a:p>
            <a:pPr indent="0" marL="0">
              <a:buNone/>
            </a:pPr>
            <a:r>
              <a:rPr lang="en-US" sz="860" b="1" spc="50" kern="0" dirty="0">
                <a:solidFill>
                  <a:srgbClr val="7A8790"/>
                </a:solidFill>
                <a:latin typeface="Calibri" pitchFamily="34" charset="0"/>
                <a:ea typeface="Calibri" pitchFamily="34" charset="-122"/>
                <a:cs typeface="Calibri" pitchFamily="34" charset="-120"/>
              </a:rPr>
              <a:t>SpaceXAI · Grok 4.6</a:t>
            </a:r>
            <a:endParaRPr lang="en-US" sz="860" dirty="0"/>
          </a:p>
        </p:txBody>
      </p:sp>
      <p:sp>
        <p:nvSpPr>
          <p:cNvPr id="34" name="Text 32"/>
          <p:cNvSpPr/>
          <p:nvPr/>
        </p:nvSpPr>
        <p:spPr>
          <a:xfrm>
            <a:off x="8366760" y="4572000"/>
            <a:ext cx="3200400" cy="777240"/>
          </a:xfrm>
          <a:prstGeom prst="rect">
            <a:avLst/>
          </a:prstGeom>
          <a:noFill/>
          <a:ln/>
        </p:spPr>
        <p:txBody>
          <a:bodyPr wrap="square" lIns="0" tIns="0" rIns="0" bIns="0" rtlCol="0" anchor="ctr"/>
          <a:lstStyle/>
          <a:p>
            <a:pPr indent="0" marL="0">
              <a:lnSpc>
                <a:spcPct val="104000"/>
              </a:lnSpc>
              <a:buNone/>
            </a:pPr>
            <a:r>
              <a:rPr lang="en-US" sz="960" dirty="0">
                <a:solidFill>
                  <a:srgbClr val="46545F"/>
                </a:solidFill>
                <a:latin typeface="Calibri" pitchFamily="34" charset="0"/>
                <a:ea typeface="Calibri" pitchFamily="34" charset="-122"/>
                <a:cs typeface="Calibri" pitchFamily="34" charset="-120"/>
              </a:rPr>
              <a:t>Forte: aggressive price-performance and speed; real-time X data; coding-agent focus.</a:t>
            </a:r>
            <a:endParaRPr lang="en-US" sz="960" dirty="0"/>
          </a:p>
        </p:txBody>
      </p:sp>
      <p:sp>
        <p:nvSpPr>
          <p:cNvPr id="35" name="Text 33"/>
          <p:cNvSpPr/>
          <p:nvPr/>
        </p:nvSpPr>
        <p:spPr>
          <a:xfrm>
            <a:off x="8366760" y="5340096"/>
            <a:ext cx="3200400" cy="502920"/>
          </a:xfrm>
          <a:prstGeom prst="rect">
            <a:avLst/>
          </a:prstGeom>
          <a:noFill/>
          <a:ln/>
        </p:spPr>
        <p:txBody>
          <a:bodyPr wrap="square" lIns="0" tIns="0" rIns="0" bIns="0" rtlCol="0" anchor="ctr"/>
          <a:lstStyle/>
          <a:p>
            <a:pPr indent="0" marL="0">
              <a:lnSpc>
                <a:spcPct val="100000"/>
              </a:lnSpc>
              <a:buNone/>
            </a:pPr>
            <a:r>
              <a:rPr lang="en-US" sz="880" i="1" dirty="0">
                <a:solidFill>
                  <a:srgbClr val="B96A1B"/>
                </a:solidFill>
                <a:latin typeface="Calibri" pitchFamily="34" charset="0"/>
                <a:ea typeface="Calibri" pitchFamily="34" charset="-122"/>
                <a:cs typeface="Calibri" pitchFamily="34" charset="-120"/>
              </a:rPr>
              <a:t>Caveat: lighter enterprise governance history — apply extra review at work.</a:t>
            </a:r>
            <a:endParaRPr lang="en-US" sz="880" dirty="0"/>
          </a:p>
        </p:txBody>
      </p:sp>
      <p:sp>
        <p:nvSpPr>
          <p:cNvPr id="36" name="Text 34"/>
          <p:cNvSpPr/>
          <p:nvPr/>
        </p:nvSpPr>
        <p:spPr>
          <a:xfrm>
            <a:off x="502920" y="6108192"/>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Model names verified Aug 21, 2026 — they will have moved by the time you read this. The fortes move slower; the habits in Parts 3–5 don’t move at all.</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 — AND AFTER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What the Chinese labs brought to the table</a:t>
            </a:r>
            <a:endParaRPr lang="en-US" sz="3000" dirty="0"/>
          </a:p>
        </p:txBody>
      </p:sp>
      <p:sp>
        <p:nvSpPr>
          <p:cNvPr id="6" name="Shape 4"/>
          <p:cNvSpPr/>
          <p:nvPr/>
        </p:nvSpPr>
        <p:spPr>
          <a:xfrm>
            <a:off x="502920" y="1481328"/>
            <a:ext cx="4937760" cy="2286000"/>
          </a:xfrm>
          <a:prstGeom prst="roundRect">
            <a:avLst>
              <a:gd name="adj" fmla="val 3200"/>
            </a:avLst>
          </a:prstGeom>
          <a:solidFill>
            <a:srgbClr val="F2F5F6"/>
          </a:solidFill>
          <a:ln/>
        </p:spPr>
      </p:sp>
      <p:sp>
        <p:nvSpPr>
          <p:cNvPr id="7" name="Text 5"/>
          <p:cNvSpPr/>
          <p:nvPr/>
        </p:nvSpPr>
        <p:spPr>
          <a:xfrm>
            <a:off x="749808" y="1664208"/>
            <a:ext cx="448056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January 2025, in three facts</a:t>
            </a:r>
            <a:endParaRPr lang="en-US" sz="1400" dirty="0"/>
          </a:p>
        </p:txBody>
      </p:sp>
      <p:sp>
        <p:nvSpPr>
          <p:cNvPr id="8" name="Text 6"/>
          <p:cNvSpPr/>
          <p:nvPr/>
        </p:nvSpPr>
        <p:spPr>
          <a:xfrm>
            <a:off x="795528" y="2057400"/>
            <a:ext cx="4434840" cy="169164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080" dirty="0">
                <a:solidFill>
                  <a:srgbClr val="46545F"/>
                </a:solidFill>
                <a:latin typeface="Calibri" pitchFamily="34" charset="0"/>
                <a:ea typeface="Calibri" pitchFamily="34" charset="-122"/>
                <a:cs typeface="Calibri" pitchFamily="34" charset="-120"/>
              </a:rPr>
              <a:t>DeepSeek-R1: open-weights reasoning rivaling OpenAI’s o1, MIT-licensed, ~96% cheaper per token</a:t>
            </a:r>
            <a:endParaRPr lang="en-US" sz="1080" dirty="0"/>
          </a:p>
          <a:p>
            <a:pPr algn="l" marL="127000" indent="-127000">
              <a:lnSpc>
                <a:spcPct val="104000"/>
              </a:lnSpc>
              <a:spcAft>
                <a:spcPts val="600"/>
              </a:spcAft>
              <a:buSzPct val="100000"/>
              <a:buChar char="•"/>
            </a:pPr>
            <a:r>
              <a:rPr lang="en-US" sz="1080" dirty="0">
                <a:solidFill>
                  <a:srgbClr val="46545F"/>
                </a:solidFill>
                <a:latin typeface="Calibri" pitchFamily="34" charset="0"/>
                <a:ea typeface="Calibri" pitchFamily="34" charset="-122"/>
                <a:cs typeface="Calibri" pitchFamily="34" charset="-120"/>
              </a:rPr>
              <a:t>Nvidia lost $589B in one day (Jan 27) — the largest single-day loss in market history at the time</a:t>
            </a:r>
            <a:endParaRPr lang="en-US" sz="1080" dirty="0"/>
          </a:p>
          <a:p>
            <a:pPr algn="l" marL="127000" indent="-127000">
              <a:lnSpc>
                <a:spcPct val="104000"/>
              </a:lnSpc>
              <a:spcAft>
                <a:spcPts val="600"/>
              </a:spcAft>
              <a:buSzPct val="100000"/>
              <a:buChar char="•"/>
            </a:pPr>
            <a:r>
              <a:rPr lang="en-US" sz="1080" b="1" dirty="0">
                <a:solidFill>
                  <a:srgbClr val="46545F"/>
                </a:solidFill>
                <a:latin typeface="Calibri" pitchFamily="34" charset="0"/>
                <a:ea typeface="Calibri" pitchFamily="34" charset="-122"/>
                <a:cs typeface="Calibri" pitchFamily="34" charset="-120"/>
              </a:rPr>
              <a:t>The “$5.6M training cost”? Final-run fuel bill, not the cost of the racing team — real efficiency, oversold headline</a:t>
            </a:r>
            <a:endParaRPr lang="en-US" sz="1080" dirty="0"/>
          </a:p>
        </p:txBody>
      </p:sp>
      <p:sp>
        <p:nvSpPr>
          <p:cNvPr id="9" name="Shape 7"/>
          <p:cNvSpPr/>
          <p:nvPr/>
        </p:nvSpPr>
        <p:spPr>
          <a:xfrm>
            <a:off x="502920" y="3913632"/>
            <a:ext cx="4937760" cy="2148840"/>
          </a:xfrm>
          <a:prstGeom prst="roundRect">
            <a:avLst>
              <a:gd name="adj" fmla="val 3404"/>
            </a:avLst>
          </a:prstGeom>
          <a:solidFill>
            <a:srgbClr val="E4F0EF"/>
          </a:solidFill>
          <a:ln/>
        </p:spPr>
      </p:sp>
      <p:sp>
        <p:nvSpPr>
          <p:cNvPr id="10" name="Text 8"/>
          <p:cNvSpPr/>
          <p:nvPr/>
        </p:nvSpPr>
        <p:spPr>
          <a:xfrm>
            <a:off x="749808" y="4078224"/>
            <a:ext cx="448056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gap, measured</a:t>
            </a:r>
            <a:endParaRPr lang="en-US" sz="1400" dirty="0"/>
          </a:p>
        </p:txBody>
      </p:sp>
      <p:sp>
        <p:nvSpPr>
          <p:cNvPr id="11" name="Text 9"/>
          <p:cNvSpPr/>
          <p:nvPr/>
        </p:nvSpPr>
        <p:spPr>
          <a:xfrm>
            <a:off x="795528" y="4462272"/>
            <a:ext cx="4434840" cy="15544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080" dirty="0">
                <a:solidFill>
                  <a:srgbClr val="46545F"/>
                </a:solidFill>
                <a:latin typeface="Calibri" pitchFamily="34" charset="0"/>
                <a:ea typeface="Calibri" pitchFamily="34" charset="-122"/>
                <a:cs typeface="Calibri" pitchFamily="34" charset="-120"/>
              </a:rPr>
              <a:t>US–China top-model gap: ~3% (Stanford AI Index 2026) — down from 18–32 points in 2023</a:t>
            </a:r>
            <a:endParaRPr lang="en-US" sz="1080" dirty="0"/>
          </a:p>
          <a:p>
            <a:pPr algn="l" marL="127000" indent="-127000">
              <a:lnSpc>
                <a:spcPct val="104000"/>
              </a:lnSpc>
              <a:spcAft>
                <a:spcPts val="600"/>
              </a:spcAft>
              <a:buSzPct val="100000"/>
              <a:buChar char="•"/>
            </a:pPr>
            <a:r>
              <a:rPr lang="en-US" sz="1080" dirty="0">
                <a:solidFill>
                  <a:srgbClr val="46545F"/>
                </a:solidFill>
                <a:latin typeface="Calibri" pitchFamily="34" charset="0"/>
                <a:ea typeface="Calibri" pitchFamily="34" charset="-122"/>
                <a:cs typeface="Calibri" pitchFamily="34" charset="-120"/>
              </a:rPr>
              <a:t>…achieved on ~23× less visible private AI investment ($286B US vs $12B China, 2025)</a:t>
            </a:r>
            <a:endParaRPr lang="en-US" sz="1080" dirty="0"/>
          </a:p>
        </p:txBody>
      </p:sp>
      <p:sp>
        <p:nvSpPr>
          <p:cNvPr id="12" name="Text 10"/>
          <p:cNvSpPr/>
          <p:nvPr/>
        </p:nvSpPr>
        <p:spPr>
          <a:xfrm>
            <a:off x="5806440" y="1481328"/>
            <a:ext cx="548640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What they brought</a:t>
            </a:r>
            <a:endParaRPr lang="en-US" sz="1500" dirty="0"/>
          </a:p>
        </p:txBody>
      </p:sp>
      <p:sp>
        <p:nvSpPr>
          <p:cNvPr id="13" name="Shape 11"/>
          <p:cNvSpPr/>
          <p:nvPr/>
        </p:nvSpPr>
        <p:spPr>
          <a:xfrm>
            <a:off x="5806440" y="1984248"/>
            <a:ext cx="420624" cy="420624"/>
          </a:xfrm>
          <a:prstGeom prst="ellipse">
            <a:avLst/>
          </a:prstGeom>
          <a:solidFill>
            <a:srgbClr val="0E7C7B"/>
          </a:solidFill>
          <a:ln/>
        </p:spPr>
      </p:sp>
      <p:pic>
        <p:nvPicPr>
          <p:cNvPr id="14" name="Image 0" descr="/home/user/Claude-Works/ai-training-prompt-engineering/src/assets/icons/package_w.png">    </p:cNvPr>
          <p:cNvPicPr>
            <a:picLocks noChangeAspect="1"/>
          </p:cNvPicPr>
          <p:nvPr/>
        </p:nvPicPr>
        <p:blipFill>
          <a:blip r:embed="rId1"/>
          <a:stretch>
            <a:fillRect/>
          </a:stretch>
        </p:blipFill>
        <p:spPr>
          <a:xfrm>
            <a:off x="5915802" y="2093610"/>
            <a:ext cx="201900" cy="201900"/>
          </a:xfrm>
          <a:prstGeom prst="rect">
            <a:avLst/>
          </a:prstGeom>
        </p:spPr>
      </p:pic>
      <p:sp>
        <p:nvSpPr>
          <p:cNvPr id="15" name="Text 12"/>
          <p:cNvSpPr/>
          <p:nvPr/>
        </p:nvSpPr>
        <p:spPr>
          <a:xfrm>
            <a:off x="6428232" y="1892808"/>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Open weights, permissive licenses</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MIT / Apache models you can download, self-host, fine-tune — data never leaves your infrastructure</a:t>
            </a:r>
            <a:endParaRPr lang="en-US" sz="1200" dirty="0"/>
          </a:p>
        </p:txBody>
      </p:sp>
      <p:sp>
        <p:nvSpPr>
          <p:cNvPr id="16" name="Shape 13"/>
          <p:cNvSpPr/>
          <p:nvPr/>
        </p:nvSpPr>
        <p:spPr>
          <a:xfrm>
            <a:off x="5806440" y="2825496"/>
            <a:ext cx="420624" cy="420624"/>
          </a:xfrm>
          <a:prstGeom prst="ellipse">
            <a:avLst/>
          </a:prstGeom>
          <a:solidFill>
            <a:srgbClr val="0E7C7B"/>
          </a:solidFill>
          <a:ln/>
        </p:spPr>
      </p:sp>
      <p:pic>
        <p:nvPicPr>
          <p:cNvPr id="17" name="Image 1" descr="/home/user/Claude-Works/ai-training-prompt-engineering/src/assets/icons/cpu_w.png">    </p:cNvPr>
          <p:cNvPicPr>
            <a:picLocks noChangeAspect="1"/>
          </p:cNvPicPr>
          <p:nvPr/>
        </p:nvPicPr>
        <p:blipFill>
          <a:blip r:embed="rId2"/>
          <a:stretch>
            <a:fillRect/>
          </a:stretch>
        </p:blipFill>
        <p:spPr>
          <a:xfrm>
            <a:off x="5915802" y="2934858"/>
            <a:ext cx="201900" cy="201900"/>
          </a:xfrm>
          <a:prstGeom prst="rect">
            <a:avLst/>
          </a:prstGeom>
        </p:spPr>
      </p:pic>
      <p:sp>
        <p:nvSpPr>
          <p:cNvPr id="18" name="Text 14"/>
          <p:cNvSpPr/>
          <p:nvPr/>
        </p:nvSpPr>
        <p:spPr>
          <a:xfrm>
            <a:off x="6428232" y="2734056"/>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Efficiency as a discipline</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Mixture-of-Experts (671B total, ~37B working per token) + distillation: frontier ability at a fraction of the cost</a:t>
            </a:r>
            <a:endParaRPr lang="en-US" sz="1200" dirty="0"/>
          </a:p>
        </p:txBody>
      </p:sp>
      <p:sp>
        <p:nvSpPr>
          <p:cNvPr id="19" name="Shape 15"/>
          <p:cNvSpPr/>
          <p:nvPr/>
        </p:nvSpPr>
        <p:spPr>
          <a:xfrm>
            <a:off x="5806440" y="3666744"/>
            <a:ext cx="420624" cy="420624"/>
          </a:xfrm>
          <a:prstGeom prst="ellipse">
            <a:avLst/>
          </a:prstGeom>
          <a:solidFill>
            <a:srgbClr val="0E7C7B"/>
          </a:solidFill>
          <a:ln/>
        </p:spPr>
      </p:sp>
      <p:pic>
        <p:nvPicPr>
          <p:cNvPr id="20" name="Image 2" descr="/home/user/Claude-Works/ai-training-prompt-engineering/src/assets/icons/dollar_w.png">    </p:cNvPr>
          <p:cNvPicPr>
            <a:picLocks noChangeAspect="1"/>
          </p:cNvPicPr>
          <p:nvPr/>
        </p:nvPicPr>
        <p:blipFill>
          <a:blip r:embed="rId3"/>
          <a:stretch>
            <a:fillRect/>
          </a:stretch>
        </p:blipFill>
        <p:spPr>
          <a:xfrm>
            <a:off x="5915802" y="3776106"/>
            <a:ext cx="201900" cy="201900"/>
          </a:xfrm>
          <a:prstGeom prst="rect">
            <a:avLst/>
          </a:prstGeom>
        </p:spPr>
      </p:pic>
      <p:sp>
        <p:nvSpPr>
          <p:cNvPr id="21" name="Text 16"/>
          <p:cNvSpPr/>
          <p:nvPr/>
        </p:nvSpPr>
        <p:spPr>
          <a:xfrm>
            <a:off x="6428232" y="3575304"/>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Price pressure on everyone</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forced US labs to respond — OpenAI shipped its first open-weight models since GPT-2 (gpt-oss, Aug 2025)</a:t>
            </a:r>
            <a:endParaRPr lang="en-US" sz="1200" dirty="0"/>
          </a:p>
        </p:txBody>
      </p:sp>
      <p:sp>
        <p:nvSpPr>
          <p:cNvPr id="22" name="Shape 17"/>
          <p:cNvSpPr/>
          <p:nvPr/>
        </p:nvSpPr>
        <p:spPr>
          <a:xfrm>
            <a:off x="5806440" y="4507992"/>
            <a:ext cx="420624" cy="420624"/>
          </a:xfrm>
          <a:prstGeom prst="ellipse">
            <a:avLst/>
          </a:prstGeom>
          <a:solidFill>
            <a:srgbClr val="0E7C7B"/>
          </a:solidFill>
          <a:ln/>
        </p:spPr>
      </p:sp>
      <p:pic>
        <p:nvPicPr>
          <p:cNvPr id="23" name="Image 3" descr="/home/user/Claude-Works/ai-training-prompt-engineering/src/assets/icons/robot_w.png">    </p:cNvPr>
          <p:cNvPicPr>
            <a:picLocks noChangeAspect="1"/>
          </p:cNvPicPr>
          <p:nvPr/>
        </p:nvPicPr>
        <p:blipFill>
          <a:blip r:embed="rId4"/>
          <a:stretch>
            <a:fillRect/>
          </a:stretch>
        </p:blipFill>
        <p:spPr>
          <a:xfrm>
            <a:off x="5915802" y="4617354"/>
            <a:ext cx="201900" cy="201900"/>
          </a:xfrm>
          <a:prstGeom prst="rect">
            <a:avLst/>
          </a:prstGeom>
        </p:spPr>
      </p:pic>
      <p:sp>
        <p:nvSpPr>
          <p:cNvPr id="24" name="Text 18"/>
          <p:cNvSpPr/>
          <p:nvPr/>
        </p:nvSpPr>
        <p:spPr>
          <a:xfrm>
            <a:off x="6428232" y="4416552"/>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Open agentic models</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Kimi K2 line: trillion-parameter open models chaining hundreds of tool calls</a:t>
            </a:r>
            <a:endParaRPr lang="en-US" sz="1200" dirty="0"/>
          </a:p>
        </p:txBody>
      </p:sp>
      <p:sp>
        <p:nvSpPr>
          <p:cNvPr id="25" name="Shape 19"/>
          <p:cNvSpPr/>
          <p:nvPr/>
        </p:nvSpPr>
        <p:spPr>
          <a:xfrm>
            <a:off x="5806440" y="5349240"/>
            <a:ext cx="420624" cy="420624"/>
          </a:xfrm>
          <a:prstGeom prst="ellipse">
            <a:avLst/>
          </a:prstGeom>
          <a:solidFill>
            <a:srgbClr val="0E7C7B"/>
          </a:solidFill>
          <a:ln/>
        </p:spPr>
      </p:sp>
      <p:pic>
        <p:nvPicPr>
          <p:cNvPr id="26" name="Image 4" descr="/home/user/Claude-Works/ai-training-prompt-engineering/src/assets/icons/globe_w.png">    </p:cNvPr>
          <p:cNvPicPr>
            <a:picLocks noChangeAspect="1"/>
          </p:cNvPicPr>
          <p:nvPr/>
        </p:nvPicPr>
        <p:blipFill>
          <a:blip r:embed="rId5"/>
          <a:stretch>
            <a:fillRect/>
          </a:stretch>
        </p:blipFill>
        <p:spPr>
          <a:xfrm>
            <a:off x="5915802" y="5458602"/>
            <a:ext cx="201900" cy="201900"/>
          </a:xfrm>
          <a:prstGeom prst="rect">
            <a:avLst/>
          </a:prstGeom>
        </p:spPr>
      </p:pic>
      <p:sp>
        <p:nvSpPr>
          <p:cNvPr id="27" name="Text 20"/>
          <p:cNvSpPr/>
          <p:nvPr/>
        </p:nvSpPr>
        <p:spPr>
          <a:xfrm>
            <a:off x="6428232" y="5257800"/>
            <a:ext cx="5230368" cy="804672"/>
          </a:xfrm>
          <a:prstGeom prst="rect">
            <a:avLst/>
          </a:prstGeom>
          <a:noFill/>
          <a:ln/>
        </p:spPr>
        <p:txBody>
          <a:bodyPr wrap="square" lIns="0" tIns="0" rIns="0" bIns="0" rtlCol="0" anchor="t"/>
          <a:lstStyle/>
          <a:p>
            <a:pPr algn="l" indent="0" marL="0">
              <a:lnSpc>
                <a:spcPct val="105000"/>
              </a:lnSpc>
              <a:spcAft>
                <a:spcPts val="200"/>
              </a:spcAft>
              <a:buNone/>
            </a:pPr>
            <a:r>
              <a:rPr lang="en-US" sz="1200" b="1" dirty="0">
                <a:solidFill>
                  <a:srgbClr val="232A31"/>
                </a:solidFill>
                <a:latin typeface="Calibri" pitchFamily="34" charset="0"/>
                <a:ea typeface="Calibri" pitchFamily="34" charset="-122"/>
                <a:cs typeface="Calibri" pitchFamily="34" charset="-120"/>
              </a:rPr>
              <a:t>Global adoption</a:t>
            </a:r>
            <a:endParaRPr lang="en-US" sz="1200" dirty="0"/>
          </a:p>
          <a:p>
            <a:pPr algn="l" indent="0" marL="0">
              <a:lnSpc>
                <a:spcPct val="105000"/>
              </a:lnSpc>
              <a:buNone/>
            </a:pPr>
            <a:r>
              <a:rPr lang="en-US" sz="980" dirty="0">
                <a:solidFill>
                  <a:srgbClr val="46545F"/>
                </a:solidFill>
                <a:latin typeface="Calibri" pitchFamily="34" charset="0"/>
                <a:ea typeface="Calibri" pitchFamily="34" charset="-122"/>
                <a:cs typeface="Calibri" pitchFamily="34" charset="-120"/>
              </a:rPr>
              <a:t>Alibaba’s Qwen: the most-downloaded open family on Hugging Face, ~150K derivative models; US firms (famously Airbnb) self-host it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WHO’S WHO — AND THE RULE THAT KEEPS YOU SAFE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app sends data to China. The weights are just a file.</a:t>
            </a:r>
            <a:endParaRPr lang="en-US" sz="3000" dirty="0"/>
          </a:p>
        </p:txBody>
      </p:sp>
      <p:sp>
        <p:nvSpPr>
          <p:cNvPr id="6" name="Shape 4"/>
          <p:cNvSpPr/>
          <p:nvPr/>
        </p:nvSpPr>
        <p:spPr>
          <a:xfrm>
            <a:off x="502920" y="1481328"/>
            <a:ext cx="5394960" cy="621792"/>
          </a:xfrm>
          <a:prstGeom prst="roundRect">
            <a:avLst>
              <a:gd name="adj" fmla="val 11765"/>
            </a:avLst>
          </a:prstGeom>
          <a:solidFill>
            <a:srgbClr val="F2F5F6"/>
          </a:solidFill>
          <a:ln/>
        </p:spPr>
      </p:sp>
      <p:sp>
        <p:nvSpPr>
          <p:cNvPr id="7" name="Text 5"/>
          <p:cNvSpPr/>
          <p:nvPr/>
        </p:nvSpPr>
        <p:spPr>
          <a:xfrm>
            <a:off x="713232" y="1536192"/>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DeepSeek</a:t>
            </a:r>
            <a:endParaRPr lang="en-US" sz="1150" dirty="0"/>
          </a:p>
        </p:txBody>
      </p:sp>
      <p:sp>
        <p:nvSpPr>
          <p:cNvPr id="8" name="Text 6"/>
          <p:cNvSpPr/>
          <p:nvPr/>
        </p:nvSpPr>
        <p:spPr>
          <a:xfrm>
            <a:off x="2743200" y="1527048"/>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MoE pioneer; R1 reasoning; V4 line current (open weights)</a:t>
            </a:r>
            <a:endParaRPr lang="en-US" sz="920" dirty="0"/>
          </a:p>
        </p:txBody>
      </p:sp>
      <p:sp>
        <p:nvSpPr>
          <p:cNvPr id="9" name="Shape 7"/>
          <p:cNvSpPr/>
          <p:nvPr/>
        </p:nvSpPr>
        <p:spPr>
          <a:xfrm>
            <a:off x="502920" y="2194560"/>
            <a:ext cx="5394960" cy="621792"/>
          </a:xfrm>
          <a:prstGeom prst="roundRect">
            <a:avLst>
              <a:gd name="adj" fmla="val 11765"/>
            </a:avLst>
          </a:prstGeom>
          <a:solidFill>
            <a:srgbClr val="F2F5F6"/>
          </a:solidFill>
          <a:ln/>
        </p:spPr>
      </p:sp>
      <p:sp>
        <p:nvSpPr>
          <p:cNvPr id="10" name="Text 8"/>
          <p:cNvSpPr/>
          <p:nvPr/>
        </p:nvSpPr>
        <p:spPr>
          <a:xfrm>
            <a:off x="713232" y="2249424"/>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Qwen (Alibaba)</a:t>
            </a:r>
            <a:endParaRPr lang="en-US" sz="1150" dirty="0"/>
          </a:p>
        </p:txBody>
      </p:sp>
      <p:sp>
        <p:nvSpPr>
          <p:cNvPr id="11" name="Text 9"/>
          <p:cNvSpPr/>
          <p:nvPr/>
        </p:nvSpPr>
        <p:spPr>
          <a:xfrm>
            <a:off x="2743200" y="2240280"/>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the open ecosystem leader; Apache 2.0; every size from laptop to trillion-class</a:t>
            </a:r>
            <a:endParaRPr lang="en-US" sz="920" dirty="0"/>
          </a:p>
        </p:txBody>
      </p:sp>
      <p:sp>
        <p:nvSpPr>
          <p:cNvPr id="12" name="Shape 10"/>
          <p:cNvSpPr/>
          <p:nvPr/>
        </p:nvSpPr>
        <p:spPr>
          <a:xfrm>
            <a:off x="502920" y="2907792"/>
            <a:ext cx="5394960" cy="621792"/>
          </a:xfrm>
          <a:prstGeom prst="roundRect">
            <a:avLst>
              <a:gd name="adj" fmla="val 11765"/>
            </a:avLst>
          </a:prstGeom>
          <a:solidFill>
            <a:srgbClr val="F2F5F6"/>
          </a:solidFill>
          <a:ln/>
        </p:spPr>
      </p:sp>
      <p:sp>
        <p:nvSpPr>
          <p:cNvPr id="13" name="Text 11"/>
          <p:cNvSpPr/>
          <p:nvPr/>
        </p:nvSpPr>
        <p:spPr>
          <a:xfrm>
            <a:off x="713232" y="2962656"/>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Kimi (Moonshot)</a:t>
            </a:r>
            <a:endParaRPr lang="en-US" sz="1150" dirty="0"/>
          </a:p>
        </p:txBody>
      </p:sp>
      <p:sp>
        <p:nvSpPr>
          <p:cNvPr id="14" name="Text 12"/>
          <p:cNvSpPr/>
          <p:nvPr/>
        </p:nvSpPr>
        <p:spPr>
          <a:xfrm>
            <a:off x="2743200" y="2953512"/>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agentic specialist; 1T-param open models built for tool use</a:t>
            </a:r>
            <a:endParaRPr lang="en-US" sz="920" dirty="0"/>
          </a:p>
        </p:txBody>
      </p:sp>
      <p:sp>
        <p:nvSpPr>
          <p:cNvPr id="15" name="Shape 13"/>
          <p:cNvSpPr/>
          <p:nvPr/>
        </p:nvSpPr>
        <p:spPr>
          <a:xfrm>
            <a:off x="502920" y="3621024"/>
            <a:ext cx="5394960" cy="621792"/>
          </a:xfrm>
          <a:prstGeom prst="roundRect">
            <a:avLst>
              <a:gd name="adj" fmla="val 11765"/>
            </a:avLst>
          </a:prstGeom>
          <a:solidFill>
            <a:srgbClr val="F2F5F6"/>
          </a:solidFill>
          <a:ln/>
        </p:spPr>
      </p:sp>
      <p:sp>
        <p:nvSpPr>
          <p:cNvPr id="16" name="Text 14"/>
          <p:cNvSpPr/>
          <p:nvPr/>
        </p:nvSpPr>
        <p:spPr>
          <a:xfrm>
            <a:off x="713232" y="3675888"/>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GLM (Z.ai / Zhipu)</a:t>
            </a:r>
            <a:endParaRPr lang="en-US" sz="1150" dirty="0"/>
          </a:p>
        </p:txBody>
      </p:sp>
      <p:sp>
        <p:nvSpPr>
          <p:cNvPr id="17" name="Text 15"/>
          <p:cNvSpPr/>
          <p:nvPr/>
        </p:nvSpPr>
        <p:spPr>
          <a:xfrm>
            <a:off x="2743200" y="3666744"/>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MIT-licensed agent/coding models; on the US Entity List — procurement red flag</a:t>
            </a:r>
            <a:endParaRPr lang="en-US" sz="920" dirty="0"/>
          </a:p>
        </p:txBody>
      </p:sp>
      <p:sp>
        <p:nvSpPr>
          <p:cNvPr id="18" name="Shape 16"/>
          <p:cNvSpPr/>
          <p:nvPr/>
        </p:nvSpPr>
        <p:spPr>
          <a:xfrm>
            <a:off x="502920" y="4334256"/>
            <a:ext cx="5394960" cy="621792"/>
          </a:xfrm>
          <a:prstGeom prst="roundRect">
            <a:avLst>
              <a:gd name="adj" fmla="val 11765"/>
            </a:avLst>
          </a:prstGeom>
          <a:solidFill>
            <a:srgbClr val="F2F5F6"/>
          </a:solidFill>
          <a:ln/>
        </p:spPr>
      </p:sp>
      <p:sp>
        <p:nvSpPr>
          <p:cNvPr id="19" name="Text 17"/>
          <p:cNvSpPr/>
          <p:nvPr/>
        </p:nvSpPr>
        <p:spPr>
          <a:xfrm>
            <a:off x="713232" y="4389120"/>
            <a:ext cx="2011680" cy="512064"/>
          </a:xfrm>
          <a:prstGeom prst="rect">
            <a:avLst/>
          </a:prstGeom>
          <a:noFill/>
          <a:ln/>
        </p:spPr>
        <p:txBody>
          <a:bodyPr wrap="square" lIns="0" tIns="0" rIns="0" bIns="0" rtlCol="0" anchor="ctr"/>
          <a:lstStyle/>
          <a:p>
            <a:pPr indent="0" marL="0">
              <a:buNone/>
            </a:pPr>
            <a:r>
              <a:rPr lang="en-US" sz="1150" b="1" dirty="0">
                <a:solidFill>
                  <a:srgbClr val="0A5B5A"/>
                </a:solidFill>
                <a:latin typeface="Cambria" pitchFamily="34" charset="0"/>
                <a:ea typeface="Cambria" pitchFamily="34" charset="-122"/>
                <a:cs typeface="Cambria" pitchFamily="34" charset="-120"/>
              </a:rPr>
              <a:t>MiniMax · Baidu · Tencent</a:t>
            </a:r>
            <a:endParaRPr lang="en-US" sz="1150" dirty="0"/>
          </a:p>
        </p:txBody>
      </p:sp>
      <p:sp>
        <p:nvSpPr>
          <p:cNvPr id="20" name="Text 18"/>
          <p:cNvSpPr/>
          <p:nvPr/>
        </p:nvSpPr>
        <p:spPr>
          <a:xfrm>
            <a:off x="2743200" y="4379976"/>
            <a:ext cx="3063240" cy="530352"/>
          </a:xfrm>
          <a:prstGeom prst="rect">
            <a:avLst/>
          </a:prstGeom>
          <a:noFill/>
          <a:ln/>
        </p:spPr>
        <p:txBody>
          <a:bodyPr wrap="square" lIns="0" tIns="0" rIns="0" bIns="0" rtlCol="0" anchor="ctr"/>
          <a:lstStyle/>
          <a:p>
            <a:pPr indent="0" marL="0">
              <a:lnSpc>
                <a:spcPct val="98000"/>
              </a:lnSpc>
              <a:buNone/>
            </a:pPr>
            <a:r>
              <a:rPr lang="en-US" sz="920" dirty="0">
                <a:solidFill>
                  <a:srgbClr val="46545F"/>
                </a:solidFill>
                <a:latin typeface="Calibri" pitchFamily="34" charset="0"/>
                <a:ea typeface="Calibri" pitchFamily="34" charset="-122"/>
                <a:cs typeface="Calibri" pitchFamily="34" charset="-120"/>
              </a:rPr>
              <a:t>long-context leader · Ernie went open 2025 · broad open portfolio</a:t>
            </a:r>
            <a:endParaRPr lang="en-US" sz="920" dirty="0"/>
          </a:p>
        </p:txBody>
      </p:sp>
      <p:sp>
        <p:nvSpPr>
          <p:cNvPr id="21" name="Shape 19"/>
          <p:cNvSpPr/>
          <p:nvPr/>
        </p:nvSpPr>
        <p:spPr>
          <a:xfrm>
            <a:off x="6172200" y="1481328"/>
            <a:ext cx="5486400" cy="2194560"/>
          </a:xfrm>
          <a:prstGeom prst="roundRect">
            <a:avLst>
              <a:gd name="adj" fmla="val 3333"/>
            </a:avLst>
          </a:prstGeom>
          <a:solidFill>
            <a:srgbClr val="F9E9E8"/>
          </a:solidFill>
          <a:ln/>
        </p:spPr>
      </p:sp>
      <p:sp>
        <p:nvSpPr>
          <p:cNvPr id="22" name="Text 20"/>
          <p:cNvSpPr/>
          <p:nvPr/>
        </p:nvSpPr>
        <p:spPr>
          <a:xfrm>
            <a:off x="6419088" y="1645920"/>
            <a:ext cx="5029200" cy="320040"/>
          </a:xfrm>
          <a:prstGeom prst="rect">
            <a:avLst/>
          </a:prstGeom>
          <a:noFill/>
          <a:ln/>
        </p:spPr>
        <p:txBody>
          <a:bodyPr wrap="square" lIns="0" tIns="0" rIns="0" bIns="0" rtlCol="0" anchor="ctr"/>
          <a:lstStyle/>
          <a:p>
            <a:pPr indent="0" marL="0">
              <a:buNone/>
            </a:pPr>
            <a:r>
              <a:rPr lang="en-US" sz="1350" b="1" dirty="0">
                <a:solidFill>
                  <a:srgbClr val="AF3230"/>
                </a:solidFill>
                <a:latin typeface="Cambria" pitchFamily="34" charset="0"/>
                <a:ea typeface="Cambria" pitchFamily="34" charset="-122"/>
                <a:cs typeface="Cambria" pitchFamily="34" charset="-120"/>
              </a:rPr>
              <a:t>Consumer apps: not for work. Ever.</a:t>
            </a:r>
            <a:endParaRPr lang="en-US" sz="1350" dirty="0"/>
          </a:p>
        </p:txBody>
      </p:sp>
      <p:sp>
        <p:nvSpPr>
          <p:cNvPr id="23" name="Text 21"/>
          <p:cNvSpPr/>
          <p:nvPr/>
        </p:nvSpPr>
        <p:spPr>
          <a:xfrm>
            <a:off x="6464808" y="2011680"/>
            <a:ext cx="4937760" cy="160020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050" dirty="0">
                <a:solidFill>
                  <a:srgbClr val="46545F"/>
                </a:solidFill>
                <a:latin typeface="Calibri" pitchFamily="34" charset="0"/>
                <a:ea typeface="Calibri" pitchFamily="34" charset="-122"/>
                <a:cs typeface="Calibri" pitchFamily="34" charset="-120"/>
              </a:rPr>
              <a:t>Data goes to servers in China, under Chinese law — Italy blocked the DeepSeek app; banned on government devices in the US, Australia, South Korea, Taiwan…</a:t>
            </a:r>
            <a:endParaRPr lang="en-US" sz="1050" dirty="0"/>
          </a:p>
          <a:p>
            <a:pPr algn="l" marL="127000" indent="-127000">
              <a:lnSpc>
                <a:spcPct val="104000"/>
              </a:lnSpc>
              <a:spcAft>
                <a:spcPts val="600"/>
              </a:spcAft>
              <a:buSzPct val="100000"/>
              <a:buChar char="•"/>
            </a:pPr>
            <a:r>
              <a:rPr lang="en-US" sz="1050" b="1" dirty="0">
                <a:solidFill>
                  <a:srgbClr val="46545F"/>
                </a:solidFill>
                <a:latin typeface="Calibri" pitchFamily="34" charset="0"/>
                <a:ea typeface="Calibri" pitchFamily="34" charset="-122"/>
                <a:cs typeface="Calibri" pitchFamily="34" charset="-120"/>
              </a:rPr>
              <a:t>1 in 25 enterprise AI prompts went to a China-based app in 2025 — mostly without IT knowing (Harmonic, 22M prompts)</a:t>
            </a:r>
            <a:endParaRPr lang="en-US" sz="1050" dirty="0"/>
          </a:p>
        </p:txBody>
      </p:sp>
      <p:sp>
        <p:nvSpPr>
          <p:cNvPr id="24" name="Shape 22"/>
          <p:cNvSpPr/>
          <p:nvPr/>
        </p:nvSpPr>
        <p:spPr>
          <a:xfrm>
            <a:off x="6172200" y="3840480"/>
            <a:ext cx="5486400" cy="2194560"/>
          </a:xfrm>
          <a:prstGeom prst="roundRect">
            <a:avLst>
              <a:gd name="adj" fmla="val 3333"/>
            </a:avLst>
          </a:prstGeom>
          <a:solidFill>
            <a:srgbClr val="E7F2EC"/>
          </a:solidFill>
          <a:ln/>
        </p:spPr>
      </p:sp>
      <p:sp>
        <p:nvSpPr>
          <p:cNvPr id="25" name="Text 23"/>
          <p:cNvSpPr/>
          <p:nvPr/>
        </p:nvSpPr>
        <p:spPr>
          <a:xfrm>
            <a:off x="6419088" y="4005072"/>
            <a:ext cx="5029200" cy="320040"/>
          </a:xfrm>
          <a:prstGeom prst="rect">
            <a:avLst/>
          </a:prstGeom>
          <a:noFill/>
          <a:ln/>
        </p:spPr>
        <p:txBody>
          <a:bodyPr wrap="square" lIns="0" tIns="0" rIns="0" bIns="0" rtlCol="0" anchor="ctr"/>
          <a:lstStyle/>
          <a:p>
            <a:pPr indent="0" marL="0">
              <a:buNone/>
            </a:pPr>
            <a:r>
              <a:rPr lang="en-US" sz="1350" b="1" dirty="0">
                <a:solidFill>
                  <a:srgbClr val="3B8560"/>
                </a:solidFill>
                <a:latin typeface="Cambria" pitchFamily="34" charset="0"/>
                <a:ea typeface="Cambria" pitchFamily="34" charset="-122"/>
                <a:cs typeface="Cambria" pitchFamily="34" charset="-120"/>
              </a:rPr>
              <a:t>Self-hosted open weights: a different question</a:t>
            </a:r>
            <a:endParaRPr lang="en-US" sz="1350" dirty="0"/>
          </a:p>
        </p:txBody>
      </p:sp>
      <p:sp>
        <p:nvSpPr>
          <p:cNvPr id="26" name="Text 24"/>
          <p:cNvSpPr/>
          <p:nvPr/>
        </p:nvSpPr>
        <p:spPr>
          <a:xfrm>
            <a:off x="6464808" y="4370832"/>
            <a:ext cx="4937760" cy="15544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050" dirty="0">
                <a:solidFill>
                  <a:srgbClr val="46545F"/>
                </a:solidFill>
                <a:latin typeface="Calibri" pitchFamily="34" charset="0"/>
                <a:ea typeface="Calibri" pitchFamily="34" charset="-122"/>
                <a:cs typeface="Calibri" pitchFamily="34" charset="-120"/>
              </a:rPr>
              <a:t>Restaurant vs cookbook: the app sees your order; the downloaded weights cook at home — nothing is sent anywhere</a:t>
            </a:r>
            <a:endParaRPr lang="en-US" sz="1050" dirty="0"/>
          </a:p>
          <a:p>
            <a:pPr algn="l" marL="127000" indent="-127000">
              <a:lnSpc>
                <a:spcPct val="104000"/>
              </a:lnSpc>
              <a:spcAft>
                <a:spcPts val="600"/>
              </a:spcAft>
              <a:buSzPct val="100000"/>
              <a:buChar char="•"/>
            </a:pPr>
            <a:r>
              <a:rPr lang="en-US" sz="1050" dirty="0">
                <a:solidFill>
                  <a:srgbClr val="46545F"/>
                </a:solidFill>
                <a:latin typeface="Calibri" pitchFamily="34" charset="0"/>
                <a:ea typeface="Calibri" pitchFamily="34" charset="-122"/>
                <a:cs typeface="Calibri" pitchFamily="34" charset="-120"/>
              </a:rPr>
              <a:t>Still IT/governance territory: licenses, Entity-List vendors, and alignment quirks travel with the weights (a local R1 still won’t discuss Tiananmen) — evaluate like any software of unknown provenance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Names you’ll hear — and what each is actually for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ellipse">
            <a:avLst/>
          </a:prstGeom>
          <a:solidFill>
            <a:srgbClr val="0E7C7B"/>
          </a:solidFill>
          <a:ln/>
        </p:spPr>
      </p:sp>
      <p:pic>
        <p:nvPicPr>
          <p:cNvPr id="8" name="Image 0" descr="/home/user/Claude-Works/ai-training-prompt-engineering/src/assets/icons/terminal_w.png">    </p:cNvPr>
          <p:cNvPicPr>
            <a:picLocks noChangeAspect="1"/>
          </p:cNvPicPr>
          <p:nvPr/>
        </p:nvPicPr>
        <p:blipFill>
          <a:blip r:embed="rId1"/>
          <a:stretch>
            <a:fillRect/>
          </a:stretch>
        </p:blipFill>
        <p:spPr>
          <a:xfrm>
            <a:off x="786384" y="1874520"/>
            <a:ext cx="219456" cy="219456"/>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Anthropic</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Agentic coding AND general file/data automation — terminal, desktop, web. Points at a real folder: reads PDFs, builds spreadsheets, writes reports. Skills make workflows repeatable.</a:t>
            </a:r>
            <a:endParaRPr lang="en-US" sz="120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ellipse">
            <a:avLst/>
          </a:prstGeom>
          <a:solidFill>
            <a:srgbClr val="0E7C7B"/>
          </a:solidFill>
          <a:ln/>
        </p:spPr>
      </p:sp>
      <p:pic>
        <p:nvPicPr>
          <p:cNvPr id="12" name="Image 1" descr="/home/user/Claude-Works/ai-training-prompt-engineering/src/assets/icons/users_w.png">    </p:cNvPr>
          <p:cNvPicPr>
            <a:picLocks noChangeAspect="1"/>
          </p:cNvPicPr>
          <p:nvPr/>
        </p:nvPicPr>
        <p:blipFill>
          <a:blip r:embed="rId2"/>
          <a:stretch>
            <a:fillRect/>
          </a:stretch>
        </p:blipFill>
        <p:spPr>
          <a:xfrm>
            <a:off x="6455664" y="1874520"/>
            <a:ext cx="219456" cy="219456"/>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Anthropic</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The same engine packaged for non-technical knowledge work: “describe the outcome, step away, come back to finished files.”</a:t>
            </a:r>
            <a:endParaRPr lang="en-US" sz="120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ellipse">
            <a:avLst/>
          </a:prstGeom>
          <a:solidFill>
            <a:srgbClr val="0E7C7B"/>
          </a:solidFill>
          <a:ln/>
        </p:spPr>
      </p:sp>
      <p:pic>
        <p:nvPicPr>
          <p:cNvPr id="16" name="Image 2" descr="/home/user/Claude-Works/ai-training-prompt-engineering/src/assets/icons/zap_w.png">    </p:cNvPr>
          <p:cNvPicPr>
            <a:picLocks noChangeAspect="1"/>
          </p:cNvPicPr>
          <p:nvPr/>
        </p:nvPicPr>
        <p:blipFill>
          <a:blip r:embed="rId3"/>
          <a:stretch>
            <a:fillRect/>
          </a:stretch>
        </p:blipFill>
        <p:spPr>
          <a:xfrm>
            <a:off x="786384" y="3044952"/>
            <a:ext cx="219456" cy="219456"/>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OpenAI</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Agent mode beside Chat and Codex: connects Slack/Gmail/Drive, runs scheduled tasks, produces decks, sheets, small apps.</a:t>
            </a:r>
            <a:endParaRPr lang="en-US" sz="120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ellipse">
            <a:avLst/>
          </a:prstGeom>
          <a:solidFill>
            <a:srgbClr val="0E7C7B"/>
          </a:solidFill>
          <a:ln/>
        </p:spPr>
      </p:sp>
      <p:pic>
        <p:nvPicPr>
          <p:cNvPr id="20" name="Image 3" descr="/home/user/Claude-Works/ai-training-prompt-engineering/src/assets/icons/grid_w.png">    </p:cNvPr>
          <p:cNvPicPr>
            <a:picLocks noChangeAspect="1"/>
          </p:cNvPicPr>
          <p:nvPr/>
        </p:nvPicPr>
        <p:blipFill>
          <a:blip r:embed="rId4"/>
          <a:stretch>
            <a:fillRect/>
          </a:stretch>
        </p:blipFill>
        <p:spPr>
          <a:xfrm>
            <a:off x="6455664" y="3044952"/>
            <a:ext cx="219456" cy="219456"/>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Microsoft</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0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ellipse">
            <a:avLst/>
          </a:prstGeom>
          <a:solidFill>
            <a:srgbClr val="0E7C7B"/>
          </a:solidFill>
          <a:ln/>
        </p:spPr>
      </p:sp>
      <p:pic>
        <p:nvPicPr>
          <p:cNvPr id="24" name="Image 4" descr="/home/user/Claude-Works/ai-training-prompt-engineering/src/assets/icons/code_w.png">    </p:cNvPr>
          <p:cNvPicPr>
            <a:picLocks noChangeAspect="1"/>
          </p:cNvPicPr>
          <p:nvPr/>
        </p:nvPicPr>
        <p:blipFill>
          <a:blip r:embed="rId5"/>
          <a:stretch>
            <a:fillRect/>
          </a:stretch>
        </p:blipFill>
        <p:spPr>
          <a:xfrm>
            <a:off x="786384" y="4215384"/>
            <a:ext cx="219456" cy="219456"/>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Coding IDEs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Cursor · Devin · GitHub Copilot</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Developer-grade agents: multi-file refactors, assign-an-issue-get-a-PR. Engineering tools, not business-user tools.</a:t>
            </a:r>
            <a:endParaRPr lang="en-US" sz="120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ellipse">
            <a:avLst/>
          </a:prstGeom>
          <a:solidFill>
            <a:srgbClr val="0E7C7B"/>
          </a:solidFill>
          <a:ln/>
        </p:spPr>
      </p:sp>
      <p:pic>
        <p:nvPicPr>
          <p:cNvPr id="28" name="Image 5" descr="/home/user/Claude-Works/ai-training-prompt-engineering/src/assets/icons/globe_w.png">    </p:cNvPr>
          <p:cNvPicPr>
            <a:picLocks noChangeAspect="1"/>
          </p:cNvPicPr>
          <p:nvPr/>
        </p:nvPicPr>
        <p:blipFill>
          <a:blip r:embed="rId6"/>
          <a:stretch>
            <a:fillRect/>
          </a:stretch>
        </p:blipFill>
        <p:spPr>
          <a:xfrm>
            <a:off x="6455664" y="4215384"/>
            <a:ext cx="219456" cy="219456"/>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Browser agents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Comet · Claude in Chrome</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The assistant rides in your browser, sees pages, acts on them. Powerful; injection-prone — treat every page as untrusted input.</a:t>
            </a:r>
            <a:endParaRPr lang="en-US" sz="120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ellipse">
            <a:avLst/>
          </a:prstGeom>
          <a:solidFill>
            <a:srgbClr val="0E7C7B"/>
          </a:solidFill>
          <a:ln/>
        </p:spPr>
      </p:sp>
      <p:pic>
        <p:nvPicPr>
          <p:cNvPr id="32" name="Image 6" descr="/home/user/Claude-Works/ai-training-prompt-engineering/src/assets/icons/branch_w.png">    </p:cNvPr>
          <p:cNvPicPr>
            <a:picLocks noChangeAspect="1"/>
          </p:cNvPicPr>
          <p:nvPr/>
        </p:nvPicPr>
        <p:blipFill>
          <a:blip r:embed="rId7"/>
          <a:stretch>
            <a:fillRect/>
          </a:stretch>
        </p:blipFill>
        <p:spPr>
          <a:xfrm>
            <a:off x="786384" y="5385816"/>
            <a:ext cx="219456" cy="219456"/>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n8n · Zapier</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0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open source</a:t>
            </a:r>
            <a:endParaRPr lang="en-US" sz="1200" dirty="0"/>
          </a:p>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DIY personal agent run from WhatsApp/Telegram; ~250K GitHub stars — and 2026’s security cautionary tale. Not for corporate use; its lessons come in Part 5.</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RIGHT TOOL FOR THE TASK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MATRIX</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Right tool for the task — August 2026</a:t>
            </a:r>
            <a:endParaRPr lang="en-US" sz="3000" dirty="0"/>
          </a:p>
        </p:txBody>
      </p:sp>
      <p:sp>
        <p:nvSpPr>
          <p:cNvPr id="6" name="Shape 4"/>
          <p:cNvSpPr/>
          <p:nvPr/>
        </p:nvSpPr>
        <p:spPr>
          <a:xfrm>
            <a:off x="502920" y="1463040"/>
            <a:ext cx="11155680" cy="502920"/>
          </a:xfrm>
          <a:prstGeom prst="roundRect">
            <a:avLst>
              <a:gd name="adj" fmla="val 14545"/>
            </a:avLst>
          </a:prstGeom>
          <a:solidFill>
            <a:srgbClr val="F2F5F6"/>
          </a:solidFill>
          <a:ln/>
        </p:spPr>
      </p:sp>
      <p:sp>
        <p:nvSpPr>
          <p:cNvPr id="7" name="Text 5"/>
          <p:cNvSpPr/>
          <p:nvPr/>
        </p:nvSpPr>
        <p:spPr>
          <a:xfrm>
            <a:off x="713232" y="1499616"/>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Long documents &amp; doc comparison</a:t>
            </a:r>
            <a:endParaRPr lang="en-US" sz="1050" dirty="0"/>
          </a:p>
        </p:txBody>
      </p:sp>
      <p:sp>
        <p:nvSpPr>
          <p:cNvPr id="8" name="Text 6"/>
          <p:cNvSpPr/>
          <p:nvPr/>
        </p:nvSpPr>
        <p:spPr>
          <a:xfrm>
            <a:off x="4114800" y="1499616"/>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Claude or Gemini (1M-class context) · confidential material → your approved internal tool only</a:t>
            </a:r>
            <a:endParaRPr lang="en-US" sz="960" dirty="0"/>
          </a:p>
        </p:txBody>
      </p:sp>
      <p:sp>
        <p:nvSpPr>
          <p:cNvPr id="9" name="Shape 7"/>
          <p:cNvSpPr/>
          <p:nvPr/>
        </p:nvSpPr>
        <p:spPr>
          <a:xfrm>
            <a:off x="502920" y="2039112"/>
            <a:ext cx="11155680" cy="502920"/>
          </a:xfrm>
          <a:prstGeom prst="roundRect">
            <a:avLst>
              <a:gd name="adj" fmla="val 14545"/>
            </a:avLst>
          </a:prstGeom>
          <a:solidFill>
            <a:srgbClr val="FFFFFF"/>
          </a:solidFill>
          <a:ln w="9525">
            <a:solidFill>
              <a:srgbClr val="DCE3E6"/>
            </a:solidFill>
            <a:prstDash val="solid"/>
          </a:ln>
        </p:spPr>
      </p:sp>
      <p:sp>
        <p:nvSpPr>
          <p:cNvPr id="10" name="Text 8"/>
          <p:cNvSpPr/>
          <p:nvPr/>
        </p:nvSpPr>
        <p:spPr>
          <a:xfrm>
            <a:off x="713232" y="2075688"/>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Data analysis</a:t>
            </a:r>
            <a:endParaRPr lang="en-US" sz="1050" dirty="0"/>
          </a:p>
        </p:txBody>
      </p:sp>
      <p:sp>
        <p:nvSpPr>
          <p:cNvPr id="11" name="Text 9"/>
          <p:cNvSpPr/>
          <p:nvPr/>
        </p:nvSpPr>
        <p:spPr>
          <a:xfrm>
            <a:off x="4114800" y="2075688"/>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Copilot Excel Agent Mode (in-tenant) · Claude / ChatGPT with code execution · agentic: Claude Code / Cowork for file crunching</a:t>
            </a:r>
            <a:endParaRPr lang="en-US" sz="960" dirty="0"/>
          </a:p>
        </p:txBody>
      </p:sp>
      <p:sp>
        <p:nvSpPr>
          <p:cNvPr id="12" name="Shape 10"/>
          <p:cNvSpPr/>
          <p:nvPr/>
        </p:nvSpPr>
        <p:spPr>
          <a:xfrm>
            <a:off x="502920" y="2615184"/>
            <a:ext cx="11155680" cy="502920"/>
          </a:xfrm>
          <a:prstGeom prst="roundRect">
            <a:avLst>
              <a:gd name="adj" fmla="val 14545"/>
            </a:avLst>
          </a:prstGeom>
          <a:solidFill>
            <a:srgbClr val="F2F5F6"/>
          </a:solidFill>
          <a:ln/>
        </p:spPr>
      </p:sp>
      <p:sp>
        <p:nvSpPr>
          <p:cNvPr id="13" name="Text 11"/>
          <p:cNvSpPr/>
          <p:nvPr/>
        </p:nvSpPr>
        <p:spPr>
          <a:xfrm>
            <a:off x="713232" y="2651760"/>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Presentations &amp; documents</a:t>
            </a:r>
            <a:endParaRPr lang="en-US" sz="1050" dirty="0"/>
          </a:p>
        </p:txBody>
      </p:sp>
      <p:sp>
        <p:nvSpPr>
          <p:cNvPr id="14" name="Text 12"/>
          <p:cNvSpPr/>
          <p:nvPr/>
        </p:nvSpPr>
        <p:spPr>
          <a:xfrm>
            <a:off x="4114800" y="2651760"/>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Copilot in PowerPoint (your templates) · Claude Cowork / ChatGPT Work build full files</a:t>
            </a:r>
            <a:endParaRPr lang="en-US" sz="960" dirty="0"/>
          </a:p>
        </p:txBody>
      </p:sp>
      <p:sp>
        <p:nvSpPr>
          <p:cNvPr id="15" name="Shape 13"/>
          <p:cNvSpPr/>
          <p:nvPr/>
        </p:nvSpPr>
        <p:spPr>
          <a:xfrm>
            <a:off x="502920" y="3191256"/>
            <a:ext cx="11155680" cy="502920"/>
          </a:xfrm>
          <a:prstGeom prst="roundRect">
            <a:avLst>
              <a:gd name="adj" fmla="val 14545"/>
            </a:avLst>
          </a:prstGeom>
          <a:solidFill>
            <a:srgbClr val="FFFFFF"/>
          </a:solidFill>
          <a:ln w="9525">
            <a:solidFill>
              <a:srgbClr val="DCE3E6"/>
            </a:solidFill>
            <a:prstDash val="solid"/>
          </a:ln>
        </p:spPr>
      </p:sp>
      <p:sp>
        <p:nvSpPr>
          <p:cNvPr id="16" name="Text 14"/>
          <p:cNvSpPr/>
          <p:nvPr/>
        </p:nvSpPr>
        <p:spPr>
          <a:xfrm>
            <a:off x="713232" y="3227832"/>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Cited web research</a:t>
            </a:r>
            <a:endParaRPr lang="en-US" sz="1050" dirty="0"/>
          </a:p>
        </p:txBody>
      </p:sp>
      <p:sp>
        <p:nvSpPr>
          <p:cNvPr id="17" name="Text 15"/>
          <p:cNvSpPr/>
          <p:nvPr/>
        </p:nvSpPr>
        <p:spPr>
          <a:xfrm>
            <a:off x="4114800" y="3227832"/>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Perplexity first · deep-research modes in ChatGPT / Gemini / Claude · verify citations regardless</a:t>
            </a:r>
            <a:endParaRPr lang="en-US" sz="960" dirty="0"/>
          </a:p>
        </p:txBody>
      </p:sp>
      <p:sp>
        <p:nvSpPr>
          <p:cNvPr id="18" name="Shape 16"/>
          <p:cNvSpPr/>
          <p:nvPr/>
        </p:nvSpPr>
        <p:spPr>
          <a:xfrm>
            <a:off x="502920" y="3767328"/>
            <a:ext cx="11155680" cy="502920"/>
          </a:xfrm>
          <a:prstGeom prst="roundRect">
            <a:avLst>
              <a:gd name="adj" fmla="val 14545"/>
            </a:avLst>
          </a:prstGeom>
          <a:solidFill>
            <a:srgbClr val="F2F5F6"/>
          </a:solidFill>
          <a:ln/>
        </p:spPr>
      </p:sp>
      <p:sp>
        <p:nvSpPr>
          <p:cNvPr id="19" name="Text 17"/>
          <p:cNvSpPr/>
          <p:nvPr/>
        </p:nvSpPr>
        <p:spPr>
          <a:xfrm>
            <a:off x="713232" y="3803904"/>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Writing &amp; editing</a:t>
            </a:r>
            <a:endParaRPr lang="en-US" sz="1050" dirty="0"/>
          </a:p>
        </p:txBody>
      </p:sp>
      <p:sp>
        <p:nvSpPr>
          <p:cNvPr id="20" name="Text 18"/>
          <p:cNvSpPr/>
          <p:nvPr/>
        </p:nvSpPr>
        <p:spPr>
          <a:xfrm>
            <a:off x="4114800" y="3803904"/>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All capable; Claude for careful long-form · Copilot for in-place edits in Outlook/Word</a:t>
            </a:r>
            <a:endParaRPr lang="en-US" sz="960" dirty="0"/>
          </a:p>
        </p:txBody>
      </p:sp>
      <p:sp>
        <p:nvSpPr>
          <p:cNvPr id="21" name="Shape 19"/>
          <p:cNvSpPr/>
          <p:nvPr/>
        </p:nvSpPr>
        <p:spPr>
          <a:xfrm>
            <a:off x="502920" y="4343400"/>
            <a:ext cx="11155680" cy="502920"/>
          </a:xfrm>
          <a:prstGeom prst="roundRect">
            <a:avLst>
              <a:gd name="adj" fmla="val 14545"/>
            </a:avLst>
          </a:prstGeom>
          <a:solidFill>
            <a:srgbClr val="FFFFFF"/>
          </a:solidFill>
          <a:ln w="9525">
            <a:solidFill>
              <a:srgbClr val="DCE3E6"/>
            </a:solidFill>
            <a:prstDash val="solid"/>
          </a:ln>
        </p:spPr>
      </p:sp>
      <p:sp>
        <p:nvSpPr>
          <p:cNvPr id="22" name="Text 20"/>
          <p:cNvSpPr/>
          <p:nvPr/>
        </p:nvSpPr>
        <p:spPr>
          <a:xfrm>
            <a:off x="713232" y="4379976"/>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Coding &amp; repo work</a:t>
            </a:r>
            <a:endParaRPr lang="en-US" sz="1050" dirty="0"/>
          </a:p>
        </p:txBody>
      </p:sp>
      <p:sp>
        <p:nvSpPr>
          <p:cNvPr id="23" name="Text 21"/>
          <p:cNvSpPr/>
          <p:nvPr/>
        </p:nvSpPr>
        <p:spPr>
          <a:xfrm>
            <a:off x="4114800" y="4379976"/>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Claude Code · Cursor · GitHub Copilot · (SWE-bench leaders: Claude Opus 5 / Fable 5, ~95–96%)</a:t>
            </a:r>
            <a:endParaRPr lang="en-US" sz="960" dirty="0"/>
          </a:p>
        </p:txBody>
      </p:sp>
      <p:sp>
        <p:nvSpPr>
          <p:cNvPr id="24" name="Shape 22"/>
          <p:cNvSpPr/>
          <p:nvPr/>
        </p:nvSpPr>
        <p:spPr>
          <a:xfrm>
            <a:off x="502920" y="4919472"/>
            <a:ext cx="11155680" cy="502920"/>
          </a:xfrm>
          <a:prstGeom prst="roundRect">
            <a:avLst>
              <a:gd name="adj" fmla="val 14545"/>
            </a:avLst>
          </a:prstGeom>
          <a:solidFill>
            <a:srgbClr val="F2F5F6"/>
          </a:solidFill>
          <a:ln/>
        </p:spPr>
      </p:sp>
      <p:sp>
        <p:nvSpPr>
          <p:cNvPr id="25" name="Text 23"/>
          <p:cNvSpPr/>
          <p:nvPr/>
        </p:nvSpPr>
        <p:spPr>
          <a:xfrm>
            <a:off x="713232" y="4956048"/>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Images · video</a:t>
            </a:r>
            <a:endParaRPr lang="en-US" sz="1050" dirty="0"/>
          </a:p>
        </p:txBody>
      </p:sp>
      <p:sp>
        <p:nvSpPr>
          <p:cNvPr id="26" name="Text 24"/>
          <p:cNvSpPr/>
          <p:nvPr/>
        </p:nvSpPr>
        <p:spPr>
          <a:xfrm>
            <a:off x="4114800" y="4956048"/>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ChatGPT Images 2.0 (photoreal) · Nano Banana 2 (stylized/text) · Veo 3.1 (video)</a:t>
            </a:r>
            <a:endParaRPr lang="en-US" sz="960" dirty="0"/>
          </a:p>
        </p:txBody>
      </p:sp>
      <p:sp>
        <p:nvSpPr>
          <p:cNvPr id="27" name="Shape 25"/>
          <p:cNvSpPr/>
          <p:nvPr/>
        </p:nvSpPr>
        <p:spPr>
          <a:xfrm>
            <a:off x="502920" y="5495544"/>
            <a:ext cx="11155680" cy="502920"/>
          </a:xfrm>
          <a:prstGeom prst="roundRect">
            <a:avLst>
              <a:gd name="adj" fmla="val 14545"/>
            </a:avLst>
          </a:prstGeom>
          <a:solidFill>
            <a:srgbClr val="FFFFFF"/>
          </a:solidFill>
          <a:ln w="9525">
            <a:solidFill>
              <a:srgbClr val="DCE3E6"/>
            </a:solidFill>
            <a:prstDash val="solid"/>
          </a:ln>
        </p:spPr>
      </p:sp>
      <p:sp>
        <p:nvSpPr>
          <p:cNvPr id="28" name="Text 26"/>
          <p:cNvSpPr/>
          <p:nvPr/>
        </p:nvSpPr>
        <p:spPr>
          <a:xfrm>
            <a:off x="713232" y="5532120"/>
            <a:ext cx="3291840" cy="42976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Speed &amp; bulk / self-hosting</a:t>
            </a:r>
            <a:endParaRPr lang="en-US" sz="1050" dirty="0"/>
          </a:p>
        </p:txBody>
      </p:sp>
      <p:sp>
        <p:nvSpPr>
          <p:cNvPr id="29" name="Text 27"/>
          <p:cNvSpPr/>
          <p:nvPr/>
        </p:nvSpPr>
        <p:spPr>
          <a:xfrm>
            <a:off x="4114800" y="5532120"/>
            <a:ext cx="7360920" cy="429768"/>
          </a:xfrm>
          <a:prstGeom prst="rect">
            <a:avLst/>
          </a:prstGeom>
          <a:noFill/>
          <a:ln/>
        </p:spPr>
        <p:txBody>
          <a:bodyPr wrap="square" lIns="0" tIns="0" rIns="0" bIns="0" rtlCol="0" anchor="ctr"/>
          <a:lstStyle/>
          <a:p>
            <a:pPr indent="0" marL="0">
              <a:lnSpc>
                <a:spcPct val="95000"/>
              </a:lnSpc>
              <a:buNone/>
            </a:pPr>
            <a:r>
              <a:rPr lang="en-US" sz="960" dirty="0">
                <a:solidFill>
                  <a:srgbClr val="46545F"/>
                </a:solidFill>
                <a:latin typeface="Calibri" pitchFamily="34" charset="0"/>
                <a:ea typeface="Calibri" pitchFamily="34" charset="-122"/>
                <a:cs typeface="Calibri" pitchFamily="34" charset="-120"/>
              </a:rPr>
              <a:t>Gemini Flash, Claude Haiku (cheap+fast) · open weights (Qwen, DeepSeek, Kimi) via approved infra</a:t>
            </a:r>
            <a:endParaRPr lang="en-US" sz="960" dirty="0"/>
          </a:p>
        </p:txBody>
      </p:sp>
      <p:sp>
        <p:nvSpPr>
          <p:cNvPr id="30" name="Shape 28"/>
          <p:cNvSpPr/>
          <p:nvPr/>
        </p:nvSpPr>
        <p:spPr>
          <a:xfrm>
            <a:off x="502920" y="6053328"/>
            <a:ext cx="11155680" cy="438912"/>
          </a:xfrm>
          <a:prstGeom prst="roundRect">
            <a:avLst>
              <a:gd name="adj" fmla="val 16667"/>
            </a:avLst>
          </a:prstGeom>
          <a:solidFill>
            <a:srgbClr val="FBF0E0"/>
          </a:solidFill>
          <a:ln/>
        </p:spPr>
      </p:sp>
      <p:sp>
        <p:nvSpPr>
          <p:cNvPr id="31" name="Shape 29"/>
          <p:cNvSpPr/>
          <p:nvPr/>
        </p:nvSpPr>
        <p:spPr>
          <a:xfrm>
            <a:off x="667512" y="6080760"/>
            <a:ext cx="384048" cy="384048"/>
          </a:xfrm>
          <a:prstGeom prst="ellipse">
            <a:avLst/>
          </a:prstGeom>
          <a:solidFill>
            <a:srgbClr val="B96A1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6180612"/>
            <a:ext cx="184343" cy="184343"/>
          </a:xfrm>
          <a:prstGeom prst="rect">
            <a:avLst/>
          </a:prstGeom>
        </p:spPr>
      </p:pic>
      <p:sp>
        <p:nvSpPr>
          <p:cNvPr id="33" name="Text 30"/>
          <p:cNvSpPr/>
          <p:nvPr/>
        </p:nvSpPr>
        <p:spPr>
          <a:xfrm>
            <a:off x="1216152" y="6126480"/>
            <a:ext cx="10213848" cy="292608"/>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Standing rule: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your organization’s AI policy and approved-tool list outrank every cell of this table.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READING THE LEADERBOARDS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 CAUTION ON RANKINGS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Fortes, not absolutes: how to read AI leaderboards</a:t>
            </a:r>
            <a:endParaRPr lang="en-US" sz="3000" dirty="0"/>
          </a:p>
        </p:txBody>
      </p:sp>
      <p:sp>
        <p:nvSpPr>
          <p:cNvPr id="6" name="Text 4"/>
          <p:cNvSpPr/>
          <p:nvPr/>
        </p:nvSpPr>
        <p:spPr>
          <a:xfrm>
            <a:off x="502920" y="1554480"/>
            <a:ext cx="5669280" cy="310896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Top models now cluster within ~1 point on major indexes; leaderboards re-rank monthly (one arena re-baselined its entire scale in July 2026).</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Benchmarks saturate and leak: the standard coding benchmark is “nearing saturation,” with audits finding flawed test cases.</a:t>
            </a:r>
            <a:endParaRPr lang="en-US" sz="1250" dirty="0"/>
          </a:p>
          <a:p>
            <a:pPr algn="l" marL="127000" indent="-127000">
              <a:lnSpc>
                <a:spcPct val="104000"/>
              </a:lnSpc>
              <a:spcAft>
                <a:spcPts val="900"/>
              </a:spcAft>
              <a:buSzPct val="100000"/>
              <a:buChar char="•"/>
            </a:pPr>
            <a:r>
              <a:rPr lang="en-US" sz="1250" b="1" dirty="0">
                <a:solidFill>
                  <a:srgbClr val="46545F"/>
                </a:solidFill>
                <a:latin typeface="Calibri" pitchFamily="34" charset="0"/>
                <a:ea typeface="Calibri" pitchFamily="34" charset="-122"/>
                <a:cs typeface="Calibri" pitchFamily="34" charset="-120"/>
              </a:rPr>
              <a:t>Vendor-reported numbers are marketing until independently reproduced — label them as claims.</a:t>
            </a:r>
            <a:endParaRPr lang="en-US" sz="1250" dirty="0"/>
          </a:p>
          <a:p>
            <a:pPr algn="l" marL="127000" indent="-127000">
              <a:lnSpc>
                <a:spcPct val="104000"/>
              </a:lnSpc>
              <a:spcAft>
                <a:spcPts val="900"/>
              </a:spcAft>
              <a:buSzPct val="100000"/>
              <a:buChar char="•"/>
            </a:pPr>
            <a:r>
              <a:rPr lang="en-US" sz="1250" dirty="0">
                <a:solidFill>
                  <a:srgbClr val="46545F"/>
                </a:solidFill>
                <a:latin typeface="Calibri" pitchFamily="34" charset="0"/>
                <a:ea typeface="Calibri" pitchFamily="34" charset="-122"/>
                <a:cs typeface="Calibri" pitchFamily="34" charset="-120"/>
              </a:rPr>
              <a:t>So: use rankings to build a shortlist; use YOUR task — your documents, your data, your formats — to pick the winner.</a:t>
            </a:r>
            <a:endParaRPr lang="en-US" sz="1250" dirty="0"/>
          </a:p>
        </p:txBody>
      </p:sp>
      <p:sp>
        <p:nvSpPr>
          <p:cNvPr id="7" name="Shape 5"/>
          <p:cNvSpPr/>
          <p:nvPr/>
        </p:nvSpPr>
        <p:spPr>
          <a:xfrm>
            <a:off x="6400800" y="1554480"/>
            <a:ext cx="5257800" cy="3108960"/>
          </a:xfrm>
          <a:prstGeom prst="roundRect">
            <a:avLst>
              <a:gd name="adj" fmla="val 2353"/>
            </a:avLst>
          </a:prstGeom>
          <a:solidFill>
            <a:srgbClr val="E4F0EF"/>
          </a:solidFill>
          <a:ln/>
        </p:spPr>
      </p:sp>
      <p:sp>
        <p:nvSpPr>
          <p:cNvPr id="8" name="Text 6"/>
          <p:cNvSpPr/>
          <p:nvPr/>
        </p:nvSpPr>
        <p:spPr>
          <a:xfrm>
            <a:off x="6675120" y="1783080"/>
            <a:ext cx="4754880" cy="365760"/>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Power tools from four good brands</a:t>
            </a:r>
            <a:endParaRPr lang="en-US" sz="1450" dirty="0"/>
          </a:p>
        </p:txBody>
      </p:sp>
      <p:sp>
        <p:nvSpPr>
          <p:cNvPr id="9" name="Text 7"/>
          <p:cNvSpPr/>
          <p:nvPr/>
        </p:nvSpPr>
        <p:spPr>
          <a:xfrm>
            <a:off x="6675120" y="2240280"/>
            <a:ext cx="4754880" cy="2286000"/>
          </a:xfrm>
          <a:prstGeom prst="rect">
            <a:avLst/>
          </a:prstGeom>
          <a:noFill/>
          <a:ln/>
        </p:spPr>
        <p:txBody>
          <a:bodyPr wrap="square" lIns="0" tIns="0" rIns="0" bIns="0" rtlCol="0" anchor="ctr"/>
          <a:lstStyle/>
          <a:p>
            <a:pPr indent="0" marL="0">
              <a:lnSpc>
                <a:spcPct val="115000"/>
              </a:lnSpc>
              <a:buNone/>
            </a:pPr>
            <a:r>
              <a:rPr lang="en-US" sz="1200" dirty="0">
                <a:solidFill>
                  <a:srgbClr val="46545F"/>
                </a:solidFill>
                <a:latin typeface="Calibri" pitchFamily="34" charset="0"/>
                <a:ea typeface="Calibri" pitchFamily="34" charset="-122"/>
                <a:cs typeface="Calibri" pitchFamily="34" charset="-120"/>
              </a:rPr>
              <a:t>Any of them can drive a screw. You pick by fit for the job, what’s already in your shop (your IT stack, your data governance), and how it feels in your hand — not by last month’s magazine review.</a:t>
            </a:r>
            <a:endParaRPr lang="en-US" sz="1200" dirty="0"/>
          </a:p>
          <a:p>
            <a:pPr indent="0" marL="0">
              <a:lnSpc>
                <a:spcPct val="115000"/>
              </a:lnSpc>
              <a:buNone/>
            </a:pPr>
            <a:endParaRPr lang="en-US" sz="1200" dirty="0"/>
          </a:p>
          <a:p>
            <a:pPr indent="0" marL="0">
              <a:lnSpc>
                <a:spcPct val="115000"/>
              </a:lnSpc>
              <a:buNone/>
            </a:pPr>
            <a:r>
              <a:rPr lang="en-US" sz="1200" dirty="0">
                <a:solidFill>
                  <a:srgbClr val="46545F"/>
                </a:solidFill>
                <a:latin typeface="Calibri" pitchFamily="34" charset="0"/>
                <a:ea typeface="Calibri" pitchFamily="34" charset="-122"/>
                <a:cs typeface="Calibri" pitchFamily="34" charset="-120"/>
              </a:rPr>
              <a:t>The skills in Parts 3–5 transfer across all of them. That’s why this training teaches prompting, not products.</a:t>
            </a:r>
            <a:endParaRPr lang="en-US" sz="1200" dirty="0"/>
          </a:p>
        </p:txBody>
      </p:sp>
      <p:sp>
        <p:nvSpPr>
          <p:cNvPr id="10" name="Shape 8"/>
          <p:cNvSpPr/>
          <p:nvPr/>
        </p:nvSpPr>
        <p:spPr>
          <a:xfrm>
            <a:off x="502920" y="4983480"/>
            <a:ext cx="11155680" cy="1051560"/>
          </a:xfrm>
          <a:prstGeom prst="roundRect">
            <a:avLst>
              <a:gd name="adj" fmla="val 6957"/>
            </a:avLst>
          </a:prstGeom>
          <a:solidFill>
            <a:srgbClr val="F2F5F6"/>
          </a:solidFill>
          <a:ln w="9525">
            <a:solidFill>
              <a:srgbClr val="DCE3E6"/>
            </a:solidFill>
            <a:prstDash val="solid"/>
          </a:ln>
        </p:spPr>
      </p:sp>
      <p:sp>
        <p:nvSpPr>
          <p:cNvPr id="11" name="Shape 9"/>
          <p:cNvSpPr/>
          <p:nvPr/>
        </p:nvSpPr>
        <p:spPr>
          <a:xfrm>
            <a:off x="667512" y="5317236"/>
            <a:ext cx="384048" cy="384048"/>
          </a:xfrm>
          <a:prstGeom prst="ellipse">
            <a:avLst/>
          </a:prstGeom>
          <a:solidFill>
            <a:srgbClr val="46545F"/>
          </a:solidFill>
          <a:ln/>
        </p:spPr>
      </p:sp>
      <p:pic>
        <p:nvPicPr>
          <p:cNvPr id="12" name="Image 0" descr="/home/user/Claude-Works/ai-training-prompt-engineering/src/assets/icons/target_w.png">    </p:cNvPr>
          <p:cNvPicPr>
            <a:picLocks noChangeAspect="1"/>
          </p:cNvPicPr>
          <p:nvPr/>
        </p:nvPicPr>
        <p:blipFill>
          <a:blip r:embed="rId1"/>
          <a:stretch>
            <a:fillRect/>
          </a:stretch>
        </p:blipFill>
        <p:spPr>
          <a:xfrm>
            <a:off x="767364" y="5417088"/>
            <a:ext cx="184343" cy="184343"/>
          </a:xfrm>
          <a:prstGeom prst="rect">
            <a:avLst/>
          </a:prstGeom>
        </p:spPr>
      </p:pic>
      <p:sp>
        <p:nvSpPr>
          <p:cNvPr id="13" name="Text 10"/>
          <p:cNvSpPr/>
          <p:nvPr/>
        </p:nvSpPr>
        <p:spPr>
          <a:xfrm>
            <a:off x="1216152" y="5056632"/>
            <a:ext cx="10213848" cy="90525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A 60-second benchmark of your own: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keep three of your real tasks (one analysis, one document, one deck) as a private test set. When a new model ships, run them. Your test set beats every leaderboard for deciding what YOU should use.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down your private test set</a:t>
            </a:r>
            <a:endParaRPr lang="en-US" sz="3000" dirty="0"/>
          </a:p>
        </p:txBody>
      </p:sp>
      <p:sp>
        <p:nvSpPr>
          <p:cNvPr id="6" name="Shape 4"/>
          <p:cNvSpPr/>
          <p:nvPr/>
        </p:nvSpPr>
        <p:spPr>
          <a:xfrm>
            <a:off x="502920" y="1600200"/>
            <a:ext cx="6766560" cy="3108960"/>
          </a:xfrm>
          <a:prstGeom prst="roundRect">
            <a:avLst>
              <a:gd name="adj" fmla="val 2353"/>
            </a:avLst>
          </a:prstGeom>
          <a:solidFill>
            <a:srgbClr val="E4F0EF"/>
          </a:solidFill>
          <a:ln/>
        </p:spPr>
      </p:sp>
      <p:sp>
        <p:nvSpPr>
          <p:cNvPr id="7" name="Text 5"/>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Write down three of YOUR real tasks — one analysis, one document, one deck or tracker.</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That list is your private benchmark: when a new model or tool ships, run the three tasks and judge for yourself.</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Keep it somewhere you will find it — it outlives every leaderboard on the previous slides.</a:t>
            </a:r>
            <a:endParaRPr lang="en-US" sz="1300" dirty="0"/>
          </a:p>
        </p:txBody>
      </p:sp>
      <p:sp>
        <p:nvSpPr>
          <p:cNvPr id="8" name="Shape 6"/>
          <p:cNvSpPr/>
          <p:nvPr/>
        </p:nvSpPr>
        <p:spPr>
          <a:xfrm>
            <a:off x="7543800" y="1600200"/>
            <a:ext cx="4114800" cy="3108960"/>
          </a:xfrm>
          <a:prstGeom prst="roundRect">
            <a:avLst>
              <a:gd name="adj" fmla="val 2353"/>
            </a:avLst>
          </a:prstGeom>
          <a:solidFill>
            <a:srgbClr val="F2F5F6"/>
          </a:solidFill>
          <a:ln/>
        </p:spPr>
      </p:sp>
      <p:sp>
        <p:nvSpPr>
          <p:cNvPr id="9" name="Text 7"/>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200" b="1" dirty="0">
                <a:solidFill>
                  <a:srgbClr val="232A31"/>
                </a:solidFill>
                <a:latin typeface="Calibri" pitchFamily="34" charset="0"/>
                <a:ea typeface="Calibri" pitchFamily="34" charset="-122"/>
                <a:cs typeface="Calibri" pitchFamily="34" charset="-120"/>
              </a:rPr>
              <a:t>Why this matters</a:t>
            </a:r>
            <a:endParaRPr lang="en-US" sz="1200" dirty="0"/>
          </a:p>
          <a:p>
            <a:pPr indent="0" marL="0">
              <a:lnSpc>
                <a:spcPct val="112000"/>
              </a:lnSpc>
              <a:buNone/>
            </a:pPr>
            <a:r>
              <a:rPr lang="en-US" sz="1100" dirty="0">
                <a:solidFill>
                  <a:srgbClr val="46545F"/>
                </a:solidFill>
                <a:latin typeface="Calibri" pitchFamily="34" charset="0"/>
                <a:ea typeface="Calibri" pitchFamily="34" charset="-122"/>
                <a:cs typeface="Calibri" pitchFamily="34" charset="-120"/>
              </a:rPr>
              <a:t>Rankings re-shuffle monthly and top models cluster within a point. Your three tasks measure the only thing that matters: fit for YOUR work.</a:t>
            </a:r>
            <a:endParaRPr lang="en-US" sz="1200" dirty="0"/>
          </a:p>
        </p:txBody>
      </p:sp>
      <p:sp>
        <p:nvSpPr>
          <p:cNvPr id="10" name="Text 8"/>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habit is on the previous slide either way.</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22</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Every AI vendor publishes prompting guidance. It converges on one anatomy and a handful of techniques — this part teaches them, with the evidence for what works and what’s myth.</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vendors, one recipe: Role · Task · Context · Format · Examples</a:t>
            </a:r>
            <a:endParaRPr lang="en-US" sz="3000" dirty="0"/>
          </a:p>
        </p:txBody>
      </p:sp>
      <p:sp>
        <p:nvSpPr>
          <p:cNvPr id="6" name="Text 4"/>
          <p:cNvSpPr/>
          <p:nvPr/>
        </p:nvSpPr>
        <p:spPr>
          <a:xfrm>
            <a:off x="2148840" y="1481328"/>
            <a:ext cx="2331720" cy="292608"/>
          </a:xfrm>
          <a:prstGeom prst="rect">
            <a:avLst/>
          </a:prstGeom>
          <a:noFill/>
          <a:ln/>
        </p:spPr>
        <p:txBody>
          <a:bodyPr wrap="square" lIns="0" tIns="0" rIns="0" bIns="0" rtlCol="0" anchor="ctr"/>
          <a:lstStyle/>
          <a:p>
            <a:pPr indent="0" marL="0">
              <a:buNone/>
            </a:pPr>
            <a:r>
              <a:rPr lang="en-US" sz="1150" b="1" dirty="0">
                <a:solidFill>
                  <a:srgbClr val="0A5B5A"/>
                </a:solidFill>
                <a:latin typeface="Calibri" pitchFamily="34" charset="0"/>
                <a:ea typeface="Calibri" pitchFamily="34" charset="-122"/>
                <a:cs typeface="Calibri" pitchFamily="34" charset="-120"/>
              </a:rPr>
              <a:t>Anthropic</a:t>
            </a:r>
            <a:endParaRPr lang="en-US" sz="1150" dirty="0"/>
          </a:p>
        </p:txBody>
      </p:sp>
      <p:sp>
        <p:nvSpPr>
          <p:cNvPr id="7" name="Text 5"/>
          <p:cNvSpPr/>
          <p:nvPr/>
        </p:nvSpPr>
        <p:spPr>
          <a:xfrm>
            <a:off x="4572000" y="1481328"/>
            <a:ext cx="2331720" cy="292608"/>
          </a:xfrm>
          <a:prstGeom prst="rect">
            <a:avLst/>
          </a:prstGeom>
          <a:noFill/>
          <a:ln/>
        </p:spPr>
        <p:txBody>
          <a:bodyPr wrap="square" lIns="0" tIns="0" rIns="0" bIns="0" rtlCol="0" anchor="ctr"/>
          <a:lstStyle/>
          <a:p>
            <a:pPr indent="0" marL="0">
              <a:buNone/>
            </a:pPr>
            <a:r>
              <a:rPr lang="en-US" sz="1150" b="1" dirty="0">
                <a:solidFill>
                  <a:srgbClr val="0A5B5A"/>
                </a:solidFill>
                <a:latin typeface="Calibri" pitchFamily="34" charset="0"/>
                <a:ea typeface="Calibri" pitchFamily="34" charset="-122"/>
                <a:cs typeface="Calibri" pitchFamily="34" charset="-120"/>
              </a:rPr>
              <a:t>OpenAI</a:t>
            </a:r>
            <a:endParaRPr lang="en-US" sz="1150" dirty="0"/>
          </a:p>
        </p:txBody>
      </p:sp>
      <p:sp>
        <p:nvSpPr>
          <p:cNvPr id="8" name="Text 6"/>
          <p:cNvSpPr/>
          <p:nvPr/>
        </p:nvSpPr>
        <p:spPr>
          <a:xfrm>
            <a:off x="6995160" y="1481328"/>
            <a:ext cx="2331720" cy="292608"/>
          </a:xfrm>
          <a:prstGeom prst="rect">
            <a:avLst/>
          </a:prstGeom>
          <a:noFill/>
          <a:ln/>
        </p:spPr>
        <p:txBody>
          <a:bodyPr wrap="square" lIns="0" tIns="0" rIns="0" bIns="0" rtlCol="0" anchor="ctr"/>
          <a:lstStyle/>
          <a:p>
            <a:pPr indent="0" marL="0">
              <a:buNone/>
            </a:pPr>
            <a:r>
              <a:rPr lang="en-US" sz="1150" b="1" dirty="0">
                <a:solidFill>
                  <a:srgbClr val="0A5B5A"/>
                </a:solidFill>
                <a:latin typeface="Calibri" pitchFamily="34" charset="0"/>
                <a:ea typeface="Calibri" pitchFamily="34" charset="-122"/>
                <a:cs typeface="Calibri" pitchFamily="34" charset="-120"/>
              </a:rPr>
              <a:t>Google</a:t>
            </a:r>
            <a:endParaRPr lang="en-US" sz="1150" dirty="0"/>
          </a:p>
        </p:txBody>
      </p:sp>
      <p:sp>
        <p:nvSpPr>
          <p:cNvPr id="9" name="Text 7"/>
          <p:cNvSpPr/>
          <p:nvPr/>
        </p:nvSpPr>
        <p:spPr>
          <a:xfrm>
            <a:off x="9418320" y="1481328"/>
            <a:ext cx="2240280" cy="292608"/>
          </a:xfrm>
          <a:prstGeom prst="rect">
            <a:avLst/>
          </a:prstGeom>
          <a:noFill/>
          <a:ln/>
        </p:spPr>
        <p:txBody>
          <a:bodyPr wrap="square" lIns="0" tIns="0" rIns="0" bIns="0" rtlCol="0" anchor="ctr"/>
          <a:lstStyle/>
          <a:p>
            <a:pPr indent="0" marL="0">
              <a:buNone/>
            </a:pPr>
            <a:r>
              <a:rPr lang="en-US" sz="1150" b="1" dirty="0">
                <a:solidFill>
                  <a:srgbClr val="0A5B5A"/>
                </a:solidFill>
                <a:latin typeface="Calibri" pitchFamily="34" charset="0"/>
                <a:ea typeface="Calibri" pitchFamily="34" charset="-122"/>
                <a:cs typeface="Calibri" pitchFamily="34" charset="-120"/>
              </a:rPr>
              <a:t>Microsoft</a:t>
            </a:r>
            <a:endParaRPr lang="en-US" sz="1150" dirty="0"/>
          </a:p>
        </p:txBody>
      </p:sp>
      <p:sp>
        <p:nvSpPr>
          <p:cNvPr id="10" name="Shape 8"/>
          <p:cNvSpPr/>
          <p:nvPr/>
        </p:nvSpPr>
        <p:spPr>
          <a:xfrm>
            <a:off x="502920" y="1828800"/>
            <a:ext cx="11155680" cy="621792"/>
          </a:xfrm>
          <a:prstGeom prst="roundRect">
            <a:avLst>
              <a:gd name="adj" fmla="val 11765"/>
            </a:avLst>
          </a:prstGeom>
          <a:solidFill>
            <a:srgbClr val="F2F5F6"/>
          </a:solidFill>
          <a:ln/>
        </p:spPr>
      </p:sp>
      <p:sp>
        <p:nvSpPr>
          <p:cNvPr id="11" name="Text 9"/>
          <p:cNvSpPr/>
          <p:nvPr/>
        </p:nvSpPr>
        <p:spPr>
          <a:xfrm>
            <a:off x="685800" y="1901952"/>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Role</a:t>
            </a:r>
            <a:endParaRPr lang="en-US" sz="1350" dirty="0"/>
          </a:p>
        </p:txBody>
      </p:sp>
      <p:sp>
        <p:nvSpPr>
          <p:cNvPr id="12" name="Text 10"/>
          <p:cNvSpPr/>
          <p:nvPr/>
        </p:nvSpPr>
        <p:spPr>
          <a:xfrm>
            <a:off x="2148840" y="1883664"/>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“Give Claude a role” (system prompt)</a:t>
            </a:r>
            <a:endParaRPr lang="en-US" sz="930" dirty="0"/>
          </a:p>
        </p:txBody>
      </p:sp>
      <p:sp>
        <p:nvSpPr>
          <p:cNvPr id="13" name="Text 11"/>
          <p:cNvSpPr/>
          <p:nvPr/>
        </p:nvSpPr>
        <p:spPr>
          <a:xfrm>
            <a:off x="4572000" y="1883664"/>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role / developer message</a:t>
            </a:r>
            <a:endParaRPr lang="en-US" sz="930" dirty="0"/>
          </a:p>
        </p:txBody>
      </p:sp>
      <p:sp>
        <p:nvSpPr>
          <p:cNvPr id="14" name="Text 12"/>
          <p:cNvSpPr/>
          <p:nvPr/>
        </p:nvSpPr>
        <p:spPr>
          <a:xfrm>
            <a:off x="6995160" y="1883664"/>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Persona</a:t>
            </a:r>
            <a:endParaRPr lang="en-US" sz="930" dirty="0"/>
          </a:p>
        </p:txBody>
      </p:sp>
      <p:sp>
        <p:nvSpPr>
          <p:cNvPr id="15" name="Text 13"/>
          <p:cNvSpPr/>
          <p:nvPr/>
        </p:nvSpPr>
        <p:spPr>
          <a:xfrm>
            <a:off x="9418320" y="1883664"/>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(part of Context)</a:t>
            </a:r>
            <a:endParaRPr lang="en-US" sz="930" dirty="0"/>
          </a:p>
        </p:txBody>
      </p:sp>
      <p:sp>
        <p:nvSpPr>
          <p:cNvPr id="16" name="Shape 14"/>
          <p:cNvSpPr/>
          <p:nvPr/>
        </p:nvSpPr>
        <p:spPr>
          <a:xfrm>
            <a:off x="502920" y="2542032"/>
            <a:ext cx="11155680" cy="621792"/>
          </a:xfrm>
          <a:prstGeom prst="roundRect">
            <a:avLst>
              <a:gd name="adj" fmla="val 11765"/>
            </a:avLst>
          </a:prstGeom>
          <a:solidFill>
            <a:srgbClr val="FFFFFF"/>
          </a:solidFill>
          <a:ln w="9525">
            <a:solidFill>
              <a:srgbClr val="DCE3E6"/>
            </a:solidFill>
            <a:prstDash val="solid"/>
          </a:ln>
        </p:spPr>
      </p:sp>
      <p:sp>
        <p:nvSpPr>
          <p:cNvPr id="17" name="Text 15"/>
          <p:cNvSpPr/>
          <p:nvPr/>
        </p:nvSpPr>
        <p:spPr>
          <a:xfrm>
            <a:off x="685800" y="2615184"/>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Task</a:t>
            </a:r>
            <a:endParaRPr lang="en-US" sz="1350" dirty="0"/>
          </a:p>
        </p:txBody>
      </p:sp>
      <p:sp>
        <p:nvSpPr>
          <p:cNvPr id="18" name="Text 16"/>
          <p:cNvSpPr/>
          <p:nvPr/>
        </p:nvSpPr>
        <p:spPr>
          <a:xfrm>
            <a:off x="2148840" y="2596896"/>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“Be clear and direct”</a:t>
            </a:r>
            <a:endParaRPr lang="en-US" sz="930" dirty="0"/>
          </a:p>
        </p:txBody>
      </p:sp>
      <p:sp>
        <p:nvSpPr>
          <p:cNvPr id="19" name="Text 17"/>
          <p:cNvSpPr/>
          <p:nvPr/>
        </p:nvSpPr>
        <p:spPr>
          <a:xfrm>
            <a:off x="4572000" y="2596896"/>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“simple and direct” instructions</a:t>
            </a:r>
            <a:endParaRPr lang="en-US" sz="930" dirty="0"/>
          </a:p>
        </p:txBody>
      </p:sp>
      <p:sp>
        <p:nvSpPr>
          <p:cNvPr id="20" name="Text 18"/>
          <p:cNvSpPr/>
          <p:nvPr/>
        </p:nvSpPr>
        <p:spPr>
          <a:xfrm>
            <a:off x="6995160" y="2596896"/>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Task — “the most important component”</a:t>
            </a:r>
            <a:endParaRPr lang="en-US" sz="930" dirty="0"/>
          </a:p>
        </p:txBody>
      </p:sp>
      <p:sp>
        <p:nvSpPr>
          <p:cNvPr id="21" name="Text 19"/>
          <p:cNvSpPr/>
          <p:nvPr/>
        </p:nvSpPr>
        <p:spPr>
          <a:xfrm>
            <a:off x="9418320" y="2596896"/>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Goal — the only required part</a:t>
            </a:r>
            <a:endParaRPr lang="en-US" sz="930" dirty="0"/>
          </a:p>
        </p:txBody>
      </p:sp>
      <p:sp>
        <p:nvSpPr>
          <p:cNvPr id="22" name="Shape 20"/>
          <p:cNvSpPr/>
          <p:nvPr/>
        </p:nvSpPr>
        <p:spPr>
          <a:xfrm>
            <a:off x="502920" y="3255264"/>
            <a:ext cx="11155680" cy="621792"/>
          </a:xfrm>
          <a:prstGeom prst="roundRect">
            <a:avLst>
              <a:gd name="adj" fmla="val 11765"/>
            </a:avLst>
          </a:prstGeom>
          <a:solidFill>
            <a:srgbClr val="F2F5F6"/>
          </a:solidFill>
          <a:ln/>
        </p:spPr>
      </p:sp>
      <p:sp>
        <p:nvSpPr>
          <p:cNvPr id="23" name="Text 21"/>
          <p:cNvSpPr/>
          <p:nvPr/>
        </p:nvSpPr>
        <p:spPr>
          <a:xfrm>
            <a:off x="685800" y="3328416"/>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Context</a:t>
            </a:r>
            <a:endParaRPr lang="en-US" sz="1350" dirty="0"/>
          </a:p>
        </p:txBody>
      </p:sp>
      <p:sp>
        <p:nvSpPr>
          <p:cNvPr id="24" name="Text 22"/>
          <p:cNvSpPr/>
          <p:nvPr/>
        </p:nvSpPr>
        <p:spPr>
          <a:xfrm>
            <a:off x="2148840" y="3310128"/>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“Add context — explain why”</a:t>
            </a:r>
            <a:endParaRPr lang="en-US" sz="930" dirty="0"/>
          </a:p>
        </p:txBody>
      </p:sp>
      <p:sp>
        <p:nvSpPr>
          <p:cNvPr id="25" name="Text 23"/>
          <p:cNvSpPr/>
          <p:nvPr/>
        </p:nvSpPr>
        <p:spPr>
          <a:xfrm>
            <a:off x="4572000" y="3310128"/>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context sections, delimiters</a:t>
            </a:r>
            <a:endParaRPr lang="en-US" sz="930" dirty="0"/>
          </a:p>
        </p:txBody>
      </p:sp>
      <p:sp>
        <p:nvSpPr>
          <p:cNvPr id="26" name="Text 24"/>
          <p:cNvSpPr/>
          <p:nvPr/>
        </p:nvSpPr>
        <p:spPr>
          <a:xfrm>
            <a:off x="6995160" y="3310128"/>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Context</a:t>
            </a:r>
            <a:endParaRPr lang="en-US" sz="930" dirty="0"/>
          </a:p>
        </p:txBody>
      </p:sp>
      <p:sp>
        <p:nvSpPr>
          <p:cNvPr id="27" name="Text 25"/>
          <p:cNvSpPr/>
          <p:nvPr/>
        </p:nvSpPr>
        <p:spPr>
          <a:xfrm>
            <a:off x="9418320" y="3310128"/>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Context + Source</a:t>
            </a:r>
            <a:endParaRPr lang="en-US" sz="930" dirty="0"/>
          </a:p>
        </p:txBody>
      </p:sp>
      <p:sp>
        <p:nvSpPr>
          <p:cNvPr id="28" name="Shape 26"/>
          <p:cNvSpPr/>
          <p:nvPr/>
        </p:nvSpPr>
        <p:spPr>
          <a:xfrm>
            <a:off x="502920" y="3968496"/>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4041648"/>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Format</a:t>
            </a:r>
            <a:endParaRPr lang="en-US" sz="1350" dirty="0"/>
          </a:p>
        </p:txBody>
      </p:sp>
      <p:sp>
        <p:nvSpPr>
          <p:cNvPr id="30" name="Text 28"/>
          <p:cNvSpPr/>
          <p:nvPr/>
        </p:nvSpPr>
        <p:spPr>
          <a:xfrm>
            <a:off x="2148840" y="4023360"/>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format control, XML tags</a:t>
            </a:r>
            <a:endParaRPr lang="en-US" sz="930" dirty="0"/>
          </a:p>
        </p:txBody>
      </p:sp>
      <p:sp>
        <p:nvSpPr>
          <p:cNvPr id="31" name="Text 29"/>
          <p:cNvSpPr/>
          <p:nvPr/>
        </p:nvSpPr>
        <p:spPr>
          <a:xfrm>
            <a:off x="4572000" y="4023360"/>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format specs, verbosity</a:t>
            </a:r>
            <a:endParaRPr lang="en-US" sz="930" dirty="0"/>
          </a:p>
        </p:txBody>
      </p:sp>
      <p:sp>
        <p:nvSpPr>
          <p:cNvPr id="32" name="Text 30"/>
          <p:cNvSpPr/>
          <p:nvPr/>
        </p:nvSpPr>
        <p:spPr>
          <a:xfrm>
            <a:off x="6995160" y="4023360"/>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Format</a:t>
            </a:r>
            <a:endParaRPr lang="en-US" sz="930" dirty="0"/>
          </a:p>
        </p:txBody>
      </p:sp>
      <p:sp>
        <p:nvSpPr>
          <p:cNvPr id="33" name="Text 31"/>
          <p:cNvSpPr/>
          <p:nvPr/>
        </p:nvSpPr>
        <p:spPr>
          <a:xfrm>
            <a:off x="9418320" y="4023360"/>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Expectations</a:t>
            </a:r>
            <a:endParaRPr lang="en-US" sz="930" dirty="0"/>
          </a:p>
        </p:txBody>
      </p:sp>
      <p:sp>
        <p:nvSpPr>
          <p:cNvPr id="34" name="Shape 32"/>
          <p:cNvSpPr/>
          <p:nvPr/>
        </p:nvSpPr>
        <p:spPr>
          <a:xfrm>
            <a:off x="502920" y="4681728"/>
            <a:ext cx="11155680" cy="621792"/>
          </a:xfrm>
          <a:prstGeom prst="roundRect">
            <a:avLst>
              <a:gd name="adj" fmla="val 11765"/>
            </a:avLst>
          </a:prstGeom>
          <a:solidFill>
            <a:srgbClr val="F2F5F6"/>
          </a:solidFill>
          <a:ln/>
        </p:spPr>
      </p:sp>
      <p:sp>
        <p:nvSpPr>
          <p:cNvPr id="35" name="Text 33"/>
          <p:cNvSpPr/>
          <p:nvPr/>
        </p:nvSpPr>
        <p:spPr>
          <a:xfrm>
            <a:off x="685800" y="4754880"/>
            <a:ext cx="1371600" cy="45720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Examples</a:t>
            </a:r>
            <a:endParaRPr lang="en-US" sz="1350" dirty="0"/>
          </a:p>
        </p:txBody>
      </p:sp>
      <p:sp>
        <p:nvSpPr>
          <p:cNvPr id="36" name="Text 34"/>
          <p:cNvSpPr/>
          <p:nvPr/>
        </p:nvSpPr>
        <p:spPr>
          <a:xfrm>
            <a:off x="2148840" y="4736592"/>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3–5 diverse, tagged examples</a:t>
            </a:r>
            <a:endParaRPr lang="en-US" sz="930" dirty="0"/>
          </a:p>
        </p:txBody>
      </p:sp>
      <p:sp>
        <p:nvSpPr>
          <p:cNvPr id="37" name="Text 35"/>
          <p:cNvSpPr/>
          <p:nvPr/>
        </p:nvSpPr>
        <p:spPr>
          <a:xfrm>
            <a:off x="4572000" y="4736592"/>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“few-shot if needed”</a:t>
            </a:r>
            <a:endParaRPr lang="en-US" sz="930" dirty="0"/>
          </a:p>
        </p:txBody>
      </p:sp>
      <p:sp>
        <p:nvSpPr>
          <p:cNvPr id="38" name="Text 36"/>
          <p:cNvSpPr/>
          <p:nvPr/>
        </p:nvSpPr>
        <p:spPr>
          <a:xfrm>
            <a:off x="6995160" y="4736592"/>
            <a:ext cx="219456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(use your documents)</a:t>
            </a:r>
            <a:endParaRPr lang="en-US" sz="930" dirty="0"/>
          </a:p>
        </p:txBody>
      </p:sp>
      <p:sp>
        <p:nvSpPr>
          <p:cNvPr id="39" name="Text 37"/>
          <p:cNvSpPr/>
          <p:nvPr/>
        </p:nvSpPr>
        <p:spPr>
          <a:xfrm>
            <a:off x="9418320" y="4736592"/>
            <a:ext cx="2103120" cy="530352"/>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(iterate with follow-ups)</a:t>
            </a:r>
            <a:endParaRPr lang="en-US" sz="930" dirty="0"/>
          </a:p>
        </p:txBody>
      </p:sp>
      <p:sp>
        <p:nvSpPr>
          <p:cNvPr id="40" name="Shape 38"/>
          <p:cNvSpPr/>
          <p:nvPr/>
        </p:nvSpPr>
        <p:spPr>
          <a:xfrm>
            <a:off x="502920" y="5532120"/>
            <a:ext cx="11155680" cy="868680"/>
          </a:xfrm>
          <a:prstGeom prst="roundRect">
            <a:avLst>
              <a:gd name="adj" fmla="val 8421"/>
            </a:avLst>
          </a:prstGeom>
          <a:solidFill>
            <a:srgbClr val="E4F0EF"/>
          </a:solidFill>
          <a:ln/>
        </p:spPr>
      </p:sp>
      <p:sp>
        <p:nvSpPr>
          <p:cNvPr id="41" name="Shape 39"/>
          <p:cNvSpPr/>
          <p:nvPr/>
        </p:nvSpPr>
        <p:spPr>
          <a:xfrm>
            <a:off x="667512" y="5774436"/>
            <a:ext cx="384048" cy="384048"/>
          </a:xfrm>
          <a:prstGeom prst="ellipse">
            <a:avLst/>
          </a:prstGeom>
          <a:solidFill>
            <a:srgbClr val="0E7C7B"/>
          </a:solidFill>
          <a:ln/>
        </p:spPr>
      </p:sp>
      <p:pic>
        <p:nvPicPr>
          <p:cNvPr id="42" name="Image 0" descr="/home/user/Claude-Works/ai-training-prompt-engineering/src/assets/icons/edit_w.png">    </p:cNvPr>
          <p:cNvPicPr>
            <a:picLocks noChangeAspect="1"/>
          </p:cNvPicPr>
          <p:nvPr/>
        </p:nvPicPr>
        <p:blipFill>
          <a:blip r:embed="rId1"/>
          <a:stretch>
            <a:fillRect/>
          </a:stretch>
        </p:blipFill>
        <p:spPr>
          <a:xfrm>
            <a:off x="767364" y="5874288"/>
            <a:ext cx="184343" cy="184343"/>
          </a:xfrm>
          <a:prstGeom prst="rect">
            <a:avLst/>
          </a:prstGeom>
        </p:spPr>
      </p:pic>
      <p:sp>
        <p:nvSpPr>
          <p:cNvPr id="43" name="Text 40"/>
          <p:cNvSpPr/>
          <p:nvPr/>
        </p:nvSpPr>
        <p:spPr>
          <a:xfrm>
            <a:off x="1216152" y="560527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Google’s data point: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most fruitful prompts averaged ~21 words with context — most people type fewer than nine. A good prompt is a short briefing, not a search query.</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DEFINED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slots — each with a job, a mechanism, and a failure it prevents</a:t>
            </a:r>
            <a:endParaRPr lang="en-US" sz="3000" dirty="0"/>
          </a:p>
        </p:txBody>
      </p:sp>
      <p:sp>
        <p:nvSpPr>
          <p:cNvPr id="6" name="Shape 4"/>
          <p:cNvSpPr/>
          <p:nvPr/>
        </p:nvSpPr>
        <p:spPr>
          <a:xfrm>
            <a:off x="502920" y="1481328"/>
            <a:ext cx="11155680" cy="822960"/>
          </a:xfrm>
          <a:prstGeom prst="roundRect">
            <a:avLst>
              <a:gd name="adj" fmla="val 8889"/>
            </a:avLst>
          </a:prstGeom>
          <a:solidFill>
            <a:srgbClr val="F2F5F6"/>
          </a:solidFill>
          <a:ln/>
        </p:spPr>
      </p:sp>
      <p:sp>
        <p:nvSpPr>
          <p:cNvPr id="7" name="Text 5"/>
          <p:cNvSpPr/>
          <p:nvPr/>
        </p:nvSpPr>
        <p:spPr>
          <a:xfrm>
            <a:off x="713232" y="1554480"/>
            <a:ext cx="1234440" cy="676656"/>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Role</a:t>
            </a:r>
            <a:endParaRPr lang="en-US" sz="1400" dirty="0"/>
          </a:p>
        </p:txBody>
      </p:sp>
      <p:sp>
        <p:nvSpPr>
          <p:cNvPr id="8" name="Text 6"/>
          <p:cNvSpPr/>
          <p:nvPr/>
        </p:nvSpPr>
        <p:spPr>
          <a:xfrm>
            <a:off x="2011680" y="1545336"/>
            <a:ext cx="32918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who is answering — behaviors, not titles</a:t>
            </a:r>
            <a:endParaRPr lang="en-US" sz="1000" dirty="0"/>
          </a:p>
        </p:txBody>
      </p:sp>
      <p:sp>
        <p:nvSpPr>
          <p:cNvPr id="9" name="Text 7"/>
          <p:cNvSpPr/>
          <p:nvPr/>
        </p:nvSpPr>
        <p:spPr>
          <a:xfrm>
            <a:off x="5440680" y="1545336"/>
            <a:ext cx="2834640" cy="694944"/>
          </a:xfrm>
          <a:prstGeom prst="rect">
            <a:avLst/>
          </a:prstGeom>
          <a:noFill/>
          <a:ln/>
        </p:spPr>
        <p:txBody>
          <a:bodyPr wrap="square" lIns="0" tIns="0" rIns="0" bIns="0" rtlCol="0" anchor="ctr"/>
          <a:lstStyle/>
          <a:p>
            <a:pPr indent="0" marL="0">
              <a:lnSpc>
                <a:spcPct val="100000"/>
              </a:lnSpc>
              <a:buNone/>
            </a:pPr>
            <a:r>
              <a:rPr lang="en-US" sz="850" b="1" dirty="0">
                <a:solidFill>
                  <a:srgbClr val="AF3230"/>
                </a:solidFill>
                <a:latin typeface="Calibri" pitchFamily="34" charset="0"/>
                <a:ea typeface="Calibri" pitchFamily="34" charset="-122"/>
                <a:cs typeface="Calibri" pitchFamily="34" charset="-120"/>
              </a:rPr>
              <a:t>weak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“You are a senior analyst.”</a:t>
            </a:r>
            <a:endParaRPr lang="en-US" sz="850" dirty="0"/>
          </a:p>
        </p:txBody>
      </p:sp>
      <p:sp>
        <p:nvSpPr>
          <p:cNvPr id="10" name="Text 8"/>
          <p:cNvSpPr/>
          <p:nvPr/>
        </p:nvSpPr>
        <p:spPr>
          <a:xfrm>
            <a:off x="8366760" y="1545336"/>
            <a:ext cx="3108960" cy="694944"/>
          </a:xfrm>
          <a:prstGeom prst="rect">
            <a:avLst/>
          </a:prstGeom>
          <a:noFill/>
          <a:ln/>
        </p:spPr>
        <p:txBody>
          <a:bodyPr wrap="square" lIns="0" tIns="0" rIns="0" bIns="0" rtlCol="0" anchor="ctr"/>
          <a:lstStyle/>
          <a:p>
            <a:pPr indent="0" marL="0">
              <a:lnSpc>
                <a:spcPct val="100000"/>
              </a:lnSpc>
              <a:buNone/>
            </a:pPr>
            <a:r>
              <a:rPr lang="en-US" sz="850" b="1" dirty="0">
                <a:solidFill>
                  <a:srgbClr val="3B8560"/>
                </a:solidFill>
                <a:latin typeface="Calibri" pitchFamily="34" charset="0"/>
                <a:ea typeface="Calibri" pitchFamily="34" charset="-122"/>
                <a:cs typeface="Calibri" pitchFamily="34" charset="-120"/>
              </a:rPr>
              <a:t>strong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“You never invent numbers; you state n; you say what the data can’t answer.”</a:t>
            </a:r>
            <a:endParaRPr lang="en-US" sz="850" dirty="0"/>
          </a:p>
        </p:txBody>
      </p:sp>
      <p:sp>
        <p:nvSpPr>
          <p:cNvPr id="11" name="Shape 9"/>
          <p:cNvSpPr/>
          <p:nvPr/>
        </p:nvSpPr>
        <p:spPr>
          <a:xfrm>
            <a:off x="502920" y="2395728"/>
            <a:ext cx="11155680" cy="822960"/>
          </a:xfrm>
          <a:prstGeom prst="roundRect">
            <a:avLst>
              <a:gd name="adj" fmla="val 8889"/>
            </a:avLst>
          </a:prstGeom>
          <a:solidFill>
            <a:srgbClr val="FFFFFF"/>
          </a:solidFill>
          <a:ln w="9525">
            <a:solidFill>
              <a:srgbClr val="DCE3E6"/>
            </a:solidFill>
            <a:prstDash val="solid"/>
          </a:ln>
        </p:spPr>
      </p:sp>
      <p:sp>
        <p:nvSpPr>
          <p:cNvPr id="12" name="Text 10"/>
          <p:cNvSpPr/>
          <p:nvPr/>
        </p:nvSpPr>
        <p:spPr>
          <a:xfrm>
            <a:off x="713232" y="2468880"/>
            <a:ext cx="1234440" cy="676656"/>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Task</a:t>
            </a:r>
            <a:endParaRPr lang="en-US" sz="1400" dirty="0"/>
          </a:p>
        </p:txBody>
      </p:sp>
      <p:sp>
        <p:nvSpPr>
          <p:cNvPr id="13" name="Text 11"/>
          <p:cNvSpPr/>
          <p:nvPr/>
        </p:nvSpPr>
        <p:spPr>
          <a:xfrm>
            <a:off x="2011680" y="2459736"/>
            <a:ext cx="32918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verb + object + audience + success criterion</a:t>
            </a:r>
            <a:endParaRPr lang="en-US" sz="1000" dirty="0"/>
          </a:p>
        </p:txBody>
      </p:sp>
      <p:sp>
        <p:nvSpPr>
          <p:cNvPr id="14" name="Text 12"/>
          <p:cNvSpPr/>
          <p:nvPr/>
        </p:nvSpPr>
        <p:spPr>
          <a:xfrm>
            <a:off x="5440680" y="2459736"/>
            <a:ext cx="2834640" cy="694944"/>
          </a:xfrm>
          <a:prstGeom prst="rect">
            <a:avLst/>
          </a:prstGeom>
          <a:noFill/>
          <a:ln/>
        </p:spPr>
        <p:txBody>
          <a:bodyPr wrap="square" lIns="0" tIns="0" rIns="0" bIns="0" rtlCol="0" anchor="ctr"/>
          <a:lstStyle/>
          <a:p>
            <a:pPr indent="0" marL="0">
              <a:lnSpc>
                <a:spcPct val="100000"/>
              </a:lnSpc>
              <a:buNone/>
            </a:pPr>
            <a:r>
              <a:rPr lang="en-US" sz="850" b="1" dirty="0">
                <a:solidFill>
                  <a:srgbClr val="AF3230"/>
                </a:solidFill>
                <a:latin typeface="Calibri" pitchFamily="34" charset="0"/>
                <a:ea typeface="Calibri" pitchFamily="34" charset="-122"/>
                <a:cs typeface="Calibri" pitchFamily="34" charset="-120"/>
              </a:rPr>
              <a:t>weak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“Analyze the returns data.”</a:t>
            </a:r>
            <a:endParaRPr lang="en-US" sz="850" dirty="0"/>
          </a:p>
        </p:txBody>
      </p:sp>
      <p:sp>
        <p:nvSpPr>
          <p:cNvPr id="15" name="Text 13"/>
          <p:cNvSpPr/>
          <p:nvPr/>
        </p:nvSpPr>
        <p:spPr>
          <a:xfrm>
            <a:off x="8366760" y="2459736"/>
            <a:ext cx="3108960" cy="694944"/>
          </a:xfrm>
          <a:prstGeom prst="rect">
            <a:avLst/>
          </a:prstGeom>
          <a:noFill/>
          <a:ln/>
        </p:spPr>
        <p:txBody>
          <a:bodyPr wrap="square" lIns="0" tIns="0" rIns="0" bIns="0" rtlCol="0" anchor="ctr"/>
          <a:lstStyle/>
          <a:p>
            <a:pPr indent="0" marL="0">
              <a:lnSpc>
                <a:spcPct val="100000"/>
              </a:lnSpc>
              <a:buNone/>
            </a:pPr>
            <a:r>
              <a:rPr lang="en-US" sz="850" b="1" dirty="0">
                <a:solidFill>
                  <a:srgbClr val="3B8560"/>
                </a:solidFill>
                <a:latin typeface="Calibri" pitchFamily="34" charset="0"/>
                <a:ea typeface="Calibri" pitchFamily="34" charset="-122"/>
                <a:cs typeface="Calibri" pitchFamily="34" charset="-120"/>
              </a:rPr>
              <a:t>strong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“What is the return rate by site for Q2 vs the 2% target?”</a:t>
            </a:r>
            <a:endParaRPr lang="en-US" sz="850" dirty="0"/>
          </a:p>
        </p:txBody>
      </p:sp>
      <p:sp>
        <p:nvSpPr>
          <p:cNvPr id="16" name="Shape 14"/>
          <p:cNvSpPr/>
          <p:nvPr/>
        </p:nvSpPr>
        <p:spPr>
          <a:xfrm>
            <a:off x="502920" y="3310128"/>
            <a:ext cx="11155680" cy="822960"/>
          </a:xfrm>
          <a:prstGeom prst="roundRect">
            <a:avLst>
              <a:gd name="adj" fmla="val 8889"/>
            </a:avLst>
          </a:prstGeom>
          <a:solidFill>
            <a:srgbClr val="F2F5F6"/>
          </a:solidFill>
          <a:ln/>
        </p:spPr>
      </p:sp>
      <p:sp>
        <p:nvSpPr>
          <p:cNvPr id="17" name="Text 15"/>
          <p:cNvSpPr/>
          <p:nvPr/>
        </p:nvSpPr>
        <p:spPr>
          <a:xfrm>
            <a:off x="713232" y="3383280"/>
            <a:ext cx="1234440" cy="676656"/>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Context</a:t>
            </a:r>
            <a:endParaRPr lang="en-US" sz="1400" dirty="0"/>
          </a:p>
        </p:txBody>
      </p:sp>
      <p:sp>
        <p:nvSpPr>
          <p:cNvPr id="18" name="Text 16"/>
          <p:cNvSpPr/>
          <p:nvPr/>
        </p:nvSpPr>
        <p:spPr>
          <a:xfrm>
            <a:off x="2011680" y="3374136"/>
            <a:ext cx="32918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what the model cannot know — material, glossary, quirks, the why</a:t>
            </a:r>
            <a:endParaRPr lang="en-US" sz="1000" dirty="0"/>
          </a:p>
        </p:txBody>
      </p:sp>
      <p:sp>
        <p:nvSpPr>
          <p:cNvPr id="19" name="Text 17"/>
          <p:cNvSpPr/>
          <p:nvPr/>
        </p:nvSpPr>
        <p:spPr>
          <a:xfrm>
            <a:off x="5440680" y="3374136"/>
            <a:ext cx="2834640" cy="694944"/>
          </a:xfrm>
          <a:prstGeom prst="rect">
            <a:avLst/>
          </a:prstGeom>
          <a:noFill/>
          <a:ln/>
        </p:spPr>
        <p:txBody>
          <a:bodyPr wrap="square" lIns="0" tIns="0" rIns="0" bIns="0" rtlCol="0" anchor="ctr"/>
          <a:lstStyle/>
          <a:p>
            <a:pPr indent="0" marL="0">
              <a:lnSpc>
                <a:spcPct val="100000"/>
              </a:lnSpc>
              <a:buNone/>
            </a:pPr>
            <a:r>
              <a:rPr lang="en-US" sz="850" b="1" dirty="0">
                <a:solidFill>
                  <a:srgbClr val="AF3230"/>
                </a:solidFill>
                <a:latin typeface="Calibri" pitchFamily="34" charset="0"/>
                <a:ea typeface="Calibri" pitchFamily="34" charset="-122"/>
                <a:cs typeface="Calibri" pitchFamily="34" charset="-120"/>
              </a:rPr>
              <a:t>weak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“Use our standard definitions.”</a:t>
            </a:r>
            <a:endParaRPr lang="en-US" sz="850" dirty="0"/>
          </a:p>
        </p:txBody>
      </p:sp>
      <p:sp>
        <p:nvSpPr>
          <p:cNvPr id="20" name="Text 18"/>
          <p:cNvSpPr/>
          <p:nvPr/>
        </p:nvSpPr>
        <p:spPr>
          <a:xfrm>
            <a:off x="8366760" y="3374136"/>
            <a:ext cx="3108960" cy="694944"/>
          </a:xfrm>
          <a:prstGeom prst="rect">
            <a:avLst/>
          </a:prstGeom>
          <a:noFill/>
          <a:ln/>
        </p:spPr>
        <p:txBody>
          <a:bodyPr wrap="square" lIns="0" tIns="0" rIns="0" bIns="0" rtlCol="0" anchor="ctr"/>
          <a:lstStyle/>
          <a:p>
            <a:pPr indent="0" marL="0">
              <a:lnSpc>
                <a:spcPct val="100000"/>
              </a:lnSpc>
              <a:buNone/>
            </a:pPr>
            <a:r>
              <a:rPr lang="en-US" sz="850" b="1" dirty="0">
                <a:solidFill>
                  <a:srgbClr val="3B8560"/>
                </a:solidFill>
                <a:latin typeface="Calibri" pitchFamily="34" charset="0"/>
                <a:ea typeface="Calibri" pitchFamily="34" charset="-122"/>
                <a:cs typeface="Calibri" pitchFamily="34" charset="-120"/>
              </a:rPr>
              <a:t>strong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“Return rate = returns ÷ shipped. Quirk: the export has a totals row — exclude it and say so.”</a:t>
            </a:r>
            <a:endParaRPr lang="en-US" sz="850" dirty="0"/>
          </a:p>
        </p:txBody>
      </p:sp>
      <p:sp>
        <p:nvSpPr>
          <p:cNvPr id="21" name="Shape 19"/>
          <p:cNvSpPr/>
          <p:nvPr/>
        </p:nvSpPr>
        <p:spPr>
          <a:xfrm>
            <a:off x="502920" y="4224528"/>
            <a:ext cx="11155680" cy="822960"/>
          </a:xfrm>
          <a:prstGeom prst="roundRect">
            <a:avLst>
              <a:gd name="adj" fmla="val 8889"/>
            </a:avLst>
          </a:prstGeom>
          <a:solidFill>
            <a:srgbClr val="FFFFFF"/>
          </a:solidFill>
          <a:ln w="9525">
            <a:solidFill>
              <a:srgbClr val="DCE3E6"/>
            </a:solidFill>
            <a:prstDash val="solid"/>
          </a:ln>
        </p:spPr>
      </p:sp>
      <p:sp>
        <p:nvSpPr>
          <p:cNvPr id="22" name="Text 20"/>
          <p:cNvSpPr/>
          <p:nvPr/>
        </p:nvSpPr>
        <p:spPr>
          <a:xfrm>
            <a:off x="713232" y="4297680"/>
            <a:ext cx="1234440" cy="676656"/>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Format</a:t>
            </a:r>
            <a:endParaRPr lang="en-US" sz="1400" dirty="0"/>
          </a:p>
        </p:txBody>
      </p:sp>
      <p:sp>
        <p:nvSpPr>
          <p:cNvPr id="23" name="Text 21"/>
          <p:cNvSpPr/>
          <p:nvPr/>
        </p:nvSpPr>
        <p:spPr>
          <a:xfrm>
            <a:off x="2011680" y="4288536"/>
            <a:ext cx="32918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the output contract — shape, numeric cap, tone</a:t>
            </a:r>
            <a:endParaRPr lang="en-US" sz="1000" dirty="0"/>
          </a:p>
        </p:txBody>
      </p:sp>
      <p:sp>
        <p:nvSpPr>
          <p:cNvPr id="24" name="Text 22"/>
          <p:cNvSpPr/>
          <p:nvPr/>
        </p:nvSpPr>
        <p:spPr>
          <a:xfrm>
            <a:off x="5440680" y="4288536"/>
            <a:ext cx="2834640" cy="694944"/>
          </a:xfrm>
          <a:prstGeom prst="rect">
            <a:avLst/>
          </a:prstGeom>
          <a:noFill/>
          <a:ln/>
        </p:spPr>
        <p:txBody>
          <a:bodyPr wrap="square" lIns="0" tIns="0" rIns="0" bIns="0" rtlCol="0" anchor="ctr"/>
          <a:lstStyle/>
          <a:p>
            <a:pPr indent="0" marL="0">
              <a:lnSpc>
                <a:spcPct val="100000"/>
              </a:lnSpc>
              <a:buNone/>
            </a:pPr>
            <a:r>
              <a:rPr lang="en-US" sz="850" b="1" dirty="0">
                <a:solidFill>
                  <a:srgbClr val="AF3230"/>
                </a:solidFill>
                <a:latin typeface="Calibri" pitchFamily="34" charset="0"/>
                <a:ea typeface="Calibri" pitchFamily="34" charset="-122"/>
                <a:cs typeface="Calibri" pitchFamily="34" charset="-120"/>
              </a:rPr>
              <a:t>weak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“Keep it short and professional.”</a:t>
            </a:r>
            <a:endParaRPr lang="en-US" sz="850" dirty="0"/>
          </a:p>
        </p:txBody>
      </p:sp>
      <p:sp>
        <p:nvSpPr>
          <p:cNvPr id="25" name="Text 23"/>
          <p:cNvSpPr/>
          <p:nvPr/>
        </p:nvSpPr>
        <p:spPr>
          <a:xfrm>
            <a:off x="8366760" y="4288536"/>
            <a:ext cx="3108960" cy="694944"/>
          </a:xfrm>
          <a:prstGeom prst="rect">
            <a:avLst/>
          </a:prstGeom>
          <a:noFill/>
          <a:ln/>
        </p:spPr>
        <p:txBody>
          <a:bodyPr wrap="square" lIns="0" tIns="0" rIns="0" bIns="0" rtlCol="0" anchor="ctr"/>
          <a:lstStyle/>
          <a:p>
            <a:pPr indent="0" marL="0">
              <a:lnSpc>
                <a:spcPct val="100000"/>
              </a:lnSpc>
              <a:buNone/>
            </a:pPr>
            <a:r>
              <a:rPr lang="en-US" sz="850" b="1" dirty="0">
                <a:solidFill>
                  <a:srgbClr val="3B8560"/>
                </a:solidFill>
                <a:latin typeface="Calibri" pitchFamily="34" charset="0"/>
                <a:ea typeface="Calibri" pitchFamily="34" charset="-122"/>
                <a:cs typeface="Calibri" pitchFamily="34" charset="-120"/>
              </a:rPr>
              <a:t>strong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 120 words: the ask in sentence one, two facts with numbers, the deadline.”</a:t>
            </a:r>
            <a:endParaRPr lang="en-US" sz="850" dirty="0"/>
          </a:p>
        </p:txBody>
      </p:sp>
      <p:sp>
        <p:nvSpPr>
          <p:cNvPr id="26" name="Shape 24"/>
          <p:cNvSpPr/>
          <p:nvPr/>
        </p:nvSpPr>
        <p:spPr>
          <a:xfrm>
            <a:off x="502920" y="5138928"/>
            <a:ext cx="11155680" cy="822960"/>
          </a:xfrm>
          <a:prstGeom prst="roundRect">
            <a:avLst>
              <a:gd name="adj" fmla="val 8889"/>
            </a:avLst>
          </a:prstGeom>
          <a:solidFill>
            <a:srgbClr val="F2F5F6"/>
          </a:solidFill>
          <a:ln/>
        </p:spPr>
      </p:sp>
      <p:sp>
        <p:nvSpPr>
          <p:cNvPr id="27" name="Text 25"/>
          <p:cNvSpPr/>
          <p:nvPr/>
        </p:nvSpPr>
        <p:spPr>
          <a:xfrm>
            <a:off x="713232" y="5212080"/>
            <a:ext cx="1234440" cy="676656"/>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Examples</a:t>
            </a:r>
            <a:endParaRPr lang="en-US" sz="1400" dirty="0"/>
          </a:p>
        </p:txBody>
      </p:sp>
      <p:sp>
        <p:nvSpPr>
          <p:cNvPr id="28" name="Text 26"/>
          <p:cNvSpPr/>
          <p:nvPr/>
        </p:nvSpPr>
        <p:spPr>
          <a:xfrm>
            <a:off x="2011680" y="5202936"/>
            <a:ext cx="32918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29" name="Text 27"/>
          <p:cNvSpPr/>
          <p:nvPr/>
        </p:nvSpPr>
        <p:spPr>
          <a:xfrm>
            <a:off x="5440680" y="5202936"/>
            <a:ext cx="2834640" cy="694944"/>
          </a:xfrm>
          <a:prstGeom prst="rect">
            <a:avLst/>
          </a:prstGeom>
          <a:noFill/>
          <a:ln/>
        </p:spPr>
        <p:txBody>
          <a:bodyPr wrap="square" lIns="0" tIns="0" rIns="0" bIns="0" rtlCol="0" anchor="ctr"/>
          <a:lstStyle/>
          <a:p>
            <a:pPr indent="0" marL="0">
              <a:lnSpc>
                <a:spcPct val="100000"/>
              </a:lnSpc>
              <a:buNone/>
            </a:pPr>
            <a:r>
              <a:rPr lang="en-US" sz="850" b="1" dirty="0">
                <a:solidFill>
                  <a:srgbClr val="AF3230"/>
                </a:solidFill>
                <a:latin typeface="Calibri" pitchFamily="34" charset="0"/>
                <a:ea typeface="Calibri" pitchFamily="34" charset="-122"/>
                <a:cs typeface="Calibri" pitchFamily="34" charset="-120"/>
              </a:rPr>
              <a:t>weak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three clones of the happy case</a:t>
            </a:r>
            <a:endParaRPr lang="en-US" sz="850" dirty="0"/>
          </a:p>
        </p:txBody>
      </p:sp>
      <p:sp>
        <p:nvSpPr>
          <p:cNvPr id="30" name="Text 28"/>
          <p:cNvSpPr/>
          <p:nvPr/>
        </p:nvSpPr>
        <p:spPr>
          <a:xfrm>
            <a:off x="8366760" y="5202936"/>
            <a:ext cx="3108960" cy="694944"/>
          </a:xfrm>
          <a:prstGeom prst="rect">
            <a:avLst/>
          </a:prstGeom>
          <a:noFill/>
          <a:ln/>
        </p:spPr>
        <p:txBody>
          <a:bodyPr wrap="square" lIns="0" tIns="0" rIns="0" bIns="0" rtlCol="0" anchor="ctr"/>
          <a:lstStyle/>
          <a:p>
            <a:pPr indent="0" marL="0">
              <a:lnSpc>
                <a:spcPct val="100000"/>
              </a:lnSpc>
              <a:buNone/>
            </a:pPr>
            <a:r>
              <a:rPr lang="en-US" sz="850" b="1" dirty="0">
                <a:solidFill>
                  <a:srgbClr val="3B8560"/>
                </a:solidFill>
                <a:latin typeface="Calibri" pitchFamily="34" charset="0"/>
                <a:ea typeface="Calibri" pitchFamily="34" charset="-122"/>
                <a:cs typeface="Calibri" pitchFamily="34" charset="-120"/>
              </a:rPr>
              <a:t>strong  </a:t>
            </a:r>
            <a:pPr indent="0" marL="0">
              <a:lnSpc>
                <a:spcPct val="100000"/>
              </a:lnSpc>
              <a:buNone/>
            </a:pPr>
            <a:r>
              <a:rPr lang="en-US" sz="900" dirty="0">
                <a:solidFill>
                  <a:srgbClr val="46545F"/>
                </a:solidFill>
                <a:latin typeface="Calibri" pitchFamily="34" charset="0"/>
                <a:ea typeface="Calibri" pitchFamily="34" charset="-122"/>
                <a:cs typeface="Calibri" pitchFamily="34" charset="-120"/>
              </a:rPr>
              <a:t>one typical + one edge + one reject case, fenced in tags</a:t>
            </a:r>
            <a:endParaRPr lang="en-US" sz="850" dirty="0"/>
          </a:p>
        </p:txBody>
      </p:sp>
      <p:sp>
        <p:nvSpPr>
          <p:cNvPr id="31" name="Text 29"/>
          <p:cNvSpPr/>
          <p:nvPr/>
        </p:nvSpPr>
        <p:spPr>
          <a:xfrm>
            <a:off x="502920" y="6108192"/>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The full field guide — mechanism, evidence, and pitfalls per element — is in your handout (ELEMENTS guide).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TWO SAFETY VALVES — AND THE DIAGNOSIS GRID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sentence each; they shut off the two signature failures</a:t>
            </a:r>
            <a:endParaRPr lang="en-US" sz="3000" dirty="0"/>
          </a:p>
        </p:txBody>
      </p:sp>
      <p:sp>
        <p:nvSpPr>
          <p:cNvPr id="6" name="Shape 4"/>
          <p:cNvSpPr/>
          <p:nvPr/>
        </p:nvSpPr>
        <p:spPr>
          <a:xfrm>
            <a:off x="502920" y="1508760"/>
            <a:ext cx="5394960" cy="2148840"/>
          </a:xfrm>
          <a:prstGeom prst="roundRect">
            <a:avLst>
              <a:gd name="adj" fmla="val 3404"/>
            </a:avLst>
          </a:prstGeom>
          <a:solidFill>
            <a:srgbClr val="E4F0EF"/>
          </a:solidFill>
          <a:ln/>
        </p:spPr>
      </p:sp>
      <p:sp>
        <p:nvSpPr>
          <p:cNvPr id="7" name="Shape 5"/>
          <p:cNvSpPr/>
          <p:nvPr/>
        </p:nvSpPr>
        <p:spPr>
          <a:xfrm>
            <a:off x="777240" y="1737360"/>
            <a:ext cx="457200" cy="457200"/>
          </a:xfrm>
          <a:prstGeom prst="ellipse">
            <a:avLst/>
          </a:prstGeom>
          <a:solidFill>
            <a:srgbClr val="0E7C7B"/>
          </a:solidFill>
          <a:ln/>
        </p:spPr>
      </p:sp>
      <p:pic>
        <p:nvPicPr>
          <p:cNvPr id="8" name="Image 0" descr="/home/user/Claude-Works/ai-training-prompt-engineering/src/assets/icons/help_w.png">    </p:cNvPr>
          <p:cNvPicPr>
            <a:picLocks noChangeAspect="1"/>
          </p:cNvPicPr>
          <p:nvPr/>
        </p:nvPicPr>
        <p:blipFill>
          <a:blip r:embed="rId1"/>
          <a:stretch>
            <a:fillRect/>
          </a:stretch>
        </p:blipFill>
        <p:spPr>
          <a:xfrm>
            <a:off x="896112" y="1856232"/>
            <a:ext cx="219456" cy="219456"/>
          </a:xfrm>
          <a:prstGeom prst="rect">
            <a:avLst/>
          </a:prstGeom>
        </p:spPr>
      </p:pic>
      <p:sp>
        <p:nvSpPr>
          <p:cNvPr id="9" name="Text 6"/>
          <p:cNvSpPr/>
          <p:nvPr/>
        </p:nvSpPr>
        <p:spPr>
          <a:xfrm>
            <a:off x="1371600" y="1783080"/>
            <a:ext cx="438912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OUT — permission to not know</a:t>
            </a:r>
            <a:endParaRPr lang="en-US" sz="1400" dirty="0"/>
          </a:p>
        </p:txBody>
      </p:sp>
      <p:sp>
        <p:nvSpPr>
          <p:cNvPr id="10" name="Text 7"/>
          <p:cNvSpPr/>
          <p:nvPr/>
        </p:nvSpPr>
        <p:spPr>
          <a:xfrm>
            <a:off x="822960" y="2240280"/>
            <a:ext cx="4846320" cy="1280160"/>
          </a:xfrm>
          <a:prstGeom prst="rect">
            <a:avLst/>
          </a:prstGeom>
          <a:noFill/>
          <a:ln/>
        </p:spPr>
        <p:txBody>
          <a:bodyPr wrap="square" lIns="0" tIns="0" rIns="0" bIns="0" rtlCol="0" anchor="ctr"/>
          <a:lstStyle/>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“If the document doesn’t say — say so.” Models are trained on tests that reward guessing over abstaining; the Out re-opens the abstain option and drastically cuts invented answers.</a:t>
            </a:r>
            <a:endParaRPr lang="en-US" sz="1150" dirty="0"/>
          </a:p>
        </p:txBody>
      </p:sp>
      <p:sp>
        <p:nvSpPr>
          <p:cNvPr id="11" name="Shape 8"/>
          <p:cNvSpPr/>
          <p:nvPr/>
        </p:nvSpPr>
        <p:spPr>
          <a:xfrm>
            <a:off x="502920" y="3886200"/>
            <a:ext cx="5394960" cy="2148840"/>
          </a:xfrm>
          <a:prstGeom prst="roundRect">
            <a:avLst>
              <a:gd name="adj" fmla="val 3404"/>
            </a:avLst>
          </a:prstGeom>
          <a:solidFill>
            <a:srgbClr val="E4F0EF"/>
          </a:solidFill>
          <a:ln/>
        </p:spPr>
      </p:sp>
      <p:sp>
        <p:nvSpPr>
          <p:cNvPr id="12" name="Shape 9"/>
          <p:cNvSpPr/>
          <p:nvPr/>
        </p:nvSpPr>
        <p:spPr>
          <a:xfrm>
            <a:off x="777240" y="4114800"/>
            <a:ext cx="457200" cy="457200"/>
          </a:xfrm>
          <a:prstGeom prst="ellipse">
            <a:avLst/>
          </a:prstGeom>
          <a:solidFill>
            <a:srgbClr val="0E7C7B"/>
          </a:solidFill>
          <a:ln/>
        </p:spPr>
      </p:sp>
      <p:pic>
        <p:nvPicPr>
          <p:cNvPr id="13" name="Image 1" descr="/home/user/Claude-Works/ai-training-prompt-engineering/src/assets/icons/hand_w.png">    </p:cNvPr>
          <p:cNvPicPr>
            <a:picLocks noChangeAspect="1"/>
          </p:cNvPicPr>
          <p:nvPr/>
        </p:nvPicPr>
        <p:blipFill>
          <a:blip r:embed="rId2"/>
          <a:stretch>
            <a:fillRect/>
          </a:stretch>
        </p:blipFill>
        <p:spPr>
          <a:xfrm>
            <a:off x="896112" y="4233672"/>
            <a:ext cx="219456" cy="219456"/>
          </a:xfrm>
          <a:prstGeom prst="rect">
            <a:avLst/>
          </a:prstGeom>
        </p:spPr>
      </p:pic>
      <p:sp>
        <p:nvSpPr>
          <p:cNvPr id="14" name="Text 10"/>
          <p:cNvSpPr/>
          <p:nvPr/>
        </p:nvSpPr>
        <p:spPr>
          <a:xfrm>
            <a:off x="1371600" y="4160520"/>
            <a:ext cx="438912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STOP — the scope boundary</a:t>
            </a:r>
            <a:endParaRPr lang="en-US" sz="1400" dirty="0"/>
          </a:p>
        </p:txBody>
      </p:sp>
      <p:sp>
        <p:nvSpPr>
          <p:cNvPr id="15" name="Text 11"/>
          <p:cNvSpPr/>
          <p:nvPr/>
        </p:nvSpPr>
        <p:spPr>
          <a:xfrm>
            <a:off x="822960" y="4617720"/>
            <a:ext cx="4846320" cy="1280160"/>
          </a:xfrm>
          <a:prstGeom prst="rect">
            <a:avLst/>
          </a:prstGeom>
          <a:noFill/>
          <a:ln/>
        </p:spPr>
        <p:txBody>
          <a:bodyPr wrap="square" lIns="0" tIns="0" rIns="0" bIns="0" rtlCol="0" anchor="ctr"/>
          <a:lstStyle/>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“Answer these three questions, then stop — do not go exploring.” Converts open-ended capability into bounded work. In Part 5 it grows up to become gates and autonomy rules.</a:t>
            </a:r>
            <a:endParaRPr lang="en-US" sz="1150" dirty="0"/>
          </a:p>
        </p:txBody>
      </p:sp>
      <p:sp>
        <p:nvSpPr>
          <p:cNvPr id="16" name="Shape 12"/>
          <p:cNvSpPr/>
          <p:nvPr/>
        </p:nvSpPr>
        <p:spPr>
          <a:xfrm>
            <a:off x="6172200" y="1508760"/>
            <a:ext cx="5486400" cy="4526280"/>
          </a:xfrm>
          <a:prstGeom prst="roundRect">
            <a:avLst>
              <a:gd name="adj" fmla="val 1616"/>
            </a:avLst>
          </a:prstGeom>
          <a:solidFill>
            <a:srgbClr val="F2F5F6"/>
          </a:solidFill>
          <a:ln/>
        </p:spPr>
      </p:sp>
      <p:sp>
        <p:nvSpPr>
          <p:cNvPr id="17" name="Text 13"/>
          <p:cNvSpPr/>
          <p:nvPr/>
        </p:nvSpPr>
        <p:spPr>
          <a:xfrm>
            <a:off x="6419088" y="1700784"/>
            <a:ext cx="502920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diagnosis grid — which element failed?</a:t>
            </a:r>
            <a:endParaRPr lang="en-US" sz="1400" dirty="0"/>
          </a:p>
        </p:txBody>
      </p:sp>
      <p:sp>
        <p:nvSpPr>
          <p:cNvPr id="18" name="Text 14"/>
          <p:cNvSpPr/>
          <p:nvPr/>
        </p:nvSpPr>
        <p:spPr>
          <a:xfrm>
            <a:off x="6446520" y="2194560"/>
            <a:ext cx="3383280" cy="457200"/>
          </a:xfrm>
          <a:prstGeom prst="rect">
            <a:avLst/>
          </a:prstGeom>
          <a:noFill/>
          <a:ln/>
        </p:spPr>
        <p:txBody>
          <a:bodyPr wrap="square" lIns="0" tIns="0" rIns="0" bIns="0" rtlCol="0" anchor="ctr"/>
          <a:lstStyle/>
          <a:p>
            <a:pPr indent="0" marL="0">
              <a:buNone/>
            </a:pPr>
            <a:r>
              <a:rPr lang="en-US" sz="1030" dirty="0">
                <a:solidFill>
                  <a:srgbClr val="46545F"/>
                </a:solidFill>
                <a:latin typeface="Calibri" pitchFamily="34" charset="0"/>
                <a:ea typeface="Calibri" pitchFamily="34" charset="-122"/>
                <a:cs typeface="Calibri" pitchFamily="34" charset="-120"/>
              </a:rPr>
              <a:t>wrong altitude, tone, or posture</a:t>
            </a:r>
            <a:endParaRPr lang="en-US" sz="1030" dirty="0"/>
          </a:p>
        </p:txBody>
      </p:sp>
      <p:sp>
        <p:nvSpPr>
          <p:cNvPr id="19" name="Text 15"/>
          <p:cNvSpPr/>
          <p:nvPr/>
        </p:nvSpPr>
        <p:spPr>
          <a:xfrm>
            <a:off x="9921240" y="2194560"/>
            <a:ext cx="1600200" cy="457200"/>
          </a:xfrm>
          <a:prstGeom prst="rect">
            <a:avLst/>
          </a:prstGeom>
          <a:noFill/>
          <a:ln/>
        </p:spPr>
        <p:txBody>
          <a:bodyPr wrap="square" lIns="0" tIns="0" rIns="0" bIns="0" rtlCol="0" anchor="ctr"/>
          <a:lstStyle/>
          <a:p>
            <a:pPr indent="0" marL="0">
              <a:buNone/>
            </a:pPr>
            <a:r>
              <a:rPr lang="en-US" sz="1030" b="1" dirty="0">
                <a:solidFill>
                  <a:srgbClr val="0A5B5A"/>
                </a:solidFill>
                <a:latin typeface="Calibri" pitchFamily="34" charset="0"/>
                <a:ea typeface="Calibri" pitchFamily="34" charset="-122"/>
                <a:cs typeface="Calibri" pitchFamily="34" charset="-120"/>
              </a:rPr>
              <a:t>Role</a:t>
            </a:r>
            <a:endParaRPr lang="en-US" sz="1030" dirty="0"/>
          </a:p>
        </p:txBody>
      </p:sp>
      <p:sp>
        <p:nvSpPr>
          <p:cNvPr id="20" name="Shape 16"/>
          <p:cNvSpPr/>
          <p:nvPr/>
        </p:nvSpPr>
        <p:spPr>
          <a:xfrm>
            <a:off x="6446520" y="2679192"/>
            <a:ext cx="4983480" cy="0"/>
          </a:xfrm>
          <a:prstGeom prst="line">
            <a:avLst/>
          </a:prstGeom>
          <a:noFill/>
          <a:ln w="6350">
            <a:solidFill>
              <a:srgbClr val="DCE3E6"/>
            </a:solidFill>
            <a:prstDash val="solid"/>
          </a:ln>
        </p:spPr>
      </p:sp>
      <p:sp>
        <p:nvSpPr>
          <p:cNvPr id="21" name="Text 17"/>
          <p:cNvSpPr/>
          <p:nvPr/>
        </p:nvSpPr>
        <p:spPr>
          <a:xfrm>
            <a:off x="6446520" y="2724912"/>
            <a:ext cx="3383280" cy="457200"/>
          </a:xfrm>
          <a:prstGeom prst="rect">
            <a:avLst/>
          </a:prstGeom>
          <a:noFill/>
          <a:ln/>
        </p:spPr>
        <p:txBody>
          <a:bodyPr wrap="square" lIns="0" tIns="0" rIns="0" bIns="0" rtlCol="0" anchor="ctr"/>
          <a:lstStyle/>
          <a:p>
            <a:pPr indent="0" marL="0">
              <a:buNone/>
            </a:pPr>
            <a:r>
              <a:rPr lang="en-US" sz="1030" dirty="0">
                <a:solidFill>
                  <a:srgbClr val="46545F"/>
                </a:solidFill>
                <a:latin typeface="Calibri" pitchFamily="34" charset="0"/>
                <a:ea typeface="Calibri" pitchFamily="34" charset="-122"/>
                <a:cs typeface="Calibri" pitchFamily="34" charset="-120"/>
              </a:rPr>
              <a:t>answers a different (or vaguer) question</a:t>
            </a:r>
            <a:endParaRPr lang="en-US" sz="1030" dirty="0"/>
          </a:p>
        </p:txBody>
      </p:sp>
      <p:sp>
        <p:nvSpPr>
          <p:cNvPr id="22" name="Text 18"/>
          <p:cNvSpPr/>
          <p:nvPr/>
        </p:nvSpPr>
        <p:spPr>
          <a:xfrm>
            <a:off x="9921240" y="2724912"/>
            <a:ext cx="1600200" cy="457200"/>
          </a:xfrm>
          <a:prstGeom prst="rect">
            <a:avLst/>
          </a:prstGeom>
          <a:noFill/>
          <a:ln/>
        </p:spPr>
        <p:txBody>
          <a:bodyPr wrap="square" lIns="0" tIns="0" rIns="0" bIns="0" rtlCol="0" anchor="ctr"/>
          <a:lstStyle/>
          <a:p>
            <a:pPr indent="0" marL="0">
              <a:buNone/>
            </a:pPr>
            <a:r>
              <a:rPr lang="en-US" sz="1030" b="1" dirty="0">
                <a:solidFill>
                  <a:srgbClr val="0A5B5A"/>
                </a:solidFill>
                <a:latin typeface="Calibri" pitchFamily="34" charset="0"/>
                <a:ea typeface="Calibri" pitchFamily="34" charset="-122"/>
                <a:cs typeface="Calibri" pitchFamily="34" charset="-120"/>
              </a:rPr>
              <a:t>Task</a:t>
            </a:r>
            <a:endParaRPr lang="en-US" sz="1030" dirty="0"/>
          </a:p>
        </p:txBody>
      </p:sp>
      <p:sp>
        <p:nvSpPr>
          <p:cNvPr id="23" name="Shape 19"/>
          <p:cNvSpPr/>
          <p:nvPr/>
        </p:nvSpPr>
        <p:spPr>
          <a:xfrm>
            <a:off x="6446520" y="3209544"/>
            <a:ext cx="4983480" cy="0"/>
          </a:xfrm>
          <a:prstGeom prst="line">
            <a:avLst/>
          </a:prstGeom>
          <a:noFill/>
          <a:ln w="6350">
            <a:solidFill>
              <a:srgbClr val="DCE3E6"/>
            </a:solidFill>
            <a:prstDash val="solid"/>
          </a:ln>
        </p:spPr>
      </p:sp>
      <p:sp>
        <p:nvSpPr>
          <p:cNvPr id="24" name="Text 20"/>
          <p:cNvSpPr/>
          <p:nvPr/>
        </p:nvSpPr>
        <p:spPr>
          <a:xfrm>
            <a:off x="6446520" y="3255264"/>
            <a:ext cx="3383280" cy="457200"/>
          </a:xfrm>
          <a:prstGeom prst="rect">
            <a:avLst/>
          </a:prstGeom>
          <a:noFill/>
          <a:ln/>
        </p:spPr>
        <p:txBody>
          <a:bodyPr wrap="square" lIns="0" tIns="0" rIns="0" bIns="0" rtlCol="0" anchor="ctr"/>
          <a:lstStyle/>
          <a:p>
            <a:pPr indent="0" marL="0">
              <a:buNone/>
            </a:pPr>
            <a:r>
              <a:rPr lang="en-US" sz="1030" dirty="0">
                <a:solidFill>
                  <a:srgbClr val="46545F"/>
                </a:solidFill>
                <a:latin typeface="Calibri" pitchFamily="34" charset="0"/>
                <a:ea typeface="Calibri" pitchFamily="34" charset="-122"/>
                <a:cs typeface="Calibri" pitchFamily="34" charset="-120"/>
              </a:rPr>
              <a:t>generically right, specifically wrong for us</a:t>
            </a:r>
            <a:endParaRPr lang="en-US" sz="1030" dirty="0"/>
          </a:p>
        </p:txBody>
      </p:sp>
      <p:sp>
        <p:nvSpPr>
          <p:cNvPr id="25" name="Text 21"/>
          <p:cNvSpPr/>
          <p:nvPr/>
        </p:nvSpPr>
        <p:spPr>
          <a:xfrm>
            <a:off x="9921240" y="3255264"/>
            <a:ext cx="1600200" cy="457200"/>
          </a:xfrm>
          <a:prstGeom prst="rect">
            <a:avLst/>
          </a:prstGeom>
          <a:noFill/>
          <a:ln/>
        </p:spPr>
        <p:txBody>
          <a:bodyPr wrap="square" lIns="0" tIns="0" rIns="0" bIns="0" rtlCol="0" anchor="ctr"/>
          <a:lstStyle/>
          <a:p>
            <a:pPr indent="0" marL="0">
              <a:buNone/>
            </a:pPr>
            <a:r>
              <a:rPr lang="en-US" sz="1030" b="1" dirty="0">
                <a:solidFill>
                  <a:srgbClr val="0A5B5A"/>
                </a:solidFill>
                <a:latin typeface="Calibri" pitchFamily="34" charset="0"/>
                <a:ea typeface="Calibri" pitchFamily="34" charset="-122"/>
                <a:cs typeface="Calibri" pitchFamily="34" charset="-120"/>
              </a:rPr>
              <a:t>Context</a:t>
            </a:r>
            <a:endParaRPr lang="en-US" sz="1030" dirty="0"/>
          </a:p>
        </p:txBody>
      </p:sp>
      <p:sp>
        <p:nvSpPr>
          <p:cNvPr id="26" name="Shape 22"/>
          <p:cNvSpPr/>
          <p:nvPr/>
        </p:nvSpPr>
        <p:spPr>
          <a:xfrm>
            <a:off x="6446520" y="3739896"/>
            <a:ext cx="4983480" cy="0"/>
          </a:xfrm>
          <a:prstGeom prst="line">
            <a:avLst/>
          </a:prstGeom>
          <a:noFill/>
          <a:ln w="6350">
            <a:solidFill>
              <a:srgbClr val="DCE3E6"/>
            </a:solidFill>
            <a:prstDash val="solid"/>
          </a:ln>
        </p:spPr>
      </p:sp>
      <p:sp>
        <p:nvSpPr>
          <p:cNvPr id="27" name="Text 23"/>
          <p:cNvSpPr/>
          <p:nvPr/>
        </p:nvSpPr>
        <p:spPr>
          <a:xfrm>
            <a:off x="6446520" y="3785616"/>
            <a:ext cx="3383280" cy="457200"/>
          </a:xfrm>
          <a:prstGeom prst="rect">
            <a:avLst/>
          </a:prstGeom>
          <a:noFill/>
          <a:ln/>
        </p:spPr>
        <p:txBody>
          <a:bodyPr wrap="square" lIns="0" tIns="0" rIns="0" bIns="0" rtlCol="0" anchor="ctr"/>
          <a:lstStyle/>
          <a:p>
            <a:pPr indent="0" marL="0">
              <a:buNone/>
            </a:pPr>
            <a:r>
              <a:rPr lang="en-US" sz="1030" dirty="0">
                <a:solidFill>
                  <a:srgbClr val="46545F"/>
                </a:solidFill>
                <a:latin typeface="Calibri" pitchFamily="34" charset="0"/>
                <a:ea typeface="Calibri" pitchFamily="34" charset="-122"/>
                <a:cs typeface="Calibri" pitchFamily="34" charset="-120"/>
              </a:rPr>
              <a:t>right content, unusable shape or length</a:t>
            </a:r>
            <a:endParaRPr lang="en-US" sz="1030" dirty="0"/>
          </a:p>
        </p:txBody>
      </p:sp>
      <p:sp>
        <p:nvSpPr>
          <p:cNvPr id="28" name="Text 24"/>
          <p:cNvSpPr/>
          <p:nvPr/>
        </p:nvSpPr>
        <p:spPr>
          <a:xfrm>
            <a:off x="9921240" y="3785616"/>
            <a:ext cx="1600200" cy="457200"/>
          </a:xfrm>
          <a:prstGeom prst="rect">
            <a:avLst/>
          </a:prstGeom>
          <a:noFill/>
          <a:ln/>
        </p:spPr>
        <p:txBody>
          <a:bodyPr wrap="square" lIns="0" tIns="0" rIns="0" bIns="0" rtlCol="0" anchor="ctr"/>
          <a:lstStyle/>
          <a:p>
            <a:pPr indent="0" marL="0">
              <a:buNone/>
            </a:pPr>
            <a:r>
              <a:rPr lang="en-US" sz="1030" b="1" dirty="0">
                <a:solidFill>
                  <a:srgbClr val="0A5B5A"/>
                </a:solidFill>
                <a:latin typeface="Calibri" pitchFamily="34" charset="0"/>
                <a:ea typeface="Calibri" pitchFamily="34" charset="-122"/>
                <a:cs typeface="Calibri" pitchFamily="34" charset="-120"/>
              </a:rPr>
              <a:t>Format</a:t>
            </a:r>
            <a:endParaRPr lang="en-US" sz="1030" dirty="0"/>
          </a:p>
        </p:txBody>
      </p:sp>
      <p:sp>
        <p:nvSpPr>
          <p:cNvPr id="29" name="Shape 25"/>
          <p:cNvSpPr/>
          <p:nvPr/>
        </p:nvSpPr>
        <p:spPr>
          <a:xfrm>
            <a:off x="6446520" y="4270248"/>
            <a:ext cx="4983480" cy="0"/>
          </a:xfrm>
          <a:prstGeom prst="line">
            <a:avLst/>
          </a:prstGeom>
          <a:noFill/>
          <a:ln w="6350">
            <a:solidFill>
              <a:srgbClr val="DCE3E6"/>
            </a:solidFill>
            <a:prstDash val="solid"/>
          </a:ln>
        </p:spPr>
      </p:sp>
      <p:sp>
        <p:nvSpPr>
          <p:cNvPr id="30" name="Text 26"/>
          <p:cNvSpPr/>
          <p:nvPr/>
        </p:nvSpPr>
        <p:spPr>
          <a:xfrm>
            <a:off x="6446520" y="4315968"/>
            <a:ext cx="3383280" cy="457200"/>
          </a:xfrm>
          <a:prstGeom prst="rect">
            <a:avLst/>
          </a:prstGeom>
          <a:noFill/>
          <a:ln/>
        </p:spPr>
        <p:txBody>
          <a:bodyPr wrap="square" lIns="0" tIns="0" rIns="0" bIns="0" rtlCol="0" anchor="ctr"/>
          <a:lstStyle/>
          <a:p>
            <a:pPr indent="0" marL="0">
              <a:buNone/>
            </a:pPr>
            <a:r>
              <a:rPr lang="en-US" sz="1030" dirty="0">
                <a:solidFill>
                  <a:srgbClr val="46545F"/>
                </a:solidFill>
                <a:latin typeface="Calibri" pitchFamily="34" charset="0"/>
                <a:ea typeface="Calibri" pitchFamily="34" charset="-122"/>
                <a:cs typeface="Calibri" pitchFamily="34" charset="-120"/>
              </a:rPr>
              <a:t>doesn’t match the standard in your head</a:t>
            </a:r>
            <a:endParaRPr lang="en-US" sz="1030" dirty="0"/>
          </a:p>
        </p:txBody>
      </p:sp>
      <p:sp>
        <p:nvSpPr>
          <p:cNvPr id="31" name="Text 27"/>
          <p:cNvSpPr/>
          <p:nvPr/>
        </p:nvSpPr>
        <p:spPr>
          <a:xfrm>
            <a:off x="9921240" y="4315968"/>
            <a:ext cx="1600200" cy="457200"/>
          </a:xfrm>
          <a:prstGeom prst="rect">
            <a:avLst/>
          </a:prstGeom>
          <a:noFill/>
          <a:ln/>
        </p:spPr>
        <p:txBody>
          <a:bodyPr wrap="square" lIns="0" tIns="0" rIns="0" bIns="0" rtlCol="0" anchor="ctr"/>
          <a:lstStyle/>
          <a:p>
            <a:pPr indent="0" marL="0">
              <a:buNone/>
            </a:pPr>
            <a:r>
              <a:rPr lang="en-US" sz="1030" b="1" dirty="0">
                <a:solidFill>
                  <a:srgbClr val="0A5B5A"/>
                </a:solidFill>
                <a:latin typeface="Calibri" pitchFamily="34" charset="0"/>
                <a:ea typeface="Calibri" pitchFamily="34" charset="-122"/>
                <a:cs typeface="Calibri" pitchFamily="34" charset="-120"/>
              </a:rPr>
              <a:t>Examples</a:t>
            </a:r>
            <a:endParaRPr lang="en-US" sz="1030" dirty="0"/>
          </a:p>
        </p:txBody>
      </p:sp>
      <p:sp>
        <p:nvSpPr>
          <p:cNvPr id="32" name="Shape 28"/>
          <p:cNvSpPr/>
          <p:nvPr/>
        </p:nvSpPr>
        <p:spPr>
          <a:xfrm>
            <a:off x="6446520" y="4800600"/>
            <a:ext cx="4983480" cy="0"/>
          </a:xfrm>
          <a:prstGeom prst="line">
            <a:avLst/>
          </a:prstGeom>
          <a:noFill/>
          <a:ln w="6350">
            <a:solidFill>
              <a:srgbClr val="DCE3E6"/>
            </a:solidFill>
            <a:prstDash val="solid"/>
          </a:ln>
        </p:spPr>
      </p:sp>
      <p:sp>
        <p:nvSpPr>
          <p:cNvPr id="33" name="Text 29"/>
          <p:cNvSpPr/>
          <p:nvPr/>
        </p:nvSpPr>
        <p:spPr>
          <a:xfrm>
            <a:off x="6446520" y="4846320"/>
            <a:ext cx="3383280" cy="457200"/>
          </a:xfrm>
          <a:prstGeom prst="rect">
            <a:avLst/>
          </a:prstGeom>
          <a:noFill/>
          <a:ln/>
        </p:spPr>
        <p:txBody>
          <a:bodyPr wrap="square" lIns="0" tIns="0" rIns="0" bIns="0" rtlCol="0" anchor="ctr"/>
          <a:lstStyle/>
          <a:p>
            <a:pPr indent="0" marL="0">
              <a:buNone/>
            </a:pPr>
            <a:r>
              <a:rPr lang="en-US" sz="1030" dirty="0">
                <a:solidFill>
                  <a:srgbClr val="46545F"/>
                </a:solidFill>
                <a:latin typeface="Calibri" pitchFamily="34" charset="0"/>
                <a:ea typeface="Calibri" pitchFamily="34" charset="-122"/>
                <a:cs typeface="Calibri" pitchFamily="34" charset="-120"/>
              </a:rPr>
              <a:t>confidently invented</a:t>
            </a:r>
            <a:endParaRPr lang="en-US" sz="1030" dirty="0"/>
          </a:p>
        </p:txBody>
      </p:sp>
      <p:sp>
        <p:nvSpPr>
          <p:cNvPr id="34" name="Text 30"/>
          <p:cNvSpPr/>
          <p:nvPr/>
        </p:nvSpPr>
        <p:spPr>
          <a:xfrm>
            <a:off x="9921240" y="4846320"/>
            <a:ext cx="1600200" cy="457200"/>
          </a:xfrm>
          <a:prstGeom prst="rect">
            <a:avLst/>
          </a:prstGeom>
          <a:noFill/>
          <a:ln/>
        </p:spPr>
        <p:txBody>
          <a:bodyPr wrap="square" lIns="0" tIns="0" rIns="0" bIns="0" rtlCol="0" anchor="ctr"/>
          <a:lstStyle/>
          <a:p>
            <a:pPr indent="0" marL="0">
              <a:buNone/>
            </a:pPr>
            <a:r>
              <a:rPr lang="en-US" sz="1030" b="1" dirty="0">
                <a:solidFill>
                  <a:srgbClr val="0A5B5A"/>
                </a:solidFill>
                <a:latin typeface="Calibri" pitchFamily="34" charset="0"/>
                <a:ea typeface="Calibri" pitchFamily="34" charset="-122"/>
                <a:cs typeface="Calibri" pitchFamily="34" charset="-120"/>
              </a:rPr>
              <a:t>The Out (missing)</a:t>
            </a:r>
            <a:endParaRPr lang="en-US" sz="1030" dirty="0"/>
          </a:p>
        </p:txBody>
      </p:sp>
      <p:sp>
        <p:nvSpPr>
          <p:cNvPr id="35" name="Shape 31"/>
          <p:cNvSpPr/>
          <p:nvPr/>
        </p:nvSpPr>
        <p:spPr>
          <a:xfrm>
            <a:off x="6446520" y="5330952"/>
            <a:ext cx="4983480" cy="0"/>
          </a:xfrm>
          <a:prstGeom prst="line">
            <a:avLst/>
          </a:prstGeom>
          <a:noFill/>
          <a:ln w="6350">
            <a:solidFill>
              <a:srgbClr val="DCE3E6"/>
            </a:solidFill>
            <a:prstDash val="solid"/>
          </a:ln>
        </p:spPr>
      </p:sp>
      <p:sp>
        <p:nvSpPr>
          <p:cNvPr id="36" name="Text 32"/>
          <p:cNvSpPr/>
          <p:nvPr/>
        </p:nvSpPr>
        <p:spPr>
          <a:xfrm>
            <a:off x="6446520" y="5376672"/>
            <a:ext cx="3383280" cy="457200"/>
          </a:xfrm>
          <a:prstGeom prst="rect">
            <a:avLst/>
          </a:prstGeom>
          <a:noFill/>
          <a:ln/>
        </p:spPr>
        <p:txBody>
          <a:bodyPr wrap="square" lIns="0" tIns="0" rIns="0" bIns="0" rtlCol="0" anchor="ctr"/>
          <a:lstStyle/>
          <a:p>
            <a:pPr indent="0" marL="0">
              <a:buNone/>
            </a:pPr>
            <a:r>
              <a:rPr lang="en-US" sz="1030" dirty="0">
                <a:solidFill>
                  <a:srgbClr val="46545F"/>
                </a:solidFill>
                <a:latin typeface="Calibri" pitchFamily="34" charset="0"/>
                <a:ea typeface="Calibri" pitchFamily="34" charset="-122"/>
                <a:cs typeface="Calibri" pitchFamily="34" charset="-120"/>
              </a:rPr>
              <a:t>sprawls past what you asked</a:t>
            </a:r>
            <a:endParaRPr lang="en-US" sz="1030" dirty="0"/>
          </a:p>
        </p:txBody>
      </p:sp>
      <p:sp>
        <p:nvSpPr>
          <p:cNvPr id="37" name="Text 33"/>
          <p:cNvSpPr/>
          <p:nvPr/>
        </p:nvSpPr>
        <p:spPr>
          <a:xfrm>
            <a:off x="9921240" y="5376672"/>
            <a:ext cx="1600200" cy="457200"/>
          </a:xfrm>
          <a:prstGeom prst="rect">
            <a:avLst/>
          </a:prstGeom>
          <a:noFill/>
          <a:ln/>
        </p:spPr>
        <p:txBody>
          <a:bodyPr wrap="square" lIns="0" tIns="0" rIns="0" bIns="0" rtlCol="0" anchor="ctr"/>
          <a:lstStyle/>
          <a:p>
            <a:pPr indent="0" marL="0">
              <a:buNone/>
            </a:pPr>
            <a:r>
              <a:rPr lang="en-US" sz="1030" b="1" dirty="0">
                <a:solidFill>
                  <a:srgbClr val="0A5B5A"/>
                </a:solidFill>
                <a:latin typeface="Calibri" pitchFamily="34" charset="0"/>
                <a:ea typeface="Calibri" pitchFamily="34" charset="-122"/>
                <a:cs typeface="Calibri" pitchFamily="34" charset="-120"/>
              </a:rPr>
              <a:t>The Stop (missing)</a:t>
            </a:r>
            <a:endParaRPr lang="en-US" sz="103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TECHNIQUES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techniques cover almost everything</a:t>
            </a:r>
            <a:endParaRPr lang="en-US" sz="3000" dirty="0"/>
          </a:p>
        </p:txBody>
      </p:sp>
      <p:sp>
        <p:nvSpPr>
          <p:cNvPr id="6" name="Shape 4"/>
          <p:cNvSpPr/>
          <p:nvPr/>
        </p:nvSpPr>
        <p:spPr>
          <a:xfrm>
            <a:off x="502920" y="1481328"/>
            <a:ext cx="5440680" cy="1060704"/>
          </a:xfrm>
          <a:prstGeom prst="roundRect">
            <a:avLst>
              <a:gd name="adj" fmla="val 6897"/>
            </a:avLst>
          </a:prstGeom>
          <a:solidFill>
            <a:srgbClr val="F2F5F6"/>
          </a:solidFill>
          <a:ln/>
        </p:spPr>
      </p:sp>
      <p:sp>
        <p:nvSpPr>
          <p:cNvPr id="7" name="Shape 5"/>
          <p:cNvSpPr/>
          <p:nvPr/>
        </p:nvSpPr>
        <p:spPr>
          <a:xfrm>
            <a:off x="667512" y="1764792"/>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86384" y="1883664"/>
            <a:ext cx="219456" cy="219456"/>
          </a:xfrm>
          <a:prstGeom prst="rect">
            <a:avLst/>
          </a:prstGeom>
        </p:spPr>
      </p:pic>
      <p:sp>
        <p:nvSpPr>
          <p:cNvPr id="9" name="Text 6"/>
          <p:cNvSpPr/>
          <p:nvPr/>
        </p:nvSpPr>
        <p:spPr>
          <a:xfrm>
            <a:off x="1252728" y="1545336"/>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1 · Be specific — and say why</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Name the audience, length, constraints. Explaining the reason behind a rule (“this will be read aloud, so no ellipses”) measurably improves compliance.</a:t>
            </a:r>
            <a:endParaRPr lang="en-US" sz="1200" dirty="0"/>
          </a:p>
        </p:txBody>
      </p:sp>
      <p:sp>
        <p:nvSpPr>
          <p:cNvPr id="10" name="Shape 7"/>
          <p:cNvSpPr/>
          <p:nvPr/>
        </p:nvSpPr>
        <p:spPr>
          <a:xfrm>
            <a:off x="6172200" y="1481328"/>
            <a:ext cx="5440680" cy="1060704"/>
          </a:xfrm>
          <a:prstGeom prst="roundRect">
            <a:avLst>
              <a:gd name="adj" fmla="val 6897"/>
            </a:avLst>
          </a:prstGeom>
          <a:solidFill>
            <a:srgbClr val="F2F5F6"/>
          </a:solidFill>
          <a:ln/>
        </p:spPr>
      </p:sp>
      <p:sp>
        <p:nvSpPr>
          <p:cNvPr id="11" name="Shape 8"/>
          <p:cNvSpPr/>
          <p:nvPr/>
        </p:nvSpPr>
        <p:spPr>
          <a:xfrm>
            <a:off x="6336792" y="1764792"/>
            <a:ext cx="457200" cy="457200"/>
          </a:xfrm>
          <a:prstGeom prst="ellipse">
            <a:avLst/>
          </a:prstGeom>
          <a:solidFill>
            <a:srgbClr val="0E7C7B"/>
          </a:solidFill>
          <a:ln/>
        </p:spPr>
      </p:sp>
      <p:pic>
        <p:nvPicPr>
          <p:cNvPr id="12" name="Image 1" descr="/home/user/Claude-Works/ai-training-prompt-engineering/src/assets/icons/copy_w.png">    </p:cNvPr>
          <p:cNvPicPr>
            <a:picLocks noChangeAspect="1"/>
          </p:cNvPicPr>
          <p:nvPr/>
        </p:nvPicPr>
        <p:blipFill>
          <a:blip r:embed="rId2"/>
          <a:stretch>
            <a:fillRect/>
          </a:stretch>
        </p:blipFill>
        <p:spPr>
          <a:xfrm>
            <a:off x="6455664" y="1883664"/>
            <a:ext cx="219456" cy="219456"/>
          </a:xfrm>
          <a:prstGeom prst="rect">
            <a:avLst/>
          </a:prstGeom>
        </p:spPr>
      </p:pic>
      <p:sp>
        <p:nvSpPr>
          <p:cNvPr id="13" name="Text 9"/>
          <p:cNvSpPr/>
          <p:nvPr/>
        </p:nvSpPr>
        <p:spPr>
          <a:xfrm>
            <a:off x="6922008" y="1545336"/>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2 · Show 3–5 examples</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The most reliable way to control format, tone, and structure. Make them diverse and realistic — the model imitates what it sees.</a:t>
            </a:r>
            <a:endParaRPr lang="en-US" sz="1200" dirty="0"/>
          </a:p>
        </p:txBody>
      </p:sp>
      <p:sp>
        <p:nvSpPr>
          <p:cNvPr id="14" name="Shape 10"/>
          <p:cNvSpPr/>
          <p:nvPr/>
        </p:nvSpPr>
        <p:spPr>
          <a:xfrm>
            <a:off x="502920" y="2651760"/>
            <a:ext cx="5440680" cy="1060704"/>
          </a:xfrm>
          <a:prstGeom prst="roundRect">
            <a:avLst>
              <a:gd name="adj" fmla="val 6897"/>
            </a:avLst>
          </a:prstGeom>
          <a:solidFill>
            <a:srgbClr val="F2F5F6"/>
          </a:solidFill>
          <a:ln/>
        </p:spPr>
      </p:sp>
      <p:sp>
        <p:nvSpPr>
          <p:cNvPr id="15" name="Shape 11"/>
          <p:cNvSpPr/>
          <p:nvPr/>
        </p:nvSpPr>
        <p:spPr>
          <a:xfrm>
            <a:off x="667512" y="2935224"/>
            <a:ext cx="457200" cy="457200"/>
          </a:xfrm>
          <a:prstGeom prst="ellipse">
            <a:avLst/>
          </a:prstGeom>
          <a:solidFill>
            <a:srgbClr val="0E7C7B"/>
          </a:solidFill>
          <a:ln/>
        </p:spPr>
      </p:sp>
      <p:pic>
        <p:nvPicPr>
          <p:cNvPr id="16" name="Image 2" descr="/home/user/Claude-Works/ai-training-prompt-engineering/src/assets/icons/layers_w.png">    </p:cNvPr>
          <p:cNvPicPr>
            <a:picLocks noChangeAspect="1"/>
          </p:cNvPicPr>
          <p:nvPr/>
        </p:nvPicPr>
        <p:blipFill>
          <a:blip r:embed="rId3"/>
          <a:stretch>
            <a:fillRect/>
          </a:stretch>
        </p:blipFill>
        <p:spPr>
          <a:xfrm>
            <a:off x="786384" y="3054096"/>
            <a:ext cx="219456" cy="219456"/>
          </a:xfrm>
          <a:prstGeom prst="rect">
            <a:avLst/>
          </a:prstGeom>
        </p:spPr>
      </p:pic>
      <p:sp>
        <p:nvSpPr>
          <p:cNvPr id="17" name="Text 12"/>
          <p:cNvSpPr/>
          <p:nvPr/>
        </p:nvSpPr>
        <p:spPr>
          <a:xfrm>
            <a:off x="1252728" y="2715768"/>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3 · Structure with tags</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Separate instructions / context / input with XML tags or headers. Unambiguous parsing; survives copy-paste into any tool.</a:t>
            </a:r>
            <a:endParaRPr lang="en-US" sz="1200" dirty="0"/>
          </a:p>
        </p:txBody>
      </p:sp>
      <p:sp>
        <p:nvSpPr>
          <p:cNvPr id="18" name="Shape 13"/>
          <p:cNvSpPr/>
          <p:nvPr/>
        </p:nvSpPr>
        <p:spPr>
          <a:xfrm>
            <a:off x="6172200" y="2651760"/>
            <a:ext cx="5440680" cy="1060704"/>
          </a:xfrm>
          <a:prstGeom prst="roundRect">
            <a:avLst>
              <a:gd name="adj" fmla="val 6897"/>
            </a:avLst>
          </a:prstGeom>
          <a:solidFill>
            <a:srgbClr val="F2F5F6"/>
          </a:solidFill>
          <a:ln/>
        </p:spPr>
      </p:sp>
      <p:sp>
        <p:nvSpPr>
          <p:cNvPr id="19" name="Shape 14"/>
          <p:cNvSpPr/>
          <p:nvPr/>
        </p:nvSpPr>
        <p:spPr>
          <a:xfrm>
            <a:off x="6336792" y="2935224"/>
            <a:ext cx="457200" cy="457200"/>
          </a:xfrm>
          <a:prstGeom prst="ellipse">
            <a:avLst/>
          </a:prstGeom>
          <a:solidFill>
            <a:srgbClr val="0E7C7B"/>
          </a:solidFill>
          <a:ln/>
        </p:spPr>
      </p:sp>
      <p:pic>
        <p:nvPicPr>
          <p:cNvPr id="20" name="Image 3" descr="/home/user/Claude-Works/ai-training-prompt-engineering/src/assets/icons/help_w.png">    </p:cNvPr>
          <p:cNvPicPr>
            <a:picLocks noChangeAspect="1"/>
          </p:cNvPicPr>
          <p:nvPr/>
        </p:nvPicPr>
        <p:blipFill>
          <a:blip r:embed="rId4"/>
          <a:stretch>
            <a:fillRect/>
          </a:stretch>
        </p:blipFill>
        <p:spPr>
          <a:xfrm>
            <a:off x="6455664" y="3054096"/>
            <a:ext cx="219456" cy="219456"/>
          </a:xfrm>
          <a:prstGeom prst="rect">
            <a:avLst/>
          </a:prstGeom>
        </p:spPr>
      </p:pic>
      <p:sp>
        <p:nvSpPr>
          <p:cNvPr id="21" name="Text 15"/>
          <p:cNvSpPr/>
          <p:nvPr/>
        </p:nvSpPr>
        <p:spPr>
          <a:xfrm>
            <a:off x="6922008" y="2715768"/>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4 · Give it an out</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“If the document doesn’t say, say so.” Permission to admit uncertainty drastically cuts invented answers.</a:t>
            </a:r>
            <a:endParaRPr lang="en-US" sz="1200" dirty="0"/>
          </a:p>
        </p:txBody>
      </p:sp>
      <p:sp>
        <p:nvSpPr>
          <p:cNvPr id="22" name="Shape 16"/>
          <p:cNvSpPr/>
          <p:nvPr/>
        </p:nvSpPr>
        <p:spPr>
          <a:xfrm>
            <a:off x="502920" y="3822192"/>
            <a:ext cx="5440680" cy="1060704"/>
          </a:xfrm>
          <a:prstGeom prst="roundRect">
            <a:avLst>
              <a:gd name="adj" fmla="val 6897"/>
            </a:avLst>
          </a:prstGeom>
          <a:solidFill>
            <a:srgbClr val="F2F5F6"/>
          </a:solidFill>
          <a:ln/>
        </p:spPr>
      </p:sp>
      <p:sp>
        <p:nvSpPr>
          <p:cNvPr id="23" name="Shape 17"/>
          <p:cNvSpPr/>
          <p:nvPr/>
        </p:nvSpPr>
        <p:spPr>
          <a:xfrm>
            <a:off x="667512" y="4105656"/>
            <a:ext cx="457200" cy="457200"/>
          </a:xfrm>
          <a:prstGeom prst="ellipse">
            <a:avLst/>
          </a:prstGeom>
          <a:solidFill>
            <a:srgbClr val="0E7C7B"/>
          </a:solidFill>
          <a:ln/>
        </p:spPr>
      </p:sp>
      <p:pic>
        <p:nvPicPr>
          <p:cNvPr id="24" name="Image 4" descr="/home/user/Claude-Works/ai-training-prompt-engineering/src/assets/icons/branch_w.png">    </p:cNvPr>
          <p:cNvPicPr>
            <a:picLocks noChangeAspect="1"/>
          </p:cNvPicPr>
          <p:nvPr/>
        </p:nvPicPr>
        <p:blipFill>
          <a:blip r:embed="rId5"/>
          <a:stretch>
            <a:fillRect/>
          </a:stretch>
        </p:blipFill>
        <p:spPr>
          <a:xfrm>
            <a:off x="786384" y="4224528"/>
            <a:ext cx="219456" cy="219456"/>
          </a:xfrm>
          <a:prstGeom prst="rect">
            <a:avLst/>
          </a:prstGeom>
        </p:spPr>
      </p:pic>
      <p:sp>
        <p:nvSpPr>
          <p:cNvPr id="25" name="Text 18"/>
          <p:cNvSpPr/>
          <p:nvPr/>
        </p:nvSpPr>
        <p:spPr>
          <a:xfrm>
            <a:off x="1252728" y="3886200"/>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5 · Chain the work</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Big job → sequential prompts: draft → review against criteria → refine. You get inspectable intermediates — an audit trail.</a:t>
            </a:r>
            <a:endParaRPr lang="en-US" sz="1200" dirty="0"/>
          </a:p>
        </p:txBody>
      </p:sp>
      <p:sp>
        <p:nvSpPr>
          <p:cNvPr id="26" name="Shape 19"/>
          <p:cNvSpPr/>
          <p:nvPr/>
        </p:nvSpPr>
        <p:spPr>
          <a:xfrm>
            <a:off x="6172200" y="3822192"/>
            <a:ext cx="5440680" cy="1060704"/>
          </a:xfrm>
          <a:prstGeom prst="roundRect">
            <a:avLst>
              <a:gd name="adj" fmla="val 6897"/>
            </a:avLst>
          </a:prstGeom>
          <a:solidFill>
            <a:srgbClr val="F2F5F6"/>
          </a:solidFill>
          <a:ln/>
        </p:spPr>
      </p:sp>
      <p:sp>
        <p:nvSpPr>
          <p:cNvPr id="27" name="Shape 20"/>
          <p:cNvSpPr/>
          <p:nvPr/>
        </p:nvSpPr>
        <p:spPr>
          <a:xfrm>
            <a:off x="6336792" y="4105656"/>
            <a:ext cx="457200" cy="457200"/>
          </a:xfrm>
          <a:prstGeom prst="ellipse">
            <a:avLst/>
          </a:prstGeom>
          <a:solidFill>
            <a:srgbClr val="0E7C7B"/>
          </a:solidFill>
          <a:ln/>
        </p:spPr>
      </p:sp>
      <p:pic>
        <p:nvPicPr>
          <p:cNvPr id="28" name="Image 5" descr="/home/user/Claude-Works/ai-training-prompt-engineering/src/assets/icons/eye_w.png">    </p:cNvPr>
          <p:cNvPicPr>
            <a:picLocks noChangeAspect="1"/>
          </p:cNvPicPr>
          <p:nvPr/>
        </p:nvPicPr>
        <p:blipFill>
          <a:blip r:embed="rId6"/>
          <a:stretch>
            <a:fillRect/>
          </a:stretch>
        </p:blipFill>
        <p:spPr>
          <a:xfrm>
            <a:off x="6455664" y="4224528"/>
            <a:ext cx="219456" cy="219456"/>
          </a:xfrm>
          <a:prstGeom prst="rect">
            <a:avLst/>
          </a:prstGeom>
        </p:spPr>
      </p:pic>
      <p:sp>
        <p:nvSpPr>
          <p:cNvPr id="29" name="Text 21"/>
          <p:cNvSpPr/>
          <p:nvPr/>
        </p:nvSpPr>
        <p:spPr>
          <a:xfrm>
            <a:off x="6922008" y="3886200"/>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6 · Self-check against criteria</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“Before finishing, verify against [checklist].” Works when criteria are concrete; “are you sure?” alone doesn’t.</a:t>
            </a:r>
            <a:endParaRPr lang="en-US" sz="1200" dirty="0"/>
          </a:p>
        </p:txBody>
      </p:sp>
      <p:sp>
        <p:nvSpPr>
          <p:cNvPr id="30" name="Shape 22"/>
          <p:cNvSpPr/>
          <p:nvPr/>
        </p:nvSpPr>
        <p:spPr>
          <a:xfrm>
            <a:off x="502920" y="4992624"/>
            <a:ext cx="5440680" cy="1060704"/>
          </a:xfrm>
          <a:prstGeom prst="roundRect">
            <a:avLst>
              <a:gd name="adj" fmla="val 6897"/>
            </a:avLst>
          </a:prstGeom>
          <a:solidFill>
            <a:srgbClr val="F2F5F6"/>
          </a:solidFill>
          <a:ln/>
        </p:spPr>
      </p:sp>
      <p:sp>
        <p:nvSpPr>
          <p:cNvPr id="31" name="Shape 23"/>
          <p:cNvSpPr/>
          <p:nvPr/>
        </p:nvSpPr>
        <p:spPr>
          <a:xfrm>
            <a:off x="667512" y="5276088"/>
            <a:ext cx="457200" cy="457200"/>
          </a:xfrm>
          <a:prstGeom prst="ellipse">
            <a:avLst/>
          </a:prstGeom>
          <a:solidFill>
            <a:srgbClr val="0E7C7B"/>
          </a:solidFill>
          <a:ln/>
        </p:spPr>
      </p:sp>
      <p:pic>
        <p:nvPicPr>
          <p:cNvPr id="32" name="Image 6" descr="/home/user/Claude-Works/ai-training-prompt-engineering/src/assets/icons/zap_w.png">    </p:cNvPr>
          <p:cNvPicPr>
            <a:picLocks noChangeAspect="1"/>
          </p:cNvPicPr>
          <p:nvPr/>
        </p:nvPicPr>
        <p:blipFill>
          <a:blip r:embed="rId7"/>
          <a:stretch>
            <a:fillRect/>
          </a:stretch>
        </p:blipFill>
        <p:spPr>
          <a:xfrm>
            <a:off x="786384" y="5394960"/>
            <a:ext cx="219456" cy="219456"/>
          </a:xfrm>
          <a:prstGeom prst="rect">
            <a:avLst/>
          </a:prstGeom>
        </p:spPr>
      </p:pic>
      <p:sp>
        <p:nvSpPr>
          <p:cNvPr id="33" name="Text 24"/>
          <p:cNvSpPr/>
          <p:nvPr/>
        </p:nvSpPr>
        <p:spPr>
          <a:xfrm>
            <a:off x="1252728" y="5056632"/>
            <a:ext cx="4572000" cy="932688"/>
          </a:xfrm>
          <a:prstGeom prst="rect">
            <a:avLst/>
          </a:prstGeom>
          <a:noFill/>
          <a:ln/>
        </p:spPr>
        <p:txBody>
          <a:bodyPr wrap="square" lIns="0" tIns="0" rIns="0" bIns="0" rtlCol="0" anchor="ctr"/>
          <a:lstStyle/>
          <a:p>
            <a:pPr indent="0" marL="0">
              <a:lnSpc>
                <a:spcPct val="103000"/>
              </a:lnSpc>
              <a:spcAft>
                <a:spcPts val="200"/>
              </a:spcAft>
              <a:buNone/>
            </a:pPr>
            <a:r>
              <a:rPr lang="en-US" sz="1200" b="1" dirty="0">
                <a:solidFill>
                  <a:srgbClr val="232A31"/>
                </a:solidFill>
                <a:latin typeface="Calibri" pitchFamily="34" charset="0"/>
                <a:ea typeface="Calibri" pitchFamily="34" charset="-122"/>
                <a:cs typeface="Calibri" pitchFamily="34" charset="-120"/>
              </a:rPr>
              <a:t>7 · Metaprompting</a:t>
            </a:r>
            <a:endParaRPr lang="en-US" sz="12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Ask the model to improve your prompt: “What should I add or delete to get X more consistently?” Official practice at OpenAI, Anthropic, and Google.</a:t>
            </a:r>
            <a:endParaRPr lang="en-US" sz="1200" dirty="0"/>
          </a:p>
        </p:txBody>
      </p:sp>
      <p:sp>
        <p:nvSpPr>
          <p:cNvPr id="34" name="Shape 25"/>
          <p:cNvSpPr/>
          <p:nvPr/>
        </p:nvSpPr>
        <p:spPr>
          <a:xfrm>
            <a:off x="6172200" y="5029200"/>
            <a:ext cx="5486400" cy="1051560"/>
          </a:xfrm>
          <a:prstGeom prst="roundRect">
            <a:avLst>
              <a:gd name="adj" fmla="val 6957"/>
            </a:avLst>
          </a:prstGeom>
          <a:solidFill>
            <a:srgbClr val="FBF0E0"/>
          </a:solidFill>
          <a:ln/>
        </p:spPr>
      </p:sp>
      <p:sp>
        <p:nvSpPr>
          <p:cNvPr id="35" name="Shape 26"/>
          <p:cNvSpPr/>
          <p:nvPr/>
        </p:nvSpPr>
        <p:spPr>
          <a:xfrm>
            <a:off x="6336792" y="5362956"/>
            <a:ext cx="384048" cy="384048"/>
          </a:xfrm>
          <a:prstGeom prst="ellipse">
            <a:avLst/>
          </a:prstGeom>
          <a:solidFill>
            <a:srgbClr val="B96A1B"/>
          </a:solidFill>
          <a:ln/>
        </p:spPr>
      </p:sp>
      <p:pic>
        <p:nvPicPr>
          <p:cNvPr id="36" name="Image 7" descr="/home/user/Claude-Works/ai-training-prompt-engineering/src/assets/icons/clock_w.png">    </p:cNvPr>
          <p:cNvPicPr>
            <a:picLocks noChangeAspect="1"/>
          </p:cNvPicPr>
          <p:nvPr/>
        </p:nvPicPr>
        <p:blipFill>
          <a:blip r:embed="rId8"/>
          <a:stretch>
            <a:fillRect/>
          </a:stretch>
        </p:blipFill>
        <p:spPr>
          <a:xfrm>
            <a:off x="6436644" y="5462808"/>
            <a:ext cx="184343" cy="184343"/>
          </a:xfrm>
          <a:prstGeom prst="rect">
            <a:avLst/>
          </a:prstGeom>
        </p:spPr>
      </p:pic>
      <p:sp>
        <p:nvSpPr>
          <p:cNvPr id="37" name="Text 27"/>
          <p:cNvSpPr/>
          <p:nvPr/>
        </p:nvSpPr>
        <p:spPr>
          <a:xfrm>
            <a:off x="6885432" y="5102352"/>
            <a:ext cx="4544568" cy="905256"/>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Where’s “think step by step”?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Retired to the bench — today’s models reason by default. The 2026 version comes two slides ahead.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What works, what’s myth — and the bias to design against</a:t>
            </a:r>
            <a:endParaRPr lang="en-US" sz="3000" dirty="0"/>
          </a:p>
        </p:txBody>
      </p:sp>
      <p:sp>
        <p:nvSpPr>
          <p:cNvPr id="6" name="Shape 4"/>
          <p:cNvSpPr/>
          <p:nvPr/>
        </p:nvSpPr>
        <p:spPr>
          <a:xfrm>
            <a:off x="502920" y="1508760"/>
            <a:ext cx="5486400" cy="2377440"/>
          </a:xfrm>
          <a:prstGeom prst="roundRect">
            <a:avLst>
              <a:gd name="adj" fmla="val 3077"/>
            </a:avLst>
          </a:prstGeom>
          <a:solidFill>
            <a:srgbClr val="E7F2EC"/>
          </a:solidFill>
          <a:ln/>
        </p:spPr>
      </p:sp>
      <p:sp>
        <p:nvSpPr>
          <p:cNvPr id="7" name="Shape 5"/>
          <p:cNvSpPr/>
          <p:nvPr/>
        </p:nvSpPr>
        <p:spPr>
          <a:xfrm>
            <a:off x="777240" y="1737360"/>
            <a:ext cx="457200" cy="457200"/>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96112" y="1856232"/>
            <a:ext cx="219456" cy="219456"/>
          </a:xfrm>
          <a:prstGeom prst="rect">
            <a:avLst/>
          </a:prstGeom>
        </p:spPr>
      </p:pic>
      <p:sp>
        <p:nvSpPr>
          <p:cNvPr id="9" name="Text 6"/>
          <p:cNvSpPr/>
          <p:nvPr/>
        </p:nvSpPr>
        <p:spPr>
          <a:xfrm>
            <a:off x="1371600" y="1783080"/>
            <a:ext cx="40233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Holds up</a:t>
            </a:r>
            <a:endParaRPr lang="en-US" sz="1500" dirty="0"/>
          </a:p>
        </p:txBody>
      </p:sp>
      <p:sp>
        <p:nvSpPr>
          <p:cNvPr id="10" name="Text 7"/>
          <p:cNvSpPr/>
          <p:nvPr/>
        </p:nvSpPr>
        <p:spPr>
          <a:xfrm>
            <a:off x="822960" y="2286000"/>
            <a:ext cx="4937760" cy="15544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Specificity, context, and examples — every vendor, every study</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Structure: tiny format changes swing accuracy by up to 76 points across phrasings — templates beat improvisation</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Personas shape tone and framing (what they’re for) …</a:t>
            </a:r>
            <a:endParaRPr lang="en-US" sz="1150" dirty="0"/>
          </a:p>
        </p:txBody>
      </p:sp>
      <p:sp>
        <p:nvSpPr>
          <p:cNvPr id="11" name="Shape 8"/>
          <p:cNvSpPr/>
          <p:nvPr/>
        </p:nvSpPr>
        <p:spPr>
          <a:xfrm>
            <a:off x="502920" y="4069080"/>
            <a:ext cx="5486400" cy="2011680"/>
          </a:xfrm>
          <a:prstGeom prst="roundRect">
            <a:avLst>
              <a:gd name="adj" fmla="val 3636"/>
            </a:avLst>
          </a:prstGeom>
          <a:solidFill>
            <a:srgbClr val="F9E9E8"/>
          </a:solidFill>
          <a:ln/>
        </p:spPr>
      </p:sp>
      <p:sp>
        <p:nvSpPr>
          <p:cNvPr id="12" name="Shape 9"/>
          <p:cNvSpPr/>
          <p:nvPr/>
        </p:nvSpPr>
        <p:spPr>
          <a:xfrm>
            <a:off x="777240" y="4279392"/>
            <a:ext cx="457200" cy="457200"/>
          </a:xfrm>
          <a:prstGeom prst="ellipse">
            <a:avLst/>
          </a:prstGeom>
          <a:solidFill>
            <a:srgbClr val="AF3230"/>
          </a:solidFill>
          <a:ln/>
        </p:spPr>
      </p:sp>
      <p:pic>
        <p:nvPicPr>
          <p:cNvPr id="13" name="Image 1" descr="/home/user/Claude-Works/ai-training-prompt-engineering/src/assets/icons/x_w.png">    </p:cNvPr>
          <p:cNvPicPr>
            <a:picLocks noChangeAspect="1"/>
          </p:cNvPicPr>
          <p:nvPr/>
        </p:nvPicPr>
        <p:blipFill>
          <a:blip r:embed="rId2"/>
          <a:stretch>
            <a:fillRect/>
          </a:stretch>
        </p:blipFill>
        <p:spPr>
          <a:xfrm>
            <a:off x="896112" y="4398264"/>
            <a:ext cx="219456" cy="219456"/>
          </a:xfrm>
          <a:prstGeom prst="rect">
            <a:avLst/>
          </a:prstGeom>
        </p:spPr>
      </p:pic>
      <p:sp>
        <p:nvSpPr>
          <p:cNvPr id="14" name="Text 10"/>
          <p:cNvSpPr/>
          <p:nvPr/>
        </p:nvSpPr>
        <p:spPr>
          <a:xfrm>
            <a:off x="1371600" y="4315968"/>
            <a:ext cx="40233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Doesn’t hold up</a:t>
            </a:r>
            <a:endParaRPr lang="en-US" sz="1500" dirty="0"/>
          </a:p>
        </p:txBody>
      </p:sp>
      <p:sp>
        <p:nvSpPr>
          <p:cNvPr id="15" name="Text 11"/>
          <p:cNvSpPr/>
          <p:nvPr/>
        </p:nvSpPr>
        <p:spPr>
          <a:xfrm>
            <a:off x="822960" y="4800600"/>
            <a:ext cx="4937760" cy="1188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 but “you are a genius” doesn’t improve factual accuracy (162-persona study: no gain)</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Tips, threats, politeness games: “even tipping a lavish $1000” didn’t change accuracy — small, unstable effects at best</a:t>
            </a:r>
            <a:endParaRPr lang="en-US" sz="1150" dirty="0"/>
          </a:p>
        </p:txBody>
      </p:sp>
      <p:sp>
        <p:nvSpPr>
          <p:cNvPr id="16" name="Shape 12"/>
          <p:cNvSpPr/>
          <p:nvPr/>
        </p:nvSpPr>
        <p:spPr>
          <a:xfrm>
            <a:off x="6172200" y="1508760"/>
            <a:ext cx="5486400" cy="4572000"/>
          </a:xfrm>
          <a:prstGeom prst="roundRect">
            <a:avLst>
              <a:gd name="adj" fmla="val 1600"/>
            </a:avLst>
          </a:prstGeom>
          <a:solidFill>
            <a:srgbClr val="F2F5F6"/>
          </a:solidFill>
          <a:ln/>
        </p:spPr>
      </p:sp>
      <p:sp>
        <p:nvSpPr>
          <p:cNvPr id="17" name="Text 13"/>
          <p:cNvSpPr/>
          <p:nvPr/>
        </p:nvSpPr>
        <p:spPr>
          <a:xfrm>
            <a:off x="6446520" y="1737360"/>
            <a:ext cx="49377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bias to design against: sycophancy</a:t>
            </a:r>
            <a:endParaRPr lang="en-US" sz="1500" dirty="0"/>
          </a:p>
        </p:txBody>
      </p:sp>
      <p:sp>
        <p:nvSpPr>
          <p:cNvPr id="18" name="Text 14"/>
          <p:cNvSpPr/>
          <p:nvPr/>
        </p:nvSpPr>
        <p:spPr>
          <a:xfrm>
            <a:off x="6492240" y="2212848"/>
            <a:ext cx="4937760" cy="201168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Across 11 leading models, AI affirmed users’ actions ~49% more often than humans do (Stanford/CMU, Science 2026)</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single flattering exchange measurably raised users’ conviction they were right</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Root cause: models are trained on human preferences — and we prefer agreement</a:t>
            </a:r>
            <a:endParaRPr lang="en-US" sz="1150" dirty="0"/>
          </a:p>
        </p:txBody>
      </p:sp>
      <p:sp>
        <p:nvSpPr>
          <p:cNvPr id="19" name="Shape 15"/>
          <p:cNvSpPr/>
          <p:nvPr/>
        </p:nvSpPr>
        <p:spPr>
          <a:xfrm>
            <a:off x="6446520" y="4434840"/>
            <a:ext cx="4937760" cy="1463040"/>
          </a:xfrm>
          <a:prstGeom prst="roundRect">
            <a:avLst>
              <a:gd name="adj" fmla="val 5000"/>
            </a:avLst>
          </a:prstGeom>
          <a:solidFill>
            <a:srgbClr val="E4F0EF"/>
          </a:solidFill>
          <a:ln/>
        </p:spPr>
      </p:sp>
      <p:sp>
        <p:nvSpPr>
          <p:cNvPr id="20" name="Shape 16"/>
          <p:cNvSpPr/>
          <p:nvPr/>
        </p:nvSpPr>
        <p:spPr>
          <a:xfrm>
            <a:off x="6611112" y="4974336"/>
            <a:ext cx="384048" cy="384048"/>
          </a:xfrm>
          <a:prstGeom prst="ellipse">
            <a:avLst/>
          </a:prstGeom>
          <a:solidFill>
            <a:srgbClr val="0E7C7B"/>
          </a:solidFill>
          <a:ln/>
        </p:spPr>
      </p:sp>
      <p:pic>
        <p:nvPicPr>
          <p:cNvPr id="21" name="Image 2" descr="/home/user/Claude-Works/ai-training-prompt-engineering/src/assets/icons/shield_w.png">    </p:cNvPr>
          <p:cNvPicPr>
            <a:picLocks noChangeAspect="1"/>
          </p:cNvPicPr>
          <p:nvPr/>
        </p:nvPicPr>
        <p:blipFill>
          <a:blip r:embed="rId3"/>
          <a:stretch>
            <a:fillRect/>
          </a:stretch>
        </p:blipFill>
        <p:spPr>
          <a:xfrm>
            <a:off x="6710964" y="5074188"/>
            <a:ext cx="184343" cy="184343"/>
          </a:xfrm>
          <a:prstGeom prst="rect">
            <a:avLst/>
          </a:prstGeom>
        </p:spPr>
      </p:pic>
      <p:sp>
        <p:nvSpPr>
          <p:cNvPr id="22" name="Text 17"/>
          <p:cNvSpPr/>
          <p:nvPr/>
        </p:nvSpPr>
        <p:spPr>
          <a:xfrm>
            <a:off x="7159752" y="4507992"/>
            <a:ext cx="3995928" cy="13167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countermeasures: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don’t treat “are you sure?” as verification.</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THINKING MODELS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2026 UPDATE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Prompting thinking models: less scaffolding, more clarity</a:t>
            </a:r>
            <a:endParaRPr lang="en-US" sz="3000" dirty="0"/>
          </a:p>
        </p:txBody>
      </p:sp>
      <p:sp>
        <p:nvSpPr>
          <p:cNvPr id="6" name="Shape 4"/>
          <p:cNvSpPr/>
          <p:nvPr/>
        </p:nvSpPr>
        <p:spPr>
          <a:xfrm>
            <a:off x="502920" y="1508760"/>
            <a:ext cx="5440680" cy="1353312"/>
          </a:xfrm>
          <a:prstGeom prst="roundRect">
            <a:avLst>
              <a:gd name="adj" fmla="val 5405"/>
            </a:avLst>
          </a:prstGeom>
          <a:solidFill>
            <a:srgbClr val="F2F5F6"/>
          </a:solidFill>
          <a:ln/>
        </p:spPr>
      </p:sp>
      <p:sp>
        <p:nvSpPr>
          <p:cNvPr id="7" name="Shape 5"/>
          <p:cNvSpPr/>
          <p:nvPr/>
        </p:nvSpPr>
        <p:spPr>
          <a:xfrm>
            <a:off x="685800" y="1911096"/>
            <a:ext cx="475488" cy="475488"/>
          </a:xfrm>
          <a:prstGeom prst="ellipse">
            <a:avLst/>
          </a:prstGeom>
          <a:solidFill>
            <a:srgbClr val="46545F"/>
          </a:solidFill>
          <a:ln/>
        </p:spPr>
      </p:sp>
      <p:pic>
        <p:nvPicPr>
          <p:cNvPr id="8" name="Image 0" descr="/home/user/Claude-Works/ai-training-prompt-engineering/src/assets/icons/x_w.png">    </p:cNvPr>
          <p:cNvPicPr>
            <a:picLocks noChangeAspect="1"/>
          </p:cNvPicPr>
          <p:nvPr/>
        </p:nvPicPr>
        <p:blipFill>
          <a:blip r:embed="rId1"/>
          <a:stretch>
            <a:fillRect/>
          </a:stretch>
        </p:blipFill>
        <p:spPr>
          <a:xfrm>
            <a:off x="809427" y="2034723"/>
            <a:ext cx="228234" cy="228234"/>
          </a:xfrm>
          <a:prstGeom prst="rect">
            <a:avLst/>
          </a:prstGeom>
        </p:spPr>
      </p:pic>
      <p:sp>
        <p:nvSpPr>
          <p:cNvPr id="9" name="Text 6"/>
          <p:cNvSpPr/>
          <p:nvPr/>
        </p:nvSpPr>
        <p:spPr>
          <a:xfrm>
            <a:off x="1307592" y="1600200"/>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Retire: “think step by step”</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Reasoning is built in. OpenAI: “avoid chain-of-thought prompts.” Anthropic: “think thoroughly” beats a hand-written step plan. Manual CoT is a fallback for non-thinking modes.</a:t>
            </a:r>
            <a:endParaRPr lang="en-US" sz="1250" dirty="0"/>
          </a:p>
        </p:txBody>
      </p:sp>
      <p:sp>
        <p:nvSpPr>
          <p:cNvPr id="10" name="Shape 7"/>
          <p:cNvSpPr/>
          <p:nvPr/>
        </p:nvSpPr>
        <p:spPr>
          <a:xfrm>
            <a:off x="6172200" y="1508760"/>
            <a:ext cx="5440680" cy="1353312"/>
          </a:xfrm>
          <a:prstGeom prst="roundRect">
            <a:avLst>
              <a:gd name="adj" fmla="val 5405"/>
            </a:avLst>
          </a:prstGeom>
          <a:solidFill>
            <a:srgbClr val="F2F5F6"/>
          </a:solidFill>
          <a:ln/>
        </p:spPr>
      </p:sp>
      <p:sp>
        <p:nvSpPr>
          <p:cNvPr id="11" name="Shape 8"/>
          <p:cNvSpPr/>
          <p:nvPr/>
        </p:nvSpPr>
        <p:spPr>
          <a:xfrm>
            <a:off x="6355080" y="1911096"/>
            <a:ext cx="475488" cy="475488"/>
          </a:xfrm>
          <a:prstGeom prst="ellipse">
            <a:avLst/>
          </a:prstGeom>
          <a:solidFill>
            <a:srgbClr val="46545F"/>
          </a:solidFill>
          <a:ln/>
        </p:spPr>
      </p:sp>
      <p:pic>
        <p:nvPicPr>
          <p:cNvPr id="12" name="Image 1" descr="/home/user/Claude-Works/ai-training-prompt-engineering/src/assets/icons/x_w.png">    </p:cNvPr>
          <p:cNvPicPr>
            <a:picLocks noChangeAspect="1"/>
          </p:cNvPicPr>
          <p:nvPr/>
        </p:nvPicPr>
        <p:blipFill>
          <a:blip r:embed="rId2"/>
          <a:stretch>
            <a:fillRect/>
          </a:stretch>
        </p:blipFill>
        <p:spPr>
          <a:xfrm>
            <a:off x="6478707" y="2034723"/>
            <a:ext cx="228234" cy="228234"/>
          </a:xfrm>
          <a:prstGeom prst="rect">
            <a:avLst/>
          </a:prstGeom>
        </p:spPr>
      </p:pic>
      <p:sp>
        <p:nvSpPr>
          <p:cNvPr id="13" name="Text 9"/>
          <p:cNvSpPr/>
          <p:nvPr/>
        </p:nvSpPr>
        <p:spPr>
          <a:xfrm>
            <a:off x="6976872" y="1600200"/>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Retire: piles of examples</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Zero-shot first; add examples only if the format drifts. On some reasoning models few-shot measurably hurts (DeepSeek-R1’s own paper).</a:t>
            </a:r>
            <a:endParaRPr lang="en-US" sz="1250" dirty="0"/>
          </a:p>
        </p:txBody>
      </p:sp>
      <p:sp>
        <p:nvSpPr>
          <p:cNvPr id="14" name="Shape 10"/>
          <p:cNvSpPr/>
          <p:nvPr/>
        </p:nvSpPr>
        <p:spPr>
          <a:xfrm>
            <a:off x="502920" y="2990088"/>
            <a:ext cx="5440680" cy="1353312"/>
          </a:xfrm>
          <a:prstGeom prst="roundRect">
            <a:avLst>
              <a:gd name="adj" fmla="val 5405"/>
            </a:avLst>
          </a:prstGeom>
          <a:solidFill>
            <a:srgbClr val="F2F5F6"/>
          </a:solidFill>
          <a:ln/>
        </p:spPr>
      </p:sp>
      <p:sp>
        <p:nvSpPr>
          <p:cNvPr id="15" name="Shape 11"/>
          <p:cNvSpPr/>
          <p:nvPr/>
        </p:nvSpPr>
        <p:spPr>
          <a:xfrm>
            <a:off x="685800" y="3392424"/>
            <a:ext cx="475488" cy="475488"/>
          </a:xfrm>
          <a:prstGeom prst="ellipse">
            <a:avLst/>
          </a:prstGeom>
          <a:solidFill>
            <a:srgbClr val="B96A1B"/>
          </a:solidFill>
          <a:ln/>
        </p:spPr>
      </p:sp>
      <p:pic>
        <p:nvPicPr>
          <p:cNvPr id="16" name="Image 2" descr="/home/user/Claude-Works/ai-training-prompt-engineering/src/assets/icons/alert_w.png">    </p:cNvPr>
          <p:cNvPicPr>
            <a:picLocks noChangeAspect="1"/>
          </p:cNvPicPr>
          <p:nvPr/>
        </p:nvPicPr>
        <p:blipFill>
          <a:blip r:embed="rId3"/>
          <a:stretch>
            <a:fillRect/>
          </a:stretch>
        </p:blipFill>
        <p:spPr>
          <a:xfrm>
            <a:off x="809427" y="3516051"/>
            <a:ext cx="228234" cy="228234"/>
          </a:xfrm>
          <a:prstGeom prst="rect">
            <a:avLst/>
          </a:prstGeom>
        </p:spPr>
      </p:pic>
      <p:sp>
        <p:nvSpPr>
          <p:cNvPr id="17" name="Text 12"/>
          <p:cNvSpPr/>
          <p:nvPr/>
        </p:nvSpPr>
        <p:spPr>
          <a:xfrm>
            <a:off x="1307592" y="3081528"/>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New risk: contradictions</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Conflicting instructions are worse now — the model burns thinking tokens trying to reconcile them. Audit your prompt for rules that collide.</a:t>
            </a:r>
            <a:endParaRPr lang="en-US" sz="1250" dirty="0"/>
          </a:p>
        </p:txBody>
      </p:sp>
      <p:sp>
        <p:nvSpPr>
          <p:cNvPr id="18" name="Shape 13"/>
          <p:cNvSpPr/>
          <p:nvPr/>
        </p:nvSpPr>
        <p:spPr>
          <a:xfrm>
            <a:off x="6172200" y="2990088"/>
            <a:ext cx="5440680" cy="1353312"/>
          </a:xfrm>
          <a:prstGeom prst="roundRect">
            <a:avLst>
              <a:gd name="adj" fmla="val 5405"/>
            </a:avLst>
          </a:prstGeom>
          <a:solidFill>
            <a:srgbClr val="F2F5F6"/>
          </a:solidFill>
          <a:ln/>
        </p:spPr>
      </p:sp>
      <p:sp>
        <p:nvSpPr>
          <p:cNvPr id="19" name="Shape 14"/>
          <p:cNvSpPr/>
          <p:nvPr/>
        </p:nvSpPr>
        <p:spPr>
          <a:xfrm>
            <a:off x="6355080" y="3392424"/>
            <a:ext cx="475488" cy="475488"/>
          </a:xfrm>
          <a:prstGeom prst="ellipse">
            <a:avLst/>
          </a:prstGeom>
          <a:solidFill>
            <a:srgbClr val="B96A1B"/>
          </a:solidFill>
          <a:ln/>
        </p:spPr>
      </p:sp>
      <p:pic>
        <p:nvPicPr>
          <p:cNvPr id="20" name="Image 3" descr="/home/user/Claude-Works/ai-training-prompt-engineering/src/assets/icons/sliders_w.png">    </p:cNvPr>
          <p:cNvPicPr>
            <a:picLocks noChangeAspect="1"/>
          </p:cNvPicPr>
          <p:nvPr/>
        </p:nvPicPr>
        <p:blipFill>
          <a:blip r:embed="rId4"/>
          <a:stretch>
            <a:fillRect/>
          </a:stretch>
        </p:blipFill>
        <p:spPr>
          <a:xfrm>
            <a:off x="6478707" y="3516051"/>
            <a:ext cx="228234" cy="228234"/>
          </a:xfrm>
          <a:prstGeom prst="rect">
            <a:avLst/>
          </a:prstGeom>
        </p:spPr>
      </p:pic>
      <p:sp>
        <p:nvSpPr>
          <p:cNvPr id="21" name="Text 15"/>
          <p:cNvSpPr/>
          <p:nvPr/>
        </p:nvSpPr>
        <p:spPr>
          <a:xfrm>
            <a:off x="6976872" y="3081528"/>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New control: effort dials</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Depth is set by parameters (thinking effort, verbosity), not magic words. Say how hard to think; don’t script how.</a:t>
            </a:r>
            <a:endParaRPr lang="en-US" sz="1250" dirty="0"/>
          </a:p>
        </p:txBody>
      </p:sp>
      <p:sp>
        <p:nvSpPr>
          <p:cNvPr id="22" name="Shape 16"/>
          <p:cNvSpPr/>
          <p:nvPr/>
        </p:nvSpPr>
        <p:spPr>
          <a:xfrm>
            <a:off x="502920" y="4709160"/>
            <a:ext cx="11155680" cy="1325880"/>
          </a:xfrm>
          <a:prstGeom prst="roundRect">
            <a:avLst>
              <a:gd name="adj" fmla="val 5517"/>
            </a:avLst>
          </a:prstGeom>
          <a:solidFill>
            <a:srgbClr val="E4F0EF"/>
          </a:solidFill>
          <a:ln/>
        </p:spPr>
      </p:sp>
      <p:sp>
        <p:nvSpPr>
          <p:cNvPr id="23" name="Shape 17"/>
          <p:cNvSpPr/>
          <p:nvPr/>
        </p:nvSpPr>
        <p:spPr>
          <a:xfrm>
            <a:off x="667512" y="5180076"/>
            <a:ext cx="384048" cy="384048"/>
          </a:xfrm>
          <a:prstGeom prst="ellipse">
            <a:avLst/>
          </a:prstGeom>
          <a:solidFill>
            <a:srgbClr val="0E7C7B"/>
          </a:solidFill>
          <a:ln/>
        </p:spPr>
      </p:sp>
      <p:pic>
        <p:nvPicPr>
          <p:cNvPr id="24" name="Image 4" descr="/home/user/Claude-Works/ai-training-prompt-engineering/src/assets/icons/check_w.png">    </p:cNvPr>
          <p:cNvPicPr>
            <a:picLocks noChangeAspect="1"/>
          </p:cNvPicPr>
          <p:nvPr/>
        </p:nvPicPr>
        <p:blipFill>
          <a:blip r:embed="rId5"/>
          <a:stretch>
            <a:fillRect/>
          </a:stretch>
        </p:blipFill>
        <p:spPr>
          <a:xfrm>
            <a:off x="767364" y="5279928"/>
            <a:ext cx="184343" cy="184343"/>
          </a:xfrm>
          <a:prstGeom prst="rect">
            <a:avLst/>
          </a:prstGeom>
        </p:spPr>
      </p:pic>
      <p:sp>
        <p:nvSpPr>
          <p:cNvPr id="25" name="Text 18"/>
          <p:cNvSpPr/>
          <p:nvPr/>
        </p:nvSpPr>
        <p:spPr>
          <a:xfrm>
            <a:off x="1216152" y="4782312"/>
            <a:ext cx="10213848" cy="117957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What did NOT change: </a:t>
            </a:r>
            <a:endParaRPr lang="en-US" sz="1250" dirty="0"/>
          </a:p>
          <a:p>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clarity and specificity · relevant context and sources · output format · giving an out · grounding in documents · iteration. The anatomy from slide 22 applies to every model you will ever use — the scaffolding tricks retire, the briefing skills compound.</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ITERATION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HABIT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Prompts are drafts — iterate, then standardize</a:t>
            </a:r>
            <a:endParaRPr lang="en-US" sz="3000" dirty="0"/>
          </a:p>
        </p:txBody>
      </p:sp>
      <p:sp>
        <p:nvSpPr>
          <p:cNvPr id="6" name="Shape 4"/>
          <p:cNvSpPr/>
          <p:nvPr/>
        </p:nvSpPr>
        <p:spPr>
          <a:xfrm>
            <a:off x="502920" y="1554480"/>
            <a:ext cx="2697480" cy="2377440"/>
          </a:xfrm>
          <a:prstGeom prst="roundRect">
            <a:avLst>
              <a:gd name="adj" fmla="val 3077"/>
            </a:avLst>
          </a:prstGeom>
          <a:solidFill>
            <a:srgbClr val="F2F5F6"/>
          </a:solidFill>
          <a:ln/>
        </p:spPr>
      </p:sp>
      <p:sp>
        <p:nvSpPr>
          <p:cNvPr id="7" name="Shape 5"/>
          <p:cNvSpPr/>
          <p:nvPr/>
        </p:nvSpPr>
        <p:spPr>
          <a:xfrm>
            <a:off x="722376" y="1783080"/>
            <a:ext cx="475488" cy="475488"/>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6003" y="1906707"/>
            <a:ext cx="228234" cy="228234"/>
          </a:xfrm>
          <a:prstGeom prst="rect">
            <a:avLst/>
          </a:prstGeom>
        </p:spPr>
      </p:pic>
      <p:sp>
        <p:nvSpPr>
          <p:cNvPr id="9" name="Text 6"/>
          <p:cNvSpPr/>
          <p:nvPr/>
        </p:nvSpPr>
        <p:spPr>
          <a:xfrm>
            <a:off x="1325880" y="1847088"/>
            <a:ext cx="17830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1 · Draft</a:t>
            </a:r>
            <a:endParaRPr lang="en-US" sz="1400" dirty="0"/>
          </a:p>
        </p:txBody>
      </p:sp>
      <p:sp>
        <p:nvSpPr>
          <p:cNvPr id="10" name="Text 7"/>
          <p:cNvSpPr/>
          <p:nvPr/>
        </p:nvSpPr>
        <p:spPr>
          <a:xfrm>
            <a:off x="722376" y="2377440"/>
            <a:ext cx="2286000" cy="146304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Write the prompt with the anatomy: role, task, context, format, examples.</a:t>
            </a:r>
            <a:endParaRPr lang="en-US" sz="1050" dirty="0"/>
          </a:p>
        </p:txBody>
      </p:sp>
      <p:sp>
        <p:nvSpPr>
          <p:cNvPr id="11" name="Shape 8"/>
          <p:cNvSpPr/>
          <p:nvPr/>
        </p:nvSpPr>
        <p:spPr>
          <a:xfrm>
            <a:off x="3218688" y="2697480"/>
            <a:ext cx="182880" cy="0"/>
          </a:xfrm>
          <a:prstGeom prst="line">
            <a:avLst/>
          </a:prstGeom>
          <a:noFill/>
          <a:ln w="28575">
            <a:solidFill>
              <a:srgbClr val="0E7C7B"/>
            </a:solidFill>
            <a:prstDash val="solid"/>
            <a:tailEnd type="triangle"/>
          </a:ln>
        </p:spPr>
      </p:sp>
      <p:sp>
        <p:nvSpPr>
          <p:cNvPr id="12" name="Shape 9"/>
          <p:cNvSpPr/>
          <p:nvPr/>
        </p:nvSpPr>
        <p:spPr>
          <a:xfrm>
            <a:off x="3419856" y="1554480"/>
            <a:ext cx="2697480" cy="2377440"/>
          </a:xfrm>
          <a:prstGeom prst="roundRect">
            <a:avLst>
              <a:gd name="adj" fmla="val 3077"/>
            </a:avLst>
          </a:prstGeom>
          <a:solidFill>
            <a:srgbClr val="F2F5F6"/>
          </a:solidFill>
          <a:ln/>
        </p:spPr>
      </p:sp>
      <p:sp>
        <p:nvSpPr>
          <p:cNvPr id="13" name="Shape 10"/>
          <p:cNvSpPr/>
          <p:nvPr/>
        </p:nvSpPr>
        <p:spPr>
          <a:xfrm>
            <a:off x="3639312" y="1783080"/>
            <a:ext cx="475488" cy="475488"/>
          </a:xfrm>
          <a:prstGeom prst="ellipse">
            <a:avLst/>
          </a:prstGeom>
          <a:solidFill>
            <a:srgbClr val="0E7C7B"/>
          </a:solidFill>
          <a:ln/>
        </p:spPr>
      </p:sp>
      <p:pic>
        <p:nvPicPr>
          <p:cNvPr id="14" name="Image 1" descr="/home/user/Claude-Works/ai-training-prompt-engineering/src/assets/icons/eye_w.png">    </p:cNvPr>
          <p:cNvPicPr>
            <a:picLocks noChangeAspect="1"/>
          </p:cNvPicPr>
          <p:nvPr/>
        </p:nvPicPr>
        <p:blipFill>
          <a:blip r:embed="rId2"/>
          <a:stretch>
            <a:fillRect/>
          </a:stretch>
        </p:blipFill>
        <p:spPr>
          <a:xfrm>
            <a:off x="3762939" y="1906707"/>
            <a:ext cx="228234" cy="228234"/>
          </a:xfrm>
          <a:prstGeom prst="rect">
            <a:avLst/>
          </a:prstGeom>
        </p:spPr>
      </p:pic>
      <p:sp>
        <p:nvSpPr>
          <p:cNvPr id="15" name="Text 11"/>
          <p:cNvSpPr/>
          <p:nvPr/>
        </p:nvSpPr>
        <p:spPr>
          <a:xfrm>
            <a:off x="4242816" y="1847088"/>
            <a:ext cx="17830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2 · Inspect</a:t>
            </a:r>
            <a:endParaRPr lang="en-US" sz="1400" dirty="0"/>
          </a:p>
        </p:txBody>
      </p:sp>
      <p:sp>
        <p:nvSpPr>
          <p:cNvPr id="16" name="Text 12"/>
          <p:cNvSpPr/>
          <p:nvPr/>
        </p:nvSpPr>
        <p:spPr>
          <a:xfrm>
            <a:off x="3639312" y="2377440"/>
            <a:ext cx="2286000" cy="146304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Wrong output? Diagnose which element failed: wrong altitude (role), wrong content (context), wrong shape (format), wrong style (examples).</a:t>
            </a:r>
            <a:endParaRPr lang="en-US" sz="1050" dirty="0"/>
          </a:p>
        </p:txBody>
      </p:sp>
      <p:sp>
        <p:nvSpPr>
          <p:cNvPr id="17" name="Shape 13"/>
          <p:cNvSpPr/>
          <p:nvPr/>
        </p:nvSpPr>
        <p:spPr>
          <a:xfrm>
            <a:off x="6135624" y="2697480"/>
            <a:ext cx="182880" cy="0"/>
          </a:xfrm>
          <a:prstGeom prst="line">
            <a:avLst/>
          </a:prstGeom>
          <a:noFill/>
          <a:ln w="28575">
            <a:solidFill>
              <a:srgbClr val="0E7C7B"/>
            </a:solidFill>
            <a:prstDash val="solid"/>
            <a:tailEnd type="triangle"/>
          </a:ln>
        </p:spPr>
      </p:sp>
      <p:sp>
        <p:nvSpPr>
          <p:cNvPr id="18" name="Shape 14"/>
          <p:cNvSpPr/>
          <p:nvPr/>
        </p:nvSpPr>
        <p:spPr>
          <a:xfrm>
            <a:off x="6336792" y="1554480"/>
            <a:ext cx="2697480" cy="2377440"/>
          </a:xfrm>
          <a:prstGeom prst="roundRect">
            <a:avLst>
              <a:gd name="adj" fmla="val 3077"/>
            </a:avLst>
          </a:prstGeom>
          <a:solidFill>
            <a:srgbClr val="F2F5F6"/>
          </a:solidFill>
          <a:ln/>
        </p:spPr>
      </p:sp>
      <p:sp>
        <p:nvSpPr>
          <p:cNvPr id="19" name="Shape 15"/>
          <p:cNvSpPr/>
          <p:nvPr/>
        </p:nvSpPr>
        <p:spPr>
          <a:xfrm>
            <a:off x="6556248" y="1783080"/>
            <a:ext cx="475488" cy="475488"/>
          </a:xfrm>
          <a:prstGeom prst="ellipse">
            <a:avLst/>
          </a:prstGeom>
          <a:solidFill>
            <a:srgbClr val="0E7C7B"/>
          </a:solidFill>
          <a:ln/>
        </p:spPr>
      </p:sp>
      <p:pic>
        <p:nvPicPr>
          <p:cNvPr id="20" name="Image 2" descr="/home/user/Claude-Works/ai-training-prompt-engineering/src/assets/icons/refresh_w.png">    </p:cNvPr>
          <p:cNvPicPr>
            <a:picLocks noChangeAspect="1"/>
          </p:cNvPicPr>
          <p:nvPr/>
        </p:nvPicPr>
        <p:blipFill>
          <a:blip r:embed="rId3"/>
          <a:stretch>
            <a:fillRect/>
          </a:stretch>
        </p:blipFill>
        <p:spPr>
          <a:xfrm>
            <a:off x="6679875" y="1906707"/>
            <a:ext cx="228234" cy="228234"/>
          </a:xfrm>
          <a:prstGeom prst="rect">
            <a:avLst/>
          </a:prstGeom>
        </p:spPr>
      </p:pic>
      <p:sp>
        <p:nvSpPr>
          <p:cNvPr id="21" name="Text 16"/>
          <p:cNvSpPr/>
          <p:nvPr/>
        </p:nvSpPr>
        <p:spPr>
          <a:xfrm>
            <a:off x="7159752" y="1847088"/>
            <a:ext cx="17830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3 · Refine</a:t>
            </a:r>
            <a:endParaRPr lang="en-US" sz="1400" dirty="0"/>
          </a:p>
        </p:txBody>
      </p:sp>
      <p:sp>
        <p:nvSpPr>
          <p:cNvPr id="22" name="Text 17"/>
          <p:cNvSpPr/>
          <p:nvPr/>
        </p:nvSpPr>
        <p:spPr>
          <a:xfrm>
            <a:off x="6556248" y="2377440"/>
            <a:ext cx="2286000" cy="146304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Fix that element — or ask the model itself: “rewrite this prompt so it more consistently produces X.”</a:t>
            </a:r>
            <a:endParaRPr lang="en-US" sz="1050" dirty="0"/>
          </a:p>
        </p:txBody>
      </p:sp>
      <p:sp>
        <p:nvSpPr>
          <p:cNvPr id="23" name="Shape 18"/>
          <p:cNvSpPr/>
          <p:nvPr/>
        </p:nvSpPr>
        <p:spPr>
          <a:xfrm>
            <a:off x="9052560" y="2697480"/>
            <a:ext cx="182880" cy="0"/>
          </a:xfrm>
          <a:prstGeom prst="line">
            <a:avLst/>
          </a:prstGeom>
          <a:noFill/>
          <a:ln w="28575">
            <a:solidFill>
              <a:srgbClr val="0E7C7B"/>
            </a:solidFill>
            <a:prstDash val="solid"/>
            <a:tailEnd type="triangle"/>
          </a:ln>
        </p:spPr>
      </p:sp>
      <p:sp>
        <p:nvSpPr>
          <p:cNvPr id="24" name="Shape 19"/>
          <p:cNvSpPr/>
          <p:nvPr/>
        </p:nvSpPr>
        <p:spPr>
          <a:xfrm>
            <a:off x="9253728" y="1554480"/>
            <a:ext cx="2697480" cy="2377440"/>
          </a:xfrm>
          <a:prstGeom prst="roundRect">
            <a:avLst>
              <a:gd name="adj" fmla="val 3077"/>
            </a:avLst>
          </a:prstGeom>
          <a:solidFill>
            <a:srgbClr val="E4F0EF"/>
          </a:solidFill>
          <a:ln/>
        </p:spPr>
      </p:sp>
      <p:sp>
        <p:nvSpPr>
          <p:cNvPr id="25" name="Shape 20"/>
          <p:cNvSpPr/>
          <p:nvPr/>
        </p:nvSpPr>
        <p:spPr>
          <a:xfrm>
            <a:off x="9473184" y="1783080"/>
            <a:ext cx="475488" cy="475488"/>
          </a:xfrm>
          <a:prstGeom prst="ellipse">
            <a:avLst/>
          </a:prstGeom>
          <a:solidFill>
            <a:srgbClr val="0E7C7B"/>
          </a:solidFill>
          <a:ln/>
        </p:spPr>
      </p:sp>
      <p:pic>
        <p:nvPicPr>
          <p:cNvPr id="26" name="Image 3" descr="/home/user/Claude-Works/ai-training-prompt-engineering/src/assets/icons/save_w.png">    </p:cNvPr>
          <p:cNvPicPr>
            <a:picLocks noChangeAspect="1"/>
          </p:cNvPicPr>
          <p:nvPr/>
        </p:nvPicPr>
        <p:blipFill>
          <a:blip r:embed="rId4"/>
          <a:stretch>
            <a:fillRect/>
          </a:stretch>
        </p:blipFill>
        <p:spPr>
          <a:xfrm>
            <a:off x="9596811" y="1906707"/>
            <a:ext cx="228234" cy="228234"/>
          </a:xfrm>
          <a:prstGeom prst="rect">
            <a:avLst/>
          </a:prstGeom>
        </p:spPr>
      </p:pic>
      <p:sp>
        <p:nvSpPr>
          <p:cNvPr id="27" name="Text 21"/>
          <p:cNvSpPr/>
          <p:nvPr/>
        </p:nvSpPr>
        <p:spPr>
          <a:xfrm>
            <a:off x="10076688" y="1847088"/>
            <a:ext cx="17830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4 · Standardize</a:t>
            </a:r>
            <a:endParaRPr lang="en-US" sz="1400" dirty="0"/>
          </a:p>
        </p:txBody>
      </p:sp>
      <p:sp>
        <p:nvSpPr>
          <p:cNvPr id="28" name="Text 22"/>
          <p:cNvSpPr/>
          <p:nvPr/>
        </p:nvSpPr>
        <p:spPr>
          <a:xfrm>
            <a:off x="9473184" y="2377440"/>
            <a:ext cx="2286000" cy="146304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Works twice? Name it, version it, put it in the library. A tested template beats a daily improvisation.</a:t>
            </a:r>
            <a:endParaRPr lang="en-US" sz="1050" dirty="0"/>
          </a:p>
        </p:txBody>
      </p:sp>
      <p:sp>
        <p:nvSpPr>
          <p:cNvPr id="29" name="Shape 23"/>
          <p:cNvSpPr/>
          <p:nvPr/>
        </p:nvSpPr>
        <p:spPr>
          <a:xfrm>
            <a:off x="502920" y="4251960"/>
            <a:ext cx="11155680" cy="868680"/>
          </a:xfrm>
          <a:prstGeom prst="roundRect">
            <a:avLst>
              <a:gd name="adj" fmla="val 8421"/>
            </a:avLst>
          </a:prstGeom>
          <a:solidFill>
            <a:srgbClr val="F2F5F6"/>
          </a:solidFill>
          <a:ln w="9525">
            <a:solidFill>
              <a:srgbClr val="DCE3E6"/>
            </a:solidFill>
            <a:prstDash val="solid"/>
          </a:ln>
        </p:spPr>
      </p:sp>
      <p:sp>
        <p:nvSpPr>
          <p:cNvPr id="30" name="Shape 24"/>
          <p:cNvSpPr/>
          <p:nvPr/>
        </p:nvSpPr>
        <p:spPr>
          <a:xfrm>
            <a:off x="667512" y="4494276"/>
            <a:ext cx="384048" cy="384048"/>
          </a:xfrm>
          <a:prstGeom prst="ellipse">
            <a:avLst/>
          </a:prstGeom>
          <a:solidFill>
            <a:srgbClr val="46545F"/>
          </a:solidFill>
          <a:ln/>
        </p:spPr>
      </p:sp>
      <p:pic>
        <p:nvPicPr>
          <p:cNvPr id="31" name="Image 4" descr="/home/user/Claude-Works/ai-training-prompt-engineering/src/assets/icons/users_w.png">    </p:cNvPr>
          <p:cNvPicPr>
            <a:picLocks noChangeAspect="1"/>
          </p:cNvPicPr>
          <p:nvPr/>
        </p:nvPicPr>
        <p:blipFill>
          <a:blip r:embed="rId5"/>
          <a:stretch>
            <a:fillRect/>
          </a:stretch>
        </p:blipFill>
        <p:spPr>
          <a:xfrm>
            <a:off x="767364" y="4594128"/>
            <a:ext cx="184343" cy="184343"/>
          </a:xfrm>
          <a:prstGeom prst="rect">
            <a:avLst/>
          </a:prstGeom>
        </p:spPr>
      </p:pic>
      <p:sp>
        <p:nvSpPr>
          <p:cNvPr id="32" name="Text 25"/>
          <p:cNvSpPr/>
          <p:nvPr/>
        </p:nvSpPr>
        <p:spPr>
          <a:xfrm>
            <a:off x="1216152" y="4325112"/>
            <a:ext cx="10213848" cy="72237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Anthropic’s golden rule: </a:t>
            </a:r>
            <a:pPr indent="0" marL="0">
              <a:lnSpc>
                <a:spcPct val="106000"/>
              </a:lnSpc>
              <a:buNone/>
            </a:pPr>
            <a:r>
              <a:rPr lang="en-US" sz="1250" i="1" dirty="0">
                <a:solidFill>
                  <a:srgbClr val="46545F"/>
                </a:solidFill>
                <a:latin typeface="Calibri" pitchFamily="34" charset="0"/>
                <a:ea typeface="Calibri" pitchFamily="34" charset="-122"/>
                <a:cs typeface="Calibri" pitchFamily="34" charset="-120"/>
              </a:rPr>
              <a:t>“Show your prompt to a colleague with minimal context and ask them to follow it. If they’d be confused, Claude will be too.”</a:t>
            </a:r>
            <a:endParaRPr lang="en-US" sz="1250" dirty="0"/>
          </a:p>
        </p:txBody>
      </p:sp>
      <p:sp>
        <p:nvSpPr>
          <p:cNvPr id="33" name="Shape 26"/>
          <p:cNvSpPr/>
          <p:nvPr/>
        </p:nvSpPr>
        <p:spPr>
          <a:xfrm>
            <a:off x="502920" y="5257800"/>
            <a:ext cx="11155680" cy="868680"/>
          </a:xfrm>
          <a:prstGeom prst="roundRect">
            <a:avLst>
              <a:gd name="adj" fmla="val 8421"/>
            </a:avLst>
          </a:prstGeom>
          <a:solidFill>
            <a:srgbClr val="FBF0E0"/>
          </a:solidFill>
          <a:ln/>
        </p:spPr>
      </p:sp>
      <p:sp>
        <p:nvSpPr>
          <p:cNvPr id="34" name="Shape 27"/>
          <p:cNvSpPr/>
          <p:nvPr/>
        </p:nvSpPr>
        <p:spPr>
          <a:xfrm>
            <a:off x="667512" y="5500116"/>
            <a:ext cx="384048" cy="384048"/>
          </a:xfrm>
          <a:prstGeom prst="ellipse">
            <a:avLst/>
          </a:prstGeom>
          <a:solidFill>
            <a:srgbClr val="B96A1B"/>
          </a:solidFill>
          <a:ln/>
        </p:spPr>
      </p:sp>
      <p:pic>
        <p:nvPicPr>
          <p:cNvPr id="35" name="Image 5" descr="/home/user/Claude-Works/ai-training-prompt-engineering/src/assets/icons/target_w.png">    </p:cNvPr>
          <p:cNvPicPr>
            <a:picLocks noChangeAspect="1"/>
          </p:cNvPicPr>
          <p:nvPr/>
        </p:nvPicPr>
        <p:blipFill>
          <a:blip r:embed="rId6"/>
          <a:stretch>
            <a:fillRect/>
          </a:stretch>
        </p:blipFill>
        <p:spPr>
          <a:xfrm>
            <a:off x="767364" y="5599968"/>
            <a:ext cx="184343" cy="184343"/>
          </a:xfrm>
          <a:prstGeom prst="rect">
            <a:avLst/>
          </a:prstGeom>
        </p:spPr>
      </p:pic>
      <p:sp>
        <p:nvSpPr>
          <p:cNvPr id="36" name="Text 28"/>
          <p:cNvSpPr/>
          <p:nvPr/>
        </p:nvSpPr>
        <p:spPr>
          <a:xfrm>
            <a:off x="1216152" y="5330952"/>
            <a:ext cx="10213848" cy="72237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standardize?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Outputs swing wildly with tiny phrasing changes. A tested, versioned template is your gauge-R&amp;R answer to prompt variability — which is exactly what Part 4 hands you.</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Rebuild one line</a:t>
            </a:r>
            <a:endParaRPr lang="en-US" sz="3000" dirty="0"/>
          </a:p>
        </p:txBody>
      </p:sp>
      <p:sp>
        <p:nvSpPr>
          <p:cNvPr id="6" name="Shape 4"/>
          <p:cNvSpPr/>
          <p:nvPr/>
        </p:nvSpPr>
        <p:spPr>
          <a:xfrm>
            <a:off x="502920" y="1600200"/>
            <a:ext cx="6766560" cy="3108960"/>
          </a:xfrm>
          <a:prstGeom prst="roundRect">
            <a:avLst>
              <a:gd name="adj" fmla="val 2353"/>
            </a:avLst>
          </a:prstGeom>
          <a:solidFill>
            <a:srgbClr val="F2F5F6"/>
          </a:solidFill>
          <a:ln/>
        </p:spPr>
      </p:sp>
      <p:sp>
        <p:nvSpPr>
          <p:cNvPr id="7" name="Text 5"/>
          <p:cNvSpPr/>
          <p:nvPr/>
        </p:nvSpPr>
        <p:spPr>
          <a:xfrm>
            <a:off x="777240" y="1828800"/>
            <a:ext cx="6035040" cy="320040"/>
          </a:xfrm>
          <a:prstGeom prst="rect">
            <a:avLst/>
          </a:prstGeom>
          <a:noFill/>
          <a:ln/>
        </p:spPr>
        <p:txBody>
          <a:bodyPr wrap="square" lIns="0" tIns="0" rIns="0" bIns="0" rtlCol="0" anchor="ctr"/>
          <a:lstStyle/>
          <a:p>
            <a:pPr indent="0" marL="0">
              <a:buNone/>
            </a:pPr>
            <a:r>
              <a:rPr lang="en-US" sz="1200" b="1" dirty="0">
                <a:solidFill>
                  <a:srgbClr val="46545F"/>
                </a:solidFill>
                <a:latin typeface="Calibri" pitchFamily="34" charset="0"/>
                <a:ea typeface="Calibri" pitchFamily="34" charset="-122"/>
                <a:cs typeface="Calibri" pitchFamily="34" charset="-120"/>
              </a:rPr>
              <a:t>Everyone starts from the same line:</a:t>
            </a:r>
            <a:endParaRPr lang="en-US" sz="1200" dirty="0"/>
          </a:p>
        </p:txBody>
      </p:sp>
      <p:sp>
        <p:nvSpPr>
          <p:cNvPr id="8" name="Text 6"/>
          <p:cNvSpPr/>
          <p:nvPr/>
        </p:nvSpPr>
        <p:spPr>
          <a:xfrm>
            <a:off x="777240" y="2212848"/>
            <a:ext cx="6126480" cy="457200"/>
          </a:xfrm>
          <a:prstGeom prst="rect">
            <a:avLst/>
          </a:prstGeom>
          <a:noFill/>
          <a:ln/>
        </p:spPr>
        <p:txBody>
          <a:bodyPr wrap="square" lIns="0" tIns="0" rIns="0" bIns="0" rtlCol="0" anchor="ctr"/>
          <a:lstStyle/>
          <a:p>
            <a:pPr indent="0" marL="0">
              <a:buNone/>
            </a:pPr>
            <a:r>
              <a:rPr lang="en-US" sz="1600" dirty="0">
                <a:solidFill>
                  <a:srgbClr val="0A5B5A"/>
                </a:solidFill>
                <a:latin typeface="Consolas" pitchFamily="34" charset="0"/>
                <a:ea typeface="Consolas" pitchFamily="34" charset="-122"/>
                <a:cs typeface="Consolas" pitchFamily="34" charset="-120"/>
              </a:rPr>
              <a:t>“Summarize this report.”</a:t>
            </a:r>
            <a:endParaRPr lang="en-US" sz="1600" dirty="0"/>
          </a:p>
        </p:txBody>
      </p:sp>
      <p:sp>
        <p:nvSpPr>
          <p:cNvPr id="9" name="Text 7"/>
          <p:cNvSpPr/>
          <p:nvPr/>
        </p:nvSpPr>
        <p:spPr>
          <a:xfrm>
            <a:off x="822960" y="2834640"/>
            <a:ext cx="6035040" cy="17373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Three minutes: add a Role, an audience, a numeric cap, and an Out.</a:t>
            </a:r>
            <a:endParaRPr lang="en-US" sz="1250" dirty="0"/>
          </a:p>
          <a:p>
            <a:pPr algn="l" marL="127000" indent="-127000">
              <a:lnSpc>
                <a:spcPct val="104000"/>
              </a:lnSpc>
              <a:spcAft>
                <a:spcPts val="800"/>
              </a:spcAft>
              <a:buSzPct val="100000"/>
              <a:buChar char="•"/>
            </a:pPr>
            <a:r>
              <a:rPr lang="en-US" sz="1250" dirty="0">
                <a:solidFill>
                  <a:srgbClr val="46545F"/>
                </a:solidFill>
                <a:latin typeface="Calibri" pitchFamily="34" charset="0"/>
                <a:ea typeface="Calibri" pitchFamily="34" charset="-122"/>
                <a:cs typeface="Calibri" pitchFamily="34" charset="-120"/>
              </a:rPr>
              <a:t>Compare with a neighbor — whose version would produce the more useful summary, and why?</a:t>
            </a:r>
            <a:endParaRPr lang="en-US" sz="1250" dirty="0"/>
          </a:p>
        </p:txBody>
      </p:sp>
      <p:sp>
        <p:nvSpPr>
          <p:cNvPr id="10" name="Shape 8"/>
          <p:cNvSpPr/>
          <p:nvPr/>
        </p:nvSpPr>
        <p:spPr>
          <a:xfrm>
            <a:off x="7543800" y="1600200"/>
            <a:ext cx="4114800" cy="3108960"/>
          </a:xfrm>
          <a:prstGeom prst="roundRect">
            <a:avLst>
              <a:gd name="adj" fmla="val 2353"/>
            </a:avLst>
          </a:prstGeom>
          <a:solidFill>
            <a:srgbClr val="FBF0E0"/>
          </a:solidFill>
          <a:ln/>
        </p:spPr>
      </p:sp>
      <p:sp>
        <p:nvSpPr>
          <p:cNvPr id="11"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B96A1B"/>
                </a:solidFill>
                <a:latin typeface="Calibri" pitchFamily="34" charset="0"/>
                <a:ea typeface="Calibri" pitchFamily="34" charset="-122"/>
                <a:cs typeface="Calibri" pitchFamily="34" charset="-120"/>
              </a:rPr>
              <a:t>One strong answer (presenter)</a:t>
            </a:r>
            <a:endParaRPr lang="en-US" sz="1150" dirty="0"/>
          </a:p>
          <a:p>
            <a:pPr indent="0" marL="0">
              <a:lnSpc>
                <a:spcPct val="112000"/>
              </a:lnSpc>
              <a:buNone/>
            </a:pPr>
            <a:r>
              <a:rPr lang="en-US" sz="1080" i="1" dirty="0">
                <a:solidFill>
                  <a:srgbClr val="46545F"/>
                </a:solidFill>
                <a:latin typeface="Calibri" pitchFamily="34" charset="0"/>
                <a:ea typeface="Calibri" pitchFamily="34" charset="-122"/>
                <a:cs typeface="Calibri" pitchFamily="34" charset="-120"/>
              </a:rPr>
              <a:t>“You are a precise editor. Summarize the attached report for a cross-functional partner in ≤ 150 words: the three things they must know, what changed, and what it does NOT cover. If the report doesn’t say, say so.”</a:t>
            </a:r>
            <a:endParaRPr lang="en-US" sz="1150" dirty="0"/>
          </a:p>
        </p:txBody>
      </p:sp>
      <p:sp>
        <p:nvSpPr>
          <p:cNvPr id="12"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31</a:t>
            </a:r>
            <a:endParaRPr lang="en-US" sz="850" dirty="0"/>
          </a:p>
        </p:txBody>
      </p:sp>
      <p:sp>
        <p:nvSpPr>
          <p:cNvPr id="3" name="Text 1"/>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4" name="Text 2"/>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5" name="Text 3"/>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6" name="Text 4"/>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7" name="Text 5"/>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8" name="Text 6"/>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9" name="Text 7"/>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10" name="Text 8"/>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11" name="Text 9"/>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12" name="Text 10"/>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13" name="Text 11"/>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14" name="Text 12"/>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15" name="Text 13"/>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16" name="Text 14"/>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17" name="Text 15"/>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18" name="Text 16"/>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Data analysis: five blocks that keep numbers honest</a:t>
            </a:r>
            <a:endParaRPr lang="en-US" sz="3000" dirty="0"/>
          </a:p>
        </p:txBody>
      </p:sp>
      <p:sp>
        <p:nvSpPr>
          <p:cNvPr id="6" name="Shape 4"/>
          <p:cNvSpPr/>
          <p:nvPr/>
        </p:nvSpPr>
        <p:spPr>
          <a:xfrm>
            <a:off x="502920" y="1481328"/>
            <a:ext cx="11155680" cy="822960"/>
          </a:xfrm>
          <a:prstGeom prst="roundRect">
            <a:avLst>
              <a:gd name="adj" fmla="val 8889"/>
            </a:avLst>
          </a:prstGeom>
          <a:solidFill>
            <a:srgbClr val="F2F5F6"/>
          </a:solidFill>
          <a:ln/>
        </p:spPr>
      </p:sp>
      <p:sp>
        <p:nvSpPr>
          <p:cNvPr id="7" name="Text 5"/>
          <p:cNvSpPr/>
          <p:nvPr/>
        </p:nvSpPr>
        <p:spPr>
          <a:xfrm>
            <a:off x="731520" y="15544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&lt;role&gt;</a:t>
            </a:r>
            <a:endParaRPr lang="en-US" sz="1250" dirty="0"/>
          </a:p>
        </p:txBody>
      </p:sp>
      <p:sp>
        <p:nvSpPr>
          <p:cNvPr id="8" name="Text 6"/>
          <p:cNvSpPr/>
          <p:nvPr/>
        </p:nvSpPr>
        <p:spPr>
          <a:xfrm>
            <a:off x="2240280" y="15453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A careful analyst who computes by running code — never mental math — states n, never drops data silently.</a:t>
            </a:r>
            <a:endParaRPr lang="en-US" sz="1000" dirty="0"/>
          </a:p>
        </p:txBody>
      </p:sp>
      <p:sp>
        <p:nvSpPr>
          <p:cNvPr id="9" name="Text 7"/>
          <p:cNvSpPr/>
          <p:nvPr/>
        </p:nvSpPr>
        <p:spPr>
          <a:xfrm>
            <a:off x="7543800" y="15453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LLM arithmetic is unreliable; code execution makes the math real. If your tool can’t run code, don’t trust computed numbers.</a:t>
            </a:r>
            <a:endParaRPr lang="en-US" sz="930" dirty="0"/>
          </a:p>
        </p:txBody>
      </p:sp>
      <p:sp>
        <p:nvSpPr>
          <p:cNvPr id="10" name="Shape 8"/>
          <p:cNvSpPr/>
          <p:nvPr/>
        </p:nvSpPr>
        <p:spPr>
          <a:xfrm>
            <a:off x="502920" y="2395728"/>
            <a:ext cx="11155680" cy="822960"/>
          </a:xfrm>
          <a:prstGeom prst="roundRect">
            <a:avLst>
              <a:gd name="adj" fmla="val 8889"/>
            </a:avLst>
          </a:prstGeom>
          <a:solidFill>
            <a:srgbClr val="FFFFFF"/>
          </a:solidFill>
          <a:ln w="9525">
            <a:solidFill>
              <a:srgbClr val="DCE3E6"/>
            </a:solidFill>
            <a:prstDash val="solid"/>
          </a:ln>
        </p:spPr>
      </p:sp>
      <p:sp>
        <p:nvSpPr>
          <p:cNvPr id="11" name="Text 9"/>
          <p:cNvSpPr/>
          <p:nvPr/>
        </p:nvSpPr>
        <p:spPr>
          <a:xfrm>
            <a:off x="731520" y="24688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&lt;data&gt;</a:t>
            </a:r>
            <a:endParaRPr lang="en-US" sz="1250" dirty="0"/>
          </a:p>
        </p:txBody>
      </p:sp>
      <p:sp>
        <p:nvSpPr>
          <p:cNvPr id="12" name="Text 10"/>
          <p:cNvSpPr/>
          <p:nvPr/>
        </p:nvSpPr>
        <p:spPr>
          <a:xfrm>
            <a:off x="2240280" y="24597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File, sheet, header row, what one row means, exact column names, known issues, metric definitions.</a:t>
            </a:r>
            <a:endParaRPr lang="en-US" sz="1000" dirty="0"/>
          </a:p>
        </p:txBody>
      </p:sp>
      <p:sp>
        <p:nvSpPr>
          <p:cNvPr id="13" name="Text 11"/>
          <p:cNvSpPr/>
          <p:nvPr/>
        </p:nvSpPr>
        <p:spPr>
          <a:xfrm>
            <a:off x="7543800" y="24597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The model guessing your grain and denominator is the #1 source of wrong answers. Schema first.</a:t>
            </a:r>
            <a:endParaRPr lang="en-US" sz="930" dirty="0"/>
          </a:p>
        </p:txBody>
      </p:sp>
      <p:sp>
        <p:nvSpPr>
          <p:cNvPr id="14" name="Shape 12"/>
          <p:cNvSpPr/>
          <p:nvPr/>
        </p:nvSpPr>
        <p:spPr>
          <a:xfrm>
            <a:off x="502920" y="3310128"/>
            <a:ext cx="11155680" cy="822960"/>
          </a:xfrm>
          <a:prstGeom prst="roundRect">
            <a:avLst>
              <a:gd name="adj" fmla="val 8889"/>
            </a:avLst>
          </a:prstGeom>
          <a:solidFill>
            <a:srgbClr val="F2F5F6"/>
          </a:solidFill>
          <a:ln/>
        </p:spPr>
      </p:sp>
      <p:sp>
        <p:nvSpPr>
          <p:cNvPr id="15" name="Text 13"/>
          <p:cNvSpPr/>
          <p:nvPr/>
        </p:nvSpPr>
        <p:spPr>
          <a:xfrm>
            <a:off x="731520" y="33832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&lt;task&gt;</a:t>
            </a:r>
            <a:endParaRPr lang="en-US" sz="1250" dirty="0"/>
          </a:p>
        </p:txBody>
      </p:sp>
      <p:sp>
        <p:nvSpPr>
          <p:cNvPr id="16" name="Text 14"/>
          <p:cNvSpPr/>
          <p:nvPr/>
        </p:nvSpPr>
        <p:spPr>
          <a:xfrm>
            <a:off x="2240280" y="33741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Numbered questions in priority order — “and stop when they’re answered.”</a:t>
            </a:r>
            <a:endParaRPr lang="en-US" sz="1000" dirty="0"/>
          </a:p>
        </p:txBody>
      </p:sp>
      <p:sp>
        <p:nvSpPr>
          <p:cNvPr id="17" name="Text 15"/>
          <p:cNvSpPr/>
          <p:nvPr/>
        </p:nvSpPr>
        <p:spPr>
          <a:xfrm>
            <a:off x="7543800" y="33741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Topics generate exploration; questions generate answers. The stop rule prevents ten charts and no answer.</a:t>
            </a:r>
            <a:endParaRPr lang="en-US" sz="930" dirty="0"/>
          </a:p>
        </p:txBody>
      </p:sp>
      <p:sp>
        <p:nvSpPr>
          <p:cNvPr id="18" name="Shape 16"/>
          <p:cNvSpPr/>
          <p:nvPr/>
        </p:nvSpPr>
        <p:spPr>
          <a:xfrm>
            <a:off x="502920" y="4224528"/>
            <a:ext cx="11155680" cy="822960"/>
          </a:xfrm>
          <a:prstGeom prst="roundRect">
            <a:avLst>
              <a:gd name="adj" fmla="val 8889"/>
            </a:avLst>
          </a:prstGeom>
          <a:solidFill>
            <a:srgbClr val="FFFFFF"/>
          </a:solidFill>
          <a:ln w="9525">
            <a:solidFill>
              <a:srgbClr val="DCE3E6"/>
            </a:solidFill>
            <a:prstDash val="solid"/>
          </a:ln>
        </p:spPr>
      </p:sp>
      <p:sp>
        <p:nvSpPr>
          <p:cNvPr id="19" name="Text 17"/>
          <p:cNvSpPr/>
          <p:nvPr/>
        </p:nvSpPr>
        <p:spPr>
          <a:xfrm>
            <a:off x="731520" y="42976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&lt;method&gt;</a:t>
            </a:r>
            <a:endParaRPr lang="en-US" sz="1250" dirty="0"/>
          </a:p>
        </p:txBody>
      </p:sp>
      <p:sp>
        <p:nvSpPr>
          <p:cNvPr id="20" name="Text 18"/>
          <p:cNvSpPr/>
          <p:nvPr/>
        </p:nvSpPr>
        <p:spPr>
          <a:xfrm>
            <a:off x="2240280" y="42885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Profile the data first and show me; reconcile to a known total; flag n &lt; 20; descriptive stats only, “associated with” not “caused by.”</a:t>
            </a:r>
            <a:endParaRPr lang="en-US" sz="1000" dirty="0"/>
          </a:p>
        </p:txBody>
      </p:sp>
      <p:sp>
        <p:nvSpPr>
          <p:cNvPr id="21" name="Text 19"/>
          <p:cNvSpPr/>
          <p:nvPr/>
        </p:nvSpPr>
        <p:spPr>
          <a:xfrm>
            <a:off x="7543800" y="42885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One reconciliation anchor beats ten checks. Language discipline survives into the deck your leadership reads.</a:t>
            </a:r>
            <a:endParaRPr lang="en-US" sz="930" dirty="0"/>
          </a:p>
        </p:txBody>
      </p:sp>
      <p:sp>
        <p:nvSpPr>
          <p:cNvPr id="22" name="Shape 20"/>
          <p:cNvSpPr/>
          <p:nvPr/>
        </p:nvSpPr>
        <p:spPr>
          <a:xfrm>
            <a:off x="502920" y="5138928"/>
            <a:ext cx="11155680" cy="822960"/>
          </a:xfrm>
          <a:prstGeom prst="roundRect">
            <a:avLst>
              <a:gd name="adj" fmla="val 8889"/>
            </a:avLst>
          </a:prstGeom>
          <a:solidFill>
            <a:srgbClr val="F2F5F6"/>
          </a:solidFill>
          <a:ln/>
        </p:spPr>
      </p:sp>
      <p:sp>
        <p:nvSpPr>
          <p:cNvPr id="23" name="Text 21"/>
          <p:cNvSpPr/>
          <p:nvPr/>
        </p:nvSpPr>
        <p:spPr>
          <a:xfrm>
            <a:off x="731520" y="52120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&lt;format&gt;</a:t>
            </a:r>
            <a:endParaRPr lang="en-US" sz="1250" dirty="0"/>
          </a:p>
        </p:txBody>
      </p:sp>
      <p:sp>
        <p:nvSpPr>
          <p:cNvPr id="24" name="Text 22"/>
          <p:cNvSpPr/>
          <p:nvPr/>
        </p:nvSpPr>
        <p:spPr>
          <a:xfrm>
            <a:off x="2240280" y="52029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Headline answer first with the number, then the table; assumptions and caveats at the end.</a:t>
            </a:r>
            <a:endParaRPr lang="en-US" sz="1000" dirty="0"/>
          </a:p>
        </p:txBody>
      </p:sp>
      <p:sp>
        <p:nvSpPr>
          <p:cNvPr id="25" name="Text 23"/>
          <p:cNvSpPr/>
          <p:nvPr/>
        </p:nvSpPr>
        <p:spPr>
          <a:xfrm>
            <a:off x="7543800" y="52029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930" dirty="0"/>
          </a:p>
        </p:txBody>
      </p:sp>
      <p:sp>
        <p:nvSpPr>
          <p:cNvPr id="26" name="Text 24"/>
          <p:cNvSpPr/>
          <p:nvPr/>
        </p:nvSpPr>
        <p:spPr>
          <a:xfrm>
            <a:off x="502920" y="6108192"/>
            <a:ext cx="731520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block · what goes in it · why it’s there</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 1</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THE BLIND CRITIQUE (G3)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Watch sycophancy die in real time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Set up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Open a fresh chat. Paste a real (or prepared) draft — a plan, a memo — introduced as “a colleague’s draft.” Do not hint at your view.</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G3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Ask for: the strongest case AGAINST · the three weakest points and how a critic attacks each · what evidence would prove it wrong · overall read only at the end.</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The contrast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Now ask the naive way in a second chat: “I wrote this — what do you think?” Compare the two answers side by side.</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737360"/>
            <a:ext cx="3474720" cy="3291840"/>
          </a:xfrm>
          <a:prstGeom prst="rect">
            <a:avLst/>
          </a:prstGeom>
          <a:noFill/>
          <a:ln/>
        </p:spPr>
        <p:txBody>
          <a:bodyPr wrap="square" lIns="0" tIns="0" rIns="0" bIns="0" rtlCol="0" anchor="ctr"/>
          <a:lstStyle/>
          <a:p>
            <a:pPr indent="0" marL="0">
              <a:lnSpc>
                <a:spcPct val="110000"/>
              </a:lnSpc>
              <a:spcAft>
                <a:spcPts val="500"/>
              </a:spcAft>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The blind version finds real weaknesses; the “I wrote this” version compliments first and softens everything. Same model, same draft — the only change is what you revealed.</a:t>
            </a:r>
            <a:endParaRPr lang="en-US" sz="1200" dirty="0"/>
          </a:p>
          <a:p>
            <a:pPr indent="0" marL="0">
              <a:lnSpc>
                <a:spcPct val="110000"/>
              </a:lnSpc>
              <a:buNone/>
            </a:pP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The science: models affirm users ~49% more than humans do. Blinding is the fix you can do today.</a:t>
            </a:r>
            <a:endParaRPr lang="en-US" sz="1200" dirty="0"/>
          </a:p>
        </p:txBody>
      </p:sp>
      <p:sp>
        <p:nvSpPr>
          <p:cNvPr id="14" name="Shape 12"/>
          <p:cNvSpPr/>
          <p:nvPr/>
        </p:nvSpPr>
        <p:spPr>
          <a:xfrm>
            <a:off x="502920" y="5349240"/>
            <a:ext cx="11155680" cy="685800"/>
          </a:xfrm>
          <a:prstGeom prst="roundRect">
            <a:avLst>
              <a:gd name="adj" fmla="val 10667"/>
            </a:avLst>
          </a:prstGeom>
          <a:solidFill>
            <a:srgbClr val="E4F0EF"/>
          </a:solidFill>
          <a:ln/>
        </p:spPr>
      </p:sp>
      <p:sp>
        <p:nvSpPr>
          <p:cNvPr id="15" name="Shape 13"/>
          <p:cNvSpPr/>
          <p:nvPr/>
        </p:nvSpPr>
        <p:spPr>
          <a:xfrm>
            <a:off x="667512" y="5500116"/>
            <a:ext cx="384048" cy="384048"/>
          </a:xfrm>
          <a:prstGeom prst="ellipse">
            <a:avLst/>
          </a:prstGeom>
          <a:solidFill>
            <a:srgbClr val="0E7C7B"/>
          </a:solidFill>
          <a:ln/>
        </p:spPr>
      </p:sp>
      <p:pic>
        <p:nvPicPr>
          <p:cNvPr id="16" name="Image 0" descr="/home/user/Claude-Works/ai-training-prompt-engineering/src/assets/icons/zap_w.png">    </p:cNvPr>
          <p:cNvPicPr>
            <a:picLocks noChangeAspect="1"/>
          </p:cNvPicPr>
          <p:nvPr/>
        </p:nvPicPr>
        <p:blipFill>
          <a:blip r:embed="rId1"/>
          <a:stretch>
            <a:fillRect/>
          </a:stretch>
        </p:blipFill>
        <p:spPr>
          <a:xfrm>
            <a:off x="767364" y="5599968"/>
            <a:ext cx="184343" cy="184343"/>
          </a:xfrm>
          <a:prstGeom prst="rect">
            <a:avLst/>
          </a:prstGeom>
        </p:spPr>
      </p:pic>
      <p:sp>
        <p:nvSpPr>
          <p:cNvPr id="17" name="Text 14"/>
          <p:cNvSpPr/>
          <p:nvPr/>
        </p:nvSpPr>
        <p:spPr>
          <a:xfrm>
            <a:off x="1216152" y="5422392"/>
            <a:ext cx="10213848" cy="5394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This is the Part 4 rep: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everyone runs the blind critique on something of their own before session 2.</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737360"/>
            <a:ext cx="3474720" cy="3291840"/>
          </a:xfrm>
          <a:prstGeom prst="rect">
            <a:avLst/>
          </a:prstGeom>
          <a:noFill/>
          <a:ln/>
        </p:spPr>
        <p:txBody>
          <a:bodyPr wrap="square" lIns="0" tIns="0" rIns="0" bIns="0" rtlCol="0" anchor="ctr"/>
          <a:lstStyle/>
          <a:p>
            <a:pPr indent="0" marL="0">
              <a:lnSpc>
                <a:spcPct val="110000"/>
              </a:lnSpc>
              <a:spcAft>
                <a:spcPts val="500"/>
              </a:spcAft>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The deliverable is a tool, not a text. The spec lines that made it trustworthy: single file · offline · data embedded · nothing hard-coded · formulas on screen.</a:t>
            </a:r>
            <a:endParaRPr lang="en-US" sz="1200" dirty="0"/>
          </a:p>
          <a:p>
            <a:pPr indent="0" marL="0">
              <a:lnSpc>
                <a:spcPct val="110000"/>
              </a:lnSpc>
              <a:buNone/>
            </a:pP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Caveats to say out loud: it is a snapshot, not a live system — and share the FILE, not a public link.</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THE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FULL PLAYBOOK TRAVELS WITH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Eight generative templates — copy, fill, run</a:t>
            </a:r>
            <a:endParaRPr lang="en-US" sz="3000" dirty="0"/>
          </a:p>
        </p:txBody>
      </p:sp>
      <p:sp>
        <p:nvSpPr>
          <p:cNvPr id="6" name="Shape 4"/>
          <p:cNvSpPr/>
          <p:nvPr/>
        </p:nvSpPr>
        <p:spPr>
          <a:xfrm>
            <a:off x="502920" y="1508760"/>
            <a:ext cx="5440680" cy="914400"/>
          </a:xfrm>
          <a:prstGeom prst="roundRect">
            <a:avLst>
              <a:gd name="adj" fmla="val 8000"/>
            </a:avLst>
          </a:prstGeom>
          <a:solidFill>
            <a:srgbClr val="F2F5F6"/>
          </a:solidFill>
          <a:ln/>
        </p:spPr>
      </p:sp>
      <p:sp>
        <p:nvSpPr>
          <p:cNvPr id="7" name="Text 5"/>
          <p:cNvSpPr/>
          <p:nvPr/>
        </p:nvSpPr>
        <p:spPr>
          <a:xfrm>
            <a:off x="722376" y="1581912"/>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G1 · Writing &amp; editing</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raw material in, hard word cap, “add no facts” — edit beats draft</a:t>
            </a:r>
            <a:endParaRPr lang="en-US" sz="1200" dirty="0"/>
          </a:p>
        </p:txBody>
      </p:sp>
      <p:sp>
        <p:nvSpPr>
          <p:cNvPr id="8" name="Shape 6"/>
          <p:cNvSpPr/>
          <p:nvPr/>
        </p:nvSpPr>
        <p:spPr>
          <a:xfrm>
            <a:off x="6172200" y="1508760"/>
            <a:ext cx="5440680" cy="914400"/>
          </a:xfrm>
          <a:prstGeom prst="roundRect">
            <a:avLst>
              <a:gd name="adj" fmla="val 8000"/>
            </a:avLst>
          </a:prstGeom>
          <a:solidFill>
            <a:srgbClr val="F2F5F6"/>
          </a:solidFill>
          <a:ln/>
        </p:spPr>
      </p:sp>
      <p:sp>
        <p:nvSpPr>
          <p:cNvPr id="9" name="Text 7"/>
          <p:cNvSpPr/>
          <p:nvPr/>
        </p:nvSpPr>
        <p:spPr>
          <a:xfrm>
            <a:off x="6391656" y="1581912"/>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G2 · Data analysis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exact columns, code-not-vibes, reconcile to a known total, then stop</a:t>
            </a:r>
            <a:endParaRPr lang="en-US" sz="1200" dirty="0"/>
          </a:p>
        </p:txBody>
      </p:sp>
      <p:sp>
        <p:nvSpPr>
          <p:cNvPr id="10" name="Shape 8"/>
          <p:cNvSpPr/>
          <p:nvPr/>
        </p:nvSpPr>
        <p:spPr>
          <a:xfrm>
            <a:off x="502920" y="2551176"/>
            <a:ext cx="5440680" cy="914400"/>
          </a:xfrm>
          <a:prstGeom prst="roundRect">
            <a:avLst>
              <a:gd name="adj" fmla="val 8000"/>
            </a:avLst>
          </a:prstGeom>
          <a:solidFill>
            <a:srgbClr val="F2F5F6"/>
          </a:solidFill>
          <a:ln/>
        </p:spPr>
      </p:sp>
      <p:sp>
        <p:nvSpPr>
          <p:cNvPr id="11" name="Text 9"/>
          <p:cNvSpPr/>
          <p:nvPr/>
        </p:nvSpPr>
        <p:spPr>
          <a:xfrm>
            <a:off x="722376" y="2624328"/>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G3 · Evaluations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anchored rubric, quotes as evidence, blind critique — you just watched it</a:t>
            </a:r>
            <a:endParaRPr lang="en-US" sz="1200" dirty="0"/>
          </a:p>
        </p:txBody>
      </p:sp>
      <p:sp>
        <p:nvSpPr>
          <p:cNvPr id="12" name="Shape 10"/>
          <p:cNvSpPr/>
          <p:nvPr/>
        </p:nvSpPr>
        <p:spPr>
          <a:xfrm>
            <a:off x="6172200" y="2551176"/>
            <a:ext cx="5440680" cy="914400"/>
          </a:xfrm>
          <a:prstGeom prst="roundRect">
            <a:avLst>
              <a:gd name="adj" fmla="val 8000"/>
            </a:avLst>
          </a:prstGeom>
          <a:solidFill>
            <a:srgbClr val="F2F5F6"/>
          </a:solidFill>
          <a:ln/>
        </p:spPr>
      </p:sp>
      <p:sp>
        <p:nvSpPr>
          <p:cNvPr id="13" name="Text 11"/>
          <p:cNvSpPr/>
          <p:nvPr/>
        </p:nvSpPr>
        <p:spPr>
          <a:xfrm>
            <a:off x="6391656" y="2624328"/>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G4 · Spreadsheets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README tab, formulas not values, cleaning with a logged rule per change</a:t>
            </a:r>
            <a:endParaRPr lang="en-US" sz="1200" dirty="0"/>
          </a:p>
        </p:txBody>
      </p:sp>
      <p:sp>
        <p:nvSpPr>
          <p:cNvPr id="14" name="Shape 12"/>
          <p:cNvSpPr/>
          <p:nvPr/>
        </p:nvSpPr>
        <p:spPr>
          <a:xfrm>
            <a:off x="502920" y="3593592"/>
            <a:ext cx="5440680" cy="914400"/>
          </a:xfrm>
          <a:prstGeom prst="roundRect">
            <a:avLst>
              <a:gd name="adj" fmla="val 8000"/>
            </a:avLst>
          </a:prstGeom>
          <a:solidFill>
            <a:srgbClr val="F2F5F6"/>
          </a:solidFill>
          <a:ln/>
        </p:spPr>
      </p:sp>
      <p:sp>
        <p:nvSpPr>
          <p:cNvPr id="15" name="Text 13"/>
          <p:cNvSpPr/>
          <p:nvPr/>
        </p:nvSpPr>
        <p:spPr>
          <a:xfrm>
            <a:off x="722376" y="3666744"/>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G5 · Presentations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titles state findings with numbers; approve text before rendering</a:t>
            </a:r>
            <a:endParaRPr lang="en-US" sz="1200" dirty="0"/>
          </a:p>
        </p:txBody>
      </p:sp>
      <p:sp>
        <p:nvSpPr>
          <p:cNvPr id="16" name="Shape 14"/>
          <p:cNvSpPr/>
          <p:nvPr/>
        </p:nvSpPr>
        <p:spPr>
          <a:xfrm>
            <a:off x="6172200" y="3593592"/>
            <a:ext cx="5440680" cy="914400"/>
          </a:xfrm>
          <a:prstGeom prst="roundRect">
            <a:avLst>
              <a:gd name="adj" fmla="val 8000"/>
            </a:avLst>
          </a:prstGeom>
          <a:solidFill>
            <a:srgbClr val="F2F5F6"/>
          </a:solidFill>
          <a:ln/>
        </p:spPr>
      </p:sp>
      <p:sp>
        <p:nvSpPr>
          <p:cNvPr id="17" name="Text 15"/>
          <p:cNvSpPr/>
          <p:nvPr/>
        </p:nvSpPr>
        <p:spPr>
          <a:xfrm>
            <a:off x="6391656" y="3666744"/>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G6 · Interactive HTML</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single file, offline, auditable — you just watched it</a:t>
            </a:r>
            <a:endParaRPr lang="en-US" sz="1200" dirty="0"/>
          </a:p>
        </p:txBody>
      </p:sp>
      <p:sp>
        <p:nvSpPr>
          <p:cNvPr id="18" name="Shape 16"/>
          <p:cNvSpPr/>
          <p:nvPr/>
        </p:nvSpPr>
        <p:spPr>
          <a:xfrm>
            <a:off x="502920" y="4636008"/>
            <a:ext cx="5440680" cy="914400"/>
          </a:xfrm>
          <a:prstGeom prst="roundRect">
            <a:avLst>
              <a:gd name="adj" fmla="val 8000"/>
            </a:avLst>
          </a:prstGeom>
          <a:solidFill>
            <a:srgbClr val="F2F5F6"/>
          </a:solidFill>
          <a:ln/>
        </p:spPr>
      </p:sp>
      <p:sp>
        <p:nvSpPr>
          <p:cNvPr id="19" name="Text 17"/>
          <p:cNvSpPr/>
          <p:nvPr/>
        </p:nvSpPr>
        <p:spPr>
          <a:xfrm>
            <a:off x="722376" y="4709160"/>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G7 · Research briefs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 question not a topic; every bullet gets a link + date; demand the gaps</a:t>
            </a:r>
            <a:endParaRPr lang="en-US" sz="1200" dirty="0"/>
          </a:p>
        </p:txBody>
      </p:sp>
      <p:sp>
        <p:nvSpPr>
          <p:cNvPr id="20" name="Shape 18"/>
          <p:cNvSpPr/>
          <p:nvPr/>
        </p:nvSpPr>
        <p:spPr>
          <a:xfrm>
            <a:off x="6172200" y="4636008"/>
            <a:ext cx="5440680" cy="914400"/>
          </a:xfrm>
          <a:prstGeom prst="roundRect">
            <a:avLst>
              <a:gd name="adj" fmla="val 8000"/>
            </a:avLst>
          </a:prstGeom>
          <a:solidFill>
            <a:srgbClr val="F2F5F6"/>
          </a:solidFill>
          <a:ln/>
        </p:spPr>
      </p:sp>
      <p:sp>
        <p:nvSpPr>
          <p:cNvPr id="21" name="Text 19"/>
          <p:cNvSpPr/>
          <p:nvPr/>
        </p:nvSpPr>
        <p:spPr>
          <a:xfrm>
            <a:off x="6391656" y="4709160"/>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G8 · Documents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summaries serve a decision; verbatim quotes for anything load-bearing</a:t>
            </a:r>
            <a:endParaRPr lang="en-US" sz="1200" dirty="0"/>
          </a:p>
        </p:txBody>
      </p:sp>
      <p:sp>
        <p:nvSpPr>
          <p:cNvPr id="22" name="Shape 20"/>
          <p:cNvSpPr/>
          <p:nvPr/>
        </p:nvSpPr>
        <p:spPr>
          <a:xfrm>
            <a:off x="502920" y="5806440"/>
            <a:ext cx="11155680" cy="594360"/>
          </a:xfrm>
          <a:prstGeom prst="roundRect">
            <a:avLst>
              <a:gd name="adj" fmla="val 12308"/>
            </a:avLst>
          </a:prstGeom>
          <a:solidFill>
            <a:srgbClr val="E4F0EF"/>
          </a:solidFill>
          <a:ln/>
        </p:spPr>
      </p:sp>
      <p:sp>
        <p:nvSpPr>
          <p:cNvPr id="23" name="Shape 21"/>
          <p:cNvSpPr/>
          <p:nvPr/>
        </p:nvSpPr>
        <p:spPr>
          <a:xfrm>
            <a:off x="667512" y="5911596"/>
            <a:ext cx="384048" cy="384048"/>
          </a:xfrm>
          <a:prstGeom prst="ellipse">
            <a:avLst/>
          </a:prstGeom>
          <a:solidFill>
            <a:srgbClr val="0E7C7B"/>
          </a:solidFill>
          <a:ln/>
        </p:spPr>
      </p:sp>
      <p:pic>
        <p:nvPicPr>
          <p:cNvPr id="24" name="Image 0" descr="/home/user/Claude-Works/ai-training-prompt-engineering/src/assets/icons/download_w.png">    </p:cNvPr>
          <p:cNvPicPr>
            <a:picLocks noChangeAspect="1"/>
          </p:cNvPicPr>
          <p:nvPr/>
        </p:nvPicPr>
        <p:blipFill>
          <a:blip r:embed="rId1"/>
          <a:stretch>
            <a:fillRect/>
          </a:stretch>
        </p:blipFill>
        <p:spPr>
          <a:xfrm>
            <a:off x="767364" y="6011448"/>
            <a:ext cx="184343" cy="184343"/>
          </a:xfrm>
          <a:prstGeom prst="rect">
            <a:avLst/>
          </a:prstGeom>
        </p:spPr>
      </p:pic>
      <p:sp>
        <p:nvSpPr>
          <p:cNvPr id="25" name="Text 22"/>
          <p:cNvSpPr/>
          <p:nvPr/>
        </p:nvSpPr>
        <p:spPr>
          <a:xfrm>
            <a:off x="1216152" y="587959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Where they live: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prompt-library/ in the repo — each with a filled example and pitfalls — plus the interactive Template Creator that assembles any of them from menus.</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SESSION 2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SESSION 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6000"/>
              </a:lnSpc>
              <a:spcAft>
                <a:spcPts val="200"/>
              </a:spcAft>
              <a:buNone/>
            </a:pPr>
            <a:r>
              <a:rPr lang="en-US" sz="1300" b="1" dirty="0">
                <a:solidFill>
                  <a:srgbClr val="232A31"/>
                </a:solidFill>
                <a:latin typeface="Calibri" pitchFamily="34" charset="0"/>
                <a:ea typeface="Calibri" pitchFamily="34" charset="-122"/>
                <a:cs typeface="Calibri" pitchFamily="34" charset="-120"/>
              </a:rPr>
              <a:t>The anatomy</a:t>
            </a:r>
            <a:endParaRPr lang="en-US" sz="130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Every vendor teaches the same recipe.</a:t>
            </a:r>
            <a:endParaRPr lang="en-US" sz="130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6000"/>
              </a:lnSpc>
              <a:spcAft>
                <a:spcPts val="200"/>
              </a:spcAft>
              <a:buNone/>
            </a:pPr>
            <a:r>
              <a:rPr lang="en-US" sz="1300" b="1" dirty="0">
                <a:solidFill>
                  <a:srgbClr val="232A31"/>
                </a:solidFill>
                <a:latin typeface="Calibri" pitchFamily="34" charset="0"/>
                <a:ea typeface="Calibri" pitchFamily="34" charset="-122"/>
                <a:cs typeface="Calibri" pitchFamily="34" charset="-120"/>
              </a:rPr>
              <a:t>Seven techniques</a:t>
            </a:r>
            <a:endParaRPr lang="en-US" sz="130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specificity-with-why, examples, tags, the out, chaining, self-check, metaprompting.</a:t>
            </a:r>
            <a:endParaRPr lang="en-US" sz="130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6000"/>
              </a:lnSpc>
              <a:spcAft>
                <a:spcPts val="200"/>
              </a:spcAft>
              <a:buNone/>
            </a:pPr>
            <a:r>
              <a:rPr lang="en-US" sz="1300" b="1" dirty="0">
                <a:solidFill>
                  <a:srgbClr val="232A31"/>
                </a:solidFill>
                <a:latin typeface="Calibri" pitchFamily="34" charset="0"/>
                <a:ea typeface="Calibri" pitchFamily="34" charset="-122"/>
                <a:cs typeface="Calibri" pitchFamily="34" charset="-120"/>
              </a:rPr>
              <a:t>The evidence rules</a:t>
            </a:r>
            <a:endParaRPr lang="en-US" sz="130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never reveal your preference when asking for judgment.</a:t>
            </a:r>
            <a:endParaRPr lang="en-US" sz="130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6000"/>
              </a:lnSpc>
              <a:spcAft>
                <a:spcPts val="200"/>
              </a:spcAft>
              <a:buNone/>
            </a:pPr>
            <a:r>
              <a:rPr lang="en-US" sz="1300" b="1" dirty="0">
                <a:solidFill>
                  <a:srgbClr val="232A31"/>
                </a:solidFill>
                <a:latin typeface="Calibri" pitchFamily="34" charset="0"/>
                <a:ea typeface="Calibri" pitchFamily="34" charset="-122"/>
                <a:cs typeface="Calibri" pitchFamily="34" charset="-120"/>
              </a:rPr>
              <a:t>The take-home</a:t>
            </a:r>
            <a:endParaRPr lang="en-US" sz="130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eight templates + the Template Creator — the blind critique was homework; who ran it?</a:t>
            </a:r>
            <a:endParaRPr lang="en-US" sz="130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37</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read files, search, look at state</a:t>
            </a:r>
            <a:endParaRPr lang="en-US" sz="83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one step: edit, run, query, write</a:t>
            </a:r>
            <a:endParaRPr lang="en-US" sz="83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check the result against the goal</a:t>
            </a:r>
            <a:endParaRPr lang="en-US" sz="83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adjust and continue — or stop</a:t>
            </a:r>
            <a:endParaRPr lang="en-US" sz="83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95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08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08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 by mid-2026.</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Context window is short-term memory; notes, logs, and git are long-term. Nothing survives a session unless written down.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WHAT TO WRITE</a:t>
            </a:r>
            <a:endParaRPr lang="en-US" sz="96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JOB TO RUN</a:t>
            </a:r>
            <a:endParaRPr lang="en-US" sz="96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role · task · context · format · examples</a:t>
            </a:r>
            <a:endParaRPr lang="en-US" sz="96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0A5B5A"/>
                </a:solidFill>
                <a:latin typeface="Calibri" pitchFamily="34" charset="0"/>
                <a:ea typeface="Calibri" pitchFamily="34" charset="-122"/>
                <a:cs typeface="Calibri" pitchFamily="34" charset="-120"/>
              </a:rPr>
              <a:t>all of that, PLUS: mission &amp; definition of done · environment &amp; file boundaries · allowed tools · process phases &amp; gates · autonomy rules · self-checks · deliverables &amp; logs</a:t>
            </a:r>
            <a:endParaRPr lang="en-US" sz="96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one response you read</a:t>
            </a:r>
            <a:endParaRPr lang="en-US" sz="96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actions + artifacts + a report with evidence</a:t>
            </a:r>
            <a:endParaRPr lang="en-US" sz="96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bad text — just re-prompt</a:t>
            </a:r>
            <a:endParaRPr lang="en-US" sz="96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96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reader and editor</a:t>
            </a:r>
            <a:endParaRPr lang="en-US" sz="96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delegator and reviewer at checkpoints</a:t>
            </a:r>
            <a:endParaRPr lang="en-US" sz="96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briefing a ghost-writer</a:t>
            </a:r>
            <a:endParaRPr lang="en-US" sz="96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work order for a contractor</a:t>
            </a:r>
            <a:endParaRPr lang="en-US" sz="9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&lt;role&gt;</a:t>
            </a:r>
            <a:endParaRPr lang="en-US" sz="95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persists across unsupervised decisions → behaviors only</a:t>
            </a:r>
            <a:endParaRPr lang="en-US" sz="95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&lt;mission&gt;</a:t>
            </a:r>
            <a:endParaRPr lang="en-US" sz="95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definition of done — the loop needs an exit condition</a:t>
            </a:r>
            <a:endParaRPr lang="en-US" sz="95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&lt;context&gt; + &lt;inputs&gt;</a:t>
            </a:r>
            <a:endParaRPr lang="en-US" sz="95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per-source register with grain &amp; trust — agents touch every source repeatedly</a:t>
            </a:r>
            <a:endParaRPr lang="en-US" sz="95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&lt;outputs&gt; + &lt;reporting&gt;</a:t>
            </a:r>
            <a:endParaRPr lang="en-US" sz="95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95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the filled brief</a:t>
            </a:r>
            <a:endParaRPr lang="en-US" sz="95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 worked run is the agentic few-shot</a:t>
            </a:r>
            <a:endParaRPr lang="en-US" sz="95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UNKNOWN → open items</a:t>
            </a:r>
            <a:endParaRPr lang="en-US" sz="95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not-knowing becomes a logged, owned item</a:t>
            </a:r>
            <a:endParaRPr lang="en-US" sz="95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gates + autonomy rules</a:t>
            </a:r>
            <a:endParaRPr lang="en-US" sz="95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scope control becomes checkpointed process</a:t>
            </a:r>
            <a:endParaRPr lang="en-US" sz="95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95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95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93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one goal, one audience, one deadline, “done looks like…”</a:t>
            </a:r>
            <a:endParaRPr lang="en-US" sz="93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93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93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93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93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93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93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93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non-negotiables: never invent data, versioned outputs, assumptions logged</a:t>
            </a:r>
            <a:endParaRPr lang="en-US" sz="93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definition of done as a checklist the agent must satisfy — and you can audit</a:t>
            </a:r>
            <a:endParaRPr lang="en-US" sz="93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exact shape of the final message: status, headline, evidence, open items</a:t>
            </a:r>
            <a:endParaRPr lang="en-US" sz="930" dirty="0"/>
          </a:p>
        </p:txBody>
      </p:sp>
      <p:sp>
        <p:nvSpPr>
          <p:cNvPr id="42" name="Shape 40"/>
          <p:cNvSpPr/>
          <p:nvPr/>
        </p:nvSpPr>
        <p:spPr>
          <a:xfrm>
            <a:off x="502920" y="5943600"/>
            <a:ext cx="11155680" cy="502920"/>
          </a:xfrm>
          <a:prstGeom prst="roundRect">
            <a:avLst>
              <a:gd name="adj" fmla="val 14545"/>
            </a:avLst>
          </a:prstGeom>
          <a:solidFill>
            <a:srgbClr val="E4F0EF"/>
          </a:solidFill>
          <a:ln/>
        </p:spPr>
      </p:sp>
      <p:sp>
        <p:nvSpPr>
          <p:cNvPr id="43" name="Shape 41"/>
          <p:cNvSpPr/>
          <p:nvPr/>
        </p:nvSpPr>
        <p:spPr>
          <a:xfrm>
            <a:off x="667512" y="6003036"/>
            <a:ext cx="384048" cy="384048"/>
          </a:xfrm>
          <a:prstGeom prst="ellipse">
            <a:avLst/>
          </a:prstGeom>
          <a:solidFill>
            <a:srgbClr val="0E7C7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2888"/>
            <a:ext cx="184343" cy="184343"/>
          </a:xfrm>
          <a:prstGeom prst="rect">
            <a:avLst/>
          </a:prstGeom>
        </p:spPr>
      </p:pic>
      <p:sp>
        <p:nvSpPr>
          <p:cNvPr id="45" name="Text 42"/>
          <p:cNvSpPr/>
          <p:nvPr/>
        </p:nvSpPr>
        <p:spPr>
          <a:xfrm>
            <a:off x="1216152" y="6016752"/>
            <a:ext cx="10213848" cy="35661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Grounding: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every block maps to vendor guidance — verifiable done-criteria, file boundaries, least-privilege tools, phased plans with approval, ask-before-irreversible, evidence over assertions.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read-only; hash and profile every input; parse with explicit types; fix nothing yet</a:t>
            </a:r>
            <a:endParaRPr lang="en-US" sz="93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one schema, ordered rules — each logged with rows affected; metrics defined as cards</a:t>
            </a:r>
            <a:endParaRPr lang="en-US" sz="93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93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93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93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any data is touched: the agent restates metrics, schema, assumptions — you confirm. Catches the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Reversible? proceed. Irreversible? ask.</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Edits in a scratch folder are reversible. Deleting, sending, publishing, overwriting a master — the prompt must say: stop and ask first.</a:t>
            </a:r>
            <a:endParaRPr lang="en-US" sz="1300" dirty="0"/>
          </a:p>
        </p:txBody>
      </p:sp>
      <p:sp>
        <p:nvSpPr>
          <p:cNvPr id="9" name="Shape 6"/>
          <p:cNvSpPr/>
          <p:nvPr/>
        </p:nvSpPr>
        <p:spPr>
          <a:xfrm>
            <a:off x="502920" y="2459736"/>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78608"/>
            <a:ext cx="219456" cy="219456"/>
          </a:xfrm>
          <a:prstGeom prst="rect">
            <a:avLst/>
          </a:prstGeom>
        </p:spPr>
      </p:pic>
      <p:sp>
        <p:nvSpPr>
          <p:cNvPr id="11" name="Text 7"/>
          <p:cNvSpPr/>
          <p:nvPr/>
        </p:nvSpPr>
        <p:spPr>
          <a:xfrm>
            <a:off x="1161288" y="2368296"/>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Least privilege</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300" dirty="0"/>
          </a:p>
        </p:txBody>
      </p:sp>
      <p:sp>
        <p:nvSpPr>
          <p:cNvPr id="12" name="Shape 8"/>
          <p:cNvSpPr/>
          <p:nvPr/>
        </p:nvSpPr>
        <p:spPr>
          <a:xfrm>
            <a:off x="502920" y="3392424"/>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511296"/>
            <a:ext cx="219456" cy="219456"/>
          </a:xfrm>
          <a:prstGeom prst="rect">
            <a:avLst/>
          </a:prstGeom>
        </p:spPr>
      </p:pic>
      <p:sp>
        <p:nvSpPr>
          <p:cNvPr id="14" name="Text 9"/>
          <p:cNvSpPr/>
          <p:nvPr/>
        </p:nvSpPr>
        <p:spPr>
          <a:xfrm>
            <a:off x="1161288" y="3300984"/>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Prompt injection is real</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 of that trifecta.</a:t>
            </a:r>
            <a:endParaRPr lang="en-US" sz="1300" dirty="0"/>
          </a:p>
        </p:txBody>
      </p:sp>
      <p:sp>
        <p:nvSpPr>
          <p:cNvPr id="15" name="Shape 10"/>
          <p:cNvSpPr/>
          <p:nvPr/>
        </p:nvSpPr>
        <p:spPr>
          <a:xfrm>
            <a:off x="502920" y="4325112"/>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443984"/>
            <a:ext cx="219456" cy="219456"/>
          </a:xfrm>
          <a:prstGeom prst="rect">
            <a:avLst/>
          </a:prstGeom>
        </p:spPr>
      </p:pic>
      <p:sp>
        <p:nvSpPr>
          <p:cNvPr id="17" name="Text 11"/>
          <p:cNvSpPr/>
          <p:nvPr/>
        </p:nvSpPr>
        <p:spPr>
          <a:xfrm>
            <a:off x="1161288" y="4233672"/>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Vet third-party “skills”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300" dirty="0"/>
          </a:p>
        </p:txBody>
      </p:sp>
      <p:sp>
        <p:nvSpPr>
          <p:cNvPr id="18" name="Shape 12"/>
          <p:cNvSpPr/>
          <p:nvPr/>
        </p:nvSpPr>
        <p:spPr>
          <a:xfrm>
            <a:off x="502920" y="5257800"/>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76672"/>
            <a:ext cx="219456" cy="219456"/>
          </a:xfrm>
          <a:prstGeom prst="rect">
            <a:avLst/>
          </a:prstGeom>
        </p:spPr>
      </p:pic>
      <p:sp>
        <p:nvSpPr>
          <p:cNvPr id="20" name="Text 13"/>
          <p:cNvSpPr/>
          <p:nvPr/>
        </p:nvSpPr>
        <p:spPr>
          <a:xfrm>
            <a:off x="1161288" y="5166360"/>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Demand evidence, not assertions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“Done” means: the check it ran, the output it got, the file re-opened and verified. Spot-check agent work like any new hire’s — trust grows with track record.</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502920" y="1600200"/>
            <a:ext cx="6766560" cy="3108960"/>
          </a:xfrm>
          <a:prstGeom prst="roundRect">
            <a:avLst>
              <a:gd name="adj" fmla="val 2353"/>
            </a:avLst>
          </a:prstGeom>
          <a:solidFill>
            <a:srgbClr val="E4F0EF"/>
          </a:solidFill>
          <a:ln/>
        </p:spPr>
      </p:sp>
      <p:sp>
        <p:nvSpPr>
          <p:cNvPr id="7" name="Text 5"/>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8" name="Shape 6"/>
          <p:cNvSpPr/>
          <p:nvPr/>
        </p:nvSpPr>
        <p:spPr>
          <a:xfrm>
            <a:off x="7543800" y="1600200"/>
            <a:ext cx="4114800" cy="3108960"/>
          </a:xfrm>
          <a:prstGeom prst="roundRect">
            <a:avLst>
              <a:gd name="adj" fmla="val 2353"/>
            </a:avLst>
          </a:prstGeom>
          <a:solidFill>
            <a:srgbClr val="F2F5F6"/>
          </a:solidFill>
          <a:ln/>
        </p:spPr>
      </p:sp>
      <p:sp>
        <p:nvSpPr>
          <p:cNvPr id="9" name="Text 7"/>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0" name="Text 8"/>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46</a:t>
            </a:r>
            <a:endParaRPr lang="en-US" sz="850" dirty="0"/>
          </a:p>
        </p:txBody>
      </p:sp>
      <p:sp>
        <p:nvSpPr>
          <p:cNvPr id="3" name="Text 1"/>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4" name="Text 2"/>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5" name="Text 3"/>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shared database — Notion, SharePoint list,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Project instructions, Claude Skills, Gems, Copilot agents: the prompt loads itself when the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CLAUDE.md / AGENTS.md / briefs in the repo, versioned in git, reviewed like code. Where agentic briefs live.</a:t>
            </a:r>
            <a:endParaRPr lang="en-US" sz="1250" dirty="0"/>
          </a:p>
        </p:txBody>
      </p:sp>
      <p:sp>
        <p:nvSpPr>
          <p:cNvPr id="21" name="Shape 14"/>
          <p:cNvSpPr/>
          <p:nvPr/>
        </p:nvSpPr>
        <p:spPr>
          <a:xfrm>
            <a:off x="7086600" y="1481328"/>
            <a:ext cx="4572000" cy="2834640"/>
          </a:xfrm>
          <a:prstGeom prst="roundRect">
            <a:avLst>
              <a:gd name="adj" fmla="val 2581"/>
            </a:avLst>
          </a:prstGeom>
          <a:solidFill>
            <a:srgbClr val="E4F0EF"/>
          </a:solidFill>
          <a:ln/>
        </p:spPr>
      </p:sp>
      <p:sp>
        <p:nvSpPr>
          <p:cNvPr id="22" name="Text 15"/>
          <p:cNvSpPr/>
          <p:nvPr/>
        </p:nvSpPr>
        <p:spPr>
          <a:xfrm>
            <a:off x="7333488" y="1664208"/>
            <a:ext cx="411480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promotion trigger</a:t>
            </a:r>
            <a:endParaRPr lang="en-US" sz="1400" dirty="0"/>
          </a:p>
        </p:txBody>
      </p:sp>
      <p:sp>
        <p:nvSpPr>
          <p:cNvPr id="23" name="Text 16"/>
          <p:cNvSpPr/>
          <p:nvPr/>
        </p:nvSpPr>
        <p:spPr>
          <a:xfrm>
            <a:off x="7333488" y="2103120"/>
            <a:ext cx="4114800" cy="2103120"/>
          </a:xfrm>
          <a:prstGeom prst="rect">
            <a:avLst/>
          </a:prstGeom>
          <a:noFill/>
          <a:ln/>
        </p:spPr>
        <p:txBody>
          <a:bodyPr wrap="square" lIns="0" tIns="0" rIns="0" bIns="0" rtlCol="0" anchor="ctr"/>
          <a:lstStyle/>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Anthropic’s rule of thumb: the moment you’ve explained the same task more than once, it’s time to package it.</a:t>
            </a:r>
            <a:endParaRPr lang="en-US" sz="1150" dirty="0"/>
          </a:p>
          <a:p>
            <a:pPr indent="0" marL="0">
              <a:lnSpc>
                <a:spcPct val="112000"/>
              </a:lnSpc>
              <a:buNone/>
            </a:pPr>
            <a:endParaRPr lang="en-US" sz="1150" dirty="0"/>
          </a:p>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Refined an approach you want repeated? Package it. Quality depends on reference material? Package it with the material.</a:t>
            </a:r>
            <a:endParaRPr lang="en-US" sz="1150" dirty="0"/>
          </a:p>
        </p:txBody>
      </p:sp>
      <p:sp>
        <p:nvSpPr>
          <p:cNvPr id="24" name="Shape 17"/>
          <p:cNvSpPr/>
          <p:nvPr/>
        </p:nvSpPr>
        <p:spPr>
          <a:xfrm>
            <a:off x="7086600" y="4480560"/>
            <a:ext cx="4572000" cy="1554480"/>
          </a:xfrm>
          <a:prstGeom prst="roundRect">
            <a:avLst>
              <a:gd name="adj" fmla="val 4706"/>
            </a:avLst>
          </a:prstGeom>
          <a:solidFill>
            <a:srgbClr val="F2F5F6"/>
          </a:solidFill>
          <a:ln/>
        </p:spPr>
      </p:sp>
      <p:sp>
        <p:nvSpPr>
          <p:cNvPr id="25" name="Text 18"/>
          <p:cNvSpPr/>
          <p:nvPr/>
        </p:nvSpPr>
        <p:spPr>
          <a:xfrm>
            <a:off x="7333488" y="4645152"/>
            <a:ext cx="4114800" cy="128016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232A31"/>
                </a:solidFill>
                <a:latin typeface="Calibri" pitchFamily="34" charset="0"/>
                <a:ea typeface="Calibri" pitchFamily="34" charset="-122"/>
                <a:cs typeface="Calibri" pitchFamily="34" charset="-120"/>
              </a:rPr>
              <a:t>A familiar discipline: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a prompt library is run like controlled work instructions — a name, an owner, a revision, a review date. Same muscle, lighter weight.</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3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3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3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3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The team library database: name · purpose · template · owner · version + change note · models tested · last tested · example output · status</a:t>
            </a:r>
            <a:endParaRPr lang="en-US" sz="103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CLAUDE.md / AGENTS.md at the root · briefs and skills in versioned folders · reviewed like code — this training’s repo is the worked example</a:t>
            </a:r>
            <a:endParaRPr lang="en-US" sz="1030" dirty="0"/>
          </a:p>
        </p:txBody>
      </p:sp>
      <p:sp>
        <p:nvSpPr>
          <p:cNvPr id="24" name="Shape 22"/>
          <p:cNvSpPr/>
          <p:nvPr/>
        </p:nvSpPr>
        <p:spPr>
          <a:xfrm>
            <a:off x="502920" y="6080760"/>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117336"/>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217188"/>
            <a:ext cx="184343" cy="184343"/>
          </a:xfrm>
          <a:prstGeom prst="rect">
            <a:avLst/>
          </a:prstGeom>
        </p:spPr>
      </p:pic>
      <p:sp>
        <p:nvSpPr>
          <p:cNvPr id="27" name="Text 24"/>
          <p:cNvSpPr/>
          <p:nvPr/>
        </p:nvSpPr>
        <p:spPr>
          <a:xfrm>
            <a:off x="1216152" y="615391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Test on 3–5 real cases (one edge case) before marking approved; re-test after model changes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502920" y="1600200"/>
            <a:ext cx="11155680" cy="2926080"/>
          </a:xfrm>
          <a:prstGeom prst="roundRect">
            <a:avLst>
              <a:gd name="adj" fmla="val 2500"/>
            </a:avLst>
          </a:prstGeom>
          <a:solidFill>
            <a:srgbClr val="E4F0EF"/>
          </a:solidFill>
          <a:ln/>
        </p:spPr>
      </p:sp>
      <p:sp>
        <p:nvSpPr>
          <p:cNvPr id="7" name="Text 5"/>
          <p:cNvSpPr/>
          <p:nvPr/>
        </p:nvSpPr>
        <p:spPr>
          <a:xfrm>
            <a:off x="822960" y="1920240"/>
            <a:ext cx="10424160" cy="237744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8" name="Text 6"/>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98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Anatomy beats inspiration: Role · Task · Context · Format · Examples. Every vendor teaches the same recipe.</a:t>
            </a:r>
            <a:endParaRPr lang="en-US" sz="98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context window is a desk, not a filing cabinet: long documents at the top, question at the end, fresh chat per topic.</a:t>
            </a:r>
            <a:endParaRPr lang="en-US" sz="98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98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98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98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98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 rules.</a:t>
            </a:r>
            <a:endParaRPr lang="en-US" sz="98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Gates catch errors at the cheapest point: definitions before data, reconciliation before analysis, headlines before rendering.</a:t>
            </a:r>
            <a:endParaRPr lang="en-US" sz="98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98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1115568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618488"/>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1 · Anatomy rebuild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prompt you actually used last week. Rebuild it with the five-block anatomy (G-templates as reference). Run both versions; compare outputs side by side. Then ask the model to improve your rebuilt prompt — metaprompting — and run that too.</a:t>
            </a:r>
            <a:endParaRPr lang="en-US" sz="1350" dirty="0"/>
          </a:p>
        </p:txBody>
      </p:sp>
      <p:sp>
        <p:nvSpPr>
          <p:cNvPr id="10" name="Text 7"/>
          <p:cNvSpPr/>
          <p:nvPr/>
        </p:nvSpPr>
        <p:spPr>
          <a:xfrm>
            <a:off x="9052560" y="1618488"/>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000" dirty="0"/>
          </a:p>
        </p:txBody>
      </p:sp>
      <p:sp>
        <p:nvSpPr>
          <p:cNvPr id="11" name="Shape 8"/>
          <p:cNvSpPr/>
          <p:nvPr/>
        </p:nvSpPr>
        <p:spPr>
          <a:xfrm>
            <a:off x="502920" y="3044952"/>
            <a:ext cx="11155680" cy="1389888"/>
          </a:xfrm>
          <a:prstGeom prst="roundRect">
            <a:avLst>
              <a:gd name="adj" fmla="val 5263"/>
            </a:avLst>
          </a:prstGeom>
          <a:solidFill>
            <a:srgbClr val="F2F5F6"/>
          </a:solidFill>
          <a:ln/>
        </p:spPr>
      </p:sp>
      <p:sp>
        <p:nvSpPr>
          <p:cNvPr id="12" name="Shape 9"/>
          <p:cNvSpPr/>
          <p:nvPr/>
        </p:nvSpPr>
        <p:spPr>
          <a:xfrm>
            <a:off x="777240" y="3447288"/>
            <a:ext cx="548640" cy="548640"/>
          </a:xfrm>
          <a:prstGeom prst="ellipse">
            <a:avLst/>
          </a:prstGeom>
          <a:solidFill>
            <a:srgbClr val="0E7C7B"/>
          </a:solidFill>
          <a:ln/>
        </p:spPr>
      </p:sp>
      <p:pic>
        <p:nvPicPr>
          <p:cNvPr id="13"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4" name="Text 10"/>
          <p:cNvSpPr/>
          <p:nvPr/>
        </p:nvSpPr>
        <p:spPr>
          <a:xfrm>
            <a:off x="1508760" y="3154680"/>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2 · Blind review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document or plan you own. Paste it as “a colleague’s draft” and run G3’s critique template: case against, three weakest points, what evidence would change the verdict. Do NOT hint at your view.</a:t>
            </a:r>
            <a:endParaRPr lang="en-US" sz="1350" dirty="0"/>
          </a:p>
        </p:txBody>
      </p:sp>
      <p:sp>
        <p:nvSpPr>
          <p:cNvPr id="15" name="Text 11"/>
          <p:cNvSpPr/>
          <p:nvPr/>
        </p:nvSpPr>
        <p:spPr>
          <a:xfrm>
            <a:off x="9052560" y="3154680"/>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000" dirty="0"/>
          </a:p>
        </p:txBody>
      </p:sp>
      <p:sp>
        <p:nvSpPr>
          <p:cNvPr id="16" name="Shape 12"/>
          <p:cNvSpPr/>
          <p:nvPr/>
        </p:nvSpPr>
        <p:spPr>
          <a:xfrm>
            <a:off x="502920" y="4581144"/>
            <a:ext cx="11155680" cy="1389888"/>
          </a:xfrm>
          <a:prstGeom prst="roundRect">
            <a:avLst>
              <a:gd name="adj" fmla="val 5263"/>
            </a:avLst>
          </a:prstGeom>
          <a:solidFill>
            <a:srgbClr val="F2F5F6"/>
          </a:solidFill>
          <a:ln/>
        </p:spPr>
      </p:sp>
      <p:sp>
        <p:nvSpPr>
          <p:cNvPr id="17" name="Shape 13"/>
          <p:cNvSpPr/>
          <p:nvPr/>
        </p:nvSpPr>
        <p:spPr>
          <a:xfrm>
            <a:off x="777240" y="4983480"/>
            <a:ext cx="548640" cy="548640"/>
          </a:xfrm>
          <a:prstGeom prst="ellipse">
            <a:avLst/>
          </a:prstGeom>
          <a:solidFill>
            <a:srgbClr val="0E7C7B"/>
          </a:solidFill>
          <a:ln/>
        </p:spPr>
      </p:sp>
      <p:pic>
        <p:nvPicPr>
          <p:cNvPr id="18"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9" name="Text 14"/>
          <p:cNvSpPr/>
          <p:nvPr/>
        </p:nvSpPr>
        <p:spPr>
          <a:xfrm>
            <a:off x="1508760" y="4690872"/>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3 · First mission brief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You don’t need an agent to run it today: writing the brief is the skill.</a:t>
            </a:r>
            <a:endParaRPr lang="en-US" sz="1350" dirty="0"/>
          </a:p>
        </p:txBody>
      </p:sp>
      <p:sp>
        <p:nvSpPr>
          <p:cNvPr id="20" name="Text 15"/>
          <p:cNvSpPr/>
          <p:nvPr/>
        </p:nvSpPr>
        <p:spPr>
          <a:xfrm>
            <a:off x="9052560" y="4690872"/>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sixteen terms that matter</a:t>
            </a:r>
            <a:endParaRPr lang="en-US" sz="3000" dirty="0"/>
          </a:p>
        </p:txBody>
      </p:sp>
      <p:sp>
        <p:nvSpPr>
          <p:cNvPr id="6" name="Text 4"/>
          <p:cNvSpPr/>
          <p:nvPr/>
        </p:nvSpPr>
        <p:spPr>
          <a:xfrm>
            <a:off x="502920" y="1444752"/>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050" dirty="0"/>
          </a:p>
        </p:txBody>
      </p:sp>
      <p:sp>
        <p:nvSpPr>
          <p:cNvPr id="7" name="Text 5"/>
          <p:cNvSpPr/>
          <p:nvPr/>
        </p:nvSpPr>
        <p:spPr>
          <a:xfrm>
            <a:off x="6172200" y="1444752"/>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050" dirty="0"/>
          </a:p>
        </p:txBody>
      </p:sp>
      <p:sp>
        <p:nvSpPr>
          <p:cNvPr id="8" name="Text 6"/>
          <p:cNvSpPr/>
          <p:nvPr/>
        </p:nvSpPr>
        <p:spPr>
          <a:xfrm>
            <a:off x="502920" y="2029968"/>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050" dirty="0"/>
          </a:p>
        </p:txBody>
      </p:sp>
      <p:sp>
        <p:nvSpPr>
          <p:cNvPr id="9" name="Text 7"/>
          <p:cNvSpPr/>
          <p:nvPr/>
        </p:nvSpPr>
        <p:spPr>
          <a:xfrm>
            <a:off x="6172200" y="2029968"/>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050" dirty="0"/>
          </a:p>
        </p:txBody>
      </p:sp>
      <p:sp>
        <p:nvSpPr>
          <p:cNvPr id="10" name="Text 8"/>
          <p:cNvSpPr/>
          <p:nvPr/>
        </p:nvSpPr>
        <p:spPr>
          <a:xfrm>
            <a:off x="502920" y="2615184"/>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050" dirty="0"/>
          </a:p>
        </p:txBody>
      </p:sp>
      <p:sp>
        <p:nvSpPr>
          <p:cNvPr id="11" name="Text 9"/>
          <p:cNvSpPr/>
          <p:nvPr/>
        </p:nvSpPr>
        <p:spPr>
          <a:xfrm>
            <a:off x="6172200" y="2615184"/>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050" dirty="0"/>
          </a:p>
        </p:txBody>
      </p:sp>
      <p:sp>
        <p:nvSpPr>
          <p:cNvPr id="12" name="Text 10"/>
          <p:cNvSpPr/>
          <p:nvPr/>
        </p:nvSpPr>
        <p:spPr>
          <a:xfrm>
            <a:off x="502920" y="3200400"/>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050" dirty="0"/>
          </a:p>
        </p:txBody>
      </p:sp>
      <p:sp>
        <p:nvSpPr>
          <p:cNvPr id="13" name="Text 11"/>
          <p:cNvSpPr/>
          <p:nvPr/>
        </p:nvSpPr>
        <p:spPr>
          <a:xfrm>
            <a:off x="6172200" y="3200400"/>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teaching by 3–5 examples in the prompt</a:t>
            </a:r>
            <a:endParaRPr lang="en-US" sz="1050" dirty="0"/>
          </a:p>
        </p:txBody>
      </p:sp>
      <p:sp>
        <p:nvSpPr>
          <p:cNvPr id="14" name="Text 12"/>
          <p:cNvSpPr/>
          <p:nvPr/>
        </p:nvSpPr>
        <p:spPr>
          <a:xfrm>
            <a:off x="502920" y="3785616"/>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050" dirty="0"/>
          </a:p>
        </p:txBody>
      </p:sp>
      <p:sp>
        <p:nvSpPr>
          <p:cNvPr id="15" name="Text 13"/>
          <p:cNvSpPr/>
          <p:nvPr/>
        </p:nvSpPr>
        <p:spPr>
          <a:xfrm>
            <a:off x="6172200" y="3785616"/>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asking the model to critique or rewrite your prompt</a:t>
            </a:r>
            <a:endParaRPr lang="en-US" sz="1050" dirty="0"/>
          </a:p>
        </p:txBody>
      </p:sp>
      <p:sp>
        <p:nvSpPr>
          <p:cNvPr id="16" name="Text 14"/>
          <p:cNvSpPr/>
          <p:nvPr/>
        </p:nvSpPr>
        <p:spPr>
          <a:xfrm>
            <a:off x="502920" y="4370832"/>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050" dirty="0"/>
          </a:p>
        </p:txBody>
      </p:sp>
      <p:sp>
        <p:nvSpPr>
          <p:cNvPr id="17" name="Text 15"/>
          <p:cNvSpPr/>
          <p:nvPr/>
        </p:nvSpPr>
        <p:spPr>
          <a:xfrm>
            <a:off x="6172200" y="4370832"/>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050" dirty="0"/>
          </a:p>
        </p:txBody>
      </p:sp>
      <p:sp>
        <p:nvSpPr>
          <p:cNvPr id="18" name="Text 16"/>
          <p:cNvSpPr/>
          <p:nvPr/>
        </p:nvSpPr>
        <p:spPr>
          <a:xfrm>
            <a:off x="502920" y="4956048"/>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050" dirty="0"/>
          </a:p>
        </p:txBody>
      </p:sp>
      <p:sp>
        <p:nvSpPr>
          <p:cNvPr id="19" name="Text 17"/>
          <p:cNvSpPr/>
          <p:nvPr/>
        </p:nvSpPr>
        <p:spPr>
          <a:xfrm>
            <a:off x="6172200" y="4956048"/>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050" dirty="0"/>
          </a:p>
        </p:txBody>
      </p:sp>
      <p:sp>
        <p:nvSpPr>
          <p:cNvPr id="20" name="Text 18"/>
          <p:cNvSpPr/>
          <p:nvPr/>
        </p:nvSpPr>
        <p:spPr>
          <a:xfrm>
            <a:off x="502920" y="5541264"/>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050" dirty="0"/>
          </a:p>
        </p:txBody>
      </p:sp>
      <p:sp>
        <p:nvSpPr>
          <p:cNvPr id="21" name="Text 19"/>
          <p:cNvSpPr/>
          <p:nvPr/>
        </p:nvSpPr>
        <p:spPr>
          <a:xfrm>
            <a:off x="6172200" y="5541264"/>
            <a:ext cx="5440680" cy="548640"/>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Anthropic — Prompting best practices; long-context tips; reduce-hallucinations; Building Effective Agents; Claude Code best practices; context engineering</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Google — Gemini for Workspace prompting guides (Persona-Task-Context-Format)</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Microsoft — Copilot prompt guidance (Goal-Context-Source-Expectations); Copilot agents docs</a:t>
            </a:r>
            <a:endParaRPr lang="en-US" sz="9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9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OWASP LLM Top 10 (2025) · UK NCSC agentic-AI guidance · Cisco AI Defense (skills audit) · Harmonic Security (shadow-AI prompts)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Vendor launch posts &amp; major-outlet reporting (Reuters, CNBC, TechCrunch, Bloomberg) for all product dates</a:t>
            </a:r>
            <a:endParaRPr lang="en-US" sz="9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Mollick — Co-Intelligence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working-with-AI mindset book; read first</a:t>
            </a:r>
            <a:endParaRPr lang="en-US" sz="105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Kneusel — How AI Works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concepts of Part 1, gently and rigorously</a:t>
            </a:r>
            <a:endParaRPr lang="en-US" sz="105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five principles, applied — closest to Parts 3–4</a:t>
            </a:r>
            <a:endParaRPr lang="en-US" sz="105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05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Huyen — AI Engineering (O’Reilly 2025)</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RAG, agents, evaluation — the engineering behind Part 5</a:t>
            </a:r>
            <a:endParaRPr lang="en-US" sz="105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visual internals: tokens, embeddings, transformers</a:t>
            </a:r>
            <a:endParaRPr lang="en-US" sz="105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56</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1051560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sp>
        <p:nvSpPr>
          <p:cNvPr id="5" name="Text 3"/>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2026-08-24T01:38:50Z</dcterms:created>
  <dcterms:modified xsi:type="dcterms:W3CDTF">2026-08-24T01:38:50Z</dcterms:modified>
</cp:coreProperties>
</file>