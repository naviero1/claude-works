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Character-card ART slots reserved: when the owner’s four generated images land in notes/intake/, they replace the icon circles (R16 workflow).
v1.6: the four kinds became named characters (owner: more engaging). Teaching frame grounded in r10/r2/r14 — not claimed as academic taxonomy.
OpenAI 2025 = “Why language models hallucinate” (arXiv:2509.04664).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DRAWING: the whole hospital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“Agents that DO. Now the specialists that MAKE — next slide.”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“not the hype list — the USAGE list. Three tiers, and the tier names are the insight.”
2) Tier 1 — the defaults: ChatGPT is the one people CHOSE (900M weekly users, ~54% of all chatbot visits); Gemini, Copilot and Meta AI are enormous partly because they are already INSIDE Gmail, Office, and WhatsApp. Usage ≠ preference — Copilot is #3 with US adults yet a rounding error in destination-site traffic: people use what IT already approved.
3) Tier 2 — chosen for the job (the teal row): Claude for writing and coding (fastest growth of the majors — visits up ~9× in a year); Perplexity for answers with receipts; Gemini Notebook when the answers must come from YOUR documents; DeepSeek free/open with a heavy Asia skew.
4) Tier 3 — the sleeper tier: Canva, CapCut, Notion, Grammarly — a chunk of “AI adoption” is tools people already had growing AI features. Some of this room are AI users who never called it that.
5) Stats band: a majority of US employees now use AI at work; the jobs are writing and research; and 86% treat the output as a FIRST DRAFT — the healthiest one-line usage policy ever measured.
6) The Reddit wisdom, clearly labeled as anecdotal: heavy users don’t pick ONE tool — they run a small STACK (daily driver + a writer + a searcher). Direction, not data.
TRY IT (spoken, not numbered) —
The find-more move never goes stale: “Search the web: what are the best current tools for [my task], and which are enterprise-safe?”
BRIDGE —
“That’s the landscape. Part 3 — the craft itself.”
ACRONYMS —
MAU/WAU = monthly/weekly active users. Gemini Notebook = the renamed NotebookLM (Jul 2026).
CONTENT —
v1.7: replaces the specialist shelf (owner request: most-used tools + why, researched via Reddit signals AND measured sources). All numbers sourced in notes/research/r24_most_used_tools.md (researched Sep 10, 2026): a16z Top-100 6th ed. (Mar 2026, Jan-2026 data) · Similarweb shares May 2026 (ChatGPT 53.9%, Gemini 27.9%, Claude 9.2% +855% YoY, DeepSeek 4.1%, Copilot/Perplexity 1.3%) · Sensor Tower Jun 2026 · Pew Feb 2026 (ChatGPT 44% of US adults, Gemini 24%, Copilot 17%) · Gallup May 2026 (52% work use, 15% daily; writing 51%, research 49%) · Microsoft Work Trend Index 2026 (86% first-draft) · Edison/SSRS May 2026 (65% of Americans weekly).
Hype-vs-usage gaps for questions: Perplexity = famous but 1.3% of visits · Midjourney fell to #46 mobile · companion apps are quietly huge (Character.AI #7 web, 15+ minute sessions) · China’s Doubao/Quark/Kimi are enormous and invisible to US offices.
Meta AI: ~1B monthly (Meta, May 2025 — its last hard number); lives inside WhatsApp/Instagram rather than as an app people choose.
Displaced specialist-shelf answers (kept for questions, evidence in r12): images-for-work safe lane = Adobe Firefly (licensed training; paid plans include indemnification) · meetings = native Teams/Zoom first, Granola best-in-class (consent policy applies) · decks = Gamma · apps-without-code = Lovable · voice/translation = ElevenLabs · DeepL · video = Veo 3.1 (Sora app shut down Apr 2026 — never build a process on a consumer app).
Reddit signal is SECONDARY-SOURCED (Reddit blocks crawlers; roundups of subreddit consensus, Aug–Sep 2026) — always label it anecdotal.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first,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later this part.
3) RIGHT card: the same body written out — read it top to bottom as ONE continuous prompt (~85 words, under two minutes to write).
4) The amber line — owner-requested and worth saying twice: YOUR INDUSTRY IS CONTEXT. “We’re a mid-size electronics manufacturer” changes every answer downstream; people constantly assume the AI knows their world. It doesn’t until you say so.
5) Teal band: ~21 words vs the nine people type.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seven techniques that cover almost everything.”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 say the purpose plainly (owner request): “the elements are what a prompt IS; the techniques are what you DO with them. Seven techniques cover almost everything — four now, three process moves next slide. Each card has a line you can steal verbatim.”
2) Per card: name the technique, then read the Consolas example line ALOUD — the examples are the teaching (owner request: a concrete line for each).
3) On 4, remind: the Out’s numbers were two slides back — half the invented answers, one sentence.
4) Teal band: nothing new — these are the elements applied.
BRIDGE —
“Three process moves — and one famous retirement.”
ACRONYMS —
none new on this slide.
CONTENT —
v1.5: split into two slides with a verbatim example per technique (owner request).
v1.7: technique 3 de-programmed (owner: “they should be prompting, not programming”) — the XML/tag idiom moved to notes as the power-user variant: same principle, angle-bracket fences, favored by vendor guides for heavy documents; a plain divider does the everyday job. Evidence: same-content different-wrapper swings up to 40% (He et al. 2024) — separation is a real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purpose first: “techniques 1–4 improved one prompt; these three manage a whole JOB — splitting it, checking it, and improving the prompt itself.” Then same rhythm: name the move, read the Consolas line aloud.
2) On 6, say the hazard number: asking “are you sure?” with no criteria made GPT-4 DROP from 95.5% to 89% — a named checklist is what works.
3) On 7 — the owner’s point, say it plainly: sometimes the simplest solution is not writing the prompt at all — bullet what you want and let the AI draft it. Every vendor ships an official prompt improver; optimizer-written prompts beat human ones by up to 50% on hard benchmarks. Draft with it, approve with judgment.
4) Amber card: the famous retirement — “think step by step” — resolved two slides ahead.
BRIDGE —
“Which of these survive scrutiny? The evidence corner.”
ACRONYMS —
none new on this slide.
CONTENT —
Evidence (r15): self-correction without external signal degrades (Huang et al. ICLR 2024: GPT-4 GSM8K 95.5→89.0; the CommonSenseQA 75.8→38.1 collapse was GPT-3.5-Turbo — cite it to that model); criteria-anchored verification works (CoVe, ACL 2024: precision 0.17→0.32); metaprompting gains (OPRO ICLR 2024: up to +8% GSM8K, +50% BBH; GEPA 2025 beats RL fine-tuning).
Chaining = Anthropic guidance (“still useful when you need to inspect intermediate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step cards: draft → inspect → refine → standardize — and point at the PDCA tags: this is Plan-Do-Check-Act wearing prompt clothes. NEW: each card now names which toolkit moves live inside it — the toolkit isn’t a separate list; it’s what each PDCA step is DONE WITH. (A fuller toolkit-under-PDCA redesign is queued with the owner.)
2) At INSPECT, gesture right: the diagnosis grid is the Check step — name the failed element, fix that one; iteration stops being random retyping.
3) At STANDARDIZE, say the Toyota phrase: standardized work — lock in the better way, then improve the standard. That is Part 6’s whole story.
4) Amber band — point at the WHEEL (P→D→C→A, forever), the Toyota mark, and the Deming card: Deming is the American quality pioneer whose cycle Toyota built its production system around — this room already runs PDCA on processes; now run it on prompts. The credential: the Lean Enterprise Institute (the Deming/Toyota home turf) published “Prompt, Do, Check, Act: the new PDCA” in May 2026. Their line: the people who get the most from these tools are the ones willing to run the loop a few more times.
5) Anthropic’s golden rule, spoken: show your prompt to a colleague with minimal context — if they’d be confused, the model will be too.
BRIDGE —
“One rep to cement it — then the playbook.”
ACRONYMS —
PDCA = Plan-Do-Check-Act — the Deming cycle, core of Toyota-style continuous improvement (kaizen).
gauge R&amp;R = Gauge Repeatability &amp; Reproducibility — a tested template kills prompt-to-prompt variation the way a calibrated gauge kills measurement variation.
CONTENT —
v1.6: PDCA wheel drawn + Toyota mark + Deming named card added (owner request; a public-domain-clear Deming photo wasn’t confirmed, so the named card stands in — swap in a photo only with a verified license).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slide is INSTRUCTIONS ONLY (owner request) — the 60-word practice report lives in tab EX-Rebuild with both prompts; everyone works the same material from the workbook.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5) Only then reveal the amber presenter answer.
6) Skip freely if behind — the playbook walkthroughs also exercise the elements.
ACRONYMS —
Q2 = second quarter.
CONTENT —
v1.7: the on-slide report box removed (owner: concentrate on the instructions); the report + both prompts live in tab EX-Rebuild, and the steps point there. The rep still runs as two R10 steps, baseline → upgrade, so the contrast is felt, not described.
The excerpt is fictional and consistent with the practice dataset’s world (sites, suppliers,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Teal band: every block maps to published vendor guidance.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demand evidence, not assertions — spot-check agent work like a new hire’s. 5) Bridge: “supervision costs effort — next slide is where agentic prompting pays it back.”
ACRONYMS — NCSC = (UK) National Cyber Security Centre. CVE = Common Vulnerabilities and Exposures — the public registry of security flaws.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rungs 1→5 down the left side: one line on what each is, one on when to climb. 2) Right top card: the promotion trigger — say Anthropic’s rule: “explained the same task more than once? Package it.” 3) Right bottom card: the familiar discipline — controlled work instructions, lighter weight. 4) Land the expectation: “most of you should live at rungs 2–3 within a month; rung 5 is where Part 5’s briefs live.” 5)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test on 3–5 real cases including an edge case, re-test after model changes.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Bridge: “three exercises to make it stick.”
ACRONYMS — none new on this slide.
CONTENT —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on the right of each card — it is the motivation. 3) Set the share-back: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nineteen were used in context during the training (taxonomy added in v1.2; the two ladders added in v1.5 to disambiguate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Last sentence: where everything lives, and bring template improvements to the next session. 4) Thank them — then stop talking; resist the recap urge.
ACRONYMS — none on this slide.
CONTENT — Close by connecting to the previous training’s habit line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2.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1.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slideLayout" Target="../slideLayouts/slideLayout1.xml"/><Relationship Id="rId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517136"/>
            <a:ext cx="5577840" cy="1828800"/>
          </a:xfrm>
          <a:prstGeom prst="roundRect">
            <a:avLst>
              <a:gd name="adj" fmla="val 4000"/>
            </a:avLst>
          </a:prstGeom>
          <a:solidFill>
            <a:srgbClr val="E4F0EF"/>
          </a:solidFill>
          <a:ln/>
        </p:spPr>
      </p:sp>
      <p:sp>
        <p:nvSpPr>
          <p:cNvPr id="12" name="Shape 9"/>
          <p:cNvSpPr/>
          <p:nvPr/>
        </p:nvSpPr>
        <p:spPr>
          <a:xfrm>
            <a:off x="649224" y="463600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731106"/>
            <a:ext cx="175565" cy="175565"/>
          </a:xfrm>
          <a:prstGeom prst="rect">
            <a:avLst/>
          </a:prstGeom>
        </p:spPr>
      </p:pic>
      <p:sp>
        <p:nvSpPr>
          <p:cNvPr id="14" name="Shape 10"/>
          <p:cNvSpPr/>
          <p:nvPr/>
        </p:nvSpPr>
        <p:spPr>
          <a:xfrm>
            <a:off x="1106424" y="4663440"/>
            <a:ext cx="1188720" cy="310896"/>
          </a:xfrm>
          <a:prstGeom prst="roundRect">
            <a:avLst>
              <a:gd name="adj" fmla="val 23529"/>
            </a:avLst>
          </a:prstGeom>
          <a:solidFill>
            <a:srgbClr val="0E7C7B"/>
          </a:solidFill>
          <a:ln/>
        </p:spPr>
      </p:sp>
      <p:sp>
        <p:nvSpPr>
          <p:cNvPr id="15" name="Text 11"/>
          <p:cNvSpPr/>
          <p:nvPr/>
        </p:nvSpPr>
        <p:spPr>
          <a:xfrm>
            <a:off x="1106424" y="467258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672584"/>
            <a:ext cx="342900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Two modes, felt — opens your course log</a:t>
            </a:r>
            <a:endParaRPr lang="en-US" sz="1050" dirty="0"/>
          </a:p>
        </p:txBody>
      </p:sp>
      <p:sp>
        <p:nvSpPr>
          <p:cNvPr id="17" name="Text 13"/>
          <p:cNvSpPr/>
          <p:nvPr/>
        </p:nvSpPr>
        <p:spPr>
          <a:xfrm>
            <a:off x="685800" y="5029200"/>
            <a:ext cx="5212080" cy="950976"/>
          </a:xfrm>
          <a:prstGeom prst="rect">
            <a:avLst/>
          </a:prstGeom>
          <a:noFill/>
          <a:ln/>
        </p:spPr>
        <p:txBody>
          <a:bodyPr wrap="square" lIns="0" tIns="0" rIns="0" bIns="0" rtlCol="0" anchor="t"/>
          <a:lstStyle/>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810" i="1" dirty="0">
                <a:solidFill>
                  <a:srgbClr val="46545F"/>
                </a:solidFill>
                <a:latin typeface="Calibri" pitchFamily="34" charset="0"/>
                <a:ea typeface="Calibri" pitchFamily="34" charset="-122"/>
                <a:cs typeface="Calibri" pitchFamily="34" charset="-120"/>
              </a:rPr>
              <a:t>generative mode — it writes instantly, guessing every detail it doesn’t know.</a:t>
            </a:r>
            <a:endParaRPr lang="en-US" sz="860" dirty="0"/>
          </a:p>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seed of delegate mode — the AI turns around and interviews YOU.</a:t>
            </a:r>
            <a:endParaRPr lang="en-US" sz="860" dirty="0"/>
          </a:p>
        </p:txBody>
      </p:sp>
      <p:sp>
        <p:nvSpPr>
          <p:cNvPr id="18" name="Text 14"/>
          <p:cNvSpPr/>
          <p:nvPr/>
        </p:nvSpPr>
        <p:spPr>
          <a:xfrm>
            <a:off x="685800" y="6053328"/>
            <a:ext cx="521208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80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Course Workbook — every exercise, copy-paste ready</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13-template prompt library + Template Creator</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Taxonomy reference + one-page cheat sheet</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The Do / Don’t / Expired playbook one-pager</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Team conventions for storing &amp; versioning prompts</a:t>
            </a:r>
            <a:endParaRPr lang="en-US" sz="1000" dirty="0"/>
          </a:p>
        </p:txBody>
      </p:sp>
      <p:sp>
        <p:nvSpPr>
          <p:cNvPr id="27" name="Text 22"/>
          <p:cNvSpPr/>
          <p:nvPr/>
        </p:nvSpPr>
        <p:spPr>
          <a:xfrm>
            <a:off x="6400800" y="5925312"/>
            <a:ext cx="5257800" cy="45720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This course teaches the text wing. Image, video and audio prompting have their own dials — same discipline, different controls; with enough interest, that becomes its own training.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1950s–1990s · symbolic AI, expert systems</a:t>
            </a:r>
            <a:endParaRPr lang="en-US" sz="82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if…?</a:t>
            </a:r>
            <a:endParaRPr lang="en-US" sz="65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then A</a:t>
            </a:r>
            <a:endParaRPr lang="en-US" sz="65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else B</a:t>
            </a:r>
            <a:endParaRPr lang="en-US" sz="65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94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86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1990s–2010s · machine learning, neural networks</a:t>
            </a:r>
            <a:endParaRPr lang="en-US" sz="82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a:off x="3968496" y="3044952"/>
            <a:ext cx="777240" cy="-301752"/>
          </a:xfrm>
          <a:prstGeom prst="line">
            <a:avLst/>
          </a:prstGeom>
          <a:noFill/>
          <a:ln w="11430">
            <a:solidFill>
              <a:srgbClr val="DCE3E6"/>
            </a:solidFill>
            <a:prstDash val="solid"/>
          </a:ln>
        </p:spPr>
      </p:sp>
      <p:sp>
        <p:nvSpPr>
          <p:cNvPr id="32" name="Shape 28"/>
          <p:cNvSpPr/>
          <p:nvPr/>
        </p:nvSpPr>
        <p:spPr>
          <a:xfrm>
            <a:off x="3968496" y="3044952"/>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a:off x="4882896" y="2944368"/>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94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86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2017– · transformers, LLMs</a:t>
            </a:r>
            <a:endParaRPr lang="en-US" sz="82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a:t>
            </a:r>
            <a:endParaRPr lang="en-US" sz="65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audit</a:t>
            </a:r>
            <a:endParaRPr lang="en-US" sz="65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is</a:t>
            </a:r>
            <a:endParaRPr lang="en-US" sz="65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t>
            </a:r>
            <a:endParaRPr lang="en-US" sz="7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94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86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2024– · reasoning models, tool use</a:t>
            </a:r>
            <a:endParaRPr lang="en-US" sz="82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PLAN</a:t>
            </a:r>
            <a:endParaRPr lang="en-US" sz="65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ACT</a:t>
            </a:r>
            <a:endParaRPr lang="en-US" sz="65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CHECK</a:t>
            </a:r>
            <a:endParaRPr lang="en-US" sz="65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94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86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Months to reach 100 million users — shorter bar = faster</a:t>
            </a:r>
            <a:endParaRPr lang="en-US" sz="100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Fastest consumer ramp ever recorded at launch (UBS/Reuters, 2023).</a:t>
            </a:r>
            <a:endParaRPr lang="en-US" sz="9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chips double their transistors every ~2 years.</a:t>
            </a:r>
            <a:endParaRPr lang="en-US" sz="105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050" dirty="0"/>
          </a:p>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2026 status: slowing to ~3-year doublings — not dead, but no longer enough on its own.</a:t>
            </a:r>
            <a:endParaRPr lang="en-US" sz="105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both need millions of tiny calculations at once.</a:t>
            </a:r>
            <a:endParaRPr lang="en-US" sz="1050" dirty="0"/>
          </a:p>
          <a:p>
            <a:pPr indent="0" marL="0">
              <a:lnSpc>
                <a:spcPct val="106000"/>
              </a:lnSpc>
              <a:spcAft>
                <a:spcPts val="400"/>
              </a:spcAft>
              <a:buNone/>
            </a:pPr>
            <a:r>
              <a:rPr lang="en-US" sz="1000" dirty="0">
                <a:solidFill>
                  <a:srgbClr val="46545F"/>
                </a:solidFill>
                <a:latin typeface="Calibri" pitchFamily="34" charset="0"/>
                <a:ea typeface="Calibri" pitchFamily="34" charset="-122"/>
                <a:cs typeface="Calibri" pitchFamily="34" charset="-120"/>
              </a:rPr>
              <a:t>2006 — Nvidia’s CUDA lets anyone program a graphics card.</a:t>
            </a:r>
            <a:endParaRPr lang="en-US" sz="1050" dirty="0"/>
          </a:p>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05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49040" cy="237744"/>
          </a:xfrm>
          <a:prstGeom prst="rect">
            <a:avLst/>
          </a:prstGeom>
          <a:noFill/>
          <a:ln/>
        </p:spPr>
        <p:txBody>
          <a:bodyPr wrap="square" lIns="0" tIns="0" rIns="0" bIns="0" rtlCol="0" anchor="ctr"/>
          <a:lstStyle/>
          <a:p>
            <a:pPr indent="0" marL="0">
              <a:buNone/>
            </a:pPr>
            <a:r>
              <a:rPr lang="en-US" sz="900" dirty="0">
                <a:solidFill>
                  <a:srgbClr val="46545F"/>
                </a:solidFill>
                <a:latin typeface="Calibri" pitchFamily="34" charset="0"/>
                <a:ea typeface="Calibri" pitchFamily="34" charset="-122"/>
                <a:cs typeface="Calibri" pitchFamily="34" charset="-120"/>
              </a:rPr>
              <a:t>Compute used to train notable AI models (log scale)</a:t>
            </a:r>
            <a:endParaRPr lang="en-US" sz="900" dirty="0"/>
          </a:p>
        </p:txBody>
      </p:sp>
      <p:sp>
        <p:nvSpPr>
          <p:cNvPr id="15" name="Shape 13"/>
          <p:cNvSpPr/>
          <p:nvPr/>
        </p:nvSpPr>
        <p:spPr>
          <a:xfrm flipV="1">
            <a:off x="4370832" y="4281373"/>
            <a:ext cx="3200400" cy="480670"/>
          </a:xfrm>
          <a:prstGeom prst="line">
            <a:avLst/>
          </a:prstGeom>
          <a:noFill/>
          <a:ln w="19050">
            <a:solidFill>
              <a:srgbClr val="7A8790"/>
            </a:solidFill>
            <a:prstDash val="dash"/>
          </a:ln>
        </p:spPr>
      </p:sp>
      <p:sp>
        <p:nvSpPr>
          <p:cNvPr id="16" name="Shape 14"/>
          <p:cNvSpPr/>
          <p:nvPr/>
        </p:nvSpPr>
        <p:spPr>
          <a:xfrm flipV="1">
            <a:off x="4370832" y="3716731"/>
            <a:ext cx="2036618" cy="1045312"/>
          </a:xfrm>
          <a:prstGeom prst="line">
            <a:avLst/>
          </a:prstGeom>
          <a:noFill/>
          <a:ln w="25400">
            <a:solidFill>
              <a:srgbClr val="0E7C7B"/>
            </a:solidFill>
            <a:prstDash val="solid"/>
          </a:ln>
        </p:spPr>
      </p:sp>
      <p:sp>
        <p:nvSpPr>
          <p:cNvPr id="17" name="Shape 15"/>
          <p:cNvSpPr/>
          <p:nvPr/>
        </p:nvSpPr>
        <p:spPr>
          <a:xfrm flipV="1">
            <a:off x="6407450" y="3076804"/>
            <a:ext cx="290945" cy="639928"/>
          </a:xfrm>
          <a:prstGeom prst="line">
            <a:avLst/>
          </a:prstGeom>
          <a:noFill/>
          <a:ln w="25400">
            <a:solidFill>
              <a:srgbClr val="0E7C7B"/>
            </a:solidFill>
            <a:prstDash val="solid"/>
          </a:ln>
        </p:spPr>
      </p:sp>
      <p:sp>
        <p:nvSpPr>
          <p:cNvPr id="18" name="Shape 16"/>
          <p:cNvSpPr/>
          <p:nvPr/>
        </p:nvSpPr>
        <p:spPr>
          <a:xfrm flipV="1">
            <a:off x="6698396" y="2546909"/>
            <a:ext cx="872836" cy="529895"/>
          </a:xfrm>
          <a:prstGeom prst="line">
            <a:avLst/>
          </a:prstGeom>
          <a:noFill/>
          <a:ln w="25400">
            <a:solidFill>
              <a:srgbClr val="0E7C7B"/>
            </a:solidFill>
            <a:prstDash val="solid"/>
          </a:ln>
        </p:spPr>
      </p:sp>
      <p:sp>
        <p:nvSpPr>
          <p:cNvPr id="19" name="Shape 17"/>
          <p:cNvSpPr/>
          <p:nvPr/>
        </p:nvSpPr>
        <p:spPr>
          <a:xfrm>
            <a:off x="4315968" y="4707179"/>
            <a:ext cx="109728" cy="109728"/>
          </a:xfrm>
          <a:prstGeom prst="ellipse">
            <a:avLst/>
          </a:prstGeom>
          <a:solidFill>
            <a:srgbClr val="0A5B5A"/>
          </a:solidFill>
          <a:ln/>
        </p:spPr>
      </p:sp>
      <p:sp>
        <p:nvSpPr>
          <p:cNvPr id="20" name="Text 18"/>
          <p:cNvSpPr/>
          <p:nvPr/>
        </p:nvSpPr>
        <p:spPr>
          <a:xfrm>
            <a:off x="3502152" y="4487723"/>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AlexNet</a:t>
            </a:r>
            <a:endParaRPr lang="en-US" sz="800" dirty="0"/>
          </a:p>
        </p:txBody>
      </p:sp>
      <p:sp>
        <p:nvSpPr>
          <p:cNvPr id="21" name="Shape 19"/>
          <p:cNvSpPr/>
          <p:nvPr/>
        </p:nvSpPr>
        <p:spPr>
          <a:xfrm>
            <a:off x="6352586" y="3661867"/>
            <a:ext cx="109728" cy="109728"/>
          </a:xfrm>
          <a:prstGeom prst="ellipse">
            <a:avLst/>
          </a:prstGeom>
          <a:solidFill>
            <a:srgbClr val="0A5B5A"/>
          </a:solidFill>
          <a:ln/>
        </p:spPr>
      </p:sp>
      <p:sp>
        <p:nvSpPr>
          <p:cNvPr id="22" name="Text 20"/>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GPT-2</a:t>
            </a:r>
            <a:endParaRPr lang="en-US" sz="800" dirty="0"/>
          </a:p>
        </p:txBody>
      </p:sp>
      <p:sp>
        <p:nvSpPr>
          <p:cNvPr id="23" name="Shape 21"/>
          <p:cNvSpPr/>
          <p:nvPr/>
        </p:nvSpPr>
        <p:spPr>
          <a:xfrm>
            <a:off x="6643532" y="3021940"/>
            <a:ext cx="109728" cy="109728"/>
          </a:xfrm>
          <a:prstGeom prst="ellipse">
            <a:avLst/>
          </a:prstGeom>
          <a:solidFill>
            <a:srgbClr val="0A5B5A"/>
          </a:solidFill>
          <a:ln/>
        </p:spPr>
      </p:sp>
      <p:sp>
        <p:nvSpPr>
          <p:cNvPr id="24" name="Text 22"/>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GPT-3</a:t>
            </a:r>
            <a:endParaRPr lang="en-US" sz="800" dirty="0"/>
          </a:p>
        </p:txBody>
      </p:sp>
      <p:sp>
        <p:nvSpPr>
          <p:cNvPr id="25" name="Shape 23"/>
          <p:cNvSpPr/>
          <p:nvPr/>
        </p:nvSpPr>
        <p:spPr>
          <a:xfrm>
            <a:off x="7516368" y="2492045"/>
            <a:ext cx="109728" cy="109728"/>
          </a:xfrm>
          <a:prstGeom prst="ellipse">
            <a:avLst/>
          </a:prstGeom>
          <a:solidFill>
            <a:srgbClr val="0A5B5A"/>
          </a:solidFill>
          <a:ln/>
        </p:spPr>
      </p:sp>
      <p:sp>
        <p:nvSpPr>
          <p:cNvPr id="26" name="Text 24"/>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GPT-4 (est.)</a:t>
            </a:r>
            <a:endParaRPr lang="en-US" sz="800" dirty="0"/>
          </a:p>
        </p:txBody>
      </p:sp>
      <p:sp>
        <p:nvSpPr>
          <p:cNvPr id="27" name="Text 25"/>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00" i="1" dirty="0">
                <a:solidFill>
                  <a:srgbClr val="7A8790"/>
                </a:solidFill>
                <a:latin typeface="Calibri" pitchFamily="34" charset="0"/>
                <a:ea typeface="Calibri" pitchFamily="34" charset="-122"/>
                <a:cs typeface="Calibri" pitchFamily="34" charset="-120"/>
              </a:rPr>
              <a:t>Moore’s pace</a:t>
            </a:r>
            <a:endParaRPr lang="en-US" sz="800" dirty="0"/>
          </a:p>
        </p:txBody>
      </p:sp>
      <p:sp>
        <p:nvSpPr>
          <p:cNvPr id="28" name="Text 26"/>
          <p:cNvSpPr/>
          <p:nvPr/>
        </p:nvSpPr>
        <p:spPr>
          <a:xfrm>
            <a:off x="4187952" y="5029200"/>
            <a:ext cx="457200" cy="182880"/>
          </a:xfrm>
          <a:prstGeom prst="rect">
            <a:avLst/>
          </a:prstGeom>
          <a:noFill/>
          <a:ln/>
        </p:spPr>
        <p:txBody>
          <a:bodyPr wrap="square" lIns="0" tIns="0" rIns="0" bIns="0" rtlCol="0" anchor="ctr"/>
          <a:lstStyle/>
          <a:p>
            <a:pPr indent="0" marL="0">
              <a:buNone/>
            </a:pPr>
            <a:r>
              <a:rPr lang="en-US" sz="800" dirty="0">
                <a:solidFill>
                  <a:srgbClr val="7A8790"/>
                </a:solidFill>
                <a:latin typeface="Calibri" pitchFamily="34" charset="0"/>
                <a:ea typeface="Calibri" pitchFamily="34" charset="-122"/>
                <a:cs typeface="Calibri" pitchFamily="34" charset="-120"/>
              </a:rPr>
              <a:t>2012</a:t>
            </a:r>
            <a:endParaRPr lang="en-US" sz="800" dirty="0"/>
          </a:p>
        </p:txBody>
      </p:sp>
      <p:sp>
        <p:nvSpPr>
          <p:cNvPr id="29" name="Text 27"/>
          <p:cNvSpPr/>
          <p:nvPr/>
        </p:nvSpPr>
        <p:spPr>
          <a:xfrm>
            <a:off x="7342632" y="5029200"/>
            <a:ext cx="457200" cy="182880"/>
          </a:xfrm>
          <a:prstGeom prst="rect">
            <a:avLst/>
          </a:prstGeom>
          <a:noFill/>
          <a:ln/>
        </p:spPr>
        <p:txBody>
          <a:bodyPr wrap="square" lIns="0" tIns="0" rIns="0" bIns="0" rtlCol="0" anchor="ctr"/>
          <a:lstStyle/>
          <a:p>
            <a:pPr indent="0" marL="0">
              <a:buNone/>
            </a:pPr>
            <a:r>
              <a:rPr lang="en-US" sz="800" dirty="0">
                <a:solidFill>
                  <a:srgbClr val="7A8790"/>
                </a:solidFill>
                <a:latin typeface="Calibri" pitchFamily="34" charset="0"/>
                <a:ea typeface="Calibri" pitchFamily="34" charset="-122"/>
                <a:cs typeface="Calibri" pitchFamily="34" charset="-120"/>
              </a:rPr>
              <a:t>2023</a:t>
            </a:r>
            <a:endParaRPr lang="en-US" sz="800" dirty="0"/>
          </a:p>
        </p:txBody>
      </p:sp>
      <p:sp>
        <p:nvSpPr>
          <p:cNvPr id="30" name="Text 28"/>
          <p:cNvSpPr/>
          <p:nvPr/>
        </p:nvSpPr>
        <p:spPr>
          <a:xfrm>
            <a:off x="4160520" y="5230368"/>
            <a:ext cx="3749040" cy="457200"/>
          </a:xfrm>
          <a:prstGeom prst="rect">
            <a:avLst/>
          </a:prstGeom>
          <a:noFill/>
          <a:ln/>
        </p:spPr>
        <p:txBody>
          <a:bodyPr wrap="square" lIns="0" tIns="0" rIns="0" bIns="0" rtlCol="0" anchor="ctr"/>
          <a:lstStyle/>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4000"/>
              </a:lnSpc>
              <a:buNone/>
            </a:pPr>
            <a:r>
              <a:rPr lang="en-US" sz="1150" b="1" dirty="0">
                <a:solidFill>
                  <a:srgbClr val="AF3230"/>
                </a:solidFill>
                <a:latin typeface="Calibri" pitchFamily="34" charset="0"/>
                <a:ea typeface="Calibri" pitchFamily="34" charset="-122"/>
                <a:cs typeface="Calibri" pitchFamily="34" charset="-120"/>
              </a:rPr>
              <a:t>Actual: ×45,000,000</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 — bought with chips, clusters and electricity.</a:t>
            </a:r>
            <a:endParaRPr lang="en-US" sz="1000" dirty="0"/>
          </a:p>
        </p:txBody>
      </p:sp>
      <p:sp>
        <p:nvSpPr>
          <p:cNvPr id="31" name="Shape 29"/>
          <p:cNvSpPr/>
          <p:nvPr/>
        </p:nvSpPr>
        <p:spPr>
          <a:xfrm>
            <a:off x="8321040" y="1481328"/>
            <a:ext cx="3337560" cy="4279392"/>
          </a:xfrm>
          <a:prstGeom prst="roundRect">
            <a:avLst>
              <a:gd name="adj" fmla="val 2192"/>
            </a:avLst>
          </a:prstGeom>
          <a:solidFill>
            <a:srgbClr val="F2F5F6"/>
          </a:solidFill>
          <a:ln/>
        </p:spPr>
      </p:sp>
      <p:sp>
        <p:nvSpPr>
          <p:cNvPr id="32" name="Text 30"/>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3" name="Shape 31"/>
          <p:cNvSpPr/>
          <p:nvPr/>
        </p:nvSpPr>
        <p:spPr>
          <a:xfrm>
            <a:off x="8549640" y="2011680"/>
            <a:ext cx="420624" cy="420624"/>
          </a:xfrm>
          <a:prstGeom prst="ellipse">
            <a:avLst/>
          </a:prstGeom>
          <a:solidFill>
            <a:srgbClr val="0E7C7B"/>
          </a:solidFill>
          <a:ln/>
        </p:spPr>
      </p:sp>
      <p:pic>
        <p:nvPicPr>
          <p:cNvPr id="34"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35" name="Text 32"/>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36" name="Shape 33"/>
          <p:cNvSpPr/>
          <p:nvPr/>
        </p:nvSpPr>
        <p:spPr>
          <a:xfrm>
            <a:off x="8549640" y="3182112"/>
            <a:ext cx="420624" cy="420624"/>
          </a:xfrm>
          <a:prstGeom prst="ellipse">
            <a:avLst/>
          </a:prstGeom>
          <a:solidFill>
            <a:srgbClr val="0E7C7B"/>
          </a:solidFill>
          <a:ln/>
        </p:spPr>
      </p:sp>
      <p:pic>
        <p:nvPicPr>
          <p:cNvPr id="37"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38" name="Text 34"/>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39" name="Shape 35"/>
          <p:cNvSpPr/>
          <p:nvPr/>
        </p:nvSpPr>
        <p:spPr>
          <a:xfrm>
            <a:off x="8549640" y="4352544"/>
            <a:ext cx="420624" cy="420624"/>
          </a:xfrm>
          <a:prstGeom prst="ellipse">
            <a:avLst/>
          </a:prstGeom>
          <a:solidFill>
            <a:srgbClr val="0E7C7B"/>
          </a:solidFill>
          <a:ln/>
        </p:spPr>
      </p:sp>
      <p:pic>
        <p:nvPicPr>
          <p:cNvPr id="40"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1" name="Text 36"/>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2" name="Text 37"/>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900" i="1" dirty="0">
                <a:solidFill>
                  <a:srgbClr val="7A8790"/>
                </a:solidFill>
                <a:latin typeface="Calibri" pitchFamily="34" charset="0"/>
                <a:ea typeface="Calibri" pitchFamily="34" charset="-122"/>
                <a:cs typeface="Calibri" pitchFamily="34" charset="-120"/>
              </a:rPr>
              <a:t>~$700B of build-out planned for 2026 alone — much of it announced, not yet built.</a:t>
            </a:r>
            <a:endParaRPr lang="en-US" sz="900" dirty="0"/>
          </a:p>
        </p:txBody>
      </p:sp>
      <p:sp>
        <p:nvSpPr>
          <p:cNvPr id="43" name="Shape 38"/>
          <p:cNvSpPr/>
          <p:nvPr/>
        </p:nvSpPr>
        <p:spPr>
          <a:xfrm>
            <a:off x="502920" y="5870448"/>
            <a:ext cx="11155680" cy="621792"/>
          </a:xfrm>
          <a:prstGeom prst="roundRect">
            <a:avLst>
              <a:gd name="adj" fmla="val 11765"/>
            </a:avLst>
          </a:prstGeom>
          <a:solidFill>
            <a:srgbClr val="FBF0E0"/>
          </a:solidFill>
          <a:ln/>
        </p:spPr>
      </p:sp>
      <p:sp>
        <p:nvSpPr>
          <p:cNvPr id="44" name="Shape 39"/>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45"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46" name="Text 40"/>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481328"/>
            <a:ext cx="3611880" cy="2212848"/>
          </a:xfrm>
          <a:prstGeom prst="roundRect">
            <a:avLst>
              <a:gd name="adj" fmla="val 3306"/>
            </a:avLst>
          </a:prstGeom>
          <a:solidFill>
            <a:srgbClr val="F2F5F6"/>
          </a:solidFill>
          <a:ln/>
        </p:spPr>
      </p:sp>
      <p:sp>
        <p:nvSpPr>
          <p:cNvPr id="7" name="Shape 5"/>
          <p:cNvSpPr/>
          <p:nvPr/>
        </p:nvSpPr>
        <p:spPr>
          <a:xfrm>
            <a:off x="758952" y="1627632"/>
            <a:ext cx="420624" cy="420624"/>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68314" y="1736994"/>
            <a:ext cx="201900" cy="201900"/>
          </a:xfrm>
          <a:prstGeom prst="rect">
            <a:avLst/>
          </a:prstGeom>
        </p:spPr>
      </p:pic>
      <p:sp>
        <p:nvSpPr>
          <p:cNvPr id="9" name="Text 6"/>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0" name="Text 7"/>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980" dirty="0"/>
          </a:p>
        </p:txBody>
      </p:sp>
      <p:sp>
        <p:nvSpPr>
          <p:cNvPr id="11" name="Shape 8"/>
          <p:cNvSpPr/>
          <p:nvPr/>
        </p:nvSpPr>
        <p:spPr>
          <a:xfrm>
            <a:off x="4133088" y="2514600"/>
            <a:ext cx="182880" cy="0"/>
          </a:xfrm>
          <a:prstGeom prst="line">
            <a:avLst/>
          </a:prstGeom>
          <a:noFill/>
          <a:ln w="28575">
            <a:solidFill>
              <a:srgbClr val="0E7C7B"/>
            </a:solidFill>
            <a:prstDash val="solid"/>
            <a:tailEnd type="triangle"/>
          </a:ln>
        </p:spPr>
      </p:sp>
      <p:sp>
        <p:nvSpPr>
          <p:cNvPr id="12" name="Shape 9"/>
          <p:cNvSpPr/>
          <p:nvPr/>
        </p:nvSpPr>
        <p:spPr>
          <a:xfrm>
            <a:off x="4325112" y="1481328"/>
            <a:ext cx="3611880" cy="2212848"/>
          </a:xfrm>
          <a:prstGeom prst="roundRect">
            <a:avLst>
              <a:gd name="adj" fmla="val 3306"/>
            </a:avLst>
          </a:prstGeom>
          <a:solidFill>
            <a:srgbClr val="F2F5F6"/>
          </a:solidFill>
          <a:ln/>
        </p:spPr>
      </p:sp>
      <p:sp>
        <p:nvSpPr>
          <p:cNvPr id="13" name="Shape 10"/>
          <p:cNvSpPr/>
          <p:nvPr/>
        </p:nvSpPr>
        <p:spPr>
          <a:xfrm>
            <a:off x="4581144" y="1627632"/>
            <a:ext cx="420624" cy="420624"/>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690506" y="1736994"/>
            <a:ext cx="201900" cy="201900"/>
          </a:xfrm>
          <a:prstGeom prst="rect">
            <a:avLst/>
          </a:prstGeom>
        </p:spPr>
      </p:pic>
      <p:sp>
        <p:nvSpPr>
          <p:cNvPr id="15" name="Text 11"/>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6" name="Text 12"/>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980" dirty="0"/>
          </a:p>
        </p:txBody>
      </p:sp>
      <p:sp>
        <p:nvSpPr>
          <p:cNvPr id="17" name="Shape 13"/>
          <p:cNvSpPr/>
          <p:nvPr/>
        </p:nvSpPr>
        <p:spPr>
          <a:xfrm>
            <a:off x="7955280" y="2514600"/>
            <a:ext cx="182880" cy="0"/>
          </a:xfrm>
          <a:prstGeom prst="line">
            <a:avLst/>
          </a:prstGeom>
          <a:noFill/>
          <a:ln w="28575">
            <a:solidFill>
              <a:srgbClr val="0E7C7B"/>
            </a:solidFill>
            <a:prstDash val="solid"/>
            <a:tailEnd type="triangle"/>
          </a:ln>
        </p:spPr>
      </p:sp>
      <p:sp>
        <p:nvSpPr>
          <p:cNvPr id="18" name="Shape 14"/>
          <p:cNvSpPr/>
          <p:nvPr/>
        </p:nvSpPr>
        <p:spPr>
          <a:xfrm>
            <a:off x="8147304" y="1481328"/>
            <a:ext cx="3611880" cy="2212848"/>
          </a:xfrm>
          <a:prstGeom prst="roundRect">
            <a:avLst>
              <a:gd name="adj" fmla="val 3306"/>
            </a:avLst>
          </a:prstGeom>
          <a:solidFill>
            <a:srgbClr val="F2F5F6"/>
          </a:solidFill>
          <a:ln/>
        </p:spPr>
      </p:sp>
      <p:sp>
        <p:nvSpPr>
          <p:cNvPr id="19" name="Shape 15"/>
          <p:cNvSpPr/>
          <p:nvPr/>
        </p:nvSpPr>
        <p:spPr>
          <a:xfrm>
            <a:off x="8403336" y="1627632"/>
            <a:ext cx="420624" cy="420624"/>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12698" y="1736994"/>
            <a:ext cx="201900" cy="201900"/>
          </a:xfrm>
          <a:prstGeom prst="rect">
            <a:avLst/>
          </a:prstGeom>
        </p:spPr>
      </p:pic>
      <p:sp>
        <p:nvSpPr>
          <p:cNvPr id="21" name="Text 16"/>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2" name="Text 17"/>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980" dirty="0"/>
          </a:p>
        </p:txBody>
      </p:sp>
      <p:sp>
        <p:nvSpPr>
          <p:cNvPr id="23" name="Shape 18"/>
          <p:cNvSpPr/>
          <p:nvPr/>
        </p:nvSpPr>
        <p:spPr>
          <a:xfrm>
            <a:off x="502920" y="3803904"/>
            <a:ext cx="5486400" cy="1078992"/>
          </a:xfrm>
          <a:prstGeom prst="roundRect">
            <a:avLst>
              <a:gd name="adj" fmla="val 6780"/>
            </a:avLst>
          </a:prstGeom>
          <a:solidFill>
            <a:srgbClr val="E4F0EF"/>
          </a:solidFill>
          <a:ln/>
        </p:spPr>
      </p:sp>
      <p:sp>
        <p:nvSpPr>
          <p:cNvPr id="24" name="Shape 19"/>
          <p:cNvSpPr/>
          <p:nvPr/>
        </p:nvSpPr>
        <p:spPr>
          <a:xfrm>
            <a:off x="667512" y="4151376"/>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4251228"/>
            <a:ext cx="184343" cy="184343"/>
          </a:xfrm>
          <a:prstGeom prst="rect">
            <a:avLst/>
          </a:prstGeom>
        </p:spPr>
      </p:pic>
      <p:sp>
        <p:nvSpPr>
          <p:cNvPr id="26" name="Text 20"/>
          <p:cNvSpPr/>
          <p:nvPr/>
        </p:nvSpPr>
        <p:spPr>
          <a:xfrm>
            <a:off x="1216152" y="3877056"/>
            <a:ext cx="4544568" cy="932688"/>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080" dirty="0"/>
          </a:p>
          <a:p>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Training ends months before release. But many assistants compensate: live web search pulls today’s pages into the prompt, and RAG (concept 3) plugs in your own documents.</a:t>
            </a:r>
            <a:endParaRPr lang="en-US" sz="1080" dirty="0"/>
          </a:p>
        </p:txBody>
      </p:sp>
      <p:sp>
        <p:nvSpPr>
          <p:cNvPr id="27" name="Shape 21"/>
          <p:cNvSpPr/>
          <p:nvPr/>
        </p:nvSpPr>
        <p:spPr>
          <a:xfrm>
            <a:off x="6172200" y="3803904"/>
            <a:ext cx="5486400" cy="1078992"/>
          </a:xfrm>
          <a:prstGeom prst="roundRect">
            <a:avLst>
              <a:gd name="adj" fmla="val 6780"/>
            </a:avLst>
          </a:prstGeom>
          <a:solidFill>
            <a:srgbClr val="FBF0E0"/>
          </a:solidFill>
          <a:ln/>
        </p:spPr>
      </p:sp>
      <p:sp>
        <p:nvSpPr>
          <p:cNvPr id="28" name="Shape 22"/>
          <p:cNvSpPr/>
          <p:nvPr/>
        </p:nvSpPr>
        <p:spPr>
          <a:xfrm>
            <a:off x="6336792" y="4151376"/>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4251228"/>
            <a:ext cx="184343" cy="184343"/>
          </a:xfrm>
          <a:prstGeom prst="rect">
            <a:avLst/>
          </a:prstGeom>
        </p:spPr>
      </p:pic>
      <p:sp>
        <p:nvSpPr>
          <p:cNvPr id="30" name="Text 23"/>
          <p:cNvSpPr/>
          <p:nvPr/>
        </p:nvSpPr>
        <p:spPr>
          <a:xfrm>
            <a:off x="6885432" y="3877056"/>
            <a:ext cx="4544568" cy="932688"/>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1" name="Shape 24"/>
          <p:cNvSpPr/>
          <p:nvPr/>
        </p:nvSpPr>
        <p:spPr>
          <a:xfrm>
            <a:off x="502920" y="4992624"/>
            <a:ext cx="11155680" cy="1463040"/>
          </a:xfrm>
          <a:prstGeom prst="roundRect">
            <a:avLst>
              <a:gd name="adj" fmla="val 5000"/>
            </a:avLst>
          </a:prstGeom>
          <a:solidFill>
            <a:srgbClr val="E4F0EF"/>
          </a:solidFill>
          <a:ln/>
        </p:spPr>
      </p:sp>
      <p:sp>
        <p:nvSpPr>
          <p:cNvPr id="32" name="Shape 25"/>
          <p:cNvSpPr/>
          <p:nvPr/>
        </p:nvSpPr>
        <p:spPr>
          <a:xfrm>
            <a:off x="649224" y="5111496"/>
            <a:ext cx="365760" cy="365760"/>
          </a:xfrm>
          <a:prstGeom prst="ellipse">
            <a:avLst/>
          </a:prstGeom>
          <a:solidFill>
            <a:srgbClr val="0E7C7B"/>
          </a:solidFill>
          <a:ln/>
        </p:spPr>
      </p:sp>
      <p:pic>
        <p:nvPicPr>
          <p:cNvPr id="33" name="Image 5" descr="/home/user/Claude-Works/ai-training-prompt-engineering/src/assets/icons/robot_w.png">    </p:cNvPr>
          <p:cNvPicPr>
            <a:picLocks noChangeAspect="1"/>
          </p:cNvPicPr>
          <p:nvPr/>
        </p:nvPicPr>
        <p:blipFill>
          <a:blip r:embed="rId6"/>
          <a:stretch>
            <a:fillRect/>
          </a:stretch>
        </p:blipFill>
        <p:spPr>
          <a:xfrm>
            <a:off x="744322" y="5206594"/>
            <a:ext cx="175565" cy="175565"/>
          </a:xfrm>
          <a:prstGeom prst="rect">
            <a:avLst/>
          </a:prstGeom>
        </p:spPr>
      </p:pic>
      <p:sp>
        <p:nvSpPr>
          <p:cNvPr id="34" name="Shape 26"/>
          <p:cNvSpPr/>
          <p:nvPr/>
        </p:nvSpPr>
        <p:spPr>
          <a:xfrm>
            <a:off x="1106424" y="5138928"/>
            <a:ext cx="1188720" cy="310896"/>
          </a:xfrm>
          <a:prstGeom prst="roundRect">
            <a:avLst>
              <a:gd name="adj" fmla="val 23529"/>
            </a:avLst>
          </a:prstGeom>
          <a:solidFill>
            <a:srgbClr val="0E7C7B"/>
          </a:solidFill>
          <a:ln/>
        </p:spPr>
      </p:sp>
      <p:sp>
        <p:nvSpPr>
          <p:cNvPr id="35" name="Text 27"/>
          <p:cNvSpPr/>
          <p:nvPr/>
        </p:nvSpPr>
        <p:spPr>
          <a:xfrm>
            <a:off x="1106424" y="514807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6" name="Text 28"/>
          <p:cNvSpPr/>
          <p:nvPr/>
        </p:nvSpPr>
        <p:spPr>
          <a:xfrm>
            <a:off x="2404872" y="514807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Narrowing the guesses — two separate sends</a:t>
            </a:r>
            <a:endParaRPr lang="en-US" sz="1050" dirty="0"/>
          </a:p>
        </p:txBody>
      </p:sp>
      <p:sp>
        <p:nvSpPr>
          <p:cNvPr id="37" name="Text 29"/>
          <p:cNvSpPr/>
          <p:nvPr/>
        </p:nvSpPr>
        <p:spPr>
          <a:xfrm>
            <a:off x="685800" y="5504688"/>
            <a:ext cx="10789920" cy="585216"/>
          </a:xfrm>
          <a:prstGeom prst="rect">
            <a:avLst/>
          </a:prstGeom>
          <a:noFill/>
          <a:ln/>
        </p:spPr>
        <p:txBody>
          <a:bodyPr wrap="square" lIns="0" tIns="0" rIns="0" bIns="0" rtlCol="0" anchor="t"/>
          <a:lstStyle/>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70" i="1" dirty="0">
                <a:solidFill>
                  <a:srgbClr val="46545F"/>
                </a:solidFill>
                <a:latin typeface="Calibri" pitchFamily="34" charset="0"/>
                <a:ea typeface="Calibri" pitchFamily="34" charset="-122"/>
                <a:cs typeface="Calibri" pitchFamily="34" charset="-120"/>
              </a:rPr>
              <a:t>no facts yet — watch it scatter across guesses.</a:t>
            </a:r>
            <a:endParaRPr lang="en-US" sz="820" dirty="0"/>
          </a:p>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7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820" dirty="0"/>
          </a:p>
        </p:txBody>
      </p:sp>
      <p:sp>
        <p:nvSpPr>
          <p:cNvPr id="38" name="Text 30"/>
          <p:cNvSpPr/>
          <p:nvPr/>
        </p:nvSpPr>
        <p:spPr>
          <a:xfrm>
            <a:off x="685800" y="6163056"/>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331720"/>
          </a:xfrm>
          <a:prstGeom prst="roundRect">
            <a:avLst>
              <a:gd name="adj" fmla="val 3137"/>
            </a:avLst>
          </a:prstGeom>
          <a:solidFill>
            <a:srgbClr val="F2F5F6"/>
          </a:solidFill>
          <a:ln/>
        </p:spPr>
      </p:sp>
      <p:sp>
        <p:nvSpPr>
          <p:cNvPr id="8" name="Text 6"/>
          <p:cNvSpPr/>
          <p:nvPr/>
        </p:nvSpPr>
        <p:spPr>
          <a:xfrm>
            <a:off x="6675120" y="171907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39696"/>
            <a:ext cx="4754880" cy="777240"/>
          </a:xfrm>
          <a:prstGeom prst="rect">
            <a:avLst/>
          </a:prstGeom>
          <a:noFill/>
          <a:ln/>
        </p:spPr>
        <p:txBody>
          <a:bodyPr wrap="square" lIns="0" tIns="0" rIns="0" bIns="0" rtlCol="0" anchor="ctr"/>
          <a:lstStyle/>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 and the builder has never seen inside a brick.</a:t>
            </a:r>
            <a:endParaRPr lang="en-US" sz="1100" dirty="0"/>
          </a:p>
        </p:txBody>
      </p:sp>
      <p:sp>
        <p:nvSpPr>
          <p:cNvPr id="10" name="Shape 8"/>
          <p:cNvSpPr/>
          <p:nvPr/>
        </p:nvSpPr>
        <p:spPr>
          <a:xfrm>
            <a:off x="6918960" y="3035808"/>
            <a:ext cx="91440" cy="91440"/>
          </a:xfrm>
          <a:prstGeom prst="roundRect">
            <a:avLst>
              <a:gd name="adj" fmla="val 20000"/>
            </a:avLst>
          </a:prstGeom>
          <a:solidFill>
            <a:srgbClr val="E4F0EF"/>
          </a:solidFill>
          <a:ln w="9525">
            <a:solidFill>
              <a:srgbClr val="0E7C7B"/>
            </a:solidFill>
            <a:prstDash val="solid"/>
          </a:ln>
        </p:spPr>
      </p:sp>
      <p:sp>
        <p:nvSpPr>
          <p:cNvPr id="11" name="Shape 9"/>
          <p:cNvSpPr/>
          <p:nvPr/>
        </p:nvSpPr>
        <p:spPr>
          <a:xfrm>
            <a:off x="7208520" y="3035808"/>
            <a:ext cx="91440" cy="91440"/>
          </a:xfrm>
          <a:prstGeom prst="roundRect">
            <a:avLst>
              <a:gd name="adj" fmla="val 20000"/>
            </a:avLst>
          </a:prstGeom>
          <a:solidFill>
            <a:srgbClr val="E4F0EF"/>
          </a:solidFill>
          <a:ln w="9525">
            <a:solidFill>
              <a:srgbClr val="0E7C7B"/>
            </a:solidFill>
            <a:prstDash val="solid"/>
          </a:ln>
        </p:spPr>
      </p:sp>
      <p:sp>
        <p:nvSpPr>
          <p:cNvPr id="12" name="Shape 10"/>
          <p:cNvSpPr/>
          <p:nvPr/>
        </p:nvSpPr>
        <p:spPr>
          <a:xfrm>
            <a:off x="6675120" y="3108960"/>
            <a:ext cx="868680" cy="329184"/>
          </a:xfrm>
          <a:prstGeom prst="roundRect">
            <a:avLst>
              <a:gd name="adj" fmla="val 11111"/>
            </a:avLst>
          </a:prstGeom>
          <a:solidFill>
            <a:srgbClr val="E4F0EF"/>
          </a:solidFill>
          <a:ln w="9525">
            <a:solidFill>
              <a:srgbClr val="0E7C7B"/>
            </a:solidFill>
            <a:prstDash val="solid"/>
          </a:ln>
        </p:spPr>
      </p:sp>
      <p:sp>
        <p:nvSpPr>
          <p:cNvPr id="13" name="Text 11"/>
          <p:cNvSpPr/>
          <p:nvPr/>
        </p:nvSpPr>
        <p:spPr>
          <a:xfrm>
            <a:off x="6675120" y="3118104"/>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4" name="Shape 12"/>
          <p:cNvSpPr/>
          <p:nvPr/>
        </p:nvSpPr>
        <p:spPr>
          <a:xfrm>
            <a:off x="7758684" y="3035808"/>
            <a:ext cx="91440" cy="91440"/>
          </a:xfrm>
          <a:prstGeom prst="roundRect">
            <a:avLst>
              <a:gd name="adj" fmla="val 20000"/>
            </a:avLst>
          </a:prstGeom>
          <a:solidFill>
            <a:srgbClr val="FFFFFF"/>
          </a:solidFill>
          <a:ln w="9525">
            <a:solidFill>
              <a:srgbClr val="0E7C7B"/>
            </a:solidFill>
            <a:prstDash val="solid"/>
          </a:ln>
        </p:spPr>
      </p:sp>
      <p:sp>
        <p:nvSpPr>
          <p:cNvPr id="15" name="Shape 13"/>
          <p:cNvSpPr/>
          <p:nvPr/>
        </p:nvSpPr>
        <p:spPr>
          <a:xfrm>
            <a:off x="7598664" y="3108960"/>
            <a:ext cx="411480" cy="329184"/>
          </a:xfrm>
          <a:prstGeom prst="roundRect">
            <a:avLst>
              <a:gd name="adj" fmla="val 11111"/>
            </a:avLst>
          </a:prstGeom>
          <a:solidFill>
            <a:srgbClr val="FFFFFF"/>
          </a:solidFill>
          <a:ln w="9525">
            <a:solidFill>
              <a:srgbClr val="0E7C7B"/>
            </a:solidFill>
            <a:prstDash val="solid"/>
          </a:ln>
        </p:spPr>
      </p:sp>
      <p:sp>
        <p:nvSpPr>
          <p:cNvPr id="16" name="Text 14"/>
          <p:cNvSpPr/>
          <p:nvPr/>
        </p:nvSpPr>
        <p:spPr>
          <a:xfrm>
            <a:off x="7598664" y="3118104"/>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7" name="Shape 15"/>
          <p:cNvSpPr/>
          <p:nvPr/>
        </p:nvSpPr>
        <p:spPr>
          <a:xfrm>
            <a:off x="8278368" y="3035808"/>
            <a:ext cx="91440" cy="91440"/>
          </a:xfrm>
          <a:prstGeom prst="roundRect">
            <a:avLst>
              <a:gd name="adj" fmla="val 20000"/>
            </a:avLst>
          </a:prstGeom>
          <a:solidFill>
            <a:srgbClr val="E4F0EF"/>
          </a:solidFill>
          <a:ln w="9525">
            <a:solidFill>
              <a:srgbClr val="0E7C7B"/>
            </a:solidFill>
            <a:prstDash val="solid"/>
          </a:ln>
        </p:spPr>
      </p:sp>
      <p:sp>
        <p:nvSpPr>
          <p:cNvPr id="18" name="Shape 16"/>
          <p:cNvSpPr/>
          <p:nvPr/>
        </p:nvSpPr>
        <p:spPr>
          <a:xfrm>
            <a:off x="8537448" y="3035808"/>
            <a:ext cx="91440" cy="91440"/>
          </a:xfrm>
          <a:prstGeom prst="roundRect">
            <a:avLst>
              <a:gd name="adj" fmla="val 20000"/>
            </a:avLst>
          </a:prstGeom>
          <a:solidFill>
            <a:srgbClr val="E4F0EF"/>
          </a:solidFill>
          <a:ln w="9525">
            <a:solidFill>
              <a:srgbClr val="0E7C7B"/>
            </a:solidFill>
            <a:prstDash val="solid"/>
          </a:ln>
        </p:spPr>
      </p:sp>
      <p:sp>
        <p:nvSpPr>
          <p:cNvPr id="19" name="Shape 17"/>
          <p:cNvSpPr/>
          <p:nvPr/>
        </p:nvSpPr>
        <p:spPr>
          <a:xfrm>
            <a:off x="8065008" y="3108960"/>
            <a:ext cx="777240" cy="329184"/>
          </a:xfrm>
          <a:prstGeom prst="roundRect">
            <a:avLst>
              <a:gd name="adj" fmla="val 11111"/>
            </a:avLst>
          </a:prstGeom>
          <a:solidFill>
            <a:srgbClr val="E4F0EF"/>
          </a:solidFill>
          <a:ln w="9525">
            <a:solidFill>
              <a:srgbClr val="0E7C7B"/>
            </a:solidFill>
            <a:prstDash val="solid"/>
          </a:ln>
        </p:spPr>
      </p:sp>
      <p:sp>
        <p:nvSpPr>
          <p:cNvPr id="20" name="Text 18"/>
          <p:cNvSpPr/>
          <p:nvPr/>
        </p:nvSpPr>
        <p:spPr>
          <a:xfrm>
            <a:off x="8065008" y="3118104"/>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1" name="Shape 19"/>
          <p:cNvSpPr/>
          <p:nvPr/>
        </p:nvSpPr>
        <p:spPr>
          <a:xfrm>
            <a:off x="8988552" y="3035808"/>
            <a:ext cx="91440" cy="91440"/>
          </a:xfrm>
          <a:prstGeom prst="roundRect">
            <a:avLst>
              <a:gd name="adj" fmla="val 20000"/>
            </a:avLst>
          </a:prstGeom>
          <a:solidFill>
            <a:srgbClr val="FFFFFF"/>
          </a:solidFill>
          <a:ln w="9525">
            <a:solidFill>
              <a:srgbClr val="0E7C7B"/>
            </a:solidFill>
            <a:prstDash val="solid"/>
          </a:ln>
        </p:spPr>
      </p:sp>
      <p:sp>
        <p:nvSpPr>
          <p:cNvPr id="22" name="Shape 20"/>
          <p:cNvSpPr/>
          <p:nvPr/>
        </p:nvSpPr>
        <p:spPr>
          <a:xfrm>
            <a:off x="8897112" y="3108960"/>
            <a:ext cx="274320" cy="329184"/>
          </a:xfrm>
          <a:prstGeom prst="roundRect">
            <a:avLst>
              <a:gd name="adj" fmla="val 13333"/>
            </a:avLst>
          </a:prstGeom>
          <a:solidFill>
            <a:srgbClr val="FFFFFF"/>
          </a:solidFill>
          <a:ln w="9525">
            <a:solidFill>
              <a:srgbClr val="0E7C7B"/>
            </a:solidFill>
            <a:prstDash val="solid"/>
          </a:ln>
        </p:spPr>
      </p:sp>
      <p:sp>
        <p:nvSpPr>
          <p:cNvPr id="23" name="Text 21"/>
          <p:cNvSpPr/>
          <p:nvPr/>
        </p:nvSpPr>
        <p:spPr>
          <a:xfrm>
            <a:off x="8897112" y="3118104"/>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4" name="Shape 22"/>
          <p:cNvSpPr/>
          <p:nvPr/>
        </p:nvSpPr>
        <p:spPr>
          <a:xfrm>
            <a:off x="9348216" y="3035808"/>
            <a:ext cx="91440" cy="91440"/>
          </a:xfrm>
          <a:prstGeom prst="roundRect">
            <a:avLst>
              <a:gd name="adj" fmla="val 20000"/>
            </a:avLst>
          </a:prstGeom>
          <a:solidFill>
            <a:srgbClr val="E4F0EF"/>
          </a:solidFill>
          <a:ln w="9525">
            <a:solidFill>
              <a:srgbClr val="0E7C7B"/>
            </a:solidFill>
            <a:prstDash val="solid"/>
          </a:ln>
        </p:spPr>
      </p:sp>
      <p:sp>
        <p:nvSpPr>
          <p:cNvPr id="25" name="Shape 23"/>
          <p:cNvSpPr/>
          <p:nvPr/>
        </p:nvSpPr>
        <p:spPr>
          <a:xfrm>
            <a:off x="9515856" y="3035808"/>
            <a:ext cx="91440" cy="91440"/>
          </a:xfrm>
          <a:prstGeom prst="roundRect">
            <a:avLst>
              <a:gd name="adj" fmla="val 20000"/>
            </a:avLst>
          </a:prstGeom>
          <a:solidFill>
            <a:srgbClr val="E4F0EF"/>
          </a:solidFill>
          <a:ln w="9525">
            <a:solidFill>
              <a:srgbClr val="0E7C7B"/>
            </a:solidFill>
            <a:prstDash val="solid"/>
          </a:ln>
        </p:spPr>
      </p:sp>
      <p:sp>
        <p:nvSpPr>
          <p:cNvPr id="26" name="Shape 24"/>
          <p:cNvSpPr/>
          <p:nvPr/>
        </p:nvSpPr>
        <p:spPr>
          <a:xfrm>
            <a:off x="9226296" y="3108960"/>
            <a:ext cx="502920" cy="329184"/>
          </a:xfrm>
          <a:prstGeom prst="roundRect">
            <a:avLst>
              <a:gd name="adj" fmla="val 11111"/>
            </a:avLst>
          </a:prstGeom>
          <a:solidFill>
            <a:srgbClr val="E4F0EF"/>
          </a:solidFill>
          <a:ln w="9525">
            <a:solidFill>
              <a:srgbClr val="0E7C7B"/>
            </a:solidFill>
            <a:prstDash val="solid"/>
          </a:ln>
        </p:spPr>
      </p:sp>
      <p:sp>
        <p:nvSpPr>
          <p:cNvPr id="27" name="Text 25"/>
          <p:cNvSpPr/>
          <p:nvPr/>
        </p:nvSpPr>
        <p:spPr>
          <a:xfrm>
            <a:off x="9226296"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28" name="Shape 26"/>
          <p:cNvSpPr/>
          <p:nvPr/>
        </p:nvSpPr>
        <p:spPr>
          <a:xfrm>
            <a:off x="9838944" y="3035808"/>
            <a:ext cx="91440" cy="91440"/>
          </a:xfrm>
          <a:prstGeom prst="roundRect">
            <a:avLst>
              <a:gd name="adj" fmla="val 20000"/>
            </a:avLst>
          </a:prstGeom>
          <a:solidFill>
            <a:srgbClr val="FFFFFF"/>
          </a:solidFill>
          <a:ln w="9525">
            <a:solidFill>
              <a:srgbClr val="0E7C7B"/>
            </a:solidFill>
            <a:prstDash val="solid"/>
          </a:ln>
        </p:spPr>
      </p:sp>
      <p:sp>
        <p:nvSpPr>
          <p:cNvPr id="29" name="Shape 27"/>
          <p:cNvSpPr/>
          <p:nvPr/>
        </p:nvSpPr>
        <p:spPr>
          <a:xfrm>
            <a:off x="9784080" y="3108960"/>
            <a:ext cx="201168" cy="329184"/>
          </a:xfrm>
          <a:prstGeom prst="roundRect">
            <a:avLst>
              <a:gd name="adj" fmla="val 18182"/>
            </a:avLst>
          </a:prstGeom>
          <a:solidFill>
            <a:srgbClr val="FFFFFF"/>
          </a:solidFill>
          <a:ln w="9525">
            <a:solidFill>
              <a:srgbClr val="0E7C7B"/>
            </a:solidFill>
            <a:prstDash val="solid"/>
          </a:ln>
        </p:spPr>
      </p:sp>
      <p:sp>
        <p:nvSpPr>
          <p:cNvPr id="30" name="Text 28"/>
          <p:cNvSpPr/>
          <p:nvPr/>
        </p:nvSpPr>
        <p:spPr>
          <a:xfrm>
            <a:off x="9784080" y="3118104"/>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1" name="Shape 29"/>
          <p:cNvSpPr/>
          <p:nvPr/>
        </p:nvSpPr>
        <p:spPr>
          <a:xfrm>
            <a:off x="10162032" y="3035808"/>
            <a:ext cx="91440" cy="91440"/>
          </a:xfrm>
          <a:prstGeom prst="roundRect">
            <a:avLst>
              <a:gd name="adj" fmla="val 20000"/>
            </a:avLst>
          </a:prstGeom>
          <a:solidFill>
            <a:srgbClr val="E4F0EF"/>
          </a:solidFill>
          <a:ln w="9525">
            <a:solidFill>
              <a:srgbClr val="0E7C7B"/>
            </a:solidFill>
            <a:prstDash val="solid"/>
          </a:ln>
        </p:spPr>
      </p:sp>
      <p:sp>
        <p:nvSpPr>
          <p:cNvPr id="32" name="Shape 30"/>
          <p:cNvSpPr/>
          <p:nvPr/>
        </p:nvSpPr>
        <p:spPr>
          <a:xfrm>
            <a:off x="10329672" y="3035808"/>
            <a:ext cx="91440" cy="91440"/>
          </a:xfrm>
          <a:prstGeom prst="roundRect">
            <a:avLst>
              <a:gd name="adj" fmla="val 20000"/>
            </a:avLst>
          </a:prstGeom>
          <a:solidFill>
            <a:srgbClr val="E4F0EF"/>
          </a:solidFill>
          <a:ln w="9525">
            <a:solidFill>
              <a:srgbClr val="0E7C7B"/>
            </a:solidFill>
            <a:prstDash val="solid"/>
          </a:ln>
        </p:spPr>
      </p:sp>
      <p:sp>
        <p:nvSpPr>
          <p:cNvPr id="33" name="Shape 31"/>
          <p:cNvSpPr/>
          <p:nvPr/>
        </p:nvSpPr>
        <p:spPr>
          <a:xfrm>
            <a:off x="10040112" y="3108960"/>
            <a:ext cx="502920" cy="329184"/>
          </a:xfrm>
          <a:prstGeom prst="roundRect">
            <a:avLst>
              <a:gd name="adj" fmla="val 11111"/>
            </a:avLst>
          </a:prstGeom>
          <a:solidFill>
            <a:srgbClr val="E4F0EF"/>
          </a:solidFill>
          <a:ln w="9525">
            <a:solidFill>
              <a:srgbClr val="0E7C7B"/>
            </a:solidFill>
            <a:prstDash val="solid"/>
          </a:ln>
        </p:spPr>
      </p:sp>
      <p:sp>
        <p:nvSpPr>
          <p:cNvPr id="34" name="Text 32"/>
          <p:cNvSpPr/>
          <p:nvPr/>
        </p:nvSpPr>
        <p:spPr>
          <a:xfrm>
            <a:off x="10040112"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5" name="Shape 33"/>
          <p:cNvSpPr/>
          <p:nvPr/>
        </p:nvSpPr>
        <p:spPr>
          <a:xfrm>
            <a:off x="10735056" y="3035808"/>
            <a:ext cx="91440" cy="91440"/>
          </a:xfrm>
          <a:prstGeom prst="roundRect">
            <a:avLst>
              <a:gd name="adj" fmla="val 20000"/>
            </a:avLst>
          </a:prstGeom>
          <a:solidFill>
            <a:srgbClr val="FFFFFF"/>
          </a:solidFill>
          <a:ln w="9525">
            <a:solidFill>
              <a:srgbClr val="0E7C7B"/>
            </a:solidFill>
            <a:prstDash val="solid"/>
          </a:ln>
        </p:spPr>
      </p:sp>
      <p:sp>
        <p:nvSpPr>
          <p:cNvPr id="36" name="Shape 34"/>
          <p:cNvSpPr/>
          <p:nvPr/>
        </p:nvSpPr>
        <p:spPr>
          <a:xfrm>
            <a:off x="10917936" y="3035808"/>
            <a:ext cx="91440" cy="91440"/>
          </a:xfrm>
          <a:prstGeom prst="roundRect">
            <a:avLst>
              <a:gd name="adj" fmla="val 20000"/>
            </a:avLst>
          </a:prstGeom>
          <a:solidFill>
            <a:srgbClr val="FFFFFF"/>
          </a:solidFill>
          <a:ln w="9525">
            <a:solidFill>
              <a:srgbClr val="0E7C7B"/>
            </a:solidFill>
            <a:prstDash val="solid"/>
          </a:ln>
        </p:spPr>
      </p:sp>
      <p:sp>
        <p:nvSpPr>
          <p:cNvPr id="37" name="Shape 35"/>
          <p:cNvSpPr/>
          <p:nvPr/>
        </p:nvSpPr>
        <p:spPr>
          <a:xfrm>
            <a:off x="10597896" y="3108960"/>
            <a:ext cx="548640" cy="329184"/>
          </a:xfrm>
          <a:prstGeom prst="roundRect">
            <a:avLst>
              <a:gd name="adj" fmla="val 11111"/>
            </a:avLst>
          </a:prstGeom>
          <a:solidFill>
            <a:srgbClr val="FFFFFF"/>
          </a:solidFill>
          <a:ln w="9525">
            <a:solidFill>
              <a:srgbClr val="0E7C7B"/>
            </a:solidFill>
            <a:prstDash val="solid"/>
          </a:ln>
        </p:spPr>
      </p:sp>
      <p:sp>
        <p:nvSpPr>
          <p:cNvPr id="38" name="Text 36"/>
          <p:cNvSpPr/>
          <p:nvPr/>
        </p:nvSpPr>
        <p:spPr>
          <a:xfrm>
            <a:off x="10597896" y="3118104"/>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39" name="Text 37"/>
          <p:cNvSpPr/>
          <p:nvPr/>
        </p:nvSpPr>
        <p:spPr>
          <a:xfrm>
            <a:off x="6675120" y="3520440"/>
            <a:ext cx="47548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eight bricks — the model receives eight numbered IDs, not forty letters</a:t>
            </a:r>
            <a:endParaRPr lang="en-US" sz="950" dirty="0"/>
          </a:p>
        </p:txBody>
      </p:sp>
      <p:sp>
        <p:nvSpPr>
          <p:cNvPr id="40" name="Shape 38"/>
          <p:cNvSpPr/>
          <p:nvPr/>
        </p:nvSpPr>
        <p:spPr>
          <a:xfrm>
            <a:off x="6400800" y="3977640"/>
            <a:ext cx="5257800" cy="1417320"/>
          </a:xfrm>
          <a:prstGeom prst="roundRect">
            <a:avLst>
              <a:gd name="adj" fmla="val 5161"/>
            </a:avLst>
          </a:prstGeom>
          <a:solidFill>
            <a:srgbClr val="E4F0EF"/>
          </a:solidFill>
          <a:ln/>
        </p:spPr>
      </p:sp>
      <p:sp>
        <p:nvSpPr>
          <p:cNvPr id="41" name="Shape 39"/>
          <p:cNvSpPr/>
          <p:nvPr/>
        </p:nvSpPr>
        <p:spPr>
          <a:xfrm>
            <a:off x="6565392" y="4494276"/>
            <a:ext cx="384048" cy="384048"/>
          </a:xfrm>
          <a:prstGeom prst="ellipse">
            <a:avLst/>
          </a:prstGeom>
          <a:solidFill>
            <a:srgbClr val="0E7C7B"/>
          </a:solidFill>
          <a:ln/>
        </p:spPr>
      </p:sp>
      <p:pic>
        <p:nvPicPr>
          <p:cNvPr id="42" name="Image 0" descr="/home/user/Claude-Works/ai-training-prompt-engineering/src/assets/icons/layers_w.png">    </p:cNvPr>
          <p:cNvPicPr>
            <a:picLocks noChangeAspect="1"/>
          </p:cNvPicPr>
          <p:nvPr/>
        </p:nvPicPr>
        <p:blipFill>
          <a:blip r:embed="rId1"/>
          <a:stretch>
            <a:fillRect/>
          </a:stretch>
        </p:blipFill>
        <p:spPr>
          <a:xfrm>
            <a:off x="6665244" y="4594128"/>
            <a:ext cx="184343" cy="184343"/>
          </a:xfrm>
          <a:prstGeom prst="rect">
            <a:avLst/>
          </a:prstGeom>
        </p:spPr>
      </p:pic>
      <p:sp>
        <p:nvSpPr>
          <p:cNvPr id="43" name="Text 40"/>
          <p:cNvSpPr/>
          <p:nvPr/>
        </p:nvSpPr>
        <p:spPr>
          <a:xfrm>
            <a:off x="7114032" y="4050792"/>
            <a:ext cx="4315968" cy="127101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4" name="Shape 41"/>
          <p:cNvSpPr/>
          <p:nvPr/>
        </p:nvSpPr>
        <p:spPr>
          <a:xfrm>
            <a:off x="502920" y="4434840"/>
            <a:ext cx="5669280" cy="1554480"/>
          </a:xfrm>
          <a:prstGeom prst="roundRect">
            <a:avLst>
              <a:gd name="adj" fmla="val 4706"/>
            </a:avLst>
          </a:prstGeom>
          <a:solidFill>
            <a:srgbClr val="E4F0EF"/>
          </a:solidFill>
          <a:ln/>
        </p:spPr>
      </p:sp>
      <p:sp>
        <p:nvSpPr>
          <p:cNvPr id="45" name="Shape 42"/>
          <p:cNvSpPr/>
          <p:nvPr/>
        </p:nvSpPr>
        <p:spPr>
          <a:xfrm>
            <a:off x="649224" y="4553712"/>
            <a:ext cx="365760" cy="365760"/>
          </a:xfrm>
          <a:prstGeom prst="ellipse">
            <a:avLst/>
          </a:prstGeom>
          <a:solidFill>
            <a:srgbClr val="0E7C7B"/>
          </a:solidFill>
          <a:ln/>
        </p:spPr>
      </p:sp>
      <p:pic>
        <p:nvPicPr>
          <p:cNvPr id="46" name="Image 1" descr="/home/user/Claude-Works/ai-training-prompt-engineering/src/assets/icons/robot_w.png">    </p:cNvPr>
          <p:cNvPicPr>
            <a:picLocks noChangeAspect="1"/>
          </p:cNvPicPr>
          <p:nvPr/>
        </p:nvPicPr>
        <p:blipFill>
          <a:blip r:embed="rId2"/>
          <a:stretch>
            <a:fillRect/>
          </a:stretch>
        </p:blipFill>
        <p:spPr>
          <a:xfrm>
            <a:off x="744322" y="4648810"/>
            <a:ext cx="175565" cy="175565"/>
          </a:xfrm>
          <a:prstGeom prst="rect">
            <a:avLst/>
          </a:prstGeom>
        </p:spPr>
      </p:pic>
      <p:sp>
        <p:nvSpPr>
          <p:cNvPr id="47" name="Shape 43"/>
          <p:cNvSpPr/>
          <p:nvPr/>
        </p:nvSpPr>
        <p:spPr>
          <a:xfrm>
            <a:off x="1106424" y="4581144"/>
            <a:ext cx="1188720" cy="310896"/>
          </a:xfrm>
          <a:prstGeom prst="roundRect">
            <a:avLst>
              <a:gd name="adj" fmla="val 23529"/>
            </a:avLst>
          </a:prstGeom>
          <a:solidFill>
            <a:srgbClr val="0E7C7B"/>
          </a:solidFill>
          <a:ln/>
        </p:spPr>
      </p:sp>
      <p:sp>
        <p:nvSpPr>
          <p:cNvPr id="48" name="Text 44"/>
          <p:cNvSpPr/>
          <p:nvPr/>
        </p:nvSpPr>
        <p:spPr>
          <a:xfrm>
            <a:off x="1106424" y="459028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49" name="Text 45"/>
          <p:cNvSpPr/>
          <p:nvPr/>
        </p:nvSpPr>
        <p:spPr>
          <a:xfrm>
            <a:off x="2404872" y="4590288"/>
            <a:ext cx="35204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Bricks, not letters</a:t>
            </a:r>
            <a:endParaRPr lang="en-US" sz="1050" dirty="0"/>
          </a:p>
        </p:txBody>
      </p:sp>
      <p:sp>
        <p:nvSpPr>
          <p:cNvPr id="50" name="Text 46"/>
          <p:cNvSpPr/>
          <p:nvPr/>
        </p:nvSpPr>
        <p:spPr>
          <a:xfrm>
            <a:off x="685800" y="4946904"/>
            <a:ext cx="5303520" cy="676656"/>
          </a:xfrm>
          <a:prstGeom prst="rect">
            <a:avLst/>
          </a:prstGeom>
          <a:noFill/>
          <a:ln/>
        </p:spPr>
        <p:txBody>
          <a:bodyPr wrap="square" lIns="0" tIns="0" rIns="0" bIns="0" rtlCol="0" anchor="t"/>
          <a:lstStyle/>
          <a:p>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the definition lands in your course log — and the brick analogy is the one the best explainers use.</a:t>
            </a:r>
            <a:endParaRPr lang="en-US" sz="840" dirty="0"/>
          </a:p>
        </p:txBody>
      </p:sp>
      <p:sp>
        <p:nvSpPr>
          <p:cNvPr id="51" name="Text 47"/>
          <p:cNvSpPr/>
          <p:nvPr/>
        </p:nvSpPr>
        <p:spPr>
          <a:xfrm>
            <a:off x="685800" y="5696712"/>
            <a:ext cx="53035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514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194560"/>
          </a:xfrm>
          <a:prstGeom prst="roundRect">
            <a:avLst>
              <a:gd name="adj" fmla="val 3333"/>
            </a:avLst>
          </a:prstGeom>
          <a:solidFill>
            <a:srgbClr val="F2F5F6"/>
          </a:solidFill>
          <a:ln/>
        </p:spPr>
      </p:sp>
      <p:sp>
        <p:nvSpPr>
          <p:cNvPr id="8" name="Text 6"/>
          <p:cNvSpPr/>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What’s on the desk right now</a:t>
            </a:r>
            <a:endParaRPr lang="en-US" sz="1400" dirty="0"/>
          </a:p>
        </p:txBody>
      </p:sp>
      <p:sp>
        <p:nvSpPr>
          <p:cNvPr id="9" name="Shape 7"/>
          <p:cNvSpPr/>
          <p:nvPr/>
        </p:nvSpPr>
        <p:spPr>
          <a:xfrm>
            <a:off x="6675120" y="2139696"/>
            <a:ext cx="384048" cy="384048"/>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74972" y="2239548"/>
            <a:ext cx="184343" cy="184343"/>
          </a:xfrm>
          <a:prstGeom prst="rect">
            <a:avLst/>
          </a:prstGeom>
        </p:spPr>
      </p:pic>
      <p:sp>
        <p:nvSpPr>
          <p:cNvPr id="11" name="Text 8"/>
          <p:cNvSpPr/>
          <p:nvPr/>
        </p:nvSpPr>
        <p:spPr>
          <a:xfrm>
            <a:off x="7168896" y="2084832"/>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2" name="Shape 9"/>
          <p:cNvSpPr/>
          <p:nvPr/>
        </p:nvSpPr>
        <p:spPr>
          <a:xfrm>
            <a:off x="9189720" y="2139696"/>
            <a:ext cx="384048" cy="384048"/>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9572" y="2239548"/>
            <a:ext cx="184343" cy="184343"/>
          </a:xfrm>
          <a:prstGeom prst="rect">
            <a:avLst/>
          </a:prstGeom>
        </p:spPr>
      </p:pic>
      <p:sp>
        <p:nvSpPr>
          <p:cNvPr id="14" name="Text 10"/>
          <p:cNvSpPr/>
          <p:nvPr/>
        </p:nvSpPr>
        <p:spPr>
          <a:xfrm>
            <a:off x="9683496" y="2084832"/>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5" name="Shape 11"/>
          <p:cNvSpPr/>
          <p:nvPr/>
        </p:nvSpPr>
        <p:spPr>
          <a:xfrm>
            <a:off x="6675120" y="2889504"/>
            <a:ext cx="384048" cy="384048"/>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74972" y="2989356"/>
            <a:ext cx="184343" cy="184343"/>
          </a:xfrm>
          <a:prstGeom prst="rect">
            <a:avLst/>
          </a:prstGeom>
        </p:spPr>
      </p:pic>
      <p:sp>
        <p:nvSpPr>
          <p:cNvPr id="17" name="Text 12"/>
          <p:cNvSpPr/>
          <p:nvPr/>
        </p:nvSpPr>
        <p:spPr>
          <a:xfrm>
            <a:off x="7168896" y="2834640"/>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18" name="Shape 13"/>
          <p:cNvSpPr/>
          <p:nvPr/>
        </p:nvSpPr>
        <p:spPr>
          <a:xfrm>
            <a:off x="9189720" y="2889504"/>
            <a:ext cx="384048" cy="384048"/>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9572" y="2989356"/>
            <a:ext cx="184343" cy="184343"/>
          </a:xfrm>
          <a:prstGeom prst="rect">
            <a:avLst/>
          </a:prstGeom>
        </p:spPr>
      </p:pic>
      <p:sp>
        <p:nvSpPr>
          <p:cNvPr id="20" name="Text 14"/>
          <p:cNvSpPr/>
          <p:nvPr/>
        </p:nvSpPr>
        <p:spPr>
          <a:xfrm>
            <a:off x="9683496" y="2834640"/>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1" name="Shape 15"/>
          <p:cNvSpPr/>
          <p:nvPr/>
        </p:nvSpPr>
        <p:spPr>
          <a:xfrm>
            <a:off x="6400800" y="3803904"/>
            <a:ext cx="5257800" cy="1170432"/>
          </a:xfrm>
          <a:prstGeom prst="roundRect">
            <a:avLst>
              <a:gd name="adj" fmla="val 6250"/>
            </a:avLst>
          </a:prstGeom>
          <a:solidFill>
            <a:srgbClr val="E4F0EF"/>
          </a:solidFill>
          <a:ln/>
        </p:spPr>
      </p:sp>
      <p:sp>
        <p:nvSpPr>
          <p:cNvPr id="22" name="Shape 16"/>
          <p:cNvSpPr/>
          <p:nvPr/>
        </p:nvSpPr>
        <p:spPr>
          <a:xfrm>
            <a:off x="6565392" y="419709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296948"/>
            <a:ext cx="184343" cy="184343"/>
          </a:xfrm>
          <a:prstGeom prst="rect">
            <a:avLst/>
          </a:prstGeom>
        </p:spPr>
      </p:pic>
      <p:sp>
        <p:nvSpPr>
          <p:cNvPr id="24" name="Text 17"/>
          <p:cNvSpPr/>
          <p:nvPr/>
        </p:nvSpPr>
        <p:spPr>
          <a:xfrm>
            <a:off x="7114032" y="3877056"/>
            <a:ext cx="4315968" cy="1024128"/>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050" dirty="0"/>
          </a:p>
          <a:p>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050" dirty="0"/>
          </a:p>
        </p:txBody>
      </p:sp>
      <p:sp>
        <p:nvSpPr>
          <p:cNvPr id="25" name="Shape 18"/>
          <p:cNvSpPr/>
          <p:nvPr/>
        </p:nvSpPr>
        <p:spPr>
          <a:xfrm>
            <a:off x="502920" y="4114800"/>
            <a:ext cx="5669280" cy="859536"/>
          </a:xfrm>
          <a:prstGeom prst="roundRect">
            <a:avLst>
              <a:gd name="adj" fmla="val 8511"/>
            </a:avLst>
          </a:prstGeom>
          <a:solidFill>
            <a:srgbClr val="FBF0E0"/>
          </a:solidFill>
          <a:ln/>
        </p:spPr>
      </p:sp>
      <p:sp>
        <p:nvSpPr>
          <p:cNvPr id="26" name="Text 19"/>
          <p:cNvSpPr/>
          <p:nvPr/>
        </p:nvSpPr>
        <p:spPr>
          <a:xfrm>
            <a:off x="777240" y="4206240"/>
            <a:ext cx="5212080" cy="694944"/>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exactly what agentic tools bolt onto the desk — Part 5.</a:t>
            </a:r>
            <a:endParaRPr lang="en-US" sz="1100" dirty="0"/>
          </a:p>
        </p:txBody>
      </p:sp>
      <p:sp>
        <p:nvSpPr>
          <p:cNvPr id="27" name="Shape 20"/>
          <p:cNvSpPr/>
          <p:nvPr/>
        </p:nvSpPr>
        <p:spPr>
          <a:xfrm>
            <a:off x="502920" y="5084064"/>
            <a:ext cx="11155680" cy="1389888"/>
          </a:xfrm>
          <a:prstGeom prst="roundRect">
            <a:avLst>
              <a:gd name="adj" fmla="val 5263"/>
            </a:avLst>
          </a:prstGeom>
          <a:solidFill>
            <a:srgbClr val="E4F0EF"/>
          </a:solidFill>
          <a:ln/>
        </p:spPr>
      </p:sp>
      <p:sp>
        <p:nvSpPr>
          <p:cNvPr id="28" name="Shape 21"/>
          <p:cNvSpPr/>
          <p:nvPr/>
        </p:nvSpPr>
        <p:spPr>
          <a:xfrm>
            <a:off x="649224" y="5202936"/>
            <a:ext cx="365760" cy="365760"/>
          </a:xfrm>
          <a:prstGeom prst="ellipse">
            <a:avLst/>
          </a:prstGeom>
          <a:solidFill>
            <a:srgbClr val="0E7C7B"/>
          </a:solidFill>
          <a:ln/>
        </p:spPr>
      </p:sp>
      <p:pic>
        <p:nvPicPr>
          <p:cNvPr id="29" name="Image 5" descr="/home/user/Claude-Works/ai-training-prompt-engineering/src/assets/icons/robot_w.png">    </p:cNvPr>
          <p:cNvPicPr>
            <a:picLocks noChangeAspect="1"/>
          </p:cNvPicPr>
          <p:nvPr/>
        </p:nvPicPr>
        <p:blipFill>
          <a:blip r:embed="rId6"/>
          <a:stretch>
            <a:fillRect/>
          </a:stretch>
        </p:blipFill>
        <p:spPr>
          <a:xfrm>
            <a:off x="744322" y="5298034"/>
            <a:ext cx="175565" cy="175565"/>
          </a:xfrm>
          <a:prstGeom prst="rect">
            <a:avLst/>
          </a:prstGeom>
        </p:spPr>
      </p:pic>
      <p:sp>
        <p:nvSpPr>
          <p:cNvPr id="30" name="Shape 22"/>
          <p:cNvSpPr/>
          <p:nvPr/>
        </p:nvSpPr>
        <p:spPr>
          <a:xfrm>
            <a:off x="1106424" y="5230368"/>
            <a:ext cx="1188720" cy="310896"/>
          </a:xfrm>
          <a:prstGeom prst="roundRect">
            <a:avLst>
              <a:gd name="adj" fmla="val 23529"/>
            </a:avLst>
          </a:prstGeom>
          <a:solidFill>
            <a:srgbClr val="0E7C7B"/>
          </a:solidFill>
          <a:ln/>
        </p:spPr>
      </p:sp>
      <p:sp>
        <p:nvSpPr>
          <p:cNvPr id="31" name="Text 23"/>
          <p:cNvSpPr/>
          <p:nvPr/>
        </p:nvSpPr>
        <p:spPr>
          <a:xfrm>
            <a:off x="1106424" y="523951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2" name="Text 24"/>
          <p:cNvSpPr/>
          <p:nvPr/>
        </p:nvSpPr>
        <p:spPr>
          <a:xfrm>
            <a:off x="2404872" y="523951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desk — explained, then carried</a:t>
            </a:r>
            <a:endParaRPr lang="en-US" sz="1050" dirty="0"/>
          </a:p>
        </p:txBody>
      </p:sp>
      <p:sp>
        <p:nvSpPr>
          <p:cNvPr id="33" name="Text 25"/>
          <p:cNvSpPr/>
          <p:nvPr/>
        </p:nvSpPr>
        <p:spPr>
          <a:xfrm>
            <a:off x="685800" y="5596128"/>
            <a:ext cx="10789920" cy="512064"/>
          </a:xfrm>
          <a:prstGeom prst="rect">
            <a:avLst/>
          </a:prstGeom>
          <a:noFill/>
          <a:ln/>
        </p:spPr>
        <p:txBody>
          <a:bodyPr wrap="square" lIns="0" tIns="0" rIns="0" bIns="0" rtlCol="0" anchor="t"/>
          <a:lstStyle/>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90" i="1" dirty="0">
                <a:solidFill>
                  <a:srgbClr val="46545F"/>
                </a:solidFill>
                <a:latin typeface="Calibri" pitchFamily="34" charset="0"/>
                <a:ea typeface="Calibri" pitchFamily="34" charset="-122"/>
                <a:cs typeface="Calibri" pitchFamily="34" charset="-120"/>
              </a:rPr>
              <a:t>the AI describes its own working memory, plainly.</a:t>
            </a:r>
            <a:endParaRPr lang="en-US" sz="840" dirty="0"/>
          </a:p>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tonight, paste it into a fresh chat, ask “where was I?” — and watch it pick up your course.</a:t>
            </a:r>
            <a:endParaRPr lang="en-US" sz="840" dirty="0"/>
          </a:p>
        </p:txBody>
      </p:sp>
      <p:sp>
        <p:nvSpPr>
          <p:cNvPr id="34" name="Text 26"/>
          <p:cNvSpPr/>
          <p:nvPr/>
        </p:nvSpPr>
        <p:spPr>
          <a:xfrm>
            <a:off x="685800" y="6181344"/>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04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04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04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040" dirty="0"/>
          </a:p>
        </p:txBody>
      </p:sp>
      <p:sp>
        <p:nvSpPr>
          <p:cNvPr id="30" name="Shape 24"/>
          <p:cNvSpPr/>
          <p:nvPr/>
        </p:nvSpPr>
        <p:spPr>
          <a:xfrm>
            <a:off x="502920" y="4096512"/>
            <a:ext cx="5486400" cy="1645920"/>
          </a:xfrm>
          <a:prstGeom prst="roundRect">
            <a:avLst>
              <a:gd name="adj" fmla="val 4444"/>
            </a:avLst>
          </a:prstGeom>
          <a:solidFill>
            <a:srgbClr val="E7F2EC"/>
          </a:solidFill>
          <a:ln/>
        </p:spPr>
      </p:sp>
      <p:sp>
        <p:nvSpPr>
          <p:cNvPr id="31" name="Text 25"/>
          <p:cNvSpPr/>
          <p:nvPr/>
        </p:nvSpPr>
        <p:spPr>
          <a:xfrm>
            <a:off x="77724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250" b="1" dirty="0">
                <a:solidFill>
                  <a:srgbClr val="232A31"/>
                </a:solidFill>
                <a:latin typeface="Calibri" pitchFamily="34" charset="0"/>
                <a:ea typeface="Calibri" pitchFamily="34" charset="-122"/>
                <a:cs typeface="Calibri" pitchFamily="34" charset="-120"/>
              </a:rPr>
              <a:t>Why enterprises build on it: </a:t>
            </a:r>
            <a:endParaRPr lang="en-US" sz="12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see what you’re allowed to see).</a:t>
            </a:r>
            <a:endParaRPr lang="en-US" sz="1250" dirty="0"/>
          </a:p>
        </p:txBody>
      </p:sp>
      <p:sp>
        <p:nvSpPr>
          <p:cNvPr id="32" name="Shape 26"/>
          <p:cNvSpPr/>
          <p:nvPr/>
        </p:nvSpPr>
        <p:spPr>
          <a:xfrm>
            <a:off x="6172200" y="4096512"/>
            <a:ext cx="5486400" cy="1645920"/>
          </a:xfrm>
          <a:prstGeom prst="roundRect">
            <a:avLst>
              <a:gd name="adj" fmla="val 4444"/>
            </a:avLst>
          </a:prstGeom>
          <a:solidFill>
            <a:srgbClr val="F9E9E8"/>
          </a:solidFill>
          <a:ln/>
        </p:spPr>
      </p:sp>
      <p:sp>
        <p:nvSpPr>
          <p:cNvPr id="33" name="Text 27"/>
          <p:cNvSpPr/>
          <p:nvPr/>
        </p:nvSpPr>
        <p:spPr>
          <a:xfrm>
            <a:off x="644652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250" b="1" dirty="0">
                <a:solidFill>
                  <a:srgbClr val="AF3230"/>
                </a:solidFill>
                <a:latin typeface="Calibri" pitchFamily="34" charset="0"/>
                <a:ea typeface="Calibri" pitchFamily="34" charset="-122"/>
                <a:cs typeface="Calibri" pitchFamily="34" charset="-120"/>
              </a:rPr>
              <a:t>The failure mode to respect: </a:t>
            </a:r>
            <a:endParaRPr lang="en-US" sz="12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Check the citation, not just the prose.</a:t>
            </a:r>
            <a:endParaRPr lang="en-US" sz="1250" dirty="0"/>
          </a:p>
        </p:txBody>
      </p:sp>
      <p:sp>
        <p:nvSpPr>
          <p:cNvPr id="34" name="Shape 28"/>
          <p:cNvSpPr/>
          <p:nvPr/>
        </p:nvSpPr>
        <p:spPr>
          <a:xfrm>
            <a:off x="502920" y="5870448"/>
            <a:ext cx="11155680" cy="566928"/>
          </a:xfrm>
          <a:prstGeom prst="roundRect">
            <a:avLst>
              <a:gd name="adj" fmla="val 12903"/>
            </a:avLst>
          </a:prstGeom>
          <a:solidFill>
            <a:srgbClr val="E4F0EF"/>
          </a:solidFill>
          <a:ln/>
        </p:spPr>
      </p:sp>
      <p:sp>
        <p:nvSpPr>
          <p:cNvPr id="35" name="Shape 29"/>
          <p:cNvSpPr/>
          <p:nvPr/>
        </p:nvSpPr>
        <p:spPr>
          <a:xfrm>
            <a:off x="667512" y="5961888"/>
            <a:ext cx="384048" cy="384048"/>
          </a:xfrm>
          <a:prstGeom prst="ellipse">
            <a:avLst/>
          </a:prstGeom>
          <a:solidFill>
            <a:srgbClr val="0E7C7B"/>
          </a:solidFill>
          <a:ln/>
        </p:spPr>
      </p:sp>
      <p:pic>
        <p:nvPicPr>
          <p:cNvPr id="36" name="Image 4" descr="/home/user/Claude-Works/ai-training-prompt-engineering/src/assets/icons/home_w.png">    </p:cNvPr>
          <p:cNvPicPr>
            <a:picLocks noChangeAspect="1"/>
          </p:cNvPicPr>
          <p:nvPr/>
        </p:nvPicPr>
        <p:blipFill>
          <a:blip r:embed="rId5"/>
          <a:stretch>
            <a:fillRect/>
          </a:stretch>
        </p:blipFill>
        <p:spPr>
          <a:xfrm>
            <a:off x="767364" y="6061740"/>
            <a:ext cx="184343" cy="184343"/>
          </a:xfrm>
          <a:prstGeom prst="rect">
            <a:avLst/>
          </a:prstGeom>
        </p:spPr>
      </p:pic>
      <p:sp>
        <p:nvSpPr>
          <p:cNvPr id="37" name="Text 30"/>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Free · instant · every model. 90% of the value — this course.</a:t>
            </a:r>
            <a:endParaRPr lang="en-US" sz="100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0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0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200" dirty="0"/>
          </a:p>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2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Same brain, two speeds</a:t>
            </a:r>
            <a:endParaRPr lang="en-US" sz="105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9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2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920" dirty="0"/>
          </a:p>
          <a:p>
            <a:pPr indent="0" marL="0">
              <a:lnSpc>
                <a:spcPct val="108000"/>
              </a:lnSpc>
              <a:buNone/>
            </a:pPr>
            <a:r>
              <a:rPr lang="en-US" sz="87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7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920" dirty="0"/>
          </a:p>
        </p:txBody>
      </p:sp>
      <p:sp>
        <p:nvSpPr>
          <p:cNvPr id="18" name="Text 15"/>
          <p:cNvSpPr/>
          <p:nvPr/>
        </p:nvSpPr>
        <p:spPr>
          <a:xfrm>
            <a:off x="6583680" y="3328416"/>
            <a:ext cx="489204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80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913632"/>
            <a:ext cx="4754880" cy="329184"/>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sp>
        <p:nvSpPr>
          <p:cNvPr id="21" name="Shape 18"/>
          <p:cNvSpPr/>
          <p:nvPr/>
        </p:nvSpPr>
        <p:spPr>
          <a:xfrm>
            <a:off x="6656832" y="4370832"/>
            <a:ext cx="457200" cy="457200"/>
          </a:xfrm>
          <a:prstGeom prst="ellipse">
            <a:avLst/>
          </a:prstGeom>
          <a:solidFill>
            <a:srgbClr val="3B8560"/>
          </a:solidFill>
          <a:ln/>
        </p:spPr>
      </p:sp>
      <p:pic>
        <p:nvPicPr>
          <p:cNvPr id="22" name="Image 1" descr="/home/user/Claude-Works/ai-training-prompt-engineering/src/assets/icons/zap_w.png">    </p:cNvPr>
          <p:cNvPicPr>
            <a:picLocks noChangeAspect="1"/>
          </p:cNvPicPr>
          <p:nvPr/>
        </p:nvPicPr>
        <p:blipFill>
          <a:blip r:embed="rId2"/>
          <a:stretch>
            <a:fillRect/>
          </a:stretch>
        </p:blipFill>
        <p:spPr>
          <a:xfrm>
            <a:off x="6775704" y="4489704"/>
            <a:ext cx="219456" cy="219456"/>
          </a:xfrm>
          <a:prstGeom prst="rect">
            <a:avLst/>
          </a:prstGeom>
        </p:spPr>
      </p:pic>
      <p:sp>
        <p:nvSpPr>
          <p:cNvPr id="23" name="Text 19"/>
          <p:cNvSpPr/>
          <p:nvPr/>
        </p:nvSpPr>
        <p:spPr>
          <a:xfrm>
            <a:off x="7242048" y="4315968"/>
            <a:ext cx="4206240" cy="566928"/>
          </a:xfrm>
          <a:prstGeom prst="rect">
            <a:avLst/>
          </a:prstGeom>
          <a:noFill/>
          <a:ln/>
        </p:spPr>
        <p:txBody>
          <a:bodyPr wrap="square" lIns="0" tIns="0" rIns="0" bIns="0" rtlCol="0" anchor="ctr"/>
          <a:lstStyle/>
          <a:p>
            <a:pPr indent="0" marL="0">
              <a:lnSpc>
                <a:spcPct val="104000"/>
              </a:lnSpc>
              <a:buNone/>
            </a:pPr>
            <a:r>
              <a:rPr lang="en-US" sz="1250" b="1" dirty="0">
                <a:solidFill>
                  <a:srgbClr val="232A31"/>
                </a:solidFill>
                <a:latin typeface="Calibri" pitchFamily="34" charset="0"/>
                <a:ea typeface="Calibri" pitchFamily="34" charset="-122"/>
                <a:cs typeface="Calibri" pitchFamily="34" charset="-120"/>
              </a:rPr>
              <a:t>FAST —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one pass, instant, cheap. Great until the question has traps.</a:t>
            </a:r>
            <a:endParaRPr lang="en-US" sz="1250" dirty="0"/>
          </a:p>
        </p:txBody>
      </p:sp>
      <p:sp>
        <p:nvSpPr>
          <p:cNvPr id="24" name="Shape 20"/>
          <p:cNvSpPr/>
          <p:nvPr/>
        </p:nvSpPr>
        <p:spPr>
          <a:xfrm>
            <a:off x="6656832" y="5138928"/>
            <a:ext cx="457200" cy="457200"/>
          </a:xfrm>
          <a:prstGeom prst="ellipse">
            <a:avLst/>
          </a:prstGeom>
          <a:solidFill>
            <a:srgbClr val="0E7C7B"/>
          </a:solidFill>
          <a:ln/>
        </p:spPr>
      </p:sp>
      <p:pic>
        <p:nvPicPr>
          <p:cNvPr id="25" name="Image 2" descr="/home/user/Claude-Works/ai-training-prompt-engineering/src/assets/icons/brain_w.png">    </p:cNvPr>
          <p:cNvPicPr>
            <a:picLocks noChangeAspect="1"/>
          </p:cNvPicPr>
          <p:nvPr/>
        </p:nvPicPr>
        <p:blipFill>
          <a:blip r:embed="rId3"/>
          <a:stretch>
            <a:fillRect/>
          </a:stretch>
        </p:blipFill>
        <p:spPr>
          <a:xfrm>
            <a:off x="6775704" y="5257800"/>
            <a:ext cx="219456" cy="219456"/>
          </a:xfrm>
          <a:prstGeom prst="rect">
            <a:avLst/>
          </a:prstGeom>
        </p:spPr>
      </p:pic>
      <p:sp>
        <p:nvSpPr>
          <p:cNvPr id="26" name="Text 21"/>
          <p:cNvSpPr/>
          <p:nvPr/>
        </p:nvSpPr>
        <p:spPr>
          <a:xfrm>
            <a:off x="7242048" y="5084064"/>
            <a:ext cx="4206240" cy="731520"/>
          </a:xfrm>
          <a:prstGeom prst="rect">
            <a:avLst/>
          </a:prstGeom>
          <a:noFill/>
          <a:ln/>
        </p:spPr>
        <p:txBody>
          <a:bodyPr wrap="square" lIns="0" tIns="0" rIns="0" bIns="0" rtlCol="0" anchor="ctr"/>
          <a:lstStyle/>
          <a:p>
            <a:pPr indent="0" marL="0">
              <a:lnSpc>
                <a:spcPct val="104000"/>
              </a:lnSpc>
              <a:buNone/>
            </a:pPr>
            <a:r>
              <a:rPr lang="en-US" sz="1250" b="1" dirty="0">
                <a:solidFill>
                  <a:srgbClr val="232A31"/>
                </a:solidFill>
                <a:latin typeface="Calibri" pitchFamily="34" charset="0"/>
                <a:ea typeface="Calibri" pitchFamily="34" charset="-122"/>
                <a:cs typeface="Calibri" pitchFamily="34" charset="-120"/>
              </a:rPr>
              <a:t>THINKING —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drafts, checks, revises. Slower, 5–20× the cost — worth it when wrong is expensive.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017520"/>
          </a:xfrm>
          <a:prstGeom prst="roundRect">
            <a:avLst>
              <a:gd name="adj" fmla="val 2424"/>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384048"/>
          </a:xfrm>
          <a:prstGeom prst="roundRect">
            <a:avLst>
              <a:gd name="adj" fmla="val 14286"/>
            </a:avLst>
          </a:prstGeom>
          <a:solidFill>
            <a:srgbClr val="E4F0EF"/>
          </a:solidFill>
          <a:ln w="9525">
            <a:solidFill>
              <a:srgbClr val="0E7C7B"/>
            </a:solidFill>
            <a:prstDash val="solid"/>
          </a:ln>
        </p:spPr>
      </p:sp>
      <p:sp>
        <p:nvSpPr>
          <p:cNvPr id="9" name="Text 7"/>
          <p:cNvSpPr/>
          <p:nvPr/>
        </p:nvSpPr>
        <p:spPr>
          <a:xfrm>
            <a:off x="822960" y="2093976"/>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Quick answer</a:t>
            </a:r>
            <a:endParaRPr lang="en-US" sz="860" dirty="0"/>
          </a:p>
        </p:txBody>
      </p:sp>
      <p:sp>
        <p:nvSpPr>
          <p:cNvPr id="10" name="Text 8"/>
          <p:cNvSpPr/>
          <p:nvPr/>
        </p:nvSpPr>
        <p:spPr>
          <a:xfrm>
            <a:off x="3730752" y="2093976"/>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  </a:t>
            </a:r>
            <a:pPr indent="0" marL="0">
              <a:buNone/>
            </a:pPr>
            <a:r>
              <a:rPr lang="en-US" sz="900" dirty="0">
                <a:solidFill>
                  <a:srgbClr val="46545F"/>
                </a:solidFill>
                <a:latin typeface="Calibri" pitchFamily="34" charset="0"/>
                <a:ea typeface="Calibri" pitchFamily="34" charset="-122"/>
                <a:cs typeface="Calibri" pitchFamily="34" charset="-120"/>
              </a:rPr>
              <a:t>one pass, instant</a:t>
            </a:r>
            <a:endParaRPr lang="en-US" sz="1000" dirty="0"/>
          </a:p>
        </p:txBody>
      </p:sp>
      <p:sp>
        <p:nvSpPr>
          <p:cNvPr id="11" name="Shape 9"/>
          <p:cNvSpPr/>
          <p:nvPr/>
        </p:nvSpPr>
        <p:spPr>
          <a:xfrm>
            <a:off x="905256" y="2560320"/>
            <a:ext cx="2331720" cy="384048"/>
          </a:xfrm>
          <a:prstGeom prst="roundRect">
            <a:avLst>
              <a:gd name="adj" fmla="val 14286"/>
            </a:avLst>
          </a:prstGeom>
          <a:solidFill>
            <a:srgbClr val="E4F0EF"/>
          </a:solidFill>
          <a:ln w="9525">
            <a:solidFill>
              <a:srgbClr val="0E7C7B"/>
            </a:solidFill>
            <a:prstDash val="solid"/>
          </a:ln>
        </p:spPr>
      </p:sp>
      <p:sp>
        <p:nvSpPr>
          <p:cNvPr id="12" name="Text 10"/>
          <p:cNvSpPr/>
          <p:nvPr/>
        </p:nvSpPr>
        <p:spPr>
          <a:xfrm>
            <a:off x="950976" y="2569464"/>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Thinking / extended reasoning</a:t>
            </a:r>
            <a:endParaRPr lang="en-US" sz="860" dirty="0"/>
          </a:p>
        </p:txBody>
      </p:sp>
      <p:sp>
        <p:nvSpPr>
          <p:cNvPr id="13" name="Text 11"/>
          <p:cNvSpPr/>
          <p:nvPr/>
        </p:nvSpPr>
        <p:spPr>
          <a:xfrm>
            <a:off x="3730752" y="2569464"/>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5–20×  </a:t>
            </a:r>
            <a:pPr indent="0" marL="0">
              <a:buNone/>
            </a:pPr>
            <a:r>
              <a:rPr lang="en-US" sz="900" dirty="0">
                <a:solidFill>
                  <a:srgbClr val="46545F"/>
                </a:solidFill>
                <a:latin typeface="Calibri" pitchFamily="34" charset="0"/>
                <a:ea typeface="Calibri" pitchFamily="34" charset="-122"/>
                <a:cs typeface="Calibri" pitchFamily="34" charset="-120"/>
              </a:rPr>
              <a:t>drafts and checks before answering</a:t>
            </a:r>
            <a:endParaRPr lang="en-US" sz="1000" dirty="0"/>
          </a:p>
        </p:txBody>
      </p:sp>
      <p:sp>
        <p:nvSpPr>
          <p:cNvPr id="14" name="Shape 12"/>
          <p:cNvSpPr/>
          <p:nvPr/>
        </p:nvSpPr>
        <p:spPr>
          <a:xfrm>
            <a:off x="1033272" y="3035808"/>
            <a:ext cx="2331720" cy="384048"/>
          </a:xfrm>
          <a:prstGeom prst="roundRect">
            <a:avLst>
              <a:gd name="adj" fmla="val 14286"/>
            </a:avLst>
          </a:prstGeom>
          <a:solidFill>
            <a:srgbClr val="E4F0EF"/>
          </a:solidFill>
          <a:ln w="9525">
            <a:solidFill>
              <a:srgbClr val="0E7C7B"/>
            </a:solidFill>
            <a:prstDash val="solid"/>
          </a:ln>
        </p:spPr>
      </p:sp>
      <p:sp>
        <p:nvSpPr>
          <p:cNvPr id="15" name="Text 13"/>
          <p:cNvSpPr/>
          <p:nvPr/>
        </p:nvSpPr>
        <p:spPr>
          <a:xfrm>
            <a:off x="1078992" y="3044952"/>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Web search</a:t>
            </a:r>
            <a:endParaRPr lang="en-US" sz="860" dirty="0"/>
          </a:p>
        </p:txBody>
      </p:sp>
      <p:sp>
        <p:nvSpPr>
          <p:cNvPr id="16" name="Text 14"/>
          <p:cNvSpPr/>
          <p:nvPr/>
        </p:nvSpPr>
        <p:spPr>
          <a:xfrm>
            <a:off x="3730752" y="3044952"/>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+sources  </a:t>
            </a:r>
            <a:pPr indent="0" marL="0">
              <a:buNone/>
            </a:pPr>
            <a:r>
              <a:rPr lang="en-US" sz="900" dirty="0">
                <a:solidFill>
                  <a:srgbClr val="46545F"/>
                </a:solidFill>
                <a:latin typeface="Calibri" pitchFamily="34" charset="0"/>
                <a:ea typeface="Calibri" pitchFamily="34" charset="-122"/>
                <a:cs typeface="Calibri" pitchFamily="34" charset="-120"/>
              </a:rPr>
              <a:t>grounds the answer in live pages</a:t>
            </a:r>
            <a:endParaRPr lang="en-US" sz="1000" dirty="0"/>
          </a:p>
        </p:txBody>
      </p:sp>
      <p:sp>
        <p:nvSpPr>
          <p:cNvPr id="17" name="Shape 15"/>
          <p:cNvSpPr/>
          <p:nvPr/>
        </p:nvSpPr>
        <p:spPr>
          <a:xfrm>
            <a:off x="1161288" y="3511296"/>
            <a:ext cx="2331720" cy="384048"/>
          </a:xfrm>
          <a:prstGeom prst="roundRect">
            <a:avLst>
              <a:gd name="adj" fmla="val 14286"/>
            </a:avLst>
          </a:prstGeom>
          <a:solidFill>
            <a:srgbClr val="0E7C7B"/>
          </a:solidFill>
          <a:ln w="9525">
            <a:solidFill>
              <a:srgbClr val="0E7C7B"/>
            </a:solidFill>
            <a:prstDash val="solid"/>
          </a:ln>
        </p:spPr>
      </p:sp>
      <p:sp>
        <p:nvSpPr>
          <p:cNvPr id="18" name="Text 16"/>
          <p:cNvSpPr/>
          <p:nvPr/>
        </p:nvSpPr>
        <p:spPr>
          <a:xfrm>
            <a:off x="1207008" y="3520440"/>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Deep research</a:t>
            </a:r>
            <a:endParaRPr lang="en-US" sz="860" dirty="0"/>
          </a:p>
        </p:txBody>
      </p:sp>
      <p:sp>
        <p:nvSpPr>
          <p:cNvPr id="19" name="Text 17"/>
          <p:cNvSpPr/>
          <p:nvPr/>
        </p:nvSpPr>
        <p:spPr>
          <a:xfrm>
            <a:off x="3730752" y="3520440"/>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100×+  </a:t>
            </a:r>
            <a:pPr indent="0" marL="0">
              <a:buNone/>
            </a:pPr>
            <a:r>
              <a:rPr lang="en-US" sz="900" dirty="0">
                <a:solidFill>
                  <a:srgbClr val="46545F"/>
                </a:solidFill>
                <a:latin typeface="Calibri" pitchFamily="34" charset="0"/>
                <a:ea typeface="Calibri" pitchFamily="34" charset="-122"/>
                <a:cs typeface="Calibri" pitchFamily="34" charset="-120"/>
              </a:rPr>
              <a:t>browses for minutes, cited report</a:t>
            </a:r>
            <a:endParaRPr lang="en-US" sz="1000" dirty="0"/>
          </a:p>
        </p:txBody>
      </p:sp>
      <p:sp>
        <p:nvSpPr>
          <p:cNvPr id="20" name="Shape 18"/>
          <p:cNvSpPr/>
          <p:nvPr/>
        </p:nvSpPr>
        <p:spPr>
          <a:xfrm>
            <a:off x="1289304" y="3986784"/>
            <a:ext cx="2331720" cy="384048"/>
          </a:xfrm>
          <a:prstGeom prst="roundRect">
            <a:avLst>
              <a:gd name="adj" fmla="val 14286"/>
            </a:avLst>
          </a:prstGeom>
          <a:solidFill>
            <a:srgbClr val="0E7C7B"/>
          </a:solidFill>
          <a:ln w="9525">
            <a:solidFill>
              <a:srgbClr val="0E7C7B"/>
            </a:solidFill>
            <a:prstDash val="solid"/>
          </a:ln>
        </p:spPr>
      </p:sp>
      <p:sp>
        <p:nvSpPr>
          <p:cNvPr id="21" name="Text 19"/>
          <p:cNvSpPr/>
          <p:nvPr/>
        </p:nvSpPr>
        <p:spPr>
          <a:xfrm>
            <a:off x="1335024" y="3995928"/>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Agent modes</a:t>
            </a:r>
            <a:endParaRPr lang="en-US" sz="860" dirty="0"/>
          </a:p>
        </p:txBody>
      </p:sp>
      <p:sp>
        <p:nvSpPr>
          <p:cNvPr id="22" name="Text 20"/>
          <p:cNvSpPr/>
          <p:nvPr/>
        </p:nvSpPr>
        <p:spPr>
          <a:xfrm>
            <a:off x="3730752" y="3995928"/>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the most  </a:t>
            </a:r>
            <a:pPr indent="0" marL="0">
              <a:buNone/>
            </a:pPr>
            <a:r>
              <a:rPr lang="en-US" sz="900" dirty="0">
                <a:solidFill>
                  <a:srgbClr val="46545F"/>
                </a:solidFill>
                <a:latin typeface="Calibri" pitchFamily="34" charset="0"/>
                <a:ea typeface="Calibri" pitchFamily="34" charset="-122"/>
                <a:cs typeface="Calibri" pitchFamily="34" charset="-120"/>
              </a:rPr>
              <a:t>plans and acts across many steps</a:t>
            </a:r>
            <a:endParaRPr lang="en-US" sz="1000" dirty="0"/>
          </a:p>
        </p:txBody>
      </p:sp>
      <p:sp>
        <p:nvSpPr>
          <p:cNvPr id="23" name="Shape 21"/>
          <p:cNvSpPr/>
          <p:nvPr/>
        </p:nvSpPr>
        <p:spPr>
          <a:xfrm>
            <a:off x="6035040" y="1481328"/>
            <a:ext cx="5623560" cy="3017520"/>
          </a:xfrm>
          <a:prstGeom prst="roundRect">
            <a:avLst>
              <a:gd name="adj" fmla="val 2424"/>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ChatGPT</a:t>
            </a:r>
            <a:endParaRPr lang="en-US" sz="1050" dirty="0"/>
          </a:p>
        </p:txBody>
      </p:sp>
      <p:sp>
        <p:nvSpPr>
          <p:cNvPr id="28" name="Text 25"/>
          <p:cNvSpPr/>
          <p:nvPr/>
        </p:nvSpPr>
        <p:spPr>
          <a:xfrm>
            <a:off x="7726680" y="2029968"/>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deep research · thinking slider (paid) · “Think” button (free)</a:t>
            </a:r>
            <a:endParaRPr lang="en-US" sz="880" dirty="0"/>
          </a:p>
        </p:txBody>
      </p:sp>
      <p:sp>
        <p:nvSpPr>
          <p:cNvPr id="29" name="Shape 26"/>
          <p:cNvSpPr/>
          <p:nvPr/>
        </p:nvSpPr>
        <p:spPr>
          <a:xfrm>
            <a:off x="6291072" y="2459736"/>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05822"/>
            <a:ext cx="237012" cy="237012"/>
          </a:xfrm>
          <a:prstGeom prst="rect">
            <a:avLst/>
          </a:prstGeom>
        </p:spPr>
      </p:pic>
      <p:sp>
        <p:nvSpPr>
          <p:cNvPr id="31" name="Text 27"/>
          <p:cNvSpPr/>
          <p:nvPr/>
        </p:nvSpPr>
        <p:spPr>
          <a:xfrm>
            <a:off x="6711696" y="2432304"/>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Gemini</a:t>
            </a:r>
            <a:endParaRPr lang="en-US" sz="1050" dirty="0"/>
          </a:p>
        </p:txBody>
      </p:sp>
      <p:sp>
        <p:nvSpPr>
          <p:cNvPr id="32" name="Text 28"/>
          <p:cNvSpPr/>
          <p:nvPr/>
        </p:nvSpPr>
        <p:spPr>
          <a:xfrm>
            <a:off x="7726680" y="2432304"/>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880" dirty="0"/>
          </a:p>
        </p:txBody>
      </p:sp>
      <p:sp>
        <p:nvSpPr>
          <p:cNvPr id="33" name="Shape 29"/>
          <p:cNvSpPr/>
          <p:nvPr/>
        </p:nvSpPr>
        <p:spPr>
          <a:xfrm>
            <a:off x="6291072" y="2862072"/>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08158"/>
            <a:ext cx="237012" cy="237012"/>
          </a:xfrm>
          <a:prstGeom prst="rect">
            <a:avLst/>
          </a:prstGeom>
        </p:spPr>
      </p:pic>
      <p:sp>
        <p:nvSpPr>
          <p:cNvPr id="35" name="Text 30"/>
          <p:cNvSpPr/>
          <p:nvPr/>
        </p:nvSpPr>
        <p:spPr>
          <a:xfrm>
            <a:off x="6711696" y="2834640"/>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Claude</a:t>
            </a:r>
            <a:endParaRPr lang="en-US" sz="1050" dirty="0"/>
          </a:p>
        </p:txBody>
      </p:sp>
      <p:sp>
        <p:nvSpPr>
          <p:cNvPr id="36" name="Text 31"/>
          <p:cNvSpPr/>
          <p:nvPr/>
        </p:nvSpPr>
        <p:spPr>
          <a:xfrm>
            <a:off x="7726680" y="2834640"/>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Research (paid plans) · extended thinking</a:t>
            </a:r>
            <a:endParaRPr lang="en-US" sz="880" dirty="0"/>
          </a:p>
        </p:txBody>
      </p:sp>
      <p:sp>
        <p:nvSpPr>
          <p:cNvPr id="37" name="Shape 32"/>
          <p:cNvSpPr/>
          <p:nvPr/>
        </p:nvSpPr>
        <p:spPr>
          <a:xfrm>
            <a:off x="6291072" y="3264408"/>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10494"/>
            <a:ext cx="237012" cy="237012"/>
          </a:xfrm>
          <a:prstGeom prst="rect">
            <a:avLst/>
          </a:prstGeom>
        </p:spPr>
      </p:pic>
      <p:sp>
        <p:nvSpPr>
          <p:cNvPr id="39" name="Text 33"/>
          <p:cNvSpPr/>
          <p:nvPr/>
        </p:nvSpPr>
        <p:spPr>
          <a:xfrm>
            <a:off x="6711696" y="3236976"/>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Copilot</a:t>
            </a:r>
            <a:endParaRPr lang="en-US" sz="1050" dirty="0"/>
          </a:p>
        </p:txBody>
      </p:sp>
      <p:sp>
        <p:nvSpPr>
          <p:cNvPr id="40" name="Text 34"/>
          <p:cNvSpPr/>
          <p:nvPr/>
        </p:nvSpPr>
        <p:spPr>
          <a:xfrm>
            <a:off x="7726680" y="3236976"/>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880" dirty="0"/>
          </a:p>
        </p:txBody>
      </p:sp>
      <p:sp>
        <p:nvSpPr>
          <p:cNvPr id="41" name="Shape 35"/>
          <p:cNvSpPr/>
          <p:nvPr/>
        </p:nvSpPr>
        <p:spPr>
          <a:xfrm>
            <a:off x="6291072" y="3666744"/>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12830"/>
            <a:ext cx="237012" cy="237012"/>
          </a:xfrm>
          <a:prstGeom prst="rect">
            <a:avLst/>
          </a:prstGeom>
        </p:spPr>
      </p:pic>
      <p:sp>
        <p:nvSpPr>
          <p:cNvPr id="43" name="Text 36"/>
          <p:cNvSpPr/>
          <p:nvPr/>
        </p:nvSpPr>
        <p:spPr>
          <a:xfrm>
            <a:off x="6711696" y="3639312"/>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Perplexity</a:t>
            </a:r>
            <a:endParaRPr lang="en-US" sz="1050" dirty="0"/>
          </a:p>
        </p:txBody>
      </p:sp>
      <p:sp>
        <p:nvSpPr>
          <p:cNvPr id="44" name="Text 37"/>
          <p:cNvSpPr/>
          <p:nvPr/>
        </p:nvSpPr>
        <p:spPr>
          <a:xfrm>
            <a:off x="7726680" y="3639312"/>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Search · Research · Create files and apps</a:t>
            </a:r>
            <a:endParaRPr lang="en-US" sz="880" dirty="0"/>
          </a:p>
        </p:txBody>
      </p:sp>
      <p:sp>
        <p:nvSpPr>
          <p:cNvPr id="45" name="Shape 38"/>
          <p:cNvSpPr/>
          <p:nvPr/>
        </p:nvSpPr>
        <p:spPr>
          <a:xfrm>
            <a:off x="6291072" y="406908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115166"/>
            <a:ext cx="237012" cy="237012"/>
          </a:xfrm>
          <a:prstGeom prst="rect">
            <a:avLst/>
          </a:prstGeom>
        </p:spPr>
      </p:pic>
      <p:sp>
        <p:nvSpPr>
          <p:cNvPr id="47" name="Text 39"/>
          <p:cNvSpPr/>
          <p:nvPr/>
        </p:nvSpPr>
        <p:spPr>
          <a:xfrm>
            <a:off x="6711696" y="4041648"/>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Grok</a:t>
            </a:r>
            <a:endParaRPr lang="en-US" sz="1050" dirty="0"/>
          </a:p>
        </p:txBody>
      </p:sp>
      <p:sp>
        <p:nvSpPr>
          <p:cNvPr id="48" name="Text 40"/>
          <p:cNvSpPr/>
          <p:nvPr/>
        </p:nvSpPr>
        <p:spPr>
          <a:xfrm>
            <a:off x="7726680" y="4041648"/>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Auto · Fast · Expert · Heavy (multi-agent, $300 tier) — old Think/DeepSearch buttons retired</a:t>
            </a:r>
            <a:endParaRPr lang="en-US" sz="880" dirty="0"/>
          </a:p>
        </p:txBody>
      </p:sp>
      <p:sp>
        <p:nvSpPr>
          <p:cNvPr id="49" name="Text 41"/>
          <p:cNvSpPr/>
          <p:nvPr/>
        </p:nvSpPr>
        <p:spPr>
          <a:xfrm>
            <a:off x="502920" y="4590288"/>
            <a:ext cx="11155680" cy="384048"/>
          </a:xfrm>
          <a:prstGeom prst="rect">
            <a:avLst/>
          </a:prstGeom>
          <a:noFill/>
          <a:ln/>
        </p:spPr>
        <p:txBody>
          <a:bodyPr wrap="square" lIns="0" tIns="0" rIns="0" bIns="0" rtlCol="0" anchor="ctr"/>
          <a:lstStyle/>
          <a:p>
            <a:pPr indent="0" marL="0">
              <a:lnSpc>
                <a:spcPct val="105000"/>
              </a:lnSpc>
              <a:buNone/>
            </a:pPr>
            <a:r>
              <a:rPr lang="en-US" sz="105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050" dirty="0"/>
          </a:p>
        </p:txBody>
      </p:sp>
      <p:sp>
        <p:nvSpPr>
          <p:cNvPr id="50" name="Shape 42"/>
          <p:cNvSpPr/>
          <p:nvPr/>
        </p:nvSpPr>
        <p:spPr>
          <a:xfrm>
            <a:off x="502920" y="5029200"/>
            <a:ext cx="11155680" cy="1417320"/>
          </a:xfrm>
          <a:prstGeom prst="roundRect">
            <a:avLst>
              <a:gd name="adj" fmla="val 5161"/>
            </a:avLst>
          </a:prstGeom>
          <a:solidFill>
            <a:srgbClr val="E4F0EF"/>
          </a:solidFill>
          <a:ln/>
        </p:spPr>
      </p:sp>
      <p:sp>
        <p:nvSpPr>
          <p:cNvPr id="51" name="Shape 43"/>
          <p:cNvSpPr/>
          <p:nvPr/>
        </p:nvSpPr>
        <p:spPr>
          <a:xfrm>
            <a:off x="649224" y="5148072"/>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43170"/>
            <a:ext cx="175565" cy="175565"/>
          </a:xfrm>
          <a:prstGeom prst="rect">
            <a:avLst/>
          </a:prstGeom>
        </p:spPr>
      </p:pic>
      <p:sp>
        <p:nvSpPr>
          <p:cNvPr id="53" name="Shape 44"/>
          <p:cNvSpPr/>
          <p:nvPr/>
        </p:nvSpPr>
        <p:spPr>
          <a:xfrm>
            <a:off x="1106424" y="5175504"/>
            <a:ext cx="1188720" cy="310896"/>
          </a:xfrm>
          <a:prstGeom prst="roundRect">
            <a:avLst>
              <a:gd name="adj" fmla="val 23529"/>
            </a:avLst>
          </a:prstGeom>
          <a:solidFill>
            <a:srgbClr val="0E7C7B"/>
          </a:solidFill>
          <a:ln/>
        </p:spPr>
      </p:sp>
      <p:sp>
        <p:nvSpPr>
          <p:cNvPr id="54" name="Text 45"/>
          <p:cNvSpPr/>
          <p:nvPr/>
        </p:nvSpPr>
        <p:spPr>
          <a:xfrm>
            <a:off x="1106424" y="51846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18464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Ask your own product for its menu</a:t>
            </a:r>
            <a:endParaRPr lang="en-US" sz="1050" dirty="0"/>
          </a:p>
        </p:txBody>
      </p:sp>
      <p:sp>
        <p:nvSpPr>
          <p:cNvPr id="56" name="Text 47"/>
          <p:cNvSpPr/>
          <p:nvPr/>
        </p:nvSpPr>
        <p:spPr>
          <a:xfrm>
            <a:off x="685800" y="5541264"/>
            <a:ext cx="10789920" cy="539496"/>
          </a:xfrm>
          <a:prstGeom prst="rect">
            <a:avLst/>
          </a:prstGeom>
          <a:noFill/>
          <a:ln/>
        </p:spPr>
        <p:txBody>
          <a:bodyPr wrap="square" lIns="0" tIns="0" rIns="0" bIns="0" rtlCol="0" anchor="t"/>
          <a:lstStyle/>
          <a:p>
            <a:pPr indent="0" marL="0">
              <a:lnSpc>
                <a:spcPct val="108000"/>
              </a:lnSpc>
              <a:buNone/>
            </a:pPr>
            <a:r>
              <a:rPr lang="en-US" sz="9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0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900" dirty="0"/>
          </a:p>
          <a:p>
            <a:pPr indent="0" marL="0">
              <a:lnSpc>
                <a:spcPct val="108000"/>
              </a:lnSpc>
              <a:buNone/>
            </a:pPr>
            <a:r>
              <a:rPr lang="en-US" sz="8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5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900" dirty="0"/>
          </a:p>
        </p:txBody>
      </p:sp>
      <p:sp>
        <p:nvSpPr>
          <p:cNvPr id="57" name="Text 48"/>
          <p:cNvSpPr/>
          <p:nvPr/>
        </p:nvSpPr>
        <p:spPr>
          <a:xfrm>
            <a:off x="685800" y="6153912"/>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150" dirty="0"/>
          </a:p>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150" dirty="0"/>
          </a:p>
        </p:txBody>
      </p:sp>
      <p:sp>
        <p:nvSpPr>
          <p:cNvPr id="7" name="Shape 5"/>
          <p:cNvSpPr/>
          <p:nvPr/>
        </p:nvSpPr>
        <p:spPr>
          <a:xfrm>
            <a:off x="502920" y="3950208"/>
            <a:ext cx="5120640" cy="2084832"/>
          </a:xfrm>
          <a:prstGeom prst="roundRect">
            <a:avLst>
              <a:gd name="adj" fmla="val 350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Older reasoning model (o4-mini)</a:t>
            </a:r>
            <a:endParaRPr lang="en-US" sz="90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24%</a:t>
            </a:r>
            <a:endParaRPr lang="en-US" sz="80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75%</a:t>
            </a:r>
            <a:endParaRPr lang="en-US" sz="80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Newer, trained to say “I don’t know”</a:t>
            </a:r>
            <a:endParaRPr lang="en-US" sz="90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22%</a:t>
            </a:r>
            <a:endParaRPr lang="en-US" sz="80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26%</a:t>
            </a:r>
            <a:endParaRPr lang="en-US" sz="80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52%</a:t>
            </a:r>
            <a:endParaRPr lang="en-US" sz="800" dirty="0"/>
          </a:p>
        </p:txBody>
      </p:sp>
      <p:sp>
        <p:nvSpPr>
          <p:cNvPr id="22" name="Text 20"/>
          <p:cNvSpPr/>
          <p:nvPr/>
        </p:nvSpPr>
        <p:spPr>
          <a:xfrm>
            <a:off x="749808" y="5577840"/>
            <a:ext cx="4663440" cy="219456"/>
          </a:xfrm>
          <a:prstGeom prst="rect">
            <a:avLst/>
          </a:prstGeom>
          <a:noFill/>
          <a:ln/>
        </p:spPr>
        <p:txBody>
          <a:bodyPr wrap="square" lIns="0" tIns="0" rIns="0" bIns="0" rtlCol="0" anchor="ctr"/>
          <a:lstStyle/>
          <a:p>
            <a:pPr indent="0" marL="0">
              <a:buNone/>
            </a:pPr>
            <a:r>
              <a:rPr lang="en-US" sz="850" dirty="0">
                <a:solidFill>
                  <a:srgbClr val="0E7C7B"/>
                </a:solidFill>
                <a:latin typeface="Calibri" pitchFamily="34" charset="0"/>
                <a:ea typeface="Calibri" pitchFamily="34" charset="-122"/>
                <a:cs typeface="Calibri" pitchFamily="34" charset="-120"/>
              </a:rPr>
              <a:t>■</a:t>
            </a:r>
            <a:pPr indent="0" marL="0">
              <a:buNone/>
            </a:pPr>
            <a:r>
              <a:rPr lang="en-US" sz="850" dirty="0">
                <a:solidFill>
                  <a:srgbClr val="46545F"/>
                </a:solidFill>
                <a:latin typeface="Calibri" pitchFamily="34" charset="0"/>
                <a:ea typeface="Calibri" pitchFamily="34" charset="-122"/>
                <a:cs typeface="Calibri" pitchFamily="34" charset="-120"/>
              </a:rPr>
              <a:t> right  </a:t>
            </a:r>
            <a:pPr indent="0" marL="0">
              <a:buNone/>
            </a:pPr>
            <a:r>
              <a:rPr lang="en-US" sz="850" dirty="0">
                <a:solidFill>
                  <a:srgbClr val="AF3230"/>
                </a:solidFill>
                <a:latin typeface="Calibri" pitchFamily="34" charset="0"/>
                <a:ea typeface="Calibri" pitchFamily="34" charset="-122"/>
                <a:cs typeface="Calibri" pitchFamily="34" charset="-120"/>
              </a:rPr>
              <a:t>■</a:t>
            </a:r>
            <a:pPr indent="0" marL="0">
              <a:buNone/>
            </a:pPr>
            <a:r>
              <a:rPr lang="en-US" sz="850" dirty="0">
                <a:solidFill>
                  <a:srgbClr val="46545F"/>
                </a:solidFill>
                <a:latin typeface="Calibri" pitchFamily="34" charset="0"/>
                <a:ea typeface="Calibri" pitchFamily="34" charset="-122"/>
                <a:cs typeface="Calibri" pitchFamily="34" charset="-120"/>
              </a:rPr>
              <a:t> wrong  </a:t>
            </a:r>
            <a:pPr indent="0" marL="0">
              <a:buNone/>
            </a:pPr>
            <a:r>
              <a:rPr lang="en-US" sz="850" dirty="0">
                <a:solidFill>
                  <a:srgbClr val="46545F"/>
                </a:solidFill>
                <a:latin typeface="Calibri" pitchFamily="34" charset="0"/>
                <a:ea typeface="Calibri" pitchFamily="34" charset="-122"/>
                <a:cs typeface="Calibri" pitchFamily="34" charset="-120"/>
              </a:rPr>
              <a:t>■</a:t>
            </a:r>
            <a:pPr indent="0" marL="0">
              <a:buNone/>
            </a:pPr>
            <a:r>
              <a:rPr lang="en-US" sz="850" b="1" dirty="0">
                <a:solidFill>
                  <a:srgbClr val="46545F"/>
                </a:solidFill>
                <a:latin typeface="Calibri" pitchFamily="34" charset="0"/>
                <a:ea typeface="Calibri" pitchFamily="34" charset="-122"/>
                <a:cs typeface="Calibri" pitchFamily="34" charset="-120"/>
              </a:rPr>
              <a:t> “I don’t know” — same accuracy, ~3× fewer false statements.</a:t>
            </a:r>
            <a:endParaRPr lang="en-US" sz="850" dirty="0"/>
          </a:p>
        </p:txBody>
      </p:sp>
      <p:sp>
        <p:nvSpPr>
          <p:cNvPr id="23" name="Text 21"/>
          <p:cNvSpPr/>
          <p:nvPr/>
        </p:nvSpPr>
        <p:spPr>
          <a:xfrm>
            <a:off x="749808" y="5797296"/>
            <a:ext cx="4663440" cy="201168"/>
          </a:xfrm>
          <a:prstGeom prst="rect">
            <a:avLst/>
          </a:prstGeom>
          <a:noFill/>
          <a:ln/>
        </p:spPr>
        <p:txBody>
          <a:bodyPr wrap="square" lIns="0" tIns="0" rIns="0" bIns="0" rtlCol="0" anchor="ctr"/>
          <a:lstStyle/>
          <a:p>
            <a:pPr indent="0" marL="0">
              <a:buNone/>
            </a:pPr>
            <a:r>
              <a:rPr lang="en-US" sz="750" i="1" dirty="0">
                <a:solidFill>
                  <a:srgbClr val="7A8790"/>
                </a:solidFill>
                <a:latin typeface="Calibri" pitchFamily="34" charset="0"/>
                <a:ea typeface="Calibri" pitchFamily="34" charset="-122"/>
                <a:cs typeface="Calibri" pitchFamily="34" charset="-120"/>
              </a:rPr>
              <a:t>OpenAI’s own models &amp; benchmark (2025) — shows the mechanism, not a vendor ranking.</a:t>
            </a:r>
            <a:endParaRPr lang="en-US" sz="750" dirty="0"/>
          </a:p>
        </p:txBody>
      </p:sp>
      <p:sp>
        <p:nvSpPr>
          <p:cNvPr id="24" name="Shape 22"/>
          <p:cNvSpPr/>
          <p:nvPr/>
        </p:nvSpPr>
        <p:spPr>
          <a:xfrm>
            <a:off x="5806440" y="1517904"/>
            <a:ext cx="5852160" cy="1024128"/>
          </a:xfrm>
          <a:prstGeom prst="roundRect">
            <a:avLst>
              <a:gd name="adj" fmla="val 7143"/>
            </a:avLst>
          </a:prstGeom>
          <a:solidFill>
            <a:srgbClr val="F2F5F6"/>
          </a:solidFill>
          <a:ln/>
        </p:spPr>
      </p:sp>
      <p:sp>
        <p:nvSpPr>
          <p:cNvPr id="25" name="Shape 23"/>
          <p:cNvSpPr/>
          <p:nvPr/>
        </p:nvSpPr>
        <p:spPr>
          <a:xfrm>
            <a:off x="5989320" y="1801368"/>
            <a:ext cx="457200" cy="457200"/>
          </a:xfrm>
          <a:prstGeom prst="ellipse">
            <a:avLst/>
          </a:prstGeom>
          <a:solidFill>
            <a:srgbClr val="0E7C7B"/>
          </a:solidFill>
          <a:ln/>
        </p:spPr>
      </p:sp>
      <p:pic>
        <p:nvPicPr>
          <p:cNvPr id="26" name="Image 0" descr="/home/user/Claude-Works/ai-training-prompt-engineering/src/assets/icons/brain_w.png">    </p:cNvPr>
          <p:cNvPicPr>
            <a:picLocks noChangeAspect="1"/>
          </p:cNvPicPr>
          <p:nvPr/>
        </p:nvPicPr>
        <p:blipFill>
          <a:blip r:embed="rId1"/>
          <a:stretch>
            <a:fillRect/>
          </a:stretch>
        </p:blipFill>
        <p:spPr>
          <a:xfrm>
            <a:off x="6108192" y="1920240"/>
            <a:ext cx="219456" cy="219456"/>
          </a:xfrm>
          <a:prstGeom prst="rect">
            <a:avLst/>
          </a:prstGeom>
        </p:spPr>
      </p:pic>
      <p:sp>
        <p:nvSpPr>
          <p:cNvPr id="27" name="Text 24"/>
          <p:cNvSpPr/>
          <p:nvPr/>
        </p:nvSpPr>
        <p:spPr>
          <a:xfrm>
            <a:off x="6565392" y="1591056"/>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sp>
        <p:nvSpPr>
          <p:cNvPr id="29" name="Shape 26"/>
          <p:cNvSpPr/>
          <p:nvPr/>
        </p:nvSpPr>
        <p:spPr>
          <a:xfrm>
            <a:off x="5989320" y="2935224"/>
            <a:ext cx="457200" cy="457200"/>
          </a:xfrm>
          <a:prstGeom prst="ellipse">
            <a:avLst/>
          </a:prstGeom>
          <a:solidFill>
            <a:srgbClr val="0E7C7B"/>
          </a:solidFill>
          <a:ln/>
        </p:spPr>
      </p:sp>
      <p:pic>
        <p:nvPicPr>
          <p:cNvPr id="30" name="Image 1" descr="/home/user/Claude-Works/ai-training-prompt-engineering/src/assets/icons/file_w.png">    </p:cNvPr>
          <p:cNvPicPr>
            <a:picLocks noChangeAspect="1"/>
          </p:cNvPicPr>
          <p:nvPr/>
        </p:nvPicPr>
        <p:blipFill>
          <a:blip r:embed="rId2"/>
          <a:stretch>
            <a:fillRect/>
          </a:stretch>
        </p:blipFill>
        <p:spPr>
          <a:xfrm>
            <a:off x="6108192" y="3054096"/>
            <a:ext cx="219456" cy="219456"/>
          </a:xfrm>
          <a:prstGeom prst="rect">
            <a:avLst/>
          </a:prstGeom>
        </p:spPr>
      </p:pic>
      <p:sp>
        <p:nvSpPr>
          <p:cNvPr id="31" name="Text 27"/>
          <p:cNvSpPr/>
          <p:nvPr/>
        </p:nvSpPr>
        <p:spPr>
          <a:xfrm>
            <a:off x="6565392" y="2724912"/>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sp>
        <p:nvSpPr>
          <p:cNvPr id="33" name="Shape 29"/>
          <p:cNvSpPr/>
          <p:nvPr/>
        </p:nvSpPr>
        <p:spPr>
          <a:xfrm>
            <a:off x="5989320" y="4069080"/>
            <a:ext cx="457200" cy="457200"/>
          </a:xfrm>
          <a:prstGeom prst="ellipse">
            <a:avLst/>
          </a:prstGeom>
          <a:solidFill>
            <a:srgbClr val="AF3230"/>
          </a:solidFill>
          <a:ln/>
        </p:spPr>
      </p:sp>
      <p:pic>
        <p:nvPicPr>
          <p:cNvPr id="34" name="Image 2" descr="/home/user/Claude-Works/ai-training-prompt-engineering/src/assets/icons/alert_w.png">    </p:cNvPr>
          <p:cNvPicPr>
            <a:picLocks noChangeAspect="1"/>
          </p:cNvPicPr>
          <p:nvPr/>
        </p:nvPicPr>
        <p:blipFill>
          <a:blip r:embed="rId3"/>
          <a:stretch>
            <a:fillRect/>
          </a:stretch>
        </p:blipFill>
        <p:spPr>
          <a:xfrm>
            <a:off x="6108192" y="4187952"/>
            <a:ext cx="219456" cy="219456"/>
          </a:xfrm>
          <a:prstGeom prst="rect">
            <a:avLst/>
          </a:prstGeom>
        </p:spPr>
      </p:pic>
      <p:sp>
        <p:nvSpPr>
          <p:cNvPr id="35" name="Text 30"/>
          <p:cNvSpPr/>
          <p:nvPr/>
        </p:nvSpPr>
        <p:spPr>
          <a:xfrm>
            <a:off x="6565392" y="3858768"/>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sp>
        <p:nvSpPr>
          <p:cNvPr id="37" name="Shape 32"/>
          <p:cNvSpPr/>
          <p:nvPr/>
        </p:nvSpPr>
        <p:spPr>
          <a:xfrm>
            <a:off x="5989320" y="5202936"/>
            <a:ext cx="457200" cy="457200"/>
          </a:xfrm>
          <a:prstGeom prst="ellipse">
            <a:avLst/>
          </a:prstGeom>
          <a:solidFill>
            <a:srgbClr val="0E7C7B"/>
          </a:solidFill>
          <a:ln/>
        </p:spPr>
      </p:sp>
      <p:pic>
        <p:nvPicPr>
          <p:cNvPr id="38" name="Image 3" descr="/home/user/Claude-Works/ai-training-prompt-engineering/src/assets/icons/repeat_w.png">    </p:cNvPr>
          <p:cNvPicPr>
            <a:picLocks noChangeAspect="1"/>
          </p:cNvPicPr>
          <p:nvPr/>
        </p:nvPicPr>
        <p:blipFill>
          <a:blip r:embed="rId4"/>
          <a:stretch>
            <a:fillRect/>
          </a:stretch>
        </p:blipFill>
        <p:spPr>
          <a:xfrm>
            <a:off x="6108192" y="5321808"/>
            <a:ext cx="219456" cy="219456"/>
          </a:xfrm>
          <a:prstGeom prst="rect">
            <a:avLst/>
          </a:prstGeom>
        </p:spPr>
      </p:pic>
      <p:sp>
        <p:nvSpPr>
          <p:cNvPr id="39" name="Text 33"/>
          <p:cNvSpPr/>
          <p:nvPr/>
        </p:nvSpPr>
        <p:spPr>
          <a:xfrm>
            <a:off x="6565392" y="4992624"/>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Text 34"/>
          <p:cNvSpPr/>
          <p:nvPr/>
        </p:nvSpPr>
        <p:spPr>
          <a:xfrm>
            <a:off x="502920" y="603504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Four characters — one root: the show must go on. Next slide: what they cost in public.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a satire article as advice. Global mockery; the feature was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A New York lawyer filed six court cases that didn’t exist — then asked ChatGPT whether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claim that the bot was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Deloitte partially refunded a government report fee over invented citations; EY pulled a report where 16 of 27 references didn’t check out; KPMG’s report on agentic-AI excellence had 5 of 45 citations check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OpenAI · GPT-5.6 family (Sol / Terra / Luna)</a:t>
            </a:r>
            <a:endParaRPr lang="en-US" sz="78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94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82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Google · Gemini 3 / 3.1 Pro / 3.6 Flash</a:t>
            </a:r>
            <a:endParaRPr lang="en-US" sz="78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94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82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Microsoft · GPT-5.6 preferred + Claude selectable</a:t>
            </a:r>
            <a:endParaRPr lang="en-US" sz="78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94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82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Anthropic · Fable 5 / Opus 5 / Sonnet 5 / Haiku 4.5</a:t>
            </a:r>
            <a:endParaRPr lang="en-US" sz="78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94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Premium pricing at the top tier; the flagship can refuse high-risk domains by design.</a:t>
            </a:r>
            <a:endParaRPr lang="en-US" sz="82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78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94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82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xAI (SpaceX) · Grok 4.6</a:t>
            </a:r>
            <a:endParaRPr lang="en-US" sz="78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94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Fewer guardrails has meant real incidents (Jul 2025 public apology) — care for brand-sensitive work.</a:t>
            </a:r>
            <a:endParaRPr lang="en-US" sz="82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Whose servers hold your words? Two slides ahead — the account tier decides, not the logo. Fortes verified Sep 9, 2026 — they will have moved; the habits in Parts 3–5 don’t move at all.</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38528"/>
            <a:ext cx="4617720" cy="96012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920" dirty="0">
                <a:solidFill>
                  <a:srgbClr val="46545F"/>
                </a:solidFill>
                <a:latin typeface="Calibri" pitchFamily="34" charset="0"/>
                <a:ea typeface="Calibri" pitchFamily="34" charset="-122"/>
                <a:cs typeface="Calibri" pitchFamily="34" charset="-120"/>
              </a:rPr>
              <a:t>DeepSeek-R1: open-weights reasoning rivaling OpenAI’s o1 — MIT-licensed, free to download</a:t>
            </a:r>
            <a:endParaRPr lang="en-US" sz="920" dirty="0"/>
          </a:p>
          <a:p>
            <a:pPr algn="l" marL="127000" indent="-127000">
              <a:lnSpc>
                <a:spcPct val="104000"/>
              </a:lnSpc>
              <a:spcAft>
                <a:spcPts val="300"/>
              </a:spcAft>
              <a:buSzPct val="100000"/>
              <a:buChar char="•"/>
            </a:pPr>
            <a:r>
              <a:rPr lang="en-US" sz="920" dirty="0">
                <a:solidFill>
                  <a:srgbClr val="46545F"/>
                </a:solidFill>
                <a:latin typeface="Calibri" pitchFamily="34" charset="0"/>
                <a:ea typeface="Calibri" pitchFamily="34" charset="-122"/>
                <a:cs typeface="Calibri" pitchFamily="34" charset="-120"/>
              </a:rPr>
              <a:t>Nvidia lost $589B in one day (Jan 27) — the largest single-day market loss in history at the time</a:t>
            </a:r>
            <a:endParaRPr lang="en-US" sz="920" dirty="0"/>
          </a:p>
          <a:p>
            <a:pPr algn="l" marL="127000" indent="-127000">
              <a:lnSpc>
                <a:spcPct val="104000"/>
              </a:lnSpc>
              <a:spcAft>
                <a:spcPts val="300"/>
              </a:spcAft>
              <a:buSzPct val="100000"/>
              <a:buChar char="•"/>
            </a:pPr>
            <a:r>
              <a:rPr lang="en-US" sz="920" b="1" dirty="0">
                <a:solidFill>
                  <a:srgbClr val="46545F"/>
                </a:solidFill>
                <a:latin typeface="Calibri" pitchFamily="34" charset="0"/>
                <a:ea typeface="Calibri" pitchFamily="34" charset="-122"/>
                <a:cs typeface="Calibri" pitchFamily="34" charset="-120"/>
              </a:rPr>
              <a:t>The “$5.6M training cost”? Fuel for the final winning race — not the racing team. Real efficiency, oversold headline.</a:t>
            </a:r>
            <a:endParaRPr lang="en-US" sz="92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sp>
        <p:nvSpPr>
          <p:cNvPr id="13" name="Shape 10"/>
          <p:cNvSpPr/>
          <p:nvPr/>
        </p:nvSpPr>
        <p:spPr>
          <a:xfrm>
            <a:off x="777240" y="3584448"/>
            <a:ext cx="1783080" cy="1371600"/>
          </a:xfrm>
          <a:prstGeom prst="roundRect">
            <a:avLst>
              <a:gd name="adj" fmla="val 3333"/>
            </a:avLst>
          </a:prstGeom>
          <a:solidFill>
            <a:srgbClr val="FFFFFF"/>
          </a:solidFill>
          <a:ln w="19050">
            <a:solidFill>
              <a:srgbClr val="0A5B5A"/>
            </a:solidFill>
            <a:prstDash val="solid"/>
          </a:ln>
        </p:spPr>
      </p:sp>
      <p:sp>
        <p:nvSpPr>
          <p:cNvPr id="14" name="Shape 11"/>
          <p:cNvSpPr/>
          <p:nvPr/>
        </p:nvSpPr>
        <p:spPr>
          <a:xfrm>
            <a:off x="1540764" y="3346704"/>
            <a:ext cx="256032" cy="237744"/>
          </a:xfrm>
          <a:prstGeom prst="roundRect">
            <a:avLst>
              <a:gd name="adj" fmla="val 11538"/>
            </a:avLst>
          </a:prstGeom>
          <a:solidFill>
            <a:srgbClr val="AF3230"/>
          </a:solidFill>
          <a:ln/>
        </p:spPr>
      </p:sp>
      <p:sp>
        <p:nvSpPr>
          <p:cNvPr id="15" name="Text 12"/>
          <p:cNvSpPr/>
          <p:nvPr/>
        </p:nvSpPr>
        <p:spPr>
          <a:xfrm>
            <a:off x="1540764" y="3328416"/>
            <a:ext cx="256032"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6" name="Shape 13"/>
          <p:cNvSpPr/>
          <p:nvPr/>
        </p:nvSpPr>
        <p:spPr>
          <a:xfrm>
            <a:off x="923544" y="3712464"/>
            <a:ext cx="274320" cy="182880"/>
          </a:xfrm>
          <a:prstGeom prst="rect">
            <a:avLst/>
          </a:prstGeom>
          <a:solidFill>
            <a:srgbClr val="F2F5F6"/>
          </a:solidFill>
          <a:ln w="9525">
            <a:solidFill>
              <a:srgbClr val="DCE3E6"/>
            </a:solidFill>
            <a:prstDash val="solid"/>
          </a:ln>
        </p:spPr>
      </p:sp>
      <p:sp>
        <p:nvSpPr>
          <p:cNvPr id="17" name="Shape 14"/>
          <p:cNvSpPr/>
          <p:nvPr/>
        </p:nvSpPr>
        <p:spPr>
          <a:xfrm>
            <a:off x="1335024" y="3712464"/>
            <a:ext cx="274320" cy="182880"/>
          </a:xfrm>
          <a:prstGeom prst="rect">
            <a:avLst/>
          </a:prstGeom>
          <a:solidFill>
            <a:srgbClr val="B96A1B"/>
          </a:solidFill>
          <a:ln w="15875">
            <a:solidFill>
              <a:srgbClr val="B96A1B"/>
            </a:solidFill>
            <a:prstDash val="solid"/>
          </a:ln>
        </p:spPr>
      </p:sp>
      <p:sp>
        <p:nvSpPr>
          <p:cNvPr id="18" name="Shape 15"/>
          <p:cNvSpPr/>
          <p:nvPr/>
        </p:nvSpPr>
        <p:spPr>
          <a:xfrm>
            <a:off x="1746504" y="3712464"/>
            <a:ext cx="274320" cy="182880"/>
          </a:xfrm>
          <a:prstGeom prst="rect">
            <a:avLst/>
          </a:prstGeom>
          <a:solidFill>
            <a:srgbClr val="F2F5F6"/>
          </a:solidFill>
          <a:ln w="9525">
            <a:solidFill>
              <a:srgbClr val="DCE3E6"/>
            </a:solidFill>
            <a:prstDash val="solid"/>
          </a:ln>
        </p:spPr>
      </p:sp>
      <p:sp>
        <p:nvSpPr>
          <p:cNvPr id="19" name="Shape 16"/>
          <p:cNvSpPr/>
          <p:nvPr/>
        </p:nvSpPr>
        <p:spPr>
          <a:xfrm>
            <a:off x="2157984" y="3712464"/>
            <a:ext cx="274320" cy="182880"/>
          </a:xfrm>
          <a:prstGeom prst="rect">
            <a:avLst/>
          </a:prstGeom>
          <a:solidFill>
            <a:srgbClr val="F2F5F6"/>
          </a:solidFill>
          <a:ln w="9525">
            <a:solidFill>
              <a:srgbClr val="DCE3E6"/>
            </a:solidFill>
            <a:prstDash val="solid"/>
          </a:ln>
        </p:spPr>
      </p:sp>
      <p:sp>
        <p:nvSpPr>
          <p:cNvPr id="20" name="Shape 17"/>
          <p:cNvSpPr/>
          <p:nvPr/>
        </p:nvSpPr>
        <p:spPr>
          <a:xfrm>
            <a:off x="923544" y="3986784"/>
            <a:ext cx="274320" cy="182880"/>
          </a:xfrm>
          <a:prstGeom prst="rect">
            <a:avLst/>
          </a:prstGeom>
          <a:solidFill>
            <a:srgbClr val="F2F5F6"/>
          </a:solidFill>
          <a:ln w="9525">
            <a:solidFill>
              <a:srgbClr val="DCE3E6"/>
            </a:solidFill>
            <a:prstDash val="solid"/>
          </a:ln>
        </p:spPr>
      </p:sp>
      <p:sp>
        <p:nvSpPr>
          <p:cNvPr id="21" name="Shape 18"/>
          <p:cNvSpPr/>
          <p:nvPr/>
        </p:nvSpPr>
        <p:spPr>
          <a:xfrm>
            <a:off x="1335024" y="3986784"/>
            <a:ext cx="274320" cy="182880"/>
          </a:xfrm>
          <a:prstGeom prst="rect">
            <a:avLst/>
          </a:prstGeom>
          <a:solidFill>
            <a:srgbClr val="F2F5F6"/>
          </a:solidFill>
          <a:ln w="9525">
            <a:solidFill>
              <a:srgbClr val="DCE3E6"/>
            </a:solidFill>
            <a:prstDash val="solid"/>
          </a:ln>
        </p:spPr>
      </p:sp>
      <p:sp>
        <p:nvSpPr>
          <p:cNvPr id="22" name="Shape 19"/>
          <p:cNvSpPr/>
          <p:nvPr/>
        </p:nvSpPr>
        <p:spPr>
          <a:xfrm>
            <a:off x="1746504" y="3986784"/>
            <a:ext cx="274320" cy="182880"/>
          </a:xfrm>
          <a:prstGeom prst="rect">
            <a:avLst/>
          </a:prstGeom>
          <a:solidFill>
            <a:srgbClr val="B96A1B"/>
          </a:solidFill>
          <a:ln w="15875">
            <a:solidFill>
              <a:srgbClr val="B96A1B"/>
            </a:solidFill>
            <a:prstDash val="solid"/>
          </a:ln>
        </p:spPr>
      </p:sp>
      <p:sp>
        <p:nvSpPr>
          <p:cNvPr id="23" name="Shape 20"/>
          <p:cNvSpPr/>
          <p:nvPr/>
        </p:nvSpPr>
        <p:spPr>
          <a:xfrm>
            <a:off x="2157984" y="3986784"/>
            <a:ext cx="274320" cy="182880"/>
          </a:xfrm>
          <a:prstGeom prst="rect">
            <a:avLst/>
          </a:prstGeom>
          <a:solidFill>
            <a:srgbClr val="F2F5F6"/>
          </a:solidFill>
          <a:ln w="9525">
            <a:solidFill>
              <a:srgbClr val="DCE3E6"/>
            </a:solidFill>
            <a:prstDash val="solid"/>
          </a:ln>
        </p:spPr>
      </p:sp>
      <p:sp>
        <p:nvSpPr>
          <p:cNvPr id="24" name="Shape 21"/>
          <p:cNvSpPr/>
          <p:nvPr/>
        </p:nvSpPr>
        <p:spPr>
          <a:xfrm>
            <a:off x="923544" y="4261104"/>
            <a:ext cx="274320" cy="182880"/>
          </a:xfrm>
          <a:prstGeom prst="rect">
            <a:avLst/>
          </a:prstGeom>
          <a:solidFill>
            <a:srgbClr val="F2F5F6"/>
          </a:solidFill>
          <a:ln w="9525">
            <a:solidFill>
              <a:srgbClr val="DCE3E6"/>
            </a:solidFill>
            <a:prstDash val="solid"/>
          </a:ln>
        </p:spPr>
      </p:sp>
      <p:sp>
        <p:nvSpPr>
          <p:cNvPr id="25" name="Shape 22"/>
          <p:cNvSpPr/>
          <p:nvPr/>
        </p:nvSpPr>
        <p:spPr>
          <a:xfrm>
            <a:off x="1335024" y="4261104"/>
            <a:ext cx="274320" cy="182880"/>
          </a:xfrm>
          <a:prstGeom prst="rect">
            <a:avLst/>
          </a:prstGeom>
          <a:solidFill>
            <a:srgbClr val="F2F5F6"/>
          </a:solidFill>
          <a:ln w="9525">
            <a:solidFill>
              <a:srgbClr val="DCE3E6"/>
            </a:solidFill>
            <a:prstDash val="solid"/>
          </a:ln>
        </p:spPr>
      </p:sp>
      <p:sp>
        <p:nvSpPr>
          <p:cNvPr id="26" name="Shape 23"/>
          <p:cNvSpPr/>
          <p:nvPr/>
        </p:nvSpPr>
        <p:spPr>
          <a:xfrm>
            <a:off x="1746504" y="4261104"/>
            <a:ext cx="274320" cy="182880"/>
          </a:xfrm>
          <a:prstGeom prst="rect">
            <a:avLst/>
          </a:prstGeom>
          <a:solidFill>
            <a:srgbClr val="F2F5F6"/>
          </a:solidFill>
          <a:ln w="9525">
            <a:solidFill>
              <a:srgbClr val="DCE3E6"/>
            </a:solidFill>
            <a:prstDash val="solid"/>
          </a:ln>
        </p:spPr>
      </p:sp>
      <p:sp>
        <p:nvSpPr>
          <p:cNvPr id="27" name="Shape 24"/>
          <p:cNvSpPr/>
          <p:nvPr/>
        </p:nvSpPr>
        <p:spPr>
          <a:xfrm>
            <a:off x="2157984" y="4261104"/>
            <a:ext cx="274320" cy="182880"/>
          </a:xfrm>
          <a:prstGeom prst="rect">
            <a:avLst/>
          </a:prstGeom>
          <a:solidFill>
            <a:srgbClr val="B96A1B"/>
          </a:solidFill>
          <a:ln w="15875">
            <a:solidFill>
              <a:srgbClr val="B96A1B"/>
            </a:solidFill>
            <a:prstDash val="solid"/>
          </a:ln>
        </p:spPr>
      </p:sp>
      <p:sp>
        <p:nvSpPr>
          <p:cNvPr id="28" name="Shape 25"/>
          <p:cNvSpPr/>
          <p:nvPr/>
        </p:nvSpPr>
        <p:spPr>
          <a:xfrm>
            <a:off x="923544" y="4535424"/>
            <a:ext cx="274320" cy="182880"/>
          </a:xfrm>
          <a:prstGeom prst="rect">
            <a:avLst/>
          </a:prstGeom>
          <a:solidFill>
            <a:srgbClr val="F2F5F6"/>
          </a:solidFill>
          <a:ln w="9525">
            <a:solidFill>
              <a:srgbClr val="DCE3E6"/>
            </a:solidFill>
            <a:prstDash val="solid"/>
          </a:ln>
        </p:spPr>
      </p:sp>
      <p:sp>
        <p:nvSpPr>
          <p:cNvPr id="29" name="Shape 26"/>
          <p:cNvSpPr/>
          <p:nvPr/>
        </p:nvSpPr>
        <p:spPr>
          <a:xfrm>
            <a:off x="1335024" y="4535424"/>
            <a:ext cx="274320" cy="182880"/>
          </a:xfrm>
          <a:prstGeom prst="rect">
            <a:avLst/>
          </a:prstGeom>
          <a:solidFill>
            <a:srgbClr val="F2F5F6"/>
          </a:solidFill>
          <a:ln w="9525">
            <a:solidFill>
              <a:srgbClr val="DCE3E6"/>
            </a:solidFill>
            <a:prstDash val="solid"/>
          </a:ln>
        </p:spPr>
      </p:sp>
      <p:sp>
        <p:nvSpPr>
          <p:cNvPr id="30" name="Shape 27"/>
          <p:cNvSpPr/>
          <p:nvPr/>
        </p:nvSpPr>
        <p:spPr>
          <a:xfrm>
            <a:off x="1746504" y="4535424"/>
            <a:ext cx="274320" cy="182880"/>
          </a:xfrm>
          <a:prstGeom prst="rect">
            <a:avLst/>
          </a:prstGeom>
          <a:solidFill>
            <a:srgbClr val="F2F5F6"/>
          </a:solidFill>
          <a:ln w="9525">
            <a:solidFill>
              <a:srgbClr val="DCE3E6"/>
            </a:solidFill>
            <a:prstDash val="solid"/>
          </a:ln>
        </p:spPr>
      </p:sp>
      <p:sp>
        <p:nvSpPr>
          <p:cNvPr id="31" name="Shape 28"/>
          <p:cNvSpPr/>
          <p:nvPr/>
        </p:nvSpPr>
        <p:spPr>
          <a:xfrm>
            <a:off x="2157984" y="4535424"/>
            <a:ext cx="274320" cy="182880"/>
          </a:xfrm>
          <a:prstGeom prst="rect">
            <a:avLst/>
          </a:prstGeom>
          <a:solidFill>
            <a:srgbClr val="F2F5F6"/>
          </a:solidFill>
          <a:ln w="9525">
            <a:solidFill>
              <a:srgbClr val="DCE3E6"/>
            </a:solidFill>
            <a:prstDash val="solid"/>
          </a:ln>
        </p:spPr>
      </p:sp>
      <p:sp>
        <p:nvSpPr>
          <p:cNvPr id="32" name="Shape 29"/>
          <p:cNvSpPr/>
          <p:nvPr/>
        </p:nvSpPr>
        <p:spPr>
          <a:xfrm>
            <a:off x="1549908" y="4663440"/>
            <a:ext cx="237744" cy="292608"/>
          </a:xfrm>
          <a:prstGeom prst="roundRect">
            <a:avLst>
              <a:gd name="adj" fmla="val 7692"/>
            </a:avLst>
          </a:prstGeom>
          <a:solidFill>
            <a:srgbClr val="0A5B5A"/>
          </a:solidFill>
          <a:ln/>
        </p:spPr>
      </p:sp>
      <p:sp>
        <p:nvSpPr>
          <p:cNvPr id="33" name="Text 30"/>
          <p:cNvSpPr/>
          <p:nvPr/>
        </p:nvSpPr>
        <p:spPr>
          <a:xfrm>
            <a:off x="731520" y="4983480"/>
            <a:ext cx="2057400" cy="310896"/>
          </a:xfrm>
          <a:prstGeom prst="rect">
            <a:avLst/>
          </a:prstGeom>
          <a:noFill/>
          <a:ln/>
        </p:spPr>
        <p:txBody>
          <a:bodyPr wrap="square" lIns="0" tIns="0" rIns="0" bIns="0" rtlCol="0" anchor="ctr"/>
          <a:lstStyle/>
          <a:p>
            <a:pPr algn="ctr" indent="0" marL="0">
              <a:lnSpc>
                <a:spcPct val="95000"/>
              </a:lnSpc>
              <a:buNone/>
            </a:pPr>
            <a:r>
              <a:rPr lang="en-US" sz="720" i="1" dirty="0">
                <a:solidFill>
                  <a:srgbClr val="0A5B5A"/>
                </a:solidFill>
                <a:latin typeface="Calibri" pitchFamily="34" charset="0"/>
                <a:ea typeface="Calibri" pitchFamily="34" charset="-122"/>
                <a:cs typeface="Calibri" pitchFamily="34" charset="-120"/>
              </a:rPr>
              <a:t>671B params — the building · ~37B — the lit departments</a:t>
            </a:r>
            <a:endParaRPr lang="en-US" sz="720" dirty="0"/>
          </a:p>
        </p:txBody>
      </p:sp>
      <p:sp>
        <p:nvSpPr>
          <p:cNvPr id="34" name="Text 31"/>
          <p:cNvSpPr/>
          <p:nvPr/>
        </p:nvSpPr>
        <p:spPr>
          <a:xfrm>
            <a:off x="2743200" y="3547872"/>
            <a:ext cx="2743200" cy="1691640"/>
          </a:xfrm>
          <a:prstGeom prst="rect">
            <a:avLst/>
          </a:prstGeom>
          <a:noFill/>
          <a:ln/>
        </p:spPr>
        <p:txBody>
          <a:bodyPr wrap="square" lIns="0" tIns="0" rIns="0" bIns="0" rtlCol="0" anchor="ctr"/>
          <a:lstStyle/>
          <a:p>
            <a:pPr indent="0" marL="0">
              <a:lnSpc>
                <a:spcPct val="108000"/>
              </a:lnSpc>
              <a:buNone/>
            </a:pPr>
            <a:r>
              <a:rPr lang="en-US" sz="1000" dirty="0">
                <a:solidFill>
                  <a:srgbClr val="46545F"/>
                </a:solidFill>
                <a:latin typeface="Calibri" pitchFamily="34" charset="0"/>
                <a:ea typeface="Calibri" pitchFamily="34" charset="-122"/>
                <a:cs typeface="Calibri" pitchFamily="34" charset="-120"/>
              </a:rPr>
              <a:t>Built like a huge specialist hospital: 671 billion parameters on the books, but only ~37 billion — the relevant departments — wake up per question. You pay for the specialists consulted, not the whole building. Distillation (big models teaching small ones) finishes the job.</a:t>
            </a:r>
            <a:endParaRPr lang="en-US" sz="1000" dirty="0"/>
          </a:p>
        </p:txBody>
      </p:sp>
      <p:sp>
        <p:nvSpPr>
          <p:cNvPr id="35" name="Shape 32"/>
          <p:cNvSpPr/>
          <p:nvPr/>
        </p:nvSpPr>
        <p:spPr>
          <a:xfrm>
            <a:off x="5806440" y="1444752"/>
            <a:ext cx="5852160" cy="1965960"/>
          </a:xfrm>
          <a:prstGeom prst="roundRect">
            <a:avLst>
              <a:gd name="adj" fmla="val 3721"/>
            </a:avLst>
          </a:prstGeom>
          <a:solidFill>
            <a:srgbClr val="F2F5F6"/>
          </a:solidFill>
          <a:ln/>
        </p:spPr>
      </p:sp>
      <p:sp>
        <p:nvSpPr>
          <p:cNvPr id="36" name="Text 3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37" name="Text 34"/>
          <p:cNvSpPr/>
          <p:nvPr/>
        </p:nvSpPr>
        <p:spPr>
          <a:xfrm>
            <a:off x="6053328" y="1956816"/>
            <a:ext cx="1234440" cy="274320"/>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OpenAI o1</a:t>
            </a:r>
            <a:endParaRPr lang="en-US" sz="950" dirty="0"/>
          </a:p>
        </p:txBody>
      </p:sp>
      <p:sp>
        <p:nvSpPr>
          <p:cNvPr id="38" name="Shape 35"/>
          <p:cNvSpPr/>
          <p:nvPr/>
        </p:nvSpPr>
        <p:spPr>
          <a:xfrm>
            <a:off x="7360920" y="1975104"/>
            <a:ext cx="3017520" cy="237744"/>
          </a:xfrm>
          <a:prstGeom prst="roundRect">
            <a:avLst>
              <a:gd name="adj" fmla="val 15385"/>
            </a:avLst>
          </a:prstGeom>
          <a:solidFill>
            <a:srgbClr val="46545F"/>
          </a:solidFill>
          <a:ln/>
        </p:spPr>
      </p:sp>
      <p:sp>
        <p:nvSpPr>
          <p:cNvPr id="39" name="Text 3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40" name="Text 37"/>
          <p:cNvSpPr/>
          <p:nvPr/>
        </p:nvSpPr>
        <p:spPr>
          <a:xfrm>
            <a:off x="6053328" y="2340864"/>
            <a:ext cx="1234440" cy="27432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DeepSeek-R1</a:t>
            </a:r>
            <a:endParaRPr lang="en-US" sz="950" dirty="0"/>
          </a:p>
        </p:txBody>
      </p:sp>
      <p:sp>
        <p:nvSpPr>
          <p:cNvPr id="41" name="Shape 38"/>
          <p:cNvSpPr/>
          <p:nvPr/>
        </p:nvSpPr>
        <p:spPr>
          <a:xfrm>
            <a:off x="7360920" y="2359152"/>
            <a:ext cx="128016" cy="237744"/>
          </a:xfrm>
          <a:prstGeom prst="roundRect">
            <a:avLst>
              <a:gd name="adj" fmla="val 14286"/>
            </a:avLst>
          </a:prstGeom>
          <a:solidFill>
            <a:srgbClr val="0E7C7B"/>
          </a:solidFill>
          <a:ln/>
        </p:spPr>
      </p:sp>
      <p:sp>
        <p:nvSpPr>
          <p:cNvPr id="42" name="Text 3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43" name="Shape 40"/>
          <p:cNvSpPr/>
          <p:nvPr/>
        </p:nvSpPr>
        <p:spPr>
          <a:xfrm>
            <a:off x="10561320" y="1901952"/>
            <a:ext cx="914400" cy="914400"/>
          </a:xfrm>
          <a:prstGeom prst="ellipse">
            <a:avLst/>
          </a:prstGeom>
          <a:solidFill>
            <a:srgbClr val="B96A1B"/>
          </a:solidFill>
          <a:ln/>
        </p:spPr>
      </p:sp>
      <p:sp>
        <p:nvSpPr>
          <p:cNvPr id="44" name="Text 4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7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45" name="Text 4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0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00" dirty="0"/>
          </a:p>
        </p:txBody>
      </p:sp>
      <p:sp>
        <p:nvSpPr>
          <p:cNvPr id="46" name="Shape 43"/>
          <p:cNvSpPr/>
          <p:nvPr/>
        </p:nvSpPr>
        <p:spPr>
          <a:xfrm>
            <a:off x="5806440" y="3493008"/>
            <a:ext cx="5852160" cy="1700784"/>
          </a:xfrm>
          <a:prstGeom prst="roundRect">
            <a:avLst>
              <a:gd name="adj" fmla="val 4301"/>
            </a:avLst>
          </a:prstGeom>
          <a:solidFill>
            <a:srgbClr val="F2F5F6"/>
          </a:solidFill>
          <a:ln/>
        </p:spPr>
      </p:sp>
      <p:sp>
        <p:nvSpPr>
          <p:cNvPr id="47" name="Text 4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48" name="Text 4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Math olympiad (AIME 2024)</a:t>
            </a:r>
            <a:endParaRPr lang="en-US" sz="900" dirty="0"/>
          </a:p>
        </p:txBody>
      </p:sp>
      <p:sp>
        <p:nvSpPr>
          <p:cNvPr id="49" name="Shape 46"/>
          <p:cNvSpPr/>
          <p:nvPr/>
        </p:nvSpPr>
        <p:spPr>
          <a:xfrm>
            <a:off x="8275320" y="3941064"/>
            <a:ext cx="1824228" cy="100584"/>
          </a:xfrm>
          <a:prstGeom prst="roundRect">
            <a:avLst>
              <a:gd name="adj" fmla="val 18182"/>
            </a:avLst>
          </a:prstGeom>
          <a:solidFill>
            <a:srgbClr val="0E7C7B"/>
          </a:solidFill>
          <a:ln/>
        </p:spPr>
      </p:sp>
      <p:sp>
        <p:nvSpPr>
          <p:cNvPr id="50" name="Text 47"/>
          <p:cNvSpPr/>
          <p:nvPr/>
        </p:nvSpPr>
        <p:spPr>
          <a:xfrm>
            <a:off x="10126980" y="3895344"/>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79.8</a:t>
            </a:r>
            <a:endParaRPr lang="en-US" sz="750" dirty="0"/>
          </a:p>
        </p:txBody>
      </p:sp>
      <p:sp>
        <p:nvSpPr>
          <p:cNvPr id="51" name="Shape 48"/>
          <p:cNvSpPr/>
          <p:nvPr/>
        </p:nvSpPr>
        <p:spPr>
          <a:xfrm>
            <a:off x="8275320" y="4069080"/>
            <a:ext cx="1810512" cy="100584"/>
          </a:xfrm>
          <a:prstGeom prst="roundRect">
            <a:avLst>
              <a:gd name="adj" fmla="val 18182"/>
            </a:avLst>
          </a:prstGeom>
          <a:solidFill>
            <a:srgbClr val="46545F"/>
          </a:solidFill>
          <a:ln/>
        </p:spPr>
      </p:sp>
      <p:sp>
        <p:nvSpPr>
          <p:cNvPr id="52" name="Text 49"/>
          <p:cNvSpPr/>
          <p:nvPr/>
        </p:nvSpPr>
        <p:spPr>
          <a:xfrm>
            <a:off x="10113264" y="4023360"/>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79.2</a:t>
            </a:r>
            <a:endParaRPr lang="en-US" sz="750" dirty="0"/>
          </a:p>
        </p:txBody>
      </p:sp>
      <p:sp>
        <p:nvSpPr>
          <p:cNvPr id="53" name="Text 5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Coding agent (SWE-bench)</a:t>
            </a:r>
            <a:endParaRPr lang="en-US" sz="900" dirty="0"/>
          </a:p>
        </p:txBody>
      </p:sp>
      <p:sp>
        <p:nvSpPr>
          <p:cNvPr id="54" name="Shape 51"/>
          <p:cNvSpPr/>
          <p:nvPr/>
        </p:nvSpPr>
        <p:spPr>
          <a:xfrm>
            <a:off x="8275320" y="4251960"/>
            <a:ext cx="1124712" cy="100584"/>
          </a:xfrm>
          <a:prstGeom prst="roundRect">
            <a:avLst>
              <a:gd name="adj" fmla="val 18182"/>
            </a:avLst>
          </a:prstGeom>
          <a:solidFill>
            <a:srgbClr val="0E7C7B"/>
          </a:solidFill>
          <a:ln/>
        </p:spPr>
      </p:sp>
      <p:sp>
        <p:nvSpPr>
          <p:cNvPr id="55" name="Text 52"/>
          <p:cNvSpPr/>
          <p:nvPr/>
        </p:nvSpPr>
        <p:spPr>
          <a:xfrm>
            <a:off x="9427464" y="4206240"/>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49.2</a:t>
            </a:r>
            <a:endParaRPr lang="en-US" sz="750" dirty="0"/>
          </a:p>
        </p:txBody>
      </p:sp>
      <p:sp>
        <p:nvSpPr>
          <p:cNvPr id="56" name="Shape 53"/>
          <p:cNvSpPr/>
          <p:nvPr/>
        </p:nvSpPr>
        <p:spPr>
          <a:xfrm>
            <a:off x="8275320" y="4379976"/>
            <a:ext cx="1117854" cy="100584"/>
          </a:xfrm>
          <a:prstGeom prst="roundRect">
            <a:avLst>
              <a:gd name="adj" fmla="val 18182"/>
            </a:avLst>
          </a:prstGeom>
          <a:solidFill>
            <a:srgbClr val="46545F"/>
          </a:solidFill>
          <a:ln/>
        </p:spPr>
      </p:sp>
      <p:sp>
        <p:nvSpPr>
          <p:cNvPr id="57" name="Text 54"/>
          <p:cNvSpPr/>
          <p:nvPr/>
        </p:nvSpPr>
        <p:spPr>
          <a:xfrm>
            <a:off x="9420606" y="4334256"/>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48.9</a:t>
            </a:r>
            <a:endParaRPr lang="en-US" sz="750" dirty="0"/>
          </a:p>
        </p:txBody>
      </p:sp>
      <p:sp>
        <p:nvSpPr>
          <p:cNvPr id="58" name="Text 5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Science PhD (GPQA)</a:t>
            </a:r>
            <a:endParaRPr lang="en-US" sz="900" dirty="0"/>
          </a:p>
        </p:txBody>
      </p:sp>
      <p:sp>
        <p:nvSpPr>
          <p:cNvPr id="59" name="Shape 56"/>
          <p:cNvSpPr/>
          <p:nvPr/>
        </p:nvSpPr>
        <p:spPr>
          <a:xfrm>
            <a:off x="8275320" y="4562856"/>
            <a:ext cx="1634490" cy="100584"/>
          </a:xfrm>
          <a:prstGeom prst="roundRect">
            <a:avLst>
              <a:gd name="adj" fmla="val 18182"/>
            </a:avLst>
          </a:prstGeom>
          <a:solidFill>
            <a:srgbClr val="0E7C7B"/>
          </a:solidFill>
          <a:ln/>
        </p:spPr>
      </p:sp>
      <p:sp>
        <p:nvSpPr>
          <p:cNvPr id="60" name="Text 57"/>
          <p:cNvSpPr/>
          <p:nvPr/>
        </p:nvSpPr>
        <p:spPr>
          <a:xfrm>
            <a:off x="9937242" y="4517136"/>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71.5</a:t>
            </a:r>
            <a:endParaRPr lang="en-US" sz="750" dirty="0"/>
          </a:p>
        </p:txBody>
      </p:sp>
      <p:sp>
        <p:nvSpPr>
          <p:cNvPr id="61" name="Shape 58"/>
          <p:cNvSpPr/>
          <p:nvPr/>
        </p:nvSpPr>
        <p:spPr>
          <a:xfrm>
            <a:off x="8275320" y="4690872"/>
            <a:ext cx="1730502" cy="100584"/>
          </a:xfrm>
          <a:prstGeom prst="roundRect">
            <a:avLst>
              <a:gd name="adj" fmla="val 18182"/>
            </a:avLst>
          </a:prstGeom>
          <a:solidFill>
            <a:srgbClr val="46545F"/>
          </a:solidFill>
          <a:ln/>
        </p:spPr>
      </p:sp>
      <p:sp>
        <p:nvSpPr>
          <p:cNvPr id="62" name="Text 59"/>
          <p:cNvSpPr/>
          <p:nvPr/>
        </p:nvSpPr>
        <p:spPr>
          <a:xfrm>
            <a:off x="10033254" y="4645152"/>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75.7</a:t>
            </a:r>
            <a:endParaRPr lang="en-US" sz="750" dirty="0"/>
          </a:p>
        </p:txBody>
      </p:sp>
      <p:sp>
        <p:nvSpPr>
          <p:cNvPr id="63" name="Text 60"/>
          <p:cNvSpPr/>
          <p:nvPr/>
        </p:nvSpPr>
        <p:spPr>
          <a:xfrm>
            <a:off x="6053328" y="4864608"/>
            <a:ext cx="5394960" cy="274320"/>
          </a:xfrm>
          <a:prstGeom prst="rect">
            <a:avLst/>
          </a:prstGeom>
          <a:noFill/>
          <a:ln/>
        </p:spPr>
        <p:txBody>
          <a:bodyPr wrap="square" lIns="0" tIns="0" rIns="0" bIns="0" rtlCol="0" anchor="ctr"/>
          <a:lstStyle/>
          <a:p>
            <a:pPr indent="0" marL="0">
              <a:buNone/>
            </a:pPr>
            <a:r>
              <a:rPr lang="en-US" sz="800" b="1" dirty="0">
                <a:solidFill>
                  <a:srgbClr val="0E7C7B"/>
                </a:solidFill>
                <a:latin typeface="Calibri" pitchFamily="34" charset="0"/>
                <a:ea typeface="Calibri" pitchFamily="34" charset="-122"/>
                <a:cs typeface="Calibri" pitchFamily="34" charset="-120"/>
              </a:rPr>
              <a:t>■</a:t>
            </a:r>
            <a:pPr indent="0" marL="0">
              <a:buNone/>
            </a:pPr>
            <a:r>
              <a:rPr lang="en-US" sz="780" dirty="0">
                <a:solidFill>
                  <a:srgbClr val="46545F"/>
                </a:solidFill>
                <a:latin typeface="Calibri" pitchFamily="34" charset="0"/>
                <a:ea typeface="Calibri" pitchFamily="34" charset="-122"/>
                <a:cs typeface="Calibri" pitchFamily="34" charset="-120"/>
              </a:rPr>
              <a:t> DeepSeek-R1  </a:t>
            </a:r>
            <a:pPr indent="0" marL="0">
              <a:buNone/>
            </a:pPr>
            <a:r>
              <a:rPr lang="en-US" sz="800" b="1" dirty="0">
                <a:solidFill>
                  <a:srgbClr val="46545F"/>
                </a:solidFill>
                <a:latin typeface="Calibri" pitchFamily="34" charset="0"/>
                <a:ea typeface="Calibri" pitchFamily="34" charset="-122"/>
                <a:cs typeface="Calibri" pitchFamily="34" charset="-120"/>
              </a:rPr>
              <a:t>■</a:t>
            </a:r>
            <a:pPr indent="0" marL="0">
              <a:buNone/>
            </a:pPr>
            <a:r>
              <a:rPr lang="en-US" sz="780" dirty="0">
                <a:solidFill>
                  <a:srgbClr val="7A8790"/>
                </a:solidFill>
                <a:latin typeface="Calibri" pitchFamily="34" charset="0"/>
                <a:ea typeface="Calibri" pitchFamily="34" charset="-122"/>
                <a:cs typeface="Calibri" pitchFamily="34" charset="-120"/>
              </a:rPr>
              <a:t> OpenAI o1 — matched on math &amp; coding, behind on PhD science: not a clean sweep, and that’s the honest story.</a:t>
            </a:r>
            <a:endParaRPr lang="en-US" sz="800" dirty="0"/>
          </a:p>
        </p:txBody>
      </p:sp>
      <p:sp>
        <p:nvSpPr>
          <p:cNvPr id="64" name="Shape 61"/>
          <p:cNvSpPr/>
          <p:nvPr/>
        </p:nvSpPr>
        <p:spPr>
          <a:xfrm>
            <a:off x="502920" y="5303520"/>
            <a:ext cx="11155680" cy="1207008"/>
          </a:xfrm>
          <a:prstGeom prst="roundRect">
            <a:avLst>
              <a:gd name="adj" fmla="val 6061"/>
            </a:avLst>
          </a:prstGeom>
          <a:solidFill>
            <a:srgbClr val="E4F0EF"/>
          </a:solidFill>
          <a:ln/>
        </p:spPr>
      </p:sp>
      <p:sp>
        <p:nvSpPr>
          <p:cNvPr id="65" name="Shape 62"/>
          <p:cNvSpPr/>
          <p:nvPr/>
        </p:nvSpPr>
        <p:spPr>
          <a:xfrm>
            <a:off x="649224" y="5422392"/>
            <a:ext cx="365760" cy="365760"/>
          </a:xfrm>
          <a:prstGeom prst="ellipse">
            <a:avLst/>
          </a:prstGeom>
          <a:solidFill>
            <a:srgbClr val="0E7C7B"/>
          </a:solidFill>
          <a:ln/>
        </p:spPr>
      </p:sp>
      <p:pic>
        <p:nvPicPr>
          <p:cNvPr id="66" name="Image 1" descr="/home/user/Claude-Works/ai-training-prompt-engineering/src/assets/icons/robot_w.png">    </p:cNvPr>
          <p:cNvPicPr>
            <a:picLocks noChangeAspect="1"/>
          </p:cNvPicPr>
          <p:nvPr/>
        </p:nvPicPr>
        <p:blipFill>
          <a:blip r:embed="rId2"/>
          <a:stretch>
            <a:fillRect/>
          </a:stretch>
        </p:blipFill>
        <p:spPr>
          <a:xfrm>
            <a:off x="744322" y="5517490"/>
            <a:ext cx="175565" cy="175565"/>
          </a:xfrm>
          <a:prstGeom prst="rect">
            <a:avLst/>
          </a:prstGeom>
        </p:spPr>
      </p:pic>
      <p:sp>
        <p:nvSpPr>
          <p:cNvPr id="67" name="Shape 63"/>
          <p:cNvSpPr/>
          <p:nvPr/>
        </p:nvSpPr>
        <p:spPr>
          <a:xfrm>
            <a:off x="1106424" y="5449824"/>
            <a:ext cx="1188720" cy="310896"/>
          </a:xfrm>
          <a:prstGeom prst="roundRect">
            <a:avLst>
              <a:gd name="adj" fmla="val 23529"/>
            </a:avLst>
          </a:prstGeom>
          <a:solidFill>
            <a:srgbClr val="0E7C7B"/>
          </a:solidFill>
          <a:ln/>
        </p:spPr>
      </p:sp>
      <p:sp>
        <p:nvSpPr>
          <p:cNvPr id="68" name="Text 64"/>
          <p:cNvSpPr/>
          <p:nvPr/>
        </p:nvSpPr>
        <p:spPr>
          <a:xfrm>
            <a:off x="1106424" y="545896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8/7</a:t>
            </a:r>
            <a:endParaRPr lang="en-US" sz="950" dirty="0"/>
          </a:p>
        </p:txBody>
      </p:sp>
      <p:sp>
        <p:nvSpPr>
          <p:cNvPr id="69" name="Text 65"/>
          <p:cNvSpPr/>
          <p:nvPr/>
        </p:nvSpPr>
        <p:spPr>
          <a:xfrm>
            <a:off x="2404872" y="545896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specialist hospital, explained</a:t>
            </a:r>
            <a:endParaRPr lang="en-US" sz="1050" dirty="0"/>
          </a:p>
        </p:txBody>
      </p:sp>
      <p:sp>
        <p:nvSpPr>
          <p:cNvPr id="70" name="Text 66"/>
          <p:cNvSpPr/>
          <p:nvPr/>
        </p:nvSpPr>
        <p:spPr>
          <a:xfrm>
            <a:off x="685800" y="5815584"/>
            <a:ext cx="10789920" cy="329184"/>
          </a:xfrm>
          <a:prstGeom prst="rect">
            <a:avLst/>
          </a:prstGeom>
          <a:noFill/>
          <a:ln/>
        </p:spPr>
        <p:txBody>
          <a:bodyPr wrap="square" lIns="0" tIns="0" rIns="0" bIns="0" rtlCol="0" anchor="t"/>
          <a:lstStyle/>
          <a:p>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MoE cheat-note lands in your course log, told by your own assistant.</a:t>
            </a:r>
            <a:endParaRPr lang="en-US" sz="860" dirty="0"/>
          </a:p>
        </p:txBody>
      </p:sp>
      <p:sp>
        <p:nvSpPr>
          <p:cNvPr id="71" name="Text 67"/>
          <p:cNvSpPr/>
          <p:nvPr/>
        </p:nvSpPr>
        <p:spPr>
          <a:xfrm>
            <a:off x="685800" y="6217920"/>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sp>
        <p:nvSpPr>
          <p:cNvPr id="6" name="Shape 4"/>
          <p:cNvSpPr/>
          <p:nvPr/>
        </p:nvSpPr>
        <p:spPr>
          <a:xfrm>
            <a:off x="502920" y="1444752"/>
            <a:ext cx="11155680" cy="3794760"/>
          </a:xfrm>
          <a:prstGeom prst="roundRect">
            <a:avLst>
              <a:gd name="adj" fmla="val 1928"/>
            </a:avLst>
          </a:prstGeom>
          <a:solidFill>
            <a:srgbClr val="EAF3F5"/>
          </a:solidFill>
          <a:ln w="9525">
            <a:solidFill>
              <a:srgbClr val="DCE3E6"/>
            </a:solidFill>
            <a:prstDash val="solid"/>
          </a:ln>
        </p:spPr>
      </p:sp>
      <p:sp>
        <p:nvSpPr>
          <p:cNvPr id="7"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8"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9"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0" name="Image 0" descr="/home/user/Claude-Works/ai-training-prompt-engineering/src/assets/logos/claude.png">    </p:cNvPr>
          <p:cNvPicPr>
            <a:picLocks noChangeAspect="1"/>
          </p:cNvPicPr>
          <p:nvPr/>
        </p:nvPicPr>
        <p:blipFill>
          <a:blip r:embed="rId1"/>
          <a:stretch>
            <a:fillRect/>
          </a:stretch>
        </p:blipFill>
        <p:spPr>
          <a:xfrm>
            <a:off x="987918" y="2222358"/>
            <a:ext cx="237012" cy="237012"/>
          </a:xfrm>
          <a:prstGeom prst="rect">
            <a:avLst/>
          </a:prstGeom>
        </p:spPr>
      </p:pic>
      <p:sp>
        <p:nvSpPr>
          <p:cNvPr id="11"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2"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3" name="Image 1" descr="/home/user/Claude-Works/ai-training-prompt-engineering/src/assets/logos/openai.png">    </p:cNvPr>
          <p:cNvPicPr>
            <a:picLocks noChangeAspect="1"/>
          </p:cNvPicPr>
          <p:nvPr/>
        </p:nvPicPr>
        <p:blipFill>
          <a:blip r:embed="rId2"/>
          <a:stretch>
            <a:fillRect/>
          </a:stretch>
        </p:blipFill>
        <p:spPr>
          <a:xfrm>
            <a:off x="987918" y="2944734"/>
            <a:ext cx="237012" cy="237012"/>
          </a:xfrm>
          <a:prstGeom prst="rect">
            <a:avLst/>
          </a:prstGeom>
        </p:spPr>
      </p:pic>
      <p:sp>
        <p:nvSpPr>
          <p:cNvPr id="14"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5"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6" name="Image 2" descr="/home/user/Claude-Works/ai-training-prompt-engineering/src/assets/logos/grok.png">    </p:cNvPr>
          <p:cNvPicPr>
            <a:picLocks noChangeAspect="1"/>
          </p:cNvPicPr>
          <p:nvPr/>
        </p:nvPicPr>
        <p:blipFill>
          <a:blip r:embed="rId3"/>
          <a:stretch>
            <a:fillRect/>
          </a:stretch>
        </p:blipFill>
        <p:spPr>
          <a:xfrm>
            <a:off x="987918" y="3667110"/>
            <a:ext cx="237012" cy="237012"/>
          </a:xfrm>
          <a:prstGeom prst="rect">
            <a:avLst/>
          </a:prstGeom>
        </p:spPr>
      </p:pic>
      <p:sp>
        <p:nvSpPr>
          <p:cNvPr id="17"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8"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19" name="Image 3" descr="/home/user/Claude-Works/ai-training-prompt-engineering/src/assets/logos/perplexity.png">    </p:cNvPr>
          <p:cNvPicPr>
            <a:picLocks noChangeAspect="1"/>
          </p:cNvPicPr>
          <p:nvPr/>
        </p:nvPicPr>
        <p:blipFill>
          <a:blip r:embed="rId4"/>
          <a:stretch>
            <a:fillRect/>
          </a:stretch>
        </p:blipFill>
        <p:spPr>
          <a:xfrm>
            <a:off x="987918" y="4389486"/>
            <a:ext cx="237012" cy="237012"/>
          </a:xfrm>
          <a:prstGeom prst="rect">
            <a:avLst/>
          </a:prstGeom>
        </p:spPr>
      </p:pic>
      <p:sp>
        <p:nvSpPr>
          <p:cNvPr id="20"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1"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2"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3"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4" name="Image 4" descr="/home/user/Claude-Works/ai-training-prompt-engineering/src/assets/logos/openai.png">    </p:cNvPr>
          <p:cNvPicPr>
            <a:picLocks noChangeAspect="1"/>
          </p:cNvPicPr>
          <p:nvPr/>
        </p:nvPicPr>
        <p:blipFill>
          <a:blip r:embed="rId5"/>
          <a:stretch>
            <a:fillRect/>
          </a:stretch>
        </p:blipFill>
        <p:spPr>
          <a:xfrm>
            <a:off x="4645518" y="2222358"/>
            <a:ext cx="237012" cy="237012"/>
          </a:xfrm>
          <a:prstGeom prst="rect">
            <a:avLst/>
          </a:prstGeom>
        </p:spPr>
      </p:pic>
      <p:sp>
        <p:nvSpPr>
          <p:cNvPr id="25"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6"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7" name="Image 5" descr="/home/user/Claude-Works/ai-training-prompt-engineering/src/assets/logos/microsoft.png">    </p:cNvPr>
          <p:cNvPicPr>
            <a:picLocks noChangeAspect="1"/>
          </p:cNvPicPr>
          <p:nvPr/>
        </p:nvPicPr>
        <p:blipFill>
          <a:blip r:embed="rId6"/>
          <a:stretch>
            <a:fillRect/>
          </a:stretch>
        </p:blipFill>
        <p:spPr>
          <a:xfrm>
            <a:off x="4645518" y="2944734"/>
            <a:ext cx="237012" cy="237012"/>
          </a:xfrm>
          <a:prstGeom prst="rect">
            <a:avLst/>
          </a:prstGeom>
        </p:spPr>
      </p:pic>
      <p:sp>
        <p:nvSpPr>
          <p:cNvPr id="28"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29"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0" name="Image 6" descr="/home/user/Claude-Works/ai-training-prompt-engineering/src/assets/logos/google.png">    </p:cNvPr>
          <p:cNvPicPr>
            <a:picLocks noChangeAspect="1"/>
          </p:cNvPicPr>
          <p:nvPr/>
        </p:nvPicPr>
        <p:blipFill>
          <a:blip r:embed="rId7"/>
          <a:stretch>
            <a:fillRect/>
          </a:stretch>
        </p:blipFill>
        <p:spPr>
          <a:xfrm>
            <a:off x="4645518" y="3667110"/>
            <a:ext cx="237012" cy="237012"/>
          </a:xfrm>
          <a:prstGeom prst="rect">
            <a:avLst/>
          </a:prstGeom>
        </p:spPr>
      </p:pic>
      <p:sp>
        <p:nvSpPr>
          <p:cNvPr id="31"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2"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3" name="Image 7" descr="/home/user/Claude-Works/ai-training-prompt-engineering/src/assets/logos/claude.png">    </p:cNvPr>
          <p:cNvPicPr>
            <a:picLocks noChangeAspect="1"/>
          </p:cNvPicPr>
          <p:nvPr/>
        </p:nvPicPr>
        <p:blipFill>
          <a:blip r:embed="rId8"/>
          <a:stretch>
            <a:fillRect/>
          </a:stretch>
        </p:blipFill>
        <p:spPr>
          <a:xfrm>
            <a:off x="4645518" y="4389486"/>
            <a:ext cx="237012" cy="237012"/>
          </a:xfrm>
          <a:prstGeom prst="rect">
            <a:avLst/>
          </a:prstGeom>
        </p:spPr>
      </p:pic>
      <p:sp>
        <p:nvSpPr>
          <p:cNvPr id="34"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5"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6"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7"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8" name="Image 8" descr="/home/user/Claude-Works/ai-training-prompt-engineering/src/assets/logos/deepseek.png">    </p:cNvPr>
          <p:cNvPicPr>
            <a:picLocks noChangeAspect="1"/>
          </p:cNvPicPr>
          <p:nvPr/>
        </p:nvPicPr>
        <p:blipFill>
          <a:blip r:embed="rId9"/>
          <a:stretch>
            <a:fillRect/>
          </a:stretch>
        </p:blipFill>
        <p:spPr>
          <a:xfrm>
            <a:off x="8303118" y="2222358"/>
            <a:ext cx="237012" cy="237012"/>
          </a:xfrm>
          <a:prstGeom prst="rect">
            <a:avLst/>
          </a:prstGeom>
        </p:spPr>
      </p:pic>
      <p:sp>
        <p:nvSpPr>
          <p:cNvPr id="39"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0"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1" name="Image 9" descr="/home/user/Claude-Works/ai-training-prompt-engineering/src/assets/logos/kimi.png">    </p:cNvPr>
          <p:cNvPicPr>
            <a:picLocks noChangeAspect="1"/>
          </p:cNvPicPr>
          <p:nvPr/>
        </p:nvPicPr>
        <p:blipFill>
          <a:blip r:embed="rId10"/>
          <a:stretch>
            <a:fillRect/>
          </a:stretch>
        </p:blipFill>
        <p:spPr>
          <a:xfrm>
            <a:off x="8303118" y="2944734"/>
            <a:ext cx="237012" cy="237012"/>
          </a:xfrm>
          <a:prstGeom prst="rect">
            <a:avLst/>
          </a:prstGeom>
        </p:spPr>
      </p:pic>
      <p:sp>
        <p:nvSpPr>
          <p:cNvPr id="42"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3"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4"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5"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6" name="Text 34"/>
          <p:cNvSpPr/>
          <p:nvPr/>
        </p:nvSpPr>
        <p:spPr>
          <a:xfrm>
            <a:off x="777240" y="5038344"/>
            <a:ext cx="10607040" cy="201168"/>
          </a:xfrm>
          <a:prstGeom prst="rect">
            <a:avLst/>
          </a:prstGeom>
          <a:noFill/>
          <a:ln/>
        </p:spPr>
        <p:txBody>
          <a:bodyPr wrap="square" lIns="0" tIns="0" rIns="0" bIns="0" rtlCol="0" anchor="ctr"/>
          <a:lstStyle/>
          <a:p>
            <a:pPr algn="ctr" indent="0" marL="0">
              <a:buNone/>
            </a:pPr>
            <a:r>
              <a:rPr lang="en-US" sz="950" b="1" i="1" dirty="0">
                <a:solidFill>
                  <a:srgbClr val="0A5B5A"/>
                </a:solidFill>
                <a:latin typeface="Calibri" pitchFamily="34" charset="0"/>
                <a:ea typeface="Calibri" pitchFamily="34" charset="-122"/>
                <a:cs typeface="Calibri" pitchFamily="34" charset="-120"/>
              </a:rPr>
              <a:t>same logo, different homes — the ACCOUNT TIER decides which one yours is</a:t>
            </a:r>
            <a:endParaRPr lang="en-US" sz="950" dirty="0"/>
          </a:p>
        </p:txBody>
      </p:sp>
      <p:sp>
        <p:nvSpPr>
          <p:cNvPr id="47" name="Shape 35"/>
          <p:cNvSpPr/>
          <p:nvPr/>
        </p:nvSpPr>
        <p:spPr>
          <a:xfrm>
            <a:off x="502920" y="5440680"/>
            <a:ext cx="5486400" cy="1051560"/>
          </a:xfrm>
          <a:prstGeom prst="roundRect">
            <a:avLst>
              <a:gd name="adj" fmla="val 6957"/>
            </a:avLst>
          </a:prstGeom>
          <a:solidFill>
            <a:srgbClr val="E4F0EF"/>
          </a:solidFill>
          <a:ln/>
        </p:spPr>
      </p:sp>
      <p:sp>
        <p:nvSpPr>
          <p:cNvPr id="48" name="Text 36"/>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7"/>
          <p:cNvSpPr/>
          <p:nvPr/>
        </p:nvSpPr>
        <p:spPr>
          <a:xfrm>
            <a:off x="6172200" y="5440680"/>
            <a:ext cx="5486400" cy="1051560"/>
          </a:xfrm>
          <a:prstGeom prst="roundRect">
            <a:avLst>
              <a:gd name="adj" fmla="val 6957"/>
            </a:avLst>
          </a:prstGeom>
          <a:solidFill>
            <a:srgbClr val="FBF0E0"/>
          </a:solidFill>
          <a:ln/>
        </p:spPr>
      </p:sp>
      <p:sp>
        <p:nvSpPr>
          <p:cNvPr id="50" name="Text 38"/>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50" dirty="0"/>
          </a:p>
        </p:txBody>
      </p:sp>
      <p:sp>
        <p:nvSpPr>
          <p:cNvPr id="38" name="Text 28"/>
          <p:cNvSpPr/>
          <p:nvPr/>
        </p:nvSpPr>
        <p:spPr>
          <a:xfrm>
            <a:off x="502920" y="6172200"/>
            <a:ext cx="11155680" cy="32004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Coding IDEs (Cursor · GitHub Copilot · Devin) and browser agents (Comet · Claude in Chrome) exist too — engineering and power-user tools; ask IT before either.</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TOOLS IN REAL LIFE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WHAT PEOPLE ACTUALLY USE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Usage data, not hype — and the why · mid-2026</a:t>
            </a:r>
            <a:endParaRPr lang="en-US" sz="3000" dirty="0"/>
          </a:p>
        </p:txBody>
      </p:sp>
      <p:sp>
        <p:nvSpPr>
          <p:cNvPr id="6" name="Shape 4"/>
          <p:cNvSpPr/>
          <p:nvPr/>
        </p:nvSpPr>
        <p:spPr>
          <a:xfrm>
            <a:off x="502920" y="1444752"/>
            <a:ext cx="11155680" cy="1188720"/>
          </a:xfrm>
          <a:prstGeom prst="roundRect">
            <a:avLst>
              <a:gd name="adj" fmla="val 6154"/>
            </a:avLst>
          </a:prstGeom>
          <a:solidFill>
            <a:srgbClr val="F2F5F6"/>
          </a:solidFill>
          <a:ln/>
        </p:spPr>
      </p:sp>
      <p:sp>
        <p:nvSpPr>
          <p:cNvPr id="7" name="Text 5"/>
          <p:cNvSpPr/>
          <p:nvPr/>
        </p:nvSpPr>
        <p:spPr>
          <a:xfrm>
            <a:off x="731520" y="1536192"/>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The defaults — billion-user scale</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chosen once, or already installed</a:t>
            </a:r>
            <a:endParaRPr lang="en-US" sz="1150" dirty="0"/>
          </a:p>
        </p:txBody>
      </p:sp>
      <p:sp>
        <p:nvSpPr>
          <p:cNvPr id="8" name="Shape 6"/>
          <p:cNvSpPr/>
          <p:nvPr/>
        </p:nvSpPr>
        <p:spPr>
          <a:xfrm>
            <a:off x="3017520" y="159105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3068726" y="1642262"/>
            <a:ext cx="263347" cy="263347"/>
          </a:xfrm>
          <a:prstGeom prst="rect">
            <a:avLst/>
          </a:prstGeom>
        </p:spPr>
      </p:pic>
      <p:sp>
        <p:nvSpPr>
          <p:cNvPr id="10" name="Text 7"/>
          <p:cNvSpPr/>
          <p:nvPr/>
        </p:nvSpPr>
        <p:spPr>
          <a:xfrm>
            <a:off x="3017520"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ChatGPT</a:t>
            </a:r>
            <a:endParaRPr lang="en-US" sz="1050" dirty="0"/>
          </a:p>
        </p:txBody>
      </p:sp>
      <p:sp>
        <p:nvSpPr>
          <p:cNvPr id="11" name="Text 8"/>
          <p:cNvSpPr/>
          <p:nvPr/>
        </p:nvSpPr>
        <p:spPr>
          <a:xfrm>
            <a:off x="3017520"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900M weekly users — chose it first, stayed</a:t>
            </a:r>
            <a:endParaRPr lang="en-US" sz="840" dirty="0"/>
          </a:p>
        </p:txBody>
      </p:sp>
      <p:sp>
        <p:nvSpPr>
          <p:cNvPr id="12" name="Shape 9"/>
          <p:cNvSpPr/>
          <p:nvPr/>
        </p:nvSpPr>
        <p:spPr>
          <a:xfrm>
            <a:off x="5193792" y="1591056"/>
            <a:ext cx="365760" cy="365760"/>
          </a:xfrm>
          <a:prstGeom prst="roundRect">
            <a:avLst>
              <a:gd name="adj" fmla="val 22500"/>
            </a:avLst>
          </a:prstGeom>
          <a:solidFill>
            <a:srgbClr val="FFFFFF"/>
          </a:solidFill>
          <a:ln w="9525">
            <a:solidFill>
              <a:srgbClr val="DCE3E6"/>
            </a:solidFill>
            <a:prstDash val="solid"/>
          </a:ln>
        </p:spPr>
      </p:sp>
      <p:pic>
        <p:nvPicPr>
          <p:cNvPr id="13" name="Image 1" descr="/home/user/Claude-Works/ai-training-prompt-engineering/src/assets/logos/gemini.png">    </p:cNvPr>
          <p:cNvPicPr>
            <a:picLocks noChangeAspect="1"/>
          </p:cNvPicPr>
          <p:nvPr/>
        </p:nvPicPr>
        <p:blipFill>
          <a:blip r:embed="rId2"/>
          <a:stretch>
            <a:fillRect/>
          </a:stretch>
        </p:blipFill>
        <p:spPr>
          <a:xfrm>
            <a:off x="5244998" y="1642262"/>
            <a:ext cx="263347" cy="263347"/>
          </a:xfrm>
          <a:prstGeom prst="rect">
            <a:avLst/>
          </a:prstGeom>
        </p:spPr>
      </p:pic>
      <p:sp>
        <p:nvSpPr>
          <p:cNvPr id="14" name="Text 10"/>
          <p:cNvSpPr/>
          <p:nvPr/>
        </p:nvSpPr>
        <p:spPr>
          <a:xfrm>
            <a:off x="5193792"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a:t>
            </a:r>
            <a:endParaRPr lang="en-US" sz="1050" dirty="0"/>
          </a:p>
        </p:txBody>
      </p:sp>
      <p:sp>
        <p:nvSpPr>
          <p:cNvPr id="15" name="Text 11"/>
          <p:cNvSpPr/>
          <p:nvPr/>
        </p:nvSpPr>
        <p:spPr>
          <a:xfrm>
            <a:off x="5193792"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900M+ monthly — inside Gmail, Docs, Android</a:t>
            </a:r>
            <a:endParaRPr lang="en-US" sz="840" dirty="0"/>
          </a:p>
        </p:txBody>
      </p:sp>
      <p:sp>
        <p:nvSpPr>
          <p:cNvPr id="16" name="Shape 12"/>
          <p:cNvSpPr/>
          <p:nvPr/>
        </p:nvSpPr>
        <p:spPr>
          <a:xfrm>
            <a:off x="7370064" y="1591056"/>
            <a:ext cx="365760" cy="365760"/>
          </a:xfrm>
          <a:prstGeom prst="roundRect">
            <a:avLst>
              <a:gd name="adj" fmla="val 22500"/>
            </a:avLst>
          </a:prstGeom>
          <a:solidFill>
            <a:srgbClr val="FFFFFF"/>
          </a:solidFill>
          <a:ln w="9525">
            <a:solidFill>
              <a:srgbClr val="DCE3E6"/>
            </a:solidFill>
            <a:prstDash val="solid"/>
          </a:ln>
        </p:spPr>
      </p:sp>
      <p:pic>
        <p:nvPicPr>
          <p:cNvPr id="17" name="Image 2" descr="/home/user/Claude-Works/ai-training-prompt-engineering/src/assets/logos/copilot.png">    </p:cNvPr>
          <p:cNvPicPr>
            <a:picLocks noChangeAspect="1"/>
          </p:cNvPicPr>
          <p:nvPr/>
        </p:nvPicPr>
        <p:blipFill>
          <a:blip r:embed="rId3"/>
          <a:stretch>
            <a:fillRect/>
          </a:stretch>
        </p:blipFill>
        <p:spPr>
          <a:xfrm>
            <a:off x="7421270" y="1642262"/>
            <a:ext cx="263347" cy="263347"/>
          </a:xfrm>
          <a:prstGeom prst="rect">
            <a:avLst/>
          </a:prstGeom>
        </p:spPr>
      </p:pic>
      <p:sp>
        <p:nvSpPr>
          <p:cNvPr id="18" name="Text 13"/>
          <p:cNvSpPr/>
          <p:nvPr/>
        </p:nvSpPr>
        <p:spPr>
          <a:xfrm>
            <a:off x="7370064"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Copilot</a:t>
            </a:r>
            <a:endParaRPr lang="en-US" sz="1050" dirty="0"/>
          </a:p>
        </p:txBody>
      </p:sp>
      <p:sp>
        <p:nvSpPr>
          <p:cNvPr id="19" name="Text 14"/>
          <p:cNvSpPr/>
          <p:nvPr/>
        </p:nvSpPr>
        <p:spPr>
          <a:xfrm>
            <a:off x="7370064"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work default — already in Word, Outlook, Teams</a:t>
            </a:r>
            <a:endParaRPr lang="en-US" sz="840" dirty="0"/>
          </a:p>
        </p:txBody>
      </p:sp>
      <p:sp>
        <p:nvSpPr>
          <p:cNvPr id="20" name="Shape 15"/>
          <p:cNvSpPr/>
          <p:nvPr/>
        </p:nvSpPr>
        <p:spPr>
          <a:xfrm>
            <a:off x="9546336" y="1591056"/>
            <a:ext cx="365760" cy="365760"/>
          </a:xfrm>
          <a:prstGeom prst="roundRect">
            <a:avLst>
              <a:gd name="adj" fmla="val 22500"/>
            </a:avLst>
          </a:prstGeom>
          <a:solidFill>
            <a:srgbClr val="FFFFFF"/>
          </a:solidFill>
          <a:ln w="9525">
            <a:solidFill>
              <a:srgbClr val="DCE3E6"/>
            </a:solidFill>
            <a:prstDash val="solid"/>
          </a:ln>
        </p:spPr>
      </p:sp>
      <p:sp>
        <p:nvSpPr>
          <p:cNvPr id="21" name="Text 16"/>
          <p:cNvSpPr/>
          <p:nvPr/>
        </p:nvSpPr>
        <p:spPr>
          <a:xfrm>
            <a:off x="9546336" y="1591056"/>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M</a:t>
            </a:r>
            <a:endParaRPr lang="en-US" sz="1120" dirty="0"/>
          </a:p>
        </p:txBody>
      </p:sp>
      <p:sp>
        <p:nvSpPr>
          <p:cNvPr id="22" name="Text 17"/>
          <p:cNvSpPr/>
          <p:nvPr/>
        </p:nvSpPr>
        <p:spPr>
          <a:xfrm>
            <a:off x="9546336"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Meta AI</a:t>
            </a:r>
            <a:endParaRPr lang="en-US" sz="1050" dirty="0"/>
          </a:p>
        </p:txBody>
      </p:sp>
      <p:sp>
        <p:nvSpPr>
          <p:cNvPr id="23" name="Text 18"/>
          <p:cNvSpPr/>
          <p:nvPr/>
        </p:nvSpPr>
        <p:spPr>
          <a:xfrm>
            <a:off x="9546336"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button inside WhatsApp &amp; Instagram</a:t>
            </a:r>
            <a:endParaRPr lang="en-US" sz="840" dirty="0"/>
          </a:p>
        </p:txBody>
      </p:sp>
      <p:sp>
        <p:nvSpPr>
          <p:cNvPr id="24" name="Shape 19"/>
          <p:cNvSpPr/>
          <p:nvPr/>
        </p:nvSpPr>
        <p:spPr>
          <a:xfrm>
            <a:off x="502920" y="2743200"/>
            <a:ext cx="11155680" cy="1188720"/>
          </a:xfrm>
          <a:prstGeom prst="roundRect">
            <a:avLst>
              <a:gd name="adj" fmla="val 6154"/>
            </a:avLst>
          </a:prstGeom>
          <a:solidFill>
            <a:srgbClr val="E4F0EF"/>
          </a:solidFill>
          <a:ln/>
        </p:spPr>
      </p:sp>
      <p:sp>
        <p:nvSpPr>
          <p:cNvPr id="25" name="Text 20"/>
          <p:cNvSpPr/>
          <p:nvPr/>
        </p:nvSpPr>
        <p:spPr>
          <a:xfrm>
            <a:off x="731520" y="2834640"/>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Chosen for the job</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smaller — picked on quality, growing fastest</a:t>
            </a:r>
            <a:endParaRPr lang="en-US" sz="1150" dirty="0"/>
          </a:p>
        </p:txBody>
      </p:sp>
      <p:sp>
        <p:nvSpPr>
          <p:cNvPr id="26" name="Shape 21"/>
          <p:cNvSpPr/>
          <p:nvPr/>
        </p:nvSpPr>
        <p:spPr>
          <a:xfrm>
            <a:off x="3017520" y="2889504"/>
            <a:ext cx="365760" cy="365760"/>
          </a:xfrm>
          <a:prstGeom prst="roundRect">
            <a:avLst>
              <a:gd name="adj" fmla="val 22500"/>
            </a:avLst>
          </a:prstGeom>
          <a:solidFill>
            <a:srgbClr val="FFFFFF"/>
          </a:solidFill>
          <a:ln w="9525">
            <a:solidFill>
              <a:srgbClr val="DCE3E6"/>
            </a:solidFill>
            <a:prstDash val="solid"/>
          </a:ln>
        </p:spPr>
      </p:sp>
      <p:pic>
        <p:nvPicPr>
          <p:cNvPr id="27" name="Image 3" descr="/home/user/Claude-Works/ai-training-prompt-engineering/src/assets/logos/claude.png">    </p:cNvPr>
          <p:cNvPicPr>
            <a:picLocks noChangeAspect="1"/>
          </p:cNvPicPr>
          <p:nvPr/>
        </p:nvPicPr>
        <p:blipFill>
          <a:blip r:embed="rId4"/>
          <a:stretch>
            <a:fillRect/>
          </a:stretch>
        </p:blipFill>
        <p:spPr>
          <a:xfrm>
            <a:off x="3068726" y="2940710"/>
            <a:ext cx="263347" cy="263347"/>
          </a:xfrm>
          <a:prstGeom prst="rect">
            <a:avLst/>
          </a:prstGeom>
        </p:spPr>
      </p:pic>
      <p:sp>
        <p:nvSpPr>
          <p:cNvPr id="28" name="Text 22"/>
          <p:cNvSpPr/>
          <p:nvPr/>
        </p:nvSpPr>
        <p:spPr>
          <a:xfrm>
            <a:off x="3017520"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Claude</a:t>
            </a:r>
            <a:endParaRPr lang="en-US" sz="1050" dirty="0"/>
          </a:p>
        </p:txBody>
      </p:sp>
      <p:sp>
        <p:nvSpPr>
          <p:cNvPr id="29" name="Text 23"/>
          <p:cNvSpPr/>
          <p:nvPr/>
        </p:nvSpPr>
        <p:spPr>
          <a:xfrm>
            <a:off x="3017520"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writing &amp; coding — visits up ~9× in a year</a:t>
            </a:r>
            <a:endParaRPr lang="en-US" sz="840" dirty="0"/>
          </a:p>
        </p:txBody>
      </p:sp>
      <p:sp>
        <p:nvSpPr>
          <p:cNvPr id="30" name="Shape 24"/>
          <p:cNvSpPr/>
          <p:nvPr/>
        </p:nvSpPr>
        <p:spPr>
          <a:xfrm>
            <a:off x="5193792" y="2889504"/>
            <a:ext cx="365760" cy="365760"/>
          </a:xfrm>
          <a:prstGeom prst="roundRect">
            <a:avLst>
              <a:gd name="adj" fmla="val 22500"/>
            </a:avLst>
          </a:prstGeom>
          <a:solidFill>
            <a:srgbClr val="FFFFFF"/>
          </a:solidFill>
          <a:ln w="9525">
            <a:solidFill>
              <a:srgbClr val="DCE3E6"/>
            </a:solidFill>
            <a:prstDash val="solid"/>
          </a:ln>
        </p:spPr>
      </p:sp>
      <p:pic>
        <p:nvPicPr>
          <p:cNvPr id="31" name="Image 4" descr="/home/user/Claude-Works/ai-training-prompt-engineering/src/assets/logos/perplexity.png">    </p:cNvPr>
          <p:cNvPicPr>
            <a:picLocks noChangeAspect="1"/>
          </p:cNvPicPr>
          <p:nvPr/>
        </p:nvPicPr>
        <p:blipFill>
          <a:blip r:embed="rId5"/>
          <a:stretch>
            <a:fillRect/>
          </a:stretch>
        </p:blipFill>
        <p:spPr>
          <a:xfrm>
            <a:off x="5244998" y="2940710"/>
            <a:ext cx="263347" cy="263347"/>
          </a:xfrm>
          <a:prstGeom prst="rect">
            <a:avLst/>
          </a:prstGeom>
        </p:spPr>
      </p:pic>
      <p:sp>
        <p:nvSpPr>
          <p:cNvPr id="32" name="Text 25"/>
          <p:cNvSpPr/>
          <p:nvPr/>
        </p:nvSpPr>
        <p:spPr>
          <a:xfrm>
            <a:off x="5193792"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p:txBody>
      </p:sp>
      <p:sp>
        <p:nvSpPr>
          <p:cNvPr id="33" name="Text 26"/>
          <p:cNvSpPr/>
          <p:nvPr/>
        </p:nvSpPr>
        <p:spPr>
          <a:xfrm>
            <a:off x="5193792"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answers with sources — the search replacement</a:t>
            </a:r>
            <a:endParaRPr lang="en-US" sz="840" dirty="0"/>
          </a:p>
        </p:txBody>
      </p:sp>
      <p:sp>
        <p:nvSpPr>
          <p:cNvPr id="34" name="Shape 27"/>
          <p:cNvSpPr/>
          <p:nvPr/>
        </p:nvSpPr>
        <p:spPr>
          <a:xfrm>
            <a:off x="7370064" y="2889504"/>
            <a:ext cx="365760" cy="365760"/>
          </a:xfrm>
          <a:prstGeom prst="roundRect">
            <a:avLst>
              <a:gd name="adj" fmla="val 22500"/>
            </a:avLst>
          </a:prstGeom>
          <a:solidFill>
            <a:srgbClr val="FFFFFF"/>
          </a:solidFill>
          <a:ln w="9525">
            <a:solidFill>
              <a:srgbClr val="DCE3E6"/>
            </a:solidFill>
            <a:prstDash val="solid"/>
          </a:ln>
        </p:spPr>
      </p:sp>
      <p:pic>
        <p:nvPicPr>
          <p:cNvPr id="35" name="Image 5" descr="/home/user/Claude-Works/ai-training-prompt-engineering/src/assets/logos/google.png">    </p:cNvPr>
          <p:cNvPicPr>
            <a:picLocks noChangeAspect="1"/>
          </p:cNvPicPr>
          <p:nvPr/>
        </p:nvPicPr>
        <p:blipFill>
          <a:blip r:embed="rId6"/>
          <a:stretch>
            <a:fillRect/>
          </a:stretch>
        </p:blipFill>
        <p:spPr>
          <a:xfrm>
            <a:off x="7421270" y="2940710"/>
            <a:ext cx="263347" cy="263347"/>
          </a:xfrm>
          <a:prstGeom prst="rect">
            <a:avLst/>
          </a:prstGeom>
        </p:spPr>
      </p:pic>
      <p:sp>
        <p:nvSpPr>
          <p:cNvPr id="36" name="Text 28"/>
          <p:cNvSpPr/>
          <p:nvPr/>
        </p:nvSpPr>
        <p:spPr>
          <a:xfrm>
            <a:off x="7370064"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 Notebook</a:t>
            </a:r>
            <a:endParaRPr lang="en-US" sz="1050" dirty="0"/>
          </a:p>
        </p:txBody>
      </p:sp>
      <p:sp>
        <p:nvSpPr>
          <p:cNvPr id="37" name="Text 29"/>
          <p:cNvSpPr/>
          <p:nvPr/>
        </p:nvSpPr>
        <p:spPr>
          <a:xfrm>
            <a:off x="7370064"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answers from YOUR documents only</a:t>
            </a:r>
            <a:endParaRPr lang="en-US" sz="840" dirty="0"/>
          </a:p>
        </p:txBody>
      </p:sp>
      <p:sp>
        <p:nvSpPr>
          <p:cNvPr id="38" name="Shape 30"/>
          <p:cNvSpPr/>
          <p:nvPr/>
        </p:nvSpPr>
        <p:spPr>
          <a:xfrm>
            <a:off x="9546336" y="2889504"/>
            <a:ext cx="365760" cy="365760"/>
          </a:xfrm>
          <a:prstGeom prst="roundRect">
            <a:avLst>
              <a:gd name="adj" fmla="val 22500"/>
            </a:avLst>
          </a:prstGeom>
          <a:solidFill>
            <a:srgbClr val="FFFFFF"/>
          </a:solidFill>
          <a:ln w="9525">
            <a:solidFill>
              <a:srgbClr val="DCE3E6"/>
            </a:solidFill>
            <a:prstDash val="solid"/>
          </a:ln>
        </p:spPr>
      </p:sp>
      <p:pic>
        <p:nvPicPr>
          <p:cNvPr id="39" name="Image 6" descr="/home/user/Claude-Works/ai-training-prompt-engineering/src/assets/logos/deepseek.png">    </p:cNvPr>
          <p:cNvPicPr>
            <a:picLocks noChangeAspect="1"/>
          </p:cNvPicPr>
          <p:nvPr/>
        </p:nvPicPr>
        <p:blipFill>
          <a:blip r:embed="rId7"/>
          <a:stretch>
            <a:fillRect/>
          </a:stretch>
        </p:blipFill>
        <p:spPr>
          <a:xfrm>
            <a:off x="9597542" y="2940710"/>
            <a:ext cx="263347" cy="263347"/>
          </a:xfrm>
          <a:prstGeom prst="rect">
            <a:avLst/>
          </a:prstGeom>
        </p:spPr>
      </p:pic>
      <p:sp>
        <p:nvSpPr>
          <p:cNvPr id="40" name="Text 31"/>
          <p:cNvSpPr/>
          <p:nvPr/>
        </p:nvSpPr>
        <p:spPr>
          <a:xfrm>
            <a:off x="9546336"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p:txBody>
      </p:sp>
      <p:sp>
        <p:nvSpPr>
          <p:cNvPr id="41" name="Text 32"/>
          <p:cNvSpPr/>
          <p:nvPr/>
        </p:nvSpPr>
        <p:spPr>
          <a:xfrm>
            <a:off x="9546336"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free, capable, open — huge in Asia</a:t>
            </a:r>
            <a:endParaRPr lang="en-US" sz="840" dirty="0"/>
          </a:p>
        </p:txBody>
      </p:sp>
      <p:sp>
        <p:nvSpPr>
          <p:cNvPr id="42" name="Shape 33"/>
          <p:cNvSpPr/>
          <p:nvPr/>
        </p:nvSpPr>
        <p:spPr>
          <a:xfrm>
            <a:off x="502920" y="4041648"/>
            <a:ext cx="11155680" cy="1188720"/>
          </a:xfrm>
          <a:prstGeom prst="roundRect">
            <a:avLst>
              <a:gd name="adj" fmla="val 6154"/>
            </a:avLst>
          </a:prstGeom>
          <a:solidFill>
            <a:srgbClr val="F2F5F6"/>
          </a:solidFill>
          <a:ln/>
        </p:spPr>
      </p:sp>
      <p:sp>
        <p:nvSpPr>
          <p:cNvPr id="43" name="Text 34"/>
          <p:cNvSpPr/>
          <p:nvPr/>
        </p:nvSpPr>
        <p:spPr>
          <a:xfrm>
            <a:off x="731520" y="4133088"/>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AI came to tools you already had</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you may be an AI user without noticing</a:t>
            </a:r>
            <a:endParaRPr lang="en-US" sz="1150" dirty="0"/>
          </a:p>
        </p:txBody>
      </p:sp>
      <p:sp>
        <p:nvSpPr>
          <p:cNvPr id="44" name="Shape 35"/>
          <p:cNvSpPr/>
          <p:nvPr/>
        </p:nvSpPr>
        <p:spPr>
          <a:xfrm>
            <a:off x="3017520" y="4187952"/>
            <a:ext cx="365760" cy="365760"/>
          </a:xfrm>
          <a:prstGeom prst="roundRect">
            <a:avLst>
              <a:gd name="adj" fmla="val 22500"/>
            </a:avLst>
          </a:prstGeom>
          <a:solidFill>
            <a:srgbClr val="FFFFFF"/>
          </a:solidFill>
          <a:ln w="9525">
            <a:solidFill>
              <a:srgbClr val="DCE3E6"/>
            </a:solidFill>
            <a:prstDash val="solid"/>
          </a:ln>
        </p:spPr>
      </p:sp>
      <p:pic>
        <p:nvPicPr>
          <p:cNvPr id="45" name="Image 7" descr="/home/user/Claude-Works/ai-training-prompt-engineering/src/assets/logos/canva.png">    </p:cNvPr>
          <p:cNvPicPr>
            <a:picLocks noChangeAspect="1"/>
          </p:cNvPicPr>
          <p:nvPr/>
        </p:nvPicPr>
        <p:blipFill>
          <a:blip r:embed="rId8"/>
          <a:stretch>
            <a:fillRect/>
          </a:stretch>
        </p:blipFill>
        <p:spPr>
          <a:xfrm>
            <a:off x="3068726" y="4239158"/>
            <a:ext cx="263347" cy="263347"/>
          </a:xfrm>
          <a:prstGeom prst="rect">
            <a:avLst/>
          </a:prstGeom>
        </p:spPr>
      </p:pic>
      <p:sp>
        <p:nvSpPr>
          <p:cNvPr id="46" name="Text 36"/>
          <p:cNvSpPr/>
          <p:nvPr/>
        </p:nvSpPr>
        <p:spPr>
          <a:xfrm>
            <a:off x="3017520"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Canva</a:t>
            </a:r>
            <a:endParaRPr lang="en-US" sz="1050" dirty="0"/>
          </a:p>
        </p:txBody>
      </p:sp>
      <p:sp>
        <p:nvSpPr>
          <p:cNvPr id="47" name="Text 37"/>
          <p:cNvSpPr/>
          <p:nvPr/>
        </p:nvSpPr>
        <p:spPr>
          <a:xfrm>
            <a:off x="3017520"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design suite grew an AI brain</a:t>
            </a:r>
            <a:endParaRPr lang="en-US" sz="840" dirty="0"/>
          </a:p>
        </p:txBody>
      </p:sp>
      <p:sp>
        <p:nvSpPr>
          <p:cNvPr id="48" name="Shape 38"/>
          <p:cNvSpPr/>
          <p:nvPr/>
        </p:nvSpPr>
        <p:spPr>
          <a:xfrm>
            <a:off x="5193792" y="4187952"/>
            <a:ext cx="365760" cy="365760"/>
          </a:xfrm>
          <a:prstGeom prst="roundRect">
            <a:avLst>
              <a:gd name="adj" fmla="val 22500"/>
            </a:avLst>
          </a:prstGeom>
          <a:solidFill>
            <a:srgbClr val="FFFFFF"/>
          </a:solidFill>
          <a:ln w="9525">
            <a:solidFill>
              <a:srgbClr val="DCE3E6"/>
            </a:solidFill>
            <a:prstDash val="solid"/>
          </a:ln>
        </p:spPr>
      </p:sp>
      <p:sp>
        <p:nvSpPr>
          <p:cNvPr id="49" name="Text 39"/>
          <p:cNvSpPr/>
          <p:nvPr/>
        </p:nvSpPr>
        <p:spPr>
          <a:xfrm>
            <a:off x="5193792"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C</a:t>
            </a:r>
            <a:endParaRPr lang="en-US" sz="1120" dirty="0"/>
          </a:p>
        </p:txBody>
      </p:sp>
      <p:sp>
        <p:nvSpPr>
          <p:cNvPr id="50" name="Text 40"/>
          <p:cNvSpPr/>
          <p:nvPr/>
        </p:nvSpPr>
        <p:spPr>
          <a:xfrm>
            <a:off x="5193792"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CapCut</a:t>
            </a:r>
            <a:endParaRPr lang="en-US" sz="1050" dirty="0"/>
          </a:p>
        </p:txBody>
      </p:sp>
      <p:sp>
        <p:nvSpPr>
          <p:cNvPr id="51" name="Text 41"/>
          <p:cNvSpPr/>
          <p:nvPr/>
        </p:nvSpPr>
        <p:spPr>
          <a:xfrm>
            <a:off x="5193792"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736M users — video editing, AI inside</a:t>
            </a:r>
            <a:endParaRPr lang="en-US" sz="840" dirty="0"/>
          </a:p>
        </p:txBody>
      </p:sp>
      <p:sp>
        <p:nvSpPr>
          <p:cNvPr id="52" name="Shape 42"/>
          <p:cNvSpPr/>
          <p:nvPr/>
        </p:nvSpPr>
        <p:spPr>
          <a:xfrm>
            <a:off x="7370064" y="4187952"/>
            <a:ext cx="365760" cy="365760"/>
          </a:xfrm>
          <a:prstGeom prst="roundRect">
            <a:avLst>
              <a:gd name="adj" fmla="val 22500"/>
            </a:avLst>
          </a:prstGeom>
          <a:solidFill>
            <a:srgbClr val="FFFFFF"/>
          </a:solidFill>
          <a:ln w="9525">
            <a:solidFill>
              <a:srgbClr val="DCE3E6"/>
            </a:solidFill>
            <a:prstDash val="solid"/>
          </a:ln>
        </p:spPr>
      </p:sp>
      <p:pic>
        <p:nvPicPr>
          <p:cNvPr id="53" name="Image 8" descr="/home/user/Claude-Works/ai-training-prompt-engineering/src/assets/logos/notion.png">    </p:cNvPr>
          <p:cNvPicPr>
            <a:picLocks noChangeAspect="1"/>
          </p:cNvPicPr>
          <p:nvPr/>
        </p:nvPicPr>
        <p:blipFill>
          <a:blip r:embed="rId9"/>
          <a:stretch>
            <a:fillRect/>
          </a:stretch>
        </p:blipFill>
        <p:spPr>
          <a:xfrm>
            <a:off x="7421270" y="4239158"/>
            <a:ext cx="263347" cy="263347"/>
          </a:xfrm>
          <a:prstGeom prst="rect">
            <a:avLst/>
          </a:prstGeom>
        </p:spPr>
      </p:pic>
      <p:sp>
        <p:nvSpPr>
          <p:cNvPr id="54" name="Text 43"/>
          <p:cNvSpPr/>
          <p:nvPr/>
        </p:nvSpPr>
        <p:spPr>
          <a:xfrm>
            <a:off x="7370064"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Notion</a:t>
            </a:r>
            <a:endParaRPr lang="en-US" sz="1050" dirty="0"/>
          </a:p>
        </p:txBody>
      </p:sp>
      <p:sp>
        <p:nvSpPr>
          <p:cNvPr id="55" name="Text 44"/>
          <p:cNvSpPr/>
          <p:nvPr/>
        </p:nvSpPr>
        <p:spPr>
          <a:xfrm>
            <a:off x="7370064"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notes &amp; docs that draft themselves</a:t>
            </a:r>
            <a:endParaRPr lang="en-US" sz="840" dirty="0"/>
          </a:p>
        </p:txBody>
      </p:sp>
      <p:sp>
        <p:nvSpPr>
          <p:cNvPr id="56" name="Shape 45"/>
          <p:cNvSpPr/>
          <p:nvPr/>
        </p:nvSpPr>
        <p:spPr>
          <a:xfrm>
            <a:off x="9546336" y="4187952"/>
            <a:ext cx="365760" cy="365760"/>
          </a:xfrm>
          <a:prstGeom prst="roundRect">
            <a:avLst>
              <a:gd name="adj" fmla="val 22500"/>
            </a:avLst>
          </a:prstGeom>
          <a:solidFill>
            <a:srgbClr val="FFFFFF"/>
          </a:solidFill>
          <a:ln w="9525">
            <a:solidFill>
              <a:srgbClr val="DCE3E6"/>
            </a:solidFill>
            <a:prstDash val="solid"/>
          </a:ln>
        </p:spPr>
      </p:sp>
      <p:sp>
        <p:nvSpPr>
          <p:cNvPr id="57" name="Text 46"/>
          <p:cNvSpPr/>
          <p:nvPr/>
        </p:nvSpPr>
        <p:spPr>
          <a:xfrm>
            <a:off x="9546336"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G</a:t>
            </a:r>
            <a:endParaRPr lang="en-US" sz="1120" dirty="0"/>
          </a:p>
        </p:txBody>
      </p:sp>
      <p:sp>
        <p:nvSpPr>
          <p:cNvPr id="58" name="Text 47"/>
          <p:cNvSpPr/>
          <p:nvPr/>
        </p:nvSpPr>
        <p:spPr>
          <a:xfrm>
            <a:off x="9546336"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Grammarly</a:t>
            </a:r>
            <a:endParaRPr lang="en-US" sz="1050" dirty="0"/>
          </a:p>
        </p:txBody>
      </p:sp>
      <p:sp>
        <p:nvSpPr>
          <p:cNvPr id="59" name="Text 48"/>
          <p:cNvSpPr/>
          <p:nvPr/>
        </p:nvSpPr>
        <p:spPr>
          <a:xfrm>
            <a:off x="9546336"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quiet writing fixer, everywhere</a:t>
            </a:r>
            <a:endParaRPr lang="en-US" sz="840" dirty="0"/>
          </a:p>
        </p:txBody>
      </p:sp>
      <p:sp>
        <p:nvSpPr>
          <p:cNvPr id="60" name="Shape 49"/>
          <p:cNvSpPr/>
          <p:nvPr/>
        </p:nvSpPr>
        <p:spPr>
          <a:xfrm>
            <a:off x="502920" y="5394960"/>
            <a:ext cx="11155680" cy="566928"/>
          </a:xfrm>
          <a:prstGeom prst="roundRect">
            <a:avLst>
              <a:gd name="adj" fmla="val 12903"/>
            </a:avLst>
          </a:prstGeom>
          <a:solidFill>
            <a:srgbClr val="F2F5F6"/>
          </a:solidFill>
          <a:ln/>
        </p:spPr>
      </p:sp>
      <p:sp>
        <p:nvSpPr>
          <p:cNvPr id="61" name="Text 50"/>
          <p:cNvSpPr/>
          <p:nvPr/>
        </p:nvSpPr>
        <p:spPr>
          <a:xfrm>
            <a:off x="777240" y="5468112"/>
            <a:ext cx="10607040" cy="438912"/>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52% of US employees use AI at work — 15% daily (Gallup, May ’26)   ·   </a:t>
            </a:r>
            <a:pPr indent="0" marL="0">
              <a:buNone/>
            </a:pPr>
            <a:r>
              <a:rPr lang="en-US" sz="1050" dirty="0">
                <a:solidFill>
                  <a:srgbClr val="46545F"/>
                </a:solidFill>
                <a:latin typeface="Calibri" pitchFamily="34" charset="0"/>
                <a:ea typeface="Calibri" pitchFamily="34" charset="-122"/>
                <a:cs typeface="Calibri" pitchFamily="34" charset="-120"/>
              </a:rPr>
              <a:t>top jobs: writing 51% · research 49%   ·   86% treat AI output as a first draft, not a final product (Microsoft, 2026)</a:t>
            </a:r>
            <a:endParaRPr lang="en-US" sz="1050" dirty="0"/>
          </a:p>
        </p:txBody>
      </p:sp>
      <p:sp>
        <p:nvSpPr>
          <p:cNvPr id="62" name="Shape 51"/>
          <p:cNvSpPr/>
          <p:nvPr/>
        </p:nvSpPr>
        <p:spPr>
          <a:xfrm>
            <a:off x="502920" y="6053328"/>
            <a:ext cx="11155680" cy="475488"/>
          </a:xfrm>
          <a:prstGeom prst="roundRect">
            <a:avLst>
              <a:gd name="adj" fmla="val 15385"/>
            </a:avLst>
          </a:prstGeom>
          <a:solidFill>
            <a:srgbClr val="FBF0E0"/>
          </a:solidFill>
          <a:ln/>
        </p:spPr>
      </p:sp>
      <p:sp>
        <p:nvSpPr>
          <p:cNvPr id="63" name="Shape 52"/>
          <p:cNvSpPr/>
          <p:nvPr/>
        </p:nvSpPr>
        <p:spPr>
          <a:xfrm>
            <a:off x="667512" y="6099048"/>
            <a:ext cx="384048" cy="384048"/>
          </a:xfrm>
          <a:prstGeom prst="ellipse">
            <a:avLst/>
          </a:prstGeom>
          <a:solidFill>
            <a:srgbClr val="B96A1B"/>
          </a:solidFill>
          <a:ln/>
        </p:spPr>
      </p:sp>
      <p:pic>
        <p:nvPicPr>
          <p:cNvPr id="64" name="Image 9" descr="/home/user/Claude-Works/ai-training-prompt-engineering/src/assets/icons/shield_w.png">    </p:cNvPr>
          <p:cNvPicPr>
            <a:picLocks noChangeAspect="1"/>
          </p:cNvPicPr>
          <p:nvPr/>
        </p:nvPicPr>
        <p:blipFill>
          <a:blip r:embed="rId10"/>
          <a:stretch>
            <a:fillRect/>
          </a:stretch>
        </p:blipFill>
        <p:spPr>
          <a:xfrm>
            <a:off x="767364" y="6198900"/>
            <a:ext cx="184343" cy="184343"/>
          </a:xfrm>
          <a:prstGeom prst="rect">
            <a:avLst/>
          </a:prstGeom>
        </p:spPr>
      </p:pic>
      <p:sp>
        <p:nvSpPr>
          <p:cNvPr id="65" name="Text 53"/>
          <p:cNvSpPr/>
          <p:nvPr/>
        </p:nvSpPr>
        <p:spPr>
          <a:xfrm>
            <a:off x="1216152" y="6126480"/>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name on this slide.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seven techniques — and for every one of them: what it buys you, and the evidence behind it.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sp>
        <p:nvSpPr>
          <p:cNvPr id="6" name="Shape 4"/>
          <p:cNvSpPr/>
          <p:nvPr/>
        </p:nvSpPr>
        <p:spPr>
          <a:xfrm>
            <a:off x="502920" y="1444752"/>
            <a:ext cx="5074920" cy="4498848"/>
          </a:xfrm>
          <a:prstGeom prst="roundRect">
            <a:avLst>
              <a:gd name="adj" fmla="val 1626"/>
            </a:avLst>
          </a:prstGeom>
          <a:solidFill>
            <a:srgbClr val="F2F5F6"/>
          </a:solidFill>
          <a:ln/>
        </p:spPr>
      </p:sp>
      <p:sp>
        <p:nvSpPr>
          <p:cNvPr id="7" name="Shape 5"/>
          <p:cNvSpPr/>
          <p:nvPr/>
        </p:nvSpPr>
        <p:spPr>
          <a:xfrm>
            <a:off x="2651760" y="1682496"/>
            <a:ext cx="768096" cy="768096"/>
          </a:xfrm>
          <a:prstGeom prst="ellipse">
            <a:avLst/>
          </a:prstGeom>
          <a:solidFill>
            <a:srgbClr val="FFFFFF"/>
          </a:solidFill>
          <a:ln w="25400">
            <a:solidFill>
              <a:srgbClr val="0A5B5A"/>
            </a:solidFill>
            <a:prstDash val="solid"/>
          </a:ln>
        </p:spPr>
      </p:sp>
      <p:sp>
        <p:nvSpPr>
          <p:cNvPr id="8" name="Shape 6"/>
          <p:cNvSpPr/>
          <p:nvPr/>
        </p:nvSpPr>
        <p:spPr>
          <a:xfrm>
            <a:off x="2532888" y="2505456"/>
            <a:ext cx="1005840" cy="1481328"/>
          </a:xfrm>
          <a:prstGeom prst="roundRect">
            <a:avLst>
              <a:gd name="adj" fmla="val 25455"/>
            </a:avLst>
          </a:prstGeom>
          <a:solidFill>
            <a:srgbClr val="FFFFFF"/>
          </a:solidFill>
          <a:ln w="25400">
            <a:solidFill>
              <a:srgbClr val="0A5B5A"/>
            </a:solidFill>
            <a:prstDash val="solid"/>
          </a:ln>
        </p:spPr>
      </p:sp>
      <p:sp>
        <p:nvSpPr>
          <p:cNvPr id="9" name="Shape 7"/>
          <p:cNvSpPr/>
          <p:nvPr/>
        </p:nvSpPr>
        <p:spPr>
          <a:xfrm rot="1200000">
            <a:off x="1847088" y="2670048"/>
            <a:ext cx="713232" cy="201168"/>
          </a:xfrm>
          <a:prstGeom prst="roundRect">
            <a:avLst>
              <a:gd name="adj" fmla="val 50000"/>
            </a:avLst>
          </a:prstGeom>
          <a:solidFill>
            <a:srgbClr val="FFFFFF"/>
          </a:solidFill>
          <a:ln w="19050">
            <a:solidFill>
              <a:srgbClr val="0A5B5A"/>
            </a:solidFill>
            <a:prstDash val="solid"/>
          </a:ln>
        </p:spPr>
      </p:sp>
      <p:sp>
        <p:nvSpPr>
          <p:cNvPr id="10" name="Shape 8"/>
          <p:cNvSpPr/>
          <p:nvPr/>
        </p:nvSpPr>
        <p:spPr>
          <a:xfrm rot="-1200000">
            <a:off x="3511296" y="2670048"/>
            <a:ext cx="713232" cy="201168"/>
          </a:xfrm>
          <a:prstGeom prst="roundRect">
            <a:avLst>
              <a:gd name="adj" fmla="val 50000"/>
            </a:avLst>
          </a:prstGeom>
          <a:solidFill>
            <a:srgbClr val="FFFFFF"/>
          </a:solidFill>
          <a:ln w="19050">
            <a:solidFill>
              <a:srgbClr val="0A5B5A"/>
            </a:solidFill>
            <a:prstDash val="solid"/>
          </a:ln>
        </p:spPr>
      </p:sp>
      <p:sp>
        <p:nvSpPr>
          <p:cNvPr id="11" name="Shape 9"/>
          <p:cNvSpPr/>
          <p:nvPr/>
        </p:nvSpPr>
        <p:spPr>
          <a:xfrm>
            <a:off x="1664208" y="2871216"/>
            <a:ext cx="246888" cy="246888"/>
          </a:xfrm>
          <a:prstGeom prst="ellipse">
            <a:avLst/>
          </a:prstGeom>
          <a:solidFill>
            <a:srgbClr val="0E7C7B"/>
          </a:solidFill>
          <a:ln/>
        </p:spPr>
      </p:sp>
      <p:sp>
        <p:nvSpPr>
          <p:cNvPr id="12" name="Shape 10"/>
          <p:cNvSpPr/>
          <p:nvPr/>
        </p:nvSpPr>
        <p:spPr>
          <a:xfrm>
            <a:off x="4160520" y="2871216"/>
            <a:ext cx="246888" cy="246888"/>
          </a:xfrm>
          <a:prstGeom prst="ellipse">
            <a:avLst/>
          </a:prstGeom>
          <a:solidFill>
            <a:srgbClr val="0E7C7B"/>
          </a:solidFill>
          <a:ln/>
        </p:spPr>
      </p:sp>
      <p:sp>
        <p:nvSpPr>
          <p:cNvPr id="13" name="Shape 11"/>
          <p:cNvSpPr/>
          <p:nvPr/>
        </p:nvSpPr>
        <p:spPr>
          <a:xfrm>
            <a:off x="2633472" y="4005072"/>
            <a:ext cx="292608" cy="1024128"/>
          </a:xfrm>
          <a:prstGeom prst="roundRect">
            <a:avLst>
              <a:gd name="adj" fmla="val 50000"/>
            </a:avLst>
          </a:prstGeom>
          <a:solidFill>
            <a:srgbClr val="FFFFFF"/>
          </a:solidFill>
          <a:ln w="19050">
            <a:solidFill>
              <a:srgbClr val="0A5B5A"/>
            </a:solidFill>
            <a:prstDash val="solid"/>
          </a:ln>
        </p:spPr>
      </p:sp>
      <p:sp>
        <p:nvSpPr>
          <p:cNvPr id="14" name="Shape 12"/>
          <p:cNvSpPr/>
          <p:nvPr/>
        </p:nvSpPr>
        <p:spPr>
          <a:xfrm>
            <a:off x="3145536" y="4005072"/>
            <a:ext cx="292608" cy="1024128"/>
          </a:xfrm>
          <a:prstGeom prst="roundRect">
            <a:avLst>
              <a:gd name="adj" fmla="val 50000"/>
            </a:avLst>
          </a:prstGeom>
          <a:solidFill>
            <a:srgbClr val="FFFFFF"/>
          </a:solidFill>
          <a:ln w="19050">
            <a:solidFill>
              <a:srgbClr val="0A5B5A"/>
            </a:solidFill>
            <a:prstDash val="solid"/>
          </a:ln>
        </p:spPr>
      </p:sp>
      <p:sp>
        <p:nvSpPr>
          <p:cNvPr id="15" name="Shape 13"/>
          <p:cNvSpPr/>
          <p:nvPr/>
        </p:nvSpPr>
        <p:spPr>
          <a:xfrm>
            <a:off x="2743200" y="2706624"/>
            <a:ext cx="274320" cy="274320"/>
          </a:xfrm>
          <a:prstGeom prst="ellipse">
            <a:avLst/>
          </a:prstGeom>
          <a:solidFill>
            <a:srgbClr val="AF3230"/>
          </a:solidFill>
          <a:ln/>
        </p:spPr>
      </p:sp>
      <p:sp>
        <p:nvSpPr>
          <p:cNvPr id="16" name="Shape 14"/>
          <p:cNvSpPr/>
          <p:nvPr/>
        </p:nvSpPr>
        <p:spPr>
          <a:xfrm>
            <a:off x="2880360" y="2999232"/>
            <a:ext cx="274320" cy="868680"/>
          </a:xfrm>
          <a:prstGeom prst="line">
            <a:avLst/>
          </a:prstGeom>
          <a:noFill/>
          <a:ln w="19050">
            <a:solidFill>
              <a:srgbClr val="AF3230"/>
            </a:solidFill>
            <a:prstDash val="dash"/>
          </a:ln>
        </p:spPr>
      </p:sp>
      <p:sp>
        <p:nvSpPr>
          <p:cNvPr id="17" name="Text 15"/>
          <p:cNvSpPr/>
          <p:nvPr/>
        </p:nvSpPr>
        <p:spPr>
          <a:xfrm>
            <a:off x="621792" y="17007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ROLE</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head — the posture it thinks in</a:t>
            </a:r>
            <a:endParaRPr lang="en-US" sz="950" dirty="0"/>
          </a:p>
        </p:txBody>
      </p:sp>
      <p:sp>
        <p:nvSpPr>
          <p:cNvPr id="18" name="Shape 16"/>
          <p:cNvSpPr/>
          <p:nvPr/>
        </p:nvSpPr>
        <p:spPr>
          <a:xfrm>
            <a:off x="1792224" y="1810512"/>
            <a:ext cx="841248" cy="201168"/>
          </a:xfrm>
          <a:prstGeom prst="line">
            <a:avLst/>
          </a:prstGeom>
          <a:noFill/>
          <a:ln w="9525">
            <a:solidFill>
              <a:srgbClr val="7A8790"/>
            </a:solidFill>
            <a:prstDash val="sysDot"/>
          </a:ln>
        </p:spPr>
      </p:sp>
      <p:sp>
        <p:nvSpPr>
          <p:cNvPr id="19" name="Text 17"/>
          <p:cNvSpPr/>
          <p:nvPr/>
        </p:nvSpPr>
        <p:spPr>
          <a:xfrm>
            <a:off x="621792" y="26151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TASK</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heart — why it beats</a:t>
            </a:r>
            <a:endParaRPr lang="en-US" sz="950" dirty="0"/>
          </a:p>
        </p:txBody>
      </p:sp>
      <p:sp>
        <p:nvSpPr>
          <p:cNvPr id="20" name="Shape 18"/>
          <p:cNvSpPr/>
          <p:nvPr/>
        </p:nvSpPr>
        <p:spPr>
          <a:xfrm>
            <a:off x="1792224" y="2724912"/>
            <a:ext cx="932688" cy="109728"/>
          </a:xfrm>
          <a:prstGeom prst="line">
            <a:avLst/>
          </a:prstGeom>
          <a:noFill/>
          <a:ln w="9525">
            <a:solidFill>
              <a:srgbClr val="7A8790"/>
            </a:solidFill>
            <a:prstDash val="sysDot"/>
          </a:ln>
        </p:spPr>
      </p:sp>
      <p:sp>
        <p:nvSpPr>
          <p:cNvPr id="21" name="Text 19"/>
          <p:cNvSpPr/>
          <p:nvPr/>
        </p:nvSpPr>
        <p:spPr>
          <a:xfrm>
            <a:off x="621792" y="35295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CONTEXT</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bloodstream — feeds every organ</a:t>
            </a:r>
            <a:endParaRPr lang="en-US" sz="950" dirty="0"/>
          </a:p>
        </p:txBody>
      </p:sp>
      <p:sp>
        <p:nvSpPr>
          <p:cNvPr id="22" name="Shape 20"/>
          <p:cNvSpPr/>
          <p:nvPr/>
        </p:nvSpPr>
        <p:spPr>
          <a:xfrm flipV="1">
            <a:off x="1792224" y="3566160"/>
            <a:ext cx="1069848" cy="73152"/>
          </a:xfrm>
          <a:prstGeom prst="line">
            <a:avLst/>
          </a:prstGeom>
          <a:noFill/>
          <a:ln w="9525">
            <a:solidFill>
              <a:srgbClr val="7A8790"/>
            </a:solidFill>
            <a:prstDash val="sysDot"/>
          </a:ln>
        </p:spPr>
      </p:sp>
      <p:sp>
        <p:nvSpPr>
          <p:cNvPr id="23" name="Text 21"/>
          <p:cNvSpPr/>
          <p:nvPr/>
        </p:nvSpPr>
        <p:spPr>
          <a:xfrm>
            <a:off x="4407408" y="17007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FORMAT</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skeleton — holds the shape</a:t>
            </a:r>
            <a:endParaRPr lang="en-US" sz="950" dirty="0"/>
          </a:p>
        </p:txBody>
      </p:sp>
      <p:sp>
        <p:nvSpPr>
          <p:cNvPr id="24" name="Shape 22"/>
          <p:cNvSpPr/>
          <p:nvPr/>
        </p:nvSpPr>
        <p:spPr>
          <a:xfrm>
            <a:off x="3419856" y="1810512"/>
            <a:ext cx="950976" cy="201168"/>
          </a:xfrm>
          <a:prstGeom prst="line">
            <a:avLst/>
          </a:prstGeom>
          <a:noFill/>
          <a:ln w="9525">
            <a:solidFill>
              <a:srgbClr val="7A8790"/>
            </a:solidFill>
            <a:prstDash val="sysDot"/>
          </a:ln>
        </p:spPr>
      </p:sp>
      <p:sp>
        <p:nvSpPr>
          <p:cNvPr id="25" name="Text 23"/>
          <p:cNvSpPr/>
          <p:nvPr/>
        </p:nvSpPr>
        <p:spPr>
          <a:xfrm>
            <a:off x="4407408" y="26151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EXAMPLES</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hands — show how it’s done</a:t>
            </a:r>
            <a:endParaRPr lang="en-US" sz="950" dirty="0"/>
          </a:p>
        </p:txBody>
      </p:sp>
      <p:sp>
        <p:nvSpPr>
          <p:cNvPr id="26" name="Shape 24"/>
          <p:cNvSpPr/>
          <p:nvPr/>
        </p:nvSpPr>
        <p:spPr>
          <a:xfrm>
            <a:off x="4361688" y="2724912"/>
            <a:ext cx="9144" cy="265176"/>
          </a:xfrm>
          <a:prstGeom prst="line">
            <a:avLst/>
          </a:prstGeom>
          <a:noFill/>
          <a:ln w="9525">
            <a:solidFill>
              <a:srgbClr val="7A8790"/>
            </a:solidFill>
            <a:prstDash val="sysDot"/>
          </a:ln>
        </p:spPr>
      </p:sp>
      <p:sp>
        <p:nvSpPr>
          <p:cNvPr id="27" name="Text 25"/>
          <p:cNvSpPr/>
          <p:nvPr/>
        </p:nvSpPr>
        <p:spPr>
          <a:xfrm>
            <a:off x="4407408" y="35295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THE OUT</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immune system — rejects invented facts</a:t>
            </a:r>
            <a:endParaRPr lang="en-US" sz="950" dirty="0"/>
          </a:p>
        </p:txBody>
      </p:sp>
      <p:sp>
        <p:nvSpPr>
          <p:cNvPr id="28" name="Shape 26"/>
          <p:cNvSpPr/>
          <p:nvPr/>
        </p:nvSpPr>
        <p:spPr>
          <a:xfrm flipV="1">
            <a:off x="3493008" y="3383280"/>
            <a:ext cx="877824" cy="256032"/>
          </a:xfrm>
          <a:prstGeom prst="line">
            <a:avLst/>
          </a:prstGeom>
          <a:noFill/>
          <a:ln w="9525">
            <a:solidFill>
              <a:srgbClr val="7A8790"/>
            </a:solidFill>
            <a:prstDash val="sysDot"/>
          </a:ln>
        </p:spPr>
      </p:sp>
      <p:sp>
        <p:nvSpPr>
          <p:cNvPr id="29" name="Text 27"/>
          <p:cNvSpPr/>
          <p:nvPr/>
        </p:nvSpPr>
        <p:spPr>
          <a:xfrm>
            <a:off x="4407408" y="4407408"/>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THE STOP</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skin — where the action ends</a:t>
            </a:r>
            <a:endParaRPr lang="en-US" sz="950" dirty="0"/>
          </a:p>
        </p:txBody>
      </p:sp>
      <p:sp>
        <p:nvSpPr>
          <p:cNvPr id="30" name="Shape 28"/>
          <p:cNvSpPr/>
          <p:nvPr/>
        </p:nvSpPr>
        <p:spPr>
          <a:xfrm flipV="1">
            <a:off x="3401568" y="4480560"/>
            <a:ext cx="969264" cy="36576"/>
          </a:xfrm>
          <a:prstGeom prst="line">
            <a:avLst/>
          </a:prstGeom>
          <a:noFill/>
          <a:ln w="9525">
            <a:solidFill>
              <a:srgbClr val="7A8790"/>
            </a:solidFill>
            <a:prstDash val="sysDot"/>
          </a:ln>
        </p:spPr>
      </p:sp>
      <p:sp>
        <p:nvSpPr>
          <p:cNvPr id="31" name="Text 29"/>
          <p:cNvSpPr/>
          <p:nvPr/>
        </p:nvSpPr>
        <p:spPr>
          <a:xfrm>
            <a:off x="731520" y="5230368"/>
            <a:ext cx="4617720" cy="548640"/>
          </a:xfrm>
          <a:prstGeom prst="rect">
            <a:avLst/>
          </a:prstGeom>
          <a:noFill/>
          <a:ln/>
        </p:spPr>
        <p:txBody>
          <a:bodyPr wrap="square" lIns="0" tIns="0" rIns="0" bIns="0" rtlCol="0" anchor="ctr"/>
          <a:lstStyle/>
          <a:p>
            <a:pPr algn="ctr" indent="0" marL="0">
              <a:lnSpc>
                <a:spcPct val="102000"/>
              </a:lnSpc>
              <a:buNone/>
            </a:pPr>
            <a:r>
              <a:rPr lang="en-US" sz="950" i="1" dirty="0">
                <a:solidFill>
                  <a:srgbClr val="0A5B5A"/>
                </a:solidFill>
                <a:latin typeface="Calibri" pitchFamily="34" charset="0"/>
                <a:ea typeface="Calibri" pitchFamily="34" charset="-122"/>
                <a:cs typeface="Calibri" pitchFamily="34" charset="-120"/>
              </a:rPr>
              <a:t>A prompt is a body: miss an organ and it still walks — it just fails in a predictable way.</a:t>
            </a:r>
            <a:endParaRPr lang="en-US" sz="950" dirty="0"/>
          </a:p>
        </p:txBody>
      </p:sp>
      <p:sp>
        <p:nvSpPr>
          <p:cNvPr id="32" name="Shape 30"/>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33" name="Shape 31"/>
          <p:cNvSpPr/>
          <p:nvPr/>
        </p:nvSpPr>
        <p:spPr>
          <a:xfrm>
            <a:off x="5943600" y="1664208"/>
            <a:ext cx="1078992" cy="310896"/>
          </a:xfrm>
          <a:prstGeom prst="roundRect">
            <a:avLst>
              <a:gd name="adj" fmla="val 17647"/>
            </a:avLst>
          </a:prstGeom>
          <a:solidFill>
            <a:srgbClr val="0E7C7B"/>
          </a:solidFill>
          <a:ln/>
        </p:spPr>
      </p:sp>
      <p:sp>
        <p:nvSpPr>
          <p:cNvPr id="34" name="Text 32"/>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ROLE</a:t>
            </a:r>
            <a:endParaRPr lang="en-US" sz="800" dirty="0"/>
          </a:p>
        </p:txBody>
      </p:sp>
      <p:sp>
        <p:nvSpPr>
          <p:cNvPr id="35" name="Text 33"/>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860" dirty="0"/>
          </a:p>
        </p:txBody>
      </p:sp>
      <p:sp>
        <p:nvSpPr>
          <p:cNvPr id="36" name="Shape 34"/>
          <p:cNvSpPr/>
          <p:nvPr/>
        </p:nvSpPr>
        <p:spPr>
          <a:xfrm>
            <a:off x="5943600" y="2231136"/>
            <a:ext cx="1078992" cy="310896"/>
          </a:xfrm>
          <a:prstGeom prst="roundRect">
            <a:avLst>
              <a:gd name="adj" fmla="val 17647"/>
            </a:avLst>
          </a:prstGeom>
          <a:solidFill>
            <a:srgbClr val="0E7C7B"/>
          </a:solidFill>
          <a:ln/>
        </p:spPr>
      </p:sp>
      <p:sp>
        <p:nvSpPr>
          <p:cNvPr id="37" name="Text 35"/>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TASK</a:t>
            </a:r>
            <a:endParaRPr lang="en-US" sz="800" dirty="0"/>
          </a:p>
        </p:txBody>
      </p:sp>
      <p:sp>
        <p:nvSpPr>
          <p:cNvPr id="38" name="Text 36"/>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860" dirty="0"/>
          </a:p>
        </p:txBody>
      </p:sp>
      <p:sp>
        <p:nvSpPr>
          <p:cNvPr id="39" name="Shape 37"/>
          <p:cNvSpPr/>
          <p:nvPr/>
        </p:nvSpPr>
        <p:spPr>
          <a:xfrm>
            <a:off x="5943600" y="2798064"/>
            <a:ext cx="1078992" cy="310896"/>
          </a:xfrm>
          <a:prstGeom prst="roundRect">
            <a:avLst>
              <a:gd name="adj" fmla="val 17647"/>
            </a:avLst>
          </a:prstGeom>
          <a:solidFill>
            <a:srgbClr val="0E7C7B"/>
          </a:solidFill>
          <a:ln/>
        </p:spPr>
      </p:sp>
      <p:sp>
        <p:nvSpPr>
          <p:cNvPr id="40" name="Text 38"/>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CONTEXT</a:t>
            </a:r>
            <a:endParaRPr lang="en-US" sz="800" dirty="0"/>
          </a:p>
        </p:txBody>
      </p:sp>
      <p:sp>
        <p:nvSpPr>
          <p:cNvPr id="41" name="Text 39"/>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860" dirty="0"/>
          </a:p>
        </p:txBody>
      </p:sp>
      <p:sp>
        <p:nvSpPr>
          <p:cNvPr id="42" name="Shape 40"/>
          <p:cNvSpPr/>
          <p:nvPr/>
        </p:nvSpPr>
        <p:spPr>
          <a:xfrm>
            <a:off x="5943600" y="3364992"/>
            <a:ext cx="1078992" cy="310896"/>
          </a:xfrm>
          <a:prstGeom prst="roundRect">
            <a:avLst>
              <a:gd name="adj" fmla="val 17647"/>
            </a:avLst>
          </a:prstGeom>
          <a:solidFill>
            <a:srgbClr val="0E7C7B"/>
          </a:solidFill>
          <a:ln/>
        </p:spPr>
      </p:sp>
      <p:sp>
        <p:nvSpPr>
          <p:cNvPr id="43" name="Text 41"/>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FORMAT</a:t>
            </a:r>
            <a:endParaRPr lang="en-US" sz="800" dirty="0"/>
          </a:p>
        </p:txBody>
      </p:sp>
      <p:sp>
        <p:nvSpPr>
          <p:cNvPr id="44" name="Text 42"/>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860" dirty="0"/>
          </a:p>
        </p:txBody>
      </p:sp>
      <p:sp>
        <p:nvSpPr>
          <p:cNvPr id="45" name="Shape 43"/>
          <p:cNvSpPr/>
          <p:nvPr/>
        </p:nvSpPr>
        <p:spPr>
          <a:xfrm>
            <a:off x="5943600" y="3931920"/>
            <a:ext cx="1078992" cy="310896"/>
          </a:xfrm>
          <a:prstGeom prst="roundRect">
            <a:avLst>
              <a:gd name="adj" fmla="val 17647"/>
            </a:avLst>
          </a:prstGeom>
          <a:solidFill>
            <a:srgbClr val="0E7C7B"/>
          </a:solidFill>
          <a:ln/>
        </p:spPr>
      </p:sp>
      <p:sp>
        <p:nvSpPr>
          <p:cNvPr id="46" name="Text 44"/>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EXAMPLES</a:t>
            </a:r>
            <a:endParaRPr lang="en-US" sz="800" dirty="0"/>
          </a:p>
        </p:txBody>
      </p:sp>
      <p:sp>
        <p:nvSpPr>
          <p:cNvPr id="47" name="Text 45"/>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860" dirty="0"/>
          </a:p>
        </p:txBody>
      </p:sp>
      <p:sp>
        <p:nvSpPr>
          <p:cNvPr id="48" name="Shape 46"/>
          <p:cNvSpPr/>
          <p:nvPr/>
        </p:nvSpPr>
        <p:spPr>
          <a:xfrm>
            <a:off x="5943600" y="4498848"/>
            <a:ext cx="1078992" cy="310896"/>
          </a:xfrm>
          <a:prstGeom prst="roundRect">
            <a:avLst>
              <a:gd name="adj" fmla="val 17647"/>
            </a:avLst>
          </a:prstGeom>
          <a:solidFill>
            <a:srgbClr val="0E7C7B"/>
          </a:solidFill>
          <a:ln/>
        </p:spPr>
      </p:sp>
      <p:sp>
        <p:nvSpPr>
          <p:cNvPr id="49" name="Text 47"/>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OUT</a:t>
            </a:r>
            <a:endParaRPr lang="en-US" sz="800" dirty="0"/>
          </a:p>
        </p:txBody>
      </p:sp>
      <p:sp>
        <p:nvSpPr>
          <p:cNvPr id="50" name="Text 48"/>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“If the report doesn’t say — say so.”</a:t>
            </a:r>
            <a:endParaRPr lang="en-US" sz="860" dirty="0"/>
          </a:p>
        </p:txBody>
      </p:sp>
      <p:sp>
        <p:nvSpPr>
          <p:cNvPr id="51" name="Shape 49"/>
          <p:cNvSpPr/>
          <p:nvPr/>
        </p:nvSpPr>
        <p:spPr>
          <a:xfrm>
            <a:off x="5943600" y="5065776"/>
            <a:ext cx="1078992" cy="310896"/>
          </a:xfrm>
          <a:prstGeom prst="roundRect">
            <a:avLst>
              <a:gd name="adj" fmla="val 17647"/>
            </a:avLst>
          </a:prstGeom>
          <a:solidFill>
            <a:srgbClr val="0E7C7B"/>
          </a:solidFill>
          <a:ln/>
        </p:spPr>
      </p:sp>
      <p:sp>
        <p:nvSpPr>
          <p:cNvPr id="52" name="Text 50"/>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STOP</a:t>
            </a:r>
            <a:endParaRPr lang="en-US" sz="800" dirty="0"/>
          </a:p>
        </p:txBody>
      </p:sp>
      <p:sp>
        <p:nvSpPr>
          <p:cNvPr id="53" name="Text 51"/>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“Deliver the summary, then stop — nothing beyond.”</a:t>
            </a:r>
            <a:endParaRPr lang="en-US" sz="860" dirty="0"/>
          </a:p>
        </p:txBody>
      </p:sp>
      <p:sp>
        <p:nvSpPr>
          <p:cNvPr id="54" name="Text 52"/>
          <p:cNvSpPr/>
          <p:nvPr/>
        </p:nvSpPr>
        <p:spPr>
          <a:xfrm>
            <a:off x="5989320" y="5596128"/>
            <a:ext cx="5486400" cy="292608"/>
          </a:xfrm>
          <a:prstGeom prst="rect">
            <a:avLst/>
          </a:prstGeom>
          <a:noFill/>
          <a:ln/>
        </p:spPr>
        <p:txBody>
          <a:bodyPr wrap="square" lIns="0" tIns="0" rIns="0" bIns="0" rtlCol="0" anchor="ctr"/>
          <a:lstStyle/>
          <a:p>
            <a:pPr indent="0" marL="0">
              <a:buNone/>
            </a:pPr>
            <a:r>
              <a:rPr lang="en-US" sz="88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880" dirty="0"/>
          </a:p>
        </p:txBody>
      </p:sp>
      <p:sp>
        <p:nvSpPr>
          <p:cNvPr id="55" name="Shape 53"/>
          <p:cNvSpPr/>
          <p:nvPr/>
        </p:nvSpPr>
        <p:spPr>
          <a:xfrm>
            <a:off x="502920" y="6053328"/>
            <a:ext cx="11155680" cy="457200"/>
          </a:xfrm>
          <a:prstGeom prst="roundRect">
            <a:avLst>
              <a:gd name="adj" fmla="val 16000"/>
            </a:avLst>
          </a:prstGeom>
          <a:solidFill>
            <a:srgbClr val="E4F0EF"/>
          </a:solidFill>
          <a:ln/>
        </p:spPr>
      </p:sp>
      <p:sp>
        <p:nvSpPr>
          <p:cNvPr id="56" name="Shape 54"/>
          <p:cNvSpPr/>
          <p:nvPr/>
        </p:nvSpPr>
        <p:spPr>
          <a:xfrm>
            <a:off x="667512" y="6089904"/>
            <a:ext cx="384048" cy="384048"/>
          </a:xfrm>
          <a:prstGeom prst="ellipse">
            <a:avLst/>
          </a:prstGeom>
          <a:solidFill>
            <a:srgbClr val="0E7C7B"/>
          </a:solidFill>
          <a:ln/>
        </p:spPr>
      </p:sp>
      <p:pic>
        <p:nvPicPr>
          <p:cNvPr id="57" name="Image 0" descr="/home/user/Claude-Works/ai-training-prompt-engineering/src/assets/icons/edit_w.png">    </p:cNvPr>
          <p:cNvPicPr>
            <a:picLocks noChangeAspect="1"/>
          </p:cNvPicPr>
          <p:nvPr/>
        </p:nvPicPr>
        <p:blipFill>
          <a:blip r:embed="rId1"/>
          <a:stretch>
            <a:fillRect/>
          </a:stretch>
        </p:blipFill>
        <p:spPr>
          <a:xfrm>
            <a:off x="767364" y="6189756"/>
            <a:ext cx="184343" cy="184343"/>
          </a:xfrm>
          <a:prstGeom prst="rect">
            <a:avLst/>
          </a:prstGeom>
        </p:spPr>
      </p:pic>
      <p:sp>
        <p:nvSpPr>
          <p:cNvPr id="58" name="Text 55"/>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(Zheng 2024 · Wharton 2025 · PersonaLLM 2024)</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are a senior analyst.”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are a helpful assistant.”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9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(Yang et al.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“Analyze the returns data.”</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“What is the return rate by site for Q2, vs the 2% target?”</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“Improve this report.”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90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Read each pair aloud — the weak→strong contrast is the lesson.</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what the model cannot know on its own</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(Zhou 2023 · Omar 2025)</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“Use our standard definitions.”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know our business.”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9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output contract — shape, cap, tone</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(OpenAI 2024 · JSONSchemaBench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“Keep it short and professional.”</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“Make it a nice table.”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90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Context is the anti-hallucination element; Format is the anti-rework element.</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3–5 diverse demonstrations, edge case included</a:t>
            </a:r>
            <a:endParaRPr lang="en-US" sz="92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(Brown 2020 · Min 2022)</a:t>
            </a:r>
            <a:endParaRPr lang="en-US" sz="102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three clones of the happy case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“Write it like the good ones.”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9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permission to not know</a:t>
            </a:r>
            <a:endParaRPr lang="en-US" sz="92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(Omar 2025 · OpenAI 2025)</a:t>
            </a:r>
            <a:endParaRPr lang="en-US" sz="102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“Do not hallucinate.” (bare bans backfire)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“If the document doesn’t say — say so.”</a:t>
            </a:r>
            <a:endParaRPr lang="en-US" sz="9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action to perform — and its boundary</a:t>
            </a:r>
            <a:endParaRPr lang="en-US" sz="92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2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“Keep it focused.”</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9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Seven elements. Each moves something out of your head onto the page — when output disappoints, one of them stayed in your head.</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95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elements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(7 generative · 12 agentic)</a:t>
            </a:r>
            <a:endParaRPr lang="en-US" sz="90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attributes —</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the slots you fill</a:t>
            </a:r>
            <a:endParaRPr lang="en-US" sz="90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vetted options,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each with guidance</a:t>
            </a:r>
            <a:endParaRPr lang="en-US" sz="90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presets — one-click</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starting templates</a:t>
            </a:r>
            <a:endParaRPr lang="en-US" sz="90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1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elements, turned into moves — each with a line to steal</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1 · Be specific — and say why</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Name the audience, length, constraints — and the reason behind a rule; stated reasons improve compliance.</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“Two paragraphs for the plant manager, no jargon — this will be read aloud, so no bullet lists.”</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copy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2 · Show 3–5 examples</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most reliable way to control format, tone, and structure. Diverse and realistic — it imitates what it sees.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 are two summaries the team liked, and one we rejected — match the first two.”</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layers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3 · Separate ask from material</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Instructions first, pasted material below a clear divider — plain language, no code. The model never confuses your orders with the material.</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“Here’s what I need: … . The material starts below the line. ─────”</a:t>
            </a:r>
            <a:endParaRPr lang="en-US" sz="880" dirty="0"/>
          </a:p>
        </p:txBody>
      </p:sp>
      <p:sp>
        <p:nvSpPr>
          <p:cNvPr id="24" name="Shape 19"/>
          <p:cNvSpPr/>
          <p:nvPr/>
        </p:nvSpPr>
        <p:spPr>
          <a:xfrm>
            <a:off x="6172200" y="3566160"/>
            <a:ext cx="5440680" cy="1956816"/>
          </a:xfrm>
          <a:prstGeom prst="roundRect">
            <a:avLst>
              <a:gd name="adj" fmla="val 3738"/>
            </a:avLst>
          </a:prstGeom>
          <a:solidFill>
            <a:srgbClr val="F2F5F6"/>
          </a:solidFill>
          <a:ln/>
        </p:spPr>
      </p:sp>
      <p:sp>
        <p:nvSpPr>
          <p:cNvPr id="25" name="Shape 20"/>
          <p:cNvSpPr/>
          <p:nvPr/>
        </p:nvSpPr>
        <p:spPr>
          <a:xfrm>
            <a:off x="6355080" y="3749040"/>
            <a:ext cx="420624" cy="420624"/>
          </a:xfrm>
          <a:prstGeom prst="ellipse">
            <a:avLst/>
          </a:prstGeom>
          <a:solidFill>
            <a:srgbClr val="0E7C7B"/>
          </a:solidFill>
          <a:ln/>
        </p:spPr>
      </p:sp>
      <p:pic>
        <p:nvPicPr>
          <p:cNvPr id="26" name="Image 3" descr="/home/user/Claude-Works/ai-training-prompt-engineering/src/assets/icons/help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4 · Give it an out</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Permission to admit uncertainty — cuts invented answers by half or more (the numbers were two slides back).</a:t>
            </a:r>
            <a:endParaRPr lang="en-US" sz="1250" dirty="0"/>
          </a:p>
        </p:txBody>
      </p:sp>
      <p:sp>
        <p:nvSpPr>
          <p:cNvPr id="28" name="Shape 22"/>
          <p:cNvSpPr/>
          <p:nvPr/>
        </p:nvSpPr>
        <p:spPr>
          <a:xfrm>
            <a:off x="6391656" y="4828032"/>
            <a:ext cx="5029200" cy="566928"/>
          </a:xfrm>
          <a:prstGeom prst="roundRect">
            <a:avLst>
              <a:gd name="adj" fmla="val 8065"/>
            </a:avLst>
          </a:prstGeom>
          <a:solidFill>
            <a:srgbClr val="FFFFFF"/>
          </a:solidFill>
          <a:ln w="9525">
            <a:solidFill>
              <a:srgbClr val="DCE3E6"/>
            </a:solidFill>
            <a:prstDash val="solid"/>
          </a:ln>
        </p:spPr>
      </p:sp>
      <p:sp>
        <p:nvSpPr>
          <p:cNvPr id="29" name="Text 23"/>
          <p:cNvSpPr/>
          <p:nvPr/>
        </p:nvSpPr>
        <p:spPr>
          <a:xfrm>
            <a:off x="651967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“If the spec doesn’t cover it, say ‘not specified’ — don’t guess.”</a:t>
            </a:r>
            <a:endParaRPr lang="en-US" sz="880" dirty="0"/>
          </a:p>
        </p:txBody>
      </p:sp>
      <p:sp>
        <p:nvSpPr>
          <p:cNvPr id="30" name="Shape 24"/>
          <p:cNvSpPr/>
          <p:nvPr/>
        </p:nvSpPr>
        <p:spPr>
          <a:xfrm>
            <a:off x="502920" y="5596128"/>
            <a:ext cx="11155680" cy="502920"/>
          </a:xfrm>
          <a:prstGeom prst="roundRect">
            <a:avLst>
              <a:gd name="adj" fmla="val 14545"/>
            </a:avLst>
          </a:prstGeom>
          <a:solidFill>
            <a:srgbClr val="E4F0EF"/>
          </a:solidFill>
          <a:ln/>
        </p:spPr>
      </p:sp>
      <p:sp>
        <p:nvSpPr>
          <p:cNvPr id="31" name="Shape 25"/>
          <p:cNvSpPr/>
          <p:nvPr/>
        </p:nvSpPr>
        <p:spPr>
          <a:xfrm>
            <a:off x="667512" y="5655564"/>
            <a:ext cx="384048" cy="384048"/>
          </a:xfrm>
          <a:prstGeom prst="ellipse">
            <a:avLst/>
          </a:prstGeom>
          <a:solidFill>
            <a:srgbClr val="0E7C7B"/>
          </a:solidFill>
          <a:ln/>
        </p:spPr>
      </p:sp>
      <p:pic>
        <p:nvPicPr>
          <p:cNvPr id="32" name="Image 4" descr="/home/user/Claude-Works/ai-training-prompt-engineering/src/assets/icons/check_w.png">    </p:cNvPr>
          <p:cNvPicPr>
            <a:picLocks noChangeAspect="1"/>
          </p:cNvPicPr>
          <p:nvPr/>
        </p:nvPicPr>
        <p:blipFill>
          <a:blip r:embed="rId5"/>
          <a:stretch>
            <a:fillRect/>
          </a:stretch>
        </p:blipFill>
        <p:spPr>
          <a:xfrm>
            <a:off x="767364" y="5755416"/>
            <a:ext cx="184343" cy="184343"/>
          </a:xfrm>
          <a:prstGeom prst="rect">
            <a:avLst/>
          </a:prstGeom>
        </p:spPr>
      </p:pic>
      <p:sp>
        <p:nvSpPr>
          <p:cNvPr id="33" name="Text 26"/>
          <p:cNvSpPr/>
          <p:nvPr/>
        </p:nvSpPr>
        <p:spPr>
          <a:xfrm>
            <a:off x="1216152" y="56692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Nothing new here: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techniques 1–4 are the seven elements, applied — you met every one of them this part.</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2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Bullet the process · check it · let AI draft it</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branch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5 · Bullet your process, in order</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Big job? List the steps as numbers, in the sequence you want — add “wait for my OK” where you want control. Order stated is order followed.</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eye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6 · Self-check against criteria</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 named checklist works; “are you sure?” alone makes models WORSE (it flips correct answers).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“Before finishing, verify: every number has a source · sections under 120 words · no recommendation without a risk.”</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zap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7 · Or: ask the AI to write the prompt</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simplest power move — describe what you want in plain bullets and let it draft the prompt. Official tooling at every vendor; measured gains.</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“I need [X] for [audience], with [constraints]. Write me a strong prompt for this, then run it.”</a:t>
            </a:r>
            <a:endParaRPr lang="en-US" sz="880" dirty="0"/>
          </a:p>
        </p:txBody>
      </p:sp>
      <p:sp>
        <p:nvSpPr>
          <p:cNvPr id="24" name="Shape 19"/>
          <p:cNvSpPr/>
          <p:nvPr/>
        </p:nvSpPr>
        <p:spPr>
          <a:xfrm>
            <a:off x="6172200" y="3566160"/>
            <a:ext cx="5440680" cy="1956816"/>
          </a:xfrm>
          <a:prstGeom prst="roundRect">
            <a:avLst>
              <a:gd name="adj" fmla="val 3738"/>
            </a:avLst>
          </a:prstGeom>
          <a:solidFill>
            <a:srgbClr val="FBF0E0"/>
          </a:solidFill>
          <a:ln/>
        </p:spPr>
      </p:sp>
      <p:sp>
        <p:nvSpPr>
          <p:cNvPr id="25" name="Shape 20"/>
          <p:cNvSpPr/>
          <p:nvPr/>
        </p:nvSpPr>
        <p:spPr>
          <a:xfrm>
            <a:off x="6355080" y="3749040"/>
            <a:ext cx="420624" cy="420624"/>
          </a:xfrm>
          <a:prstGeom prst="ellipse">
            <a:avLst/>
          </a:prstGeom>
          <a:solidFill>
            <a:srgbClr val="B96A1B"/>
          </a:solidFill>
          <a:ln/>
        </p:spPr>
      </p:sp>
      <p:pic>
        <p:nvPicPr>
          <p:cNvPr id="26" name="Image 3" descr="/home/user/Claude-Works/ai-training-prompt-engineering/src/assets/icons/clock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703320"/>
            <a:ext cx="4572000" cy="16916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232A31"/>
                </a:solidFill>
                <a:latin typeface="Calibri" pitchFamily="34" charset="0"/>
                <a:ea typeface="Calibri" pitchFamily="34" charset="-122"/>
                <a:cs typeface="Calibri" pitchFamily="34" charset="-120"/>
              </a:rPr>
              <a:t>Where’s “think step by step”? </a:t>
            </a:r>
            <a:endParaRPr lang="en-US" sz="12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Retired to the bench — today’s models reason by default, and boilerplate step-by-step can even hurt. The playbook slide, later this part, settles it.</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Be specific: task, constraints, success criteria</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unstated needs guessed right only ~41%</a:t>
            </a:r>
            <a:endParaRPr lang="en-US" sz="108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One tested, reused template</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formatting alone swings results up to 76 points</a:t>
            </a:r>
            <a:endParaRPr lang="en-US" sz="108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Long inputs: documents on top, question at the END</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up to ~30% better answers</a:t>
            </a:r>
            <a:endParaRPr lang="en-US" sz="108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Give it an out — “if you don’t know, say so”</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invented answers cut by a third or more</a:t>
            </a:r>
            <a:endParaRPr lang="en-US" sz="108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Self-check against NAMED criteria</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fact scores jump 56→71 with planned checks</a:t>
            </a:r>
            <a:endParaRPr lang="en-US" sz="108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Ask the AI to improve your prompt</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08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“Tell it it’s a genius and it gets smarter”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162 personas tested: zero accuracy gain</a:t>
            </a:r>
            <a:endParaRPr lang="en-US" sz="108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“Tips, threats, ‘important to my career’”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08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“There are magic phrases”</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“take a deep breath” won on one model, one benchmark — never universal</a:t>
            </a:r>
            <a:endParaRPr lang="en-US" sz="108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“Longer prompts are always better”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08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“‘Are you sure?’ makes it double-check”</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08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“The AI knows what I mean”</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08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91056"/>
            <a:ext cx="2377440" cy="822960"/>
          </a:xfrm>
          <a:prstGeom prst="rect">
            <a:avLst/>
          </a:prstGeom>
          <a:noFill/>
          <a:ln/>
        </p:spPr>
        <p:txBody>
          <a:bodyPr wrap="square" lIns="0" tIns="0" rIns="0" bIns="0" rtlCol="0" anchor="ctr"/>
          <a:lstStyle/>
          <a:p>
            <a:pPr indent="0" marL="0">
              <a:buNone/>
            </a:pPr>
            <a:r>
              <a:rPr lang="en-US" sz="5000" b="1" dirty="0">
                <a:solidFill>
                  <a:srgbClr val="AF3230"/>
                </a:solidFill>
                <a:latin typeface="Cambria" pitchFamily="34" charset="0"/>
                <a:ea typeface="Cambria" pitchFamily="34" charset="-122"/>
                <a:cs typeface="Cambria" pitchFamily="34" charset="-120"/>
              </a:rPr>
              <a:t>+49%</a:t>
            </a:r>
            <a:endParaRPr lang="en-US" sz="5000" dirty="0"/>
          </a:p>
        </p:txBody>
      </p:sp>
      <p:sp>
        <p:nvSpPr>
          <p:cNvPr id="8" name="Text 6"/>
          <p:cNvSpPr/>
          <p:nvPr/>
        </p:nvSpPr>
        <p:spPr>
          <a:xfrm>
            <a:off x="777240" y="2432304"/>
            <a:ext cx="3566160" cy="777240"/>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more often than a human would, the AI tells you you’re right — 11 leading models (Stanford/CMU, Science 2026)</a:t>
            </a:r>
            <a:endParaRPr lang="en-US" sz="1100" dirty="0"/>
          </a:p>
        </p:txBody>
      </p:sp>
      <p:sp>
        <p:nvSpPr>
          <p:cNvPr id="9" name="Text 7"/>
          <p:cNvSpPr/>
          <p:nvPr/>
        </p:nvSpPr>
        <p:spPr>
          <a:xfrm>
            <a:off x="777240" y="3200400"/>
            <a:ext cx="3566160" cy="457200"/>
          </a:xfrm>
          <a:prstGeom prst="rect">
            <a:avLst/>
          </a:prstGeom>
          <a:noFill/>
          <a:ln/>
        </p:spPr>
        <p:txBody>
          <a:bodyPr wrap="square" lIns="0" tIns="0" rIns="0" bIns="0" rtlCol="0" anchor="ctr"/>
          <a:lstStyle/>
          <a:p>
            <a:pPr indent="0" marL="0">
              <a:lnSpc>
                <a:spcPct val="100000"/>
              </a:lnSpc>
              <a:buNone/>
            </a:pPr>
            <a:r>
              <a:rPr lang="en-US" sz="900" i="1" dirty="0">
                <a:solidFill>
                  <a:srgbClr val="7A8790"/>
                </a:solidFill>
                <a:latin typeface="Calibri" pitchFamily="34" charset="0"/>
                <a:ea typeface="Calibri" pitchFamily="34" charset="-122"/>
                <a:cs typeface="Calibri" pitchFamily="34" charset="-120"/>
              </a:rPr>
              <a:t>Root cause: trained on human preferences — and we prefer agreement. A single flattering exchange measurably raises conviction.</a:t>
            </a:r>
            <a:endParaRPr lang="en-US" sz="900" dirty="0"/>
          </a:p>
        </p:txBody>
      </p:sp>
      <p:sp>
        <p:nvSpPr>
          <p:cNvPr id="10" name="Shape 8"/>
          <p:cNvSpPr/>
          <p:nvPr/>
        </p:nvSpPr>
        <p:spPr>
          <a:xfrm>
            <a:off x="4800600" y="1444752"/>
            <a:ext cx="6858000" cy="2286000"/>
          </a:xfrm>
          <a:prstGeom prst="roundRect">
            <a:avLst>
              <a:gd name="adj" fmla="val 3200"/>
            </a:avLst>
          </a:prstGeom>
          <a:solidFill>
            <a:srgbClr val="F2F5F6"/>
          </a:solidFill>
          <a:ln/>
        </p:spPr>
      </p:sp>
      <p:sp>
        <p:nvSpPr>
          <p:cNvPr id="11" name="Text 9"/>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2" name="Shape 10"/>
          <p:cNvSpPr/>
          <p:nvPr/>
        </p:nvSpPr>
        <p:spPr>
          <a:xfrm>
            <a:off x="5047488" y="1956816"/>
            <a:ext cx="777240" cy="274320"/>
          </a:xfrm>
          <a:prstGeom prst="roundRect">
            <a:avLst>
              <a:gd name="adj" fmla="val 16667"/>
            </a:avLst>
          </a:prstGeom>
          <a:solidFill>
            <a:srgbClr val="0E7C7B"/>
          </a:solidFill>
          <a:ln/>
        </p:spPr>
      </p:sp>
      <p:sp>
        <p:nvSpPr>
          <p:cNvPr id="13" name="Text 11"/>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APR 2025</a:t>
            </a:r>
            <a:endParaRPr lang="en-US" sz="800" dirty="0"/>
          </a:p>
        </p:txBody>
      </p:sp>
      <p:sp>
        <p:nvSpPr>
          <p:cNvPr id="14" name="Text 12"/>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OpenAI rolls back a ChatGPT update for being — its own words — “overly flattering or agreeable… sycophantic.” Their metrics had rewarded the mirror.</a:t>
            </a:r>
            <a:endParaRPr lang="en-US" sz="920" dirty="0"/>
          </a:p>
        </p:txBody>
      </p:sp>
      <p:sp>
        <p:nvSpPr>
          <p:cNvPr id="15" name="Shape 13"/>
          <p:cNvSpPr/>
          <p:nvPr/>
        </p:nvSpPr>
        <p:spPr>
          <a:xfrm>
            <a:off x="5047488" y="2395728"/>
            <a:ext cx="777240" cy="274320"/>
          </a:xfrm>
          <a:prstGeom prst="roundRect">
            <a:avLst>
              <a:gd name="adj" fmla="val 16667"/>
            </a:avLst>
          </a:prstGeom>
          <a:solidFill>
            <a:srgbClr val="0E7C7B"/>
          </a:solidFill>
          <a:ln/>
        </p:spPr>
      </p:sp>
      <p:sp>
        <p:nvSpPr>
          <p:cNvPr id="16" name="Text 14"/>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JUN 2025</a:t>
            </a:r>
            <a:endParaRPr lang="en-US" sz="800" dirty="0"/>
          </a:p>
        </p:txBody>
      </p:sp>
      <p:sp>
        <p:nvSpPr>
          <p:cNvPr id="17" name="Text 15"/>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New York Times: chatbots validating users’ false beliefs send some people “spiraling” — agreement as a safety problem.</a:t>
            </a:r>
            <a:endParaRPr lang="en-US" sz="920" dirty="0"/>
          </a:p>
        </p:txBody>
      </p:sp>
      <p:sp>
        <p:nvSpPr>
          <p:cNvPr id="18" name="Shape 16"/>
          <p:cNvSpPr/>
          <p:nvPr/>
        </p:nvSpPr>
        <p:spPr>
          <a:xfrm>
            <a:off x="5047488" y="2834640"/>
            <a:ext cx="777240" cy="274320"/>
          </a:xfrm>
          <a:prstGeom prst="roundRect">
            <a:avLst>
              <a:gd name="adj" fmla="val 16667"/>
            </a:avLst>
          </a:prstGeom>
          <a:solidFill>
            <a:srgbClr val="0E7C7B"/>
          </a:solidFill>
          <a:ln/>
        </p:spPr>
      </p:sp>
      <p:sp>
        <p:nvSpPr>
          <p:cNvPr id="19" name="Text 17"/>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AUG 2025</a:t>
            </a:r>
            <a:endParaRPr lang="en-US" sz="800" dirty="0"/>
          </a:p>
        </p:txBody>
      </p:sp>
      <p:sp>
        <p:nvSpPr>
          <p:cNvPr id="20" name="Text 18"/>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Microsoft’s AI chief warns publicly about unhealthy AI validation — “not confined to people already at risk.”</a:t>
            </a:r>
            <a:endParaRPr lang="en-US" sz="920" dirty="0"/>
          </a:p>
        </p:txBody>
      </p:sp>
      <p:sp>
        <p:nvSpPr>
          <p:cNvPr id="21" name="Shape 19"/>
          <p:cNvSpPr/>
          <p:nvPr/>
        </p:nvSpPr>
        <p:spPr>
          <a:xfrm>
            <a:off x="5047488" y="3273552"/>
            <a:ext cx="777240" cy="274320"/>
          </a:xfrm>
          <a:prstGeom prst="roundRect">
            <a:avLst>
              <a:gd name="adj" fmla="val 16667"/>
            </a:avLst>
          </a:prstGeom>
          <a:solidFill>
            <a:srgbClr val="0E7C7B"/>
          </a:solidFill>
          <a:ln/>
        </p:spPr>
      </p:sp>
      <p:sp>
        <p:nvSpPr>
          <p:cNvPr id="22" name="Text 20"/>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2026</a:t>
            </a:r>
            <a:endParaRPr lang="en-US" sz="800" dirty="0"/>
          </a:p>
        </p:txBody>
      </p:sp>
      <p:sp>
        <p:nvSpPr>
          <p:cNvPr id="23" name="Text 21"/>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920" dirty="0"/>
          </a:p>
        </p:txBody>
      </p:sp>
      <p:sp>
        <p:nvSpPr>
          <p:cNvPr id="24" name="Shape 22"/>
          <p:cNvSpPr/>
          <p:nvPr/>
        </p:nvSpPr>
        <p:spPr>
          <a:xfrm>
            <a:off x="502920" y="3913632"/>
            <a:ext cx="11155680" cy="960120"/>
          </a:xfrm>
          <a:prstGeom prst="roundRect">
            <a:avLst>
              <a:gd name="adj" fmla="val 7619"/>
            </a:avLst>
          </a:prstGeom>
          <a:solidFill>
            <a:srgbClr val="E4F0EF"/>
          </a:solidFill>
          <a:ln/>
        </p:spPr>
      </p:sp>
      <p:sp>
        <p:nvSpPr>
          <p:cNvPr id="25" name="Shape 23"/>
          <p:cNvSpPr/>
          <p:nvPr/>
        </p:nvSpPr>
        <p:spPr>
          <a:xfrm>
            <a:off x="667512" y="4201668"/>
            <a:ext cx="384048" cy="384048"/>
          </a:xfrm>
          <a:prstGeom prst="ellipse">
            <a:avLst/>
          </a:prstGeom>
          <a:solidFill>
            <a:srgbClr val="0E7C7B"/>
          </a:solidFill>
          <a:ln/>
        </p:spPr>
      </p:sp>
      <p:pic>
        <p:nvPicPr>
          <p:cNvPr id="26" name="Image 0" descr="/home/user/Claude-Works/ai-training-prompt-engineering/src/assets/icons/shield_w.png">    </p:cNvPr>
          <p:cNvPicPr>
            <a:picLocks noChangeAspect="1"/>
          </p:cNvPicPr>
          <p:nvPr/>
        </p:nvPicPr>
        <p:blipFill>
          <a:blip r:embed="rId1"/>
          <a:stretch>
            <a:fillRect/>
          </a:stretch>
        </p:blipFill>
        <p:spPr>
          <a:xfrm>
            <a:off x="767364" y="4301520"/>
            <a:ext cx="184343" cy="184343"/>
          </a:xfrm>
          <a:prstGeom prst="rect">
            <a:avLst/>
          </a:prstGeom>
        </p:spPr>
      </p:pic>
      <p:sp>
        <p:nvSpPr>
          <p:cNvPr id="27" name="Text 24"/>
          <p:cNvSpPr/>
          <p:nvPr/>
        </p:nvSpPr>
        <p:spPr>
          <a:xfrm>
            <a:off x="1216152" y="3986784"/>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The countermeasures — usable today: </a:t>
            </a:r>
            <a:endParaRPr lang="en-US" sz="125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250" dirty="0"/>
          </a:p>
        </p:txBody>
      </p:sp>
      <p:sp>
        <p:nvSpPr>
          <p:cNvPr id="28" name="Shape 25"/>
          <p:cNvSpPr/>
          <p:nvPr/>
        </p:nvSpPr>
        <p:spPr>
          <a:xfrm>
            <a:off x="502920" y="5029200"/>
            <a:ext cx="11155680" cy="1417320"/>
          </a:xfrm>
          <a:prstGeom prst="roundRect">
            <a:avLst>
              <a:gd name="adj" fmla="val 5161"/>
            </a:avLst>
          </a:prstGeom>
          <a:solidFill>
            <a:srgbClr val="FFFFFF"/>
          </a:solidFill>
          <a:ln w="9525">
            <a:solidFill>
              <a:srgbClr val="DCE3E6"/>
            </a:solidFill>
            <a:prstDash val="solid"/>
          </a:ln>
        </p:spPr>
      </p:sp>
      <p:sp>
        <p:nvSpPr>
          <p:cNvPr id="29" name="Text 26"/>
          <p:cNvSpPr/>
          <p:nvPr/>
        </p:nvSpPr>
        <p:spPr>
          <a:xfrm>
            <a:off x="777240" y="5138928"/>
            <a:ext cx="10607040" cy="256032"/>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0" name="Text 27"/>
          <p:cNvSpPr/>
          <p:nvPr/>
        </p:nvSpPr>
        <p:spPr>
          <a:xfrm>
            <a:off x="777240" y="5413248"/>
            <a:ext cx="10607040" cy="457200"/>
          </a:xfrm>
          <a:prstGeom prst="rect">
            <a:avLst/>
          </a:prstGeom>
          <a:noFill/>
          <a:ln/>
        </p:spPr>
        <p:txBody>
          <a:bodyPr wrap="square" lIns="0" tIns="0" rIns="0" bIns="0" rtlCol="0" anchor="ctr"/>
          <a:lstStyle/>
          <a:p>
            <a:pPr indent="0" marL="0">
              <a:lnSpc>
                <a:spcPct val="108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and list its three biggest weaknesses.”</a:t>
            </a:r>
            <a:endParaRPr lang="en-US" sz="950" dirty="0"/>
          </a:p>
        </p:txBody>
      </p:sp>
      <p:sp>
        <p:nvSpPr>
          <p:cNvPr id="31" name="Text 28"/>
          <p:cNvSpPr/>
          <p:nvPr/>
        </p:nvSpPr>
        <p:spPr>
          <a:xfrm>
            <a:off x="777240" y="5925312"/>
            <a:ext cx="10607040" cy="457200"/>
          </a:xfrm>
          <a:prstGeom prst="rect">
            <a:avLst/>
          </a:prstGeom>
          <a:noFill/>
          <a:ln/>
        </p:spPr>
        <p:txBody>
          <a:bodyPr wrap="square" lIns="0" tIns="0" rIns="0" bIns="0" rtlCol="0" anchor="ctr"/>
          <a:lstStyle/>
          <a:p>
            <a:pPr indent="0" marL="0">
              <a:lnSpc>
                <a:spcPct val="104000"/>
              </a:lnSpc>
              <a:buNone/>
            </a:pPr>
            <a:r>
              <a:rPr lang="en-US" sz="900" i="1" dirty="0">
                <a:solidFill>
                  <a:srgbClr val="7A8790"/>
                </a:solidFill>
                <a:latin typeface="Calibri" pitchFamily="34" charset="0"/>
                <a:ea typeface="Calibri" pitchFamily="34" charset="-122"/>
                <a:cs typeface="Calibri" pitchFamily="34" charset="-120"/>
              </a:rPr>
              <a:t>Did the score move — and the criticism soften — once it knew you were the author? To read more: ask your AI to “search the web for the April 2025 ChatGPT sycophancy rollback and two 2025+ studies — cite sources, say ‘not verified’ if unsure.”</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HABIT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Draft → Inspect → Refine → Standardize (PDCA)</a:t>
            </a:r>
            <a:endParaRPr lang="en-US" sz="3000" dirty="0"/>
          </a:p>
        </p:txBody>
      </p:sp>
      <p:sp>
        <p:nvSpPr>
          <p:cNvPr id="6" name="Shape 4"/>
          <p:cNvSpPr/>
          <p:nvPr/>
        </p:nvSpPr>
        <p:spPr>
          <a:xfrm>
            <a:off x="502920" y="1481328"/>
            <a:ext cx="2651760" cy="1737360"/>
          </a:xfrm>
          <a:prstGeom prst="roundRect">
            <a:avLst>
              <a:gd name="adj" fmla="val 4211"/>
            </a:avLst>
          </a:prstGeom>
          <a:solidFill>
            <a:srgbClr val="F2F5F6"/>
          </a:solidFill>
          <a:ln/>
        </p:spPr>
      </p:sp>
      <p:sp>
        <p:nvSpPr>
          <p:cNvPr id="7" name="Shape 5"/>
          <p:cNvSpPr/>
          <p:nvPr/>
        </p:nvSpPr>
        <p:spPr>
          <a:xfrm>
            <a:off x="685800" y="1627632"/>
            <a:ext cx="402336" cy="402336"/>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0407" y="1732239"/>
            <a:ext cx="193121" cy="193121"/>
          </a:xfrm>
          <a:prstGeom prst="rect">
            <a:avLst/>
          </a:prstGeom>
        </p:spPr>
      </p:pic>
      <p:sp>
        <p:nvSpPr>
          <p:cNvPr id="9" name="Text 6"/>
          <p:cNvSpPr/>
          <p:nvPr/>
        </p:nvSpPr>
        <p:spPr>
          <a:xfrm>
            <a:off x="117957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Draft</a:t>
            </a:r>
            <a:endParaRPr lang="en-US" sz="1300" dirty="0"/>
          </a:p>
        </p:txBody>
      </p:sp>
      <p:sp>
        <p:nvSpPr>
          <p:cNvPr id="10" name="Shape 7"/>
          <p:cNvSpPr/>
          <p:nvPr/>
        </p:nvSpPr>
        <p:spPr>
          <a:xfrm>
            <a:off x="685800" y="2103120"/>
            <a:ext cx="1371600" cy="256032"/>
          </a:xfrm>
          <a:prstGeom prst="roundRect">
            <a:avLst>
              <a:gd name="adj" fmla="val 21429"/>
            </a:avLst>
          </a:prstGeom>
          <a:solidFill>
            <a:srgbClr val="FBF0E0"/>
          </a:solidFill>
          <a:ln w="7620">
            <a:solidFill>
              <a:srgbClr val="B96A1B"/>
            </a:solidFill>
            <a:prstDash val="solid"/>
          </a:ln>
        </p:spPr>
      </p:sp>
      <p:sp>
        <p:nvSpPr>
          <p:cNvPr id="11" name="Text 8"/>
          <p:cNvSpPr/>
          <p:nvPr/>
        </p:nvSpPr>
        <p:spPr>
          <a:xfrm>
            <a:off x="68580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PLAN + DO</a:t>
            </a:r>
            <a:endParaRPr lang="en-US" sz="750" dirty="0"/>
          </a:p>
        </p:txBody>
      </p:sp>
      <p:sp>
        <p:nvSpPr>
          <p:cNvPr id="12" name="Text 9"/>
          <p:cNvSpPr/>
          <p:nvPr/>
        </p:nvSpPr>
        <p:spPr>
          <a:xfrm>
            <a:off x="685800" y="241401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Write the prompt with the anatomy — or bullet what you want and let the AI draft it (toolkit moves 1–4, 7).</a:t>
            </a:r>
            <a:endParaRPr lang="en-US" sz="890" dirty="0"/>
          </a:p>
        </p:txBody>
      </p:sp>
      <p:sp>
        <p:nvSpPr>
          <p:cNvPr id="13" name="Shape 10"/>
          <p:cNvSpPr/>
          <p:nvPr/>
        </p:nvSpPr>
        <p:spPr>
          <a:xfrm>
            <a:off x="3291840" y="1481328"/>
            <a:ext cx="2651760" cy="1737360"/>
          </a:xfrm>
          <a:prstGeom prst="roundRect">
            <a:avLst>
              <a:gd name="adj" fmla="val 4211"/>
            </a:avLst>
          </a:prstGeom>
          <a:solidFill>
            <a:srgbClr val="F2F5F6"/>
          </a:solidFill>
          <a:ln/>
        </p:spPr>
      </p:sp>
      <p:sp>
        <p:nvSpPr>
          <p:cNvPr id="14" name="Shape 11"/>
          <p:cNvSpPr/>
          <p:nvPr/>
        </p:nvSpPr>
        <p:spPr>
          <a:xfrm>
            <a:off x="3474720" y="1627632"/>
            <a:ext cx="402336" cy="402336"/>
          </a:xfrm>
          <a:prstGeom prst="ellipse">
            <a:avLst/>
          </a:prstGeom>
          <a:solidFill>
            <a:srgbClr val="0E7C7B"/>
          </a:solidFill>
          <a:ln/>
        </p:spPr>
      </p:sp>
      <p:pic>
        <p:nvPicPr>
          <p:cNvPr id="15" name="Image 1" descr="/home/user/Claude-Works/ai-training-prompt-engineering/src/assets/icons/eye_w.png">    </p:cNvPr>
          <p:cNvPicPr>
            <a:picLocks noChangeAspect="1"/>
          </p:cNvPicPr>
          <p:nvPr/>
        </p:nvPicPr>
        <p:blipFill>
          <a:blip r:embed="rId2"/>
          <a:stretch>
            <a:fillRect/>
          </a:stretch>
        </p:blipFill>
        <p:spPr>
          <a:xfrm>
            <a:off x="3579327" y="1732239"/>
            <a:ext cx="193121" cy="193121"/>
          </a:xfrm>
          <a:prstGeom prst="rect">
            <a:avLst/>
          </a:prstGeom>
        </p:spPr>
      </p:pic>
      <p:sp>
        <p:nvSpPr>
          <p:cNvPr id="16" name="Text 12"/>
          <p:cNvSpPr/>
          <p:nvPr/>
        </p:nvSpPr>
        <p:spPr>
          <a:xfrm>
            <a:off x="396849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Inspect</a:t>
            </a:r>
            <a:endParaRPr lang="en-US" sz="1300" dirty="0"/>
          </a:p>
        </p:txBody>
      </p:sp>
      <p:sp>
        <p:nvSpPr>
          <p:cNvPr id="17" name="Shape 13"/>
          <p:cNvSpPr/>
          <p:nvPr/>
        </p:nvSpPr>
        <p:spPr>
          <a:xfrm>
            <a:off x="3474720" y="2103120"/>
            <a:ext cx="1371600" cy="256032"/>
          </a:xfrm>
          <a:prstGeom prst="roundRect">
            <a:avLst>
              <a:gd name="adj" fmla="val 21429"/>
            </a:avLst>
          </a:prstGeom>
          <a:solidFill>
            <a:srgbClr val="FBF0E0"/>
          </a:solidFill>
          <a:ln w="7620">
            <a:solidFill>
              <a:srgbClr val="B96A1B"/>
            </a:solidFill>
            <a:prstDash val="solid"/>
          </a:ln>
        </p:spPr>
      </p:sp>
      <p:sp>
        <p:nvSpPr>
          <p:cNvPr id="18" name="Text 14"/>
          <p:cNvSpPr/>
          <p:nvPr/>
        </p:nvSpPr>
        <p:spPr>
          <a:xfrm>
            <a:off x="347472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CHECK</a:t>
            </a:r>
            <a:endParaRPr lang="en-US" sz="750" dirty="0"/>
          </a:p>
        </p:txBody>
      </p:sp>
      <p:sp>
        <p:nvSpPr>
          <p:cNvPr id="19" name="Text 15"/>
          <p:cNvSpPr/>
          <p:nvPr/>
        </p:nvSpPr>
        <p:spPr>
          <a:xfrm>
            <a:off x="3474720" y="241401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Don’t reword at random: name the failed element with the grid → or run a self-check against named criteria (move 6).</a:t>
            </a:r>
            <a:endParaRPr lang="en-US" sz="890" dirty="0"/>
          </a:p>
        </p:txBody>
      </p:sp>
      <p:sp>
        <p:nvSpPr>
          <p:cNvPr id="20" name="Shape 16"/>
          <p:cNvSpPr/>
          <p:nvPr/>
        </p:nvSpPr>
        <p:spPr>
          <a:xfrm>
            <a:off x="502920" y="3355848"/>
            <a:ext cx="2651760" cy="1737360"/>
          </a:xfrm>
          <a:prstGeom prst="roundRect">
            <a:avLst>
              <a:gd name="adj" fmla="val 4211"/>
            </a:avLst>
          </a:prstGeom>
          <a:solidFill>
            <a:srgbClr val="F2F5F6"/>
          </a:solidFill>
          <a:ln/>
        </p:spPr>
      </p:sp>
      <p:sp>
        <p:nvSpPr>
          <p:cNvPr id="21" name="Shape 17"/>
          <p:cNvSpPr/>
          <p:nvPr/>
        </p:nvSpPr>
        <p:spPr>
          <a:xfrm>
            <a:off x="685800" y="3502152"/>
            <a:ext cx="402336" cy="402336"/>
          </a:xfrm>
          <a:prstGeom prst="ellipse">
            <a:avLst/>
          </a:prstGeom>
          <a:solidFill>
            <a:srgbClr val="0E7C7B"/>
          </a:solidFill>
          <a:ln/>
        </p:spPr>
      </p:sp>
      <p:pic>
        <p:nvPicPr>
          <p:cNvPr id="22" name="Image 2" descr="/home/user/Claude-Works/ai-training-prompt-engineering/src/assets/icons/refresh_w.png">    </p:cNvPr>
          <p:cNvPicPr>
            <a:picLocks noChangeAspect="1"/>
          </p:cNvPicPr>
          <p:nvPr/>
        </p:nvPicPr>
        <p:blipFill>
          <a:blip r:embed="rId3"/>
          <a:stretch>
            <a:fillRect/>
          </a:stretch>
        </p:blipFill>
        <p:spPr>
          <a:xfrm>
            <a:off x="790407" y="3606759"/>
            <a:ext cx="193121" cy="193121"/>
          </a:xfrm>
          <a:prstGeom prst="rect">
            <a:avLst/>
          </a:prstGeom>
        </p:spPr>
      </p:pic>
      <p:sp>
        <p:nvSpPr>
          <p:cNvPr id="23" name="Text 18"/>
          <p:cNvSpPr/>
          <p:nvPr/>
        </p:nvSpPr>
        <p:spPr>
          <a:xfrm>
            <a:off x="117957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Refine</a:t>
            </a:r>
            <a:endParaRPr lang="en-US" sz="1300" dirty="0"/>
          </a:p>
        </p:txBody>
      </p:sp>
      <p:sp>
        <p:nvSpPr>
          <p:cNvPr id="24" name="Shape 19"/>
          <p:cNvSpPr/>
          <p:nvPr/>
        </p:nvSpPr>
        <p:spPr>
          <a:xfrm>
            <a:off x="685800" y="3977640"/>
            <a:ext cx="1371600" cy="256032"/>
          </a:xfrm>
          <a:prstGeom prst="roundRect">
            <a:avLst>
              <a:gd name="adj" fmla="val 21429"/>
            </a:avLst>
          </a:prstGeom>
          <a:solidFill>
            <a:srgbClr val="FBF0E0"/>
          </a:solidFill>
          <a:ln w="7620">
            <a:solidFill>
              <a:srgbClr val="B96A1B"/>
            </a:solidFill>
            <a:prstDash val="solid"/>
          </a:ln>
        </p:spPr>
      </p:sp>
      <p:sp>
        <p:nvSpPr>
          <p:cNvPr id="25" name="Text 20"/>
          <p:cNvSpPr/>
          <p:nvPr/>
        </p:nvSpPr>
        <p:spPr>
          <a:xfrm>
            <a:off x="68580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ACT</a:t>
            </a:r>
            <a:endParaRPr lang="en-US" sz="750" dirty="0"/>
          </a:p>
        </p:txBody>
      </p:sp>
      <p:sp>
        <p:nvSpPr>
          <p:cNvPr id="26" name="Text 21"/>
          <p:cNvSpPr/>
          <p:nvPr/>
        </p:nvSpPr>
        <p:spPr>
          <a:xfrm>
            <a:off x="685800" y="428853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Fix that ONE element — or metaprompt: “rewrite this prompt so it more consistently produces X” (move 7).</a:t>
            </a:r>
            <a:endParaRPr lang="en-US" sz="890" dirty="0"/>
          </a:p>
        </p:txBody>
      </p:sp>
      <p:sp>
        <p:nvSpPr>
          <p:cNvPr id="27" name="Shape 22"/>
          <p:cNvSpPr/>
          <p:nvPr/>
        </p:nvSpPr>
        <p:spPr>
          <a:xfrm>
            <a:off x="3291840" y="3355848"/>
            <a:ext cx="2651760" cy="1737360"/>
          </a:xfrm>
          <a:prstGeom prst="roundRect">
            <a:avLst>
              <a:gd name="adj" fmla="val 4211"/>
            </a:avLst>
          </a:prstGeom>
          <a:solidFill>
            <a:srgbClr val="E4F0EF"/>
          </a:solidFill>
          <a:ln/>
        </p:spPr>
      </p:sp>
      <p:sp>
        <p:nvSpPr>
          <p:cNvPr id="28" name="Shape 23"/>
          <p:cNvSpPr/>
          <p:nvPr/>
        </p:nvSpPr>
        <p:spPr>
          <a:xfrm>
            <a:off x="3474720" y="3502152"/>
            <a:ext cx="402336" cy="402336"/>
          </a:xfrm>
          <a:prstGeom prst="ellipse">
            <a:avLst/>
          </a:prstGeom>
          <a:solidFill>
            <a:srgbClr val="0E7C7B"/>
          </a:solidFill>
          <a:ln/>
        </p:spPr>
      </p:sp>
      <p:pic>
        <p:nvPicPr>
          <p:cNvPr id="29" name="Image 3" descr="/home/user/Claude-Works/ai-training-prompt-engineering/src/assets/icons/save_w.png">    </p:cNvPr>
          <p:cNvPicPr>
            <a:picLocks noChangeAspect="1"/>
          </p:cNvPicPr>
          <p:nvPr/>
        </p:nvPicPr>
        <p:blipFill>
          <a:blip r:embed="rId4"/>
          <a:stretch>
            <a:fillRect/>
          </a:stretch>
        </p:blipFill>
        <p:spPr>
          <a:xfrm>
            <a:off x="3579327" y="3606759"/>
            <a:ext cx="193121" cy="193121"/>
          </a:xfrm>
          <a:prstGeom prst="rect">
            <a:avLst/>
          </a:prstGeom>
        </p:spPr>
      </p:pic>
      <p:sp>
        <p:nvSpPr>
          <p:cNvPr id="30" name="Text 24"/>
          <p:cNvSpPr/>
          <p:nvPr/>
        </p:nvSpPr>
        <p:spPr>
          <a:xfrm>
            <a:off x="396849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Standardize</a:t>
            </a:r>
            <a:endParaRPr lang="en-US" sz="1300" dirty="0"/>
          </a:p>
        </p:txBody>
      </p:sp>
      <p:sp>
        <p:nvSpPr>
          <p:cNvPr id="31" name="Shape 25"/>
          <p:cNvSpPr/>
          <p:nvPr/>
        </p:nvSpPr>
        <p:spPr>
          <a:xfrm>
            <a:off x="3474720" y="3977640"/>
            <a:ext cx="1371600" cy="256032"/>
          </a:xfrm>
          <a:prstGeom prst="roundRect">
            <a:avLst>
              <a:gd name="adj" fmla="val 21429"/>
            </a:avLst>
          </a:prstGeom>
          <a:solidFill>
            <a:srgbClr val="FBF0E0"/>
          </a:solidFill>
          <a:ln w="7620">
            <a:solidFill>
              <a:srgbClr val="B96A1B"/>
            </a:solidFill>
            <a:prstDash val="solid"/>
          </a:ln>
        </p:spPr>
      </p:sp>
      <p:sp>
        <p:nvSpPr>
          <p:cNvPr id="32" name="Text 26"/>
          <p:cNvSpPr/>
          <p:nvPr/>
        </p:nvSpPr>
        <p:spPr>
          <a:xfrm>
            <a:off x="347472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STANDARD WORK</a:t>
            </a:r>
            <a:endParaRPr lang="en-US" sz="750" dirty="0"/>
          </a:p>
        </p:txBody>
      </p:sp>
      <p:sp>
        <p:nvSpPr>
          <p:cNvPr id="33" name="Text 27"/>
          <p:cNvSpPr/>
          <p:nvPr/>
        </p:nvSpPr>
        <p:spPr>
          <a:xfrm>
            <a:off x="3474720" y="428853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Works twice? Name it, version it, put it in the library (Part 6). Improve the standard, not the improvisation.</a:t>
            </a:r>
            <a:endParaRPr lang="en-US" sz="890" dirty="0"/>
          </a:p>
        </p:txBody>
      </p:sp>
      <p:sp>
        <p:nvSpPr>
          <p:cNvPr id="34" name="Shape 28"/>
          <p:cNvSpPr/>
          <p:nvPr/>
        </p:nvSpPr>
        <p:spPr>
          <a:xfrm>
            <a:off x="6263640" y="1481328"/>
            <a:ext cx="5394960" cy="3749040"/>
          </a:xfrm>
          <a:prstGeom prst="roundRect">
            <a:avLst>
              <a:gd name="adj" fmla="val 1951"/>
            </a:avLst>
          </a:prstGeom>
          <a:solidFill>
            <a:srgbClr val="F2F5F6"/>
          </a:solidFill>
          <a:ln/>
        </p:spPr>
      </p:sp>
      <p:sp>
        <p:nvSpPr>
          <p:cNvPr id="35" name="Text 29"/>
          <p:cNvSpPr/>
          <p:nvPr/>
        </p:nvSpPr>
        <p:spPr>
          <a:xfrm>
            <a:off x="6510528" y="1645920"/>
            <a:ext cx="493776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Inspect with this — which element failed?</a:t>
            </a:r>
            <a:endParaRPr lang="en-US" sz="1350" dirty="0"/>
          </a:p>
        </p:txBody>
      </p:sp>
      <p:sp>
        <p:nvSpPr>
          <p:cNvPr id="36" name="Text 30"/>
          <p:cNvSpPr/>
          <p:nvPr/>
        </p:nvSpPr>
        <p:spPr>
          <a:xfrm>
            <a:off x="6510528" y="208483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wrong altitude, tone, or posture</a:t>
            </a:r>
            <a:endParaRPr lang="en-US" sz="980" dirty="0"/>
          </a:p>
        </p:txBody>
      </p:sp>
      <p:sp>
        <p:nvSpPr>
          <p:cNvPr id="37" name="Text 31"/>
          <p:cNvSpPr/>
          <p:nvPr/>
        </p:nvSpPr>
        <p:spPr>
          <a:xfrm>
            <a:off x="9875520" y="208483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Role</a:t>
            </a:r>
            <a:endParaRPr lang="en-US" sz="980" dirty="0"/>
          </a:p>
        </p:txBody>
      </p:sp>
      <p:sp>
        <p:nvSpPr>
          <p:cNvPr id="38" name="Shape 32"/>
          <p:cNvSpPr/>
          <p:nvPr/>
        </p:nvSpPr>
        <p:spPr>
          <a:xfrm>
            <a:off x="6510528" y="2505456"/>
            <a:ext cx="4892040" cy="0"/>
          </a:xfrm>
          <a:prstGeom prst="line">
            <a:avLst/>
          </a:prstGeom>
          <a:noFill/>
          <a:ln w="6350">
            <a:solidFill>
              <a:srgbClr val="DCE3E6"/>
            </a:solidFill>
            <a:prstDash val="solid"/>
          </a:ln>
        </p:spPr>
      </p:sp>
      <p:sp>
        <p:nvSpPr>
          <p:cNvPr id="39" name="Text 33"/>
          <p:cNvSpPr/>
          <p:nvPr/>
        </p:nvSpPr>
        <p:spPr>
          <a:xfrm>
            <a:off x="6510528" y="253288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answers a different (or vaguer) question</a:t>
            </a:r>
            <a:endParaRPr lang="en-US" sz="980" dirty="0"/>
          </a:p>
        </p:txBody>
      </p:sp>
      <p:sp>
        <p:nvSpPr>
          <p:cNvPr id="40" name="Text 34"/>
          <p:cNvSpPr/>
          <p:nvPr/>
        </p:nvSpPr>
        <p:spPr>
          <a:xfrm>
            <a:off x="9875520" y="253288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Task</a:t>
            </a:r>
            <a:endParaRPr lang="en-US" sz="980" dirty="0"/>
          </a:p>
        </p:txBody>
      </p:sp>
      <p:sp>
        <p:nvSpPr>
          <p:cNvPr id="41" name="Shape 35"/>
          <p:cNvSpPr/>
          <p:nvPr/>
        </p:nvSpPr>
        <p:spPr>
          <a:xfrm>
            <a:off x="6510528" y="2953512"/>
            <a:ext cx="4892040" cy="0"/>
          </a:xfrm>
          <a:prstGeom prst="line">
            <a:avLst/>
          </a:prstGeom>
          <a:noFill/>
          <a:ln w="6350">
            <a:solidFill>
              <a:srgbClr val="DCE3E6"/>
            </a:solidFill>
            <a:prstDash val="solid"/>
          </a:ln>
        </p:spPr>
      </p:sp>
      <p:sp>
        <p:nvSpPr>
          <p:cNvPr id="42" name="Text 36"/>
          <p:cNvSpPr/>
          <p:nvPr/>
        </p:nvSpPr>
        <p:spPr>
          <a:xfrm>
            <a:off x="6510528" y="2980944"/>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generically right, specifically wrong for us</a:t>
            </a:r>
            <a:endParaRPr lang="en-US" sz="980" dirty="0"/>
          </a:p>
        </p:txBody>
      </p:sp>
      <p:sp>
        <p:nvSpPr>
          <p:cNvPr id="43" name="Text 37"/>
          <p:cNvSpPr/>
          <p:nvPr/>
        </p:nvSpPr>
        <p:spPr>
          <a:xfrm>
            <a:off x="9875520" y="2980944"/>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Context</a:t>
            </a:r>
            <a:endParaRPr lang="en-US" sz="980" dirty="0"/>
          </a:p>
        </p:txBody>
      </p:sp>
      <p:sp>
        <p:nvSpPr>
          <p:cNvPr id="44" name="Shape 38"/>
          <p:cNvSpPr/>
          <p:nvPr/>
        </p:nvSpPr>
        <p:spPr>
          <a:xfrm>
            <a:off x="6510528" y="3401568"/>
            <a:ext cx="4892040" cy="0"/>
          </a:xfrm>
          <a:prstGeom prst="line">
            <a:avLst/>
          </a:prstGeom>
          <a:noFill/>
          <a:ln w="6350">
            <a:solidFill>
              <a:srgbClr val="DCE3E6"/>
            </a:solidFill>
            <a:prstDash val="solid"/>
          </a:ln>
        </p:spPr>
      </p:sp>
      <p:sp>
        <p:nvSpPr>
          <p:cNvPr id="45" name="Text 39"/>
          <p:cNvSpPr/>
          <p:nvPr/>
        </p:nvSpPr>
        <p:spPr>
          <a:xfrm>
            <a:off x="6510528" y="3429000"/>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right content, unusable shape or length</a:t>
            </a:r>
            <a:endParaRPr lang="en-US" sz="980" dirty="0"/>
          </a:p>
        </p:txBody>
      </p:sp>
      <p:sp>
        <p:nvSpPr>
          <p:cNvPr id="46" name="Text 40"/>
          <p:cNvSpPr/>
          <p:nvPr/>
        </p:nvSpPr>
        <p:spPr>
          <a:xfrm>
            <a:off x="9875520" y="3429000"/>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Format</a:t>
            </a:r>
            <a:endParaRPr lang="en-US" sz="980" dirty="0"/>
          </a:p>
        </p:txBody>
      </p:sp>
      <p:sp>
        <p:nvSpPr>
          <p:cNvPr id="47" name="Shape 41"/>
          <p:cNvSpPr/>
          <p:nvPr/>
        </p:nvSpPr>
        <p:spPr>
          <a:xfrm>
            <a:off x="6510528" y="3849624"/>
            <a:ext cx="4892040" cy="0"/>
          </a:xfrm>
          <a:prstGeom prst="line">
            <a:avLst/>
          </a:prstGeom>
          <a:noFill/>
          <a:ln w="6350">
            <a:solidFill>
              <a:srgbClr val="DCE3E6"/>
            </a:solidFill>
            <a:prstDash val="solid"/>
          </a:ln>
        </p:spPr>
      </p:sp>
      <p:sp>
        <p:nvSpPr>
          <p:cNvPr id="48" name="Text 42"/>
          <p:cNvSpPr/>
          <p:nvPr/>
        </p:nvSpPr>
        <p:spPr>
          <a:xfrm>
            <a:off x="6510528" y="3877056"/>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doesn’t match the standard in your head</a:t>
            </a:r>
            <a:endParaRPr lang="en-US" sz="980" dirty="0"/>
          </a:p>
        </p:txBody>
      </p:sp>
      <p:sp>
        <p:nvSpPr>
          <p:cNvPr id="49" name="Text 43"/>
          <p:cNvSpPr/>
          <p:nvPr/>
        </p:nvSpPr>
        <p:spPr>
          <a:xfrm>
            <a:off x="9875520" y="3877056"/>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Examples</a:t>
            </a:r>
            <a:endParaRPr lang="en-US" sz="980" dirty="0"/>
          </a:p>
        </p:txBody>
      </p:sp>
      <p:sp>
        <p:nvSpPr>
          <p:cNvPr id="50" name="Shape 44"/>
          <p:cNvSpPr/>
          <p:nvPr/>
        </p:nvSpPr>
        <p:spPr>
          <a:xfrm>
            <a:off x="6510528" y="4297680"/>
            <a:ext cx="4892040" cy="0"/>
          </a:xfrm>
          <a:prstGeom prst="line">
            <a:avLst/>
          </a:prstGeom>
          <a:noFill/>
          <a:ln w="6350">
            <a:solidFill>
              <a:srgbClr val="DCE3E6"/>
            </a:solidFill>
            <a:prstDash val="solid"/>
          </a:ln>
        </p:spPr>
      </p:sp>
      <p:sp>
        <p:nvSpPr>
          <p:cNvPr id="51" name="Text 45"/>
          <p:cNvSpPr/>
          <p:nvPr/>
        </p:nvSpPr>
        <p:spPr>
          <a:xfrm>
            <a:off x="6510528" y="432511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confidently invented</a:t>
            </a:r>
            <a:endParaRPr lang="en-US" sz="980" dirty="0"/>
          </a:p>
        </p:txBody>
      </p:sp>
      <p:sp>
        <p:nvSpPr>
          <p:cNvPr id="52" name="Text 46"/>
          <p:cNvSpPr/>
          <p:nvPr/>
        </p:nvSpPr>
        <p:spPr>
          <a:xfrm>
            <a:off x="9875520" y="432511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Out (missing)</a:t>
            </a:r>
            <a:endParaRPr lang="en-US" sz="980" dirty="0"/>
          </a:p>
        </p:txBody>
      </p:sp>
      <p:sp>
        <p:nvSpPr>
          <p:cNvPr id="53" name="Shape 47"/>
          <p:cNvSpPr/>
          <p:nvPr/>
        </p:nvSpPr>
        <p:spPr>
          <a:xfrm>
            <a:off x="6510528" y="4745736"/>
            <a:ext cx="4892040" cy="0"/>
          </a:xfrm>
          <a:prstGeom prst="line">
            <a:avLst/>
          </a:prstGeom>
          <a:noFill/>
          <a:ln w="6350">
            <a:solidFill>
              <a:srgbClr val="DCE3E6"/>
            </a:solidFill>
            <a:prstDash val="solid"/>
          </a:ln>
        </p:spPr>
      </p:sp>
      <p:sp>
        <p:nvSpPr>
          <p:cNvPr id="54" name="Text 48"/>
          <p:cNvSpPr/>
          <p:nvPr/>
        </p:nvSpPr>
        <p:spPr>
          <a:xfrm>
            <a:off x="6510528" y="477316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sprawls past what you asked</a:t>
            </a:r>
            <a:endParaRPr lang="en-US" sz="980" dirty="0"/>
          </a:p>
        </p:txBody>
      </p:sp>
      <p:sp>
        <p:nvSpPr>
          <p:cNvPr id="55" name="Text 49"/>
          <p:cNvSpPr/>
          <p:nvPr/>
        </p:nvSpPr>
        <p:spPr>
          <a:xfrm>
            <a:off x="9875520" y="477316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Stop (missing)</a:t>
            </a:r>
            <a:endParaRPr lang="en-US" sz="980" dirty="0"/>
          </a:p>
        </p:txBody>
      </p:sp>
      <p:sp>
        <p:nvSpPr>
          <p:cNvPr id="56" name="Shape 50"/>
          <p:cNvSpPr/>
          <p:nvPr/>
        </p:nvSpPr>
        <p:spPr>
          <a:xfrm>
            <a:off x="502920" y="5440680"/>
            <a:ext cx="11155680" cy="1024128"/>
          </a:xfrm>
          <a:prstGeom prst="roundRect">
            <a:avLst>
              <a:gd name="adj" fmla="val 7143"/>
            </a:avLst>
          </a:prstGeom>
          <a:solidFill>
            <a:srgbClr val="FBF0E0"/>
          </a:solidFill>
          <a:ln/>
        </p:spPr>
      </p:sp>
      <p:sp>
        <p:nvSpPr>
          <p:cNvPr id="57" name="Shape 51"/>
          <p:cNvSpPr/>
          <p:nvPr/>
        </p:nvSpPr>
        <p:spPr>
          <a:xfrm>
            <a:off x="1161288" y="5468112"/>
            <a:ext cx="274320" cy="274320"/>
          </a:xfrm>
          <a:prstGeom prst="ellipse">
            <a:avLst/>
          </a:prstGeom>
          <a:solidFill>
            <a:srgbClr val="0E7C7B"/>
          </a:solidFill>
          <a:ln/>
        </p:spPr>
      </p:sp>
      <p:sp>
        <p:nvSpPr>
          <p:cNvPr id="58" name="Text 52"/>
          <p:cNvSpPr/>
          <p:nvPr/>
        </p:nvSpPr>
        <p:spPr>
          <a:xfrm>
            <a:off x="1161288" y="54589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P</a:t>
            </a:r>
            <a:endParaRPr lang="en-US" sz="1100" dirty="0"/>
          </a:p>
        </p:txBody>
      </p:sp>
      <p:sp>
        <p:nvSpPr>
          <p:cNvPr id="59" name="Shape 53"/>
          <p:cNvSpPr/>
          <p:nvPr/>
        </p:nvSpPr>
        <p:spPr>
          <a:xfrm>
            <a:off x="1508760" y="5815584"/>
            <a:ext cx="274320" cy="274320"/>
          </a:xfrm>
          <a:prstGeom prst="ellipse">
            <a:avLst/>
          </a:prstGeom>
          <a:solidFill>
            <a:srgbClr val="0E7C7B"/>
          </a:solidFill>
          <a:ln/>
        </p:spPr>
      </p:sp>
      <p:sp>
        <p:nvSpPr>
          <p:cNvPr id="60" name="Text 54"/>
          <p:cNvSpPr/>
          <p:nvPr/>
        </p:nvSpPr>
        <p:spPr>
          <a:xfrm>
            <a:off x="1508760"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D</a:t>
            </a:r>
            <a:endParaRPr lang="en-US" sz="1100" dirty="0"/>
          </a:p>
        </p:txBody>
      </p:sp>
      <p:sp>
        <p:nvSpPr>
          <p:cNvPr id="61" name="Shape 55"/>
          <p:cNvSpPr/>
          <p:nvPr/>
        </p:nvSpPr>
        <p:spPr>
          <a:xfrm>
            <a:off x="1161288" y="6163056"/>
            <a:ext cx="274320" cy="274320"/>
          </a:xfrm>
          <a:prstGeom prst="ellipse">
            <a:avLst/>
          </a:prstGeom>
          <a:solidFill>
            <a:srgbClr val="0E7C7B"/>
          </a:solidFill>
          <a:ln/>
        </p:spPr>
      </p:sp>
      <p:sp>
        <p:nvSpPr>
          <p:cNvPr id="62" name="Text 56"/>
          <p:cNvSpPr/>
          <p:nvPr/>
        </p:nvSpPr>
        <p:spPr>
          <a:xfrm>
            <a:off x="1161288" y="61539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C</a:t>
            </a:r>
            <a:endParaRPr lang="en-US" sz="1100" dirty="0"/>
          </a:p>
        </p:txBody>
      </p:sp>
      <p:sp>
        <p:nvSpPr>
          <p:cNvPr id="63" name="Shape 57"/>
          <p:cNvSpPr/>
          <p:nvPr/>
        </p:nvSpPr>
        <p:spPr>
          <a:xfrm>
            <a:off x="813816" y="5815584"/>
            <a:ext cx="274320" cy="274320"/>
          </a:xfrm>
          <a:prstGeom prst="ellipse">
            <a:avLst/>
          </a:prstGeom>
          <a:solidFill>
            <a:srgbClr val="B96A1B"/>
          </a:solidFill>
          <a:ln/>
        </p:spPr>
      </p:sp>
      <p:sp>
        <p:nvSpPr>
          <p:cNvPr id="64" name="Text 58"/>
          <p:cNvSpPr/>
          <p:nvPr/>
        </p:nvSpPr>
        <p:spPr>
          <a:xfrm>
            <a:off x="813816"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A</a:t>
            </a:r>
            <a:endParaRPr lang="en-US" sz="1100" dirty="0"/>
          </a:p>
        </p:txBody>
      </p:sp>
      <p:sp>
        <p:nvSpPr>
          <p:cNvPr id="65" name="Shape 59"/>
          <p:cNvSpPr/>
          <p:nvPr/>
        </p:nvSpPr>
        <p:spPr>
          <a:xfrm>
            <a:off x="1417320" y="5623560"/>
            <a:ext cx="182880" cy="164592"/>
          </a:xfrm>
          <a:prstGeom prst="line">
            <a:avLst/>
          </a:prstGeom>
          <a:noFill/>
          <a:ln w="12700">
            <a:solidFill>
              <a:srgbClr val="46545F"/>
            </a:solidFill>
            <a:prstDash val="solid"/>
            <a:tailEnd type="triangle"/>
          </a:ln>
        </p:spPr>
      </p:sp>
      <p:sp>
        <p:nvSpPr>
          <p:cNvPr id="66" name="Shape 60"/>
          <p:cNvSpPr/>
          <p:nvPr/>
        </p:nvSpPr>
        <p:spPr>
          <a:xfrm flipH="1">
            <a:off x="1417320" y="6135624"/>
            <a:ext cx="182880" cy="164592"/>
          </a:xfrm>
          <a:prstGeom prst="line">
            <a:avLst/>
          </a:prstGeom>
          <a:noFill/>
          <a:ln w="12700">
            <a:solidFill>
              <a:srgbClr val="46545F"/>
            </a:solidFill>
            <a:prstDash val="solid"/>
            <a:tailEnd type="triangle"/>
          </a:ln>
        </p:spPr>
      </p:sp>
      <p:sp>
        <p:nvSpPr>
          <p:cNvPr id="67" name="Shape 61"/>
          <p:cNvSpPr/>
          <p:nvPr/>
        </p:nvSpPr>
        <p:spPr>
          <a:xfrm flipH="1" flipV="1">
            <a:off x="987552" y="6135624"/>
            <a:ext cx="173736" cy="182880"/>
          </a:xfrm>
          <a:prstGeom prst="line">
            <a:avLst/>
          </a:prstGeom>
          <a:noFill/>
          <a:ln w="12700">
            <a:solidFill>
              <a:srgbClr val="46545F"/>
            </a:solidFill>
            <a:prstDash val="solid"/>
            <a:tailEnd type="triangle"/>
          </a:ln>
        </p:spPr>
      </p:sp>
      <p:sp>
        <p:nvSpPr>
          <p:cNvPr id="68" name="Shape 62"/>
          <p:cNvSpPr/>
          <p:nvPr/>
        </p:nvSpPr>
        <p:spPr>
          <a:xfrm flipV="1">
            <a:off x="987552" y="5788152"/>
            <a:ext cx="182880" cy="173736"/>
          </a:xfrm>
          <a:prstGeom prst="line">
            <a:avLst/>
          </a:prstGeom>
          <a:noFill/>
          <a:ln w="12700">
            <a:solidFill>
              <a:srgbClr val="46545F"/>
            </a:solidFill>
            <a:prstDash val="solid"/>
            <a:tailEnd type="triangle"/>
          </a:ln>
        </p:spPr>
      </p:sp>
      <p:sp>
        <p:nvSpPr>
          <p:cNvPr id="69" name="Shape 63"/>
          <p:cNvSpPr/>
          <p:nvPr/>
        </p:nvSpPr>
        <p:spPr>
          <a:xfrm>
            <a:off x="2148840" y="5541264"/>
            <a:ext cx="384048" cy="384048"/>
          </a:xfrm>
          <a:prstGeom prst="roundRect">
            <a:avLst>
              <a:gd name="adj" fmla="val 21429"/>
            </a:avLst>
          </a:prstGeom>
          <a:solidFill>
            <a:srgbClr val="FFFFFF"/>
          </a:solidFill>
          <a:ln w="9525">
            <a:solidFill>
              <a:srgbClr val="DCE3E6"/>
            </a:solidFill>
            <a:prstDash val="solid"/>
          </a:ln>
        </p:spPr>
      </p:sp>
      <p:pic>
        <p:nvPicPr>
          <p:cNvPr id="70" name="Image 4" descr="/home/user/Claude-Works/ai-training-prompt-engineering/src/assets/logos/toyota.png">    </p:cNvPr>
          <p:cNvPicPr>
            <a:picLocks noChangeAspect="1"/>
          </p:cNvPicPr>
          <p:nvPr/>
        </p:nvPicPr>
        <p:blipFill>
          <a:blip r:embed="rId5"/>
          <a:stretch>
            <a:fillRect/>
          </a:stretch>
        </p:blipFill>
        <p:spPr>
          <a:xfrm>
            <a:off x="2202607" y="5595031"/>
            <a:ext cx="276515" cy="276515"/>
          </a:xfrm>
          <a:prstGeom prst="rect">
            <a:avLst/>
          </a:prstGeom>
        </p:spPr>
      </p:pic>
      <p:sp>
        <p:nvSpPr>
          <p:cNvPr id="71" name="Text 64"/>
          <p:cNvSpPr/>
          <p:nvPr/>
        </p:nvSpPr>
        <p:spPr>
          <a:xfrm>
            <a:off x="2670048" y="5532120"/>
            <a:ext cx="6949440" cy="868680"/>
          </a:xfrm>
          <a:prstGeom prst="rect">
            <a:avLst/>
          </a:prstGeom>
          <a:noFill/>
          <a:ln/>
        </p:spPr>
        <p:txBody>
          <a:bodyPr wrap="square" lIns="0" tIns="0" rIns="0" bIns="0" rtlCol="0" anchor="ctr"/>
          <a:lstStyle/>
          <a:p>
            <a:pPr indent="0" marL="0">
              <a:lnSpc>
                <a:spcPct val="104000"/>
              </a:lnSpc>
              <a:buNone/>
            </a:pPr>
            <a:r>
              <a:rPr lang="en-US" sz="1150" b="1" dirty="0">
                <a:solidFill>
                  <a:srgbClr val="232A31"/>
                </a:solidFill>
                <a:latin typeface="Calibri" pitchFamily="34" charset="0"/>
                <a:ea typeface="Calibri" pitchFamily="34" charset="-122"/>
                <a:cs typeface="Calibri" pitchFamily="34" charset="-120"/>
              </a:rPr>
              <a:t>This is PDCA — Plan · Do · Check · Act: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 Deming/Toyota improvement cycle, applied to prompts. The Lean Enterprise Institute now literally teaches “Prompt-Do-Check-Act.” Part 3 taught the elements; this loop turns them into tested templates; Part 6 turns templates into a team asset.</a:t>
            </a:r>
            <a:endParaRPr lang="en-US" sz="1150" dirty="0"/>
          </a:p>
        </p:txBody>
      </p:sp>
      <p:sp>
        <p:nvSpPr>
          <p:cNvPr id="72" name="Shape 65"/>
          <p:cNvSpPr/>
          <p:nvPr/>
        </p:nvSpPr>
        <p:spPr>
          <a:xfrm>
            <a:off x="9765792" y="5605272"/>
            <a:ext cx="1755648" cy="713232"/>
          </a:xfrm>
          <a:prstGeom prst="roundRect">
            <a:avLst>
              <a:gd name="adj" fmla="val 8974"/>
            </a:avLst>
          </a:prstGeom>
          <a:solidFill>
            <a:srgbClr val="FFFFFF"/>
          </a:solidFill>
          <a:ln w="12700">
            <a:solidFill>
              <a:srgbClr val="B96A1B"/>
            </a:solidFill>
            <a:prstDash val="solid"/>
          </a:ln>
        </p:spPr>
      </p:sp>
      <p:sp>
        <p:nvSpPr>
          <p:cNvPr id="73" name="Text 66"/>
          <p:cNvSpPr/>
          <p:nvPr/>
        </p:nvSpPr>
        <p:spPr>
          <a:xfrm>
            <a:off x="9857232" y="5641848"/>
            <a:ext cx="1591056" cy="640080"/>
          </a:xfrm>
          <a:prstGeom prst="rect">
            <a:avLst/>
          </a:prstGeom>
          <a:noFill/>
          <a:ln/>
        </p:spPr>
        <p:txBody>
          <a:bodyPr wrap="square" lIns="0" tIns="0" rIns="0" bIns="0" rtlCol="0" anchor="ctr"/>
          <a:lstStyle/>
          <a:p>
            <a:pPr indent="0" marL="0">
              <a:lnSpc>
                <a:spcPct val="95000"/>
              </a:lnSpc>
              <a:buNone/>
            </a:pPr>
            <a:r>
              <a:rPr lang="en-US" sz="850" b="1" dirty="0">
                <a:solidFill>
                  <a:srgbClr val="232A31"/>
                </a:solidFill>
                <a:latin typeface="Calibri" pitchFamily="34" charset="0"/>
                <a:ea typeface="Calibri" pitchFamily="34" charset="-122"/>
                <a:cs typeface="Calibri" pitchFamily="34" charset="-120"/>
              </a:rPr>
              <a:t>W. EDWARDS DEMING</a:t>
            </a:r>
            <a:endParaRPr lang="en-US" sz="850" dirty="0"/>
          </a:p>
          <a:p>
            <a:pPr indent="0" marL="0">
              <a:lnSpc>
                <a:spcPct val="95000"/>
              </a:lnSpc>
              <a:buNone/>
            </a:pPr>
            <a:r>
              <a:rPr lang="en-US" sz="720" i="1" dirty="0">
                <a:solidFill>
                  <a:srgbClr val="46545F"/>
                </a:solidFill>
                <a:latin typeface="Calibri" pitchFamily="34" charset="0"/>
                <a:ea typeface="Calibri" pitchFamily="34" charset="-122"/>
                <a:cs typeface="Calibri" pitchFamily="34" charset="-120"/>
              </a:rPr>
              <a:t>1900–1993 · the quality pioneer whose cycle Toyota made famous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“Summarize this report.” + paste the report from tab EX-Rebuild of your Course Workbook</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300" dirty="0"/>
          </a:p>
        </p:txBody>
      </p:sp>
      <p:sp>
        <p:nvSpPr>
          <p:cNvPr id="11" name="Shape 8"/>
          <p:cNvSpPr/>
          <p:nvPr/>
        </p:nvSpPr>
        <p:spPr>
          <a:xfrm>
            <a:off x="502920" y="3410712"/>
            <a:ext cx="6035040" cy="1600200"/>
          </a:xfrm>
          <a:prstGeom prst="roundRect">
            <a:avLst>
              <a:gd name="adj" fmla="val 4571"/>
            </a:avLst>
          </a:prstGeom>
          <a:solidFill>
            <a:srgbClr val="FFFFFF"/>
          </a:solidFill>
          <a:ln w="9525">
            <a:solidFill>
              <a:srgbClr val="DCE3E6"/>
            </a:solidFill>
            <a:prstDash val="solid"/>
          </a:ln>
        </p:spPr>
      </p:sp>
      <p:sp>
        <p:nvSpPr>
          <p:cNvPr id="12" name="Text 9"/>
          <p:cNvSpPr/>
          <p:nvPr/>
        </p:nvSpPr>
        <p:spPr>
          <a:xfrm>
            <a:off x="749808" y="3502152"/>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your upgrade, same report: add a Role, a named reader in the Task, a ≤ 80-word cap, and an Out.</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four elements — watch it change league. That contrast is Part 3.</a:t>
            </a:r>
            <a:endParaRPr lang="en-US" sz="1300" dirty="0"/>
          </a:p>
        </p:txBody>
      </p:sp>
      <p:sp>
        <p:nvSpPr>
          <p:cNvPr id="13" name="Shape 10"/>
          <p:cNvSpPr/>
          <p:nvPr/>
        </p:nvSpPr>
        <p:spPr>
          <a:xfrm>
            <a:off x="502920" y="5175504"/>
            <a:ext cx="6035040" cy="914400"/>
          </a:xfrm>
          <a:prstGeom prst="roundRect">
            <a:avLst>
              <a:gd name="adj" fmla="val 8000"/>
            </a:avLst>
          </a:prstGeom>
          <a:solidFill>
            <a:srgbClr val="F2F5F6"/>
          </a:solidFill>
          <a:ln/>
        </p:spPr>
      </p:sp>
      <p:sp>
        <p:nvSpPr>
          <p:cNvPr id="14" name="Text 11"/>
          <p:cNvSpPr/>
          <p:nvPr/>
        </p:nvSpPr>
        <p:spPr>
          <a:xfrm>
            <a:off x="777240" y="5266944"/>
            <a:ext cx="5486400" cy="731520"/>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Everything you need is in the tab: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60-word practice report AND both prompts, copy-paste ready. Run it in your course log.</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Different fills, same anatomy.</a:t>
            </a:r>
            <a:endParaRPr lang="en-US" sz="1150" dirty="0"/>
          </a:p>
        </p:txBody>
      </p:sp>
      <p:sp>
        <p:nvSpPr>
          <p:cNvPr id="19" name="Text 16"/>
          <p:cNvSpPr/>
          <p:nvPr/>
        </p:nvSpPr>
        <p:spPr>
          <a:xfrm>
            <a:off x="502920" y="626364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Why this rep: it is the one moment Part 3 asks you to WRITE — the elements stick when your hands use them once. Skippable if running long.</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78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0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78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0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78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0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78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0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78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0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080" dirty="0"/>
          </a:p>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08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96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96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950976"/>
          </a:xfrm>
          <a:prstGeom prst="roundRect">
            <a:avLst>
              <a:gd name="adj" fmla="val 7692"/>
            </a:avLst>
          </a:prstGeom>
          <a:solidFill>
            <a:srgbClr val="FFFFFF"/>
          </a:solidFill>
          <a:ln w="9525">
            <a:solidFill>
              <a:srgbClr val="DCE3E6"/>
            </a:solidFill>
            <a:prstDash val="solid"/>
          </a:ln>
        </p:spPr>
      </p:sp>
      <p:sp>
        <p:nvSpPr>
          <p:cNvPr id="11" name="Text 9"/>
          <p:cNvSpPr/>
          <p:nvPr/>
        </p:nvSpPr>
        <p:spPr>
          <a:xfrm>
            <a:off x="685800" y="2057400"/>
            <a:ext cx="10789920" cy="822960"/>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84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84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84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08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87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870" dirty="0"/>
          </a:p>
        </p:txBody>
      </p:sp>
      <p:sp>
        <p:nvSpPr>
          <p:cNvPr id="23" name="Text 21"/>
          <p:cNvSpPr/>
          <p:nvPr/>
        </p:nvSpPr>
        <p:spPr>
          <a:xfrm>
            <a:off x="502920" y="6144768"/>
            <a:ext cx="11155680" cy="29260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Works the same in a chat upload, Copilot, or your company assistant — this is G8 (summarize &amp; compare) grown teeth. ✂ Both prompts: tab EX-Quotes of your Course Workbook.</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92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92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deliverable is a tool, not a text. The spec lines that made it trustworthy: single file · offline · data embedded · nothing hard-coded · formulas on screen.</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Caveats to say out loud: it is a snapshot, not a live system — and share the FILE, not a public link.</a:t>
            </a:r>
            <a:endParaRPr lang="en-US" sz="1200" dirty="0"/>
          </a:p>
        </p:txBody>
      </p:sp>
      <p:sp>
        <p:nvSpPr>
          <p:cNvPr id="14" name="Shape 12"/>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5" name="Shape 13"/>
          <p:cNvSpPr/>
          <p:nvPr/>
        </p:nvSpPr>
        <p:spPr>
          <a:xfrm>
            <a:off x="667512" y="5385816"/>
            <a:ext cx="384048" cy="384048"/>
          </a:xfrm>
          <a:prstGeom prst="ellipse">
            <a:avLst/>
          </a:prstGeom>
          <a:solidFill>
            <a:srgbClr val="46545F"/>
          </a:solidFill>
          <a:ln/>
        </p:spPr>
      </p:sp>
      <p:pic>
        <p:nvPicPr>
          <p:cNvPr id="16" name="Image 0" descr="/home/user/Claude-Works/ai-training-prompt-engineering/src/assets/icons/refresh_w.png">    </p:cNvPr>
          <p:cNvPicPr>
            <a:picLocks noChangeAspect="1"/>
          </p:cNvPicPr>
          <p:nvPr/>
        </p:nvPicPr>
        <p:blipFill>
          <a:blip r:embed="rId1"/>
          <a:stretch>
            <a:fillRect/>
          </a:stretch>
        </p:blipFill>
        <p:spPr>
          <a:xfrm>
            <a:off x="767364" y="5485668"/>
            <a:ext cx="184343" cy="184343"/>
          </a:xfrm>
          <a:prstGeom prst="rect">
            <a:avLst/>
          </a:prstGeom>
        </p:spPr>
      </p:pic>
      <p:sp>
        <p:nvSpPr>
          <p:cNvPr id="17" name="Text 14"/>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18" name="Shape 15"/>
          <p:cNvSpPr/>
          <p:nvPr/>
        </p:nvSpPr>
        <p:spPr>
          <a:xfrm>
            <a:off x="502920" y="5961888"/>
            <a:ext cx="11155680" cy="548640"/>
          </a:xfrm>
          <a:prstGeom prst="roundRect">
            <a:avLst>
              <a:gd name="adj" fmla="val 13333"/>
            </a:avLst>
          </a:prstGeom>
          <a:solidFill>
            <a:srgbClr val="FBF0E0"/>
          </a:solidFill>
          <a:ln/>
        </p:spPr>
      </p:sp>
      <p:sp>
        <p:nvSpPr>
          <p:cNvPr id="19" name="Shape 16"/>
          <p:cNvSpPr/>
          <p:nvPr/>
        </p:nvSpPr>
        <p:spPr>
          <a:xfrm>
            <a:off x="667512" y="6044184"/>
            <a:ext cx="384048" cy="384048"/>
          </a:xfrm>
          <a:prstGeom prst="ellipse">
            <a:avLst/>
          </a:prstGeom>
          <a:solidFill>
            <a:srgbClr val="B96A1B"/>
          </a:solidFill>
          <a:ln/>
        </p:spPr>
      </p:sp>
      <p:pic>
        <p:nvPicPr>
          <p:cNvPr id="20" name="Image 1" descr="/home/user/Claude-Works/ai-training-prompt-engineering/src/assets/icons/key_w.png">    </p:cNvPr>
          <p:cNvPicPr>
            <a:picLocks noChangeAspect="1"/>
          </p:cNvPicPr>
          <p:nvPr/>
        </p:nvPicPr>
        <p:blipFill>
          <a:blip r:embed="rId2"/>
          <a:stretch>
            <a:fillRect/>
          </a:stretch>
        </p:blipFill>
        <p:spPr>
          <a:xfrm>
            <a:off x="767364" y="6144036"/>
            <a:ext cx="184343" cy="184343"/>
          </a:xfrm>
          <a:prstGeom prst="rect">
            <a:avLst/>
          </a:prstGeom>
        </p:spPr>
      </p:pic>
      <p:sp>
        <p:nvSpPr>
          <p:cNvPr id="21" name="Text 17"/>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08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08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08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08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08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89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89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2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95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① The thread, in Outlook</a:t>
            </a:r>
            <a:endParaRPr lang="en-US" sz="85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750" i="1" dirty="0">
                <a:solidFill>
                  <a:srgbClr val="7A8790"/>
                </a:solidFill>
                <a:latin typeface="Calibri" pitchFamily="34" charset="0"/>
                <a:ea typeface="Calibri" pitchFamily="34" charset="-122"/>
                <a:cs typeface="Calibri" pitchFamily="34" charset="-120"/>
              </a:rPr>
              <a:t>10 messages · 6 people</a:t>
            </a:r>
            <a:endParaRPr lang="en-US" sz="7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② “Summary by Copilot” — with citations</a:t>
            </a:r>
            <a:endParaRPr lang="en-US" sz="85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42032"/>
            <a:ext cx="3337560" cy="256032"/>
          </a:xfrm>
          <a:prstGeom prst="rect">
            <a:avLst/>
          </a:prstGeom>
          <a:noFill/>
          <a:ln/>
        </p:spPr>
        <p:txBody>
          <a:bodyPr wrap="square" lIns="0" tIns="0" rIns="0" bIns="0" rtlCol="0" anchor="ctr"/>
          <a:lstStyle/>
          <a:p>
            <a:pPr indent="0" marL="0">
              <a:buNone/>
            </a:pPr>
            <a:r>
              <a:rPr lang="en-US" sz="7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7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③ The Copilot pane — where you refine</a:t>
            </a:r>
            <a:endParaRPr lang="en-US" sz="85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760" dirty="0">
                <a:solidFill>
                  <a:srgbClr val="0A5B5A"/>
                </a:solidFill>
                <a:latin typeface="Consolas" pitchFamily="34" charset="0"/>
                <a:ea typeface="Consolas" pitchFamily="34" charset="-122"/>
                <a:cs typeface="Consolas" pitchFamily="34" charset="-120"/>
              </a:rPr>
              <a:t>“Who owes the next reply, and by when?”</a:t>
            </a:r>
            <a:endParaRPr lang="en-US" sz="76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720" dirty="0">
                <a:solidFill>
                  <a:srgbClr val="46545F"/>
                </a:solidFill>
                <a:latin typeface="Consolas" pitchFamily="34" charset="0"/>
                <a:ea typeface="Consolas" pitchFamily="34" charset="-122"/>
                <a:cs typeface="Consolas" pitchFamily="34" charset="-120"/>
              </a:rPr>
              <a:t>“List the action items” · “What did you base that on?”</a:t>
            </a:r>
            <a:endParaRPr lang="en-US" sz="720" dirty="0"/>
          </a:p>
        </p:txBody>
      </p:sp>
      <p:sp>
        <p:nvSpPr>
          <p:cNvPr id="36" name="Text 34"/>
          <p:cNvSpPr/>
          <p:nvPr/>
        </p:nvSpPr>
        <p:spPr>
          <a:xfrm>
            <a:off x="8595360" y="2834640"/>
            <a:ext cx="3063240" cy="201168"/>
          </a:xfrm>
          <a:prstGeom prst="rect">
            <a:avLst/>
          </a:prstGeom>
          <a:noFill/>
          <a:ln/>
        </p:spPr>
        <p:txBody>
          <a:bodyPr wrap="square" lIns="0" tIns="0" rIns="0" bIns="0" rtlCol="0" anchor="ctr"/>
          <a:lstStyle/>
          <a:p>
            <a:pPr algn="r" indent="0" marL="0">
              <a:buNone/>
            </a:pPr>
            <a:r>
              <a:rPr lang="en-US" sz="750" i="1" dirty="0">
                <a:solidFill>
                  <a:srgbClr val="7A8790"/>
                </a:solidFill>
                <a:latin typeface="Calibri" pitchFamily="34" charset="0"/>
                <a:ea typeface="Calibri" pitchFamily="34" charset="-122"/>
                <a:cs typeface="Calibri" pitchFamily="34" charset="-120"/>
              </a:rPr>
              <a:t>stylized illustration — not a screenshot</a:t>
            </a:r>
            <a:endParaRPr lang="en-US" sz="75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880" b="1" dirty="0">
                <a:solidFill>
                  <a:srgbClr val="46545F"/>
                </a:solidFill>
                <a:latin typeface="Calibri" pitchFamily="34" charset="0"/>
                <a:ea typeface="Calibri" pitchFamily="34" charset="-122"/>
                <a:cs typeface="Calibri" pitchFamily="34" charset="-120"/>
              </a:rPr>
              <a:t>The summary’s numbered citations jump to the source email — verify names and dates through them.</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Limits: attachments NOT read (use “Summarize a file”) · shared mailboxes &amp; encrypted mail out of scope · very short threads produce nothing.</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88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00" b="1" dirty="0">
                <a:solidFill>
                  <a:srgbClr val="AF3230"/>
                </a:solidFill>
                <a:latin typeface="Calibri" pitchFamily="34" charset="0"/>
                <a:ea typeface="Calibri" pitchFamily="34" charset="-122"/>
                <a:cs typeface="Calibri" pitchFamily="34" charset="-120"/>
              </a:rPr>
              <a:t>Where naive “summarize this” fails: </a:t>
            </a:r>
            <a:endParaRPr lang="en-US" sz="1000" dirty="0"/>
          </a:p>
          <a:p>
            <a:pPr indent="0" marL="0">
              <a:lnSpc>
                <a:spcPct val="106000"/>
              </a:lnSpc>
              <a:buNone/>
            </a:pPr>
            <a:r>
              <a:rPr lang="en-US" sz="94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0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658368"/>
          </a:xfrm>
          <a:prstGeom prst="roundRect">
            <a:avLst>
              <a:gd name="adj" fmla="val 11111"/>
            </a:avLst>
          </a:prstGeom>
          <a:solidFill>
            <a:srgbClr val="FFFFFF"/>
          </a:solidFill>
          <a:ln w="9525">
            <a:solidFill>
              <a:srgbClr val="DCE3E6"/>
            </a:solidFill>
            <a:prstDash val="solid"/>
          </a:ln>
        </p:spPr>
      </p:sp>
      <p:sp>
        <p:nvSpPr>
          <p:cNvPr id="47" name="Text 44"/>
          <p:cNvSpPr/>
          <p:nvPr/>
        </p:nvSpPr>
        <p:spPr>
          <a:xfrm>
            <a:off x="6199632" y="3493008"/>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750" dirty="0"/>
          </a:p>
        </p:txBody>
      </p:sp>
      <p:sp>
        <p:nvSpPr>
          <p:cNvPr id="48" name="Shape 45"/>
          <p:cNvSpPr/>
          <p:nvPr/>
        </p:nvSpPr>
        <p:spPr>
          <a:xfrm>
            <a:off x="6035040" y="4187952"/>
            <a:ext cx="5623560" cy="310896"/>
          </a:xfrm>
          <a:prstGeom prst="roundRect">
            <a:avLst>
              <a:gd name="adj" fmla="val 17647"/>
            </a:avLst>
          </a:prstGeom>
          <a:solidFill>
            <a:srgbClr val="0E7C7B"/>
          </a:solidFill>
          <a:ln/>
        </p:spPr>
      </p:sp>
      <p:sp>
        <p:nvSpPr>
          <p:cNvPr id="49" name="Text 46"/>
          <p:cNvSpPr/>
          <p:nvPr/>
        </p:nvSpPr>
        <p:spPr>
          <a:xfrm>
            <a:off x="6199632" y="4197096"/>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17136"/>
            <a:ext cx="5623560" cy="658368"/>
          </a:xfrm>
          <a:prstGeom prst="roundRect">
            <a:avLst>
              <a:gd name="adj" fmla="val 11111"/>
            </a:avLst>
          </a:prstGeom>
          <a:solidFill>
            <a:srgbClr val="FFFFFF"/>
          </a:solidFill>
          <a:ln w="9525">
            <a:solidFill>
              <a:srgbClr val="DCE3E6"/>
            </a:solidFill>
            <a:prstDash val="solid"/>
          </a:ln>
        </p:spPr>
      </p:sp>
      <p:sp>
        <p:nvSpPr>
          <p:cNvPr id="51" name="Text 48"/>
          <p:cNvSpPr/>
          <p:nvPr/>
        </p:nvSpPr>
        <p:spPr>
          <a:xfrm>
            <a:off x="6199632" y="4553712"/>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750" dirty="0"/>
          </a:p>
        </p:txBody>
      </p:sp>
      <p:sp>
        <p:nvSpPr>
          <p:cNvPr id="52" name="Shape 49"/>
          <p:cNvSpPr/>
          <p:nvPr/>
        </p:nvSpPr>
        <p:spPr>
          <a:xfrm>
            <a:off x="6035040" y="5248656"/>
            <a:ext cx="5623560" cy="310896"/>
          </a:xfrm>
          <a:prstGeom prst="roundRect">
            <a:avLst>
              <a:gd name="adj" fmla="val 17647"/>
            </a:avLst>
          </a:prstGeom>
          <a:solidFill>
            <a:srgbClr val="0E7C7B"/>
          </a:solidFill>
          <a:ln/>
        </p:spPr>
      </p:sp>
      <p:sp>
        <p:nvSpPr>
          <p:cNvPr id="53" name="Text 50"/>
          <p:cNvSpPr/>
          <p:nvPr/>
        </p:nvSpPr>
        <p:spPr>
          <a:xfrm>
            <a:off x="6199632" y="525780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577840"/>
            <a:ext cx="5623560" cy="658368"/>
          </a:xfrm>
          <a:prstGeom prst="roundRect">
            <a:avLst>
              <a:gd name="adj" fmla="val 11111"/>
            </a:avLst>
          </a:prstGeom>
          <a:solidFill>
            <a:srgbClr val="FFFFFF"/>
          </a:solidFill>
          <a:ln w="9525">
            <a:solidFill>
              <a:srgbClr val="DCE3E6"/>
            </a:solidFill>
            <a:prstDash val="solid"/>
          </a:ln>
        </p:spPr>
      </p:sp>
      <p:sp>
        <p:nvSpPr>
          <p:cNvPr id="55" name="Text 52"/>
          <p:cNvSpPr/>
          <p:nvPr/>
        </p:nvSpPr>
        <p:spPr>
          <a:xfrm>
            <a:off x="6199632" y="5614416"/>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750" dirty="0"/>
          </a:p>
        </p:txBody>
      </p:sp>
      <p:sp>
        <p:nvSpPr>
          <p:cNvPr id="56" name="Text 53"/>
          <p:cNvSpPr/>
          <p:nvPr/>
        </p:nvSpPr>
        <p:spPr>
          <a:xfrm>
            <a:off x="6035040" y="6291072"/>
            <a:ext cx="5623560" cy="256032"/>
          </a:xfrm>
          <a:prstGeom prst="rect">
            <a:avLst/>
          </a:prstGeom>
          <a:noFill/>
          <a:ln/>
        </p:spPr>
        <p:txBody>
          <a:bodyPr wrap="square" lIns="0" tIns="0" rIns="0" bIns="0" rtlCol="0" anchor="ctr"/>
          <a:lstStyle/>
          <a:p>
            <a:pPr indent="0" marL="0">
              <a:buNone/>
            </a:pPr>
            <a:r>
              <a:rPr lang="en-US" sz="800" i="1" dirty="0">
                <a:solidFill>
                  <a:srgbClr val="7A8790"/>
                </a:solidFill>
                <a:latin typeface="Calibri" pitchFamily="34" charset="0"/>
                <a:ea typeface="Calibri" pitchFamily="34" charset="-122"/>
                <a:cs typeface="Calibri" pitchFamily="34" charset="-120"/>
              </a:rPr>
              <a:t>Same prompts in any assistant — Copilot adds the citations and the tenant boundary (Part 2: green tier). ✂ Steps 1–3: tab EX-Email of your Course Workbook.</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specificity-with-why · examples · tags · the out · chaining · self-check · metaprompting — and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&lt;role&gt;</a:t>
            </a:r>
            <a:endParaRPr lang="en-US" sz="95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persists across unsupervised decisions → behaviors only</a:t>
            </a:r>
            <a:endParaRPr lang="en-US" sz="95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&lt;mission&gt;</a:t>
            </a:r>
            <a:endParaRPr lang="en-US" sz="95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definition of done — the loop needs an exit condition</a:t>
            </a:r>
            <a:endParaRPr lang="en-US" sz="95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&lt;context&gt; + &lt;inputs&gt;</a:t>
            </a:r>
            <a:endParaRPr lang="en-US" sz="95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per-source register with grain &amp; trust — agents touch every source repeatedly</a:t>
            </a:r>
            <a:endParaRPr lang="en-US" sz="95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&lt;outputs&gt; + &lt;reporting&gt;</a:t>
            </a:r>
            <a:endParaRPr lang="en-US" sz="95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95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the filled brief</a:t>
            </a:r>
            <a:endParaRPr lang="en-US" sz="95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 worked run is the agentic few-shot</a:t>
            </a:r>
            <a:endParaRPr lang="en-US" sz="95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UNKNOWN → open items</a:t>
            </a:r>
            <a:endParaRPr lang="en-US" sz="95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not-knowing becomes a logged, owned item</a:t>
            </a:r>
            <a:endParaRPr lang="en-US" sz="95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gates + autonomy rules</a:t>
            </a:r>
            <a:endParaRPr lang="en-US" sz="95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scope control becomes checkpointed process</a:t>
            </a:r>
            <a:endParaRPr lang="en-US" sz="95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95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95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User story</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“As a [role], I want [goal], so that [benefit]”</a:t>
            </a:r>
            <a:endParaRPr lang="en-US" sz="95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ROLE + TASK — the so-that is the Task’s purpose clause</a:t>
            </a:r>
            <a:endParaRPr lang="en-US" sz="84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Acceptance criteria</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Given [state] · When [action] · Then [result]</a:t>
            </a:r>
            <a:endParaRPr lang="en-US" sz="95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Given = CONTEXT · When = TASK · Then = FORMAT + checks</a:t>
            </a:r>
            <a:endParaRPr lang="en-US" sz="84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ISO 29148 standard</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unambiguous · complete · singular · verifiable</a:t>
            </a:r>
            <a:endParaRPr lang="en-US" sz="95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TASK precision · CONTEXT · THE STOP · FORMAT + self-check</a:t>
            </a:r>
            <a:endParaRPr lang="en-US" sz="84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00" b="1" dirty="0">
                <a:solidFill>
                  <a:srgbClr val="232A31"/>
                </a:solidFill>
                <a:latin typeface="Calibri" pitchFamily="34" charset="0"/>
                <a:ea typeface="Calibri" pitchFamily="34" charset="-122"/>
                <a:cs typeface="Calibri" pitchFamily="34" charset="-120"/>
              </a:rPr>
              <a:t>The software world moved first: </a:t>
            </a:r>
            <a:endParaRPr lang="en-US" sz="1000" dirty="0"/>
          </a:p>
          <a:p>
            <a:pPr indent="0" marL="0">
              <a:lnSpc>
                <a:spcPct val="105000"/>
              </a:lnSpc>
              <a:buNone/>
            </a:pPr>
            <a:r>
              <a:rPr lang="en-US" sz="96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spec-driven development is requirements writing, industrialized.</a:t>
            </a:r>
            <a:endParaRPr lang="en-US" sz="100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85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0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unstated needs get guessed right 41.1% of the time — but when the model asks FIRST, accuracy jumps ~7–14 points (ClarifyGPT, FSE 2024). Answering its questions isn’t politeness; it’s quality control.</a:t>
            </a:r>
            <a:endParaRPr lang="en-US" sz="105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95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95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Ohno, Toyota: “by repeating why five times… the solution becomes clear.” Same factory as our PDCA loop.</a:t>
            </a:r>
            <a:endParaRPr lang="en-US" sz="105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Open questions to explore (“what’s driving this?”), closed to verify (“so the cap is 18k — yes or no?”).</a:t>
            </a:r>
            <a:endParaRPr lang="en-US" sz="105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05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95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0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with a new audience.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nineteen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05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05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element → attribute → option catalog behind the Template Creator — your parts list for prompts</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Identity &amp; role</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Zheng 2024 · Salewski 2023</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Behavioral rules</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hallucination docs</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Stance &amp; blinding</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Cheng, Science 2026 · Sharma 2023</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Task verb &amp; question</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Google guide · OpenAI GPT-5 guide</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Purpose — the why</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best practices</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Context &amp; glossary</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2025, why LMs hallucinate</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Material placement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long-context · Liu 2023</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Format &amp; length</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Sclar, ICLR 2024</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Examples</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model imitates format, tone, AND edge-case behavior; exemplar choice and order alone can swing accuracy from chance to 90%+. Zero-shot first on thinking models.</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Brown 2020 · Lu 2021 · DeepSeek-R1</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The Out &amp; the Stop</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docs · OpenAI 2025</a:t>
            </a:r>
            <a:endParaRPr lang="en-US" sz="82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Posture &amp; standing rules</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Done + verifiable-by</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memory-tool (verbatim)</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Environment boundaries</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Claude Code protected paths</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Least-privilege tools</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practical guide · NCSC</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Input register &amp; trust</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pipeline/register discipline</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Plan steps &amp; methods</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chaining · Faith &amp; Fate 2023</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Checks: anchor · hard · soft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Agent SDK</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Gates &amp; autonomy</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guide · Feng et al. 2025</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Logs &amp; reproducibility</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Report shape &amp; discipline</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SDK status enums · harness docs</a:t>
            </a:r>
            <a:endParaRPr lang="en-US" sz="82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2026-09-10T18:36:57Z</dcterms:created>
  <dcterms:modified xsi:type="dcterms:W3CDTF">2026-09-10T18:36:57Z</dcterms:modified>
</cp:coreProperties>
</file>