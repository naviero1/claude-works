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Have this up as people arrive; don’t read it to them.
2) Open with the name and the one-liner: “This is a course about one skill — prompting — in two modes: generative AI you talk to, and agentic AI you delegate to.”
3) Sweep the three cards left to right as the journey: the primer, the craft, the leap.
4) Point at the footer line: every example is generic — no company data anywhere in the material.
BRIDGE —
“Before the map — why this one skill is worth your time.”
ACRONYMS —
AI = Artificial Intelligence (defined once here; it recurs on nearly every slide).
RAG = Retrieval-Augmented Generation — the model fetches passages from your documents before answering; taught properly in Part 1.
CONTENT —
This training goes deeper than the general AI onboarding: it is specifically about prompting — the skill — across two modes.
Everything is dated September 2026 because this field moves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Say the bold line first: “Prompting is the one AI skill that transfers everywhere.”
2) Walk the three left bullets; land on “two modes” as the backbone.
3) Teal card: read the 10-second version VERBATIM — it is the thesis.
4) Map card: the three block names and six parts, quickly — no clock talk.
5) Amber card: the take-homes; hold up the handout pack and the Course Workbook.
6) Footer aside, one sentence: this is the TEXT wing; image/video/audio could become their own training.
TRY IT — PROMPT 1/7 (opens the course log; copy both steps from tab EX1-TwoModes)
Everyone runs both steps in ONE chat they keep all course — their course log.
Sequence: open your AI → paste STEP 1 → read what it invented → paste STEP 2 → watch it interview you.
Debrief line: step 1 ran on guesses (invented names, blanks); step 2 asked YOU.
Recovery (a model asks questions in step 1 too): “asking is the delegate move — step 2 just makes it happen on purpose.”
Do NOT use agentic vocabulary yet (checks, gates, briefs) — Part 5 owns those words.
ACRONYMS —
LLM = Large Language Model — the text engine behind every assistant in this course.
CONTENT —
v1.6: prompt rebuilt to the R10 template (TYPE THIS/WHY, no untaught concepts).
The multimodal aside is deliberate: the Prompt Report counts 58 text + 40 other-modality techniques — a separate training if votes call for it.
The eight numbered PROMPT exercises run through Parts 1–2 in the trainees’ own AI window; Parts 3–4 carry the hands-on reps and walkthrough exercises. The one course-log thread doubles as their take-home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Dividers are pacing: breathe. Read the two-line title, nothing more.
2) Point at the progress bar: “six parts — this is where we are.”
3) One sentence: “Three history slides — the eras, the decade, the hardware — then six concepts: the vocabulary for everything after.”
4) Under 30 seconds, advance.
ACRONYMS —
RAG = Retrieval-Augmented Generation (own slide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“Seventy years in one slide — as four eras.”
2) Per card LEFT TO RIGHT: name the era → point at the little diagram (a hand-typed rulebook · circles passing signals, tuned from examples · predict-the-next-word · plan-act-check on a loop) → one sentence of story → the italic “gave us” line, which is the era’s legacy in products.
3) Pause once on “AI winters”: over-promising collapsed funding twice — skepticism is historically earned.
4) Close on the amber band: scaling laws.
BRIDGE —
“Zoom into the decade that changed work.”
ACRONYMS —
GPU = Graphics Processing Unit — the graphics chip class perfect for training neural networks (AlexNet, 2012).
LLM = Large Language Model.
CONTENT —
v1.6: “gave us” outcome lines added per era (owner request), verified items only — MYCIN/XCON, spam/search/recommendations/AlexNet, ChatGPT/image generation, coding &amp; office agents (r1, r2).
The eras framing is a teaching synthesis — “a useful way to see 70 years,” not official taxonomy.
Rules era = writing the SOP yourself; learning era = deriving the SOP from a thousand examples. (SOP = Standard Operating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Walk the timeline TOP TO BOTTOM, metronome pace — say the METHOD name in bold each time.
2) Slow down twice: 2022 (RLHF) and 2024 (models that think before answering).
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
4) Right card: ChatGPT reached 100M users in two months; TikTok ~nine; Instagram ~two and a half years.
TRY IT (optional, spoken — not one of the eight numbered exercises) —
TYPE THIS → “Explain the 2017 AI paper ‘Attention Is All You Need’ like I’m new to AI: what is attention, why did the title claim it’s ALL you need, and what did it replace? Under 120 words.”
WHY → the definition lands in their course log, accurately, from their own tool.
ACRONYMS —
GPT = Generative Pre-trained Transformer. RLHF = Reinforcement Learning from Human Feedback.
MoE = Mixture of Experts (defined properly in Part 2). o1 = OpenAI’s first reasoning model. R1 = DeepSeek’s open reasoning model.
CONTENT —
A multi-company user-growth line is NOT buildable honestly (metrics differ: weekly vs monthly actives vs downloads) — the time-to-100M chart is the one honest shape (single source).
Kept for questions: 88% of organizations use AI somewhere (Stanford AI Index 2026), but agent deployment is still single-digit % — everyone chats, almost nobody delegates. That gap is this course.
Vendor adoption numbers are marketing until independently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“software got the headlines — hardware made it possible. Four beats, left to right.”
2) ① Moore’s law in one sentence: chips doubled their transistors every ~2 years for 50 years — 1971: 2,300; 2024: 208 billion, ~90 million times more. Status 2026: slowing to ~3-year doublings, not dead.
3) ② The accident story, told plainly: in 2012 three university researchers couldn’t afford a supercomputer, so they trained their network on TWO consumer gaming cards. Six days later it beat 30 years of hand-built AI. Every AI company today is still scaling up that trick. (CUDA, 2006, is why it was even possible — Nvidia had let anyone program a graphics card, and had a five-year head start when AI came calling.)
4) ③ The chart — the punchline of the slide: if AI compute had grown at Moore’s pace since 2012 it would be ~45× bigger. It is ~45 MILLION times bigger. The gap was bought with chips, clusters, and electricity — that gap IS the data-center boom.
5) ④ Train / serve / power — and the honest caveat aloud: a lot of what you read about is ANNOUNCED, not built.
6) Amber band — the shovel-seller: the most valuable company on Earth makes no chatbot, no phone, no search engine. It sells the shovels. Ten years ago it was “the video-game graphics company.” (This tees up Part 2: when one cheap Chinese model made investors doubt how many shovels are needed, Nvidia lost $589B in a day.)
BRIDGE —
“That’s the machinery. Now — what is the model itself actually doing? Under the hood.”
ACRONYMS —
GPU = Graphics Processing Unit — thousands of simple cores doing the same math at once (a CPU: a few smart cores, one task at a time).
CUDA = Nvidia’s software for running ANY computation on its graphics chips (2006) — the moat is the software, not just the chips.
IEA = International Energy Agency. FLOP = floating-point operation (the compute unit behind the chart).
CONTENT —
v1.7 new slide (owner request: Moore’s law, Nvidia’s role, chips⇄AI, why data centers — intro level). Every fact sourced in notes/research/r22_hardware_story.md: Moore 1965/1975 · Intel-CEO 3-year cadence · Blackwell 208B transistors (Mar 2024) · CUDA 2006 · AlexNet two GTX 580s (NeurIPS 2012 paper) · chart = Epoch AI database (GPT-4 point is an ESTIMATE — labeled) · Llama 3.1 16,000+ H100s (Meta, Jul 2024) · IEA Apr 2025 (415 TWh 2024 → ~945 TWh 2030; 100K-homes comparison) · capex ~$700B+ 2026 (CNBC Feb 2026, analyst tallies vary) · Nvidia milestones $1T–$5T with dates + ~$5.56T and 92% data-center revenue (Q2 FY2027, Aug 2026).
If asked about “Huang’s law” (AI chips beating Moore’s law): Nvidia’s claim for whole SYSTEMS; independent measurement (Epoch) puts GPU price-performance doubling at ~2.5 years — say “the marketing outruns the measurement.”
Stargate, if asked: announced Jan 2025 at “up to $500B”; by mid-2026 ~7 GW PLANNED across 7 US sites, first campus (Abilene, TX) partially live — announced ≠ built.
US–China chip angle, one line if asked: US export restrictions since Oct 2022; an Apr 2025 license rule forced Nvidia to write down $5.5B on its China-market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Title metaphor first: “a prediction engine, sent to finishing school.”
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
3) LEFT callout: the cutoff — AND its two escape hatches: live web search, and RAG for your own documents.
4) RIGHT callout, slowly — the thesis of the course: the prompt is the only steering wheel; a complete prompt DELETES WRONG GUESSES.
TRY IT — PROMPT 2/7 (two sends; copy from tab EX2-Guesses)
Send 1 scatters: budget, staffing, quality. Send 2 orbits May 3 and April 20.
Debrief line: “Grade the directions, not the sentences.”
BRIDGE —
“Six concepts, quick — starting with what the model actually reads.”
ACRONYMS —
RLHF = Reinforcement Learning from Human Feedback — card 3.
RAG = Retrieval-Augmented Generation — concept 3, shortly.
CONTENT —
InstructGPT fact worth telling: raters preferred a well-tuned 1.3B model over raw 175B GPT-3 — tuning beat 100× scale.
v1.6: cutoff callout gains the web-search/RAG escape hatches; RLHF card gains the after-ship story (owner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Title first: “the model reads bricks, not letters.”
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
3) Right card: the brick strip — “this is exactly how your sentence arrives: eight bricks, eight numbers.”
4) THE live demo (safe — it shows the bricks, it can’t “get it right”): open platform.openai.com/tokenizer (PRELOAD it; backup: tiktokenizer.vercel.app) and paste attendees’ NAMES and company jargon — common words stay whole, rare words shatter into colored chunks.
5) Near-safe live model variant if the room wants proof from the AI itself: ask “how many tokens is this paragraph?” then show the real count on the tokenizer page — models cannot count their own tokens, on ANY tier, and the reveal is exactly the lesson.
6) Teal card: the three daily-work consequences.
TRY IT — PROMPT 3/7 (copy from tab EX3-Tokens)
One send; the AI teaches the concept into their log.
Recovery (answers differ across the room): “every vendor has its own brick set — the bricks are always there, the letters never are.”
BRIDGE —
“If text is bricks — how many bricks fit on the desk?”
ACRONYMS —
ID = identifier — to the model each token is just a number. K = thousand.
CONTENT —
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
v1.6: prompt finalized from the explainer research (r17) — LEGO validated as the dominant popular analogy; tokenizer-page demo recommended over any word trick.
Token math preview: tokens also explain context windows (next slide) and the bill (later this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The analogy first: “a desk, not a filing cabinet.”
2) Left bullets; on the bold one, draw the U-shape in the air — attention high at the start, sags in the middle, high at the end.
3) Right card: the four things on the desk right now.
4) Teal card: the four habits — habit ④ is about to be performed.
5) Amber card: one sentence — the filing-cabinet teaser for Part 5. Plant the seed, move on.
TRY IT — PROMPT 4/7 (copy from tab EX4-Handoff)
Step 1 in class; step 2 is homework in the same thread.
Recovery (someone’s fresh chat knows unpasted things): “your tool has a filing cabinet bolted to the desk — hold that thought for Part 5.”
BRIDGE —
“And what if what you need was never on the desk? RAG.”
ACRONYMS —
1M = one million tokens.
CONTENT —
“Lost in the middle” = Liu et al. 2023 (TACL). The up-to-~30% figure is Anthropic’s own long-context guidance.
1M-token flagship standard verified Aug 2026 across Claude, GPT-5.x, Gemini, and the Chinese open-weight flagships.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Expand the acronym ONCE, then the analogy: an open-book exam — a librarian fetches pages from YOUR documents; the student writes from those pages.
2) Four step cards LEFT TO RIGHT.
3) Green card: current, checkable, private, access-aware.
4) Red card, slowly: wrong page → fluent, confident, CITED, wrong. “Check the citation, not the prose.”
5) Teal band: “you’ve been running this loop all along” — keep it generic, no product names.
BRIDGE —
“When do you prompt, when do you retrieve, when do you fine-tune? The escalation ladder.”
ACRONYMS —
RAG = Retrieval-Augmented Generation.
CONTENT —
Retrieval ≠ training is the privacy point to repeat.
This is the engine behind internal document assistants and Copilot-over-SharePoint.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The three big cards LEFT TO RIGHT — say the verbs: prompt it, feed it documents, retrain it. The temp analogies carry it: instructions → binder → back to school.
2) Then the worked topic, ① → ② → ③, warranty questions: prompting fixes the HOW, documents fix the WHAT, and step ② is where almost every real workplace case ends. Step ③ exists so the room knows what it is — and that it isn’t their job.
3) Amber band — the takeaway question, verbatim: missing knowledge → documents; misbehaving → prompt.
BRIDGE —
“Two concepts left — the next one is all about the bill.”
ACRONYMS —
RAG = Retrieval-Augmented Generation (rung 2 — the open-book exam from the previous slide).
CONTENT —
v1.7: rebuilt as three big sequential steps + one worked topic (owner request); the guided-prompt chip and on-slide drill were cut — the six-problem triage drill survives in workbook tab BONUS-Ladder for self-study (answers: 1 P · 2 R · 3 P · 4 R · 5 F · 6 defensible either way).
“Let’s fine-tune on our procedures” → first ask: knowledge problem (→documents) or behavior problem (→prompt)? Most enterprise cases are knowledge problems.
Frontier flagships mostly aren’t fine-tunable (2026); open-weight models are.
NOTE: this is the ESCALATION ladder (capability). Part 6’s PROMOTION ladder (where prompts live) is a different ladder — name them 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“every AI app sells you two speeds — when is the slow one worth its bill?” Name the book once: Kahneman’s Thinking, Fast and Slow — the owner-favorite narrative of this slide.
2) The BILL bullet is the slow-down: thinking is billed like output — 5–20× a simple ask.
3) Green/amber cards: on for, off for. Escalate on failure, not by default.
TRY IT — PROMPT 5/7 (copy from tab EX5-TwoSpeeds)
One send, informative. The extended puzzle version lives in the same tab for stretch time or homework.
Recovery (a model claims one mode): “ask it what the thinking toggle in its own interface does, then — that’s tomorrow’s exercise anyway.”
BRIDGE —
“That’s the two speeds. Now the whole menu — where your tokens actually go.”
ACRONYMS —
MoE = Mixture of Experts — defined properly in Part 2.
System 1 / System 2 = Kahneman’s fast-intuition vs slow-deliberation framing.
CONTENT —
v1.7: the on-slide extended-puzzle card was cut (owner: too much); the puzzle survives in the workbook tab’s EXTENDED rows for self-study (answer key: Ben Mon · Chloe Tue · Ema Wed · Ana Thu · Dev Fri).
Thinking tokens billed as output even when you only see a summary; output ≈ 5× input across vendors; effort adaptive/dial-able by 2026 (t4 §5, primary-sourced).
Honest caveat: the model isn’t literally “thinking” — it generates intermediate tokens that improve the final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Left card: climb the staircase — 1× quick answer up to agent modes. The discipline: pick the SMALLEST mode that can succeed; escalate deliberately.
2) Right card: the same ladder under six brand logos — read one row, gesture the rest. Copilot users: your everyday menu is the fourth row. (“Smart (GPT-5)” is the CONSUMER Copilot label; M365 Copilot separately prefers GPT-5.6 — different surfaces, both true.)
3) Italic line: deep research demystified.
TRY IT — PROMPT 6/7 (copy from tab EX6-FeatureMenu)
Self-updating — the answer regenerates the day any vendor renames a button. The extended 6-column table version lives in the tab.
Recovery (model misstates its own toggles): “it knows what its modes DO better than where the buttons live — keep the ladder, verify toggles with your eyes.”
BRIDGE —
“Last concept — the one everyone asks about first.”
ACRONYMS —
MoE = Mixture of Experts (Part 2).
CONTENT —
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
The 5–20× multiplier is sourced (r2); the 100×+ deep-research figure is an order-of-magnitude illustration, not a billed rate.
Scaling anecdote for questions: one fast prompt vs an orchestrated multi-agent research run = hundreds of quick answers’ worth of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Open with the improv actor, spoken: “an improv actor never breaks character — the show must go on, so gaps get filled with the most plausible line. That is your AI on a thin-data day.”
2) Left bullets: the mechanism; the bold OpenAI 2025 finding — the vendor itself says benchmarks reward guessing; the vocabulary upgrade — CONFABULATION.
3) Right: meet the four CHARACTERS — say the nicknames with theater: the confident guess · the fake receipt · the joke taken seriously · garbage in, gospel out. One line each; each returns as a real incident on the next slide.
4) The chart, bottom-left — read it in one breath: “same questions, two models, nearly the same amount RIGHT — but the older one GUESSED whenever it didn’t know (75% wrong), and the newer one was allowed to say I-don’t-know (wrong drops to 26%).” That is the confident guess, measured — and it is why Part 3 teaches you to give the model an out.
5) Presenter story for character 1 if you want one: Google Bard’s launch demo flubbed a telescope fact — details on the next slide’s notes.
BRIDGE —
“What do these characters look like in public? The hall of shame.”
ACRONYMS —
none new on this slide.
CONTENT —
v1.7: abstain-vs-guess chart added (r23: SimpleQA numbers from arXiv:2509.04664 + the GPT-5 system card — o4-mini 24/75/1 vs gpt-5-thinking-mini 22/26/52; the on-slide caveat is mandatory). Character-card ART slots reserved: when the owner’s four generated images land in notes/intake/, they replace the icon circles (R16 workflow).
v1.6: the four kinds became named characters (owner: more engaging). Teaching frame grounded in r10/r2/r14 — not claimed as academic taxonomy.
OpenAI 2025 = “Why language models hallucinate” (arXiv:2509.04664).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Walk the four cards — laugh at glue-on-pizza, then take the temperature down.
2) Glue on pizza, plainly: someone posted a JOKE; the AI served it as advice — “the joke taken seriously.”
3) The lawyer: he checked the fabrication WITH the fabricator. Verification lives OUTSIDE the tool.
4) Air Canada: small money (~CA$800), giant precedent.
5) The Big Four arc: three global consultancies, three fabricated-source scandals in nine months — the last one a report ABOUT doing AI well.
6) Amber → teal → red bands, in order; the house rule VERBATIM — policy, not advice.
BRIDGE —
“That closes the concepts — now, the tool landscape.”
ACRONYMS —
none new on this slide.
CONTENT —
All incidents verified with sources, dates and MANDATORY phrasing caveats in notes/research/r14_hallucination_incidents.md.
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
None of the cures eliminates hallucination — they convert unverifiable claims into verifiable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Progress bar: part 2 of 6.
2) One framing sentence: “Names, fortes and trust, all dated September 2026 — the names churn monthly; the habits you leave with don’t.”
3) Under 30 seconds, advance.
ACRONYMS —
none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QUARTERLY — owner: Oscar]
HOW TO PRESENT —
1) Frame: “six trading cards — the big bold line on each is what that assistant is genuinely KNOWN FOR. Pick by task, not habit.”
2) Walk the Z: ChatGPT → Gemini → Copilot (the three everyone already has), then Claude → Perplexity → Grok. Say the bold line, one evidence beat, move on; let the amber caveats be read, not spoken.
3) On Grok, the plain version: “Unhinged” is not a nickname — it is an actual personality setting in its voice app, by that name; and in July 2025 a bad update had it praising Hitler for sixteen hours before an apology. That is the trade-off of a deliberately less-filtered assistant.
4) On Copilot, land the licensing fact: Microsoft’s Cowork agent runs on Claude technology — tiers matter more than brand wars.
5) Footer: the trust question is TWO SLIDES AHEAD; fortes verified Sep 9, 2026 and they WILL move.
BRIDGE —
“One force reshaped this list — the Chinese open-weight wave.”
ACRONYMS —
SWE-bench = Software Engineering benchmark — the standard test of coding-agent ability.
GDPval = OpenAI’s benchmark of 220 real knowledge-work tasks across 44 occupations.
CJR = Columbia Journalism Review (its Tow Center tested AI search citation accuracy).
X = the social platform (Grok’s data source).
CONTENT —
v1.6: rebuilt as identity trading cards (assertion-evidence layout, r19) with real product logos; Perplexity’s known-for now leads with the CJR error-rate comparison (the ~94%-with-citations figure was less meaningful — audit H3).
Every claim evidence-backed in notes/research/r13_reputations_r1.md:
Writing: owner’s hunch was “ChatGPT writes better” — 2026 evals say otherwise (LMArena creative-writing June 2026: Anthropic six of top ten, #1; EQ-Bench Aug 2026 agrees). ChatGPT’s honest forte is speed, options, marketing copy.
Claude: SWE-bench ~96% (Sept 2026); GDPval winner (OpenAI’s own eval, Sept 2025); GDPval-AA v2 leader Sept 2026.
Copilot: 30M+ paid seats (Microsoft FY26 Q4, Jul 2026); Copilot Cowork licenses Claude Cowork technology (Mar 2026).
Vendor benchmark numbers are marketing until independently reproduced — read them as claims.
Grok note: xAI was acquired by SpaceX (Feb 2026).
Logos: official site favicons (assets/logos/) — referential brand use inside an internal training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Anchor the moment, LEFT top card: January 2025 — an open model rivals o1; Nvidia’s $589B day; and keep the cost claim honest — the famous $5.6M is the fuel bill for the final winning race, not the cost of the racing team (total hardware spend was estimated well over $500M).
2) LEFT teal card — POINT AT THE DRAWING: the whole hospital is 671 billion parameters; the three lit windows are the ~37 billion that wake up for your question. You pay for the specialists consulted, not the whole building. Distillation = big models teaching small ones.
3) RIGHT top — the star of the slide: $60 against $2.19, and the bars are TRUE proportion (the R1 bar really is 27× shorter). A $100 o1 workload for $3.60.
4) RIGHT bottom: three benchmark pairs — matched on math and coding, behind on PhD science (be honest: not a clean sweep).
5) Close the loop to Part 1: THIS is why thinking modes and deep research became affordable for everyone.
TRY IT — PROMPT 7/7 (copy from tab EX7-MoE)
Optional if time is tight; the answer doubles as their MoE cheat-note in the log.
BRIDGE —
“So whose servers is your data on? The trust map.”
ACRONYMS —
MoE = Mixture of Experts — only a fraction of the model computes per token (671B built, ~37B working).
MIT license = a permissive open-source license. R1 = DeepSeek’s open reasoning model; o1 = OpenAI’s.
AIME / GPQA / SWE-bench = math-olympiad, PhD-science and coding-agent benchmarks.
CONTENT —
v1.6: bill promoted to hero position with true-proportion bars + 27× badge; MoE hospital drawn (owner request); benchmark chart compressed to three rows — MATH-500 (97.3 vs 96.4) and Codeforces (96.3 vs 96.6 percentile) cut for space, quote if asked.
Chart data verified against the R1 paper (arXiv:2501.12948) — see notes/research/r13_reputations_r1.md.
Pricing: R1 $0.55/$2.19 vs o1 $15/$60 per M tokens (Jan 2025) = 27.3–27.4×.
Since then (if asked): DeepSeek stayed the open-weight value leader but slipped off the leading edge — NIST’s CAISI evaluation (May 2026) put it ~8 months behind the frontier.
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
US–China top-model gap: ~3% (Stanford AI Index 2026), down from 18–32 points in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QUARTERLY — owner: Oscar]
HOW TO PRESENT —
1) Frame: “one geography question — whose servers, in which country — and one account question. That’s the whole trust topic at our level.”
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
3) The italic map line: SAME LOGO, DIFFERENT HOMES — the account tier decides which one yours is. That is the entire lesson.
4) Teal card: residency, defined once.
5) Amber card: the handoff — which region and tier YOUR account runs on is an IT question; the org’s AI policy answers everything else. (Deliberately NOT on this slide: any what-data-goes-where guidance — that is company policy’s territory, not this training’s.)
6) The restaurant-vs-cookbook aside if China comes up: using the app is eating at their restaurant (they see your order); downloaded open-weight MODELS are a cookbook IT can cook from at home — the app, not the model, is the risk.
BRIDGE —
“From models to the tools that DO things — the gallery.”
ACRONYMS —
PRC = People’s Republic of China. EU Data Boundary = Microsoft’s commitment to process EU data inside the EU.
AWS = Amazon Web Services. Entity List = the US federal trade-restriction list — a procurement red flag.
CONTENT —
v1.7: rebuilt as the server-geography map (owner: focus on where servers are; no data-type guidance — that belongs to company policy). Swap the schematic band for the owner’s generated world-map backdrop when it lands in notes/intake/ (R16).
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
Defaults drift (Anthropic flipped consumer training Aug 2025; Microsoft Oct 2024) — re-verify quarterly.
Standing rule, always said aloud: your organization’s AI policy and approved-tool list outrank everything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QUARTERLY — owner: Oscar]
HOW TO PRESENT —
1) Frame: “eight doers — agents that run jobs. One line each; two get a story.”
2) Story 1 — Claude Code: “this very training’s materials were built with it.”
3) Story 2 — Manus, plainly: an agent so famous Meta bought it for two billion dollars — and the Chinese government forced the deal to be unwound; it now runs independently from Singapore. That whole saga is a one-line governance lesson: know who owns your tools.
4) End on the amber OpenClaw card: 2026’s security cautionary tale — don’t tell the whole story now; its lessons return in Part 5’s guardrails.
5) Footer: IDEs and browser agents exist — engineering/power-user territory, and browser agents are injection-prone (treat every page as untrusted input).
BRIDGE —
“Agents that DO. Now the specialists that MAKE — next slide.”
ACRONYMS —
IDE = Integrated Development Environment — a programmer’s editor.
DIY = do-it-yourself. n8n / Zapier = product names (not acronyms).
CONTENT —
v1.6: brand logos on cards (assets/logos/); Manus saga dates now on the card (audit L13).
Evidence per tool: notes/research/r12_tool_landscape.md.
Manus: Meta acquisition ~$2B Dec 2025; Beijing (NDRC) ordered unwind Apr 2026; independent Singapore company Aug 2026; desktop “My Computer” mode Mar 2026.
Notion: Custom Agents (Feb 2026) run on triggers with scoped permissions; Business/Enterprise plans; usage billed in credits.
OpenClaw: maintainer’s own warning, verbatim — “if you can’t run a command line, this is far too dangerous to use safely”; CVE-2026-25253 (1-click RCE); a malicious #1-ranked community skill (Cisco).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QUARTERLY — owner: Oscar]
HOW TO PRESENT —
1) Frame: “not the hype list — the USAGE list. Three tiers, and the tier names are the insight.”
2) Tier 1 — the defaults: ChatGPT is the one people CHOSE (900M weekly users, ~54% of all chatbot visits); Gemini, Copilot and Meta AI are enormous partly because they are already INSIDE Gmail, Office, and WhatsApp. Usage ≠ preference — Copilot is #3 with US adults yet a rounding error in destination-site traffic: people use what IT already approved.
3) Tier 2 — chosen for the job (the teal row): Claude for writing and coding (fastest growth of the majors — visits up ~9× in a year); Perplexity for answers with receipts; Gemini Notebook when the answers must come from YOUR documents; DeepSeek free/open with a heavy Asia skew.
4) Tier 3 — the sleeper tier: Canva, CapCut, Notion, Grammarly — a chunk of “AI adoption” is tools people already had growing AI features. Some of this room are AI users who never called it that.
5) Stats band: a majority of US employees now use AI at work; the jobs are writing and research; and 86% treat the output as a FIRST DRAFT — the healthiest one-line usage policy ever measured.
6) The Reddit wisdom, clearly labeled as anecdotal: heavy users don’t pick ONE tool — they run a small STACK (daily driver + a writer + a searcher). Direction, not data.
TRY IT (spoken, not numbered) —
The find-more move never goes stale: “Search the web: what are the best current tools for [my task], and which are enterprise-safe?”
BRIDGE —
“That’s the landscape. Part 3 — the craft itself.”
ACRONYMS —
MAU/WAU = monthly/weekly active users. Gemini Notebook = the renamed NotebookLM (Jul 2026).
CONTENT —
v1.7: replaces the specialist shelf (owner request: most-used tools + why, researched via Reddit signals AND measured sources). All numbers sourced in notes/research/r24_most_used_tools.md (researched Sep 10, 2026): a16z Top-100 6th ed. (Mar 2026, Jan-2026 data) · Similarweb shares May 2026 (ChatGPT 53.9%, Gemini 27.9%, Claude 9.2% +855% YoY, DeepSeek 4.1%, Copilot/Perplexity 1.3%) · Sensor Tower Jun 2026 · Pew Feb 2026 (ChatGPT 44% of US adults, Gemini 24%, Copilot 17%) · Gallup May 2026 (52% work use, 15% daily; writing 51%, research 49%) · Microsoft Work Trend Index 2026 (86% first-draft) · Edison/SSRS May 2026 (65% of Americans weekly).
Hype-vs-usage gaps for questions: Perplexity = famous but 1.3% of visits · Midjourney fell to #46 mobile · companion apps are quietly huge (Character.AI #7 web, 15+ minute sessions) · China’s Doubao/Quark/Kimi are enormous and invisible to US offices.
Meta AI: ~1B monthly (Meta, May 2025 — its last hard number); lives inside WhatsApp/Instagram rather than as an app people choose.
Displaced specialist-shelf answers (kept for questions, evidence in r12): images-for-work safe lane = Adobe Firefly (licensed training; paid plans include indemnification) · meetings = native Teams/Zoom first, Granola best-in-class (consent policy applies) · decks = Gamma · apps-without-code = Lovable · voice/translation = ElevenLabs · DeepL · video = Veo 3.1 (Sora app shut down Apr 2026 — never build a process on a consumer app).
Reddit signal is SECONDARY-SOURCED (Reddit blocks crawlers; roundups of subreddit consensus, Aug–Sep 2026) — always label it anecdotal.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Progress bar: part 3 — the core craft part; if the room remembers one part, make it this one.
2) Optional cold open (spoken, no slide): read aloud, deadpan — “Analyze the returns data and make it look good for leadership.” Then: “hold that thought — every gap you can feel in that sentence has a name on the next slides.”
3) One framing sentence: “Every vendor’s prompting guidance converges on the same recipe — we teach the convergence, with what each part BUYS you.”
4) Under 30 seconds, advance.
ACRONYMS —
none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“one prompt, seven parts — and the parts make a BODY. Everything in Part 3 is refinements of this picture.”
2) Walk the FIGURE first,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later this part.
3) RIGHT card: the same body written out — read it top to bottom as ONE continuous prompt (~85 words, under two minutes to write).
4) The amber line — owner-requested and worth saying twice: YOUR INDUSTRY IS CONTEXT. “We’re a mid-size electronics manufacturer” changes every answer downstream; people constantly assume the AI knows their world. It doesn’t until you say so.
5) Teal band: ~21 words vs the nine people type.
BRIDGE —
“Now each element properly — and what each one BUYS you.”
ACRONYMS —
Q2 = second quarter. XML-style tags = the angle-bracket fences around examples.
CONTENT —
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
The 21-words stat: Google’s Oct 2024 Workspace guide (directional, not gospel).
Anthropic’s golden rule belongs in the room: show the prompt to a colleague with minimal context — if they’d be confused, the model will be too.
If the cold open was used: this slide is its debrief — the vague line is the returns-data prompt with every element filled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“each element now gets the full treatment: its job, what it BUYS you, why that works, and TWO weak-vs-strong pairs.”
2) One card at a time, same rhythm: read BOTH weak fills aloud, flat → both strong fills → let the contrasts land → then “what you get” and the why.
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
4) Task — two beats: leave a requirement unsaid and the model guesses right only ~4 times in 10; and SEQUENCE is part of the task — pair 2 shows “first list, then WAIT, then rewrite one” — order stated is order followed.
BRIDGE —
“The next pair is where most disappointment actually comes from.”
ACRONYMS —
n = sample size (“you state n”). Q2 = second quarter.
CONTENT —
v1.5 rebuild (owner: the old definition slides “didn’t tell much” — every card now answers what-you-get / why / with evidence).
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arXiv 2505.13360.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Same rhythm: weak aloud → strong aloud → what you get → why.
2) Context — the numbers to say: grounding instructions cut “the model ignored what I gave it and answered from memory” errors from 35% to 3%. Then the warning: it will trust your context when it’s WRONG, too — planted errors get repeated in up to 83% of cases. Context quality is on you.
3) Format — land “a numeric cap is enforceable; an adjective is a mood.” The myth to kill: “JSON makes models dumber” — the follow-up studies showed well-built format constraints cost nothing and often help.
4) Footer line: Context fights hallucination; Format fights rework.
BRIDGE —
“One element left — plus the two safety valves.”
ACRONYMS —
JSON = a structured data format (the strictest output contract).
CONTENT —
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
Teaching nuance kept honest: “reason first, format second” is still a fine manual habit — but do NOT teach “format restrictions hurt reasoning” as settled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Examples: land “the model imitates what it sees — including exactly how your examples handle the hard cases; so include one hard case.”
2) The Out — the number to say slowly: one sentence of permission (“if it doesn’t say, say so”) cut invented answers by more than half in a clinical stress test, and to under 8% on the newest model tested. Cheapest safety feature in AI.
3) The Stop: one sentence converts open-ended capability into a bounded job; file it away — it becomes agent gates in Part 5.
4) Footer, verbatim — it is the unifying idea: every element moves something out of your head onto the page.
BRIDGE —
“All seven have a full catalog behind them — your field map.”
ACRONYMS —
none new on this slide.
CONTENT —
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
The old diagnosis grid lives on the iteration slide later this part — Inspect is where it belongs.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Hold up the physical handout (or show the PDF) and name it: “the Prompt Element Taxonomy — your field map; everyone gets one.”
2) Connect it BACKWARD, explicitly: “the last three slides walked the seven elements and what each buys you — this catalog is that, industrialized: every element, every slot, every vetted fill, with its why.”
3) LEFT bullets top to bottom; land on the last: you don’t study it — you look things up in it, like a catalog.
4) RIGHT card: walk the tree ONCE — element Role → attribute identity → options “Careful analyst” / “Precise editor.”
5) Bottom band: sweep the four numbers (19 · 78 · ~290 · 18), then the pack.
BRIDGE —
“With the map in hand — the toolkit: one loop, four phases.”
ACRONYMS —
HTML = HyperText Markup Language (the Template Creator runs offline as one file). XLSX = Excel format (the Configurator). PDF = the printed reference.
CONTENT —
v1.5: bullets rewritten to pull forward from the new element slides (owner request: “pulling from the concepts and expanding them, from the previous slides”).
v1.7 queue (owner): the Template Creator + handouts get updated to mirror the reworked toolkit/PDCA framing BEFORE this slide is next taught in anger — then the slide demo becomes “we’ll use the tool” live. Pending the owner’s toolkit answers.
Source of truth is prompt-library/taxonomy/*.json — 19 elements, 78 attributes, 286 options, 18 presets; regenerate, never hand-edit.
If an engineer asks about the structure: element = class, attribute = property, option = allowed value, template = saved instance (keep this in reserve — jargon off-slide).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The frame is the owner’s design — say it plainly: “there is no separate list of techniques. The toolkit IS the improvement loop you already know from the factory floor: Plan, Do, Check, Act — with the right prompting method for each phase.”
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
3) CHECK is the quadrant to slow on — four different verification methods, one per failure type: wrong element → the grid; quality → named criteria; bias → blind review; numbers → reconcile to an anchor. “Are you sure?” appears in none of them, on purpose (the mirror, two slides ahead).
4) Teal band: every phase delegable; the methods are how you stay in charge.
BRIDGE —
“Which of these methods survive scientific scrutiny — and which famous tricks don’t? The evidence corner.”
ACRONYMS —
PDCA = Plan-Do-Check-Act — the Deming/Toyota improvement cycle (its full story comes later this part).
CONTENT —
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
Every method keeps its evidence (r15/r20/r25): specificity+why (Yang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
The Template Creator, taxonomy reference AND cheat sheet are queued to mirror this framing (owner: all three matter) — next session, not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“everything on this slide survived replication — and everything on the right failed it. Twelve lines, plain terms.”
2) GREEN column top to bottom, one beat each; slow on 6 — the newest habit: every vendor now ships an official prompt improver; describing what you want and letting the AI draft the prompt is a PROVEN move, not cheating.
3) RED column; land the symmetry joke: myth 6 and proven 1 are the same number (~41%) — “the AI knows what I mean” is the myth; “say what you mean” is the cure.
4) On myth 5, tease: “that one is so important it gets the next slide to itself.”
BRIDGE —
“The bias behind myth 5 — the mirror.”
ACRONYMS —
none new on this slide.
CONTENT —
v1.7: expanded to a full 6+6 slide (owner request); evidence per line in notes/research/r25_proven_myth_mirror.md + r20/r15: specificity = Yang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
“Say the WHY behind a rule” is VENDOR GUIDANCE (Anthropic docs), not independently measured — keep it folded into specificity, never as its own proven line (r25 downgrade).
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
The 2025 Wharton replication wave (25–100 runs per question) independently confirms both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Say it as one sentence first: “the AI is a mirror — it agrees with you about half again as often as a person would.” Then the +49%.
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
3) Countermeasures — read all four; the first changes behavior TODAY.
4) The see-it-yourself box: genuinely encourage them to run it tonight on a real paragraph — the two-chat contrast is self-demonstrating. The read-more prompt has the out built in (“say not verified”) — that’s Proven #4, practiced.
BRIDGE —
“So what’s current best practice, all in one place? The playbook.”
ACRONYMS —
CMU = Carnegie Mellon University (co-authors of the Science study).
CONTENT —
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
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
Reading list for the curious (give on request): OpenAI’s own Apr 2025 post · NYT Jun 13 2025 · Nature news feature Oct 2025 (“AI chatbots are sycophants”) · Stanford Report Mar 2026. Litigation (Raine v. OpenAI): active case, OpenAI denies — phrase as “a lawsuit alleges” or leave it out.
Handled with care: no medical claims from the “AI psychosis” coverage; countermeasures are the deck’s standing blind-review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Why this slide exists, in one line: “half the prompting advice on the internet is from 2023 — here is the 2026 state of play, in three columns: keep, avoid, unlearn.”
2) GREEN column, fast — these five are Part 3 itself, condensed; nothing new, that’s the point.
3) RED column — slow on 3 and 4: bare “do not hallucinate” backfires (models start refusing facts that ARE in the context — researchers call it a Safety Tax; the positive out-and-cite pattern is the fix), and “are you sure?” is not verification (last slide’s mirror).
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
5) Teal band: the full 8+8+8 with sources lives in the PLAYBOOK tab + the one-pager. And the coherence beat: give-an-out is “don’t hallucinate” said positively — a live demo of “say what TO do.”
COHERENCE SEAMS (if someone spots a “contradiction”) —
Numeric caps vs no-absolutes: caps constrain QUANTITY; ALWAYS/NEVER locks JUDGMENT — reserve absolutes for true invariants.
Bookending vs no-repetition: repeat verbatim at both ends of LONG context, or not at all — paraphrased blanket repetition is the anti-pattern.
Task detail vs rule-piling: detail = information density (helps); piling = rule COUNT (past ~150, quality sags, early rules win).
CoT expired only on frontier reasoning models — still legitimate on small/local/non-thinking models.
BRIDGE —
“The craft is stable — here’s the habit that compounds it.”
ACRONYMS —
CoT = Chain-of-Thought — the old “think step by step” style, now built into thinking models.
CONTENT —
v1.6: rebuilt as the three-column playbook (owner request); full lists + anchors in notes/research/r20_do_dont_expired.md. Key anchors: Yang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
What did NOT change (say if the room looks nervous): clarity, context, format, the out, grounding, iteration — the anatomy applies to every model they will ever use; scaffolding tricks retire, briefing skills compound.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Callback first: “this is the toolkit loop from earlier this part, IN PRACTICE — draft, inspect, refine, standardize on a real prompt.” Each card names which loop methods it runs on; the grid on the right is CHECK’s first method, in full.
2) At INSPECT, gesture right: the diagnosis grid is the Check step — name the failed element, fix that one; iteration stops being random retyping.
3) At STANDARDIZE, say the Toyota phrase: standardized work — lock in the better way, then improve the standard. That is Part 6’s whole story.
4) Amber band — point at the WHEEL (P→D→C→A, forever), the Toyota mark, and the Deming card: Deming is the American quality pioneer whose cycle Toyota built its production system around — this room already runs PDCA on processes; now run it on prompts. The credential: the Lean Enterprise Institute (the Deming/Toyota home turf) published “Prompt, Do, Check, Act: the new PDCA” in May 2026. Their line: the people who get the most from these tools are the ones willing to run the loop a few more times.
5) Anthropic’s golden rule, spoken: show your prompt to a colleague with minimal context — if they’d be confused, the model will be too.
BRIDGE —
“One rep to cement it — then the playbook.”
ACRONYMS —
PDCA = Plan-Do-Check-Act — the Deming cycle, core of Toyota-style continuous improvement (kaizen).
gauge R&amp;R = Gauge Repeatability &amp; Reproducibility — a tested template kills prompt-to-prompt variation the way a calibrated gauge kills measurement variation.
CONTENT —
v1.6: PDCA wheel drawn + Toyota mark + Deming named card added (owner request; a public-domain-clear Deming photo wasn’t confirmed, so the named card stands in — swap in a photo only with a verified license).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3:00 badge. The slide is INSTRUCTIONS ONLY (owner request) — the 60-word practice report lives in tab EX-Rebuild with both prompts; everyone works the same material from the workbook.
2) Run STEP 1 first, everyone: the naive ask on the excerpt. Let a couple of results be read out — fluent, unfocused.
3) STEP 2: three minutes to upgrade — a Role, a named reader, a ≤80-word cap, an Out. Same excerpt, second send.
4) Neighbor compare — the learning moment: whose version wins and WHICH ELEMENT made the difference.
5) Only then reveal the amber presenter answer.
6) Skip freely if behind — the playbook walkthroughs also exercise the elements.
ACRONYMS —
Q2 = second quarter.
CONTENT —
v1.7: the on-slide report box removed (owner: concentrate on the instructions); the report + both prompts live in tab EX-Rebuild, and the steps point there. The rep still runs as two R10 steps, baseline → upgrade, so the contrast is felt, not described.
The excerpt is fictional and consistent with the practice dataset’s world (sites, suppliers,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Progress bar: part 4. One frame: “thirteen templates ship with this training — we walk two worked examples end to end and run one live demo; the rest is your handout.”
2) Point at the list: G = generative, runs in any chat tool; A (in teal) = agentic, for Claude Code / Cowork-class tools — Part 5’s world.
3) Emphasize once: starting points to adapt, not scripts.
4) Advance within 30 seconds.
ACRONYMS —
ETL = Extract, Transform, Load — A2’s data-pipeline shape. CLAUDE.md = the standing-instructions file agents read at session start (A4). HTML = the single-file web-page format (G6).
CONTENT —
These are starting points to adapt, not scripts. Generative templates (G) run in any chat assistant; agentic templates (A, in teal) are for Claude Code / Cowork-class tools — Part 5 explains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with the visual: “THIS is what a serious prompt looks like — a one-page DOCUMENT with labeled blocks, not a sentence. The other twelve templates share this shape.”
2) Walk the page TOP TO BOTTOM; per block: name it, one line on what goes in, then read the matching right-hand WHY aloud — the why is the teaching.
3) Slow on &lt;method&gt;: “reconcile to a known total — one anchor beats ten checks.”
4) Teal band — the workbook system, said once for the whole course: every prompt they will ever need today is copy-paste ready in a NAMED TAB of the Course Workbook. Nobody retypes anything.
BRIDGE —
“Enough anatomy — let’s RUN it, on a real file, step by step.”
ACRONYMS —
LLM = Large Language Model. n = sample size (flag n &lt; 20). G2 = this template’s library code.
CONTENT —
v1.6: rebuilt as a document mock with side-car whys (owner: more visual); workbook-tab pointer added (owner: all prompts copyable from Excel).
Evidence for code-not-vibes: GPT-4 scored ~59% on 3-digit × 3-digit multiplication, falling toward zero as digits grow (Faith and Fate, NeurIPS 2023) — code execution hands the model a calculator. All four major tools now run code for analysis.
For recurring or multi-file pipelines, the agentic sibling is A2 (Part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“we picked data analysis as walkthrough #1 because it is the single most-used office AI case — and the easiest to get quietly wrong.”
2) LEFT top: the practice data lives in the Course Workbook everyone already has — Data tab is the dataset, README tab is the &lt;data&gt; block from G2, ready-made.
3) Teal card — the rule, verbatim: never start with a question; profile first, analyze second.
4) RIGHT: the numbered sequence ① upload ② type-and-wait ③ check — run it live (Copilot in Excel, a chat upload, or the company assistant — same prompt works in all three).
5) The ③ reveal: the file has two planted traps; a good profile catches both. If the room’s AI missed one, that IS the lesson.
BRIDGE —
“Data profiled and trusted — now the questions.”
ACRONYMS —
RAG = Retrieval-Augmented Generation (Part 1) — “your company RAG assistant” = the internal upload-and-ask tool.
CONTENT —
v1.6: sequence rebuilt as the vertical ①②③ flow (owner: order was confusing); dataset folded into Course_Workbook.xlsx (Data + README tabs) so trainees carry ONE file.
The workbook lives in deliverables/exercise-data/ and regenerates from src/build_exercise_pack.py (seeded — the numbers quoted on these slides stay true after a rebuild).
Planted quirks: TOTAL row at the bottom; “n/a” text in Inspection_Hours around row 38. Both documented in the README tab.
All data fictional and generated — safe to upload anywhere policy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Read STEP 1 aloud and point at its G2 DNA: numbered questions in priority order · the quirks handled explicitly · compute by running code · “associated with, not caused by” · then STOP.
2) Expected findings (your answer key): Bravo Plastics is the defect leader and trending worse; Inspection_Hours vs Units_Returned comes out NEGATIVE (more inspection, fewer escapes — planted); Osaka leads on-time, Monterrey trails.
3) STEP 2: the scorecard tension — Bravo is cheapest AND most defective. The paragraph question teaches the habit of asking what the data does NOT say (volumes, switching costs, quality trend causes).
4) STEP 3 is the G2 reconciliation anchor performed: the sums should match the TOTAL row. One anchor beats ten checks.
5) Timing: run steps live if the room is hands-on (10 min), or narrate from prepared outputs.
BRIDGE —
“Same discipline, different input — three PDFs nobody wants to read.”
ACRONYMS —
none new on this slide.
CONTENT —
v1.6: step headers joined the numbered-banner family; all three prompts are copy-paste ready in tab G2-DataAnalysis of the Course Workbook.
The dataset is engineered so these findings are real: Bravo base defect rate 1.6% trending +0.08%/month; catch-rate rises with inspection hours (escapes fall); Osaka on-time ~97%, Monterrey ~88%; December volume dip.
If someone asks “can Copilot do correlations?” — yes: in Excel it writes the formulas or Python; the prompt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“same discipline, messier input: three PDFs answering one RFQ — and they don’t line up on purpose.”
2) Name the traps out loud BEFORE running: Bravo quotes EUROS per 1,000 units and excludes tooling and freight (EXW); Alpha is straightforward but FOB; Cardinal looks priciest but includes shipping (DDP), waives tooling, and doubles the warranty.
3) Run STEP 1; check the table catches: per-1,000 → per-unit conversion, the flagged EUR assumption, tooling amortization, shipping inclusions.
4) STEP 2: the punchline — “cheapest” moves once terms are normalized; the negotiation question turns analysis into action.
5) Land the safety line: the exchange rate is an ASSUMPTION the AI must flag — and you must verify (house rule from Part 1).
BRIDGE —
“Analysis is answers. Next: turning answers into a file you can circulate.”
ACRONYMS —
RFQ = Request for Quotation. MOQ = Minimum Order Quantity.
EXW / FOB / DDP = shipping terms (Incoterms): EXW = buyer collects at the factory; FOB = seller loads, buyer ships; DDP = delivered to your dock, duties paid.
CONTENT —
Quote contents (answer key, from the generated PDFs): Alpha $13.90/u + $8,500 tooling, FOB, Net 30, 12-mo, 60-day validity · Bravo €11,900 per 1,000 (≈€11.90/u) + €14,000 tooling excluded, EXW, Net 60, 6-mo, 30-day validity · Cardinal $16.40/u, tooling waived, DDP, Net 45, 24-mo, 90-day validity.
At ~1.08 USD/EUR: Bravo ≈ $12.85/u + $3.02/u tooling ≈ $15.87 + freight; Alpha ≈ $15.60 + freight; Cardinal $16.40 all-in with double warranty — the ranking genuinely depends on freight and terms, which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“the last mile — most people copy AI answers into Excel by hand. Don’t: make it ship the artifact.”
2) Read STEP 4 aloud, then the left card: each spec line exists for a reason — README (self-explaining file), visible formulas (auditable), caveats (assumptions travel), don’t-invent (the Out, in spreadsheet form).
3) Right card: the same move in every tool — only the delegation level changes; Part 5 takes it to the fully-delegated end.
4) Red band: verify before it ships. Always.
BRIDGE —
“That’s the most-used play in office AI, end to end. Now watch two more templates run live.”
ACRONYMS —
none new on this slide.
CONTENT —
v1.6: header joined the numbered-banner family (steps ①–④ across the walkthrough).
This four-slide walkthrough (35–38) = G2 + G8 executed on the practice pack; G4’s spreadsheet rules (README tab, formulas-not-values) reappear as the deliverable spec — the templates compose.
All walkthrough prompts (steps 0–4) are copy-paste ready in tab G2-DataAnalysis of the Course Workbook.
Future library note (ledger): consider promoting the quotation-comparison sequence to a numbered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“this time the deliverable is a tool, not a text.” This one stays a PRESENTER demo — you run it; the room watches (not everyone’s tool can build it — see the amber band).
2) Run the three step cards IN ORDER: paste the prepared table → run G6 → download the file, double-click it, filter something, sort something.
3) WHILE it generates, narrate the amber spec lines — single file, offline, data embedded, nothing hard-coded, formulas visible — those lines are what made it trustworthy.
4) Say the two caveats OUT LOUD: it is a snapshot, not a live system; share the FILE, not a public link.
5) Grey band is your safety net: pre-built copy on the desktop. Amber band answers the inevitable “can MY AI do this?” — capability, not skill: code/canvas tools (mostly paid tiers) can; Copilot chat can’t; the fallback is the spec to IT or an Excel version.
BRIDGE —
“One more daily-life play — the inbox.”
ACRONYMS —
HTML = HyperText Markup Language — the single-file web-page format. KPI = Key Performance Indicator (the number tiles). G6 = the interactive-HTML template’s library code.
CONTENT —
v1.6: capability strip added (owner asked: “this won’t be able to be created by all AIs, maybe just Claude or a paid subscription, correct?” — correct: single-file HTML needs a code/canvas-capable tool; capability verified Sep 2026: Claude Artifacts, ChatGPT Canvas, Gemini Canvas — largely paid; Copilot chat in-tenant cannot).
Pre-stage the data table and the G6 prompt in a text file so the demo is paste-paste-run. Budget 6–8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“the other daily play — the inbox. There isn’t ONE way to summarize a thread; there are five shapes, and picking the shape is the skill.”
2) Walk the five shape cards, one line each; the highlighted one — the structured brief — is the default.
3) Read the prompt aloud, slowly on the three rules — only facts in the thread · oldest-first, flag what CHANGED, show both values · never invent owners or dates. Those three rules are what separate this from clicking “summarize.”
4) Amber card: the practice thread and its four traps — run it live next slide.
BRIDGE —
“Now the same play inside Copilot — buttons, limits, and the full sequence.”
ACRONYMS —
TL;DR = too long; didn’t read — the one-line summary.
CONTENT —
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
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TOP strip — walk the three panels left to right like a comic: ① the thread as Outlook shows it (10 messages, 6 people) → ② the “Summary by Copilot” button output, where every numbered chip is a CLICK-THROUGH citation back to the source email → ③ the Copilot pane, where the real work happens with your refine prompts. Say once: stylized illustration, not a screenshot — buttons move; the flow doesn’t.
2) LEFT mechanics card: citations are the verification tool; know the three limits (attachments, shared mailboxes, encrypted mail). And the anatomy echo: Microsoft’s Goal-Context-Source-Expectations IS our Role-Task-Context-Format wearing a trench coat.
3) RIGHT: run the three steps on the practice thread, live if possible. Step 1’s reveal: did it catch the Oct 6 date (not Sep 22), the 18k CONDITION on Dan’s approval, Sofia’s unanswered question, the phantom attachment?
4) Red card: the three classic failures, and why our prompt’s rules exist. If the room’s Copilot summary missed a trap — that’s the lesson, not a malfunction.
5) Footer: green-tier reminder — thread summarization belongs in the tenant, not a personal chatbot; steps 1–3 are copy-paste ready in tab EX-Email.
BRIDGE —
“Two plays end to end. Here’s the menu of what we could drill next.”
ACRONYMS —
GCSE (Microsoft’s) = Goal, Context, Source, Expectations — its recommended prompt structure.
CONTENT —
v1.6: stylized 3-panel Outlook strip added (owner: pictures + do-from-Outlook); drawn in house style and labeled as illustration — no real UI screenshots, so nothing goes stale or misrepresents a tenant.
Copilot mechanics verified against Microsoft Support pages Sep 2026 (r16): thread summary + numbered citations; refine-in-pane prompts (Bowdoin KB examples); attachments not read by default (“Summarize a file” added Jun 2025); primary-mailbox-only scope; encrypted/IRM excluded; ~1,000-character minimum (documented for Copilot for Sales, widely reported for Outlook).
Advanced variants for questions (r16): scheduled daily triage (“Summarize emails from the past day that haven’t received a reply; rank importance 1–5; draft replies for 3+”) · cross-channel reconcile table (Mail/Teams/Channel | Topic | Summary | Action | Follow-up) · chunk-and-merge sequence for 30+ message threads (carry running decisions/questions forward; reconcile conflicts to the latest value, and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“every play you just saw followed one method — real file, profile first, numbered asks, verify before shipping. That method transfers; here’s the menu.”
2) Sweep the six cards, one line each; land on the last card — recurring pipelines — as the bridge to Part 5: “that one isn’t a future topic; it’s the next part.”
3) Teal band: collect votes — genuinely. The menu is real backlog, not decoration.
4) CLOSE BLOCK 2 from here (the old pointer slide is gone — say it, don’t slide it): name the handout pack piece by piece — prompt-library/ (all 13 templates with filled examples and pitfalls) · the Course Workbook (every exercise prompt in a named tab, the practice data, the PLAYBOOK tab) · the quotations + email-thread files · the Template Creator + Configurator · the cheat sheet, ELEMENTS guide, and Taxonomy Reference. Then the homework: run the HANDOFF move (Prompt 4/7, step 2) on your course log tonight — next block opens with it.
BRIDGE —
“The playbook so far asks the AI to answer. Part 5 asks it to WORK.”
ACRONYMS —
none new on this slide.
CONTENT —
v1.6: this slide now closes Block 2 — the separate playbook-pointer slide was cut (owner: not needed); its handout-pack rundown lives in step 4 above. The eight G-template one-liners, if asked: G1 raw material in, hard word cap, “add no facts” · G2 exact columns, code-not-vibes, reconcile, stop · G3 anchored rubric, quotes as evidence · G4 README tab, formulas not values · G5 titles state findings; approve text before rendering · G6 single file, offline, auditable · G7 a question not a topic; links + dates; demand the gaps · G8 summaries serve a decision; verbatim quotes for anything load-bearing.
v1.5 (owner request): the future-plays menu. Image-creation lane facts are in r12 (Firefly indemnification); triage/digest prompts in r16; document-Q&amp;A is G7/G8 grown teeth; the meetings play reuses the email shapes.
If a vote happens, log the winners in PROJECT_STATE for the next content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Two minutes MAXIMUM. Walk the four cards in reading order: anatomy → techniques + playbook → evidence rules → take-home. One line each — this is re-entry, not re-teaching. 2) At the take-home card, ask the homework question: “who ran the HANDOFF move — pasted their summary into a fresh chat and picked the course back up?” Take ONE volunteer story — it beats any recap; if their fresh chat knew things they never pasted, that is today’s topic (standing memory) arriving early. 3) Teal band: frame today — the leap from asking to delegating, then prompts as assets. 4) Advance.
ACRONYMS — none new on this slide.
CONTENT — v1.6: rebuilt as the Block 3 re-entry to match the updated Parts 3–4 (body anatomy, Do/Don’t/Expired playbook, Course Workbook take-home; homework is the handoff move — the blind-critique demo was cut). One volunteer story beats any recap. Keep to 2 minutes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Progress bar: part 5 — the leap the course is named for. 2) Read the two-line title, one beat of silence. 3) The subtitle names exactly what changes in the prompt: environment, process, checks, and when to stop and ask you. 4) Under 30 seconds, advance.
ACRONYMS — none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
ACRONYMS — MCP = Model Context Protocol — the open standard for plugging tools into any agent (“USB-C of AI”). SDK = Software Development Kit. USB-C = the universal connector standard (the analogy).
CONTENT — Loop framing is vendor-verbatim (Anthropic Agent SDK: gather context → take action → verify work → repeat). MCP numbers as of Jul 2026 per the MCP project blog.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
ACRONYMS — none new on this slide.
CONTENT — The contractor analogy is our framing, but rests directly on OpenAI’s “on your behalf” definition and Anthropic’s guidance that specs name files, scope, and end-to-end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
ACRONYMS — UNKNOWN → open items = the logging convention: not-knowing becomes a written, owned item instead of a silent guess.
CONTENT — v1.1 addition — the deepest idea in the training, promoted from the handout. This mapping is also the spine of the Taxonomy Reference handout (agentic elements inherit from generative ones — Mission extends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Teal band: every block maps to published vendor guidance. 5) Bridge: “here’s A1 running a real job.”
ACRONYMS — HARD / SOFT = check severities — HARD stops the run, SOFT flags and continues. CHANGES · FINDINGS · OPEN_ITEMS = the three log files the agent keeps. A1 = the mission-brief template’s library code.
CONTENT — The full annotated template with a fill-in guide is prompt-library/agentic/A1; A2 is the complete worked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“arms need supervision — five rules.”
ACRONYMS — ETL = Extract, Transform, Load — the classic data-pipeline shape. HARD = run-stopping check. n = sample size (n on every proportion). as-of = the data-cutoff date stamped on the output. A2 = this template’s library code.
CONTENT — This is the ETL→Presentation template (A2) in the library — a real, reusable prompt for any “take data, make it trustworthy, put the answer in front of people”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Five rules TOP TO BOTTOM; rule 1 is the keystone, say it as the sentence: “reversible? proceed. Irreversible? ask.”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demand evidence, not assertions — spot-check agent work like a new hire’s. 5) Bridge: “supervision costs effort — next slide is where agentic prompting pays it back.”
ACRONYMS — NCSC = (UK) National Cyber Security Centre. CVE = Common Vulnerabilities and Exposures — the public registry of security flaws.
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
ACRONYMS — CLAUDE.md / AGENTS.md = standing-instruction files (Anthropic’s name / the cross-vendor standard). CHANGES.md = the change-log file. .md = Markdown, a plain-text document format. A3 / A4 = these templates’ library codes.
CONTENT — This is where agentic prompting pays compound interest. AGENTS.md: 60k+ open-source projects use it; governed by the Linux Foundation’s Agentic AI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
ACRONYMS — GATE = a human checkpoint the agent must stop at. HARD = a run-stopping check.
CONTENT — Three minutes. Skippable — the A1 template carries the full scaffold.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Progress bar: final part. 2) Read the two lines; the subtitle IS the argument — an hour of iteration, thrown away by retyping. 3) Under 30 seconds, advance.
ACRONYMS — none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Walk the rungs 1→5 down the left side: one line on what each is, one on when to climb. 2) Right top card: the promotion trigger — say Anthropic’s rule: “explained the same task more than once? Package it.” 3) Right bottom card: the familiar discipline — controlled work instructions, lighter weight. 4) Land the expectation: “most of you should live at rungs 2–3 within a month; rung 5 is where Part 5’s briefs live.” 5) Bridge: “so WHERE exactly do these live, tool by tool?”
ACRONYMS — CLAUDE.md / AGENTS.md = standing-instruction files (rung 5). SOP (notes only) = Standard Operating Procedure.
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QUARTERLY — owner: Oscar]
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
ACRONYMS — GPT (custom GPTs) = OpenAI’s packaged assistants. SKILL.md = the file that defines a Claude Skill. Gems = Gemini’s packaged prompt bundles (a product name).
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LEFT card: six conventions this very library uses; read the BOLD one in full — test on 3–5 real cases including an edge case, re-test after model changes.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
ACRONYMS — Rev A/B/C = revision-letter discipline from document control. {{placeholders}} = fill-in-at-run-time fields (mail-merge for prompts).
CONTENT — The {{placeholder}} rule is doing double duty — reuse AND keeping sensitive values out of stored text. Market-churn example if asked: Humanloop (early leader) shut down Sept 2025 when Anthropic hired the team; the practice survived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
ACRONYMS — v1.0 = first-version label.
CONTENT — Final rep — a named prompt with a home and a version number is the behavior change the training exists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The reveal, plainly: “you didn’t learn a NEW skill today — you learned a new audience for one you already have. Writing a prompt IS writing a requirement.” Then the Stellman quote, verbatim.
2) LEFT card: three requirements forms this room may already write — user stories, Given-When-Then, the ISO characteristics — and each maps ONTO the anatomy. Read one mapping aloud (Given = Context, When = Task, Then = Format + checks is the cleanest).
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
4) Amber band — the point of the slide: SOPs, test protocols, acceptance criteria = the hardest 80%, already owned.
5) One caution to respect (R7): the evidence is structural + measured on clarified PROMPTS (ClarifyGPT +7 pts; Yang +4.8%) — there is no study of requirements-trained PEOPLE prompting better; don’t claim one.
BRIDGE —
“And when you can’t fill an element in — that gap has a name too: a question.”
ACRONYMS —
SOP = Standard Operating Procedure. ISO 29148 = the international requirements-engineering standard (ISO/IEC/IEEE). BDD (if asked) = Behavior-Driven Development, home of Given-When-Then. PM = product manager (in Grove’s quote).
CONTENT —
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
DO NOT USE (misattributions people expect): Einstein’s “55 minutes on the problem” (apocryphal) and Voltaire’s “judge a man by his questions” (actually de Lévis, 1808).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Open with the flip: all course long they wrote prompts; the last skill is making the AI interview THEM. Read the paste-line; note the callback — it was Prompt 1/7 step 2, the very first exercise. Full circle, on purpose.
2) The numbers, in one breath: 41.1% guessed right unstated → asking first recovers ~7–14 points → “answer its questions” is quality control.
3) RIGHT toolkit — for HUMANS: Five Whys (say the Toyota tie: same factory as the PDCA slide) · open→closed funnel · the Socratic check for interrogating any AI answer.
4) Quote band: Altman, then the Picasso echo — sixty years apart, same conclusion. (Picasso wording verified to the 1964 Paris Review interview; the popular “computers are useless” phrasing is a later smoothing.)
5) Teal band is the course’s closing thesis — read it verbatim, then advance to the ten things.
BRIDGE —
“Ten things worth remembering — the photograph slide.”
ACRONYMS —
FSE = the ACM Foundations of Software Engineering conference (ClarifyGPT’s venue). HBR (if cited aloud) = Harvard Business Review.
CONTENT —
v1.6 new slide (owner request). Sources verified in notes/research/r21_requirements_questions.md: ClarifyGPT (GPT-4 62.43→69.60 mean Pass@1; +13.87 with human answers) · CLAM 2022 (qualitative) · Ohno, Toyota Production System · Altman via ReThinking/CNBC Jan 2025 · Picasso via Quote Investigator.
Extra toolkit for questions, if the room wants more: HBR’s five leader questions (investigative what’s known · speculative what if · productive now what · interpretive so what · subjective what’s unsaid), May–Jun 2024.
DO NOT attribute: Einstein 55-minutes (apocryphal) · Voltaire judge-by-questions (de Lévis, 1808).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Bridge: “three exercises to make it stick.”
ACRONYMS — none new on this slide.
CONTENT — Each maps back to a part: 1–2 anatomy, 3–5 concepts, 6–7 evidence, 8–9 agentic, 10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Three cards TOP TO BOTTOM: anatomy rebuild → blind review → first mission brief; each is 15 minutes ON THEIR REAL WORK — say that twice; toy exercises don’t transfer. 2) Read the italic payoff line on the right of each card — it is the motivation. 3) Set the share-back: next team meeting, two volunteers show a before/after. 4) If time allows in-session, run exercise 1 live with a volunteer’s real prompt.
ACRONYMS — G-templates / G3 / A1 = library codes (generative set, the critique template, the mission brief).
CONTENT — Exercises 2 and 3 work as homework with a share-back next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Do not read it. One sentence: “print-friendly glossary — every term on it was used in context today.” 2) Point at two entries only: sycophancy (the one that changes behavior) and gate (the one that makes agents safe). 3) Advance.
ACRONYMS — RAG and MCP are expanded on the slide itself; nothing else to define.
CONTENT — Print-friendly reference. All nineteen were used in context during the training (taxonomy added in v1.2; the two ladders added in v1.5 to disambiguate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
ACRONYMS — ICLR = International Conference on Learning Representations (a top AI research venue).
CONTENT — v1.4 layer (owner request): the per-attribute “why it matters” notes. Full citations with URLs live in notes/research/ (r3_techniques.md, t1_prompt_report.md). Every row compresses the whys stamped on the taxonomy attributes; the agentic half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
ACRONYMS — SDK = Software Development Kit. NCSC = (UK) National Cyber Security Centre.
CONTENT — v1.4 layer, agentic half. Feng et al. 2025 = “Levels of Autonomy for AI Agents” (operator → observer). Full citations: notes/research/t6_agentic_attrs.md.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One sentence, then move: “nothing in this deck is vibes — every number has a URL and an as-of date in notes/research/ in the repo.” 2) If someone challenges a number later, this is where you point them.
ACRONYMS — OWASP = Open Worldwide Application Security Project. NCSC = (UK) National Cyber Security Centre. HAI = Stanford Institute for Human-Centered AI. LLM = Large Language Model. SWE-bench / LMArena = benchmark and leaderboard names.
CONTENT — The point of this slide is auditability.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
ACRONYMS — none new on this slide (O’Reilly = the technical publisher).
CONTENT — All six books are real and in print — most are in the team’s shared library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Read the three lines as a cadence, with a beat between each: draft with AI — decide with judgment — delegate with a brief. 2) Connect to the previous training: the first two lines are its habit line; the third is what this course added. 3) Last sentence: where everything lives, and bring template improvements to the next session. 4) Thank them — then stop talking; resist the recap urge.
ACRONYMS — none on this slide.
CONTENT — Close by connecting to the previous training’s habit line — now extended with: delegate with a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1.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2.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1.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slideLayout" Target="../slideLayouts/slideLayout1.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slideLayout" Target="../slideLayouts/slideLayout1.xml"/><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slideLayout" Target="../slideLayouts/slideLayout1.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1.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slideLayout" Target="../slideLayouts/slideLayout1.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slideLayout" Target="../slideLayouts/slideLayout1.xml"/><Relationship Id="rId7"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slideLayout" Target="../slideLayouts/slideLayout1.xml"/><Relationship Id="rId7"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slideLayout" Target="../slideLayouts/slideLayout1.xml"/><Relationship Id="rId6"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slideLayout" Target="../slideLayouts/slideLayout1.xm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502920" y="914400"/>
            <a:ext cx="7315200" cy="320040"/>
          </a:xfrm>
          <a:prstGeom prst="rect">
            <a:avLst/>
          </a:prstGeom>
          <a:noFill/>
          <a:ln/>
        </p:spPr>
        <p:txBody>
          <a:bodyPr wrap="square" lIns="0" tIns="0" rIns="0" bIns="0" rtlCol="0" anchor="ctr"/>
          <a:lstStyle/>
          <a:p>
            <a:pPr indent="0" marL="0">
              <a:buNone/>
            </a:pPr>
            <a:r>
              <a:rPr lang="en-US" sz="1300" b="1" spc="300" kern="0" dirty="0">
                <a:solidFill>
                  <a:srgbClr val="5FB8B0"/>
                </a:solidFill>
                <a:latin typeface="Calibri" pitchFamily="34" charset="0"/>
                <a:ea typeface="Calibri" pitchFamily="34" charset="-122"/>
                <a:cs typeface="Calibri" pitchFamily="34" charset="-120"/>
              </a:rPr>
              <a:t>EMPLOYEE TRAINING · SEPTEMBER 2026</a:t>
            </a:r>
            <a:endParaRPr lang="en-US" sz="1300" dirty="0"/>
          </a:p>
        </p:txBody>
      </p:sp>
      <p:sp>
        <p:nvSpPr>
          <p:cNvPr id="3" name="Text 1"/>
          <p:cNvSpPr/>
          <p:nvPr/>
        </p:nvSpPr>
        <p:spPr>
          <a:xfrm>
            <a:off x="502920" y="1280160"/>
            <a:ext cx="11155680" cy="960120"/>
          </a:xfrm>
          <a:prstGeom prst="rect">
            <a:avLst/>
          </a:prstGeom>
          <a:noFill/>
          <a:ln/>
        </p:spPr>
        <p:txBody>
          <a:bodyPr wrap="square" lIns="0" tIns="0" rIns="0" bIns="0" rtlCol="0" anchor="ctr"/>
          <a:lstStyle/>
          <a:p>
            <a:pPr indent="0" marL="0">
              <a:buNone/>
            </a:pPr>
            <a:r>
              <a:rPr lang="en-US" sz="5400" b="1" dirty="0">
                <a:solidFill>
                  <a:srgbClr val="ECF2F4"/>
                </a:solidFill>
                <a:latin typeface="Cambria" pitchFamily="34" charset="0"/>
                <a:ea typeface="Cambria" pitchFamily="34" charset="-122"/>
                <a:cs typeface="Cambria" pitchFamily="34" charset="-120"/>
              </a:rPr>
              <a:t>From Prompts to Agents</a:t>
            </a:r>
            <a:endParaRPr lang="en-US" sz="5400" dirty="0"/>
          </a:p>
        </p:txBody>
      </p:sp>
      <p:sp>
        <p:nvSpPr>
          <p:cNvPr id="4" name="Text 2"/>
          <p:cNvSpPr/>
          <p:nvPr/>
        </p:nvSpPr>
        <p:spPr>
          <a:xfrm>
            <a:off x="502920" y="2331720"/>
            <a:ext cx="9601200" cy="777240"/>
          </a:xfrm>
          <a:prstGeom prst="rect">
            <a:avLst/>
          </a:prstGeom>
          <a:noFill/>
          <a:ln/>
        </p:spPr>
        <p:txBody>
          <a:bodyPr wrap="square" lIns="0" tIns="0" rIns="0" bIns="0" rtlCol="0" anchor="ctr"/>
          <a:lstStyle/>
          <a:p>
            <a:pPr indent="0" marL="0">
              <a:lnSpc>
                <a:spcPct val="115000"/>
              </a:lnSpc>
              <a:buNone/>
            </a:pPr>
            <a:r>
              <a:rPr lang="en-US" sz="1600" dirty="0">
                <a:solidFill>
                  <a:srgbClr val="A9BBC4"/>
                </a:solidFill>
                <a:latin typeface="Calibri" pitchFamily="34" charset="0"/>
                <a:ea typeface="Calibri" pitchFamily="34" charset="-122"/>
                <a:cs typeface="Calibri" pitchFamily="34" charset="-120"/>
              </a:rPr>
              <a:t>A focused course on prompt engineering — for generative AI you talk to,</a:t>
            </a:r>
            <a:endParaRPr lang="en-US" sz="1600" dirty="0"/>
          </a:p>
          <a:p>
            <a:pPr indent="0" marL="0">
              <a:lnSpc>
                <a:spcPct val="115000"/>
              </a:lnSpc>
              <a:buNone/>
            </a:pPr>
            <a:r>
              <a:rPr lang="en-US" sz="1600" dirty="0">
                <a:solidFill>
                  <a:srgbClr val="A9BBC4"/>
                </a:solidFill>
                <a:latin typeface="Calibri" pitchFamily="34" charset="0"/>
                <a:ea typeface="Calibri" pitchFamily="34" charset="-122"/>
                <a:cs typeface="Calibri" pitchFamily="34" charset="-120"/>
              </a:rPr>
              <a:t>and agentic AI you delegate to.</a:t>
            </a:r>
            <a:endParaRPr lang="en-US" sz="1600" dirty="0"/>
          </a:p>
        </p:txBody>
      </p:sp>
      <p:sp>
        <p:nvSpPr>
          <p:cNvPr id="5" name="Shape 3"/>
          <p:cNvSpPr/>
          <p:nvPr/>
        </p:nvSpPr>
        <p:spPr>
          <a:xfrm>
            <a:off x="502920" y="3520440"/>
            <a:ext cx="3611880" cy="1600200"/>
          </a:xfrm>
          <a:prstGeom prst="roundRect">
            <a:avLst>
              <a:gd name="adj" fmla="val 4571"/>
            </a:avLst>
          </a:prstGeom>
          <a:solidFill>
            <a:srgbClr val="2A3842"/>
          </a:solidFill>
          <a:ln/>
        </p:spPr>
      </p:sp>
      <p:sp>
        <p:nvSpPr>
          <p:cNvPr id="6" name="Text 4"/>
          <p:cNvSpPr/>
          <p:nvPr/>
        </p:nvSpPr>
        <p:spPr>
          <a:xfrm>
            <a:off x="758952" y="3675888"/>
            <a:ext cx="3154680" cy="1325880"/>
          </a:xfrm>
          <a:prstGeom prst="rect">
            <a:avLst/>
          </a:prstGeom>
          <a:noFill/>
          <a:ln/>
        </p:spPr>
        <p:txBody>
          <a:bodyPr wrap="square" lIns="0" tIns="0" rIns="0" bIns="0" rtlCol="0" anchor="ctr"/>
          <a:lstStyle/>
          <a:p>
            <a:pPr indent="0" marL="0">
              <a:lnSpc>
                <a:spcPct val="105000"/>
              </a:lnSpc>
              <a:spcAft>
                <a:spcPts val="400"/>
              </a:spcAft>
              <a:buNone/>
            </a:pPr>
            <a:r>
              <a:rPr lang="en-US" sz="1200" b="1" dirty="0">
                <a:solidFill>
                  <a:srgbClr val="5FB8B0"/>
                </a:solidFill>
                <a:latin typeface="Calibri" pitchFamily="34" charset="0"/>
                <a:ea typeface="Calibri" pitchFamily="34" charset="-122"/>
                <a:cs typeface="Calibri" pitchFamily="34" charset="-120"/>
              </a:rPr>
              <a:t>THE PRIMER</a:t>
            </a:r>
            <a:endParaRPr lang="en-US" sz="1200" dirty="0"/>
          </a:p>
          <a:p>
            <a:pPr indent="0" marL="0">
              <a:lnSpc>
                <a:spcPct val="105000"/>
              </a:lnSpc>
              <a:spcAft>
                <a:spcPts val="400"/>
              </a:spcAft>
              <a:buNone/>
            </a:pPr>
            <a:r>
              <a:rPr lang="en-US" sz="1450" b="1" dirty="0">
                <a:solidFill>
                  <a:srgbClr val="ECF2F4"/>
                </a:solidFill>
                <a:latin typeface="Calibri" pitchFamily="34" charset="0"/>
                <a:ea typeface="Calibri" pitchFamily="34" charset="-122"/>
                <a:cs typeface="Calibri" pitchFamily="34" charset="-120"/>
              </a:rPr>
              <a:t>History &amp; core concepts</a:t>
            </a:r>
            <a:endParaRPr lang="en-US" sz="1200" dirty="0"/>
          </a:p>
          <a:p>
            <a:pPr indent="0" marL="0">
              <a:lnSpc>
                <a:spcPct val="105000"/>
              </a:lnSpc>
              <a:buNone/>
            </a:pPr>
            <a:r>
              <a:rPr lang="en-US" sz="1000" dirty="0">
                <a:solidFill>
                  <a:srgbClr val="A9BBC4"/>
                </a:solidFill>
                <a:latin typeface="Calibri" pitchFamily="34" charset="0"/>
                <a:ea typeface="Calibri" pitchFamily="34" charset="-122"/>
                <a:cs typeface="Calibri" pitchFamily="34" charset="-120"/>
              </a:rPr>
              <a:t>four eras of AI · tokens · context windows · RAG · the token economy · hallucination</a:t>
            </a:r>
            <a:endParaRPr lang="en-US" sz="1200" dirty="0"/>
          </a:p>
        </p:txBody>
      </p:sp>
      <p:sp>
        <p:nvSpPr>
          <p:cNvPr id="7" name="Shape 5"/>
          <p:cNvSpPr/>
          <p:nvPr/>
        </p:nvSpPr>
        <p:spPr>
          <a:xfrm>
            <a:off x="4325112" y="3520440"/>
            <a:ext cx="3611880" cy="1600200"/>
          </a:xfrm>
          <a:prstGeom prst="roundRect">
            <a:avLst>
              <a:gd name="adj" fmla="val 4571"/>
            </a:avLst>
          </a:prstGeom>
          <a:solidFill>
            <a:srgbClr val="2A3842"/>
          </a:solidFill>
          <a:ln/>
        </p:spPr>
      </p:sp>
      <p:sp>
        <p:nvSpPr>
          <p:cNvPr id="8" name="Text 6"/>
          <p:cNvSpPr/>
          <p:nvPr/>
        </p:nvSpPr>
        <p:spPr>
          <a:xfrm>
            <a:off x="4581144" y="3675888"/>
            <a:ext cx="3154680" cy="1325880"/>
          </a:xfrm>
          <a:prstGeom prst="rect">
            <a:avLst/>
          </a:prstGeom>
          <a:noFill/>
          <a:ln/>
        </p:spPr>
        <p:txBody>
          <a:bodyPr wrap="square" lIns="0" tIns="0" rIns="0" bIns="0" rtlCol="0" anchor="ctr"/>
          <a:lstStyle/>
          <a:p>
            <a:pPr indent="0" marL="0">
              <a:lnSpc>
                <a:spcPct val="105000"/>
              </a:lnSpc>
              <a:spcAft>
                <a:spcPts val="400"/>
              </a:spcAft>
              <a:buNone/>
            </a:pPr>
            <a:r>
              <a:rPr lang="en-US" sz="1200" b="1" dirty="0">
                <a:solidFill>
                  <a:srgbClr val="5FB8B0"/>
                </a:solidFill>
                <a:latin typeface="Calibri" pitchFamily="34" charset="0"/>
                <a:ea typeface="Calibri" pitchFamily="34" charset="-122"/>
                <a:cs typeface="Calibri" pitchFamily="34" charset="-120"/>
              </a:rPr>
              <a:t>THE CRAFT</a:t>
            </a:r>
            <a:endParaRPr lang="en-US" sz="1200" dirty="0"/>
          </a:p>
          <a:p>
            <a:pPr indent="0" marL="0">
              <a:lnSpc>
                <a:spcPct val="105000"/>
              </a:lnSpc>
              <a:spcAft>
                <a:spcPts val="400"/>
              </a:spcAft>
              <a:buNone/>
            </a:pPr>
            <a:r>
              <a:rPr lang="en-US" sz="1450" b="1" dirty="0">
                <a:solidFill>
                  <a:srgbClr val="ECF2F4"/>
                </a:solidFill>
                <a:latin typeface="Calibri" pitchFamily="34" charset="0"/>
                <a:ea typeface="Calibri" pitchFamily="34" charset="-122"/>
                <a:cs typeface="Calibri" pitchFamily="34" charset="-120"/>
              </a:rPr>
              <a:t>Prompt engineering</a:t>
            </a:r>
            <a:endParaRPr lang="en-US" sz="1200" dirty="0"/>
          </a:p>
          <a:p>
            <a:pPr indent="0" marL="0">
              <a:lnSpc>
                <a:spcPct val="105000"/>
              </a:lnSpc>
              <a:buNone/>
            </a:pPr>
            <a:r>
              <a:rPr lang="en-US" sz="1000" dirty="0">
                <a:solidFill>
                  <a:srgbClr val="A9BBC4"/>
                </a:solidFill>
                <a:latin typeface="Calibri" pitchFamily="34" charset="0"/>
                <a:ea typeface="Calibri" pitchFamily="34" charset="-122"/>
                <a:cs typeface="Calibri" pitchFamily="34" charset="-120"/>
              </a:rPr>
              <a:t>the universal anatomy · seven elements · seven techniques · what the evidence says</a:t>
            </a:r>
            <a:endParaRPr lang="en-US" sz="1200" dirty="0"/>
          </a:p>
        </p:txBody>
      </p:sp>
      <p:sp>
        <p:nvSpPr>
          <p:cNvPr id="9" name="Shape 7"/>
          <p:cNvSpPr/>
          <p:nvPr/>
        </p:nvSpPr>
        <p:spPr>
          <a:xfrm>
            <a:off x="8147304" y="3520440"/>
            <a:ext cx="3611880" cy="1600200"/>
          </a:xfrm>
          <a:prstGeom prst="roundRect">
            <a:avLst>
              <a:gd name="adj" fmla="val 4571"/>
            </a:avLst>
          </a:prstGeom>
          <a:solidFill>
            <a:srgbClr val="2A3842"/>
          </a:solidFill>
          <a:ln/>
        </p:spPr>
      </p:sp>
      <p:sp>
        <p:nvSpPr>
          <p:cNvPr id="10" name="Text 8"/>
          <p:cNvSpPr/>
          <p:nvPr/>
        </p:nvSpPr>
        <p:spPr>
          <a:xfrm>
            <a:off x="8403336" y="3675888"/>
            <a:ext cx="3154680" cy="1325880"/>
          </a:xfrm>
          <a:prstGeom prst="rect">
            <a:avLst/>
          </a:prstGeom>
          <a:noFill/>
          <a:ln/>
        </p:spPr>
        <p:txBody>
          <a:bodyPr wrap="square" lIns="0" tIns="0" rIns="0" bIns="0" rtlCol="0" anchor="ctr"/>
          <a:lstStyle/>
          <a:p>
            <a:pPr indent="0" marL="0">
              <a:lnSpc>
                <a:spcPct val="105000"/>
              </a:lnSpc>
              <a:spcAft>
                <a:spcPts val="400"/>
              </a:spcAft>
              <a:buNone/>
            </a:pPr>
            <a:r>
              <a:rPr lang="en-US" sz="1200" b="1" dirty="0">
                <a:solidFill>
                  <a:srgbClr val="5FB8B0"/>
                </a:solidFill>
                <a:latin typeface="Calibri" pitchFamily="34" charset="0"/>
                <a:ea typeface="Calibri" pitchFamily="34" charset="-122"/>
                <a:cs typeface="Calibri" pitchFamily="34" charset="-120"/>
              </a:rPr>
              <a:t>THE LEAP</a:t>
            </a:r>
            <a:endParaRPr lang="en-US" sz="1200" dirty="0"/>
          </a:p>
          <a:p>
            <a:pPr indent="0" marL="0">
              <a:lnSpc>
                <a:spcPct val="105000"/>
              </a:lnSpc>
              <a:spcAft>
                <a:spcPts val="400"/>
              </a:spcAft>
              <a:buNone/>
            </a:pPr>
            <a:r>
              <a:rPr lang="en-US" sz="1450" b="1" dirty="0">
                <a:solidFill>
                  <a:srgbClr val="ECF2F4"/>
                </a:solidFill>
                <a:latin typeface="Calibri" pitchFamily="34" charset="0"/>
                <a:ea typeface="Calibri" pitchFamily="34" charset="-122"/>
                <a:cs typeface="Calibri" pitchFamily="34" charset="-120"/>
              </a:rPr>
              <a:t>Agentic AI</a:t>
            </a:r>
            <a:endParaRPr lang="en-US" sz="1200" dirty="0"/>
          </a:p>
          <a:p>
            <a:pPr indent="0" marL="0">
              <a:lnSpc>
                <a:spcPct val="105000"/>
              </a:lnSpc>
              <a:buNone/>
            </a:pPr>
            <a:r>
              <a:rPr lang="en-US" sz="1000" dirty="0">
                <a:solidFill>
                  <a:srgbClr val="A9BBC4"/>
                </a:solidFill>
                <a:latin typeface="Calibri" pitchFamily="34" charset="0"/>
                <a:ea typeface="Calibri" pitchFamily="34" charset="-122"/>
                <a:cs typeface="Calibri" pitchFamily="34" charset="-120"/>
              </a:rPr>
              <a:t>tools &amp; models worth knowing · mission briefs · guardrails · managing your prompt library</a:t>
            </a:r>
            <a:endParaRPr lang="en-US" sz="1200" dirty="0"/>
          </a:p>
        </p:txBody>
      </p:sp>
      <p:sp>
        <p:nvSpPr>
          <p:cNvPr id="11" name="Text 9"/>
          <p:cNvSpPr/>
          <p:nvPr/>
        </p:nvSpPr>
        <p:spPr>
          <a:xfrm>
            <a:off x="502920" y="5760720"/>
            <a:ext cx="11155680" cy="365760"/>
          </a:xfrm>
          <a:prstGeom prst="rect">
            <a:avLst/>
          </a:prstGeom>
          <a:noFill/>
          <a:ln/>
        </p:spPr>
        <p:txBody>
          <a:bodyPr wrap="square" lIns="0" tIns="0" rIns="0" bIns="0" rtlCol="0" anchor="ctr"/>
          <a:lstStyle/>
          <a:p>
            <a:pPr indent="0" marL="0">
              <a:buNone/>
            </a:pPr>
            <a:r>
              <a:rPr lang="en-US" sz="1050" i="1" dirty="0">
                <a:solidFill>
                  <a:srgbClr val="A9BBC4"/>
                </a:solidFill>
                <a:latin typeface="Calibri" pitchFamily="34" charset="0"/>
                <a:ea typeface="Calibri" pitchFamily="34" charset="-122"/>
                <a:cs typeface="Calibri" pitchFamily="34" charset="-120"/>
              </a:rPr>
              <a:t>Companion to “Working Smart with AI.” All examples are generic — no internal document names or confidential data appear anywhere.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WELCOME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WELCOME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Ask, or delegate — prompting does both</a:t>
            </a:r>
            <a:endParaRPr lang="en-US" sz="3000" dirty="0"/>
          </a:p>
        </p:txBody>
      </p:sp>
      <p:sp>
        <p:nvSpPr>
          <p:cNvPr id="6" name="Text 4"/>
          <p:cNvSpPr/>
          <p:nvPr/>
        </p:nvSpPr>
        <p:spPr>
          <a:xfrm>
            <a:off x="502920" y="1463040"/>
            <a:ext cx="5577840" cy="1783080"/>
          </a:xfrm>
          <a:prstGeom prst="rect">
            <a:avLst/>
          </a:prstGeom>
          <a:noFill/>
          <a:ln/>
        </p:spPr>
        <p:txBody>
          <a:bodyPr wrap="square" lIns="0" tIns="0" rIns="0" bIns="0" rtlCol="0" anchor="t"/>
          <a:lstStyle/>
          <a:p>
            <a:pPr algn="l" marL="127000" indent="-127000">
              <a:lnSpc>
                <a:spcPct val="104000"/>
              </a:lnSpc>
              <a:spcAft>
                <a:spcPts val="600"/>
              </a:spcAft>
              <a:buSzPct val="100000"/>
              <a:buChar char="•"/>
            </a:pPr>
            <a:r>
              <a:rPr lang="en-US" sz="1150" b="1" dirty="0">
                <a:solidFill>
                  <a:srgbClr val="46545F"/>
                </a:solidFill>
                <a:latin typeface="Calibri" pitchFamily="34" charset="0"/>
                <a:ea typeface="Calibri" pitchFamily="34" charset="-122"/>
                <a:cs typeface="Calibri" pitchFamily="34" charset="-120"/>
              </a:rPr>
              <a:t>Prompting is the one AI skill that transfers everywhere: every assistant, every vendor, every year. Models change monthly; the craft compounds.</a:t>
            </a:r>
            <a:endParaRPr lang="en-US" sz="1150" dirty="0"/>
          </a:p>
          <a:p>
            <a:pPr algn="l" marL="127000" indent="-127000">
              <a:lnSpc>
                <a:spcPct val="104000"/>
              </a:lnSpc>
              <a:spcAft>
                <a:spcPts val="600"/>
              </a:spcAft>
              <a:buSzPct val="100000"/>
              <a:buChar char="•"/>
            </a:pPr>
            <a:r>
              <a:rPr lang="en-US" sz="1150" dirty="0">
                <a:solidFill>
                  <a:srgbClr val="46545F"/>
                </a:solidFill>
                <a:latin typeface="Calibri" pitchFamily="34" charset="0"/>
                <a:ea typeface="Calibri" pitchFamily="34" charset="-122"/>
                <a:cs typeface="Calibri" pitchFamily="34" charset="-120"/>
              </a:rPr>
              <a:t>The same skill has two modes. Generative: you ask, it writes, you act. Agentic: you brief it, it plans, uses tools, checks itself, and delivers.</a:t>
            </a:r>
            <a:endParaRPr lang="en-US" sz="1150" dirty="0"/>
          </a:p>
          <a:p>
            <a:pPr algn="l" marL="127000" indent="-127000">
              <a:lnSpc>
                <a:spcPct val="104000"/>
              </a:lnSpc>
              <a:spcAft>
                <a:spcPts val="600"/>
              </a:spcAft>
              <a:buSzPct val="100000"/>
              <a:buChar char="•"/>
            </a:pPr>
            <a:r>
              <a:rPr lang="en-US" sz="1150" dirty="0">
                <a:solidFill>
                  <a:srgbClr val="46545F"/>
                </a:solidFill>
                <a:latin typeface="Calibri" pitchFamily="34" charset="0"/>
                <a:ea typeface="Calibri" pitchFamily="34" charset="-122"/>
                <a:cs typeface="Calibri" pitchFamily="34" charset="-120"/>
              </a:rPr>
              <a:t>Each mode needs a different kind of prompt — that distinction is the backbone of this training.</a:t>
            </a:r>
            <a:endParaRPr lang="en-US" sz="1150" dirty="0"/>
          </a:p>
        </p:txBody>
      </p:sp>
      <p:sp>
        <p:nvSpPr>
          <p:cNvPr id="7" name="Shape 5"/>
          <p:cNvSpPr/>
          <p:nvPr/>
        </p:nvSpPr>
        <p:spPr>
          <a:xfrm>
            <a:off x="502920" y="3310128"/>
            <a:ext cx="5577840" cy="1097280"/>
          </a:xfrm>
          <a:prstGeom prst="roundRect">
            <a:avLst>
              <a:gd name="adj" fmla="val 6667"/>
            </a:avLst>
          </a:prstGeom>
          <a:solidFill>
            <a:srgbClr val="E4F0EF"/>
          </a:solidFill>
          <a:ln/>
        </p:spPr>
      </p:sp>
      <p:sp>
        <p:nvSpPr>
          <p:cNvPr id="8" name="Shape 6"/>
          <p:cNvSpPr/>
          <p:nvPr/>
        </p:nvSpPr>
        <p:spPr>
          <a:xfrm>
            <a:off x="667512" y="3666744"/>
            <a:ext cx="384048" cy="384048"/>
          </a:xfrm>
          <a:prstGeom prst="ellipse">
            <a:avLst/>
          </a:prstGeom>
          <a:solidFill>
            <a:srgbClr val="0E7C7B"/>
          </a:solidFill>
          <a:ln/>
        </p:spPr>
      </p:sp>
      <p:pic>
        <p:nvPicPr>
          <p:cNvPr id="9" name="Image 0" descr="/home/user/Claude-Works/ai-training-prompt-engineering/src/assets/icons/zap_w.png">    </p:cNvPr>
          <p:cNvPicPr>
            <a:picLocks noChangeAspect="1"/>
          </p:cNvPicPr>
          <p:nvPr/>
        </p:nvPicPr>
        <p:blipFill>
          <a:blip r:embed="rId1"/>
          <a:stretch>
            <a:fillRect/>
          </a:stretch>
        </p:blipFill>
        <p:spPr>
          <a:xfrm>
            <a:off x="767364" y="3766596"/>
            <a:ext cx="184343" cy="184343"/>
          </a:xfrm>
          <a:prstGeom prst="rect">
            <a:avLst/>
          </a:prstGeom>
        </p:spPr>
      </p:pic>
      <p:sp>
        <p:nvSpPr>
          <p:cNvPr id="10" name="Text 7"/>
          <p:cNvSpPr/>
          <p:nvPr/>
        </p:nvSpPr>
        <p:spPr>
          <a:xfrm>
            <a:off x="1216152" y="3383280"/>
            <a:ext cx="4636008" cy="950976"/>
          </a:xfrm>
          <a:prstGeom prst="rect">
            <a:avLst/>
          </a:prstGeom>
          <a:noFill/>
          <a:ln/>
        </p:spPr>
        <p:txBody>
          <a:bodyPr wrap="square" lIns="0" tIns="0" rIns="0" bIns="0" rtlCol="0" anchor="ctr"/>
          <a:lstStyle/>
          <a:p>
            <a:pPr indent="0" marL="0">
              <a:lnSpc>
                <a:spcPct val="106000"/>
              </a:lnSpc>
              <a:buNone/>
            </a:pPr>
            <a:r>
              <a:rPr lang="en-US" sz="1150" b="1" dirty="0">
                <a:solidFill>
                  <a:srgbClr val="0A5B5A"/>
                </a:solidFill>
                <a:latin typeface="Calibri" pitchFamily="34" charset="0"/>
                <a:ea typeface="Calibri" pitchFamily="34" charset="-122"/>
                <a:cs typeface="Calibri" pitchFamily="34" charset="-120"/>
              </a:rPr>
              <a:t>The 10-second version: </a:t>
            </a:r>
            <a:endParaRPr lang="en-US" sz="1150" dirty="0"/>
          </a:p>
          <a:p>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a generative prompt describes what to write.</a:t>
            </a:r>
            <a:endParaRPr lang="en-US" sz="1150" dirty="0"/>
          </a:p>
          <a:p>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An agentic prompt describes a job to run — Part 5 teaches that mode properly.</a:t>
            </a:r>
            <a:endParaRPr lang="en-US" sz="1150" dirty="0"/>
          </a:p>
        </p:txBody>
      </p:sp>
      <p:sp>
        <p:nvSpPr>
          <p:cNvPr id="11" name="Shape 8"/>
          <p:cNvSpPr/>
          <p:nvPr/>
        </p:nvSpPr>
        <p:spPr>
          <a:xfrm>
            <a:off x="502920" y="4517136"/>
            <a:ext cx="5577840" cy="1828800"/>
          </a:xfrm>
          <a:prstGeom prst="roundRect">
            <a:avLst>
              <a:gd name="adj" fmla="val 4000"/>
            </a:avLst>
          </a:prstGeom>
          <a:solidFill>
            <a:srgbClr val="E4F0EF"/>
          </a:solidFill>
          <a:ln/>
        </p:spPr>
      </p:sp>
      <p:sp>
        <p:nvSpPr>
          <p:cNvPr id="12" name="Shape 9"/>
          <p:cNvSpPr/>
          <p:nvPr/>
        </p:nvSpPr>
        <p:spPr>
          <a:xfrm>
            <a:off x="649224" y="4636008"/>
            <a:ext cx="365760" cy="365760"/>
          </a:xfrm>
          <a:prstGeom prst="ellipse">
            <a:avLst/>
          </a:prstGeom>
          <a:solidFill>
            <a:srgbClr val="0E7C7B"/>
          </a:solidFill>
          <a:ln/>
        </p:spPr>
      </p:sp>
      <p:pic>
        <p:nvPicPr>
          <p:cNvPr id="13" name="Image 1" descr="/home/user/Claude-Works/ai-training-prompt-engineering/src/assets/icons/robot_w.png">    </p:cNvPr>
          <p:cNvPicPr>
            <a:picLocks noChangeAspect="1"/>
          </p:cNvPicPr>
          <p:nvPr/>
        </p:nvPicPr>
        <p:blipFill>
          <a:blip r:embed="rId2"/>
          <a:stretch>
            <a:fillRect/>
          </a:stretch>
        </p:blipFill>
        <p:spPr>
          <a:xfrm>
            <a:off x="744322" y="4731106"/>
            <a:ext cx="175565" cy="175565"/>
          </a:xfrm>
          <a:prstGeom prst="rect">
            <a:avLst/>
          </a:prstGeom>
        </p:spPr>
      </p:pic>
      <p:sp>
        <p:nvSpPr>
          <p:cNvPr id="14" name="Shape 10"/>
          <p:cNvSpPr/>
          <p:nvPr/>
        </p:nvSpPr>
        <p:spPr>
          <a:xfrm>
            <a:off x="1106424" y="4663440"/>
            <a:ext cx="1188720" cy="310896"/>
          </a:xfrm>
          <a:prstGeom prst="roundRect">
            <a:avLst>
              <a:gd name="adj" fmla="val 23529"/>
            </a:avLst>
          </a:prstGeom>
          <a:solidFill>
            <a:srgbClr val="0E7C7B"/>
          </a:solidFill>
          <a:ln/>
        </p:spPr>
      </p:sp>
      <p:sp>
        <p:nvSpPr>
          <p:cNvPr id="15" name="Text 11"/>
          <p:cNvSpPr/>
          <p:nvPr/>
        </p:nvSpPr>
        <p:spPr>
          <a:xfrm>
            <a:off x="1106424" y="4672584"/>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PROMPT 1/7</a:t>
            </a:r>
            <a:endParaRPr lang="en-US" sz="950" dirty="0"/>
          </a:p>
        </p:txBody>
      </p:sp>
      <p:sp>
        <p:nvSpPr>
          <p:cNvPr id="16" name="Text 12"/>
          <p:cNvSpPr/>
          <p:nvPr/>
        </p:nvSpPr>
        <p:spPr>
          <a:xfrm>
            <a:off x="2404872" y="4672584"/>
            <a:ext cx="3429000" cy="292608"/>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Two modes, felt — opens your course log</a:t>
            </a:r>
            <a:endParaRPr lang="en-US" sz="1050" dirty="0"/>
          </a:p>
        </p:txBody>
      </p:sp>
      <p:sp>
        <p:nvSpPr>
          <p:cNvPr id="17" name="Text 13"/>
          <p:cNvSpPr/>
          <p:nvPr/>
        </p:nvSpPr>
        <p:spPr>
          <a:xfrm>
            <a:off x="685800" y="5029200"/>
            <a:ext cx="5212080" cy="950976"/>
          </a:xfrm>
          <a:prstGeom prst="rect">
            <a:avLst/>
          </a:prstGeom>
          <a:noFill/>
          <a:ln/>
        </p:spPr>
        <p:txBody>
          <a:bodyPr wrap="square" lIns="0" tIns="0" rIns="0" bIns="0" rtlCol="0" anchor="t"/>
          <a:lstStyle/>
          <a:p>
            <a:pPr indent="0" marL="0">
              <a:lnSpc>
                <a:spcPct val="108000"/>
              </a:lnSpc>
              <a:buNone/>
            </a:pPr>
            <a:r>
              <a:rPr lang="en-US" sz="860" b="1" dirty="0">
                <a:solidFill>
                  <a:srgbClr val="B96A1B"/>
                </a:solidFill>
                <a:latin typeface="Calibri" pitchFamily="34" charset="0"/>
                <a:ea typeface="Calibri" pitchFamily="34" charset="-122"/>
                <a:cs typeface="Calibri" pitchFamily="34" charset="-120"/>
              </a:rPr>
              <a:t>STEP 1 · </a:t>
            </a:r>
            <a:pPr indent="0" marL="0">
              <a:lnSpc>
                <a:spcPct val="108000"/>
              </a:lnSpc>
              <a:buNone/>
            </a:pPr>
            <a:r>
              <a:rPr lang="en-US" sz="86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860" dirty="0">
                <a:solidFill>
                  <a:srgbClr val="232A31"/>
                </a:solidFill>
                <a:latin typeface="Consolas" pitchFamily="34" charset="0"/>
                <a:ea typeface="Consolas" pitchFamily="34" charset="-122"/>
                <a:cs typeface="Consolas" pitchFamily="34" charset="-120"/>
              </a:rPr>
              <a:t>“Write a short farewell card for a coworker who is leaving.”</a:t>
            </a:r>
            <a:endParaRPr lang="en-US" sz="860" dirty="0"/>
          </a:p>
          <a:p>
            <a:pPr indent="0" marL="0">
              <a:lnSpc>
                <a:spcPct val="108000"/>
              </a:lnSpc>
              <a:buNone/>
            </a:pPr>
            <a:r>
              <a:rPr lang="en-US" sz="810" b="1" dirty="0">
                <a:solidFill>
                  <a:srgbClr val="46545F"/>
                </a:solidFill>
                <a:latin typeface="Calibri" pitchFamily="34" charset="0"/>
                <a:ea typeface="Calibri" pitchFamily="34" charset="-122"/>
                <a:cs typeface="Calibri" pitchFamily="34" charset="-120"/>
              </a:rPr>
              <a:t>WHY → </a:t>
            </a:r>
            <a:pPr indent="0" marL="0">
              <a:lnSpc>
                <a:spcPct val="108000"/>
              </a:lnSpc>
              <a:spcAft>
                <a:spcPts val="600"/>
              </a:spcAft>
              <a:buNone/>
            </a:pPr>
            <a:r>
              <a:rPr lang="en-US" sz="810" i="1" dirty="0">
                <a:solidFill>
                  <a:srgbClr val="46545F"/>
                </a:solidFill>
                <a:latin typeface="Calibri" pitchFamily="34" charset="0"/>
                <a:ea typeface="Calibri" pitchFamily="34" charset="-122"/>
                <a:cs typeface="Calibri" pitchFamily="34" charset="-120"/>
              </a:rPr>
              <a:t>generative mode — it writes instantly, guessing every detail it doesn’t know.</a:t>
            </a:r>
            <a:endParaRPr lang="en-US" sz="860" dirty="0"/>
          </a:p>
          <a:p>
            <a:pPr indent="0" marL="0">
              <a:lnSpc>
                <a:spcPct val="108000"/>
              </a:lnSpc>
              <a:buNone/>
            </a:pPr>
            <a:r>
              <a:rPr lang="en-US" sz="860" b="1" dirty="0">
                <a:solidFill>
                  <a:srgbClr val="B96A1B"/>
                </a:solidFill>
                <a:latin typeface="Calibri" pitchFamily="34" charset="0"/>
                <a:ea typeface="Calibri" pitchFamily="34" charset="-122"/>
                <a:cs typeface="Calibri" pitchFamily="34" charset="-120"/>
              </a:rPr>
              <a:t>STEP 2 · </a:t>
            </a:r>
            <a:pPr indent="0" marL="0">
              <a:lnSpc>
                <a:spcPct val="108000"/>
              </a:lnSpc>
              <a:buNone/>
            </a:pPr>
            <a:r>
              <a:rPr lang="en-US" sz="86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860" dirty="0">
                <a:solidFill>
                  <a:srgbClr val="232A31"/>
                </a:solidFill>
                <a:latin typeface="Consolas" pitchFamily="34" charset="0"/>
                <a:ea typeface="Consolas" pitchFamily="34" charset="-122"/>
                <a:cs typeface="Consolas" pitchFamily="34" charset="-120"/>
              </a:rPr>
              <a:t>“Now don’t write it. Ask me everything you’d need to know to do this perfectly, then wait for my answers.”</a:t>
            </a:r>
            <a:endParaRPr lang="en-US" sz="860" dirty="0"/>
          </a:p>
          <a:p>
            <a:pPr indent="0" marL="0">
              <a:lnSpc>
                <a:spcPct val="108000"/>
              </a:lnSpc>
              <a:buNone/>
            </a:pPr>
            <a:r>
              <a:rPr lang="en-US" sz="81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810" i="1" dirty="0">
                <a:solidFill>
                  <a:srgbClr val="46545F"/>
                </a:solidFill>
                <a:latin typeface="Calibri" pitchFamily="34" charset="0"/>
                <a:ea typeface="Calibri" pitchFamily="34" charset="-122"/>
                <a:cs typeface="Calibri" pitchFamily="34" charset="-120"/>
              </a:rPr>
              <a:t>the seed of delegate mode — the AI turns around and interviews YOU.</a:t>
            </a:r>
            <a:endParaRPr lang="en-US" sz="860" dirty="0"/>
          </a:p>
        </p:txBody>
      </p:sp>
      <p:sp>
        <p:nvSpPr>
          <p:cNvPr id="18" name="Text 14"/>
          <p:cNvSpPr/>
          <p:nvPr/>
        </p:nvSpPr>
        <p:spPr>
          <a:xfrm>
            <a:off x="685800" y="6053328"/>
            <a:ext cx="5212080" cy="237744"/>
          </a:xfrm>
          <a:prstGeom prst="rect">
            <a:avLst/>
          </a:prstGeom>
          <a:noFill/>
          <a:ln/>
        </p:spPr>
        <p:txBody>
          <a:bodyPr wrap="square" lIns="0" tIns="0" rIns="0" bIns="0" rtlCol="0" anchor="ctr"/>
          <a:lstStyle/>
          <a:p>
            <a:pPr indent="0" marL="0">
              <a:buNone/>
            </a:pPr>
            <a:r>
              <a:rPr lang="en-US" sz="800" i="1" dirty="0">
                <a:solidFill>
                  <a:srgbClr val="0A5B5A"/>
                </a:solidFill>
                <a:latin typeface="Calibri" pitchFamily="34" charset="0"/>
                <a:ea typeface="Calibri" pitchFamily="34" charset="-122"/>
                <a:cs typeface="Calibri" pitchFamily="34" charset="-120"/>
              </a:rPr>
              <a:t>✂ copy-paste, don’t retype: tab EX1-TwoModes of your Course Workbook</a:t>
            </a:r>
            <a:endParaRPr lang="en-US" sz="800" dirty="0"/>
          </a:p>
        </p:txBody>
      </p:sp>
      <p:sp>
        <p:nvSpPr>
          <p:cNvPr id="19" name="Shape 15"/>
          <p:cNvSpPr/>
          <p:nvPr/>
        </p:nvSpPr>
        <p:spPr>
          <a:xfrm>
            <a:off x="6400800" y="1417320"/>
            <a:ext cx="5257800" cy="2697480"/>
          </a:xfrm>
          <a:prstGeom prst="roundRect">
            <a:avLst>
              <a:gd name="adj" fmla="val 2712"/>
            </a:avLst>
          </a:prstGeom>
          <a:solidFill>
            <a:srgbClr val="F2F5F6"/>
          </a:solidFill>
          <a:ln/>
        </p:spPr>
      </p:sp>
      <p:sp>
        <p:nvSpPr>
          <p:cNvPr id="20" name="Text 16"/>
          <p:cNvSpPr/>
          <p:nvPr/>
        </p:nvSpPr>
        <p:spPr>
          <a:xfrm>
            <a:off x="6675120" y="1627632"/>
            <a:ext cx="4754880" cy="365760"/>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The map — three blocks, six parts</a:t>
            </a:r>
            <a:endParaRPr lang="en-US" sz="1500" dirty="0"/>
          </a:p>
        </p:txBody>
      </p:sp>
      <p:sp>
        <p:nvSpPr>
          <p:cNvPr id="21" name="Text 17"/>
          <p:cNvSpPr/>
          <p:nvPr/>
        </p:nvSpPr>
        <p:spPr>
          <a:xfrm>
            <a:off x="6675120" y="2011680"/>
            <a:ext cx="4754880" cy="2057400"/>
          </a:xfrm>
          <a:prstGeom prst="rect">
            <a:avLst/>
          </a:prstGeom>
          <a:noFill/>
          <a:ln/>
        </p:spPr>
        <p:txBody>
          <a:bodyPr wrap="square" lIns="0" tIns="0" rIns="0" bIns="0" rtlCol="0" anchor="ctr"/>
          <a:lstStyle/>
          <a:p>
            <a:pPr indent="0" marL="0">
              <a:lnSpc>
                <a:spcPct val="108000"/>
              </a:lnSpc>
              <a:spcAft>
                <a:spcPts val="200"/>
              </a:spcAft>
              <a:buNone/>
            </a:pPr>
            <a:r>
              <a:rPr lang="en-US" sz="1100" b="1" dirty="0">
                <a:solidFill>
                  <a:srgbClr val="0A5B5A"/>
                </a:solidFill>
                <a:latin typeface="Calibri" pitchFamily="34" charset="0"/>
                <a:ea typeface="Calibri" pitchFamily="34" charset="-122"/>
                <a:cs typeface="Calibri" pitchFamily="34" charset="-120"/>
              </a:rPr>
              <a:t>BLOCK 1 · FOUNDATIONS</a:t>
            </a:r>
            <a:endParaRPr lang="en-US" sz="1100" dirty="0"/>
          </a:p>
          <a:p>
            <a:pPr indent="0" marL="0">
              <a:lnSpc>
                <a:spcPct val="108000"/>
              </a:lnSpc>
              <a:spcAft>
                <a:spcPts val="700"/>
              </a:spcAft>
              <a:buNone/>
            </a:pPr>
            <a:r>
              <a:rPr lang="en-US" sz="1050" dirty="0">
                <a:solidFill>
                  <a:srgbClr val="46545F"/>
                </a:solidFill>
                <a:latin typeface="Calibri" pitchFamily="34" charset="0"/>
                <a:ea typeface="Calibri" pitchFamily="34" charset="-122"/>
                <a:cs typeface="Calibri" pitchFamily="34" charset="-120"/>
              </a:rPr>
              <a:t>1 · The primer — how this actually works</a:t>
            </a:r>
            <a:endParaRPr lang="en-US" sz="1100" dirty="0"/>
          </a:p>
          <a:p>
            <a:pPr indent="0" marL="0">
              <a:lnSpc>
                <a:spcPct val="108000"/>
              </a:lnSpc>
              <a:spcAft>
                <a:spcPts val="700"/>
              </a:spcAft>
              <a:buNone/>
            </a:pPr>
            <a:r>
              <a:rPr lang="en-US" sz="1050" dirty="0">
                <a:solidFill>
                  <a:srgbClr val="46545F"/>
                </a:solidFill>
                <a:latin typeface="Calibri" pitchFamily="34" charset="0"/>
                <a:ea typeface="Calibri" pitchFamily="34" charset="-122"/>
                <a:cs typeface="Calibri" pitchFamily="34" charset="-120"/>
              </a:rPr>
              <a:t>2 · Models &amp; tools — the landscape</a:t>
            </a:r>
            <a:endParaRPr lang="en-US" sz="1100" dirty="0"/>
          </a:p>
          <a:p>
            <a:pPr indent="0" marL="0">
              <a:lnSpc>
                <a:spcPct val="108000"/>
              </a:lnSpc>
              <a:spcAft>
                <a:spcPts val="200"/>
              </a:spcAft>
              <a:buNone/>
            </a:pPr>
            <a:r>
              <a:rPr lang="en-US" sz="1100" b="1" dirty="0">
                <a:solidFill>
                  <a:srgbClr val="0A5B5A"/>
                </a:solidFill>
                <a:latin typeface="Calibri" pitchFamily="34" charset="0"/>
                <a:ea typeface="Calibri" pitchFamily="34" charset="-122"/>
                <a:cs typeface="Calibri" pitchFamily="34" charset="-120"/>
              </a:rPr>
              <a:t>BLOCK 2 · THE CRAFT</a:t>
            </a:r>
            <a:endParaRPr lang="en-US" sz="1100" dirty="0"/>
          </a:p>
          <a:p>
            <a:pPr indent="0" marL="0">
              <a:lnSpc>
                <a:spcPct val="108000"/>
              </a:lnSpc>
              <a:spcAft>
                <a:spcPts val="700"/>
              </a:spcAft>
              <a:buNone/>
            </a:pPr>
            <a:r>
              <a:rPr lang="en-US" sz="1050" dirty="0">
                <a:solidFill>
                  <a:srgbClr val="46545F"/>
                </a:solidFill>
                <a:latin typeface="Calibri" pitchFamily="34" charset="0"/>
                <a:ea typeface="Calibri" pitchFamily="34" charset="-122"/>
                <a:cs typeface="Calibri" pitchFamily="34" charset="-120"/>
              </a:rPr>
              <a:t>3 · Prompt engineering — anatomy + techniques</a:t>
            </a:r>
            <a:endParaRPr lang="en-US" sz="1100" dirty="0"/>
          </a:p>
          <a:p>
            <a:pPr indent="0" marL="0">
              <a:lnSpc>
                <a:spcPct val="108000"/>
              </a:lnSpc>
              <a:spcAft>
                <a:spcPts val="700"/>
              </a:spcAft>
              <a:buNone/>
            </a:pPr>
            <a:r>
              <a:rPr lang="en-US" sz="1050" dirty="0">
                <a:solidFill>
                  <a:srgbClr val="46545F"/>
                </a:solidFill>
                <a:latin typeface="Calibri" pitchFamily="34" charset="0"/>
                <a:ea typeface="Calibri" pitchFamily="34" charset="-122"/>
                <a:cs typeface="Calibri" pitchFamily="34" charset="-120"/>
              </a:rPr>
              <a:t>4 · The playbook — worked examples &amp; demos</a:t>
            </a:r>
            <a:endParaRPr lang="en-US" sz="1100" dirty="0"/>
          </a:p>
          <a:p>
            <a:pPr indent="0" marL="0">
              <a:lnSpc>
                <a:spcPct val="108000"/>
              </a:lnSpc>
              <a:spcAft>
                <a:spcPts val="200"/>
              </a:spcAft>
              <a:buNone/>
            </a:pPr>
            <a:r>
              <a:rPr lang="en-US" sz="1100" b="1" dirty="0">
                <a:solidFill>
                  <a:srgbClr val="0A5B5A"/>
                </a:solidFill>
                <a:latin typeface="Calibri" pitchFamily="34" charset="0"/>
                <a:ea typeface="Calibri" pitchFamily="34" charset="-122"/>
                <a:cs typeface="Calibri" pitchFamily="34" charset="-120"/>
              </a:rPr>
              <a:t>BLOCK 3 · DELEGATION</a:t>
            </a:r>
            <a:endParaRPr lang="en-US" sz="1100" dirty="0"/>
          </a:p>
          <a:p>
            <a:pPr indent="0" marL="0">
              <a:lnSpc>
                <a:spcPct val="108000"/>
              </a:lnSpc>
              <a:buNone/>
            </a:pPr>
            <a:r>
              <a:rPr lang="en-US" sz="1050" dirty="0">
                <a:solidFill>
                  <a:srgbClr val="46545F"/>
                </a:solidFill>
                <a:latin typeface="Calibri" pitchFamily="34" charset="0"/>
                <a:ea typeface="Calibri" pitchFamily="34" charset="-122"/>
                <a:cs typeface="Calibri" pitchFamily="34" charset="-120"/>
              </a:rPr>
              <a:t>5 · Agentic prompting — the mission brief</a:t>
            </a:r>
            <a:endParaRPr lang="en-US" sz="1100" dirty="0"/>
          </a:p>
          <a:p>
            <a:pPr indent="0" marL="0">
              <a:lnSpc>
                <a:spcPct val="108000"/>
              </a:lnSpc>
              <a:buNone/>
            </a:pPr>
            <a:r>
              <a:rPr lang="en-US" sz="1050" dirty="0">
                <a:solidFill>
                  <a:srgbClr val="46545F"/>
                </a:solidFill>
                <a:latin typeface="Calibri" pitchFamily="34" charset="0"/>
                <a:ea typeface="Calibri" pitchFamily="34" charset="-122"/>
                <a:cs typeface="Calibri" pitchFamily="34" charset="-120"/>
              </a:rPr>
              <a:t>6 · Prompts as assets · wrap-up</a:t>
            </a:r>
            <a:endParaRPr lang="en-US" sz="1100" dirty="0"/>
          </a:p>
        </p:txBody>
      </p:sp>
      <p:sp>
        <p:nvSpPr>
          <p:cNvPr id="22" name="Shape 18"/>
          <p:cNvSpPr/>
          <p:nvPr/>
        </p:nvSpPr>
        <p:spPr>
          <a:xfrm>
            <a:off x="6400800" y="4261104"/>
            <a:ext cx="5257800" cy="1627632"/>
          </a:xfrm>
          <a:prstGeom prst="roundRect">
            <a:avLst>
              <a:gd name="adj" fmla="val 4494"/>
            </a:avLst>
          </a:prstGeom>
          <a:solidFill>
            <a:srgbClr val="FBF0E0"/>
          </a:solidFill>
          <a:ln/>
        </p:spPr>
      </p:sp>
      <p:sp>
        <p:nvSpPr>
          <p:cNvPr id="23" name="Shape 19"/>
          <p:cNvSpPr/>
          <p:nvPr/>
        </p:nvSpPr>
        <p:spPr>
          <a:xfrm>
            <a:off x="6583680" y="4389120"/>
            <a:ext cx="365760" cy="365760"/>
          </a:xfrm>
          <a:prstGeom prst="ellipse">
            <a:avLst/>
          </a:prstGeom>
          <a:solidFill>
            <a:srgbClr val="B96A1B"/>
          </a:solidFill>
          <a:ln/>
        </p:spPr>
      </p:sp>
      <p:pic>
        <p:nvPicPr>
          <p:cNvPr id="24" name="Image 2" descr="/home/user/Claude-Works/ai-training-prompt-engineering/src/assets/icons/download_w.png">    </p:cNvPr>
          <p:cNvPicPr>
            <a:picLocks noChangeAspect="1"/>
          </p:cNvPicPr>
          <p:nvPr/>
        </p:nvPicPr>
        <p:blipFill>
          <a:blip r:embed="rId3"/>
          <a:stretch>
            <a:fillRect/>
          </a:stretch>
        </p:blipFill>
        <p:spPr>
          <a:xfrm>
            <a:off x="6678778" y="4484218"/>
            <a:ext cx="175565" cy="175565"/>
          </a:xfrm>
          <a:prstGeom prst="rect">
            <a:avLst/>
          </a:prstGeom>
        </p:spPr>
      </p:pic>
      <p:sp>
        <p:nvSpPr>
          <p:cNvPr id="25" name="Text 20"/>
          <p:cNvSpPr/>
          <p:nvPr/>
        </p:nvSpPr>
        <p:spPr>
          <a:xfrm>
            <a:off x="7059168" y="4389120"/>
            <a:ext cx="4389120" cy="310896"/>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You leave with:</a:t>
            </a:r>
            <a:endParaRPr lang="en-US" sz="1250" dirty="0"/>
          </a:p>
        </p:txBody>
      </p:sp>
      <p:sp>
        <p:nvSpPr>
          <p:cNvPr id="26" name="Text 21"/>
          <p:cNvSpPr/>
          <p:nvPr/>
        </p:nvSpPr>
        <p:spPr>
          <a:xfrm>
            <a:off x="6656832" y="4736592"/>
            <a:ext cx="4846320" cy="1097280"/>
          </a:xfrm>
          <a:prstGeom prst="rect">
            <a:avLst/>
          </a:prstGeom>
          <a:noFill/>
          <a:ln/>
        </p:spPr>
        <p:txBody>
          <a:bodyPr wrap="square" lIns="0" tIns="0" rIns="0" bIns="0" rtlCol="0" anchor="ctr"/>
          <a:lstStyle/>
          <a:p>
            <a:pPr indent="0" marL="0">
              <a:lnSpc>
                <a:spcPct val="110000"/>
              </a:lnSpc>
              <a:buNone/>
            </a:pPr>
            <a:r>
              <a:rPr lang="en-US" sz="1000" dirty="0">
                <a:solidFill>
                  <a:srgbClr val="46545F"/>
                </a:solidFill>
                <a:latin typeface="Calibri" pitchFamily="34" charset="0"/>
                <a:ea typeface="Calibri" pitchFamily="34" charset="-122"/>
                <a:cs typeface="Calibri" pitchFamily="34" charset="-120"/>
              </a:rPr>
              <a:t>•  Course Workbook — every exercise, copy-paste ready</a:t>
            </a:r>
            <a:endParaRPr lang="en-US" sz="1000" dirty="0"/>
          </a:p>
          <a:p>
            <a:pPr indent="0" marL="0">
              <a:lnSpc>
                <a:spcPct val="110000"/>
              </a:lnSpc>
              <a:buNone/>
            </a:pPr>
            <a:r>
              <a:rPr lang="en-US" sz="1000" dirty="0">
                <a:solidFill>
                  <a:srgbClr val="46545F"/>
                </a:solidFill>
                <a:latin typeface="Calibri" pitchFamily="34" charset="0"/>
                <a:ea typeface="Calibri" pitchFamily="34" charset="-122"/>
                <a:cs typeface="Calibri" pitchFamily="34" charset="-120"/>
              </a:rPr>
              <a:t>•  13-template prompt library + Template Creator</a:t>
            </a:r>
            <a:endParaRPr lang="en-US" sz="1000" dirty="0"/>
          </a:p>
          <a:p>
            <a:pPr indent="0" marL="0">
              <a:lnSpc>
                <a:spcPct val="110000"/>
              </a:lnSpc>
              <a:buNone/>
            </a:pPr>
            <a:r>
              <a:rPr lang="en-US" sz="1000" dirty="0">
                <a:solidFill>
                  <a:srgbClr val="46545F"/>
                </a:solidFill>
                <a:latin typeface="Calibri" pitchFamily="34" charset="0"/>
                <a:ea typeface="Calibri" pitchFamily="34" charset="-122"/>
                <a:cs typeface="Calibri" pitchFamily="34" charset="-120"/>
              </a:rPr>
              <a:t>•  Taxonomy reference + one-page cheat sheet</a:t>
            </a:r>
            <a:endParaRPr lang="en-US" sz="1000" dirty="0"/>
          </a:p>
          <a:p>
            <a:pPr indent="0" marL="0">
              <a:lnSpc>
                <a:spcPct val="110000"/>
              </a:lnSpc>
              <a:buNone/>
            </a:pPr>
            <a:r>
              <a:rPr lang="en-US" sz="1000" dirty="0">
                <a:solidFill>
                  <a:srgbClr val="46545F"/>
                </a:solidFill>
                <a:latin typeface="Calibri" pitchFamily="34" charset="0"/>
                <a:ea typeface="Calibri" pitchFamily="34" charset="-122"/>
                <a:cs typeface="Calibri" pitchFamily="34" charset="-120"/>
              </a:rPr>
              <a:t>•  The Do / Don’t / Expired playbook one-pager</a:t>
            </a:r>
            <a:endParaRPr lang="en-US" sz="1000" dirty="0"/>
          </a:p>
          <a:p>
            <a:pPr indent="0" marL="0">
              <a:lnSpc>
                <a:spcPct val="110000"/>
              </a:lnSpc>
              <a:buNone/>
            </a:pPr>
            <a:r>
              <a:rPr lang="en-US" sz="1000" dirty="0">
                <a:solidFill>
                  <a:srgbClr val="46545F"/>
                </a:solidFill>
                <a:latin typeface="Calibri" pitchFamily="34" charset="0"/>
                <a:ea typeface="Calibri" pitchFamily="34" charset="-122"/>
                <a:cs typeface="Calibri" pitchFamily="34" charset="-120"/>
              </a:rPr>
              <a:t>•  Team conventions for storing &amp; versioning prompts</a:t>
            </a:r>
            <a:endParaRPr lang="en-US" sz="1000" dirty="0"/>
          </a:p>
        </p:txBody>
      </p:sp>
      <p:sp>
        <p:nvSpPr>
          <p:cNvPr id="27" name="Text 22"/>
          <p:cNvSpPr/>
          <p:nvPr/>
        </p:nvSpPr>
        <p:spPr>
          <a:xfrm>
            <a:off x="6400800" y="5925312"/>
            <a:ext cx="5257800" cy="457200"/>
          </a:xfrm>
          <a:prstGeom prst="rect">
            <a:avLst/>
          </a:prstGeom>
          <a:noFill/>
          <a:ln/>
        </p:spPr>
        <p:txBody>
          <a:bodyPr wrap="square" lIns="0" tIns="0" rIns="0" bIns="0" rtlCol="0" anchor="ctr"/>
          <a:lstStyle/>
          <a:p>
            <a:pPr indent="0" marL="0">
              <a:lnSpc>
                <a:spcPct val="105000"/>
              </a:lnSpc>
              <a:buNone/>
            </a:pPr>
            <a:r>
              <a:rPr lang="en-US" sz="900" i="1" dirty="0">
                <a:solidFill>
                  <a:srgbClr val="7A8790"/>
                </a:solidFill>
                <a:latin typeface="Calibri" pitchFamily="34" charset="0"/>
                <a:ea typeface="Calibri" pitchFamily="34" charset="-122"/>
                <a:cs typeface="Calibri" pitchFamily="34" charset="-120"/>
              </a:rPr>
              <a:t>This course teaches the text wing. Image, video and audio prompting have their own dials — same discipline, different controls; with enough interest, that becomes its own training.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A9BBC4"/>
                </a:solidFill>
                <a:latin typeface="Calibri" pitchFamily="34" charset="0"/>
                <a:ea typeface="Calibri" pitchFamily="34" charset="-122"/>
                <a:cs typeface="Calibri" pitchFamily="34" charset="-120"/>
              </a:rPr>
              <a:t>3</a:t>
            </a:r>
            <a:endParaRPr lang="en-US" sz="850" dirty="0"/>
          </a:p>
        </p:txBody>
      </p:sp>
      <p:sp>
        <p:nvSpPr>
          <p:cNvPr id="3" name="Shape 1"/>
          <p:cNvSpPr/>
          <p:nvPr/>
        </p:nvSpPr>
        <p:spPr>
          <a:xfrm>
            <a:off x="502920" y="475488"/>
            <a:ext cx="1481328" cy="329184"/>
          </a:xfrm>
          <a:prstGeom prst="roundRect">
            <a:avLst>
              <a:gd name="adj" fmla="val 50000"/>
            </a:avLst>
          </a:prstGeom>
          <a:solidFill>
            <a:srgbClr val="0E7C7B"/>
          </a:solidFill>
          <a:ln/>
        </p:spPr>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210312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1 · THE PRIMER</a:t>
            </a:r>
            <a:endParaRPr lang="en-US" sz="1600" dirty="0"/>
          </a:p>
        </p:txBody>
      </p:sp>
      <p:sp>
        <p:nvSpPr>
          <p:cNvPr id="16" name="Text 14"/>
          <p:cNvSpPr/>
          <p:nvPr/>
        </p:nvSpPr>
        <p:spPr>
          <a:xfrm>
            <a:off x="502920" y="256032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Where this came from,</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and how it actually works</a:t>
            </a:r>
            <a:endParaRPr lang="en-US" sz="4400" dirty="0"/>
          </a:p>
        </p:txBody>
      </p:sp>
      <p:sp>
        <p:nvSpPr>
          <p:cNvPr id="17" name="Text 15"/>
          <p:cNvSpPr/>
          <p:nvPr/>
        </p:nvSpPr>
        <p:spPr>
          <a:xfrm>
            <a:off x="502920" y="44348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A short history — the eras, the decade, the hardware — then the six concepts that make you fluent: tokens, context, RAG, the escalation ladder, the token economy, hallucination.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A SHORT HISTORY</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SEVENTY YEARS IN ONE SLIDE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Four eras: rules → learning → generative → agentic</a:t>
            </a:r>
            <a:endParaRPr lang="en-US" sz="3000" dirty="0"/>
          </a:p>
        </p:txBody>
      </p:sp>
      <p:sp>
        <p:nvSpPr>
          <p:cNvPr id="6" name="Shape 4"/>
          <p:cNvSpPr/>
          <p:nvPr/>
        </p:nvSpPr>
        <p:spPr>
          <a:xfrm>
            <a:off x="502920" y="1554480"/>
            <a:ext cx="2697480" cy="3401568"/>
          </a:xfrm>
          <a:prstGeom prst="roundRect">
            <a:avLst>
              <a:gd name="adj" fmla="val 2712"/>
            </a:avLst>
          </a:prstGeom>
          <a:solidFill>
            <a:srgbClr val="F2F5F6"/>
          </a:solidFill>
          <a:ln/>
        </p:spPr>
      </p:sp>
      <p:sp>
        <p:nvSpPr>
          <p:cNvPr id="7" name="Shape 5"/>
          <p:cNvSpPr/>
          <p:nvPr/>
        </p:nvSpPr>
        <p:spPr>
          <a:xfrm>
            <a:off x="722376" y="1755648"/>
            <a:ext cx="457200" cy="457200"/>
          </a:xfrm>
          <a:prstGeom prst="ellipse">
            <a:avLst/>
          </a:prstGeom>
          <a:solidFill>
            <a:srgbClr val="0E7C7B"/>
          </a:solidFill>
          <a:ln/>
        </p:spPr>
      </p:sp>
      <p:pic>
        <p:nvPicPr>
          <p:cNvPr id="8" name="Image 0" descr="/home/user/Claude-Works/ai-training-prompt-engineering/src/assets/icons/edit_w.png">    </p:cNvPr>
          <p:cNvPicPr>
            <a:picLocks noChangeAspect="1"/>
          </p:cNvPicPr>
          <p:nvPr/>
        </p:nvPicPr>
        <p:blipFill>
          <a:blip r:embed="rId1"/>
          <a:stretch>
            <a:fillRect/>
          </a:stretch>
        </p:blipFill>
        <p:spPr>
          <a:xfrm>
            <a:off x="841248" y="1874520"/>
            <a:ext cx="219456" cy="219456"/>
          </a:xfrm>
          <a:prstGeom prst="rect">
            <a:avLst/>
          </a:prstGeom>
        </p:spPr>
      </p:pic>
      <p:sp>
        <p:nvSpPr>
          <p:cNvPr id="9" name="Text 6"/>
          <p:cNvSpPr/>
          <p:nvPr/>
        </p:nvSpPr>
        <p:spPr>
          <a:xfrm>
            <a:off x="1289304"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Rules</a:t>
            </a:r>
            <a:endParaRPr lang="en-US" sz="1500" dirty="0"/>
          </a:p>
        </p:txBody>
      </p:sp>
      <p:sp>
        <p:nvSpPr>
          <p:cNvPr id="10" name="Text 7"/>
          <p:cNvSpPr/>
          <p:nvPr/>
        </p:nvSpPr>
        <p:spPr>
          <a:xfrm>
            <a:off x="1289304" y="2075688"/>
            <a:ext cx="1874520" cy="384048"/>
          </a:xfrm>
          <a:prstGeom prst="rect">
            <a:avLst/>
          </a:prstGeom>
          <a:noFill/>
          <a:ln/>
        </p:spPr>
        <p:txBody>
          <a:bodyPr wrap="square" lIns="0" tIns="0" rIns="0" bIns="0" rtlCol="0" anchor="ctr"/>
          <a:lstStyle/>
          <a:p>
            <a:pPr indent="0" marL="0">
              <a:lnSpc>
                <a:spcPct val="98000"/>
              </a:lnSpc>
              <a:buNone/>
            </a:pPr>
            <a:r>
              <a:rPr lang="en-US" sz="820" b="1" dirty="0">
                <a:solidFill>
                  <a:srgbClr val="7A8790"/>
                </a:solidFill>
                <a:latin typeface="Calibri" pitchFamily="34" charset="0"/>
                <a:ea typeface="Calibri" pitchFamily="34" charset="-122"/>
                <a:cs typeface="Calibri" pitchFamily="34" charset="-120"/>
              </a:rPr>
              <a:t>1950s–1990s · symbolic AI, expert systems</a:t>
            </a:r>
            <a:endParaRPr lang="en-US" sz="820" dirty="0"/>
          </a:p>
        </p:txBody>
      </p:sp>
      <p:sp>
        <p:nvSpPr>
          <p:cNvPr id="11" name="Shape 8"/>
          <p:cNvSpPr/>
          <p:nvPr/>
        </p:nvSpPr>
        <p:spPr>
          <a:xfrm>
            <a:off x="1490472" y="2578608"/>
            <a:ext cx="731520" cy="201168"/>
          </a:xfrm>
          <a:prstGeom prst="roundRect">
            <a:avLst>
              <a:gd name="adj" fmla="val 18182"/>
            </a:avLst>
          </a:prstGeom>
          <a:solidFill>
            <a:srgbClr val="FFFFFF"/>
          </a:solidFill>
          <a:ln w="9525">
            <a:solidFill>
              <a:srgbClr val="0E7C7B"/>
            </a:solidFill>
            <a:prstDash val="solid"/>
          </a:ln>
        </p:spPr>
      </p:sp>
      <p:sp>
        <p:nvSpPr>
          <p:cNvPr id="12" name="Text 9"/>
          <p:cNvSpPr/>
          <p:nvPr/>
        </p:nvSpPr>
        <p:spPr>
          <a:xfrm>
            <a:off x="1490472" y="2578608"/>
            <a:ext cx="731520" cy="201168"/>
          </a:xfrm>
          <a:prstGeom prst="rect">
            <a:avLst/>
          </a:prstGeom>
          <a:noFill/>
          <a:ln/>
        </p:spPr>
        <p:txBody>
          <a:bodyPr wrap="square" lIns="0" tIns="0" rIns="0" bIns="0" rtlCol="0" anchor="ctr"/>
          <a:lstStyle/>
          <a:p>
            <a:pPr algn="ctr" indent="0" marL="0">
              <a:buNone/>
            </a:pPr>
            <a:r>
              <a:rPr lang="en-US" sz="650" dirty="0">
                <a:solidFill>
                  <a:srgbClr val="0A5B5A"/>
                </a:solidFill>
                <a:latin typeface="Calibri" pitchFamily="34" charset="0"/>
                <a:ea typeface="Calibri" pitchFamily="34" charset="-122"/>
                <a:cs typeface="Calibri" pitchFamily="34" charset="-120"/>
              </a:rPr>
              <a:t>if…?</a:t>
            </a:r>
            <a:endParaRPr lang="en-US" sz="650" dirty="0"/>
          </a:p>
        </p:txBody>
      </p:sp>
      <p:sp>
        <p:nvSpPr>
          <p:cNvPr id="13" name="Shape 10"/>
          <p:cNvSpPr/>
          <p:nvPr/>
        </p:nvSpPr>
        <p:spPr>
          <a:xfrm>
            <a:off x="850392" y="2944368"/>
            <a:ext cx="731520" cy="201168"/>
          </a:xfrm>
          <a:prstGeom prst="roundRect">
            <a:avLst>
              <a:gd name="adj" fmla="val 18182"/>
            </a:avLst>
          </a:prstGeom>
          <a:solidFill>
            <a:srgbClr val="FFFFFF"/>
          </a:solidFill>
          <a:ln w="9525">
            <a:solidFill>
              <a:srgbClr val="0E7C7B"/>
            </a:solidFill>
            <a:prstDash val="solid"/>
          </a:ln>
        </p:spPr>
      </p:sp>
      <p:sp>
        <p:nvSpPr>
          <p:cNvPr id="14" name="Text 11"/>
          <p:cNvSpPr/>
          <p:nvPr/>
        </p:nvSpPr>
        <p:spPr>
          <a:xfrm>
            <a:off x="850392" y="2944368"/>
            <a:ext cx="731520" cy="201168"/>
          </a:xfrm>
          <a:prstGeom prst="rect">
            <a:avLst/>
          </a:prstGeom>
          <a:noFill/>
          <a:ln/>
        </p:spPr>
        <p:txBody>
          <a:bodyPr wrap="square" lIns="0" tIns="0" rIns="0" bIns="0" rtlCol="0" anchor="ctr"/>
          <a:lstStyle/>
          <a:p>
            <a:pPr algn="ctr" indent="0" marL="0">
              <a:buNone/>
            </a:pPr>
            <a:r>
              <a:rPr lang="en-US" sz="650" dirty="0">
                <a:solidFill>
                  <a:srgbClr val="0A5B5A"/>
                </a:solidFill>
                <a:latin typeface="Calibri" pitchFamily="34" charset="0"/>
                <a:ea typeface="Calibri" pitchFamily="34" charset="-122"/>
                <a:cs typeface="Calibri" pitchFamily="34" charset="-120"/>
              </a:rPr>
              <a:t>then A</a:t>
            </a:r>
            <a:endParaRPr lang="en-US" sz="650" dirty="0"/>
          </a:p>
        </p:txBody>
      </p:sp>
      <p:sp>
        <p:nvSpPr>
          <p:cNvPr id="15" name="Shape 12"/>
          <p:cNvSpPr/>
          <p:nvPr/>
        </p:nvSpPr>
        <p:spPr>
          <a:xfrm>
            <a:off x="2148840" y="2944368"/>
            <a:ext cx="731520" cy="201168"/>
          </a:xfrm>
          <a:prstGeom prst="roundRect">
            <a:avLst>
              <a:gd name="adj" fmla="val 18182"/>
            </a:avLst>
          </a:prstGeom>
          <a:solidFill>
            <a:srgbClr val="FFFFFF"/>
          </a:solidFill>
          <a:ln w="9525">
            <a:solidFill>
              <a:srgbClr val="0E7C7B"/>
            </a:solidFill>
            <a:prstDash val="solid"/>
          </a:ln>
        </p:spPr>
      </p:sp>
      <p:sp>
        <p:nvSpPr>
          <p:cNvPr id="16" name="Text 13"/>
          <p:cNvSpPr/>
          <p:nvPr/>
        </p:nvSpPr>
        <p:spPr>
          <a:xfrm>
            <a:off x="2148840" y="2944368"/>
            <a:ext cx="731520" cy="201168"/>
          </a:xfrm>
          <a:prstGeom prst="rect">
            <a:avLst/>
          </a:prstGeom>
          <a:noFill/>
          <a:ln/>
        </p:spPr>
        <p:txBody>
          <a:bodyPr wrap="square" lIns="0" tIns="0" rIns="0" bIns="0" rtlCol="0" anchor="ctr"/>
          <a:lstStyle/>
          <a:p>
            <a:pPr algn="ctr" indent="0" marL="0">
              <a:buNone/>
            </a:pPr>
            <a:r>
              <a:rPr lang="en-US" sz="650" dirty="0">
                <a:solidFill>
                  <a:srgbClr val="0A5B5A"/>
                </a:solidFill>
                <a:latin typeface="Calibri" pitchFamily="34" charset="0"/>
                <a:ea typeface="Calibri" pitchFamily="34" charset="-122"/>
                <a:cs typeface="Calibri" pitchFamily="34" charset="-120"/>
              </a:rPr>
              <a:t>else B</a:t>
            </a:r>
            <a:endParaRPr lang="en-US" sz="650" dirty="0"/>
          </a:p>
        </p:txBody>
      </p:sp>
      <p:sp>
        <p:nvSpPr>
          <p:cNvPr id="17" name="Shape 14"/>
          <p:cNvSpPr/>
          <p:nvPr/>
        </p:nvSpPr>
        <p:spPr>
          <a:xfrm>
            <a:off x="1737360" y="2779776"/>
            <a:ext cx="-502920" cy="164592"/>
          </a:xfrm>
          <a:prstGeom prst="line">
            <a:avLst/>
          </a:prstGeom>
          <a:noFill/>
          <a:ln w="12700">
            <a:solidFill>
              <a:srgbClr val="0E7C7B"/>
            </a:solidFill>
            <a:prstDash val="solid"/>
          </a:ln>
        </p:spPr>
      </p:sp>
      <p:sp>
        <p:nvSpPr>
          <p:cNvPr id="18" name="Shape 15"/>
          <p:cNvSpPr/>
          <p:nvPr/>
        </p:nvSpPr>
        <p:spPr>
          <a:xfrm>
            <a:off x="1984248" y="2779776"/>
            <a:ext cx="502920" cy="164592"/>
          </a:xfrm>
          <a:prstGeom prst="line">
            <a:avLst/>
          </a:prstGeom>
          <a:noFill/>
          <a:ln w="12700">
            <a:solidFill>
              <a:srgbClr val="0E7C7B"/>
            </a:solidFill>
            <a:prstDash val="solid"/>
          </a:ln>
        </p:spPr>
      </p:sp>
      <p:sp>
        <p:nvSpPr>
          <p:cNvPr id="19" name="Text 16"/>
          <p:cNvSpPr/>
          <p:nvPr/>
        </p:nvSpPr>
        <p:spPr>
          <a:xfrm>
            <a:off x="722376" y="3218688"/>
            <a:ext cx="2286000" cy="1078992"/>
          </a:xfrm>
          <a:prstGeom prst="rect">
            <a:avLst/>
          </a:prstGeom>
          <a:noFill/>
          <a:ln/>
        </p:spPr>
        <p:txBody>
          <a:bodyPr wrap="square" lIns="0" tIns="0" rIns="0" bIns="0" rtlCol="0" anchor="ctr"/>
          <a:lstStyle/>
          <a:p>
            <a:pPr indent="0" marL="0">
              <a:lnSpc>
                <a:spcPct val="105000"/>
              </a:lnSpc>
              <a:buNone/>
            </a:pPr>
            <a:r>
              <a:rPr lang="en-US" sz="940" dirty="0">
                <a:solidFill>
                  <a:srgbClr val="46545F"/>
                </a:solidFill>
                <a:latin typeface="Calibri" pitchFamily="34" charset="0"/>
                <a:ea typeface="Calibri" pitchFamily="34" charset="-122"/>
                <a:cs typeface="Calibri" pitchFamily="34" charset="-120"/>
              </a:rPr>
              <a:t>Humans hand-code the logic: “if X then Y.” Rules shine, then crack on messy reality. Hype outruns results twice: the “AI winters.”</a:t>
            </a:r>
            <a:endParaRPr lang="en-US" sz="940" dirty="0"/>
          </a:p>
        </p:txBody>
      </p:sp>
      <p:sp>
        <p:nvSpPr>
          <p:cNvPr id="20" name="Text 17"/>
          <p:cNvSpPr/>
          <p:nvPr/>
        </p:nvSpPr>
        <p:spPr>
          <a:xfrm>
            <a:off x="722376" y="4315968"/>
            <a:ext cx="2286000" cy="603504"/>
          </a:xfrm>
          <a:prstGeom prst="rect">
            <a:avLst/>
          </a:prstGeom>
          <a:noFill/>
          <a:ln/>
        </p:spPr>
        <p:txBody>
          <a:bodyPr wrap="square" lIns="0" tIns="0" rIns="0" bIns="0" rtlCol="0" anchor="ctr"/>
          <a:lstStyle/>
          <a:p>
            <a:pPr indent="0" marL="0">
              <a:lnSpc>
                <a:spcPct val="102000"/>
              </a:lnSpc>
              <a:buNone/>
            </a:pPr>
            <a:r>
              <a:rPr lang="en-US" sz="860" i="1" dirty="0">
                <a:solidFill>
                  <a:srgbClr val="0A5B5A"/>
                </a:solidFill>
                <a:latin typeface="Calibri" pitchFamily="34" charset="0"/>
                <a:ea typeface="Calibri" pitchFamily="34" charset="-122"/>
                <a:cs typeface="Calibri" pitchFamily="34" charset="-120"/>
              </a:rPr>
              <a:t>Gave us: expert systems doing real work — MYCIN diagnosing infections, XCON configuring computers.</a:t>
            </a:r>
            <a:endParaRPr lang="en-US" sz="860" dirty="0"/>
          </a:p>
        </p:txBody>
      </p:sp>
      <p:sp>
        <p:nvSpPr>
          <p:cNvPr id="21" name="Shape 18"/>
          <p:cNvSpPr/>
          <p:nvPr/>
        </p:nvSpPr>
        <p:spPr>
          <a:xfrm>
            <a:off x="3218688" y="3154680"/>
            <a:ext cx="182880" cy="0"/>
          </a:xfrm>
          <a:prstGeom prst="line">
            <a:avLst/>
          </a:prstGeom>
          <a:noFill/>
          <a:ln w="28575">
            <a:solidFill>
              <a:srgbClr val="0E7C7B"/>
            </a:solidFill>
            <a:prstDash val="solid"/>
            <a:tailEnd type="triangle"/>
          </a:ln>
        </p:spPr>
      </p:sp>
      <p:sp>
        <p:nvSpPr>
          <p:cNvPr id="22" name="Shape 19"/>
          <p:cNvSpPr/>
          <p:nvPr/>
        </p:nvSpPr>
        <p:spPr>
          <a:xfrm>
            <a:off x="3419856" y="1554480"/>
            <a:ext cx="2697480" cy="3401568"/>
          </a:xfrm>
          <a:prstGeom prst="roundRect">
            <a:avLst>
              <a:gd name="adj" fmla="val 2712"/>
            </a:avLst>
          </a:prstGeom>
          <a:solidFill>
            <a:srgbClr val="F2F5F6"/>
          </a:solidFill>
          <a:ln/>
        </p:spPr>
      </p:sp>
      <p:sp>
        <p:nvSpPr>
          <p:cNvPr id="23" name="Shape 20"/>
          <p:cNvSpPr/>
          <p:nvPr/>
        </p:nvSpPr>
        <p:spPr>
          <a:xfrm>
            <a:off x="3639312" y="1755648"/>
            <a:ext cx="457200" cy="457200"/>
          </a:xfrm>
          <a:prstGeom prst="ellipse">
            <a:avLst/>
          </a:prstGeom>
          <a:solidFill>
            <a:srgbClr val="0E7C7B"/>
          </a:solidFill>
          <a:ln/>
        </p:spPr>
      </p:sp>
      <p:pic>
        <p:nvPicPr>
          <p:cNvPr id="24" name="Image 1" descr="/home/user/Claude-Works/ai-training-prompt-engineering/src/assets/icons/chart_w.png">    </p:cNvPr>
          <p:cNvPicPr>
            <a:picLocks noChangeAspect="1"/>
          </p:cNvPicPr>
          <p:nvPr/>
        </p:nvPicPr>
        <p:blipFill>
          <a:blip r:embed="rId2"/>
          <a:stretch>
            <a:fillRect/>
          </a:stretch>
        </p:blipFill>
        <p:spPr>
          <a:xfrm>
            <a:off x="3758184" y="1874520"/>
            <a:ext cx="219456" cy="219456"/>
          </a:xfrm>
          <a:prstGeom prst="rect">
            <a:avLst/>
          </a:prstGeom>
        </p:spPr>
      </p:pic>
      <p:sp>
        <p:nvSpPr>
          <p:cNvPr id="25" name="Text 21"/>
          <p:cNvSpPr/>
          <p:nvPr/>
        </p:nvSpPr>
        <p:spPr>
          <a:xfrm>
            <a:off x="4206240"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Learning</a:t>
            </a:r>
            <a:endParaRPr lang="en-US" sz="1500" dirty="0"/>
          </a:p>
        </p:txBody>
      </p:sp>
      <p:sp>
        <p:nvSpPr>
          <p:cNvPr id="26" name="Text 22"/>
          <p:cNvSpPr/>
          <p:nvPr/>
        </p:nvSpPr>
        <p:spPr>
          <a:xfrm>
            <a:off x="4206240" y="2075688"/>
            <a:ext cx="1874520" cy="384048"/>
          </a:xfrm>
          <a:prstGeom prst="rect">
            <a:avLst/>
          </a:prstGeom>
          <a:noFill/>
          <a:ln/>
        </p:spPr>
        <p:txBody>
          <a:bodyPr wrap="square" lIns="0" tIns="0" rIns="0" bIns="0" rtlCol="0" anchor="ctr"/>
          <a:lstStyle/>
          <a:p>
            <a:pPr indent="0" marL="0">
              <a:lnSpc>
                <a:spcPct val="98000"/>
              </a:lnSpc>
              <a:buNone/>
            </a:pPr>
            <a:r>
              <a:rPr lang="en-US" sz="820" b="1" dirty="0">
                <a:solidFill>
                  <a:srgbClr val="7A8790"/>
                </a:solidFill>
                <a:latin typeface="Calibri" pitchFamily="34" charset="0"/>
                <a:ea typeface="Calibri" pitchFamily="34" charset="-122"/>
                <a:cs typeface="Calibri" pitchFamily="34" charset="-120"/>
              </a:rPr>
              <a:t>1990s–2010s · machine learning, neural networks</a:t>
            </a:r>
            <a:endParaRPr lang="en-US" sz="820" dirty="0"/>
          </a:p>
        </p:txBody>
      </p:sp>
      <p:sp>
        <p:nvSpPr>
          <p:cNvPr id="27" name="Shape 23"/>
          <p:cNvSpPr/>
          <p:nvPr/>
        </p:nvSpPr>
        <p:spPr>
          <a:xfrm>
            <a:off x="3968496" y="2642616"/>
            <a:ext cx="777240" cy="100584"/>
          </a:xfrm>
          <a:prstGeom prst="line">
            <a:avLst/>
          </a:prstGeom>
          <a:noFill/>
          <a:ln w="11430">
            <a:solidFill>
              <a:srgbClr val="DCE3E6"/>
            </a:solidFill>
            <a:prstDash val="solid"/>
          </a:ln>
        </p:spPr>
      </p:sp>
      <p:sp>
        <p:nvSpPr>
          <p:cNvPr id="28" name="Shape 24"/>
          <p:cNvSpPr/>
          <p:nvPr/>
        </p:nvSpPr>
        <p:spPr>
          <a:xfrm>
            <a:off x="3968496" y="2642616"/>
            <a:ext cx="777240" cy="301752"/>
          </a:xfrm>
          <a:prstGeom prst="line">
            <a:avLst/>
          </a:prstGeom>
          <a:noFill/>
          <a:ln w="11430">
            <a:solidFill>
              <a:srgbClr val="DCE3E6"/>
            </a:solidFill>
            <a:prstDash val="solid"/>
          </a:ln>
        </p:spPr>
      </p:sp>
      <p:sp>
        <p:nvSpPr>
          <p:cNvPr id="29" name="Shape 25"/>
          <p:cNvSpPr/>
          <p:nvPr/>
        </p:nvSpPr>
        <p:spPr>
          <a:xfrm>
            <a:off x="3968496" y="2843784"/>
            <a:ext cx="777240" cy="-100584"/>
          </a:xfrm>
          <a:prstGeom prst="line">
            <a:avLst/>
          </a:prstGeom>
          <a:noFill/>
          <a:ln w="11430">
            <a:solidFill>
              <a:srgbClr val="DCE3E6"/>
            </a:solidFill>
            <a:prstDash val="solid"/>
          </a:ln>
        </p:spPr>
      </p:sp>
      <p:sp>
        <p:nvSpPr>
          <p:cNvPr id="30" name="Shape 26"/>
          <p:cNvSpPr/>
          <p:nvPr/>
        </p:nvSpPr>
        <p:spPr>
          <a:xfrm>
            <a:off x="3968496" y="2843784"/>
            <a:ext cx="777240" cy="100584"/>
          </a:xfrm>
          <a:prstGeom prst="line">
            <a:avLst/>
          </a:prstGeom>
          <a:noFill/>
          <a:ln w="11430">
            <a:solidFill>
              <a:srgbClr val="DCE3E6"/>
            </a:solidFill>
            <a:prstDash val="solid"/>
          </a:ln>
        </p:spPr>
      </p:sp>
      <p:sp>
        <p:nvSpPr>
          <p:cNvPr id="31" name="Shape 27"/>
          <p:cNvSpPr/>
          <p:nvPr/>
        </p:nvSpPr>
        <p:spPr>
          <a:xfrm>
            <a:off x="3968496" y="3044952"/>
            <a:ext cx="777240" cy="-301752"/>
          </a:xfrm>
          <a:prstGeom prst="line">
            <a:avLst/>
          </a:prstGeom>
          <a:noFill/>
          <a:ln w="11430">
            <a:solidFill>
              <a:srgbClr val="DCE3E6"/>
            </a:solidFill>
            <a:prstDash val="solid"/>
          </a:ln>
        </p:spPr>
      </p:sp>
      <p:sp>
        <p:nvSpPr>
          <p:cNvPr id="32" name="Shape 28"/>
          <p:cNvSpPr/>
          <p:nvPr/>
        </p:nvSpPr>
        <p:spPr>
          <a:xfrm>
            <a:off x="3968496" y="3044952"/>
            <a:ext cx="777240" cy="-100584"/>
          </a:xfrm>
          <a:prstGeom prst="line">
            <a:avLst/>
          </a:prstGeom>
          <a:noFill/>
          <a:ln w="11430">
            <a:solidFill>
              <a:srgbClr val="DCE3E6"/>
            </a:solidFill>
            <a:prstDash val="solid"/>
          </a:ln>
        </p:spPr>
      </p:sp>
      <p:sp>
        <p:nvSpPr>
          <p:cNvPr id="33" name="Shape 29"/>
          <p:cNvSpPr/>
          <p:nvPr/>
        </p:nvSpPr>
        <p:spPr>
          <a:xfrm>
            <a:off x="4882896" y="2743200"/>
            <a:ext cx="685800" cy="100584"/>
          </a:xfrm>
          <a:prstGeom prst="line">
            <a:avLst/>
          </a:prstGeom>
          <a:noFill/>
          <a:ln w="11430">
            <a:solidFill>
              <a:srgbClr val="DCE3E6"/>
            </a:solidFill>
            <a:prstDash val="solid"/>
          </a:ln>
        </p:spPr>
      </p:sp>
      <p:sp>
        <p:nvSpPr>
          <p:cNvPr id="34" name="Shape 30"/>
          <p:cNvSpPr/>
          <p:nvPr/>
        </p:nvSpPr>
        <p:spPr>
          <a:xfrm>
            <a:off x="4882896" y="2944368"/>
            <a:ext cx="685800" cy="-100584"/>
          </a:xfrm>
          <a:prstGeom prst="line">
            <a:avLst/>
          </a:prstGeom>
          <a:noFill/>
          <a:ln w="11430">
            <a:solidFill>
              <a:srgbClr val="DCE3E6"/>
            </a:solidFill>
            <a:prstDash val="solid"/>
          </a:ln>
        </p:spPr>
      </p:sp>
      <p:sp>
        <p:nvSpPr>
          <p:cNvPr id="35" name="Shape 31"/>
          <p:cNvSpPr/>
          <p:nvPr/>
        </p:nvSpPr>
        <p:spPr>
          <a:xfrm>
            <a:off x="3840480" y="2578608"/>
            <a:ext cx="137160" cy="137160"/>
          </a:xfrm>
          <a:prstGeom prst="ellipse">
            <a:avLst/>
          </a:prstGeom>
          <a:solidFill>
            <a:srgbClr val="0E7C7B"/>
          </a:solidFill>
          <a:ln/>
        </p:spPr>
      </p:sp>
      <p:sp>
        <p:nvSpPr>
          <p:cNvPr id="36" name="Shape 32"/>
          <p:cNvSpPr/>
          <p:nvPr/>
        </p:nvSpPr>
        <p:spPr>
          <a:xfrm>
            <a:off x="3840480" y="2779776"/>
            <a:ext cx="137160" cy="137160"/>
          </a:xfrm>
          <a:prstGeom prst="ellipse">
            <a:avLst/>
          </a:prstGeom>
          <a:solidFill>
            <a:srgbClr val="0E7C7B"/>
          </a:solidFill>
          <a:ln/>
        </p:spPr>
      </p:sp>
      <p:sp>
        <p:nvSpPr>
          <p:cNvPr id="37" name="Shape 33"/>
          <p:cNvSpPr/>
          <p:nvPr/>
        </p:nvSpPr>
        <p:spPr>
          <a:xfrm>
            <a:off x="3840480" y="2980944"/>
            <a:ext cx="137160" cy="137160"/>
          </a:xfrm>
          <a:prstGeom prst="ellipse">
            <a:avLst/>
          </a:prstGeom>
          <a:solidFill>
            <a:srgbClr val="0E7C7B"/>
          </a:solidFill>
          <a:ln/>
        </p:spPr>
      </p:sp>
      <p:sp>
        <p:nvSpPr>
          <p:cNvPr id="38" name="Shape 34"/>
          <p:cNvSpPr/>
          <p:nvPr/>
        </p:nvSpPr>
        <p:spPr>
          <a:xfrm>
            <a:off x="4754880" y="2679192"/>
            <a:ext cx="137160" cy="137160"/>
          </a:xfrm>
          <a:prstGeom prst="ellipse">
            <a:avLst/>
          </a:prstGeom>
          <a:solidFill>
            <a:srgbClr val="0E7C7B"/>
          </a:solidFill>
          <a:ln/>
        </p:spPr>
      </p:sp>
      <p:sp>
        <p:nvSpPr>
          <p:cNvPr id="39" name="Shape 35"/>
          <p:cNvSpPr/>
          <p:nvPr/>
        </p:nvSpPr>
        <p:spPr>
          <a:xfrm>
            <a:off x="4754880" y="2880360"/>
            <a:ext cx="137160" cy="137160"/>
          </a:xfrm>
          <a:prstGeom prst="ellipse">
            <a:avLst/>
          </a:prstGeom>
          <a:solidFill>
            <a:srgbClr val="0E7C7B"/>
          </a:solidFill>
          <a:ln/>
        </p:spPr>
      </p:sp>
      <p:sp>
        <p:nvSpPr>
          <p:cNvPr id="40" name="Shape 36"/>
          <p:cNvSpPr/>
          <p:nvPr/>
        </p:nvSpPr>
        <p:spPr>
          <a:xfrm>
            <a:off x="5577840" y="2779776"/>
            <a:ext cx="137160" cy="137160"/>
          </a:xfrm>
          <a:prstGeom prst="ellipse">
            <a:avLst/>
          </a:prstGeom>
          <a:solidFill>
            <a:srgbClr val="B96A1B"/>
          </a:solidFill>
          <a:ln/>
        </p:spPr>
      </p:sp>
      <p:sp>
        <p:nvSpPr>
          <p:cNvPr id="41" name="Text 37"/>
          <p:cNvSpPr/>
          <p:nvPr/>
        </p:nvSpPr>
        <p:spPr>
          <a:xfrm>
            <a:off x="3639312" y="3218688"/>
            <a:ext cx="2286000" cy="1078992"/>
          </a:xfrm>
          <a:prstGeom prst="rect">
            <a:avLst/>
          </a:prstGeom>
          <a:noFill/>
          <a:ln/>
        </p:spPr>
        <p:txBody>
          <a:bodyPr wrap="square" lIns="0" tIns="0" rIns="0" bIns="0" rtlCol="0" anchor="ctr"/>
          <a:lstStyle/>
          <a:p>
            <a:pPr indent="0" marL="0">
              <a:lnSpc>
                <a:spcPct val="105000"/>
              </a:lnSpc>
              <a:buNone/>
            </a:pPr>
            <a:r>
              <a:rPr lang="en-US" sz="940" dirty="0">
                <a:solidFill>
                  <a:srgbClr val="46545F"/>
                </a:solidFill>
                <a:latin typeface="Calibri" pitchFamily="34" charset="0"/>
                <a:ea typeface="Calibri" pitchFamily="34" charset="-122"/>
                <a:cs typeface="Calibri" pitchFamily="34" charset="-120"/>
              </a:rPr>
              <a:t>Stop writing rules — let the system find patterns in examples. 2012: deep nets + GPUs crush image recognition (AlexNet: 15.3% error vs 26.2%).</a:t>
            </a:r>
            <a:endParaRPr lang="en-US" sz="940" dirty="0"/>
          </a:p>
        </p:txBody>
      </p:sp>
      <p:sp>
        <p:nvSpPr>
          <p:cNvPr id="42" name="Text 38"/>
          <p:cNvSpPr/>
          <p:nvPr/>
        </p:nvSpPr>
        <p:spPr>
          <a:xfrm>
            <a:off x="3639312" y="4315968"/>
            <a:ext cx="2286000" cy="603504"/>
          </a:xfrm>
          <a:prstGeom prst="rect">
            <a:avLst/>
          </a:prstGeom>
          <a:noFill/>
          <a:ln/>
        </p:spPr>
        <p:txBody>
          <a:bodyPr wrap="square" lIns="0" tIns="0" rIns="0" bIns="0" rtlCol="0" anchor="ctr"/>
          <a:lstStyle/>
          <a:p>
            <a:pPr indent="0" marL="0">
              <a:lnSpc>
                <a:spcPct val="102000"/>
              </a:lnSpc>
              <a:buNone/>
            </a:pPr>
            <a:r>
              <a:rPr lang="en-US" sz="860" i="1" dirty="0">
                <a:solidFill>
                  <a:srgbClr val="0A5B5A"/>
                </a:solidFill>
                <a:latin typeface="Calibri" pitchFamily="34" charset="0"/>
                <a:ea typeface="Calibri" pitchFamily="34" charset="-122"/>
                <a:cs typeface="Calibri" pitchFamily="34" charset="-120"/>
              </a:rPr>
              <a:t>Gave us: spam filters, search ranking, recommendations, image recognition.</a:t>
            </a:r>
            <a:endParaRPr lang="en-US" sz="860" dirty="0"/>
          </a:p>
        </p:txBody>
      </p:sp>
      <p:sp>
        <p:nvSpPr>
          <p:cNvPr id="43" name="Shape 39"/>
          <p:cNvSpPr/>
          <p:nvPr/>
        </p:nvSpPr>
        <p:spPr>
          <a:xfrm>
            <a:off x="6135624" y="3154680"/>
            <a:ext cx="182880" cy="0"/>
          </a:xfrm>
          <a:prstGeom prst="line">
            <a:avLst/>
          </a:prstGeom>
          <a:noFill/>
          <a:ln w="28575">
            <a:solidFill>
              <a:srgbClr val="0E7C7B"/>
            </a:solidFill>
            <a:prstDash val="solid"/>
            <a:tailEnd type="triangle"/>
          </a:ln>
        </p:spPr>
      </p:sp>
      <p:sp>
        <p:nvSpPr>
          <p:cNvPr id="44" name="Shape 40"/>
          <p:cNvSpPr/>
          <p:nvPr/>
        </p:nvSpPr>
        <p:spPr>
          <a:xfrm>
            <a:off x="6336792" y="1554480"/>
            <a:ext cx="2697480" cy="3401568"/>
          </a:xfrm>
          <a:prstGeom prst="roundRect">
            <a:avLst>
              <a:gd name="adj" fmla="val 2712"/>
            </a:avLst>
          </a:prstGeom>
          <a:solidFill>
            <a:srgbClr val="E4F0EF"/>
          </a:solidFill>
          <a:ln/>
        </p:spPr>
      </p:sp>
      <p:sp>
        <p:nvSpPr>
          <p:cNvPr id="45" name="Shape 41"/>
          <p:cNvSpPr/>
          <p:nvPr/>
        </p:nvSpPr>
        <p:spPr>
          <a:xfrm>
            <a:off x="6556248" y="1755648"/>
            <a:ext cx="457200" cy="457200"/>
          </a:xfrm>
          <a:prstGeom prst="ellipse">
            <a:avLst/>
          </a:prstGeom>
          <a:solidFill>
            <a:srgbClr val="0E7C7B"/>
          </a:solidFill>
          <a:ln/>
        </p:spPr>
      </p:sp>
      <p:pic>
        <p:nvPicPr>
          <p:cNvPr id="46" name="Image 2" descr="/home/user/Claude-Works/ai-training-prompt-engineering/src/assets/icons/brain_w.png">    </p:cNvPr>
          <p:cNvPicPr>
            <a:picLocks noChangeAspect="1"/>
          </p:cNvPicPr>
          <p:nvPr/>
        </p:nvPicPr>
        <p:blipFill>
          <a:blip r:embed="rId3"/>
          <a:stretch>
            <a:fillRect/>
          </a:stretch>
        </p:blipFill>
        <p:spPr>
          <a:xfrm>
            <a:off x="6675120" y="1874520"/>
            <a:ext cx="219456" cy="219456"/>
          </a:xfrm>
          <a:prstGeom prst="rect">
            <a:avLst/>
          </a:prstGeom>
        </p:spPr>
      </p:pic>
      <p:sp>
        <p:nvSpPr>
          <p:cNvPr id="47" name="Text 42"/>
          <p:cNvSpPr/>
          <p:nvPr/>
        </p:nvSpPr>
        <p:spPr>
          <a:xfrm>
            <a:off x="7123176"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Generative</a:t>
            </a:r>
            <a:endParaRPr lang="en-US" sz="1500" dirty="0"/>
          </a:p>
        </p:txBody>
      </p:sp>
      <p:sp>
        <p:nvSpPr>
          <p:cNvPr id="48" name="Text 43"/>
          <p:cNvSpPr/>
          <p:nvPr/>
        </p:nvSpPr>
        <p:spPr>
          <a:xfrm>
            <a:off x="7123176" y="2075688"/>
            <a:ext cx="1874520" cy="384048"/>
          </a:xfrm>
          <a:prstGeom prst="rect">
            <a:avLst/>
          </a:prstGeom>
          <a:noFill/>
          <a:ln/>
        </p:spPr>
        <p:txBody>
          <a:bodyPr wrap="square" lIns="0" tIns="0" rIns="0" bIns="0" rtlCol="0" anchor="ctr"/>
          <a:lstStyle/>
          <a:p>
            <a:pPr indent="0" marL="0">
              <a:lnSpc>
                <a:spcPct val="98000"/>
              </a:lnSpc>
              <a:buNone/>
            </a:pPr>
            <a:r>
              <a:rPr lang="en-US" sz="820" b="1" dirty="0">
                <a:solidFill>
                  <a:srgbClr val="7A8790"/>
                </a:solidFill>
                <a:latin typeface="Calibri" pitchFamily="34" charset="0"/>
                <a:ea typeface="Calibri" pitchFamily="34" charset="-122"/>
                <a:cs typeface="Calibri" pitchFamily="34" charset="-120"/>
              </a:rPr>
              <a:t>2017– · transformers, LLMs</a:t>
            </a:r>
            <a:endParaRPr lang="en-US" sz="820" dirty="0"/>
          </a:p>
        </p:txBody>
      </p:sp>
      <p:sp>
        <p:nvSpPr>
          <p:cNvPr id="49" name="Shape 44"/>
          <p:cNvSpPr/>
          <p:nvPr/>
        </p:nvSpPr>
        <p:spPr>
          <a:xfrm>
            <a:off x="6611112" y="2761488"/>
            <a:ext cx="502920" cy="201168"/>
          </a:xfrm>
          <a:prstGeom prst="roundRect">
            <a:avLst>
              <a:gd name="adj" fmla="val 18182"/>
            </a:avLst>
          </a:prstGeom>
          <a:solidFill>
            <a:srgbClr val="FFFFFF"/>
          </a:solidFill>
          <a:ln w="9525">
            <a:solidFill>
              <a:srgbClr val="0E7C7B"/>
            </a:solidFill>
            <a:prstDash val="solid"/>
          </a:ln>
        </p:spPr>
      </p:sp>
      <p:sp>
        <p:nvSpPr>
          <p:cNvPr id="50" name="Text 45"/>
          <p:cNvSpPr/>
          <p:nvPr/>
        </p:nvSpPr>
        <p:spPr>
          <a:xfrm>
            <a:off x="6611112" y="2761488"/>
            <a:ext cx="502920" cy="201168"/>
          </a:xfrm>
          <a:prstGeom prst="rect">
            <a:avLst/>
          </a:prstGeom>
          <a:noFill/>
          <a:ln/>
        </p:spPr>
        <p:txBody>
          <a:bodyPr wrap="square" lIns="0" tIns="0" rIns="0" bIns="0" rtlCol="0" anchor="ctr"/>
          <a:lstStyle/>
          <a:p>
            <a:pPr algn="ctr" indent="0" marL="0">
              <a:buNone/>
            </a:pPr>
            <a:r>
              <a:rPr lang="en-US" sz="650" dirty="0">
                <a:solidFill>
                  <a:srgbClr val="0A5B5A"/>
                </a:solidFill>
                <a:latin typeface="Calibri" pitchFamily="34" charset="0"/>
                <a:ea typeface="Calibri" pitchFamily="34" charset="-122"/>
                <a:cs typeface="Calibri" pitchFamily="34" charset="-120"/>
              </a:rPr>
              <a:t>The</a:t>
            </a:r>
            <a:endParaRPr lang="en-US" sz="650" dirty="0"/>
          </a:p>
        </p:txBody>
      </p:sp>
      <p:sp>
        <p:nvSpPr>
          <p:cNvPr id="51" name="Shape 46"/>
          <p:cNvSpPr/>
          <p:nvPr/>
        </p:nvSpPr>
        <p:spPr>
          <a:xfrm>
            <a:off x="7159752" y="2761488"/>
            <a:ext cx="548640" cy="201168"/>
          </a:xfrm>
          <a:prstGeom prst="roundRect">
            <a:avLst>
              <a:gd name="adj" fmla="val 18182"/>
            </a:avLst>
          </a:prstGeom>
          <a:solidFill>
            <a:srgbClr val="FFFFFF"/>
          </a:solidFill>
          <a:ln w="9525">
            <a:solidFill>
              <a:srgbClr val="0E7C7B"/>
            </a:solidFill>
            <a:prstDash val="solid"/>
          </a:ln>
        </p:spPr>
      </p:sp>
      <p:sp>
        <p:nvSpPr>
          <p:cNvPr id="52" name="Text 47"/>
          <p:cNvSpPr/>
          <p:nvPr/>
        </p:nvSpPr>
        <p:spPr>
          <a:xfrm>
            <a:off x="7159752" y="2761488"/>
            <a:ext cx="548640" cy="201168"/>
          </a:xfrm>
          <a:prstGeom prst="rect">
            <a:avLst/>
          </a:prstGeom>
          <a:noFill/>
          <a:ln/>
        </p:spPr>
        <p:txBody>
          <a:bodyPr wrap="square" lIns="0" tIns="0" rIns="0" bIns="0" rtlCol="0" anchor="ctr"/>
          <a:lstStyle/>
          <a:p>
            <a:pPr algn="ctr" indent="0" marL="0">
              <a:buNone/>
            </a:pPr>
            <a:r>
              <a:rPr lang="en-US" sz="650" dirty="0">
                <a:solidFill>
                  <a:srgbClr val="0A5B5A"/>
                </a:solidFill>
                <a:latin typeface="Calibri" pitchFamily="34" charset="0"/>
                <a:ea typeface="Calibri" pitchFamily="34" charset="-122"/>
                <a:cs typeface="Calibri" pitchFamily="34" charset="-120"/>
              </a:rPr>
              <a:t>audit</a:t>
            </a:r>
            <a:endParaRPr lang="en-US" sz="650" dirty="0"/>
          </a:p>
        </p:txBody>
      </p:sp>
      <p:sp>
        <p:nvSpPr>
          <p:cNvPr id="53" name="Shape 48"/>
          <p:cNvSpPr/>
          <p:nvPr/>
        </p:nvSpPr>
        <p:spPr>
          <a:xfrm>
            <a:off x="7754112" y="2761488"/>
            <a:ext cx="365760" cy="201168"/>
          </a:xfrm>
          <a:prstGeom prst="roundRect">
            <a:avLst>
              <a:gd name="adj" fmla="val 18182"/>
            </a:avLst>
          </a:prstGeom>
          <a:solidFill>
            <a:srgbClr val="FFFFFF"/>
          </a:solidFill>
          <a:ln w="9525">
            <a:solidFill>
              <a:srgbClr val="0E7C7B"/>
            </a:solidFill>
            <a:prstDash val="solid"/>
          </a:ln>
        </p:spPr>
      </p:sp>
      <p:sp>
        <p:nvSpPr>
          <p:cNvPr id="54" name="Text 49"/>
          <p:cNvSpPr/>
          <p:nvPr/>
        </p:nvSpPr>
        <p:spPr>
          <a:xfrm>
            <a:off x="7754112" y="2761488"/>
            <a:ext cx="365760" cy="201168"/>
          </a:xfrm>
          <a:prstGeom prst="rect">
            <a:avLst/>
          </a:prstGeom>
          <a:noFill/>
          <a:ln/>
        </p:spPr>
        <p:txBody>
          <a:bodyPr wrap="square" lIns="0" tIns="0" rIns="0" bIns="0" rtlCol="0" anchor="ctr"/>
          <a:lstStyle/>
          <a:p>
            <a:pPr algn="ctr" indent="0" marL="0">
              <a:buNone/>
            </a:pPr>
            <a:r>
              <a:rPr lang="en-US" sz="650" dirty="0">
                <a:solidFill>
                  <a:srgbClr val="0A5B5A"/>
                </a:solidFill>
                <a:latin typeface="Calibri" pitchFamily="34" charset="0"/>
                <a:ea typeface="Calibri" pitchFamily="34" charset="-122"/>
                <a:cs typeface="Calibri" pitchFamily="34" charset="-120"/>
              </a:rPr>
              <a:t>is</a:t>
            </a:r>
            <a:endParaRPr lang="en-US" sz="650" dirty="0"/>
          </a:p>
        </p:txBody>
      </p:sp>
      <p:sp>
        <p:nvSpPr>
          <p:cNvPr id="55" name="Shape 50"/>
          <p:cNvSpPr/>
          <p:nvPr/>
        </p:nvSpPr>
        <p:spPr>
          <a:xfrm>
            <a:off x="8147304" y="2862072"/>
            <a:ext cx="228600" cy="0"/>
          </a:xfrm>
          <a:prstGeom prst="line">
            <a:avLst/>
          </a:prstGeom>
          <a:noFill/>
          <a:ln w="15875">
            <a:solidFill>
              <a:srgbClr val="0E7C7B"/>
            </a:solidFill>
            <a:prstDash val="solid"/>
            <a:tailEnd type="triangle"/>
          </a:ln>
        </p:spPr>
      </p:sp>
      <p:sp>
        <p:nvSpPr>
          <p:cNvPr id="56" name="Shape 51"/>
          <p:cNvSpPr/>
          <p:nvPr/>
        </p:nvSpPr>
        <p:spPr>
          <a:xfrm>
            <a:off x="8421624" y="2761488"/>
            <a:ext cx="384048" cy="201168"/>
          </a:xfrm>
          <a:prstGeom prst="roundRect">
            <a:avLst>
              <a:gd name="adj" fmla="val 18182"/>
            </a:avLst>
          </a:prstGeom>
          <a:solidFill>
            <a:srgbClr val="0E7C7B"/>
          </a:solidFill>
          <a:ln/>
        </p:spPr>
      </p:sp>
      <p:sp>
        <p:nvSpPr>
          <p:cNvPr id="57" name="Text 52"/>
          <p:cNvSpPr/>
          <p:nvPr/>
        </p:nvSpPr>
        <p:spPr>
          <a:xfrm>
            <a:off x="8421624" y="2761488"/>
            <a:ext cx="38404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t>
            </a:r>
            <a:endParaRPr lang="en-US" sz="700" dirty="0"/>
          </a:p>
        </p:txBody>
      </p:sp>
      <p:sp>
        <p:nvSpPr>
          <p:cNvPr id="58" name="Text 53"/>
          <p:cNvSpPr/>
          <p:nvPr/>
        </p:nvSpPr>
        <p:spPr>
          <a:xfrm>
            <a:off x="6556248" y="3218688"/>
            <a:ext cx="2286000" cy="1078992"/>
          </a:xfrm>
          <a:prstGeom prst="rect">
            <a:avLst/>
          </a:prstGeom>
          <a:noFill/>
          <a:ln/>
        </p:spPr>
        <p:txBody>
          <a:bodyPr wrap="square" lIns="0" tIns="0" rIns="0" bIns="0" rtlCol="0" anchor="ctr"/>
          <a:lstStyle/>
          <a:p>
            <a:pPr indent="0" marL="0">
              <a:lnSpc>
                <a:spcPct val="105000"/>
              </a:lnSpc>
              <a:buNone/>
            </a:pPr>
            <a:r>
              <a:rPr lang="en-US" sz="940" dirty="0">
                <a:solidFill>
                  <a:srgbClr val="46545F"/>
                </a:solidFill>
                <a:latin typeface="Calibri" pitchFamily="34" charset="0"/>
                <a:ea typeface="Calibri" pitchFamily="34" charset="-122"/>
                <a:cs typeface="Calibri" pitchFamily="34" charset="-120"/>
              </a:rPr>
              <a:t>The Transformer (2017) lets models train on the whole internet. Predict-the-next-word at that scale writes, summarizes, codes.</a:t>
            </a:r>
            <a:endParaRPr lang="en-US" sz="940" dirty="0"/>
          </a:p>
        </p:txBody>
      </p:sp>
      <p:sp>
        <p:nvSpPr>
          <p:cNvPr id="59" name="Text 54"/>
          <p:cNvSpPr/>
          <p:nvPr/>
        </p:nvSpPr>
        <p:spPr>
          <a:xfrm>
            <a:off x="6556248" y="4315968"/>
            <a:ext cx="2286000" cy="603504"/>
          </a:xfrm>
          <a:prstGeom prst="rect">
            <a:avLst/>
          </a:prstGeom>
          <a:noFill/>
          <a:ln/>
        </p:spPr>
        <p:txBody>
          <a:bodyPr wrap="square" lIns="0" tIns="0" rIns="0" bIns="0" rtlCol="0" anchor="ctr"/>
          <a:lstStyle/>
          <a:p>
            <a:pPr indent="0" marL="0">
              <a:lnSpc>
                <a:spcPct val="102000"/>
              </a:lnSpc>
              <a:buNone/>
            </a:pPr>
            <a:r>
              <a:rPr lang="en-US" sz="860" i="1" dirty="0">
                <a:solidFill>
                  <a:srgbClr val="0A5B5A"/>
                </a:solidFill>
                <a:latin typeface="Calibri" pitchFamily="34" charset="0"/>
                <a:ea typeface="Calibri" pitchFamily="34" charset="-122"/>
                <a:cs typeface="Calibri" pitchFamily="34" charset="-120"/>
              </a:rPr>
              <a:t>Gave us: ChatGPT (2022), image generators — AI everyone can talk to.</a:t>
            </a:r>
            <a:endParaRPr lang="en-US" sz="860" dirty="0"/>
          </a:p>
        </p:txBody>
      </p:sp>
      <p:sp>
        <p:nvSpPr>
          <p:cNvPr id="60" name="Shape 55"/>
          <p:cNvSpPr/>
          <p:nvPr/>
        </p:nvSpPr>
        <p:spPr>
          <a:xfrm>
            <a:off x="9052560" y="3154680"/>
            <a:ext cx="182880" cy="0"/>
          </a:xfrm>
          <a:prstGeom prst="line">
            <a:avLst/>
          </a:prstGeom>
          <a:noFill/>
          <a:ln w="28575">
            <a:solidFill>
              <a:srgbClr val="0E7C7B"/>
            </a:solidFill>
            <a:prstDash val="solid"/>
            <a:tailEnd type="triangle"/>
          </a:ln>
        </p:spPr>
      </p:sp>
      <p:sp>
        <p:nvSpPr>
          <p:cNvPr id="61" name="Shape 56"/>
          <p:cNvSpPr/>
          <p:nvPr/>
        </p:nvSpPr>
        <p:spPr>
          <a:xfrm>
            <a:off x="9253728" y="1554480"/>
            <a:ext cx="2697480" cy="3401568"/>
          </a:xfrm>
          <a:prstGeom prst="roundRect">
            <a:avLst>
              <a:gd name="adj" fmla="val 2712"/>
            </a:avLst>
          </a:prstGeom>
          <a:solidFill>
            <a:srgbClr val="E4F0EF"/>
          </a:solidFill>
          <a:ln/>
        </p:spPr>
      </p:sp>
      <p:sp>
        <p:nvSpPr>
          <p:cNvPr id="62" name="Shape 57"/>
          <p:cNvSpPr/>
          <p:nvPr/>
        </p:nvSpPr>
        <p:spPr>
          <a:xfrm>
            <a:off x="9473184" y="1755648"/>
            <a:ext cx="457200" cy="457200"/>
          </a:xfrm>
          <a:prstGeom prst="ellipse">
            <a:avLst/>
          </a:prstGeom>
          <a:solidFill>
            <a:srgbClr val="0E7C7B"/>
          </a:solidFill>
          <a:ln/>
        </p:spPr>
      </p:sp>
      <p:pic>
        <p:nvPicPr>
          <p:cNvPr id="63" name="Image 3" descr="/home/user/Claude-Works/ai-training-prompt-engineering/src/assets/icons/robot_w.png">    </p:cNvPr>
          <p:cNvPicPr>
            <a:picLocks noChangeAspect="1"/>
          </p:cNvPicPr>
          <p:nvPr/>
        </p:nvPicPr>
        <p:blipFill>
          <a:blip r:embed="rId4"/>
          <a:stretch>
            <a:fillRect/>
          </a:stretch>
        </p:blipFill>
        <p:spPr>
          <a:xfrm>
            <a:off x="9592056" y="1874520"/>
            <a:ext cx="219456" cy="219456"/>
          </a:xfrm>
          <a:prstGeom prst="rect">
            <a:avLst/>
          </a:prstGeom>
        </p:spPr>
      </p:pic>
      <p:sp>
        <p:nvSpPr>
          <p:cNvPr id="64" name="Text 58"/>
          <p:cNvSpPr/>
          <p:nvPr/>
        </p:nvSpPr>
        <p:spPr>
          <a:xfrm>
            <a:off x="10040112"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Agentic</a:t>
            </a:r>
            <a:endParaRPr lang="en-US" sz="1500" dirty="0"/>
          </a:p>
        </p:txBody>
      </p:sp>
      <p:sp>
        <p:nvSpPr>
          <p:cNvPr id="65" name="Text 59"/>
          <p:cNvSpPr/>
          <p:nvPr/>
        </p:nvSpPr>
        <p:spPr>
          <a:xfrm>
            <a:off x="10040112" y="2075688"/>
            <a:ext cx="1874520" cy="384048"/>
          </a:xfrm>
          <a:prstGeom prst="rect">
            <a:avLst/>
          </a:prstGeom>
          <a:noFill/>
          <a:ln/>
        </p:spPr>
        <p:txBody>
          <a:bodyPr wrap="square" lIns="0" tIns="0" rIns="0" bIns="0" rtlCol="0" anchor="ctr"/>
          <a:lstStyle/>
          <a:p>
            <a:pPr indent="0" marL="0">
              <a:lnSpc>
                <a:spcPct val="98000"/>
              </a:lnSpc>
              <a:buNone/>
            </a:pPr>
            <a:r>
              <a:rPr lang="en-US" sz="820" b="1" dirty="0">
                <a:solidFill>
                  <a:srgbClr val="7A8790"/>
                </a:solidFill>
                <a:latin typeface="Calibri" pitchFamily="34" charset="0"/>
                <a:ea typeface="Calibri" pitchFamily="34" charset="-122"/>
                <a:cs typeface="Calibri" pitchFamily="34" charset="-120"/>
              </a:rPr>
              <a:t>2024– · reasoning models, tool use</a:t>
            </a:r>
            <a:endParaRPr lang="en-US" sz="820" dirty="0"/>
          </a:p>
        </p:txBody>
      </p:sp>
      <p:sp>
        <p:nvSpPr>
          <p:cNvPr id="66" name="Shape 60"/>
          <p:cNvSpPr/>
          <p:nvPr/>
        </p:nvSpPr>
        <p:spPr>
          <a:xfrm>
            <a:off x="9528048" y="2651760"/>
            <a:ext cx="621792" cy="201168"/>
          </a:xfrm>
          <a:prstGeom prst="roundRect">
            <a:avLst>
              <a:gd name="adj" fmla="val 18182"/>
            </a:avLst>
          </a:prstGeom>
          <a:solidFill>
            <a:srgbClr val="FFFFFF"/>
          </a:solidFill>
          <a:ln w="9525">
            <a:solidFill>
              <a:srgbClr val="0E7C7B"/>
            </a:solidFill>
            <a:prstDash val="solid"/>
          </a:ln>
        </p:spPr>
      </p:sp>
      <p:sp>
        <p:nvSpPr>
          <p:cNvPr id="67" name="Text 61"/>
          <p:cNvSpPr/>
          <p:nvPr/>
        </p:nvSpPr>
        <p:spPr>
          <a:xfrm>
            <a:off x="9528048" y="2651760"/>
            <a:ext cx="621792" cy="201168"/>
          </a:xfrm>
          <a:prstGeom prst="rect">
            <a:avLst/>
          </a:prstGeom>
          <a:noFill/>
          <a:ln/>
        </p:spPr>
        <p:txBody>
          <a:bodyPr wrap="square" lIns="0" tIns="0" rIns="0" bIns="0" rtlCol="0" anchor="ctr"/>
          <a:lstStyle/>
          <a:p>
            <a:pPr algn="ctr" indent="0" marL="0">
              <a:buNone/>
            </a:pPr>
            <a:r>
              <a:rPr lang="en-US" sz="650" dirty="0">
                <a:solidFill>
                  <a:srgbClr val="0A5B5A"/>
                </a:solidFill>
                <a:latin typeface="Calibri" pitchFamily="34" charset="0"/>
                <a:ea typeface="Calibri" pitchFamily="34" charset="-122"/>
                <a:cs typeface="Calibri" pitchFamily="34" charset="-120"/>
              </a:rPr>
              <a:t>PLAN</a:t>
            </a:r>
            <a:endParaRPr lang="en-US" sz="650" dirty="0"/>
          </a:p>
        </p:txBody>
      </p:sp>
      <p:sp>
        <p:nvSpPr>
          <p:cNvPr id="68" name="Shape 62"/>
          <p:cNvSpPr/>
          <p:nvPr/>
        </p:nvSpPr>
        <p:spPr>
          <a:xfrm>
            <a:off x="10314432" y="2651760"/>
            <a:ext cx="566928" cy="201168"/>
          </a:xfrm>
          <a:prstGeom prst="roundRect">
            <a:avLst>
              <a:gd name="adj" fmla="val 18182"/>
            </a:avLst>
          </a:prstGeom>
          <a:solidFill>
            <a:srgbClr val="FFFFFF"/>
          </a:solidFill>
          <a:ln w="9525">
            <a:solidFill>
              <a:srgbClr val="0E7C7B"/>
            </a:solidFill>
            <a:prstDash val="solid"/>
          </a:ln>
        </p:spPr>
      </p:sp>
      <p:sp>
        <p:nvSpPr>
          <p:cNvPr id="69" name="Text 63"/>
          <p:cNvSpPr/>
          <p:nvPr/>
        </p:nvSpPr>
        <p:spPr>
          <a:xfrm>
            <a:off x="10314432" y="2651760"/>
            <a:ext cx="566928" cy="201168"/>
          </a:xfrm>
          <a:prstGeom prst="rect">
            <a:avLst/>
          </a:prstGeom>
          <a:noFill/>
          <a:ln/>
        </p:spPr>
        <p:txBody>
          <a:bodyPr wrap="square" lIns="0" tIns="0" rIns="0" bIns="0" rtlCol="0" anchor="ctr"/>
          <a:lstStyle/>
          <a:p>
            <a:pPr algn="ctr" indent="0" marL="0">
              <a:buNone/>
            </a:pPr>
            <a:r>
              <a:rPr lang="en-US" sz="650" dirty="0">
                <a:solidFill>
                  <a:srgbClr val="0A5B5A"/>
                </a:solidFill>
                <a:latin typeface="Calibri" pitchFamily="34" charset="0"/>
                <a:ea typeface="Calibri" pitchFamily="34" charset="-122"/>
                <a:cs typeface="Calibri" pitchFamily="34" charset="-120"/>
              </a:rPr>
              <a:t>ACT</a:t>
            </a:r>
            <a:endParaRPr lang="en-US" sz="650" dirty="0"/>
          </a:p>
        </p:txBody>
      </p:sp>
      <p:sp>
        <p:nvSpPr>
          <p:cNvPr id="70" name="Shape 64"/>
          <p:cNvSpPr/>
          <p:nvPr/>
        </p:nvSpPr>
        <p:spPr>
          <a:xfrm>
            <a:off x="11045952" y="2651760"/>
            <a:ext cx="676656" cy="201168"/>
          </a:xfrm>
          <a:prstGeom prst="roundRect">
            <a:avLst>
              <a:gd name="adj" fmla="val 18182"/>
            </a:avLst>
          </a:prstGeom>
          <a:solidFill>
            <a:srgbClr val="FFFFFF"/>
          </a:solidFill>
          <a:ln w="9525">
            <a:solidFill>
              <a:srgbClr val="0E7C7B"/>
            </a:solidFill>
            <a:prstDash val="solid"/>
          </a:ln>
        </p:spPr>
      </p:sp>
      <p:sp>
        <p:nvSpPr>
          <p:cNvPr id="71" name="Text 65"/>
          <p:cNvSpPr/>
          <p:nvPr/>
        </p:nvSpPr>
        <p:spPr>
          <a:xfrm>
            <a:off x="11045952" y="2651760"/>
            <a:ext cx="676656" cy="201168"/>
          </a:xfrm>
          <a:prstGeom prst="rect">
            <a:avLst/>
          </a:prstGeom>
          <a:noFill/>
          <a:ln/>
        </p:spPr>
        <p:txBody>
          <a:bodyPr wrap="square" lIns="0" tIns="0" rIns="0" bIns="0" rtlCol="0" anchor="ctr"/>
          <a:lstStyle/>
          <a:p>
            <a:pPr algn="ctr" indent="0" marL="0">
              <a:buNone/>
            </a:pPr>
            <a:r>
              <a:rPr lang="en-US" sz="650" dirty="0">
                <a:solidFill>
                  <a:srgbClr val="0A5B5A"/>
                </a:solidFill>
                <a:latin typeface="Calibri" pitchFamily="34" charset="0"/>
                <a:ea typeface="Calibri" pitchFamily="34" charset="-122"/>
                <a:cs typeface="Calibri" pitchFamily="34" charset="-120"/>
              </a:rPr>
              <a:t>CHECK</a:t>
            </a:r>
            <a:endParaRPr lang="en-US" sz="650" dirty="0"/>
          </a:p>
        </p:txBody>
      </p:sp>
      <p:sp>
        <p:nvSpPr>
          <p:cNvPr id="72" name="Shape 66"/>
          <p:cNvSpPr/>
          <p:nvPr/>
        </p:nvSpPr>
        <p:spPr>
          <a:xfrm>
            <a:off x="10168128" y="2752344"/>
            <a:ext cx="128016" cy="0"/>
          </a:xfrm>
          <a:prstGeom prst="line">
            <a:avLst/>
          </a:prstGeom>
          <a:noFill/>
          <a:ln w="12700">
            <a:solidFill>
              <a:srgbClr val="0E7C7B"/>
            </a:solidFill>
            <a:prstDash val="solid"/>
            <a:tailEnd type="triangle"/>
          </a:ln>
        </p:spPr>
      </p:sp>
      <p:sp>
        <p:nvSpPr>
          <p:cNvPr id="73" name="Shape 67"/>
          <p:cNvSpPr/>
          <p:nvPr/>
        </p:nvSpPr>
        <p:spPr>
          <a:xfrm>
            <a:off x="10899648" y="2752344"/>
            <a:ext cx="128016" cy="0"/>
          </a:xfrm>
          <a:prstGeom prst="line">
            <a:avLst/>
          </a:prstGeom>
          <a:noFill/>
          <a:ln w="12700">
            <a:solidFill>
              <a:srgbClr val="0E7C7B"/>
            </a:solidFill>
            <a:prstDash val="solid"/>
            <a:tailEnd type="triangle"/>
          </a:ln>
        </p:spPr>
      </p:sp>
      <p:sp>
        <p:nvSpPr>
          <p:cNvPr id="74" name="Shape 68"/>
          <p:cNvSpPr/>
          <p:nvPr/>
        </p:nvSpPr>
        <p:spPr>
          <a:xfrm>
            <a:off x="9838944" y="3017520"/>
            <a:ext cx="1572768" cy="0"/>
          </a:xfrm>
          <a:prstGeom prst="line">
            <a:avLst/>
          </a:prstGeom>
          <a:noFill/>
          <a:ln w="12700">
            <a:solidFill>
              <a:srgbClr val="0E7C7B"/>
            </a:solidFill>
            <a:prstDash val="solid"/>
            <a:headEnd type="triangle"/>
          </a:ln>
        </p:spPr>
      </p:sp>
      <p:sp>
        <p:nvSpPr>
          <p:cNvPr id="75" name="Text 69"/>
          <p:cNvSpPr/>
          <p:nvPr/>
        </p:nvSpPr>
        <p:spPr>
          <a:xfrm>
            <a:off x="9473184" y="3218688"/>
            <a:ext cx="2286000" cy="1078992"/>
          </a:xfrm>
          <a:prstGeom prst="rect">
            <a:avLst/>
          </a:prstGeom>
          <a:noFill/>
          <a:ln/>
        </p:spPr>
        <p:txBody>
          <a:bodyPr wrap="square" lIns="0" tIns="0" rIns="0" bIns="0" rtlCol="0" anchor="ctr"/>
          <a:lstStyle/>
          <a:p>
            <a:pPr indent="0" marL="0">
              <a:lnSpc>
                <a:spcPct val="105000"/>
              </a:lnSpc>
              <a:buNone/>
            </a:pPr>
            <a:r>
              <a:rPr lang="en-US" sz="940" dirty="0">
                <a:solidFill>
                  <a:srgbClr val="46545F"/>
                </a:solidFill>
                <a:latin typeface="Calibri" pitchFamily="34" charset="0"/>
                <a:ea typeface="Calibri" pitchFamily="34" charset="-122"/>
                <a:cs typeface="Calibri" pitchFamily="34" charset="-120"/>
              </a:rPr>
              <a:t>Models get “arms”: tools, browsers, files, code. Reasoning models plan multi-step work; agents execute with limited supervision.</a:t>
            </a:r>
            <a:endParaRPr lang="en-US" sz="940" dirty="0"/>
          </a:p>
        </p:txBody>
      </p:sp>
      <p:sp>
        <p:nvSpPr>
          <p:cNvPr id="76" name="Text 70"/>
          <p:cNvSpPr/>
          <p:nvPr/>
        </p:nvSpPr>
        <p:spPr>
          <a:xfrm>
            <a:off x="9473184" y="4315968"/>
            <a:ext cx="2286000" cy="603504"/>
          </a:xfrm>
          <a:prstGeom prst="rect">
            <a:avLst/>
          </a:prstGeom>
          <a:noFill/>
          <a:ln/>
        </p:spPr>
        <p:txBody>
          <a:bodyPr wrap="square" lIns="0" tIns="0" rIns="0" bIns="0" rtlCol="0" anchor="ctr"/>
          <a:lstStyle/>
          <a:p>
            <a:pPr indent="0" marL="0">
              <a:lnSpc>
                <a:spcPct val="102000"/>
              </a:lnSpc>
              <a:buNone/>
            </a:pPr>
            <a:r>
              <a:rPr lang="en-US" sz="860" i="1" dirty="0">
                <a:solidFill>
                  <a:srgbClr val="0A5B5A"/>
                </a:solidFill>
                <a:latin typeface="Calibri" pitchFamily="34" charset="0"/>
                <a:ea typeface="Calibri" pitchFamily="34" charset="-122"/>
                <a:cs typeface="Calibri" pitchFamily="34" charset="-120"/>
              </a:rPr>
              <a:t>Giving us: coding agents, office agents, deep-research modes — AI you delegate to.</a:t>
            </a:r>
            <a:endParaRPr lang="en-US" sz="860" dirty="0"/>
          </a:p>
        </p:txBody>
      </p:sp>
      <p:sp>
        <p:nvSpPr>
          <p:cNvPr id="77" name="Shape 71"/>
          <p:cNvSpPr/>
          <p:nvPr/>
        </p:nvSpPr>
        <p:spPr>
          <a:xfrm>
            <a:off x="502920" y="5120640"/>
            <a:ext cx="11155680" cy="960120"/>
          </a:xfrm>
          <a:prstGeom prst="roundRect">
            <a:avLst>
              <a:gd name="adj" fmla="val 7619"/>
            </a:avLst>
          </a:prstGeom>
          <a:solidFill>
            <a:srgbClr val="FBF0E0"/>
          </a:solidFill>
          <a:ln/>
        </p:spPr>
      </p:sp>
      <p:sp>
        <p:nvSpPr>
          <p:cNvPr id="78" name="Shape 72"/>
          <p:cNvSpPr/>
          <p:nvPr/>
        </p:nvSpPr>
        <p:spPr>
          <a:xfrm>
            <a:off x="667512" y="5408676"/>
            <a:ext cx="384048" cy="384048"/>
          </a:xfrm>
          <a:prstGeom prst="ellipse">
            <a:avLst/>
          </a:prstGeom>
          <a:solidFill>
            <a:srgbClr val="B96A1B"/>
          </a:solidFill>
          <a:ln/>
        </p:spPr>
      </p:sp>
      <p:pic>
        <p:nvPicPr>
          <p:cNvPr id="79" name="Image 4" descr="/home/user/Claude-Works/ai-training-prompt-engineering/src/assets/icons/trend_w.png">    </p:cNvPr>
          <p:cNvPicPr>
            <a:picLocks noChangeAspect="1"/>
          </p:cNvPicPr>
          <p:nvPr/>
        </p:nvPicPr>
        <p:blipFill>
          <a:blip r:embed="rId5"/>
          <a:stretch>
            <a:fillRect/>
          </a:stretch>
        </p:blipFill>
        <p:spPr>
          <a:xfrm>
            <a:off x="767364" y="5508528"/>
            <a:ext cx="184343" cy="184343"/>
          </a:xfrm>
          <a:prstGeom prst="rect">
            <a:avLst/>
          </a:prstGeom>
        </p:spPr>
      </p:pic>
      <p:sp>
        <p:nvSpPr>
          <p:cNvPr id="80" name="Text 73"/>
          <p:cNvSpPr/>
          <p:nvPr/>
        </p:nvSpPr>
        <p:spPr>
          <a:xfrm>
            <a:off x="1216152" y="5193792"/>
            <a:ext cx="10213848" cy="813816"/>
          </a:xfrm>
          <a:prstGeom prst="rect">
            <a:avLst/>
          </a:prstGeom>
          <a:noFill/>
          <a:ln/>
        </p:spPr>
        <p:txBody>
          <a:bodyPr wrap="square" lIns="0" tIns="0" rIns="0" bIns="0" rtlCol="0" anchor="ctr"/>
          <a:lstStyle/>
          <a:p>
            <a:pPr indent="0" marL="0">
              <a:lnSpc>
                <a:spcPct val="106000"/>
              </a:lnSpc>
              <a:buNone/>
            </a:pPr>
            <a:r>
              <a:rPr lang="en-US" sz="1250" b="1" dirty="0">
                <a:solidFill>
                  <a:srgbClr val="232A31"/>
                </a:solidFill>
                <a:latin typeface="Calibri" pitchFamily="34" charset="0"/>
                <a:ea typeface="Calibri" pitchFamily="34" charset="-122"/>
                <a:cs typeface="Calibri" pitchFamily="34" charset="-120"/>
              </a:rPr>
              <a:t>Why the last decade exploded — scaling laws (2020): </a:t>
            </a:r>
            <a:pPr indent="0" marL="0">
              <a:lnSpc>
                <a:spcPct val="106000"/>
              </a:lnSpc>
              <a:buNone/>
            </a:pPr>
            <a:r>
              <a:rPr lang="en-US" sz="1250" dirty="0">
                <a:solidFill>
                  <a:srgbClr val="46545F"/>
                </a:solidFill>
                <a:latin typeface="Calibri" pitchFamily="34" charset="0"/>
                <a:ea typeface="Calibri" pitchFamily="34" charset="-122"/>
                <a:cs typeface="Calibri" pitchFamily="34" charset="-120"/>
              </a:rPr>
              <a:t>bigger model + more data + more compute = predictably better results. Progress stopped being a research gamble and became an investment roadmap.</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A SHORT HISTORY</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DECADE THAT CHANGED WORK</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Each leap has a name — 2017 → 2026</a:t>
            </a:r>
            <a:endParaRPr lang="en-US" sz="3000" dirty="0"/>
          </a:p>
        </p:txBody>
      </p:sp>
      <p:sp>
        <p:nvSpPr>
          <p:cNvPr id="6" name="Text 4"/>
          <p:cNvSpPr/>
          <p:nvPr/>
        </p:nvSpPr>
        <p:spPr>
          <a:xfrm>
            <a:off x="502920" y="1481328"/>
            <a:ext cx="777240" cy="365760"/>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2017</a:t>
            </a:r>
            <a:endParaRPr lang="en-US" sz="1500" dirty="0"/>
          </a:p>
        </p:txBody>
      </p:sp>
      <p:sp>
        <p:nvSpPr>
          <p:cNvPr id="7" name="Text 5"/>
          <p:cNvSpPr/>
          <p:nvPr/>
        </p:nvSpPr>
        <p:spPr>
          <a:xfrm>
            <a:off x="1417320" y="1481328"/>
            <a:ext cx="5852160" cy="685800"/>
          </a:xfrm>
          <a:prstGeom prst="rect">
            <a:avLst/>
          </a:prstGeom>
          <a:noFill/>
          <a:ln/>
        </p:spPr>
        <p:txBody>
          <a:bodyPr wrap="square" lIns="0" tIns="0" rIns="0" bIns="0" rtlCol="0" anchor="ctr"/>
          <a:lstStyle/>
          <a:p>
            <a:pPr indent="0" marL="0">
              <a:lnSpc>
                <a:spcPct val="105000"/>
              </a:lnSpc>
              <a:buNone/>
            </a:pPr>
            <a:r>
              <a:rPr lang="en-US" sz="1250" b="1" dirty="0">
                <a:solidFill>
                  <a:srgbClr val="232A31"/>
                </a:solidFill>
                <a:latin typeface="Calibri" pitchFamily="34" charset="0"/>
                <a:ea typeface="Calibri" pitchFamily="34" charset="-122"/>
                <a:cs typeface="Calibri" pitchFamily="34" charset="-120"/>
              </a:rPr>
              <a:t>The Transformer — </a:t>
            </a:r>
            <a:pPr indent="0" marL="0">
              <a:lnSpc>
                <a:spcPct val="105000"/>
              </a:lnSpc>
              <a:buNone/>
            </a:pPr>
            <a:r>
              <a:rPr lang="en-US" sz="1150" dirty="0">
                <a:solidFill>
                  <a:srgbClr val="46545F"/>
                </a:solidFill>
                <a:latin typeface="Calibri" pitchFamily="34" charset="0"/>
                <a:ea typeface="Calibri" pitchFamily="34" charset="-122"/>
                <a:cs typeface="Calibri" pitchFamily="34" charset="-120"/>
              </a:rPr>
              <a:t>“Attention Is All You Need” (Google) — the architecture behind every model since</a:t>
            </a:r>
            <a:endParaRPr lang="en-US" sz="1250" dirty="0"/>
          </a:p>
        </p:txBody>
      </p:sp>
      <p:sp>
        <p:nvSpPr>
          <p:cNvPr id="8" name="Text 6"/>
          <p:cNvSpPr/>
          <p:nvPr/>
        </p:nvSpPr>
        <p:spPr>
          <a:xfrm>
            <a:off x="502920" y="2231136"/>
            <a:ext cx="777240" cy="365760"/>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2020</a:t>
            </a:r>
            <a:endParaRPr lang="en-US" sz="1500" dirty="0"/>
          </a:p>
        </p:txBody>
      </p:sp>
      <p:sp>
        <p:nvSpPr>
          <p:cNvPr id="9" name="Text 7"/>
          <p:cNvSpPr/>
          <p:nvPr/>
        </p:nvSpPr>
        <p:spPr>
          <a:xfrm>
            <a:off x="1417320" y="2231136"/>
            <a:ext cx="5852160" cy="685800"/>
          </a:xfrm>
          <a:prstGeom prst="rect">
            <a:avLst/>
          </a:prstGeom>
          <a:noFill/>
          <a:ln/>
        </p:spPr>
        <p:txBody>
          <a:bodyPr wrap="square" lIns="0" tIns="0" rIns="0" bIns="0" rtlCol="0" anchor="ctr"/>
          <a:lstStyle/>
          <a:p>
            <a:pPr indent="0" marL="0">
              <a:lnSpc>
                <a:spcPct val="105000"/>
              </a:lnSpc>
              <a:buNone/>
            </a:pPr>
            <a:r>
              <a:rPr lang="en-US" sz="1250" b="1" dirty="0">
                <a:solidFill>
                  <a:srgbClr val="232A31"/>
                </a:solidFill>
                <a:latin typeface="Calibri" pitchFamily="34" charset="0"/>
                <a:ea typeface="Calibri" pitchFamily="34" charset="-122"/>
                <a:cs typeface="Calibri" pitchFamily="34" charset="-120"/>
              </a:rPr>
              <a:t>Scaling laws + few-shot — </a:t>
            </a:r>
            <a:pPr indent="0" marL="0">
              <a:lnSpc>
                <a:spcPct val="105000"/>
              </a:lnSpc>
              <a:buNone/>
            </a:pPr>
            <a:r>
              <a:rPr lang="en-US" sz="1150" dirty="0">
                <a:solidFill>
                  <a:srgbClr val="46545F"/>
                </a:solidFill>
                <a:latin typeface="Calibri" pitchFamily="34" charset="0"/>
                <a:ea typeface="Calibri" pitchFamily="34" charset="-122"/>
                <a:cs typeface="Calibri" pitchFamily="34" charset="-120"/>
              </a:rPr>
              <a:t>GPT-3: show examples in the prompt, it does the task — prompt engineering is born</a:t>
            </a:r>
            <a:endParaRPr lang="en-US" sz="1250" dirty="0"/>
          </a:p>
        </p:txBody>
      </p:sp>
      <p:sp>
        <p:nvSpPr>
          <p:cNvPr id="10" name="Text 8"/>
          <p:cNvSpPr/>
          <p:nvPr/>
        </p:nvSpPr>
        <p:spPr>
          <a:xfrm>
            <a:off x="502920" y="2980944"/>
            <a:ext cx="777240" cy="365760"/>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2022</a:t>
            </a:r>
            <a:endParaRPr lang="en-US" sz="1500" dirty="0"/>
          </a:p>
        </p:txBody>
      </p:sp>
      <p:sp>
        <p:nvSpPr>
          <p:cNvPr id="11" name="Text 9"/>
          <p:cNvSpPr/>
          <p:nvPr/>
        </p:nvSpPr>
        <p:spPr>
          <a:xfrm>
            <a:off x="1417320" y="2980944"/>
            <a:ext cx="5852160" cy="685800"/>
          </a:xfrm>
          <a:prstGeom prst="rect">
            <a:avLst/>
          </a:prstGeom>
          <a:noFill/>
          <a:ln/>
        </p:spPr>
        <p:txBody>
          <a:bodyPr wrap="square" lIns="0" tIns="0" rIns="0" bIns="0" rtlCol="0" anchor="ctr"/>
          <a:lstStyle/>
          <a:p>
            <a:pPr indent="0" marL="0">
              <a:lnSpc>
                <a:spcPct val="105000"/>
              </a:lnSpc>
              <a:buNone/>
            </a:pPr>
            <a:r>
              <a:rPr lang="en-US" sz="1250" b="1" dirty="0">
                <a:solidFill>
                  <a:srgbClr val="232A31"/>
                </a:solidFill>
                <a:latin typeface="Calibri" pitchFamily="34" charset="0"/>
                <a:ea typeface="Calibri" pitchFamily="34" charset="-122"/>
                <a:cs typeface="Calibri" pitchFamily="34" charset="-120"/>
              </a:rPr>
              <a:t>Instruction tuning + RLHF — </a:t>
            </a:r>
            <a:pPr indent="0" marL="0">
              <a:lnSpc>
                <a:spcPct val="105000"/>
              </a:lnSpc>
              <a:buNone/>
            </a:pPr>
            <a:r>
              <a:rPr lang="en-US" sz="1150" dirty="0">
                <a:solidFill>
                  <a:srgbClr val="46545F"/>
                </a:solidFill>
                <a:latin typeface="Calibri" pitchFamily="34" charset="0"/>
                <a:ea typeface="Calibri" pitchFamily="34" charset="-122"/>
                <a:cs typeface="Calibri" pitchFamily="34" charset="-120"/>
              </a:rPr>
              <a:t>human feedback turns a predictor into an assistant; ChatGPT hits 100M users in 2 months</a:t>
            </a:r>
            <a:endParaRPr lang="en-US" sz="1250" dirty="0"/>
          </a:p>
        </p:txBody>
      </p:sp>
      <p:sp>
        <p:nvSpPr>
          <p:cNvPr id="12" name="Text 10"/>
          <p:cNvSpPr/>
          <p:nvPr/>
        </p:nvSpPr>
        <p:spPr>
          <a:xfrm>
            <a:off x="502920" y="3730752"/>
            <a:ext cx="777240" cy="365760"/>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2024</a:t>
            </a:r>
            <a:endParaRPr lang="en-US" sz="1500" dirty="0"/>
          </a:p>
        </p:txBody>
      </p:sp>
      <p:sp>
        <p:nvSpPr>
          <p:cNvPr id="13" name="Text 11"/>
          <p:cNvSpPr/>
          <p:nvPr/>
        </p:nvSpPr>
        <p:spPr>
          <a:xfrm>
            <a:off x="1417320" y="3730752"/>
            <a:ext cx="5852160" cy="685800"/>
          </a:xfrm>
          <a:prstGeom prst="rect">
            <a:avLst/>
          </a:prstGeom>
          <a:noFill/>
          <a:ln/>
        </p:spPr>
        <p:txBody>
          <a:bodyPr wrap="square" lIns="0" tIns="0" rIns="0" bIns="0" rtlCol="0" anchor="ctr"/>
          <a:lstStyle/>
          <a:p>
            <a:pPr indent="0" marL="0">
              <a:lnSpc>
                <a:spcPct val="105000"/>
              </a:lnSpc>
              <a:buNone/>
            </a:pPr>
            <a:r>
              <a:rPr lang="en-US" sz="1250" b="1" dirty="0">
                <a:solidFill>
                  <a:srgbClr val="232A31"/>
                </a:solidFill>
                <a:latin typeface="Calibri" pitchFamily="34" charset="0"/>
                <a:ea typeface="Calibri" pitchFamily="34" charset="-122"/>
                <a:cs typeface="Calibri" pitchFamily="34" charset="-120"/>
              </a:rPr>
              <a:t>Reasoning models — </a:t>
            </a:r>
            <a:pPr indent="0" marL="0">
              <a:lnSpc>
                <a:spcPct val="105000"/>
              </a:lnSpc>
              <a:buNone/>
            </a:pPr>
            <a:r>
              <a:rPr lang="en-US" sz="1150" dirty="0">
                <a:solidFill>
                  <a:srgbClr val="46545F"/>
                </a:solidFill>
                <a:latin typeface="Calibri" pitchFamily="34" charset="0"/>
                <a:ea typeface="Calibri" pitchFamily="34" charset="-122"/>
                <a:cs typeface="Calibri" pitchFamily="34" charset="-120"/>
              </a:rPr>
              <a:t>OpenAI o1 “thinks” before answering — compute spent at answer time, not just training</a:t>
            </a:r>
            <a:endParaRPr lang="en-US" sz="1250" dirty="0"/>
          </a:p>
        </p:txBody>
      </p:sp>
      <p:sp>
        <p:nvSpPr>
          <p:cNvPr id="14" name="Text 12"/>
          <p:cNvSpPr/>
          <p:nvPr/>
        </p:nvSpPr>
        <p:spPr>
          <a:xfrm>
            <a:off x="502920" y="4480560"/>
            <a:ext cx="777240" cy="365760"/>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2025</a:t>
            </a:r>
            <a:endParaRPr lang="en-US" sz="1500" dirty="0"/>
          </a:p>
        </p:txBody>
      </p:sp>
      <p:sp>
        <p:nvSpPr>
          <p:cNvPr id="15" name="Text 13"/>
          <p:cNvSpPr/>
          <p:nvPr/>
        </p:nvSpPr>
        <p:spPr>
          <a:xfrm>
            <a:off x="1417320" y="4480560"/>
            <a:ext cx="5852160" cy="685800"/>
          </a:xfrm>
          <a:prstGeom prst="rect">
            <a:avLst/>
          </a:prstGeom>
          <a:noFill/>
          <a:ln/>
        </p:spPr>
        <p:txBody>
          <a:bodyPr wrap="square" lIns="0" tIns="0" rIns="0" bIns="0" rtlCol="0" anchor="ctr"/>
          <a:lstStyle/>
          <a:p>
            <a:pPr indent="0" marL="0">
              <a:lnSpc>
                <a:spcPct val="105000"/>
              </a:lnSpc>
              <a:buNone/>
            </a:pPr>
            <a:r>
              <a:rPr lang="en-US" sz="1250" b="1" dirty="0">
                <a:solidFill>
                  <a:srgbClr val="232A31"/>
                </a:solidFill>
                <a:latin typeface="Calibri" pitchFamily="34" charset="0"/>
                <a:ea typeface="Calibri" pitchFamily="34" charset="-122"/>
                <a:cs typeface="Calibri" pitchFamily="34" charset="-120"/>
              </a:rPr>
              <a:t>MoE + distillation + open weights — </a:t>
            </a:r>
            <a:pPr indent="0" marL="0">
              <a:lnSpc>
                <a:spcPct val="105000"/>
              </a:lnSpc>
              <a:buNone/>
            </a:pPr>
            <a:r>
              <a:rPr lang="en-US" sz="1150" dirty="0">
                <a:solidFill>
                  <a:srgbClr val="46545F"/>
                </a:solidFill>
                <a:latin typeface="Calibri" pitchFamily="34" charset="0"/>
                <a:ea typeface="Calibri" pitchFamily="34" charset="-122"/>
                <a:cs typeface="Calibri" pitchFamily="34" charset="-120"/>
              </a:rPr>
              <a:t>DeepSeek R1: frontier ability gets radically cheaper; big models teach small ones</a:t>
            </a:r>
            <a:endParaRPr lang="en-US" sz="1250" dirty="0"/>
          </a:p>
        </p:txBody>
      </p:sp>
      <p:sp>
        <p:nvSpPr>
          <p:cNvPr id="16" name="Text 14"/>
          <p:cNvSpPr/>
          <p:nvPr/>
        </p:nvSpPr>
        <p:spPr>
          <a:xfrm>
            <a:off x="502920" y="5230368"/>
            <a:ext cx="777240" cy="365760"/>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2026</a:t>
            </a:r>
            <a:endParaRPr lang="en-US" sz="1500" dirty="0"/>
          </a:p>
        </p:txBody>
      </p:sp>
      <p:sp>
        <p:nvSpPr>
          <p:cNvPr id="17" name="Text 15"/>
          <p:cNvSpPr/>
          <p:nvPr/>
        </p:nvSpPr>
        <p:spPr>
          <a:xfrm>
            <a:off x="1417320" y="5230368"/>
            <a:ext cx="5852160" cy="685800"/>
          </a:xfrm>
          <a:prstGeom prst="rect">
            <a:avLst/>
          </a:prstGeom>
          <a:noFill/>
          <a:ln/>
        </p:spPr>
        <p:txBody>
          <a:bodyPr wrap="square" lIns="0" tIns="0" rIns="0" bIns="0" rtlCol="0" anchor="ctr"/>
          <a:lstStyle/>
          <a:p>
            <a:pPr indent="0" marL="0">
              <a:lnSpc>
                <a:spcPct val="105000"/>
              </a:lnSpc>
              <a:buNone/>
            </a:pPr>
            <a:r>
              <a:rPr lang="en-US" sz="1250" b="1" dirty="0">
                <a:solidFill>
                  <a:srgbClr val="232A31"/>
                </a:solidFill>
                <a:latin typeface="Calibri" pitchFamily="34" charset="0"/>
                <a:ea typeface="Calibri" pitchFamily="34" charset="-122"/>
                <a:cs typeface="Calibri" pitchFamily="34" charset="-120"/>
              </a:rPr>
              <a:t>Agentic harnesses — </a:t>
            </a:r>
            <a:pPr indent="0" marL="0">
              <a:lnSpc>
                <a:spcPct val="105000"/>
              </a:lnSpc>
              <a:buNone/>
            </a:pPr>
            <a:r>
              <a:rPr lang="en-US" sz="1150" dirty="0">
                <a:solidFill>
                  <a:srgbClr val="46545F"/>
                </a:solidFill>
                <a:latin typeface="Calibri" pitchFamily="34" charset="0"/>
                <a:ea typeface="Calibri" pitchFamily="34" charset="-122"/>
                <a:cs typeface="Calibri" pitchFamily="34" charset="-120"/>
              </a:rPr>
              <a:t>Claude Code · Cowork-class agents bring delegation to general office work</a:t>
            </a:r>
            <a:endParaRPr lang="en-US" sz="1250" dirty="0"/>
          </a:p>
        </p:txBody>
      </p:sp>
      <p:sp>
        <p:nvSpPr>
          <p:cNvPr id="18" name="Shape 16"/>
          <p:cNvSpPr/>
          <p:nvPr/>
        </p:nvSpPr>
        <p:spPr>
          <a:xfrm>
            <a:off x="1298448" y="1554480"/>
            <a:ext cx="0" cy="4297680"/>
          </a:xfrm>
          <a:prstGeom prst="line">
            <a:avLst/>
          </a:prstGeom>
          <a:noFill/>
          <a:ln w="19050">
            <a:solidFill>
              <a:srgbClr val="DCE3E6"/>
            </a:solidFill>
            <a:prstDash val="solid"/>
          </a:ln>
        </p:spPr>
      </p:sp>
      <p:sp>
        <p:nvSpPr>
          <p:cNvPr id="19" name="Shape 17"/>
          <p:cNvSpPr/>
          <p:nvPr/>
        </p:nvSpPr>
        <p:spPr>
          <a:xfrm>
            <a:off x="7589520" y="1481328"/>
            <a:ext cx="4069080" cy="4480560"/>
          </a:xfrm>
          <a:prstGeom prst="roundRect">
            <a:avLst>
              <a:gd name="adj" fmla="val 1798"/>
            </a:avLst>
          </a:prstGeom>
          <a:solidFill>
            <a:srgbClr val="F2F5F6"/>
          </a:solidFill>
          <a:ln/>
        </p:spPr>
      </p:sp>
      <p:sp>
        <p:nvSpPr>
          <p:cNvPr id="20" name="Text 18"/>
          <p:cNvSpPr/>
          <p:nvPr/>
        </p:nvSpPr>
        <p:spPr>
          <a:xfrm>
            <a:off x="7863840" y="1691640"/>
            <a:ext cx="3566160" cy="365760"/>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The speed of adoption</a:t>
            </a:r>
            <a:endParaRPr lang="en-US" sz="1500" dirty="0"/>
          </a:p>
        </p:txBody>
      </p:sp>
      <p:sp>
        <p:nvSpPr>
          <p:cNvPr id="21" name="Text 19"/>
          <p:cNvSpPr/>
          <p:nvPr/>
        </p:nvSpPr>
        <p:spPr>
          <a:xfrm>
            <a:off x="7863840" y="2084832"/>
            <a:ext cx="3566160" cy="457200"/>
          </a:xfrm>
          <a:prstGeom prst="rect">
            <a:avLst/>
          </a:prstGeom>
          <a:noFill/>
          <a:ln/>
        </p:spPr>
        <p:txBody>
          <a:bodyPr wrap="square" lIns="0" tIns="0" rIns="0" bIns="0" rtlCol="0" anchor="ctr"/>
          <a:lstStyle/>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Months to reach 100 million users — shorter bar = faster</a:t>
            </a:r>
            <a:endParaRPr lang="en-US" sz="1000" dirty="0"/>
          </a:p>
        </p:txBody>
      </p:sp>
      <p:sp>
        <p:nvSpPr>
          <p:cNvPr id="22" name="Text 20"/>
          <p:cNvSpPr/>
          <p:nvPr/>
        </p:nvSpPr>
        <p:spPr>
          <a:xfrm>
            <a:off x="7863840" y="2724912"/>
            <a:ext cx="1051560" cy="329184"/>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ChatGPT</a:t>
            </a:r>
            <a:endParaRPr lang="en-US" sz="950" dirty="0"/>
          </a:p>
        </p:txBody>
      </p:sp>
      <p:sp>
        <p:nvSpPr>
          <p:cNvPr id="23" name="Shape 21"/>
          <p:cNvSpPr/>
          <p:nvPr/>
        </p:nvSpPr>
        <p:spPr>
          <a:xfrm>
            <a:off x="8915400" y="2743200"/>
            <a:ext cx="109728" cy="274320"/>
          </a:xfrm>
          <a:prstGeom prst="roundRect">
            <a:avLst>
              <a:gd name="adj" fmla="val 33333"/>
            </a:avLst>
          </a:prstGeom>
          <a:solidFill>
            <a:srgbClr val="0E7C7B"/>
          </a:solidFill>
          <a:ln/>
        </p:spPr>
      </p:sp>
      <p:sp>
        <p:nvSpPr>
          <p:cNvPr id="24" name="Text 22"/>
          <p:cNvSpPr/>
          <p:nvPr/>
        </p:nvSpPr>
        <p:spPr>
          <a:xfrm>
            <a:off x="9098280" y="2724912"/>
            <a:ext cx="1005840" cy="329184"/>
          </a:xfrm>
          <a:prstGeom prst="rect">
            <a:avLst/>
          </a:prstGeom>
          <a:noFill/>
          <a:ln/>
        </p:spPr>
        <p:txBody>
          <a:bodyPr wrap="square" lIns="0" tIns="0" rIns="0" bIns="0" rtlCol="0" anchor="ctr"/>
          <a:lstStyle/>
          <a:p>
            <a:pPr indent="0" marL="0">
              <a:buNone/>
            </a:pPr>
            <a:r>
              <a:rPr lang="en-US" sz="950" b="1" dirty="0">
                <a:solidFill>
                  <a:srgbClr val="232A31"/>
                </a:solidFill>
                <a:latin typeface="Calibri" pitchFamily="34" charset="0"/>
                <a:ea typeface="Calibri" pitchFamily="34" charset="-122"/>
                <a:cs typeface="Calibri" pitchFamily="34" charset="-120"/>
              </a:rPr>
              <a:t>2 mo</a:t>
            </a:r>
            <a:endParaRPr lang="en-US" sz="950" dirty="0"/>
          </a:p>
        </p:txBody>
      </p:sp>
      <p:sp>
        <p:nvSpPr>
          <p:cNvPr id="25" name="Text 23"/>
          <p:cNvSpPr/>
          <p:nvPr/>
        </p:nvSpPr>
        <p:spPr>
          <a:xfrm>
            <a:off x="7863840" y="3182112"/>
            <a:ext cx="1051560" cy="329184"/>
          </a:xfrm>
          <a:prstGeom prst="rect">
            <a:avLst/>
          </a:prstGeom>
          <a:noFill/>
          <a:ln/>
        </p:spPr>
        <p:txBody>
          <a:bodyPr wrap="square" lIns="0" tIns="0" rIns="0" bIns="0" rtlCol="0" anchor="ctr"/>
          <a:lstStyle/>
          <a:p>
            <a:pPr indent="0" marL="0">
              <a:buNone/>
            </a:pPr>
            <a:r>
              <a:rPr lang="en-US" sz="950" dirty="0">
                <a:solidFill>
                  <a:srgbClr val="46545F"/>
                </a:solidFill>
                <a:latin typeface="Calibri" pitchFamily="34" charset="0"/>
                <a:ea typeface="Calibri" pitchFamily="34" charset="-122"/>
                <a:cs typeface="Calibri" pitchFamily="34" charset="-120"/>
              </a:rPr>
              <a:t>TikTok</a:t>
            </a:r>
            <a:endParaRPr lang="en-US" sz="950" dirty="0"/>
          </a:p>
        </p:txBody>
      </p:sp>
      <p:sp>
        <p:nvSpPr>
          <p:cNvPr id="26" name="Shape 24"/>
          <p:cNvSpPr/>
          <p:nvPr/>
        </p:nvSpPr>
        <p:spPr>
          <a:xfrm>
            <a:off x="8915400" y="3200400"/>
            <a:ext cx="397764" cy="274320"/>
          </a:xfrm>
          <a:prstGeom prst="roundRect">
            <a:avLst>
              <a:gd name="adj" fmla="val 13333"/>
            </a:avLst>
          </a:prstGeom>
          <a:solidFill>
            <a:srgbClr val="46545F"/>
          </a:solidFill>
          <a:ln/>
        </p:spPr>
      </p:sp>
      <p:sp>
        <p:nvSpPr>
          <p:cNvPr id="27" name="Text 25"/>
          <p:cNvSpPr/>
          <p:nvPr/>
        </p:nvSpPr>
        <p:spPr>
          <a:xfrm>
            <a:off x="9386316" y="3182112"/>
            <a:ext cx="1005840" cy="329184"/>
          </a:xfrm>
          <a:prstGeom prst="rect">
            <a:avLst/>
          </a:prstGeom>
          <a:noFill/>
          <a:ln/>
        </p:spPr>
        <p:txBody>
          <a:bodyPr wrap="square" lIns="0" tIns="0" rIns="0" bIns="0" rtlCol="0" anchor="ctr"/>
          <a:lstStyle/>
          <a:p>
            <a:pPr indent="0" marL="0">
              <a:buNone/>
            </a:pPr>
            <a:r>
              <a:rPr lang="en-US" sz="950" b="1" dirty="0">
                <a:solidFill>
                  <a:srgbClr val="232A31"/>
                </a:solidFill>
                <a:latin typeface="Calibri" pitchFamily="34" charset="0"/>
                <a:ea typeface="Calibri" pitchFamily="34" charset="-122"/>
                <a:cs typeface="Calibri" pitchFamily="34" charset="-120"/>
              </a:rPr>
              <a:t>~9 mo</a:t>
            </a:r>
            <a:endParaRPr lang="en-US" sz="950" dirty="0"/>
          </a:p>
        </p:txBody>
      </p:sp>
      <p:sp>
        <p:nvSpPr>
          <p:cNvPr id="28" name="Text 26"/>
          <p:cNvSpPr/>
          <p:nvPr/>
        </p:nvSpPr>
        <p:spPr>
          <a:xfrm>
            <a:off x="7863840" y="3639312"/>
            <a:ext cx="1051560" cy="329184"/>
          </a:xfrm>
          <a:prstGeom prst="rect">
            <a:avLst/>
          </a:prstGeom>
          <a:noFill/>
          <a:ln/>
        </p:spPr>
        <p:txBody>
          <a:bodyPr wrap="square" lIns="0" tIns="0" rIns="0" bIns="0" rtlCol="0" anchor="ctr"/>
          <a:lstStyle/>
          <a:p>
            <a:pPr indent="0" marL="0">
              <a:buNone/>
            </a:pPr>
            <a:r>
              <a:rPr lang="en-US" sz="950" dirty="0">
                <a:solidFill>
                  <a:srgbClr val="46545F"/>
                </a:solidFill>
                <a:latin typeface="Calibri" pitchFamily="34" charset="0"/>
                <a:ea typeface="Calibri" pitchFamily="34" charset="-122"/>
                <a:cs typeface="Calibri" pitchFamily="34" charset="-120"/>
              </a:rPr>
              <a:t>Instagram</a:t>
            </a:r>
            <a:endParaRPr lang="en-US" sz="950" dirty="0"/>
          </a:p>
        </p:txBody>
      </p:sp>
      <p:sp>
        <p:nvSpPr>
          <p:cNvPr id="29" name="Shape 27"/>
          <p:cNvSpPr/>
          <p:nvPr/>
        </p:nvSpPr>
        <p:spPr>
          <a:xfrm>
            <a:off x="8915400" y="3657600"/>
            <a:ext cx="1325880" cy="274320"/>
          </a:xfrm>
          <a:prstGeom prst="roundRect">
            <a:avLst>
              <a:gd name="adj" fmla="val 13333"/>
            </a:avLst>
          </a:prstGeom>
          <a:solidFill>
            <a:srgbClr val="46545F"/>
          </a:solidFill>
          <a:ln/>
        </p:spPr>
      </p:sp>
      <p:sp>
        <p:nvSpPr>
          <p:cNvPr id="30" name="Text 28"/>
          <p:cNvSpPr/>
          <p:nvPr/>
        </p:nvSpPr>
        <p:spPr>
          <a:xfrm>
            <a:off x="10314432" y="3639312"/>
            <a:ext cx="1005840" cy="329184"/>
          </a:xfrm>
          <a:prstGeom prst="rect">
            <a:avLst/>
          </a:prstGeom>
          <a:noFill/>
          <a:ln/>
        </p:spPr>
        <p:txBody>
          <a:bodyPr wrap="square" lIns="0" tIns="0" rIns="0" bIns="0" rtlCol="0" anchor="ctr"/>
          <a:lstStyle/>
          <a:p>
            <a:pPr indent="0" marL="0">
              <a:buNone/>
            </a:pPr>
            <a:r>
              <a:rPr lang="en-US" sz="950" b="1" dirty="0">
                <a:solidFill>
                  <a:srgbClr val="232A31"/>
                </a:solidFill>
                <a:latin typeface="Calibri" pitchFamily="34" charset="0"/>
                <a:ea typeface="Calibri" pitchFamily="34" charset="-122"/>
                <a:cs typeface="Calibri" pitchFamily="34" charset="-120"/>
              </a:rPr>
              <a:t>~30 mo</a:t>
            </a:r>
            <a:endParaRPr lang="en-US" sz="950" dirty="0"/>
          </a:p>
        </p:txBody>
      </p:sp>
      <p:sp>
        <p:nvSpPr>
          <p:cNvPr id="31" name="Text 29"/>
          <p:cNvSpPr/>
          <p:nvPr/>
        </p:nvSpPr>
        <p:spPr>
          <a:xfrm>
            <a:off x="7863840" y="4160520"/>
            <a:ext cx="3566160" cy="502920"/>
          </a:xfrm>
          <a:prstGeom prst="rect">
            <a:avLst/>
          </a:prstGeom>
          <a:noFill/>
          <a:ln/>
        </p:spPr>
        <p:txBody>
          <a:bodyPr wrap="square" lIns="0" tIns="0" rIns="0" bIns="0" rtlCol="0" anchor="ctr"/>
          <a:lstStyle/>
          <a:p>
            <a:pPr indent="0" marL="0">
              <a:lnSpc>
                <a:spcPct val="105000"/>
              </a:lnSpc>
              <a:buNone/>
            </a:pPr>
            <a:r>
              <a:rPr lang="en-US" sz="900" i="1" dirty="0">
                <a:solidFill>
                  <a:srgbClr val="7A8790"/>
                </a:solidFill>
                <a:latin typeface="Calibri" pitchFamily="34" charset="0"/>
                <a:ea typeface="Calibri" pitchFamily="34" charset="-122"/>
                <a:cs typeface="Calibri" pitchFamily="34" charset="-120"/>
              </a:rPr>
              <a:t>Fastest consumer ramp ever recorded at launch (UBS/Reuters, 2023).</a:t>
            </a:r>
            <a:endParaRPr lang="en-US" sz="900" dirty="0"/>
          </a:p>
        </p:txBody>
      </p:sp>
      <p:sp>
        <p:nvSpPr>
          <p:cNvPr id="32" name="Text 30"/>
          <p:cNvSpPr/>
          <p:nvPr/>
        </p:nvSpPr>
        <p:spPr>
          <a:xfrm>
            <a:off x="7863840" y="4892040"/>
            <a:ext cx="3566160" cy="868680"/>
          </a:xfrm>
          <a:prstGeom prst="rect">
            <a:avLst/>
          </a:prstGeom>
          <a:noFill/>
          <a:ln/>
        </p:spPr>
        <p:txBody>
          <a:bodyPr wrap="square" lIns="0" tIns="0" rIns="0" bIns="0" rtlCol="0" anchor="ctr"/>
          <a:lstStyle/>
          <a:p>
            <a:pPr indent="0" marL="0">
              <a:lnSpc>
                <a:spcPct val="110000"/>
              </a:lnSpc>
              <a:buNone/>
            </a:pPr>
            <a:r>
              <a:rPr lang="en-US" sz="1000" dirty="0">
                <a:solidFill>
                  <a:srgbClr val="46545F"/>
                </a:solidFill>
                <a:latin typeface="Calibri" pitchFamily="34" charset="0"/>
                <a:ea typeface="Calibri" pitchFamily="34" charset="-122"/>
                <a:cs typeface="Calibri" pitchFamily="34" charset="-120"/>
              </a:rPr>
              <a:t>The methods on the left are the vocabulary for the whole course — each returns on a later slide.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A SHORT HISTORY</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WHY AI HAPPENED NOW</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hardware story — chips, Nvidia, data centers</a:t>
            </a:r>
            <a:endParaRPr lang="en-US" sz="3000" dirty="0"/>
          </a:p>
        </p:txBody>
      </p:sp>
      <p:sp>
        <p:nvSpPr>
          <p:cNvPr id="6" name="Shape 4"/>
          <p:cNvSpPr/>
          <p:nvPr/>
        </p:nvSpPr>
        <p:spPr>
          <a:xfrm>
            <a:off x="502920" y="1481328"/>
            <a:ext cx="3291840" cy="2084832"/>
          </a:xfrm>
          <a:prstGeom prst="roundRect">
            <a:avLst>
              <a:gd name="adj" fmla="val 3509"/>
            </a:avLst>
          </a:prstGeom>
          <a:solidFill>
            <a:srgbClr val="F2F5F6"/>
          </a:solidFill>
          <a:ln/>
        </p:spPr>
      </p:sp>
      <p:sp>
        <p:nvSpPr>
          <p:cNvPr id="7" name="Text 5"/>
          <p:cNvSpPr/>
          <p:nvPr/>
        </p:nvSpPr>
        <p:spPr>
          <a:xfrm>
            <a:off x="731520" y="160934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① A 60-year tailwind</a:t>
            </a:r>
            <a:endParaRPr lang="en-US" sz="1350" dirty="0"/>
          </a:p>
        </p:txBody>
      </p:sp>
      <p:sp>
        <p:nvSpPr>
          <p:cNvPr id="8" name="Text 6"/>
          <p:cNvSpPr/>
          <p:nvPr/>
        </p:nvSpPr>
        <p:spPr>
          <a:xfrm>
            <a:off x="731520" y="1938528"/>
            <a:ext cx="2834640" cy="1554480"/>
          </a:xfrm>
          <a:prstGeom prst="rect">
            <a:avLst/>
          </a:prstGeom>
          <a:noFill/>
          <a:ln/>
        </p:spPr>
        <p:txBody>
          <a:bodyPr wrap="square" lIns="0" tIns="0" rIns="0" bIns="0" rtlCol="0" anchor="ctr"/>
          <a:lstStyle/>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Moore’s law (1965): </a:t>
            </a:r>
            <a:pPr indent="0" marL="0">
              <a:lnSpc>
                <a:spcPct val="106000"/>
              </a:lnSpc>
              <a:spcAft>
                <a:spcPts val="400"/>
              </a:spcAft>
              <a:buNone/>
            </a:pPr>
            <a:r>
              <a:rPr lang="en-US" sz="1050" dirty="0">
                <a:solidFill>
                  <a:srgbClr val="46545F"/>
                </a:solidFill>
                <a:latin typeface="Calibri" pitchFamily="34" charset="0"/>
                <a:ea typeface="Calibri" pitchFamily="34" charset="-122"/>
                <a:cs typeface="Calibri" pitchFamily="34" charset="-120"/>
              </a:rPr>
              <a:t>chips double their transistors every ~2 years.</a:t>
            </a:r>
            <a:endParaRPr lang="en-US" sz="1050" dirty="0"/>
          </a:p>
          <a:p>
            <a:pPr indent="0" marL="0">
              <a:lnSpc>
                <a:spcPct val="106000"/>
              </a:lnSpc>
              <a:spcAft>
                <a:spcPts val="400"/>
              </a:spcAft>
              <a:buNone/>
            </a:pPr>
            <a:r>
              <a:rPr lang="en-US" sz="1150" b="1" dirty="0">
                <a:solidFill>
                  <a:srgbClr val="0A5B5A"/>
                </a:solidFill>
                <a:latin typeface="Calibri" pitchFamily="34" charset="0"/>
                <a:ea typeface="Calibri" pitchFamily="34" charset="-122"/>
                <a:cs typeface="Calibri" pitchFamily="34" charset="-120"/>
              </a:rPr>
              <a:t>1971: 2,300 → 2024: 208 billion</a:t>
            </a:r>
            <a:endParaRPr lang="en-US" sz="1050" dirty="0"/>
          </a:p>
          <a:p>
            <a:pPr indent="0" marL="0">
              <a:lnSpc>
                <a:spcPct val="106000"/>
              </a:lnSpc>
              <a:buNone/>
            </a:pPr>
            <a:r>
              <a:rPr lang="en-US" sz="950" i="1" dirty="0">
                <a:solidFill>
                  <a:srgbClr val="46545F"/>
                </a:solidFill>
                <a:latin typeface="Calibri" pitchFamily="34" charset="0"/>
                <a:ea typeface="Calibri" pitchFamily="34" charset="-122"/>
                <a:cs typeface="Calibri" pitchFamily="34" charset="-120"/>
              </a:rPr>
              <a:t>2026 status: slowing to ~3-year doublings — not dead, but no longer enough on its own.</a:t>
            </a:r>
            <a:endParaRPr lang="en-US" sz="1050" dirty="0"/>
          </a:p>
        </p:txBody>
      </p:sp>
      <p:sp>
        <p:nvSpPr>
          <p:cNvPr id="9" name="Shape 7"/>
          <p:cNvSpPr/>
          <p:nvPr/>
        </p:nvSpPr>
        <p:spPr>
          <a:xfrm>
            <a:off x="502920" y="3675888"/>
            <a:ext cx="3291840" cy="2084832"/>
          </a:xfrm>
          <a:prstGeom prst="roundRect">
            <a:avLst>
              <a:gd name="adj" fmla="val 3509"/>
            </a:avLst>
          </a:prstGeom>
          <a:solidFill>
            <a:srgbClr val="E4F0EF"/>
          </a:solidFill>
          <a:ln/>
        </p:spPr>
      </p:sp>
      <p:sp>
        <p:nvSpPr>
          <p:cNvPr id="10" name="Text 8"/>
          <p:cNvSpPr/>
          <p:nvPr/>
        </p:nvSpPr>
        <p:spPr>
          <a:xfrm>
            <a:off x="731520" y="380390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② The accident</a:t>
            </a:r>
            <a:endParaRPr lang="en-US" sz="1350" dirty="0"/>
          </a:p>
        </p:txBody>
      </p:sp>
      <p:sp>
        <p:nvSpPr>
          <p:cNvPr id="11" name="Text 9"/>
          <p:cNvSpPr/>
          <p:nvPr/>
        </p:nvSpPr>
        <p:spPr>
          <a:xfrm>
            <a:off x="731520" y="4133088"/>
            <a:ext cx="2834640" cy="1554480"/>
          </a:xfrm>
          <a:prstGeom prst="rect">
            <a:avLst/>
          </a:prstGeom>
          <a:noFill/>
          <a:ln/>
        </p:spPr>
        <p:txBody>
          <a:bodyPr wrap="square" lIns="0" tIns="0" rIns="0" bIns="0" rtlCol="0" anchor="ctr"/>
          <a:lstStyle/>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Gaming chips WERE AI chips: </a:t>
            </a:r>
            <a:pPr indent="0" marL="0">
              <a:lnSpc>
                <a:spcPct val="106000"/>
              </a:lnSpc>
              <a:spcAft>
                <a:spcPts val="400"/>
              </a:spcAft>
              <a:buNone/>
            </a:pPr>
            <a:r>
              <a:rPr lang="en-US" sz="1050" dirty="0">
                <a:solidFill>
                  <a:srgbClr val="46545F"/>
                </a:solidFill>
                <a:latin typeface="Calibri" pitchFamily="34" charset="0"/>
                <a:ea typeface="Calibri" pitchFamily="34" charset="-122"/>
                <a:cs typeface="Calibri" pitchFamily="34" charset="-120"/>
              </a:rPr>
              <a:t>both need millions of tiny calculations at once.</a:t>
            </a:r>
            <a:endParaRPr lang="en-US" sz="1050" dirty="0"/>
          </a:p>
          <a:p>
            <a:pPr indent="0" marL="0">
              <a:lnSpc>
                <a:spcPct val="106000"/>
              </a:lnSpc>
              <a:spcAft>
                <a:spcPts val="400"/>
              </a:spcAft>
              <a:buNone/>
            </a:pPr>
            <a:r>
              <a:rPr lang="en-US" sz="1000" dirty="0">
                <a:solidFill>
                  <a:srgbClr val="46545F"/>
                </a:solidFill>
                <a:latin typeface="Calibri" pitchFamily="34" charset="0"/>
                <a:ea typeface="Calibri" pitchFamily="34" charset="-122"/>
                <a:cs typeface="Calibri" pitchFamily="34" charset="-120"/>
              </a:rPr>
              <a:t>2006 — Nvidia’s CUDA lets anyone program a graphics card.</a:t>
            </a:r>
            <a:endParaRPr lang="en-US" sz="1050" dirty="0"/>
          </a:p>
          <a:p>
            <a:pPr indent="0" marL="0">
              <a:lnSpc>
                <a:spcPct val="106000"/>
              </a:lnSpc>
              <a:buNone/>
            </a:pPr>
            <a:r>
              <a:rPr lang="en-US" sz="1000" b="1" dirty="0">
                <a:solidFill>
                  <a:srgbClr val="232A31"/>
                </a:solidFill>
                <a:latin typeface="Calibri" pitchFamily="34" charset="0"/>
                <a:ea typeface="Calibri" pitchFamily="34" charset="-122"/>
                <a:cs typeface="Calibri" pitchFamily="34" charset="-120"/>
              </a:rPr>
              <a:t>2012 — AlexNet: two consumer gaming cards, six days, beats 30 years of hand-built AI.</a:t>
            </a:r>
            <a:endParaRPr lang="en-US" sz="1050" dirty="0"/>
          </a:p>
        </p:txBody>
      </p:sp>
      <p:sp>
        <p:nvSpPr>
          <p:cNvPr id="12" name="Shape 10"/>
          <p:cNvSpPr/>
          <p:nvPr/>
        </p:nvSpPr>
        <p:spPr>
          <a:xfrm>
            <a:off x="3931920" y="1481328"/>
            <a:ext cx="4160520" cy="4279392"/>
          </a:xfrm>
          <a:prstGeom prst="roundRect">
            <a:avLst>
              <a:gd name="adj" fmla="val 1758"/>
            </a:avLst>
          </a:prstGeom>
          <a:solidFill>
            <a:srgbClr val="F2F5F6"/>
          </a:solidFill>
          <a:ln/>
        </p:spPr>
      </p:sp>
      <p:sp>
        <p:nvSpPr>
          <p:cNvPr id="13" name="Text 11"/>
          <p:cNvSpPr/>
          <p:nvPr/>
        </p:nvSpPr>
        <p:spPr>
          <a:xfrm>
            <a:off x="4160520" y="1609344"/>
            <a:ext cx="37490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③ Moore’s pace vs AI’s appetite</a:t>
            </a:r>
            <a:endParaRPr lang="en-US" sz="1350" dirty="0"/>
          </a:p>
        </p:txBody>
      </p:sp>
      <p:sp>
        <p:nvSpPr>
          <p:cNvPr id="14" name="Text 12"/>
          <p:cNvSpPr/>
          <p:nvPr/>
        </p:nvSpPr>
        <p:spPr>
          <a:xfrm>
            <a:off x="4160520" y="1901952"/>
            <a:ext cx="3749040" cy="237744"/>
          </a:xfrm>
          <a:prstGeom prst="rect">
            <a:avLst/>
          </a:prstGeom>
          <a:noFill/>
          <a:ln/>
        </p:spPr>
        <p:txBody>
          <a:bodyPr wrap="square" lIns="0" tIns="0" rIns="0" bIns="0" rtlCol="0" anchor="ctr"/>
          <a:lstStyle/>
          <a:p>
            <a:pPr indent="0" marL="0">
              <a:buNone/>
            </a:pPr>
            <a:r>
              <a:rPr lang="en-US" sz="900" dirty="0">
                <a:solidFill>
                  <a:srgbClr val="46545F"/>
                </a:solidFill>
                <a:latin typeface="Calibri" pitchFamily="34" charset="0"/>
                <a:ea typeface="Calibri" pitchFamily="34" charset="-122"/>
                <a:cs typeface="Calibri" pitchFamily="34" charset="-120"/>
              </a:rPr>
              <a:t>Compute used to train notable AI models (log scale)</a:t>
            </a:r>
            <a:endParaRPr lang="en-US" sz="900" dirty="0"/>
          </a:p>
        </p:txBody>
      </p:sp>
      <p:sp>
        <p:nvSpPr>
          <p:cNvPr id="15" name="Shape 13"/>
          <p:cNvSpPr/>
          <p:nvPr/>
        </p:nvSpPr>
        <p:spPr>
          <a:xfrm flipV="1">
            <a:off x="4370832" y="4281373"/>
            <a:ext cx="3200400" cy="480670"/>
          </a:xfrm>
          <a:prstGeom prst="line">
            <a:avLst/>
          </a:prstGeom>
          <a:noFill/>
          <a:ln w="19050">
            <a:solidFill>
              <a:srgbClr val="7A8790"/>
            </a:solidFill>
            <a:prstDash val="dash"/>
          </a:ln>
        </p:spPr>
      </p:sp>
      <p:sp>
        <p:nvSpPr>
          <p:cNvPr id="16" name="Shape 14"/>
          <p:cNvSpPr/>
          <p:nvPr/>
        </p:nvSpPr>
        <p:spPr>
          <a:xfrm flipV="1">
            <a:off x="4370832" y="3716731"/>
            <a:ext cx="2036618" cy="1045312"/>
          </a:xfrm>
          <a:prstGeom prst="line">
            <a:avLst/>
          </a:prstGeom>
          <a:noFill/>
          <a:ln w="25400">
            <a:solidFill>
              <a:srgbClr val="0E7C7B"/>
            </a:solidFill>
            <a:prstDash val="solid"/>
          </a:ln>
        </p:spPr>
      </p:sp>
      <p:sp>
        <p:nvSpPr>
          <p:cNvPr id="17" name="Shape 15"/>
          <p:cNvSpPr/>
          <p:nvPr/>
        </p:nvSpPr>
        <p:spPr>
          <a:xfrm flipV="1">
            <a:off x="6407450" y="3076804"/>
            <a:ext cx="290945" cy="639928"/>
          </a:xfrm>
          <a:prstGeom prst="line">
            <a:avLst/>
          </a:prstGeom>
          <a:noFill/>
          <a:ln w="25400">
            <a:solidFill>
              <a:srgbClr val="0E7C7B"/>
            </a:solidFill>
            <a:prstDash val="solid"/>
          </a:ln>
        </p:spPr>
      </p:sp>
      <p:sp>
        <p:nvSpPr>
          <p:cNvPr id="18" name="Shape 16"/>
          <p:cNvSpPr/>
          <p:nvPr/>
        </p:nvSpPr>
        <p:spPr>
          <a:xfrm flipV="1">
            <a:off x="6698396" y="2546909"/>
            <a:ext cx="872836" cy="529895"/>
          </a:xfrm>
          <a:prstGeom prst="line">
            <a:avLst/>
          </a:prstGeom>
          <a:noFill/>
          <a:ln w="25400">
            <a:solidFill>
              <a:srgbClr val="0E7C7B"/>
            </a:solidFill>
            <a:prstDash val="solid"/>
          </a:ln>
        </p:spPr>
      </p:sp>
      <p:sp>
        <p:nvSpPr>
          <p:cNvPr id="19" name="Shape 17"/>
          <p:cNvSpPr/>
          <p:nvPr/>
        </p:nvSpPr>
        <p:spPr>
          <a:xfrm>
            <a:off x="4315968" y="4707179"/>
            <a:ext cx="109728" cy="109728"/>
          </a:xfrm>
          <a:prstGeom prst="ellipse">
            <a:avLst/>
          </a:prstGeom>
          <a:solidFill>
            <a:srgbClr val="0A5B5A"/>
          </a:solidFill>
          <a:ln/>
        </p:spPr>
      </p:sp>
      <p:sp>
        <p:nvSpPr>
          <p:cNvPr id="20" name="Text 18"/>
          <p:cNvSpPr/>
          <p:nvPr/>
        </p:nvSpPr>
        <p:spPr>
          <a:xfrm>
            <a:off x="3502152" y="4487723"/>
            <a:ext cx="914400" cy="201168"/>
          </a:xfrm>
          <a:prstGeom prst="rect">
            <a:avLst/>
          </a:prstGeom>
          <a:noFill/>
          <a:ln/>
        </p:spPr>
        <p:txBody>
          <a:bodyPr wrap="square" lIns="0" tIns="0" rIns="0" bIns="0" rtlCol="0" anchor="ctr"/>
          <a:lstStyle/>
          <a:p>
            <a:pPr algn="r" indent="0" marL="0">
              <a:buNone/>
            </a:pPr>
            <a:r>
              <a:rPr lang="en-US" sz="800" b="1" dirty="0">
                <a:solidFill>
                  <a:srgbClr val="0A5B5A"/>
                </a:solidFill>
                <a:latin typeface="Calibri" pitchFamily="34" charset="0"/>
                <a:ea typeface="Calibri" pitchFamily="34" charset="-122"/>
                <a:cs typeface="Calibri" pitchFamily="34" charset="-120"/>
              </a:rPr>
              <a:t>AlexNet</a:t>
            </a:r>
            <a:endParaRPr lang="en-US" sz="800" dirty="0"/>
          </a:p>
        </p:txBody>
      </p:sp>
      <p:sp>
        <p:nvSpPr>
          <p:cNvPr id="21" name="Shape 19"/>
          <p:cNvSpPr/>
          <p:nvPr/>
        </p:nvSpPr>
        <p:spPr>
          <a:xfrm>
            <a:off x="6352586" y="3661867"/>
            <a:ext cx="109728" cy="109728"/>
          </a:xfrm>
          <a:prstGeom prst="ellipse">
            <a:avLst/>
          </a:prstGeom>
          <a:solidFill>
            <a:srgbClr val="0A5B5A"/>
          </a:solidFill>
          <a:ln/>
        </p:spPr>
      </p:sp>
      <p:sp>
        <p:nvSpPr>
          <p:cNvPr id="22" name="Text 20"/>
          <p:cNvSpPr/>
          <p:nvPr/>
        </p:nvSpPr>
        <p:spPr>
          <a:xfrm>
            <a:off x="5538770" y="3442411"/>
            <a:ext cx="914400" cy="201168"/>
          </a:xfrm>
          <a:prstGeom prst="rect">
            <a:avLst/>
          </a:prstGeom>
          <a:noFill/>
          <a:ln/>
        </p:spPr>
        <p:txBody>
          <a:bodyPr wrap="square" lIns="0" tIns="0" rIns="0" bIns="0" rtlCol="0" anchor="ctr"/>
          <a:lstStyle/>
          <a:p>
            <a:pPr algn="r" indent="0" marL="0">
              <a:buNone/>
            </a:pPr>
            <a:r>
              <a:rPr lang="en-US" sz="800" b="1" dirty="0">
                <a:solidFill>
                  <a:srgbClr val="0A5B5A"/>
                </a:solidFill>
                <a:latin typeface="Calibri" pitchFamily="34" charset="0"/>
                <a:ea typeface="Calibri" pitchFamily="34" charset="-122"/>
                <a:cs typeface="Calibri" pitchFamily="34" charset="-120"/>
              </a:rPr>
              <a:t>GPT-2</a:t>
            </a:r>
            <a:endParaRPr lang="en-US" sz="800" dirty="0"/>
          </a:p>
        </p:txBody>
      </p:sp>
      <p:sp>
        <p:nvSpPr>
          <p:cNvPr id="23" name="Shape 21"/>
          <p:cNvSpPr/>
          <p:nvPr/>
        </p:nvSpPr>
        <p:spPr>
          <a:xfrm>
            <a:off x="6643532" y="3021940"/>
            <a:ext cx="109728" cy="109728"/>
          </a:xfrm>
          <a:prstGeom prst="ellipse">
            <a:avLst/>
          </a:prstGeom>
          <a:solidFill>
            <a:srgbClr val="0A5B5A"/>
          </a:solidFill>
          <a:ln/>
        </p:spPr>
      </p:sp>
      <p:sp>
        <p:nvSpPr>
          <p:cNvPr id="24" name="Text 22"/>
          <p:cNvSpPr/>
          <p:nvPr/>
        </p:nvSpPr>
        <p:spPr>
          <a:xfrm>
            <a:off x="5829716" y="2802484"/>
            <a:ext cx="914400" cy="201168"/>
          </a:xfrm>
          <a:prstGeom prst="rect">
            <a:avLst/>
          </a:prstGeom>
          <a:noFill/>
          <a:ln/>
        </p:spPr>
        <p:txBody>
          <a:bodyPr wrap="square" lIns="0" tIns="0" rIns="0" bIns="0" rtlCol="0" anchor="ctr"/>
          <a:lstStyle/>
          <a:p>
            <a:pPr algn="r" indent="0" marL="0">
              <a:buNone/>
            </a:pPr>
            <a:r>
              <a:rPr lang="en-US" sz="800" b="1" dirty="0">
                <a:solidFill>
                  <a:srgbClr val="0A5B5A"/>
                </a:solidFill>
                <a:latin typeface="Calibri" pitchFamily="34" charset="0"/>
                <a:ea typeface="Calibri" pitchFamily="34" charset="-122"/>
                <a:cs typeface="Calibri" pitchFamily="34" charset="-120"/>
              </a:rPr>
              <a:t>GPT-3</a:t>
            </a:r>
            <a:endParaRPr lang="en-US" sz="800" dirty="0"/>
          </a:p>
        </p:txBody>
      </p:sp>
      <p:sp>
        <p:nvSpPr>
          <p:cNvPr id="25" name="Shape 23"/>
          <p:cNvSpPr/>
          <p:nvPr/>
        </p:nvSpPr>
        <p:spPr>
          <a:xfrm>
            <a:off x="7516368" y="2492045"/>
            <a:ext cx="109728" cy="109728"/>
          </a:xfrm>
          <a:prstGeom prst="ellipse">
            <a:avLst/>
          </a:prstGeom>
          <a:solidFill>
            <a:srgbClr val="0A5B5A"/>
          </a:solidFill>
          <a:ln/>
        </p:spPr>
      </p:sp>
      <p:sp>
        <p:nvSpPr>
          <p:cNvPr id="26" name="Text 24"/>
          <p:cNvSpPr/>
          <p:nvPr/>
        </p:nvSpPr>
        <p:spPr>
          <a:xfrm>
            <a:off x="6702552" y="2272589"/>
            <a:ext cx="914400" cy="201168"/>
          </a:xfrm>
          <a:prstGeom prst="rect">
            <a:avLst/>
          </a:prstGeom>
          <a:noFill/>
          <a:ln/>
        </p:spPr>
        <p:txBody>
          <a:bodyPr wrap="square" lIns="0" tIns="0" rIns="0" bIns="0" rtlCol="0" anchor="ctr"/>
          <a:lstStyle/>
          <a:p>
            <a:pPr algn="r" indent="0" marL="0">
              <a:buNone/>
            </a:pPr>
            <a:r>
              <a:rPr lang="en-US" sz="800" b="1" dirty="0">
                <a:solidFill>
                  <a:srgbClr val="0A5B5A"/>
                </a:solidFill>
                <a:latin typeface="Calibri" pitchFamily="34" charset="0"/>
                <a:ea typeface="Calibri" pitchFamily="34" charset="-122"/>
                <a:cs typeface="Calibri" pitchFamily="34" charset="-120"/>
              </a:rPr>
              <a:t>GPT-4 (est.)</a:t>
            </a:r>
            <a:endParaRPr lang="en-US" sz="800" dirty="0"/>
          </a:p>
        </p:txBody>
      </p:sp>
      <p:sp>
        <p:nvSpPr>
          <p:cNvPr id="27" name="Text 25"/>
          <p:cNvSpPr/>
          <p:nvPr/>
        </p:nvSpPr>
        <p:spPr>
          <a:xfrm>
            <a:off x="6656832" y="4327093"/>
            <a:ext cx="1005840" cy="182880"/>
          </a:xfrm>
          <a:prstGeom prst="rect">
            <a:avLst/>
          </a:prstGeom>
          <a:noFill/>
          <a:ln/>
        </p:spPr>
        <p:txBody>
          <a:bodyPr wrap="square" lIns="0" tIns="0" rIns="0" bIns="0" rtlCol="0" anchor="ctr"/>
          <a:lstStyle/>
          <a:p>
            <a:pPr algn="r" indent="0" marL="0">
              <a:buNone/>
            </a:pPr>
            <a:r>
              <a:rPr lang="en-US" sz="800" i="1" dirty="0">
                <a:solidFill>
                  <a:srgbClr val="7A8790"/>
                </a:solidFill>
                <a:latin typeface="Calibri" pitchFamily="34" charset="0"/>
                <a:ea typeface="Calibri" pitchFamily="34" charset="-122"/>
                <a:cs typeface="Calibri" pitchFamily="34" charset="-120"/>
              </a:rPr>
              <a:t>Moore’s pace</a:t>
            </a:r>
            <a:endParaRPr lang="en-US" sz="800" dirty="0"/>
          </a:p>
        </p:txBody>
      </p:sp>
      <p:sp>
        <p:nvSpPr>
          <p:cNvPr id="28" name="Text 26"/>
          <p:cNvSpPr/>
          <p:nvPr/>
        </p:nvSpPr>
        <p:spPr>
          <a:xfrm>
            <a:off x="4187952" y="5029200"/>
            <a:ext cx="457200" cy="182880"/>
          </a:xfrm>
          <a:prstGeom prst="rect">
            <a:avLst/>
          </a:prstGeom>
          <a:noFill/>
          <a:ln/>
        </p:spPr>
        <p:txBody>
          <a:bodyPr wrap="square" lIns="0" tIns="0" rIns="0" bIns="0" rtlCol="0" anchor="ctr"/>
          <a:lstStyle/>
          <a:p>
            <a:pPr indent="0" marL="0">
              <a:buNone/>
            </a:pPr>
            <a:r>
              <a:rPr lang="en-US" sz="800" dirty="0">
                <a:solidFill>
                  <a:srgbClr val="7A8790"/>
                </a:solidFill>
                <a:latin typeface="Calibri" pitchFamily="34" charset="0"/>
                <a:ea typeface="Calibri" pitchFamily="34" charset="-122"/>
                <a:cs typeface="Calibri" pitchFamily="34" charset="-120"/>
              </a:rPr>
              <a:t>2012</a:t>
            </a:r>
            <a:endParaRPr lang="en-US" sz="800" dirty="0"/>
          </a:p>
        </p:txBody>
      </p:sp>
      <p:sp>
        <p:nvSpPr>
          <p:cNvPr id="29" name="Text 27"/>
          <p:cNvSpPr/>
          <p:nvPr/>
        </p:nvSpPr>
        <p:spPr>
          <a:xfrm>
            <a:off x="7342632" y="5029200"/>
            <a:ext cx="457200" cy="182880"/>
          </a:xfrm>
          <a:prstGeom prst="rect">
            <a:avLst/>
          </a:prstGeom>
          <a:noFill/>
          <a:ln/>
        </p:spPr>
        <p:txBody>
          <a:bodyPr wrap="square" lIns="0" tIns="0" rIns="0" bIns="0" rtlCol="0" anchor="ctr"/>
          <a:lstStyle/>
          <a:p>
            <a:pPr indent="0" marL="0">
              <a:buNone/>
            </a:pPr>
            <a:r>
              <a:rPr lang="en-US" sz="800" dirty="0">
                <a:solidFill>
                  <a:srgbClr val="7A8790"/>
                </a:solidFill>
                <a:latin typeface="Calibri" pitchFamily="34" charset="0"/>
                <a:ea typeface="Calibri" pitchFamily="34" charset="-122"/>
                <a:cs typeface="Calibri" pitchFamily="34" charset="-120"/>
              </a:rPr>
              <a:t>2023</a:t>
            </a:r>
            <a:endParaRPr lang="en-US" sz="800" dirty="0"/>
          </a:p>
        </p:txBody>
      </p:sp>
      <p:sp>
        <p:nvSpPr>
          <p:cNvPr id="30" name="Text 28"/>
          <p:cNvSpPr/>
          <p:nvPr/>
        </p:nvSpPr>
        <p:spPr>
          <a:xfrm>
            <a:off x="4160520" y="5230368"/>
            <a:ext cx="3749040" cy="457200"/>
          </a:xfrm>
          <a:prstGeom prst="rect">
            <a:avLst/>
          </a:prstGeom>
          <a:noFill/>
          <a:ln/>
        </p:spPr>
        <p:txBody>
          <a:bodyPr wrap="square" lIns="0" tIns="0" rIns="0" bIns="0" rtlCol="0" anchor="ctr"/>
          <a:lstStyle/>
          <a:p>
            <a:pPr indent="0" marL="0">
              <a:lnSpc>
                <a:spcPct val="104000"/>
              </a:lnSpc>
              <a:buNone/>
            </a:pPr>
            <a:r>
              <a:rPr lang="en-US" sz="1000" dirty="0">
                <a:solidFill>
                  <a:srgbClr val="46545F"/>
                </a:solidFill>
                <a:latin typeface="Calibri" pitchFamily="34" charset="0"/>
                <a:ea typeface="Calibri" pitchFamily="34" charset="-122"/>
                <a:cs typeface="Calibri" pitchFamily="34" charset="-120"/>
              </a:rPr>
              <a:t>At Moore’s pace since 2012: ×45. </a:t>
            </a:r>
            <a:pPr indent="0" marL="0">
              <a:lnSpc>
                <a:spcPct val="104000"/>
              </a:lnSpc>
              <a:buNone/>
            </a:pPr>
            <a:r>
              <a:rPr lang="en-US" sz="1150" b="1" dirty="0">
                <a:solidFill>
                  <a:srgbClr val="AF3230"/>
                </a:solidFill>
                <a:latin typeface="Calibri" pitchFamily="34" charset="0"/>
                <a:ea typeface="Calibri" pitchFamily="34" charset="-122"/>
                <a:cs typeface="Calibri" pitchFamily="34" charset="-120"/>
              </a:rPr>
              <a:t>Actual: ×45,000,000</a:t>
            </a:r>
            <a:pPr indent="0" marL="0">
              <a:lnSpc>
                <a:spcPct val="104000"/>
              </a:lnSpc>
              <a:buNone/>
            </a:pPr>
            <a:r>
              <a:rPr lang="en-US" sz="1000" dirty="0">
                <a:solidFill>
                  <a:srgbClr val="46545F"/>
                </a:solidFill>
                <a:latin typeface="Calibri" pitchFamily="34" charset="0"/>
                <a:ea typeface="Calibri" pitchFamily="34" charset="-122"/>
                <a:cs typeface="Calibri" pitchFamily="34" charset="-120"/>
              </a:rPr>
              <a:t> — bought with chips, clusters and electricity.</a:t>
            </a:r>
            <a:endParaRPr lang="en-US" sz="1000" dirty="0"/>
          </a:p>
        </p:txBody>
      </p:sp>
      <p:sp>
        <p:nvSpPr>
          <p:cNvPr id="31" name="Shape 29"/>
          <p:cNvSpPr/>
          <p:nvPr/>
        </p:nvSpPr>
        <p:spPr>
          <a:xfrm>
            <a:off x="8321040" y="1481328"/>
            <a:ext cx="3337560" cy="4279392"/>
          </a:xfrm>
          <a:prstGeom prst="roundRect">
            <a:avLst>
              <a:gd name="adj" fmla="val 2192"/>
            </a:avLst>
          </a:prstGeom>
          <a:solidFill>
            <a:srgbClr val="F2F5F6"/>
          </a:solidFill>
          <a:ln/>
        </p:spPr>
      </p:sp>
      <p:sp>
        <p:nvSpPr>
          <p:cNvPr id="32" name="Text 30"/>
          <p:cNvSpPr/>
          <p:nvPr/>
        </p:nvSpPr>
        <p:spPr>
          <a:xfrm>
            <a:off x="8549640" y="1609344"/>
            <a:ext cx="292608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④ Why the data centers</a:t>
            </a:r>
            <a:endParaRPr lang="en-US" sz="1350" dirty="0"/>
          </a:p>
        </p:txBody>
      </p:sp>
      <p:sp>
        <p:nvSpPr>
          <p:cNvPr id="33" name="Shape 31"/>
          <p:cNvSpPr/>
          <p:nvPr/>
        </p:nvSpPr>
        <p:spPr>
          <a:xfrm>
            <a:off x="8549640" y="2011680"/>
            <a:ext cx="420624" cy="420624"/>
          </a:xfrm>
          <a:prstGeom prst="ellipse">
            <a:avLst/>
          </a:prstGeom>
          <a:solidFill>
            <a:srgbClr val="0E7C7B"/>
          </a:solidFill>
          <a:ln/>
        </p:spPr>
      </p:sp>
      <p:pic>
        <p:nvPicPr>
          <p:cNvPr id="34" name="Image 0" descr="/home/user/Claude-Works/ai-training-prompt-engineering/src/assets/icons/cpu_w.png">    </p:cNvPr>
          <p:cNvPicPr>
            <a:picLocks noChangeAspect="1"/>
          </p:cNvPicPr>
          <p:nvPr/>
        </p:nvPicPr>
        <p:blipFill>
          <a:blip r:embed="rId1"/>
          <a:stretch>
            <a:fillRect/>
          </a:stretch>
        </p:blipFill>
        <p:spPr>
          <a:xfrm>
            <a:off x="8659002" y="2121042"/>
            <a:ext cx="201900" cy="201900"/>
          </a:xfrm>
          <a:prstGeom prst="rect">
            <a:avLst/>
          </a:prstGeom>
        </p:spPr>
      </p:pic>
      <p:sp>
        <p:nvSpPr>
          <p:cNvPr id="35" name="Text 32"/>
          <p:cNvSpPr/>
          <p:nvPr/>
        </p:nvSpPr>
        <p:spPr>
          <a:xfrm>
            <a:off x="9079992" y="1920240"/>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TRAIN — </a:t>
            </a:r>
            <a:pPr indent="0" marL="0">
              <a:lnSpc>
                <a:spcPct val="104000"/>
              </a:lnSpc>
              <a:buNone/>
            </a:pPr>
            <a:r>
              <a:rPr lang="en-US" sz="1000" dirty="0">
                <a:solidFill>
                  <a:srgbClr val="46545F"/>
                </a:solidFill>
                <a:latin typeface="Calibri" pitchFamily="34" charset="0"/>
                <a:ea typeface="Calibri" pitchFamily="34" charset="-122"/>
                <a:cs typeface="Calibri" pitchFamily="34" charset="-120"/>
              </a:rPr>
              <a:t>One frontier model: 16,000+ GPUs running for months (Llama 3.1, 2024).</a:t>
            </a:r>
            <a:endParaRPr lang="en-US" sz="1100" dirty="0"/>
          </a:p>
        </p:txBody>
      </p:sp>
      <p:sp>
        <p:nvSpPr>
          <p:cNvPr id="36" name="Shape 33"/>
          <p:cNvSpPr/>
          <p:nvPr/>
        </p:nvSpPr>
        <p:spPr>
          <a:xfrm>
            <a:off x="8549640" y="3182112"/>
            <a:ext cx="420624" cy="420624"/>
          </a:xfrm>
          <a:prstGeom prst="ellipse">
            <a:avLst/>
          </a:prstGeom>
          <a:solidFill>
            <a:srgbClr val="0E7C7B"/>
          </a:solidFill>
          <a:ln/>
        </p:spPr>
      </p:sp>
      <p:pic>
        <p:nvPicPr>
          <p:cNvPr id="37" name="Image 1" descr="/home/user/Claude-Works/ai-training-prompt-engineering/src/assets/icons/users_w.png">    </p:cNvPr>
          <p:cNvPicPr>
            <a:picLocks noChangeAspect="1"/>
          </p:cNvPicPr>
          <p:nvPr/>
        </p:nvPicPr>
        <p:blipFill>
          <a:blip r:embed="rId2"/>
          <a:stretch>
            <a:fillRect/>
          </a:stretch>
        </p:blipFill>
        <p:spPr>
          <a:xfrm>
            <a:off x="8659002" y="3291474"/>
            <a:ext cx="201900" cy="201900"/>
          </a:xfrm>
          <a:prstGeom prst="rect">
            <a:avLst/>
          </a:prstGeom>
        </p:spPr>
      </p:pic>
      <p:sp>
        <p:nvSpPr>
          <p:cNvPr id="38" name="Text 34"/>
          <p:cNvSpPr/>
          <p:nvPr/>
        </p:nvSpPr>
        <p:spPr>
          <a:xfrm>
            <a:off x="9079992" y="3090672"/>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SERVE — </a:t>
            </a:r>
            <a:pPr indent="0" marL="0">
              <a:lnSpc>
                <a:spcPct val="104000"/>
              </a:lnSpc>
              <a:buNone/>
            </a:pPr>
            <a:r>
              <a:rPr lang="en-US" sz="1000" dirty="0">
                <a:solidFill>
                  <a:srgbClr val="46545F"/>
                </a:solidFill>
                <a:latin typeface="Calibri" pitchFamily="34" charset="0"/>
                <a:ea typeface="Calibri" pitchFamily="34" charset="-122"/>
                <a:cs typeface="Calibri" pitchFamily="34" charset="-120"/>
              </a:rPr>
              <a:t>Then a billion people use it — around the clock, every day.</a:t>
            </a:r>
            <a:endParaRPr lang="en-US" sz="1100" dirty="0"/>
          </a:p>
        </p:txBody>
      </p:sp>
      <p:sp>
        <p:nvSpPr>
          <p:cNvPr id="39" name="Shape 35"/>
          <p:cNvSpPr/>
          <p:nvPr/>
        </p:nvSpPr>
        <p:spPr>
          <a:xfrm>
            <a:off x="8549640" y="4352544"/>
            <a:ext cx="420624" cy="420624"/>
          </a:xfrm>
          <a:prstGeom prst="ellipse">
            <a:avLst/>
          </a:prstGeom>
          <a:solidFill>
            <a:srgbClr val="0E7C7B"/>
          </a:solidFill>
          <a:ln/>
        </p:spPr>
      </p:sp>
      <p:pic>
        <p:nvPicPr>
          <p:cNvPr id="40" name="Image 2" descr="/home/user/Claude-Works/ai-training-prompt-engineering/src/assets/icons/zap_w.png">    </p:cNvPr>
          <p:cNvPicPr>
            <a:picLocks noChangeAspect="1"/>
          </p:cNvPicPr>
          <p:nvPr/>
        </p:nvPicPr>
        <p:blipFill>
          <a:blip r:embed="rId3"/>
          <a:stretch>
            <a:fillRect/>
          </a:stretch>
        </p:blipFill>
        <p:spPr>
          <a:xfrm>
            <a:off x="8659002" y="4461906"/>
            <a:ext cx="201900" cy="201900"/>
          </a:xfrm>
          <a:prstGeom prst="rect">
            <a:avLst/>
          </a:prstGeom>
        </p:spPr>
      </p:pic>
      <p:sp>
        <p:nvSpPr>
          <p:cNvPr id="41" name="Text 36"/>
          <p:cNvSpPr/>
          <p:nvPr/>
        </p:nvSpPr>
        <p:spPr>
          <a:xfrm>
            <a:off x="9079992" y="4261104"/>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POWER — </a:t>
            </a:r>
            <a:pPr indent="0" marL="0">
              <a:lnSpc>
                <a:spcPct val="104000"/>
              </a:lnSpc>
              <a:buNone/>
            </a:pPr>
            <a:r>
              <a:rPr lang="en-US" sz="1000" dirty="0">
                <a:solidFill>
                  <a:srgbClr val="46545F"/>
                </a:solidFill>
                <a:latin typeface="Calibri" pitchFamily="34" charset="0"/>
                <a:ea typeface="Calibri" pitchFamily="34" charset="-122"/>
                <a:cs typeface="Calibri" pitchFamily="34" charset="-120"/>
              </a:rPr>
              <a:t>One large AI data center ≈ the electricity of 100,000 homes; the biggest under construction ≈ 2 million (IEA).</a:t>
            </a:r>
            <a:endParaRPr lang="en-US" sz="1100" dirty="0"/>
          </a:p>
        </p:txBody>
      </p:sp>
      <p:sp>
        <p:nvSpPr>
          <p:cNvPr id="42" name="Text 37"/>
          <p:cNvSpPr/>
          <p:nvPr/>
        </p:nvSpPr>
        <p:spPr>
          <a:xfrm>
            <a:off x="8549640" y="5394960"/>
            <a:ext cx="2926080" cy="457200"/>
          </a:xfrm>
          <a:prstGeom prst="rect">
            <a:avLst/>
          </a:prstGeom>
          <a:noFill/>
          <a:ln/>
        </p:spPr>
        <p:txBody>
          <a:bodyPr wrap="square" lIns="0" tIns="0" rIns="0" bIns="0" rtlCol="0" anchor="ctr"/>
          <a:lstStyle/>
          <a:p>
            <a:pPr indent="0" marL="0">
              <a:lnSpc>
                <a:spcPct val="102000"/>
              </a:lnSpc>
              <a:buNone/>
            </a:pPr>
            <a:r>
              <a:rPr lang="en-US" sz="900" i="1" dirty="0">
                <a:solidFill>
                  <a:srgbClr val="7A8790"/>
                </a:solidFill>
                <a:latin typeface="Calibri" pitchFamily="34" charset="0"/>
                <a:ea typeface="Calibri" pitchFamily="34" charset="-122"/>
                <a:cs typeface="Calibri" pitchFamily="34" charset="-120"/>
              </a:rPr>
              <a:t>~$700B of build-out planned for 2026 alone — much of it announced, not yet built.</a:t>
            </a:r>
            <a:endParaRPr lang="en-US" sz="900" dirty="0"/>
          </a:p>
        </p:txBody>
      </p:sp>
      <p:sp>
        <p:nvSpPr>
          <p:cNvPr id="43" name="Shape 38"/>
          <p:cNvSpPr/>
          <p:nvPr/>
        </p:nvSpPr>
        <p:spPr>
          <a:xfrm>
            <a:off x="502920" y="5870448"/>
            <a:ext cx="11155680" cy="621792"/>
          </a:xfrm>
          <a:prstGeom prst="roundRect">
            <a:avLst>
              <a:gd name="adj" fmla="val 11765"/>
            </a:avLst>
          </a:prstGeom>
          <a:solidFill>
            <a:srgbClr val="FBF0E0"/>
          </a:solidFill>
          <a:ln/>
        </p:spPr>
      </p:sp>
      <p:sp>
        <p:nvSpPr>
          <p:cNvPr id="44" name="Shape 39"/>
          <p:cNvSpPr/>
          <p:nvPr/>
        </p:nvSpPr>
        <p:spPr>
          <a:xfrm>
            <a:off x="658368" y="5989320"/>
            <a:ext cx="384048" cy="384048"/>
          </a:xfrm>
          <a:prstGeom prst="roundRect">
            <a:avLst>
              <a:gd name="adj" fmla="val 21429"/>
            </a:avLst>
          </a:prstGeom>
          <a:solidFill>
            <a:srgbClr val="FFFFFF"/>
          </a:solidFill>
          <a:ln w="9525">
            <a:solidFill>
              <a:srgbClr val="DCE3E6"/>
            </a:solidFill>
            <a:prstDash val="solid"/>
          </a:ln>
        </p:spPr>
      </p:sp>
      <p:pic>
        <p:nvPicPr>
          <p:cNvPr id="45" name="Image 3" descr="/home/user/Claude-Works/ai-training-prompt-engineering/src/assets/logos/nvidia.png">    </p:cNvPr>
          <p:cNvPicPr>
            <a:picLocks noChangeAspect="1"/>
          </p:cNvPicPr>
          <p:nvPr/>
        </p:nvPicPr>
        <p:blipFill>
          <a:blip r:embed="rId4"/>
          <a:stretch>
            <a:fillRect/>
          </a:stretch>
        </p:blipFill>
        <p:spPr>
          <a:xfrm>
            <a:off x="712135" y="6043087"/>
            <a:ext cx="276515" cy="276515"/>
          </a:xfrm>
          <a:prstGeom prst="rect">
            <a:avLst/>
          </a:prstGeom>
        </p:spPr>
      </p:pic>
      <p:sp>
        <p:nvSpPr>
          <p:cNvPr id="46" name="Text 40"/>
          <p:cNvSpPr/>
          <p:nvPr/>
        </p:nvSpPr>
        <p:spPr>
          <a:xfrm>
            <a:off x="1170432" y="5943600"/>
            <a:ext cx="10332720" cy="475488"/>
          </a:xfrm>
          <a:prstGeom prst="rect">
            <a:avLst/>
          </a:prstGeom>
          <a:noFill/>
          <a:ln/>
        </p:spPr>
        <p:txBody>
          <a:bodyPr wrap="square" lIns="0" tIns="0" rIns="0" bIns="0" rtlCol="0" anchor="ctr"/>
          <a:lstStyle/>
          <a:p>
            <a:pPr indent="0" marL="0">
              <a:lnSpc>
                <a:spcPct val="102000"/>
              </a:lnSpc>
              <a:buNone/>
            </a:pPr>
            <a:r>
              <a:rPr lang="en-US" sz="1150" b="1" dirty="0">
                <a:solidFill>
                  <a:srgbClr val="232A31"/>
                </a:solidFill>
                <a:latin typeface="Calibri" pitchFamily="34" charset="0"/>
                <a:ea typeface="Calibri" pitchFamily="34" charset="-122"/>
                <a:cs typeface="Calibri" pitchFamily="34" charset="-120"/>
              </a:rPr>
              <a:t>The shovel-seller: </a:t>
            </a:r>
            <a:pPr indent="0" marL="0">
              <a:lnSpc>
                <a:spcPct val="102000"/>
              </a:lnSpc>
              <a:buNone/>
            </a:pPr>
            <a:r>
              <a:rPr lang="en-US" sz="1100" dirty="0">
                <a:solidFill>
                  <a:srgbClr val="46545F"/>
                </a:solidFill>
                <a:latin typeface="Calibri" pitchFamily="34" charset="0"/>
                <a:ea typeface="Calibri" pitchFamily="34" charset="-122"/>
                <a:cs typeface="Calibri" pitchFamily="34" charset="-120"/>
              </a:rPr>
              <a:t>Nvidia — first reached $1T May 2023 · $4T Jul 2025 · $5T Oct 2025 · ~$5.6T today: the world’s most valuable company, and 92% of its revenue is now AI data centers.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HOW LLMS WORK</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7</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UNDER THE HOOD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 prediction engine, sent to finishing school</a:t>
            </a:r>
            <a:endParaRPr lang="en-US" sz="3000" dirty="0"/>
          </a:p>
        </p:txBody>
      </p:sp>
      <p:sp>
        <p:nvSpPr>
          <p:cNvPr id="6" name="Shape 4"/>
          <p:cNvSpPr/>
          <p:nvPr/>
        </p:nvSpPr>
        <p:spPr>
          <a:xfrm>
            <a:off x="502920" y="1481328"/>
            <a:ext cx="3611880" cy="2212848"/>
          </a:xfrm>
          <a:prstGeom prst="roundRect">
            <a:avLst>
              <a:gd name="adj" fmla="val 3306"/>
            </a:avLst>
          </a:prstGeom>
          <a:solidFill>
            <a:srgbClr val="F2F5F6"/>
          </a:solidFill>
          <a:ln/>
        </p:spPr>
      </p:sp>
      <p:sp>
        <p:nvSpPr>
          <p:cNvPr id="7" name="Shape 5"/>
          <p:cNvSpPr/>
          <p:nvPr/>
        </p:nvSpPr>
        <p:spPr>
          <a:xfrm>
            <a:off x="758952" y="1627632"/>
            <a:ext cx="420624" cy="420624"/>
          </a:xfrm>
          <a:prstGeom prst="ellipse">
            <a:avLst/>
          </a:prstGeom>
          <a:solidFill>
            <a:srgbClr val="0E7C7B"/>
          </a:solidFill>
          <a:ln/>
        </p:spPr>
      </p:sp>
      <p:pic>
        <p:nvPicPr>
          <p:cNvPr id="8" name="Image 0" descr="/home/user/Claude-Works/ai-training-prompt-engineering/src/assets/icons/database_w.png">    </p:cNvPr>
          <p:cNvPicPr>
            <a:picLocks noChangeAspect="1"/>
          </p:cNvPicPr>
          <p:nvPr/>
        </p:nvPicPr>
        <p:blipFill>
          <a:blip r:embed="rId1"/>
          <a:stretch>
            <a:fillRect/>
          </a:stretch>
        </p:blipFill>
        <p:spPr>
          <a:xfrm>
            <a:off x="868314" y="1736994"/>
            <a:ext cx="201900" cy="201900"/>
          </a:xfrm>
          <a:prstGeom prst="rect">
            <a:avLst/>
          </a:prstGeom>
        </p:spPr>
      </p:pic>
      <p:sp>
        <p:nvSpPr>
          <p:cNvPr id="9" name="Text 6"/>
          <p:cNvSpPr/>
          <p:nvPr/>
        </p:nvSpPr>
        <p:spPr>
          <a:xfrm>
            <a:off x="758952" y="2103120"/>
            <a:ext cx="3108960" cy="329184"/>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1 · Pretraining</a:t>
            </a:r>
            <a:endParaRPr lang="en-US" sz="1350" dirty="0"/>
          </a:p>
        </p:txBody>
      </p:sp>
      <p:sp>
        <p:nvSpPr>
          <p:cNvPr id="10" name="Text 7"/>
          <p:cNvSpPr/>
          <p:nvPr/>
        </p:nvSpPr>
        <p:spPr>
          <a:xfrm>
            <a:off x="758952" y="2450592"/>
            <a:ext cx="3127248" cy="1188720"/>
          </a:xfrm>
          <a:prstGeom prst="rect">
            <a:avLst/>
          </a:prstGeom>
          <a:noFill/>
          <a:ln/>
        </p:spPr>
        <p:txBody>
          <a:bodyPr wrap="square" lIns="0" tIns="0" rIns="0" bIns="0" rtlCol="0" anchor="ctr"/>
          <a:lstStyle/>
          <a:p>
            <a:pPr indent="0" marL="0">
              <a:lnSpc>
                <a:spcPct val="104000"/>
              </a:lnSpc>
              <a:buNone/>
            </a:pPr>
            <a:r>
              <a:rPr lang="en-US" sz="980" dirty="0">
                <a:solidFill>
                  <a:srgbClr val="46545F"/>
                </a:solidFill>
                <a:latin typeface="Calibri" pitchFamily="34" charset="0"/>
                <a:ea typeface="Calibri" pitchFamily="34" charset="-122"/>
                <a:cs typeface="Calibri" pitchFamily="34" charset="-120"/>
              </a:rPr>
              <a:t>Months, trillions of words: learn to predict the next token on internet-scale text. Language, facts, and reasoning patterns compress into billions of learned weights.</a:t>
            </a:r>
            <a:endParaRPr lang="en-US" sz="980" dirty="0"/>
          </a:p>
        </p:txBody>
      </p:sp>
      <p:sp>
        <p:nvSpPr>
          <p:cNvPr id="11" name="Shape 8"/>
          <p:cNvSpPr/>
          <p:nvPr/>
        </p:nvSpPr>
        <p:spPr>
          <a:xfrm>
            <a:off x="4133088" y="2514600"/>
            <a:ext cx="182880" cy="0"/>
          </a:xfrm>
          <a:prstGeom prst="line">
            <a:avLst/>
          </a:prstGeom>
          <a:noFill/>
          <a:ln w="28575">
            <a:solidFill>
              <a:srgbClr val="0E7C7B"/>
            </a:solidFill>
            <a:prstDash val="solid"/>
            <a:tailEnd type="triangle"/>
          </a:ln>
        </p:spPr>
      </p:sp>
      <p:sp>
        <p:nvSpPr>
          <p:cNvPr id="12" name="Shape 9"/>
          <p:cNvSpPr/>
          <p:nvPr/>
        </p:nvSpPr>
        <p:spPr>
          <a:xfrm>
            <a:off x="4325112" y="1481328"/>
            <a:ext cx="3611880" cy="2212848"/>
          </a:xfrm>
          <a:prstGeom prst="roundRect">
            <a:avLst>
              <a:gd name="adj" fmla="val 3306"/>
            </a:avLst>
          </a:prstGeom>
          <a:solidFill>
            <a:srgbClr val="F2F5F6"/>
          </a:solidFill>
          <a:ln/>
        </p:spPr>
      </p:sp>
      <p:sp>
        <p:nvSpPr>
          <p:cNvPr id="13" name="Shape 10"/>
          <p:cNvSpPr/>
          <p:nvPr/>
        </p:nvSpPr>
        <p:spPr>
          <a:xfrm>
            <a:off x="4581144" y="1627632"/>
            <a:ext cx="420624" cy="420624"/>
          </a:xfrm>
          <a:prstGeom prst="ellipse">
            <a:avLst/>
          </a:prstGeom>
          <a:solidFill>
            <a:srgbClr val="0E7C7B"/>
          </a:solidFill>
          <a:ln/>
        </p:spPr>
      </p:sp>
      <p:pic>
        <p:nvPicPr>
          <p:cNvPr id="14" name="Image 1" descr="/home/user/Claude-Works/ai-training-prompt-engineering/src/assets/icons/list_w.png">    </p:cNvPr>
          <p:cNvPicPr>
            <a:picLocks noChangeAspect="1"/>
          </p:cNvPicPr>
          <p:nvPr/>
        </p:nvPicPr>
        <p:blipFill>
          <a:blip r:embed="rId2"/>
          <a:stretch>
            <a:fillRect/>
          </a:stretch>
        </p:blipFill>
        <p:spPr>
          <a:xfrm>
            <a:off x="4690506" y="1736994"/>
            <a:ext cx="201900" cy="201900"/>
          </a:xfrm>
          <a:prstGeom prst="rect">
            <a:avLst/>
          </a:prstGeom>
        </p:spPr>
      </p:pic>
      <p:sp>
        <p:nvSpPr>
          <p:cNvPr id="15" name="Text 11"/>
          <p:cNvSpPr/>
          <p:nvPr/>
        </p:nvSpPr>
        <p:spPr>
          <a:xfrm>
            <a:off x="4581144" y="2103120"/>
            <a:ext cx="3108960" cy="329184"/>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2 · Instruction tuning</a:t>
            </a:r>
            <a:endParaRPr lang="en-US" sz="1350" dirty="0"/>
          </a:p>
        </p:txBody>
      </p:sp>
      <p:sp>
        <p:nvSpPr>
          <p:cNvPr id="16" name="Text 12"/>
          <p:cNvSpPr/>
          <p:nvPr/>
        </p:nvSpPr>
        <p:spPr>
          <a:xfrm>
            <a:off x="4581144" y="2450592"/>
            <a:ext cx="3127248" cy="1188720"/>
          </a:xfrm>
          <a:prstGeom prst="rect">
            <a:avLst/>
          </a:prstGeom>
          <a:noFill/>
          <a:ln/>
        </p:spPr>
        <p:txBody>
          <a:bodyPr wrap="square" lIns="0" tIns="0" rIns="0" bIns="0" rtlCol="0" anchor="ctr"/>
          <a:lstStyle/>
          <a:p>
            <a:pPr indent="0" marL="0">
              <a:lnSpc>
                <a:spcPct val="104000"/>
              </a:lnSpc>
              <a:buNone/>
            </a:pPr>
            <a:r>
              <a:rPr lang="en-US" sz="980" dirty="0">
                <a:solidFill>
                  <a:srgbClr val="46545F"/>
                </a:solidFill>
                <a:latin typeface="Calibri" pitchFamily="34" charset="0"/>
                <a:ea typeface="Calibri" pitchFamily="34" charset="-122"/>
                <a:cs typeface="Calibri" pitchFamily="34" charset="-120"/>
              </a:rPr>
              <a:t>Curated example dialogues teach it to follow instructions and answer questions — instead of just continuing your text.</a:t>
            </a:r>
            <a:endParaRPr lang="en-US" sz="980" dirty="0"/>
          </a:p>
        </p:txBody>
      </p:sp>
      <p:sp>
        <p:nvSpPr>
          <p:cNvPr id="17" name="Shape 13"/>
          <p:cNvSpPr/>
          <p:nvPr/>
        </p:nvSpPr>
        <p:spPr>
          <a:xfrm>
            <a:off x="7955280" y="2514600"/>
            <a:ext cx="182880" cy="0"/>
          </a:xfrm>
          <a:prstGeom prst="line">
            <a:avLst/>
          </a:prstGeom>
          <a:noFill/>
          <a:ln w="28575">
            <a:solidFill>
              <a:srgbClr val="0E7C7B"/>
            </a:solidFill>
            <a:prstDash val="solid"/>
            <a:tailEnd type="triangle"/>
          </a:ln>
        </p:spPr>
      </p:sp>
      <p:sp>
        <p:nvSpPr>
          <p:cNvPr id="18" name="Shape 14"/>
          <p:cNvSpPr/>
          <p:nvPr/>
        </p:nvSpPr>
        <p:spPr>
          <a:xfrm>
            <a:off x="8147304" y="1481328"/>
            <a:ext cx="3611880" cy="2212848"/>
          </a:xfrm>
          <a:prstGeom prst="roundRect">
            <a:avLst>
              <a:gd name="adj" fmla="val 3306"/>
            </a:avLst>
          </a:prstGeom>
          <a:solidFill>
            <a:srgbClr val="F2F5F6"/>
          </a:solidFill>
          <a:ln/>
        </p:spPr>
      </p:sp>
      <p:sp>
        <p:nvSpPr>
          <p:cNvPr id="19" name="Shape 15"/>
          <p:cNvSpPr/>
          <p:nvPr/>
        </p:nvSpPr>
        <p:spPr>
          <a:xfrm>
            <a:off x="8403336" y="1627632"/>
            <a:ext cx="420624" cy="420624"/>
          </a:xfrm>
          <a:prstGeom prst="ellipse">
            <a:avLst/>
          </a:prstGeom>
          <a:solidFill>
            <a:srgbClr val="0E7C7B"/>
          </a:solidFill>
          <a:ln/>
        </p:spPr>
      </p:sp>
      <p:pic>
        <p:nvPicPr>
          <p:cNvPr id="20" name="Image 2" descr="/home/user/Claude-Works/ai-training-prompt-engineering/src/assets/icons/thumbsup_w.png">    </p:cNvPr>
          <p:cNvPicPr>
            <a:picLocks noChangeAspect="1"/>
          </p:cNvPicPr>
          <p:nvPr/>
        </p:nvPicPr>
        <p:blipFill>
          <a:blip r:embed="rId3"/>
          <a:stretch>
            <a:fillRect/>
          </a:stretch>
        </p:blipFill>
        <p:spPr>
          <a:xfrm>
            <a:off x="8512698" y="1736994"/>
            <a:ext cx="201900" cy="201900"/>
          </a:xfrm>
          <a:prstGeom prst="rect">
            <a:avLst/>
          </a:prstGeom>
        </p:spPr>
      </p:pic>
      <p:sp>
        <p:nvSpPr>
          <p:cNvPr id="21" name="Text 16"/>
          <p:cNvSpPr/>
          <p:nvPr/>
        </p:nvSpPr>
        <p:spPr>
          <a:xfrm>
            <a:off x="8403336" y="2103120"/>
            <a:ext cx="3108960" cy="329184"/>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3 · Human feedback (RLHF)</a:t>
            </a:r>
            <a:endParaRPr lang="en-US" sz="1350" dirty="0"/>
          </a:p>
        </p:txBody>
      </p:sp>
      <p:sp>
        <p:nvSpPr>
          <p:cNvPr id="22" name="Text 17"/>
          <p:cNvSpPr/>
          <p:nvPr/>
        </p:nvSpPr>
        <p:spPr>
          <a:xfrm>
            <a:off x="8403336" y="2450592"/>
            <a:ext cx="3127248" cy="1188720"/>
          </a:xfrm>
          <a:prstGeom prst="rect">
            <a:avLst/>
          </a:prstGeom>
          <a:noFill/>
          <a:ln/>
        </p:spPr>
        <p:txBody>
          <a:bodyPr wrap="square" lIns="0" tIns="0" rIns="0" bIns="0" rtlCol="0" anchor="ctr"/>
          <a:lstStyle/>
          <a:p>
            <a:pPr indent="0" marL="0">
              <a:lnSpc>
                <a:spcPct val="104000"/>
              </a:lnSpc>
              <a:buNone/>
            </a:pPr>
            <a:r>
              <a:rPr lang="en-US" sz="980" dirty="0">
                <a:solidFill>
                  <a:srgbClr val="46545F"/>
                </a:solidFill>
                <a:latin typeface="Calibri" pitchFamily="34" charset="0"/>
                <a:ea typeface="Calibri" pitchFamily="34" charset="-122"/>
                <a:cs typeface="Calibri" pitchFamily="34" charset="-120"/>
              </a:rPr>
              <a:t>People rank outputs; the model is tuned toward helpful, honest, harmless. And it never stops: your thumbs-up today is preference data for the NEXT model.</a:t>
            </a:r>
            <a:endParaRPr lang="en-US" sz="980" dirty="0"/>
          </a:p>
        </p:txBody>
      </p:sp>
      <p:sp>
        <p:nvSpPr>
          <p:cNvPr id="23" name="Shape 18"/>
          <p:cNvSpPr/>
          <p:nvPr/>
        </p:nvSpPr>
        <p:spPr>
          <a:xfrm>
            <a:off x="502920" y="3803904"/>
            <a:ext cx="5486400" cy="1078992"/>
          </a:xfrm>
          <a:prstGeom prst="roundRect">
            <a:avLst>
              <a:gd name="adj" fmla="val 6780"/>
            </a:avLst>
          </a:prstGeom>
          <a:solidFill>
            <a:srgbClr val="E4F0EF"/>
          </a:solidFill>
          <a:ln/>
        </p:spPr>
      </p:sp>
      <p:sp>
        <p:nvSpPr>
          <p:cNvPr id="24" name="Shape 19"/>
          <p:cNvSpPr/>
          <p:nvPr/>
        </p:nvSpPr>
        <p:spPr>
          <a:xfrm>
            <a:off x="667512" y="4151376"/>
            <a:ext cx="384048" cy="384048"/>
          </a:xfrm>
          <a:prstGeom prst="ellipse">
            <a:avLst/>
          </a:prstGeom>
          <a:solidFill>
            <a:srgbClr val="0E7C7B"/>
          </a:solidFill>
          <a:ln/>
        </p:spPr>
      </p:sp>
      <p:pic>
        <p:nvPicPr>
          <p:cNvPr id="25" name="Image 3" descr="/home/user/Claude-Works/ai-training-prompt-engineering/src/assets/icons/clock_w.png">    </p:cNvPr>
          <p:cNvPicPr>
            <a:picLocks noChangeAspect="1"/>
          </p:cNvPicPr>
          <p:nvPr/>
        </p:nvPicPr>
        <p:blipFill>
          <a:blip r:embed="rId4"/>
          <a:stretch>
            <a:fillRect/>
          </a:stretch>
        </p:blipFill>
        <p:spPr>
          <a:xfrm>
            <a:off x="767364" y="4251228"/>
            <a:ext cx="184343" cy="184343"/>
          </a:xfrm>
          <a:prstGeom prst="rect">
            <a:avLst/>
          </a:prstGeom>
        </p:spPr>
      </p:pic>
      <p:sp>
        <p:nvSpPr>
          <p:cNvPr id="26" name="Text 20"/>
          <p:cNvSpPr/>
          <p:nvPr/>
        </p:nvSpPr>
        <p:spPr>
          <a:xfrm>
            <a:off x="1216152" y="3877056"/>
            <a:ext cx="4544568" cy="932688"/>
          </a:xfrm>
          <a:prstGeom prst="rect">
            <a:avLst/>
          </a:prstGeom>
          <a:noFill/>
          <a:ln/>
        </p:spPr>
        <p:txBody>
          <a:bodyPr wrap="square" lIns="0" tIns="0" rIns="0" bIns="0" rtlCol="0" anchor="ctr"/>
          <a:lstStyle/>
          <a:p>
            <a:pPr indent="0" marL="0">
              <a:lnSpc>
                <a:spcPct val="106000"/>
              </a:lnSpc>
              <a:buNone/>
            </a:pPr>
            <a:r>
              <a:rPr lang="en-US" sz="1080" b="1" dirty="0">
                <a:solidFill>
                  <a:srgbClr val="0A5B5A"/>
                </a:solidFill>
                <a:latin typeface="Calibri" pitchFamily="34" charset="0"/>
                <a:ea typeface="Calibri" pitchFamily="34" charset="-122"/>
                <a:cs typeface="Calibri" pitchFamily="34" charset="-120"/>
              </a:rPr>
              <a:t>Knowledge is frozen at the cutoff — with escape hatches. </a:t>
            </a:r>
            <a:endParaRPr lang="en-US" sz="1080" dirty="0"/>
          </a:p>
          <a:p>
            <a:pPr indent="0" marL="0">
              <a:lnSpc>
                <a:spcPct val="106000"/>
              </a:lnSpc>
              <a:buNone/>
            </a:pPr>
            <a:r>
              <a:rPr lang="en-US" sz="1000" dirty="0">
                <a:solidFill>
                  <a:srgbClr val="46545F"/>
                </a:solidFill>
                <a:latin typeface="Calibri" pitchFamily="34" charset="0"/>
                <a:ea typeface="Calibri" pitchFamily="34" charset="-122"/>
                <a:cs typeface="Calibri" pitchFamily="34" charset="-120"/>
              </a:rPr>
              <a:t>Training ends months before release. But many assistants compensate: live web search pulls today’s pages into the prompt, and RAG (concept 3) plugs in your own documents.</a:t>
            </a:r>
            <a:endParaRPr lang="en-US" sz="1080" dirty="0"/>
          </a:p>
        </p:txBody>
      </p:sp>
      <p:sp>
        <p:nvSpPr>
          <p:cNvPr id="27" name="Shape 21"/>
          <p:cNvSpPr/>
          <p:nvPr/>
        </p:nvSpPr>
        <p:spPr>
          <a:xfrm>
            <a:off x="6172200" y="3803904"/>
            <a:ext cx="5486400" cy="1078992"/>
          </a:xfrm>
          <a:prstGeom prst="roundRect">
            <a:avLst>
              <a:gd name="adj" fmla="val 6780"/>
            </a:avLst>
          </a:prstGeom>
          <a:solidFill>
            <a:srgbClr val="FBF0E0"/>
          </a:solidFill>
          <a:ln/>
        </p:spPr>
      </p:sp>
      <p:sp>
        <p:nvSpPr>
          <p:cNvPr id="28" name="Shape 22"/>
          <p:cNvSpPr/>
          <p:nvPr/>
        </p:nvSpPr>
        <p:spPr>
          <a:xfrm>
            <a:off x="6336792" y="4151376"/>
            <a:ext cx="384048" cy="384048"/>
          </a:xfrm>
          <a:prstGeom prst="ellipse">
            <a:avLst/>
          </a:prstGeom>
          <a:solidFill>
            <a:srgbClr val="B96A1B"/>
          </a:solidFill>
          <a:ln/>
        </p:spPr>
      </p:sp>
      <p:pic>
        <p:nvPicPr>
          <p:cNvPr id="29" name="Image 4" descr="/home/user/Claude-Works/ai-training-prompt-engineering/src/assets/icons/compass_w.png">    </p:cNvPr>
          <p:cNvPicPr>
            <a:picLocks noChangeAspect="1"/>
          </p:cNvPicPr>
          <p:nvPr/>
        </p:nvPicPr>
        <p:blipFill>
          <a:blip r:embed="rId5"/>
          <a:stretch>
            <a:fillRect/>
          </a:stretch>
        </p:blipFill>
        <p:spPr>
          <a:xfrm>
            <a:off x="6436644" y="4251228"/>
            <a:ext cx="184343" cy="184343"/>
          </a:xfrm>
          <a:prstGeom prst="rect">
            <a:avLst/>
          </a:prstGeom>
        </p:spPr>
      </p:pic>
      <p:sp>
        <p:nvSpPr>
          <p:cNvPr id="30" name="Text 23"/>
          <p:cNvSpPr/>
          <p:nvPr/>
        </p:nvSpPr>
        <p:spPr>
          <a:xfrm>
            <a:off x="6885432" y="3877056"/>
            <a:ext cx="4544568" cy="932688"/>
          </a:xfrm>
          <a:prstGeom prst="rect">
            <a:avLst/>
          </a:prstGeom>
          <a:noFill/>
          <a:ln/>
        </p:spPr>
        <p:txBody>
          <a:bodyPr wrap="square" lIns="0" tIns="0" rIns="0" bIns="0" rtlCol="0" anchor="ctr"/>
          <a:lstStyle/>
          <a:p>
            <a:pPr indent="0" marL="0">
              <a:lnSpc>
                <a:spcPct val="106000"/>
              </a:lnSpc>
              <a:buNone/>
            </a:pPr>
            <a:r>
              <a:rPr lang="en-US" sz="1150" b="1" dirty="0">
                <a:solidFill>
                  <a:srgbClr val="232A31"/>
                </a:solidFill>
                <a:latin typeface="Calibri" pitchFamily="34" charset="0"/>
                <a:ea typeface="Calibri" pitchFamily="34" charset="-122"/>
                <a:cs typeface="Calibri" pitchFamily="34" charset="-120"/>
              </a:rPr>
              <a:t>Why prompting exists: </a:t>
            </a:r>
            <a:endParaRPr lang="en-US" sz="1100" dirty="0"/>
          </a:p>
          <a:p>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the model completes your text — the prompt is the only steering wheel you have. A complete prompt doesn’t make the model smarter: it deletes wrong guesses.</a:t>
            </a:r>
            <a:endParaRPr lang="en-US" sz="1100" dirty="0"/>
          </a:p>
        </p:txBody>
      </p:sp>
      <p:sp>
        <p:nvSpPr>
          <p:cNvPr id="31" name="Shape 24"/>
          <p:cNvSpPr/>
          <p:nvPr/>
        </p:nvSpPr>
        <p:spPr>
          <a:xfrm>
            <a:off x="502920" y="4992624"/>
            <a:ext cx="11155680" cy="1463040"/>
          </a:xfrm>
          <a:prstGeom prst="roundRect">
            <a:avLst>
              <a:gd name="adj" fmla="val 5000"/>
            </a:avLst>
          </a:prstGeom>
          <a:solidFill>
            <a:srgbClr val="E4F0EF"/>
          </a:solidFill>
          <a:ln/>
        </p:spPr>
      </p:sp>
      <p:sp>
        <p:nvSpPr>
          <p:cNvPr id="32" name="Shape 25"/>
          <p:cNvSpPr/>
          <p:nvPr/>
        </p:nvSpPr>
        <p:spPr>
          <a:xfrm>
            <a:off x="649224" y="5111496"/>
            <a:ext cx="365760" cy="365760"/>
          </a:xfrm>
          <a:prstGeom prst="ellipse">
            <a:avLst/>
          </a:prstGeom>
          <a:solidFill>
            <a:srgbClr val="0E7C7B"/>
          </a:solidFill>
          <a:ln/>
        </p:spPr>
      </p:sp>
      <p:pic>
        <p:nvPicPr>
          <p:cNvPr id="33" name="Image 5" descr="/home/user/Claude-Works/ai-training-prompt-engineering/src/assets/icons/robot_w.png">    </p:cNvPr>
          <p:cNvPicPr>
            <a:picLocks noChangeAspect="1"/>
          </p:cNvPicPr>
          <p:nvPr/>
        </p:nvPicPr>
        <p:blipFill>
          <a:blip r:embed="rId6"/>
          <a:stretch>
            <a:fillRect/>
          </a:stretch>
        </p:blipFill>
        <p:spPr>
          <a:xfrm>
            <a:off x="744322" y="5206594"/>
            <a:ext cx="175565" cy="175565"/>
          </a:xfrm>
          <a:prstGeom prst="rect">
            <a:avLst/>
          </a:prstGeom>
        </p:spPr>
      </p:pic>
      <p:sp>
        <p:nvSpPr>
          <p:cNvPr id="34" name="Shape 26"/>
          <p:cNvSpPr/>
          <p:nvPr/>
        </p:nvSpPr>
        <p:spPr>
          <a:xfrm>
            <a:off x="1106424" y="5138928"/>
            <a:ext cx="1188720" cy="310896"/>
          </a:xfrm>
          <a:prstGeom prst="roundRect">
            <a:avLst>
              <a:gd name="adj" fmla="val 23529"/>
            </a:avLst>
          </a:prstGeom>
          <a:solidFill>
            <a:srgbClr val="0E7C7B"/>
          </a:solidFill>
          <a:ln/>
        </p:spPr>
      </p:sp>
      <p:sp>
        <p:nvSpPr>
          <p:cNvPr id="35" name="Text 27"/>
          <p:cNvSpPr/>
          <p:nvPr/>
        </p:nvSpPr>
        <p:spPr>
          <a:xfrm>
            <a:off x="1106424" y="5148072"/>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PROMPT 2/7</a:t>
            </a:r>
            <a:endParaRPr lang="en-US" sz="950" dirty="0"/>
          </a:p>
        </p:txBody>
      </p:sp>
      <p:sp>
        <p:nvSpPr>
          <p:cNvPr id="36" name="Text 28"/>
          <p:cNvSpPr/>
          <p:nvPr/>
        </p:nvSpPr>
        <p:spPr>
          <a:xfrm>
            <a:off x="2404872" y="5148072"/>
            <a:ext cx="9006840" cy="292608"/>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Narrowing the guesses — two separate sends</a:t>
            </a:r>
            <a:endParaRPr lang="en-US" sz="1050" dirty="0"/>
          </a:p>
        </p:txBody>
      </p:sp>
      <p:sp>
        <p:nvSpPr>
          <p:cNvPr id="37" name="Text 29"/>
          <p:cNvSpPr/>
          <p:nvPr/>
        </p:nvSpPr>
        <p:spPr>
          <a:xfrm>
            <a:off x="685800" y="5504688"/>
            <a:ext cx="10789920" cy="585216"/>
          </a:xfrm>
          <a:prstGeom prst="rect">
            <a:avLst/>
          </a:prstGeom>
          <a:noFill/>
          <a:ln/>
        </p:spPr>
        <p:txBody>
          <a:bodyPr wrap="square" lIns="0" tIns="0" rIns="0" bIns="0" rtlCol="0" anchor="t"/>
          <a:lstStyle/>
          <a:p>
            <a:pPr indent="0" marL="0">
              <a:lnSpc>
                <a:spcPct val="108000"/>
              </a:lnSpc>
              <a:buNone/>
            </a:pPr>
            <a:r>
              <a:rPr lang="en-US" sz="820" b="1" dirty="0">
                <a:solidFill>
                  <a:srgbClr val="B96A1B"/>
                </a:solidFill>
                <a:latin typeface="Calibri" pitchFamily="34" charset="0"/>
                <a:ea typeface="Calibri" pitchFamily="34" charset="-122"/>
                <a:cs typeface="Calibri" pitchFamily="34" charset="-120"/>
              </a:rPr>
              <a:t>STEP 1 · </a:t>
            </a:r>
            <a:pPr indent="0" marL="0">
              <a:lnSpc>
                <a:spcPct val="108000"/>
              </a:lnSpc>
              <a:buNone/>
            </a:pPr>
            <a:r>
              <a:rPr lang="en-US" sz="82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820" dirty="0">
                <a:solidFill>
                  <a:srgbClr val="232A31"/>
                </a:solidFill>
                <a:latin typeface="Consolas" pitchFamily="34" charset="0"/>
                <a:ea typeface="Consolas" pitchFamily="34" charset="-122"/>
                <a:cs typeface="Consolas" pitchFamily="34" charset="-120"/>
              </a:rPr>
              <a:t>“Finish this sentence 5 different ways: We should move the launch date because”</a:t>
            </a:r>
            <a:endParaRPr lang="en-US" sz="820" dirty="0"/>
          </a:p>
          <a:p>
            <a:pPr indent="0" marL="0">
              <a:lnSpc>
                <a:spcPct val="108000"/>
              </a:lnSpc>
              <a:buNone/>
            </a:pPr>
            <a:r>
              <a:rPr lang="en-US" sz="770" b="1" dirty="0">
                <a:solidFill>
                  <a:srgbClr val="46545F"/>
                </a:solidFill>
                <a:latin typeface="Calibri" pitchFamily="34" charset="0"/>
                <a:ea typeface="Calibri" pitchFamily="34" charset="-122"/>
                <a:cs typeface="Calibri" pitchFamily="34" charset="-120"/>
              </a:rPr>
              <a:t>WHY → </a:t>
            </a:r>
            <a:pPr indent="0" marL="0">
              <a:lnSpc>
                <a:spcPct val="108000"/>
              </a:lnSpc>
              <a:spcAft>
                <a:spcPts val="600"/>
              </a:spcAft>
              <a:buNone/>
            </a:pPr>
            <a:r>
              <a:rPr lang="en-US" sz="770" i="1" dirty="0">
                <a:solidFill>
                  <a:srgbClr val="46545F"/>
                </a:solidFill>
                <a:latin typeface="Calibri" pitchFamily="34" charset="0"/>
                <a:ea typeface="Calibri" pitchFamily="34" charset="-122"/>
                <a:cs typeface="Calibri" pitchFamily="34" charset="-120"/>
              </a:rPr>
              <a:t>no facts yet — watch it scatter across guesses.</a:t>
            </a:r>
            <a:endParaRPr lang="en-US" sz="820" dirty="0"/>
          </a:p>
          <a:p>
            <a:pPr indent="0" marL="0">
              <a:lnSpc>
                <a:spcPct val="108000"/>
              </a:lnSpc>
              <a:buNone/>
            </a:pPr>
            <a:r>
              <a:rPr lang="en-US" sz="820" b="1" dirty="0">
                <a:solidFill>
                  <a:srgbClr val="B96A1B"/>
                </a:solidFill>
                <a:latin typeface="Calibri" pitchFamily="34" charset="0"/>
                <a:ea typeface="Calibri" pitchFamily="34" charset="-122"/>
                <a:cs typeface="Calibri" pitchFamily="34" charset="-120"/>
              </a:rPr>
              <a:t>STEP 2 · </a:t>
            </a:r>
            <a:pPr indent="0" marL="0">
              <a:lnSpc>
                <a:spcPct val="108000"/>
              </a:lnSpc>
              <a:buNone/>
            </a:pPr>
            <a:r>
              <a:rPr lang="en-US" sz="82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820" dirty="0">
                <a:solidFill>
                  <a:srgbClr val="232A31"/>
                </a:solidFill>
                <a:latin typeface="Consolas" pitchFamily="34" charset="0"/>
                <a:ea typeface="Consolas" pitchFamily="34" charset="-122"/>
                <a:cs typeface="Consolas" pitchFamily="34" charset="-120"/>
              </a:rPr>
              <a:t>“Now 5 more ways, knowing: B2B software firm, competitor launches May 3, our beta ends April 20.”</a:t>
            </a:r>
            <a:endParaRPr lang="en-US" sz="820" dirty="0"/>
          </a:p>
          <a:p>
            <a:pPr indent="0" marL="0">
              <a:lnSpc>
                <a:spcPct val="108000"/>
              </a:lnSpc>
              <a:buNone/>
            </a:pPr>
            <a:r>
              <a:rPr lang="en-US" sz="77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770" i="1" dirty="0">
                <a:solidFill>
                  <a:srgbClr val="46545F"/>
                </a:solidFill>
                <a:latin typeface="Calibri" pitchFamily="34" charset="0"/>
                <a:ea typeface="Calibri" pitchFamily="34" charset="-122"/>
                <a:cs typeface="Calibri" pitchFamily="34" charset="-120"/>
              </a:rPr>
              <a:t>your facts didn’t make it smarter — they deleted wrong guesses.</a:t>
            </a:r>
            <a:endParaRPr lang="en-US" sz="820" dirty="0"/>
          </a:p>
        </p:txBody>
      </p:sp>
      <p:sp>
        <p:nvSpPr>
          <p:cNvPr id="38" name="Text 30"/>
          <p:cNvSpPr/>
          <p:nvPr/>
        </p:nvSpPr>
        <p:spPr>
          <a:xfrm>
            <a:off x="685800" y="6163056"/>
            <a:ext cx="10789920" cy="237744"/>
          </a:xfrm>
          <a:prstGeom prst="rect">
            <a:avLst/>
          </a:prstGeom>
          <a:noFill/>
          <a:ln/>
        </p:spPr>
        <p:txBody>
          <a:bodyPr wrap="square" lIns="0" tIns="0" rIns="0" bIns="0" rtlCol="0" anchor="ctr"/>
          <a:lstStyle/>
          <a:p>
            <a:pPr indent="0" marL="0">
              <a:buNone/>
            </a:pPr>
            <a:r>
              <a:rPr lang="en-US" sz="800" i="1" dirty="0">
                <a:solidFill>
                  <a:srgbClr val="0A5B5A"/>
                </a:solidFill>
                <a:latin typeface="Calibri" pitchFamily="34" charset="0"/>
                <a:ea typeface="Calibri" pitchFamily="34" charset="-122"/>
                <a:cs typeface="Calibri" pitchFamily="34" charset="-120"/>
              </a:rPr>
              <a:t>✂ copy-paste, don’t retype: tab EX2-Guesses of your Course Workbook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8</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1 · TOKENS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model reads bricks, not letters</a:t>
            </a:r>
            <a:endParaRPr lang="en-US" sz="3000" dirty="0"/>
          </a:p>
        </p:txBody>
      </p:sp>
      <p:sp>
        <p:nvSpPr>
          <p:cNvPr id="6" name="Text 4"/>
          <p:cNvSpPr/>
          <p:nvPr/>
        </p:nvSpPr>
        <p:spPr>
          <a:xfrm>
            <a:off x="502920" y="1517904"/>
            <a:ext cx="5669280" cy="2697480"/>
          </a:xfrm>
          <a:prstGeom prst="rect">
            <a:avLst/>
          </a:prstGeom>
          <a:noFill/>
          <a:ln/>
        </p:spPr>
        <p:txBody>
          <a:bodyPr wrap="square" lIns="0" tIns="0" rIns="0" bIns="0" rtlCol="0" anchor="t"/>
          <a:lstStyle/>
          <a:p>
            <a:pPr algn="l" marL="127000" indent="-127000">
              <a:lnSpc>
                <a:spcPct val="104000"/>
              </a:lnSpc>
              <a:spcAft>
                <a:spcPts val="800"/>
              </a:spcAft>
              <a:buSzPct val="100000"/>
              <a:buChar char="•"/>
            </a:pPr>
            <a:r>
              <a:rPr lang="en-US" sz="1180" dirty="0">
                <a:solidFill>
                  <a:srgbClr val="46545F"/>
                </a:solidFill>
                <a:latin typeface="Calibri" pitchFamily="34" charset="0"/>
                <a:ea typeface="Calibri" pitchFamily="34" charset="-122"/>
                <a:cs typeface="Calibri" pitchFamily="34" charset="-120"/>
              </a:rPr>
              <a:t>Text is chopped into tokens — word chunks from a fixed vocabulary. Common words are one token; rare ones get built from pieces (“ham·bur·ger”).</a:t>
            </a:r>
            <a:endParaRPr lang="en-US" sz="1180" dirty="0"/>
          </a:p>
          <a:p>
            <a:pPr algn="l" marL="127000" indent="-127000">
              <a:lnSpc>
                <a:spcPct val="104000"/>
              </a:lnSpc>
              <a:spcAft>
                <a:spcPts val="800"/>
              </a:spcAft>
              <a:buSzPct val="100000"/>
              <a:buChar char="•"/>
            </a:pPr>
            <a:r>
              <a:rPr lang="en-US" sz="1180" dirty="0">
                <a:solidFill>
                  <a:srgbClr val="46545F"/>
                </a:solidFill>
                <a:latin typeface="Calibri" pitchFamily="34" charset="0"/>
                <a:ea typeface="Calibri" pitchFamily="34" charset="-122"/>
                <a:cs typeface="Calibri" pitchFamily="34" charset="-120"/>
              </a:rPr>
              <a:t>Rules of thumb (English): 1 token ≈ 4 characters ≈ ¾ of a word. A 50-page document ≈ 25–35K tokens.</a:t>
            </a:r>
            <a:endParaRPr lang="en-US" sz="1180" dirty="0"/>
          </a:p>
          <a:p>
            <a:pPr algn="l" marL="127000" indent="-127000">
              <a:lnSpc>
                <a:spcPct val="104000"/>
              </a:lnSpc>
              <a:spcAft>
                <a:spcPts val="800"/>
              </a:spcAft>
              <a:buSzPct val="100000"/>
              <a:buChar char="•"/>
            </a:pPr>
            <a:r>
              <a:rPr lang="en-US" sz="1180" b="1" dirty="0">
                <a:solidFill>
                  <a:srgbClr val="46545F"/>
                </a:solidFill>
                <a:latin typeface="Calibri" pitchFamily="34" charset="0"/>
                <a:ea typeface="Calibri" pitchFamily="34" charset="-122"/>
                <a:cs typeface="Calibri" pitchFamily="34" charset="-120"/>
              </a:rPr>
              <a:t>The model never sees letters — “strawberry” arrives as one or two IDs. The famous letter-counting fails of 2024 are patched now; what still breaks: exact word counts and “count your own tokens” (every tier), character-precise edits (free/fast tiers).</a:t>
            </a:r>
            <a:endParaRPr lang="en-US" sz="1180" dirty="0"/>
          </a:p>
          <a:p>
            <a:pPr algn="l" marL="127000" indent="-127000">
              <a:lnSpc>
                <a:spcPct val="104000"/>
              </a:lnSpc>
              <a:spcAft>
                <a:spcPts val="800"/>
              </a:spcAft>
              <a:buSzPct val="100000"/>
              <a:buChar char="•"/>
            </a:pPr>
            <a:r>
              <a:rPr lang="en-US" sz="1180" dirty="0">
                <a:solidFill>
                  <a:srgbClr val="46545F"/>
                </a:solidFill>
                <a:latin typeface="Calibri" pitchFamily="34" charset="0"/>
                <a:ea typeface="Calibri" pitchFamily="34" charset="-122"/>
                <a:cs typeface="Calibri" pitchFamily="34" charset="-120"/>
              </a:rPr>
              <a:t>Everything is priced and limited in tokens — input and output. Output tokens cost ~5× input, because generation is serial.</a:t>
            </a:r>
            <a:endParaRPr lang="en-US" sz="1180" dirty="0"/>
          </a:p>
        </p:txBody>
      </p:sp>
      <p:sp>
        <p:nvSpPr>
          <p:cNvPr id="7" name="Shape 5"/>
          <p:cNvSpPr/>
          <p:nvPr/>
        </p:nvSpPr>
        <p:spPr>
          <a:xfrm>
            <a:off x="6400800" y="1517904"/>
            <a:ext cx="5257800" cy="2331720"/>
          </a:xfrm>
          <a:prstGeom prst="roundRect">
            <a:avLst>
              <a:gd name="adj" fmla="val 3137"/>
            </a:avLst>
          </a:prstGeom>
          <a:solidFill>
            <a:srgbClr val="F2F5F6"/>
          </a:solidFill>
          <a:ln/>
        </p:spPr>
      </p:sp>
      <p:sp>
        <p:nvSpPr>
          <p:cNvPr id="8" name="Text 6"/>
          <p:cNvSpPr/>
          <p:nvPr/>
        </p:nvSpPr>
        <p:spPr>
          <a:xfrm>
            <a:off x="6675120" y="1719072"/>
            <a:ext cx="4754880" cy="365760"/>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LEGO bricks of text</a:t>
            </a:r>
            <a:endParaRPr lang="en-US" sz="1500" dirty="0"/>
          </a:p>
        </p:txBody>
      </p:sp>
      <p:sp>
        <p:nvSpPr>
          <p:cNvPr id="9" name="Text 7"/>
          <p:cNvSpPr/>
          <p:nvPr/>
        </p:nvSpPr>
        <p:spPr>
          <a:xfrm>
            <a:off x="6675120" y="2139696"/>
            <a:ext cx="4754880" cy="777240"/>
          </a:xfrm>
          <a:prstGeom prst="rect">
            <a:avLst/>
          </a:prstGeom>
          <a:noFill/>
          <a:ln/>
        </p:spPr>
        <p:txBody>
          <a:bodyPr wrap="square" lIns="0" tIns="0" rIns="0" bIns="0" rtlCol="0" anchor="ctr"/>
          <a:lstStyle/>
          <a:p>
            <a:pPr indent="0" marL="0">
              <a:lnSpc>
                <a:spcPct val="108000"/>
              </a:lnSpc>
              <a:buNone/>
            </a:pPr>
            <a:r>
              <a:rPr lang="en-US" sz="1100" dirty="0">
                <a:solidFill>
                  <a:srgbClr val="46545F"/>
                </a:solidFill>
                <a:latin typeface="Calibri" pitchFamily="34" charset="0"/>
                <a:ea typeface="Calibri" pitchFamily="34" charset="-122"/>
                <a:cs typeface="Calibri" pitchFamily="34" charset="-120"/>
              </a:rPr>
              <a:t>Common words are pre-molded bricks; unusual words get assembled from smaller pieces. You pay by the brick — and the builder has never seen inside a brick.</a:t>
            </a:r>
            <a:endParaRPr lang="en-US" sz="1100" dirty="0"/>
          </a:p>
        </p:txBody>
      </p:sp>
      <p:sp>
        <p:nvSpPr>
          <p:cNvPr id="10" name="Shape 8"/>
          <p:cNvSpPr/>
          <p:nvPr/>
        </p:nvSpPr>
        <p:spPr>
          <a:xfrm>
            <a:off x="6918960" y="3035808"/>
            <a:ext cx="91440" cy="91440"/>
          </a:xfrm>
          <a:prstGeom prst="roundRect">
            <a:avLst>
              <a:gd name="adj" fmla="val 20000"/>
            </a:avLst>
          </a:prstGeom>
          <a:solidFill>
            <a:srgbClr val="E4F0EF"/>
          </a:solidFill>
          <a:ln w="9525">
            <a:solidFill>
              <a:srgbClr val="0E7C7B"/>
            </a:solidFill>
            <a:prstDash val="solid"/>
          </a:ln>
        </p:spPr>
      </p:sp>
      <p:sp>
        <p:nvSpPr>
          <p:cNvPr id="11" name="Shape 9"/>
          <p:cNvSpPr/>
          <p:nvPr/>
        </p:nvSpPr>
        <p:spPr>
          <a:xfrm>
            <a:off x="7208520" y="3035808"/>
            <a:ext cx="91440" cy="91440"/>
          </a:xfrm>
          <a:prstGeom prst="roundRect">
            <a:avLst>
              <a:gd name="adj" fmla="val 20000"/>
            </a:avLst>
          </a:prstGeom>
          <a:solidFill>
            <a:srgbClr val="E4F0EF"/>
          </a:solidFill>
          <a:ln w="9525">
            <a:solidFill>
              <a:srgbClr val="0E7C7B"/>
            </a:solidFill>
            <a:prstDash val="solid"/>
          </a:ln>
        </p:spPr>
      </p:sp>
      <p:sp>
        <p:nvSpPr>
          <p:cNvPr id="12" name="Shape 10"/>
          <p:cNvSpPr/>
          <p:nvPr/>
        </p:nvSpPr>
        <p:spPr>
          <a:xfrm>
            <a:off x="6675120" y="3108960"/>
            <a:ext cx="868680" cy="329184"/>
          </a:xfrm>
          <a:prstGeom prst="roundRect">
            <a:avLst>
              <a:gd name="adj" fmla="val 11111"/>
            </a:avLst>
          </a:prstGeom>
          <a:solidFill>
            <a:srgbClr val="E4F0EF"/>
          </a:solidFill>
          <a:ln w="9525">
            <a:solidFill>
              <a:srgbClr val="0E7C7B"/>
            </a:solidFill>
            <a:prstDash val="solid"/>
          </a:ln>
        </p:spPr>
      </p:sp>
      <p:sp>
        <p:nvSpPr>
          <p:cNvPr id="13" name="Text 11"/>
          <p:cNvSpPr/>
          <p:nvPr/>
        </p:nvSpPr>
        <p:spPr>
          <a:xfrm>
            <a:off x="6675120" y="3118104"/>
            <a:ext cx="868680"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Analyzing</a:t>
            </a:r>
            <a:endParaRPr lang="en-US" sz="950" dirty="0"/>
          </a:p>
        </p:txBody>
      </p:sp>
      <p:sp>
        <p:nvSpPr>
          <p:cNvPr id="14" name="Shape 12"/>
          <p:cNvSpPr/>
          <p:nvPr/>
        </p:nvSpPr>
        <p:spPr>
          <a:xfrm>
            <a:off x="7758684" y="3035808"/>
            <a:ext cx="91440" cy="91440"/>
          </a:xfrm>
          <a:prstGeom prst="roundRect">
            <a:avLst>
              <a:gd name="adj" fmla="val 20000"/>
            </a:avLst>
          </a:prstGeom>
          <a:solidFill>
            <a:srgbClr val="FFFFFF"/>
          </a:solidFill>
          <a:ln w="9525">
            <a:solidFill>
              <a:srgbClr val="0E7C7B"/>
            </a:solidFill>
            <a:prstDash val="solid"/>
          </a:ln>
        </p:spPr>
      </p:sp>
      <p:sp>
        <p:nvSpPr>
          <p:cNvPr id="15" name="Shape 13"/>
          <p:cNvSpPr/>
          <p:nvPr/>
        </p:nvSpPr>
        <p:spPr>
          <a:xfrm>
            <a:off x="7598664" y="3108960"/>
            <a:ext cx="411480" cy="329184"/>
          </a:xfrm>
          <a:prstGeom prst="roundRect">
            <a:avLst>
              <a:gd name="adj" fmla="val 11111"/>
            </a:avLst>
          </a:prstGeom>
          <a:solidFill>
            <a:srgbClr val="FFFFFF"/>
          </a:solidFill>
          <a:ln w="9525">
            <a:solidFill>
              <a:srgbClr val="0E7C7B"/>
            </a:solidFill>
            <a:prstDash val="solid"/>
          </a:ln>
        </p:spPr>
      </p:sp>
      <p:sp>
        <p:nvSpPr>
          <p:cNvPr id="16" name="Text 14"/>
          <p:cNvSpPr/>
          <p:nvPr/>
        </p:nvSpPr>
        <p:spPr>
          <a:xfrm>
            <a:off x="7598664" y="3118104"/>
            <a:ext cx="411480"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the</a:t>
            </a:r>
            <a:endParaRPr lang="en-US" sz="950" dirty="0"/>
          </a:p>
        </p:txBody>
      </p:sp>
      <p:sp>
        <p:nvSpPr>
          <p:cNvPr id="17" name="Shape 15"/>
          <p:cNvSpPr/>
          <p:nvPr/>
        </p:nvSpPr>
        <p:spPr>
          <a:xfrm>
            <a:off x="8278368" y="3035808"/>
            <a:ext cx="91440" cy="91440"/>
          </a:xfrm>
          <a:prstGeom prst="roundRect">
            <a:avLst>
              <a:gd name="adj" fmla="val 20000"/>
            </a:avLst>
          </a:prstGeom>
          <a:solidFill>
            <a:srgbClr val="E4F0EF"/>
          </a:solidFill>
          <a:ln w="9525">
            <a:solidFill>
              <a:srgbClr val="0E7C7B"/>
            </a:solidFill>
            <a:prstDash val="solid"/>
          </a:ln>
        </p:spPr>
      </p:sp>
      <p:sp>
        <p:nvSpPr>
          <p:cNvPr id="18" name="Shape 16"/>
          <p:cNvSpPr/>
          <p:nvPr/>
        </p:nvSpPr>
        <p:spPr>
          <a:xfrm>
            <a:off x="8537448" y="3035808"/>
            <a:ext cx="91440" cy="91440"/>
          </a:xfrm>
          <a:prstGeom prst="roundRect">
            <a:avLst>
              <a:gd name="adj" fmla="val 20000"/>
            </a:avLst>
          </a:prstGeom>
          <a:solidFill>
            <a:srgbClr val="E4F0EF"/>
          </a:solidFill>
          <a:ln w="9525">
            <a:solidFill>
              <a:srgbClr val="0E7C7B"/>
            </a:solidFill>
            <a:prstDash val="solid"/>
          </a:ln>
        </p:spPr>
      </p:sp>
      <p:sp>
        <p:nvSpPr>
          <p:cNvPr id="19" name="Shape 17"/>
          <p:cNvSpPr/>
          <p:nvPr/>
        </p:nvSpPr>
        <p:spPr>
          <a:xfrm>
            <a:off x="8065008" y="3108960"/>
            <a:ext cx="777240" cy="329184"/>
          </a:xfrm>
          <a:prstGeom prst="roundRect">
            <a:avLst>
              <a:gd name="adj" fmla="val 11111"/>
            </a:avLst>
          </a:prstGeom>
          <a:solidFill>
            <a:srgbClr val="E4F0EF"/>
          </a:solidFill>
          <a:ln w="9525">
            <a:solidFill>
              <a:srgbClr val="0E7C7B"/>
            </a:solidFill>
            <a:prstDash val="solid"/>
          </a:ln>
        </p:spPr>
      </p:sp>
      <p:sp>
        <p:nvSpPr>
          <p:cNvPr id="20" name="Text 18"/>
          <p:cNvSpPr/>
          <p:nvPr/>
        </p:nvSpPr>
        <p:spPr>
          <a:xfrm>
            <a:off x="8065008" y="3118104"/>
            <a:ext cx="777240"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supplier</a:t>
            </a:r>
            <a:endParaRPr lang="en-US" sz="950" dirty="0"/>
          </a:p>
        </p:txBody>
      </p:sp>
      <p:sp>
        <p:nvSpPr>
          <p:cNvPr id="21" name="Shape 19"/>
          <p:cNvSpPr/>
          <p:nvPr/>
        </p:nvSpPr>
        <p:spPr>
          <a:xfrm>
            <a:off x="8988552" y="3035808"/>
            <a:ext cx="91440" cy="91440"/>
          </a:xfrm>
          <a:prstGeom prst="roundRect">
            <a:avLst>
              <a:gd name="adj" fmla="val 20000"/>
            </a:avLst>
          </a:prstGeom>
          <a:solidFill>
            <a:srgbClr val="FFFFFF"/>
          </a:solidFill>
          <a:ln w="9525">
            <a:solidFill>
              <a:srgbClr val="0E7C7B"/>
            </a:solidFill>
            <a:prstDash val="solid"/>
          </a:ln>
        </p:spPr>
      </p:sp>
      <p:sp>
        <p:nvSpPr>
          <p:cNvPr id="22" name="Shape 20"/>
          <p:cNvSpPr/>
          <p:nvPr/>
        </p:nvSpPr>
        <p:spPr>
          <a:xfrm>
            <a:off x="8897112" y="3108960"/>
            <a:ext cx="274320" cy="329184"/>
          </a:xfrm>
          <a:prstGeom prst="roundRect">
            <a:avLst>
              <a:gd name="adj" fmla="val 13333"/>
            </a:avLst>
          </a:prstGeom>
          <a:solidFill>
            <a:srgbClr val="FFFFFF"/>
          </a:solidFill>
          <a:ln w="9525">
            <a:solidFill>
              <a:srgbClr val="0E7C7B"/>
            </a:solidFill>
            <a:prstDash val="solid"/>
          </a:ln>
        </p:spPr>
      </p:sp>
      <p:sp>
        <p:nvSpPr>
          <p:cNvPr id="23" name="Text 21"/>
          <p:cNvSpPr/>
          <p:nvPr/>
        </p:nvSpPr>
        <p:spPr>
          <a:xfrm>
            <a:off x="8897112" y="3118104"/>
            <a:ext cx="274320"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’s</a:t>
            </a:r>
            <a:endParaRPr lang="en-US" sz="950" dirty="0"/>
          </a:p>
        </p:txBody>
      </p:sp>
      <p:sp>
        <p:nvSpPr>
          <p:cNvPr id="24" name="Shape 22"/>
          <p:cNvSpPr/>
          <p:nvPr/>
        </p:nvSpPr>
        <p:spPr>
          <a:xfrm>
            <a:off x="9348216" y="3035808"/>
            <a:ext cx="91440" cy="91440"/>
          </a:xfrm>
          <a:prstGeom prst="roundRect">
            <a:avLst>
              <a:gd name="adj" fmla="val 20000"/>
            </a:avLst>
          </a:prstGeom>
          <a:solidFill>
            <a:srgbClr val="E4F0EF"/>
          </a:solidFill>
          <a:ln w="9525">
            <a:solidFill>
              <a:srgbClr val="0E7C7B"/>
            </a:solidFill>
            <a:prstDash val="solid"/>
          </a:ln>
        </p:spPr>
      </p:sp>
      <p:sp>
        <p:nvSpPr>
          <p:cNvPr id="25" name="Shape 23"/>
          <p:cNvSpPr/>
          <p:nvPr/>
        </p:nvSpPr>
        <p:spPr>
          <a:xfrm>
            <a:off x="9515856" y="3035808"/>
            <a:ext cx="91440" cy="91440"/>
          </a:xfrm>
          <a:prstGeom prst="roundRect">
            <a:avLst>
              <a:gd name="adj" fmla="val 20000"/>
            </a:avLst>
          </a:prstGeom>
          <a:solidFill>
            <a:srgbClr val="E4F0EF"/>
          </a:solidFill>
          <a:ln w="9525">
            <a:solidFill>
              <a:srgbClr val="0E7C7B"/>
            </a:solidFill>
            <a:prstDash val="solid"/>
          </a:ln>
        </p:spPr>
      </p:sp>
      <p:sp>
        <p:nvSpPr>
          <p:cNvPr id="26" name="Shape 24"/>
          <p:cNvSpPr/>
          <p:nvPr/>
        </p:nvSpPr>
        <p:spPr>
          <a:xfrm>
            <a:off x="9226296" y="3108960"/>
            <a:ext cx="502920" cy="329184"/>
          </a:xfrm>
          <a:prstGeom prst="roundRect">
            <a:avLst>
              <a:gd name="adj" fmla="val 11111"/>
            </a:avLst>
          </a:prstGeom>
          <a:solidFill>
            <a:srgbClr val="E4F0EF"/>
          </a:solidFill>
          <a:ln w="9525">
            <a:solidFill>
              <a:srgbClr val="0E7C7B"/>
            </a:solidFill>
            <a:prstDash val="solid"/>
          </a:ln>
        </p:spPr>
      </p:sp>
      <p:sp>
        <p:nvSpPr>
          <p:cNvPr id="27" name="Text 25"/>
          <p:cNvSpPr/>
          <p:nvPr/>
        </p:nvSpPr>
        <p:spPr>
          <a:xfrm>
            <a:off x="9226296" y="3118104"/>
            <a:ext cx="502920"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first</a:t>
            </a:r>
            <a:endParaRPr lang="en-US" sz="950" dirty="0"/>
          </a:p>
        </p:txBody>
      </p:sp>
      <p:sp>
        <p:nvSpPr>
          <p:cNvPr id="28" name="Shape 26"/>
          <p:cNvSpPr/>
          <p:nvPr/>
        </p:nvSpPr>
        <p:spPr>
          <a:xfrm>
            <a:off x="9838944" y="3035808"/>
            <a:ext cx="91440" cy="91440"/>
          </a:xfrm>
          <a:prstGeom prst="roundRect">
            <a:avLst>
              <a:gd name="adj" fmla="val 20000"/>
            </a:avLst>
          </a:prstGeom>
          <a:solidFill>
            <a:srgbClr val="FFFFFF"/>
          </a:solidFill>
          <a:ln w="9525">
            <a:solidFill>
              <a:srgbClr val="0E7C7B"/>
            </a:solidFill>
            <a:prstDash val="solid"/>
          </a:ln>
        </p:spPr>
      </p:sp>
      <p:sp>
        <p:nvSpPr>
          <p:cNvPr id="29" name="Shape 27"/>
          <p:cNvSpPr/>
          <p:nvPr/>
        </p:nvSpPr>
        <p:spPr>
          <a:xfrm>
            <a:off x="9784080" y="3108960"/>
            <a:ext cx="201168" cy="329184"/>
          </a:xfrm>
          <a:prstGeom prst="roundRect">
            <a:avLst>
              <a:gd name="adj" fmla="val 18182"/>
            </a:avLst>
          </a:prstGeom>
          <a:solidFill>
            <a:srgbClr val="FFFFFF"/>
          </a:solidFill>
          <a:ln w="9525">
            <a:solidFill>
              <a:srgbClr val="0E7C7B"/>
            </a:solidFill>
            <a:prstDash val="solid"/>
          </a:ln>
        </p:spPr>
      </p:sp>
      <p:sp>
        <p:nvSpPr>
          <p:cNvPr id="30" name="Text 28"/>
          <p:cNvSpPr/>
          <p:nvPr/>
        </p:nvSpPr>
        <p:spPr>
          <a:xfrm>
            <a:off x="9784080" y="3118104"/>
            <a:ext cx="201168"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a:t>
            </a:r>
            <a:endParaRPr lang="en-US" sz="950" dirty="0"/>
          </a:p>
        </p:txBody>
      </p:sp>
      <p:sp>
        <p:nvSpPr>
          <p:cNvPr id="31" name="Shape 29"/>
          <p:cNvSpPr/>
          <p:nvPr/>
        </p:nvSpPr>
        <p:spPr>
          <a:xfrm>
            <a:off x="10162032" y="3035808"/>
            <a:ext cx="91440" cy="91440"/>
          </a:xfrm>
          <a:prstGeom prst="roundRect">
            <a:avLst>
              <a:gd name="adj" fmla="val 20000"/>
            </a:avLst>
          </a:prstGeom>
          <a:solidFill>
            <a:srgbClr val="E4F0EF"/>
          </a:solidFill>
          <a:ln w="9525">
            <a:solidFill>
              <a:srgbClr val="0E7C7B"/>
            </a:solidFill>
            <a:prstDash val="solid"/>
          </a:ln>
        </p:spPr>
      </p:sp>
      <p:sp>
        <p:nvSpPr>
          <p:cNvPr id="32" name="Shape 30"/>
          <p:cNvSpPr/>
          <p:nvPr/>
        </p:nvSpPr>
        <p:spPr>
          <a:xfrm>
            <a:off x="10329672" y="3035808"/>
            <a:ext cx="91440" cy="91440"/>
          </a:xfrm>
          <a:prstGeom prst="roundRect">
            <a:avLst>
              <a:gd name="adj" fmla="val 20000"/>
            </a:avLst>
          </a:prstGeom>
          <a:solidFill>
            <a:srgbClr val="E4F0EF"/>
          </a:solidFill>
          <a:ln w="9525">
            <a:solidFill>
              <a:srgbClr val="0E7C7B"/>
            </a:solidFill>
            <a:prstDash val="solid"/>
          </a:ln>
        </p:spPr>
      </p:sp>
      <p:sp>
        <p:nvSpPr>
          <p:cNvPr id="33" name="Shape 31"/>
          <p:cNvSpPr/>
          <p:nvPr/>
        </p:nvSpPr>
        <p:spPr>
          <a:xfrm>
            <a:off x="10040112" y="3108960"/>
            <a:ext cx="502920" cy="329184"/>
          </a:xfrm>
          <a:prstGeom prst="roundRect">
            <a:avLst>
              <a:gd name="adj" fmla="val 11111"/>
            </a:avLst>
          </a:prstGeom>
          <a:solidFill>
            <a:srgbClr val="E4F0EF"/>
          </a:solidFill>
          <a:ln w="9525">
            <a:solidFill>
              <a:srgbClr val="0E7C7B"/>
            </a:solidFill>
            <a:prstDash val="solid"/>
          </a:ln>
        </p:spPr>
      </p:sp>
      <p:sp>
        <p:nvSpPr>
          <p:cNvPr id="34" name="Text 32"/>
          <p:cNvSpPr/>
          <p:nvPr/>
        </p:nvSpPr>
        <p:spPr>
          <a:xfrm>
            <a:off x="10040112" y="3118104"/>
            <a:ext cx="502920"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pass</a:t>
            </a:r>
            <a:endParaRPr lang="en-US" sz="950" dirty="0"/>
          </a:p>
        </p:txBody>
      </p:sp>
      <p:sp>
        <p:nvSpPr>
          <p:cNvPr id="35" name="Shape 33"/>
          <p:cNvSpPr/>
          <p:nvPr/>
        </p:nvSpPr>
        <p:spPr>
          <a:xfrm>
            <a:off x="10735056" y="3035808"/>
            <a:ext cx="91440" cy="91440"/>
          </a:xfrm>
          <a:prstGeom prst="roundRect">
            <a:avLst>
              <a:gd name="adj" fmla="val 20000"/>
            </a:avLst>
          </a:prstGeom>
          <a:solidFill>
            <a:srgbClr val="FFFFFF"/>
          </a:solidFill>
          <a:ln w="9525">
            <a:solidFill>
              <a:srgbClr val="0E7C7B"/>
            </a:solidFill>
            <a:prstDash val="solid"/>
          </a:ln>
        </p:spPr>
      </p:sp>
      <p:sp>
        <p:nvSpPr>
          <p:cNvPr id="36" name="Shape 34"/>
          <p:cNvSpPr/>
          <p:nvPr/>
        </p:nvSpPr>
        <p:spPr>
          <a:xfrm>
            <a:off x="10917936" y="3035808"/>
            <a:ext cx="91440" cy="91440"/>
          </a:xfrm>
          <a:prstGeom prst="roundRect">
            <a:avLst>
              <a:gd name="adj" fmla="val 20000"/>
            </a:avLst>
          </a:prstGeom>
          <a:solidFill>
            <a:srgbClr val="FFFFFF"/>
          </a:solidFill>
          <a:ln w="9525">
            <a:solidFill>
              <a:srgbClr val="0E7C7B"/>
            </a:solidFill>
            <a:prstDash val="solid"/>
          </a:ln>
        </p:spPr>
      </p:sp>
      <p:sp>
        <p:nvSpPr>
          <p:cNvPr id="37" name="Shape 35"/>
          <p:cNvSpPr/>
          <p:nvPr/>
        </p:nvSpPr>
        <p:spPr>
          <a:xfrm>
            <a:off x="10597896" y="3108960"/>
            <a:ext cx="548640" cy="329184"/>
          </a:xfrm>
          <a:prstGeom prst="roundRect">
            <a:avLst>
              <a:gd name="adj" fmla="val 11111"/>
            </a:avLst>
          </a:prstGeom>
          <a:solidFill>
            <a:srgbClr val="FFFFFF"/>
          </a:solidFill>
          <a:ln w="9525">
            <a:solidFill>
              <a:srgbClr val="0E7C7B"/>
            </a:solidFill>
            <a:prstDash val="solid"/>
          </a:ln>
        </p:spPr>
      </p:sp>
      <p:sp>
        <p:nvSpPr>
          <p:cNvPr id="38" name="Text 36"/>
          <p:cNvSpPr/>
          <p:nvPr/>
        </p:nvSpPr>
        <p:spPr>
          <a:xfrm>
            <a:off x="10597896" y="3118104"/>
            <a:ext cx="548640"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yield</a:t>
            </a:r>
            <a:endParaRPr lang="en-US" sz="950" dirty="0"/>
          </a:p>
        </p:txBody>
      </p:sp>
      <p:sp>
        <p:nvSpPr>
          <p:cNvPr id="39" name="Text 37"/>
          <p:cNvSpPr/>
          <p:nvPr/>
        </p:nvSpPr>
        <p:spPr>
          <a:xfrm>
            <a:off x="6675120" y="3520440"/>
            <a:ext cx="4754880" cy="274320"/>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eight bricks — the model receives eight numbered IDs, not forty letters</a:t>
            </a:r>
            <a:endParaRPr lang="en-US" sz="950" dirty="0"/>
          </a:p>
        </p:txBody>
      </p:sp>
      <p:sp>
        <p:nvSpPr>
          <p:cNvPr id="40" name="Shape 38"/>
          <p:cNvSpPr/>
          <p:nvPr/>
        </p:nvSpPr>
        <p:spPr>
          <a:xfrm>
            <a:off x="6400800" y="3977640"/>
            <a:ext cx="5257800" cy="1417320"/>
          </a:xfrm>
          <a:prstGeom prst="roundRect">
            <a:avLst>
              <a:gd name="adj" fmla="val 5161"/>
            </a:avLst>
          </a:prstGeom>
          <a:solidFill>
            <a:srgbClr val="E4F0EF"/>
          </a:solidFill>
          <a:ln/>
        </p:spPr>
      </p:sp>
      <p:sp>
        <p:nvSpPr>
          <p:cNvPr id="41" name="Shape 39"/>
          <p:cNvSpPr/>
          <p:nvPr/>
        </p:nvSpPr>
        <p:spPr>
          <a:xfrm>
            <a:off x="6565392" y="4494276"/>
            <a:ext cx="384048" cy="384048"/>
          </a:xfrm>
          <a:prstGeom prst="ellipse">
            <a:avLst/>
          </a:prstGeom>
          <a:solidFill>
            <a:srgbClr val="0E7C7B"/>
          </a:solidFill>
          <a:ln/>
        </p:spPr>
      </p:sp>
      <p:pic>
        <p:nvPicPr>
          <p:cNvPr id="42" name="Image 0" descr="/home/user/Claude-Works/ai-training-prompt-engineering/src/assets/icons/layers_w.png">    </p:cNvPr>
          <p:cNvPicPr>
            <a:picLocks noChangeAspect="1"/>
          </p:cNvPicPr>
          <p:nvPr/>
        </p:nvPicPr>
        <p:blipFill>
          <a:blip r:embed="rId1"/>
          <a:stretch>
            <a:fillRect/>
          </a:stretch>
        </p:blipFill>
        <p:spPr>
          <a:xfrm>
            <a:off x="6665244" y="4594128"/>
            <a:ext cx="184343" cy="184343"/>
          </a:xfrm>
          <a:prstGeom prst="rect">
            <a:avLst/>
          </a:prstGeom>
        </p:spPr>
      </p:pic>
      <p:sp>
        <p:nvSpPr>
          <p:cNvPr id="43" name="Text 40"/>
          <p:cNvSpPr/>
          <p:nvPr/>
        </p:nvSpPr>
        <p:spPr>
          <a:xfrm>
            <a:off x="7114032" y="4050792"/>
            <a:ext cx="4315968" cy="1271016"/>
          </a:xfrm>
          <a:prstGeom prst="rect">
            <a:avLst/>
          </a:prstGeom>
          <a:noFill/>
          <a:ln/>
        </p:spPr>
        <p:txBody>
          <a:bodyPr wrap="square" lIns="0" tIns="0" rIns="0" bIns="0" rtlCol="0" anchor="ctr"/>
          <a:lstStyle/>
          <a:p>
            <a:pPr indent="0" marL="0">
              <a:lnSpc>
                <a:spcPct val="106000"/>
              </a:lnSpc>
              <a:buNone/>
            </a:pPr>
            <a:r>
              <a:rPr lang="en-US" sz="1150" b="1" dirty="0">
                <a:solidFill>
                  <a:srgbClr val="0A5B5A"/>
                </a:solidFill>
                <a:latin typeface="Calibri" pitchFamily="34" charset="0"/>
                <a:ea typeface="Calibri" pitchFamily="34" charset="-122"/>
                <a:cs typeface="Calibri" pitchFamily="34" charset="-120"/>
              </a:rPr>
              <a:t>So what, for daily work: </a:t>
            </a:r>
            <a:endParaRPr lang="en-US" sz="1100" dirty="0"/>
          </a:p>
          <a:p>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paste-heavy prompts burn budget and context fast · non-English and dense technical text cost more tokens · use AI for language, software for characters (counts, checksums, exact IDs).</a:t>
            </a:r>
            <a:endParaRPr lang="en-US" sz="1100" dirty="0"/>
          </a:p>
        </p:txBody>
      </p:sp>
      <p:sp>
        <p:nvSpPr>
          <p:cNvPr id="44" name="Shape 41"/>
          <p:cNvSpPr/>
          <p:nvPr/>
        </p:nvSpPr>
        <p:spPr>
          <a:xfrm>
            <a:off x="502920" y="4434840"/>
            <a:ext cx="5669280" cy="1554480"/>
          </a:xfrm>
          <a:prstGeom prst="roundRect">
            <a:avLst>
              <a:gd name="adj" fmla="val 4706"/>
            </a:avLst>
          </a:prstGeom>
          <a:solidFill>
            <a:srgbClr val="E4F0EF"/>
          </a:solidFill>
          <a:ln/>
        </p:spPr>
      </p:sp>
      <p:sp>
        <p:nvSpPr>
          <p:cNvPr id="45" name="Shape 42"/>
          <p:cNvSpPr/>
          <p:nvPr/>
        </p:nvSpPr>
        <p:spPr>
          <a:xfrm>
            <a:off x="649224" y="4553712"/>
            <a:ext cx="365760" cy="365760"/>
          </a:xfrm>
          <a:prstGeom prst="ellipse">
            <a:avLst/>
          </a:prstGeom>
          <a:solidFill>
            <a:srgbClr val="0E7C7B"/>
          </a:solidFill>
          <a:ln/>
        </p:spPr>
      </p:sp>
      <p:pic>
        <p:nvPicPr>
          <p:cNvPr id="46" name="Image 1" descr="/home/user/Claude-Works/ai-training-prompt-engineering/src/assets/icons/robot_w.png">    </p:cNvPr>
          <p:cNvPicPr>
            <a:picLocks noChangeAspect="1"/>
          </p:cNvPicPr>
          <p:nvPr/>
        </p:nvPicPr>
        <p:blipFill>
          <a:blip r:embed="rId2"/>
          <a:stretch>
            <a:fillRect/>
          </a:stretch>
        </p:blipFill>
        <p:spPr>
          <a:xfrm>
            <a:off x="744322" y="4648810"/>
            <a:ext cx="175565" cy="175565"/>
          </a:xfrm>
          <a:prstGeom prst="rect">
            <a:avLst/>
          </a:prstGeom>
        </p:spPr>
      </p:pic>
      <p:sp>
        <p:nvSpPr>
          <p:cNvPr id="47" name="Shape 43"/>
          <p:cNvSpPr/>
          <p:nvPr/>
        </p:nvSpPr>
        <p:spPr>
          <a:xfrm>
            <a:off x="1106424" y="4581144"/>
            <a:ext cx="1188720" cy="310896"/>
          </a:xfrm>
          <a:prstGeom prst="roundRect">
            <a:avLst>
              <a:gd name="adj" fmla="val 23529"/>
            </a:avLst>
          </a:prstGeom>
          <a:solidFill>
            <a:srgbClr val="0E7C7B"/>
          </a:solidFill>
          <a:ln/>
        </p:spPr>
      </p:sp>
      <p:sp>
        <p:nvSpPr>
          <p:cNvPr id="48" name="Text 44"/>
          <p:cNvSpPr/>
          <p:nvPr/>
        </p:nvSpPr>
        <p:spPr>
          <a:xfrm>
            <a:off x="1106424" y="459028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PROMPT 3/7</a:t>
            </a:r>
            <a:endParaRPr lang="en-US" sz="950" dirty="0"/>
          </a:p>
        </p:txBody>
      </p:sp>
      <p:sp>
        <p:nvSpPr>
          <p:cNvPr id="49" name="Text 45"/>
          <p:cNvSpPr/>
          <p:nvPr/>
        </p:nvSpPr>
        <p:spPr>
          <a:xfrm>
            <a:off x="2404872" y="4590288"/>
            <a:ext cx="3520440" cy="292608"/>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Bricks, not letters</a:t>
            </a:r>
            <a:endParaRPr lang="en-US" sz="1050" dirty="0"/>
          </a:p>
        </p:txBody>
      </p:sp>
      <p:sp>
        <p:nvSpPr>
          <p:cNvPr id="50" name="Text 46"/>
          <p:cNvSpPr/>
          <p:nvPr/>
        </p:nvSpPr>
        <p:spPr>
          <a:xfrm>
            <a:off x="685800" y="4946904"/>
            <a:ext cx="5303520" cy="676656"/>
          </a:xfrm>
          <a:prstGeom prst="rect">
            <a:avLst/>
          </a:prstGeom>
          <a:noFill/>
          <a:ln/>
        </p:spPr>
        <p:txBody>
          <a:bodyPr wrap="square" lIns="0" tIns="0" rIns="0" bIns="0" rtlCol="0" anchor="t"/>
          <a:lstStyle/>
          <a:p>
            <a:pPr indent="0" marL="0">
              <a:lnSpc>
                <a:spcPct val="108000"/>
              </a:lnSpc>
              <a:buNone/>
            </a:pPr>
            <a:r>
              <a:rPr lang="en-US" sz="84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840" dirty="0">
                <a:solidFill>
                  <a:srgbClr val="232A31"/>
                </a:solidFill>
                <a:latin typeface="Consolas" pitchFamily="34" charset="0"/>
                <a:ea typeface="Consolas" pitchFamily="34" charset="-122"/>
                <a:cs typeface="Consolas" pitchFamily="34" charset="-120"/>
              </a:rPr>
              <a:t>“Explain AI tokens to a busy office worker in under 80 words: use a LEGO-brick analogy, show one word splitting into tokens, and end with why tokens set my AI’s cost and limits.”</a:t>
            </a:r>
            <a:endParaRPr lang="en-US" sz="840" dirty="0"/>
          </a:p>
          <a:p>
            <a:pPr indent="0" marL="0">
              <a:lnSpc>
                <a:spcPct val="108000"/>
              </a:lnSpc>
              <a:buNone/>
            </a:pPr>
            <a:r>
              <a:rPr lang="en-US" sz="79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790" i="1" dirty="0">
                <a:solidFill>
                  <a:srgbClr val="46545F"/>
                </a:solidFill>
                <a:latin typeface="Calibri" pitchFamily="34" charset="0"/>
                <a:ea typeface="Calibri" pitchFamily="34" charset="-122"/>
                <a:cs typeface="Calibri" pitchFamily="34" charset="-120"/>
              </a:rPr>
              <a:t>the definition lands in your course log — and the brick analogy is the one the best explainers use.</a:t>
            </a:r>
            <a:endParaRPr lang="en-US" sz="840" dirty="0"/>
          </a:p>
        </p:txBody>
      </p:sp>
      <p:sp>
        <p:nvSpPr>
          <p:cNvPr id="51" name="Text 47"/>
          <p:cNvSpPr/>
          <p:nvPr/>
        </p:nvSpPr>
        <p:spPr>
          <a:xfrm>
            <a:off x="685800" y="5696712"/>
            <a:ext cx="5303520" cy="237744"/>
          </a:xfrm>
          <a:prstGeom prst="rect">
            <a:avLst/>
          </a:prstGeom>
          <a:noFill/>
          <a:ln/>
        </p:spPr>
        <p:txBody>
          <a:bodyPr wrap="square" lIns="0" tIns="0" rIns="0" bIns="0" rtlCol="0" anchor="ctr"/>
          <a:lstStyle/>
          <a:p>
            <a:pPr indent="0" marL="0">
              <a:buNone/>
            </a:pPr>
            <a:r>
              <a:rPr lang="en-US" sz="800" i="1" dirty="0">
                <a:solidFill>
                  <a:srgbClr val="0A5B5A"/>
                </a:solidFill>
                <a:latin typeface="Calibri" pitchFamily="34" charset="0"/>
                <a:ea typeface="Calibri" pitchFamily="34" charset="-122"/>
                <a:cs typeface="Calibri" pitchFamily="34" charset="-120"/>
              </a:rPr>
              <a:t>✂ copy-paste, don’t retype: tab EX3-Tokens of your Course Workbook</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9</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2 · CONTEXT WINDOW</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 desk, not a filing cabinet</a:t>
            </a:r>
            <a:endParaRPr lang="en-US" sz="3000" dirty="0"/>
          </a:p>
        </p:txBody>
      </p:sp>
      <p:sp>
        <p:nvSpPr>
          <p:cNvPr id="6" name="Text 4"/>
          <p:cNvSpPr/>
          <p:nvPr/>
        </p:nvSpPr>
        <p:spPr>
          <a:xfrm>
            <a:off x="502920" y="1481328"/>
            <a:ext cx="5669280" cy="251460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200" dirty="0">
                <a:solidFill>
                  <a:srgbClr val="46545F"/>
                </a:solidFill>
                <a:latin typeface="Calibri" pitchFamily="34" charset="0"/>
                <a:ea typeface="Calibri" pitchFamily="34" charset="-122"/>
                <a:cs typeface="Calibri" pitchFamily="34" charset="-120"/>
              </a:rPr>
              <a:t>The context window is working memory for one conversation: your question, the system prompt, chat history, attached files, and search results must all fit on the desk.</a:t>
            </a:r>
            <a:endParaRPr lang="en-US" sz="1200" dirty="0"/>
          </a:p>
          <a:p>
            <a:pPr algn="l" marL="127000" indent="-127000">
              <a:lnSpc>
                <a:spcPct val="104000"/>
              </a:lnSpc>
              <a:spcAft>
                <a:spcPts val="700"/>
              </a:spcAft>
              <a:buSzPct val="100000"/>
              <a:buChar char="•"/>
            </a:pPr>
            <a:r>
              <a:rPr lang="en-US" sz="1200" dirty="0">
                <a:solidFill>
                  <a:srgbClr val="46545F"/>
                </a:solidFill>
                <a:latin typeface="Calibri" pitchFamily="34" charset="0"/>
                <a:ea typeface="Calibri" pitchFamily="34" charset="-122"/>
                <a:cs typeface="Calibri" pitchFamily="34" charset="-120"/>
              </a:rPr>
              <a:t>Close the chat and the desk is swept clean. Nothing persists unless a memory feature or a saved file re-loads it.</a:t>
            </a:r>
            <a:endParaRPr lang="en-US" sz="1200" dirty="0"/>
          </a:p>
          <a:p>
            <a:pPr algn="l" marL="127000" indent="-127000">
              <a:lnSpc>
                <a:spcPct val="104000"/>
              </a:lnSpc>
              <a:spcAft>
                <a:spcPts val="700"/>
              </a:spcAft>
              <a:buSzPct val="100000"/>
              <a:buChar char="•"/>
            </a:pPr>
            <a:r>
              <a:rPr lang="en-US" sz="1200" dirty="0">
                <a:solidFill>
                  <a:srgbClr val="46545F"/>
                </a:solidFill>
                <a:latin typeface="Calibri" pitchFamily="34" charset="0"/>
                <a:ea typeface="Calibri" pitchFamily="34" charset="-122"/>
                <a:cs typeface="Calibri" pitchFamily="34" charset="-120"/>
              </a:rPr>
              <a:t>By 2026, ~1M tokens (≈750,000 words) is the flagship standard. Consumer apps often enforce smaller limits than the raw model.</a:t>
            </a:r>
            <a:endParaRPr lang="en-US" sz="1200" dirty="0"/>
          </a:p>
          <a:p>
            <a:pPr algn="l" marL="127000" indent="-127000">
              <a:lnSpc>
                <a:spcPct val="104000"/>
              </a:lnSpc>
              <a:spcAft>
                <a:spcPts val="700"/>
              </a:spcAft>
              <a:buSzPct val="100000"/>
              <a:buChar char="•"/>
            </a:pPr>
            <a:r>
              <a:rPr lang="en-US" sz="1200" b="1" dirty="0">
                <a:solidFill>
                  <a:srgbClr val="46545F"/>
                </a:solidFill>
                <a:latin typeface="Calibri" pitchFamily="34" charset="0"/>
                <a:ea typeface="Calibri" pitchFamily="34" charset="-122"/>
                <a:cs typeface="Calibri" pitchFamily="34" charset="-120"/>
              </a:rPr>
              <a:t>In very long chats the middle gets skimmed — accuracy is highest at the start and the end (“lost in the middle”).</a:t>
            </a:r>
            <a:endParaRPr lang="en-US" sz="1200" dirty="0"/>
          </a:p>
        </p:txBody>
      </p:sp>
      <p:sp>
        <p:nvSpPr>
          <p:cNvPr id="7" name="Shape 5"/>
          <p:cNvSpPr/>
          <p:nvPr/>
        </p:nvSpPr>
        <p:spPr>
          <a:xfrm>
            <a:off x="6400800" y="1481328"/>
            <a:ext cx="5257800" cy="2194560"/>
          </a:xfrm>
          <a:prstGeom prst="roundRect">
            <a:avLst>
              <a:gd name="adj" fmla="val 3333"/>
            </a:avLst>
          </a:prstGeom>
          <a:solidFill>
            <a:srgbClr val="F2F5F6"/>
          </a:solidFill>
          <a:ln/>
        </p:spPr>
      </p:sp>
      <p:sp>
        <p:nvSpPr>
          <p:cNvPr id="8" name="Text 6"/>
          <p:cNvSpPr/>
          <p:nvPr/>
        </p:nvSpPr>
        <p:spPr>
          <a:xfrm>
            <a:off x="6675120" y="1645920"/>
            <a:ext cx="4754880" cy="365760"/>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What’s on the desk right now</a:t>
            </a:r>
            <a:endParaRPr lang="en-US" sz="1400" dirty="0"/>
          </a:p>
        </p:txBody>
      </p:sp>
      <p:sp>
        <p:nvSpPr>
          <p:cNvPr id="9" name="Shape 7"/>
          <p:cNvSpPr/>
          <p:nvPr/>
        </p:nvSpPr>
        <p:spPr>
          <a:xfrm>
            <a:off x="6675120" y="2139696"/>
            <a:ext cx="384048" cy="384048"/>
          </a:xfrm>
          <a:prstGeom prst="ellipse">
            <a:avLst/>
          </a:prstGeom>
          <a:solidFill>
            <a:srgbClr val="46545F"/>
          </a:solidFill>
          <a:ln/>
        </p:spPr>
      </p:sp>
      <p:pic>
        <p:nvPicPr>
          <p:cNvPr id="10" name="Image 0" descr="/home/user/Claude-Works/ai-training-prompt-engineering/src/assets/icons/file_w.png">    </p:cNvPr>
          <p:cNvPicPr>
            <a:picLocks noChangeAspect="1"/>
          </p:cNvPicPr>
          <p:nvPr/>
        </p:nvPicPr>
        <p:blipFill>
          <a:blip r:embed="rId1"/>
          <a:stretch>
            <a:fillRect/>
          </a:stretch>
        </p:blipFill>
        <p:spPr>
          <a:xfrm>
            <a:off x="6774972" y="2239548"/>
            <a:ext cx="184343" cy="184343"/>
          </a:xfrm>
          <a:prstGeom prst="rect">
            <a:avLst/>
          </a:prstGeom>
        </p:spPr>
      </p:pic>
      <p:sp>
        <p:nvSpPr>
          <p:cNvPr id="11" name="Text 8"/>
          <p:cNvSpPr/>
          <p:nvPr/>
        </p:nvSpPr>
        <p:spPr>
          <a:xfrm>
            <a:off x="7168896" y="2084832"/>
            <a:ext cx="2011680" cy="694944"/>
          </a:xfrm>
          <a:prstGeom prst="rect">
            <a:avLst/>
          </a:prstGeom>
          <a:noFill/>
          <a:ln/>
        </p:spPr>
        <p:txBody>
          <a:bodyPr wrap="square" lIns="0" tIns="0" rIns="0" bIns="0" rtlCol="0" anchor="ctr"/>
          <a:lstStyle/>
          <a:p>
            <a:pPr indent="0" marL="0">
              <a:lnSpc>
                <a:spcPct val="100000"/>
              </a:lnSpc>
              <a:buNone/>
            </a:pPr>
            <a:r>
              <a:rPr lang="en-US" sz="1100" dirty="0">
                <a:solidFill>
                  <a:srgbClr val="46545F"/>
                </a:solidFill>
                <a:latin typeface="Calibri" pitchFamily="34" charset="0"/>
                <a:ea typeface="Calibri" pitchFamily="34" charset="-122"/>
                <a:cs typeface="Calibri" pitchFamily="34" charset="-120"/>
              </a:rPr>
              <a:t>System prompt &amp; instructions</a:t>
            </a:r>
            <a:endParaRPr lang="en-US" sz="1100" dirty="0"/>
          </a:p>
        </p:txBody>
      </p:sp>
      <p:sp>
        <p:nvSpPr>
          <p:cNvPr id="12" name="Shape 9"/>
          <p:cNvSpPr/>
          <p:nvPr/>
        </p:nvSpPr>
        <p:spPr>
          <a:xfrm>
            <a:off x="9189720" y="2139696"/>
            <a:ext cx="384048" cy="384048"/>
          </a:xfrm>
          <a:prstGeom prst="ellipse">
            <a:avLst/>
          </a:prstGeom>
          <a:solidFill>
            <a:srgbClr val="46545F"/>
          </a:solidFill>
          <a:ln/>
        </p:spPr>
      </p:sp>
      <p:pic>
        <p:nvPicPr>
          <p:cNvPr id="13" name="Image 1" descr="/home/user/Claude-Works/ai-training-prompt-engineering/src/assets/icons/chat_w.png">    </p:cNvPr>
          <p:cNvPicPr>
            <a:picLocks noChangeAspect="1"/>
          </p:cNvPicPr>
          <p:nvPr/>
        </p:nvPicPr>
        <p:blipFill>
          <a:blip r:embed="rId2"/>
          <a:stretch>
            <a:fillRect/>
          </a:stretch>
        </p:blipFill>
        <p:spPr>
          <a:xfrm>
            <a:off x="9289572" y="2239548"/>
            <a:ext cx="184343" cy="184343"/>
          </a:xfrm>
          <a:prstGeom prst="rect">
            <a:avLst/>
          </a:prstGeom>
        </p:spPr>
      </p:pic>
      <p:sp>
        <p:nvSpPr>
          <p:cNvPr id="14" name="Text 10"/>
          <p:cNvSpPr/>
          <p:nvPr/>
        </p:nvSpPr>
        <p:spPr>
          <a:xfrm>
            <a:off x="9683496" y="2084832"/>
            <a:ext cx="2011680" cy="694944"/>
          </a:xfrm>
          <a:prstGeom prst="rect">
            <a:avLst/>
          </a:prstGeom>
          <a:noFill/>
          <a:ln/>
        </p:spPr>
        <p:txBody>
          <a:bodyPr wrap="square" lIns="0" tIns="0" rIns="0" bIns="0" rtlCol="0" anchor="ctr"/>
          <a:lstStyle/>
          <a:p>
            <a:pPr indent="0" marL="0">
              <a:lnSpc>
                <a:spcPct val="100000"/>
              </a:lnSpc>
              <a:buNone/>
            </a:pPr>
            <a:r>
              <a:rPr lang="en-US" sz="1100" dirty="0">
                <a:solidFill>
                  <a:srgbClr val="46545F"/>
                </a:solidFill>
                <a:latin typeface="Calibri" pitchFamily="34" charset="0"/>
                <a:ea typeface="Calibri" pitchFamily="34" charset="-122"/>
                <a:cs typeface="Calibri" pitchFamily="34" charset="-120"/>
              </a:rPr>
              <a:t>Every prior turn — both sides</a:t>
            </a:r>
            <a:endParaRPr lang="en-US" sz="1100" dirty="0"/>
          </a:p>
        </p:txBody>
      </p:sp>
      <p:sp>
        <p:nvSpPr>
          <p:cNvPr id="15" name="Shape 11"/>
          <p:cNvSpPr/>
          <p:nvPr/>
        </p:nvSpPr>
        <p:spPr>
          <a:xfrm>
            <a:off x="6675120" y="2889504"/>
            <a:ext cx="384048" cy="384048"/>
          </a:xfrm>
          <a:prstGeom prst="ellipse">
            <a:avLst/>
          </a:prstGeom>
          <a:solidFill>
            <a:srgbClr val="46545F"/>
          </a:solidFill>
          <a:ln/>
        </p:spPr>
      </p:sp>
      <p:pic>
        <p:nvPicPr>
          <p:cNvPr id="16" name="Image 2" descr="/home/user/Claude-Works/ai-training-prompt-engineering/src/assets/icons/paperclip_w.png">    </p:cNvPr>
          <p:cNvPicPr>
            <a:picLocks noChangeAspect="1"/>
          </p:cNvPicPr>
          <p:nvPr/>
        </p:nvPicPr>
        <p:blipFill>
          <a:blip r:embed="rId3"/>
          <a:stretch>
            <a:fillRect/>
          </a:stretch>
        </p:blipFill>
        <p:spPr>
          <a:xfrm>
            <a:off x="6774972" y="2989356"/>
            <a:ext cx="184343" cy="184343"/>
          </a:xfrm>
          <a:prstGeom prst="rect">
            <a:avLst/>
          </a:prstGeom>
        </p:spPr>
      </p:pic>
      <p:sp>
        <p:nvSpPr>
          <p:cNvPr id="17" name="Text 12"/>
          <p:cNvSpPr/>
          <p:nvPr/>
        </p:nvSpPr>
        <p:spPr>
          <a:xfrm>
            <a:off x="7168896" y="2834640"/>
            <a:ext cx="2011680" cy="694944"/>
          </a:xfrm>
          <a:prstGeom prst="rect">
            <a:avLst/>
          </a:prstGeom>
          <a:noFill/>
          <a:ln/>
        </p:spPr>
        <p:txBody>
          <a:bodyPr wrap="square" lIns="0" tIns="0" rIns="0" bIns="0" rtlCol="0" anchor="ctr"/>
          <a:lstStyle/>
          <a:p>
            <a:pPr indent="0" marL="0">
              <a:lnSpc>
                <a:spcPct val="100000"/>
              </a:lnSpc>
              <a:buNone/>
            </a:pPr>
            <a:r>
              <a:rPr lang="en-US" sz="1100" dirty="0">
                <a:solidFill>
                  <a:srgbClr val="46545F"/>
                </a:solidFill>
                <a:latin typeface="Calibri" pitchFamily="34" charset="0"/>
                <a:ea typeface="Calibri" pitchFamily="34" charset="-122"/>
                <a:cs typeface="Calibri" pitchFamily="34" charset="-120"/>
              </a:rPr>
              <a:t>Attached documents</a:t>
            </a:r>
            <a:endParaRPr lang="en-US" sz="1100" dirty="0"/>
          </a:p>
        </p:txBody>
      </p:sp>
      <p:sp>
        <p:nvSpPr>
          <p:cNvPr id="18" name="Shape 13"/>
          <p:cNvSpPr/>
          <p:nvPr/>
        </p:nvSpPr>
        <p:spPr>
          <a:xfrm>
            <a:off x="9189720" y="2889504"/>
            <a:ext cx="384048" cy="384048"/>
          </a:xfrm>
          <a:prstGeom prst="ellipse">
            <a:avLst/>
          </a:prstGeom>
          <a:solidFill>
            <a:srgbClr val="46545F"/>
          </a:solidFill>
          <a:ln/>
        </p:spPr>
      </p:sp>
      <p:pic>
        <p:nvPicPr>
          <p:cNvPr id="19" name="Image 3" descr="/home/user/Claude-Works/ai-training-prompt-engineering/src/assets/icons/search_w.png">    </p:cNvPr>
          <p:cNvPicPr>
            <a:picLocks noChangeAspect="1"/>
          </p:cNvPicPr>
          <p:nvPr/>
        </p:nvPicPr>
        <p:blipFill>
          <a:blip r:embed="rId4"/>
          <a:stretch>
            <a:fillRect/>
          </a:stretch>
        </p:blipFill>
        <p:spPr>
          <a:xfrm>
            <a:off x="9289572" y="2989356"/>
            <a:ext cx="184343" cy="184343"/>
          </a:xfrm>
          <a:prstGeom prst="rect">
            <a:avLst/>
          </a:prstGeom>
        </p:spPr>
      </p:pic>
      <p:sp>
        <p:nvSpPr>
          <p:cNvPr id="20" name="Text 14"/>
          <p:cNvSpPr/>
          <p:nvPr/>
        </p:nvSpPr>
        <p:spPr>
          <a:xfrm>
            <a:off x="9683496" y="2834640"/>
            <a:ext cx="2011680" cy="694944"/>
          </a:xfrm>
          <a:prstGeom prst="rect">
            <a:avLst/>
          </a:prstGeom>
          <a:noFill/>
          <a:ln/>
        </p:spPr>
        <p:txBody>
          <a:bodyPr wrap="square" lIns="0" tIns="0" rIns="0" bIns="0" rtlCol="0" anchor="ctr"/>
          <a:lstStyle/>
          <a:p>
            <a:pPr indent="0" marL="0">
              <a:lnSpc>
                <a:spcPct val="100000"/>
              </a:lnSpc>
              <a:buNone/>
            </a:pPr>
            <a:r>
              <a:rPr lang="en-US" sz="1100" dirty="0">
                <a:solidFill>
                  <a:srgbClr val="46545F"/>
                </a:solidFill>
                <a:latin typeface="Calibri" pitchFamily="34" charset="0"/>
                <a:ea typeface="Calibri" pitchFamily="34" charset="-122"/>
                <a:cs typeface="Calibri" pitchFamily="34" charset="-120"/>
              </a:rPr>
              <a:t>Tool &amp; search results</a:t>
            </a:r>
            <a:endParaRPr lang="en-US" sz="1100" dirty="0"/>
          </a:p>
        </p:txBody>
      </p:sp>
      <p:sp>
        <p:nvSpPr>
          <p:cNvPr id="21" name="Shape 15"/>
          <p:cNvSpPr/>
          <p:nvPr/>
        </p:nvSpPr>
        <p:spPr>
          <a:xfrm>
            <a:off x="6400800" y="3803904"/>
            <a:ext cx="5257800" cy="1170432"/>
          </a:xfrm>
          <a:prstGeom prst="roundRect">
            <a:avLst>
              <a:gd name="adj" fmla="val 6250"/>
            </a:avLst>
          </a:prstGeom>
          <a:solidFill>
            <a:srgbClr val="E4F0EF"/>
          </a:solidFill>
          <a:ln/>
        </p:spPr>
      </p:sp>
      <p:sp>
        <p:nvSpPr>
          <p:cNvPr id="22" name="Shape 16"/>
          <p:cNvSpPr/>
          <p:nvPr/>
        </p:nvSpPr>
        <p:spPr>
          <a:xfrm>
            <a:off x="6565392" y="4197096"/>
            <a:ext cx="384048" cy="384048"/>
          </a:xfrm>
          <a:prstGeom prst="ellipse">
            <a:avLst/>
          </a:prstGeom>
          <a:solidFill>
            <a:srgbClr val="0E7C7B"/>
          </a:solidFill>
          <a:ln/>
        </p:spPr>
      </p:sp>
      <p:pic>
        <p:nvPicPr>
          <p:cNvPr id="23" name="Image 4" descr="/home/user/Claude-Works/ai-training-prompt-engineering/src/assets/icons/check_w.png">    </p:cNvPr>
          <p:cNvPicPr>
            <a:picLocks noChangeAspect="1"/>
          </p:cNvPicPr>
          <p:nvPr/>
        </p:nvPicPr>
        <p:blipFill>
          <a:blip r:embed="rId5"/>
          <a:stretch>
            <a:fillRect/>
          </a:stretch>
        </p:blipFill>
        <p:spPr>
          <a:xfrm>
            <a:off x="6665244" y="4296948"/>
            <a:ext cx="184343" cy="184343"/>
          </a:xfrm>
          <a:prstGeom prst="rect">
            <a:avLst/>
          </a:prstGeom>
        </p:spPr>
      </p:pic>
      <p:sp>
        <p:nvSpPr>
          <p:cNvPr id="24" name="Text 17"/>
          <p:cNvSpPr/>
          <p:nvPr/>
        </p:nvSpPr>
        <p:spPr>
          <a:xfrm>
            <a:off x="7114032" y="3877056"/>
            <a:ext cx="4315968" cy="1024128"/>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Habits that exploit the desk: </a:t>
            </a:r>
            <a:endParaRPr lang="en-US" sz="1050" dirty="0"/>
          </a:p>
          <a:p>
            <a:pPr indent="0" marL="0">
              <a:lnSpc>
                <a:spcPct val="106000"/>
              </a:lnSpc>
              <a:buNone/>
            </a:pPr>
            <a:r>
              <a:rPr lang="en-US" sz="1020" dirty="0">
                <a:solidFill>
                  <a:srgbClr val="46545F"/>
                </a:solidFill>
                <a:latin typeface="Calibri" pitchFamily="34" charset="0"/>
                <a:ea typeface="Calibri" pitchFamily="34" charset="-122"/>
                <a:cs typeface="Calibri" pitchFamily="34" charset="-120"/>
              </a:rPr>
              <a:t>① long documents at the TOP, question at the END (up to ~30% better answers) · ② label multiple documents · ③ new topic → new chat · ④ long thread → run the handoff move below.</a:t>
            </a:r>
            <a:endParaRPr lang="en-US" sz="1050" dirty="0"/>
          </a:p>
        </p:txBody>
      </p:sp>
      <p:sp>
        <p:nvSpPr>
          <p:cNvPr id="25" name="Shape 18"/>
          <p:cNvSpPr/>
          <p:nvPr/>
        </p:nvSpPr>
        <p:spPr>
          <a:xfrm>
            <a:off x="502920" y="4114800"/>
            <a:ext cx="5669280" cy="859536"/>
          </a:xfrm>
          <a:prstGeom prst="roundRect">
            <a:avLst>
              <a:gd name="adj" fmla="val 8511"/>
            </a:avLst>
          </a:prstGeom>
          <a:solidFill>
            <a:srgbClr val="FBF0E0"/>
          </a:solidFill>
          <a:ln/>
        </p:spPr>
      </p:sp>
      <p:sp>
        <p:nvSpPr>
          <p:cNvPr id="26" name="Text 19"/>
          <p:cNvSpPr/>
          <p:nvPr/>
        </p:nvSpPr>
        <p:spPr>
          <a:xfrm>
            <a:off x="777240" y="4206240"/>
            <a:ext cx="5212080" cy="694944"/>
          </a:xfrm>
          <a:prstGeom prst="rect">
            <a:avLst/>
          </a:prstGeom>
          <a:noFill/>
          <a:ln/>
        </p:spPr>
        <p:txBody>
          <a:bodyPr wrap="square" lIns="0" tIns="0" rIns="0" bIns="0" rtlCol="0" anchor="ctr"/>
          <a:lstStyle/>
          <a:p>
            <a:pPr indent="0" marL="0">
              <a:lnSpc>
                <a:spcPct val="105000"/>
              </a:lnSpc>
              <a:buNone/>
            </a:pPr>
            <a:r>
              <a:rPr lang="en-US" sz="1100" b="1" dirty="0">
                <a:solidFill>
                  <a:srgbClr val="232A31"/>
                </a:solidFill>
                <a:latin typeface="Calibri" pitchFamily="34" charset="0"/>
                <a:ea typeface="Calibri" pitchFamily="34" charset="-122"/>
                <a:cs typeface="Calibri" pitchFamily="34" charset="-120"/>
              </a:rPr>
              <a:t>A desk with a filing cabinet? </a:t>
            </a:r>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Persistent files, notes and standing instructions are exactly what agentic tools bolt onto the desk — Part 5.</a:t>
            </a:r>
            <a:endParaRPr lang="en-US" sz="1100" dirty="0"/>
          </a:p>
        </p:txBody>
      </p:sp>
      <p:sp>
        <p:nvSpPr>
          <p:cNvPr id="27" name="Shape 20"/>
          <p:cNvSpPr/>
          <p:nvPr/>
        </p:nvSpPr>
        <p:spPr>
          <a:xfrm>
            <a:off x="502920" y="5084064"/>
            <a:ext cx="11155680" cy="1389888"/>
          </a:xfrm>
          <a:prstGeom prst="roundRect">
            <a:avLst>
              <a:gd name="adj" fmla="val 5263"/>
            </a:avLst>
          </a:prstGeom>
          <a:solidFill>
            <a:srgbClr val="E4F0EF"/>
          </a:solidFill>
          <a:ln/>
        </p:spPr>
      </p:sp>
      <p:sp>
        <p:nvSpPr>
          <p:cNvPr id="28" name="Shape 21"/>
          <p:cNvSpPr/>
          <p:nvPr/>
        </p:nvSpPr>
        <p:spPr>
          <a:xfrm>
            <a:off x="649224" y="5202936"/>
            <a:ext cx="365760" cy="365760"/>
          </a:xfrm>
          <a:prstGeom prst="ellipse">
            <a:avLst/>
          </a:prstGeom>
          <a:solidFill>
            <a:srgbClr val="0E7C7B"/>
          </a:solidFill>
          <a:ln/>
        </p:spPr>
      </p:sp>
      <p:pic>
        <p:nvPicPr>
          <p:cNvPr id="29" name="Image 5" descr="/home/user/Claude-Works/ai-training-prompt-engineering/src/assets/icons/robot_w.png">    </p:cNvPr>
          <p:cNvPicPr>
            <a:picLocks noChangeAspect="1"/>
          </p:cNvPicPr>
          <p:nvPr/>
        </p:nvPicPr>
        <p:blipFill>
          <a:blip r:embed="rId6"/>
          <a:stretch>
            <a:fillRect/>
          </a:stretch>
        </p:blipFill>
        <p:spPr>
          <a:xfrm>
            <a:off x="744322" y="5298034"/>
            <a:ext cx="175565" cy="175565"/>
          </a:xfrm>
          <a:prstGeom prst="rect">
            <a:avLst/>
          </a:prstGeom>
        </p:spPr>
      </p:pic>
      <p:sp>
        <p:nvSpPr>
          <p:cNvPr id="30" name="Shape 22"/>
          <p:cNvSpPr/>
          <p:nvPr/>
        </p:nvSpPr>
        <p:spPr>
          <a:xfrm>
            <a:off x="1106424" y="5230368"/>
            <a:ext cx="1188720" cy="310896"/>
          </a:xfrm>
          <a:prstGeom prst="roundRect">
            <a:avLst>
              <a:gd name="adj" fmla="val 23529"/>
            </a:avLst>
          </a:prstGeom>
          <a:solidFill>
            <a:srgbClr val="0E7C7B"/>
          </a:solidFill>
          <a:ln/>
        </p:spPr>
      </p:sp>
      <p:sp>
        <p:nvSpPr>
          <p:cNvPr id="31" name="Text 23"/>
          <p:cNvSpPr/>
          <p:nvPr/>
        </p:nvSpPr>
        <p:spPr>
          <a:xfrm>
            <a:off x="1106424" y="5239512"/>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PROMPT 4/7</a:t>
            </a:r>
            <a:endParaRPr lang="en-US" sz="950" dirty="0"/>
          </a:p>
        </p:txBody>
      </p:sp>
      <p:sp>
        <p:nvSpPr>
          <p:cNvPr id="32" name="Text 24"/>
          <p:cNvSpPr/>
          <p:nvPr/>
        </p:nvSpPr>
        <p:spPr>
          <a:xfrm>
            <a:off x="2404872" y="5239512"/>
            <a:ext cx="9006840" cy="292608"/>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The desk — explained, then carried</a:t>
            </a:r>
            <a:endParaRPr lang="en-US" sz="1050" dirty="0"/>
          </a:p>
        </p:txBody>
      </p:sp>
      <p:sp>
        <p:nvSpPr>
          <p:cNvPr id="33" name="Text 25"/>
          <p:cNvSpPr/>
          <p:nvPr/>
        </p:nvSpPr>
        <p:spPr>
          <a:xfrm>
            <a:off x="685800" y="5596128"/>
            <a:ext cx="10789920" cy="512064"/>
          </a:xfrm>
          <a:prstGeom prst="rect">
            <a:avLst/>
          </a:prstGeom>
          <a:noFill/>
          <a:ln/>
        </p:spPr>
        <p:txBody>
          <a:bodyPr wrap="square" lIns="0" tIns="0" rIns="0" bIns="0" rtlCol="0" anchor="t"/>
          <a:lstStyle/>
          <a:p>
            <a:pPr indent="0" marL="0">
              <a:lnSpc>
                <a:spcPct val="108000"/>
              </a:lnSpc>
              <a:buNone/>
            </a:pPr>
            <a:r>
              <a:rPr lang="en-US" sz="840" b="1" dirty="0">
                <a:solidFill>
                  <a:srgbClr val="B96A1B"/>
                </a:solidFill>
                <a:latin typeface="Calibri" pitchFamily="34" charset="0"/>
                <a:ea typeface="Calibri" pitchFamily="34" charset="-122"/>
                <a:cs typeface="Calibri" pitchFamily="34" charset="-120"/>
              </a:rPr>
              <a:t>STEP 1 · </a:t>
            </a:r>
            <a:pPr indent="0" marL="0">
              <a:lnSpc>
                <a:spcPct val="108000"/>
              </a:lnSpc>
              <a:buNone/>
            </a:pPr>
            <a:r>
              <a:rPr lang="en-US" sz="84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840" dirty="0">
                <a:solidFill>
                  <a:srgbClr val="232A31"/>
                </a:solidFill>
                <a:latin typeface="Consolas" pitchFamily="34" charset="0"/>
                <a:ea typeface="Consolas" pitchFamily="34" charset="-122"/>
                <a:cs typeface="Consolas" pitchFamily="34" charset="-120"/>
              </a:rPr>
              <a:t>“Explain your context window like I’m a 5th grader: the desk, what fits on it, and what happens when I close this chat. Under 100 words.”</a:t>
            </a:r>
            <a:endParaRPr lang="en-US" sz="840" dirty="0"/>
          </a:p>
          <a:p>
            <a:pPr indent="0" marL="0">
              <a:lnSpc>
                <a:spcPct val="108000"/>
              </a:lnSpc>
              <a:buNone/>
            </a:pPr>
            <a:r>
              <a:rPr lang="en-US" sz="790" b="1" dirty="0">
                <a:solidFill>
                  <a:srgbClr val="46545F"/>
                </a:solidFill>
                <a:latin typeface="Calibri" pitchFamily="34" charset="0"/>
                <a:ea typeface="Calibri" pitchFamily="34" charset="-122"/>
                <a:cs typeface="Calibri" pitchFamily="34" charset="-120"/>
              </a:rPr>
              <a:t>WHY → </a:t>
            </a:r>
            <a:pPr indent="0" marL="0">
              <a:lnSpc>
                <a:spcPct val="108000"/>
              </a:lnSpc>
              <a:spcAft>
                <a:spcPts val="600"/>
              </a:spcAft>
              <a:buNone/>
            </a:pPr>
            <a:r>
              <a:rPr lang="en-US" sz="790" i="1" dirty="0">
                <a:solidFill>
                  <a:srgbClr val="46545F"/>
                </a:solidFill>
                <a:latin typeface="Calibri" pitchFamily="34" charset="0"/>
                <a:ea typeface="Calibri" pitchFamily="34" charset="-122"/>
                <a:cs typeface="Calibri" pitchFamily="34" charset="-120"/>
              </a:rPr>
              <a:t>the AI describes its own working memory, plainly.</a:t>
            </a:r>
            <a:endParaRPr lang="en-US" sz="840" dirty="0"/>
          </a:p>
          <a:p>
            <a:pPr indent="0" marL="0">
              <a:lnSpc>
                <a:spcPct val="108000"/>
              </a:lnSpc>
              <a:buNone/>
            </a:pPr>
            <a:r>
              <a:rPr lang="en-US" sz="840" b="1" dirty="0">
                <a:solidFill>
                  <a:srgbClr val="B96A1B"/>
                </a:solidFill>
                <a:latin typeface="Calibri" pitchFamily="34" charset="0"/>
                <a:ea typeface="Calibri" pitchFamily="34" charset="-122"/>
                <a:cs typeface="Calibri" pitchFamily="34" charset="-120"/>
              </a:rPr>
              <a:t>STEP 2 · </a:t>
            </a:r>
            <a:pPr indent="0" marL="0">
              <a:lnSpc>
                <a:spcPct val="108000"/>
              </a:lnSpc>
              <a:buNone/>
            </a:pPr>
            <a:r>
              <a:rPr lang="en-US" sz="84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840" dirty="0">
                <a:solidFill>
                  <a:srgbClr val="232A31"/>
                </a:solidFill>
                <a:latin typeface="Consolas" pitchFamily="34" charset="0"/>
                <a:ea typeface="Consolas" pitchFamily="34" charset="-122"/>
                <a:cs typeface="Consolas" pitchFamily="34" charset="-120"/>
              </a:rPr>
              <a:t>(homework) “Summarize our chat so far in under 80 words, titled HANDOFF.”</a:t>
            </a:r>
            <a:endParaRPr lang="en-US" sz="840" dirty="0"/>
          </a:p>
          <a:p>
            <a:pPr indent="0" marL="0">
              <a:lnSpc>
                <a:spcPct val="108000"/>
              </a:lnSpc>
              <a:buNone/>
            </a:pPr>
            <a:r>
              <a:rPr lang="en-US" sz="79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790" i="1" dirty="0">
                <a:solidFill>
                  <a:srgbClr val="46545F"/>
                </a:solidFill>
                <a:latin typeface="Calibri" pitchFamily="34" charset="0"/>
                <a:ea typeface="Calibri" pitchFamily="34" charset="-122"/>
                <a:cs typeface="Calibri" pitchFamily="34" charset="-120"/>
              </a:rPr>
              <a:t>tonight, paste it into a fresh chat, ask “where was I?” — and watch it pick up your course.</a:t>
            </a:r>
            <a:endParaRPr lang="en-US" sz="840" dirty="0"/>
          </a:p>
        </p:txBody>
      </p:sp>
      <p:sp>
        <p:nvSpPr>
          <p:cNvPr id="34" name="Text 26"/>
          <p:cNvSpPr/>
          <p:nvPr/>
        </p:nvSpPr>
        <p:spPr>
          <a:xfrm>
            <a:off x="685800" y="6181344"/>
            <a:ext cx="10789920" cy="237744"/>
          </a:xfrm>
          <a:prstGeom prst="rect">
            <a:avLst/>
          </a:prstGeom>
          <a:noFill/>
          <a:ln/>
        </p:spPr>
        <p:txBody>
          <a:bodyPr wrap="square" lIns="0" tIns="0" rIns="0" bIns="0" rtlCol="0" anchor="ctr"/>
          <a:lstStyle/>
          <a:p>
            <a:pPr indent="0" marL="0">
              <a:buNone/>
            </a:pPr>
            <a:r>
              <a:rPr lang="en-US" sz="800" i="1" dirty="0">
                <a:solidFill>
                  <a:srgbClr val="0A5B5A"/>
                </a:solidFill>
                <a:latin typeface="Calibri" pitchFamily="34" charset="0"/>
                <a:ea typeface="Calibri" pitchFamily="34" charset="-122"/>
                <a:cs typeface="Calibri" pitchFamily="34" charset="-120"/>
              </a:rPr>
              <a:t>✂ copy-paste, don’t retype: tab EX4-Handoff of your Course Workbook</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3 · RAG</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An open-book exam — audit the librarian</a:t>
            </a:r>
            <a:endParaRPr lang="en-US" sz="3000" dirty="0"/>
          </a:p>
        </p:txBody>
      </p:sp>
      <p:sp>
        <p:nvSpPr>
          <p:cNvPr id="6" name="Text 4"/>
          <p:cNvSpPr/>
          <p:nvPr/>
        </p:nvSpPr>
        <p:spPr>
          <a:xfrm>
            <a:off x="502920" y="1298448"/>
            <a:ext cx="11155680" cy="384048"/>
          </a:xfrm>
          <a:prstGeom prst="rect">
            <a:avLst/>
          </a:prstGeom>
          <a:noFill/>
          <a:ln/>
        </p:spPr>
        <p:txBody>
          <a:bodyPr wrap="square" lIns="0" tIns="0" rIns="0" bIns="0" rtlCol="0" anchor="ctr"/>
          <a:lstStyle/>
          <a:p>
            <a:pPr indent="0" marL="0">
              <a:buNone/>
            </a:pPr>
            <a:r>
              <a:rPr lang="en-US" sz="1300" dirty="0">
                <a:solidFill>
                  <a:srgbClr val="46545F"/>
                </a:solidFill>
                <a:latin typeface="Calibri" pitchFamily="34" charset="0"/>
                <a:ea typeface="Calibri" pitchFamily="34" charset="-122"/>
                <a:cs typeface="Calibri" pitchFamily="34" charset="-120"/>
              </a:rPr>
              <a:t>The problem RAG solves: the model’s knowledge is frozen and public; your work runs on private documents it has never seen — and must never be trained on.</a:t>
            </a:r>
            <a:endParaRPr lang="en-US" sz="1300" dirty="0"/>
          </a:p>
        </p:txBody>
      </p:sp>
      <p:sp>
        <p:nvSpPr>
          <p:cNvPr id="7" name="Shape 5"/>
          <p:cNvSpPr/>
          <p:nvPr/>
        </p:nvSpPr>
        <p:spPr>
          <a:xfrm>
            <a:off x="502920" y="1810512"/>
            <a:ext cx="2606040" cy="2103120"/>
          </a:xfrm>
          <a:prstGeom prst="roundRect">
            <a:avLst>
              <a:gd name="adj" fmla="val 3478"/>
            </a:avLst>
          </a:prstGeom>
          <a:solidFill>
            <a:srgbClr val="F2F5F6"/>
          </a:solidFill>
          <a:ln/>
        </p:spPr>
      </p:sp>
      <p:sp>
        <p:nvSpPr>
          <p:cNvPr id="8" name="Shape 6"/>
          <p:cNvSpPr/>
          <p:nvPr/>
        </p:nvSpPr>
        <p:spPr>
          <a:xfrm>
            <a:off x="722376" y="1993392"/>
            <a:ext cx="438912" cy="438912"/>
          </a:xfrm>
          <a:prstGeom prst="ellipse">
            <a:avLst/>
          </a:prstGeom>
          <a:solidFill>
            <a:srgbClr val="0E7C7B"/>
          </a:solidFill>
          <a:ln/>
        </p:spPr>
      </p:sp>
      <p:pic>
        <p:nvPicPr>
          <p:cNvPr id="9" name="Image 0" descr="/home/user/Claude-Works/ai-training-prompt-engineering/src/assets/icons/chat_w.png">    </p:cNvPr>
          <p:cNvPicPr>
            <a:picLocks noChangeAspect="1"/>
          </p:cNvPicPr>
          <p:nvPr/>
        </p:nvPicPr>
        <p:blipFill>
          <a:blip r:embed="rId1"/>
          <a:stretch>
            <a:fillRect/>
          </a:stretch>
        </p:blipFill>
        <p:spPr>
          <a:xfrm>
            <a:off x="836493" y="2107509"/>
            <a:ext cx="210678" cy="210678"/>
          </a:xfrm>
          <a:prstGeom prst="rect">
            <a:avLst/>
          </a:prstGeom>
        </p:spPr>
      </p:pic>
      <p:sp>
        <p:nvSpPr>
          <p:cNvPr id="10" name="Text 7"/>
          <p:cNvSpPr/>
          <p:nvPr/>
        </p:nvSpPr>
        <p:spPr>
          <a:xfrm>
            <a:off x="722376" y="2523744"/>
            <a:ext cx="21945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1 · Ask</a:t>
            </a:r>
            <a:endParaRPr lang="en-US" sz="1350" dirty="0"/>
          </a:p>
        </p:txBody>
      </p:sp>
      <p:sp>
        <p:nvSpPr>
          <p:cNvPr id="11" name="Text 8"/>
          <p:cNvSpPr/>
          <p:nvPr/>
        </p:nvSpPr>
        <p:spPr>
          <a:xfrm>
            <a:off x="722376" y="2852928"/>
            <a:ext cx="2212848" cy="1005840"/>
          </a:xfrm>
          <a:prstGeom prst="rect">
            <a:avLst/>
          </a:prstGeom>
          <a:noFill/>
          <a:ln/>
        </p:spPr>
        <p:txBody>
          <a:bodyPr wrap="square" lIns="0" tIns="0" rIns="0" bIns="0" rtlCol="0" anchor="ctr"/>
          <a:lstStyle/>
          <a:p>
            <a:pPr indent="0" marL="0">
              <a:lnSpc>
                <a:spcPct val="104000"/>
              </a:lnSpc>
              <a:buNone/>
            </a:pPr>
            <a:r>
              <a:rPr lang="en-US" sz="1040" dirty="0">
                <a:solidFill>
                  <a:srgbClr val="46545F"/>
                </a:solidFill>
                <a:latin typeface="Calibri" pitchFamily="34" charset="0"/>
                <a:ea typeface="Calibri" pitchFamily="34" charset="-122"/>
                <a:cs typeface="Calibri" pitchFamily="34" charset="-120"/>
              </a:rPr>
              <a:t>Plain question: “What does the supplier agreement say about re-inspection?”</a:t>
            </a:r>
            <a:endParaRPr lang="en-US" sz="1040" dirty="0"/>
          </a:p>
        </p:txBody>
      </p:sp>
      <p:sp>
        <p:nvSpPr>
          <p:cNvPr id="12" name="Shape 9"/>
          <p:cNvSpPr/>
          <p:nvPr/>
        </p:nvSpPr>
        <p:spPr>
          <a:xfrm>
            <a:off x="3127248" y="2743200"/>
            <a:ext cx="274320" cy="0"/>
          </a:xfrm>
          <a:prstGeom prst="line">
            <a:avLst/>
          </a:prstGeom>
          <a:noFill/>
          <a:ln w="28575">
            <a:solidFill>
              <a:srgbClr val="0E7C7B"/>
            </a:solidFill>
            <a:prstDash val="solid"/>
            <a:tailEnd type="triangle"/>
          </a:ln>
        </p:spPr>
      </p:sp>
      <p:sp>
        <p:nvSpPr>
          <p:cNvPr id="13" name="Shape 10"/>
          <p:cNvSpPr/>
          <p:nvPr/>
        </p:nvSpPr>
        <p:spPr>
          <a:xfrm>
            <a:off x="3419856" y="1810512"/>
            <a:ext cx="2606040" cy="2103120"/>
          </a:xfrm>
          <a:prstGeom prst="roundRect">
            <a:avLst>
              <a:gd name="adj" fmla="val 3478"/>
            </a:avLst>
          </a:prstGeom>
          <a:solidFill>
            <a:srgbClr val="F2F5F6"/>
          </a:solidFill>
          <a:ln/>
        </p:spPr>
      </p:sp>
      <p:sp>
        <p:nvSpPr>
          <p:cNvPr id="14" name="Shape 11"/>
          <p:cNvSpPr/>
          <p:nvPr/>
        </p:nvSpPr>
        <p:spPr>
          <a:xfrm>
            <a:off x="3639312" y="1993392"/>
            <a:ext cx="438912" cy="438912"/>
          </a:xfrm>
          <a:prstGeom prst="ellipse">
            <a:avLst/>
          </a:prstGeom>
          <a:solidFill>
            <a:srgbClr val="0E7C7B"/>
          </a:solidFill>
          <a:ln/>
        </p:spPr>
      </p:sp>
      <p:pic>
        <p:nvPicPr>
          <p:cNvPr id="15" name="Image 1" descr="/home/user/Claude-Works/ai-training-prompt-engineering/src/assets/icons/search_w.png">    </p:cNvPr>
          <p:cNvPicPr>
            <a:picLocks noChangeAspect="1"/>
          </p:cNvPicPr>
          <p:nvPr/>
        </p:nvPicPr>
        <p:blipFill>
          <a:blip r:embed="rId2"/>
          <a:stretch>
            <a:fillRect/>
          </a:stretch>
        </p:blipFill>
        <p:spPr>
          <a:xfrm>
            <a:off x="3753429" y="2107509"/>
            <a:ext cx="210678" cy="210678"/>
          </a:xfrm>
          <a:prstGeom prst="rect">
            <a:avLst/>
          </a:prstGeom>
        </p:spPr>
      </p:pic>
      <p:sp>
        <p:nvSpPr>
          <p:cNvPr id="16" name="Text 12"/>
          <p:cNvSpPr/>
          <p:nvPr/>
        </p:nvSpPr>
        <p:spPr>
          <a:xfrm>
            <a:off x="3639312" y="2523744"/>
            <a:ext cx="21945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2 · Retrieve</a:t>
            </a:r>
            <a:endParaRPr lang="en-US" sz="1350" dirty="0"/>
          </a:p>
        </p:txBody>
      </p:sp>
      <p:sp>
        <p:nvSpPr>
          <p:cNvPr id="17" name="Text 13"/>
          <p:cNvSpPr/>
          <p:nvPr/>
        </p:nvSpPr>
        <p:spPr>
          <a:xfrm>
            <a:off x="3639312" y="2852928"/>
            <a:ext cx="2212848" cy="1005840"/>
          </a:xfrm>
          <a:prstGeom prst="rect">
            <a:avLst/>
          </a:prstGeom>
          <a:noFill/>
          <a:ln/>
        </p:spPr>
        <p:txBody>
          <a:bodyPr wrap="square" lIns="0" tIns="0" rIns="0" bIns="0" rtlCol="0" anchor="ctr"/>
          <a:lstStyle/>
          <a:p>
            <a:pPr indent="0" marL="0">
              <a:lnSpc>
                <a:spcPct val="104000"/>
              </a:lnSpc>
              <a:buNone/>
            </a:pPr>
            <a:r>
              <a:rPr lang="en-US" sz="1040" dirty="0">
                <a:solidFill>
                  <a:srgbClr val="46545F"/>
                </a:solidFill>
                <a:latin typeface="Calibri" pitchFamily="34" charset="0"/>
                <a:ea typeface="Calibri" pitchFamily="34" charset="-122"/>
                <a:cs typeface="Calibri" pitchFamily="34" charset="-120"/>
              </a:rPr>
              <a:t>Semantic search finds the most relevant passages — by meaning, not keywords.</a:t>
            </a:r>
            <a:endParaRPr lang="en-US" sz="1040" dirty="0"/>
          </a:p>
        </p:txBody>
      </p:sp>
      <p:sp>
        <p:nvSpPr>
          <p:cNvPr id="18" name="Shape 14"/>
          <p:cNvSpPr/>
          <p:nvPr/>
        </p:nvSpPr>
        <p:spPr>
          <a:xfrm>
            <a:off x="6044184" y="2743200"/>
            <a:ext cx="274320" cy="0"/>
          </a:xfrm>
          <a:prstGeom prst="line">
            <a:avLst/>
          </a:prstGeom>
          <a:noFill/>
          <a:ln w="28575">
            <a:solidFill>
              <a:srgbClr val="0E7C7B"/>
            </a:solidFill>
            <a:prstDash val="solid"/>
            <a:tailEnd type="triangle"/>
          </a:ln>
        </p:spPr>
      </p:sp>
      <p:sp>
        <p:nvSpPr>
          <p:cNvPr id="19" name="Shape 15"/>
          <p:cNvSpPr/>
          <p:nvPr/>
        </p:nvSpPr>
        <p:spPr>
          <a:xfrm>
            <a:off x="6336792" y="1810512"/>
            <a:ext cx="2606040" cy="2103120"/>
          </a:xfrm>
          <a:prstGeom prst="roundRect">
            <a:avLst>
              <a:gd name="adj" fmla="val 3478"/>
            </a:avLst>
          </a:prstGeom>
          <a:solidFill>
            <a:srgbClr val="F2F5F6"/>
          </a:solidFill>
          <a:ln/>
        </p:spPr>
      </p:sp>
      <p:sp>
        <p:nvSpPr>
          <p:cNvPr id="20" name="Shape 16"/>
          <p:cNvSpPr/>
          <p:nvPr/>
        </p:nvSpPr>
        <p:spPr>
          <a:xfrm>
            <a:off x="6556248" y="1993392"/>
            <a:ext cx="438912" cy="438912"/>
          </a:xfrm>
          <a:prstGeom prst="ellipse">
            <a:avLst/>
          </a:prstGeom>
          <a:solidFill>
            <a:srgbClr val="0E7C7B"/>
          </a:solidFill>
          <a:ln/>
        </p:spPr>
      </p:sp>
      <p:pic>
        <p:nvPicPr>
          <p:cNvPr id="21" name="Image 2" descr="/home/user/Claude-Works/ai-training-prompt-engineering/src/assets/icons/layers_w.png">    </p:cNvPr>
          <p:cNvPicPr>
            <a:picLocks noChangeAspect="1"/>
          </p:cNvPicPr>
          <p:nvPr/>
        </p:nvPicPr>
        <p:blipFill>
          <a:blip r:embed="rId3"/>
          <a:stretch>
            <a:fillRect/>
          </a:stretch>
        </p:blipFill>
        <p:spPr>
          <a:xfrm>
            <a:off x="6670365" y="2107509"/>
            <a:ext cx="210678" cy="210678"/>
          </a:xfrm>
          <a:prstGeom prst="rect">
            <a:avLst/>
          </a:prstGeom>
        </p:spPr>
      </p:pic>
      <p:sp>
        <p:nvSpPr>
          <p:cNvPr id="22" name="Text 17"/>
          <p:cNvSpPr/>
          <p:nvPr/>
        </p:nvSpPr>
        <p:spPr>
          <a:xfrm>
            <a:off x="6556248" y="2523744"/>
            <a:ext cx="21945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3 · Augment</a:t>
            </a:r>
            <a:endParaRPr lang="en-US" sz="1350" dirty="0"/>
          </a:p>
        </p:txBody>
      </p:sp>
      <p:sp>
        <p:nvSpPr>
          <p:cNvPr id="23" name="Text 18"/>
          <p:cNvSpPr/>
          <p:nvPr/>
        </p:nvSpPr>
        <p:spPr>
          <a:xfrm>
            <a:off x="6556248" y="2852928"/>
            <a:ext cx="2212848" cy="1005840"/>
          </a:xfrm>
          <a:prstGeom prst="rect">
            <a:avLst/>
          </a:prstGeom>
          <a:noFill/>
          <a:ln/>
        </p:spPr>
        <p:txBody>
          <a:bodyPr wrap="square" lIns="0" tIns="0" rIns="0" bIns="0" rtlCol="0" anchor="ctr"/>
          <a:lstStyle/>
          <a:p>
            <a:pPr indent="0" marL="0">
              <a:lnSpc>
                <a:spcPct val="104000"/>
              </a:lnSpc>
              <a:buNone/>
            </a:pPr>
            <a:r>
              <a:rPr lang="en-US" sz="1040" dirty="0">
                <a:solidFill>
                  <a:srgbClr val="46545F"/>
                </a:solidFill>
                <a:latin typeface="Calibri" pitchFamily="34" charset="0"/>
                <a:ea typeface="Calibri" pitchFamily="34" charset="-122"/>
                <a:cs typeface="Calibri" pitchFamily="34" charset="-120"/>
              </a:rPr>
              <a:t>Those passages are placed on the model’s desk, behind the scenes.</a:t>
            </a:r>
            <a:endParaRPr lang="en-US" sz="1040" dirty="0"/>
          </a:p>
        </p:txBody>
      </p:sp>
      <p:sp>
        <p:nvSpPr>
          <p:cNvPr id="24" name="Shape 19"/>
          <p:cNvSpPr/>
          <p:nvPr/>
        </p:nvSpPr>
        <p:spPr>
          <a:xfrm>
            <a:off x="8961120" y="2743200"/>
            <a:ext cx="274320" cy="0"/>
          </a:xfrm>
          <a:prstGeom prst="line">
            <a:avLst/>
          </a:prstGeom>
          <a:noFill/>
          <a:ln w="28575">
            <a:solidFill>
              <a:srgbClr val="0E7C7B"/>
            </a:solidFill>
            <a:prstDash val="solid"/>
            <a:tailEnd type="triangle"/>
          </a:ln>
        </p:spPr>
      </p:sp>
      <p:sp>
        <p:nvSpPr>
          <p:cNvPr id="25" name="Shape 20"/>
          <p:cNvSpPr/>
          <p:nvPr/>
        </p:nvSpPr>
        <p:spPr>
          <a:xfrm>
            <a:off x="9253728" y="1810512"/>
            <a:ext cx="2606040" cy="2103120"/>
          </a:xfrm>
          <a:prstGeom prst="roundRect">
            <a:avLst>
              <a:gd name="adj" fmla="val 3478"/>
            </a:avLst>
          </a:prstGeom>
          <a:solidFill>
            <a:srgbClr val="F2F5F6"/>
          </a:solidFill>
          <a:ln/>
        </p:spPr>
      </p:sp>
      <p:sp>
        <p:nvSpPr>
          <p:cNvPr id="26" name="Shape 21"/>
          <p:cNvSpPr/>
          <p:nvPr/>
        </p:nvSpPr>
        <p:spPr>
          <a:xfrm>
            <a:off x="9473184" y="1993392"/>
            <a:ext cx="438912" cy="438912"/>
          </a:xfrm>
          <a:prstGeom prst="ellipse">
            <a:avLst/>
          </a:prstGeom>
          <a:solidFill>
            <a:srgbClr val="0E7C7B"/>
          </a:solidFill>
          <a:ln/>
        </p:spPr>
      </p:sp>
      <p:pic>
        <p:nvPicPr>
          <p:cNvPr id="27" name="Image 3" descr="/home/user/Claude-Works/ai-training-prompt-engineering/src/assets/icons/check_w.png">    </p:cNvPr>
          <p:cNvPicPr>
            <a:picLocks noChangeAspect="1"/>
          </p:cNvPicPr>
          <p:nvPr/>
        </p:nvPicPr>
        <p:blipFill>
          <a:blip r:embed="rId4"/>
          <a:stretch>
            <a:fillRect/>
          </a:stretch>
        </p:blipFill>
        <p:spPr>
          <a:xfrm>
            <a:off x="9587301" y="2107509"/>
            <a:ext cx="210678" cy="210678"/>
          </a:xfrm>
          <a:prstGeom prst="rect">
            <a:avLst/>
          </a:prstGeom>
        </p:spPr>
      </p:pic>
      <p:sp>
        <p:nvSpPr>
          <p:cNvPr id="28" name="Text 22"/>
          <p:cNvSpPr/>
          <p:nvPr/>
        </p:nvSpPr>
        <p:spPr>
          <a:xfrm>
            <a:off x="9473184" y="2523744"/>
            <a:ext cx="21945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4 · Generate</a:t>
            </a:r>
            <a:endParaRPr lang="en-US" sz="1350" dirty="0"/>
          </a:p>
        </p:txBody>
      </p:sp>
      <p:sp>
        <p:nvSpPr>
          <p:cNvPr id="29" name="Text 23"/>
          <p:cNvSpPr/>
          <p:nvPr/>
        </p:nvSpPr>
        <p:spPr>
          <a:xfrm>
            <a:off x="9473184" y="2852928"/>
            <a:ext cx="2212848" cy="1005840"/>
          </a:xfrm>
          <a:prstGeom prst="rect">
            <a:avLst/>
          </a:prstGeom>
          <a:noFill/>
          <a:ln/>
        </p:spPr>
        <p:txBody>
          <a:bodyPr wrap="square" lIns="0" tIns="0" rIns="0" bIns="0" rtlCol="0" anchor="ctr"/>
          <a:lstStyle/>
          <a:p>
            <a:pPr indent="0" marL="0">
              <a:lnSpc>
                <a:spcPct val="104000"/>
              </a:lnSpc>
              <a:buNone/>
            </a:pPr>
            <a:r>
              <a:rPr lang="en-US" sz="1040" dirty="0">
                <a:solidFill>
                  <a:srgbClr val="46545F"/>
                </a:solidFill>
                <a:latin typeface="Calibri" pitchFamily="34" charset="0"/>
                <a:ea typeface="Calibri" pitchFamily="34" charset="-122"/>
                <a:cs typeface="Calibri" pitchFamily="34" charset="-120"/>
              </a:rPr>
              <a:t>The model answers from the supplied text — and cites where it looked.</a:t>
            </a:r>
            <a:endParaRPr lang="en-US" sz="1040" dirty="0"/>
          </a:p>
        </p:txBody>
      </p:sp>
      <p:sp>
        <p:nvSpPr>
          <p:cNvPr id="30" name="Shape 24"/>
          <p:cNvSpPr/>
          <p:nvPr/>
        </p:nvSpPr>
        <p:spPr>
          <a:xfrm>
            <a:off x="502920" y="4096512"/>
            <a:ext cx="5486400" cy="1645920"/>
          </a:xfrm>
          <a:prstGeom prst="roundRect">
            <a:avLst>
              <a:gd name="adj" fmla="val 4444"/>
            </a:avLst>
          </a:prstGeom>
          <a:solidFill>
            <a:srgbClr val="E7F2EC"/>
          </a:solidFill>
          <a:ln/>
        </p:spPr>
      </p:sp>
      <p:sp>
        <p:nvSpPr>
          <p:cNvPr id="31" name="Text 25"/>
          <p:cNvSpPr/>
          <p:nvPr/>
        </p:nvSpPr>
        <p:spPr>
          <a:xfrm>
            <a:off x="777240" y="4261104"/>
            <a:ext cx="5029200" cy="1371600"/>
          </a:xfrm>
          <a:prstGeom prst="rect">
            <a:avLst/>
          </a:prstGeom>
          <a:noFill/>
          <a:ln/>
        </p:spPr>
        <p:txBody>
          <a:bodyPr wrap="square" lIns="0" tIns="0" rIns="0" bIns="0" rtlCol="0" anchor="ctr"/>
          <a:lstStyle/>
          <a:p>
            <a:pPr indent="0" marL="0">
              <a:lnSpc>
                <a:spcPct val="106000"/>
              </a:lnSpc>
              <a:spcAft>
                <a:spcPts val="300"/>
              </a:spcAft>
              <a:buNone/>
            </a:pPr>
            <a:r>
              <a:rPr lang="en-US" sz="1250" b="1" dirty="0">
                <a:solidFill>
                  <a:srgbClr val="232A31"/>
                </a:solidFill>
                <a:latin typeface="Calibri" pitchFamily="34" charset="0"/>
                <a:ea typeface="Calibri" pitchFamily="34" charset="-122"/>
                <a:cs typeface="Calibri" pitchFamily="34" charset="-120"/>
              </a:rPr>
              <a:t>Why enterprises build on it: </a:t>
            </a:r>
            <a:endParaRPr lang="en-US" sz="1250" dirty="0"/>
          </a:p>
          <a:p>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current (re-index a doc in minutes, no retraining) · checkable (citations to the exact passage) · private (retrieval feeds one answer; it teaches the model nothing) · access-aware (you only see what you’re allowed to see).</a:t>
            </a:r>
            <a:endParaRPr lang="en-US" sz="1250" dirty="0"/>
          </a:p>
        </p:txBody>
      </p:sp>
      <p:sp>
        <p:nvSpPr>
          <p:cNvPr id="32" name="Shape 26"/>
          <p:cNvSpPr/>
          <p:nvPr/>
        </p:nvSpPr>
        <p:spPr>
          <a:xfrm>
            <a:off x="6172200" y="4096512"/>
            <a:ext cx="5486400" cy="1645920"/>
          </a:xfrm>
          <a:prstGeom prst="roundRect">
            <a:avLst>
              <a:gd name="adj" fmla="val 4444"/>
            </a:avLst>
          </a:prstGeom>
          <a:solidFill>
            <a:srgbClr val="F9E9E8"/>
          </a:solidFill>
          <a:ln/>
        </p:spPr>
      </p:sp>
      <p:sp>
        <p:nvSpPr>
          <p:cNvPr id="33" name="Text 27"/>
          <p:cNvSpPr/>
          <p:nvPr/>
        </p:nvSpPr>
        <p:spPr>
          <a:xfrm>
            <a:off x="6446520" y="4261104"/>
            <a:ext cx="5029200" cy="1371600"/>
          </a:xfrm>
          <a:prstGeom prst="rect">
            <a:avLst/>
          </a:prstGeom>
          <a:noFill/>
          <a:ln/>
        </p:spPr>
        <p:txBody>
          <a:bodyPr wrap="square" lIns="0" tIns="0" rIns="0" bIns="0" rtlCol="0" anchor="ctr"/>
          <a:lstStyle/>
          <a:p>
            <a:pPr indent="0" marL="0">
              <a:lnSpc>
                <a:spcPct val="106000"/>
              </a:lnSpc>
              <a:spcAft>
                <a:spcPts val="300"/>
              </a:spcAft>
              <a:buNone/>
            </a:pPr>
            <a:r>
              <a:rPr lang="en-US" sz="1250" b="1" dirty="0">
                <a:solidFill>
                  <a:srgbClr val="AF3230"/>
                </a:solidFill>
                <a:latin typeface="Calibri" pitchFamily="34" charset="0"/>
                <a:ea typeface="Calibri" pitchFamily="34" charset="-122"/>
                <a:cs typeface="Calibri" pitchFamily="34" charset="-120"/>
              </a:rPr>
              <a:t>The failure mode to respect: </a:t>
            </a:r>
            <a:endParaRPr lang="en-US" sz="1250" dirty="0"/>
          </a:p>
          <a:p>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if retrieval fetches the wrong page — an outdated revision, a near-miss document — the model still writes a fluent, confident, CITED answer from it. Check the citation, not just the prose.</a:t>
            </a:r>
            <a:endParaRPr lang="en-US" sz="1250" dirty="0"/>
          </a:p>
        </p:txBody>
      </p:sp>
      <p:sp>
        <p:nvSpPr>
          <p:cNvPr id="34" name="Shape 28"/>
          <p:cNvSpPr/>
          <p:nvPr/>
        </p:nvSpPr>
        <p:spPr>
          <a:xfrm>
            <a:off x="502920" y="5870448"/>
            <a:ext cx="11155680" cy="566928"/>
          </a:xfrm>
          <a:prstGeom prst="roundRect">
            <a:avLst>
              <a:gd name="adj" fmla="val 12903"/>
            </a:avLst>
          </a:prstGeom>
          <a:solidFill>
            <a:srgbClr val="E4F0EF"/>
          </a:solidFill>
          <a:ln/>
        </p:spPr>
      </p:sp>
      <p:sp>
        <p:nvSpPr>
          <p:cNvPr id="35" name="Shape 29"/>
          <p:cNvSpPr/>
          <p:nvPr/>
        </p:nvSpPr>
        <p:spPr>
          <a:xfrm>
            <a:off x="667512" y="5961888"/>
            <a:ext cx="384048" cy="384048"/>
          </a:xfrm>
          <a:prstGeom prst="ellipse">
            <a:avLst/>
          </a:prstGeom>
          <a:solidFill>
            <a:srgbClr val="0E7C7B"/>
          </a:solidFill>
          <a:ln/>
        </p:spPr>
      </p:sp>
      <p:pic>
        <p:nvPicPr>
          <p:cNvPr id="36" name="Image 4" descr="/home/user/Claude-Works/ai-training-prompt-engineering/src/assets/icons/home_w.png">    </p:cNvPr>
          <p:cNvPicPr>
            <a:picLocks noChangeAspect="1"/>
          </p:cNvPicPr>
          <p:nvPr/>
        </p:nvPicPr>
        <p:blipFill>
          <a:blip r:embed="rId5"/>
          <a:stretch>
            <a:fillRect/>
          </a:stretch>
        </p:blipFill>
        <p:spPr>
          <a:xfrm>
            <a:off x="767364" y="6061740"/>
            <a:ext cx="184343" cy="184343"/>
          </a:xfrm>
          <a:prstGeom prst="rect">
            <a:avLst/>
          </a:prstGeom>
        </p:spPr>
      </p:pic>
      <p:sp>
        <p:nvSpPr>
          <p:cNvPr id="37" name="Text 30"/>
          <p:cNvSpPr/>
          <p:nvPr/>
        </p:nvSpPr>
        <p:spPr>
          <a:xfrm>
            <a:off x="1216152" y="5943600"/>
            <a:ext cx="10213848" cy="420624"/>
          </a:xfrm>
          <a:prstGeom prst="rect">
            <a:avLst/>
          </a:prstGeom>
          <a:noFill/>
          <a:ln/>
        </p:spPr>
        <p:txBody>
          <a:bodyPr wrap="square" lIns="0" tIns="0" rIns="0" bIns="0" rtlCol="0" anchor="ctr"/>
          <a:lstStyle/>
          <a:p>
            <a:pPr indent="0" marL="0">
              <a:lnSpc>
                <a:spcPct val="106000"/>
              </a:lnSpc>
              <a:buNone/>
            </a:pPr>
            <a:r>
              <a:rPr lang="en-US" sz="1150" b="1" dirty="0">
                <a:solidFill>
                  <a:srgbClr val="0A5B5A"/>
                </a:solidFill>
                <a:latin typeface="Calibri" pitchFamily="34" charset="0"/>
                <a:ea typeface="Calibri" pitchFamily="34" charset="-122"/>
                <a:cs typeface="Calibri" pitchFamily="34" charset="-120"/>
              </a:rPr>
              <a:t>You already use this.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Our internal company assistant — the one where you upload documentation and “talk” to it — is RAG in production. Every step on this slide happens each time you ask it a question.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11</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4 · THE ESCALATION LADDER</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Prompt it → feed it documents → retrain it</a:t>
            </a:r>
            <a:endParaRPr lang="en-US" sz="3000" dirty="0"/>
          </a:p>
        </p:txBody>
      </p:sp>
      <p:sp>
        <p:nvSpPr>
          <p:cNvPr id="6" name="Shape 4"/>
          <p:cNvSpPr/>
          <p:nvPr/>
        </p:nvSpPr>
        <p:spPr>
          <a:xfrm>
            <a:off x="502920" y="1481328"/>
            <a:ext cx="3611880" cy="2331720"/>
          </a:xfrm>
          <a:prstGeom prst="roundRect">
            <a:avLst>
              <a:gd name="adj" fmla="val 3137"/>
            </a:avLst>
          </a:prstGeom>
          <a:solidFill>
            <a:srgbClr val="E4F0EF"/>
          </a:solidFill>
          <a:ln/>
        </p:spPr>
      </p:sp>
      <p:sp>
        <p:nvSpPr>
          <p:cNvPr id="7" name="Shape 5"/>
          <p:cNvSpPr/>
          <p:nvPr/>
        </p:nvSpPr>
        <p:spPr>
          <a:xfrm>
            <a:off x="740664" y="1682496"/>
            <a:ext cx="548640" cy="548640"/>
          </a:xfrm>
          <a:prstGeom prst="ellipse">
            <a:avLst/>
          </a:prstGeom>
          <a:solidFill>
            <a:srgbClr val="0E7C7B"/>
          </a:solidFill>
          <a:ln/>
        </p:spPr>
      </p:sp>
      <p:pic>
        <p:nvPicPr>
          <p:cNvPr id="8" name="Image 0" descr="/home/user/Claude-Works/ai-training-prompt-engineering/src/assets/icons/edit_w.png">    </p:cNvPr>
          <p:cNvPicPr>
            <a:picLocks noChangeAspect="1"/>
          </p:cNvPicPr>
          <p:nvPr/>
        </p:nvPicPr>
        <p:blipFill>
          <a:blip r:embed="rId1"/>
          <a:stretch>
            <a:fillRect/>
          </a:stretch>
        </p:blipFill>
        <p:spPr>
          <a:xfrm>
            <a:off x="883310" y="1825142"/>
            <a:ext cx="263347" cy="263347"/>
          </a:xfrm>
          <a:prstGeom prst="rect">
            <a:avLst/>
          </a:prstGeom>
        </p:spPr>
      </p:pic>
      <p:sp>
        <p:nvSpPr>
          <p:cNvPr id="9" name="Text 6"/>
          <p:cNvSpPr/>
          <p:nvPr/>
        </p:nvSpPr>
        <p:spPr>
          <a:xfrm>
            <a:off x="1417320" y="1755648"/>
            <a:ext cx="2606040" cy="384048"/>
          </a:xfrm>
          <a:prstGeom prst="rect">
            <a:avLst/>
          </a:prstGeom>
          <a:noFill/>
          <a:ln/>
        </p:spPr>
        <p:txBody>
          <a:bodyPr wrap="square" lIns="0" tIns="0" rIns="0" bIns="0" rtlCol="0" anchor="ctr"/>
          <a:lstStyle/>
          <a:p>
            <a:pPr indent="0" marL="0">
              <a:buNone/>
            </a:pPr>
            <a:r>
              <a:rPr lang="en-US" sz="1550" b="1" dirty="0">
                <a:solidFill>
                  <a:srgbClr val="0A5B5A"/>
                </a:solidFill>
                <a:latin typeface="Cambria" pitchFamily="34" charset="0"/>
                <a:ea typeface="Cambria" pitchFamily="34" charset="-122"/>
                <a:cs typeface="Cambria" pitchFamily="34" charset="-120"/>
              </a:rPr>
              <a:t>1 · PROMPT IT</a:t>
            </a:r>
            <a:endParaRPr lang="en-US" sz="1550" dirty="0"/>
          </a:p>
        </p:txBody>
      </p:sp>
      <p:sp>
        <p:nvSpPr>
          <p:cNvPr id="10" name="Text 7"/>
          <p:cNvSpPr/>
          <p:nvPr/>
        </p:nvSpPr>
        <p:spPr>
          <a:xfrm>
            <a:off x="740664" y="2340864"/>
            <a:ext cx="3154680" cy="310896"/>
          </a:xfrm>
          <a:prstGeom prst="rect">
            <a:avLst/>
          </a:prstGeom>
          <a:noFill/>
          <a:ln/>
        </p:spPr>
        <p:txBody>
          <a:bodyPr wrap="square" lIns="0" tIns="0" rIns="0" bIns="0" rtlCol="0" anchor="ctr"/>
          <a:lstStyle/>
          <a:p>
            <a:pPr indent="0" marL="0">
              <a:buNone/>
            </a:pPr>
            <a:r>
              <a:rPr lang="en-US" sz="1100" i="1" dirty="0">
                <a:solidFill>
                  <a:srgbClr val="232A31"/>
                </a:solidFill>
                <a:latin typeface="Calibri" pitchFamily="34" charset="0"/>
                <a:ea typeface="Calibri" pitchFamily="34" charset="-122"/>
                <a:cs typeface="Calibri" pitchFamily="34" charset="-120"/>
              </a:rPr>
              <a:t>instructions to a skilled temp</a:t>
            </a:r>
            <a:endParaRPr lang="en-US" sz="1100" dirty="0"/>
          </a:p>
        </p:txBody>
      </p:sp>
      <p:sp>
        <p:nvSpPr>
          <p:cNvPr id="11" name="Text 8"/>
          <p:cNvSpPr/>
          <p:nvPr/>
        </p:nvSpPr>
        <p:spPr>
          <a:xfrm>
            <a:off x="740664" y="2688336"/>
            <a:ext cx="3154680" cy="548640"/>
          </a:xfrm>
          <a:prstGeom prst="rect">
            <a:avLst/>
          </a:prstGeom>
          <a:noFill/>
          <a:ln/>
        </p:spPr>
        <p:txBody>
          <a:bodyPr wrap="square" lIns="0" tIns="0" rIns="0" bIns="0" rtlCol="0" anchor="ctr"/>
          <a:lstStyle/>
          <a:p>
            <a:pPr indent="0" marL="0">
              <a:lnSpc>
                <a:spcPct val="104000"/>
              </a:lnSpc>
              <a:buNone/>
            </a:pPr>
            <a:r>
              <a:rPr lang="en-US" sz="1150" b="1" dirty="0">
                <a:solidFill>
                  <a:srgbClr val="46545F"/>
                </a:solidFill>
                <a:latin typeface="Calibri" pitchFamily="34" charset="0"/>
                <a:ea typeface="Calibri" pitchFamily="34" charset="-122"/>
                <a:cs typeface="Calibri" pitchFamily="34" charset="-120"/>
              </a:rPr>
              <a:t>Fixes BEHAVIOR — tone, format, focus, approach.</a:t>
            </a:r>
            <a:endParaRPr lang="en-US" sz="1150" dirty="0"/>
          </a:p>
        </p:txBody>
      </p:sp>
      <p:sp>
        <p:nvSpPr>
          <p:cNvPr id="12" name="Text 9"/>
          <p:cNvSpPr/>
          <p:nvPr/>
        </p:nvSpPr>
        <p:spPr>
          <a:xfrm>
            <a:off x="740664" y="3273552"/>
            <a:ext cx="3154680" cy="475488"/>
          </a:xfrm>
          <a:prstGeom prst="rect">
            <a:avLst/>
          </a:prstGeom>
          <a:noFill/>
          <a:ln/>
        </p:spPr>
        <p:txBody>
          <a:bodyPr wrap="square" lIns="0" tIns="0" rIns="0" bIns="0" rtlCol="0" anchor="ctr"/>
          <a:lstStyle/>
          <a:p>
            <a:pPr indent="0" marL="0">
              <a:lnSpc>
                <a:spcPct val="102000"/>
              </a:lnSpc>
              <a:buNone/>
            </a:pPr>
            <a:r>
              <a:rPr lang="en-US" sz="1000" dirty="0">
                <a:solidFill>
                  <a:srgbClr val="7A8790"/>
                </a:solidFill>
                <a:latin typeface="Calibri" pitchFamily="34" charset="0"/>
                <a:ea typeface="Calibri" pitchFamily="34" charset="-122"/>
                <a:cs typeface="Calibri" pitchFamily="34" charset="-120"/>
              </a:rPr>
              <a:t>Free · instant · every model. 90% of the value — this course.</a:t>
            </a:r>
            <a:endParaRPr lang="en-US" sz="1000" dirty="0"/>
          </a:p>
        </p:txBody>
      </p:sp>
      <p:sp>
        <p:nvSpPr>
          <p:cNvPr id="13" name="Shape 10"/>
          <p:cNvSpPr/>
          <p:nvPr/>
        </p:nvSpPr>
        <p:spPr>
          <a:xfrm>
            <a:off x="4133088" y="2514600"/>
            <a:ext cx="182880" cy="0"/>
          </a:xfrm>
          <a:prstGeom prst="line">
            <a:avLst/>
          </a:prstGeom>
          <a:noFill/>
          <a:ln w="28575">
            <a:solidFill>
              <a:srgbClr val="0E7C7B"/>
            </a:solidFill>
            <a:prstDash val="solid"/>
            <a:tailEnd type="triangle"/>
          </a:ln>
        </p:spPr>
      </p:sp>
      <p:sp>
        <p:nvSpPr>
          <p:cNvPr id="14" name="Shape 11"/>
          <p:cNvSpPr/>
          <p:nvPr/>
        </p:nvSpPr>
        <p:spPr>
          <a:xfrm>
            <a:off x="4325112" y="1481328"/>
            <a:ext cx="3611880" cy="2331720"/>
          </a:xfrm>
          <a:prstGeom prst="roundRect">
            <a:avLst>
              <a:gd name="adj" fmla="val 3137"/>
            </a:avLst>
          </a:prstGeom>
          <a:solidFill>
            <a:srgbClr val="F2F5F6"/>
          </a:solidFill>
          <a:ln/>
        </p:spPr>
      </p:sp>
      <p:sp>
        <p:nvSpPr>
          <p:cNvPr id="15" name="Shape 12"/>
          <p:cNvSpPr/>
          <p:nvPr/>
        </p:nvSpPr>
        <p:spPr>
          <a:xfrm>
            <a:off x="4562856" y="1682496"/>
            <a:ext cx="548640" cy="548640"/>
          </a:xfrm>
          <a:prstGeom prst="ellipse">
            <a:avLst/>
          </a:prstGeom>
          <a:solidFill>
            <a:srgbClr val="0E7C7B"/>
          </a:solidFill>
          <a:ln/>
        </p:spPr>
      </p:sp>
      <p:pic>
        <p:nvPicPr>
          <p:cNvPr id="16" name="Image 1" descr="/home/user/Claude-Works/ai-training-prompt-engineering/src/assets/icons/book_w.png">    </p:cNvPr>
          <p:cNvPicPr>
            <a:picLocks noChangeAspect="1"/>
          </p:cNvPicPr>
          <p:nvPr/>
        </p:nvPicPr>
        <p:blipFill>
          <a:blip r:embed="rId2"/>
          <a:stretch>
            <a:fillRect/>
          </a:stretch>
        </p:blipFill>
        <p:spPr>
          <a:xfrm>
            <a:off x="4705502" y="1825142"/>
            <a:ext cx="263347" cy="263347"/>
          </a:xfrm>
          <a:prstGeom prst="rect">
            <a:avLst/>
          </a:prstGeom>
        </p:spPr>
      </p:pic>
      <p:sp>
        <p:nvSpPr>
          <p:cNvPr id="17" name="Text 13"/>
          <p:cNvSpPr/>
          <p:nvPr/>
        </p:nvSpPr>
        <p:spPr>
          <a:xfrm>
            <a:off x="5239512" y="1755648"/>
            <a:ext cx="2606040" cy="384048"/>
          </a:xfrm>
          <a:prstGeom prst="rect">
            <a:avLst/>
          </a:prstGeom>
          <a:noFill/>
          <a:ln/>
        </p:spPr>
        <p:txBody>
          <a:bodyPr wrap="square" lIns="0" tIns="0" rIns="0" bIns="0" rtlCol="0" anchor="ctr"/>
          <a:lstStyle/>
          <a:p>
            <a:pPr indent="0" marL="0">
              <a:buNone/>
            </a:pPr>
            <a:r>
              <a:rPr lang="en-US" sz="1550" b="1" dirty="0">
                <a:solidFill>
                  <a:srgbClr val="0A5B5A"/>
                </a:solidFill>
                <a:latin typeface="Cambria" pitchFamily="34" charset="0"/>
                <a:ea typeface="Cambria" pitchFamily="34" charset="-122"/>
                <a:cs typeface="Cambria" pitchFamily="34" charset="-120"/>
              </a:rPr>
              <a:t>2 · FEED IT DOCUMENTS</a:t>
            </a:r>
            <a:endParaRPr lang="en-US" sz="1550" dirty="0"/>
          </a:p>
        </p:txBody>
      </p:sp>
      <p:sp>
        <p:nvSpPr>
          <p:cNvPr id="18" name="Text 14"/>
          <p:cNvSpPr/>
          <p:nvPr/>
        </p:nvSpPr>
        <p:spPr>
          <a:xfrm>
            <a:off x="4562856" y="2340864"/>
            <a:ext cx="3154680" cy="310896"/>
          </a:xfrm>
          <a:prstGeom prst="rect">
            <a:avLst/>
          </a:prstGeom>
          <a:noFill/>
          <a:ln/>
        </p:spPr>
        <p:txBody>
          <a:bodyPr wrap="square" lIns="0" tIns="0" rIns="0" bIns="0" rtlCol="0" anchor="ctr"/>
          <a:lstStyle/>
          <a:p>
            <a:pPr indent="0" marL="0">
              <a:buNone/>
            </a:pPr>
            <a:r>
              <a:rPr lang="en-US" sz="1100" i="1" dirty="0">
                <a:solidFill>
                  <a:srgbClr val="232A31"/>
                </a:solidFill>
                <a:latin typeface="Calibri" pitchFamily="34" charset="0"/>
                <a:ea typeface="Calibri" pitchFamily="34" charset="-122"/>
                <a:cs typeface="Calibri" pitchFamily="34" charset="-120"/>
              </a:rPr>
              <a:t>hand the temp your binder (RAG)</a:t>
            </a:r>
            <a:endParaRPr lang="en-US" sz="1100" dirty="0"/>
          </a:p>
        </p:txBody>
      </p:sp>
      <p:sp>
        <p:nvSpPr>
          <p:cNvPr id="19" name="Text 15"/>
          <p:cNvSpPr/>
          <p:nvPr/>
        </p:nvSpPr>
        <p:spPr>
          <a:xfrm>
            <a:off x="4562856" y="2688336"/>
            <a:ext cx="3154680" cy="548640"/>
          </a:xfrm>
          <a:prstGeom prst="rect">
            <a:avLst/>
          </a:prstGeom>
          <a:noFill/>
          <a:ln/>
        </p:spPr>
        <p:txBody>
          <a:bodyPr wrap="square" lIns="0" tIns="0" rIns="0" bIns="0" rtlCol="0" anchor="ctr"/>
          <a:lstStyle/>
          <a:p>
            <a:pPr indent="0" marL="0">
              <a:lnSpc>
                <a:spcPct val="104000"/>
              </a:lnSpc>
              <a:buNone/>
            </a:pPr>
            <a:r>
              <a:rPr lang="en-US" sz="1150" b="1" dirty="0">
                <a:solidFill>
                  <a:srgbClr val="46545F"/>
                </a:solidFill>
                <a:latin typeface="Calibri" pitchFamily="34" charset="0"/>
                <a:ea typeface="Calibri" pitchFamily="34" charset="-122"/>
                <a:cs typeface="Calibri" pitchFamily="34" charset="-120"/>
              </a:rPr>
              <a:t>Fixes MISSING KNOWLEDGE — your policies, your data, current facts.</a:t>
            </a:r>
            <a:endParaRPr lang="en-US" sz="1150" dirty="0"/>
          </a:p>
        </p:txBody>
      </p:sp>
      <p:sp>
        <p:nvSpPr>
          <p:cNvPr id="20" name="Text 16"/>
          <p:cNvSpPr/>
          <p:nvPr/>
        </p:nvSpPr>
        <p:spPr>
          <a:xfrm>
            <a:off x="4562856" y="3273552"/>
            <a:ext cx="3154680" cy="475488"/>
          </a:xfrm>
          <a:prstGeom prst="rect">
            <a:avLst/>
          </a:prstGeom>
          <a:noFill/>
          <a:ln/>
        </p:spPr>
        <p:txBody>
          <a:bodyPr wrap="square" lIns="0" tIns="0" rIns="0" bIns="0" rtlCol="0" anchor="ctr"/>
          <a:lstStyle/>
          <a:p>
            <a:pPr indent="0" marL="0">
              <a:lnSpc>
                <a:spcPct val="102000"/>
              </a:lnSpc>
              <a:buNone/>
            </a:pPr>
            <a:r>
              <a:rPr lang="en-US" sz="1000" dirty="0">
                <a:solidFill>
                  <a:srgbClr val="7A8790"/>
                </a:solidFill>
                <a:latin typeface="Calibri" pitchFamily="34" charset="0"/>
                <a:ea typeface="Calibri" pitchFamily="34" charset="-122"/>
                <a:cs typeface="Calibri" pitchFamily="34" charset="-120"/>
              </a:rPr>
              <a:t>Minutes to set up · citable · private. Most real cases end here.</a:t>
            </a:r>
            <a:endParaRPr lang="en-US" sz="1000" dirty="0"/>
          </a:p>
        </p:txBody>
      </p:sp>
      <p:sp>
        <p:nvSpPr>
          <p:cNvPr id="21" name="Shape 17"/>
          <p:cNvSpPr/>
          <p:nvPr/>
        </p:nvSpPr>
        <p:spPr>
          <a:xfrm>
            <a:off x="7955280" y="2514600"/>
            <a:ext cx="182880" cy="0"/>
          </a:xfrm>
          <a:prstGeom prst="line">
            <a:avLst/>
          </a:prstGeom>
          <a:noFill/>
          <a:ln w="28575">
            <a:solidFill>
              <a:srgbClr val="0E7C7B"/>
            </a:solidFill>
            <a:prstDash val="solid"/>
            <a:tailEnd type="triangle"/>
          </a:ln>
        </p:spPr>
      </p:sp>
      <p:sp>
        <p:nvSpPr>
          <p:cNvPr id="22" name="Shape 18"/>
          <p:cNvSpPr/>
          <p:nvPr/>
        </p:nvSpPr>
        <p:spPr>
          <a:xfrm>
            <a:off x="8147304" y="1481328"/>
            <a:ext cx="3611880" cy="2331720"/>
          </a:xfrm>
          <a:prstGeom prst="roundRect">
            <a:avLst>
              <a:gd name="adj" fmla="val 3137"/>
            </a:avLst>
          </a:prstGeom>
          <a:solidFill>
            <a:srgbClr val="F2F5F6"/>
          </a:solidFill>
          <a:ln/>
        </p:spPr>
      </p:sp>
      <p:sp>
        <p:nvSpPr>
          <p:cNvPr id="23" name="Shape 19"/>
          <p:cNvSpPr/>
          <p:nvPr/>
        </p:nvSpPr>
        <p:spPr>
          <a:xfrm>
            <a:off x="8385048" y="1682496"/>
            <a:ext cx="548640" cy="548640"/>
          </a:xfrm>
          <a:prstGeom prst="ellipse">
            <a:avLst/>
          </a:prstGeom>
          <a:solidFill>
            <a:srgbClr val="0E7C7B"/>
          </a:solidFill>
          <a:ln/>
        </p:spPr>
      </p:sp>
      <p:pic>
        <p:nvPicPr>
          <p:cNvPr id="24" name="Image 2" descr="/home/user/Claude-Works/ai-training-prompt-engineering/src/assets/icons/cpu_w.png">    </p:cNvPr>
          <p:cNvPicPr>
            <a:picLocks noChangeAspect="1"/>
          </p:cNvPicPr>
          <p:nvPr/>
        </p:nvPicPr>
        <p:blipFill>
          <a:blip r:embed="rId3"/>
          <a:stretch>
            <a:fillRect/>
          </a:stretch>
        </p:blipFill>
        <p:spPr>
          <a:xfrm>
            <a:off x="8527694" y="1825142"/>
            <a:ext cx="263347" cy="263347"/>
          </a:xfrm>
          <a:prstGeom prst="rect">
            <a:avLst/>
          </a:prstGeom>
        </p:spPr>
      </p:pic>
      <p:sp>
        <p:nvSpPr>
          <p:cNvPr id="25" name="Text 20"/>
          <p:cNvSpPr/>
          <p:nvPr/>
        </p:nvSpPr>
        <p:spPr>
          <a:xfrm>
            <a:off x="9061704" y="1755648"/>
            <a:ext cx="2606040" cy="384048"/>
          </a:xfrm>
          <a:prstGeom prst="rect">
            <a:avLst/>
          </a:prstGeom>
          <a:noFill/>
          <a:ln/>
        </p:spPr>
        <p:txBody>
          <a:bodyPr wrap="square" lIns="0" tIns="0" rIns="0" bIns="0" rtlCol="0" anchor="ctr"/>
          <a:lstStyle/>
          <a:p>
            <a:pPr indent="0" marL="0">
              <a:buNone/>
            </a:pPr>
            <a:r>
              <a:rPr lang="en-US" sz="1550" b="1" dirty="0">
                <a:solidFill>
                  <a:srgbClr val="0A5B5A"/>
                </a:solidFill>
                <a:latin typeface="Cambria" pitchFamily="34" charset="0"/>
                <a:ea typeface="Cambria" pitchFamily="34" charset="-122"/>
                <a:cs typeface="Cambria" pitchFamily="34" charset="-120"/>
              </a:rPr>
              <a:t>3 · RETRAIN IT</a:t>
            </a:r>
            <a:endParaRPr lang="en-US" sz="1550" dirty="0"/>
          </a:p>
        </p:txBody>
      </p:sp>
      <p:sp>
        <p:nvSpPr>
          <p:cNvPr id="26" name="Text 21"/>
          <p:cNvSpPr/>
          <p:nvPr/>
        </p:nvSpPr>
        <p:spPr>
          <a:xfrm>
            <a:off x="8385048" y="2340864"/>
            <a:ext cx="3154680" cy="310896"/>
          </a:xfrm>
          <a:prstGeom prst="rect">
            <a:avLst/>
          </a:prstGeom>
          <a:noFill/>
          <a:ln/>
        </p:spPr>
        <p:txBody>
          <a:bodyPr wrap="square" lIns="0" tIns="0" rIns="0" bIns="0" rtlCol="0" anchor="ctr"/>
          <a:lstStyle/>
          <a:p>
            <a:pPr indent="0" marL="0">
              <a:buNone/>
            </a:pPr>
            <a:r>
              <a:rPr lang="en-US" sz="1100" i="1" dirty="0">
                <a:solidFill>
                  <a:srgbClr val="232A31"/>
                </a:solidFill>
                <a:latin typeface="Calibri" pitchFamily="34" charset="0"/>
                <a:ea typeface="Calibri" pitchFamily="34" charset="-122"/>
                <a:cs typeface="Calibri" pitchFamily="34" charset="-120"/>
              </a:rPr>
              <a:t>send it back to school (fine-tuning)</a:t>
            </a:r>
            <a:endParaRPr lang="en-US" sz="1100" dirty="0"/>
          </a:p>
        </p:txBody>
      </p:sp>
      <p:sp>
        <p:nvSpPr>
          <p:cNvPr id="27" name="Text 22"/>
          <p:cNvSpPr/>
          <p:nvPr/>
        </p:nvSpPr>
        <p:spPr>
          <a:xfrm>
            <a:off x="8385048" y="2688336"/>
            <a:ext cx="3154680" cy="548640"/>
          </a:xfrm>
          <a:prstGeom prst="rect">
            <a:avLst/>
          </a:prstGeom>
          <a:noFill/>
          <a:ln/>
        </p:spPr>
        <p:txBody>
          <a:bodyPr wrap="square" lIns="0" tIns="0" rIns="0" bIns="0" rtlCol="0" anchor="ctr"/>
          <a:lstStyle/>
          <a:p>
            <a:pPr indent="0" marL="0">
              <a:lnSpc>
                <a:spcPct val="104000"/>
              </a:lnSpc>
              <a:buNone/>
            </a:pPr>
            <a:r>
              <a:rPr lang="en-US" sz="1150" b="1" dirty="0">
                <a:solidFill>
                  <a:srgbClr val="46545F"/>
                </a:solidFill>
                <a:latin typeface="Calibri" pitchFamily="34" charset="0"/>
                <a:ea typeface="Calibri" pitchFamily="34" charset="-122"/>
                <a:cs typeface="Calibri" pitchFamily="34" charset="-120"/>
              </a:rPr>
              <a:t>Changes deep HABITS — permanently.</a:t>
            </a:r>
            <a:endParaRPr lang="en-US" sz="1150" dirty="0"/>
          </a:p>
        </p:txBody>
      </p:sp>
      <p:sp>
        <p:nvSpPr>
          <p:cNvPr id="28" name="Text 23"/>
          <p:cNvSpPr/>
          <p:nvPr/>
        </p:nvSpPr>
        <p:spPr>
          <a:xfrm>
            <a:off x="8385048" y="3273552"/>
            <a:ext cx="3154680" cy="475488"/>
          </a:xfrm>
          <a:prstGeom prst="rect">
            <a:avLst/>
          </a:prstGeom>
          <a:noFill/>
          <a:ln/>
        </p:spPr>
        <p:txBody>
          <a:bodyPr wrap="square" lIns="0" tIns="0" rIns="0" bIns="0" rtlCol="0" anchor="ctr"/>
          <a:lstStyle/>
          <a:p>
            <a:pPr indent="0" marL="0">
              <a:lnSpc>
                <a:spcPct val="102000"/>
              </a:lnSpc>
              <a:buNone/>
            </a:pPr>
            <a:r>
              <a:rPr lang="en-US" sz="1000" dirty="0">
                <a:solidFill>
                  <a:srgbClr val="7A8790"/>
                </a:solidFill>
                <a:latin typeface="Calibri" pitchFamily="34" charset="0"/>
                <a:ea typeface="Calibri" pitchFamily="34" charset="-122"/>
                <a:cs typeface="Calibri" pitchFamily="34" charset="-120"/>
              </a:rPr>
              <a:t>Slow · expensive · per-model. Rare: an IT project, not a prompt.</a:t>
            </a:r>
            <a:endParaRPr lang="en-US" sz="1000" dirty="0"/>
          </a:p>
        </p:txBody>
      </p:sp>
      <p:sp>
        <p:nvSpPr>
          <p:cNvPr id="29" name="Shape 24"/>
          <p:cNvSpPr/>
          <p:nvPr/>
        </p:nvSpPr>
        <p:spPr>
          <a:xfrm>
            <a:off x="502920" y="4041648"/>
            <a:ext cx="11155680" cy="1627632"/>
          </a:xfrm>
          <a:prstGeom prst="roundRect">
            <a:avLst>
              <a:gd name="adj" fmla="val 4494"/>
            </a:avLst>
          </a:prstGeom>
          <a:solidFill>
            <a:srgbClr val="F2F5F6"/>
          </a:solidFill>
          <a:ln/>
        </p:spPr>
      </p:sp>
      <p:sp>
        <p:nvSpPr>
          <p:cNvPr id="30" name="Text 25"/>
          <p:cNvSpPr/>
          <p:nvPr/>
        </p:nvSpPr>
        <p:spPr>
          <a:xfrm>
            <a:off x="777240" y="4169664"/>
            <a:ext cx="10607040" cy="320040"/>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One topic, up the ladder — “answer customer questions about our warranty policy”</a:t>
            </a:r>
            <a:endParaRPr lang="en-US" sz="1400" dirty="0"/>
          </a:p>
        </p:txBody>
      </p:sp>
      <p:sp>
        <p:nvSpPr>
          <p:cNvPr id="31" name="Text 26"/>
          <p:cNvSpPr/>
          <p:nvPr/>
        </p:nvSpPr>
        <p:spPr>
          <a:xfrm>
            <a:off x="777240" y="4553712"/>
            <a:ext cx="3474720" cy="1051560"/>
          </a:xfrm>
          <a:prstGeom prst="rect">
            <a:avLst/>
          </a:prstGeom>
          <a:noFill/>
          <a:ln/>
        </p:spPr>
        <p:txBody>
          <a:bodyPr wrap="square" lIns="0" tIns="0" rIns="0" bIns="0" rtlCol="0" anchor="ctr"/>
          <a:lstStyle/>
          <a:p>
            <a:pPr indent="0" marL="0">
              <a:lnSpc>
                <a:spcPct val="106000"/>
              </a:lnSpc>
              <a:buNone/>
            </a:pPr>
            <a:r>
              <a:rPr lang="en-US" sz="1500" b="1" dirty="0">
                <a:solidFill>
                  <a:srgbClr val="0E7C7B"/>
                </a:solidFill>
                <a:latin typeface="Calibri" pitchFamily="34" charset="0"/>
                <a:ea typeface="Calibri" pitchFamily="34" charset="-122"/>
                <a:cs typeface="Calibri" pitchFamily="34" charset="-120"/>
              </a:rPr>
              <a:t>①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“Answer in plain language and quote the exact clause.” Answers get clear and consistent — but it doesn’t KNOW our policy, so the details are guesses.</a:t>
            </a:r>
            <a:endParaRPr lang="en-US" sz="1500" dirty="0"/>
          </a:p>
        </p:txBody>
      </p:sp>
      <p:sp>
        <p:nvSpPr>
          <p:cNvPr id="32" name="Text 27"/>
          <p:cNvSpPr/>
          <p:nvPr/>
        </p:nvSpPr>
        <p:spPr>
          <a:xfrm>
            <a:off x="4434840" y="4553712"/>
            <a:ext cx="3474720" cy="1051560"/>
          </a:xfrm>
          <a:prstGeom prst="rect">
            <a:avLst/>
          </a:prstGeom>
          <a:noFill/>
          <a:ln/>
        </p:spPr>
        <p:txBody>
          <a:bodyPr wrap="square" lIns="0" tIns="0" rIns="0" bIns="0" rtlCol="0" anchor="ctr"/>
          <a:lstStyle/>
          <a:p>
            <a:pPr indent="0" marL="0">
              <a:lnSpc>
                <a:spcPct val="106000"/>
              </a:lnSpc>
              <a:buNone/>
            </a:pPr>
            <a:r>
              <a:rPr lang="en-US" sz="1500" b="1" dirty="0">
                <a:solidFill>
                  <a:srgbClr val="0E7C7B"/>
                </a:solidFill>
                <a:latin typeface="Calibri" pitchFamily="34" charset="0"/>
                <a:ea typeface="Calibri" pitchFamily="34" charset="-122"/>
                <a:cs typeface="Calibri" pitchFamily="34" charset="-120"/>
              </a:rPr>
              <a:t>②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Upload the warranty documents (or use the company assistant). Now: current, cited answers from the real text. This is where you stop.</a:t>
            </a:r>
            <a:endParaRPr lang="en-US" sz="1500" dirty="0"/>
          </a:p>
        </p:txBody>
      </p:sp>
      <p:sp>
        <p:nvSpPr>
          <p:cNvPr id="33" name="Text 28"/>
          <p:cNvSpPr/>
          <p:nvPr/>
        </p:nvSpPr>
        <p:spPr>
          <a:xfrm>
            <a:off x="8092440" y="4553712"/>
            <a:ext cx="3474720" cy="1051560"/>
          </a:xfrm>
          <a:prstGeom prst="rect">
            <a:avLst/>
          </a:prstGeom>
          <a:noFill/>
          <a:ln/>
        </p:spPr>
        <p:txBody>
          <a:bodyPr wrap="square" lIns="0" tIns="0" rIns="0" bIns="0" rtlCol="0" anchor="ctr"/>
          <a:lstStyle/>
          <a:p>
            <a:pPr indent="0" marL="0">
              <a:lnSpc>
                <a:spcPct val="106000"/>
              </a:lnSpc>
              <a:buNone/>
            </a:pPr>
            <a:r>
              <a:rPr lang="en-US" sz="1500" b="1" dirty="0">
                <a:solidFill>
                  <a:srgbClr val="0E7C7B"/>
                </a:solidFill>
                <a:latin typeface="Calibri" pitchFamily="34" charset="0"/>
                <a:ea typeface="Calibri" pitchFamily="34" charset="-122"/>
                <a:cs typeface="Calibri" pitchFamily="34" charset="-120"/>
              </a:rPr>
              <a:t>③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Retrain — only if millions of chats must carry a deep habit with no room for instructions. An IT decision, not a prompt.</a:t>
            </a:r>
            <a:endParaRPr lang="en-US" sz="1500" dirty="0"/>
          </a:p>
        </p:txBody>
      </p:sp>
      <p:sp>
        <p:nvSpPr>
          <p:cNvPr id="34" name="Shape 29"/>
          <p:cNvSpPr/>
          <p:nvPr/>
        </p:nvSpPr>
        <p:spPr>
          <a:xfrm>
            <a:off x="502920" y="5852160"/>
            <a:ext cx="11155680" cy="621792"/>
          </a:xfrm>
          <a:prstGeom prst="roundRect">
            <a:avLst>
              <a:gd name="adj" fmla="val 11765"/>
            </a:avLst>
          </a:prstGeom>
          <a:solidFill>
            <a:srgbClr val="FBF0E0"/>
          </a:solidFill>
          <a:ln/>
        </p:spPr>
      </p:sp>
      <p:sp>
        <p:nvSpPr>
          <p:cNvPr id="35" name="Shape 30"/>
          <p:cNvSpPr/>
          <p:nvPr/>
        </p:nvSpPr>
        <p:spPr>
          <a:xfrm>
            <a:off x="667512" y="5971032"/>
            <a:ext cx="384048" cy="384048"/>
          </a:xfrm>
          <a:prstGeom prst="ellipse">
            <a:avLst/>
          </a:prstGeom>
          <a:solidFill>
            <a:srgbClr val="B96A1B"/>
          </a:solidFill>
          <a:ln/>
        </p:spPr>
      </p:sp>
      <p:pic>
        <p:nvPicPr>
          <p:cNvPr id="36" name="Image 3" descr="/home/user/Claude-Works/ai-training-prompt-engineering/src/assets/icons/help_w.png">    </p:cNvPr>
          <p:cNvPicPr>
            <a:picLocks noChangeAspect="1"/>
          </p:cNvPicPr>
          <p:nvPr/>
        </p:nvPicPr>
        <p:blipFill>
          <a:blip r:embed="rId4"/>
          <a:stretch>
            <a:fillRect/>
          </a:stretch>
        </p:blipFill>
        <p:spPr>
          <a:xfrm>
            <a:off x="767364" y="6070884"/>
            <a:ext cx="184343" cy="184343"/>
          </a:xfrm>
          <a:prstGeom prst="rect">
            <a:avLst/>
          </a:prstGeom>
        </p:spPr>
      </p:pic>
      <p:sp>
        <p:nvSpPr>
          <p:cNvPr id="37" name="Text 31"/>
          <p:cNvSpPr/>
          <p:nvPr/>
        </p:nvSpPr>
        <p:spPr>
          <a:xfrm>
            <a:off x="1216152" y="5925312"/>
            <a:ext cx="10213848" cy="475488"/>
          </a:xfrm>
          <a:prstGeom prst="rect">
            <a:avLst/>
          </a:prstGeom>
          <a:noFill/>
          <a:ln/>
        </p:spPr>
        <p:txBody>
          <a:bodyPr wrap="square" lIns="0" tIns="0" rIns="0" bIns="0" rtlCol="0" anchor="ctr"/>
          <a:lstStyle/>
          <a:p>
            <a:pPr indent="0" marL="0">
              <a:lnSpc>
                <a:spcPct val="106000"/>
              </a:lnSpc>
              <a:buNone/>
            </a:pPr>
            <a:r>
              <a:rPr lang="en-US" sz="1250" b="1" dirty="0">
                <a:solidFill>
                  <a:srgbClr val="232A31"/>
                </a:solidFill>
                <a:latin typeface="Calibri" pitchFamily="34" charset="0"/>
                <a:ea typeface="Calibri" pitchFamily="34" charset="-122"/>
                <a:cs typeface="Calibri" pitchFamily="34" charset="-120"/>
              </a:rPr>
              <a:t>One question picks the rung: </a:t>
            </a:r>
            <a:pPr indent="0" marL="0">
              <a:lnSpc>
                <a:spcPct val="106000"/>
              </a:lnSpc>
              <a:buNone/>
            </a:pPr>
            <a:r>
              <a:rPr lang="en-US" sz="1250" dirty="0">
                <a:solidFill>
                  <a:srgbClr val="46545F"/>
                </a:solidFill>
                <a:latin typeface="Calibri" pitchFamily="34" charset="0"/>
                <a:ea typeface="Calibri" pitchFamily="34" charset="-122"/>
                <a:cs typeface="Calibri" pitchFamily="34" charset="-120"/>
              </a:rPr>
              <a:t>is the AI missing knowledge → feed it documents. Misbehaving with knowledge it has → prompt it. Retraining stays rare.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12</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5 · FAST MODELS VS THINKING MODELS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Two speeds, one bill</a:t>
            </a:r>
            <a:endParaRPr lang="en-US" sz="3000" dirty="0"/>
          </a:p>
        </p:txBody>
      </p:sp>
      <p:sp>
        <p:nvSpPr>
          <p:cNvPr id="6" name="Text 4"/>
          <p:cNvSpPr/>
          <p:nvPr/>
        </p:nvSpPr>
        <p:spPr>
          <a:xfrm>
            <a:off x="502920" y="1517904"/>
            <a:ext cx="5669280" cy="2651760"/>
          </a:xfrm>
          <a:prstGeom prst="rect">
            <a:avLst/>
          </a:prstGeom>
          <a:noFill/>
          <a:ln/>
        </p:spPr>
        <p:txBody>
          <a:bodyPr wrap="square" lIns="0" tIns="0" rIns="0" bIns="0" rtlCol="0" anchor="t"/>
          <a:lstStyle/>
          <a:p>
            <a:pPr algn="l" marL="127000" indent="-127000">
              <a:lnSpc>
                <a:spcPct val="104000"/>
              </a:lnSpc>
              <a:spcAft>
                <a:spcPts val="800"/>
              </a:spcAft>
              <a:buSzPct val="100000"/>
              <a:buChar char="•"/>
            </a:pPr>
            <a:r>
              <a:rPr lang="en-US" sz="1200" dirty="0">
                <a:solidFill>
                  <a:srgbClr val="46545F"/>
                </a:solidFill>
                <a:latin typeface="Calibri" pitchFamily="34" charset="0"/>
                <a:ea typeface="Calibri" pitchFamily="34" charset="-122"/>
                <a:cs typeface="Calibri" pitchFamily="34" charset="-120"/>
              </a:rPr>
              <a:t>Every vendor ships a fast tier — one pass, instant, cheap — and a thinking tier that drafts, checks and revises internally before answering.</a:t>
            </a:r>
            <a:endParaRPr lang="en-US" sz="1200" dirty="0"/>
          </a:p>
          <a:p>
            <a:pPr algn="l" marL="127000" indent="-127000">
              <a:lnSpc>
                <a:spcPct val="104000"/>
              </a:lnSpc>
              <a:spcAft>
                <a:spcPts val="800"/>
              </a:spcAft>
              <a:buSzPct val="100000"/>
              <a:buChar char="•"/>
            </a:pPr>
            <a:r>
              <a:rPr lang="en-US" sz="1200" dirty="0">
                <a:solidFill>
                  <a:srgbClr val="46545F"/>
                </a:solidFill>
                <a:latin typeface="Calibri" pitchFamily="34" charset="0"/>
                <a:ea typeface="Calibri" pitchFamily="34" charset="-122"/>
                <a:cs typeface="Calibri" pitchFamily="34" charset="-120"/>
              </a:rPr>
              <a:t>System 1 vs System 2 (Kahneman’s Thinking, Fast and Slow): fast intuition for routine asks; slow deliberation where being wrong is expensive.</a:t>
            </a:r>
            <a:endParaRPr lang="en-US" sz="1200" dirty="0"/>
          </a:p>
          <a:p>
            <a:pPr algn="l" marL="127000" indent="-127000">
              <a:lnSpc>
                <a:spcPct val="104000"/>
              </a:lnSpc>
              <a:spcAft>
                <a:spcPts val="800"/>
              </a:spcAft>
              <a:buSzPct val="100000"/>
              <a:buChar char="•"/>
            </a:pPr>
            <a:r>
              <a:rPr lang="en-US" sz="1200" b="1" dirty="0">
                <a:solidFill>
                  <a:srgbClr val="46545F"/>
                </a:solidFill>
                <a:latin typeface="Calibri" pitchFamily="34" charset="0"/>
                <a:ea typeface="Calibri" pitchFamily="34" charset="-122"/>
                <a:cs typeface="Calibri" pitchFamily="34" charset="-120"/>
              </a:rPr>
              <a:t>The bill: thinking is charged as output tokens — the expensive kind. A hard question can quietly cost 5–20× a simple one.</a:t>
            </a:r>
            <a:endParaRPr lang="en-US" sz="1200" dirty="0"/>
          </a:p>
          <a:p>
            <a:pPr algn="l" marL="127000" indent="-127000">
              <a:lnSpc>
                <a:spcPct val="104000"/>
              </a:lnSpc>
              <a:spcAft>
                <a:spcPts val="800"/>
              </a:spcAft>
              <a:buSzPct val="100000"/>
              <a:buChar char="•"/>
            </a:pPr>
            <a:r>
              <a:rPr lang="en-US" sz="1200" dirty="0">
                <a:solidFill>
                  <a:srgbClr val="46545F"/>
                </a:solidFill>
                <a:latin typeface="Calibri" pitchFamily="34" charset="0"/>
                <a:ea typeface="Calibri" pitchFamily="34" charset="-122"/>
                <a:cs typeface="Calibri" pitchFamily="34" charset="-120"/>
              </a:rPr>
              <a:t>Why the fast tier got so good: MoE (Part 2 tells that story) and big models teaching small ones (distillation).</a:t>
            </a:r>
            <a:endParaRPr lang="en-US" sz="1200" dirty="0"/>
          </a:p>
        </p:txBody>
      </p:sp>
      <p:sp>
        <p:nvSpPr>
          <p:cNvPr id="7" name="Shape 5"/>
          <p:cNvSpPr/>
          <p:nvPr/>
        </p:nvSpPr>
        <p:spPr>
          <a:xfrm>
            <a:off x="502920" y="4343400"/>
            <a:ext cx="5669280" cy="804672"/>
          </a:xfrm>
          <a:prstGeom prst="roundRect">
            <a:avLst>
              <a:gd name="adj" fmla="val 9091"/>
            </a:avLst>
          </a:prstGeom>
          <a:solidFill>
            <a:srgbClr val="E7F2EC"/>
          </a:solidFill>
          <a:ln/>
        </p:spPr>
      </p:sp>
      <p:sp>
        <p:nvSpPr>
          <p:cNvPr id="8" name="Text 6"/>
          <p:cNvSpPr/>
          <p:nvPr/>
        </p:nvSpPr>
        <p:spPr>
          <a:xfrm>
            <a:off x="777240" y="4434840"/>
            <a:ext cx="5212080" cy="640080"/>
          </a:xfrm>
          <a:prstGeom prst="rect">
            <a:avLst/>
          </a:prstGeom>
          <a:noFill/>
          <a:ln/>
        </p:spPr>
        <p:txBody>
          <a:bodyPr wrap="square" lIns="0" tIns="0" rIns="0" bIns="0" rtlCol="0" anchor="ctr"/>
          <a:lstStyle/>
          <a:p>
            <a:pPr indent="0" marL="0">
              <a:lnSpc>
                <a:spcPct val="104000"/>
              </a:lnSpc>
              <a:buNone/>
            </a:pPr>
            <a:r>
              <a:rPr lang="en-US" sz="1200" b="1" dirty="0">
                <a:solidFill>
                  <a:srgbClr val="232A31"/>
                </a:solidFill>
                <a:latin typeface="Calibri" pitchFamily="34" charset="0"/>
                <a:ea typeface="Calibri" pitchFamily="34" charset="-122"/>
                <a:cs typeface="Calibri" pitchFamily="34" charset="-120"/>
              </a:rPr>
              <a:t>Think ON: </a:t>
            </a:r>
            <a:pPr indent="0" marL="0">
              <a:lnSpc>
                <a:spcPct val="104000"/>
              </a:lnSpc>
              <a:buNone/>
            </a:pPr>
            <a:r>
              <a:rPr lang="en-US" sz="1150" dirty="0">
                <a:solidFill>
                  <a:srgbClr val="46545F"/>
                </a:solidFill>
                <a:latin typeface="Calibri" pitchFamily="34" charset="0"/>
                <a:ea typeface="Calibri" pitchFamily="34" charset="-122"/>
                <a:cs typeface="Calibri" pitchFamily="34" charset="-120"/>
              </a:rPr>
              <a:t>multi-step analysis · math · root-cause work · code · tradeoffs across a long document.</a:t>
            </a:r>
            <a:endParaRPr lang="en-US" sz="1200" dirty="0"/>
          </a:p>
        </p:txBody>
      </p:sp>
      <p:sp>
        <p:nvSpPr>
          <p:cNvPr id="9" name="Shape 7"/>
          <p:cNvSpPr/>
          <p:nvPr/>
        </p:nvSpPr>
        <p:spPr>
          <a:xfrm>
            <a:off x="502920" y="5257800"/>
            <a:ext cx="5669280" cy="804672"/>
          </a:xfrm>
          <a:prstGeom prst="roundRect">
            <a:avLst>
              <a:gd name="adj" fmla="val 9091"/>
            </a:avLst>
          </a:prstGeom>
          <a:solidFill>
            <a:srgbClr val="FBF0E0"/>
          </a:solidFill>
          <a:ln/>
        </p:spPr>
      </p:sp>
      <p:sp>
        <p:nvSpPr>
          <p:cNvPr id="10" name="Text 8"/>
          <p:cNvSpPr/>
          <p:nvPr/>
        </p:nvSpPr>
        <p:spPr>
          <a:xfrm>
            <a:off x="777240" y="5349240"/>
            <a:ext cx="5212080" cy="640080"/>
          </a:xfrm>
          <a:prstGeom prst="rect">
            <a:avLst/>
          </a:prstGeom>
          <a:noFill/>
          <a:ln/>
        </p:spPr>
        <p:txBody>
          <a:bodyPr wrap="square" lIns="0" tIns="0" rIns="0" bIns="0" rtlCol="0" anchor="ctr"/>
          <a:lstStyle/>
          <a:p>
            <a:pPr indent="0" marL="0">
              <a:lnSpc>
                <a:spcPct val="104000"/>
              </a:lnSpc>
              <a:buNone/>
            </a:pPr>
            <a:r>
              <a:rPr lang="en-US" sz="1200" b="1" dirty="0">
                <a:solidFill>
                  <a:srgbClr val="232A31"/>
                </a:solidFill>
                <a:latin typeface="Calibri" pitchFamily="34" charset="0"/>
                <a:ea typeface="Calibri" pitchFamily="34" charset="-122"/>
                <a:cs typeface="Calibri" pitchFamily="34" charset="-120"/>
              </a:rPr>
              <a:t>Think OFF: </a:t>
            </a:r>
            <a:pPr indent="0" marL="0">
              <a:lnSpc>
                <a:spcPct val="104000"/>
              </a:lnSpc>
              <a:buNone/>
            </a:pPr>
            <a:r>
              <a:rPr lang="en-US" sz="1150" dirty="0">
                <a:solidFill>
                  <a:srgbClr val="46545F"/>
                </a:solidFill>
                <a:latin typeface="Calibri" pitchFamily="34" charset="0"/>
                <a:ea typeface="Calibri" pitchFamily="34" charset="-122"/>
                <a:cs typeface="Calibri" pitchFamily="34" charset="-120"/>
              </a:rPr>
              <a:t>lookups · reformatting · summaries · routine drafting — deliberation you don’t need.</a:t>
            </a:r>
            <a:endParaRPr lang="en-US" sz="1200" dirty="0"/>
          </a:p>
        </p:txBody>
      </p:sp>
      <p:sp>
        <p:nvSpPr>
          <p:cNvPr id="11" name="Shape 9"/>
          <p:cNvSpPr/>
          <p:nvPr/>
        </p:nvSpPr>
        <p:spPr>
          <a:xfrm>
            <a:off x="6400800" y="1517904"/>
            <a:ext cx="5257800" cy="2103120"/>
          </a:xfrm>
          <a:prstGeom prst="roundRect">
            <a:avLst>
              <a:gd name="adj" fmla="val 3478"/>
            </a:avLst>
          </a:prstGeom>
          <a:solidFill>
            <a:srgbClr val="E4F0EF"/>
          </a:solidFill>
          <a:ln/>
        </p:spPr>
      </p:sp>
      <p:sp>
        <p:nvSpPr>
          <p:cNvPr id="12" name="Shape 10"/>
          <p:cNvSpPr/>
          <p:nvPr/>
        </p:nvSpPr>
        <p:spPr>
          <a:xfrm>
            <a:off x="6547104" y="1636776"/>
            <a:ext cx="365760" cy="365760"/>
          </a:xfrm>
          <a:prstGeom prst="ellipse">
            <a:avLst/>
          </a:prstGeom>
          <a:solidFill>
            <a:srgbClr val="0E7C7B"/>
          </a:solidFill>
          <a:ln/>
        </p:spPr>
      </p:sp>
      <p:pic>
        <p:nvPicPr>
          <p:cNvPr id="13" name="Image 0" descr="/home/user/Claude-Works/ai-training-prompt-engineering/src/assets/icons/robot_w.png">    </p:cNvPr>
          <p:cNvPicPr>
            <a:picLocks noChangeAspect="1"/>
          </p:cNvPicPr>
          <p:nvPr/>
        </p:nvPicPr>
        <p:blipFill>
          <a:blip r:embed="rId1"/>
          <a:stretch>
            <a:fillRect/>
          </a:stretch>
        </p:blipFill>
        <p:spPr>
          <a:xfrm>
            <a:off x="6642202" y="1731874"/>
            <a:ext cx="175565" cy="175565"/>
          </a:xfrm>
          <a:prstGeom prst="rect">
            <a:avLst/>
          </a:prstGeom>
        </p:spPr>
      </p:pic>
      <p:sp>
        <p:nvSpPr>
          <p:cNvPr id="14" name="Shape 11"/>
          <p:cNvSpPr/>
          <p:nvPr/>
        </p:nvSpPr>
        <p:spPr>
          <a:xfrm>
            <a:off x="7004304" y="1664208"/>
            <a:ext cx="1188720" cy="310896"/>
          </a:xfrm>
          <a:prstGeom prst="roundRect">
            <a:avLst>
              <a:gd name="adj" fmla="val 23529"/>
            </a:avLst>
          </a:prstGeom>
          <a:solidFill>
            <a:srgbClr val="0E7C7B"/>
          </a:solidFill>
          <a:ln/>
        </p:spPr>
      </p:sp>
      <p:sp>
        <p:nvSpPr>
          <p:cNvPr id="15" name="Text 12"/>
          <p:cNvSpPr/>
          <p:nvPr/>
        </p:nvSpPr>
        <p:spPr>
          <a:xfrm>
            <a:off x="7004304" y="1673352"/>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PROMPT 5/7</a:t>
            </a:r>
            <a:endParaRPr lang="en-US" sz="950" dirty="0"/>
          </a:p>
        </p:txBody>
      </p:sp>
      <p:sp>
        <p:nvSpPr>
          <p:cNvPr id="16" name="Text 13"/>
          <p:cNvSpPr/>
          <p:nvPr/>
        </p:nvSpPr>
        <p:spPr>
          <a:xfrm>
            <a:off x="8302752" y="1673352"/>
            <a:ext cx="3108960" cy="292608"/>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Same brain, two speeds</a:t>
            </a:r>
            <a:endParaRPr lang="en-US" sz="1050" dirty="0"/>
          </a:p>
        </p:txBody>
      </p:sp>
      <p:sp>
        <p:nvSpPr>
          <p:cNvPr id="17" name="Text 14"/>
          <p:cNvSpPr/>
          <p:nvPr/>
        </p:nvSpPr>
        <p:spPr>
          <a:xfrm>
            <a:off x="6583680" y="2029968"/>
            <a:ext cx="4892040" cy="1225296"/>
          </a:xfrm>
          <a:prstGeom prst="rect">
            <a:avLst/>
          </a:prstGeom>
          <a:noFill/>
          <a:ln/>
        </p:spPr>
        <p:txBody>
          <a:bodyPr wrap="square" lIns="0" tIns="0" rIns="0" bIns="0" rtlCol="0" anchor="t"/>
          <a:lstStyle/>
          <a:p>
            <a:pPr indent="0" marL="0">
              <a:lnSpc>
                <a:spcPct val="108000"/>
              </a:lnSpc>
              <a:buNone/>
            </a:pPr>
            <a:r>
              <a:rPr lang="en-US" sz="92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920" dirty="0">
                <a:solidFill>
                  <a:srgbClr val="232A31"/>
                </a:solidFill>
                <a:latin typeface="Consolas" pitchFamily="34" charset="0"/>
                <a:ea typeface="Consolas" pitchFamily="34" charset="-122"/>
                <a:cs typeface="Consolas" pitchFamily="34" charset="-120"/>
              </a:rPr>
              <a:t>“Describe your fast mode vs your thinking mode like I’m choosing between them for real work: when is each worth it, and roughly how much more does thinking cost? Under 120 words.”</a:t>
            </a:r>
            <a:endParaRPr lang="en-US" sz="920" dirty="0"/>
          </a:p>
          <a:p>
            <a:pPr indent="0" marL="0">
              <a:lnSpc>
                <a:spcPct val="108000"/>
              </a:lnSpc>
              <a:buNone/>
            </a:pPr>
            <a:r>
              <a:rPr lang="en-US" sz="87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870" i="1" dirty="0">
                <a:solidFill>
                  <a:srgbClr val="46545F"/>
                </a:solidFill>
                <a:latin typeface="Calibri" pitchFamily="34" charset="0"/>
                <a:ea typeface="Calibri" pitchFamily="34" charset="-122"/>
                <a:cs typeface="Calibri" pitchFamily="34" charset="-120"/>
              </a:rPr>
              <a:t>the model explains its own two speeds — and its own bill.</a:t>
            </a:r>
            <a:endParaRPr lang="en-US" sz="920" dirty="0"/>
          </a:p>
        </p:txBody>
      </p:sp>
      <p:sp>
        <p:nvSpPr>
          <p:cNvPr id="18" name="Text 15"/>
          <p:cNvSpPr/>
          <p:nvPr/>
        </p:nvSpPr>
        <p:spPr>
          <a:xfrm>
            <a:off x="6583680" y="3328416"/>
            <a:ext cx="4892040" cy="237744"/>
          </a:xfrm>
          <a:prstGeom prst="rect">
            <a:avLst/>
          </a:prstGeom>
          <a:noFill/>
          <a:ln/>
        </p:spPr>
        <p:txBody>
          <a:bodyPr wrap="square" lIns="0" tIns="0" rIns="0" bIns="0" rtlCol="0" anchor="ctr"/>
          <a:lstStyle/>
          <a:p>
            <a:pPr indent="0" marL="0">
              <a:buNone/>
            </a:pPr>
            <a:r>
              <a:rPr lang="en-US" sz="800" i="1" dirty="0">
                <a:solidFill>
                  <a:srgbClr val="0A5B5A"/>
                </a:solidFill>
                <a:latin typeface="Calibri" pitchFamily="34" charset="0"/>
                <a:ea typeface="Calibri" pitchFamily="34" charset="-122"/>
                <a:cs typeface="Calibri" pitchFamily="34" charset="-120"/>
              </a:rPr>
              <a:t>✂ copy-paste, don’t retype: tab EX5-TwoSpeeds of your Course Workbook</a:t>
            </a:r>
            <a:endParaRPr lang="en-US" sz="800" dirty="0"/>
          </a:p>
        </p:txBody>
      </p:sp>
      <p:sp>
        <p:nvSpPr>
          <p:cNvPr id="19" name="Shape 16"/>
          <p:cNvSpPr/>
          <p:nvPr/>
        </p:nvSpPr>
        <p:spPr>
          <a:xfrm>
            <a:off x="6400800" y="3767328"/>
            <a:ext cx="5257800" cy="2286000"/>
          </a:xfrm>
          <a:prstGeom prst="roundRect">
            <a:avLst>
              <a:gd name="adj" fmla="val 3200"/>
            </a:avLst>
          </a:prstGeom>
          <a:solidFill>
            <a:srgbClr val="F2F5F6"/>
          </a:solidFill>
          <a:ln/>
        </p:spPr>
      </p:sp>
      <p:sp>
        <p:nvSpPr>
          <p:cNvPr id="20" name="Text 17"/>
          <p:cNvSpPr/>
          <p:nvPr/>
        </p:nvSpPr>
        <p:spPr>
          <a:xfrm>
            <a:off x="6656832" y="3913632"/>
            <a:ext cx="4754880" cy="329184"/>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The two speeds, side by side</a:t>
            </a:r>
            <a:endParaRPr lang="en-US" sz="1400" dirty="0"/>
          </a:p>
        </p:txBody>
      </p:sp>
      <p:sp>
        <p:nvSpPr>
          <p:cNvPr id="21" name="Shape 18"/>
          <p:cNvSpPr/>
          <p:nvPr/>
        </p:nvSpPr>
        <p:spPr>
          <a:xfrm>
            <a:off x="6656832" y="4370832"/>
            <a:ext cx="457200" cy="457200"/>
          </a:xfrm>
          <a:prstGeom prst="ellipse">
            <a:avLst/>
          </a:prstGeom>
          <a:solidFill>
            <a:srgbClr val="3B8560"/>
          </a:solidFill>
          <a:ln/>
        </p:spPr>
      </p:sp>
      <p:pic>
        <p:nvPicPr>
          <p:cNvPr id="22" name="Image 1" descr="/home/user/Claude-Works/ai-training-prompt-engineering/src/assets/icons/zap_w.png">    </p:cNvPr>
          <p:cNvPicPr>
            <a:picLocks noChangeAspect="1"/>
          </p:cNvPicPr>
          <p:nvPr/>
        </p:nvPicPr>
        <p:blipFill>
          <a:blip r:embed="rId2"/>
          <a:stretch>
            <a:fillRect/>
          </a:stretch>
        </p:blipFill>
        <p:spPr>
          <a:xfrm>
            <a:off x="6775704" y="4489704"/>
            <a:ext cx="219456" cy="219456"/>
          </a:xfrm>
          <a:prstGeom prst="rect">
            <a:avLst/>
          </a:prstGeom>
        </p:spPr>
      </p:pic>
      <p:sp>
        <p:nvSpPr>
          <p:cNvPr id="23" name="Text 19"/>
          <p:cNvSpPr/>
          <p:nvPr/>
        </p:nvSpPr>
        <p:spPr>
          <a:xfrm>
            <a:off x="7242048" y="4315968"/>
            <a:ext cx="4206240" cy="566928"/>
          </a:xfrm>
          <a:prstGeom prst="rect">
            <a:avLst/>
          </a:prstGeom>
          <a:noFill/>
          <a:ln/>
        </p:spPr>
        <p:txBody>
          <a:bodyPr wrap="square" lIns="0" tIns="0" rIns="0" bIns="0" rtlCol="0" anchor="ctr"/>
          <a:lstStyle/>
          <a:p>
            <a:pPr indent="0" marL="0">
              <a:lnSpc>
                <a:spcPct val="104000"/>
              </a:lnSpc>
              <a:buNone/>
            </a:pPr>
            <a:r>
              <a:rPr lang="en-US" sz="1250" b="1" dirty="0">
                <a:solidFill>
                  <a:srgbClr val="232A31"/>
                </a:solidFill>
                <a:latin typeface="Calibri" pitchFamily="34" charset="0"/>
                <a:ea typeface="Calibri" pitchFamily="34" charset="-122"/>
                <a:cs typeface="Calibri" pitchFamily="34" charset="-120"/>
              </a:rPr>
              <a:t>FAST — </a:t>
            </a:r>
            <a:pPr indent="0" marL="0">
              <a:lnSpc>
                <a:spcPct val="104000"/>
              </a:lnSpc>
              <a:buNone/>
            </a:pPr>
            <a:r>
              <a:rPr lang="en-US" sz="1150" dirty="0">
                <a:solidFill>
                  <a:srgbClr val="46545F"/>
                </a:solidFill>
                <a:latin typeface="Calibri" pitchFamily="34" charset="0"/>
                <a:ea typeface="Calibri" pitchFamily="34" charset="-122"/>
                <a:cs typeface="Calibri" pitchFamily="34" charset="-120"/>
              </a:rPr>
              <a:t>one pass, instant, cheap. Great until the question has traps.</a:t>
            </a:r>
            <a:endParaRPr lang="en-US" sz="1250" dirty="0"/>
          </a:p>
        </p:txBody>
      </p:sp>
      <p:sp>
        <p:nvSpPr>
          <p:cNvPr id="24" name="Shape 20"/>
          <p:cNvSpPr/>
          <p:nvPr/>
        </p:nvSpPr>
        <p:spPr>
          <a:xfrm>
            <a:off x="6656832" y="5138928"/>
            <a:ext cx="457200" cy="457200"/>
          </a:xfrm>
          <a:prstGeom prst="ellipse">
            <a:avLst/>
          </a:prstGeom>
          <a:solidFill>
            <a:srgbClr val="0E7C7B"/>
          </a:solidFill>
          <a:ln/>
        </p:spPr>
      </p:sp>
      <p:pic>
        <p:nvPicPr>
          <p:cNvPr id="25" name="Image 2" descr="/home/user/Claude-Works/ai-training-prompt-engineering/src/assets/icons/brain_w.png">    </p:cNvPr>
          <p:cNvPicPr>
            <a:picLocks noChangeAspect="1"/>
          </p:cNvPicPr>
          <p:nvPr/>
        </p:nvPicPr>
        <p:blipFill>
          <a:blip r:embed="rId3"/>
          <a:stretch>
            <a:fillRect/>
          </a:stretch>
        </p:blipFill>
        <p:spPr>
          <a:xfrm>
            <a:off x="6775704" y="5257800"/>
            <a:ext cx="219456" cy="219456"/>
          </a:xfrm>
          <a:prstGeom prst="rect">
            <a:avLst/>
          </a:prstGeom>
        </p:spPr>
      </p:pic>
      <p:sp>
        <p:nvSpPr>
          <p:cNvPr id="26" name="Text 21"/>
          <p:cNvSpPr/>
          <p:nvPr/>
        </p:nvSpPr>
        <p:spPr>
          <a:xfrm>
            <a:off x="7242048" y="5084064"/>
            <a:ext cx="4206240" cy="731520"/>
          </a:xfrm>
          <a:prstGeom prst="rect">
            <a:avLst/>
          </a:prstGeom>
          <a:noFill/>
          <a:ln/>
        </p:spPr>
        <p:txBody>
          <a:bodyPr wrap="square" lIns="0" tIns="0" rIns="0" bIns="0" rtlCol="0" anchor="ctr"/>
          <a:lstStyle/>
          <a:p>
            <a:pPr indent="0" marL="0">
              <a:lnSpc>
                <a:spcPct val="104000"/>
              </a:lnSpc>
              <a:buNone/>
            </a:pPr>
            <a:r>
              <a:rPr lang="en-US" sz="1250" b="1" dirty="0">
                <a:solidFill>
                  <a:srgbClr val="232A31"/>
                </a:solidFill>
                <a:latin typeface="Calibri" pitchFamily="34" charset="0"/>
                <a:ea typeface="Calibri" pitchFamily="34" charset="-122"/>
                <a:cs typeface="Calibri" pitchFamily="34" charset="-120"/>
              </a:rPr>
              <a:t>THINKING — </a:t>
            </a:r>
            <a:pPr indent="0" marL="0">
              <a:lnSpc>
                <a:spcPct val="104000"/>
              </a:lnSpc>
              <a:buNone/>
            </a:pPr>
            <a:r>
              <a:rPr lang="en-US" sz="1150" dirty="0">
                <a:solidFill>
                  <a:srgbClr val="46545F"/>
                </a:solidFill>
                <a:latin typeface="Calibri" pitchFamily="34" charset="0"/>
                <a:ea typeface="Calibri" pitchFamily="34" charset="-122"/>
                <a:cs typeface="Calibri" pitchFamily="34" charset="-120"/>
              </a:rPr>
              <a:t>drafts, checks, revises. Slower, 5–20× the cost — worth it when wrong is expensive.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13</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5 · THE FEATURE MENU · CONTINUED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Where your tokens go</a:t>
            </a:r>
            <a:endParaRPr lang="en-US" sz="3000" dirty="0"/>
          </a:p>
        </p:txBody>
      </p:sp>
      <p:sp>
        <p:nvSpPr>
          <p:cNvPr id="6" name="Shape 4"/>
          <p:cNvSpPr/>
          <p:nvPr/>
        </p:nvSpPr>
        <p:spPr>
          <a:xfrm>
            <a:off x="502920" y="1481328"/>
            <a:ext cx="5394960" cy="3017520"/>
          </a:xfrm>
          <a:prstGeom prst="roundRect">
            <a:avLst>
              <a:gd name="adj" fmla="val 2424"/>
            </a:avLst>
          </a:prstGeom>
          <a:solidFill>
            <a:srgbClr val="F2F5F6"/>
          </a:solidFill>
          <a:ln/>
        </p:spPr>
      </p:sp>
      <p:sp>
        <p:nvSpPr>
          <p:cNvPr id="7" name="Text 5"/>
          <p:cNvSpPr/>
          <p:nvPr/>
        </p:nvSpPr>
        <p:spPr>
          <a:xfrm>
            <a:off x="777240" y="1645920"/>
            <a:ext cx="4846320" cy="347472"/>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cost ladder — every vendor sells it</a:t>
            </a:r>
            <a:endParaRPr lang="en-US" sz="1350" dirty="0"/>
          </a:p>
        </p:txBody>
      </p:sp>
      <p:sp>
        <p:nvSpPr>
          <p:cNvPr id="8" name="Shape 6"/>
          <p:cNvSpPr/>
          <p:nvPr/>
        </p:nvSpPr>
        <p:spPr>
          <a:xfrm>
            <a:off x="777240" y="2084832"/>
            <a:ext cx="2331720" cy="384048"/>
          </a:xfrm>
          <a:prstGeom prst="roundRect">
            <a:avLst>
              <a:gd name="adj" fmla="val 14286"/>
            </a:avLst>
          </a:prstGeom>
          <a:solidFill>
            <a:srgbClr val="E4F0EF"/>
          </a:solidFill>
          <a:ln w="9525">
            <a:solidFill>
              <a:srgbClr val="0E7C7B"/>
            </a:solidFill>
            <a:prstDash val="solid"/>
          </a:ln>
        </p:spPr>
      </p:sp>
      <p:sp>
        <p:nvSpPr>
          <p:cNvPr id="9" name="Text 7"/>
          <p:cNvSpPr/>
          <p:nvPr/>
        </p:nvSpPr>
        <p:spPr>
          <a:xfrm>
            <a:off x="822960" y="2093976"/>
            <a:ext cx="2240280" cy="365760"/>
          </a:xfrm>
          <a:prstGeom prst="rect">
            <a:avLst/>
          </a:prstGeom>
          <a:noFill/>
          <a:ln/>
        </p:spPr>
        <p:txBody>
          <a:bodyPr wrap="square" lIns="0" tIns="0" rIns="0" bIns="0" rtlCol="0" anchor="ctr"/>
          <a:lstStyle/>
          <a:p>
            <a:pPr indent="0" marL="0">
              <a:buNone/>
            </a:pPr>
            <a:r>
              <a:rPr lang="en-US" sz="860" b="1" dirty="0">
                <a:solidFill>
                  <a:srgbClr val="0A5B5A"/>
                </a:solidFill>
                <a:latin typeface="Calibri" pitchFamily="34" charset="0"/>
                <a:ea typeface="Calibri" pitchFamily="34" charset="-122"/>
                <a:cs typeface="Calibri" pitchFamily="34" charset="-120"/>
              </a:rPr>
              <a:t>Quick answer</a:t>
            </a:r>
            <a:endParaRPr lang="en-US" sz="860" dirty="0"/>
          </a:p>
        </p:txBody>
      </p:sp>
      <p:sp>
        <p:nvSpPr>
          <p:cNvPr id="10" name="Text 8"/>
          <p:cNvSpPr/>
          <p:nvPr/>
        </p:nvSpPr>
        <p:spPr>
          <a:xfrm>
            <a:off x="3730752" y="2093976"/>
            <a:ext cx="2103120" cy="365760"/>
          </a:xfrm>
          <a:prstGeom prst="rect">
            <a:avLst/>
          </a:prstGeom>
          <a:noFill/>
          <a:ln/>
        </p:spPr>
        <p:txBody>
          <a:bodyPr wrap="square" lIns="0" tIns="0" rIns="0" bIns="0" rtlCol="0" anchor="ctr"/>
          <a:lstStyle/>
          <a:p>
            <a:pPr indent="0" marL="0">
              <a:buNone/>
            </a:pPr>
            <a:r>
              <a:rPr lang="en-US" sz="1000" b="1" dirty="0">
                <a:solidFill>
                  <a:srgbClr val="B96A1B"/>
                </a:solidFill>
                <a:latin typeface="Calibri" pitchFamily="34" charset="0"/>
                <a:ea typeface="Calibri" pitchFamily="34" charset="-122"/>
                <a:cs typeface="Calibri" pitchFamily="34" charset="-120"/>
              </a:rPr>
              <a:t>1×  </a:t>
            </a:r>
            <a:pPr indent="0" marL="0">
              <a:buNone/>
            </a:pPr>
            <a:r>
              <a:rPr lang="en-US" sz="900" dirty="0">
                <a:solidFill>
                  <a:srgbClr val="46545F"/>
                </a:solidFill>
                <a:latin typeface="Calibri" pitchFamily="34" charset="0"/>
                <a:ea typeface="Calibri" pitchFamily="34" charset="-122"/>
                <a:cs typeface="Calibri" pitchFamily="34" charset="-120"/>
              </a:rPr>
              <a:t>one pass, instant</a:t>
            </a:r>
            <a:endParaRPr lang="en-US" sz="1000" dirty="0"/>
          </a:p>
        </p:txBody>
      </p:sp>
      <p:sp>
        <p:nvSpPr>
          <p:cNvPr id="11" name="Shape 9"/>
          <p:cNvSpPr/>
          <p:nvPr/>
        </p:nvSpPr>
        <p:spPr>
          <a:xfrm>
            <a:off x="905256" y="2560320"/>
            <a:ext cx="2331720" cy="384048"/>
          </a:xfrm>
          <a:prstGeom prst="roundRect">
            <a:avLst>
              <a:gd name="adj" fmla="val 14286"/>
            </a:avLst>
          </a:prstGeom>
          <a:solidFill>
            <a:srgbClr val="E4F0EF"/>
          </a:solidFill>
          <a:ln w="9525">
            <a:solidFill>
              <a:srgbClr val="0E7C7B"/>
            </a:solidFill>
            <a:prstDash val="solid"/>
          </a:ln>
        </p:spPr>
      </p:sp>
      <p:sp>
        <p:nvSpPr>
          <p:cNvPr id="12" name="Text 10"/>
          <p:cNvSpPr/>
          <p:nvPr/>
        </p:nvSpPr>
        <p:spPr>
          <a:xfrm>
            <a:off x="950976" y="2569464"/>
            <a:ext cx="2240280" cy="365760"/>
          </a:xfrm>
          <a:prstGeom prst="rect">
            <a:avLst/>
          </a:prstGeom>
          <a:noFill/>
          <a:ln/>
        </p:spPr>
        <p:txBody>
          <a:bodyPr wrap="square" lIns="0" tIns="0" rIns="0" bIns="0" rtlCol="0" anchor="ctr"/>
          <a:lstStyle/>
          <a:p>
            <a:pPr indent="0" marL="0">
              <a:buNone/>
            </a:pPr>
            <a:r>
              <a:rPr lang="en-US" sz="860" b="1" dirty="0">
                <a:solidFill>
                  <a:srgbClr val="0A5B5A"/>
                </a:solidFill>
                <a:latin typeface="Calibri" pitchFamily="34" charset="0"/>
                <a:ea typeface="Calibri" pitchFamily="34" charset="-122"/>
                <a:cs typeface="Calibri" pitchFamily="34" charset="-120"/>
              </a:rPr>
              <a:t>Thinking / extended reasoning</a:t>
            </a:r>
            <a:endParaRPr lang="en-US" sz="860" dirty="0"/>
          </a:p>
        </p:txBody>
      </p:sp>
      <p:sp>
        <p:nvSpPr>
          <p:cNvPr id="13" name="Text 11"/>
          <p:cNvSpPr/>
          <p:nvPr/>
        </p:nvSpPr>
        <p:spPr>
          <a:xfrm>
            <a:off x="3730752" y="2569464"/>
            <a:ext cx="2103120" cy="365760"/>
          </a:xfrm>
          <a:prstGeom prst="rect">
            <a:avLst/>
          </a:prstGeom>
          <a:noFill/>
          <a:ln/>
        </p:spPr>
        <p:txBody>
          <a:bodyPr wrap="square" lIns="0" tIns="0" rIns="0" bIns="0" rtlCol="0" anchor="ctr"/>
          <a:lstStyle/>
          <a:p>
            <a:pPr indent="0" marL="0">
              <a:buNone/>
            </a:pPr>
            <a:r>
              <a:rPr lang="en-US" sz="1000" b="1" dirty="0">
                <a:solidFill>
                  <a:srgbClr val="B96A1B"/>
                </a:solidFill>
                <a:latin typeface="Calibri" pitchFamily="34" charset="0"/>
                <a:ea typeface="Calibri" pitchFamily="34" charset="-122"/>
                <a:cs typeface="Calibri" pitchFamily="34" charset="-120"/>
              </a:rPr>
              <a:t>5–20×  </a:t>
            </a:r>
            <a:pPr indent="0" marL="0">
              <a:buNone/>
            </a:pPr>
            <a:r>
              <a:rPr lang="en-US" sz="900" dirty="0">
                <a:solidFill>
                  <a:srgbClr val="46545F"/>
                </a:solidFill>
                <a:latin typeface="Calibri" pitchFamily="34" charset="0"/>
                <a:ea typeface="Calibri" pitchFamily="34" charset="-122"/>
                <a:cs typeface="Calibri" pitchFamily="34" charset="-120"/>
              </a:rPr>
              <a:t>drafts and checks before answering</a:t>
            </a:r>
            <a:endParaRPr lang="en-US" sz="1000" dirty="0"/>
          </a:p>
        </p:txBody>
      </p:sp>
      <p:sp>
        <p:nvSpPr>
          <p:cNvPr id="14" name="Shape 12"/>
          <p:cNvSpPr/>
          <p:nvPr/>
        </p:nvSpPr>
        <p:spPr>
          <a:xfrm>
            <a:off x="1033272" y="3035808"/>
            <a:ext cx="2331720" cy="384048"/>
          </a:xfrm>
          <a:prstGeom prst="roundRect">
            <a:avLst>
              <a:gd name="adj" fmla="val 14286"/>
            </a:avLst>
          </a:prstGeom>
          <a:solidFill>
            <a:srgbClr val="E4F0EF"/>
          </a:solidFill>
          <a:ln w="9525">
            <a:solidFill>
              <a:srgbClr val="0E7C7B"/>
            </a:solidFill>
            <a:prstDash val="solid"/>
          </a:ln>
        </p:spPr>
      </p:sp>
      <p:sp>
        <p:nvSpPr>
          <p:cNvPr id="15" name="Text 13"/>
          <p:cNvSpPr/>
          <p:nvPr/>
        </p:nvSpPr>
        <p:spPr>
          <a:xfrm>
            <a:off x="1078992" y="3044952"/>
            <a:ext cx="2240280" cy="365760"/>
          </a:xfrm>
          <a:prstGeom prst="rect">
            <a:avLst/>
          </a:prstGeom>
          <a:noFill/>
          <a:ln/>
        </p:spPr>
        <p:txBody>
          <a:bodyPr wrap="square" lIns="0" tIns="0" rIns="0" bIns="0" rtlCol="0" anchor="ctr"/>
          <a:lstStyle/>
          <a:p>
            <a:pPr indent="0" marL="0">
              <a:buNone/>
            </a:pPr>
            <a:r>
              <a:rPr lang="en-US" sz="860" b="1" dirty="0">
                <a:solidFill>
                  <a:srgbClr val="0A5B5A"/>
                </a:solidFill>
                <a:latin typeface="Calibri" pitchFamily="34" charset="0"/>
                <a:ea typeface="Calibri" pitchFamily="34" charset="-122"/>
                <a:cs typeface="Calibri" pitchFamily="34" charset="-120"/>
              </a:rPr>
              <a:t>Web search</a:t>
            </a:r>
            <a:endParaRPr lang="en-US" sz="860" dirty="0"/>
          </a:p>
        </p:txBody>
      </p:sp>
      <p:sp>
        <p:nvSpPr>
          <p:cNvPr id="16" name="Text 14"/>
          <p:cNvSpPr/>
          <p:nvPr/>
        </p:nvSpPr>
        <p:spPr>
          <a:xfrm>
            <a:off x="3730752" y="3044952"/>
            <a:ext cx="2103120" cy="365760"/>
          </a:xfrm>
          <a:prstGeom prst="rect">
            <a:avLst/>
          </a:prstGeom>
          <a:noFill/>
          <a:ln/>
        </p:spPr>
        <p:txBody>
          <a:bodyPr wrap="square" lIns="0" tIns="0" rIns="0" bIns="0" rtlCol="0" anchor="ctr"/>
          <a:lstStyle/>
          <a:p>
            <a:pPr indent="0" marL="0">
              <a:buNone/>
            </a:pPr>
            <a:r>
              <a:rPr lang="en-US" sz="1000" b="1" dirty="0">
                <a:solidFill>
                  <a:srgbClr val="B96A1B"/>
                </a:solidFill>
                <a:latin typeface="Calibri" pitchFamily="34" charset="0"/>
                <a:ea typeface="Calibri" pitchFamily="34" charset="-122"/>
                <a:cs typeface="Calibri" pitchFamily="34" charset="-120"/>
              </a:rPr>
              <a:t>+sources  </a:t>
            </a:r>
            <a:pPr indent="0" marL="0">
              <a:buNone/>
            </a:pPr>
            <a:r>
              <a:rPr lang="en-US" sz="900" dirty="0">
                <a:solidFill>
                  <a:srgbClr val="46545F"/>
                </a:solidFill>
                <a:latin typeface="Calibri" pitchFamily="34" charset="0"/>
                <a:ea typeface="Calibri" pitchFamily="34" charset="-122"/>
                <a:cs typeface="Calibri" pitchFamily="34" charset="-120"/>
              </a:rPr>
              <a:t>grounds the answer in live pages</a:t>
            </a:r>
            <a:endParaRPr lang="en-US" sz="1000" dirty="0"/>
          </a:p>
        </p:txBody>
      </p:sp>
      <p:sp>
        <p:nvSpPr>
          <p:cNvPr id="17" name="Shape 15"/>
          <p:cNvSpPr/>
          <p:nvPr/>
        </p:nvSpPr>
        <p:spPr>
          <a:xfrm>
            <a:off x="1161288" y="3511296"/>
            <a:ext cx="2331720" cy="384048"/>
          </a:xfrm>
          <a:prstGeom prst="roundRect">
            <a:avLst>
              <a:gd name="adj" fmla="val 14286"/>
            </a:avLst>
          </a:prstGeom>
          <a:solidFill>
            <a:srgbClr val="0E7C7B"/>
          </a:solidFill>
          <a:ln w="9525">
            <a:solidFill>
              <a:srgbClr val="0E7C7B"/>
            </a:solidFill>
            <a:prstDash val="solid"/>
          </a:ln>
        </p:spPr>
      </p:sp>
      <p:sp>
        <p:nvSpPr>
          <p:cNvPr id="18" name="Text 16"/>
          <p:cNvSpPr/>
          <p:nvPr/>
        </p:nvSpPr>
        <p:spPr>
          <a:xfrm>
            <a:off x="1207008" y="3520440"/>
            <a:ext cx="2240280" cy="365760"/>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Deep research</a:t>
            </a:r>
            <a:endParaRPr lang="en-US" sz="860" dirty="0"/>
          </a:p>
        </p:txBody>
      </p:sp>
      <p:sp>
        <p:nvSpPr>
          <p:cNvPr id="19" name="Text 17"/>
          <p:cNvSpPr/>
          <p:nvPr/>
        </p:nvSpPr>
        <p:spPr>
          <a:xfrm>
            <a:off x="3730752" y="3520440"/>
            <a:ext cx="2103120" cy="365760"/>
          </a:xfrm>
          <a:prstGeom prst="rect">
            <a:avLst/>
          </a:prstGeom>
          <a:noFill/>
          <a:ln/>
        </p:spPr>
        <p:txBody>
          <a:bodyPr wrap="square" lIns="0" tIns="0" rIns="0" bIns="0" rtlCol="0" anchor="ctr"/>
          <a:lstStyle/>
          <a:p>
            <a:pPr indent="0" marL="0">
              <a:buNone/>
            </a:pPr>
            <a:r>
              <a:rPr lang="en-US" sz="1000" b="1" dirty="0">
                <a:solidFill>
                  <a:srgbClr val="B96A1B"/>
                </a:solidFill>
                <a:latin typeface="Calibri" pitchFamily="34" charset="0"/>
                <a:ea typeface="Calibri" pitchFamily="34" charset="-122"/>
                <a:cs typeface="Calibri" pitchFamily="34" charset="-120"/>
              </a:rPr>
              <a:t>100×+  </a:t>
            </a:r>
            <a:pPr indent="0" marL="0">
              <a:buNone/>
            </a:pPr>
            <a:r>
              <a:rPr lang="en-US" sz="900" dirty="0">
                <a:solidFill>
                  <a:srgbClr val="46545F"/>
                </a:solidFill>
                <a:latin typeface="Calibri" pitchFamily="34" charset="0"/>
                <a:ea typeface="Calibri" pitchFamily="34" charset="-122"/>
                <a:cs typeface="Calibri" pitchFamily="34" charset="-120"/>
              </a:rPr>
              <a:t>browses for minutes, cited report</a:t>
            </a:r>
            <a:endParaRPr lang="en-US" sz="1000" dirty="0"/>
          </a:p>
        </p:txBody>
      </p:sp>
      <p:sp>
        <p:nvSpPr>
          <p:cNvPr id="20" name="Shape 18"/>
          <p:cNvSpPr/>
          <p:nvPr/>
        </p:nvSpPr>
        <p:spPr>
          <a:xfrm>
            <a:off x="1289304" y="3986784"/>
            <a:ext cx="2331720" cy="384048"/>
          </a:xfrm>
          <a:prstGeom prst="roundRect">
            <a:avLst>
              <a:gd name="adj" fmla="val 14286"/>
            </a:avLst>
          </a:prstGeom>
          <a:solidFill>
            <a:srgbClr val="0E7C7B"/>
          </a:solidFill>
          <a:ln w="9525">
            <a:solidFill>
              <a:srgbClr val="0E7C7B"/>
            </a:solidFill>
            <a:prstDash val="solid"/>
          </a:ln>
        </p:spPr>
      </p:sp>
      <p:sp>
        <p:nvSpPr>
          <p:cNvPr id="21" name="Text 19"/>
          <p:cNvSpPr/>
          <p:nvPr/>
        </p:nvSpPr>
        <p:spPr>
          <a:xfrm>
            <a:off x="1335024" y="3995928"/>
            <a:ext cx="2240280" cy="365760"/>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Agent modes</a:t>
            </a:r>
            <a:endParaRPr lang="en-US" sz="860" dirty="0"/>
          </a:p>
        </p:txBody>
      </p:sp>
      <p:sp>
        <p:nvSpPr>
          <p:cNvPr id="22" name="Text 20"/>
          <p:cNvSpPr/>
          <p:nvPr/>
        </p:nvSpPr>
        <p:spPr>
          <a:xfrm>
            <a:off x="3730752" y="3995928"/>
            <a:ext cx="2103120" cy="365760"/>
          </a:xfrm>
          <a:prstGeom prst="rect">
            <a:avLst/>
          </a:prstGeom>
          <a:noFill/>
          <a:ln/>
        </p:spPr>
        <p:txBody>
          <a:bodyPr wrap="square" lIns="0" tIns="0" rIns="0" bIns="0" rtlCol="0" anchor="ctr"/>
          <a:lstStyle/>
          <a:p>
            <a:pPr indent="0" marL="0">
              <a:buNone/>
            </a:pPr>
            <a:r>
              <a:rPr lang="en-US" sz="1000" b="1" dirty="0">
                <a:solidFill>
                  <a:srgbClr val="B96A1B"/>
                </a:solidFill>
                <a:latin typeface="Calibri" pitchFamily="34" charset="0"/>
                <a:ea typeface="Calibri" pitchFamily="34" charset="-122"/>
                <a:cs typeface="Calibri" pitchFamily="34" charset="-120"/>
              </a:rPr>
              <a:t>the most  </a:t>
            </a:r>
            <a:pPr indent="0" marL="0">
              <a:buNone/>
            </a:pPr>
            <a:r>
              <a:rPr lang="en-US" sz="900" dirty="0">
                <a:solidFill>
                  <a:srgbClr val="46545F"/>
                </a:solidFill>
                <a:latin typeface="Calibri" pitchFamily="34" charset="0"/>
                <a:ea typeface="Calibri" pitchFamily="34" charset="-122"/>
                <a:cs typeface="Calibri" pitchFamily="34" charset="-120"/>
              </a:rPr>
              <a:t>plans and acts across many steps</a:t>
            </a:r>
            <a:endParaRPr lang="en-US" sz="1000" dirty="0"/>
          </a:p>
        </p:txBody>
      </p:sp>
      <p:sp>
        <p:nvSpPr>
          <p:cNvPr id="23" name="Shape 21"/>
          <p:cNvSpPr/>
          <p:nvPr/>
        </p:nvSpPr>
        <p:spPr>
          <a:xfrm>
            <a:off x="6035040" y="1481328"/>
            <a:ext cx="5623560" cy="3017520"/>
          </a:xfrm>
          <a:prstGeom prst="roundRect">
            <a:avLst>
              <a:gd name="adj" fmla="val 2424"/>
            </a:avLst>
          </a:prstGeom>
          <a:solidFill>
            <a:srgbClr val="F2F5F6"/>
          </a:solidFill>
          <a:ln/>
        </p:spPr>
      </p:sp>
      <p:sp>
        <p:nvSpPr>
          <p:cNvPr id="24" name="Text 22"/>
          <p:cNvSpPr/>
          <p:nvPr/>
        </p:nvSpPr>
        <p:spPr>
          <a:xfrm>
            <a:off x="6291072" y="1645920"/>
            <a:ext cx="5120640" cy="347472"/>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What it’s called where you are (Sep 2026)</a:t>
            </a:r>
            <a:endParaRPr lang="en-US" sz="1350" dirty="0"/>
          </a:p>
        </p:txBody>
      </p:sp>
      <p:sp>
        <p:nvSpPr>
          <p:cNvPr id="25" name="Shape 23"/>
          <p:cNvSpPr/>
          <p:nvPr/>
        </p:nvSpPr>
        <p:spPr>
          <a:xfrm>
            <a:off x="6291072" y="2057400"/>
            <a:ext cx="329184" cy="329184"/>
          </a:xfrm>
          <a:prstGeom prst="roundRect">
            <a:avLst>
              <a:gd name="adj" fmla="val 25000"/>
            </a:avLst>
          </a:prstGeom>
          <a:solidFill>
            <a:srgbClr val="FFFFFF"/>
          </a:solidFill>
          <a:ln w="9525">
            <a:solidFill>
              <a:srgbClr val="DCE3E6"/>
            </a:solidFill>
            <a:prstDash val="solid"/>
          </a:ln>
        </p:spPr>
      </p:sp>
      <p:pic>
        <p:nvPicPr>
          <p:cNvPr id="26" name="Image 0" descr="/home/user/Claude-Works/ai-training-prompt-engineering/src/assets/logos/openai.png">    </p:cNvPr>
          <p:cNvPicPr>
            <a:picLocks noChangeAspect="1"/>
          </p:cNvPicPr>
          <p:nvPr/>
        </p:nvPicPr>
        <p:blipFill>
          <a:blip r:embed="rId1"/>
          <a:stretch>
            <a:fillRect/>
          </a:stretch>
        </p:blipFill>
        <p:spPr>
          <a:xfrm>
            <a:off x="6337158" y="2103486"/>
            <a:ext cx="237012" cy="237012"/>
          </a:xfrm>
          <a:prstGeom prst="rect">
            <a:avLst/>
          </a:prstGeom>
        </p:spPr>
      </p:pic>
      <p:sp>
        <p:nvSpPr>
          <p:cNvPr id="27" name="Text 24"/>
          <p:cNvSpPr/>
          <p:nvPr/>
        </p:nvSpPr>
        <p:spPr>
          <a:xfrm>
            <a:off x="6711696" y="2029968"/>
            <a:ext cx="978408" cy="384048"/>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ChatGPT</a:t>
            </a:r>
            <a:endParaRPr lang="en-US" sz="1050" dirty="0"/>
          </a:p>
        </p:txBody>
      </p:sp>
      <p:sp>
        <p:nvSpPr>
          <p:cNvPr id="28" name="Text 25"/>
          <p:cNvSpPr/>
          <p:nvPr/>
        </p:nvSpPr>
        <p:spPr>
          <a:xfrm>
            <a:off x="7726680" y="2029968"/>
            <a:ext cx="3794760" cy="384048"/>
          </a:xfrm>
          <a:prstGeom prst="rect">
            <a:avLst/>
          </a:prstGeom>
          <a:noFill/>
          <a:ln/>
        </p:spPr>
        <p:txBody>
          <a:bodyPr wrap="square" lIns="0" tIns="0" rIns="0" bIns="0" rtlCol="0" anchor="ctr"/>
          <a:lstStyle/>
          <a:p>
            <a:pPr indent="0" marL="0">
              <a:lnSpc>
                <a:spcPct val="95000"/>
              </a:lnSpc>
              <a:buNone/>
            </a:pPr>
            <a:r>
              <a:rPr lang="en-US" sz="880" dirty="0">
                <a:solidFill>
                  <a:srgbClr val="46545F"/>
                </a:solidFill>
                <a:latin typeface="Calibri" pitchFamily="34" charset="0"/>
                <a:ea typeface="Calibri" pitchFamily="34" charset="-122"/>
                <a:cs typeface="Calibri" pitchFamily="34" charset="-120"/>
              </a:rPr>
              <a:t>deep research · thinking slider (paid) · “Think” button (free)</a:t>
            </a:r>
            <a:endParaRPr lang="en-US" sz="880" dirty="0"/>
          </a:p>
        </p:txBody>
      </p:sp>
      <p:sp>
        <p:nvSpPr>
          <p:cNvPr id="29" name="Shape 26"/>
          <p:cNvSpPr/>
          <p:nvPr/>
        </p:nvSpPr>
        <p:spPr>
          <a:xfrm>
            <a:off x="6291072" y="2459736"/>
            <a:ext cx="329184" cy="329184"/>
          </a:xfrm>
          <a:prstGeom prst="roundRect">
            <a:avLst>
              <a:gd name="adj" fmla="val 25000"/>
            </a:avLst>
          </a:prstGeom>
          <a:solidFill>
            <a:srgbClr val="FFFFFF"/>
          </a:solidFill>
          <a:ln w="9525">
            <a:solidFill>
              <a:srgbClr val="DCE3E6"/>
            </a:solidFill>
            <a:prstDash val="solid"/>
          </a:ln>
        </p:spPr>
      </p:sp>
      <p:pic>
        <p:nvPicPr>
          <p:cNvPr id="30" name="Image 1" descr="/home/user/Claude-Works/ai-training-prompt-engineering/src/assets/logos/gemini.png">    </p:cNvPr>
          <p:cNvPicPr>
            <a:picLocks noChangeAspect="1"/>
          </p:cNvPicPr>
          <p:nvPr/>
        </p:nvPicPr>
        <p:blipFill>
          <a:blip r:embed="rId2"/>
          <a:stretch>
            <a:fillRect/>
          </a:stretch>
        </p:blipFill>
        <p:spPr>
          <a:xfrm>
            <a:off x="6337158" y="2505822"/>
            <a:ext cx="237012" cy="237012"/>
          </a:xfrm>
          <a:prstGeom prst="rect">
            <a:avLst/>
          </a:prstGeom>
        </p:spPr>
      </p:pic>
      <p:sp>
        <p:nvSpPr>
          <p:cNvPr id="31" name="Text 27"/>
          <p:cNvSpPr/>
          <p:nvPr/>
        </p:nvSpPr>
        <p:spPr>
          <a:xfrm>
            <a:off x="6711696" y="2432304"/>
            <a:ext cx="978408" cy="384048"/>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Gemini</a:t>
            </a:r>
            <a:endParaRPr lang="en-US" sz="1050" dirty="0"/>
          </a:p>
        </p:txBody>
      </p:sp>
      <p:sp>
        <p:nvSpPr>
          <p:cNvPr id="32" name="Text 28"/>
          <p:cNvSpPr/>
          <p:nvPr/>
        </p:nvSpPr>
        <p:spPr>
          <a:xfrm>
            <a:off x="7726680" y="2432304"/>
            <a:ext cx="3794760" cy="384048"/>
          </a:xfrm>
          <a:prstGeom prst="rect">
            <a:avLst/>
          </a:prstGeom>
          <a:noFill/>
          <a:ln/>
        </p:spPr>
        <p:txBody>
          <a:bodyPr wrap="square" lIns="0" tIns="0" rIns="0" bIns="0" rtlCol="0" anchor="ctr"/>
          <a:lstStyle/>
          <a:p>
            <a:pPr indent="0" marL="0">
              <a:lnSpc>
                <a:spcPct val="95000"/>
              </a:lnSpc>
              <a:buNone/>
            </a:pPr>
            <a:r>
              <a:rPr lang="en-US" sz="880" dirty="0">
                <a:solidFill>
                  <a:srgbClr val="46545F"/>
                </a:solidFill>
                <a:latin typeface="Calibri" pitchFamily="34" charset="0"/>
                <a:ea typeface="Calibri" pitchFamily="34" charset="-122"/>
                <a:cs typeface="Calibri" pitchFamily="34" charset="-120"/>
              </a:rPr>
              <a:t>Deep Research (all tiers) · Deep Think = separate hard-reasoning mode (Ultra)</a:t>
            </a:r>
            <a:endParaRPr lang="en-US" sz="880" dirty="0"/>
          </a:p>
        </p:txBody>
      </p:sp>
      <p:sp>
        <p:nvSpPr>
          <p:cNvPr id="33" name="Shape 29"/>
          <p:cNvSpPr/>
          <p:nvPr/>
        </p:nvSpPr>
        <p:spPr>
          <a:xfrm>
            <a:off x="6291072" y="2862072"/>
            <a:ext cx="329184" cy="329184"/>
          </a:xfrm>
          <a:prstGeom prst="roundRect">
            <a:avLst>
              <a:gd name="adj" fmla="val 25000"/>
            </a:avLst>
          </a:prstGeom>
          <a:solidFill>
            <a:srgbClr val="FFFFFF"/>
          </a:solidFill>
          <a:ln w="9525">
            <a:solidFill>
              <a:srgbClr val="DCE3E6"/>
            </a:solidFill>
            <a:prstDash val="solid"/>
          </a:ln>
        </p:spPr>
      </p:sp>
      <p:pic>
        <p:nvPicPr>
          <p:cNvPr id="34" name="Image 2" descr="/home/user/Claude-Works/ai-training-prompt-engineering/src/assets/logos/claude.png">    </p:cNvPr>
          <p:cNvPicPr>
            <a:picLocks noChangeAspect="1"/>
          </p:cNvPicPr>
          <p:nvPr/>
        </p:nvPicPr>
        <p:blipFill>
          <a:blip r:embed="rId3"/>
          <a:stretch>
            <a:fillRect/>
          </a:stretch>
        </p:blipFill>
        <p:spPr>
          <a:xfrm>
            <a:off x="6337158" y="2908158"/>
            <a:ext cx="237012" cy="237012"/>
          </a:xfrm>
          <a:prstGeom prst="rect">
            <a:avLst/>
          </a:prstGeom>
        </p:spPr>
      </p:pic>
      <p:sp>
        <p:nvSpPr>
          <p:cNvPr id="35" name="Text 30"/>
          <p:cNvSpPr/>
          <p:nvPr/>
        </p:nvSpPr>
        <p:spPr>
          <a:xfrm>
            <a:off x="6711696" y="2834640"/>
            <a:ext cx="978408" cy="384048"/>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Claude</a:t>
            </a:r>
            <a:endParaRPr lang="en-US" sz="1050" dirty="0"/>
          </a:p>
        </p:txBody>
      </p:sp>
      <p:sp>
        <p:nvSpPr>
          <p:cNvPr id="36" name="Text 31"/>
          <p:cNvSpPr/>
          <p:nvPr/>
        </p:nvSpPr>
        <p:spPr>
          <a:xfrm>
            <a:off x="7726680" y="2834640"/>
            <a:ext cx="3794760" cy="384048"/>
          </a:xfrm>
          <a:prstGeom prst="rect">
            <a:avLst/>
          </a:prstGeom>
          <a:noFill/>
          <a:ln/>
        </p:spPr>
        <p:txBody>
          <a:bodyPr wrap="square" lIns="0" tIns="0" rIns="0" bIns="0" rtlCol="0" anchor="ctr"/>
          <a:lstStyle/>
          <a:p>
            <a:pPr indent="0" marL="0">
              <a:lnSpc>
                <a:spcPct val="95000"/>
              </a:lnSpc>
              <a:buNone/>
            </a:pPr>
            <a:r>
              <a:rPr lang="en-US" sz="880" dirty="0">
                <a:solidFill>
                  <a:srgbClr val="46545F"/>
                </a:solidFill>
                <a:latin typeface="Calibri" pitchFamily="34" charset="0"/>
                <a:ea typeface="Calibri" pitchFamily="34" charset="-122"/>
                <a:cs typeface="Calibri" pitchFamily="34" charset="-120"/>
              </a:rPr>
              <a:t>Research (paid plans) · extended thinking</a:t>
            </a:r>
            <a:endParaRPr lang="en-US" sz="880" dirty="0"/>
          </a:p>
        </p:txBody>
      </p:sp>
      <p:sp>
        <p:nvSpPr>
          <p:cNvPr id="37" name="Shape 32"/>
          <p:cNvSpPr/>
          <p:nvPr/>
        </p:nvSpPr>
        <p:spPr>
          <a:xfrm>
            <a:off x="6291072" y="3264408"/>
            <a:ext cx="329184" cy="329184"/>
          </a:xfrm>
          <a:prstGeom prst="roundRect">
            <a:avLst>
              <a:gd name="adj" fmla="val 25000"/>
            </a:avLst>
          </a:prstGeom>
          <a:solidFill>
            <a:srgbClr val="FFFFFF"/>
          </a:solidFill>
          <a:ln w="9525">
            <a:solidFill>
              <a:srgbClr val="DCE3E6"/>
            </a:solidFill>
            <a:prstDash val="solid"/>
          </a:ln>
        </p:spPr>
      </p:sp>
      <p:pic>
        <p:nvPicPr>
          <p:cNvPr id="38" name="Image 3" descr="/home/user/Claude-Works/ai-training-prompt-engineering/src/assets/logos/copilot.png">    </p:cNvPr>
          <p:cNvPicPr>
            <a:picLocks noChangeAspect="1"/>
          </p:cNvPicPr>
          <p:nvPr/>
        </p:nvPicPr>
        <p:blipFill>
          <a:blip r:embed="rId4"/>
          <a:stretch>
            <a:fillRect/>
          </a:stretch>
        </p:blipFill>
        <p:spPr>
          <a:xfrm>
            <a:off x="6337158" y="3310494"/>
            <a:ext cx="237012" cy="237012"/>
          </a:xfrm>
          <a:prstGeom prst="rect">
            <a:avLst/>
          </a:prstGeom>
        </p:spPr>
      </p:pic>
      <p:sp>
        <p:nvSpPr>
          <p:cNvPr id="39" name="Text 33"/>
          <p:cNvSpPr/>
          <p:nvPr/>
        </p:nvSpPr>
        <p:spPr>
          <a:xfrm>
            <a:off x="6711696" y="3236976"/>
            <a:ext cx="978408" cy="384048"/>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Copilot</a:t>
            </a:r>
            <a:endParaRPr lang="en-US" sz="1050" dirty="0"/>
          </a:p>
        </p:txBody>
      </p:sp>
      <p:sp>
        <p:nvSpPr>
          <p:cNvPr id="40" name="Text 34"/>
          <p:cNvSpPr/>
          <p:nvPr/>
        </p:nvSpPr>
        <p:spPr>
          <a:xfrm>
            <a:off x="7726680" y="3236976"/>
            <a:ext cx="3794760" cy="384048"/>
          </a:xfrm>
          <a:prstGeom prst="rect">
            <a:avLst/>
          </a:prstGeom>
          <a:noFill/>
          <a:ln/>
        </p:spPr>
        <p:txBody>
          <a:bodyPr wrap="square" lIns="0" tIns="0" rIns="0" bIns="0" rtlCol="0" anchor="ctr"/>
          <a:lstStyle/>
          <a:p>
            <a:pPr indent="0" marL="0">
              <a:lnSpc>
                <a:spcPct val="95000"/>
              </a:lnSpc>
              <a:buNone/>
            </a:pPr>
            <a:r>
              <a:rPr lang="en-US" sz="880" dirty="0">
                <a:solidFill>
                  <a:srgbClr val="46545F"/>
                </a:solidFill>
                <a:latin typeface="Calibri" pitchFamily="34" charset="0"/>
                <a:ea typeface="Calibri" pitchFamily="34" charset="-122"/>
                <a:cs typeface="Calibri" pitchFamily="34" charset="-120"/>
              </a:rPr>
              <a:t>Quick response · Think Deeper · Smart (GPT-5) · Researcher agent</a:t>
            </a:r>
            <a:endParaRPr lang="en-US" sz="880" dirty="0"/>
          </a:p>
        </p:txBody>
      </p:sp>
      <p:sp>
        <p:nvSpPr>
          <p:cNvPr id="41" name="Shape 35"/>
          <p:cNvSpPr/>
          <p:nvPr/>
        </p:nvSpPr>
        <p:spPr>
          <a:xfrm>
            <a:off x="6291072" y="3666744"/>
            <a:ext cx="329184" cy="329184"/>
          </a:xfrm>
          <a:prstGeom prst="roundRect">
            <a:avLst>
              <a:gd name="adj" fmla="val 25000"/>
            </a:avLst>
          </a:prstGeom>
          <a:solidFill>
            <a:srgbClr val="FFFFFF"/>
          </a:solidFill>
          <a:ln w="9525">
            <a:solidFill>
              <a:srgbClr val="DCE3E6"/>
            </a:solidFill>
            <a:prstDash val="solid"/>
          </a:ln>
        </p:spPr>
      </p:sp>
      <p:pic>
        <p:nvPicPr>
          <p:cNvPr id="42" name="Image 4" descr="/home/user/Claude-Works/ai-training-prompt-engineering/src/assets/logos/perplexity.png">    </p:cNvPr>
          <p:cNvPicPr>
            <a:picLocks noChangeAspect="1"/>
          </p:cNvPicPr>
          <p:nvPr/>
        </p:nvPicPr>
        <p:blipFill>
          <a:blip r:embed="rId5"/>
          <a:stretch>
            <a:fillRect/>
          </a:stretch>
        </p:blipFill>
        <p:spPr>
          <a:xfrm>
            <a:off x="6337158" y="3712830"/>
            <a:ext cx="237012" cy="237012"/>
          </a:xfrm>
          <a:prstGeom prst="rect">
            <a:avLst/>
          </a:prstGeom>
        </p:spPr>
      </p:pic>
      <p:sp>
        <p:nvSpPr>
          <p:cNvPr id="43" name="Text 36"/>
          <p:cNvSpPr/>
          <p:nvPr/>
        </p:nvSpPr>
        <p:spPr>
          <a:xfrm>
            <a:off x="6711696" y="3639312"/>
            <a:ext cx="978408" cy="384048"/>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Perplexity</a:t>
            </a:r>
            <a:endParaRPr lang="en-US" sz="1050" dirty="0"/>
          </a:p>
        </p:txBody>
      </p:sp>
      <p:sp>
        <p:nvSpPr>
          <p:cNvPr id="44" name="Text 37"/>
          <p:cNvSpPr/>
          <p:nvPr/>
        </p:nvSpPr>
        <p:spPr>
          <a:xfrm>
            <a:off x="7726680" y="3639312"/>
            <a:ext cx="3794760" cy="384048"/>
          </a:xfrm>
          <a:prstGeom prst="rect">
            <a:avLst/>
          </a:prstGeom>
          <a:noFill/>
          <a:ln/>
        </p:spPr>
        <p:txBody>
          <a:bodyPr wrap="square" lIns="0" tIns="0" rIns="0" bIns="0" rtlCol="0" anchor="ctr"/>
          <a:lstStyle/>
          <a:p>
            <a:pPr indent="0" marL="0">
              <a:lnSpc>
                <a:spcPct val="95000"/>
              </a:lnSpc>
              <a:buNone/>
            </a:pPr>
            <a:r>
              <a:rPr lang="en-US" sz="880" dirty="0">
                <a:solidFill>
                  <a:srgbClr val="46545F"/>
                </a:solidFill>
                <a:latin typeface="Calibri" pitchFamily="34" charset="0"/>
                <a:ea typeface="Calibri" pitchFamily="34" charset="-122"/>
                <a:cs typeface="Calibri" pitchFamily="34" charset="-120"/>
              </a:rPr>
              <a:t>Search · Research · Create files and apps</a:t>
            </a:r>
            <a:endParaRPr lang="en-US" sz="880" dirty="0"/>
          </a:p>
        </p:txBody>
      </p:sp>
      <p:sp>
        <p:nvSpPr>
          <p:cNvPr id="45" name="Shape 38"/>
          <p:cNvSpPr/>
          <p:nvPr/>
        </p:nvSpPr>
        <p:spPr>
          <a:xfrm>
            <a:off x="6291072" y="4069080"/>
            <a:ext cx="329184" cy="329184"/>
          </a:xfrm>
          <a:prstGeom prst="roundRect">
            <a:avLst>
              <a:gd name="adj" fmla="val 25000"/>
            </a:avLst>
          </a:prstGeom>
          <a:solidFill>
            <a:srgbClr val="FFFFFF"/>
          </a:solidFill>
          <a:ln w="9525">
            <a:solidFill>
              <a:srgbClr val="DCE3E6"/>
            </a:solidFill>
            <a:prstDash val="solid"/>
          </a:ln>
        </p:spPr>
      </p:sp>
      <p:pic>
        <p:nvPicPr>
          <p:cNvPr id="46" name="Image 5" descr="/home/user/Claude-Works/ai-training-prompt-engineering/src/assets/logos/grok.png">    </p:cNvPr>
          <p:cNvPicPr>
            <a:picLocks noChangeAspect="1"/>
          </p:cNvPicPr>
          <p:nvPr/>
        </p:nvPicPr>
        <p:blipFill>
          <a:blip r:embed="rId6"/>
          <a:stretch>
            <a:fillRect/>
          </a:stretch>
        </p:blipFill>
        <p:spPr>
          <a:xfrm>
            <a:off x="6337158" y="4115166"/>
            <a:ext cx="237012" cy="237012"/>
          </a:xfrm>
          <a:prstGeom prst="rect">
            <a:avLst/>
          </a:prstGeom>
        </p:spPr>
      </p:pic>
      <p:sp>
        <p:nvSpPr>
          <p:cNvPr id="47" name="Text 39"/>
          <p:cNvSpPr/>
          <p:nvPr/>
        </p:nvSpPr>
        <p:spPr>
          <a:xfrm>
            <a:off x="6711696" y="4041648"/>
            <a:ext cx="978408" cy="384048"/>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Grok</a:t>
            </a:r>
            <a:endParaRPr lang="en-US" sz="1050" dirty="0"/>
          </a:p>
        </p:txBody>
      </p:sp>
      <p:sp>
        <p:nvSpPr>
          <p:cNvPr id="48" name="Text 40"/>
          <p:cNvSpPr/>
          <p:nvPr/>
        </p:nvSpPr>
        <p:spPr>
          <a:xfrm>
            <a:off x="7726680" y="4041648"/>
            <a:ext cx="3794760" cy="384048"/>
          </a:xfrm>
          <a:prstGeom prst="rect">
            <a:avLst/>
          </a:prstGeom>
          <a:noFill/>
          <a:ln/>
        </p:spPr>
        <p:txBody>
          <a:bodyPr wrap="square" lIns="0" tIns="0" rIns="0" bIns="0" rtlCol="0" anchor="ctr"/>
          <a:lstStyle/>
          <a:p>
            <a:pPr indent="0" marL="0">
              <a:lnSpc>
                <a:spcPct val="95000"/>
              </a:lnSpc>
              <a:buNone/>
            </a:pPr>
            <a:r>
              <a:rPr lang="en-US" sz="880" dirty="0">
                <a:solidFill>
                  <a:srgbClr val="46545F"/>
                </a:solidFill>
                <a:latin typeface="Calibri" pitchFamily="34" charset="0"/>
                <a:ea typeface="Calibri" pitchFamily="34" charset="-122"/>
                <a:cs typeface="Calibri" pitchFamily="34" charset="-120"/>
              </a:rPr>
              <a:t>Auto · Fast · Expert · Heavy (multi-agent, $300 tier) — old Think/DeepSearch buttons retired</a:t>
            </a:r>
            <a:endParaRPr lang="en-US" sz="880" dirty="0"/>
          </a:p>
        </p:txBody>
      </p:sp>
      <p:sp>
        <p:nvSpPr>
          <p:cNvPr id="49" name="Text 41"/>
          <p:cNvSpPr/>
          <p:nvPr/>
        </p:nvSpPr>
        <p:spPr>
          <a:xfrm>
            <a:off x="502920" y="4590288"/>
            <a:ext cx="11155680" cy="384048"/>
          </a:xfrm>
          <a:prstGeom prst="rect">
            <a:avLst/>
          </a:prstGeom>
          <a:noFill/>
          <a:ln/>
        </p:spPr>
        <p:txBody>
          <a:bodyPr wrap="square" lIns="0" tIns="0" rIns="0" bIns="0" rtlCol="0" anchor="ctr"/>
          <a:lstStyle/>
          <a:p>
            <a:pPr indent="0" marL="0">
              <a:lnSpc>
                <a:spcPct val="105000"/>
              </a:lnSpc>
              <a:buNone/>
            </a:pPr>
            <a:r>
              <a:rPr lang="en-US" sz="1050" i="1" dirty="0">
                <a:solidFill>
                  <a:srgbClr val="46545F"/>
                </a:solidFill>
                <a:latin typeface="Calibri" pitchFamily="34" charset="0"/>
                <a:ea typeface="Calibri" pitchFamily="34" charset="-122"/>
                <a:cs typeface="Calibri" pitchFamily="34" charset="-120"/>
              </a:rPr>
              <a:t>Deep research, demystified: a reasoning model given a browser and time — it plans, reads sources for minutes, and synthesizes a cited report. The MoE story in Part 2 is why that became affordable.</a:t>
            </a:r>
            <a:endParaRPr lang="en-US" sz="1050" dirty="0"/>
          </a:p>
        </p:txBody>
      </p:sp>
      <p:sp>
        <p:nvSpPr>
          <p:cNvPr id="50" name="Shape 42"/>
          <p:cNvSpPr/>
          <p:nvPr/>
        </p:nvSpPr>
        <p:spPr>
          <a:xfrm>
            <a:off x="502920" y="5029200"/>
            <a:ext cx="11155680" cy="1417320"/>
          </a:xfrm>
          <a:prstGeom prst="roundRect">
            <a:avLst>
              <a:gd name="adj" fmla="val 5161"/>
            </a:avLst>
          </a:prstGeom>
          <a:solidFill>
            <a:srgbClr val="E4F0EF"/>
          </a:solidFill>
          <a:ln/>
        </p:spPr>
      </p:sp>
      <p:sp>
        <p:nvSpPr>
          <p:cNvPr id="51" name="Shape 43"/>
          <p:cNvSpPr/>
          <p:nvPr/>
        </p:nvSpPr>
        <p:spPr>
          <a:xfrm>
            <a:off x="649224" y="5148072"/>
            <a:ext cx="365760" cy="365760"/>
          </a:xfrm>
          <a:prstGeom prst="ellipse">
            <a:avLst/>
          </a:prstGeom>
          <a:solidFill>
            <a:srgbClr val="0E7C7B"/>
          </a:solidFill>
          <a:ln/>
        </p:spPr>
      </p:sp>
      <p:pic>
        <p:nvPicPr>
          <p:cNvPr id="52" name="Image 6" descr="/home/user/Claude-Works/ai-training-prompt-engineering/src/assets/icons/robot_w.png">    </p:cNvPr>
          <p:cNvPicPr>
            <a:picLocks noChangeAspect="1"/>
          </p:cNvPicPr>
          <p:nvPr/>
        </p:nvPicPr>
        <p:blipFill>
          <a:blip r:embed="rId7"/>
          <a:stretch>
            <a:fillRect/>
          </a:stretch>
        </p:blipFill>
        <p:spPr>
          <a:xfrm>
            <a:off x="744322" y="5243170"/>
            <a:ext cx="175565" cy="175565"/>
          </a:xfrm>
          <a:prstGeom prst="rect">
            <a:avLst/>
          </a:prstGeom>
        </p:spPr>
      </p:pic>
      <p:sp>
        <p:nvSpPr>
          <p:cNvPr id="53" name="Shape 44"/>
          <p:cNvSpPr/>
          <p:nvPr/>
        </p:nvSpPr>
        <p:spPr>
          <a:xfrm>
            <a:off x="1106424" y="5175504"/>
            <a:ext cx="1188720" cy="310896"/>
          </a:xfrm>
          <a:prstGeom prst="roundRect">
            <a:avLst>
              <a:gd name="adj" fmla="val 23529"/>
            </a:avLst>
          </a:prstGeom>
          <a:solidFill>
            <a:srgbClr val="0E7C7B"/>
          </a:solidFill>
          <a:ln/>
        </p:spPr>
      </p:sp>
      <p:sp>
        <p:nvSpPr>
          <p:cNvPr id="54" name="Text 45"/>
          <p:cNvSpPr/>
          <p:nvPr/>
        </p:nvSpPr>
        <p:spPr>
          <a:xfrm>
            <a:off x="1106424" y="518464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PROMPT 6/7</a:t>
            </a:r>
            <a:endParaRPr lang="en-US" sz="950" dirty="0"/>
          </a:p>
        </p:txBody>
      </p:sp>
      <p:sp>
        <p:nvSpPr>
          <p:cNvPr id="55" name="Text 46"/>
          <p:cNvSpPr/>
          <p:nvPr/>
        </p:nvSpPr>
        <p:spPr>
          <a:xfrm>
            <a:off x="2404872" y="5184648"/>
            <a:ext cx="9006840" cy="292608"/>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Ask your own product for its menu</a:t>
            </a:r>
            <a:endParaRPr lang="en-US" sz="1050" dirty="0"/>
          </a:p>
        </p:txBody>
      </p:sp>
      <p:sp>
        <p:nvSpPr>
          <p:cNvPr id="56" name="Text 47"/>
          <p:cNvSpPr/>
          <p:nvPr/>
        </p:nvSpPr>
        <p:spPr>
          <a:xfrm>
            <a:off x="685800" y="5541264"/>
            <a:ext cx="10789920" cy="539496"/>
          </a:xfrm>
          <a:prstGeom prst="rect">
            <a:avLst/>
          </a:prstGeom>
          <a:noFill/>
          <a:ln/>
        </p:spPr>
        <p:txBody>
          <a:bodyPr wrap="square" lIns="0" tIns="0" rIns="0" bIns="0" rtlCol="0" anchor="t"/>
          <a:lstStyle/>
          <a:p>
            <a:pPr indent="0" marL="0">
              <a:lnSpc>
                <a:spcPct val="108000"/>
              </a:lnSpc>
              <a:buNone/>
            </a:pPr>
            <a:r>
              <a:rPr lang="en-US" sz="90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900" dirty="0">
                <a:solidFill>
                  <a:srgbClr val="232A31"/>
                </a:solidFill>
                <a:latin typeface="Consolas" pitchFamily="34" charset="0"/>
                <a:ea typeface="Consolas" pitchFamily="34" charset="-122"/>
                <a:cs typeface="Consolas" pitchFamily="34" charset="-120"/>
              </a:rPr>
              <a:t>“List the modes this app gives me — quick answer, thinking, web search, deep research, agent — one line each on what it does differently and its rough effort. Say ‘unsure’ rather than guess.”</a:t>
            </a:r>
            <a:endParaRPr lang="en-US" sz="900" dirty="0"/>
          </a:p>
          <a:p>
            <a:pPr indent="0" marL="0">
              <a:lnSpc>
                <a:spcPct val="108000"/>
              </a:lnSpc>
              <a:buNone/>
            </a:pPr>
            <a:r>
              <a:rPr lang="en-US" sz="85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850" i="1" dirty="0">
                <a:solidFill>
                  <a:srgbClr val="46545F"/>
                </a:solidFill>
                <a:latin typeface="Calibri" pitchFamily="34" charset="0"/>
                <a:ea typeface="Calibri" pitchFamily="34" charset="-122"/>
                <a:cs typeface="Calibri" pitchFamily="34" charset="-120"/>
              </a:rPr>
              <a:t>your own product hands you its menu; ask again the day it changes.</a:t>
            </a:r>
            <a:endParaRPr lang="en-US" sz="900" dirty="0"/>
          </a:p>
        </p:txBody>
      </p:sp>
      <p:sp>
        <p:nvSpPr>
          <p:cNvPr id="57" name="Text 48"/>
          <p:cNvSpPr/>
          <p:nvPr/>
        </p:nvSpPr>
        <p:spPr>
          <a:xfrm>
            <a:off x="685800" y="6153912"/>
            <a:ext cx="10789920" cy="237744"/>
          </a:xfrm>
          <a:prstGeom prst="rect">
            <a:avLst/>
          </a:prstGeom>
          <a:noFill/>
          <a:ln/>
        </p:spPr>
        <p:txBody>
          <a:bodyPr wrap="square" lIns="0" tIns="0" rIns="0" bIns="0" rtlCol="0" anchor="ctr"/>
          <a:lstStyle/>
          <a:p>
            <a:pPr indent="0" marL="0">
              <a:buNone/>
            </a:pPr>
            <a:r>
              <a:rPr lang="en-US" sz="800" i="1" dirty="0">
                <a:solidFill>
                  <a:srgbClr val="0A5B5A"/>
                </a:solidFill>
                <a:latin typeface="Calibri" pitchFamily="34" charset="0"/>
                <a:ea typeface="Calibri" pitchFamily="34" charset="-122"/>
                <a:cs typeface="Calibri" pitchFamily="34" charset="-120"/>
              </a:rPr>
              <a:t>✂ copy-paste, don’t retype: tab EX6-FeatureMenu of your Course Workbook</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14</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HALLUCINATION</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Fluency is not evidence</a:t>
            </a:r>
            <a:endParaRPr lang="en-US" sz="3000" dirty="0"/>
          </a:p>
        </p:txBody>
      </p:sp>
      <p:sp>
        <p:nvSpPr>
          <p:cNvPr id="6" name="Text 4"/>
          <p:cNvSpPr/>
          <p:nvPr/>
        </p:nvSpPr>
        <p:spPr>
          <a:xfrm>
            <a:off x="502920" y="1481328"/>
            <a:ext cx="5120640" cy="2331720"/>
          </a:xfrm>
          <a:prstGeom prst="rect">
            <a:avLst/>
          </a:prstGeom>
          <a:noFill/>
          <a:ln/>
        </p:spPr>
        <p:txBody>
          <a:bodyPr wrap="square" lIns="0" tIns="0" rIns="0" bIns="0" rtlCol="0" anchor="t"/>
          <a:lstStyle/>
          <a:p>
            <a:pPr algn="l" marL="127000" indent="-127000">
              <a:lnSpc>
                <a:spcPct val="104000"/>
              </a:lnSpc>
              <a:spcAft>
                <a:spcPts val="600"/>
              </a:spcAft>
              <a:buSzPct val="100000"/>
              <a:buChar char="•"/>
            </a:pPr>
            <a:r>
              <a:rPr lang="en-US" sz="1150" dirty="0">
                <a:solidFill>
                  <a:srgbClr val="46545F"/>
                </a:solidFill>
                <a:latin typeface="Calibri" pitchFamily="34" charset="0"/>
                <a:ea typeface="Calibri" pitchFamily="34" charset="-122"/>
                <a:cs typeface="Calibri" pitchFamily="34" charset="-120"/>
              </a:rPr>
              <a:t>The mechanism: models are optimized for the most plausible next token, not the most true one. Trouble concentrates where training data is thin: rare facts, citations, numbers, names.</a:t>
            </a:r>
            <a:endParaRPr lang="en-US" sz="1150" dirty="0"/>
          </a:p>
          <a:p>
            <a:pPr algn="l" marL="127000" indent="-127000">
              <a:lnSpc>
                <a:spcPct val="104000"/>
              </a:lnSpc>
              <a:spcAft>
                <a:spcPts val="600"/>
              </a:spcAft>
              <a:buSzPct val="100000"/>
              <a:buChar char="•"/>
            </a:pPr>
            <a:r>
              <a:rPr lang="en-US" sz="1150" b="1" dirty="0">
                <a:solidFill>
                  <a:srgbClr val="46545F"/>
                </a:solidFill>
                <a:latin typeface="Calibri" pitchFamily="34" charset="0"/>
                <a:ea typeface="Calibri" pitchFamily="34" charset="-122"/>
                <a:cs typeface="Calibri" pitchFamily="34" charset="-120"/>
              </a:rPr>
              <a:t>OpenAI’s own 2025 research: benchmarks reward confident guessing over “I don’t know” — models learn to be good test-takers.</a:t>
            </a:r>
            <a:endParaRPr lang="en-US" sz="1150" dirty="0"/>
          </a:p>
          <a:p>
            <a:pPr algn="l" marL="127000" indent="-127000">
              <a:lnSpc>
                <a:spcPct val="104000"/>
              </a:lnSpc>
              <a:spcAft>
                <a:spcPts val="600"/>
              </a:spcAft>
              <a:buSzPct val="100000"/>
              <a:buChar char="•"/>
            </a:pPr>
            <a:r>
              <a:rPr lang="en-US" sz="1150" dirty="0">
                <a:solidFill>
                  <a:srgbClr val="46545F"/>
                </a:solidFill>
                <a:latin typeface="Calibri" pitchFamily="34" charset="0"/>
                <a:ea typeface="Calibri" pitchFamily="34" charset="-122"/>
                <a:cs typeface="Calibri" pitchFamily="34" charset="-120"/>
              </a:rPr>
              <a:t>The better word is confabulation: it fills gaps with plausible material, in-format — fake citations LOOK like citations.</a:t>
            </a:r>
            <a:endParaRPr lang="en-US" sz="1150" dirty="0"/>
          </a:p>
        </p:txBody>
      </p:sp>
      <p:sp>
        <p:nvSpPr>
          <p:cNvPr id="7" name="Shape 5"/>
          <p:cNvSpPr/>
          <p:nvPr/>
        </p:nvSpPr>
        <p:spPr>
          <a:xfrm>
            <a:off x="502920" y="3950208"/>
            <a:ext cx="5120640" cy="2084832"/>
          </a:xfrm>
          <a:prstGeom prst="roundRect">
            <a:avLst>
              <a:gd name="adj" fmla="val 3509"/>
            </a:avLst>
          </a:prstGeom>
          <a:solidFill>
            <a:srgbClr val="F2F5F6"/>
          </a:solidFill>
          <a:ln/>
        </p:spPr>
      </p:sp>
      <p:sp>
        <p:nvSpPr>
          <p:cNvPr id="8" name="Text 6"/>
          <p:cNvSpPr/>
          <p:nvPr/>
        </p:nvSpPr>
        <p:spPr>
          <a:xfrm>
            <a:off x="749808" y="4078224"/>
            <a:ext cx="46634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confident guess, measured</a:t>
            </a:r>
            <a:endParaRPr lang="en-US" sz="1350" dirty="0"/>
          </a:p>
        </p:txBody>
      </p:sp>
      <p:sp>
        <p:nvSpPr>
          <p:cNvPr id="9" name="Text 7"/>
          <p:cNvSpPr/>
          <p:nvPr/>
        </p:nvSpPr>
        <p:spPr>
          <a:xfrm>
            <a:off x="749808" y="4407408"/>
            <a:ext cx="4572000" cy="219456"/>
          </a:xfrm>
          <a:prstGeom prst="rect">
            <a:avLst/>
          </a:prstGeom>
          <a:noFill/>
          <a:ln/>
        </p:spPr>
        <p:txBody>
          <a:bodyPr wrap="square" lIns="0" tIns="0" rIns="0" bIns="0" rtlCol="0" anchor="ctr"/>
          <a:lstStyle/>
          <a:p>
            <a:pPr indent="0" marL="0">
              <a:buNone/>
            </a:pPr>
            <a:r>
              <a:rPr lang="en-US" sz="900" b="1" dirty="0">
                <a:solidFill>
                  <a:srgbClr val="46545F"/>
                </a:solidFill>
                <a:latin typeface="Calibri" pitchFamily="34" charset="0"/>
                <a:ea typeface="Calibri" pitchFamily="34" charset="-122"/>
                <a:cs typeface="Calibri" pitchFamily="34" charset="-120"/>
              </a:rPr>
              <a:t>Older reasoning model (o4-mini)</a:t>
            </a:r>
            <a:endParaRPr lang="en-US" sz="900" dirty="0"/>
          </a:p>
        </p:txBody>
      </p:sp>
      <p:sp>
        <p:nvSpPr>
          <p:cNvPr id="10" name="Shape 8"/>
          <p:cNvSpPr/>
          <p:nvPr/>
        </p:nvSpPr>
        <p:spPr>
          <a:xfrm>
            <a:off x="749808" y="4626864"/>
            <a:ext cx="998525" cy="182880"/>
          </a:xfrm>
          <a:prstGeom prst="rect">
            <a:avLst/>
          </a:prstGeom>
          <a:solidFill>
            <a:srgbClr val="0E7C7B"/>
          </a:solidFill>
          <a:ln w="6350">
            <a:solidFill>
              <a:srgbClr val="FFFFFF"/>
            </a:solidFill>
            <a:prstDash val="solid"/>
          </a:ln>
        </p:spPr>
      </p:sp>
      <p:sp>
        <p:nvSpPr>
          <p:cNvPr id="11" name="Text 9"/>
          <p:cNvSpPr/>
          <p:nvPr/>
        </p:nvSpPr>
        <p:spPr>
          <a:xfrm>
            <a:off x="749808" y="4608576"/>
            <a:ext cx="998525"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24%</a:t>
            </a:r>
            <a:endParaRPr lang="en-US" sz="800" dirty="0"/>
          </a:p>
        </p:txBody>
      </p:sp>
      <p:sp>
        <p:nvSpPr>
          <p:cNvPr id="12" name="Shape 10"/>
          <p:cNvSpPr/>
          <p:nvPr/>
        </p:nvSpPr>
        <p:spPr>
          <a:xfrm>
            <a:off x="1748333" y="4626864"/>
            <a:ext cx="3120390" cy="182880"/>
          </a:xfrm>
          <a:prstGeom prst="rect">
            <a:avLst/>
          </a:prstGeom>
          <a:solidFill>
            <a:srgbClr val="AF3230"/>
          </a:solidFill>
          <a:ln w="6350">
            <a:solidFill>
              <a:srgbClr val="FFFFFF"/>
            </a:solidFill>
            <a:prstDash val="solid"/>
          </a:ln>
        </p:spPr>
      </p:sp>
      <p:sp>
        <p:nvSpPr>
          <p:cNvPr id="13" name="Text 11"/>
          <p:cNvSpPr/>
          <p:nvPr/>
        </p:nvSpPr>
        <p:spPr>
          <a:xfrm>
            <a:off x="1748333" y="4608576"/>
            <a:ext cx="312039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75%</a:t>
            </a:r>
            <a:endParaRPr lang="en-US" sz="800" dirty="0"/>
          </a:p>
        </p:txBody>
      </p:sp>
      <p:sp>
        <p:nvSpPr>
          <p:cNvPr id="14" name="Shape 12"/>
          <p:cNvSpPr/>
          <p:nvPr/>
        </p:nvSpPr>
        <p:spPr>
          <a:xfrm>
            <a:off x="4868723" y="4626864"/>
            <a:ext cx="41605" cy="182880"/>
          </a:xfrm>
          <a:prstGeom prst="rect">
            <a:avLst/>
          </a:prstGeom>
          <a:solidFill>
            <a:srgbClr val="46545F"/>
          </a:solidFill>
          <a:ln w="6350">
            <a:solidFill>
              <a:srgbClr val="FFFFFF"/>
            </a:solidFill>
            <a:prstDash val="solid"/>
          </a:ln>
        </p:spPr>
      </p:sp>
      <p:sp>
        <p:nvSpPr>
          <p:cNvPr id="15" name="Text 13"/>
          <p:cNvSpPr/>
          <p:nvPr/>
        </p:nvSpPr>
        <p:spPr>
          <a:xfrm>
            <a:off x="749808" y="4974336"/>
            <a:ext cx="4572000" cy="219456"/>
          </a:xfrm>
          <a:prstGeom prst="rect">
            <a:avLst/>
          </a:prstGeom>
          <a:noFill/>
          <a:ln/>
        </p:spPr>
        <p:txBody>
          <a:bodyPr wrap="square" lIns="0" tIns="0" rIns="0" bIns="0" rtlCol="0" anchor="ctr"/>
          <a:lstStyle/>
          <a:p>
            <a:pPr indent="0" marL="0">
              <a:buNone/>
            </a:pPr>
            <a:r>
              <a:rPr lang="en-US" sz="900" b="1" dirty="0">
                <a:solidFill>
                  <a:srgbClr val="46545F"/>
                </a:solidFill>
                <a:latin typeface="Calibri" pitchFamily="34" charset="0"/>
                <a:ea typeface="Calibri" pitchFamily="34" charset="-122"/>
                <a:cs typeface="Calibri" pitchFamily="34" charset="-120"/>
              </a:rPr>
              <a:t>Newer, trained to say “I don’t know”</a:t>
            </a:r>
            <a:endParaRPr lang="en-US" sz="900" dirty="0"/>
          </a:p>
        </p:txBody>
      </p:sp>
      <p:sp>
        <p:nvSpPr>
          <p:cNvPr id="16" name="Shape 14"/>
          <p:cNvSpPr/>
          <p:nvPr/>
        </p:nvSpPr>
        <p:spPr>
          <a:xfrm>
            <a:off x="749808" y="5193792"/>
            <a:ext cx="915314" cy="182880"/>
          </a:xfrm>
          <a:prstGeom prst="rect">
            <a:avLst/>
          </a:prstGeom>
          <a:solidFill>
            <a:srgbClr val="0E7C7B"/>
          </a:solidFill>
          <a:ln w="6350">
            <a:solidFill>
              <a:srgbClr val="FFFFFF"/>
            </a:solidFill>
            <a:prstDash val="solid"/>
          </a:ln>
        </p:spPr>
      </p:sp>
      <p:sp>
        <p:nvSpPr>
          <p:cNvPr id="17" name="Text 15"/>
          <p:cNvSpPr/>
          <p:nvPr/>
        </p:nvSpPr>
        <p:spPr>
          <a:xfrm>
            <a:off x="749808" y="5175504"/>
            <a:ext cx="915314"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22%</a:t>
            </a:r>
            <a:endParaRPr lang="en-US" sz="800" dirty="0"/>
          </a:p>
        </p:txBody>
      </p:sp>
      <p:sp>
        <p:nvSpPr>
          <p:cNvPr id="18" name="Shape 16"/>
          <p:cNvSpPr/>
          <p:nvPr/>
        </p:nvSpPr>
        <p:spPr>
          <a:xfrm>
            <a:off x="1665122" y="5193792"/>
            <a:ext cx="1081735" cy="182880"/>
          </a:xfrm>
          <a:prstGeom prst="rect">
            <a:avLst/>
          </a:prstGeom>
          <a:solidFill>
            <a:srgbClr val="AF3230"/>
          </a:solidFill>
          <a:ln w="6350">
            <a:solidFill>
              <a:srgbClr val="FFFFFF"/>
            </a:solidFill>
            <a:prstDash val="solid"/>
          </a:ln>
        </p:spPr>
      </p:sp>
      <p:sp>
        <p:nvSpPr>
          <p:cNvPr id="19" name="Text 17"/>
          <p:cNvSpPr/>
          <p:nvPr/>
        </p:nvSpPr>
        <p:spPr>
          <a:xfrm>
            <a:off x="1665122" y="5175504"/>
            <a:ext cx="1081735"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26%</a:t>
            </a:r>
            <a:endParaRPr lang="en-US" sz="800" dirty="0"/>
          </a:p>
        </p:txBody>
      </p:sp>
      <p:sp>
        <p:nvSpPr>
          <p:cNvPr id="20" name="Shape 18"/>
          <p:cNvSpPr/>
          <p:nvPr/>
        </p:nvSpPr>
        <p:spPr>
          <a:xfrm>
            <a:off x="2746858" y="5193792"/>
            <a:ext cx="2163470" cy="182880"/>
          </a:xfrm>
          <a:prstGeom prst="rect">
            <a:avLst/>
          </a:prstGeom>
          <a:solidFill>
            <a:srgbClr val="46545F"/>
          </a:solidFill>
          <a:ln w="6350">
            <a:solidFill>
              <a:srgbClr val="FFFFFF"/>
            </a:solidFill>
            <a:prstDash val="solid"/>
          </a:ln>
        </p:spPr>
      </p:sp>
      <p:sp>
        <p:nvSpPr>
          <p:cNvPr id="21" name="Text 19"/>
          <p:cNvSpPr/>
          <p:nvPr/>
        </p:nvSpPr>
        <p:spPr>
          <a:xfrm>
            <a:off x="2746858" y="5175504"/>
            <a:ext cx="216347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52%</a:t>
            </a:r>
            <a:endParaRPr lang="en-US" sz="800" dirty="0"/>
          </a:p>
        </p:txBody>
      </p:sp>
      <p:sp>
        <p:nvSpPr>
          <p:cNvPr id="22" name="Text 20"/>
          <p:cNvSpPr/>
          <p:nvPr/>
        </p:nvSpPr>
        <p:spPr>
          <a:xfrm>
            <a:off x="749808" y="5577840"/>
            <a:ext cx="4663440" cy="219456"/>
          </a:xfrm>
          <a:prstGeom prst="rect">
            <a:avLst/>
          </a:prstGeom>
          <a:noFill/>
          <a:ln/>
        </p:spPr>
        <p:txBody>
          <a:bodyPr wrap="square" lIns="0" tIns="0" rIns="0" bIns="0" rtlCol="0" anchor="ctr"/>
          <a:lstStyle/>
          <a:p>
            <a:pPr indent="0" marL="0">
              <a:buNone/>
            </a:pPr>
            <a:r>
              <a:rPr lang="en-US" sz="850" dirty="0">
                <a:solidFill>
                  <a:srgbClr val="0E7C7B"/>
                </a:solidFill>
                <a:latin typeface="Calibri" pitchFamily="34" charset="0"/>
                <a:ea typeface="Calibri" pitchFamily="34" charset="-122"/>
                <a:cs typeface="Calibri" pitchFamily="34" charset="-120"/>
              </a:rPr>
              <a:t>■</a:t>
            </a:r>
            <a:pPr indent="0" marL="0">
              <a:buNone/>
            </a:pPr>
            <a:r>
              <a:rPr lang="en-US" sz="850" dirty="0">
                <a:solidFill>
                  <a:srgbClr val="46545F"/>
                </a:solidFill>
                <a:latin typeface="Calibri" pitchFamily="34" charset="0"/>
                <a:ea typeface="Calibri" pitchFamily="34" charset="-122"/>
                <a:cs typeface="Calibri" pitchFamily="34" charset="-120"/>
              </a:rPr>
              <a:t> right  </a:t>
            </a:r>
            <a:pPr indent="0" marL="0">
              <a:buNone/>
            </a:pPr>
            <a:r>
              <a:rPr lang="en-US" sz="850" dirty="0">
                <a:solidFill>
                  <a:srgbClr val="AF3230"/>
                </a:solidFill>
                <a:latin typeface="Calibri" pitchFamily="34" charset="0"/>
                <a:ea typeface="Calibri" pitchFamily="34" charset="-122"/>
                <a:cs typeface="Calibri" pitchFamily="34" charset="-120"/>
              </a:rPr>
              <a:t>■</a:t>
            </a:r>
            <a:pPr indent="0" marL="0">
              <a:buNone/>
            </a:pPr>
            <a:r>
              <a:rPr lang="en-US" sz="850" dirty="0">
                <a:solidFill>
                  <a:srgbClr val="46545F"/>
                </a:solidFill>
                <a:latin typeface="Calibri" pitchFamily="34" charset="0"/>
                <a:ea typeface="Calibri" pitchFamily="34" charset="-122"/>
                <a:cs typeface="Calibri" pitchFamily="34" charset="-120"/>
              </a:rPr>
              <a:t> wrong  </a:t>
            </a:r>
            <a:pPr indent="0" marL="0">
              <a:buNone/>
            </a:pPr>
            <a:r>
              <a:rPr lang="en-US" sz="850" dirty="0">
                <a:solidFill>
                  <a:srgbClr val="46545F"/>
                </a:solidFill>
                <a:latin typeface="Calibri" pitchFamily="34" charset="0"/>
                <a:ea typeface="Calibri" pitchFamily="34" charset="-122"/>
                <a:cs typeface="Calibri" pitchFamily="34" charset="-120"/>
              </a:rPr>
              <a:t>■</a:t>
            </a:r>
            <a:pPr indent="0" marL="0">
              <a:buNone/>
            </a:pPr>
            <a:r>
              <a:rPr lang="en-US" sz="850" b="1" dirty="0">
                <a:solidFill>
                  <a:srgbClr val="46545F"/>
                </a:solidFill>
                <a:latin typeface="Calibri" pitchFamily="34" charset="0"/>
                <a:ea typeface="Calibri" pitchFamily="34" charset="-122"/>
                <a:cs typeface="Calibri" pitchFamily="34" charset="-120"/>
              </a:rPr>
              <a:t> “I don’t know” — same accuracy, ~3× fewer false statements.</a:t>
            </a:r>
            <a:endParaRPr lang="en-US" sz="850" dirty="0"/>
          </a:p>
        </p:txBody>
      </p:sp>
      <p:sp>
        <p:nvSpPr>
          <p:cNvPr id="23" name="Text 21"/>
          <p:cNvSpPr/>
          <p:nvPr/>
        </p:nvSpPr>
        <p:spPr>
          <a:xfrm>
            <a:off x="749808" y="5797296"/>
            <a:ext cx="4663440" cy="201168"/>
          </a:xfrm>
          <a:prstGeom prst="rect">
            <a:avLst/>
          </a:prstGeom>
          <a:noFill/>
          <a:ln/>
        </p:spPr>
        <p:txBody>
          <a:bodyPr wrap="square" lIns="0" tIns="0" rIns="0" bIns="0" rtlCol="0" anchor="ctr"/>
          <a:lstStyle/>
          <a:p>
            <a:pPr indent="0" marL="0">
              <a:buNone/>
            </a:pPr>
            <a:r>
              <a:rPr lang="en-US" sz="750" i="1" dirty="0">
                <a:solidFill>
                  <a:srgbClr val="7A8790"/>
                </a:solidFill>
                <a:latin typeface="Calibri" pitchFamily="34" charset="0"/>
                <a:ea typeface="Calibri" pitchFamily="34" charset="-122"/>
                <a:cs typeface="Calibri" pitchFamily="34" charset="-120"/>
              </a:rPr>
              <a:t>OpenAI’s own models &amp; benchmark (2025) — shows the mechanism, not a vendor ranking.</a:t>
            </a:r>
            <a:endParaRPr lang="en-US" sz="750" dirty="0"/>
          </a:p>
        </p:txBody>
      </p:sp>
      <p:sp>
        <p:nvSpPr>
          <p:cNvPr id="24" name="Shape 22"/>
          <p:cNvSpPr/>
          <p:nvPr/>
        </p:nvSpPr>
        <p:spPr>
          <a:xfrm>
            <a:off x="5806440" y="1517904"/>
            <a:ext cx="5852160" cy="1024128"/>
          </a:xfrm>
          <a:prstGeom prst="roundRect">
            <a:avLst>
              <a:gd name="adj" fmla="val 7143"/>
            </a:avLst>
          </a:prstGeom>
          <a:solidFill>
            <a:srgbClr val="F2F5F6"/>
          </a:solidFill>
          <a:ln/>
        </p:spPr>
      </p:sp>
      <p:sp>
        <p:nvSpPr>
          <p:cNvPr id="25" name="Shape 23"/>
          <p:cNvSpPr/>
          <p:nvPr/>
        </p:nvSpPr>
        <p:spPr>
          <a:xfrm>
            <a:off x="5989320" y="1801368"/>
            <a:ext cx="457200" cy="457200"/>
          </a:xfrm>
          <a:prstGeom prst="ellipse">
            <a:avLst/>
          </a:prstGeom>
          <a:solidFill>
            <a:srgbClr val="0E7C7B"/>
          </a:solidFill>
          <a:ln/>
        </p:spPr>
      </p:sp>
      <p:pic>
        <p:nvPicPr>
          <p:cNvPr id="26" name="Image 0" descr="/home/user/Claude-Works/ai-training-prompt-engineering/src/assets/icons/brain_w.png">    </p:cNvPr>
          <p:cNvPicPr>
            <a:picLocks noChangeAspect="1"/>
          </p:cNvPicPr>
          <p:nvPr/>
        </p:nvPicPr>
        <p:blipFill>
          <a:blip r:embed="rId1"/>
          <a:stretch>
            <a:fillRect/>
          </a:stretch>
        </p:blipFill>
        <p:spPr>
          <a:xfrm>
            <a:off x="6108192" y="1920240"/>
            <a:ext cx="219456" cy="219456"/>
          </a:xfrm>
          <a:prstGeom prst="rect">
            <a:avLst/>
          </a:prstGeom>
        </p:spPr>
      </p:pic>
      <p:sp>
        <p:nvSpPr>
          <p:cNvPr id="27" name="Text 24"/>
          <p:cNvSpPr/>
          <p:nvPr/>
        </p:nvSpPr>
        <p:spPr>
          <a:xfrm>
            <a:off x="6565392" y="1591056"/>
            <a:ext cx="4937760"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CONFIDENT GUESS  </a:t>
            </a:r>
            <a:pPr indent="0" marL="0">
              <a:lnSpc>
                <a:spcPct val="103000"/>
              </a:lnSpc>
              <a:spcAft>
                <a:spcPts val="200"/>
              </a:spcAft>
              <a:buNone/>
            </a:pPr>
            <a:r>
              <a:rPr lang="en-US" sz="950" dirty="0">
                <a:solidFill>
                  <a:srgbClr val="7A8790"/>
                </a:solidFill>
                <a:latin typeface="Calibri" pitchFamily="34" charset="0"/>
                <a:ea typeface="Calibri" pitchFamily="34" charset="-122"/>
                <a:cs typeface="Calibri" pitchFamily="34" charset="-120"/>
              </a:rPr>
              <a:t>· Invented facts</a:t>
            </a:r>
            <a:endParaRPr lang="en-US" sz="1300" dirty="0"/>
          </a:p>
          <a:p>
            <a:pPr indent="0" marL="0">
              <a:lnSpc>
                <a:spcPct val="103000"/>
              </a:lnSpc>
              <a:buNone/>
            </a:pPr>
            <a:r>
              <a:rPr lang="en-US" sz="980" dirty="0">
                <a:solidFill>
                  <a:srgbClr val="46545F"/>
                </a:solidFill>
                <a:latin typeface="Calibri" pitchFamily="34" charset="0"/>
                <a:ea typeface="Calibri" pitchFamily="34" charset="-122"/>
                <a:cs typeface="Calibri" pitchFamily="34" charset="-120"/>
              </a:rPr>
              <a:t>Free recall where data was thin — a wrong fact, delivered with total certainty.</a:t>
            </a:r>
            <a:endParaRPr lang="en-US" sz="1300" dirty="0"/>
          </a:p>
        </p:txBody>
      </p:sp>
      <p:sp>
        <p:nvSpPr>
          <p:cNvPr id="28" name="Shape 25"/>
          <p:cNvSpPr/>
          <p:nvPr/>
        </p:nvSpPr>
        <p:spPr>
          <a:xfrm>
            <a:off x="5806440" y="2651760"/>
            <a:ext cx="5852160" cy="1024128"/>
          </a:xfrm>
          <a:prstGeom prst="roundRect">
            <a:avLst>
              <a:gd name="adj" fmla="val 7143"/>
            </a:avLst>
          </a:prstGeom>
          <a:solidFill>
            <a:srgbClr val="F2F5F6"/>
          </a:solidFill>
          <a:ln/>
        </p:spPr>
      </p:sp>
      <p:sp>
        <p:nvSpPr>
          <p:cNvPr id="29" name="Shape 26"/>
          <p:cNvSpPr/>
          <p:nvPr/>
        </p:nvSpPr>
        <p:spPr>
          <a:xfrm>
            <a:off x="5989320" y="2935224"/>
            <a:ext cx="457200" cy="457200"/>
          </a:xfrm>
          <a:prstGeom prst="ellipse">
            <a:avLst/>
          </a:prstGeom>
          <a:solidFill>
            <a:srgbClr val="0E7C7B"/>
          </a:solidFill>
          <a:ln/>
        </p:spPr>
      </p:sp>
      <p:pic>
        <p:nvPicPr>
          <p:cNvPr id="30" name="Image 1" descr="/home/user/Claude-Works/ai-training-prompt-engineering/src/assets/icons/file_w.png">    </p:cNvPr>
          <p:cNvPicPr>
            <a:picLocks noChangeAspect="1"/>
          </p:cNvPicPr>
          <p:nvPr/>
        </p:nvPicPr>
        <p:blipFill>
          <a:blip r:embed="rId2"/>
          <a:stretch>
            <a:fillRect/>
          </a:stretch>
        </p:blipFill>
        <p:spPr>
          <a:xfrm>
            <a:off x="6108192" y="3054096"/>
            <a:ext cx="219456" cy="219456"/>
          </a:xfrm>
          <a:prstGeom prst="rect">
            <a:avLst/>
          </a:prstGeom>
        </p:spPr>
      </p:pic>
      <p:sp>
        <p:nvSpPr>
          <p:cNvPr id="31" name="Text 27"/>
          <p:cNvSpPr/>
          <p:nvPr/>
        </p:nvSpPr>
        <p:spPr>
          <a:xfrm>
            <a:off x="6565392" y="2724912"/>
            <a:ext cx="4937760"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FAKE RECEIPT  </a:t>
            </a:r>
            <a:pPr indent="0" marL="0">
              <a:lnSpc>
                <a:spcPct val="103000"/>
              </a:lnSpc>
              <a:spcAft>
                <a:spcPts val="200"/>
              </a:spcAft>
              <a:buNone/>
            </a:pPr>
            <a:r>
              <a:rPr lang="en-US" sz="950" dirty="0">
                <a:solidFill>
                  <a:srgbClr val="7A8790"/>
                </a:solidFill>
                <a:latin typeface="Calibri" pitchFamily="34" charset="0"/>
                <a:ea typeface="Calibri" pitchFamily="34" charset="-122"/>
                <a:cs typeface="Calibri" pitchFamily="34" charset="-120"/>
              </a:rPr>
              <a:t>· Invented sources</a:t>
            </a:r>
            <a:endParaRPr lang="en-US" sz="1300" dirty="0"/>
          </a:p>
          <a:p>
            <a:pPr indent="0" marL="0">
              <a:lnSpc>
                <a:spcPct val="103000"/>
              </a:lnSpc>
              <a:buNone/>
            </a:pPr>
            <a:r>
              <a:rPr lang="en-US" sz="980" dirty="0">
                <a:solidFill>
                  <a:srgbClr val="46545F"/>
                </a:solidFill>
                <a:latin typeface="Calibri" pitchFamily="34" charset="0"/>
                <a:ea typeface="Calibri" pitchFamily="34" charset="-122"/>
                <a:cs typeface="Calibri" pitchFamily="34" charset="-120"/>
              </a:rPr>
              <a:t>Citations, cases, book titles that look perfectly real — and don’t exist.</a:t>
            </a:r>
            <a:endParaRPr lang="en-US" sz="1300" dirty="0"/>
          </a:p>
        </p:txBody>
      </p:sp>
      <p:sp>
        <p:nvSpPr>
          <p:cNvPr id="32" name="Shape 28"/>
          <p:cNvSpPr/>
          <p:nvPr/>
        </p:nvSpPr>
        <p:spPr>
          <a:xfrm>
            <a:off x="5806440" y="3785616"/>
            <a:ext cx="5852160" cy="1024128"/>
          </a:xfrm>
          <a:prstGeom prst="roundRect">
            <a:avLst>
              <a:gd name="adj" fmla="val 7143"/>
            </a:avLst>
          </a:prstGeom>
          <a:solidFill>
            <a:srgbClr val="F9E9E8"/>
          </a:solidFill>
          <a:ln/>
        </p:spPr>
      </p:sp>
      <p:sp>
        <p:nvSpPr>
          <p:cNvPr id="33" name="Shape 29"/>
          <p:cNvSpPr/>
          <p:nvPr/>
        </p:nvSpPr>
        <p:spPr>
          <a:xfrm>
            <a:off x="5989320" y="4069080"/>
            <a:ext cx="457200" cy="457200"/>
          </a:xfrm>
          <a:prstGeom prst="ellipse">
            <a:avLst/>
          </a:prstGeom>
          <a:solidFill>
            <a:srgbClr val="AF3230"/>
          </a:solidFill>
          <a:ln/>
        </p:spPr>
      </p:sp>
      <p:pic>
        <p:nvPicPr>
          <p:cNvPr id="34" name="Image 2" descr="/home/user/Claude-Works/ai-training-prompt-engineering/src/assets/icons/alert_w.png">    </p:cNvPr>
          <p:cNvPicPr>
            <a:picLocks noChangeAspect="1"/>
          </p:cNvPicPr>
          <p:nvPr/>
        </p:nvPicPr>
        <p:blipFill>
          <a:blip r:embed="rId3"/>
          <a:stretch>
            <a:fillRect/>
          </a:stretch>
        </p:blipFill>
        <p:spPr>
          <a:xfrm>
            <a:off x="6108192" y="4187952"/>
            <a:ext cx="219456" cy="219456"/>
          </a:xfrm>
          <a:prstGeom prst="rect">
            <a:avLst/>
          </a:prstGeom>
        </p:spPr>
      </p:pic>
      <p:sp>
        <p:nvSpPr>
          <p:cNvPr id="35" name="Text 30"/>
          <p:cNvSpPr/>
          <p:nvPr/>
        </p:nvSpPr>
        <p:spPr>
          <a:xfrm>
            <a:off x="6565392" y="3858768"/>
            <a:ext cx="4937760" cy="896112"/>
          </a:xfrm>
          <a:prstGeom prst="rect">
            <a:avLst/>
          </a:prstGeom>
          <a:noFill/>
          <a:ln/>
        </p:spPr>
        <p:txBody>
          <a:bodyPr wrap="square" lIns="0" tIns="0" rIns="0" bIns="0" rtlCol="0" anchor="ctr"/>
          <a:lstStyle/>
          <a:p>
            <a:pPr indent="0" marL="0">
              <a:lnSpc>
                <a:spcPct val="103000"/>
              </a:lnSpc>
              <a:buNone/>
            </a:pPr>
            <a:r>
              <a:rPr lang="en-US" sz="1300" b="1" dirty="0">
                <a:solidFill>
                  <a:srgbClr val="AF3230"/>
                </a:solidFill>
                <a:latin typeface="Cambria" pitchFamily="34" charset="0"/>
                <a:ea typeface="Cambria" pitchFamily="34" charset="-122"/>
                <a:cs typeface="Cambria" pitchFamily="34" charset="-120"/>
              </a:rPr>
              <a:t>THE JOKE TAKEN SERIOUSLY  </a:t>
            </a:r>
            <a:pPr indent="0" marL="0">
              <a:lnSpc>
                <a:spcPct val="103000"/>
              </a:lnSpc>
              <a:spcAft>
                <a:spcPts val="200"/>
              </a:spcAft>
              <a:buNone/>
            </a:pPr>
            <a:r>
              <a:rPr lang="en-US" sz="950" dirty="0">
                <a:solidFill>
                  <a:srgbClr val="7A8790"/>
                </a:solidFill>
                <a:latin typeface="Calibri" pitchFamily="34" charset="0"/>
                <a:ea typeface="Calibri" pitchFamily="34" charset="-122"/>
                <a:cs typeface="Calibri" pitchFamily="34" charset="-120"/>
              </a:rPr>
              <a:t>· Wrong source, confident answer</a:t>
            </a:r>
            <a:endParaRPr lang="en-US" sz="1300" dirty="0"/>
          </a:p>
          <a:p>
            <a:pPr indent="0" marL="0">
              <a:lnSpc>
                <a:spcPct val="103000"/>
              </a:lnSpc>
              <a:buNone/>
            </a:pPr>
            <a:r>
              <a:rPr lang="en-US" sz="980" dirty="0">
                <a:solidFill>
                  <a:srgbClr val="46545F"/>
                </a:solidFill>
                <a:latin typeface="Calibri" pitchFamily="34" charset="0"/>
                <a:ea typeface="Calibri" pitchFamily="34" charset="-122"/>
                <a:cs typeface="Calibri" pitchFamily="34" charset="-120"/>
              </a:rPr>
              <a:t>Fluent, cited — and built on a joke, a satire, or the wrong revision.</a:t>
            </a:r>
            <a:endParaRPr lang="en-US" sz="1300" dirty="0"/>
          </a:p>
        </p:txBody>
      </p:sp>
      <p:sp>
        <p:nvSpPr>
          <p:cNvPr id="36" name="Shape 31"/>
          <p:cNvSpPr/>
          <p:nvPr/>
        </p:nvSpPr>
        <p:spPr>
          <a:xfrm>
            <a:off x="5806440" y="4919472"/>
            <a:ext cx="5852160" cy="1024128"/>
          </a:xfrm>
          <a:prstGeom prst="roundRect">
            <a:avLst>
              <a:gd name="adj" fmla="val 7143"/>
            </a:avLst>
          </a:prstGeom>
          <a:solidFill>
            <a:srgbClr val="F2F5F6"/>
          </a:solidFill>
          <a:ln/>
        </p:spPr>
      </p:sp>
      <p:sp>
        <p:nvSpPr>
          <p:cNvPr id="37" name="Shape 32"/>
          <p:cNvSpPr/>
          <p:nvPr/>
        </p:nvSpPr>
        <p:spPr>
          <a:xfrm>
            <a:off x="5989320" y="5202936"/>
            <a:ext cx="457200" cy="457200"/>
          </a:xfrm>
          <a:prstGeom prst="ellipse">
            <a:avLst/>
          </a:prstGeom>
          <a:solidFill>
            <a:srgbClr val="0E7C7B"/>
          </a:solidFill>
          <a:ln/>
        </p:spPr>
      </p:sp>
      <p:pic>
        <p:nvPicPr>
          <p:cNvPr id="38" name="Image 3" descr="/home/user/Claude-Works/ai-training-prompt-engineering/src/assets/icons/repeat_w.png">    </p:cNvPr>
          <p:cNvPicPr>
            <a:picLocks noChangeAspect="1"/>
          </p:cNvPicPr>
          <p:nvPr/>
        </p:nvPicPr>
        <p:blipFill>
          <a:blip r:embed="rId4"/>
          <a:stretch>
            <a:fillRect/>
          </a:stretch>
        </p:blipFill>
        <p:spPr>
          <a:xfrm>
            <a:off x="6108192" y="5321808"/>
            <a:ext cx="219456" cy="219456"/>
          </a:xfrm>
          <a:prstGeom prst="rect">
            <a:avLst/>
          </a:prstGeom>
        </p:spPr>
      </p:pic>
      <p:sp>
        <p:nvSpPr>
          <p:cNvPr id="39" name="Text 33"/>
          <p:cNvSpPr/>
          <p:nvPr/>
        </p:nvSpPr>
        <p:spPr>
          <a:xfrm>
            <a:off x="6565392" y="4992624"/>
            <a:ext cx="4937760"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GARBAGE IN, GOSPEL OUT  </a:t>
            </a:r>
            <a:pPr indent="0" marL="0">
              <a:lnSpc>
                <a:spcPct val="103000"/>
              </a:lnSpc>
              <a:spcAft>
                <a:spcPts val="200"/>
              </a:spcAft>
              <a:buNone/>
            </a:pPr>
            <a:r>
              <a:rPr lang="en-US" sz="950" dirty="0">
                <a:solidFill>
                  <a:srgbClr val="7A8790"/>
                </a:solidFill>
                <a:latin typeface="Calibri" pitchFamily="34" charset="0"/>
                <a:ea typeface="Calibri" pitchFamily="34" charset="-122"/>
                <a:cs typeface="Calibri" pitchFamily="34" charset="-120"/>
              </a:rPr>
              <a:t>· Runs with your false premise</a:t>
            </a:r>
            <a:endParaRPr lang="en-US" sz="1300" dirty="0"/>
          </a:p>
          <a:p>
            <a:pPr indent="0" marL="0">
              <a:lnSpc>
                <a:spcPct val="103000"/>
              </a:lnSpc>
              <a:buNone/>
            </a:pPr>
            <a:r>
              <a:rPr lang="en-US" sz="980" dirty="0">
                <a:solidFill>
                  <a:srgbClr val="46545F"/>
                </a:solidFill>
                <a:latin typeface="Calibri" pitchFamily="34" charset="0"/>
                <a:ea typeface="Calibri" pitchFamily="34" charset="-122"/>
                <a:cs typeface="Calibri" pitchFamily="34" charset="-120"/>
              </a:rPr>
              <a:t>It assumes your prompt is true: feed it a wrong “fact” and it politely builds on it.</a:t>
            </a:r>
            <a:endParaRPr lang="en-US" sz="1300" dirty="0"/>
          </a:p>
        </p:txBody>
      </p:sp>
      <p:sp>
        <p:nvSpPr>
          <p:cNvPr id="40" name="Text 34"/>
          <p:cNvSpPr/>
          <p:nvPr/>
        </p:nvSpPr>
        <p:spPr>
          <a:xfrm>
            <a:off x="502920" y="6035040"/>
            <a:ext cx="11155680" cy="320040"/>
          </a:xfrm>
          <a:prstGeom prst="rect">
            <a:avLst/>
          </a:prstGeom>
          <a:noFill/>
          <a:ln/>
        </p:spPr>
        <p:txBody>
          <a:bodyPr wrap="square" lIns="0" tIns="0" rIns="0" bIns="0" rtlCol="0" anchor="ctr"/>
          <a:lstStyle/>
          <a:p>
            <a:pPr indent="0" marL="0">
              <a:buNone/>
            </a:pPr>
            <a:r>
              <a:rPr lang="en-US" sz="1050" i="1" dirty="0">
                <a:solidFill>
                  <a:srgbClr val="7A8790"/>
                </a:solidFill>
                <a:latin typeface="Calibri" pitchFamily="34" charset="0"/>
                <a:ea typeface="Calibri" pitchFamily="34" charset="-122"/>
                <a:cs typeface="Calibri" pitchFamily="34" charset="-120"/>
              </a:rPr>
              <a:t>Four characters — one root: the show must go on. Next slide: what they cost in public.</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15</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THE HALL OF SHAME · CONTINUED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Real, public, verified — and all avoidable</a:t>
            </a:r>
            <a:endParaRPr lang="en-US" sz="3000" dirty="0"/>
          </a:p>
        </p:txBody>
      </p:sp>
      <p:sp>
        <p:nvSpPr>
          <p:cNvPr id="6" name="Shape 4"/>
          <p:cNvSpPr/>
          <p:nvPr/>
        </p:nvSpPr>
        <p:spPr>
          <a:xfrm>
            <a:off x="502920" y="1481328"/>
            <a:ext cx="5440680" cy="1426464"/>
          </a:xfrm>
          <a:prstGeom prst="roundRect">
            <a:avLst>
              <a:gd name="adj" fmla="val 5128"/>
            </a:avLst>
          </a:prstGeom>
          <a:solidFill>
            <a:srgbClr val="F2F5F6"/>
          </a:solidFill>
          <a:ln/>
        </p:spPr>
      </p:sp>
      <p:sp>
        <p:nvSpPr>
          <p:cNvPr id="7" name="Shape 5"/>
          <p:cNvSpPr/>
          <p:nvPr/>
        </p:nvSpPr>
        <p:spPr>
          <a:xfrm>
            <a:off x="685800" y="1664208"/>
            <a:ext cx="402336" cy="402336"/>
          </a:xfrm>
          <a:prstGeom prst="ellipse">
            <a:avLst/>
          </a:prstGeom>
          <a:solidFill>
            <a:srgbClr val="B96A1B"/>
          </a:solidFill>
          <a:ln/>
        </p:spPr>
      </p:sp>
      <p:pic>
        <p:nvPicPr>
          <p:cNvPr id="8" name="Image 0" descr="/home/user/Claude-Works/ai-training-prompt-engineering/src/assets/icons/alert_w.png">    </p:cNvPr>
          <p:cNvPicPr>
            <a:picLocks noChangeAspect="1"/>
          </p:cNvPicPr>
          <p:nvPr/>
        </p:nvPicPr>
        <p:blipFill>
          <a:blip r:embed="rId1"/>
          <a:stretch>
            <a:fillRect/>
          </a:stretch>
        </p:blipFill>
        <p:spPr>
          <a:xfrm>
            <a:off x="790407" y="1768815"/>
            <a:ext cx="193121" cy="193121"/>
          </a:xfrm>
          <a:prstGeom prst="rect">
            <a:avLst/>
          </a:prstGeom>
        </p:spPr>
      </p:pic>
      <p:sp>
        <p:nvSpPr>
          <p:cNvPr id="9" name="Text 6"/>
          <p:cNvSpPr/>
          <p:nvPr/>
        </p:nvSpPr>
        <p:spPr>
          <a:xfrm>
            <a:off x="1216152" y="1572768"/>
            <a:ext cx="4572000" cy="1280160"/>
          </a:xfrm>
          <a:prstGeom prst="rect">
            <a:avLst/>
          </a:prstGeom>
          <a:noFill/>
          <a:ln/>
        </p:spPr>
        <p:txBody>
          <a:bodyPr wrap="square" lIns="0" tIns="0" rIns="0" bIns="0" rtlCol="0" anchor="ctr"/>
          <a:lstStyle/>
          <a:p>
            <a:pPr indent="0" marL="0">
              <a:lnSpc>
                <a:spcPct val="103000"/>
              </a:lnSpc>
              <a:spcAft>
                <a:spcPts val="300"/>
              </a:spcAft>
              <a:buNone/>
            </a:pPr>
            <a:r>
              <a:rPr lang="en-US" sz="1150" b="1" dirty="0">
                <a:solidFill>
                  <a:srgbClr val="232A31"/>
                </a:solidFill>
                <a:latin typeface="Calibri" pitchFamily="34" charset="0"/>
                <a:ea typeface="Calibri" pitchFamily="34" charset="-122"/>
                <a:cs typeface="Calibri" pitchFamily="34" charset="-120"/>
              </a:rPr>
              <a:t>Glue on pizza · May 2024</a:t>
            </a:r>
            <a:endParaRPr lang="en-US" sz="1150" dirty="0"/>
          </a:p>
          <a:p>
            <a:pPr indent="0" marL="0">
              <a:lnSpc>
                <a:spcPct val="103000"/>
              </a:lnSpc>
              <a:buNone/>
            </a:pPr>
            <a:r>
              <a:rPr lang="en-US" sz="960" dirty="0">
                <a:solidFill>
                  <a:srgbClr val="46545F"/>
                </a:solidFill>
                <a:latin typeface="Calibri" pitchFamily="34" charset="0"/>
                <a:ea typeface="Calibri" pitchFamily="34" charset="-122"/>
                <a:cs typeface="Calibri" pitchFamily="34" charset="-120"/>
              </a:rPr>
              <a:t>Google’s AI search told users to put glue in pizza sauce and eat a rock a day — it had read a joke forum comment and a satire article as advice. Global mockery; the feature was scaled back within days.</a:t>
            </a:r>
            <a:endParaRPr lang="en-US" sz="1150" dirty="0"/>
          </a:p>
        </p:txBody>
      </p:sp>
      <p:sp>
        <p:nvSpPr>
          <p:cNvPr id="10" name="Shape 7"/>
          <p:cNvSpPr/>
          <p:nvPr/>
        </p:nvSpPr>
        <p:spPr>
          <a:xfrm>
            <a:off x="6172200" y="1481328"/>
            <a:ext cx="5440680" cy="1426464"/>
          </a:xfrm>
          <a:prstGeom prst="roundRect">
            <a:avLst>
              <a:gd name="adj" fmla="val 5128"/>
            </a:avLst>
          </a:prstGeom>
          <a:solidFill>
            <a:srgbClr val="F2F5F6"/>
          </a:solidFill>
          <a:ln/>
        </p:spPr>
      </p:sp>
      <p:sp>
        <p:nvSpPr>
          <p:cNvPr id="11" name="Shape 8"/>
          <p:cNvSpPr/>
          <p:nvPr/>
        </p:nvSpPr>
        <p:spPr>
          <a:xfrm>
            <a:off x="6355080" y="1664208"/>
            <a:ext cx="402336" cy="402336"/>
          </a:xfrm>
          <a:prstGeom prst="ellipse">
            <a:avLst/>
          </a:prstGeom>
          <a:solidFill>
            <a:srgbClr val="AF3230"/>
          </a:solidFill>
          <a:ln/>
        </p:spPr>
      </p:sp>
      <p:pic>
        <p:nvPicPr>
          <p:cNvPr id="12" name="Image 1" descr="/home/user/Claude-Works/ai-training-prompt-engineering/src/assets/icons/gavel_w.png">    </p:cNvPr>
          <p:cNvPicPr>
            <a:picLocks noChangeAspect="1"/>
          </p:cNvPicPr>
          <p:nvPr/>
        </p:nvPicPr>
        <p:blipFill>
          <a:blip r:embed="rId2"/>
          <a:stretch>
            <a:fillRect/>
          </a:stretch>
        </p:blipFill>
        <p:spPr>
          <a:xfrm>
            <a:off x="6459687" y="1768815"/>
            <a:ext cx="193121" cy="193121"/>
          </a:xfrm>
          <a:prstGeom prst="rect">
            <a:avLst/>
          </a:prstGeom>
        </p:spPr>
      </p:pic>
      <p:sp>
        <p:nvSpPr>
          <p:cNvPr id="13" name="Text 9"/>
          <p:cNvSpPr/>
          <p:nvPr/>
        </p:nvSpPr>
        <p:spPr>
          <a:xfrm>
            <a:off x="6885432" y="1572768"/>
            <a:ext cx="4572000" cy="1280160"/>
          </a:xfrm>
          <a:prstGeom prst="rect">
            <a:avLst/>
          </a:prstGeom>
          <a:noFill/>
          <a:ln/>
        </p:spPr>
        <p:txBody>
          <a:bodyPr wrap="square" lIns="0" tIns="0" rIns="0" bIns="0" rtlCol="0" anchor="ctr"/>
          <a:lstStyle/>
          <a:p>
            <a:pPr indent="0" marL="0">
              <a:lnSpc>
                <a:spcPct val="103000"/>
              </a:lnSpc>
              <a:spcAft>
                <a:spcPts val="300"/>
              </a:spcAft>
              <a:buNone/>
            </a:pPr>
            <a:r>
              <a:rPr lang="en-US" sz="1150" b="1" dirty="0">
                <a:solidFill>
                  <a:srgbClr val="232A31"/>
                </a:solidFill>
                <a:latin typeface="Calibri" pitchFamily="34" charset="0"/>
                <a:ea typeface="Calibri" pitchFamily="34" charset="-122"/>
                <a:cs typeface="Calibri" pitchFamily="34" charset="-120"/>
              </a:rPr>
              <a:t>The ChatGPT lawyer · Jun 2023</a:t>
            </a:r>
            <a:endParaRPr lang="en-US" sz="1150" dirty="0"/>
          </a:p>
          <a:p>
            <a:pPr indent="0" marL="0">
              <a:lnSpc>
                <a:spcPct val="103000"/>
              </a:lnSpc>
              <a:buNone/>
            </a:pPr>
            <a:r>
              <a:rPr lang="en-US" sz="960" dirty="0">
                <a:solidFill>
                  <a:srgbClr val="46545F"/>
                </a:solidFill>
                <a:latin typeface="Calibri" pitchFamily="34" charset="0"/>
                <a:ea typeface="Calibri" pitchFamily="34" charset="-122"/>
                <a:cs typeface="Calibri" pitchFamily="34" charset="-120"/>
              </a:rPr>
              <a:t>A New York lawyer filed six court cases that didn’t exist — then asked ChatGPT whether they were real. It said yes. $5,000 sanction, apology letters ordered (Mata v. Avianca).</a:t>
            </a:r>
            <a:endParaRPr lang="en-US" sz="1150" dirty="0"/>
          </a:p>
        </p:txBody>
      </p:sp>
      <p:sp>
        <p:nvSpPr>
          <p:cNvPr id="14" name="Shape 10"/>
          <p:cNvSpPr/>
          <p:nvPr/>
        </p:nvSpPr>
        <p:spPr>
          <a:xfrm>
            <a:off x="502920" y="3017520"/>
            <a:ext cx="5440680" cy="1426464"/>
          </a:xfrm>
          <a:prstGeom prst="roundRect">
            <a:avLst>
              <a:gd name="adj" fmla="val 5128"/>
            </a:avLst>
          </a:prstGeom>
          <a:solidFill>
            <a:srgbClr val="F2F5F6"/>
          </a:solidFill>
          <a:ln/>
        </p:spPr>
      </p:sp>
      <p:sp>
        <p:nvSpPr>
          <p:cNvPr id="15" name="Shape 11"/>
          <p:cNvSpPr/>
          <p:nvPr/>
        </p:nvSpPr>
        <p:spPr>
          <a:xfrm>
            <a:off x="685800" y="3200400"/>
            <a:ext cx="402336" cy="402336"/>
          </a:xfrm>
          <a:prstGeom prst="ellipse">
            <a:avLst/>
          </a:prstGeom>
          <a:solidFill>
            <a:srgbClr val="AF3230"/>
          </a:solidFill>
          <a:ln/>
        </p:spPr>
      </p:sp>
      <p:pic>
        <p:nvPicPr>
          <p:cNvPr id="16" name="Image 2" descr="/home/user/Claude-Works/ai-training-prompt-engineering/src/assets/icons/send_w.png">    </p:cNvPr>
          <p:cNvPicPr>
            <a:picLocks noChangeAspect="1"/>
          </p:cNvPicPr>
          <p:nvPr/>
        </p:nvPicPr>
        <p:blipFill>
          <a:blip r:embed="rId3"/>
          <a:stretch>
            <a:fillRect/>
          </a:stretch>
        </p:blipFill>
        <p:spPr>
          <a:xfrm>
            <a:off x="790407" y="3305007"/>
            <a:ext cx="193121" cy="193121"/>
          </a:xfrm>
          <a:prstGeom prst="rect">
            <a:avLst/>
          </a:prstGeom>
        </p:spPr>
      </p:pic>
      <p:sp>
        <p:nvSpPr>
          <p:cNvPr id="17" name="Text 12"/>
          <p:cNvSpPr/>
          <p:nvPr/>
        </p:nvSpPr>
        <p:spPr>
          <a:xfrm>
            <a:off x="1216152" y="3108960"/>
            <a:ext cx="4572000" cy="1280160"/>
          </a:xfrm>
          <a:prstGeom prst="rect">
            <a:avLst/>
          </a:prstGeom>
          <a:noFill/>
          <a:ln/>
        </p:spPr>
        <p:txBody>
          <a:bodyPr wrap="square" lIns="0" tIns="0" rIns="0" bIns="0" rtlCol="0" anchor="ctr"/>
          <a:lstStyle/>
          <a:p>
            <a:pPr indent="0" marL="0">
              <a:lnSpc>
                <a:spcPct val="103000"/>
              </a:lnSpc>
              <a:spcAft>
                <a:spcPts val="300"/>
              </a:spcAft>
              <a:buNone/>
            </a:pPr>
            <a:r>
              <a:rPr lang="en-US" sz="1150" b="1" dirty="0">
                <a:solidFill>
                  <a:srgbClr val="232A31"/>
                </a:solidFill>
                <a:latin typeface="Calibri" pitchFamily="34" charset="0"/>
                <a:ea typeface="Calibri" pitchFamily="34" charset="-122"/>
                <a:cs typeface="Calibri" pitchFamily="34" charset="-120"/>
              </a:rPr>
              <a:t>Air Canada’s chatbot · Feb 2024</a:t>
            </a:r>
            <a:endParaRPr lang="en-US" sz="1150" dirty="0"/>
          </a:p>
          <a:p>
            <a:pPr indent="0" marL="0">
              <a:lnSpc>
                <a:spcPct val="103000"/>
              </a:lnSpc>
              <a:buNone/>
            </a:pPr>
            <a:r>
              <a:rPr lang="en-US" sz="960" dirty="0">
                <a:solidFill>
                  <a:srgbClr val="46545F"/>
                </a:solidFill>
                <a:latin typeface="Calibri" pitchFamily="34" charset="0"/>
                <a:ea typeface="Calibri" pitchFamily="34" charset="-122"/>
                <a:cs typeface="Calibri" pitchFamily="34" charset="-120"/>
              </a:rPr>
              <a:t>The website bot invented a bereavement refund policy. A tribunal made the airline honor it — rejecting the claim that the bot was “a separate legal entity.” Your company owns what its chatbot says.</a:t>
            </a:r>
            <a:endParaRPr lang="en-US" sz="1150" dirty="0"/>
          </a:p>
        </p:txBody>
      </p:sp>
      <p:sp>
        <p:nvSpPr>
          <p:cNvPr id="18" name="Shape 13"/>
          <p:cNvSpPr/>
          <p:nvPr/>
        </p:nvSpPr>
        <p:spPr>
          <a:xfrm>
            <a:off x="6172200" y="3017520"/>
            <a:ext cx="5440680" cy="1426464"/>
          </a:xfrm>
          <a:prstGeom prst="roundRect">
            <a:avLst>
              <a:gd name="adj" fmla="val 5128"/>
            </a:avLst>
          </a:prstGeom>
          <a:solidFill>
            <a:srgbClr val="F2F5F6"/>
          </a:solidFill>
          <a:ln/>
        </p:spPr>
      </p:sp>
      <p:sp>
        <p:nvSpPr>
          <p:cNvPr id="19" name="Shape 14"/>
          <p:cNvSpPr/>
          <p:nvPr/>
        </p:nvSpPr>
        <p:spPr>
          <a:xfrm>
            <a:off x="6355080" y="3200400"/>
            <a:ext cx="402336" cy="402336"/>
          </a:xfrm>
          <a:prstGeom prst="ellipse">
            <a:avLst/>
          </a:prstGeom>
          <a:solidFill>
            <a:srgbClr val="AF3230"/>
          </a:solidFill>
          <a:ln/>
        </p:spPr>
      </p:sp>
      <p:pic>
        <p:nvPicPr>
          <p:cNvPr id="20" name="Image 3" descr="/home/user/Claude-Works/ai-training-prompt-engineering/src/assets/icons/chart_w.png">    </p:cNvPr>
          <p:cNvPicPr>
            <a:picLocks noChangeAspect="1"/>
          </p:cNvPicPr>
          <p:nvPr/>
        </p:nvPicPr>
        <p:blipFill>
          <a:blip r:embed="rId4"/>
          <a:stretch>
            <a:fillRect/>
          </a:stretch>
        </p:blipFill>
        <p:spPr>
          <a:xfrm>
            <a:off x="6459687" y="3305007"/>
            <a:ext cx="193121" cy="193121"/>
          </a:xfrm>
          <a:prstGeom prst="rect">
            <a:avLst/>
          </a:prstGeom>
        </p:spPr>
      </p:pic>
      <p:sp>
        <p:nvSpPr>
          <p:cNvPr id="21" name="Text 15"/>
          <p:cNvSpPr/>
          <p:nvPr/>
        </p:nvSpPr>
        <p:spPr>
          <a:xfrm>
            <a:off x="6885432" y="3108960"/>
            <a:ext cx="4572000" cy="1280160"/>
          </a:xfrm>
          <a:prstGeom prst="rect">
            <a:avLst/>
          </a:prstGeom>
          <a:noFill/>
          <a:ln/>
        </p:spPr>
        <p:txBody>
          <a:bodyPr wrap="square" lIns="0" tIns="0" rIns="0" bIns="0" rtlCol="0" anchor="ctr"/>
          <a:lstStyle/>
          <a:p>
            <a:pPr indent="0" marL="0">
              <a:lnSpc>
                <a:spcPct val="103000"/>
              </a:lnSpc>
              <a:spcAft>
                <a:spcPts val="300"/>
              </a:spcAft>
              <a:buNone/>
            </a:pPr>
            <a:r>
              <a:rPr lang="en-US" sz="1150" b="1" dirty="0">
                <a:solidFill>
                  <a:srgbClr val="232A31"/>
                </a:solidFill>
                <a:latin typeface="Calibri" pitchFamily="34" charset="0"/>
                <a:ea typeface="Calibri" pitchFamily="34" charset="-122"/>
                <a:cs typeface="Calibri" pitchFamily="34" charset="-120"/>
              </a:rPr>
              <a:t>The Big Four arc · 2025–26</a:t>
            </a:r>
            <a:endParaRPr lang="en-US" sz="1150" dirty="0"/>
          </a:p>
          <a:p>
            <a:pPr indent="0" marL="0">
              <a:lnSpc>
                <a:spcPct val="103000"/>
              </a:lnSpc>
              <a:buNone/>
            </a:pPr>
            <a:r>
              <a:rPr lang="en-US" sz="960" dirty="0">
                <a:solidFill>
                  <a:srgbClr val="46545F"/>
                </a:solidFill>
                <a:latin typeface="Calibri" pitchFamily="34" charset="0"/>
                <a:ea typeface="Calibri" pitchFamily="34" charset="-122"/>
                <a:cs typeface="Calibri" pitchFamily="34" charset="-120"/>
              </a:rPr>
              <a:t>Deloitte partially refunded a government report fee over invented citations; EY pulled a report where 16 of 27 references didn’t check out; KPMG’s report on agentic-AI excellence had 5 of 45 citations check out.</a:t>
            </a:r>
            <a:endParaRPr lang="en-US" sz="1150" dirty="0"/>
          </a:p>
        </p:txBody>
      </p:sp>
      <p:sp>
        <p:nvSpPr>
          <p:cNvPr id="22" name="Shape 16"/>
          <p:cNvSpPr/>
          <p:nvPr/>
        </p:nvSpPr>
        <p:spPr>
          <a:xfrm>
            <a:off x="502920" y="4681728"/>
            <a:ext cx="11155680" cy="502920"/>
          </a:xfrm>
          <a:prstGeom prst="roundRect">
            <a:avLst>
              <a:gd name="adj" fmla="val 14545"/>
            </a:avLst>
          </a:prstGeom>
          <a:solidFill>
            <a:srgbClr val="FBF0E0"/>
          </a:solidFill>
          <a:ln/>
        </p:spPr>
      </p:sp>
      <p:sp>
        <p:nvSpPr>
          <p:cNvPr id="23" name="Shape 17"/>
          <p:cNvSpPr/>
          <p:nvPr/>
        </p:nvSpPr>
        <p:spPr>
          <a:xfrm>
            <a:off x="667512" y="4741164"/>
            <a:ext cx="384048" cy="384048"/>
          </a:xfrm>
          <a:prstGeom prst="ellipse">
            <a:avLst/>
          </a:prstGeom>
          <a:solidFill>
            <a:srgbClr val="B96A1B"/>
          </a:solidFill>
          <a:ln/>
        </p:spPr>
      </p:sp>
      <p:pic>
        <p:nvPicPr>
          <p:cNvPr id="24" name="Image 4" descr="/home/user/Claude-Works/ai-training-prompt-engineering/src/assets/icons/scale_w.png">    </p:cNvPr>
          <p:cNvPicPr>
            <a:picLocks noChangeAspect="1"/>
          </p:cNvPicPr>
          <p:nvPr/>
        </p:nvPicPr>
        <p:blipFill>
          <a:blip r:embed="rId5"/>
          <a:stretch>
            <a:fillRect/>
          </a:stretch>
        </p:blipFill>
        <p:spPr>
          <a:xfrm>
            <a:off x="767364" y="4841016"/>
            <a:ext cx="184343" cy="184343"/>
          </a:xfrm>
          <a:prstGeom prst="rect">
            <a:avLst/>
          </a:prstGeom>
        </p:spPr>
      </p:pic>
      <p:sp>
        <p:nvSpPr>
          <p:cNvPr id="25" name="Text 18"/>
          <p:cNvSpPr/>
          <p:nvPr/>
        </p:nvSpPr>
        <p:spPr>
          <a:xfrm>
            <a:off x="1216152" y="4754880"/>
            <a:ext cx="10213848" cy="356616"/>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Not one-offs: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a legal tracker counted ~1,500 court decisions worldwide involving AI-fabricated citations by mid-2026.</a:t>
            </a:r>
            <a:endParaRPr lang="en-US" sz="1100" dirty="0"/>
          </a:p>
        </p:txBody>
      </p:sp>
      <p:sp>
        <p:nvSpPr>
          <p:cNvPr id="26" name="Shape 19"/>
          <p:cNvSpPr/>
          <p:nvPr/>
        </p:nvSpPr>
        <p:spPr>
          <a:xfrm>
            <a:off x="502920" y="5303520"/>
            <a:ext cx="11155680" cy="502920"/>
          </a:xfrm>
          <a:prstGeom prst="roundRect">
            <a:avLst>
              <a:gd name="adj" fmla="val 14545"/>
            </a:avLst>
          </a:prstGeom>
          <a:solidFill>
            <a:srgbClr val="E4F0EF"/>
          </a:solidFill>
          <a:ln/>
        </p:spPr>
      </p:sp>
      <p:sp>
        <p:nvSpPr>
          <p:cNvPr id="27" name="Shape 20"/>
          <p:cNvSpPr/>
          <p:nvPr/>
        </p:nvSpPr>
        <p:spPr>
          <a:xfrm>
            <a:off x="667512" y="5362956"/>
            <a:ext cx="384048" cy="384048"/>
          </a:xfrm>
          <a:prstGeom prst="ellipse">
            <a:avLst/>
          </a:prstGeom>
          <a:solidFill>
            <a:srgbClr val="0E7C7B"/>
          </a:solidFill>
          <a:ln/>
        </p:spPr>
      </p:sp>
      <p:pic>
        <p:nvPicPr>
          <p:cNvPr id="28" name="Image 5" descr="/home/user/Claude-Works/ai-training-prompt-engineering/src/assets/icons/check_w.png">    </p:cNvPr>
          <p:cNvPicPr>
            <a:picLocks noChangeAspect="1"/>
          </p:cNvPicPr>
          <p:nvPr/>
        </p:nvPicPr>
        <p:blipFill>
          <a:blip r:embed="rId6"/>
          <a:stretch>
            <a:fillRect/>
          </a:stretch>
        </p:blipFill>
        <p:spPr>
          <a:xfrm>
            <a:off x="767364" y="5462808"/>
            <a:ext cx="184343" cy="184343"/>
          </a:xfrm>
          <a:prstGeom prst="rect">
            <a:avLst/>
          </a:prstGeom>
        </p:spPr>
      </p:pic>
      <p:sp>
        <p:nvSpPr>
          <p:cNvPr id="29" name="Text 21"/>
          <p:cNvSpPr/>
          <p:nvPr/>
        </p:nvSpPr>
        <p:spPr>
          <a:xfrm>
            <a:off x="1216152" y="5376672"/>
            <a:ext cx="10213848" cy="35661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cure hasn’t changed: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Ground it (give it the source) · Cite it (demand receipts + an “I don’t know” escape hatch) · Verify it (check what matters before it ships).</a:t>
            </a:r>
            <a:endParaRPr lang="en-US" sz="1100" dirty="0"/>
          </a:p>
        </p:txBody>
      </p:sp>
      <p:sp>
        <p:nvSpPr>
          <p:cNvPr id="30" name="Shape 22"/>
          <p:cNvSpPr/>
          <p:nvPr/>
        </p:nvSpPr>
        <p:spPr>
          <a:xfrm>
            <a:off x="502920" y="5925312"/>
            <a:ext cx="11155680" cy="502920"/>
          </a:xfrm>
          <a:prstGeom prst="roundRect">
            <a:avLst>
              <a:gd name="adj" fmla="val 14545"/>
            </a:avLst>
          </a:prstGeom>
          <a:solidFill>
            <a:srgbClr val="F9E9E8"/>
          </a:solidFill>
          <a:ln/>
        </p:spPr>
      </p:sp>
      <p:sp>
        <p:nvSpPr>
          <p:cNvPr id="31" name="Shape 23"/>
          <p:cNvSpPr/>
          <p:nvPr/>
        </p:nvSpPr>
        <p:spPr>
          <a:xfrm>
            <a:off x="667512" y="5984748"/>
            <a:ext cx="384048" cy="384048"/>
          </a:xfrm>
          <a:prstGeom prst="ellipse">
            <a:avLst/>
          </a:prstGeom>
          <a:solidFill>
            <a:srgbClr val="AF3230"/>
          </a:solidFill>
          <a:ln/>
        </p:spPr>
      </p:sp>
      <p:pic>
        <p:nvPicPr>
          <p:cNvPr id="32" name="Image 6" descr="/home/user/Claude-Works/ai-training-prompt-engineering/src/assets/icons/alert_w.png">    </p:cNvPr>
          <p:cNvPicPr>
            <a:picLocks noChangeAspect="1"/>
          </p:cNvPicPr>
          <p:nvPr/>
        </p:nvPicPr>
        <p:blipFill>
          <a:blip r:embed="rId7"/>
          <a:stretch>
            <a:fillRect/>
          </a:stretch>
        </p:blipFill>
        <p:spPr>
          <a:xfrm>
            <a:off x="767364" y="6084600"/>
            <a:ext cx="184343" cy="184343"/>
          </a:xfrm>
          <a:prstGeom prst="rect">
            <a:avLst/>
          </a:prstGeom>
        </p:spPr>
      </p:pic>
      <p:sp>
        <p:nvSpPr>
          <p:cNvPr id="33" name="Text 24"/>
          <p:cNvSpPr/>
          <p:nvPr/>
        </p:nvSpPr>
        <p:spPr>
          <a:xfrm>
            <a:off x="1216152" y="5998464"/>
            <a:ext cx="10213848" cy="356616"/>
          </a:xfrm>
          <a:prstGeom prst="rect">
            <a:avLst/>
          </a:prstGeom>
          <a:noFill/>
          <a:ln/>
        </p:spPr>
        <p:txBody>
          <a:bodyPr wrap="square" lIns="0" tIns="0" rIns="0" bIns="0" rtlCol="0" anchor="ctr"/>
          <a:lstStyle/>
          <a:p>
            <a:pPr indent="0" marL="0">
              <a:lnSpc>
                <a:spcPct val="106000"/>
              </a:lnSpc>
              <a:buNone/>
            </a:pPr>
            <a:r>
              <a:rPr lang="en-US" sz="1100" b="1" dirty="0">
                <a:solidFill>
                  <a:srgbClr val="AF3230"/>
                </a:solidFill>
                <a:latin typeface="Calibri" pitchFamily="34" charset="0"/>
                <a:ea typeface="Calibri" pitchFamily="34" charset="-122"/>
                <a:cs typeface="Calibri" pitchFamily="34" charset="-120"/>
              </a:rPr>
              <a:t>House rule: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every uncited standard clause, date, number, or quote is a draft until verified.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A9BBC4"/>
                </a:solidFill>
                <a:latin typeface="Calibri" pitchFamily="34" charset="0"/>
                <a:ea typeface="Calibri" pitchFamily="34" charset="-122"/>
                <a:cs typeface="Calibri" pitchFamily="34" charset="-120"/>
              </a:rPr>
              <a:t>16</a:t>
            </a:r>
            <a:endParaRPr lang="en-US" sz="850" dirty="0"/>
          </a:p>
        </p:txBody>
      </p:sp>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0E7C7B"/>
          </a:solidFill>
          <a:ln/>
        </p:spPr>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210312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2 · MODELS &amp; TOOLS</a:t>
            </a:r>
            <a:endParaRPr lang="en-US" sz="1600" dirty="0"/>
          </a:p>
        </p:txBody>
      </p:sp>
      <p:sp>
        <p:nvSpPr>
          <p:cNvPr id="16" name="Text 14"/>
          <p:cNvSpPr/>
          <p:nvPr/>
        </p:nvSpPr>
        <p:spPr>
          <a:xfrm>
            <a:off x="502920" y="256032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The landscape,</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September 2026</a:t>
            </a:r>
            <a:endParaRPr lang="en-US" sz="4400" dirty="0"/>
          </a:p>
        </p:txBody>
      </p:sp>
      <p:sp>
        <p:nvSpPr>
          <p:cNvPr id="17" name="Text 15"/>
          <p:cNvSpPr/>
          <p:nvPr/>
        </p:nvSpPr>
        <p:spPr>
          <a:xfrm>
            <a:off x="502920" y="44348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Who makes what, what each is genuinely known for, whom to trust with which data, what the Chinese open-weight wave changed — and the tools worth knowing by name. Everything dated: this field re-ranks monthly.</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2 · THE ASSISTANTS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17</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SIX ASSISTANTS, SIX DIFFERENT JOBS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Pick by task, not habit — September 2026</a:t>
            </a:r>
            <a:endParaRPr lang="en-US" sz="3000" dirty="0"/>
          </a:p>
        </p:txBody>
      </p:sp>
      <p:sp>
        <p:nvSpPr>
          <p:cNvPr id="6" name="Shape 4"/>
          <p:cNvSpPr/>
          <p:nvPr/>
        </p:nvSpPr>
        <p:spPr>
          <a:xfrm>
            <a:off x="502920" y="1444752"/>
            <a:ext cx="3611880" cy="2212848"/>
          </a:xfrm>
          <a:prstGeom prst="roundRect">
            <a:avLst>
              <a:gd name="adj" fmla="val 3306"/>
            </a:avLst>
          </a:prstGeom>
          <a:solidFill>
            <a:srgbClr val="F2F5F6"/>
          </a:solidFill>
          <a:ln/>
        </p:spPr>
      </p:sp>
      <p:sp>
        <p:nvSpPr>
          <p:cNvPr id="7" name="Shape 5"/>
          <p:cNvSpPr/>
          <p:nvPr/>
        </p:nvSpPr>
        <p:spPr>
          <a:xfrm>
            <a:off x="502920" y="1444752"/>
            <a:ext cx="3611880" cy="566928"/>
          </a:xfrm>
          <a:prstGeom prst="roundRect">
            <a:avLst>
              <a:gd name="adj" fmla="val 9677"/>
            </a:avLst>
          </a:prstGeom>
          <a:solidFill>
            <a:srgbClr val="FFFFFF"/>
          </a:solidFill>
          <a:ln w="9525">
            <a:solidFill>
              <a:srgbClr val="DCE3E6"/>
            </a:solidFill>
            <a:prstDash val="solid"/>
          </a:ln>
        </p:spPr>
      </p:sp>
      <p:sp>
        <p:nvSpPr>
          <p:cNvPr id="8" name="Shape 6"/>
          <p:cNvSpPr/>
          <p:nvPr/>
        </p:nvSpPr>
        <p:spPr>
          <a:xfrm>
            <a:off x="630936" y="1545336"/>
            <a:ext cx="365760" cy="365760"/>
          </a:xfrm>
          <a:prstGeom prst="roundRect">
            <a:avLst>
              <a:gd name="adj" fmla="val 22500"/>
            </a:avLst>
          </a:prstGeom>
          <a:solidFill>
            <a:srgbClr val="FFFFFF"/>
          </a:solidFill>
          <a:ln w="9525">
            <a:solidFill>
              <a:srgbClr val="DCE3E6"/>
            </a:solidFill>
            <a:prstDash val="solid"/>
          </a:ln>
        </p:spPr>
      </p:sp>
      <p:pic>
        <p:nvPicPr>
          <p:cNvPr id="9" name="Image 0" descr="/home/user/Claude-Works/ai-training-prompt-engineering/src/assets/logos/openai.png">    </p:cNvPr>
          <p:cNvPicPr>
            <a:picLocks noChangeAspect="1"/>
          </p:cNvPicPr>
          <p:nvPr/>
        </p:nvPicPr>
        <p:blipFill>
          <a:blip r:embed="rId1"/>
          <a:stretch>
            <a:fillRect/>
          </a:stretch>
        </p:blipFill>
        <p:spPr>
          <a:xfrm>
            <a:off x="682142" y="1596542"/>
            <a:ext cx="263347" cy="263347"/>
          </a:xfrm>
          <a:prstGeom prst="rect">
            <a:avLst/>
          </a:prstGeom>
        </p:spPr>
      </p:pic>
      <p:sp>
        <p:nvSpPr>
          <p:cNvPr id="10" name="Text 7"/>
          <p:cNvSpPr/>
          <p:nvPr/>
        </p:nvSpPr>
        <p:spPr>
          <a:xfrm>
            <a:off x="1088136"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ChatGPT</a:t>
            </a:r>
            <a:endParaRPr lang="en-US" sz="1500" dirty="0"/>
          </a:p>
        </p:txBody>
      </p:sp>
      <p:sp>
        <p:nvSpPr>
          <p:cNvPr id="11" name="Text 8"/>
          <p:cNvSpPr/>
          <p:nvPr/>
        </p:nvSpPr>
        <p:spPr>
          <a:xfrm>
            <a:off x="1088136" y="1773936"/>
            <a:ext cx="2926080" cy="219456"/>
          </a:xfrm>
          <a:prstGeom prst="rect">
            <a:avLst/>
          </a:prstGeom>
          <a:noFill/>
          <a:ln/>
        </p:spPr>
        <p:txBody>
          <a:bodyPr wrap="square" lIns="0" tIns="0" rIns="0" bIns="0" rtlCol="0" anchor="ctr"/>
          <a:lstStyle/>
          <a:p>
            <a:pPr indent="0" marL="0">
              <a:buNone/>
            </a:pPr>
            <a:r>
              <a:rPr lang="en-US" sz="780" b="1" spc="30" kern="0" dirty="0">
                <a:solidFill>
                  <a:srgbClr val="7A8790"/>
                </a:solidFill>
                <a:latin typeface="Calibri" pitchFamily="34" charset="0"/>
                <a:ea typeface="Calibri" pitchFamily="34" charset="-122"/>
                <a:cs typeface="Calibri" pitchFamily="34" charset="-120"/>
              </a:rPr>
              <a:t>OpenAI · GPT-5.6 family (Sol / Terra / Luna)</a:t>
            </a:r>
            <a:endParaRPr lang="en-US" sz="780" dirty="0"/>
          </a:p>
        </p:txBody>
      </p:sp>
      <p:sp>
        <p:nvSpPr>
          <p:cNvPr id="12" name="Text 9"/>
          <p:cNvSpPr/>
          <p:nvPr/>
        </p:nvSpPr>
        <p:spPr>
          <a:xfrm>
            <a:off x="685800"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everything assistant</a:t>
            </a:r>
            <a:endParaRPr lang="en-US" sz="1350" dirty="0"/>
          </a:p>
        </p:txBody>
      </p:sp>
      <p:sp>
        <p:nvSpPr>
          <p:cNvPr id="13" name="Text 10"/>
          <p:cNvSpPr/>
          <p:nvPr/>
        </p:nvSpPr>
        <p:spPr>
          <a:xfrm>
            <a:off x="685800" y="2578608"/>
            <a:ext cx="3273552" cy="713232"/>
          </a:xfrm>
          <a:prstGeom prst="rect">
            <a:avLst/>
          </a:prstGeom>
          <a:noFill/>
          <a:ln/>
        </p:spPr>
        <p:txBody>
          <a:bodyPr wrap="square" lIns="0" tIns="0" rIns="0" bIns="0" rtlCol="0" anchor="ctr"/>
          <a:lstStyle/>
          <a:p>
            <a:pPr indent="0" marL="0">
              <a:lnSpc>
                <a:spcPct val="100000"/>
              </a:lnSpc>
              <a:buNone/>
            </a:pPr>
            <a:r>
              <a:rPr lang="en-US" sz="940" dirty="0">
                <a:solidFill>
                  <a:srgbClr val="46545F"/>
                </a:solidFill>
                <a:latin typeface="Calibri" pitchFamily="34" charset="0"/>
                <a:ea typeface="Calibri" pitchFamily="34" charset="-122"/>
                <a:cs typeface="Calibri" pitchFamily="34" charset="-120"/>
              </a:rPr>
              <a:t>Largest user base; fastest at drafts, options and marketing copy; images, voice, agent mode.</a:t>
            </a:r>
            <a:endParaRPr lang="en-US" sz="940" dirty="0"/>
          </a:p>
        </p:txBody>
      </p:sp>
      <p:sp>
        <p:nvSpPr>
          <p:cNvPr id="14" name="Text 11"/>
          <p:cNvSpPr/>
          <p:nvPr/>
        </p:nvSpPr>
        <p:spPr>
          <a:xfrm>
            <a:off x="685800" y="3291840"/>
            <a:ext cx="3273552" cy="347472"/>
          </a:xfrm>
          <a:prstGeom prst="rect">
            <a:avLst/>
          </a:prstGeom>
          <a:noFill/>
          <a:ln/>
        </p:spPr>
        <p:txBody>
          <a:bodyPr wrap="square" lIns="0" tIns="0" rIns="0" bIns="0" rtlCol="0" anchor="ctr"/>
          <a:lstStyle/>
          <a:p>
            <a:pPr indent="0" marL="0">
              <a:lnSpc>
                <a:spcPct val="95000"/>
              </a:lnSpc>
              <a:buNone/>
            </a:pPr>
            <a:r>
              <a:rPr lang="en-US" sz="820" i="1" dirty="0">
                <a:solidFill>
                  <a:srgbClr val="B96A1B"/>
                </a:solidFill>
                <a:latin typeface="Calibri" pitchFamily="34" charset="0"/>
                <a:ea typeface="Calibri" pitchFamily="34" charset="-122"/>
                <a:cs typeface="Calibri" pitchFamily="34" charset="-120"/>
              </a:rPr>
              <a:t>Fast model churn and renaming; check data settings before regulated content.</a:t>
            </a:r>
            <a:endParaRPr lang="en-US" sz="820" dirty="0"/>
          </a:p>
        </p:txBody>
      </p:sp>
      <p:sp>
        <p:nvSpPr>
          <p:cNvPr id="15" name="Shape 12"/>
          <p:cNvSpPr/>
          <p:nvPr/>
        </p:nvSpPr>
        <p:spPr>
          <a:xfrm>
            <a:off x="4325112" y="1444752"/>
            <a:ext cx="3611880" cy="2212848"/>
          </a:xfrm>
          <a:prstGeom prst="roundRect">
            <a:avLst>
              <a:gd name="adj" fmla="val 3306"/>
            </a:avLst>
          </a:prstGeom>
          <a:solidFill>
            <a:srgbClr val="F2F5F6"/>
          </a:solidFill>
          <a:ln/>
        </p:spPr>
      </p:sp>
      <p:sp>
        <p:nvSpPr>
          <p:cNvPr id="16" name="Shape 13"/>
          <p:cNvSpPr/>
          <p:nvPr/>
        </p:nvSpPr>
        <p:spPr>
          <a:xfrm>
            <a:off x="4325112" y="1444752"/>
            <a:ext cx="3611880" cy="566928"/>
          </a:xfrm>
          <a:prstGeom prst="roundRect">
            <a:avLst>
              <a:gd name="adj" fmla="val 9677"/>
            </a:avLst>
          </a:prstGeom>
          <a:solidFill>
            <a:srgbClr val="FFFFFF"/>
          </a:solidFill>
          <a:ln w="9525">
            <a:solidFill>
              <a:srgbClr val="DCE3E6"/>
            </a:solidFill>
            <a:prstDash val="solid"/>
          </a:ln>
        </p:spPr>
      </p:sp>
      <p:sp>
        <p:nvSpPr>
          <p:cNvPr id="17" name="Shape 14"/>
          <p:cNvSpPr/>
          <p:nvPr/>
        </p:nvSpPr>
        <p:spPr>
          <a:xfrm>
            <a:off x="4453128" y="1545336"/>
            <a:ext cx="365760" cy="365760"/>
          </a:xfrm>
          <a:prstGeom prst="roundRect">
            <a:avLst>
              <a:gd name="adj" fmla="val 22500"/>
            </a:avLst>
          </a:prstGeom>
          <a:solidFill>
            <a:srgbClr val="FFFFFF"/>
          </a:solidFill>
          <a:ln w="9525">
            <a:solidFill>
              <a:srgbClr val="DCE3E6"/>
            </a:solidFill>
            <a:prstDash val="solid"/>
          </a:ln>
        </p:spPr>
      </p:sp>
      <p:pic>
        <p:nvPicPr>
          <p:cNvPr id="18" name="Image 1" descr="/home/user/Claude-Works/ai-training-prompt-engineering/src/assets/logos/gemini.png">    </p:cNvPr>
          <p:cNvPicPr>
            <a:picLocks noChangeAspect="1"/>
          </p:cNvPicPr>
          <p:nvPr/>
        </p:nvPicPr>
        <p:blipFill>
          <a:blip r:embed="rId2"/>
          <a:stretch>
            <a:fillRect/>
          </a:stretch>
        </p:blipFill>
        <p:spPr>
          <a:xfrm>
            <a:off x="4504334" y="1596542"/>
            <a:ext cx="263347" cy="263347"/>
          </a:xfrm>
          <a:prstGeom prst="rect">
            <a:avLst/>
          </a:prstGeom>
        </p:spPr>
      </p:pic>
      <p:sp>
        <p:nvSpPr>
          <p:cNvPr id="19" name="Text 15"/>
          <p:cNvSpPr/>
          <p:nvPr/>
        </p:nvSpPr>
        <p:spPr>
          <a:xfrm>
            <a:off x="4910328"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Gemini</a:t>
            </a:r>
            <a:endParaRPr lang="en-US" sz="1500" dirty="0"/>
          </a:p>
        </p:txBody>
      </p:sp>
      <p:sp>
        <p:nvSpPr>
          <p:cNvPr id="20" name="Text 16"/>
          <p:cNvSpPr/>
          <p:nvPr/>
        </p:nvSpPr>
        <p:spPr>
          <a:xfrm>
            <a:off x="4910328" y="1773936"/>
            <a:ext cx="2926080" cy="219456"/>
          </a:xfrm>
          <a:prstGeom prst="rect">
            <a:avLst/>
          </a:prstGeom>
          <a:noFill/>
          <a:ln/>
        </p:spPr>
        <p:txBody>
          <a:bodyPr wrap="square" lIns="0" tIns="0" rIns="0" bIns="0" rtlCol="0" anchor="ctr"/>
          <a:lstStyle/>
          <a:p>
            <a:pPr indent="0" marL="0">
              <a:buNone/>
            </a:pPr>
            <a:r>
              <a:rPr lang="en-US" sz="780" b="1" spc="30" kern="0" dirty="0">
                <a:solidFill>
                  <a:srgbClr val="7A8790"/>
                </a:solidFill>
                <a:latin typeface="Calibri" pitchFamily="34" charset="0"/>
                <a:ea typeface="Calibri" pitchFamily="34" charset="-122"/>
                <a:cs typeface="Calibri" pitchFamily="34" charset="-120"/>
              </a:rPr>
              <a:t>Google · Gemini 3 / 3.1 Pro / 3.6 Flash</a:t>
            </a:r>
            <a:endParaRPr lang="en-US" sz="780" dirty="0"/>
          </a:p>
        </p:txBody>
      </p:sp>
      <p:sp>
        <p:nvSpPr>
          <p:cNvPr id="21" name="Text 17"/>
          <p:cNvSpPr/>
          <p:nvPr/>
        </p:nvSpPr>
        <p:spPr>
          <a:xfrm>
            <a:off x="4507992"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Everywhere Google is</a:t>
            </a:r>
            <a:endParaRPr lang="en-US" sz="1350" dirty="0"/>
          </a:p>
        </p:txBody>
      </p:sp>
      <p:sp>
        <p:nvSpPr>
          <p:cNvPr id="22" name="Text 18"/>
          <p:cNvSpPr/>
          <p:nvPr/>
        </p:nvSpPr>
        <p:spPr>
          <a:xfrm>
            <a:off x="4507992" y="2578608"/>
            <a:ext cx="3273552" cy="713232"/>
          </a:xfrm>
          <a:prstGeom prst="rect">
            <a:avLst/>
          </a:prstGeom>
          <a:noFill/>
          <a:ln/>
        </p:spPr>
        <p:txBody>
          <a:bodyPr wrap="square" lIns="0" tIns="0" rIns="0" bIns="0" rtlCol="0" anchor="ctr"/>
          <a:lstStyle/>
          <a:p>
            <a:pPr indent="0" marL="0">
              <a:lnSpc>
                <a:spcPct val="100000"/>
              </a:lnSpc>
              <a:buNone/>
            </a:pPr>
            <a:r>
              <a:rPr lang="en-US" sz="940" dirty="0">
                <a:solidFill>
                  <a:srgbClr val="46545F"/>
                </a:solidFill>
                <a:latin typeface="Calibri" pitchFamily="34" charset="0"/>
                <a:ea typeface="Calibri" pitchFamily="34" charset="-122"/>
                <a:cs typeface="Calibri" pitchFamily="34" charset="-120"/>
              </a:rPr>
              <a:t>Multimodal breadth + the deepest Workspace integration — 1B+ monthly users; default AI in Gmail, Docs, Meet.</a:t>
            </a:r>
            <a:endParaRPr lang="en-US" sz="940" dirty="0"/>
          </a:p>
        </p:txBody>
      </p:sp>
      <p:sp>
        <p:nvSpPr>
          <p:cNvPr id="23" name="Text 19"/>
          <p:cNvSpPr/>
          <p:nvPr/>
        </p:nvSpPr>
        <p:spPr>
          <a:xfrm>
            <a:off x="4507992" y="3291840"/>
            <a:ext cx="3273552" cy="347472"/>
          </a:xfrm>
          <a:prstGeom prst="rect">
            <a:avLst/>
          </a:prstGeom>
          <a:noFill/>
          <a:ln/>
        </p:spPr>
        <p:txBody>
          <a:bodyPr wrap="square" lIns="0" tIns="0" rIns="0" bIns="0" rtlCol="0" anchor="ctr"/>
          <a:lstStyle/>
          <a:p>
            <a:pPr indent="0" marL="0">
              <a:lnSpc>
                <a:spcPct val="95000"/>
              </a:lnSpc>
              <a:buNone/>
            </a:pPr>
            <a:r>
              <a:rPr lang="en-US" sz="820" i="1" dirty="0">
                <a:solidFill>
                  <a:srgbClr val="B96A1B"/>
                </a:solidFill>
                <a:latin typeface="Calibri" pitchFamily="34" charset="0"/>
                <a:ea typeface="Calibri" pitchFamily="34" charset="-122"/>
                <a:cs typeface="Calibri" pitchFamily="34" charset="-120"/>
              </a:rPr>
              <a:t>Model-name sprawl; the best reasoning (Deep Think) sits behind the Ultra tier.</a:t>
            </a:r>
            <a:endParaRPr lang="en-US" sz="820" dirty="0"/>
          </a:p>
        </p:txBody>
      </p:sp>
      <p:sp>
        <p:nvSpPr>
          <p:cNvPr id="24" name="Shape 20"/>
          <p:cNvSpPr/>
          <p:nvPr/>
        </p:nvSpPr>
        <p:spPr>
          <a:xfrm>
            <a:off x="8147304" y="1444752"/>
            <a:ext cx="3611880" cy="2212848"/>
          </a:xfrm>
          <a:prstGeom prst="roundRect">
            <a:avLst>
              <a:gd name="adj" fmla="val 3306"/>
            </a:avLst>
          </a:prstGeom>
          <a:solidFill>
            <a:srgbClr val="F2F5F6"/>
          </a:solidFill>
          <a:ln/>
        </p:spPr>
      </p:sp>
      <p:sp>
        <p:nvSpPr>
          <p:cNvPr id="25" name="Shape 21"/>
          <p:cNvSpPr/>
          <p:nvPr/>
        </p:nvSpPr>
        <p:spPr>
          <a:xfrm>
            <a:off x="8147304" y="1444752"/>
            <a:ext cx="3611880" cy="566928"/>
          </a:xfrm>
          <a:prstGeom prst="roundRect">
            <a:avLst>
              <a:gd name="adj" fmla="val 9677"/>
            </a:avLst>
          </a:prstGeom>
          <a:solidFill>
            <a:srgbClr val="FFFFFF"/>
          </a:solidFill>
          <a:ln w="9525">
            <a:solidFill>
              <a:srgbClr val="DCE3E6"/>
            </a:solidFill>
            <a:prstDash val="solid"/>
          </a:ln>
        </p:spPr>
      </p:sp>
      <p:sp>
        <p:nvSpPr>
          <p:cNvPr id="26" name="Shape 22"/>
          <p:cNvSpPr/>
          <p:nvPr/>
        </p:nvSpPr>
        <p:spPr>
          <a:xfrm>
            <a:off x="8275320" y="1545336"/>
            <a:ext cx="365760" cy="365760"/>
          </a:xfrm>
          <a:prstGeom prst="roundRect">
            <a:avLst>
              <a:gd name="adj" fmla="val 22500"/>
            </a:avLst>
          </a:prstGeom>
          <a:solidFill>
            <a:srgbClr val="FFFFFF"/>
          </a:solidFill>
          <a:ln w="9525">
            <a:solidFill>
              <a:srgbClr val="DCE3E6"/>
            </a:solidFill>
            <a:prstDash val="solid"/>
          </a:ln>
        </p:spPr>
      </p:sp>
      <p:pic>
        <p:nvPicPr>
          <p:cNvPr id="27" name="Image 2" descr="/home/user/Claude-Works/ai-training-prompt-engineering/src/assets/logos/copilot.png">    </p:cNvPr>
          <p:cNvPicPr>
            <a:picLocks noChangeAspect="1"/>
          </p:cNvPicPr>
          <p:nvPr/>
        </p:nvPicPr>
        <p:blipFill>
          <a:blip r:embed="rId3"/>
          <a:stretch>
            <a:fillRect/>
          </a:stretch>
        </p:blipFill>
        <p:spPr>
          <a:xfrm>
            <a:off x="8326526" y="1596542"/>
            <a:ext cx="263347" cy="263347"/>
          </a:xfrm>
          <a:prstGeom prst="rect">
            <a:avLst/>
          </a:prstGeom>
        </p:spPr>
      </p:pic>
      <p:sp>
        <p:nvSpPr>
          <p:cNvPr id="28" name="Text 23"/>
          <p:cNvSpPr/>
          <p:nvPr/>
        </p:nvSpPr>
        <p:spPr>
          <a:xfrm>
            <a:off x="8732520"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Copilot</a:t>
            </a:r>
            <a:endParaRPr lang="en-US" sz="1500" dirty="0"/>
          </a:p>
        </p:txBody>
      </p:sp>
      <p:sp>
        <p:nvSpPr>
          <p:cNvPr id="29" name="Text 24"/>
          <p:cNvSpPr/>
          <p:nvPr/>
        </p:nvSpPr>
        <p:spPr>
          <a:xfrm>
            <a:off x="8732520" y="1773936"/>
            <a:ext cx="2926080" cy="219456"/>
          </a:xfrm>
          <a:prstGeom prst="rect">
            <a:avLst/>
          </a:prstGeom>
          <a:noFill/>
          <a:ln/>
        </p:spPr>
        <p:txBody>
          <a:bodyPr wrap="square" lIns="0" tIns="0" rIns="0" bIns="0" rtlCol="0" anchor="ctr"/>
          <a:lstStyle/>
          <a:p>
            <a:pPr indent="0" marL="0">
              <a:buNone/>
            </a:pPr>
            <a:r>
              <a:rPr lang="en-US" sz="780" b="1" spc="30" kern="0" dirty="0">
                <a:solidFill>
                  <a:srgbClr val="7A8790"/>
                </a:solidFill>
                <a:latin typeface="Calibri" pitchFamily="34" charset="0"/>
                <a:ea typeface="Calibri" pitchFamily="34" charset="-122"/>
                <a:cs typeface="Calibri" pitchFamily="34" charset="-120"/>
              </a:rPr>
              <a:t>Microsoft · GPT-5.6 preferred + Claude selectable</a:t>
            </a:r>
            <a:endParaRPr lang="en-US" sz="780" dirty="0"/>
          </a:p>
        </p:txBody>
      </p:sp>
      <p:sp>
        <p:nvSpPr>
          <p:cNvPr id="30" name="Text 25"/>
          <p:cNvSpPr/>
          <p:nvPr/>
        </p:nvSpPr>
        <p:spPr>
          <a:xfrm>
            <a:off x="8330184"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governed one — inside your tenant</a:t>
            </a:r>
            <a:endParaRPr lang="en-US" sz="1350" dirty="0"/>
          </a:p>
        </p:txBody>
      </p:sp>
      <p:sp>
        <p:nvSpPr>
          <p:cNvPr id="31" name="Text 26"/>
          <p:cNvSpPr/>
          <p:nvPr/>
        </p:nvSpPr>
        <p:spPr>
          <a:xfrm>
            <a:off x="8330184" y="2578608"/>
            <a:ext cx="3273552" cy="713232"/>
          </a:xfrm>
          <a:prstGeom prst="rect">
            <a:avLst/>
          </a:prstGeom>
          <a:noFill/>
          <a:ln/>
        </p:spPr>
        <p:txBody>
          <a:bodyPr wrap="square" lIns="0" tIns="0" rIns="0" bIns="0" rtlCol="0" anchor="ctr"/>
          <a:lstStyle/>
          <a:p>
            <a:pPr indent="0" marL="0">
              <a:lnSpc>
                <a:spcPct val="100000"/>
              </a:lnSpc>
              <a:buNone/>
            </a:pPr>
            <a:r>
              <a:rPr lang="en-US" sz="940" dirty="0">
                <a:solidFill>
                  <a:srgbClr val="46545F"/>
                </a:solidFill>
                <a:latin typeface="Calibri" pitchFamily="34" charset="0"/>
                <a:ea typeface="Calibri" pitchFamily="34" charset="-122"/>
                <a:cs typeface="Calibri" pitchFamily="34" charset="-120"/>
              </a:rPr>
              <a:t>30M+ paid seats inside the M365 compliance boundary IT already audits; its Cowork agent runs on Claude technology.</a:t>
            </a:r>
            <a:endParaRPr lang="en-US" sz="940" dirty="0"/>
          </a:p>
        </p:txBody>
      </p:sp>
      <p:sp>
        <p:nvSpPr>
          <p:cNvPr id="32" name="Text 27"/>
          <p:cNvSpPr/>
          <p:nvPr/>
        </p:nvSpPr>
        <p:spPr>
          <a:xfrm>
            <a:off x="8330184" y="3291840"/>
            <a:ext cx="3273552" cy="347472"/>
          </a:xfrm>
          <a:prstGeom prst="rect">
            <a:avLst/>
          </a:prstGeom>
          <a:noFill/>
          <a:ln/>
        </p:spPr>
        <p:txBody>
          <a:bodyPr wrap="square" lIns="0" tIns="0" rIns="0" bIns="0" rtlCol="0" anchor="ctr"/>
          <a:lstStyle/>
          <a:p>
            <a:pPr indent="0" marL="0">
              <a:lnSpc>
                <a:spcPct val="95000"/>
              </a:lnSpc>
              <a:buNone/>
            </a:pPr>
            <a:r>
              <a:rPr lang="en-US" sz="820" i="1" dirty="0">
                <a:solidFill>
                  <a:srgbClr val="B96A1B"/>
                </a:solidFill>
                <a:latin typeface="Calibri" pitchFamily="34" charset="0"/>
                <a:ea typeface="Calibri" pitchFamily="34" charset="-122"/>
                <a:cs typeface="Calibri" pitchFamily="34" charset="-120"/>
              </a:rPr>
              <a:t>Licenses others’ models; admin flags mean colleagues get different capabilities.</a:t>
            </a:r>
            <a:endParaRPr lang="en-US" sz="820" dirty="0"/>
          </a:p>
        </p:txBody>
      </p:sp>
      <p:sp>
        <p:nvSpPr>
          <p:cNvPr id="33" name="Shape 28"/>
          <p:cNvSpPr/>
          <p:nvPr/>
        </p:nvSpPr>
        <p:spPr>
          <a:xfrm>
            <a:off x="502920" y="3785616"/>
            <a:ext cx="3611880" cy="2212848"/>
          </a:xfrm>
          <a:prstGeom prst="roundRect">
            <a:avLst>
              <a:gd name="adj" fmla="val 3306"/>
            </a:avLst>
          </a:prstGeom>
          <a:solidFill>
            <a:srgbClr val="F2F5F6"/>
          </a:solidFill>
          <a:ln/>
        </p:spPr>
      </p:sp>
      <p:sp>
        <p:nvSpPr>
          <p:cNvPr id="34" name="Shape 29"/>
          <p:cNvSpPr/>
          <p:nvPr/>
        </p:nvSpPr>
        <p:spPr>
          <a:xfrm>
            <a:off x="502920" y="3785616"/>
            <a:ext cx="3611880" cy="566928"/>
          </a:xfrm>
          <a:prstGeom prst="roundRect">
            <a:avLst>
              <a:gd name="adj" fmla="val 9677"/>
            </a:avLst>
          </a:prstGeom>
          <a:solidFill>
            <a:srgbClr val="FFFFFF"/>
          </a:solidFill>
          <a:ln w="9525">
            <a:solidFill>
              <a:srgbClr val="DCE3E6"/>
            </a:solidFill>
            <a:prstDash val="solid"/>
          </a:ln>
        </p:spPr>
      </p:sp>
      <p:sp>
        <p:nvSpPr>
          <p:cNvPr id="35" name="Shape 30"/>
          <p:cNvSpPr/>
          <p:nvPr/>
        </p:nvSpPr>
        <p:spPr>
          <a:xfrm>
            <a:off x="630936" y="3886200"/>
            <a:ext cx="365760" cy="365760"/>
          </a:xfrm>
          <a:prstGeom prst="roundRect">
            <a:avLst>
              <a:gd name="adj" fmla="val 22500"/>
            </a:avLst>
          </a:prstGeom>
          <a:solidFill>
            <a:srgbClr val="FFFFFF"/>
          </a:solidFill>
          <a:ln w="9525">
            <a:solidFill>
              <a:srgbClr val="DCE3E6"/>
            </a:solidFill>
            <a:prstDash val="solid"/>
          </a:ln>
        </p:spPr>
      </p:sp>
      <p:pic>
        <p:nvPicPr>
          <p:cNvPr id="36" name="Image 3" descr="/home/user/Claude-Works/ai-training-prompt-engineering/src/assets/logos/claude.png">    </p:cNvPr>
          <p:cNvPicPr>
            <a:picLocks noChangeAspect="1"/>
          </p:cNvPicPr>
          <p:nvPr/>
        </p:nvPicPr>
        <p:blipFill>
          <a:blip r:embed="rId4"/>
          <a:stretch>
            <a:fillRect/>
          </a:stretch>
        </p:blipFill>
        <p:spPr>
          <a:xfrm>
            <a:off x="682142" y="3937406"/>
            <a:ext cx="263347" cy="263347"/>
          </a:xfrm>
          <a:prstGeom prst="rect">
            <a:avLst/>
          </a:prstGeom>
        </p:spPr>
      </p:pic>
      <p:sp>
        <p:nvSpPr>
          <p:cNvPr id="37" name="Text 31"/>
          <p:cNvSpPr/>
          <p:nvPr/>
        </p:nvSpPr>
        <p:spPr>
          <a:xfrm>
            <a:off x="1088136"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Claude</a:t>
            </a:r>
            <a:endParaRPr lang="en-US" sz="1500" dirty="0"/>
          </a:p>
        </p:txBody>
      </p:sp>
      <p:sp>
        <p:nvSpPr>
          <p:cNvPr id="38" name="Text 32"/>
          <p:cNvSpPr/>
          <p:nvPr/>
        </p:nvSpPr>
        <p:spPr>
          <a:xfrm>
            <a:off x="1088136" y="4114800"/>
            <a:ext cx="2926080" cy="219456"/>
          </a:xfrm>
          <a:prstGeom prst="rect">
            <a:avLst/>
          </a:prstGeom>
          <a:noFill/>
          <a:ln/>
        </p:spPr>
        <p:txBody>
          <a:bodyPr wrap="square" lIns="0" tIns="0" rIns="0" bIns="0" rtlCol="0" anchor="ctr"/>
          <a:lstStyle/>
          <a:p>
            <a:pPr indent="0" marL="0">
              <a:buNone/>
            </a:pPr>
            <a:r>
              <a:rPr lang="en-US" sz="780" b="1" spc="30" kern="0" dirty="0">
                <a:solidFill>
                  <a:srgbClr val="7A8790"/>
                </a:solidFill>
                <a:latin typeface="Calibri" pitchFamily="34" charset="0"/>
                <a:ea typeface="Calibri" pitchFamily="34" charset="-122"/>
                <a:cs typeface="Calibri" pitchFamily="34" charset="-120"/>
              </a:rPr>
              <a:t>Anthropic · Fable 5 / Opus 5 / Sonnet 5 / Haiku 4.5</a:t>
            </a:r>
            <a:endParaRPr lang="en-US" sz="780" dirty="0"/>
          </a:p>
        </p:txBody>
      </p:sp>
      <p:sp>
        <p:nvSpPr>
          <p:cNvPr id="39" name="Text 33"/>
          <p:cNvSpPr/>
          <p:nvPr/>
        </p:nvSpPr>
        <p:spPr>
          <a:xfrm>
            <a:off x="685800"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Best-in-class coding &amp; agentic work</a:t>
            </a:r>
            <a:endParaRPr lang="en-US" sz="1350" dirty="0"/>
          </a:p>
        </p:txBody>
      </p:sp>
      <p:sp>
        <p:nvSpPr>
          <p:cNvPr id="40" name="Text 34"/>
          <p:cNvSpPr/>
          <p:nvPr/>
        </p:nvSpPr>
        <p:spPr>
          <a:xfrm>
            <a:off x="685800" y="4919472"/>
            <a:ext cx="3273552" cy="713232"/>
          </a:xfrm>
          <a:prstGeom prst="rect">
            <a:avLst/>
          </a:prstGeom>
          <a:noFill/>
          <a:ln/>
        </p:spPr>
        <p:txBody>
          <a:bodyPr wrap="square" lIns="0" tIns="0" rIns="0" bIns="0" rtlCol="0" anchor="ctr"/>
          <a:lstStyle/>
          <a:p>
            <a:pPr indent="0" marL="0">
              <a:lnSpc>
                <a:spcPct val="100000"/>
              </a:lnSpc>
              <a:buNone/>
            </a:pPr>
            <a:r>
              <a:rPr lang="en-US" sz="940" dirty="0">
                <a:solidFill>
                  <a:srgbClr val="46545F"/>
                </a:solidFill>
                <a:latin typeface="Calibri" pitchFamily="34" charset="0"/>
                <a:ea typeface="Calibri" pitchFamily="34" charset="-122"/>
                <a:cs typeface="Calibri" pitchFamily="34" charset="-120"/>
              </a:rPr>
              <a:t>Tops SWE-bench AND OpenAI’s own real-work eval (GDPval); 2026 writing evals rank its prose #1; 1M-token documents.</a:t>
            </a:r>
            <a:endParaRPr lang="en-US" sz="940" dirty="0"/>
          </a:p>
        </p:txBody>
      </p:sp>
      <p:sp>
        <p:nvSpPr>
          <p:cNvPr id="41" name="Text 35"/>
          <p:cNvSpPr/>
          <p:nvPr/>
        </p:nvSpPr>
        <p:spPr>
          <a:xfrm>
            <a:off x="685800" y="5632704"/>
            <a:ext cx="3273552" cy="347472"/>
          </a:xfrm>
          <a:prstGeom prst="rect">
            <a:avLst/>
          </a:prstGeom>
          <a:noFill/>
          <a:ln/>
        </p:spPr>
        <p:txBody>
          <a:bodyPr wrap="square" lIns="0" tIns="0" rIns="0" bIns="0" rtlCol="0" anchor="ctr"/>
          <a:lstStyle/>
          <a:p>
            <a:pPr indent="0" marL="0">
              <a:lnSpc>
                <a:spcPct val="95000"/>
              </a:lnSpc>
              <a:buNone/>
            </a:pPr>
            <a:r>
              <a:rPr lang="en-US" sz="820" i="1" dirty="0">
                <a:solidFill>
                  <a:srgbClr val="B96A1B"/>
                </a:solidFill>
                <a:latin typeface="Calibri" pitchFamily="34" charset="0"/>
                <a:ea typeface="Calibri" pitchFamily="34" charset="-122"/>
                <a:cs typeface="Calibri" pitchFamily="34" charset="-120"/>
              </a:rPr>
              <a:t>Premium pricing at the top tier; the flagship can refuse high-risk domains by design.</a:t>
            </a:r>
            <a:endParaRPr lang="en-US" sz="820" dirty="0"/>
          </a:p>
        </p:txBody>
      </p:sp>
      <p:sp>
        <p:nvSpPr>
          <p:cNvPr id="42" name="Shape 36"/>
          <p:cNvSpPr/>
          <p:nvPr/>
        </p:nvSpPr>
        <p:spPr>
          <a:xfrm>
            <a:off x="4325112" y="3785616"/>
            <a:ext cx="3611880" cy="2212848"/>
          </a:xfrm>
          <a:prstGeom prst="roundRect">
            <a:avLst>
              <a:gd name="adj" fmla="val 3306"/>
            </a:avLst>
          </a:prstGeom>
          <a:solidFill>
            <a:srgbClr val="F2F5F6"/>
          </a:solidFill>
          <a:ln/>
        </p:spPr>
      </p:sp>
      <p:sp>
        <p:nvSpPr>
          <p:cNvPr id="43" name="Shape 37"/>
          <p:cNvSpPr/>
          <p:nvPr/>
        </p:nvSpPr>
        <p:spPr>
          <a:xfrm>
            <a:off x="4325112" y="3785616"/>
            <a:ext cx="3611880" cy="566928"/>
          </a:xfrm>
          <a:prstGeom prst="roundRect">
            <a:avLst>
              <a:gd name="adj" fmla="val 9677"/>
            </a:avLst>
          </a:prstGeom>
          <a:solidFill>
            <a:srgbClr val="FFFFFF"/>
          </a:solidFill>
          <a:ln w="9525">
            <a:solidFill>
              <a:srgbClr val="DCE3E6"/>
            </a:solidFill>
            <a:prstDash val="solid"/>
          </a:ln>
        </p:spPr>
      </p:sp>
      <p:sp>
        <p:nvSpPr>
          <p:cNvPr id="44" name="Shape 38"/>
          <p:cNvSpPr/>
          <p:nvPr/>
        </p:nvSpPr>
        <p:spPr>
          <a:xfrm>
            <a:off x="4453128" y="3886200"/>
            <a:ext cx="365760" cy="365760"/>
          </a:xfrm>
          <a:prstGeom prst="roundRect">
            <a:avLst>
              <a:gd name="adj" fmla="val 22500"/>
            </a:avLst>
          </a:prstGeom>
          <a:solidFill>
            <a:srgbClr val="FFFFFF"/>
          </a:solidFill>
          <a:ln w="9525">
            <a:solidFill>
              <a:srgbClr val="DCE3E6"/>
            </a:solidFill>
            <a:prstDash val="solid"/>
          </a:ln>
        </p:spPr>
      </p:sp>
      <p:pic>
        <p:nvPicPr>
          <p:cNvPr id="45" name="Image 4" descr="/home/user/Claude-Works/ai-training-prompt-engineering/src/assets/logos/perplexity.png">    </p:cNvPr>
          <p:cNvPicPr>
            <a:picLocks noChangeAspect="1"/>
          </p:cNvPicPr>
          <p:nvPr/>
        </p:nvPicPr>
        <p:blipFill>
          <a:blip r:embed="rId5"/>
          <a:stretch>
            <a:fillRect/>
          </a:stretch>
        </p:blipFill>
        <p:spPr>
          <a:xfrm>
            <a:off x="4504334" y="3937406"/>
            <a:ext cx="263347" cy="263347"/>
          </a:xfrm>
          <a:prstGeom prst="rect">
            <a:avLst/>
          </a:prstGeom>
        </p:spPr>
      </p:pic>
      <p:sp>
        <p:nvSpPr>
          <p:cNvPr id="46" name="Text 39"/>
          <p:cNvSpPr/>
          <p:nvPr/>
        </p:nvSpPr>
        <p:spPr>
          <a:xfrm>
            <a:off x="4910328"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Perplexity</a:t>
            </a:r>
            <a:endParaRPr lang="en-US" sz="1500" dirty="0"/>
          </a:p>
        </p:txBody>
      </p:sp>
      <p:sp>
        <p:nvSpPr>
          <p:cNvPr id="47" name="Text 40"/>
          <p:cNvSpPr/>
          <p:nvPr/>
        </p:nvSpPr>
        <p:spPr>
          <a:xfrm>
            <a:off x="4910328" y="4114800"/>
            <a:ext cx="2926080" cy="219456"/>
          </a:xfrm>
          <a:prstGeom prst="rect">
            <a:avLst/>
          </a:prstGeom>
          <a:noFill/>
          <a:ln/>
        </p:spPr>
        <p:txBody>
          <a:bodyPr wrap="square" lIns="0" tIns="0" rIns="0" bIns="0" rtlCol="0" anchor="ctr"/>
          <a:lstStyle/>
          <a:p>
            <a:pPr indent="0" marL="0">
              <a:buNone/>
            </a:pPr>
            <a:r>
              <a:rPr lang="en-US" sz="780" b="1" spc="30" kern="0" dirty="0">
                <a:solidFill>
                  <a:srgbClr val="7A8790"/>
                </a:solidFill>
                <a:latin typeface="Calibri" pitchFamily="34" charset="0"/>
                <a:ea typeface="Calibri" pitchFamily="34" charset="-122"/>
                <a:cs typeface="Calibri" pitchFamily="34" charset="-120"/>
              </a:rPr>
              <a:t>Perplexity · own stack + Model Council (GPT+Claude+Gemini)</a:t>
            </a:r>
            <a:endParaRPr lang="en-US" sz="780" dirty="0"/>
          </a:p>
        </p:txBody>
      </p:sp>
      <p:sp>
        <p:nvSpPr>
          <p:cNvPr id="48" name="Text 41"/>
          <p:cNvSpPr/>
          <p:nvPr/>
        </p:nvSpPr>
        <p:spPr>
          <a:xfrm>
            <a:off x="4507992"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Research with receipts</a:t>
            </a:r>
            <a:endParaRPr lang="en-US" sz="1350" dirty="0"/>
          </a:p>
        </p:txBody>
      </p:sp>
      <p:sp>
        <p:nvSpPr>
          <p:cNvPr id="49" name="Text 42"/>
          <p:cNvSpPr/>
          <p:nvPr/>
        </p:nvSpPr>
        <p:spPr>
          <a:xfrm>
            <a:off x="4507992" y="4919472"/>
            <a:ext cx="3273552" cy="713232"/>
          </a:xfrm>
          <a:prstGeom prst="rect">
            <a:avLst/>
          </a:prstGeom>
          <a:noFill/>
          <a:ln/>
        </p:spPr>
        <p:txBody>
          <a:bodyPr wrap="square" lIns="0" tIns="0" rIns="0" bIns="0" rtlCol="0" anchor="ctr"/>
          <a:lstStyle/>
          <a:p>
            <a:pPr indent="0" marL="0">
              <a:lnSpc>
                <a:spcPct val="100000"/>
              </a:lnSpc>
              <a:buNone/>
            </a:pPr>
            <a:r>
              <a:rPr lang="en-US" sz="940" dirty="0">
                <a:solidFill>
                  <a:srgbClr val="46545F"/>
                </a:solidFill>
                <a:latin typeface="Calibri" pitchFamily="34" charset="0"/>
                <a:ea typeface="Calibri" pitchFamily="34" charset="-122"/>
                <a:cs typeface="Calibri" pitchFamily="34" charset="-120"/>
              </a:rPr>
              <a:t>Inline citations by default; the lowest citation-error rate in CJR’s AI-search testing — 37%, vs 67% for ChatGPT Search.</a:t>
            </a:r>
            <a:endParaRPr lang="en-US" sz="940" dirty="0"/>
          </a:p>
        </p:txBody>
      </p:sp>
      <p:sp>
        <p:nvSpPr>
          <p:cNvPr id="50" name="Text 43"/>
          <p:cNvSpPr/>
          <p:nvPr/>
        </p:nvSpPr>
        <p:spPr>
          <a:xfrm>
            <a:off x="4507992" y="5632704"/>
            <a:ext cx="3273552" cy="347472"/>
          </a:xfrm>
          <a:prstGeom prst="rect">
            <a:avLst/>
          </a:prstGeom>
          <a:noFill/>
          <a:ln/>
        </p:spPr>
        <p:txBody>
          <a:bodyPr wrap="square" lIns="0" tIns="0" rIns="0" bIns="0" rtlCol="0" anchor="ctr"/>
          <a:lstStyle/>
          <a:p>
            <a:pPr indent="0" marL="0">
              <a:lnSpc>
                <a:spcPct val="95000"/>
              </a:lnSpc>
              <a:buNone/>
            </a:pPr>
            <a:r>
              <a:rPr lang="en-US" sz="820" i="1" dirty="0">
                <a:solidFill>
                  <a:srgbClr val="B96A1B"/>
                </a:solidFill>
                <a:latin typeface="Calibri" pitchFamily="34" charset="0"/>
                <a:ea typeface="Calibri" pitchFamily="34" charset="-122"/>
                <a:cs typeface="Calibri" pitchFamily="34" charset="-120"/>
              </a:rPr>
              <a:t>A citation isn’t proof — click through before quoting anywhere formal.</a:t>
            </a:r>
            <a:endParaRPr lang="en-US" sz="820" dirty="0"/>
          </a:p>
        </p:txBody>
      </p:sp>
      <p:sp>
        <p:nvSpPr>
          <p:cNvPr id="51" name="Shape 44"/>
          <p:cNvSpPr/>
          <p:nvPr/>
        </p:nvSpPr>
        <p:spPr>
          <a:xfrm>
            <a:off x="8147304" y="3785616"/>
            <a:ext cx="3611880" cy="2212848"/>
          </a:xfrm>
          <a:prstGeom prst="roundRect">
            <a:avLst>
              <a:gd name="adj" fmla="val 3306"/>
            </a:avLst>
          </a:prstGeom>
          <a:solidFill>
            <a:srgbClr val="F2F5F6"/>
          </a:solidFill>
          <a:ln/>
        </p:spPr>
      </p:sp>
      <p:sp>
        <p:nvSpPr>
          <p:cNvPr id="52" name="Shape 45"/>
          <p:cNvSpPr/>
          <p:nvPr/>
        </p:nvSpPr>
        <p:spPr>
          <a:xfrm>
            <a:off x="8147304" y="3785616"/>
            <a:ext cx="3611880" cy="566928"/>
          </a:xfrm>
          <a:prstGeom prst="roundRect">
            <a:avLst>
              <a:gd name="adj" fmla="val 9677"/>
            </a:avLst>
          </a:prstGeom>
          <a:solidFill>
            <a:srgbClr val="FFFFFF"/>
          </a:solidFill>
          <a:ln w="9525">
            <a:solidFill>
              <a:srgbClr val="DCE3E6"/>
            </a:solidFill>
            <a:prstDash val="solid"/>
          </a:ln>
        </p:spPr>
      </p:sp>
      <p:sp>
        <p:nvSpPr>
          <p:cNvPr id="53" name="Shape 46"/>
          <p:cNvSpPr/>
          <p:nvPr/>
        </p:nvSpPr>
        <p:spPr>
          <a:xfrm>
            <a:off x="8275320" y="3886200"/>
            <a:ext cx="365760" cy="365760"/>
          </a:xfrm>
          <a:prstGeom prst="roundRect">
            <a:avLst>
              <a:gd name="adj" fmla="val 22500"/>
            </a:avLst>
          </a:prstGeom>
          <a:solidFill>
            <a:srgbClr val="FFFFFF"/>
          </a:solidFill>
          <a:ln w="9525">
            <a:solidFill>
              <a:srgbClr val="DCE3E6"/>
            </a:solidFill>
            <a:prstDash val="solid"/>
          </a:ln>
        </p:spPr>
      </p:sp>
      <p:pic>
        <p:nvPicPr>
          <p:cNvPr id="54" name="Image 5" descr="/home/user/Claude-Works/ai-training-prompt-engineering/src/assets/logos/grok.png">    </p:cNvPr>
          <p:cNvPicPr>
            <a:picLocks noChangeAspect="1"/>
          </p:cNvPicPr>
          <p:nvPr/>
        </p:nvPicPr>
        <p:blipFill>
          <a:blip r:embed="rId6"/>
          <a:stretch>
            <a:fillRect/>
          </a:stretch>
        </p:blipFill>
        <p:spPr>
          <a:xfrm>
            <a:off x="8326526" y="3937406"/>
            <a:ext cx="263347" cy="263347"/>
          </a:xfrm>
          <a:prstGeom prst="rect">
            <a:avLst/>
          </a:prstGeom>
        </p:spPr>
      </p:pic>
      <p:sp>
        <p:nvSpPr>
          <p:cNvPr id="55" name="Text 47"/>
          <p:cNvSpPr/>
          <p:nvPr/>
        </p:nvSpPr>
        <p:spPr>
          <a:xfrm>
            <a:off x="8732520"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Grok</a:t>
            </a:r>
            <a:endParaRPr lang="en-US" sz="1500" dirty="0"/>
          </a:p>
        </p:txBody>
      </p:sp>
      <p:sp>
        <p:nvSpPr>
          <p:cNvPr id="56" name="Text 48"/>
          <p:cNvSpPr/>
          <p:nvPr/>
        </p:nvSpPr>
        <p:spPr>
          <a:xfrm>
            <a:off x="8732520" y="4114800"/>
            <a:ext cx="2926080" cy="219456"/>
          </a:xfrm>
          <a:prstGeom prst="rect">
            <a:avLst/>
          </a:prstGeom>
          <a:noFill/>
          <a:ln/>
        </p:spPr>
        <p:txBody>
          <a:bodyPr wrap="square" lIns="0" tIns="0" rIns="0" bIns="0" rtlCol="0" anchor="ctr"/>
          <a:lstStyle/>
          <a:p>
            <a:pPr indent="0" marL="0">
              <a:buNone/>
            </a:pPr>
            <a:r>
              <a:rPr lang="en-US" sz="780" b="1" spc="30" kern="0" dirty="0">
                <a:solidFill>
                  <a:srgbClr val="7A8790"/>
                </a:solidFill>
                <a:latin typeface="Calibri" pitchFamily="34" charset="0"/>
                <a:ea typeface="Calibri" pitchFamily="34" charset="-122"/>
                <a:cs typeface="Calibri" pitchFamily="34" charset="-120"/>
              </a:rPr>
              <a:t>xAI (SpaceX) · Grok 4.6</a:t>
            </a:r>
            <a:endParaRPr lang="en-US" sz="780" dirty="0"/>
          </a:p>
        </p:txBody>
      </p:sp>
      <p:sp>
        <p:nvSpPr>
          <p:cNvPr id="57" name="Text 49"/>
          <p:cNvSpPr/>
          <p:nvPr/>
        </p:nvSpPr>
        <p:spPr>
          <a:xfrm>
            <a:off x="8330184"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Blunt on purpose</a:t>
            </a:r>
            <a:endParaRPr lang="en-US" sz="1350" dirty="0"/>
          </a:p>
        </p:txBody>
      </p:sp>
      <p:sp>
        <p:nvSpPr>
          <p:cNvPr id="58" name="Text 50"/>
          <p:cNvSpPr/>
          <p:nvPr/>
        </p:nvSpPr>
        <p:spPr>
          <a:xfrm>
            <a:off x="8330184" y="4919472"/>
            <a:ext cx="3273552" cy="713232"/>
          </a:xfrm>
          <a:prstGeom prst="rect">
            <a:avLst/>
          </a:prstGeom>
          <a:noFill/>
          <a:ln/>
        </p:spPr>
        <p:txBody>
          <a:bodyPr wrap="square" lIns="0" tIns="0" rIns="0" bIns="0" rtlCol="0" anchor="ctr"/>
          <a:lstStyle/>
          <a:p>
            <a:pPr indent="0" marL="0">
              <a:lnSpc>
                <a:spcPct val="100000"/>
              </a:lnSpc>
              <a:buNone/>
            </a:pPr>
            <a:r>
              <a:rPr lang="en-US" sz="940" dirty="0">
                <a:solidFill>
                  <a:srgbClr val="46545F"/>
                </a:solidFill>
                <a:latin typeface="Calibri" pitchFamily="34" charset="0"/>
                <a:ea typeface="Calibri" pitchFamily="34" charset="-122"/>
                <a:cs typeface="Calibri" pitchFamily="34" charset="-120"/>
              </a:rPr>
              <a:t>“Unhinged” is a literal voice mode; real-time X data; aggressive price-performance.</a:t>
            </a:r>
            <a:endParaRPr lang="en-US" sz="940" dirty="0"/>
          </a:p>
        </p:txBody>
      </p:sp>
      <p:sp>
        <p:nvSpPr>
          <p:cNvPr id="59" name="Text 51"/>
          <p:cNvSpPr/>
          <p:nvPr/>
        </p:nvSpPr>
        <p:spPr>
          <a:xfrm>
            <a:off x="8330184" y="5632704"/>
            <a:ext cx="3273552" cy="347472"/>
          </a:xfrm>
          <a:prstGeom prst="rect">
            <a:avLst/>
          </a:prstGeom>
          <a:noFill/>
          <a:ln/>
        </p:spPr>
        <p:txBody>
          <a:bodyPr wrap="square" lIns="0" tIns="0" rIns="0" bIns="0" rtlCol="0" anchor="ctr"/>
          <a:lstStyle/>
          <a:p>
            <a:pPr indent="0" marL="0">
              <a:lnSpc>
                <a:spcPct val="95000"/>
              </a:lnSpc>
              <a:buNone/>
            </a:pPr>
            <a:r>
              <a:rPr lang="en-US" sz="820" i="1" dirty="0">
                <a:solidFill>
                  <a:srgbClr val="B96A1B"/>
                </a:solidFill>
                <a:latin typeface="Calibri" pitchFamily="34" charset="0"/>
                <a:ea typeface="Calibri" pitchFamily="34" charset="-122"/>
                <a:cs typeface="Calibri" pitchFamily="34" charset="-120"/>
              </a:rPr>
              <a:t>Fewer guardrails has meant real incidents (Jul 2025 public apology) — care for brand-sensitive work.</a:t>
            </a:r>
            <a:endParaRPr lang="en-US" sz="820" dirty="0"/>
          </a:p>
        </p:txBody>
      </p:sp>
      <p:sp>
        <p:nvSpPr>
          <p:cNvPr id="60" name="Text 52"/>
          <p:cNvSpPr/>
          <p:nvPr/>
        </p:nvSpPr>
        <p:spPr>
          <a:xfrm>
            <a:off x="502920" y="6144768"/>
            <a:ext cx="11155680" cy="365760"/>
          </a:xfrm>
          <a:prstGeom prst="rect">
            <a:avLst/>
          </a:prstGeom>
          <a:noFill/>
          <a:ln/>
        </p:spPr>
        <p:txBody>
          <a:bodyPr wrap="square" lIns="0" tIns="0" rIns="0" bIns="0" rtlCol="0" anchor="ctr"/>
          <a:lstStyle/>
          <a:p>
            <a:pPr indent="0" marL="0">
              <a:lnSpc>
                <a:spcPct val="102000"/>
              </a:lnSpc>
              <a:buNone/>
            </a:pPr>
            <a:r>
              <a:rPr lang="en-US" sz="1000" i="1" dirty="0">
                <a:solidFill>
                  <a:srgbClr val="7A8790"/>
                </a:solidFill>
                <a:latin typeface="Calibri" pitchFamily="34" charset="0"/>
                <a:ea typeface="Calibri" pitchFamily="34" charset="-122"/>
                <a:cs typeface="Calibri" pitchFamily="34" charset="-120"/>
              </a:rPr>
              <a:t>Whose servers hold your words? Two slides ahead — the account tier decides, not the logo. Fortes verified Sep 9, 2026 — they will have moved; the habits in Parts 3–5 don’t move at all.</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2 · THE CHINESE WAVE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18</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DEEPSEEK MOMENT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January 2025: frontier ability, ~27× cheaper</a:t>
            </a:r>
            <a:endParaRPr lang="en-US" sz="3000" dirty="0"/>
          </a:p>
        </p:txBody>
      </p:sp>
      <p:sp>
        <p:nvSpPr>
          <p:cNvPr id="6" name="Shape 4"/>
          <p:cNvSpPr/>
          <p:nvPr/>
        </p:nvSpPr>
        <p:spPr>
          <a:xfrm>
            <a:off x="502920" y="1444752"/>
            <a:ext cx="5120640" cy="1481328"/>
          </a:xfrm>
          <a:prstGeom prst="roundRect">
            <a:avLst>
              <a:gd name="adj" fmla="val 4938"/>
            </a:avLst>
          </a:prstGeom>
          <a:solidFill>
            <a:srgbClr val="F2F5F6"/>
          </a:solidFill>
          <a:ln/>
        </p:spPr>
      </p:sp>
      <p:sp>
        <p:nvSpPr>
          <p:cNvPr id="7" name="Shape 5"/>
          <p:cNvSpPr/>
          <p:nvPr/>
        </p:nvSpPr>
        <p:spPr>
          <a:xfrm>
            <a:off x="731520" y="1572768"/>
            <a:ext cx="329184" cy="329184"/>
          </a:xfrm>
          <a:prstGeom prst="roundRect">
            <a:avLst>
              <a:gd name="adj" fmla="val 25000"/>
            </a:avLst>
          </a:prstGeom>
          <a:solidFill>
            <a:srgbClr val="FFFFFF"/>
          </a:solidFill>
          <a:ln w="9525">
            <a:solidFill>
              <a:srgbClr val="DCE3E6"/>
            </a:solidFill>
            <a:prstDash val="solid"/>
          </a:ln>
        </p:spPr>
      </p:sp>
      <p:pic>
        <p:nvPicPr>
          <p:cNvPr id="8" name="Image 0" descr="/home/user/Claude-Works/ai-training-prompt-engineering/src/assets/logos/deepseek.png">    </p:cNvPr>
          <p:cNvPicPr>
            <a:picLocks noChangeAspect="1"/>
          </p:cNvPicPr>
          <p:nvPr/>
        </p:nvPicPr>
        <p:blipFill>
          <a:blip r:embed="rId1"/>
          <a:stretch>
            <a:fillRect/>
          </a:stretch>
        </p:blipFill>
        <p:spPr>
          <a:xfrm>
            <a:off x="777606" y="1618854"/>
            <a:ext cx="237012" cy="237012"/>
          </a:xfrm>
          <a:prstGeom prst="rect">
            <a:avLst/>
          </a:prstGeom>
        </p:spPr>
      </p:pic>
      <p:sp>
        <p:nvSpPr>
          <p:cNvPr id="9" name="Text 6"/>
          <p:cNvSpPr/>
          <p:nvPr/>
        </p:nvSpPr>
        <p:spPr>
          <a:xfrm>
            <a:off x="1152144" y="1572768"/>
            <a:ext cx="4297680" cy="292608"/>
          </a:xfrm>
          <a:prstGeom prst="rect">
            <a:avLst/>
          </a:prstGeom>
          <a:noFill/>
          <a:ln/>
        </p:spPr>
        <p:txBody>
          <a:bodyPr wrap="square" lIns="0" tIns="0" rIns="0" bIns="0" rtlCol="0" anchor="ctr"/>
          <a:lstStyle/>
          <a:p>
            <a:pPr indent="0" marL="0">
              <a:buNone/>
            </a:pPr>
            <a:r>
              <a:rPr lang="en-US" sz="1300" b="1" dirty="0">
                <a:solidFill>
                  <a:srgbClr val="232A31"/>
                </a:solidFill>
                <a:latin typeface="Cambria" pitchFamily="34" charset="0"/>
                <a:ea typeface="Cambria" pitchFamily="34" charset="-122"/>
                <a:cs typeface="Cambria" pitchFamily="34" charset="-120"/>
              </a:rPr>
              <a:t>What happened, in three facts</a:t>
            </a:r>
            <a:endParaRPr lang="en-US" sz="1300" dirty="0"/>
          </a:p>
        </p:txBody>
      </p:sp>
      <p:sp>
        <p:nvSpPr>
          <p:cNvPr id="10" name="Text 7"/>
          <p:cNvSpPr/>
          <p:nvPr/>
        </p:nvSpPr>
        <p:spPr>
          <a:xfrm>
            <a:off x="777240" y="1938528"/>
            <a:ext cx="4617720" cy="960120"/>
          </a:xfrm>
          <a:prstGeom prst="rect">
            <a:avLst/>
          </a:prstGeom>
          <a:noFill/>
          <a:ln/>
        </p:spPr>
        <p:txBody>
          <a:bodyPr wrap="square" lIns="0" tIns="0" rIns="0" bIns="0" rtlCol="0" anchor="t"/>
          <a:lstStyle/>
          <a:p>
            <a:pPr algn="l" marL="127000" indent="-127000">
              <a:lnSpc>
                <a:spcPct val="104000"/>
              </a:lnSpc>
              <a:spcAft>
                <a:spcPts val="300"/>
              </a:spcAft>
              <a:buSzPct val="100000"/>
              <a:buChar char="•"/>
            </a:pPr>
            <a:r>
              <a:rPr lang="en-US" sz="920" dirty="0">
                <a:solidFill>
                  <a:srgbClr val="46545F"/>
                </a:solidFill>
                <a:latin typeface="Calibri" pitchFamily="34" charset="0"/>
                <a:ea typeface="Calibri" pitchFamily="34" charset="-122"/>
                <a:cs typeface="Calibri" pitchFamily="34" charset="-120"/>
              </a:rPr>
              <a:t>DeepSeek-R1: open-weights reasoning rivaling OpenAI’s o1 — MIT-licensed, free to download</a:t>
            </a:r>
            <a:endParaRPr lang="en-US" sz="920" dirty="0"/>
          </a:p>
          <a:p>
            <a:pPr algn="l" marL="127000" indent="-127000">
              <a:lnSpc>
                <a:spcPct val="104000"/>
              </a:lnSpc>
              <a:spcAft>
                <a:spcPts val="300"/>
              </a:spcAft>
              <a:buSzPct val="100000"/>
              <a:buChar char="•"/>
            </a:pPr>
            <a:r>
              <a:rPr lang="en-US" sz="920" dirty="0">
                <a:solidFill>
                  <a:srgbClr val="46545F"/>
                </a:solidFill>
                <a:latin typeface="Calibri" pitchFamily="34" charset="0"/>
                <a:ea typeface="Calibri" pitchFamily="34" charset="-122"/>
                <a:cs typeface="Calibri" pitchFamily="34" charset="-120"/>
              </a:rPr>
              <a:t>Nvidia lost $589B in one day (Jan 27) — the largest single-day market loss in history at the time</a:t>
            </a:r>
            <a:endParaRPr lang="en-US" sz="920" dirty="0"/>
          </a:p>
          <a:p>
            <a:pPr algn="l" marL="127000" indent="-127000">
              <a:lnSpc>
                <a:spcPct val="104000"/>
              </a:lnSpc>
              <a:spcAft>
                <a:spcPts val="300"/>
              </a:spcAft>
              <a:buSzPct val="100000"/>
              <a:buChar char="•"/>
            </a:pPr>
            <a:r>
              <a:rPr lang="en-US" sz="920" b="1" dirty="0">
                <a:solidFill>
                  <a:srgbClr val="46545F"/>
                </a:solidFill>
                <a:latin typeface="Calibri" pitchFamily="34" charset="0"/>
                <a:ea typeface="Calibri" pitchFamily="34" charset="-122"/>
                <a:cs typeface="Calibri" pitchFamily="34" charset="-120"/>
              </a:rPr>
              <a:t>The “$5.6M training cost”? Fuel for the final winning race — not the racing team. Real efficiency, oversold headline.</a:t>
            </a:r>
            <a:endParaRPr lang="en-US" sz="920" dirty="0"/>
          </a:p>
        </p:txBody>
      </p:sp>
      <p:sp>
        <p:nvSpPr>
          <p:cNvPr id="11" name="Shape 8"/>
          <p:cNvSpPr/>
          <p:nvPr/>
        </p:nvSpPr>
        <p:spPr>
          <a:xfrm>
            <a:off x="502920" y="3017520"/>
            <a:ext cx="5120640" cy="2304288"/>
          </a:xfrm>
          <a:prstGeom prst="roundRect">
            <a:avLst>
              <a:gd name="adj" fmla="val 3175"/>
            </a:avLst>
          </a:prstGeom>
          <a:solidFill>
            <a:srgbClr val="E4F0EF"/>
          </a:solidFill>
          <a:ln/>
        </p:spPr>
      </p:sp>
      <p:sp>
        <p:nvSpPr>
          <p:cNvPr id="12" name="Text 9"/>
          <p:cNvSpPr/>
          <p:nvPr/>
        </p:nvSpPr>
        <p:spPr>
          <a:xfrm>
            <a:off x="749808" y="3145536"/>
            <a:ext cx="4663440" cy="292608"/>
          </a:xfrm>
          <a:prstGeom prst="rect">
            <a:avLst/>
          </a:prstGeom>
          <a:noFill/>
          <a:ln/>
        </p:spPr>
        <p:txBody>
          <a:bodyPr wrap="square" lIns="0" tIns="0" rIns="0" bIns="0" rtlCol="0" anchor="ctr"/>
          <a:lstStyle/>
          <a:p>
            <a:pPr indent="0" marL="0">
              <a:buNone/>
            </a:pPr>
            <a:r>
              <a:rPr lang="en-US" sz="1300" b="1" dirty="0">
                <a:solidFill>
                  <a:srgbClr val="0A5B5A"/>
                </a:solidFill>
                <a:latin typeface="Cambria" pitchFamily="34" charset="0"/>
                <a:ea typeface="Cambria" pitchFamily="34" charset="-122"/>
                <a:cs typeface="Cambria" pitchFamily="34" charset="-120"/>
              </a:rPr>
              <a:t>The trick has a name: MoE — Mixture of Experts</a:t>
            </a:r>
            <a:endParaRPr lang="en-US" sz="1300" dirty="0"/>
          </a:p>
        </p:txBody>
      </p:sp>
      <p:sp>
        <p:nvSpPr>
          <p:cNvPr id="13" name="Shape 10"/>
          <p:cNvSpPr/>
          <p:nvPr/>
        </p:nvSpPr>
        <p:spPr>
          <a:xfrm>
            <a:off x="777240" y="3584448"/>
            <a:ext cx="1783080" cy="1371600"/>
          </a:xfrm>
          <a:prstGeom prst="roundRect">
            <a:avLst>
              <a:gd name="adj" fmla="val 3333"/>
            </a:avLst>
          </a:prstGeom>
          <a:solidFill>
            <a:srgbClr val="FFFFFF"/>
          </a:solidFill>
          <a:ln w="19050">
            <a:solidFill>
              <a:srgbClr val="0A5B5A"/>
            </a:solidFill>
            <a:prstDash val="solid"/>
          </a:ln>
        </p:spPr>
      </p:sp>
      <p:sp>
        <p:nvSpPr>
          <p:cNvPr id="14" name="Shape 11"/>
          <p:cNvSpPr/>
          <p:nvPr/>
        </p:nvSpPr>
        <p:spPr>
          <a:xfrm>
            <a:off x="1540764" y="3346704"/>
            <a:ext cx="256032" cy="237744"/>
          </a:xfrm>
          <a:prstGeom prst="roundRect">
            <a:avLst>
              <a:gd name="adj" fmla="val 11538"/>
            </a:avLst>
          </a:prstGeom>
          <a:solidFill>
            <a:srgbClr val="AF3230"/>
          </a:solidFill>
          <a:ln/>
        </p:spPr>
      </p:sp>
      <p:sp>
        <p:nvSpPr>
          <p:cNvPr id="15" name="Text 12"/>
          <p:cNvSpPr/>
          <p:nvPr/>
        </p:nvSpPr>
        <p:spPr>
          <a:xfrm>
            <a:off x="1540764" y="3328416"/>
            <a:ext cx="256032"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t>
            </a:r>
            <a:endParaRPr lang="en-US" sz="1200" dirty="0"/>
          </a:p>
        </p:txBody>
      </p:sp>
      <p:sp>
        <p:nvSpPr>
          <p:cNvPr id="16" name="Shape 13"/>
          <p:cNvSpPr/>
          <p:nvPr/>
        </p:nvSpPr>
        <p:spPr>
          <a:xfrm>
            <a:off x="923544" y="3712464"/>
            <a:ext cx="274320" cy="182880"/>
          </a:xfrm>
          <a:prstGeom prst="rect">
            <a:avLst/>
          </a:prstGeom>
          <a:solidFill>
            <a:srgbClr val="F2F5F6"/>
          </a:solidFill>
          <a:ln w="9525">
            <a:solidFill>
              <a:srgbClr val="DCE3E6"/>
            </a:solidFill>
            <a:prstDash val="solid"/>
          </a:ln>
        </p:spPr>
      </p:sp>
      <p:sp>
        <p:nvSpPr>
          <p:cNvPr id="17" name="Shape 14"/>
          <p:cNvSpPr/>
          <p:nvPr/>
        </p:nvSpPr>
        <p:spPr>
          <a:xfrm>
            <a:off x="1335024" y="3712464"/>
            <a:ext cx="274320" cy="182880"/>
          </a:xfrm>
          <a:prstGeom prst="rect">
            <a:avLst/>
          </a:prstGeom>
          <a:solidFill>
            <a:srgbClr val="B96A1B"/>
          </a:solidFill>
          <a:ln w="15875">
            <a:solidFill>
              <a:srgbClr val="B96A1B"/>
            </a:solidFill>
            <a:prstDash val="solid"/>
          </a:ln>
        </p:spPr>
      </p:sp>
      <p:sp>
        <p:nvSpPr>
          <p:cNvPr id="18" name="Shape 15"/>
          <p:cNvSpPr/>
          <p:nvPr/>
        </p:nvSpPr>
        <p:spPr>
          <a:xfrm>
            <a:off x="1746504" y="3712464"/>
            <a:ext cx="274320" cy="182880"/>
          </a:xfrm>
          <a:prstGeom prst="rect">
            <a:avLst/>
          </a:prstGeom>
          <a:solidFill>
            <a:srgbClr val="F2F5F6"/>
          </a:solidFill>
          <a:ln w="9525">
            <a:solidFill>
              <a:srgbClr val="DCE3E6"/>
            </a:solidFill>
            <a:prstDash val="solid"/>
          </a:ln>
        </p:spPr>
      </p:sp>
      <p:sp>
        <p:nvSpPr>
          <p:cNvPr id="19" name="Shape 16"/>
          <p:cNvSpPr/>
          <p:nvPr/>
        </p:nvSpPr>
        <p:spPr>
          <a:xfrm>
            <a:off x="2157984" y="3712464"/>
            <a:ext cx="274320" cy="182880"/>
          </a:xfrm>
          <a:prstGeom prst="rect">
            <a:avLst/>
          </a:prstGeom>
          <a:solidFill>
            <a:srgbClr val="F2F5F6"/>
          </a:solidFill>
          <a:ln w="9525">
            <a:solidFill>
              <a:srgbClr val="DCE3E6"/>
            </a:solidFill>
            <a:prstDash val="solid"/>
          </a:ln>
        </p:spPr>
      </p:sp>
      <p:sp>
        <p:nvSpPr>
          <p:cNvPr id="20" name="Shape 17"/>
          <p:cNvSpPr/>
          <p:nvPr/>
        </p:nvSpPr>
        <p:spPr>
          <a:xfrm>
            <a:off x="923544" y="3986784"/>
            <a:ext cx="274320" cy="182880"/>
          </a:xfrm>
          <a:prstGeom prst="rect">
            <a:avLst/>
          </a:prstGeom>
          <a:solidFill>
            <a:srgbClr val="F2F5F6"/>
          </a:solidFill>
          <a:ln w="9525">
            <a:solidFill>
              <a:srgbClr val="DCE3E6"/>
            </a:solidFill>
            <a:prstDash val="solid"/>
          </a:ln>
        </p:spPr>
      </p:sp>
      <p:sp>
        <p:nvSpPr>
          <p:cNvPr id="21" name="Shape 18"/>
          <p:cNvSpPr/>
          <p:nvPr/>
        </p:nvSpPr>
        <p:spPr>
          <a:xfrm>
            <a:off x="1335024" y="3986784"/>
            <a:ext cx="274320" cy="182880"/>
          </a:xfrm>
          <a:prstGeom prst="rect">
            <a:avLst/>
          </a:prstGeom>
          <a:solidFill>
            <a:srgbClr val="F2F5F6"/>
          </a:solidFill>
          <a:ln w="9525">
            <a:solidFill>
              <a:srgbClr val="DCE3E6"/>
            </a:solidFill>
            <a:prstDash val="solid"/>
          </a:ln>
        </p:spPr>
      </p:sp>
      <p:sp>
        <p:nvSpPr>
          <p:cNvPr id="22" name="Shape 19"/>
          <p:cNvSpPr/>
          <p:nvPr/>
        </p:nvSpPr>
        <p:spPr>
          <a:xfrm>
            <a:off x="1746504" y="3986784"/>
            <a:ext cx="274320" cy="182880"/>
          </a:xfrm>
          <a:prstGeom prst="rect">
            <a:avLst/>
          </a:prstGeom>
          <a:solidFill>
            <a:srgbClr val="B96A1B"/>
          </a:solidFill>
          <a:ln w="15875">
            <a:solidFill>
              <a:srgbClr val="B96A1B"/>
            </a:solidFill>
            <a:prstDash val="solid"/>
          </a:ln>
        </p:spPr>
      </p:sp>
      <p:sp>
        <p:nvSpPr>
          <p:cNvPr id="23" name="Shape 20"/>
          <p:cNvSpPr/>
          <p:nvPr/>
        </p:nvSpPr>
        <p:spPr>
          <a:xfrm>
            <a:off x="2157984" y="3986784"/>
            <a:ext cx="274320" cy="182880"/>
          </a:xfrm>
          <a:prstGeom prst="rect">
            <a:avLst/>
          </a:prstGeom>
          <a:solidFill>
            <a:srgbClr val="F2F5F6"/>
          </a:solidFill>
          <a:ln w="9525">
            <a:solidFill>
              <a:srgbClr val="DCE3E6"/>
            </a:solidFill>
            <a:prstDash val="solid"/>
          </a:ln>
        </p:spPr>
      </p:sp>
      <p:sp>
        <p:nvSpPr>
          <p:cNvPr id="24" name="Shape 21"/>
          <p:cNvSpPr/>
          <p:nvPr/>
        </p:nvSpPr>
        <p:spPr>
          <a:xfrm>
            <a:off x="923544" y="4261104"/>
            <a:ext cx="274320" cy="182880"/>
          </a:xfrm>
          <a:prstGeom prst="rect">
            <a:avLst/>
          </a:prstGeom>
          <a:solidFill>
            <a:srgbClr val="F2F5F6"/>
          </a:solidFill>
          <a:ln w="9525">
            <a:solidFill>
              <a:srgbClr val="DCE3E6"/>
            </a:solidFill>
            <a:prstDash val="solid"/>
          </a:ln>
        </p:spPr>
      </p:sp>
      <p:sp>
        <p:nvSpPr>
          <p:cNvPr id="25" name="Shape 22"/>
          <p:cNvSpPr/>
          <p:nvPr/>
        </p:nvSpPr>
        <p:spPr>
          <a:xfrm>
            <a:off x="1335024" y="4261104"/>
            <a:ext cx="274320" cy="182880"/>
          </a:xfrm>
          <a:prstGeom prst="rect">
            <a:avLst/>
          </a:prstGeom>
          <a:solidFill>
            <a:srgbClr val="F2F5F6"/>
          </a:solidFill>
          <a:ln w="9525">
            <a:solidFill>
              <a:srgbClr val="DCE3E6"/>
            </a:solidFill>
            <a:prstDash val="solid"/>
          </a:ln>
        </p:spPr>
      </p:sp>
      <p:sp>
        <p:nvSpPr>
          <p:cNvPr id="26" name="Shape 23"/>
          <p:cNvSpPr/>
          <p:nvPr/>
        </p:nvSpPr>
        <p:spPr>
          <a:xfrm>
            <a:off x="1746504" y="4261104"/>
            <a:ext cx="274320" cy="182880"/>
          </a:xfrm>
          <a:prstGeom prst="rect">
            <a:avLst/>
          </a:prstGeom>
          <a:solidFill>
            <a:srgbClr val="F2F5F6"/>
          </a:solidFill>
          <a:ln w="9525">
            <a:solidFill>
              <a:srgbClr val="DCE3E6"/>
            </a:solidFill>
            <a:prstDash val="solid"/>
          </a:ln>
        </p:spPr>
      </p:sp>
      <p:sp>
        <p:nvSpPr>
          <p:cNvPr id="27" name="Shape 24"/>
          <p:cNvSpPr/>
          <p:nvPr/>
        </p:nvSpPr>
        <p:spPr>
          <a:xfrm>
            <a:off x="2157984" y="4261104"/>
            <a:ext cx="274320" cy="182880"/>
          </a:xfrm>
          <a:prstGeom prst="rect">
            <a:avLst/>
          </a:prstGeom>
          <a:solidFill>
            <a:srgbClr val="B96A1B"/>
          </a:solidFill>
          <a:ln w="15875">
            <a:solidFill>
              <a:srgbClr val="B96A1B"/>
            </a:solidFill>
            <a:prstDash val="solid"/>
          </a:ln>
        </p:spPr>
      </p:sp>
      <p:sp>
        <p:nvSpPr>
          <p:cNvPr id="28" name="Shape 25"/>
          <p:cNvSpPr/>
          <p:nvPr/>
        </p:nvSpPr>
        <p:spPr>
          <a:xfrm>
            <a:off x="923544" y="4535424"/>
            <a:ext cx="274320" cy="182880"/>
          </a:xfrm>
          <a:prstGeom prst="rect">
            <a:avLst/>
          </a:prstGeom>
          <a:solidFill>
            <a:srgbClr val="F2F5F6"/>
          </a:solidFill>
          <a:ln w="9525">
            <a:solidFill>
              <a:srgbClr val="DCE3E6"/>
            </a:solidFill>
            <a:prstDash val="solid"/>
          </a:ln>
        </p:spPr>
      </p:sp>
      <p:sp>
        <p:nvSpPr>
          <p:cNvPr id="29" name="Shape 26"/>
          <p:cNvSpPr/>
          <p:nvPr/>
        </p:nvSpPr>
        <p:spPr>
          <a:xfrm>
            <a:off x="1335024" y="4535424"/>
            <a:ext cx="274320" cy="182880"/>
          </a:xfrm>
          <a:prstGeom prst="rect">
            <a:avLst/>
          </a:prstGeom>
          <a:solidFill>
            <a:srgbClr val="F2F5F6"/>
          </a:solidFill>
          <a:ln w="9525">
            <a:solidFill>
              <a:srgbClr val="DCE3E6"/>
            </a:solidFill>
            <a:prstDash val="solid"/>
          </a:ln>
        </p:spPr>
      </p:sp>
      <p:sp>
        <p:nvSpPr>
          <p:cNvPr id="30" name="Shape 27"/>
          <p:cNvSpPr/>
          <p:nvPr/>
        </p:nvSpPr>
        <p:spPr>
          <a:xfrm>
            <a:off x="1746504" y="4535424"/>
            <a:ext cx="274320" cy="182880"/>
          </a:xfrm>
          <a:prstGeom prst="rect">
            <a:avLst/>
          </a:prstGeom>
          <a:solidFill>
            <a:srgbClr val="F2F5F6"/>
          </a:solidFill>
          <a:ln w="9525">
            <a:solidFill>
              <a:srgbClr val="DCE3E6"/>
            </a:solidFill>
            <a:prstDash val="solid"/>
          </a:ln>
        </p:spPr>
      </p:sp>
      <p:sp>
        <p:nvSpPr>
          <p:cNvPr id="31" name="Shape 28"/>
          <p:cNvSpPr/>
          <p:nvPr/>
        </p:nvSpPr>
        <p:spPr>
          <a:xfrm>
            <a:off x="2157984" y="4535424"/>
            <a:ext cx="274320" cy="182880"/>
          </a:xfrm>
          <a:prstGeom prst="rect">
            <a:avLst/>
          </a:prstGeom>
          <a:solidFill>
            <a:srgbClr val="F2F5F6"/>
          </a:solidFill>
          <a:ln w="9525">
            <a:solidFill>
              <a:srgbClr val="DCE3E6"/>
            </a:solidFill>
            <a:prstDash val="solid"/>
          </a:ln>
        </p:spPr>
      </p:sp>
      <p:sp>
        <p:nvSpPr>
          <p:cNvPr id="32" name="Shape 29"/>
          <p:cNvSpPr/>
          <p:nvPr/>
        </p:nvSpPr>
        <p:spPr>
          <a:xfrm>
            <a:off x="1549908" y="4663440"/>
            <a:ext cx="237744" cy="292608"/>
          </a:xfrm>
          <a:prstGeom prst="roundRect">
            <a:avLst>
              <a:gd name="adj" fmla="val 7692"/>
            </a:avLst>
          </a:prstGeom>
          <a:solidFill>
            <a:srgbClr val="0A5B5A"/>
          </a:solidFill>
          <a:ln/>
        </p:spPr>
      </p:sp>
      <p:sp>
        <p:nvSpPr>
          <p:cNvPr id="33" name="Text 30"/>
          <p:cNvSpPr/>
          <p:nvPr/>
        </p:nvSpPr>
        <p:spPr>
          <a:xfrm>
            <a:off x="731520" y="4983480"/>
            <a:ext cx="2057400" cy="310896"/>
          </a:xfrm>
          <a:prstGeom prst="rect">
            <a:avLst/>
          </a:prstGeom>
          <a:noFill/>
          <a:ln/>
        </p:spPr>
        <p:txBody>
          <a:bodyPr wrap="square" lIns="0" tIns="0" rIns="0" bIns="0" rtlCol="0" anchor="ctr"/>
          <a:lstStyle/>
          <a:p>
            <a:pPr algn="ctr" indent="0" marL="0">
              <a:lnSpc>
                <a:spcPct val="95000"/>
              </a:lnSpc>
              <a:buNone/>
            </a:pPr>
            <a:r>
              <a:rPr lang="en-US" sz="720" i="1" dirty="0">
                <a:solidFill>
                  <a:srgbClr val="0A5B5A"/>
                </a:solidFill>
                <a:latin typeface="Calibri" pitchFamily="34" charset="0"/>
                <a:ea typeface="Calibri" pitchFamily="34" charset="-122"/>
                <a:cs typeface="Calibri" pitchFamily="34" charset="-120"/>
              </a:rPr>
              <a:t>671B params — the building · ~37B — the lit departments</a:t>
            </a:r>
            <a:endParaRPr lang="en-US" sz="720" dirty="0"/>
          </a:p>
        </p:txBody>
      </p:sp>
      <p:sp>
        <p:nvSpPr>
          <p:cNvPr id="34" name="Text 31"/>
          <p:cNvSpPr/>
          <p:nvPr/>
        </p:nvSpPr>
        <p:spPr>
          <a:xfrm>
            <a:off x="2743200" y="3547872"/>
            <a:ext cx="2743200" cy="1691640"/>
          </a:xfrm>
          <a:prstGeom prst="rect">
            <a:avLst/>
          </a:prstGeom>
          <a:noFill/>
          <a:ln/>
        </p:spPr>
        <p:txBody>
          <a:bodyPr wrap="square" lIns="0" tIns="0" rIns="0" bIns="0" rtlCol="0" anchor="ctr"/>
          <a:lstStyle/>
          <a:p>
            <a:pPr indent="0" marL="0">
              <a:lnSpc>
                <a:spcPct val="108000"/>
              </a:lnSpc>
              <a:buNone/>
            </a:pPr>
            <a:r>
              <a:rPr lang="en-US" sz="1000" dirty="0">
                <a:solidFill>
                  <a:srgbClr val="46545F"/>
                </a:solidFill>
                <a:latin typeface="Calibri" pitchFamily="34" charset="0"/>
                <a:ea typeface="Calibri" pitchFamily="34" charset="-122"/>
                <a:cs typeface="Calibri" pitchFamily="34" charset="-120"/>
              </a:rPr>
              <a:t>Built like a huge specialist hospital: 671 billion parameters on the books, but only ~37 billion — the relevant departments — wake up per question. You pay for the specialists consulted, not the whole building. Distillation (big models teaching small ones) finishes the job.</a:t>
            </a:r>
            <a:endParaRPr lang="en-US" sz="1000" dirty="0"/>
          </a:p>
        </p:txBody>
      </p:sp>
      <p:sp>
        <p:nvSpPr>
          <p:cNvPr id="35" name="Shape 32"/>
          <p:cNvSpPr/>
          <p:nvPr/>
        </p:nvSpPr>
        <p:spPr>
          <a:xfrm>
            <a:off x="5806440" y="1444752"/>
            <a:ext cx="5852160" cy="1965960"/>
          </a:xfrm>
          <a:prstGeom prst="roundRect">
            <a:avLst>
              <a:gd name="adj" fmla="val 3721"/>
            </a:avLst>
          </a:prstGeom>
          <a:solidFill>
            <a:srgbClr val="F2F5F6"/>
          </a:solidFill>
          <a:ln/>
        </p:spPr>
      </p:sp>
      <p:sp>
        <p:nvSpPr>
          <p:cNvPr id="36" name="Text 33"/>
          <p:cNvSpPr/>
          <p:nvPr/>
        </p:nvSpPr>
        <p:spPr>
          <a:xfrm>
            <a:off x="6053328" y="1572768"/>
            <a:ext cx="5394960" cy="292608"/>
          </a:xfrm>
          <a:prstGeom prst="rect">
            <a:avLst/>
          </a:prstGeom>
          <a:noFill/>
          <a:ln/>
        </p:spPr>
        <p:txBody>
          <a:bodyPr wrap="square" lIns="0" tIns="0" rIns="0" bIns="0" rtlCol="0" anchor="ctr"/>
          <a:lstStyle/>
          <a:p>
            <a:pPr indent="0" marL="0">
              <a:buNone/>
            </a:pPr>
            <a:r>
              <a:rPr lang="en-US" sz="1300" b="1" dirty="0">
                <a:solidFill>
                  <a:srgbClr val="232A31"/>
                </a:solidFill>
                <a:latin typeface="Cambria" pitchFamily="34" charset="0"/>
                <a:ea typeface="Cambria" pitchFamily="34" charset="-122"/>
                <a:cs typeface="Cambria" pitchFamily="34" charset="-120"/>
              </a:rPr>
              <a:t>The bill, per million output tokens</a:t>
            </a:r>
            <a:endParaRPr lang="en-US" sz="1300" dirty="0"/>
          </a:p>
        </p:txBody>
      </p:sp>
      <p:sp>
        <p:nvSpPr>
          <p:cNvPr id="37" name="Text 34"/>
          <p:cNvSpPr/>
          <p:nvPr/>
        </p:nvSpPr>
        <p:spPr>
          <a:xfrm>
            <a:off x="6053328" y="1956816"/>
            <a:ext cx="1234440" cy="274320"/>
          </a:xfrm>
          <a:prstGeom prst="rect">
            <a:avLst/>
          </a:prstGeom>
          <a:noFill/>
          <a:ln/>
        </p:spPr>
        <p:txBody>
          <a:bodyPr wrap="square" lIns="0" tIns="0" rIns="0" bIns="0" rtlCol="0" anchor="ctr"/>
          <a:lstStyle/>
          <a:p>
            <a:pPr indent="0" marL="0">
              <a:buNone/>
            </a:pPr>
            <a:r>
              <a:rPr lang="en-US" sz="950" dirty="0">
                <a:solidFill>
                  <a:srgbClr val="46545F"/>
                </a:solidFill>
                <a:latin typeface="Calibri" pitchFamily="34" charset="0"/>
                <a:ea typeface="Calibri" pitchFamily="34" charset="-122"/>
                <a:cs typeface="Calibri" pitchFamily="34" charset="-120"/>
              </a:rPr>
              <a:t>OpenAI o1</a:t>
            </a:r>
            <a:endParaRPr lang="en-US" sz="950" dirty="0"/>
          </a:p>
        </p:txBody>
      </p:sp>
      <p:sp>
        <p:nvSpPr>
          <p:cNvPr id="38" name="Shape 35"/>
          <p:cNvSpPr/>
          <p:nvPr/>
        </p:nvSpPr>
        <p:spPr>
          <a:xfrm>
            <a:off x="7360920" y="1975104"/>
            <a:ext cx="3017520" cy="237744"/>
          </a:xfrm>
          <a:prstGeom prst="roundRect">
            <a:avLst>
              <a:gd name="adj" fmla="val 15385"/>
            </a:avLst>
          </a:prstGeom>
          <a:solidFill>
            <a:srgbClr val="46545F"/>
          </a:solidFill>
          <a:ln/>
        </p:spPr>
      </p:sp>
      <p:sp>
        <p:nvSpPr>
          <p:cNvPr id="39" name="Text 36"/>
          <p:cNvSpPr/>
          <p:nvPr/>
        </p:nvSpPr>
        <p:spPr>
          <a:xfrm>
            <a:off x="7360920" y="1956816"/>
            <a:ext cx="2971800" cy="274320"/>
          </a:xfrm>
          <a:prstGeom prst="rect">
            <a:avLst/>
          </a:prstGeom>
          <a:noFill/>
          <a:ln/>
        </p:spPr>
        <p:txBody>
          <a:bodyPr wrap="square" lIns="0" tIns="0" rIns="0" bIns="0" rtlCol="0" anchor="ctr"/>
          <a:lstStyle/>
          <a:p>
            <a:pPr algn="r" indent="0" marL="0">
              <a:buNone/>
            </a:pPr>
            <a:r>
              <a:rPr lang="en-US" sz="1200" b="1" dirty="0">
                <a:solidFill>
                  <a:srgbClr val="FFFFFF"/>
                </a:solidFill>
                <a:latin typeface="Cambria" pitchFamily="34" charset="0"/>
                <a:ea typeface="Cambria" pitchFamily="34" charset="-122"/>
                <a:cs typeface="Cambria" pitchFamily="34" charset="-120"/>
              </a:rPr>
              <a:t>$60</a:t>
            </a:r>
            <a:endParaRPr lang="en-US" sz="1200" dirty="0"/>
          </a:p>
        </p:txBody>
      </p:sp>
      <p:sp>
        <p:nvSpPr>
          <p:cNvPr id="40" name="Text 37"/>
          <p:cNvSpPr/>
          <p:nvPr/>
        </p:nvSpPr>
        <p:spPr>
          <a:xfrm>
            <a:off x="6053328" y="2340864"/>
            <a:ext cx="1234440" cy="274320"/>
          </a:xfrm>
          <a:prstGeom prst="rect">
            <a:avLst/>
          </a:prstGeom>
          <a:noFill/>
          <a:ln/>
        </p:spPr>
        <p:txBody>
          <a:bodyPr wrap="square" lIns="0" tIns="0" rIns="0" bIns="0" rtlCol="0" anchor="ctr"/>
          <a:lstStyle/>
          <a:p>
            <a:pPr indent="0" marL="0">
              <a:buNone/>
            </a:pPr>
            <a:r>
              <a:rPr lang="en-US" sz="950" b="1" dirty="0">
                <a:solidFill>
                  <a:srgbClr val="0A5B5A"/>
                </a:solidFill>
                <a:latin typeface="Calibri" pitchFamily="34" charset="0"/>
                <a:ea typeface="Calibri" pitchFamily="34" charset="-122"/>
                <a:cs typeface="Calibri" pitchFamily="34" charset="-120"/>
              </a:rPr>
              <a:t>DeepSeek-R1</a:t>
            </a:r>
            <a:endParaRPr lang="en-US" sz="950" dirty="0"/>
          </a:p>
        </p:txBody>
      </p:sp>
      <p:sp>
        <p:nvSpPr>
          <p:cNvPr id="41" name="Shape 38"/>
          <p:cNvSpPr/>
          <p:nvPr/>
        </p:nvSpPr>
        <p:spPr>
          <a:xfrm>
            <a:off x="7360920" y="2359152"/>
            <a:ext cx="128016" cy="237744"/>
          </a:xfrm>
          <a:prstGeom prst="roundRect">
            <a:avLst>
              <a:gd name="adj" fmla="val 14286"/>
            </a:avLst>
          </a:prstGeom>
          <a:solidFill>
            <a:srgbClr val="0E7C7B"/>
          </a:solidFill>
          <a:ln/>
        </p:spPr>
      </p:sp>
      <p:sp>
        <p:nvSpPr>
          <p:cNvPr id="42" name="Text 39"/>
          <p:cNvSpPr/>
          <p:nvPr/>
        </p:nvSpPr>
        <p:spPr>
          <a:xfrm>
            <a:off x="7534656" y="2231136"/>
            <a:ext cx="1463040" cy="475488"/>
          </a:xfrm>
          <a:prstGeom prst="rect">
            <a:avLst/>
          </a:prstGeom>
          <a:noFill/>
          <a:ln/>
        </p:spPr>
        <p:txBody>
          <a:bodyPr wrap="square" lIns="0" tIns="0" rIns="0" bIns="0" rtlCol="0" anchor="ctr"/>
          <a:lstStyle/>
          <a:p>
            <a:pPr indent="0" marL="0">
              <a:buNone/>
            </a:pPr>
            <a:r>
              <a:rPr lang="en-US" sz="2400" b="1" dirty="0">
                <a:solidFill>
                  <a:srgbClr val="0E7C7B"/>
                </a:solidFill>
                <a:latin typeface="Cambria" pitchFamily="34" charset="0"/>
                <a:ea typeface="Cambria" pitchFamily="34" charset="-122"/>
                <a:cs typeface="Cambria" pitchFamily="34" charset="-120"/>
              </a:rPr>
              <a:t>$2.19</a:t>
            </a:r>
            <a:endParaRPr lang="en-US" sz="2400" dirty="0"/>
          </a:p>
        </p:txBody>
      </p:sp>
      <p:sp>
        <p:nvSpPr>
          <p:cNvPr id="43" name="Shape 40"/>
          <p:cNvSpPr/>
          <p:nvPr/>
        </p:nvSpPr>
        <p:spPr>
          <a:xfrm>
            <a:off x="10561320" y="1901952"/>
            <a:ext cx="914400" cy="914400"/>
          </a:xfrm>
          <a:prstGeom prst="ellipse">
            <a:avLst/>
          </a:prstGeom>
          <a:solidFill>
            <a:srgbClr val="B96A1B"/>
          </a:solidFill>
          <a:ln/>
        </p:spPr>
      </p:sp>
      <p:sp>
        <p:nvSpPr>
          <p:cNvPr id="44" name="Text 41"/>
          <p:cNvSpPr/>
          <p:nvPr/>
        </p:nvSpPr>
        <p:spPr>
          <a:xfrm>
            <a:off x="10561320" y="1901952"/>
            <a:ext cx="914400" cy="914400"/>
          </a:xfrm>
          <a:prstGeom prst="rect">
            <a:avLst/>
          </a:prstGeom>
          <a:noFill/>
          <a:ln/>
        </p:spPr>
        <p:txBody>
          <a:bodyPr wrap="square" lIns="0" tIns="0" rIns="0" bIns="0" rtlCol="0" anchor="ctr"/>
          <a:lstStyle/>
          <a:p>
            <a:pPr algn="ctr" indent="0" marL="0">
              <a:lnSpc>
                <a:spcPct val="90000"/>
              </a:lnSpc>
              <a:buNone/>
            </a:pPr>
            <a:r>
              <a:rPr lang="en-US" sz="1900" b="1" dirty="0">
                <a:solidFill>
                  <a:srgbClr val="FFFFFF"/>
                </a:solidFill>
                <a:latin typeface="Cambria" pitchFamily="34" charset="0"/>
                <a:ea typeface="Cambria" pitchFamily="34" charset="-122"/>
                <a:cs typeface="Cambria" pitchFamily="34" charset="-120"/>
              </a:rPr>
              <a:t>27×</a:t>
            </a:r>
            <a:endParaRPr lang="en-US" sz="1900" dirty="0"/>
          </a:p>
          <a:p>
            <a:pPr algn="ctr" indent="0" marL="0">
              <a:lnSpc>
                <a:spcPct val="90000"/>
              </a:lnSpc>
              <a:buNone/>
            </a:pPr>
            <a:r>
              <a:rPr lang="en-US" sz="750" b="1" dirty="0">
                <a:solidFill>
                  <a:srgbClr val="FFFFFF"/>
                </a:solidFill>
                <a:latin typeface="Cambria" pitchFamily="34" charset="0"/>
                <a:ea typeface="Cambria" pitchFamily="34" charset="-122"/>
                <a:cs typeface="Cambria" pitchFamily="34" charset="-120"/>
              </a:rPr>
              <a:t>cheaper</a:t>
            </a:r>
            <a:endParaRPr lang="en-US" sz="1900" dirty="0"/>
          </a:p>
        </p:txBody>
      </p:sp>
      <p:sp>
        <p:nvSpPr>
          <p:cNvPr id="45" name="Text 42"/>
          <p:cNvSpPr/>
          <p:nvPr/>
        </p:nvSpPr>
        <p:spPr>
          <a:xfrm>
            <a:off x="6053328" y="2871216"/>
            <a:ext cx="4389120" cy="502920"/>
          </a:xfrm>
          <a:prstGeom prst="rect">
            <a:avLst/>
          </a:prstGeom>
          <a:noFill/>
          <a:ln/>
        </p:spPr>
        <p:txBody>
          <a:bodyPr wrap="square" lIns="0" tIns="0" rIns="0" bIns="0" rtlCol="0" anchor="ctr"/>
          <a:lstStyle/>
          <a:p>
            <a:pPr indent="0" marL="0">
              <a:lnSpc>
                <a:spcPct val="103000"/>
              </a:lnSpc>
              <a:buNone/>
            </a:pPr>
            <a:r>
              <a:rPr lang="en-US" sz="1000" dirty="0">
                <a:solidFill>
                  <a:srgbClr val="46545F"/>
                </a:solidFill>
                <a:latin typeface="Calibri" pitchFamily="34" charset="0"/>
                <a:ea typeface="Calibri" pitchFamily="34" charset="-122"/>
                <a:cs typeface="Calibri" pitchFamily="34" charset="-120"/>
              </a:rPr>
              <a:t>A $100 o1 workload cost ~$3.60 on R1 — this is why the thinking and deep-research modes from Part 1 didn’t stay luxury-priced.</a:t>
            </a:r>
            <a:endParaRPr lang="en-US" sz="1000" dirty="0"/>
          </a:p>
        </p:txBody>
      </p:sp>
      <p:sp>
        <p:nvSpPr>
          <p:cNvPr id="46" name="Shape 43"/>
          <p:cNvSpPr/>
          <p:nvPr/>
        </p:nvSpPr>
        <p:spPr>
          <a:xfrm>
            <a:off x="5806440" y="3493008"/>
            <a:ext cx="5852160" cy="1700784"/>
          </a:xfrm>
          <a:prstGeom prst="roundRect">
            <a:avLst>
              <a:gd name="adj" fmla="val 4301"/>
            </a:avLst>
          </a:prstGeom>
          <a:solidFill>
            <a:srgbClr val="F2F5F6"/>
          </a:solidFill>
          <a:ln/>
        </p:spPr>
      </p:sp>
      <p:sp>
        <p:nvSpPr>
          <p:cNvPr id="47" name="Text 44"/>
          <p:cNvSpPr/>
          <p:nvPr/>
        </p:nvSpPr>
        <p:spPr>
          <a:xfrm>
            <a:off x="6053328" y="3602736"/>
            <a:ext cx="5394960" cy="274320"/>
          </a:xfrm>
          <a:prstGeom prst="rect">
            <a:avLst/>
          </a:prstGeom>
          <a:noFill/>
          <a:ln/>
        </p:spPr>
        <p:txBody>
          <a:bodyPr wrap="square" lIns="0" tIns="0" rIns="0" bIns="0" rtlCol="0" anchor="ctr"/>
          <a:lstStyle/>
          <a:p>
            <a:pPr indent="0" marL="0">
              <a:buNone/>
            </a:pPr>
            <a:r>
              <a:rPr lang="en-US" sz="1200" b="1" dirty="0">
                <a:solidFill>
                  <a:srgbClr val="232A31"/>
                </a:solidFill>
                <a:latin typeface="Cambria" pitchFamily="34" charset="0"/>
                <a:ea typeface="Cambria" pitchFamily="34" charset="-122"/>
                <a:cs typeface="Cambria" pitchFamily="34" charset="-120"/>
              </a:rPr>
              <a:t>Same league on the hard benchmarks — R1 paper, Jan 2025</a:t>
            </a:r>
            <a:endParaRPr lang="en-US" sz="1200" dirty="0"/>
          </a:p>
        </p:txBody>
      </p:sp>
      <p:sp>
        <p:nvSpPr>
          <p:cNvPr id="48" name="Text 45"/>
          <p:cNvSpPr/>
          <p:nvPr/>
        </p:nvSpPr>
        <p:spPr>
          <a:xfrm>
            <a:off x="6053328" y="3913632"/>
            <a:ext cx="2148840" cy="292608"/>
          </a:xfrm>
          <a:prstGeom prst="rect">
            <a:avLst/>
          </a:prstGeom>
          <a:noFill/>
          <a:ln/>
        </p:spPr>
        <p:txBody>
          <a:bodyPr wrap="square" lIns="0" tIns="0" rIns="0" bIns="0" rtlCol="0" anchor="ctr"/>
          <a:lstStyle/>
          <a:p>
            <a:pPr indent="0" marL="0">
              <a:lnSpc>
                <a:spcPct val="95000"/>
              </a:lnSpc>
              <a:buNone/>
            </a:pPr>
            <a:r>
              <a:rPr lang="en-US" sz="900" dirty="0">
                <a:solidFill>
                  <a:srgbClr val="46545F"/>
                </a:solidFill>
                <a:latin typeface="Calibri" pitchFamily="34" charset="0"/>
                <a:ea typeface="Calibri" pitchFamily="34" charset="-122"/>
                <a:cs typeface="Calibri" pitchFamily="34" charset="-120"/>
              </a:rPr>
              <a:t>Math olympiad (AIME 2024)</a:t>
            </a:r>
            <a:endParaRPr lang="en-US" sz="900" dirty="0"/>
          </a:p>
        </p:txBody>
      </p:sp>
      <p:sp>
        <p:nvSpPr>
          <p:cNvPr id="49" name="Shape 46"/>
          <p:cNvSpPr/>
          <p:nvPr/>
        </p:nvSpPr>
        <p:spPr>
          <a:xfrm>
            <a:off x="8275320" y="3941064"/>
            <a:ext cx="1824228" cy="100584"/>
          </a:xfrm>
          <a:prstGeom prst="roundRect">
            <a:avLst>
              <a:gd name="adj" fmla="val 18182"/>
            </a:avLst>
          </a:prstGeom>
          <a:solidFill>
            <a:srgbClr val="0E7C7B"/>
          </a:solidFill>
          <a:ln/>
        </p:spPr>
      </p:sp>
      <p:sp>
        <p:nvSpPr>
          <p:cNvPr id="50" name="Text 47"/>
          <p:cNvSpPr/>
          <p:nvPr/>
        </p:nvSpPr>
        <p:spPr>
          <a:xfrm>
            <a:off x="10126980" y="3895344"/>
            <a:ext cx="457200" cy="182880"/>
          </a:xfrm>
          <a:prstGeom prst="rect">
            <a:avLst/>
          </a:prstGeom>
          <a:noFill/>
          <a:ln/>
        </p:spPr>
        <p:txBody>
          <a:bodyPr wrap="square" lIns="0" tIns="0" rIns="0" bIns="0" rtlCol="0" anchor="ctr"/>
          <a:lstStyle/>
          <a:p>
            <a:pPr indent="0" marL="0">
              <a:buNone/>
            </a:pPr>
            <a:r>
              <a:rPr lang="en-US" sz="750" b="1" dirty="0">
                <a:solidFill>
                  <a:srgbClr val="0A5B5A"/>
                </a:solidFill>
                <a:latin typeface="Calibri" pitchFamily="34" charset="0"/>
                <a:ea typeface="Calibri" pitchFamily="34" charset="-122"/>
                <a:cs typeface="Calibri" pitchFamily="34" charset="-120"/>
              </a:rPr>
              <a:t>79.8</a:t>
            </a:r>
            <a:endParaRPr lang="en-US" sz="750" dirty="0"/>
          </a:p>
        </p:txBody>
      </p:sp>
      <p:sp>
        <p:nvSpPr>
          <p:cNvPr id="51" name="Shape 48"/>
          <p:cNvSpPr/>
          <p:nvPr/>
        </p:nvSpPr>
        <p:spPr>
          <a:xfrm>
            <a:off x="8275320" y="4069080"/>
            <a:ext cx="1810512" cy="100584"/>
          </a:xfrm>
          <a:prstGeom prst="roundRect">
            <a:avLst>
              <a:gd name="adj" fmla="val 18182"/>
            </a:avLst>
          </a:prstGeom>
          <a:solidFill>
            <a:srgbClr val="46545F"/>
          </a:solidFill>
          <a:ln/>
        </p:spPr>
      </p:sp>
      <p:sp>
        <p:nvSpPr>
          <p:cNvPr id="52" name="Text 49"/>
          <p:cNvSpPr/>
          <p:nvPr/>
        </p:nvSpPr>
        <p:spPr>
          <a:xfrm>
            <a:off x="10113264" y="4023360"/>
            <a:ext cx="457200" cy="182880"/>
          </a:xfrm>
          <a:prstGeom prst="rect">
            <a:avLst/>
          </a:prstGeom>
          <a:noFill/>
          <a:ln/>
        </p:spPr>
        <p:txBody>
          <a:bodyPr wrap="square" lIns="0" tIns="0" rIns="0" bIns="0" rtlCol="0" anchor="ctr"/>
          <a:lstStyle/>
          <a:p>
            <a:pPr indent="0" marL="0">
              <a:buNone/>
            </a:pPr>
            <a:r>
              <a:rPr lang="en-US" sz="750" dirty="0">
                <a:solidFill>
                  <a:srgbClr val="46545F"/>
                </a:solidFill>
                <a:latin typeface="Calibri" pitchFamily="34" charset="0"/>
                <a:ea typeface="Calibri" pitchFamily="34" charset="-122"/>
                <a:cs typeface="Calibri" pitchFamily="34" charset="-120"/>
              </a:rPr>
              <a:t>79.2</a:t>
            </a:r>
            <a:endParaRPr lang="en-US" sz="750" dirty="0"/>
          </a:p>
        </p:txBody>
      </p:sp>
      <p:sp>
        <p:nvSpPr>
          <p:cNvPr id="53" name="Text 50"/>
          <p:cNvSpPr/>
          <p:nvPr/>
        </p:nvSpPr>
        <p:spPr>
          <a:xfrm>
            <a:off x="6053328" y="4224528"/>
            <a:ext cx="2148840" cy="292608"/>
          </a:xfrm>
          <a:prstGeom prst="rect">
            <a:avLst/>
          </a:prstGeom>
          <a:noFill/>
          <a:ln/>
        </p:spPr>
        <p:txBody>
          <a:bodyPr wrap="square" lIns="0" tIns="0" rIns="0" bIns="0" rtlCol="0" anchor="ctr"/>
          <a:lstStyle/>
          <a:p>
            <a:pPr indent="0" marL="0">
              <a:lnSpc>
                <a:spcPct val="95000"/>
              </a:lnSpc>
              <a:buNone/>
            </a:pPr>
            <a:r>
              <a:rPr lang="en-US" sz="900" dirty="0">
                <a:solidFill>
                  <a:srgbClr val="46545F"/>
                </a:solidFill>
                <a:latin typeface="Calibri" pitchFamily="34" charset="0"/>
                <a:ea typeface="Calibri" pitchFamily="34" charset="-122"/>
                <a:cs typeface="Calibri" pitchFamily="34" charset="-120"/>
              </a:rPr>
              <a:t>Coding agent (SWE-bench)</a:t>
            </a:r>
            <a:endParaRPr lang="en-US" sz="900" dirty="0"/>
          </a:p>
        </p:txBody>
      </p:sp>
      <p:sp>
        <p:nvSpPr>
          <p:cNvPr id="54" name="Shape 51"/>
          <p:cNvSpPr/>
          <p:nvPr/>
        </p:nvSpPr>
        <p:spPr>
          <a:xfrm>
            <a:off x="8275320" y="4251960"/>
            <a:ext cx="1124712" cy="100584"/>
          </a:xfrm>
          <a:prstGeom prst="roundRect">
            <a:avLst>
              <a:gd name="adj" fmla="val 18182"/>
            </a:avLst>
          </a:prstGeom>
          <a:solidFill>
            <a:srgbClr val="0E7C7B"/>
          </a:solidFill>
          <a:ln/>
        </p:spPr>
      </p:sp>
      <p:sp>
        <p:nvSpPr>
          <p:cNvPr id="55" name="Text 52"/>
          <p:cNvSpPr/>
          <p:nvPr/>
        </p:nvSpPr>
        <p:spPr>
          <a:xfrm>
            <a:off x="9427464" y="4206240"/>
            <a:ext cx="457200" cy="182880"/>
          </a:xfrm>
          <a:prstGeom prst="rect">
            <a:avLst/>
          </a:prstGeom>
          <a:noFill/>
          <a:ln/>
        </p:spPr>
        <p:txBody>
          <a:bodyPr wrap="square" lIns="0" tIns="0" rIns="0" bIns="0" rtlCol="0" anchor="ctr"/>
          <a:lstStyle/>
          <a:p>
            <a:pPr indent="0" marL="0">
              <a:buNone/>
            </a:pPr>
            <a:r>
              <a:rPr lang="en-US" sz="750" b="1" dirty="0">
                <a:solidFill>
                  <a:srgbClr val="0A5B5A"/>
                </a:solidFill>
                <a:latin typeface="Calibri" pitchFamily="34" charset="0"/>
                <a:ea typeface="Calibri" pitchFamily="34" charset="-122"/>
                <a:cs typeface="Calibri" pitchFamily="34" charset="-120"/>
              </a:rPr>
              <a:t>49.2</a:t>
            </a:r>
            <a:endParaRPr lang="en-US" sz="750" dirty="0"/>
          </a:p>
        </p:txBody>
      </p:sp>
      <p:sp>
        <p:nvSpPr>
          <p:cNvPr id="56" name="Shape 53"/>
          <p:cNvSpPr/>
          <p:nvPr/>
        </p:nvSpPr>
        <p:spPr>
          <a:xfrm>
            <a:off x="8275320" y="4379976"/>
            <a:ext cx="1117854" cy="100584"/>
          </a:xfrm>
          <a:prstGeom prst="roundRect">
            <a:avLst>
              <a:gd name="adj" fmla="val 18182"/>
            </a:avLst>
          </a:prstGeom>
          <a:solidFill>
            <a:srgbClr val="46545F"/>
          </a:solidFill>
          <a:ln/>
        </p:spPr>
      </p:sp>
      <p:sp>
        <p:nvSpPr>
          <p:cNvPr id="57" name="Text 54"/>
          <p:cNvSpPr/>
          <p:nvPr/>
        </p:nvSpPr>
        <p:spPr>
          <a:xfrm>
            <a:off x="9420606" y="4334256"/>
            <a:ext cx="457200" cy="182880"/>
          </a:xfrm>
          <a:prstGeom prst="rect">
            <a:avLst/>
          </a:prstGeom>
          <a:noFill/>
          <a:ln/>
        </p:spPr>
        <p:txBody>
          <a:bodyPr wrap="square" lIns="0" tIns="0" rIns="0" bIns="0" rtlCol="0" anchor="ctr"/>
          <a:lstStyle/>
          <a:p>
            <a:pPr indent="0" marL="0">
              <a:buNone/>
            </a:pPr>
            <a:r>
              <a:rPr lang="en-US" sz="750" dirty="0">
                <a:solidFill>
                  <a:srgbClr val="46545F"/>
                </a:solidFill>
                <a:latin typeface="Calibri" pitchFamily="34" charset="0"/>
                <a:ea typeface="Calibri" pitchFamily="34" charset="-122"/>
                <a:cs typeface="Calibri" pitchFamily="34" charset="-120"/>
              </a:rPr>
              <a:t>48.9</a:t>
            </a:r>
            <a:endParaRPr lang="en-US" sz="750" dirty="0"/>
          </a:p>
        </p:txBody>
      </p:sp>
      <p:sp>
        <p:nvSpPr>
          <p:cNvPr id="58" name="Text 55"/>
          <p:cNvSpPr/>
          <p:nvPr/>
        </p:nvSpPr>
        <p:spPr>
          <a:xfrm>
            <a:off x="6053328" y="4535424"/>
            <a:ext cx="2148840" cy="292608"/>
          </a:xfrm>
          <a:prstGeom prst="rect">
            <a:avLst/>
          </a:prstGeom>
          <a:noFill/>
          <a:ln/>
        </p:spPr>
        <p:txBody>
          <a:bodyPr wrap="square" lIns="0" tIns="0" rIns="0" bIns="0" rtlCol="0" anchor="ctr"/>
          <a:lstStyle/>
          <a:p>
            <a:pPr indent="0" marL="0">
              <a:lnSpc>
                <a:spcPct val="95000"/>
              </a:lnSpc>
              <a:buNone/>
            </a:pPr>
            <a:r>
              <a:rPr lang="en-US" sz="900" dirty="0">
                <a:solidFill>
                  <a:srgbClr val="46545F"/>
                </a:solidFill>
                <a:latin typeface="Calibri" pitchFamily="34" charset="0"/>
                <a:ea typeface="Calibri" pitchFamily="34" charset="-122"/>
                <a:cs typeface="Calibri" pitchFamily="34" charset="-120"/>
              </a:rPr>
              <a:t>Science PhD (GPQA)</a:t>
            </a:r>
            <a:endParaRPr lang="en-US" sz="900" dirty="0"/>
          </a:p>
        </p:txBody>
      </p:sp>
      <p:sp>
        <p:nvSpPr>
          <p:cNvPr id="59" name="Shape 56"/>
          <p:cNvSpPr/>
          <p:nvPr/>
        </p:nvSpPr>
        <p:spPr>
          <a:xfrm>
            <a:off x="8275320" y="4562856"/>
            <a:ext cx="1634490" cy="100584"/>
          </a:xfrm>
          <a:prstGeom prst="roundRect">
            <a:avLst>
              <a:gd name="adj" fmla="val 18182"/>
            </a:avLst>
          </a:prstGeom>
          <a:solidFill>
            <a:srgbClr val="0E7C7B"/>
          </a:solidFill>
          <a:ln/>
        </p:spPr>
      </p:sp>
      <p:sp>
        <p:nvSpPr>
          <p:cNvPr id="60" name="Text 57"/>
          <p:cNvSpPr/>
          <p:nvPr/>
        </p:nvSpPr>
        <p:spPr>
          <a:xfrm>
            <a:off x="9937242" y="4517136"/>
            <a:ext cx="457200" cy="182880"/>
          </a:xfrm>
          <a:prstGeom prst="rect">
            <a:avLst/>
          </a:prstGeom>
          <a:noFill/>
          <a:ln/>
        </p:spPr>
        <p:txBody>
          <a:bodyPr wrap="square" lIns="0" tIns="0" rIns="0" bIns="0" rtlCol="0" anchor="ctr"/>
          <a:lstStyle/>
          <a:p>
            <a:pPr indent="0" marL="0">
              <a:buNone/>
            </a:pPr>
            <a:r>
              <a:rPr lang="en-US" sz="750" b="1" dirty="0">
                <a:solidFill>
                  <a:srgbClr val="0A5B5A"/>
                </a:solidFill>
                <a:latin typeface="Calibri" pitchFamily="34" charset="0"/>
                <a:ea typeface="Calibri" pitchFamily="34" charset="-122"/>
                <a:cs typeface="Calibri" pitchFamily="34" charset="-120"/>
              </a:rPr>
              <a:t>71.5</a:t>
            </a:r>
            <a:endParaRPr lang="en-US" sz="750" dirty="0"/>
          </a:p>
        </p:txBody>
      </p:sp>
      <p:sp>
        <p:nvSpPr>
          <p:cNvPr id="61" name="Shape 58"/>
          <p:cNvSpPr/>
          <p:nvPr/>
        </p:nvSpPr>
        <p:spPr>
          <a:xfrm>
            <a:off x="8275320" y="4690872"/>
            <a:ext cx="1730502" cy="100584"/>
          </a:xfrm>
          <a:prstGeom prst="roundRect">
            <a:avLst>
              <a:gd name="adj" fmla="val 18182"/>
            </a:avLst>
          </a:prstGeom>
          <a:solidFill>
            <a:srgbClr val="46545F"/>
          </a:solidFill>
          <a:ln/>
        </p:spPr>
      </p:sp>
      <p:sp>
        <p:nvSpPr>
          <p:cNvPr id="62" name="Text 59"/>
          <p:cNvSpPr/>
          <p:nvPr/>
        </p:nvSpPr>
        <p:spPr>
          <a:xfrm>
            <a:off x="10033254" y="4645152"/>
            <a:ext cx="457200" cy="182880"/>
          </a:xfrm>
          <a:prstGeom prst="rect">
            <a:avLst/>
          </a:prstGeom>
          <a:noFill/>
          <a:ln/>
        </p:spPr>
        <p:txBody>
          <a:bodyPr wrap="square" lIns="0" tIns="0" rIns="0" bIns="0" rtlCol="0" anchor="ctr"/>
          <a:lstStyle/>
          <a:p>
            <a:pPr indent="0" marL="0">
              <a:buNone/>
            </a:pPr>
            <a:r>
              <a:rPr lang="en-US" sz="750" dirty="0">
                <a:solidFill>
                  <a:srgbClr val="46545F"/>
                </a:solidFill>
                <a:latin typeface="Calibri" pitchFamily="34" charset="0"/>
                <a:ea typeface="Calibri" pitchFamily="34" charset="-122"/>
                <a:cs typeface="Calibri" pitchFamily="34" charset="-120"/>
              </a:rPr>
              <a:t>75.7</a:t>
            </a:r>
            <a:endParaRPr lang="en-US" sz="750" dirty="0"/>
          </a:p>
        </p:txBody>
      </p:sp>
      <p:sp>
        <p:nvSpPr>
          <p:cNvPr id="63" name="Text 60"/>
          <p:cNvSpPr/>
          <p:nvPr/>
        </p:nvSpPr>
        <p:spPr>
          <a:xfrm>
            <a:off x="6053328" y="4864608"/>
            <a:ext cx="5394960" cy="274320"/>
          </a:xfrm>
          <a:prstGeom prst="rect">
            <a:avLst/>
          </a:prstGeom>
          <a:noFill/>
          <a:ln/>
        </p:spPr>
        <p:txBody>
          <a:bodyPr wrap="square" lIns="0" tIns="0" rIns="0" bIns="0" rtlCol="0" anchor="ctr"/>
          <a:lstStyle/>
          <a:p>
            <a:pPr indent="0" marL="0">
              <a:buNone/>
            </a:pPr>
            <a:r>
              <a:rPr lang="en-US" sz="800" b="1" dirty="0">
                <a:solidFill>
                  <a:srgbClr val="0E7C7B"/>
                </a:solidFill>
                <a:latin typeface="Calibri" pitchFamily="34" charset="0"/>
                <a:ea typeface="Calibri" pitchFamily="34" charset="-122"/>
                <a:cs typeface="Calibri" pitchFamily="34" charset="-120"/>
              </a:rPr>
              <a:t>■</a:t>
            </a:r>
            <a:pPr indent="0" marL="0">
              <a:buNone/>
            </a:pPr>
            <a:r>
              <a:rPr lang="en-US" sz="780" dirty="0">
                <a:solidFill>
                  <a:srgbClr val="46545F"/>
                </a:solidFill>
                <a:latin typeface="Calibri" pitchFamily="34" charset="0"/>
                <a:ea typeface="Calibri" pitchFamily="34" charset="-122"/>
                <a:cs typeface="Calibri" pitchFamily="34" charset="-120"/>
              </a:rPr>
              <a:t> DeepSeek-R1  </a:t>
            </a:r>
            <a:pPr indent="0" marL="0">
              <a:buNone/>
            </a:pPr>
            <a:r>
              <a:rPr lang="en-US" sz="800" b="1" dirty="0">
                <a:solidFill>
                  <a:srgbClr val="46545F"/>
                </a:solidFill>
                <a:latin typeface="Calibri" pitchFamily="34" charset="0"/>
                <a:ea typeface="Calibri" pitchFamily="34" charset="-122"/>
                <a:cs typeface="Calibri" pitchFamily="34" charset="-120"/>
              </a:rPr>
              <a:t>■</a:t>
            </a:r>
            <a:pPr indent="0" marL="0">
              <a:buNone/>
            </a:pPr>
            <a:r>
              <a:rPr lang="en-US" sz="780" dirty="0">
                <a:solidFill>
                  <a:srgbClr val="7A8790"/>
                </a:solidFill>
                <a:latin typeface="Calibri" pitchFamily="34" charset="0"/>
                <a:ea typeface="Calibri" pitchFamily="34" charset="-122"/>
                <a:cs typeface="Calibri" pitchFamily="34" charset="-120"/>
              </a:rPr>
              <a:t> OpenAI o1 — matched on math &amp; coding, behind on PhD science: not a clean sweep, and that’s the honest story.</a:t>
            </a:r>
            <a:endParaRPr lang="en-US" sz="800" dirty="0"/>
          </a:p>
        </p:txBody>
      </p:sp>
      <p:sp>
        <p:nvSpPr>
          <p:cNvPr id="64" name="Shape 61"/>
          <p:cNvSpPr/>
          <p:nvPr/>
        </p:nvSpPr>
        <p:spPr>
          <a:xfrm>
            <a:off x="502920" y="5303520"/>
            <a:ext cx="11155680" cy="1207008"/>
          </a:xfrm>
          <a:prstGeom prst="roundRect">
            <a:avLst>
              <a:gd name="adj" fmla="val 6061"/>
            </a:avLst>
          </a:prstGeom>
          <a:solidFill>
            <a:srgbClr val="E4F0EF"/>
          </a:solidFill>
          <a:ln/>
        </p:spPr>
      </p:sp>
      <p:sp>
        <p:nvSpPr>
          <p:cNvPr id="65" name="Shape 62"/>
          <p:cNvSpPr/>
          <p:nvPr/>
        </p:nvSpPr>
        <p:spPr>
          <a:xfrm>
            <a:off x="649224" y="5422392"/>
            <a:ext cx="365760" cy="365760"/>
          </a:xfrm>
          <a:prstGeom prst="ellipse">
            <a:avLst/>
          </a:prstGeom>
          <a:solidFill>
            <a:srgbClr val="0E7C7B"/>
          </a:solidFill>
          <a:ln/>
        </p:spPr>
      </p:sp>
      <p:pic>
        <p:nvPicPr>
          <p:cNvPr id="66" name="Image 1" descr="/home/user/Claude-Works/ai-training-prompt-engineering/src/assets/icons/robot_w.png">    </p:cNvPr>
          <p:cNvPicPr>
            <a:picLocks noChangeAspect="1"/>
          </p:cNvPicPr>
          <p:nvPr/>
        </p:nvPicPr>
        <p:blipFill>
          <a:blip r:embed="rId2"/>
          <a:stretch>
            <a:fillRect/>
          </a:stretch>
        </p:blipFill>
        <p:spPr>
          <a:xfrm>
            <a:off x="744322" y="5517490"/>
            <a:ext cx="175565" cy="175565"/>
          </a:xfrm>
          <a:prstGeom prst="rect">
            <a:avLst/>
          </a:prstGeom>
        </p:spPr>
      </p:pic>
      <p:sp>
        <p:nvSpPr>
          <p:cNvPr id="67" name="Shape 63"/>
          <p:cNvSpPr/>
          <p:nvPr/>
        </p:nvSpPr>
        <p:spPr>
          <a:xfrm>
            <a:off x="1106424" y="5449824"/>
            <a:ext cx="1188720" cy="310896"/>
          </a:xfrm>
          <a:prstGeom prst="roundRect">
            <a:avLst>
              <a:gd name="adj" fmla="val 23529"/>
            </a:avLst>
          </a:prstGeom>
          <a:solidFill>
            <a:srgbClr val="0E7C7B"/>
          </a:solidFill>
          <a:ln/>
        </p:spPr>
      </p:sp>
      <p:sp>
        <p:nvSpPr>
          <p:cNvPr id="68" name="Text 64"/>
          <p:cNvSpPr/>
          <p:nvPr/>
        </p:nvSpPr>
        <p:spPr>
          <a:xfrm>
            <a:off x="1106424" y="545896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PROMPT 8/7</a:t>
            </a:r>
            <a:endParaRPr lang="en-US" sz="950" dirty="0"/>
          </a:p>
        </p:txBody>
      </p:sp>
      <p:sp>
        <p:nvSpPr>
          <p:cNvPr id="69" name="Text 65"/>
          <p:cNvSpPr/>
          <p:nvPr/>
        </p:nvSpPr>
        <p:spPr>
          <a:xfrm>
            <a:off x="2404872" y="5458968"/>
            <a:ext cx="9006840" cy="292608"/>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The specialist hospital, explained</a:t>
            </a:r>
            <a:endParaRPr lang="en-US" sz="1050" dirty="0"/>
          </a:p>
        </p:txBody>
      </p:sp>
      <p:sp>
        <p:nvSpPr>
          <p:cNvPr id="70" name="Text 66"/>
          <p:cNvSpPr/>
          <p:nvPr/>
        </p:nvSpPr>
        <p:spPr>
          <a:xfrm>
            <a:off x="685800" y="5815584"/>
            <a:ext cx="10789920" cy="329184"/>
          </a:xfrm>
          <a:prstGeom prst="rect">
            <a:avLst/>
          </a:prstGeom>
          <a:noFill/>
          <a:ln/>
        </p:spPr>
        <p:txBody>
          <a:bodyPr wrap="square" lIns="0" tIns="0" rIns="0" bIns="0" rtlCol="0" anchor="t"/>
          <a:lstStyle/>
          <a:p>
            <a:pPr indent="0" marL="0">
              <a:lnSpc>
                <a:spcPct val="108000"/>
              </a:lnSpc>
              <a:buNone/>
            </a:pPr>
            <a:r>
              <a:rPr lang="en-US" sz="86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860" dirty="0">
                <a:solidFill>
                  <a:srgbClr val="232A31"/>
                </a:solidFill>
                <a:latin typeface="Consolas" pitchFamily="34" charset="0"/>
                <a:ea typeface="Consolas" pitchFamily="34" charset="-122"/>
                <a:cs typeface="Consolas" pitchFamily="34" charset="-120"/>
              </a:rPr>
              <a:t>“Explain Mixture of Experts like a colleague: a specialist hospital where only the relevant departments wake up per question — and why that made AI dramatically cheaper in 2025. Under 120 words.”</a:t>
            </a:r>
            <a:endParaRPr lang="en-US" sz="860" dirty="0"/>
          </a:p>
          <a:p>
            <a:pPr indent="0" marL="0">
              <a:lnSpc>
                <a:spcPct val="108000"/>
              </a:lnSpc>
              <a:buNone/>
            </a:pPr>
            <a:r>
              <a:rPr lang="en-US" sz="81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810" i="1" dirty="0">
                <a:solidFill>
                  <a:srgbClr val="46545F"/>
                </a:solidFill>
                <a:latin typeface="Calibri" pitchFamily="34" charset="0"/>
                <a:ea typeface="Calibri" pitchFamily="34" charset="-122"/>
                <a:cs typeface="Calibri" pitchFamily="34" charset="-120"/>
              </a:rPr>
              <a:t>the MoE cheat-note lands in your course log, told by your own assistant.</a:t>
            </a:r>
            <a:endParaRPr lang="en-US" sz="860" dirty="0"/>
          </a:p>
        </p:txBody>
      </p:sp>
      <p:sp>
        <p:nvSpPr>
          <p:cNvPr id="71" name="Text 67"/>
          <p:cNvSpPr/>
          <p:nvPr/>
        </p:nvSpPr>
        <p:spPr>
          <a:xfrm>
            <a:off x="685800" y="6217920"/>
            <a:ext cx="10789920" cy="237744"/>
          </a:xfrm>
          <a:prstGeom prst="rect">
            <a:avLst/>
          </a:prstGeom>
          <a:noFill/>
          <a:ln/>
        </p:spPr>
        <p:txBody>
          <a:bodyPr wrap="square" lIns="0" tIns="0" rIns="0" bIns="0" rtlCol="0" anchor="ctr"/>
          <a:lstStyle/>
          <a:p>
            <a:pPr indent="0" marL="0">
              <a:buNone/>
            </a:pPr>
            <a:r>
              <a:rPr lang="en-US" sz="800" i="1" dirty="0">
                <a:solidFill>
                  <a:srgbClr val="0A5B5A"/>
                </a:solidFill>
                <a:latin typeface="Calibri" pitchFamily="34" charset="0"/>
                <a:ea typeface="Calibri" pitchFamily="34" charset="-122"/>
                <a:cs typeface="Calibri" pitchFamily="34" charset="-120"/>
              </a:rPr>
              <a:t>✂ copy-paste, don’t retype: tab EX7-MoE of your Course Workbook</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2 · TRUST &amp; DATA</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19</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WHERE YOUR WORDS GO</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Whose servers, in which country — Sep 2026</a:t>
            </a:r>
            <a:endParaRPr lang="en-US" sz="3000" dirty="0"/>
          </a:p>
        </p:txBody>
      </p:sp>
      <p:sp>
        <p:nvSpPr>
          <p:cNvPr id="6" name="Shape 4"/>
          <p:cNvSpPr/>
          <p:nvPr/>
        </p:nvSpPr>
        <p:spPr>
          <a:xfrm>
            <a:off x="502920" y="1444752"/>
            <a:ext cx="11155680" cy="3794760"/>
          </a:xfrm>
          <a:prstGeom prst="roundRect">
            <a:avLst>
              <a:gd name="adj" fmla="val 1928"/>
            </a:avLst>
          </a:prstGeom>
          <a:solidFill>
            <a:srgbClr val="EAF3F5"/>
          </a:solidFill>
          <a:ln w="9525">
            <a:solidFill>
              <a:srgbClr val="DCE3E6"/>
            </a:solidFill>
            <a:prstDash val="solid"/>
          </a:ln>
        </p:spPr>
      </p:sp>
      <p:sp>
        <p:nvSpPr>
          <p:cNvPr id="7" name="Shape 5"/>
          <p:cNvSpPr/>
          <p:nvPr/>
        </p:nvSpPr>
        <p:spPr>
          <a:xfrm>
            <a:off x="777240" y="1664208"/>
            <a:ext cx="3401568" cy="3383280"/>
          </a:xfrm>
          <a:prstGeom prst="roundRect">
            <a:avLst>
              <a:gd name="adj" fmla="val 2162"/>
            </a:avLst>
          </a:prstGeom>
          <a:solidFill>
            <a:srgbClr val="FFFFFF"/>
          </a:solidFill>
          <a:ln w="12700">
            <a:solidFill>
              <a:srgbClr val="0A5B5A"/>
            </a:solidFill>
            <a:prstDash val="dash"/>
          </a:ln>
        </p:spPr>
      </p:sp>
      <p:sp>
        <p:nvSpPr>
          <p:cNvPr id="8" name="Text 6"/>
          <p:cNvSpPr/>
          <p:nvPr/>
        </p:nvSpPr>
        <p:spPr>
          <a:xfrm>
            <a:off x="941832" y="1773936"/>
            <a:ext cx="3108960" cy="274320"/>
          </a:xfrm>
          <a:prstGeom prst="rect">
            <a:avLst/>
          </a:prstGeom>
          <a:noFill/>
          <a:ln/>
        </p:spPr>
        <p:txBody>
          <a:bodyPr wrap="square" lIns="0" tIns="0" rIns="0" bIns="0" rtlCol="0" anchor="ctr"/>
          <a:lstStyle/>
          <a:p>
            <a:pPr indent="0" marL="0">
              <a:buNone/>
            </a:pPr>
            <a:r>
              <a:rPr lang="en-US" sz="1050" b="1" spc="80" kern="0" dirty="0">
                <a:solidFill>
                  <a:srgbClr val="0A5B5A"/>
                </a:solidFill>
                <a:latin typeface="Calibri" pitchFamily="34" charset="0"/>
                <a:ea typeface="Calibri" pitchFamily="34" charset="-122"/>
                <a:cs typeface="Calibri" pitchFamily="34" charset="-120"/>
              </a:rPr>
              <a:t>UNITED STATES</a:t>
            </a:r>
            <a:endParaRPr lang="en-US" sz="1050" dirty="0"/>
          </a:p>
        </p:txBody>
      </p:sp>
      <p:sp>
        <p:nvSpPr>
          <p:cNvPr id="9" name="Shape 7"/>
          <p:cNvSpPr/>
          <p:nvPr/>
        </p:nvSpPr>
        <p:spPr>
          <a:xfrm>
            <a:off x="941832" y="2176272"/>
            <a:ext cx="329184" cy="329184"/>
          </a:xfrm>
          <a:prstGeom prst="roundRect">
            <a:avLst>
              <a:gd name="adj" fmla="val 25000"/>
            </a:avLst>
          </a:prstGeom>
          <a:solidFill>
            <a:srgbClr val="FFFFFF"/>
          </a:solidFill>
          <a:ln w="9525">
            <a:solidFill>
              <a:srgbClr val="DCE3E6"/>
            </a:solidFill>
            <a:prstDash val="solid"/>
          </a:ln>
        </p:spPr>
      </p:sp>
      <p:pic>
        <p:nvPicPr>
          <p:cNvPr id="10" name="Image 0" descr="/home/user/Claude-Works/ai-training-prompt-engineering/src/assets/logos/claude.png">    </p:cNvPr>
          <p:cNvPicPr>
            <a:picLocks noChangeAspect="1"/>
          </p:cNvPicPr>
          <p:nvPr/>
        </p:nvPicPr>
        <p:blipFill>
          <a:blip r:embed="rId1"/>
          <a:stretch>
            <a:fillRect/>
          </a:stretch>
        </p:blipFill>
        <p:spPr>
          <a:xfrm>
            <a:off x="987918" y="2222358"/>
            <a:ext cx="237012" cy="237012"/>
          </a:xfrm>
          <a:prstGeom prst="rect">
            <a:avLst/>
          </a:prstGeom>
        </p:spPr>
      </p:pic>
      <p:sp>
        <p:nvSpPr>
          <p:cNvPr id="11" name="Text 8"/>
          <p:cNvSpPr/>
          <p:nvPr/>
        </p:nvSpPr>
        <p:spPr>
          <a:xfrm>
            <a:off x="1362456" y="2157984"/>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Anthropic</a:t>
            </a:r>
            <a:endParaRPr lang="en-US" sz="1050" dirty="0"/>
          </a:p>
          <a:p>
            <a:pPr indent="0" marL="0">
              <a:lnSpc>
                <a:spcPct val="98000"/>
              </a:lnSpc>
              <a:buNone/>
            </a:pPr>
            <a:r>
              <a:rPr lang="en-US" sz="880" dirty="0">
                <a:solidFill>
                  <a:srgbClr val="46545F"/>
                </a:solidFill>
                <a:latin typeface="Calibri" pitchFamily="34" charset="0"/>
                <a:ea typeface="Calibri" pitchFamily="34" charset="-122"/>
                <a:cs typeface="Calibri" pitchFamily="34" charset="-120"/>
              </a:rPr>
              <a:t>stored in the US</a:t>
            </a:r>
            <a:endParaRPr lang="en-US" sz="1050" dirty="0"/>
          </a:p>
        </p:txBody>
      </p:sp>
      <p:sp>
        <p:nvSpPr>
          <p:cNvPr id="12" name="Shape 9"/>
          <p:cNvSpPr/>
          <p:nvPr/>
        </p:nvSpPr>
        <p:spPr>
          <a:xfrm>
            <a:off x="941832" y="2898648"/>
            <a:ext cx="329184" cy="329184"/>
          </a:xfrm>
          <a:prstGeom prst="roundRect">
            <a:avLst>
              <a:gd name="adj" fmla="val 25000"/>
            </a:avLst>
          </a:prstGeom>
          <a:solidFill>
            <a:srgbClr val="FFFFFF"/>
          </a:solidFill>
          <a:ln w="9525">
            <a:solidFill>
              <a:srgbClr val="DCE3E6"/>
            </a:solidFill>
            <a:prstDash val="solid"/>
          </a:ln>
        </p:spPr>
      </p:sp>
      <p:pic>
        <p:nvPicPr>
          <p:cNvPr id="13" name="Image 1" descr="/home/user/Claude-Works/ai-training-prompt-engineering/src/assets/logos/openai.png">    </p:cNvPr>
          <p:cNvPicPr>
            <a:picLocks noChangeAspect="1"/>
          </p:cNvPicPr>
          <p:nvPr/>
        </p:nvPicPr>
        <p:blipFill>
          <a:blip r:embed="rId2"/>
          <a:stretch>
            <a:fillRect/>
          </a:stretch>
        </p:blipFill>
        <p:spPr>
          <a:xfrm>
            <a:off x="987918" y="2944734"/>
            <a:ext cx="237012" cy="237012"/>
          </a:xfrm>
          <a:prstGeom prst="rect">
            <a:avLst/>
          </a:prstGeom>
        </p:spPr>
      </p:pic>
      <p:sp>
        <p:nvSpPr>
          <p:cNvPr id="14" name="Text 10"/>
          <p:cNvSpPr/>
          <p:nvPr/>
        </p:nvSpPr>
        <p:spPr>
          <a:xfrm>
            <a:off x="1362456" y="2880360"/>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OpenAI</a:t>
            </a:r>
            <a:endParaRPr lang="en-US" sz="1050" dirty="0"/>
          </a:p>
          <a:p>
            <a:pPr indent="0" marL="0">
              <a:lnSpc>
                <a:spcPct val="98000"/>
              </a:lnSpc>
              <a:buNone/>
            </a:pPr>
            <a:r>
              <a:rPr lang="en-US" sz="880" dirty="0">
                <a:solidFill>
                  <a:srgbClr val="46545F"/>
                </a:solidFill>
                <a:latin typeface="Calibri" pitchFamily="34" charset="0"/>
                <a:ea typeface="Calibri" pitchFamily="34" charset="-122"/>
                <a:cs typeface="Calibri" pitchFamily="34" charset="-120"/>
              </a:rPr>
              <a:t>US by default</a:t>
            </a:r>
            <a:endParaRPr lang="en-US" sz="1050" dirty="0"/>
          </a:p>
        </p:txBody>
      </p:sp>
      <p:sp>
        <p:nvSpPr>
          <p:cNvPr id="15" name="Shape 11"/>
          <p:cNvSpPr/>
          <p:nvPr/>
        </p:nvSpPr>
        <p:spPr>
          <a:xfrm>
            <a:off x="941832" y="3621024"/>
            <a:ext cx="329184" cy="329184"/>
          </a:xfrm>
          <a:prstGeom prst="roundRect">
            <a:avLst>
              <a:gd name="adj" fmla="val 25000"/>
            </a:avLst>
          </a:prstGeom>
          <a:solidFill>
            <a:srgbClr val="FFFFFF"/>
          </a:solidFill>
          <a:ln w="9525">
            <a:solidFill>
              <a:srgbClr val="DCE3E6"/>
            </a:solidFill>
            <a:prstDash val="solid"/>
          </a:ln>
        </p:spPr>
      </p:sp>
      <p:pic>
        <p:nvPicPr>
          <p:cNvPr id="16" name="Image 2" descr="/home/user/Claude-Works/ai-training-prompt-engineering/src/assets/logos/grok.png">    </p:cNvPr>
          <p:cNvPicPr>
            <a:picLocks noChangeAspect="1"/>
          </p:cNvPicPr>
          <p:nvPr/>
        </p:nvPicPr>
        <p:blipFill>
          <a:blip r:embed="rId3"/>
          <a:stretch>
            <a:fillRect/>
          </a:stretch>
        </p:blipFill>
        <p:spPr>
          <a:xfrm>
            <a:off x="987918" y="3667110"/>
            <a:ext cx="237012" cy="237012"/>
          </a:xfrm>
          <a:prstGeom prst="rect">
            <a:avLst/>
          </a:prstGeom>
        </p:spPr>
      </p:pic>
      <p:sp>
        <p:nvSpPr>
          <p:cNvPr id="17" name="Text 12"/>
          <p:cNvSpPr/>
          <p:nvPr/>
        </p:nvSpPr>
        <p:spPr>
          <a:xfrm>
            <a:off x="1362456" y="3602736"/>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xAI</a:t>
            </a:r>
            <a:endParaRPr lang="en-US" sz="1050" dirty="0"/>
          </a:p>
          <a:p>
            <a:pPr indent="0" marL="0">
              <a:lnSpc>
                <a:spcPct val="98000"/>
              </a:lnSpc>
              <a:buNone/>
            </a:pPr>
            <a:r>
              <a:rPr lang="en-US" sz="880" dirty="0">
                <a:solidFill>
                  <a:srgbClr val="46545F"/>
                </a:solidFill>
                <a:latin typeface="Calibri" pitchFamily="34" charset="0"/>
                <a:ea typeface="Calibri" pitchFamily="34" charset="-122"/>
                <a:cs typeface="Calibri" pitchFamily="34" charset="-120"/>
              </a:rPr>
              <a:t>own Memphis data centers</a:t>
            </a:r>
            <a:endParaRPr lang="en-US" sz="1050" dirty="0"/>
          </a:p>
        </p:txBody>
      </p:sp>
      <p:sp>
        <p:nvSpPr>
          <p:cNvPr id="18" name="Shape 13"/>
          <p:cNvSpPr/>
          <p:nvPr/>
        </p:nvSpPr>
        <p:spPr>
          <a:xfrm>
            <a:off x="941832" y="4343400"/>
            <a:ext cx="329184" cy="329184"/>
          </a:xfrm>
          <a:prstGeom prst="roundRect">
            <a:avLst>
              <a:gd name="adj" fmla="val 25000"/>
            </a:avLst>
          </a:prstGeom>
          <a:solidFill>
            <a:srgbClr val="FFFFFF"/>
          </a:solidFill>
          <a:ln w="9525">
            <a:solidFill>
              <a:srgbClr val="DCE3E6"/>
            </a:solidFill>
            <a:prstDash val="solid"/>
          </a:ln>
        </p:spPr>
      </p:sp>
      <p:pic>
        <p:nvPicPr>
          <p:cNvPr id="19" name="Image 3" descr="/home/user/Claude-Works/ai-training-prompt-engineering/src/assets/logos/perplexity.png">    </p:cNvPr>
          <p:cNvPicPr>
            <a:picLocks noChangeAspect="1"/>
          </p:cNvPicPr>
          <p:nvPr/>
        </p:nvPicPr>
        <p:blipFill>
          <a:blip r:embed="rId4"/>
          <a:stretch>
            <a:fillRect/>
          </a:stretch>
        </p:blipFill>
        <p:spPr>
          <a:xfrm>
            <a:off x="987918" y="4389486"/>
            <a:ext cx="237012" cy="237012"/>
          </a:xfrm>
          <a:prstGeom prst="rect">
            <a:avLst/>
          </a:prstGeom>
        </p:spPr>
      </p:pic>
      <p:sp>
        <p:nvSpPr>
          <p:cNvPr id="20" name="Text 14"/>
          <p:cNvSpPr/>
          <p:nvPr/>
        </p:nvSpPr>
        <p:spPr>
          <a:xfrm>
            <a:off x="1362456" y="4325112"/>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Perplexity</a:t>
            </a:r>
            <a:endParaRPr lang="en-US" sz="1050" dirty="0"/>
          </a:p>
          <a:p>
            <a:pPr indent="0" marL="0">
              <a:lnSpc>
                <a:spcPct val="98000"/>
              </a:lnSpc>
              <a:buNone/>
            </a:pPr>
            <a:r>
              <a:rPr lang="en-US" sz="880" dirty="0">
                <a:solidFill>
                  <a:srgbClr val="46545F"/>
                </a:solidFill>
                <a:latin typeface="Calibri" pitchFamily="34" charset="0"/>
                <a:ea typeface="Calibri" pitchFamily="34" charset="-122"/>
                <a:cs typeface="Calibri" pitchFamily="34" charset="-120"/>
              </a:rPr>
              <a:t>AWS cloud, worldwide</a:t>
            </a:r>
            <a:endParaRPr lang="en-US" sz="1050" dirty="0"/>
          </a:p>
        </p:txBody>
      </p:sp>
      <p:sp>
        <p:nvSpPr>
          <p:cNvPr id="21" name="Shape 15"/>
          <p:cNvSpPr/>
          <p:nvPr/>
        </p:nvSpPr>
        <p:spPr>
          <a:xfrm>
            <a:off x="4434840" y="1664208"/>
            <a:ext cx="3401568" cy="3383280"/>
          </a:xfrm>
          <a:prstGeom prst="roundRect">
            <a:avLst>
              <a:gd name="adj" fmla="val 2162"/>
            </a:avLst>
          </a:prstGeom>
          <a:solidFill>
            <a:srgbClr val="FFFFFF"/>
          </a:solidFill>
          <a:ln w="12700">
            <a:solidFill>
              <a:srgbClr val="0A5B5A"/>
            </a:solidFill>
            <a:prstDash val="dash"/>
          </a:ln>
        </p:spPr>
      </p:sp>
      <p:sp>
        <p:nvSpPr>
          <p:cNvPr id="22" name="Text 16"/>
          <p:cNvSpPr/>
          <p:nvPr/>
        </p:nvSpPr>
        <p:spPr>
          <a:xfrm>
            <a:off x="4599432" y="1773936"/>
            <a:ext cx="3108960" cy="274320"/>
          </a:xfrm>
          <a:prstGeom prst="rect">
            <a:avLst/>
          </a:prstGeom>
          <a:noFill/>
          <a:ln/>
        </p:spPr>
        <p:txBody>
          <a:bodyPr wrap="square" lIns="0" tIns="0" rIns="0" bIns="0" rtlCol="0" anchor="ctr"/>
          <a:lstStyle/>
          <a:p>
            <a:pPr indent="0" marL="0">
              <a:buNone/>
            </a:pPr>
            <a:r>
              <a:rPr lang="en-US" sz="1050" b="1" spc="80" kern="0" dirty="0">
                <a:solidFill>
                  <a:srgbClr val="0A5B5A"/>
                </a:solidFill>
                <a:latin typeface="Calibri" pitchFamily="34" charset="0"/>
                <a:ea typeface="Calibri" pitchFamily="34" charset="-122"/>
                <a:cs typeface="Calibri" pitchFamily="34" charset="-120"/>
              </a:rPr>
              <a:t>EUROPE — residency on business tiers</a:t>
            </a:r>
            <a:endParaRPr lang="en-US" sz="1050" dirty="0"/>
          </a:p>
        </p:txBody>
      </p:sp>
      <p:sp>
        <p:nvSpPr>
          <p:cNvPr id="23" name="Shape 17"/>
          <p:cNvSpPr/>
          <p:nvPr/>
        </p:nvSpPr>
        <p:spPr>
          <a:xfrm>
            <a:off x="4599432" y="2176272"/>
            <a:ext cx="329184" cy="329184"/>
          </a:xfrm>
          <a:prstGeom prst="roundRect">
            <a:avLst>
              <a:gd name="adj" fmla="val 25000"/>
            </a:avLst>
          </a:prstGeom>
          <a:solidFill>
            <a:srgbClr val="FFFFFF"/>
          </a:solidFill>
          <a:ln w="9525">
            <a:solidFill>
              <a:srgbClr val="DCE3E6"/>
            </a:solidFill>
            <a:prstDash val="solid"/>
          </a:ln>
        </p:spPr>
      </p:sp>
      <p:pic>
        <p:nvPicPr>
          <p:cNvPr id="24" name="Image 4" descr="/home/user/Claude-Works/ai-training-prompt-engineering/src/assets/logos/openai.png">    </p:cNvPr>
          <p:cNvPicPr>
            <a:picLocks noChangeAspect="1"/>
          </p:cNvPicPr>
          <p:nvPr/>
        </p:nvPicPr>
        <p:blipFill>
          <a:blip r:embed="rId5"/>
          <a:stretch>
            <a:fillRect/>
          </a:stretch>
        </p:blipFill>
        <p:spPr>
          <a:xfrm>
            <a:off x="4645518" y="2222358"/>
            <a:ext cx="237012" cy="237012"/>
          </a:xfrm>
          <a:prstGeom prst="rect">
            <a:avLst/>
          </a:prstGeom>
        </p:spPr>
      </p:pic>
      <p:sp>
        <p:nvSpPr>
          <p:cNvPr id="25" name="Text 18"/>
          <p:cNvSpPr/>
          <p:nvPr/>
        </p:nvSpPr>
        <p:spPr>
          <a:xfrm>
            <a:off x="5020056" y="2157984"/>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OpenAI</a:t>
            </a:r>
            <a:endParaRPr lang="en-US" sz="1050" dirty="0"/>
          </a:p>
          <a:p>
            <a:pPr indent="0" marL="0">
              <a:lnSpc>
                <a:spcPct val="98000"/>
              </a:lnSpc>
              <a:buNone/>
            </a:pPr>
            <a:r>
              <a:rPr lang="en-US" sz="880" dirty="0">
                <a:solidFill>
                  <a:srgbClr val="46545F"/>
                </a:solidFill>
                <a:latin typeface="Calibri" pitchFamily="34" charset="0"/>
                <a:ea typeface="Calibri" pitchFamily="34" charset="-122"/>
                <a:cs typeface="Calibri" pitchFamily="34" charset="-120"/>
              </a:rPr>
              <a:t>EU residency (2025) + in-region processing (2026)</a:t>
            </a:r>
            <a:endParaRPr lang="en-US" sz="1050" dirty="0"/>
          </a:p>
        </p:txBody>
      </p:sp>
      <p:sp>
        <p:nvSpPr>
          <p:cNvPr id="26" name="Shape 19"/>
          <p:cNvSpPr/>
          <p:nvPr/>
        </p:nvSpPr>
        <p:spPr>
          <a:xfrm>
            <a:off x="4599432" y="2898648"/>
            <a:ext cx="329184" cy="329184"/>
          </a:xfrm>
          <a:prstGeom prst="roundRect">
            <a:avLst>
              <a:gd name="adj" fmla="val 25000"/>
            </a:avLst>
          </a:prstGeom>
          <a:solidFill>
            <a:srgbClr val="FFFFFF"/>
          </a:solidFill>
          <a:ln w="9525">
            <a:solidFill>
              <a:srgbClr val="DCE3E6"/>
            </a:solidFill>
            <a:prstDash val="solid"/>
          </a:ln>
        </p:spPr>
      </p:sp>
      <p:pic>
        <p:nvPicPr>
          <p:cNvPr id="27" name="Image 5" descr="/home/user/Claude-Works/ai-training-prompt-engineering/src/assets/logos/microsoft.png">    </p:cNvPr>
          <p:cNvPicPr>
            <a:picLocks noChangeAspect="1"/>
          </p:cNvPicPr>
          <p:nvPr/>
        </p:nvPicPr>
        <p:blipFill>
          <a:blip r:embed="rId6"/>
          <a:stretch>
            <a:fillRect/>
          </a:stretch>
        </p:blipFill>
        <p:spPr>
          <a:xfrm>
            <a:off x="4645518" y="2944734"/>
            <a:ext cx="237012" cy="237012"/>
          </a:xfrm>
          <a:prstGeom prst="rect">
            <a:avLst/>
          </a:prstGeom>
        </p:spPr>
      </p:pic>
      <p:sp>
        <p:nvSpPr>
          <p:cNvPr id="28" name="Text 20"/>
          <p:cNvSpPr/>
          <p:nvPr/>
        </p:nvSpPr>
        <p:spPr>
          <a:xfrm>
            <a:off x="5020056" y="2880360"/>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Microsoft</a:t>
            </a:r>
            <a:endParaRPr lang="en-US" sz="1050" dirty="0"/>
          </a:p>
          <a:p>
            <a:pPr indent="0" marL="0">
              <a:lnSpc>
                <a:spcPct val="98000"/>
              </a:lnSpc>
              <a:buNone/>
            </a:pPr>
            <a:r>
              <a:rPr lang="en-US" sz="880" dirty="0">
                <a:solidFill>
                  <a:srgbClr val="46545F"/>
                </a:solidFill>
                <a:latin typeface="Calibri" pitchFamily="34" charset="0"/>
                <a:ea typeface="Calibri" pitchFamily="34" charset="-122"/>
                <a:cs typeface="Calibri" pitchFamily="34" charset="-120"/>
              </a:rPr>
              <a:t>EU Data Boundary — Claude-in-Copilot sits outside it</a:t>
            </a:r>
            <a:endParaRPr lang="en-US" sz="1050" dirty="0"/>
          </a:p>
        </p:txBody>
      </p:sp>
      <p:sp>
        <p:nvSpPr>
          <p:cNvPr id="29" name="Shape 21"/>
          <p:cNvSpPr/>
          <p:nvPr/>
        </p:nvSpPr>
        <p:spPr>
          <a:xfrm>
            <a:off x="4599432" y="3621024"/>
            <a:ext cx="329184" cy="329184"/>
          </a:xfrm>
          <a:prstGeom prst="roundRect">
            <a:avLst>
              <a:gd name="adj" fmla="val 25000"/>
            </a:avLst>
          </a:prstGeom>
          <a:solidFill>
            <a:srgbClr val="FFFFFF"/>
          </a:solidFill>
          <a:ln w="9525">
            <a:solidFill>
              <a:srgbClr val="DCE3E6"/>
            </a:solidFill>
            <a:prstDash val="solid"/>
          </a:ln>
        </p:spPr>
      </p:sp>
      <p:pic>
        <p:nvPicPr>
          <p:cNvPr id="30" name="Image 6" descr="/home/user/Claude-Works/ai-training-prompt-engineering/src/assets/logos/google.png">    </p:cNvPr>
          <p:cNvPicPr>
            <a:picLocks noChangeAspect="1"/>
          </p:cNvPicPr>
          <p:nvPr/>
        </p:nvPicPr>
        <p:blipFill>
          <a:blip r:embed="rId7"/>
          <a:stretch>
            <a:fillRect/>
          </a:stretch>
        </p:blipFill>
        <p:spPr>
          <a:xfrm>
            <a:off x="4645518" y="3667110"/>
            <a:ext cx="237012" cy="237012"/>
          </a:xfrm>
          <a:prstGeom prst="rect">
            <a:avLst/>
          </a:prstGeom>
        </p:spPr>
      </p:pic>
      <p:sp>
        <p:nvSpPr>
          <p:cNvPr id="31" name="Text 22"/>
          <p:cNvSpPr/>
          <p:nvPr/>
        </p:nvSpPr>
        <p:spPr>
          <a:xfrm>
            <a:off x="5020056" y="3602736"/>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Google</a:t>
            </a:r>
            <a:endParaRPr lang="en-US" sz="1050" dirty="0"/>
          </a:p>
          <a:p>
            <a:pPr indent="0" marL="0">
              <a:lnSpc>
                <a:spcPct val="98000"/>
              </a:lnSpc>
              <a:buNone/>
            </a:pPr>
            <a:r>
              <a:rPr lang="en-US" sz="880" dirty="0">
                <a:solidFill>
                  <a:srgbClr val="46545F"/>
                </a:solidFill>
                <a:latin typeface="Calibri" pitchFamily="34" charset="0"/>
                <a:ea typeface="Calibri" pitchFamily="34" charset="-122"/>
                <a:cs typeface="Calibri" pitchFamily="34" charset="-120"/>
              </a:rPr>
              <a:t>enterprise residency by region</a:t>
            </a:r>
            <a:endParaRPr lang="en-US" sz="1050" dirty="0"/>
          </a:p>
        </p:txBody>
      </p:sp>
      <p:sp>
        <p:nvSpPr>
          <p:cNvPr id="32" name="Shape 23"/>
          <p:cNvSpPr/>
          <p:nvPr/>
        </p:nvSpPr>
        <p:spPr>
          <a:xfrm>
            <a:off x="4599432" y="4343400"/>
            <a:ext cx="329184" cy="329184"/>
          </a:xfrm>
          <a:prstGeom prst="roundRect">
            <a:avLst>
              <a:gd name="adj" fmla="val 25000"/>
            </a:avLst>
          </a:prstGeom>
          <a:solidFill>
            <a:srgbClr val="FFFFFF"/>
          </a:solidFill>
          <a:ln w="9525">
            <a:solidFill>
              <a:srgbClr val="DCE3E6"/>
            </a:solidFill>
            <a:prstDash val="solid"/>
          </a:ln>
        </p:spPr>
      </p:sp>
      <p:pic>
        <p:nvPicPr>
          <p:cNvPr id="33" name="Image 7" descr="/home/user/Claude-Works/ai-training-prompt-engineering/src/assets/logos/claude.png">    </p:cNvPr>
          <p:cNvPicPr>
            <a:picLocks noChangeAspect="1"/>
          </p:cNvPicPr>
          <p:nvPr/>
        </p:nvPicPr>
        <p:blipFill>
          <a:blip r:embed="rId8"/>
          <a:stretch>
            <a:fillRect/>
          </a:stretch>
        </p:blipFill>
        <p:spPr>
          <a:xfrm>
            <a:off x="4645518" y="4389486"/>
            <a:ext cx="237012" cy="237012"/>
          </a:xfrm>
          <a:prstGeom prst="rect">
            <a:avLst/>
          </a:prstGeom>
        </p:spPr>
      </p:pic>
      <p:sp>
        <p:nvSpPr>
          <p:cNvPr id="34" name="Text 24"/>
          <p:cNvSpPr/>
          <p:nvPr/>
        </p:nvSpPr>
        <p:spPr>
          <a:xfrm>
            <a:off x="5020056" y="4325112"/>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Anthropic</a:t>
            </a:r>
            <a:endParaRPr lang="en-US" sz="1050" dirty="0"/>
          </a:p>
          <a:p>
            <a:pPr indent="0" marL="0">
              <a:lnSpc>
                <a:spcPct val="98000"/>
              </a:lnSpc>
              <a:buNone/>
            </a:pPr>
            <a:r>
              <a:rPr lang="en-US" sz="880" dirty="0">
                <a:solidFill>
                  <a:srgbClr val="46545F"/>
                </a:solidFill>
                <a:latin typeface="Calibri" pitchFamily="34" charset="0"/>
                <a:ea typeface="Calibri" pitchFamily="34" charset="-122"/>
                <a:cs typeface="Calibri" pitchFamily="34" charset="-120"/>
              </a:rPr>
              <a:t>EU via cloud partners (Bedrock · Vertex · Foundry)</a:t>
            </a:r>
            <a:endParaRPr lang="en-US" sz="1050" dirty="0"/>
          </a:p>
        </p:txBody>
      </p:sp>
      <p:sp>
        <p:nvSpPr>
          <p:cNvPr id="35" name="Shape 25"/>
          <p:cNvSpPr/>
          <p:nvPr/>
        </p:nvSpPr>
        <p:spPr>
          <a:xfrm>
            <a:off x="8092440" y="1664208"/>
            <a:ext cx="3401568" cy="3383280"/>
          </a:xfrm>
          <a:prstGeom prst="roundRect">
            <a:avLst>
              <a:gd name="adj" fmla="val 2162"/>
            </a:avLst>
          </a:prstGeom>
          <a:solidFill>
            <a:srgbClr val="FFFFFF"/>
          </a:solidFill>
          <a:ln w="12700">
            <a:solidFill>
              <a:srgbClr val="AF3230"/>
            </a:solidFill>
            <a:prstDash val="dash"/>
          </a:ln>
        </p:spPr>
      </p:sp>
      <p:sp>
        <p:nvSpPr>
          <p:cNvPr id="36" name="Text 26"/>
          <p:cNvSpPr/>
          <p:nvPr/>
        </p:nvSpPr>
        <p:spPr>
          <a:xfrm>
            <a:off x="8257032" y="1773936"/>
            <a:ext cx="3108960" cy="274320"/>
          </a:xfrm>
          <a:prstGeom prst="rect">
            <a:avLst/>
          </a:prstGeom>
          <a:noFill/>
          <a:ln/>
        </p:spPr>
        <p:txBody>
          <a:bodyPr wrap="square" lIns="0" tIns="0" rIns="0" bIns="0" rtlCol="0" anchor="ctr"/>
          <a:lstStyle/>
          <a:p>
            <a:pPr indent="0" marL="0">
              <a:buNone/>
            </a:pPr>
            <a:r>
              <a:rPr lang="en-US" sz="1050" b="1" spc="80" kern="0" dirty="0">
                <a:solidFill>
                  <a:srgbClr val="AF3230"/>
                </a:solidFill>
                <a:latin typeface="Calibri" pitchFamily="34" charset="0"/>
                <a:ea typeface="Calibri" pitchFamily="34" charset="-122"/>
                <a:cs typeface="Calibri" pitchFamily="34" charset="-120"/>
              </a:rPr>
              <a:t>CHINA &amp; ASIA</a:t>
            </a:r>
            <a:endParaRPr lang="en-US" sz="1050" dirty="0"/>
          </a:p>
        </p:txBody>
      </p:sp>
      <p:sp>
        <p:nvSpPr>
          <p:cNvPr id="37" name="Shape 27"/>
          <p:cNvSpPr/>
          <p:nvPr/>
        </p:nvSpPr>
        <p:spPr>
          <a:xfrm>
            <a:off x="8257032" y="2176272"/>
            <a:ext cx="329184" cy="329184"/>
          </a:xfrm>
          <a:prstGeom prst="roundRect">
            <a:avLst>
              <a:gd name="adj" fmla="val 25000"/>
            </a:avLst>
          </a:prstGeom>
          <a:solidFill>
            <a:srgbClr val="FFFFFF"/>
          </a:solidFill>
          <a:ln w="9525">
            <a:solidFill>
              <a:srgbClr val="DCE3E6"/>
            </a:solidFill>
            <a:prstDash val="solid"/>
          </a:ln>
        </p:spPr>
      </p:sp>
      <p:pic>
        <p:nvPicPr>
          <p:cNvPr id="38" name="Image 8" descr="/home/user/Claude-Works/ai-training-prompt-engineering/src/assets/logos/deepseek.png">    </p:cNvPr>
          <p:cNvPicPr>
            <a:picLocks noChangeAspect="1"/>
          </p:cNvPicPr>
          <p:nvPr/>
        </p:nvPicPr>
        <p:blipFill>
          <a:blip r:embed="rId9"/>
          <a:stretch>
            <a:fillRect/>
          </a:stretch>
        </p:blipFill>
        <p:spPr>
          <a:xfrm>
            <a:off x="8303118" y="2222358"/>
            <a:ext cx="237012" cy="237012"/>
          </a:xfrm>
          <a:prstGeom prst="rect">
            <a:avLst/>
          </a:prstGeom>
        </p:spPr>
      </p:pic>
      <p:sp>
        <p:nvSpPr>
          <p:cNvPr id="39" name="Text 28"/>
          <p:cNvSpPr/>
          <p:nvPr/>
        </p:nvSpPr>
        <p:spPr>
          <a:xfrm>
            <a:off x="8677656" y="2157984"/>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DeepSeek</a:t>
            </a:r>
            <a:endParaRPr lang="en-US" sz="1050" dirty="0"/>
          </a:p>
          <a:p>
            <a:pPr indent="0" marL="0">
              <a:lnSpc>
                <a:spcPct val="98000"/>
              </a:lnSpc>
              <a:buNone/>
            </a:pPr>
            <a:r>
              <a:rPr lang="en-US" sz="880" dirty="0">
                <a:solidFill>
                  <a:srgbClr val="46545F"/>
                </a:solidFill>
                <a:latin typeface="Calibri" pitchFamily="34" charset="0"/>
                <a:ea typeface="Calibri" pitchFamily="34" charset="-122"/>
                <a:cs typeface="Calibri" pitchFamily="34" charset="-120"/>
              </a:rPr>
              <a:t>“stored in the People’s Republic of China” — its own policy</a:t>
            </a:r>
            <a:endParaRPr lang="en-US" sz="1050" dirty="0"/>
          </a:p>
        </p:txBody>
      </p:sp>
      <p:sp>
        <p:nvSpPr>
          <p:cNvPr id="40" name="Shape 29"/>
          <p:cNvSpPr/>
          <p:nvPr/>
        </p:nvSpPr>
        <p:spPr>
          <a:xfrm>
            <a:off x="8257032" y="2898648"/>
            <a:ext cx="329184" cy="329184"/>
          </a:xfrm>
          <a:prstGeom prst="roundRect">
            <a:avLst>
              <a:gd name="adj" fmla="val 25000"/>
            </a:avLst>
          </a:prstGeom>
          <a:solidFill>
            <a:srgbClr val="FFFFFF"/>
          </a:solidFill>
          <a:ln w="9525">
            <a:solidFill>
              <a:srgbClr val="DCE3E6"/>
            </a:solidFill>
            <a:prstDash val="solid"/>
          </a:ln>
        </p:spPr>
      </p:sp>
      <p:pic>
        <p:nvPicPr>
          <p:cNvPr id="41" name="Image 9" descr="/home/user/Claude-Works/ai-training-prompt-engineering/src/assets/logos/kimi.png">    </p:cNvPr>
          <p:cNvPicPr>
            <a:picLocks noChangeAspect="1"/>
          </p:cNvPicPr>
          <p:nvPr/>
        </p:nvPicPr>
        <p:blipFill>
          <a:blip r:embed="rId10"/>
          <a:stretch>
            <a:fillRect/>
          </a:stretch>
        </p:blipFill>
        <p:spPr>
          <a:xfrm>
            <a:off x="8303118" y="2944734"/>
            <a:ext cx="237012" cy="237012"/>
          </a:xfrm>
          <a:prstGeom prst="rect">
            <a:avLst/>
          </a:prstGeom>
        </p:spPr>
      </p:pic>
      <p:sp>
        <p:nvSpPr>
          <p:cNvPr id="42" name="Text 30"/>
          <p:cNvSpPr/>
          <p:nvPr/>
        </p:nvSpPr>
        <p:spPr>
          <a:xfrm>
            <a:off x="8677656" y="2880360"/>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Kimi (Moonshot)</a:t>
            </a:r>
            <a:endParaRPr lang="en-US" sz="1050" dirty="0"/>
          </a:p>
          <a:p>
            <a:pPr indent="0" marL="0">
              <a:lnSpc>
                <a:spcPct val="98000"/>
              </a:lnSpc>
              <a:buNone/>
            </a:pPr>
            <a:r>
              <a:rPr lang="en-US" sz="880" dirty="0">
                <a:solidFill>
                  <a:srgbClr val="46545F"/>
                </a:solidFill>
                <a:latin typeface="Calibri" pitchFamily="34" charset="0"/>
                <a:ea typeface="Calibri" pitchFamily="34" charset="-122"/>
                <a:cs typeface="Calibri" pitchFamily="34" charset="-120"/>
              </a:rPr>
              <a:t>PRC storage</a:t>
            </a:r>
            <a:endParaRPr lang="en-US" sz="1050" dirty="0"/>
          </a:p>
        </p:txBody>
      </p:sp>
      <p:sp>
        <p:nvSpPr>
          <p:cNvPr id="43" name="Shape 31"/>
          <p:cNvSpPr/>
          <p:nvPr/>
        </p:nvSpPr>
        <p:spPr>
          <a:xfrm>
            <a:off x="8257032" y="3621024"/>
            <a:ext cx="329184" cy="329184"/>
          </a:xfrm>
          <a:prstGeom prst="roundRect">
            <a:avLst>
              <a:gd name="adj" fmla="val 25000"/>
            </a:avLst>
          </a:prstGeom>
          <a:solidFill>
            <a:srgbClr val="FFFFFF"/>
          </a:solidFill>
          <a:ln w="9525">
            <a:solidFill>
              <a:srgbClr val="DCE3E6"/>
            </a:solidFill>
            <a:prstDash val="solid"/>
          </a:ln>
        </p:spPr>
      </p:sp>
      <p:sp>
        <p:nvSpPr>
          <p:cNvPr id="44" name="Text 32"/>
          <p:cNvSpPr/>
          <p:nvPr/>
        </p:nvSpPr>
        <p:spPr>
          <a:xfrm>
            <a:off x="8257032" y="3621024"/>
            <a:ext cx="329184" cy="329184"/>
          </a:xfrm>
          <a:prstGeom prst="rect">
            <a:avLst/>
          </a:prstGeom>
          <a:noFill/>
          <a:ln/>
        </p:spPr>
        <p:txBody>
          <a:bodyPr wrap="square" lIns="0" tIns="0" rIns="0" bIns="0" rtlCol="0" anchor="ctr"/>
          <a:lstStyle/>
          <a:p>
            <a:pPr algn="ctr" indent="0" marL="0">
              <a:buNone/>
            </a:pPr>
            <a:r>
              <a:rPr lang="en-US" sz="1008" b="1" dirty="0">
                <a:solidFill>
                  <a:srgbClr val="0A5B5A"/>
                </a:solidFill>
                <a:latin typeface="Cambria" pitchFamily="34" charset="0"/>
                <a:ea typeface="Cambria" pitchFamily="34" charset="-122"/>
                <a:cs typeface="Cambria" pitchFamily="34" charset="-120"/>
              </a:rPr>
              <a:t>Z</a:t>
            </a:r>
            <a:endParaRPr lang="en-US" sz="1008" dirty="0"/>
          </a:p>
        </p:txBody>
      </p:sp>
      <p:sp>
        <p:nvSpPr>
          <p:cNvPr id="45" name="Text 33"/>
          <p:cNvSpPr/>
          <p:nvPr/>
        </p:nvSpPr>
        <p:spPr>
          <a:xfrm>
            <a:off x="8677656" y="3602736"/>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Z.ai (Zhipu)</a:t>
            </a:r>
            <a:endParaRPr lang="en-US" sz="1050" dirty="0"/>
          </a:p>
          <a:p>
            <a:pPr indent="0" marL="0">
              <a:lnSpc>
                <a:spcPct val="98000"/>
              </a:lnSpc>
              <a:buNone/>
            </a:pPr>
            <a:r>
              <a:rPr lang="en-US" sz="880" dirty="0">
                <a:solidFill>
                  <a:srgbClr val="46545F"/>
                </a:solidFill>
                <a:latin typeface="Calibri" pitchFamily="34" charset="0"/>
                <a:ea typeface="Calibri" pitchFamily="34" charset="-122"/>
                <a:cs typeface="Calibri" pitchFamily="34" charset="-120"/>
              </a:rPr>
              <a:t>Singapore processing · US Entity-List parent</a:t>
            </a:r>
            <a:endParaRPr lang="en-US" sz="1050" dirty="0"/>
          </a:p>
        </p:txBody>
      </p:sp>
      <p:sp>
        <p:nvSpPr>
          <p:cNvPr id="46" name="Text 34"/>
          <p:cNvSpPr/>
          <p:nvPr/>
        </p:nvSpPr>
        <p:spPr>
          <a:xfrm>
            <a:off x="777240" y="5038344"/>
            <a:ext cx="10607040" cy="201168"/>
          </a:xfrm>
          <a:prstGeom prst="rect">
            <a:avLst/>
          </a:prstGeom>
          <a:noFill/>
          <a:ln/>
        </p:spPr>
        <p:txBody>
          <a:bodyPr wrap="square" lIns="0" tIns="0" rIns="0" bIns="0" rtlCol="0" anchor="ctr"/>
          <a:lstStyle/>
          <a:p>
            <a:pPr algn="ctr" indent="0" marL="0">
              <a:buNone/>
            </a:pPr>
            <a:r>
              <a:rPr lang="en-US" sz="950" b="1" i="1" dirty="0">
                <a:solidFill>
                  <a:srgbClr val="0A5B5A"/>
                </a:solidFill>
                <a:latin typeface="Calibri" pitchFamily="34" charset="0"/>
                <a:ea typeface="Calibri" pitchFamily="34" charset="-122"/>
                <a:cs typeface="Calibri" pitchFamily="34" charset="-120"/>
              </a:rPr>
              <a:t>same logo, different homes — the ACCOUNT TIER decides which one yours is</a:t>
            </a:r>
            <a:endParaRPr lang="en-US" sz="950" dirty="0"/>
          </a:p>
        </p:txBody>
      </p:sp>
      <p:sp>
        <p:nvSpPr>
          <p:cNvPr id="47" name="Shape 35"/>
          <p:cNvSpPr/>
          <p:nvPr/>
        </p:nvSpPr>
        <p:spPr>
          <a:xfrm>
            <a:off x="502920" y="5440680"/>
            <a:ext cx="5486400" cy="1051560"/>
          </a:xfrm>
          <a:prstGeom prst="roundRect">
            <a:avLst>
              <a:gd name="adj" fmla="val 6957"/>
            </a:avLst>
          </a:prstGeom>
          <a:solidFill>
            <a:srgbClr val="E4F0EF"/>
          </a:solidFill>
          <a:ln/>
        </p:spPr>
      </p:sp>
      <p:sp>
        <p:nvSpPr>
          <p:cNvPr id="48" name="Text 36"/>
          <p:cNvSpPr/>
          <p:nvPr/>
        </p:nvSpPr>
        <p:spPr>
          <a:xfrm>
            <a:off x="777240" y="5541264"/>
            <a:ext cx="5029200" cy="868680"/>
          </a:xfrm>
          <a:prstGeom prst="rect">
            <a:avLst/>
          </a:prstGeom>
          <a:noFill/>
          <a:ln/>
        </p:spPr>
        <p:txBody>
          <a:bodyPr wrap="square" lIns="0" tIns="0" rIns="0" bIns="0" rtlCol="0" anchor="ctr"/>
          <a:lstStyle/>
          <a:p>
            <a:pPr indent="0" marL="0">
              <a:lnSpc>
                <a:spcPct val="105000"/>
              </a:lnSpc>
              <a:buNone/>
            </a:pPr>
            <a:r>
              <a:rPr lang="en-US" sz="1200" b="1" dirty="0">
                <a:solidFill>
                  <a:srgbClr val="0A5B5A"/>
                </a:solidFill>
                <a:latin typeface="Calibri" pitchFamily="34" charset="0"/>
                <a:ea typeface="Calibri" pitchFamily="34" charset="-122"/>
                <a:cs typeface="Calibri" pitchFamily="34" charset="-120"/>
              </a:rPr>
              <a:t>Residency = choosing where it lives. </a:t>
            </a:r>
            <a:endParaRPr lang="en-US" sz="1200" dirty="0"/>
          </a:p>
          <a:p>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An enterprise feature: the same vendor can host your company tenant in the EU while its consumer app stores chats in the US.</a:t>
            </a:r>
            <a:endParaRPr lang="en-US" sz="1200" dirty="0"/>
          </a:p>
        </p:txBody>
      </p:sp>
      <p:sp>
        <p:nvSpPr>
          <p:cNvPr id="49" name="Shape 37"/>
          <p:cNvSpPr/>
          <p:nvPr/>
        </p:nvSpPr>
        <p:spPr>
          <a:xfrm>
            <a:off x="6172200" y="5440680"/>
            <a:ext cx="5486400" cy="1051560"/>
          </a:xfrm>
          <a:prstGeom prst="roundRect">
            <a:avLst>
              <a:gd name="adj" fmla="val 6957"/>
            </a:avLst>
          </a:prstGeom>
          <a:solidFill>
            <a:srgbClr val="FBF0E0"/>
          </a:solidFill>
          <a:ln/>
        </p:spPr>
      </p:sp>
      <p:sp>
        <p:nvSpPr>
          <p:cNvPr id="50" name="Text 38"/>
          <p:cNvSpPr/>
          <p:nvPr/>
        </p:nvSpPr>
        <p:spPr>
          <a:xfrm>
            <a:off x="6446520" y="5541264"/>
            <a:ext cx="5029200" cy="868680"/>
          </a:xfrm>
          <a:prstGeom prst="rect">
            <a:avLst/>
          </a:prstGeom>
          <a:noFill/>
          <a:ln/>
        </p:spPr>
        <p:txBody>
          <a:bodyPr wrap="square" lIns="0" tIns="0" rIns="0" bIns="0" rtlCol="0" anchor="ctr"/>
          <a:lstStyle/>
          <a:p>
            <a:pPr indent="0" marL="0">
              <a:lnSpc>
                <a:spcPct val="105000"/>
              </a:lnSpc>
              <a:buNone/>
            </a:pPr>
            <a:r>
              <a:rPr lang="en-US" sz="1200" b="1" dirty="0">
                <a:solidFill>
                  <a:srgbClr val="232A31"/>
                </a:solidFill>
                <a:latin typeface="Calibri" pitchFamily="34" charset="0"/>
                <a:ea typeface="Calibri" pitchFamily="34" charset="-122"/>
                <a:cs typeface="Calibri" pitchFamily="34" charset="-120"/>
              </a:rPr>
              <a:t>The one question that settles it: </a:t>
            </a:r>
            <a:endParaRPr lang="en-US" sz="1200" dirty="0"/>
          </a:p>
          <a:p>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ask IT which region and tier YOUR account runs on — your organization’s AI policy has the answer for everything else.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2 · AGENTIC TOOLS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20</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AGENT GALLERY · THE DOERS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Agents that run jobs — names you’ll hear</a:t>
            </a:r>
            <a:endParaRPr lang="en-US" sz="3000" dirty="0"/>
          </a:p>
        </p:txBody>
      </p:sp>
      <p:sp>
        <p:nvSpPr>
          <p:cNvPr id="6" name="Shape 4"/>
          <p:cNvSpPr/>
          <p:nvPr/>
        </p:nvSpPr>
        <p:spPr>
          <a:xfrm>
            <a:off x="502920" y="1463040"/>
            <a:ext cx="5440680" cy="1060704"/>
          </a:xfrm>
          <a:prstGeom prst="roundRect">
            <a:avLst>
              <a:gd name="adj" fmla="val 6897"/>
            </a:avLst>
          </a:prstGeom>
          <a:solidFill>
            <a:srgbClr val="F2F5F6"/>
          </a:solidFill>
          <a:ln/>
        </p:spPr>
      </p:sp>
      <p:sp>
        <p:nvSpPr>
          <p:cNvPr id="7" name="Shape 5"/>
          <p:cNvSpPr/>
          <p:nvPr/>
        </p:nvSpPr>
        <p:spPr>
          <a:xfrm>
            <a:off x="667512" y="1755648"/>
            <a:ext cx="457200" cy="457200"/>
          </a:xfrm>
          <a:prstGeom prst="roundRect">
            <a:avLst>
              <a:gd name="adj" fmla="val 18000"/>
            </a:avLst>
          </a:prstGeom>
          <a:solidFill>
            <a:srgbClr val="FFFFFF"/>
          </a:solidFill>
          <a:ln w="9525">
            <a:solidFill>
              <a:srgbClr val="DCE3E6"/>
            </a:solidFill>
            <a:prstDash val="solid"/>
          </a:ln>
        </p:spPr>
      </p:sp>
      <p:pic>
        <p:nvPicPr>
          <p:cNvPr id="8" name="Image 0" descr="/home/user/Claude-Works/ai-training-prompt-engineering/src/assets/logos/claude.png">    </p:cNvPr>
          <p:cNvPicPr>
            <a:picLocks noChangeAspect="1"/>
          </p:cNvPicPr>
          <p:nvPr/>
        </p:nvPicPr>
        <p:blipFill>
          <a:blip r:embed="rId1"/>
          <a:stretch>
            <a:fillRect/>
          </a:stretch>
        </p:blipFill>
        <p:spPr>
          <a:xfrm>
            <a:off x="731520" y="1819656"/>
            <a:ext cx="329184" cy="329184"/>
          </a:xfrm>
          <a:prstGeom prst="rect">
            <a:avLst/>
          </a:prstGeom>
        </p:spPr>
      </p:pic>
      <p:sp>
        <p:nvSpPr>
          <p:cNvPr id="9" name="Text 6"/>
          <p:cNvSpPr/>
          <p:nvPr/>
        </p:nvSpPr>
        <p:spPr>
          <a:xfrm>
            <a:off x="1234440" y="1517904"/>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Claude Code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Anthropic</a:t>
            </a:r>
            <a:endParaRPr lang="en-US" sz="1250" dirty="0"/>
          </a:p>
          <a:p>
            <a:pPr indent="0" marL="0">
              <a:lnSpc>
                <a:spcPct val="100000"/>
              </a:lnSpc>
              <a:buNone/>
            </a:pPr>
            <a:r>
              <a:rPr lang="en-US" sz="970" dirty="0">
                <a:solidFill>
                  <a:srgbClr val="46545F"/>
                </a:solidFill>
                <a:latin typeface="Calibri" pitchFamily="34" charset="0"/>
                <a:ea typeface="Calibri" pitchFamily="34" charset="-122"/>
                <a:cs typeface="Calibri" pitchFamily="34" charset="-120"/>
              </a:rPr>
              <a:t>Agentic coding AND general file/data automation — points at a real folder: reads PDFs, builds spreadsheets, writes reports. Built this training’s materials.</a:t>
            </a:r>
            <a:endParaRPr lang="en-US" sz="1250" dirty="0"/>
          </a:p>
        </p:txBody>
      </p:sp>
      <p:sp>
        <p:nvSpPr>
          <p:cNvPr id="10" name="Shape 7"/>
          <p:cNvSpPr/>
          <p:nvPr/>
        </p:nvSpPr>
        <p:spPr>
          <a:xfrm>
            <a:off x="6172200" y="1463040"/>
            <a:ext cx="5440680" cy="1060704"/>
          </a:xfrm>
          <a:prstGeom prst="roundRect">
            <a:avLst>
              <a:gd name="adj" fmla="val 6897"/>
            </a:avLst>
          </a:prstGeom>
          <a:solidFill>
            <a:srgbClr val="F2F5F6"/>
          </a:solidFill>
          <a:ln/>
        </p:spPr>
      </p:sp>
      <p:sp>
        <p:nvSpPr>
          <p:cNvPr id="11" name="Shape 8"/>
          <p:cNvSpPr/>
          <p:nvPr/>
        </p:nvSpPr>
        <p:spPr>
          <a:xfrm>
            <a:off x="6336792" y="1755648"/>
            <a:ext cx="457200" cy="457200"/>
          </a:xfrm>
          <a:prstGeom prst="roundRect">
            <a:avLst>
              <a:gd name="adj" fmla="val 18000"/>
            </a:avLst>
          </a:prstGeom>
          <a:solidFill>
            <a:srgbClr val="FFFFFF"/>
          </a:solidFill>
          <a:ln w="9525">
            <a:solidFill>
              <a:srgbClr val="DCE3E6"/>
            </a:solidFill>
            <a:prstDash val="solid"/>
          </a:ln>
        </p:spPr>
      </p:sp>
      <p:pic>
        <p:nvPicPr>
          <p:cNvPr id="12" name="Image 1" descr="/home/user/Claude-Works/ai-training-prompt-engineering/src/assets/logos/claude.png">    </p:cNvPr>
          <p:cNvPicPr>
            <a:picLocks noChangeAspect="1"/>
          </p:cNvPicPr>
          <p:nvPr/>
        </p:nvPicPr>
        <p:blipFill>
          <a:blip r:embed="rId2"/>
          <a:stretch>
            <a:fillRect/>
          </a:stretch>
        </p:blipFill>
        <p:spPr>
          <a:xfrm>
            <a:off x="6400800" y="1819656"/>
            <a:ext cx="329184" cy="329184"/>
          </a:xfrm>
          <a:prstGeom prst="rect">
            <a:avLst/>
          </a:prstGeom>
        </p:spPr>
      </p:pic>
      <p:sp>
        <p:nvSpPr>
          <p:cNvPr id="13" name="Text 9"/>
          <p:cNvSpPr/>
          <p:nvPr/>
        </p:nvSpPr>
        <p:spPr>
          <a:xfrm>
            <a:off x="6903720" y="1517904"/>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Claude Cowork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Anthropic</a:t>
            </a:r>
            <a:endParaRPr lang="en-US" sz="1250" dirty="0"/>
          </a:p>
          <a:p>
            <a:pPr indent="0" marL="0">
              <a:lnSpc>
                <a:spcPct val="100000"/>
              </a:lnSpc>
              <a:buNone/>
            </a:pPr>
            <a:r>
              <a:rPr lang="en-US" sz="970" dirty="0">
                <a:solidFill>
                  <a:srgbClr val="46545F"/>
                </a:solidFill>
                <a:latin typeface="Calibri" pitchFamily="34" charset="0"/>
                <a:ea typeface="Calibri" pitchFamily="34" charset="-122"/>
                <a:cs typeface="Calibri" pitchFamily="34" charset="-120"/>
              </a:rPr>
              <a:t>The same engine for non-technical knowledge work: “describe the outcome, step away, come back to finished files.” Licensed by Microsoft as Copilot Cowork.</a:t>
            </a:r>
            <a:endParaRPr lang="en-US" sz="1250" dirty="0"/>
          </a:p>
        </p:txBody>
      </p:sp>
      <p:sp>
        <p:nvSpPr>
          <p:cNvPr id="14" name="Shape 10"/>
          <p:cNvSpPr/>
          <p:nvPr/>
        </p:nvSpPr>
        <p:spPr>
          <a:xfrm>
            <a:off x="502920" y="2633472"/>
            <a:ext cx="5440680" cy="1060704"/>
          </a:xfrm>
          <a:prstGeom prst="roundRect">
            <a:avLst>
              <a:gd name="adj" fmla="val 6897"/>
            </a:avLst>
          </a:prstGeom>
          <a:solidFill>
            <a:srgbClr val="F2F5F6"/>
          </a:solidFill>
          <a:ln/>
        </p:spPr>
      </p:sp>
      <p:sp>
        <p:nvSpPr>
          <p:cNvPr id="15" name="Shape 11"/>
          <p:cNvSpPr/>
          <p:nvPr/>
        </p:nvSpPr>
        <p:spPr>
          <a:xfrm>
            <a:off x="667512" y="2926080"/>
            <a:ext cx="457200" cy="457200"/>
          </a:xfrm>
          <a:prstGeom prst="roundRect">
            <a:avLst>
              <a:gd name="adj" fmla="val 18000"/>
            </a:avLst>
          </a:prstGeom>
          <a:solidFill>
            <a:srgbClr val="FFFFFF"/>
          </a:solidFill>
          <a:ln w="9525">
            <a:solidFill>
              <a:srgbClr val="DCE3E6"/>
            </a:solidFill>
            <a:prstDash val="solid"/>
          </a:ln>
        </p:spPr>
      </p:sp>
      <p:pic>
        <p:nvPicPr>
          <p:cNvPr id="16" name="Image 2" descr="/home/user/Claude-Works/ai-training-prompt-engineering/src/assets/logos/openai.png">    </p:cNvPr>
          <p:cNvPicPr>
            <a:picLocks noChangeAspect="1"/>
          </p:cNvPicPr>
          <p:nvPr/>
        </p:nvPicPr>
        <p:blipFill>
          <a:blip r:embed="rId3"/>
          <a:stretch>
            <a:fillRect/>
          </a:stretch>
        </p:blipFill>
        <p:spPr>
          <a:xfrm>
            <a:off x="731520" y="2990088"/>
            <a:ext cx="329184" cy="329184"/>
          </a:xfrm>
          <a:prstGeom prst="rect">
            <a:avLst/>
          </a:prstGeom>
        </p:spPr>
      </p:pic>
      <p:sp>
        <p:nvSpPr>
          <p:cNvPr id="17" name="Text 12"/>
          <p:cNvSpPr/>
          <p:nvPr/>
        </p:nvSpPr>
        <p:spPr>
          <a:xfrm>
            <a:off x="1234440" y="2688336"/>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ChatGPT Work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OpenAI</a:t>
            </a:r>
            <a:endParaRPr lang="en-US" sz="1250" dirty="0"/>
          </a:p>
          <a:p>
            <a:pPr indent="0" marL="0">
              <a:lnSpc>
                <a:spcPct val="100000"/>
              </a:lnSpc>
              <a:buNone/>
            </a:pPr>
            <a:r>
              <a:rPr lang="en-US" sz="970" dirty="0">
                <a:solidFill>
                  <a:srgbClr val="46545F"/>
                </a:solidFill>
                <a:latin typeface="Calibri" pitchFamily="34" charset="0"/>
                <a:ea typeface="Calibri" pitchFamily="34" charset="-122"/>
                <a:cs typeface="Calibri" pitchFamily="34" charset="-120"/>
              </a:rPr>
              <a:t>Agent mode beside Chat: connects Slack/Gmail/Drive, runs scheduled tasks, produces decks, sheets, small apps.</a:t>
            </a:r>
            <a:endParaRPr lang="en-US" sz="1250" dirty="0"/>
          </a:p>
        </p:txBody>
      </p:sp>
      <p:sp>
        <p:nvSpPr>
          <p:cNvPr id="18" name="Shape 13"/>
          <p:cNvSpPr/>
          <p:nvPr/>
        </p:nvSpPr>
        <p:spPr>
          <a:xfrm>
            <a:off x="6172200" y="2633472"/>
            <a:ext cx="5440680" cy="1060704"/>
          </a:xfrm>
          <a:prstGeom prst="roundRect">
            <a:avLst>
              <a:gd name="adj" fmla="val 6897"/>
            </a:avLst>
          </a:prstGeom>
          <a:solidFill>
            <a:srgbClr val="F2F5F6"/>
          </a:solidFill>
          <a:ln/>
        </p:spPr>
      </p:sp>
      <p:sp>
        <p:nvSpPr>
          <p:cNvPr id="19" name="Shape 14"/>
          <p:cNvSpPr/>
          <p:nvPr/>
        </p:nvSpPr>
        <p:spPr>
          <a:xfrm>
            <a:off x="6336792" y="2926080"/>
            <a:ext cx="457200" cy="457200"/>
          </a:xfrm>
          <a:prstGeom prst="roundRect">
            <a:avLst>
              <a:gd name="adj" fmla="val 18000"/>
            </a:avLst>
          </a:prstGeom>
          <a:solidFill>
            <a:srgbClr val="FFFFFF"/>
          </a:solidFill>
          <a:ln w="9525">
            <a:solidFill>
              <a:srgbClr val="DCE3E6"/>
            </a:solidFill>
            <a:prstDash val="solid"/>
          </a:ln>
        </p:spPr>
      </p:sp>
      <p:pic>
        <p:nvPicPr>
          <p:cNvPr id="20" name="Image 3" descr="/home/user/Claude-Works/ai-training-prompt-engineering/src/assets/logos/copilot.png">    </p:cNvPr>
          <p:cNvPicPr>
            <a:picLocks noChangeAspect="1"/>
          </p:cNvPicPr>
          <p:nvPr/>
        </p:nvPicPr>
        <p:blipFill>
          <a:blip r:embed="rId4"/>
          <a:stretch>
            <a:fillRect/>
          </a:stretch>
        </p:blipFill>
        <p:spPr>
          <a:xfrm>
            <a:off x="6400800" y="2990088"/>
            <a:ext cx="329184" cy="329184"/>
          </a:xfrm>
          <a:prstGeom prst="rect">
            <a:avLst/>
          </a:prstGeom>
        </p:spPr>
      </p:pic>
      <p:sp>
        <p:nvSpPr>
          <p:cNvPr id="21" name="Text 15"/>
          <p:cNvSpPr/>
          <p:nvPr/>
        </p:nvSpPr>
        <p:spPr>
          <a:xfrm>
            <a:off x="6903720" y="2688336"/>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Copilot agents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Microsoft</a:t>
            </a:r>
            <a:endParaRPr lang="en-US" sz="1250" dirty="0"/>
          </a:p>
          <a:p>
            <a:pPr indent="0" marL="0">
              <a:lnSpc>
                <a:spcPct val="100000"/>
              </a:lnSpc>
              <a:buNone/>
            </a:pPr>
            <a:r>
              <a:rPr lang="en-US" sz="970" dirty="0">
                <a:solidFill>
                  <a:srgbClr val="46545F"/>
                </a:solidFill>
                <a:latin typeface="Calibri" pitchFamily="34" charset="0"/>
                <a:ea typeface="Calibri" pitchFamily="34" charset="-122"/>
                <a:cs typeface="Calibri" pitchFamily="34" charset="-120"/>
              </a:rPr>
              <a:t>Researcher, Analyst, Excel Agent Mode, Copilot Studio — governed agents inside your tenant. The path of least resistance at most enterprises.</a:t>
            </a:r>
            <a:endParaRPr lang="en-US" sz="1250" dirty="0"/>
          </a:p>
        </p:txBody>
      </p:sp>
      <p:sp>
        <p:nvSpPr>
          <p:cNvPr id="22" name="Shape 16"/>
          <p:cNvSpPr/>
          <p:nvPr/>
        </p:nvSpPr>
        <p:spPr>
          <a:xfrm>
            <a:off x="502920" y="3803904"/>
            <a:ext cx="5440680" cy="1060704"/>
          </a:xfrm>
          <a:prstGeom prst="roundRect">
            <a:avLst>
              <a:gd name="adj" fmla="val 6897"/>
            </a:avLst>
          </a:prstGeom>
          <a:solidFill>
            <a:srgbClr val="F2F5F6"/>
          </a:solidFill>
          <a:ln/>
        </p:spPr>
      </p:sp>
      <p:sp>
        <p:nvSpPr>
          <p:cNvPr id="23" name="Shape 17"/>
          <p:cNvSpPr/>
          <p:nvPr/>
        </p:nvSpPr>
        <p:spPr>
          <a:xfrm>
            <a:off x="667512" y="4096512"/>
            <a:ext cx="457200" cy="457200"/>
          </a:xfrm>
          <a:prstGeom prst="roundRect">
            <a:avLst>
              <a:gd name="adj" fmla="val 18000"/>
            </a:avLst>
          </a:prstGeom>
          <a:solidFill>
            <a:srgbClr val="FFFFFF"/>
          </a:solidFill>
          <a:ln w="9525">
            <a:solidFill>
              <a:srgbClr val="DCE3E6"/>
            </a:solidFill>
            <a:prstDash val="solid"/>
          </a:ln>
        </p:spPr>
      </p:sp>
      <p:pic>
        <p:nvPicPr>
          <p:cNvPr id="24" name="Image 4" descr="/home/user/Claude-Works/ai-training-prompt-engineering/src/assets/logos/manus.png">    </p:cNvPr>
          <p:cNvPicPr>
            <a:picLocks noChangeAspect="1"/>
          </p:cNvPicPr>
          <p:nvPr/>
        </p:nvPicPr>
        <p:blipFill>
          <a:blip r:embed="rId5"/>
          <a:stretch>
            <a:fillRect/>
          </a:stretch>
        </p:blipFill>
        <p:spPr>
          <a:xfrm>
            <a:off x="731520" y="4160520"/>
            <a:ext cx="329184" cy="329184"/>
          </a:xfrm>
          <a:prstGeom prst="rect">
            <a:avLst/>
          </a:prstGeom>
        </p:spPr>
      </p:pic>
      <p:sp>
        <p:nvSpPr>
          <p:cNvPr id="25" name="Text 18"/>
          <p:cNvSpPr/>
          <p:nvPr/>
        </p:nvSpPr>
        <p:spPr>
          <a:xfrm>
            <a:off x="1234440" y="3858768"/>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Manus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independent (Singapore)</a:t>
            </a:r>
            <a:endParaRPr lang="en-US" sz="1250" dirty="0"/>
          </a:p>
          <a:p>
            <a:pPr indent="0" marL="0">
              <a:lnSpc>
                <a:spcPct val="100000"/>
              </a:lnSpc>
              <a:buNone/>
            </a:pPr>
            <a:r>
              <a:rPr lang="en-US" sz="970" dirty="0">
                <a:solidFill>
                  <a:srgbClr val="46545F"/>
                </a:solidFill>
                <a:latin typeface="Calibri" pitchFamily="34" charset="0"/>
                <a:ea typeface="Calibri" pitchFamily="34" charset="-122"/>
                <a:cs typeface="Calibri" pitchFamily="34" charset="-120"/>
              </a:rPr>
              <a:t>The famous general agent: goal in, finished multi-step work out. So famous Meta paid ~$2B for it (Dec 2025) — and Beijing forced the deal apart (Apr 2026). Try it personally; don’t feed it company data.</a:t>
            </a:r>
            <a:endParaRPr lang="en-US" sz="1250" dirty="0"/>
          </a:p>
        </p:txBody>
      </p:sp>
      <p:sp>
        <p:nvSpPr>
          <p:cNvPr id="26" name="Shape 19"/>
          <p:cNvSpPr/>
          <p:nvPr/>
        </p:nvSpPr>
        <p:spPr>
          <a:xfrm>
            <a:off x="6172200" y="3803904"/>
            <a:ext cx="5440680" cy="1060704"/>
          </a:xfrm>
          <a:prstGeom prst="roundRect">
            <a:avLst>
              <a:gd name="adj" fmla="val 6897"/>
            </a:avLst>
          </a:prstGeom>
          <a:solidFill>
            <a:srgbClr val="F2F5F6"/>
          </a:solidFill>
          <a:ln/>
        </p:spPr>
      </p:sp>
      <p:sp>
        <p:nvSpPr>
          <p:cNvPr id="27" name="Shape 20"/>
          <p:cNvSpPr/>
          <p:nvPr/>
        </p:nvSpPr>
        <p:spPr>
          <a:xfrm>
            <a:off x="6336792" y="4096512"/>
            <a:ext cx="457200" cy="457200"/>
          </a:xfrm>
          <a:prstGeom prst="roundRect">
            <a:avLst>
              <a:gd name="adj" fmla="val 18000"/>
            </a:avLst>
          </a:prstGeom>
          <a:solidFill>
            <a:srgbClr val="FFFFFF"/>
          </a:solidFill>
          <a:ln w="9525">
            <a:solidFill>
              <a:srgbClr val="DCE3E6"/>
            </a:solidFill>
            <a:prstDash val="solid"/>
          </a:ln>
        </p:spPr>
      </p:sp>
      <p:pic>
        <p:nvPicPr>
          <p:cNvPr id="28" name="Image 5" descr="/home/user/Claude-Works/ai-training-prompt-engineering/src/assets/logos/notion.png">    </p:cNvPr>
          <p:cNvPicPr>
            <a:picLocks noChangeAspect="1"/>
          </p:cNvPicPr>
          <p:nvPr/>
        </p:nvPicPr>
        <p:blipFill>
          <a:blip r:embed="rId6"/>
          <a:stretch>
            <a:fillRect/>
          </a:stretch>
        </p:blipFill>
        <p:spPr>
          <a:xfrm>
            <a:off x="6400800" y="4160520"/>
            <a:ext cx="329184" cy="329184"/>
          </a:xfrm>
          <a:prstGeom prst="rect">
            <a:avLst/>
          </a:prstGeom>
        </p:spPr>
      </p:pic>
      <p:sp>
        <p:nvSpPr>
          <p:cNvPr id="29" name="Text 21"/>
          <p:cNvSpPr/>
          <p:nvPr/>
        </p:nvSpPr>
        <p:spPr>
          <a:xfrm>
            <a:off x="6903720" y="3858768"/>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Notion Agents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Notion</a:t>
            </a:r>
            <a:endParaRPr lang="en-US" sz="1250" dirty="0"/>
          </a:p>
          <a:p>
            <a:pPr indent="0" marL="0">
              <a:lnSpc>
                <a:spcPct val="100000"/>
              </a:lnSpc>
              <a:buNone/>
            </a:pPr>
            <a:r>
              <a:rPr lang="en-US" sz="970" dirty="0">
                <a:solidFill>
                  <a:srgbClr val="46545F"/>
                </a:solidFill>
                <a:latin typeface="Calibri" pitchFamily="34" charset="0"/>
                <a:ea typeface="Calibri" pitchFamily="34" charset="-122"/>
                <a:cs typeface="Calibri" pitchFamily="34" charset="-120"/>
              </a:rPr>
              <a:t>Agents living inside the workspace you may already use: run 24/7 on triggers (schedules, Slack, email), build docs and databases, shareable with the team.</a:t>
            </a:r>
            <a:endParaRPr lang="en-US" sz="1250" dirty="0"/>
          </a:p>
        </p:txBody>
      </p:sp>
      <p:sp>
        <p:nvSpPr>
          <p:cNvPr id="30" name="Shape 22"/>
          <p:cNvSpPr/>
          <p:nvPr/>
        </p:nvSpPr>
        <p:spPr>
          <a:xfrm>
            <a:off x="502920" y="4974336"/>
            <a:ext cx="5440680" cy="1060704"/>
          </a:xfrm>
          <a:prstGeom prst="roundRect">
            <a:avLst>
              <a:gd name="adj" fmla="val 6897"/>
            </a:avLst>
          </a:prstGeom>
          <a:solidFill>
            <a:srgbClr val="F2F5F6"/>
          </a:solidFill>
          <a:ln/>
        </p:spPr>
      </p:sp>
      <p:sp>
        <p:nvSpPr>
          <p:cNvPr id="31" name="Shape 23"/>
          <p:cNvSpPr/>
          <p:nvPr/>
        </p:nvSpPr>
        <p:spPr>
          <a:xfrm>
            <a:off x="667512" y="5266944"/>
            <a:ext cx="457200" cy="457200"/>
          </a:xfrm>
          <a:prstGeom prst="roundRect">
            <a:avLst>
              <a:gd name="adj" fmla="val 18000"/>
            </a:avLst>
          </a:prstGeom>
          <a:solidFill>
            <a:srgbClr val="FFFFFF"/>
          </a:solidFill>
          <a:ln w="9525">
            <a:solidFill>
              <a:srgbClr val="DCE3E6"/>
            </a:solidFill>
            <a:prstDash val="solid"/>
          </a:ln>
        </p:spPr>
      </p:sp>
      <p:pic>
        <p:nvPicPr>
          <p:cNvPr id="32" name="Image 6" descr="/home/user/Claude-Works/ai-training-prompt-engineering/src/assets/logos/zapier.png">    </p:cNvPr>
          <p:cNvPicPr>
            <a:picLocks noChangeAspect="1"/>
          </p:cNvPicPr>
          <p:nvPr/>
        </p:nvPicPr>
        <p:blipFill>
          <a:blip r:embed="rId7"/>
          <a:stretch>
            <a:fillRect/>
          </a:stretch>
        </p:blipFill>
        <p:spPr>
          <a:xfrm>
            <a:off x="731520" y="5330952"/>
            <a:ext cx="329184" cy="329184"/>
          </a:xfrm>
          <a:prstGeom prst="rect">
            <a:avLst/>
          </a:prstGeom>
        </p:spPr>
      </p:pic>
      <p:sp>
        <p:nvSpPr>
          <p:cNvPr id="33" name="Text 24"/>
          <p:cNvSpPr/>
          <p:nvPr/>
        </p:nvSpPr>
        <p:spPr>
          <a:xfrm>
            <a:off x="1234440" y="5029200"/>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Automation platforms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n8n · Zapier</a:t>
            </a:r>
            <a:endParaRPr lang="en-US" sz="1250" dirty="0"/>
          </a:p>
          <a:p>
            <a:pPr indent="0" marL="0">
              <a:lnSpc>
                <a:spcPct val="100000"/>
              </a:lnSpc>
              <a:buNone/>
            </a:pPr>
            <a:r>
              <a:rPr lang="en-US" sz="970" dirty="0">
                <a:solidFill>
                  <a:srgbClr val="46545F"/>
                </a:solidFill>
                <a:latin typeface="Calibri" pitchFamily="34" charset="0"/>
                <a:ea typeface="Calibri" pitchFamily="34" charset="-122"/>
                <a:cs typeface="Calibri" pitchFamily="34" charset="-120"/>
              </a:rPr>
              <a:t>Wire apps together with agent steps in the flow: n8n for technical/self-hosted, Zapier for business users, 8,000+ connectors.</a:t>
            </a:r>
            <a:endParaRPr lang="en-US" sz="1250" dirty="0"/>
          </a:p>
        </p:txBody>
      </p:sp>
      <p:sp>
        <p:nvSpPr>
          <p:cNvPr id="34" name="Shape 25"/>
          <p:cNvSpPr/>
          <p:nvPr/>
        </p:nvSpPr>
        <p:spPr>
          <a:xfrm>
            <a:off x="6172200" y="4974336"/>
            <a:ext cx="5440680" cy="1060704"/>
          </a:xfrm>
          <a:prstGeom prst="roundRect">
            <a:avLst>
              <a:gd name="adj" fmla="val 6897"/>
            </a:avLst>
          </a:prstGeom>
          <a:solidFill>
            <a:srgbClr val="FBF0E0"/>
          </a:solidFill>
          <a:ln/>
        </p:spPr>
      </p:sp>
      <p:sp>
        <p:nvSpPr>
          <p:cNvPr id="35" name="Shape 26"/>
          <p:cNvSpPr/>
          <p:nvPr/>
        </p:nvSpPr>
        <p:spPr>
          <a:xfrm>
            <a:off x="6336792" y="5266944"/>
            <a:ext cx="457200" cy="457200"/>
          </a:xfrm>
          <a:prstGeom prst="ellipse">
            <a:avLst/>
          </a:prstGeom>
          <a:solidFill>
            <a:srgbClr val="B96A1B"/>
          </a:solidFill>
          <a:ln/>
        </p:spPr>
      </p:sp>
      <p:pic>
        <p:nvPicPr>
          <p:cNvPr id="36" name="Image 7" descr="/home/user/Claude-Works/ai-training-prompt-engineering/src/assets/icons/alert_w.png">    </p:cNvPr>
          <p:cNvPicPr>
            <a:picLocks noChangeAspect="1"/>
          </p:cNvPicPr>
          <p:nvPr/>
        </p:nvPicPr>
        <p:blipFill>
          <a:blip r:embed="rId8"/>
          <a:stretch>
            <a:fillRect/>
          </a:stretch>
        </p:blipFill>
        <p:spPr>
          <a:xfrm>
            <a:off x="6455664" y="5385816"/>
            <a:ext cx="219456" cy="219456"/>
          </a:xfrm>
          <a:prstGeom prst="rect">
            <a:avLst/>
          </a:prstGeom>
        </p:spPr>
      </p:pic>
      <p:sp>
        <p:nvSpPr>
          <p:cNvPr id="37" name="Text 27"/>
          <p:cNvSpPr/>
          <p:nvPr/>
        </p:nvSpPr>
        <p:spPr>
          <a:xfrm>
            <a:off x="6903720" y="5029200"/>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OpenClaw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open source</a:t>
            </a:r>
            <a:endParaRPr lang="en-US" sz="1250" dirty="0"/>
          </a:p>
          <a:p>
            <a:pPr indent="0" marL="0">
              <a:lnSpc>
                <a:spcPct val="100000"/>
              </a:lnSpc>
              <a:buNone/>
            </a:pPr>
            <a:r>
              <a:rPr lang="en-US" sz="970" dirty="0">
                <a:solidFill>
                  <a:srgbClr val="46545F"/>
                </a:solidFill>
                <a:latin typeface="Calibri" pitchFamily="34" charset="0"/>
                <a:ea typeface="Calibri" pitchFamily="34" charset="-122"/>
                <a:cs typeface="Calibri" pitchFamily="34" charset="-120"/>
              </a:rPr>
              <a:t>DIY personal agent run from WhatsApp/Telegram — and 2026’s security cautionary tale. Not for corporate use; its lessons come in Part 5.</a:t>
            </a:r>
            <a:endParaRPr lang="en-US" sz="1250" dirty="0"/>
          </a:p>
        </p:txBody>
      </p:sp>
      <p:sp>
        <p:nvSpPr>
          <p:cNvPr id="38" name="Text 28"/>
          <p:cNvSpPr/>
          <p:nvPr/>
        </p:nvSpPr>
        <p:spPr>
          <a:xfrm>
            <a:off x="502920" y="6172200"/>
            <a:ext cx="11155680" cy="320040"/>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Coding IDEs (Cursor · GitHub Copilot · Devin) and browser agents (Comet · Claude in Chrome) exist too — engineering and power-user tools; ask IT before either.</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2 · THE TOOLS IN REAL LIFE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21</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WHAT PEOPLE ACTUALLY USE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Usage data, not hype — and the why · mid-2026</a:t>
            </a:r>
            <a:endParaRPr lang="en-US" sz="3000" dirty="0"/>
          </a:p>
        </p:txBody>
      </p:sp>
      <p:sp>
        <p:nvSpPr>
          <p:cNvPr id="6" name="Shape 4"/>
          <p:cNvSpPr/>
          <p:nvPr/>
        </p:nvSpPr>
        <p:spPr>
          <a:xfrm>
            <a:off x="502920" y="1444752"/>
            <a:ext cx="11155680" cy="1188720"/>
          </a:xfrm>
          <a:prstGeom prst="roundRect">
            <a:avLst>
              <a:gd name="adj" fmla="val 6154"/>
            </a:avLst>
          </a:prstGeom>
          <a:solidFill>
            <a:srgbClr val="F2F5F6"/>
          </a:solidFill>
          <a:ln/>
        </p:spPr>
      </p:sp>
      <p:sp>
        <p:nvSpPr>
          <p:cNvPr id="7" name="Text 5"/>
          <p:cNvSpPr/>
          <p:nvPr/>
        </p:nvSpPr>
        <p:spPr>
          <a:xfrm>
            <a:off x="731520" y="1536192"/>
            <a:ext cx="2148840" cy="1005840"/>
          </a:xfrm>
          <a:prstGeom prst="rect">
            <a:avLst/>
          </a:prstGeom>
          <a:noFill/>
          <a:ln/>
        </p:spPr>
        <p:txBody>
          <a:bodyPr wrap="square" lIns="0" tIns="0" rIns="0" bIns="0" rtlCol="0" anchor="ctr"/>
          <a:lstStyle/>
          <a:p>
            <a:pPr indent="0" marL="0">
              <a:lnSpc>
                <a:spcPct val="102000"/>
              </a:lnSpc>
              <a:buNone/>
            </a:pPr>
            <a:r>
              <a:rPr lang="en-US" sz="1150" b="1" dirty="0">
                <a:solidFill>
                  <a:srgbClr val="0A5B5A"/>
                </a:solidFill>
                <a:latin typeface="Calibri" pitchFamily="34" charset="0"/>
                <a:ea typeface="Calibri" pitchFamily="34" charset="-122"/>
                <a:cs typeface="Calibri" pitchFamily="34" charset="-120"/>
              </a:rPr>
              <a:t>The defaults — billion-user scale</a:t>
            </a:r>
            <a:endParaRPr lang="en-US" sz="1150" dirty="0"/>
          </a:p>
          <a:p>
            <a:pPr indent="0" marL="0">
              <a:lnSpc>
                <a:spcPct val="102000"/>
              </a:lnSpc>
              <a:buNone/>
            </a:pPr>
            <a:r>
              <a:rPr lang="en-US" sz="880" i="1" dirty="0">
                <a:solidFill>
                  <a:srgbClr val="7A8790"/>
                </a:solidFill>
                <a:latin typeface="Calibri" pitchFamily="34" charset="0"/>
                <a:ea typeface="Calibri" pitchFamily="34" charset="-122"/>
                <a:cs typeface="Calibri" pitchFamily="34" charset="-120"/>
              </a:rPr>
              <a:t>chosen once, or already installed</a:t>
            </a:r>
            <a:endParaRPr lang="en-US" sz="1150" dirty="0"/>
          </a:p>
        </p:txBody>
      </p:sp>
      <p:sp>
        <p:nvSpPr>
          <p:cNvPr id="8" name="Shape 6"/>
          <p:cNvSpPr/>
          <p:nvPr/>
        </p:nvSpPr>
        <p:spPr>
          <a:xfrm>
            <a:off x="3017520" y="1591056"/>
            <a:ext cx="365760" cy="365760"/>
          </a:xfrm>
          <a:prstGeom prst="roundRect">
            <a:avLst>
              <a:gd name="adj" fmla="val 22500"/>
            </a:avLst>
          </a:prstGeom>
          <a:solidFill>
            <a:srgbClr val="FFFFFF"/>
          </a:solidFill>
          <a:ln w="9525">
            <a:solidFill>
              <a:srgbClr val="DCE3E6"/>
            </a:solidFill>
            <a:prstDash val="solid"/>
          </a:ln>
        </p:spPr>
      </p:sp>
      <p:pic>
        <p:nvPicPr>
          <p:cNvPr id="9" name="Image 0" descr="/home/user/Claude-Works/ai-training-prompt-engineering/src/assets/logos/openai.png">    </p:cNvPr>
          <p:cNvPicPr>
            <a:picLocks noChangeAspect="1"/>
          </p:cNvPicPr>
          <p:nvPr/>
        </p:nvPicPr>
        <p:blipFill>
          <a:blip r:embed="rId1"/>
          <a:stretch>
            <a:fillRect/>
          </a:stretch>
        </p:blipFill>
        <p:spPr>
          <a:xfrm>
            <a:off x="3068726" y="1642262"/>
            <a:ext cx="263347" cy="263347"/>
          </a:xfrm>
          <a:prstGeom prst="rect">
            <a:avLst/>
          </a:prstGeom>
        </p:spPr>
      </p:pic>
      <p:sp>
        <p:nvSpPr>
          <p:cNvPr id="10" name="Text 7"/>
          <p:cNvSpPr/>
          <p:nvPr/>
        </p:nvSpPr>
        <p:spPr>
          <a:xfrm>
            <a:off x="3017520" y="1993392"/>
            <a:ext cx="2057400" cy="23774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ChatGPT</a:t>
            </a:r>
            <a:endParaRPr lang="en-US" sz="1050" dirty="0"/>
          </a:p>
        </p:txBody>
      </p:sp>
      <p:sp>
        <p:nvSpPr>
          <p:cNvPr id="11" name="Text 8"/>
          <p:cNvSpPr/>
          <p:nvPr/>
        </p:nvSpPr>
        <p:spPr>
          <a:xfrm>
            <a:off x="3017520" y="2221992"/>
            <a:ext cx="2057400" cy="384048"/>
          </a:xfrm>
          <a:prstGeom prst="rect">
            <a:avLst/>
          </a:prstGeom>
          <a:noFill/>
          <a:ln/>
        </p:spPr>
        <p:txBody>
          <a:bodyPr wrap="square" lIns="0" tIns="0" rIns="0" bIns="0" rtlCol="0" anchor="ctr"/>
          <a:lstStyle/>
          <a:p>
            <a:pPr indent="0" marL="0">
              <a:lnSpc>
                <a:spcPct val="96000"/>
              </a:lnSpc>
              <a:buNone/>
            </a:pPr>
            <a:r>
              <a:rPr lang="en-US" sz="840" dirty="0">
                <a:solidFill>
                  <a:srgbClr val="46545F"/>
                </a:solidFill>
                <a:latin typeface="Calibri" pitchFamily="34" charset="0"/>
                <a:ea typeface="Calibri" pitchFamily="34" charset="-122"/>
                <a:cs typeface="Calibri" pitchFamily="34" charset="-120"/>
              </a:rPr>
              <a:t>900M weekly users — chose it first, stayed</a:t>
            </a:r>
            <a:endParaRPr lang="en-US" sz="840" dirty="0"/>
          </a:p>
        </p:txBody>
      </p:sp>
      <p:sp>
        <p:nvSpPr>
          <p:cNvPr id="12" name="Shape 9"/>
          <p:cNvSpPr/>
          <p:nvPr/>
        </p:nvSpPr>
        <p:spPr>
          <a:xfrm>
            <a:off x="5193792" y="1591056"/>
            <a:ext cx="365760" cy="365760"/>
          </a:xfrm>
          <a:prstGeom prst="roundRect">
            <a:avLst>
              <a:gd name="adj" fmla="val 22500"/>
            </a:avLst>
          </a:prstGeom>
          <a:solidFill>
            <a:srgbClr val="FFFFFF"/>
          </a:solidFill>
          <a:ln w="9525">
            <a:solidFill>
              <a:srgbClr val="DCE3E6"/>
            </a:solidFill>
            <a:prstDash val="solid"/>
          </a:ln>
        </p:spPr>
      </p:sp>
      <p:pic>
        <p:nvPicPr>
          <p:cNvPr id="13" name="Image 1" descr="/home/user/Claude-Works/ai-training-prompt-engineering/src/assets/logos/gemini.png">    </p:cNvPr>
          <p:cNvPicPr>
            <a:picLocks noChangeAspect="1"/>
          </p:cNvPicPr>
          <p:nvPr/>
        </p:nvPicPr>
        <p:blipFill>
          <a:blip r:embed="rId2"/>
          <a:stretch>
            <a:fillRect/>
          </a:stretch>
        </p:blipFill>
        <p:spPr>
          <a:xfrm>
            <a:off x="5244998" y="1642262"/>
            <a:ext cx="263347" cy="263347"/>
          </a:xfrm>
          <a:prstGeom prst="rect">
            <a:avLst/>
          </a:prstGeom>
        </p:spPr>
      </p:pic>
      <p:sp>
        <p:nvSpPr>
          <p:cNvPr id="14" name="Text 10"/>
          <p:cNvSpPr/>
          <p:nvPr/>
        </p:nvSpPr>
        <p:spPr>
          <a:xfrm>
            <a:off x="5193792" y="1993392"/>
            <a:ext cx="2057400" cy="23774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Gemini</a:t>
            </a:r>
            <a:endParaRPr lang="en-US" sz="1050" dirty="0"/>
          </a:p>
        </p:txBody>
      </p:sp>
      <p:sp>
        <p:nvSpPr>
          <p:cNvPr id="15" name="Text 11"/>
          <p:cNvSpPr/>
          <p:nvPr/>
        </p:nvSpPr>
        <p:spPr>
          <a:xfrm>
            <a:off x="5193792" y="2221992"/>
            <a:ext cx="2057400" cy="384048"/>
          </a:xfrm>
          <a:prstGeom prst="rect">
            <a:avLst/>
          </a:prstGeom>
          <a:noFill/>
          <a:ln/>
        </p:spPr>
        <p:txBody>
          <a:bodyPr wrap="square" lIns="0" tIns="0" rIns="0" bIns="0" rtlCol="0" anchor="ctr"/>
          <a:lstStyle/>
          <a:p>
            <a:pPr indent="0" marL="0">
              <a:lnSpc>
                <a:spcPct val="96000"/>
              </a:lnSpc>
              <a:buNone/>
            </a:pPr>
            <a:r>
              <a:rPr lang="en-US" sz="840" dirty="0">
                <a:solidFill>
                  <a:srgbClr val="46545F"/>
                </a:solidFill>
                <a:latin typeface="Calibri" pitchFamily="34" charset="0"/>
                <a:ea typeface="Calibri" pitchFamily="34" charset="-122"/>
                <a:cs typeface="Calibri" pitchFamily="34" charset="-120"/>
              </a:rPr>
              <a:t>900M+ monthly — inside Gmail, Docs, Android</a:t>
            </a:r>
            <a:endParaRPr lang="en-US" sz="840" dirty="0"/>
          </a:p>
        </p:txBody>
      </p:sp>
      <p:sp>
        <p:nvSpPr>
          <p:cNvPr id="16" name="Shape 12"/>
          <p:cNvSpPr/>
          <p:nvPr/>
        </p:nvSpPr>
        <p:spPr>
          <a:xfrm>
            <a:off x="7370064" y="1591056"/>
            <a:ext cx="365760" cy="365760"/>
          </a:xfrm>
          <a:prstGeom prst="roundRect">
            <a:avLst>
              <a:gd name="adj" fmla="val 22500"/>
            </a:avLst>
          </a:prstGeom>
          <a:solidFill>
            <a:srgbClr val="FFFFFF"/>
          </a:solidFill>
          <a:ln w="9525">
            <a:solidFill>
              <a:srgbClr val="DCE3E6"/>
            </a:solidFill>
            <a:prstDash val="solid"/>
          </a:ln>
        </p:spPr>
      </p:sp>
      <p:pic>
        <p:nvPicPr>
          <p:cNvPr id="17" name="Image 2" descr="/home/user/Claude-Works/ai-training-prompt-engineering/src/assets/logos/copilot.png">    </p:cNvPr>
          <p:cNvPicPr>
            <a:picLocks noChangeAspect="1"/>
          </p:cNvPicPr>
          <p:nvPr/>
        </p:nvPicPr>
        <p:blipFill>
          <a:blip r:embed="rId3"/>
          <a:stretch>
            <a:fillRect/>
          </a:stretch>
        </p:blipFill>
        <p:spPr>
          <a:xfrm>
            <a:off x="7421270" y="1642262"/>
            <a:ext cx="263347" cy="263347"/>
          </a:xfrm>
          <a:prstGeom prst="rect">
            <a:avLst/>
          </a:prstGeom>
        </p:spPr>
      </p:pic>
      <p:sp>
        <p:nvSpPr>
          <p:cNvPr id="18" name="Text 13"/>
          <p:cNvSpPr/>
          <p:nvPr/>
        </p:nvSpPr>
        <p:spPr>
          <a:xfrm>
            <a:off x="7370064" y="1993392"/>
            <a:ext cx="2057400" cy="23774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Copilot</a:t>
            </a:r>
            <a:endParaRPr lang="en-US" sz="1050" dirty="0"/>
          </a:p>
        </p:txBody>
      </p:sp>
      <p:sp>
        <p:nvSpPr>
          <p:cNvPr id="19" name="Text 14"/>
          <p:cNvSpPr/>
          <p:nvPr/>
        </p:nvSpPr>
        <p:spPr>
          <a:xfrm>
            <a:off x="7370064" y="2221992"/>
            <a:ext cx="2057400" cy="384048"/>
          </a:xfrm>
          <a:prstGeom prst="rect">
            <a:avLst/>
          </a:prstGeom>
          <a:noFill/>
          <a:ln/>
        </p:spPr>
        <p:txBody>
          <a:bodyPr wrap="square" lIns="0" tIns="0" rIns="0" bIns="0" rtlCol="0" anchor="ctr"/>
          <a:lstStyle/>
          <a:p>
            <a:pPr indent="0" marL="0">
              <a:lnSpc>
                <a:spcPct val="96000"/>
              </a:lnSpc>
              <a:buNone/>
            </a:pPr>
            <a:r>
              <a:rPr lang="en-US" sz="840" dirty="0">
                <a:solidFill>
                  <a:srgbClr val="46545F"/>
                </a:solidFill>
                <a:latin typeface="Calibri" pitchFamily="34" charset="0"/>
                <a:ea typeface="Calibri" pitchFamily="34" charset="-122"/>
                <a:cs typeface="Calibri" pitchFamily="34" charset="-120"/>
              </a:rPr>
              <a:t>the work default — already in Word, Outlook, Teams</a:t>
            </a:r>
            <a:endParaRPr lang="en-US" sz="840" dirty="0"/>
          </a:p>
        </p:txBody>
      </p:sp>
      <p:sp>
        <p:nvSpPr>
          <p:cNvPr id="20" name="Shape 15"/>
          <p:cNvSpPr/>
          <p:nvPr/>
        </p:nvSpPr>
        <p:spPr>
          <a:xfrm>
            <a:off x="9546336" y="1591056"/>
            <a:ext cx="365760" cy="365760"/>
          </a:xfrm>
          <a:prstGeom prst="roundRect">
            <a:avLst>
              <a:gd name="adj" fmla="val 22500"/>
            </a:avLst>
          </a:prstGeom>
          <a:solidFill>
            <a:srgbClr val="FFFFFF"/>
          </a:solidFill>
          <a:ln w="9525">
            <a:solidFill>
              <a:srgbClr val="DCE3E6"/>
            </a:solidFill>
            <a:prstDash val="solid"/>
          </a:ln>
        </p:spPr>
      </p:sp>
      <p:sp>
        <p:nvSpPr>
          <p:cNvPr id="21" name="Text 16"/>
          <p:cNvSpPr/>
          <p:nvPr/>
        </p:nvSpPr>
        <p:spPr>
          <a:xfrm>
            <a:off x="9546336" y="1591056"/>
            <a:ext cx="365760" cy="365760"/>
          </a:xfrm>
          <a:prstGeom prst="rect">
            <a:avLst/>
          </a:prstGeom>
          <a:noFill/>
          <a:ln/>
        </p:spPr>
        <p:txBody>
          <a:bodyPr wrap="square" lIns="0" tIns="0" rIns="0" bIns="0" rtlCol="0" anchor="ctr"/>
          <a:lstStyle/>
          <a:p>
            <a:pPr algn="ctr" indent="0" marL="0">
              <a:buNone/>
            </a:pPr>
            <a:r>
              <a:rPr lang="en-US" sz="1120" b="1" dirty="0">
                <a:solidFill>
                  <a:srgbClr val="0A5B5A"/>
                </a:solidFill>
                <a:latin typeface="Cambria" pitchFamily="34" charset="0"/>
                <a:ea typeface="Cambria" pitchFamily="34" charset="-122"/>
                <a:cs typeface="Cambria" pitchFamily="34" charset="-120"/>
              </a:rPr>
              <a:t>M</a:t>
            </a:r>
            <a:endParaRPr lang="en-US" sz="1120" dirty="0"/>
          </a:p>
        </p:txBody>
      </p:sp>
      <p:sp>
        <p:nvSpPr>
          <p:cNvPr id="22" name="Text 17"/>
          <p:cNvSpPr/>
          <p:nvPr/>
        </p:nvSpPr>
        <p:spPr>
          <a:xfrm>
            <a:off x="9546336" y="1993392"/>
            <a:ext cx="2057400" cy="23774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Meta AI</a:t>
            </a:r>
            <a:endParaRPr lang="en-US" sz="1050" dirty="0"/>
          </a:p>
        </p:txBody>
      </p:sp>
      <p:sp>
        <p:nvSpPr>
          <p:cNvPr id="23" name="Text 18"/>
          <p:cNvSpPr/>
          <p:nvPr/>
        </p:nvSpPr>
        <p:spPr>
          <a:xfrm>
            <a:off x="9546336" y="2221992"/>
            <a:ext cx="2057400" cy="384048"/>
          </a:xfrm>
          <a:prstGeom prst="rect">
            <a:avLst/>
          </a:prstGeom>
          <a:noFill/>
          <a:ln/>
        </p:spPr>
        <p:txBody>
          <a:bodyPr wrap="square" lIns="0" tIns="0" rIns="0" bIns="0" rtlCol="0" anchor="ctr"/>
          <a:lstStyle/>
          <a:p>
            <a:pPr indent="0" marL="0">
              <a:lnSpc>
                <a:spcPct val="96000"/>
              </a:lnSpc>
              <a:buNone/>
            </a:pPr>
            <a:r>
              <a:rPr lang="en-US" sz="840" dirty="0">
                <a:solidFill>
                  <a:srgbClr val="46545F"/>
                </a:solidFill>
                <a:latin typeface="Calibri" pitchFamily="34" charset="0"/>
                <a:ea typeface="Calibri" pitchFamily="34" charset="-122"/>
                <a:cs typeface="Calibri" pitchFamily="34" charset="-120"/>
              </a:rPr>
              <a:t>the button inside WhatsApp &amp; Instagram</a:t>
            </a:r>
            <a:endParaRPr lang="en-US" sz="840" dirty="0"/>
          </a:p>
        </p:txBody>
      </p:sp>
      <p:sp>
        <p:nvSpPr>
          <p:cNvPr id="24" name="Shape 19"/>
          <p:cNvSpPr/>
          <p:nvPr/>
        </p:nvSpPr>
        <p:spPr>
          <a:xfrm>
            <a:off x="502920" y="2743200"/>
            <a:ext cx="11155680" cy="1188720"/>
          </a:xfrm>
          <a:prstGeom prst="roundRect">
            <a:avLst>
              <a:gd name="adj" fmla="val 6154"/>
            </a:avLst>
          </a:prstGeom>
          <a:solidFill>
            <a:srgbClr val="E4F0EF"/>
          </a:solidFill>
          <a:ln/>
        </p:spPr>
      </p:sp>
      <p:sp>
        <p:nvSpPr>
          <p:cNvPr id="25" name="Text 20"/>
          <p:cNvSpPr/>
          <p:nvPr/>
        </p:nvSpPr>
        <p:spPr>
          <a:xfrm>
            <a:off x="731520" y="2834640"/>
            <a:ext cx="2148840" cy="1005840"/>
          </a:xfrm>
          <a:prstGeom prst="rect">
            <a:avLst/>
          </a:prstGeom>
          <a:noFill/>
          <a:ln/>
        </p:spPr>
        <p:txBody>
          <a:bodyPr wrap="square" lIns="0" tIns="0" rIns="0" bIns="0" rtlCol="0" anchor="ctr"/>
          <a:lstStyle/>
          <a:p>
            <a:pPr indent="0" marL="0">
              <a:lnSpc>
                <a:spcPct val="102000"/>
              </a:lnSpc>
              <a:buNone/>
            </a:pPr>
            <a:r>
              <a:rPr lang="en-US" sz="1150" b="1" dirty="0">
                <a:solidFill>
                  <a:srgbClr val="0A5B5A"/>
                </a:solidFill>
                <a:latin typeface="Calibri" pitchFamily="34" charset="0"/>
                <a:ea typeface="Calibri" pitchFamily="34" charset="-122"/>
                <a:cs typeface="Calibri" pitchFamily="34" charset="-120"/>
              </a:rPr>
              <a:t>Chosen for the job</a:t>
            </a:r>
            <a:endParaRPr lang="en-US" sz="1150" dirty="0"/>
          </a:p>
          <a:p>
            <a:pPr indent="0" marL="0">
              <a:lnSpc>
                <a:spcPct val="102000"/>
              </a:lnSpc>
              <a:buNone/>
            </a:pPr>
            <a:r>
              <a:rPr lang="en-US" sz="880" i="1" dirty="0">
                <a:solidFill>
                  <a:srgbClr val="7A8790"/>
                </a:solidFill>
                <a:latin typeface="Calibri" pitchFamily="34" charset="0"/>
                <a:ea typeface="Calibri" pitchFamily="34" charset="-122"/>
                <a:cs typeface="Calibri" pitchFamily="34" charset="-120"/>
              </a:rPr>
              <a:t>smaller — picked on quality, growing fastest</a:t>
            </a:r>
            <a:endParaRPr lang="en-US" sz="1150" dirty="0"/>
          </a:p>
        </p:txBody>
      </p:sp>
      <p:sp>
        <p:nvSpPr>
          <p:cNvPr id="26" name="Shape 21"/>
          <p:cNvSpPr/>
          <p:nvPr/>
        </p:nvSpPr>
        <p:spPr>
          <a:xfrm>
            <a:off x="3017520" y="2889504"/>
            <a:ext cx="365760" cy="365760"/>
          </a:xfrm>
          <a:prstGeom prst="roundRect">
            <a:avLst>
              <a:gd name="adj" fmla="val 22500"/>
            </a:avLst>
          </a:prstGeom>
          <a:solidFill>
            <a:srgbClr val="FFFFFF"/>
          </a:solidFill>
          <a:ln w="9525">
            <a:solidFill>
              <a:srgbClr val="DCE3E6"/>
            </a:solidFill>
            <a:prstDash val="solid"/>
          </a:ln>
        </p:spPr>
      </p:sp>
      <p:pic>
        <p:nvPicPr>
          <p:cNvPr id="27" name="Image 3" descr="/home/user/Claude-Works/ai-training-prompt-engineering/src/assets/logos/claude.png">    </p:cNvPr>
          <p:cNvPicPr>
            <a:picLocks noChangeAspect="1"/>
          </p:cNvPicPr>
          <p:nvPr/>
        </p:nvPicPr>
        <p:blipFill>
          <a:blip r:embed="rId4"/>
          <a:stretch>
            <a:fillRect/>
          </a:stretch>
        </p:blipFill>
        <p:spPr>
          <a:xfrm>
            <a:off x="3068726" y="2940710"/>
            <a:ext cx="263347" cy="263347"/>
          </a:xfrm>
          <a:prstGeom prst="rect">
            <a:avLst/>
          </a:prstGeom>
        </p:spPr>
      </p:pic>
      <p:sp>
        <p:nvSpPr>
          <p:cNvPr id="28" name="Text 22"/>
          <p:cNvSpPr/>
          <p:nvPr/>
        </p:nvSpPr>
        <p:spPr>
          <a:xfrm>
            <a:off x="3017520" y="3291840"/>
            <a:ext cx="2057400" cy="23774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Claude</a:t>
            </a:r>
            <a:endParaRPr lang="en-US" sz="1050" dirty="0"/>
          </a:p>
        </p:txBody>
      </p:sp>
      <p:sp>
        <p:nvSpPr>
          <p:cNvPr id="29" name="Text 23"/>
          <p:cNvSpPr/>
          <p:nvPr/>
        </p:nvSpPr>
        <p:spPr>
          <a:xfrm>
            <a:off x="3017520" y="3520440"/>
            <a:ext cx="2057400" cy="384048"/>
          </a:xfrm>
          <a:prstGeom prst="rect">
            <a:avLst/>
          </a:prstGeom>
          <a:noFill/>
          <a:ln/>
        </p:spPr>
        <p:txBody>
          <a:bodyPr wrap="square" lIns="0" tIns="0" rIns="0" bIns="0" rtlCol="0" anchor="ctr"/>
          <a:lstStyle/>
          <a:p>
            <a:pPr indent="0" marL="0">
              <a:lnSpc>
                <a:spcPct val="96000"/>
              </a:lnSpc>
              <a:buNone/>
            </a:pPr>
            <a:r>
              <a:rPr lang="en-US" sz="840" dirty="0">
                <a:solidFill>
                  <a:srgbClr val="46545F"/>
                </a:solidFill>
                <a:latin typeface="Calibri" pitchFamily="34" charset="0"/>
                <a:ea typeface="Calibri" pitchFamily="34" charset="-122"/>
                <a:cs typeface="Calibri" pitchFamily="34" charset="-120"/>
              </a:rPr>
              <a:t>writing &amp; coding — visits up ~9× in a year</a:t>
            </a:r>
            <a:endParaRPr lang="en-US" sz="840" dirty="0"/>
          </a:p>
        </p:txBody>
      </p:sp>
      <p:sp>
        <p:nvSpPr>
          <p:cNvPr id="30" name="Shape 24"/>
          <p:cNvSpPr/>
          <p:nvPr/>
        </p:nvSpPr>
        <p:spPr>
          <a:xfrm>
            <a:off x="5193792" y="2889504"/>
            <a:ext cx="365760" cy="365760"/>
          </a:xfrm>
          <a:prstGeom prst="roundRect">
            <a:avLst>
              <a:gd name="adj" fmla="val 22500"/>
            </a:avLst>
          </a:prstGeom>
          <a:solidFill>
            <a:srgbClr val="FFFFFF"/>
          </a:solidFill>
          <a:ln w="9525">
            <a:solidFill>
              <a:srgbClr val="DCE3E6"/>
            </a:solidFill>
            <a:prstDash val="solid"/>
          </a:ln>
        </p:spPr>
      </p:sp>
      <p:pic>
        <p:nvPicPr>
          <p:cNvPr id="31" name="Image 4" descr="/home/user/Claude-Works/ai-training-prompt-engineering/src/assets/logos/perplexity.png">    </p:cNvPr>
          <p:cNvPicPr>
            <a:picLocks noChangeAspect="1"/>
          </p:cNvPicPr>
          <p:nvPr/>
        </p:nvPicPr>
        <p:blipFill>
          <a:blip r:embed="rId5"/>
          <a:stretch>
            <a:fillRect/>
          </a:stretch>
        </p:blipFill>
        <p:spPr>
          <a:xfrm>
            <a:off x="5244998" y="2940710"/>
            <a:ext cx="263347" cy="263347"/>
          </a:xfrm>
          <a:prstGeom prst="rect">
            <a:avLst/>
          </a:prstGeom>
        </p:spPr>
      </p:pic>
      <p:sp>
        <p:nvSpPr>
          <p:cNvPr id="32" name="Text 25"/>
          <p:cNvSpPr/>
          <p:nvPr/>
        </p:nvSpPr>
        <p:spPr>
          <a:xfrm>
            <a:off x="5193792" y="3291840"/>
            <a:ext cx="2057400" cy="23774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Perplexity</a:t>
            </a:r>
            <a:endParaRPr lang="en-US" sz="1050" dirty="0"/>
          </a:p>
        </p:txBody>
      </p:sp>
      <p:sp>
        <p:nvSpPr>
          <p:cNvPr id="33" name="Text 26"/>
          <p:cNvSpPr/>
          <p:nvPr/>
        </p:nvSpPr>
        <p:spPr>
          <a:xfrm>
            <a:off x="5193792" y="3520440"/>
            <a:ext cx="2057400" cy="384048"/>
          </a:xfrm>
          <a:prstGeom prst="rect">
            <a:avLst/>
          </a:prstGeom>
          <a:noFill/>
          <a:ln/>
        </p:spPr>
        <p:txBody>
          <a:bodyPr wrap="square" lIns="0" tIns="0" rIns="0" bIns="0" rtlCol="0" anchor="ctr"/>
          <a:lstStyle/>
          <a:p>
            <a:pPr indent="0" marL="0">
              <a:lnSpc>
                <a:spcPct val="96000"/>
              </a:lnSpc>
              <a:buNone/>
            </a:pPr>
            <a:r>
              <a:rPr lang="en-US" sz="840" dirty="0">
                <a:solidFill>
                  <a:srgbClr val="46545F"/>
                </a:solidFill>
                <a:latin typeface="Calibri" pitchFamily="34" charset="0"/>
                <a:ea typeface="Calibri" pitchFamily="34" charset="-122"/>
                <a:cs typeface="Calibri" pitchFamily="34" charset="-120"/>
              </a:rPr>
              <a:t>answers with sources — the search replacement</a:t>
            </a:r>
            <a:endParaRPr lang="en-US" sz="840" dirty="0"/>
          </a:p>
        </p:txBody>
      </p:sp>
      <p:sp>
        <p:nvSpPr>
          <p:cNvPr id="34" name="Shape 27"/>
          <p:cNvSpPr/>
          <p:nvPr/>
        </p:nvSpPr>
        <p:spPr>
          <a:xfrm>
            <a:off x="7370064" y="2889504"/>
            <a:ext cx="365760" cy="365760"/>
          </a:xfrm>
          <a:prstGeom prst="roundRect">
            <a:avLst>
              <a:gd name="adj" fmla="val 22500"/>
            </a:avLst>
          </a:prstGeom>
          <a:solidFill>
            <a:srgbClr val="FFFFFF"/>
          </a:solidFill>
          <a:ln w="9525">
            <a:solidFill>
              <a:srgbClr val="DCE3E6"/>
            </a:solidFill>
            <a:prstDash val="solid"/>
          </a:ln>
        </p:spPr>
      </p:sp>
      <p:pic>
        <p:nvPicPr>
          <p:cNvPr id="35" name="Image 5" descr="/home/user/Claude-Works/ai-training-prompt-engineering/src/assets/logos/google.png">    </p:cNvPr>
          <p:cNvPicPr>
            <a:picLocks noChangeAspect="1"/>
          </p:cNvPicPr>
          <p:nvPr/>
        </p:nvPicPr>
        <p:blipFill>
          <a:blip r:embed="rId6"/>
          <a:stretch>
            <a:fillRect/>
          </a:stretch>
        </p:blipFill>
        <p:spPr>
          <a:xfrm>
            <a:off x="7421270" y="2940710"/>
            <a:ext cx="263347" cy="263347"/>
          </a:xfrm>
          <a:prstGeom prst="rect">
            <a:avLst/>
          </a:prstGeom>
        </p:spPr>
      </p:pic>
      <p:sp>
        <p:nvSpPr>
          <p:cNvPr id="36" name="Text 28"/>
          <p:cNvSpPr/>
          <p:nvPr/>
        </p:nvSpPr>
        <p:spPr>
          <a:xfrm>
            <a:off x="7370064" y="3291840"/>
            <a:ext cx="2057400" cy="23774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Gemini Notebook</a:t>
            </a:r>
            <a:endParaRPr lang="en-US" sz="1050" dirty="0"/>
          </a:p>
        </p:txBody>
      </p:sp>
      <p:sp>
        <p:nvSpPr>
          <p:cNvPr id="37" name="Text 29"/>
          <p:cNvSpPr/>
          <p:nvPr/>
        </p:nvSpPr>
        <p:spPr>
          <a:xfrm>
            <a:off x="7370064" y="3520440"/>
            <a:ext cx="2057400" cy="384048"/>
          </a:xfrm>
          <a:prstGeom prst="rect">
            <a:avLst/>
          </a:prstGeom>
          <a:noFill/>
          <a:ln/>
        </p:spPr>
        <p:txBody>
          <a:bodyPr wrap="square" lIns="0" tIns="0" rIns="0" bIns="0" rtlCol="0" anchor="ctr"/>
          <a:lstStyle/>
          <a:p>
            <a:pPr indent="0" marL="0">
              <a:lnSpc>
                <a:spcPct val="96000"/>
              </a:lnSpc>
              <a:buNone/>
            </a:pPr>
            <a:r>
              <a:rPr lang="en-US" sz="840" dirty="0">
                <a:solidFill>
                  <a:srgbClr val="46545F"/>
                </a:solidFill>
                <a:latin typeface="Calibri" pitchFamily="34" charset="0"/>
                <a:ea typeface="Calibri" pitchFamily="34" charset="-122"/>
                <a:cs typeface="Calibri" pitchFamily="34" charset="-120"/>
              </a:rPr>
              <a:t>answers from YOUR documents only</a:t>
            </a:r>
            <a:endParaRPr lang="en-US" sz="840" dirty="0"/>
          </a:p>
        </p:txBody>
      </p:sp>
      <p:sp>
        <p:nvSpPr>
          <p:cNvPr id="38" name="Shape 30"/>
          <p:cNvSpPr/>
          <p:nvPr/>
        </p:nvSpPr>
        <p:spPr>
          <a:xfrm>
            <a:off x="9546336" y="2889504"/>
            <a:ext cx="365760" cy="365760"/>
          </a:xfrm>
          <a:prstGeom prst="roundRect">
            <a:avLst>
              <a:gd name="adj" fmla="val 22500"/>
            </a:avLst>
          </a:prstGeom>
          <a:solidFill>
            <a:srgbClr val="FFFFFF"/>
          </a:solidFill>
          <a:ln w="9525">
            <a:solidFill>
              <a:srgbClr val="DCE3E6"/>
            </a:solidFill>
            <a:prstDash val="solid"/>
          </a:ln>
        </p:spPr>
      </p:sp>
      <p:pic>
        <p:nvPicPr>
          <p:cNvPr id="39" name="Image 6" descr="/home/user/Claude-Works/ai-training-prompt-engineering/src/assets/logos/deepseek.png">    </p:cNvPr>
          <p:cNvPicPr>
            <a:picLocks noChangeAspect="1"/>
          </p:cNvPicPr>
          <p:nvPr/>
        </p:nvPicPr>
        <p:blipFill>
          <a:blip r:embed="rId7"/>
          <a:stretch>
            <a:fillRect/>
          </a:stretch>
        </p:blipFill>
        <p:spPr>
          <a:xfrm>
            <a:off x="9597542" y="2940710"/>
            <a:ext cx="263347" cy="263347"/>
          </a:xfrm>
          <a:prstGeom prst="rect">
            <a:avLst/>
          </a:prstGeom>
        </p:spPr>
      </p:pic>
      <p:sp>
        <p:nvSpPr>
          <p:cNvPr id="40" name="Text 31"/>
          <p:cNvSpPr/>
          <p:nvPr/>
        </p:nvSpPr>
        <p:spPr>
          <a:xfrm>
            <a:off x="9546336" y="3291840"/>
            <a:ext cx="2057400" cy="23774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DeepSeek</a:t>
            </a:r>
            <a:endParaRPr lang="en-US" sz="1050" dirty="0"/>
          </a:p>
        </p:txBody>
      </p:sp>
      <p:sp>
        <p:nvSpPr>
          <p:cNvPr id="41" name="Text 32"/>
          <p:cNvSpPr/>
          <p:nvPr/>
        </p:nvSpPr>
        <p:spPr>
          <a:xfrm>
            <a:off x="9546336" y="3520440"/>
            <a:ext cx="2057400" cy="384048"/>
          </a:xfrm>
          <a:prstGeom prst="rect">
            <a:avLst/>
          </a:prstGeom>
          <a:noFill/>
          <a:ln/>
        </p:spPr>
        <p:txBody>
          <a:bodyPr wrap="square" lIns="0" tIns="0" rIns="0" bIns="0" rtlCol="0" anchor="ctr"/>
          <a:lstStyle/>
          <a:p>
            <a:pPr indent="0" marL="0">
              <a:lnSpc>
                <a:spcPct val="96000"/>
              </a:lnSpc>
              <a:buNone/>
            </a:pPr>
            <a:r>
              <a:rPr lang="en-US" sz="840" dirty="0">
                <a:solidFill>
                  <a:srgbClr val="46545F"/>
                </a:solidFill>
                <a:latin typeface="Calibri" pitchFamily="34" charset="0"/>
                <a:ea typeface="Calibri" pitchFamily="34" charset="-122"/>
                <a:cs typeface="Calibri" pitchFamily="34" charset="-120"/>
              </a:rPr>
              <a:t>free, capable, open — huge in Asia</a:t>
            </a:r>
            <a:endParaRPr lang="en-US" sz="840" dirty="0"/>
          </a:p>
        </p:txBody>
      </p:sp>
      <p:sp>
        <p:nvSpPr>
          <p:cNvPr id="42" name="Shape 33"/>
          <p:cNvSpPr/>
          <p:nvPr/>
        </p:nvSpPr>
        <p:spPr>
          <a:xfrm>
            <a:off x="502920" y="4041648"/>
            <a:ext cx="11155680" cy="1188720"/>
          </a:xfrm>
          <a:prstGeom prst="roundRect">
            <a:avLst>
              <a:gd name="adj" fmla="val 6154"/>
            </a:avLst>
          </a:prstGeom>
          <a:solidFill>
            <a:srgbClr val="F2F5F6"/>
          </a:solidFill>
          <a:ln/>
        </p:spPr>
      </p:sp>
      <p:sp>
        <p:nvSpPr>
          <p:cNvPr id="43" name="Text 34"/>
          <p:cNvSpPr/>
          <p:nvPr/>
        </p:nvSpPr>
        <p:spPr>
          <a:xfrm>
            <a:off x="731520" y="4133088"/>
            <a:ext cx="2148840" cy="1005840"/>
          </a:xfrm>
          <a:prstGeom prst="rect">
            <a:avLst/>
          </a:prstGeom>
          <a:noFill/>
          <a:ln/>
        </p:spPr>
        <p:txBody>
          <a:bodyPr wrap="square" lIns="0" tIns="0" rIns="0" bIns="0" rtlCol="0" anchor="ctr"/>
          <a:lstStyle/>
          <a:p>
            <a:pPr indent="0" marL="0">
              <a:lnSpc>
                <a:spcPct val="102000"/>
              </a:lnSpc>
              <a:buNone/>
            </a:pPr>
            <a:r>
              <a:rPr lang="en-US" sz="1150" b="1" dirty="0">
                <a:solidFill>
                  <a:srgbClr val="0A5B5A"/>
                </a:solidFill>
                <a:latin typeface="Calibri" pitchFamily="34" charset="0"/>
                <a:ea typeface="Calibri" pitchFamily="34" charset="-122"/>
                <a:cs typeface="Calibri" pitchFamily="34" charset="-120"/>
              </a:rPr>
              <a:t>AI came to tools you already had</a:t>
            </a:r>
            <a:endParaRPr lang="en-US" sz="1150" dirty="0"/>
          </a:p>
          <a:p>
            <a:pPr indent="0" marL="0">
              <a:lnSpc>
                <a:spcPct val="102000"/>
              </a:lnSpc>
              <a:buNone/>
            </a:pPr>
            <a:r>
              <a:rPr lang="en-US" sz="880" i="1" dirty="0">
                <a:solidFill>
                  <a:srgbClr val="7A8790"/>
                </a:solidFill>
                <a:latin typeface="Calibri" pitchFamily="34" charset="0"/>
                <a:ea typeface="Calibri" pitchFamily="34" charset="-122"/>
                <a:cs typeface="Calibri" pitchFamily="34" charset="-120"/>
              </a:rPr>
              <a:t>you may be an AI user without noticing</a:t>
            </a:r>
            <a:endParaRPr lang="en-US" sz="1150" dirty="0"/>
          </a:p>
        </p:txBody>
      </p:sp>
      <p:sp>
        <p:nvSpPr>
          <p:cNvPr id="44" name="Shape 35"/>
          <p:cNvSpPr/>
          <p:nvPr/>
        </p:nvSpPr>
        <p:spPr>
          <a:xfrm>
            <a:off x="3017520" y="4187952"/>
            <a:ext cx="365760" cy="365760"/>
          </a:xfrm>
          <a:prstGeom prst="roundRect">
            <a:avLst>
              <a:gd name="adj" fmla="val 22500"/>
            </a:avLst>
          </a:prstGeom>
          <a:solidFill>
            <a:srgbClr val="FFFFFF"/>
          </a:solidFill>
          <a:ln w="9525">
            <a:solidFill>
              <a:srgbClr val="DCE3E6"/>
            </a:solidFill>
            <a:prstDash val="solid"/>
          </a:ln>
        </p:spPr>
      </p:sp>
      <p:pic>
        <p:nvPicPr>
          <p:cNvPr id="45" name="Image 7" descr="/home/user/Claude-Works/ai-training-prompt-engineering/src/assets/logos/canva.png">    </p:cNvPr>
          <p:cNvPicPr>
            <a:picLocks noChangeAspect="1"/>
          </p:cNvPicPr>
          <p:nvPr/>
        </p:nvPicPr>
        <p:blipFill>
          <a:blip r:embed="rId8"/>
          <a:stretch>
            <a:fillRect/>
          </a:stretch>
        </p:blipFill>
        <p:spPr>
          <a:xfrm>
            <a:off x="3068726" y="4239158"/>
            <a:ext cx="263347" cy="263347"/>
          </a:xfrm>
          <a:prstGeom prst="rect">
            <a:avLst/>
          </a:prstGeom>
        </p:spPr>
      </p:pic>
      <p:sp>
        <p:nvSpPr>
          <p:cNvPr id="46" name="Text 36"/>
          <p:cNvSpPr/>
          <p:nvPr/>
        </p:nvSpPr>
        <p:spPr>
          <a:xfrm>
            <a:off x="3017520" y="4590288"/>
            <a:ext cx="2057400" cy="23774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Canva</a:t>
            </a:r>
            <a:endParaRPr lang="en-US" sz="1050" dirty="0"/>
          </a:p>
        </p:txBody>
      </p:sp>
      <p:sp>
        <p:nvSpPr>
          <p:cNvPr id="47" name="Text 37"/>
          <p:cNvSpPr/>
          <p:nvPr/>
        </p:nvSpPr>
        <p:spPr>
          <a:xfrm>
            <a:off x="3017520" y="4818888"/>
            <a:ext cx="2057400" cy="384048"/>
          </a:xfrm>
          <a:prstGeom prst="rect">
            <a:avLst/>
          </a:prstGeom>
          <a:noFill/>
          <a:ln/>
        </p:spPr>
        <p:txBody>
          <a:bodyPr wrap="square" lIns="0" tIns="0" rIns="0" bIns="0" rtlCol="0" anchor="ctr"/>
          <a:lstStyle/>
          <a:p>
            <a:pPr indent="0" marL="0">
              <a:lnSpc>
                <a:spcPct val="96000"/>
              </a:lnSpc>
              <a:buNone/>
            </a:pPr>
            <a:r>
              <a:rPr lang="en-US" sz="840" dirty="0">
                <a:solidFill>
                  <a:srgbClr val="46545F"/>
                </a:solidFill>
                <a:latin typeface="Calibri" pitchFamily="34" charset="0"/>
                <a:ea typeface="Calibri" pitchFamily="34" charset="-122"/>
                <a:cs typeface="Calibri" pitchFamily="34" charset="-120"/>
              </a:rPr>
              <a:t>the design suite grew an AI brain</a:t>
            </a:r>
            <a:endParaRPr lang="en-US" sz="840" dirty="0"/>
          </a:p>
        </p:txBody>
      </p:sp>
      <p:sp>
        <p:nvSpPr>
          <p:cNvPr id="48" name="Shape 38"/>
          <p:cNvSpPr/>
          <p:nvPr/>
        </p:nvSpPr>
        <p:spPr>
          <a:xfrm>
            <a:off x="5193792" y="4187952"/>
            <a:ext cx="365760" cy="365760"/>
          </a:xfrm>
          <a:prstGeom prst="roundRect">
            <a:avLst>
              <a:gd name="adj" fmla="val 22500"/>
            </a:avLst>
          </a:prstGeom>
          <a:solidFill>
            <a:srgbClr val="FFFFFF"/>
          </a:solidFill>
          <a:ln w="9525">
            <a:solidFill>
              <a:srgbClr val="DCE3E6"/>
            </a:solidFill>
            <a:prstDash val="solid"/>
          </a:ln>
        </p:spPr>
      </p:sp>
      <p:sp>
        <p:nvSpPr>
          <p:cNvPr id="49" name="Text 39"/>
          <p:cNvSpPr/>
          <p:nvPr/>
        </p:nvSpPr>
        <p:spPr>
          <a:xfrm>
            <a:off x="5193792" y="4187952"/>
            <a:ext cx="365760" cy="365760"/>
          </a:xfrm>
          <a:prstGeom prst="rect">
            <a:avLst/>
          </a:prstGeom>
          <a:noFill/>
          <a:ln/>
        </p:spPr>
        <p:txBody>
          <a:bodyPr wrap="square" lIns="0" tIns="0" rIns="0" bIns="0" rtlCol="0" anchor="ctr"/>
          <a:lstStyle/>
          <a:p>
            <a:pPr algn="ctr" indent="0" marL="0">
              <a:buNone/>
            </a:pPr>
            <a:r>
              <a:rPr lang="en-US" sz="1120" b="1" dirty="0">
                <a:solidFill>
                  <a:srgbClr val="0A5B5A"/>
                </a:solidFill>
                <a:latin typeface="Cambria" pitchFamily="34" charset="0"/>
                <a:ea typeface="Cambria" pitchFamily="34" charset="-122"/>
                <a:cs typeface="Cambria" pitchFamily="34" charset="-120"/>
              </a:rPr>
              <a:t>C</a:t>
            </a:r>
            <a:endParaRPr lang="en-US" sz="1120" dirty="0"/>
          </a:p>
        </p:txBody>
      </p:sp>
      <p:sp>
        <p:nvSpPr>
          <p:cNvPr id="50" name="Text 40"/>
          <p:cNvSpPr/>
          <p:nvPr/>
        </p:nvSpPr>
        <p:spPr>
          <a:xfrm>
            <a:off x="5193792" y="4590288"/>
            <a:ext cx="2057400" cy="23774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CapCut</a:t>
            </a:r>
            <a:endParaRPr lang="en-US" sz="1050" dirty="0"/>
          </a:p>
        </p:txBody>
      </p:sp>
      <p:sp>
        <p:nvSpPr>
          <p:cNvPr id="51" name="Text 41"/>
          <p:cNvSpPr/>
          <p:nvPr/>
        </p:nvSpPr>
        <p:spPr>
          <a:xfrm>
            <a:off x="5193792" y="4818888"/>
            <a:ext cx="2057400" cy="384048"/>
          </a:xfrm>
          <a:prstGeom prst="rect">
            <a:avLst/>
          </a:prstGeom>
          <a:noFill/>
          <a:ln/>
        </p:spPr>
        <p:txBody>
          <a:bodyPr wrap="square" lIns="0" tIns="0" rIns="0" bIns="0" rtlCol="0" anchor="ctr"/>
          <a:lstStyle/>
          <a:p>
            <a:pPr indent="0" marL="0">
              <a:lnSpc>
                <a:spcPct val="96000"/>
              </a:lnSpc>
              <a:buNone/>
            </a:pPr>
            <a:r>
              <a:rPr lang="en-US" sz="840" dirty="0">
                <a:solidFill>
                  <a:srgbClr val="46545F"/>
                </a:solidFill>
                <a:latin typeface="Calibri" pitchFamily="34" charset="0"/>
                <a:ea typeface="Calibri" pitchFamily="34" charset="-122"/>
                <a:cs typeface="Calibri" pitchFamily="34" charset="-120"/>
              </a:rPr>
              <a:t>736M users — video editing, AI inside</a:t>
            </a:r>
            <a:endParaRPr lang="en-US" sz="840" dirty="0"/>
          </a:p>
        </p:txBody>
      </p:sp>
      <p:sp>
        <p:nvSpPr>
          <p:cNvPr id="52" name="Shape 42"/>
          <p:cNvSpPr/>
          <p:nvPr/>
        </p:nvSpPr>
        <p:spPr>
          <a:xfrm>
            <a:off x="7370064" y="4187952"/>
            <a:ext cx="365760" cy="365760"/>
          </a:xfrm>
          <a:prstGeom prst="roundRect">
            <a:avLst>
              <a:gd name="adj" fmla="val 22500"/>
            </a:avLst>
          </a:prstGeom>
          <a:solidFill>
            <a:srgbClr val="FFFFFF"/>
          </a:solidFill>
          <a:ln w="9525">
            <a:solidFill>
              <a:srgbClr val="DCE3E6"/>
            </a:solidFill>
            <a:prstDash val="solid"/>
          </a:ln>
        </p:spPr>
      </p:sp>
      <p:pic>
        <p:nvPicPr>
          <p:cNvPr id="53" name="Image 8" descr="/home/user/Claude-Works/ai-training-prompt-engineering/src/assets/logos/notion.png">    </p:cNvPr>
          <p:cNvPicPr>
            <a:picLocks noChangeAspect="1"/>
          </p:cNvPicPr>
          <p:nvPr/>
        </p:nvPicPr>
        <p:blipFill>
          <a:blip r:embed="rId9"/>
          <a:stretch>
            <a:fillRect/>
          </a:stretch>
        </p:blipFill>
        <p:spPr>
          <a:xfrm>
            <a:off x="7421270" y="4239158"/>
            <a:ext cx="263347" cy="263347"/>
          </a:xfrm>
          <a:prstGeom prst="rect">
            <a:avLst/>
          </a:prstGeom>
        </p:spPr>
      </p:pic>
      <p:sp>
        <p:nvSpPr>
          <p:cNvPr id="54" name="Text 43"/>
          <p:cNvSpPr/>
          <p:nvPr/>
        </p:nvSpPr>
        <p:spPr>
          <a:xfrm>
            <a:off x="7370064" y="4590288"/>
            <a:ext cx="2057400" cy="23774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Notion</a:t>
            </a:r>
            <a:endParaRPr lang="en-US" sz="1050" dirty="0"/>
          </a:p>
        </p:txBody>
      </p:sp>
      <p:sp>
        <p:nvSpPr>
          <p:cNvPr id="55" name="Text 44"/>
          <p:cNvSpPr/>
          <p:nvPr/>
        </p:nvSpPr>
        <p:spPr>
          <a:xfrm>
            <a:off x="7370064" y="4818888"/>
            <a:ext cx="2057400" cy="384048"/>
          </a:xfrm>
          <a:prstGeom prst="rect">
            <a:avLst/>
          </a:prstGeom>
          <a:noFill/>
          <a:ln/>
        </p:spPr>
        <p:txBody>
          <a:bodyPr wrap="square" lIns="0" tIns="0" rIns="0" bIns="0" rtlCol="0" anchor="ctr"/>
          <a:lstStyle/>
          <a:p>
            <a:pPr indent="0" marL="0">
              <a:lnSpc>
                <a:spcPct val="96000"/>
              </a:lnSpc>
              <a:buNone/>
            </a:pPr>
            <a:r>
              <a:rPr lang="en-US" sz="840" dirty="0">
                <a:solidFill>
                  <a:srgbClr val="46545F"/>
                </a:solidFill>
                <a:latin typeface="Calibri" pitchFamily="34" charset="0"/>
                <a:ea typeface="Calibri" pitchFamily="34" charset="-122"/>
                <a:cs typeface="Calibri" pitchFamily="34" charset="-120"/>
              </a:rPr>
              <a:t>notes &amp; docs that draft themselves</a:t>
            </a:r>
            <a:endParaRPr lang="en-US" sz="840" dirty="0"/>
          </a:p>
        </p:txBody>
      </p:sp>
      <p:sp>
        <p:nvSpPr>
          <p:cNvPr id="56" name="Shape 45"/>
          <p:cNvSpPr/>
          <p:nvPr/>
        </p:nvSpPr>
        <p:spPr>
          <a:xfrm>
            <a:off x="9546336" y="4187952"/>
            <a:ext cx="365760" cy="365760"/>
          </a:xfrm>
          <a:prstGeom prst="roundRect">
            <a:avLst>
              <a:gd name="adj" fmla="val 22500"/>
            </a:avLst>
          </a:prstGeom>
          <a:solidFill>
            <a:srgbClr val="FFFFFF"/>
          </a:solidFill>
          <a:ln w="9525">
            <a:solidFill>
              <a:srgbClr val="DCE3E6"/>
            </a:solidFill>
            <a:prstDash val="solid"/>
          </a:ln>
        </p:spPr>
      </p:sp>
      <p:sp>
        <p:nvSpPr>
          <p:cNvPr id="57" name="Text 46"/>
          <p:cNvSpPr/>
          <p:nvPr/>
        </p:nvSpPr>
        <p:spPr>
          <a:xfrm>
            <a:off x="9546336" y="4187952"/>
            <a:ext cx="365760" cy="365760"/>
          </a:xfrm>
          <a:prstGeom prst="rect">
            <a:avLst/>
          </a:prstGeom>
          <a:noFill/>
          <a:ln/>
        </p:spPr>
        <p:txBody>
          <a:bodyPr wrap="square" lIns="0" tIns="0" rIns="0" bIns="0" rtlCol="0" anchor="ctr"/>
          <a:lstStyle/>
          <a:p>
            <a:pPr algn="ctr" indent="0" marL="0">
              <a:buNone/>
            </a:pPr>
            <a:r>
              <a:rPr lang="en-US" sz="1120" b="1" dirty="0">
                <a:solidFill>
                  <a:srgbClr val="0A5B5A"/>
                </a:solidFill>
                <a:latin typeface="Cambria" pitchFamily="34" charset="0"/>
                <a:ea typeface="Cambria" pitchFamily="34" charset="-122"/>
                <a:cs typeface="Cambria" pitchFamily="34" charset="-120"/>
              </a:rPr>
              <a:t>G</a:t>
            </a:r>
            <a:endParaRPr lang="en-US" sz="1120" dirty="0"/>
          </a:p>
        </p:txBody>
      </p:sp>
      <p:sp>
        <p:nvSpPr>
          <p:cNvPr id="58" name="Text 47"/>
          <p:cNvSpPr/>
          <p:nvPr/>
        </p:nvSpPr>
        <p:spPr>
          <a:xfrm>
            <a:off x="9546336" y="4590288"/>
            <a:ext cx="2057400" cy="23774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Grammarly</a:t>
            </a:r>
            <a:endParaRPr lang="en-US" sz="1050" dirty="0"/>
          </a:p>
        </p:txBody>
      </p:sp>
      <p:sp>
        <p:nvSpPr>
          <p:cNvPr id="59" name="Text 48"/>
          <p:cNvSpPr/>
          <p:nvPr/>
        </p:nvSpPr>
        <p:spPr>
          <a:xfrm>
            <a:off x="9546336" y="4818888"/>
            <a:ext cx="2057400" cy="384048"/>
          </a:xfrm>
          <a:prstGeom prst="rect">
            <a:avLst/>
          </a:prstGeom>
          <a:noFill/>
          <a:ln/>
        </p:spPr>
        <p:txBody>
          <a:bodyPr wrap="square" lIns="0" tIns="0" rIns="0" bIns="0" rtlCol="0" anchor="ctr"/>
          <a:lstStyle/>
          <a:p>
            <a:pPr indent="0" marL="0">
              <a:lnSpc>
                <a:spcPct val="96000"/>
              </a:lnSpc>
              <a:buNone/>
            </a:pPr>
            <a:r>
              <a:rPr lang="en-US" sz="840" dirty="0">
                <a:solidFill>
                  <a:srgbClr val="46545F"/>
                </a:solidFill>
                <a:latin typeface="Calibri" pitchFamily="34" charset="0"/>
                <a:ea typeface="Calibri" pitchFamily="34" charset="-122"/>
                <a:cs typeface="Calibri" pitchFamily="34" charset="-120"/>
              </a:rPr>
              <a:t>the quiet writing fixer, everywhere</a:t>
            </a:r>
            <a:endParaRPr lang="en-US" sz="840" dirty="0"/>
          </a:p>
        </p:txBody>
      </p:sp>
      <p:sp>
        <p:nvSpPr>
          <p:cNvPr id="60" name="Shape 49"/>
          <p:cNvSpPr/>
          <p:nvPr/>
        </p:nvSpPr>
        <p:spPr>
          <a:xfrm>
            <a:off x="502920" y="5394960"/>
            <a:ext cx="11155680" cy="566928"/>
          </a:xfrm>
          <a:prstGeom prst="roundRect">
            <a:avLst>
              <a:gd name="adj" fmla="val 12903"/>
            </a:avLst>
          </a:prstGeom>
          <a:solidFill>
            <a:srgbClr val="F2F5F6"/>
          </a:solidFill>
          <a:ln/>
        </p:spPr>
      </p:sp>
      <p:sp>
        <p:nvSpPr>
          <p:cNvPr id="61" name="Text 50"/>
          <p:cNvSpPr/>
          <p:nvPr/>
        </p:nvSpPr>
        <p:spPr>
          <a:xfrm>
            <a:off x="777240" y="5468112"/>
            <a:ext cx="10607040" cy="438912"/>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52% of US employees use AI at work — 15% daily (Gallup, May ’26)   ·   </a:t>
            </a:r>
            <a:pPr indent="0" marL="0">
              <a:buNone/>
            </a:pPr>
            <a:r>
              <a:rPr lang="en-US" sz="1050" dirty="0">
                <a:solidFill>
                  <a:srgbClr val="46545F"/>
                </a:solidFill>
                <a:latin typeface="Calibri" pitchFamily="34" charset="0"/>
                <a:ea typeface="Calibri" pitchFamily="34" charset="-122"/>
                <a:cs typeface="Calibri" pitchFamily="34" charset="-120"/>
              </a:rPr>
              <a:t>top jobs: writing 51% · research 49%   ·   86% treat AI output as a first draft, not a final product (Microsoft, 2026)</a:t>
            </a:r>
            <a:endParaRPr lang="en-US" sz="1050" dirty="0"/>
          </a:p>
        </p:txBody>
      </p:sp>
      <p:sp>
        <p:nvSpPr>
          <p:cNvPr id="62" name="Shape 51"/>
          <p:cNvSpPr/>
          <p:nvPr/>
        </p:nvSpPr>
        <p:spPr>
          <a:xfrm>
            <a:off x="502920" y="6053328"/>
            <a:ext cx="11155680" cy="475488"/>
          </a:xfrm>
          <a:prstGeom prst="roundRect">
            <a:avLst>
              <a:gd name="adj" fmla="val 15385"/>
            </a:avLst>
          </a:prstGeom>
          <a:solidFill>
            <a:srgbClr val="FBF0E0"/>
          </a:solidFill>
          <a:ln/>
        </p:spPr>
      </p:sp>
      <p:sp>
        <p:nvSpPr>
          <p:cNvPr id="63" name="Shape 52"/>
          <p:cNvSpPr/>
          <p:nvPr/>
        </p:nvSpPr>
        <p:spPr>
          <a:xfrm>
            <a:off x="667512" y="6099048"/>
            <a:ext cx="384048" cy="384048"/>
          </a:xfrm>
          <a:prstGeom prst="ellipse">
            <a:avLst/>
          </a:prstGeom>
          <a:solidFill>
            <a:srgbClr val="B96A1B"/>
          </a:solidFill>
          <a:ln/>
        </p:spPr>
      </p:sp>
      <p:pic>
        <p:nvPicPr>
          <p:cNvPr id="64" name="Image 9" descr="/home/user/Claude-Works/ai-training-prompt-engineering/src/assets/icons/shield_w.png">    </p:cNvPr>
          <p:cNvPicPr>
            <a:picLocks noChangeAspect="1"/>
          </p:cNvPicPr>
          <p:nvPr/>
        </p:nvPicPr>
        <p:blipFill>
          <a:blip r:embed="rId10"/>
          <a:stretch>
            <a:fillRect/>
          </a:stretch>
        </p:blipFill>
        <p:spPr>
          <a:xfrm>
            <a:off x="767364" y="6198900"/>
            <a:ext cx="184343" cy="184343"/>
          </a:xfrm>
          <a:prstGeom prst="rect">
            <a:avLst/>
          </a:prstGeom>
        </p:spPr>
      </p:pic>
      <p:sp>
        <p:nvSpPr>
          <p:cNvPr id="65" name="Text 53"/>
          <p:cNvSpPr/>
          <p:nvPr/>
        </p:nvSpPr>
        <p:spPr>
          <a:xfrm>
            <a:off x="1216152" y="6126480"/>
            <a:ext cx="10213848" cy="329184"/>
          </a:xfrm>
          <a:prstGeom prst="rect">
            <a:avLst/>
          </a:prstGeom>
          <a:noFill/>
          <a:ln/>
        </p:spPr>
        <p:txBody>
          <a:bodyPr wrap="square" lIns="0" tIns="0" rIns="0" bIns="0" rtlCol="0" anchor="ctr"/>
          <a:lstStyle/>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Standing rule: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your organization’s AI policy and approved-tool list outrank every name on this slide.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A9BBC4"/>
                </a:solidFill>
                <a:latin typeface="Calibri" pitchFamily="34" charset="0"/>
                <a:ea typeface="Calibri" pitchFamily="34" charset="-122"/>
                <a:cs typeface="Calibri" pitchFamily="34" charset="-120"/>
              </a:rPr>
              <a:t>22</a:t>
            </a:r>
            <a:endParaRPr lang="en-US" sz="850" dirty="0"/>
          </a:p>
        </p:txBody>
      </p:sp>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0E7C7B"/>
          </a:solidFill>
          <a:ln/>
        </p:spPr>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210312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3 · PROMPT ENGINEERING</a:t>
            </a:r>
            <a:endParaRPr lang="en-US" sz="1600" dirty="0"/>
          </a:p>
        </p:txBody>
      </p:sp>
      <p:sp>
        <p:nvSpPr>
          <p:cNvPr id="16" name="Text 14"/>
          <p:cNvSpPr/>
          <p:nvPr/>
        </p:nvSpPr>
        <p:spPr>
          <a:xfrm>
            <a:off x="502920" y="256032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The craft: getting what</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you actually meant</a:t>
            </a:r>
            <a:endParaRPr lang="en-US" sz="4400" dirty="0"/>
          </a:p>
        </p:txBody>
      </p:sp>
      <p:sp>
        <p:nvSpPr>
          <p:cNvPr id="17" name="Text 15"/>
          <p:cNvSpPr/>
          <p:nvPr/>
        </p:nvSpPr>
        <p:spPr>
          <a:xfrm>
            <a:off x="502920" y="44348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Seven elements, seven techniques — and for every one of them: what it buys you, and the evidence behind it.</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THE ANATOMY</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23</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UNIVERSAL ANATOMY</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Seven parts, one body — what good looks like</a:t>
            </a:r>
            <a:endParaRPr lang="en-US" sz="3000" dirty="0"/>
          </a:p>
        </p:txBody>
      </p:sp>
      <p:sp>
        <p:nvSpPr>
          <p:cNvPr id="6" name="Shape 4"/>
          <p:cNvSpPr/>
          <p:nvPr/>
        </p:nvSpPr>
        <p:spPr>
          <a:xfrm>
            <a:off x="502920" y="1444752"/>
            <a:ext cx="5074920" cy="4498848"/>
          </a:xfrm>
          <a:prstGeom prst="roundRect">
            <a:avLst>
              <a:gd name="adj" fmla="val 1626"/>
            </a:avLst>
          </a:prstGeom>
          <a:solidFill>
            <a:srgbClr val="F2F5F6"/>
          </a:solidFill>
          <a:ln/>
        </p:spPr>
      </p:sp>
      <p:sp>
        <p:nvSpPr>
          <p:cNvPr id="7" name="Shape 5"/>
          <p:cNvSpPr/>
          <p:nvPr/>
        </p:nvSpPr>
        <p:spPr>
          <a:xfrm>
            <a:off x="2651760" y="1682496"/>
            <a:ext cx="768096" cy="768096"/>
          </a:xfrm>
          <a:prstGeom prst="ellipse">
            <a:avLst/>
          </a:prstGeom>
          <a:solidFill>
            <a:srgbClr val="FFFFFF"/>
          </a:solidFill>
          <a:ln w="25400">
            <a:solidFill>
              <a:srgbClr val="0A5B5A"/>
            </a:solidFill>
            <a:prstDash val="solid"/>
          </a:ln>
        </p:spPr>
      </p:sp>
      <p:sp>
        <p:nvSpPr>
          <p:cNvPr id="8" name="Shape 6"/>
          <p:cNvSpPr/>
          <p:nvPr/>
        </p:nvSpPr>
        <p:spPr>
          <a:xfrm>
            <a:off x="2532888" y="2505456"/>
            <a:ext cx="1005840" cy="1481328"/>
          </a:xfrm>
          <a:prstGeom prst="roundRect">
            <a:avLst>
              <a:gd name="adj" fmla="val 25455"/>
            </a:avLst>
          </a:prstGeom>
          <a:solidFill>
            <a:srgbClr val="FFFFFF"/>
          </a:solidFill>
          <a:ln w="25400">
            <a:solidFill>
              <a:srgbClr val="0A5B5A"/>
            </a:solidFill>
            <a:prstDash val="solid"/>
          </a:ln>
        </p:spPr>
      </p:sp>
      <p:sp>
        <p:nvSpPr>
          <p:cNvPr id="9" name="Shape 7"/>
          <p:cNvSpPr/>
          <p:nvPr/>
        </p:nvSpPr>
        <p:spPr>
          <a:xfrm rot="1200000">
            <a:off x="1847088" y="2670048"/>
            <a:ext cx="713232" cy="201168"/>
          </a:xfrm>
          <a:prstGeom prst="roundRect">
            <a:avLst>
              <a:gd name="adj" fmla="val 50000"/>
            </a:avLst>
          </a:prstGeom>
          <a:solidFill>
            <a:srgbClr val="FFFFFF"/>
          </a:solidFill>
          <a:ln w="19050">
            <a:solidFill>
              <a:srgbClr val="0A5B5A"/>
            </a:solidFill>
            <a:prstDash val="solid"/>
          </a:ln>
        </p:spPr>
      </p:sp>
      <p:sp>
        <p:nvSpPr>
          <p:cNvPr id="10" name="Shape 8"/>
          <p:cNvSpPr/>
          <p:nvPr/>
        </p:nvSpPr>
        <p:spPr>
          <a:xfrm rot="-1200000">
            <a:off x="3511296" y="2670048"/>
            <a:ext cx="713232" cy="201168"/>
          </a:xfrm>
          <a:prstGeom prst="roundRect">
            <a:avLst>
              <a:gd name="adj" fmla="val 50000"/>
            </a:avLst>
          </a:prstGeom>
          <a:solidFill>
            <a:srgbClr val="FFFFFF"/>
          </a:solidFill>
          <a:ln w="19050">
            <a:solidFill>
              <a:srgbClr val="0A5B5A"/>
            </a:solidFill>
            <a:prstDash val="solid"/>
          </a:ln>
        </p:spPr>
      </p:sp>
      <p:sp>
        <p:nvSpPr>
          <p:cNvPr id="11" name="Shape 9"/>
          <p:cNvSpPr/>
          <p:nvPr/>
        </p:nvSpPr>
        <p:spPr>
          <a:xfrm>
            <a:off x="1664208" y="2871216"/>
            <a:ext cx="246888" cy="246888"/>
          </a:xfrm>
          <a:prstGeom prst="ellipse">
            <a:avLst/>
          </a:prstGeom>
          <a:solidFill>
            <a:srgbClr val="0E7C7B"/>
          </a:solidFill>
          <a:ln/>
        </p:spPr>
      </p:sp>
      <p:sp>
        <p:nvSpPr>
          <p:cNvPr id="12" name="Shape 10"/>
          <p:cNvSpPr/>
          <p:nvPr/>
        </p:nvSpPr>
        <p:spPr>
          <a:xfrm>
            <a:off x="4160520" y="2871216"/>
            <a:ext cx="246888" cy="246888"/>
          </a:xfrm>
          <a:prstGeom prst="ellipse">
            <a:avLst/>
          </a:prstGeom>
          <a:solidFill>
            <a:srgbClr val="0E7C7B"/>
          </a:solidFill>
          <a:ln/>
        </p:spPr>
      </p:sp>
      <p:sp>
        <p:nvSpPr>
          <p:cNvPr id="13" name="Shape 11"/>
          <p:cNvSpPr/>
          <p:nvPr/>
        </p:nvSpPr>
        <p:spPr>
          <a:xfrm>
            <a:off x="2633472" y="4005072"/>
            <a:ext cx="292608" cy="1024128"/>
          </a:xfrm>
          <a:prstGeom prst="roundRect">
            <a:avLst>
              <a:gd name="adj" fmla="val 50000"/>
            </a:avLst>
          </a:prstGeom>
          <a:solidFill>
            <a:srgbClr val="FFFFFF"/>
          </a:solidFill>
          <a:ln w="19050">
            <a:solidFill>
              <a:srgbClr val="0A5B5A"/>
            </a:solidFill>
            <a:prstDash val="solid"/>
          </a:ln>
        </p:spPr>
      </p:sp>
      <p:sp>
        <p:nvSpPr>
          <p:cNvPr id="14" name="Shape 12"/>
          <p:cNvSpPr/>
          <p:nvPr/>
        </p:nvSpPr>
        <p:spPr>
          <a:xfrm>
            <a:off x="3145536" y="4005072"/>
            <a:ext cx="292608" cy="1024128"/>
          </a:xfrm>
          <a:prstGeom prst="roundRect">
            <a:avLst>
              <a:gd name="adj" fmla="val 50000"/>
            </a:avLst>
          </a:prstGeom>
          <a:solidFill>
            <a:srgbClr val="FFFFFF"/>
          </a:solidFill>
          <a:ln w="19050">
            <a:solidFill>
              <a:srgbClr val="0A5B5A"/>
            </a:solidFill>
            <a:prstDash val="solid"/>
          </a:ln>
        </p:spPr>
      </p:sp>
      <p:sp>
        <p:nvSpPr>
          <p:cNvPr id="15" name="Shape 13"/>
          <p:cNvSpPr/>
          <p:nvPr/>
        </p:nvSpPr>
        <p:spPr>
          <a:xfrm>
            <a:off x="2743200" y="2706624"/>
            <a:ext cx="274320" cy="274320"/>
          </a:xfrm>
          <a:prstGeom prst="ellipse">
            <a:avLst/>
          </a:prstGeom>
          <a:solidFill>
            <a:srgbClr val="AF3230"/>
          </a:solidFill>
          <a:ln/>
        </p:spPr>
      </p:sp>
      <p:sp>
        <p:nvSpPr>
          <p:cNvPr id="16" name="Shape 14"/>
          <p:cNvSpPr/>
          <p:nvPr/>
        </p:nvSpPr>
        <p:spPr>
          <a:xfrm>
            <a:off x="2880360" y="2999232"/>
            <a:ext cx="274320" cy="868680"/>
          </a:xfrm>
          <a:prstGeom prst="line">
            <a:avLst/>
          </a:prstGeom>
          <a:noFill/>
          <a:ln w="19050">
            <a:solidFill>
              <a:srgbClr val="AF3230"/>
            </a:solidFill>
            <a:prstDash val="dash"/>
          </a:ln>
        </p:spPr>
      </p:sp>
      <p:sp>
        <p:nvSpPr>
          <p:cNvPr id="17" name="Text 15"/>
          <p:cNvSpPr/>
          <p:nvPr/>
        </p:nvSpPr>
        <p:spPr>
          <a:xfrm>
            <a:off x="621792" y="1700784"/>
            <a:ext cx="1133856" cy="777240"/>
          </a:xfrm>
          <a:prstGeom prst="rect">
            <a:avLst/>
          </a:prstGeom>
          <a:noFill/>
          <a:ln/>
        </p:spPr>
        <p:txBody>
          <a:bodyPr wrap="square" lIns="0" tIns="0" rIns="0" bIns="0" rtlCol="0" anchor="ctr"/>
          <a:lstStyle/>
          <a:p>
            <a:pPr algn="r" indent="0" marL="0">
              <a:lnSpc>
                <a:spcPct val="95000"/>
              </a:lnSpc>
              <a:buNone/>
            </a:pPr>
            <a:r>
              <a:rPr lang="en-US" sz="950" b="1" dirty="0">
                <a:solidFill>
                  <a:srgbClr val="0A5B5A"/>
                </a:solidFill>
                <a:latin typeface="Calibri" pitchFamily="34" charset="0"/>
                <a:ea typeface="Calibri" pitchFamily="34" charset="-122"/>
                <a:cs typeface="Calibri" pitchFamily="34" charset="-120"/>
              </a:rPr>
              <a:t>ROLE</a:t>
            </a:r>
            <a:endParaRPr lang="en-US" sz="950" dirty="0"/>
          </a:p>
          <a:p>
            <a:pPr algn="r" indent="0" marL="0">
              <a:lnSpc>
                <a:spcPct val="95000"/>
              </a:lnSpc>
              <a:buNone/>
            </a:pPr>
            <a:r>
              <a:rPr lang="en-US" sz="740" i="1" dirty="0">
                <a:solidFill>
                  <a:srgbClr val="46545F"/>
                </a:solidFill>
                <a:latin typeface="Calibri" pitchFamily="34" charset="0"/>
                <a:ea typeface="Calibri" pitchFamily="34" charset="-122"/>
                <a:cs typeface="Calibri" pitchFamily="34" charset="-120"/>
              </a:rPr>
              <a:t>the head — the posture it thinks in</a:t>
            </a:r>
            <a:endParaRPr lang="en-US" sz="950" dirty="0"/>
          </a:p>
        </p:txBody>
      </p:sp>
      <p:sp>
        <p:nvSpPr>
          <p:cNvPr id="18" name="Shape 16"/>
          <p:cNvSpPr/>
          <p:nvPr/>
        </p:nvSpPr>
        <p:spPr>
          <a:xfrm>
            <a:off x="1792224" y="1810512"/>
            <a:ext cx="841248" cy="201168"/>
          </a:xfrm>
          <a:prstGeom prst="line">
            <a:avLst/>
          </a:prstGeom>
          <a:noFill/>
          <a:ln w="9525">
            <a:solidFill>
              <a:srgbClr val="7A8790"/>
            </a:solidFill>
            <a:prstDash val="sysDot"/>
          </a:ln>
        </p:spPr>
      </p:sp>
      <p:sp>
        <p:nvSpPr>
          <p:cNvPr id="19" name="Text 17"/>
          <p:cNvSpPr/>
          <p:nvPr/>
        </p:nvSpPr>
        <p:spPr>
          <a:xfrm>
            <a:off x="621792" y="2615184"/>
            <a:ext cx="1133856" cy="777240"/>
          </a:xfrm>
          <a:prstGeom prst="rect">
            <a:avLst/>
          </a:prstGeom>
          <a:noFill/>
          <a:ln/>
        </p:spPr>
        <p:txBody>
          <a:bodyPr wrap="square" lIns="0" tIns="0" rIns="0" bIns="0" rtlCol="0" anchor="ctr"/>
          <a:lstStyle/>
          <a:p>
            <a:pPr algn="r" indent="0" marL="0">
              <a:lnSpc>
                <a:spcPct val="95000"/>
              </a:lnSpc>
              <a:buNone/>
            </a:pPr>
            <a:r>
              <a:rPr lang="en-US" sz="950" b="1" dirty="0">
                <a:solidFill>
                  <a:srgbClr val="0A5B5A"/>
                </a:solidFill>
                <a:latin typeface="Calibri" pitchFamily="34" charset="0"/>
                <a:ea typeface="Calibri" pitchFamily="34" charset="-122"/>
                <a:cs typeface="Calibri" pitchFamily="34" charset="-120"/>
              </a:rPr>
              <a:t>TASK</a:t>
            </a:r>
            <a:endParaRPr lang="en-US" sz="950" dirty="0"/>
          </a:p>
          <a:p>
            <a:pPr algn="r" indent="0" marL="0">
              <a:lnSpc>
                <a:spcPct val="95000"/>
              </a:lnSpc>
              <a:buNone/>
            </a:pPr>
            <a:r>
              <a:rPr lang="en-US" sz="740" i="1" dirty="0">
                <a:solidFill>
                  <a:srgbClr val="46545F"/>
                </a:solidFill>
                <a:latin typeface="Calibri" pitchFamily="34" charset="0"/>
                <a:ea typeface="Calibri" pitchFamily="34" charset="-122"/>
                <a:cs typeface="Calibri" pitchFamily="34" charset="-120"/>
              </a:rPr>
              <a:t>the heart — why it beats</a:t>
            </a:r>
            <a:endParaRPr lang="en-US" sz="950" dirty="0"/>
          </a:p>
        </p:txBody>
      </p:sp>
      <p:sp>
        <p:nvSpPr>
          <p:cNvPr id="20" name="Shape 18"/>
          <p:cNvSpPr/>
          <p:nvPr/>
        </p:nvSpPr>
        <p:spPr>
          <a:xfrm>
            <a:off x="1792224" y="2724912"/>
            <a:ext cx="932688" cy="109728"/>
          </a:xfrm>
          <a:prstGeom prst="line">
            <a:avLst/>
          </a:prstGeom>
          <a:noFill/>
          <a:ln w="9525">
            <a:solidFill>
              <a:srgbClr val="7A8790"/>
            </a:solidFill>
            <a:prstDash val="sysDot"/>
          </a:ln>
        </p:spPr>
      </p:sp>
      <p:sp>
        <p:nvSpPr>
          <p:cNvPr id="21" name="Text 19"/>
          <p:cNvSpPr/>
          <p:nvPr/>
        </p:nvSpPr>
        <p:spPr>
          <a:xfrm>
            <a:off x="621792" y="3529584"/>
            <a:ext cx="1133856" cy="777240"/>
          </a:xfrm>
          <a:prstGeom prst="rect">
            <a:avLst/>
          </a:prstGeom>
          <a:noFill/>
          <a:ln/>
        </p:spPr>
        <p:txBody>
          <a:bodyPr wrap="square" lIns="0" tIns="0" rIns="0" bIns="0" rtlCol="0" anchor="ctr"/>
          <a:lstStyle/>
          <a:p>
            <a:pPr algn="r" indent="0" marL="0">
              <a:lnSpc>
                <a:spcPct val="95000"/>
              </a:lnSpc>
              <a:buNone/>
            </a:pPr>
            <a:r>
              <a:rPr lang="en-US" sz="950" b="1" dirty="0">
                <a:solidFill>
                  <a:srgbClr val="0A5B5A"/>
                </a:solidFill>
                <a:latin typeface="Calibri" pitchFamily="34" charset="0"/>
                <a:ea typeface="Calibri" pitchFamily="34" charset="-122"/>
                <a:cs typeface="Calibri" pitchFamily="34" charset="-120"/>
              </a:rPr>
              <a:t>CONTEXT</a:t>
            </a:r>
            <a:endParaRPr lang="en-US" sz="950" dirty="0"/>
          </a:p>
          <a:p>
            <a:pPr algn="r" indent="0" marL="0">
              <a:lnSpc>
                <a:spcPct val="95000"/>
              </a:lnSpc>
              <a:buNone/>
            </a:pPr>
            <a:r>
              <a:rPr lang="en-US" sz="740" i="1" dirty="0">
                <a:solidFill>
                  <a:srgbClr val="46545F"/>
                </a:solidFill>
                <a:latin typeface="Calibri" pitchFamily="34" charset="0"/>
                <a:ea typeface="Calibri" pitchFamily="34" charset="-122"/>
                <a:cs typeface="Calibri" pitchFamily="34" charset="-120"/>
              </a:rPr>
              <a:t>the bloodstream — feeds every organ</a:t>
            </a:r>
            <a:endParaRPr lang="en-US" sz="950" dirty="0"/>
          </a:p>
        </p:txBody>
      </p:sp>
      <p:sp>
        <p:nvSpPr>
          <p:cNvPr id="22" name="Shape 20"/>
          <p:cNvSpPr/>
          <p:nvPr/>
        </p:nvSpPr>
        <p:spPr>
          <a:xfrm flipV="1">
            <a:off x="1792224" y="3566160"/>
            <a:ext cx="1069848" cy="73152"/>
          </a:xfrm>
          <a:prstGeom prst="line">
            <a:avLst/>
          </a:prstGeom>
          <a:noFill/>
          <a:ln w="9525">
            <a:solidFill>
              <a:srgbClr val="7A8790"/>
            </a:solidFill>
            <a:prstDash val="sysDot"/>
          </a:ln>
        </p:spPr>
      </p:sp>
      <p:sp>
        <p:nvSpPr>
          <p:cNvPr id="23" name="Text 21"/>
          <p:cNvSpPr/>
          <p:nvPr/>
        </p:nvSpPr>
        <p:spPr>
          <a:xfrm>
            <a:off x="4407408" y="1700784"/>
            <a:ext cx="1133856" cy="777240"/>
          </a:xfrm>
          <a:prstGeom prst="rect">
            <a:avLst/>
          </a:prstGeom>
          <a:noFill/>
          <a:ln/>
        </p:spPr>
        <p:txBody>
          <a:bodyPr wrap="square" lIns="0" tIns="0" rIns="0" bIns="0" rtlCol="0" anchor="ctr"/>
          <a:lstStyle/>
          <a:p>
            <a:pPr algn="l" indent="0" marL="0">
              <a:lnSpc>
                <a:spcPct val="95000"/>
              </a:lnSpc>
              <a:buNone/>
            </a:pPr>
            <a:r>
              <a:rPr lang="en-US" sz="950" b="1" dirty="0">
                <a:solidFill>
                  <a:srgbClr val="0A5B5A"/>
                </a:solidFill>
                <a:latin typeface="Calibri" pitchFamily="34" charset="0"/>
                <a:ea typeface="Calibri" pitchFamily="34" charset="-122"/>
                <a:cs typeface="Calibri" pitchFamily="34" charset="-120"/>
              </a:rPr>
              <a:t>FORMAT</a:t>
            </a:r>
            <a:endParaRPr lang="en-US" sz="950" dirty="0"/>
          </a:p>
          <a:p>
            <a:pPr algn="l" indent="0" marL="0">
              <a:lnSpc>
                <a:spcPct val="95000"/>
              </a:lnSpc>
              <a:buNone/>
            </a:pPr>
            <a:r>
              <a:rPr lang="en-US" sz="740" i="1" dirty="0">
                <a:solidFill>
                  <a:srgbClr val="46545F"/>
                </a:solidFill>
                <a:latin typeface="Calibri" pitchFamily="34" charset="0"/>
                <a:ea typeface="Calibri" pitchFamily="34" charset="-122"/>
                <a:cs typeface="Calibri" pitchFamily="34" charset="-120"/>
              </a:rPr>
              <a:t>the skeleton — holds the shape</a:t>
            </a:r>
            <a:endParaRPr lang="en-US" sz="950" dirty="0"/>
          </a:p>
        </p:txBody>
      </p:sp>
      <p:sp>
        <p:nvSpPr>
          <p:cNvPr id="24" name="Shape 22"/>
          <p:cNvSpPr/>
          <p:nvPr/>
        </p:nvSpPr>
        <p:spPr>
          <a:xfrm>
            <a:off x="3419856" y="1810512"/>
            <a:ext cx="950976" cy="201168"/>
          </a:xfrm>
          <a:prstGeom prst="line">
            <a:avLst/>
          </a:prstGeom>
          <a:noFill/>
          <a:ln w="9525">
            <a:solidFill>
              <a:srgbClr val="7A8790"/>
            </a:solidFill>
            <a:prstDash val="sysDot"/>
          </a:ln>
        </p:spPr>
      </p:sp>
      <p:sp>
        <p:nvSpPr>
          <p:cNvPr id="25" name="Text 23"/>
          <p:cNvSpPr/>
          <p:nvPr/>
        </p:nvSpPr>
        <p:spPr>
          <a:xfrm>
            <a:off x="4407408" y="2615184"/>
            <a:ext cx="1133856" cy="777240"/>
          </a:xfrm>
          <a:prstGeom prst="rect">
            <a:avLst/>
          </a:prstGeom>
          <a:noFill/>
          <a:ln/>
        </p:spPr>
        <p:txBody>
          <a:bodyPr wrap="square" lIns="0" tIns="0" rIns="0" bIns="0" rtlCol="0" anchor="ctr"/>
          <a:lstStyle/>
          <a:p>
            <a:pPr algn="l" indent="0" marL="0">
              <a:lnSpc>
                <a:spcPct val="95000"/>
              </a:lnSpc>
              <a:buNone/>
            </a:pPr>
            <a:r>
              <a:rPr lang="en-US" sz="950" b="1" dirty="0">
                <a:solidFill>
                  <a:srgbClr val="0A5B5A"/>
                </a:solidFill>
                <a:latin typeface="Calibri" pitchFamily="34" charset="0"/>
                <a:ea typeface="Calibri" pitchFamily="34" charset="-122"/>
                <a:cs typeface="Calibri" pitchFamily="34" charset="-120"/>
              </a:rPr>
              <a:t>EXAMPLES</a:t>
            </a:r>
            <a:endParaRPr lang="en-US" sz="950" dirty="0"/>
          </a:p>
          <a:p>
            <a:pPr algn="l" indent="0" marL="0">
              <a:lnSpc>
                <a:spcPct val="95000"/>
              </a:lnSpc>
              <a:buNone/>
            </a:pPr>
            <a:r>
              <a:rPr lang="en-US" sz="740" i="1" dirty="0">
                <a:solidFill>
                  <a:srgbClr val="46545F"/>
                </a:solidFill>
                <a:latin typeface="Calibri" pitchFamily="34" charset="0"/>
                <a:ea typeface="Calibri" pitchFamily="34" charset="-122"/>
                <a:cs typeface="Calibri" pitchFamily="34" charset="-120"/>
              </a:rPr>
              <a:t>the hands — show how it’s done</a:t>
            </a:r>
            <a:endParaRPr lang="en-US" sz="950" dirty="0"/>
          </a:p>
        </p:txBody>
      </p:sp>
      <p:sp>
        <p:nvSpPr>
          <p:cNvPr id="26" name="Shape 24"/>
          <p:cNvSpPr/>
          <p:nvPr/>
        </p:nvSpPr>
        <p:spPr>
          <a:xfrm>
            <a:off x="4361688" y="2724912"/>
            <a:ext cx="9144" cy="265176"/>
          </a:xfrm>
          <a:prstGeom prst="line">
            <a:avLst/>
          </a:prstGeom>
          <a:noFill/>
          <a:ln w="9525">
            <a:solidFill>
              <a:srgbClr val="7A8790"/>
            </a:solidFill>
            <a:prstDash val="sysDot"/>
          </a:ln>
        </p:spPr>
      </p:sp>
      <p:sp>
        <p:nvSpPr>
          <p:cNvPr id="27" name="Text 25"/>
          <p:cNvSpPr/>
          <p:nvPr/>
        </p:nvSpPr>
        <p:spPr>
          <a:xfrm>
            <a:off x="4407408" y="3529584"/>
            <a:ext cx="1133856" cy="777240"/>
          </a:xfrm>
          <a:prstGeom prst="rect">
            <a:avLst/>
          </a:prstGeom>
          <a:noFill/>
          <a:ln/>
        </p:spPr>
        <p:txBody>
          <a:bodyPr wrap="square" lIns="0" tIns="0" rIns="0" bIns="0" rtlCol="0" anchor="ctr"/>
          <a:lstStyle/>
          <a:p>
            <a:pPr algn="l" indent="0" marL="0">
              <a:lnSpc>
                <a:spcPct val="95000"/>
              </a:lnSpc>
              <a:buNone/>
            </a:pPr>
            <a:r>
              <a:rPr lang="en-US" sz="950" b="1" dirty="0">
                <a:solidFill>
                  <a:srgbClr val="0A5B5A"/>
                </a:solidFill>
                <a:latin typeface="Calibri" pitchFamily="34" charset="0"/>
                <a:ea typeface="Calibri" pitchFamily="34" charset="-122"/>
                <a:cs typeface="Calibri" pitchFamily="34" charset="-120"/>
              </a:rPr>
              <a:t>THE OUT</a:t>
            </a:r>
            <a:endParaRPr lang="en-US" sz="950" dirty="0"/>
          </a:p>
          <a:p>
            <a:pPr algn="l" indent="0" marL="0">
              <a:lnSpc>
                <a:spcPct val="95000"/>
              </a:lnSpc>
              <a:buNone/>
            </a:pPr>
            <a:r>
              <a:rPr lang="en-US" sz="740" i="1" dirty="0">
                <a:solidFill>
                  <a:srgbClr val="46545F"/>
                </a:solidFill>
                <a:latin typeface="Calibri" pitchFamily="34" charset="0"/>
                <a:ea typeface="Calibri" pitchFamily="34" charset="-122"/>
                <a:cs typeface="Calibri" pitchFamily="34" charset="-120"/>
              </a:rPr>
              <a:t>the immune system — rejects invented facts</a:t>
            </a:r>
            <a:endParaRPr lang="en-US" sz="950" dirty="0"/>
          </a:p>
        </p:txBody>
      </p:sp>
      <p:sp>
        <p:nvSpPr>
          <p:cNvPr id="28" name="Shape 26"/>
          <p:cNvSpPr/>
          <p:nvPr/>
        </p:nvSpPr>
        <p:spPr>
          <a:xfrm flipV="1">
            <a:off x="3493008" y="3383280"/>
            <a:ext cx="877824" cy="256032"/>
          </a:xfrm>
          <a:prstGeom prst="line">
            <a:avLst/>
          </a:prstGeom>
          <a:noFill/>
          <a:ln w="9525">
            <a:solidFill>
              <a:srgbClr val="7A8790"/>
            </a:solidFill>
            <a:prstDash val="sysDot"/>
          </a:ln>
        </p:spPr>
      </p:sp>
      <p:sp>
        <p:nvSpPr>
          <p:cNvPr id="29" name="Text 27"/>
          <p:cNvSpPr/>
          <p:nvPr/>
        </p:nvSpPr>
        <p:spPr>
          <a:xfrm>
            <a:off x="4407408" y="4407408"/>
            <a:ext cx="1133856" cy="777240"/>
          </a:xfrm>
          <a:prstGeom prst="rect">
            <a:avLst/>
          </a:prstGeom>
          <a:noFill/>
          <a:ln/>
        </p:spPr>
        <p:txBody>
          <a:bodyPr wrap="square" lIns="0" tIns="0" rIns="0" bIns="0" rtlCol="0" anchor="ctr"/>
          <a:lstStyle/>
          <a:p>
            <a:pPr algn="l" indent="0" marL="0">
              <a:lnSpc>
                <a:spcPct val="95000"/>
              </a:lnSpc>
              <a:buNone/>
            </a:pPr>
            <a:r>
              <a:rPr lang="en-US" sz="950" b="1" dirty="0">
                <a:solidFill>
                  <a:srgbClr val="0A5B5A"/>
                </a:solidFill>
                <a:latin typeface="Calibri" pitchFamily="34" charset="0"/>
                <a:ea typeface="Calibri" pitchFamily="34" charset="-122"/>
                <a:cs typeface="Calibri" pitchFamily="34" charset="-120"/>
              </a:rPr>
              <a:t>THE STOP</a:t>
            </a:r>
            <a:endParaRPr lang="en-US" sz="950" dirty="0"/>
          </a:p>
          <a:p>
            <a:pPr algn="l" indent="0" marL="0">
              <a:lnSpc>
                <a:spcPct val="95000"/>
              </a:lnSpc>
              <a:buNone/>
            </a:pPr>
            <a:r>
              <a:rPr lang="en-US" sz="740" i="1" dirty="0">
                <a:solidFill>
                  <a:srgbClr val="46545F"/>
                </a:solidFill>
                <a:latin typeface="Calibri" pitchFamily="34" charset="0"/>
                <a:ea typeface="Calibri" pitchFamily="34" charset="-122"/>
                <a:cs typeface="Calibri" pitchFamily="34" charset="-120"/>
              </a:rPr>
              <a:t>the skin — where the action ends</a:t>
            </a:r>
            <a:endParaRPr lang="en-US" sz="950" dirty="0"/>
          </a:p>
        </p:txBody>
      </p:sp>
      <p:sp>
        <p:nvSpPr>
          <p:cNvPr id="30" name="Shape 28"/>
          <p:cNvSpPr/>
          <p:nvPr/>
        </p:nvSpPr>
        <p:spPr>
          <a:xfrm flipV="1">
            <a:off x="3401568" y="4480560"/>
            <a:ext cx="969264" cy="36576"/>
          </a:xfrm>
          <a:prstGeom prst="line">
            <a:avLst/>
          </a:prstGeom>
          <a:noFill/>
          <a:ln w="9525">
            <a:solidFill>
              <a:srgbClr val="7A8790"/>
            </a:solidFill>
            <a:prstDash val="sysDot"/>
          </a:ln>
        </p:spPr>
      </p:sp>
      <p:sp>
        <p:nvSpPr>
          <p:cNvPr id="31" name="Text 29"/>
          <p:cNvSpPr/>
          <p:nvPr/>
        </p:nvSpPr>
        <p:spPr>
          <a:xfrm>
            <a:off x="731520" y="5230368"/>
            <a:ext cx="4617720" cy="548640"/>
          </a:xfrm>
          <a:prstGeom prst="rect">
            <a:avLst/>
          </a:prstGeom>
          <a:noFill/>
          <a:ln/>
        </p:spPr>
        <p:txBody>
          <a:bodyPr wrap="square" lIns="0" tIns="0" rIns="0" bIns="0" rtlCol="0" anchor="ctr"/>
          <a:lstStyle/>
          <a:p>
            <a:pPr algn="ctr" indent="0" marL="0">
              <a:lnSpc>
                <a:spcPct val="102000"/>
              </a:lnSpc>
              <a:buNone/>
            </a:pPr>
            <a:r>
              <a:rPr lang="en-US" sz="950" i="1" dirty="0">
                <a:solidFill>
                  <a:srgbClr val="0A5B5A"/>
                </a:solidFill>
                <a:latin typeface="Calibri" pitchFamily="34" charset="0"/>
                <a:ea typeface="Calibri" pitchFamily="34" charset="-122"/>
                <a:cs typeface="Calibri" pitchFamily="34" charset="-120"/>
              </a:rPr>
              <a:t>A prompt is a body: miss an organ and it still walks — it just fails in a predictable way.</a:t>
            </a:r>
            <a:endParaRPr lang="en-US" sz="950" dirty="0"/>
          </a:p>
        </p:txBody>
      </p:sp>
      <p:sp>
        <p:nvSpPr>
          <p:cNvPr id="32" name="Shape 30"/>
          <p:cNvSpPr/>
          <p:nvPr/>
        </p:nvSpPr>
        <p:spPr>
          <a:xfrm>
            <a:off x="5742432" y="1444752"/>
            <a:ext cx="5916168" cy="4498848"/>
          </a:xfrm>
          <a:prstGeom prst="roundRect">
            <a:avLst>
              <a:gd name="adj" fmla="val 1626"/>
            </a:avLst>
          </a:prstGeom>
          <a:solidFill>
            <a:srgbClr val="FFFFFF"/>
          </a:solidFill>
          <a:ln w="9525">
            <a:solidFill>
              <a:srgbClr val="DCE3E6"/>
            </a:solidFill>
            <a:prstDash val="solid"/>
          </a:ln>
        </p:spPr>
      </p:sp>
      <p:sp>
        <p:nvSpPr>
          <p:cNvPr id="33" name="Shape 31"/>
          <p:cNvSpPr/>
          <p:nvPr/>
        </p:nvSpPr>
        <p:spPr>
          <a:xfrm>
            <a:off x="5943600" y="1664208"/>
            <a:ext cx="1078992" cy="310896"/>
          </a:xfrm>
          <a:prstGeom prst="roundRect">
            <a:avLst>
              <a:gd name="adj" fmla="val 17647"/>
            </a:avLst>
          </a:prstGeom>
          <a:solidFill>
            <a:srgbClr val="0E7C7B"/>
          </a:solidFill>
          <a:ln/>
        </p:spPr>
      </p:sp>
      <p:sp>
        <p:nvSpPr>
          <p:cNvPr id="34" name="Text 32"/>
          <p:cNvSpPr/>
          <p:nvPr/>
        </p:nvSpPr>
        <p:spPr>
          <a:xfrm>
            <a:off x="5943600" y="1673352"/>
            <a:ext cx="1078992" cy="292608"/>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Calibri" pitchFamily="34" charset="0"/>
                <a:ea typeface="Calibri" pitchFamily="34" charset="-122"/>
                <a:cs typeface="Calibri" pitchFamily="34" charset="-120"/>
              </a:rPr>
              <a:t>ROLE</a:t>
            </a:r>
            <a:endParaRPr lang="en-US" sz="800" dirty="0"/>
          </a:p>
        </p:txBody>
      </p:sp>
      <p:sp>
        <p:nvSpPr>
          <p:cNvPr id="35" name="Text 33"/>
          <p:cNvSpPr/>
          <p:nvPr/>
        </p:nvSpPr>
        <p:spPr>
          <a:xfrm>
            <a:off x="7150608" y="1591056"/>
            <a:ext cx="4343400" cy="512064"/>
          </a:xfrm>
          <a:prstGeom prst="rect">
            <a:avLst/>
          </a:prstGeom>
          <a:noFill/>
          <a:ln/>
        </p:spPr>
        <p:txBody>
          <a:bodyPr wrap="square" lIns="0" tIns="0" rIns="0" bIns="0" rtlCol="0" anchor="ctr"/>
          <a:lstStyle/>
          <a:p>
            <a:pPr indent="0" marL="0">
              <a:lnSpc>
                <a:spcPct val="100000"/>
              </a:lnSpc>
              <a:buNone/>
            </a:pPr>
            <a:r>
              <a:rPr lang="en-US" sz="860" dirty="0">
                <a:solidFill>
                  <a:srgbClr val="46545F"/>
                </a:solidFill>
                <a:latin typeface="Consolas" pitchFamily="34" charset="0"/>
                <a:ea typeface="Consolas" pitchFamily="34" charset="-122"/>
                <a:cs typeface="Consolas" pitchFamily="34" charset="-120"/>
              </a:rPr>
              <a:t>“You are a precise editor. You add no facts that are not in the source.”</a:t>
            </a:r>
            <a:endParaRPr lang="en-US" sz="860" dirty="0"/>
          </a:p>
        </p:txBody>
      </p:sp>
      <p:sp>
        <p:nvSpPr>
          <p:cNvPr id="36" name="Shape 34"/>
          <p:cNvSpPr/>
          <p:nvPr/>
        </p:nvSpPr>
        <p:spPr>
          <a:xfrm>
            <a:off x="5943600" y="2231136"/>
            <a:ext cx="1078992" cy="310896"/>
          </a:xfrm>
          <a:prstGeom prst="roundRect">
            <a:avLst>
              <a:gd name="adj" fmla="val 17647"/>
            </a:avLst>
          </a:prstGeom>
          <a:solidFill>
            <a:srgbClr val="0E7C7B"/>
          </a:solidFill>
          <a:ln/>
        </p:spPr>
      </p:sp>
      <p:sp>
        <p:nvSpPr>
          <p:cNvPr id="37" name="Text 35"/>
          <p:cNvSpPr/>
          <p:nvPr/>
        </p:nvSpPr>
        <p:spPr>
          <a:xfrm>
            <a:off x="5943600" y="2240280"/>
            <a:ext cx="1078992" cy="292608"/>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Calibri" pitchFamily="34" charset="0"/>
                <a:ea typeface="Calibri" pitchFamily="34" charset="-122"/>
                <a:cs typeface="Calibri" pitchFamily="34" charset="-120"/>
              </a:rPr>
              <a:t>TASK</a:t>
            </a:r>
            <a:endParaRPr lang="en-US" sz="800" dirty="0"/>
          </a:p>
        </p:txBody>
      </p:sp>
      <p:sp>
        <p:nvSpPr>
          <p:cNvPr id="38" name="Text 36"/>
          <p:cNvSpPr/>
          <p:nvPr/>
        </p:nvSpPr>
        <p:spPr>
          <a:xfrm>
            <a:off x="7150608" y="2157984"/>
            <a:ext cx="4343400" cy="512064"/>
          </a:xfrm>
          <a:prstGeom prst="rect">
            <a:avLst/>
          </a:prstGeom>
          <a:noFill/>
          <a:ln/>
        </p:spPr>
        <p:txBody>
          <a:bodyPr wrap="square" lIns="0" tIns="0" rIns="0" bIns="0" rtlCol="0" anchor="ctr"/>
          <a:lstStyle/>
          <a:p>
            <a:pPr indent="0" marL="0">
              <a:lnSpc>
                <a:spcPct val="100000"/>
              </a:lnSpc>
              <a:buNone/>
            </a:pPr>
            <a:r>
              <a:rPr lang="en-US" sz="860" dirty="0">
                <a:solidFill>
                  <a:srgbClr val="46545F"/>
                </a:solidFill>
                <a:latin typeface="Consolas" pitchFamily="34" charset="0"/>
                <a:ea typeface="Consolas" pitchFamily="34" charset="-122"/>
                <a:cs typeface="Consolas" pitchFamily="34" charset="-120"/>
              </a:rPr>
              <a:t>“Summarize the attached Q2 returns report for the operations lead.”</a:t>
            </a:r>
            <a:endParaRPr lang="en-US" sz="860" dirty="0"/>
          </a:p>
        </p:txBody>
      </p:sp>
      <p:sp>
        <p:nvSpPr>
          <p:cNvPr id="39" name="Shape 37"/>
          <p:cNvSpPr/>
          <p:nvPr/>
        </p:nvSpPr>
        <p:spPr>
          <a:xfrm>
            <a:off x="5943600" y="2798064"/>
            <a:ext cx="1078992" cy="310896"/>
          </a:xfrm>
          <a:prstGeom prst="roundRect">
            <a:avLst>
              <a:gd name="adj" fmla="val 17647"/>
            </a:avLst>
          </a:prstGeom>
          <a:solidFill>
            <a:srgbClr val="0E7C7B"/>
          </a:solidFill>
          <a:ln/>
        </p:spPr>
      </p:sp>
      <p:sp>
        <p:nvSpPr>
          <p:cNvPr id="40" name="Text 38"/>
          <p:cNvSpPr/>
          <p:nvPr/>
        </p:nvSpPr>
        <p:spPr>
          <a:xfrm>
            <a:off x="5943600" y="2807208"/>
            <a:ext cx="1078992" cy="292608"/>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Calibri" pitchFamily="34" charset="0"/>
                <a:ea typeface="Calibri" pitchFamily="34" charset="-122"/>
                <a:cs typeface="Calibri" pitchFamily="34" charset="-120"/>
              </a:rPr>
              <a:t>CONTEXT</a:t>
            </a:r>
            <a:endParaRPr lang="en-US" sz="800" dirty="0"/>
          </a:p>
        </p:txBody>
      </p:sp>
      <p:sp>
        <p:nvSpPr>
          <p:cNvPr id="41" name="Text 39"/>
          <p:cNvSpPr/>
          <p:nvPr/>
        </p:nvSpPr>
        <p:spPr>
          <a:xfrm>
            <a:off x="7150608" y="2724912"/>
            <a:ext cx="4343400" cy="512064"/>
          </a:xfrm>
          <a:prstGeom prst="rect">
            <a:avLst/>
          </a:prstGeom>
          <a:noFill/>
          <a:ln/>
        </p:spPr>
        <p:txBody>
          <a:bodyPr wrap="square" lIns="0" tIns="0" rIns="0" bIns="0" rtlCol="0" anchor="ctr"/>
          <a:lstStyle/>
          <a:p>
            <a:pPr indent="0" marL="0">
              <a:lnSpc>
                <a:spcPct val="100000"/>
              </a:lnSpc>
              <a:buNone/>
            </a:pPr>
            <a:r>
              <a:rPr lang="en-US" sz="860" dirty="0">
                <a:solidFill>
                  <a:srgbClr val="46545F"/>
                </a:solidFill>
                <a:latin typeface="Consolas" pitchFamily="34" charset="0"/>
                <a:ea typeface="Consolas" pitchFamily="34" charset="-122"/>
                <a:cs typeface="Consolas" pitchFamily="34" charset="-120"/>
              </a:rPr>
              <a:t>“We’re a mid-size electronics manufacturer. Return rate = returns ÷ shipped. The export has a totals row — exclude it.”</a:t>
            </a:r>
            <a:endParaRPr lang="en-US" sz="860" dirty="0"/>
          </a:p>
        </p:txBody>
      </p:sp>
      <p:sp>
        <p:nvSpPr>
          <p:cNvPr id="42" name="Shape 40"/>
          <p:cNvSpPr/>
          <p:nvPr/>
        </p:nvSpPr>
        <p:spPr>
          <a:xfrm>
            <a:off x="5943600" y="3364992"/>
            <a:ext cx="1078992" cy="310896"/>
          </a:xfrm>
          <a:prstGeom prst="roundRect">
            <a:avLst>
              <a:gd name="adj" fmla="val 17647"/>
            </a:avLst>
          </a:prstGeom>
          <a:solidFill>
            <a:srgbClr val="0E7C7B"/>
          </a:solidFill>
          <a:ln/>
        </p:spPr>
      </p:sp>
      <p:sp>
        <p:nvSpPr>
          <p:cNvPr id="43" name="Text 41"/>
          <p:cNvSpPr/>
          <p:nvPr/>
        </p:nvSpPr>
        <p:spPr>
          <a:xfrm>
            <a:off x="5943600" y="3374136"/>
            <a:ext cx="1078992" cy="292608"/>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Calibri" pitchFamily="34" charset="0"/>
                <a:ea typeface="Calibri" pitchFamily="34" charset="-122"/>
                <a:cs typeface="Calibri" pitchFamily="34" charset="-120"/>
              </a:rPr>
              <a:t>FORMAT</a:t>
            </a:r>
            <a:endParaRPr lang="en-US" sz="800" dirty="0"/>
          </a:p>
        </p:txBody>
      </p:sp>
      <p:sp>
        <p:nvSpPr>
          <p:cNvPr id="44" name="Text 42"/>
          <p:cNvSpPr/>
          <p:nvPr/>
        </p:nvSpPr>
        <p:spPr>
          <a:xfrm>
            <a:off x="7150608" y="3291840"/>
            <a:ext cx="4343400" cy="512064"/>
          </a:xfrm>
          <a:prstGeom prst="rect">
            <a:avLst/>
          </a:prstGeom>
          <a:noFill/>
          <a:ln/>
        </p:spPr>
        <p:txBody>
          <a:bodyPr wrap="square" lIns="0" tIns="0" rIns="0" bIns="0" rtlCol="0" anchor="ctr"/>
          <a:lstStyle/>
          <a:p>
            <a:pPr indent="0" marL="0">
              <a:lnSpc>
                <a:spcPct val="100000"/>
              </a:lnSpc>
              <a:buNone/>
            </a:pPr>
            <a:r>
              <a:rPr lang="en-US" sz="860" dirty="0">
                <a:solidFill>
                  <a:srgbClr val="46545F"/>
                </a:solidFill>
                <a:latin typeface="Consolas" pitchFamily="34" charset="0"/>
                <a:ea typeface="Consolas" pitchFamily="34" charset="-122"/>
                <a:cs typeface="Consolas" pitchFamily="34" charset="-120"/>
              </a:rPr>
              <a:t>“≤ 150 words: the headline number first, then three bullets.”</a:t>
            </a:r>
            <a:endParaRPr lang="en-US" sz="860" dirty="0"/>
          </a:p>
        </p:txBody>
      </p:sp>
      <p:sp>
        <p:nvSpPr>
          <p:cNvPr id="45" name="Shape 43"/>
          <p:cNvSpPr/>
          <p:nvPr/>
        </p:nvSpPr>
        <p:spPr>
          <a:xfrm>
            <a:off x="5943600" y="3931920"/>
            <a:ext cx="1078992" cy="310896"/>
          </a:xfrm>
          <a:prstGeom prst="roundRect">
            <a:avLst>
              <a:gd name="adj" fmla="val 17647"/>
            </a:avLst>
          </a:prstGeom>
          <a:solidFill>
            <a:srgbClr val="0E7C7B"/>
          </a:solidFill>
          <a:ln/>
        </p:spPr>
      </p:sp>
      <p:sp>
        <p:nvSpPr>
          <p:cNvPr id="46" name="Text 44"/>
          <p:cNvSpPr/>
          <p:nvPr/>
        </p:nvSpPr>
        <p:spPr>
          <a:xfrm>
            <a:off x="5943600" y="3941064"/>
            <a:ext cx="1078992" cy="292608"/>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Calibri" pitchFamily="34" charset="0"/>
                <a:ea typeface="Calibri" pitchFamily="34" charset="-122"/>
                <a:cs typeface="Calibri" pitchFamily="34" charset="-120"/>
              </a:rPr>
              <a:t>EXAMPLES</a:t>
            </a:r>
            <a:endParaRPr lang="en-US" sz="800" dirty="0"/>
          </a:p>
        </p:txBody>
      </p:sp>
      <p:sp>
        <p:nvSpPr>
          <p:cNvPr id="47" name="Text 45"/>
          <p:cNvSpPr/>
          <p:nvPr/>
        </p:nvSpPr>
        <p:spPr>
          <a:xfrm>
            <a:off x="7150608" y="3858768"/>
            <a:ext cx="4343400" cy="512064"/>
          </a:xfrm>
          <a:prstGeom prst="rect">
            <a:avLst/>
          </a:prstGeom>
          <a:noFill/>
          <a:ln/>
        </p:spPr>
        <p:txBody>
          <a:bodyPr wrap="square" lIns="0" tIns="0" rIns="0" bIns="0" rtlCol="0" anchor="ctr"/>
          <a:lstStyle/>
          <a:p>
            <a:pPr indent="0" marL="0">
              <a:lnSpc>
                <a:spcPct val="100000"/>
              </a:lnSpc>
              <a:buNone/>
            </a:pPr>
            <a:r>
              <a:rPr lang="en-US" sz="860" dirty="0">
                <a:solidFill>
                  <a:srgbClr val="46545F"/>
                </a:solidFill>
                <a:latin typeface="Consolas" pitchFamily="34" charset="0"/>
                <a:ea typeface="Consolas" pitchFamily="34" charset="-122"/>
                <a:cs typeface="Consolas" pitchFamily="34" charset="-120"/>
              </a:rPr>
              <a:t>&lt;example&gt; March’s summary — the one the team liked &lt;/example&gt;</a:t>
            </a:r>
            <a:endParaRPr lang="en-US" sz="860" dirty="0"/>
          </a:p>
        </p:txBody>
      </p:sp>
      <p:sp>
        <p:nvSpPr>
          <p:cNvPr id="48" name="Shape 46"/>
          <p:cNvSpPr/>
          <p:nvPr/>
        </p:nvSpPr>
        <p:spPr>
          <a:xfrm>
            <a:off x="5943600" y="4498848"/>
            <a:ext cx="1078992" cy="310896"/>
          </a:xfrm>
          <a:prstGeom prst="roundRect">
            <a:avLst>
              <a:gd name="adj" fmla="val 17647"/>
            </a:avLst>
          </a:prstGeom>
          <a:solidFill>
            <a:srgbClr val="0E7C7B"/>
          </a:solidFill>
          <a:ln/>
        </p:spPr>
      </p:sp>
      <p:sp>
        <p:nvSpPr>
          <p:cNvPr id="49" name="Text 47"/>
          <p:cNvSpPr/>
          <p:nvPr/>
        </p:nvSpPr>
        <p:spPr>
          <a:xfrm>
            <a:off x="5943600" y="4507992"/>
            <a:ext cx="1078992" cy="292608"/>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Calibri" pitchFamily="34" charset="0"/>
                <a:ea typeface="Calibri" pitchFamily="34" charset="-122"/>
                <a:cs typeface="Calibri" pitchFamily="34" charset="-120"/>
              </a:rPr>
              <a:t>THE OUT</a:t>
            </a:r>
            <a:endParaRPr lang="en-US" sz="800" dirty="0"/>
          </a:p>
        </p:txBody>
      </p:sp>
      <p:sp>
        <p:nvSpPr>
          <p:cNvPr id="50" name="Text 48"/>
          <p:cNvSpPr/>
          <p:nvPr/>
        </p:nvSpPr>
        <p:spPr>
          <a:xfrm>
            <a:off x="7150608" y="4425696"/>
            <a:ext cx="4343400" cy="512064"/>
          </a:xfrm>
          <a:prstGeom prst="rect">
            <a:avLst/>
          </a:prstGeom>
          <a:noFill/>
          <a:ln/>
        </p:spPr>
        <p:txBody>
          <a:bodyPr wrap="square" lIns="0" tIns="0" rIns="0" bIns="0" rtlCol="0" anchor="ctr"/>
          <a:lstStyle/>
          <a:p>
            <a:pPr indent="0" marL="0">
              <a:lnSpc>
                <a:spcPct val="100000"/>
              </a:lnSpc>
              <a:buNone/>
            </a:pPr>
            <a:r>
              <a:rPr lang="en-US" sz="860" dirty="0">
                <a:solidFill>
                  <a:srgbClr val="46545F"/>
                </a:solidFill>
                <a:latin typeface="Consolas" pitchFamily="34" charset="0"/>
                <a:ea typeface="Consolas" pitchFamily="34" charset="-122"/>
                <a:cs typeface="Consolas" pitchFamily="34" charset="-120"/>
              </a:rPr>
              <a:t>“If the report doesn’t say — say so.”</a:t>
            </a:r>
            <a:endParaRPr lang="en-US" sz="860" dirty="0"/>
          </a:p>
        </p:txBody>
      </p:sp>
      <p:sp>
        <p:nvSpPr>
          <p:cNvPr id="51" name="Shape 49"/>
          <p:cNvSpPr/>
          <p:nvPr/>
        </p:nvSpPr>
        <p:spPr>
          <a:xfrm>
            <a:off x="5943600" y="5065776"/>
            <a:ext cx="1078992" cy="310896"/>
          </a:xfrm>
          <a:prstGeom prst="roundRect">
            <a:avLst>
              <a:gd name="adj" fmla="val 17647"/>
            </a:avLst>
          </a:prstGeom>
          <a:solidFill>
            <a:srgbClr val="0E7C7B"/>
          </a:solidFill>
          <a:ln/>
        </p:spPr>
      </p:sp>
      <p:sp>
        <p:nvSpPr>
          <p:cNvPr id="52" name="Text 50"/>
          <p:cNvSpPr/>
          <p:nvPr/>
        </p:nvSpPr>
        <p:spPr>
          <a:xfrm>
            <a:off x="5943600" y="5074920"/>
            <a:ext cx="1078992" cy="292608"/>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Calibri" pitchFamily="34" charset="0"/>
                <a:ea typeface="Calibri" pitchFamily="34" charset="-122"/>
                <a:cs typeface="Calibri" pitchFamily="34" charset="-120"/>
              </a:rPr>
              <a:t>THE STOP</a:t>
            </a:r>
            <a:endParaRPr lang="en-US" sz="800" dirty="0"/>
          </a:p>
        </p:txBody>
      </p:sp>
      <p:sp>
        <p:nvSpPr>
          <p:cNvPr id="53" name="Text 51"/>
          <p:cNvSpPr/>
          <p:nvPr/>
        </p:nvSpPr>
        <p:spPr>
          <a:xfrm>
            <a:off x="7150608" y="4992624"/>
            <a:ext cx="4343400" cy="512064"/>
          </a:xfrm>
          <a:prstGeom prst="rect">
            <a:avLst/>
          </a:prstGeom>
          <a:noFill/>
          <a:ln/>
        </p:spPr>
        <p:txBody>
          <a:bodyPr wrap="square" lIns="0" tIns="0" rIns="0" bIns="0" rtlCol="0" anchor="ctr"/>
          <a:lstStyle/>
          <a:p>
            <a:pPr indent="0" marL="0">
              <a:lnSpc>
                <a:spcPct val="100000"/>
              </a:lnSpc>
              <a:buNone/>
            </a:pPr>
            <a:r>
              <a:rPr lang="en-US" sz="860" dirty="0">
                <a:solidFill>
                  <a:srgbClr val="46545F"/>
                </a:solidFill>
                <a:latin typeface="Consolas" pitchFamily="34" charset="0"/>
                <a:ea typeface="Consolas" pitchFamily="34" charset="-122"/>
                <a:cs typeface="Consolas" pitchFamily="34" charset="-120"/>
              </a:rPr>
              <a:t>“Deliver the summary, then stop — nothing beyond.”</a:t>
            </a:r>
            <a:endParaRPr lang="en-US" sz="860" dirty="0"/>
          </a:p>
        </p:txBody>
      </p:sp>
      <p:sp>
        <p:nvSpPr>
          <p:cNvPr id="54" name="Text 52"/>
          <p:cNvSpPr/>
          <p:nvPr/>
        </p:nvSpPr>
        <p:spPr>
          <a:xfrm>
            <a:off x="5989320" y="5596128"/>
            <a:ext cx="5486400" cy="292608"/>
          </a:xfrm>
          <a:prstGeom prst="rect">
            <a:avLst/>
          </a:prstGeom>
          <a:noFill/>
          <a:ln/>
        </p:spPr>
        <p:txBody>
          <a:bodyPr wrap="square" lIns="0" tIns="0" rIns="0" bIns="0" rtlCol="0" anchor="ctr"/>
          <a:lstStyle/>
          <a:p>
            <a:pPr indent="0" marL="0">
              <a:buNone/>
            </a:pPr>
            <a:r>
              <a:rPr lang="en-US" sz="880" i="1" dirty="0">
                <a:solidFill>
                  <a:srgbClr val="B96A1B"/>
                </a:solidFill>
                <a:latin typeface="Calibri" pitchFamily="34" charset="0"/>
                <a:ea typeface="Calibri" pitchFamily="34" charset="-122"/>
                <a:cs typeface="Calibri" pitchFamily="34" charset="-120"/>
              </a:rPr>
              <a:t>Note the industry line: what business you’re in is CONTEXT — name your world; never assume it knows.</a:t>
            </a:r>
            <a:endParaRPr lang="en-US" sz="880" dirty="0"/>
          </a:p>
        </p:txBody>
      </p:sp>
      <p:sp>
        <p:nvSpPr>
          <p:cNvPr id="55" name="Shape 53"/>
          <p:cNvSpPr/>
          <p:nvPr/>
        </p:nvSpPr>
        <p:spPr>
          <a:xfrm>
            <a:off x="502920" y="6053328"/>
            <a:ext cx="11155680" cy="457200"/>
          </a:xfrm>
          <a:prstGeom prst="roundRect">
            <a:avLst>
              <a:gd name="adj" fmla="val 16000"/>
            </a:avLst>
          </a:prstGeom>
          <a:solidFill>
            <a:srgbClr val="E4F0EF"/>
          </a:solidFill>
          <a:ln/>
        </p:spPr>
      </p:sp>
      <p:sp>
        <p:nvSpPr>
          <p:cNvPr id="56" name="Shape 54"/>
          <p:cNvSpPr/>
          <p:nvPr/>
        </p:nvSpPr>
        <p:spPr>
          <a:xfrm>
            <a:off x="667512" y="6089904"/>
            <a:ext cx="384048" cy="384048"/>
          </a:xfrm>
          <a:prstGeom prst="ellipse">
            <a:avLst/>
          </a:prstGeom>
          <a:solidFill>
            <a:srgbClr val="0E7C7B"/>
          </a:solidFill>
          <a:ln/>
        </p:spPr>
      </p:sp>
      <p:pic>
        <p:nvPicPr>
          <p:cNvPr id="57" name="Image 0" descr="/home/user/Claude-Works/ai-training-prompt-engineering/src/assets/icons/edit_w.png">    </p:cNvPr>
          <p:cNvPicPr>
            <a:picLocks noChangeAspect="1"/>
          </p:cNvPicPr>
          <p:nvPr/>
        </p:nvPicPr>
        <p:blipFill>
          <a:blip r:embed="rId1"/>
          <a:stretch>
            <a:fillRect/>
          </a:stretch>
        </p:blipFill>
        <p:spPr>
          <a:xfrm>
            <a:off x="767364" y="6189756"/>
            <a:ext cx="184343" cy="184343"/>
          </a:xfrm>
          <a:prstGeom prst="rect">
            <a:avLst/>
          </a:prstGeom>
        </p:spPr>
      </p:pic>
      <p:sp>
        <p:nvSpPr>
          <p:cNvPr id="58" name="Text 55"/>
          <p:cNvSpPr/>
          <p:nvPr/>
        </p:nvSpPr>
        <p:spPr>
          <a:xfrm>
            <a:off x="1216152" y="6126480"/>
            <a:ext cx="10213848" cy="310896"/>
          </a:xfrm>
          <a:prstGeom prst="rect">
            <a:avLst/>
          </a:prstGeom>
          <a:noFill/>
          <a:ln/>
        </p:spPr>
        <p:txBody>
          <a:bodyPr wrap="square" lIns="0" tIns="0" rIns="0" bIns="0" rtlCol="0" anchor="ctr"/>
          <a:lstStyle/>
          <a:p>
            <a:pPr indent="0" marL="0">
              <a:lnSpc>
                <a:spcPct val="106000"/>
              </a:lnSpc>
              <a:buNone/>
            </a:pPr>
            <a:r>
              <a:rPr lang="en-US" sz="1050" b="1" dirty="0">
                <a:solidFill>
                  <a:srgbClr val="0A5B5A"/>
                </a:solidFill>
                <a:latin typeface="Calibri" pitchFamily="34" charset="0"/>
                <a:ea typeface="Calibri" pitchFamily="34" charset="-122"/>
                <a:cs typeface="Calibri" pitchFamily="34" charset="-120"/>
              </a:rPr>
              <a:t>Google’s data point: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the most fruitful prompts averaged ~21 words with context — most people type fewer than nine. A good prompt is a short briefing, not a search query.</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THE ELEMENTS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24</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ELEMENTS · WHAT EACH BUYS YOU — 1 OF 3</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Role &amp; Task: the posture, and the question</a:t>
            </a:r>
            <a:endParaRPr lang="en-US" sz="3000" dirty="0"/>
          </a:p>
        </p:txBody>
      </p:sp>
      <p:sp>
        <p:nvSpPr>
          <p:cNvPr id="6" name="Shape 4"/>
          <p:cNvSpPr/>
          <p:nvPr/>
        </p:nvSpPr>
        <p:spPr>
          <a:xfrm>
            <a:off x="502920" y="1481328"/>
            <a:ext cx="11155680" cy="2212848"/>
          </a:xfrm>
          <a:prstGeom prst="roundRect">
            <a:avLst>
              <a:gd name="adj" fmla="val 3306"/>
            </a:avLst>
          </a:prstGeom>
          <a:solidFill>
            <a:srgbClr val="F2F5F6"/>
          </a:solidFill>
          <a:ln/>
        </p:spPr>
      </p:sp>
      <p:sp>
        <p:nvSpPr>
          <p:cNvPr id="7" name="Text 5"/>
          <p:cNvSpPr/>
          <p:nvPr/>
        </p:nvSpPr>
        <p:spPr>
          <a:xfrm>
            <a:off x="749808" y="1591056"/>
            <a:ext cx="1965960" cy="365760"/>
          </a:xfrm>
          <a:prstGeom prst="rect">
            <a:avLst/>
          </a:prstGeom>
          <a:noFill/>
          <a:ln/>
        </p:spPr>
        <p:txBody>
          <a:bodyPr wrap="square" lIns="0" tIns="0" rIns="0" bIns="0" rtlCol="0" anchor="ctr"/>
          <a:lstStyle/>
          <a:p>
            <a:pPr indent="0" marL="0">
              <a:buNone/>
            </a:pPr>
            <a:r>
              <a:rPr lang="en-US" sz="1650" b="1" dirty="0">
                <a:solidFill>
                  <a:srgbClr val="0A5B5A"/>
                </a:solidFill>
                <a:latin typeface="Cambria" pitchFamily="34" charset="0"/>
                <a:ea typeface="Cambria" pitchFamily="34" charset="-122"/>
                <a:cs typeface="Cambria" pitchFamily="34" charset="-120"/>
              </a:rPr>
              <a:t>Role</a:t>
            </a:r>
            <a:endParaRPr lang="en-US" sz="1650" dirty="0"/>
          </a:p>
        </p:txBody>
      </p:sp>
      <p:sp>
        <p:nvSpPr>
          <p:cNvPr id="8" name="Text 6"/>
          <p:cNvSpPr/>
          <p:nvPr/>
        </p:nvSpPr>
        <p:spPr>
          <a:xfrm>
            <a:off x="749808" y="1975104"/>
            <a:ext cx="1965960" cy="1609344"/>
          </a:xfrm>
          <a:prstGeom prst="rect">
            <a:avLst/>
          </a:prstGeom>
          <a:noFill/>
          <a:ln/>
        </p:spPr>
        <p:txBody>
          <a:bodyPr wrap="square" lIns="0" tIns="0" rIns="0" bIns="0" rtlCol="0" anchor="ctr"/>
          <a:lstStyle/>
          <a:p>
            <a:pPr indent="0" marL="0">
              <a:lnSpc>
                <a:spcPct val="104000"/>
              </a:lnSpc>
              <a:buNone/>
            </a:pPr>
            <a:r>
              <a:rPr lang="en-US" sz="920" i="1" dirty="0">
                <a:solidFill>
                  <a:srgbClr val="232A31"/>
                </a:solidFill>
                <a:latin typeface="Calibri" pitchFamily="34" charset="0"/>
                <a:ea typeface="Calibri" pitchFamily="34" charset="-122"/>
                <a:cs typeface="Calibri" pitchFamily="34" charset="-120"/>
              </a:rPr>
              <a:t>who is answering — decompose it into personality statements: testable behaviors, not titles</a:t>
            </a:r>
            <a:endParaRPr lang="en-US" sz="920" dirty="0"/>
          </a:p>
        </p:txBody>
      </p:sp>
      <p:sp>
        <p:nvSpPr>
          <p:cNvPr id="9" name="Text 7"/>
          <p:cNvSpPr/>
          <p:nvPr/>
        </p:nvSpPr>
        <p:spPr>
          <a:xfrm>
            <a:off x="2852928" y="1572768"/>
            <a:ext cx="4800600" cy="2029968"/>
          </a:xfrm>
          <a:prstGeom prst="rect">
            <a:avLst/>
          </a:prstGeom>
          <a:noFill/>
          <a:ln/>
        </p:spPr>
        <p:txBody>
          <a:bodyPr wrap="square" lIns="0" tIns="0" rIns="0" bIns="0" rtlCol="0" anchor="ctr"/>
          <a:lstStyle/>
          <a:p>
            <a:pPr indent="0" marL="0">
              <a:lnSpc>
                <a:spcPct val="107000"/>
              </a:lnSpc>
              <a:buNone/>
            </a:pPr>
            <a:r>
              <a:rPr lang="en-US" sz="1020" b="1" dirty="0">
                <a:solidFill>
                  <a:srgbClr val="3B8560"/>
                </a:solidFill>
                <a:latin typeface="Calibri" pitchFamily="34" charset="0"/>
                <a:ea typeface="Calibri" pitchFamily="34" charset="-122"/>
                <a:cs typeface="Calibri" pitchFamily="34" charset="-120"/>
              </a:rPr>
              <a:t>What you get — </a:t>
            </a:r>
            <a:pPr indent="0" marL="0">
              <a:lnSpc>
                <a:spcPct val="107000"/>
              </a:lnSpc>
              <a:spcAft>
                <a:spcPts val="500"/>
              </a:spcAft>
              <a:buNone/>
            </a:pPr>
            <a:r>
              <a:rPr lang="en-US" sz="1020" dirty="0">
                <a:solidFill>
                  <a:srgbClr val="46545F"/>
                </a:solidFill>
                <a:latin typeface="Calibri" pitchFamily="34" charset="0"/>
                <a:ea typeface="Calibri" pitchFamily="34" charset="-122"/>
                <a:cs typeface="Calibri" pitchFamily="34" charset="-120"/>
              </a:rPr>
              <a:t>the right altitude and posture: an expert stance you can hold it to, line by line — and a consistent voice readers can feel.</a:t>
            </a:r>
            <a:endParaRPr lang="en-US" sz="1020" dirty="0"/>
          </a:p>
          <a:p>
            <a:pPr indent="0" marL="0">
              <a:lnSpc>
                <a:spcPct val="107000"/>
              </a:lnSpc>
              <a:buNone/>
            </a:pPr>
            <a:r>
              <a:rPr lang="en-US" sz="1020" b="1" dirty="0">
                <a:solidFill>
                  <a:srgbClr val="232A31"/>
                </a:solidFill>
                <a:latin typeface="Calibri" pitchFamily="34" charset="0"/>
                <a:ea typeface="Calibri" pitchFamily="34" charset="-122"/>
                <a:cs typeface="Calibri" pitchFamily="34" charset="-120"/>
              </a:rPr>
              <a:t>Why — </a:t>
            </a:r>
            <a:pPr indent="0" marL="0">
              <a:lnSpc>
                <a:spcPct val="107000"/>
              </a:lnSpc>
              <a:buNone/>
            </a:pPr>
            <a:r>
              <a:rPr lang="en-US" sz="1020" dirty="0">
                <a:solidFill>
                  <a:srgbClr val="46545F"/>
                </a:solidFill>
                <a:latin typeface="Calibri" pitchFamily="34" charset="0"/>
                <a:ea typeface="Calibri" pitchFamily="34" charset="-122"/>
                <a:cs typeface="Calibri" pitchFamily="34" charset="-120"/>
              </a:rPr>
              <a:t>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a:t>
            </a:r>
            <a:pPr indent="0" marL="0">
              <a:lnSpc>
                <a:spcPct val="107000"/>
              </a:lnSpc>
              <a:buNone/>
            </a:pPr>
            <a:r>
              <a:rPr lang="en-US" sz="860" i="1" dirty="0">
                <a:solidFill>
                  <a:srgbClr val="7A8790"/>
                </a:solidFill>
                <a:latin typeface="Calibri" pitchFamily="34" charset="0"/>
                <a:ea typeface="Calibri" pitchFamily="34" charset="-122"/>
                <a:cs typeface="Calibri" pitchFamily="34" charset="-120"/>
              </a:rPr>
              <a:t>(Zheng 2024 · Wharton 2025 · PersonaLLM 2024)</a:t>
            </a:r>
            <a:endParaRPr lang="en-US" sz="1020" dirty="0"/>
          </a:p>
        </p:txBody>
      </p:sp>
      <p:sp>
        <p:nvSpPr>
          <p:cNvPr id="10" name="Text 8"/>
          <p:cNvSpPr/>
          <p:nvPr/>
        </p:nvSpPr>
        <p:spPr>
          <a:xfrm>
            <a:off x="7818120" y="1572768"/>
            <a:ext cx="3657600" cy="2029968"/>
          </a:xfrm>
          <a:prstGeom prst="rect">
            <a:avLst/>
          </a:prstGeom>
          <a:noFill/>
          <a:ln/>
        </p:spPr>
        <p:txBody>
          <a:bodyPr wrap="square" lIns="0" tIns="0" rIns="0" bIns="0" rtlCol="0" anchor="ctr"/>
          <a:lstStyle/>
          <a:p>
            <a:pPr indent="0" marL="0">
              <a:lnSpc>
                <a:spcPct val="103000"/>
              </a:lnSpc>
              <a:buNone/>
            </a:pPr>
            <a:r>
              <a:rPr lang="en-US" sz="9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940" i="1" dirty="0">
                <a:solidFill>
                  <a:srgbClr val="46545F"/>
                </a:solidFill>
                <a:latin typeface="Calibri" pitchFamily="34" charset="0"/>
                <a:ea typeface="Calibri" pitchFamily="34" charset="-122"/>
                <a:cs typeface="Calibri" pitchFamily="34" charset="-120"/>
              </a:rPr>
              <a:t>“You are a senior analyst.”</a:t>
            </a:r>
            <a:endParaRPr lang="en-US" sz="900" dirty="0"/>
          </a:p>
          <a:p>
            <a:pPr indent="0" marL="0">
              <a:lnSpc>
                <a:spcPct val="103000"/>
              </a:lnSpc>
              <a:buNone/>
            </a:pPr>
            <a:r>
              <a:rPr lang="en-US" sz="900" b="1" dirty="0">
                <a:solidFill>
                  <a:srgbClr val="3B8560"/>
                </a:solidFill>
                <a:latin typeface="Calibri" pitchFamily="34" charset="0"/>
                <a:ea typeface="Calibri" pitchFamily="34" charset="-122"/>
                <a:cs typeface="Calibri" pitchFamily="34" charset="-120"/>
              </a:rPr>
              <a:t>strong </a:t>
            </a:r>
            <a:pPr indent="0" marL="0">
              <a:lnSpc>
                <a:spcPct val="103000"/>
              </a:lnSpc>
              <a:spcAft>
                <a:spcPts val="700"/>
              </a:spcAft>
              <a:buNone/>
            </a:pPr>
            <a:r>
              <a:rPr lang="en-US" sz="940" i="1" dirty="0">
                <a:solidFill>
                  <a:srgbClr val="232A31"/>
                </a:solidFill>
                <a:latin typeface="Calibri" pitchFamily="34" charset="0"/>
                <a:ea typeface="Calibri" pitchFamily="34" charset="-122"/>
                <a:cs typeface="Calibri" pitchFamily="34" charset="-120"/>
              </a:rPr>
              <a:t>“You never invent numbers; you state n; you say what the data can’t answer.”</a:t>
            </a:r>
            <a:endParaRPr lang="en-US" sz="900" dirty="0"/>
          </a:p>
          <a:p>
            <a:pPr indent="0" marL="0">
              <a:lnSpc>
                <a:spcPct val="103000"/>
              </a:lnSpc>
              <a:buNone/>
            </a:pPr>
            <a:r>
              <a:rPr lang="en-US" sz="9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940" i="1" dirty="0">
                <a:solidFill>
                  <a:srgbClr val="46545F"/>
                </a:solidFill>
                <a:latin typeface="Calibri" pitchFamily="34" charset="0"/>
                <a:ea typeface="Calibri" pitchFamily="34" charset="-122"/>
                <a:cs typeface="Calibri" pitchFamily="34" charset="-120"/>
              </a:rPr>
              <a:t>“You are a helpful assistant.”</a:t>
            </a:r>
            <a:endParaRPr lang="en-US" sz="900" dirty="0"/>
          </a:p>
          <a:p>
            <a:pPr indent="0" marL="0">
              <a:lnSpc>
                <a:spcPct val="103000"/>
              </a:lnSpc>
              <a:buNone/>
            </a:pPr>
            <a:r>
              <a:rPr lang="en-US" sz="900" b="1" dirty="0">
                <a:solidFill>
                  <a:srgbClr val="3B8560"/>
                </a:solidFill>
                <a:latin typeface="Calibri" pitchFamily="34" charset="0"/>
                <a:ea typeface="Calibri" pitchFamily="34" charset="-122"/>
                <a:cs typeface="Calibri" pitchFamily="34" charset="-120"/>
              </a:rPr>
              <a:t>strong </a:t>
            </a:r>
            <a:pPr indent="0" marL="0">
              <a:lnSpc>
                <a:spcPct val="103000"/>
              </a:lnSpc>
              <a:buNone/>
            </a:pPr>
            <a:r>
              <a:rPr lang="en-US" sz="940" i="1" dirty="0">
                <a:solidFill>
                  <a:srgbClr val="232A31"/>
                </a:solidFill>
                <a:latin typeface="Calibri" pitchFamily="34" charset="0"/>
                <a:ea typeface="Calibri" pitchFamily="34" charset="-122"/>
                <a:cs typeface="Calibri" pitchFamily="34" charset="-120"/>
              </a:rPr>
              <a:t>“You challenge weak assumptions instead of agreeing; you flag uncertainty rather than smooth it over.”</a:t>
            </a:r>
            <a:endParaRPr lang="en-US" sz="900" dirty="0"/>
          </a:p>
        </p:txBody>
      </p:sp>
      <p:sp>
        <p:nvSpPr>
          <p:cNvPr id="11" name="Shape 9"/>
          <p:cNvSpPr/>
          <p:nvPr/>
        </p:nvSpPr>
        <p:spPr>
          <a:xfrm>
            <a:off x="502920" y="3840480"/>
            <a:ext cx="11155680" cy="2212848"/>
          </a:xfrm>
          <a:prstGeom prst="roundRect">
            <a:avLst>
              <a:gd name="adj" fmla="val 3306"/>
            </a:avLst>
          </a:prstGeom>
          <a:solidFill>
            <a:srgbClr val="F2F5F6"/>
          </a:solidFill>
          <a:ln/>
        </p:spPr>
      </p:sp>
      <p:sp>
        <p:nvSpPr>
          <p:cNvPr id="12" name="Text 10"/>
          <p:cNvSpPr/>
          <p:nvPr/>
        </p:nvSpPr>
        <p:spPr>
          <a:xfrm>
            <a:off x="749808" y="3950208"/>
            <a:ext cx="1965960" cy="365760"/>
          </a:xfrm>
          <a:prstGeom prst="rect">
            <a:avLst/>
          </a:prstGeom>
          <a:noFill/>
          <a:ln/>
        </p:spPr>
        <p:txBody>
          <a:bodyPr wrap="square" lIns="0" tIns="0" rIns="0" bIns="0" rtlCol="0" anchor="ctr"/>
          <a:lstStyle/>
          <a:p>
            <a:pPr indent="0" marL="0">
              <a:buNone/>
            </a:pPr>
            <a:r>
              <a:rPr lang="en-US" sz="1650" b="1" dirty="0">
                <a:solidFill>
                  <a:srgbClr val="0A5B5A"/>
                </a:solidFill>
                <a:latin typeface="Cambria" pitchFamily="34" charset="0"/>
                <a:ea typeface="Cambria" pitchFamily="34" charset="-122"/>
                <a:cs typeface="Cambria" pitchFamily="34" charset="-120"/>
              </a:rPr>
              <a:t>Task</a:t>
            </a:r>
            <a:endParaRPr lang="en-US" sz="1650" dirty="0"/>
          </a:p>
        </p:txBody>
      </p:sp>
      <p:sp>
        <p:nvSpPr>
          <p:cNvPr id="13" name="Text 11"/>
          <p:cNvSpPr/>
          <p:nvPr/>
        </p:nvSpPr>
        <p:spPr>
          <a:xfrm>
            <a:off x="749808" y="4334256"/>
            <a:ext cx="1965960" cy="1609344"/>
          </a:xfrm>
          <a:prstGeom prst="rect">
            <a:avLst/>
          </a:prstGeom>
          <a:noFill/>
          <a:ln/>
        </p:spPr>
        <p:txBody>
          <a:bodyPr wrap="square" lIns="0" tIns="0" rIns="0" bIns="0" rtlCol="0" anchor="ctr"/>
          <a:lstStyle/>
          <a:p>
            <a:pPr indent="0" marL="0">
              <a:lnSpc>
                <a:spcPct val="104000"/>
              </a:lnSpc>
              <a:buNone/>
            </a:pPr>
            <a:r>
              <a:rPr lang="en-US" sz="920" i="1" dirty="0">
                <a:solidFill>
                  <a:srgbClr val="232A31"/>
                </a:solidFill>
                <a:latin typeface="Calibri" pitchFamily="34" charset="0"/>
                <a:ea typeface="Calibri" pitchFamily="34" charset="-122"/>
                <a:cs typeface="Calibri" pitchFamily="34" charset="-120"/>
              </a:rPr>
              <a:t>verb + object + audience + success criterion — and the SEQUENCE, when order matters</a:t>
            </a:r>
            <a:endParaRPr lang="en-US" sz="920" dirty="0"/>
          </a:p>
        </p:txBody>
      </p:sp>
      <p:sp>
        <p:nvSpPr>
          <p:cNvPr id="14" name="Text 12"/>
          <p:cNvSpPr/>
          <p:nvPr/>
        </p:nvSpPr>
        <p:spPr>
          <a:xfrm>
            <a:off x="2852928" y="3931920"/>
            <a:ext cx="4800600" cy="2029968"/>
          </a:xfrm>
          <a:prstGeom prst="rect">
            <a:avLst/>
          </a:prstGeom>
          <a:noFill/>
          <a:ln/>
        </p:spPr>
        <p:txBody>
          <a:bodyPr wrap="square" lIns="0" tIns="0" rIns="0" bIns="0" rtlCol="0" anchor="ctr"/>
          <a:lstStyle/>
          <a:p>
            <a:pPr indent="0" marL="0">
              <a:lnSpc>
                <a:spcPct val="107000"/>
              </a:lnSpc>
              <a:buNone/>
            </a:pPr>
            <a:r>
              <a:rPr lang="en-US" sz="1020" b="1" dirty="0">
                <a:solidFill>
                  <a:srgbClr val="3B8560"/>
                </a:solidFill>
                <a:latin typeface="Calibri" pitchFamily="34" charset="0"/>
                <a:ea typeface="Calibri" pitchFamily="34" charset="-122"/>
                <a:cs typeface="Calibri" pitchFamily="34" charset="-120"/>
              </a:rPr>
              <a:t>What you get — </a:t>
            </a:r>
            <a:pPr indent="0" marL="0">
              <a:lnSpc>
                <a:spcPct val="107000"/>
              </a:lnSpc>
              <a:spcAft>
                <a:spcPts val="500"/>
              </a:spcAft>
              <a:buNone/>
            </a:pPr>
            <a:r>
              <a:rPr lang="en-US" sz="1020" dirty="0">
                <a:solidFill>
                  <a:srgbClr val="46545F"/>
                </a:solidFill>
                <a:latin typeface="Calibri" pitchFamily="34" charset="0"/>
                <a:ea typeface="Calibri" pitchFamily="34" charset="-122"/>
                <a:cs typeface="Calibri" pitchFamily="34" charset="-120"/>
              </a:rPr>
              <a:t>an answer to YOUR question, sized for its audience — and a model that knows when it is done.</a:t>
            </a:r>
            <a:endParaRPr lang="en-US" sz="1020" dirty="0"/>
          </a:p>
          <a:p>
            <a:pPr indent="0" marL="0">
              <a:lnSpc>
                <a:spcPct val="107000"/>
              </a:lnSpc>
              <a:buNone/>
            </a:pPr>
            <a:r>
              <a:rPr lang="en-US" sz="1020" b="1" dirty="0">
                <a:solidFill>
                  <a:srgbClr val="232A31"/>
                </a:solidFill>
                <a:latin typeface="Calibri" pitchFamily="34" charset="0"/>
                <a:ea typeface="Calibri" pitchFamily="34" charset="-122"/>
                <a:cs typeface="Calibri" pitchFamily="34" charset="-120"/>
              </a:rPr>
              <a:t>Why — </a:t>
            </a:r>
            <a:pPr indent="0" marL="0">
              <a:lnSpc>
                <a:spcPct val="107000"/>
              </a:lnSpc>
              <a:buNone/>
            </a:pPr>
            <a:r>
              <a:rPr lang="en-US" sz="1020" dirty="0">
                <a:solidFill>
                  <a:srgbClr val="46545F"/>
                </a:solidFill>
                <a:latin typeface="Calibri" pitchFamily="34" charset="0"/>
                <a:ea typeface="Calibri" pitchFamily="34" charset="-122"/>
                <a:cs typeface="Calibri" pitchFamily="34" charset="-120"/>
              </a:rPr>
              <a:t>every requirement you leave unsaid is a coin flip: models guess unstated intent right only ~41% of the time. A precise ask carries its own completion test — and when order matters, sequence IS the task: say what happens first, and what must wait. </a:t>
            </a:r>
            <a:pPr indent="0" marL="0">
              <a:lnSpc>
                <a:spcPct val="107000"/>
              </a:lnSpc>
              <a:buNone/>
            </a:pPr>
            <a:r>
              <a:rPr lang="en-US" sz="860" i="1" dirty="0">
                <a:solidFill>
                  <a:srgbClr val="7A8790"/>
                </a:solidFill>
                <a:latin typeface="Calibri" pitchFamily="34" charset="0"/>
                <a:ea typeface="Calibri" pitchFamily="34" charset="-122"/>
                <a:cs typeface="Calibri" pitchFamily="34" charset="-120"/>
              </a:rPr>
              <a:t>(Yang et al. 2025)</a:t>
            </a:r>
            <a:endParaRPr lang="en-US" sz="1020" dirty="0"/>
          </a:p>
        </p:txBody>
      </p:sp>
      <p:sp>
        <p:nvSpPr>
          <p:cNvPr id="15" name="Text 13"/>
          <p:cNvSpPr/>
          <p:nvPr/>
        </p:nvSpPr>
        <p:spPr>
          <a:xfrm>
            <a:off x="7818120" y="3931920"/>
            <a:ext cx="3657600" cy="2029968"/>
          </a:xfrm>
          <a:prstGeom prst="rect">
            <a:avLst/>
          </a:prstGeom>
          <a:noFill/>
          <a:ln/>
        </p:spPr>
        <p:txBody>
          <a:bodyPr wrap="square" lIns="0" tIns="0" rIns="0" bIns="0" rtlCol="0" anchor="ctr"/>
          <a:lstStyle/>
          <a:p>
            <a:pPr indent="0" marL="0">
              <a:lnSpc>
                <a:spcPct val="103000"/>
              </a:lnSpc>
              <a:buNone/>
            </a:pPr>
            <a:r>
              <a:rPr lang="en-US" sz="9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940" i="1" dirty="0">
                <a:solidFill>
                  <a:srgbClr val="46545F"/>
                </a:solidFill>
                <a:latin typeface="Calibri" pitchFamily="34" charset="0"/>
                <a:ea typeface="Calibri" pitchFamily="34" charset="-122"/>
                <a:cs typeface="Calibri" pitchFamily="34" charset="-120"/>
              </a:rPr>
              <a:t>“Analyze the returns data.”</a:t>
            </a:r>
            <a:endParaRPr lang="en-US" sz="900" dirty="0"/>
          </a:p>
          <a:p>
            <a:pPr indent="0" marL="0">
              <a:lnSpc>
                <a:spcPct val="103000"/>
              </a:lnSpc>
              <a:buNone/>
            </a:pPr>
            <a:r>
              <a:rPr lang="en-US" sz="900" b="1" dirty="0">
                <a:solidFill>
                  <a:srgbClr val="3B8560"/>
                </a:solidFill>
                <a:latin typeface="Calibri" pitchFamily="34" charset="0"/>
                <a:ea typeface="Calibri" pitchFamily="34" charset="-122"/>
                <a:cs typeface="Calibri" pitchFamily="34" charset="-120"/>
              </a:rPr>
              <a:t>strong </a:t>
            </a:r>
            <a:pPr indent="0" marL="0">
              <a:lnSpc>
                <a:spcPct val="103000"/>
              </a:lnSpc>
              <a:spcAft>
                <a:spcPts val="700"/>
              </a:spcAft>
              <a:buNone/>
            </a:pPr>
            <a:r>
              <a:rPr lang="en-US" sz="940" i="1" dirty="0">
                <a:solidFill>
                  <a:srgbClr val="232A31"/>
                </a:solidFill>
                <a:latin typeface="Calibri" pitchFamily="34" charset="0"/>
                <a:ea typeface="Calibri" pitchFamily="34" charset="-122"/>
                <a:cs typeface="Calibri" pitchFamily="34" charset="-120"/>
              </a:rPr>
              <a:t>“What is the return rate by site for Q2, vs the 2% target?”</a:t>
            </a:r>
            <a:endParaRPr lang="en-US" sz="900" dirty="0"/>
          </a:p>
          <a:p>
            <a:pPr indent="0" marL="0">
              <a:lnSpc>
                <a:spcPct val="103000"/>
              </a:lnSpc>
              <a:buNone/>
            </a:pPr>
            <a:r>
              <a:rPr lang="en-US" sz="9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940" i="1" dirty="0">
                <a:solidFill>
                  <a:srgbClr val="46545F"/>
                </a:solidFill>
                <a:latin typeface="Calibri" pitchFamily="34" charset="0"/>
                <a:ea typeface="Calibri" pitchFamily="34" charset="-122"/>
                <a:cs typeface="Calibri" pitchFamily="34" charset="-120"/>
              </a:rPr>
              <a:t>“Improve this report.”</a:t>
            </a:r>
            <a:endParaRPr lang="en-US" sz="900" dirty="0"/>
          </a:p>
          <a:p>
            <a:pPr indent="0" marL="0">
              <a:lnSpc>
                <a:spcPct val="103000"/>
              </a:lnSpc>
              <a:buNone/>
            </a:pPr>
            <a:r>
              <a:rPr lang="en-US" sz="900" b="1" dirty="0">
                <a:solidFill>
                  <a:srgbClr val="3B8560"/>
                </a:solidFill>
                <a:latin typeface="Calibri" pitchFamily="34" charset="0"/>
                <a:ea typeface="Calibri" pitchFamily="34" charset="-122"/>
                <a:cs typeface="Calibri" pitchFamily="34" charset="-120"/>
              </a:rPr>
              <a:t>strong </a:t>
            </a:r>
            <a:pPr indent="0" marL="0">
              <a:lnSpc>
                <a:spcPct val="103000"/>
              </a:lnSpc>
              <a:buNone/>
            </a:pPr>
            <a:r>
              <a:rPr lang="en-US" sz="940" i="1" dirty="0">
                <a:solidFill>
                  <a:srgbClr val="232A31"/>
                </a:solidFill>
                <a:latin typeface="Calibri" pitchFamily="34" charset="0"/>
                <a:ea typeface="Calibri" pitchFamily="34" charset="-122"/>
                <a:cs typeface="Calibri" pitchFamily="34" charset="-120"/>
              </a:rPr>
              <a:t>“First: list the three weakest sections, then WAIT. Rewrite only the one I pick.”</a:t>
            </a:r>
            <a:endParaRPr lang="en-US" sz="900" dirty="0"/>
          </a:p>
        </p:txBody>
      </p:sp>
      <p:sp>
        <p:nvSpPr>
          <p:cNvPr id="16" name="Text 14"/>
          <p:cNvSpPr/>
          <p:nvPr/>
        </p:nvSpPr>
        <p:spPr>
          <a:xfrm>
            <a:off x="502920" y="6199632"/>
            <a:ext cx="11155680" cy="274320"/>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Read each pair aloud — the weak→strong contrast is the lesson.</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THE ELEMENTS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25</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ELEMENTS · WHAT EACH BUYS YOU — 2 OF 3</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Context &amp; Format: the facts, and the contract</a:t>
            </a:r>
            <a:endParaRPr lang="en-US" sz="3000" dirty="0"/>
          </a:p>
        </p:txBody>
      </p:sp>
      <p:sp>
        <p:nvSpPr>
          <p:cNvPr id="6" name="Shape 4"/>
          <p:cNvSpPr/>
          <p:nvPr/>
        </p:nvSpPr>
        <p:spPr>
          <a:xfrm>
            <a:off x="502920" y="1481328"/>
            <a:ext cx="11155680" cy="2212848"/>
          </a:xfrm>
          <a:prstGeom prst="roundRect">
            <a:avLst>
              <a:gd name="adj" fmla="val 3306"/>
            </a:avLst>
          </a:prstGeom>
          <a:solidFill>
            <a:srgbClr val="F2F5F6"/>
          </a:solidFill>
          <a:ln/>
        </p:spPr>
      </p:sp>
      <p:sp>
        <p:nvSpPr>
          <p:cNvPr id="7" name="Text 5"/>
          <p:cNvSpPr/>
          <p:nvPr/>
        </p:nvSpPr>
        <p:spPr>
          <a:xfrm>
            <a:off x="749808" y="1591056"/>
            <a:ext cx="1965960" cy="365760"/>
          </a:xfrm>
          <a:prstGeom prst="rect">
            <a:avLst/>
          </a:prstGeom>
          <a:noFill/>
          <a:ln/>
        </p:spPr>
        <p:txBody>
          <a:bodyPr wrap="square" lIns="0" tIns="0" rIns="0" bIns="0" rtlCol="0" anchor="ctr"/>
          <a:lstStyle/>
          <a:p>
            <a:pPr indent="0" marL="0">
              <a:buNone/>
            </a:pPr>
            <a:r>
              <a:rPr lang="en-US" sz="1650" b="1" dirty="0">
                <a:solidFill>
                  <a:srgbClr val="0A5B5A"/>
                </a:solidFill>
                <a:latin typeface="Cambria" pitchFamily="34" charset="0"/>
                <a:ea typeface="Cambria" pitchFamily="34" charset="-122"/>
                <a:cs typeface="Cambria" pitchFamily="34" charset="-120"/>
              </a:rPr>
              <a:t>Context</a:t>
            </a:r>
            <a:endParaRPr lang="en-US" sz="1650" dirty="0"/>
          </a:p>
        </p:txBody>
      </p:sp>
      <p:sp>
        <p:nvSpPr>
          <p:cNvPr id="8" name="Text 6"/>
          <p:cNvSpPr/>
          <p:nvPr/>
        </p:nvSpPr>
        <p:spPr>
          <a:xfrm>
            <a:off x="749808" y="1975104"/>
            <a:ext cx="1965960" cy="1609344"/>
          </a:xfrm>
          <a:prstGeom prst="rect">
            <a:avLst/>
          </a:prstGeom>
          <a:noFill/>
          <a:ln/>
        </p:spPr>
        <p:txBody>
          <a:bodyPr wrap="square" lIns="0" tIns="0" rIns="0" bIns="0" rtlCol="0" anchor="ctr"/>
          <a:lstStyle/>
          <a:p>
            <a:pPr indent="0" marL="0">
              <a:lnSpc>
                <a:spcPct val="104000"/>
              </a:lnSpc>
              <a:buNone/>
            </a:pPr>
            <a:r>
              <a:rPr lang="en-US" sz="920" i="1" dirty="0">
                <a:solidFill>
                  <a:srgbClr val="232A31"/>
                </a:solidFill>
                <a:latin typeface="Calibri" pitchFamily="34" charset="0"/>
                <a:ea typeface="Calibri" pitchFamily="34" charset="-122"/>
                <a:cs typeface="Calibri" pitchFamily="34" charset="-120"/>
              </a:rPr>
              <a:t>what the model cannot know on its own</a:t>
            </a:r>
            <a:endParaRPr lang="en-US" sz="920" dirty="0"/>
          </a:p>
        </p:txBody>
      </p:sp>
      <p:sp>
        <p:nvSpPr>
          <p:cNvPr id="9" name="Text 7"/>
          <p:cNvSpPr/>
          <p:nvPr/>
        </p:nvSpPr>
        <p:spPr>
          <a:xfrm>
            <a:off x="2852928" y="1572768"/>
            <a:ext cx="4800600" cy="2029968"/>
          </a:xfrm>
          <a:prstGeom prst="rect">
            <a:avLst/>
          </a:prstGeom>
          <a:noFill/>
          <a:ln/>
        </p:spPr>
        <p:txBody>
          <a:bodyPr wrap="square" lIns="0" tIns="0" rIns="0" bIns="0" rtlCol="0" anchor="ctr"/>
          <a:lstStyle/>
          <a:p>
            <a:pPr indent="0" marL="0">
              <a:lnSpc>
                <a:spcPct val="107000"/>
              </a:lnSpc>
              <a:buNone/>
            </a:pPr>
            <a:r>
              <a:rPr lang="en-US" sz="1020" b="1" dirty="0">
                <a:solidFill>
                  <a:srgbClr val="3B8560"/>
                </a:solidFill>
                <a:latin typeface="Calibri" pitchFamily="34" charset="0"/>
                <a:ea typeface="Calibri" pitchFamily="34" charset="-122"/>
                <a:cs typeface="Calibri" pitchFamily="34" charset="-120"/>
              </a:rPr>
              <a:t>What you get — </a:t>
            </a:r>
            <a:pPr indent="0" marL="0">
              <a:lnSpc>
                <a:spcPct val="107000"/>
              </a:lnSpc>
              <a:spcAft>
                <a:spcPts val="500"/>
              </a:spcAft>
              <a:buNone/>
            </a:pPr>
            <a:r>
              <a:rPr lang="en-US" sz="1020" dirty="0">
                <a:solidFill>
                  <a:srgbClr val="46545F"/>
                </a:solidFill>
                <a:latin typeface="Calibri" pitchFamily="34" charset="0"/>
                <a:ea typeface="Calibri" pitchFamily="34" charset="-122"/>
                <a:cs typeface="Calibri" pitchFamily="34" charset="-120"/>
              </a:rPr>
              <a:t>answers that are right for US — your definitions, your quirks, your constraints — instead of generically right.</a:t>
            </a:r>
            <a:endParaRPr lang="en-US" sz="1020" dirty="0"/>
          </a:p>
          <a:p>
            <a:pPr indent="0" marL="0">
              <a:lnSpc>
                <a:spcPct val="107000"/>
              </a:lnSpc>
              <a:buNone/>
            </a:pPr>
            <a:r>
              <a:rPr lang="en-US" sz="1020" b="1" dirty="0">
                <a:solidFill>
                  <a:srgbClr val="232A31"/>
                </a:solidFill>
                <a:latin typeface="Calibri" pitchFamily="34" charset="0"/>
                <a:ea typeface="Calibri" pitchFamily="34" charset="-122"/>
                <a:cs typeface="Calibri" pitchFamily="34" charset="-120"/>
              </a:rPr>
              <a:t>Why — </a:t>
            </a:r>
            <a:pPr indent="0" marL="0">
              <a:lnSpc>
                <a:spcPct val="107000"/>
              </a:lnSpc>
              <a:buNone/>
            </a:pPr>
            <a:r>
              <a:rPr lang="en-US" sz="1020" dirty="0">
                <a:solidFill>
                  <a:srgbClr val="46545F"/>
                </a:solidFill>
                <a:latin typeface="Calibri" pitchFamily="34" charset="0"/>
                <a:ea typeface="Calibri" pitchFamily="34" charset="-122"/>
                <a:cs typeface="Calibri" pitchFamily="34" charset="-120"/>
              </a:rPr>
              <a:t>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a:t>
            </a:r>
            <a:pPr indent="0" marL="0">
              <a:lnSpc>
                <a:spcPct val="107000"/>
              </a:lnSpc>
              <a:buNone/>
            </a:pPr>
            <a:r>
              <a:rPr lang="en-US" sz="860" i="1" dirty="0">
                <a:solidFill>
                  <a:srgbClr val="7A8790"/>
                </a:solidFill>
                <a:latin typeface="Calibri" pitchFamily="34" charset="0"/>
                <a:ea typeface="Calibri" pitchFamily="34" charset="-122"/>
                <a:cs typeface="Calibri" pitchFamily="34" charset="-120"/>
              </a:rPr>
              <a:t>(Zhou 2023 · Omar 2025)</a:t>
            </a:r>
            <a:endParaRPr lang="en-US" sz="1020" dirty="0"/>
          </a:p>
        </p:txBody>
      </p:sp>
      <p:sp>
        <p:nvSpPr>
          <p:cNvPr id="10" name="Text 8"/>
          <p:cNvSpPr/>
          <p:nvPr/>
        </p:nvSpPr>
        <p:spPr>
          <a:xfrm>
            <a:off x="7818120" y="1572768"/>
            <a:ext cx="3657600" cy="2029968"/>
          </a:xfrm>
          <a:prstGeom prst="rect">
            <a:avLst/>
          </a:prstGeom>
          <a:noFill/>
          <a:ln/>
        </p:spPr>
        <p:txBody>
          <a:bodyPr wrap="square" lIns="0" tIns="0" rIns="0" bIns="0" rtlCol="0" anchor="ctr"/>
          <a:lstStyle/>
          <a:p>
            <a:pPr indent="0" marL="0">
              <a:lnSpc>
                <a:spcPct val="103000"/>
              </a:lnSpc>
              <a:buNone/>
            </a:pPr>
            <a:r>
              <a:rPr lang="en-US" sz="9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940" i="1" dirty="0">
                <a:solidFill>
                  <a:srgbClr val="46545F"/>
                </a:solidFill>
                <a:latin typeface="Calibri" pitchFamily="34" charset="0"/>
                <a:ea typeface="Calibri" pitchFamily="34" charset="-122"/>
                <a:cs typeface="Calibri" pitchFamily="34" charset="-120"/>
              </a:rPr>
              <a:t>“Use our standard definitions.”</a:t>
            </a:r>
            <a:endParaRPr lang="en-US" sz="900" dirty="0"/>
          </a:p>
          <a:p>
            <a:pPr indent="0" marL="0">
              <a:lnSpc>
                <a:spcPct val="103000"/>
              </a:lnSpc>
              <a:buNone/>
            </a:pPr>
            <a:r>
              <a:rPr lang="en-US" sz="900" b="1" dirty="0">
                <a:solidFill>
                  <a:srgbClr val="3B8560"/>
                </a:solidFill>
                <a:latin typeface="Calibri" pitchFamily="34" charset="0"/>
                <a:ea typeface="Calibri" pitchFamily="34" charset="-122"/>
                <a:cs typeface="Calibri" pitchFamily="34" charset="-120"/>
              </a:rPr>
              <a:t>strong </a:t>
            </a:r>
            <a:pPr indent="0" marL="0">
              <a:lnSpc>
                <a:spcPct val="103000"/>
              </a:lnSpc>
              <a:spcAft>
                <a:spcPts val="700"/>
              </a:spcAft>
              <a:buNone/>
            </a:pPr>
            <a:r>
              <a:rPr lang="en-US" sz="940" i="1" dirty="0">
                <a:solidFill>
                  <a:srgbClr val="232A31"/>
                </a:solidFill>
                <a:latin typeface="Calibri" pitchFamily="34" charset="0"/>
                <a:ea typeface="Calibri" pitchFamily="34" charset="-122"/>
                <a:cs typeface="Calibri" pitchFamily="34" charset="-120"/>
              </a:rPr>
              <a:t>“Return rate = returns ÷ shipped. Quirk: the export has a totals row — exclude it and say so.”</a:t>
            </a:r>
            <a:endParaRPr lang="en-US" sz="900" dirty="0"/>
          </a:p>
          <a:p>
            <a:pPr indent="0" marL="0">
              <a:lnSpc>
                <a:spcPct val="103000"/>
              </a:lnSpc>
              <a:buNone/>
            </a:pPr>
            <a:r>
              <a:rPr lang="en-US" sz="9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940" i="1" dirty="0">
                <a:solidFill>
                  <a:srgbClr val="46545F"/>
                </a:solidFill>
                <a:latin typeface="Calibri" pitchFamily="34" charset="0"/>
                <a:ea typeface="Calibri" pitchFamily="34" charset="-122"/>
                <a:cs typeface="Calibri" pitchFamily="34" charset="-120"/>
              </a:rPr>
              <a:t>“You know our business.”</a:t>
            </a:r>
            <a:endParaRPr lang="en-US" sz="900" dirty="0"/>
          </a:p>
          <a:p>
            <a:pPr indent="0" marL="0">
              <a:lnSpc>
                <a:spcPct val="103000"/>
              </a:lnSpc>
              <a:buNone/>
            </a:pPr>
            <a:r>
              <a:rPr lang="en-US" sz="900" b="1" dirty="0">
                <a:solidFill>
                  <a:srgbClr val="3B8560"/>
                </a:solidFill>
                <a:latin typeface="Calibri" pitchFamily="34" charset="0"/>
                <a:ea typeface="Calibri" pitchFamily="34" charset="-122"/>
                <a:cs typeface="Calibri" pitchFamily="34" charset="-120"/>
              </a:rPr>
              <a:t>strong </a:t>
            </a:r>
            <a:pPr indent="0" marL="0">
              <a:lnSpc>
                <a:spcPct val="103000"/>
              </a:lnSpc>
              <a:buNone/>
            </a:pPr>
            <a:r>
              <a:rPr lang="en-US" sz="940" i="1" dirty="0">
                <a:solidFill>
                  <a:srgbClr val="232A31"/>
                </a:solidFill>
                <a:latin typeface="Calibri" pitchFamily="34" charset="0"/>
                <a:ea typeface="Calibri" pitchFamily="34" charset="-122"/>
                <a:cs typeface="Calibri" pitchFamily="34" charset="-120"/>
              </a:rPr>
              <a:t>“We’re a mid-size electronics manufacturer; ‘returns’ means warranty returns, not cancelled orders.”</a:t>
            </a:r>
            <a:endParaRPr lang="en-US" sz="900" dirty="0"/>
          </a:p>
        </p:txBody>
      </p:sp>
      <p:sp>
        <p:nvSpPr>
          <p:cNvPr id="11" name="Shape 9"/>
          <p:cNvSpPr/>
          <p:nvPr/>
        </p:nvSpPr>
        <p:spPr>
          <a:xfrm>
            <a:off x="502920" y="3840480"/>
            <a:ext cx="11155680" cy="2212848"/>
          </a:xfrm>
          <a:prstGeom prst="roundRect">
            <a:avLst>
              <a:gd name="adj" fmla="val 3306"/>
            </a:avLst>
          </a:prstGeom>
          <a:solidFill>
            <a:srgbClr val="F2F5F6"/>
          </a:solidFill>
          <a:ln/>
        </p:spPr>
      </p:sp>
      <p:sp>
        <p:nvSpPr>
          <p:cNvPr id="12" name="Text 10"/>
          <p:cNvSpPr/>
          <p:nvPr/>
        </p:nvSpPr>
        <p:spPr>
          <a:xfrm>
            <a:off x="749808" y="3950208"/>
            <a:ext cx="1965960" cy="365760"/>
          </a:xfrm>
          <a:prstGeom prst="rect">
            <a:avLst/>
          </a:prstGeom>
          <a:noFill/>
          <a:ln/>
        </p:spPr>
        <p:txBody>
          <a:bodyPr wrap="square" lIns="0" tIns="0" rIns="0" bIns="0" rtlCol="0" anchor="ctr"/>
          <a:lstStyle/>
          <a:p>
            <a:pPr indent="0" marL="0">
              <a:buNone/>
            </a:pPr>
            <a:r>
              <a:rPr lang="en-US" sz="1650" b="1" dirty="0">
                <a:solidFill>
                  <a:srgbClr val="0A5B5A"/>
                </a:solidFill>
                <a:latin typeface="Cambria" pitchFamily="34" charset="0"/>
                <a:ea typeface="Cambria" pitchFamily="34" charset="-122"/>
                <a:cs typeface="Cambria" pitchFamily="34" charset="-120"/>
              </a:rPr>
              <a:t>Format</a:t>
            </a:r>
            <a:endParaRPr lang="en-US" sz="1650" dirty="0"/>
          </a:p>
        </p:txBody>
      </p:sp>
      <p:sp>
        <p:nvSpPr>
          <p:cNvPr id="13" name="Text 11"/>
          <p:cNvSpPr/>
          <p:nvPr/>
        </p:nvSpPr>
        <p:spPr>
          <a:xfrm>
            <a:off x="749808" y="4334256"/>
            <a:ext cx="1965960" cy="1609344"/>
          </a:xfrm>
          <a:prstGeom prst="rect">
            <a:avLst/>
          </a:prstGeom>
          <a:noFill/>
          <a:ln/>
        </p:spPr>
        <p:txBody>
          <a:bodyPr wrap="square" lIns="0" tIns="0" rIns="0" bIns="0" rtlCol="0" anchor="ctr"/>
          <a:lstStyle/>
          <a:p>
            <a:pPr indent="0" marL="0">
              <a:lnSpc>
                <a:spcPct val="104000"/>
              </a:lnSpc>
              <a:buNone/>
            </a:pPr>
            <a:r>
              <a:rPr lang="en-US" sz="920" i="1" dirty="0">
                <a:solidFill>
                  <a:srgbClr val="232A31"/>
                </a:solidFill>
                <a:latin typeface="Calibri" pitchFamily="34" charset="0"/>
                <a:ea typeface="Calibri" pitchFamily="34" charset="-122"/>
                <a:cs typeface="Calibri" pitchFamily="34" charset="-120"/>
              </a:rPr>
              <a:t>the output contract — shape, cap, tone</a:t>
            </a:r>
            <a:endParaRPr lang="en-US" sz="920" dirty="0"/>
          </a:p>
        </p:txBody>
      </p:sp>
      <p:sp>
        <p:nvSpPr>
          <p:cNvPr id="14" name="Text 12"/>
          <p:cNvSpPr/>
          <p:nvPr/>
        </p:nvSpPr>
        <p:spPr>
          <a:xfrm>
            <a:off x="2852928" y="3931920"/>
            <a:ext cx="4800600" cy="2029968"/>
          </a:xfrm>
          <a:prstGeom prst="rect">
            <a:avLst/>
          </a:prstGeom>
          <a:noFill/>
          <a:ln/>
        </p:spPr>
        <p:txBody>
          <a:bodyPr wrap="square" lIns="0" tIns="0" rIns="0" bIns="0" rtlCol="0" anchor="ctr"/>
          <a:lstStyle/>
          <a:p>
            <a:pPr indent="0" marL="0">
              <a:lnSpc>
                <a:spcPct val="107000"/>
              </a:lnSpc>
              <a:buNone/>
            </a:pPr>
            <a:r>
              <a:rPr lang="en-US" sz="1020" b="1" dirty="0">
                <a:solidFill>
                  <a:srgbClr val="3B8560"/>
                </a:solidFill>
                <a:latin typeface="Calibri" pitchFamily="34" charset="0"/>
                <a:ea typeface="Calibri" pitchFamily="34" charset="-122"/>
                <a:cs typeface="Calibri" pitchFamily="34" charset="-120"/>
              </a:rPr>
              <a:t>What you get — </a:t>
            </a:r>
            <a:pPr indent="0" marL="0">
              <a:lnSpc>
                <a:spcPct val="107000"/>
              </a:lnSpc>
              <a:spcAft>
                <a:spcPts val="500"/>
              </a:spcAft>
              <a:buNone/>
            </a:pPr>
            <a:r>
              <a:rPr lang="en-US" sz="1020" dirty="0">
                <a:solidFill>
                  <a:srgbClr val="46545F"/>
                </a:solidFill>
                <a:latin typeface="Calibri" pitchFamily="34" charset="0"/>
                <a:ea typeface="Calibri" pitchFamily="34" charset="-122"/>
                <a:cs typeface="Calibri" pitchFamily="34" charset="-120"/>
              </a:rPr>
              <a:t>output you can use as-is: right shape, right length, no reformatting pass — and answers you can compare across runs.</a:t>
            </a:r>
            <a:endParaRPr lang="en-US" sz="1020" dirty="0"/>
          </a:p>
          <a:p>
            <a:pPr indent="0" marL="0">
              <a:lnSpc>
                <a:spcPct val="107000"/>
              </a:lnSpc>
              <a:buNone/>
            </a:pPr>
            <a:r>
              <a:rPr lang="en-US" sz="1020" b="1" dirty="0">
                <a:solidFill>
                  <a:srgbClr val="232A31"/>
                </a:solidFill>
                <a:latin typeface="Calibri" pitchFamily="34" charset="0"/>
                <a:ea typeface="Calibri" pitchFamily="34" charset="-122"/>
                <a:cs typeface="Calibri" pitchFamily="34" charset="-120"/>
              </a:rPr>
              <a:t>Why — </a:t>
            </a:r>
            <a:pPr indent="0" marL="0">
              <a:lnSpc>
                <a:spcPct val="107000"/>
              </a:lnSpc>
              <a:buNone/>
            </a:pPr>
            <a:r>
              <a:rPr lang="en-US" sz="1020" dirty="0">
                <a:solidFill>
                  <a:srgbClr val="46545F"/>
                </a:solidFill>
                <a:latin typeface="Calibri" pitchFamily="34" charset="0"/>
                <a:ea typeface="Calibri" pitchFamily="34" charset="-122"/>
                <a:cs typeface="Calibri" pitchFamily="34" charset="-120"/>
              </a:rPr>
              <a:t>a numeric cap is enforceable; “short and professional” is a mood the model interprets freely. Spelling out structure is nearly free reliability — schema-enforced output went from under 40% to 100% compliant. </a:t>
            </a:r>
            <a:pPr indent="0" marL="0">
              <a:lnSpc>
                <a:spcPct val="107000"/>
              </a:lnSpc>
              <a:buNone/>
            </a:pPr>
            <a:r>
              <a:rPr lang="en-US" sz="860" i="1" dirty="0">
                <a:solidFill>
                  <a:srgbClr val="7A8790"/>
                </a:solidFill>
                <a:latin typeface="Calibri" pitchFamily="34" charset="0"/>
                <a:ea typeface="Calibri" pitchFamily="34" charset="-122"/>
                <a:cs typeface="Calibri" pitchFamily="34" charset="-120"/>
              </a:rPr>
              <a:t>(OpenAI 2024 · JSONSchemaBench 2025)</a:t>
            </a:r>
            <a:endParaRPr lang="en-US" sz="1020" dirty="0"/>
          </a:p>
        </p:txBody>
      </p:sp>
      <p:sp>
        <p:nvSpPr>
          <p:cNvPr id="15" name="Text 13"/>
          <p:cNvSpPr/>
          <p:nvPr/>
        </p:nvSpPr>
        <p:spPr>
          <a:xfrm>
            <a:off x="7818120" y="3931920"/>
            <a:ext cx="3657600" cy="2029968"/>
          </a:xfrm>
          <a:prstGeom prst="rect">
            <a:avLst/>
          </a:prstGeom>
          <a:noFill/>
          <a:ln/>
        </p:spPr>
        <p:txBody>
          <a:bodyPr wrap="square" lIns="0" tIns="0" rIns="0" bIns="0" rtlCol="0" anchor="ctr"/>
          <a:lstStyle/>
          <a:p>
            <a:pPr indent="0" marL="0">
              <a:lnSpc>
                <a:spcPct val="103000"/>
              </a:lnSpc>
              <a:buNone/>
            </a:pPr>
            <a:r>
              <a:rPr lang="en-US" sz="9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940" i="1" dirty="0">
                <a:solidFill>
                  <a:srgbClr val="46545F"/>
                </a:solidFill>
                <a:latin typeface="Calibri" pitchFamily="34" charset="0"/>
                <a:ea typeface="Calibri" pitchFamily="34" charset="-122"/>
                <a:cs typeface="Calibri" pitchFamily="34" charset="-120"/>
              </a:rPr>
              <a:t>“Keep it short and professional.”</a:t>
            </a:r>
            <a:endParaRPr lang="en-US" sz="900" dirty="0"/>
          </a:p>
          <a:p>
            <a:pPr indent="0" marL="0">
              <a:lnSpc>
                <a:spcPct val="103000"/>
              </a:lnSpc>
              <a:buNone/>
            </a:pPr>
            <a:r>
              <a:rPr lang="en-US" sz="900" b="1" dirty="0">
                <a:solidFill>
                  <a:srgbClr val="3B8560"/>
                </a:solidFill>
                <a:latin typeface="Calibri" pitchFamily="34" charset="0"/>
                <a:ea typeface="Calibri" pitchFamily="34" charset="-122"/>
                <a:cs typeface="Calibri" pitchFamily="34" charset="-120"/>
              </a:rPr>
              <a:t>strong </a:t>
            </a:r>
            <a:pPr indent="0" marL="0">
              <a:lnSpc>
                <a:spcPct val="103000"/>
              </a:lnSpc>
              <a:spcAft>
                <a:spcPts val="700"/>
              </a:spcAft>
              <a:buNone/>
            </a:pPr>
            <a:r>
              <a:rPr lang="en-US" sz="940" i="1" dirty="0">
                <a:solidFill>
                  <a:srgbClr val="232A31"/>
                </a:solidFill>
                <a:latin typeface="Calibri" pitchFamily="34" charset="0"/>
                <a:ea typeface="Calibri" pitchFamily="34" charset="-122"/>
                <a:cs typeface="Calibri" pitchFamily="34" charset="-120"/>
              </a:rPr>
              <a:t>“≤ 120 words: the ask in sentence one, two facts with numbers, the deadline.”</a:t>
            </a:r>
            <a:endParaRPr lang="en-US" sz="900" dirty="0"/>
          </a:p>
          <a:p>
            <a:pPr indent="0" marL="0">
              <a:lnSpc>
                <a:spcPct val="103000"/>
              </a:lnSpc>
              <a:buNone/>
            </a:pPr>
            <a:r>
              <a:rPr lang="en-US" sz="9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940" i="1" dirty="0">
                <a:solidFill>
                  <a:srgbClr val="46545F"/>
                </a:solidFill>
                <a:latin typeface="Calibri" pitchFamily="34" charset="0"/>
                <a:ea typeface="Calibri" pitchFamily="34" charset="-122"/>
                <a:cs typeface="Calibri" pitchFamily="34" charset="-120"/>
              </a:rPr>
              <a:t>“Make it a nice table.”</a:t>
            </a:r>
            <a:endParaRPr lang="en-US" sz="900" dirty="0"/>
          </a:p>
          <a:p>
            <a:pPr indent="0" marL="0">
              <a:lnSpc>
                <a:spcPct val="103000"/>
              </a:lnSpc>
              <a:buNone/>
            </a:pPr>
            <a:r>
              <a:rPr lang="en-US" sz="900" b="1" dirty="0">
                <a:solidFill>
                  <a:srgbClr val="3B8560"/>
                </a:solidFill>
                <a:latin typeface="Calibri" pitchFamily="34" charset="0"/>
                <a:ea typeface="Calibri" pitchFamily="34" charset="-122"/>
                <a:cs typeface="Calibri" pitchFamily="34" charset="-120"/>
              </a:rPr>
              <a:t>strong </a:t>
            </a:r>
            <a:pPr indent="0" marL="0">
              <a:lnSpc>
                <a:spcPct val="103000"/>
              </a:lnSpc>
              <a:buNone/>
            </a:pPr>
            <a:r>
              <a:rPr lang="en-US" sz="940" i="1" dirty="0">
                <a:solidFill>
                  <a:srgbClr val="232A31"/>
                </a:solidFill>
                <a:latin typeface="Calibri" pitchFamily="34" charset="0"/>
                <a:ea typeface="Calibri" pitchFamily="34" charset="-122"/>
                <a:cs typeface="Calibri" pitchFamily="34" charset="-120"/>
              </a:rPr>
              <a:t>“A table with exactly: Site | Return rate | vs target | Trend — one row per site, worst first.”</a:t>
            </a:r>
            <a:endParaRPr lang="en-US" sz="900" dirty="0"/>
          </a:p>
        </p:txBody>
      </p:sp>
      <p:sp>
        <p:nvSpPr>
          <p:cNvPr id="16" name="Text 14"/>
          <p:cNvSpPr/>
          <p:nvPr/>
        </p:nvSpPr>
        <p:spPr>
          <a:xfrm>
            <a:off x="502920" y="6199632"/>
            <a:ext cx="11155680" cy="274320"/>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Context is the anti-hallucination element; Format is the anti-rework element.</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THE ELEMENTS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26</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ELEMENTS · WHAT EACH BUYS YOU — 3 OF 3</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Examples — and the two one-sentence safety valves</a:t>
            </a:r>
            <a:endParaRPr lang="en-US" sz="3000" dirty="0"/>
          </a:p>
        </p:txBody>
      </p:sp>
      <p:sp>
        <p:nvSpPr>
          <p:cNvPr id="6" name="Shape 4"/>
          <p:cNvSpPr/>
          <p:nvPr/>
        </p:nvSpPr>
        <p:spPr>
          <a:xfrm>
            <a:off x="502920" y="1463040"/>
            <a:ext cx="11155680" cy="1627632"/>
          </a:xfrm>
          <a:prstGeom prst="roundRect">
            <a:avLst>
              <a:gd name="adj" fmla="val 4494"/>
            </a:avLst>
          </a:prstGeom>
          <a:solidFill>
            <a:srgbClr val="F2F5F6"/>
          </a:solidFill>
          <a:ln/>
        </p:spPr>
      </p:sp>
      <p:sp>
        <p:nvSpPr>
          <p:cNvPr id="7" name="Text 5"/>
          <p:cNvSpPr/>
          <p:nvPr/>
        </p:nvSpPr>
        <p:spPr>
          <a:xfrm>
            <a:off x="749808" y="1572768"/>
            <a:ext cx="1965960" cy="365760"/>
          </a:xfrm>
          <a:prstGeom prst="rect">
            <a:avLst/>
          </a:prstGeom>
          <a:noFill/>
          <a:ln/>
        </p:spPr>
        <p:txBody>
          <a:bodyPr wrap="square" lIns="0" tIns="0" rIns="0" bIns="0" rtlCol="0" anchor="ctr"/>
          <a:lstStyle/>
          <a:p>
            <a:pPr indent="0" marL="0">
              <a:buNone/>
            </a:pPr>
            <a:r>
              <a:rPr lang="en-US" sz="1650" b="1" dirty="0">
                <a:solidFill>
                  <a:srgbClr val="0A5B5A"/>
                </a:solidFill>
                <a:latin typeface="Cambria" pitchFamily="34" charset="0"/>
                <a:ea typeface="Cambria" pitchFamily="34" charset="-122"/>
                <a:cs typeface="Cambria" pitchFamily="34" charset="-120"/>
              </a:rPr>
              <a:t>Examples</a:t>
            </a:r>
            <a:endParaRPr lang="en-US" sz="1650" dirty="0"/>
          </a:p>
        </p:txBody>
      </p:sp>
      <p:sp>
        <p:nvSpPr>
          <p:cNvPr id="8" name="Text 6"/>
          <p:cNvSpPr/>
          <p:nvPr/>
        </p:nvSpPr>
        <p:spPr>
          <a:xfrm>
            <a:off x="749808" y="1956816"/>
            <a:ext cx="1965960" cy="1024128"/>
          </a:xfrm>
          <a:prstGeom prst="rect">
            <a:avLst/>
          </a:prstGeom>
          <a:noFill/>
          <a:ln/>
        </p:spPr>
        <p:txBody>
          <a:bodyPr wrap="square" lIns="0" tIns="0" rIns="0" bIns="0" rtlCol="0" anchor="ctr"/>
          <a:lstStyle/>
          <a:p>
            <a:pPr indent="0" marL="0">
              <a:lnSpc>
                <a:spcPct val="104000"/>
              </a:lnSpc>
              <a:buNone/>
            </a:pPr>
            <a:r>
              <a:rPr lang="en-US" sz="920" i="1" dirty="0">
                <a:solidFill>
                  <a:srgbClr val="232A31"/>
                </a:solidFill>
                <a:latin typeface="Calibri" pitchFamily="34" charset="0"/>
                <a:ea typeface="Calibri" pitchFamily="34" charset="-122"/>
                <a:cs typeface="Calibri" pitchFamily="34" charset="-120"/>
              </a:rPr>
              <a:t>3–5 diverse demonstrations, edge case included</a:t>
            </a:r>
            <a:endParaRPr lang="en-US" sz="920" dirty="0"/>
          </a:p>
        </p:txBody>
      </p:sp>
      <p:sp>
        <p:nvSpPr>
          <p:cNvPr id="9" name="Text 7"/>
          <p:cNvSpPr/>
          <p:nvPr/>
        </p:nvSpPr>
        <p:spPr>
          <a:xfrm>
            <a:off x="2852928" y="1554480"/>
            <a:ext cx="4800600" cy="1444752"/>
          </a:xfrm>
          <a:prstGeom prst="rect">
            <a:avLst/>
          </a:prstGeom>
          <a:noFill/>
          <a:ln/>
        </p:spPr>
        <p:txBody>
          <a:bodyPr wrap="square" lIns="0" tIns="0" rIns="0" bIns="0" rtlCol="0" anchor="ctr"/>
          <a:lstStyle/>
          <a:p>
            <a:pPr indent="0" marL="0">
              <a:lnSpc>
                <a:spcPct val="107000"/>
              </a:lnSpc>
              <a:buNone/>
            </a:pPr>
            <a:r>
              <a:rPr lang="en-US" sz="1020" b="1" dirty="0">
                <a:solidFill>
                  <a:srgbClr val="3B8560"/>
                </a:solidFill>
                <a:latin typeface="Calibri" pitchFamily="34" charset="0"/>
                <a:ea typeface="Calibri" pitchFamily="34" charset="-122"/>
                <a:cs typeface="Calibri" pitchFamily="34" charset="-120"/>
              </a:rPr>
              <a:t>What you get — </a:t>
            </a:r>
            <a:pPr indent="0" marL="0">
              <a:lnSpc>
                <a:spcPct val="107000"/>
              </a:lnSpc>
              <a:spcAft>
                <a:spcPts val="500"/>
              </a:spcAft>
              <a:buNone/>
            </a:pPr>
            <a:r>
              <a:rPr lang="en-US" sz="1020" dirty="0">
                <a:solidFill>
                  <a:srgbClr val="46545F"/>
                </a:solidFill>
                <a:latin typeface="Calibri" pitchFamily="34" charset="0"/>
                <a:ea typeface="Calibri" pitchFamily="34" charset="-122"/>
                <a:cs typeface="Calibri" pitchFamily="34" charset="-120"/>
              </a:rPr>
              <a:t>work that matches the standard in your head — including how the hard cases get handled.</a:t>
            </a:r>
            <a:endParaRPr lang="en-US" sz="1020" dirty="0"/>
          </a:p>
          <a:p>
            <a:pPr indent="0" marL="0">
              <a:lnSpc>
                <a:spcPct val="107000"/>
              </a:lnSpc>
              <a:buNone/>
            </a:pPr>
            <a:r>
              <a:rPr lang="en-US" sz="1020" b="1" dirty="0">
                <a:solidFill>
                  <a:srgbClr val="232A31"/>
                </a:solidFill>
                <a:latin typeface="Calibri" pitchFamily="34" charset="0"/>
                <a:ea typeface="Calibri" pitchFamily="34" charset="-122"/>
                <a:cs typeface="Calibri" pitchFamily="34" charset="-120"/>
              </a:rPr>
              <a:t>Why — </a:t>
            </a:r>
            <a:pPr indent="0" marL="0">
              <a:lnSpc>
                <a:spcPct val="107000"/>
              </a:lnSpc>
              <a:buNone/>
            </a:pPr>
            <a:r>
              <a:rPr lang="en-US" sz="1020" dirty="0">
                <a:solidFill>
                  <a:srgbClr val="46545F"/>
                </a:solidFill>
                <a:latin typeface="Calibri" pitchFamily="34" charset="0"/>
                <a:ea typeface="Calibri" pitchFamily="34" charset="-122"/>
                <a:cs typeface="Calibri" pitchFamily="34" charset="-120"/>
              </a:rPr>
              <a:t>the model imitates what it sees: examples teach format and style; on modern tuned models they steer shape more than facts. Include one edge case — it copies your edge-case handling too. </a:t>
            </a:r>
            <a:pPr indent="0" marL="0">
              <a:lnSpc>
                <a:spcPct val="107000"/>
              </a:lnSpc>
              <a:buNone/>
            </a:pPr>
            <a:r>
              <a:rPr lang="en-US" sz="860" i="1" dirty="0">
                <a:solidFill>
                  <a:srgbClr val="7A8790"/>
                </a:solidFill>
                <a:latin typeface="Calibri" pitchFamily="34" charset="0"/>
                <a:ea typeface="Calibri" pitchFamily="34" charset="-122"/>
                <a:cs typeface="Calibri" pitchFamily="34" charset="-120"/>
              </a:rPr>
              <a:t>(Brown 2020 · Min 2022)</a:t>
            </a:r>
            <a:endParaRPr lang="en-US" sz="1020" dirty="0"/>
          </a:p>
        </p:txBody>
      </p:sp>
      <p:sp>
        <p:nvSpPr>
          <p:cNvPr id="10" name="Text 8"/>
          <p:cNvSpPr/>
          <p:nvPr/>
        </p:nvSpPr>
        <p:spPr>
          <a:xfrm>
            <a:off x="7818120" y="1554480"/>
            <a:ext cx="3657600" cy="1444752"/>
          </a:xfrm>
          <a:prstGeom prst="rect">
            <a:avLst/>
          </a:prstGeom>
          <a:noFill/>
          <a:ln/>
        </p:spPr>
        <p:txBody>
          <a:bodyPr wrap="square" lIns="0" tIns="0" rIns="0" bIns="0" rtlCol="0" anchor="ctr"/>
          <a:lstStyle/>
          <a:p>
            <a:pPr indent="0" marL="0">
              <a:lnSpc>
                <a:spcPct val="103000"/>
              </a:lnSpc>
              <a:buNone/>
            </a:pPr>
            <a:r>
              <a:rPr lang="en-US" sz="9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940" i="1" dirty="0">
                <a:solidFill>
                  <a:srgbClr val="46545F"/>
                </a:solidFill>
                <a:latin typeface="Calibri" pitchFamily="34" charset="0"/>
                <a:ea typeface="Calibri" pitchFamily="34" charset="-122"/>
                <a:cs typeface="Calibri" pitchFamily="34" charset="-120"/>
              </a:rPr>
              <a:t>three clones of the happy case</a:t>
            </a:r>
            <a:endParaRPr lang="en-US" sz="900" dirty="0"/>
          </a:p>
          <a:p>
            <a:pPr indent="0" marL="0">
              <a:lnSpc>
                <a:spcPct val="103000"/>
              </a:lnSpc>
              <a:buNone/>
            </a:pPr>
            <a:r>
              <a:rPr lang="en-US" sz="900" b="1" dirty="0">
                <a:solidFill>
                  <a:srgbClr val="3B8560"/>
                </a:solidFill>
                <a:latin typeface="Calibri" pitchFamily="34" charset="0"/>
                <a:ea typeface="Calibri" pitchFamily="34" charset="-122"/>
                <a:cs typeface="Calibri" pitchFamily="34" charset="-120"/>
              </a:rPr>
              <a:t>strong </a:t>
            </a:r>
            <a:pPr indent="0" marL="0">
              <a:lnSpc>
                <a:spcPct val="103000"/>
              </a:lnSpc>
              <a:spcAft>
                <a:spcPts val="700"/>
              </a:spcAft>
              <a:buNone/>
            </a:pPr>
            <a:r>
              <a:rPr lang="en-US" sz="940" i="1" dirty="0">
                <a:solidFill>
                  <a:srgbClr val="232A31"/>
                </a:solidFill>
                <a:latin typeface="Calibri" pitchFamily="34" charset="0"/>
                <a:ea typeface="Calibri" pitchFamily="34" charset="-122"/>
                <a:cs typeface="Calibri" pitchFamily="34" charset="-120"/>
              </a:rPr>
              <a:t>one typical + one edge + one reject case, clearly separated</a:t>
            </a:r>
            <a:endParaRPr lang="en-US" sz="900" dirty="0"/>
          </a:p>
          <a:p>
            <a:pPr indent="0" marL="0">
              <a:lnSpc>
                <a:spcPct val="103000"/>
              </a:lnSpc>
              <a:buNone/>
            </a:pPr>
            <a:r>
              <a:rPr lang="en-US" sz="9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940" i="1" dirty="0">
                <a:solidFill>
                  <a:srgbClr val="46545F"/>
                </a:solidFill>
                <a:latin typeface="Calibri" pitchFamily="34" charset="0"/>
                <a:ea typeface="Calibri" pitchFamily="34" charset="-122"/>
                <a:cs typeface="Calibri" pitchFamily="34" charset="-120"/>
              </a:rPr>
              <a:t>“Write it like the good ones.”</a:t>
            </a:r>
            <a:endParaRPr lang="en-US" sz="900" dirty="0"/>
          </a:p>
          <a:p>
            <a:pPr indent="0" marL="0">
              <a:lnSpc>
                <a:spcPct val="103000"/>
              </a:lnSpc>
              <a:buNone/>
            </a:pPr>
            <a:r>
              <a:rPr lang="en-US" sz="900" b="1" dirty="0">
                <a:solidFill>
                  <a:srgbClr val="3B8560"/>
                </a:solidFill>
                <a:latin typeface="Calibri" pitchFamily="34" charset="0"/>
                <a:ea typeface="Calibri" pitchFamily="34" charset="-122"/>
                <a:cs typeface="Calibri" pitchFamily="34" charset="-120"/>
              </a:rPr>
              <a:t>strong </a:t>
            </a:r>
            <a:pPr indent="0" marL="0">
              <a:lnSpc>
                <a:spcPct val="103000"/>
              </a:lnSpc>
              <a:buNone/>
            </a:pPr>
            <a:r>
              <a:rPr lang="en-US" sz="940" i="1" dirty="0">
                <a:solidFill>
                  <a:srgbClr val="232A31"/>
                </a:solidFill>
                <a:latin typeface="Calibri" pitchFamily="34" charset="0"/>
                <a:ea typeface="Calibri" pitchFamily="34" charset="-122"/>
                <a:cs typeface="Calibri" pitchFamily="34" charset="-120"/>
              </a:rPr>
              <a:t>“Match this: [March’s summary] — same tone, same length. Here’s one we rejected, and why.”</a:t>
            </a:r>
            <a:endParaRPr lang="en-US" sz="900" dirty="0"/>
          </a:p>
        </p:txBody>
      </p:sp>
      <p:sp>
        <p:nvSpPr>
          <p:cNvPr id="11" name="Shape 9"/>
          <p:cNvSpPr/>
          <p:nvPr/>
        </p:nvSpPr>
        <p:spPr>
          <a:xfrm>
            <a:off x="502920" y="3218688"/>
            <a:ext cx="11155680" cy="1444752"/>
          </a:xfrm>
          <a:prstGeom prst="roundRect">
            <a:avLst>
              <a:gd name="adj" fmla="val 5063"/>
            </a:avLst>
          </a:prstGeom>
          <a:solidFill>
            <a:srgbClr val="F2F5F6"/>
          </a:solidFill>
          <a:ln/>
        </p:spPr>
      </p:sp>
      <p:sp>
        <p:nvSpPr>
          <p:cNvPr id="12" name="Text 10"/>
          <p:cNvSpPr/>
          <p:nvPr/>
        </p:nvSpPr>
        <p:spPr>
          <a:xfrm>
            <a:off x="749808" y="3328416"/>
            <a:ext cx="1965960" cy="365760"/>
          </a:xfrm>
          <a:prstGeom prst="rect">
            <a:avLst/>
          </a:prstGeom>
          <a:noFill/>
          <a:ln/>
        </p:spPr>
        <p:txBody>
          <a:bodyPr wrap="square" lIns="0" tIns="0" rIns="0" bIns="0" rtlCol="0" anchor="ctr"/>
          <a:lstStyle/>
          <a:p>
            <a:pPr indent="0" marL="0">
              <a:buNone/>
            </a:pPr>
            <a:r>
              <a:rPr lang="en-US" sz="1650" b="1" dirty="0">
                <a:solidFill>
                  <a:srgbClr val="0A5B5A"/>
                </a:solidFill>
                <a:latin typeface="Cambria" pitchFamily="34" charset="0"/>
                <a:ea typeface="Cambria" pitchFamily="34" charset="-122"/>
                <a:cs typeface="Cambria" pitchFamily="34" charset="-120"/>
              </a:rPr>
              <a:t>The Out</a:t>
            </a:r>
            <a:endParaRPr lang="en-US" sz="1650" dirty="0"/>
          </a:p>
        </p:txBody>
      </p:sp>
      <p:sp>
        <p:nvSpPr>
          <p:cNvPr id="13" name="Text 11"/>
          <p:cNvSpPr/>
          <p:nvPr/>
        </p:nvSpPr>
        <p:spPr>
          <a:xfrm>
            <a:off x="749808" y="3712464"/>
            <a:ext cx="1965960" cy="841248"/>
          </a:xfrm>
          <a:prstGeom prst="rect">
            <a:avLst/>
          </a:prstGeom>
          <a:noFill/>
          <a:ln/>
        </p:spPr>
        <p:txBody>
          <a:bodyPr wrap="square" lIns="0" tIns="0" rIns="0" bIns="0" rtlCol="0" anchor="ctr"/>
          <a:lstStyle/>
          <a:p>
            <a:pPr indent="0" marL="0">
              <a:lnSpc>
                <a:spcPct val="104000"/>
              </a:lnSpc>
              <a:buNone/>
            </a:pPr>
            <a:r>
              <a:rPr lang="en-US" sz="920" i="1" dirty="0">
                <a:solidFill>
                  <a:srgbClr val="232A31"/>
                </a:solidFill>
                <a:latin typeface="Calibri" pitchFamily="34" charset="0"/>
                <a:ea typeface="Calibri" pitchFamily="34" charset="-122"/>
                <a:cs typeface="Calibri" pitchFamily="34" charset="-120"/>
              </a:rPr>
              <a:t>permission to not know</a:t>
            </a:r>
            <a:endParaRPr lang="en-US" sz="920" dirty="0"/>
          </a:p>
        </p:txBody>
      </p:sp>
      <p:sp>
        <p:nvSpPr>
          <p:cNvPr id="14" name="Text 12"/>
          <p:cNvSpPr/>
          <p:nvPr/>
        </p:nvSpPr>
        <p:spPr>
          <a:xfrm>
            <a:off x="2852928" y="3310128"/>
            <a:ext cx="4800600" cy="1261872"/>
          </a:xfrm>
          <a:prstGeom prst="rect">
            <a:avLst/>
          </a:prstGeom>
          <a:noFill/>
          <a:ln/>
        </p:spPr>
        <p:txBody>
          <a:bodyPr wrap="square" lIns="0" tIns="0" rIns="0" bIns="0" rtlCol="0" anchor="ctr"/>
          <a:lstStyle/>
          <a:p>
            <a:pPr indent="0" marL="0">
              <a:lnSpc>
                <a:spcPct val="107000"/>
              </a:lnSpc>
              <a:buNone/>
            </a:pPr>
            <a:r>
              <a:rPr lang="en-US" sz="1020" b="1" dirty="0">
                <a:solidFill>
                  <a:srgbClr val="3B8560"/>
                </a:solidFill>
                <a:latin typeface="Calibri" pitchFamily="34" charset="0"/>
                <a:ea typeface="Calibri" pitchFamily="34" charset="-122"/>
                <a:cs typeface="Calibri" pitchFamily="34" charset="-120"/>
              </a:rPr>
              <a:t>What you get — </a:t>
            </a:r>
            <a:pPr indent="0" marL="0">
              <a:lnSpc>
                <a:spcPct val="107000"/>
              </a:lnSpc>
              <a:spcAft>
                <a:spcPts val="500"/>
              </a:spcAft>
              <a:buNone/>
            </a:pPr>
            <a:r>
              <a:rPr lang="en-US" sz="1020" dirty="0">
                <a:solidFill>
                  <a:srgbClr val="46545F"/>
                </a:solidFill>
                <a:latin typeface="Calibri" pitchFamily="34" charset="0"/>
                <a:ea typeface="Calibri" pitchFamily="34" charset="-122"/>
                <a:cs typeface="Calibri" pitchFamily="34" charset="-120"/>
              </a:rPr>
              <a:t>an honest “the document doesn’t say” instead of an invented answer.</a:t>
            </a:r>
            <a:endParaRPr lang="en-US" sz="1020" dirty="0"/>
          </a:p>
          <a:p>
            <a:pPr indent="0" marL="0">
              <a:lnSpc>
                <a:spcPct val="107000"/>
              </a:lnSpc>
              <a:buNone/>
            </a:pPr>
            <a:r>
              <a:rPr lang="en-US" sz="1020" b="1" dirty="0">
                <a:solidFill>
                  <a:srgbClr val="232A31"/>
                </a:solidFill>
                <a:latin typeface="Calibri" pitchFamily="34" charset="0"/>
                <a:ea typeface="Calibri" pitchFamily="34" charset="-122"/>
                <a:cs typeface="Calibri" pitchFamily="34" charset="-120"/>
              </a:rPr>
              <a:t>Why — </a:t>
            </a:r>
            <a:pPr indent="0" marL="0">
              <a:lnSpc>
                <a:spcPct val="107000"/>
              </a:lnSpc>
              <a:buNone/>
            </a:pPr>
            <a:r>
              <a:rPr lang="en-US" sz="1020" dirty="0">
                <a:solidFill>
                  <a:srgbClr val="46545F"/>
                </a:solidFill>
                <a:latin typeface="Calibri" pitchFamily="34" charset="0"/>
                <a:ea typeface="Calibri" pitchFamily="34" charset="-122"/>
                <a:cs typeface="Calibri" pitchFamily="34" charset="-120"/>
              </a:rPr>
              <a:t>models are trained on tests that reward guessing over abstaining. One sentence of permission cut hallucinations on planted-error questions from 53% to 23% (GPT-4o) — and under 8% on GPT-5. </a:t>
            </a:r>
            <a:pPr indent="0" marL="0">
              <a:lnSpc>
                <a:spcPct val="107000"/>
              </a:lnSpc>
              <a:buNone/>
            </a:pPr>
            <a:r>
              <a:rPr lang="en-US" sz="860" i="1" dirty="0">
                <a:solidFill>
                  <a:srgbClr val="7A8790"/>
                </a:solidFill>
                <a:latin typeface="Calibri" pitchFamily="34" charset="0"/>
                <a:ea typeface="Calibri" pitchFamily="34" charset="-122"/>
                <a:cs typeface="Calibri" pitchFamily="34" charset="-120"/>
              </a:rPr>
              <a:t>(Omar 2025 · OpenAI 2025)</a:t>
            </a:r>
            <a:endParaRPr lang="en-US" sz="1020" dirty="0"/>
          </a:p>
        </p:txBody>
      </p:sp>
      <p:sp>
        <p:nvSpPr>
          <p:cNvPr id="15" name="Text 13"/>
          <p:cNvSpPr/>
          <p:nvPr/>
        </p:nvSpPr>
        <p:spPr>
          <a:xfrm>
            <a:off x="7818120" y="3310128"/>
            <a:ext cx="3657600" cy="1261872"/>
          </a:xfrm>
          <a:prstGeom prst="rect">
            <a:avLst/>
          </a:prstGeom>
          <a:noFill/>
          <a:ln/>
        </p:spPr>
        <p:txBody>
          <a:bodyPr wrap="square" lIns="0" tIns="0" rIns="0" bIns="0" rtlCol="0" anchor="ctr"/>
          <a:lstStyle/>
          <a:p>
            <a:pPr indent="0" marL="0">
              <a:lnSpc>
                <a:spcPct val="103000"/>
              </a:lnSpc>
              <a:buNone/>
            </a:pPr>
            <a:r>
              <a:rPr lang="en-US" sz="9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940" i="1" dirty="0">
                <a:solidFill>
                  <a:srgbClr val="46545F"/>
                </a:solidFill>
                <a:latin typeface="Calibri" pitchFamily="34" charset="0"/>
                <a:ea typeface="Calibri" pitchFamily="34" charset="-122"/>
                <a:cs typeface="Calibri" pitchFamily="34" charset="-120"/>
              </a:rPr>
              <a:t>“Do not hallucinate.” (bare bans backfire)</a:t>
            </a:r>
            <a:endParaRPr lang="en-US" sz="900" dirty="0"/>
          </a:p>
          <a:p>
            <a:pPr indent="0" marL="0">
              <a:lnSpc>
                <a:spcPct val="103000"/>
              </a:lnSpc>
              <a:buNone/>
            </a:pPr>
            <a:r>
              <a:rPr lang="en-US" sz="900" b="1" dirty="0">
                <a:solidFill>
                  <a:srgbClr val="3B8560"/>
                </a:solidFill>
                <a:latin typeface="Calibri" pitchFamily="34" charset="0"/>
                <a:ea typeface="Calibri" pitchFamily="34" charset="-122"/>
                <a:cs typeface="Calibri" pitchFamily="34" charset="-120"/>
              </a:rPr>
              <a:t>strong </a:t>
            </a:r>
            <a:pPr indent="0" marL="0">
              <a:lnSpc>
                <a:spcPct val="103000"/>
              </a:lnSpc>
              <a:buNone/>
            </a:pPr>
            <a:r>
              <a:rPr lang="en-US" sz="940" i="1" dirty="0">
                <a:solidFill>
                  <a:srgbClr val="232A31"/>
                </a:solidFill>
                <a:latin typeface="Calibri" pitchFamily="34" charset="0"/>
                <a:ea typeface="Calibri" pitchFamily="34" charset="-122"/>
                <a:cs typeface="Calibri" pitchFamily="34" charset="-120"/>
              </a:rPr>
              <a:t>“If the document doesn’t say — say so.”</a:t>
            </a:r>
            <a:endParaRPr lang="en-US" sz="900" dirty="0"/>
          </a:p>
        </p:txBody>
      </p:sp>
      <p:sp>
        <p:nvSpPr>
          <p:cNvPr id="16" name="Shape 14"/>
          <p:cNvSpPr/>
          <p:nvPr/>
        </p:nvSpPr>
        <p:spPr>
          <a:xfrm>
            <a:off x="502920" y="4791456"/>
            <a:ext cx="11155680" cy="1444752"/>
          </a:xfrm>
          <a:prstGeom prst="roundRect">
            <a:avLst>
              <a:gd name="adj" fmla="val 5063"/>
            </a:avLst>
          </a:prstGeom>
          <a:solidFill>
            <a:srgbClr val="F2F5F6"/>
          </a:solidFill>
          <a:ln/>
        </p:spPr>
      </p:sp>
      <p:sp>
        <p:nvSpPr>
          <p:cNvPr id="17" name="Text 15"/>
          <p:cNvSpPr/>
          <p:nvPr/>
        </p:nvSpPr>
        <p:spPr>
          <a:xfrm>
            <a:off x="749808" y="4901184"/>
            <a:ext cx="1965960" cy="365760"/>
          </a:xfrm>
          <a:prstGeom prst="rect">
            <a:avLst/>
          </a:prstGeom>
          <a:noFill/>
          <a:ln/>
        </p:spPr>
        <p:txBody>
          <a:bodyPr wrap="square" lIns="0" tIns="0" rIns="0" bIns="0" rtlCol="0" anchor="ctr"/>
          <a:lstStyle/>
          <a:p>
            <a:pPr indent="0" marL="0">
              <a:buNone/>
            </a:pPr>
            <a:r>
              <a:rPr lang="en-US" sz="1650" b="1" dirty="0">
                <a:solidFill>
                  <a:srgbClr val="0A5B5A"/>
                </a:solidFill>
                <a:latin typeface="Cambria" pitchFamily="34" charset="0"/>
                <a:ea typeface="Cambria" pitchFamily="34" charset="-122"/>
                <a:cs typeface="Cambria" pitchFamily="34" charset="-120"/>
              </a:rPr>
              <a:t>The Stop</a:t>
            </a:r>
            <a:endParaRPr lang="en-US" sz="1650" dirty="0"/>
          </a:p>
        </p:txBody>
      </p:sp>
      <p:sp>
        <p:nvSpPr>
          <p:cNvPr id="18" name="Text 16"/>
          <p:cNvSpPr/>
          <p:nvPr/>
        </p:nvSpPr>
        <p:spPr>
          <a:xfrm>
            <a:off x="749808" y="5285232"/>
            <a:ext cx="1965960" cy="841248"/>
          </a:xfrm>
          <a:prstGeom prst="rect">
            <a:avLst/>
          </a:prstGeom>
          <a:noFill/>
          <a:ln/>
        </p:spPr>
        <p:txBody>
          <a:bodyPr wrap="square" lIns="0" tIns="0" rIns="0" bIns="0" rtlCol="0" anchor="ctr"/>
          <a:lstStyle/>
          <a:p>
            <a:pPr indent="0" marL="0">
              <a:lnSpc>
                <a:spcPct val="104000"/>
              </a:lnSpc>
              <a:buNone/>
            </a:pPr>
            <a:r>
              <a:rPr lang="en-US" sz="920" i="1" dirty="0">
                <a:solidFill>
                  <a:srgbClr val="232A31"/>
                </a:solidFill>
                <a:latin typeface="Calibri" pitchFamily="34" charset="0"/>
                <a:ea typeface="Calibri" pitchFamily="34" charset="-122"/>
                <a:cs typeface="Calibri" pitchFamily="34" charset="-120"/>
              </a:rPr>
              <a:t>the action to perform — and its boundary</a:t>
            </a:r>
            <a:endParaRPr lang="en-US" sz="920" dirty="0"/>
          </a:p>
        </p:txBody>
      </p:sp>
      <p:sp>
        <p:nvSpPr>
          <p:cNvPr id="19" name="Text 17"/>
          <p:cNvSpPr/>
          <p:nvPr/>
        </p:nvSpPr>
        <p:spPr>
          <a:xfrm>
            <a:off x="2852928" y="4882896"/>
            <a:ext cx="4800600" cy="1261872"/>
          </a:xfrm>
          <a:prstGeom prst="rect">
            <a:avLst/>
          </a:prstGeom>
          <a:noFill/>
          <a:ln/>
        </p:spPr>
        <p:txBody>
          <a:bodyPr wrap="square" lIns="0" tIns="0" rIns="0" bIns="0" rtlCol="0" anchor="ctr"/>
          <a:lstStyle/>
          <a:p>
            <a:pPr indent="0" marL="0">
              <a:lnSpc>
                <a:spcPct val="107000"/>
              </a:lnSpc>
              <a:buNone/>
            </a:pPr>
            <a:r>
              <a:rPr lang="en-US" sz="1020" b="1" dirty="0">
                <a:solidFill>
                  <a:srgbClr val="3B8560"/>
                </a:solidFill>
                <a:latin typeface="Calibri" pitchFamily="34" charset="0"/>
                <a:ea typeface="Calibri" pitchFamily="34" charset="-122"/>
                <a:cs typeface="Calibri" pitchFamily="34" charset="-120"/>
              </a:rPr>
              <a:t>What you get — </a:t>
            </a:r>
            <a:pPr indent="0" marL="0">
              <a:lnSpc>
                <a:spcPct val="107000"/>
              </a:lnSpc>
              <a:spcAft>
                <a:spcPts val="500"/>
              </a:spcAft>
              <a:buNone/>
            </a:pPr>
            <a:r>
              <a:rPr lang="en-US" sz="1020" dirty="0">
                <a:solidFill>
                  <a:srgbClr val="46545F"/>
                </a:solidFill>
                <a:latin typeface="Calibri" pitchFamily="34" charset="0"/>
                <a:ea typeface="Calibri" pitchFamily="34" charset="-122"/>
                <a:cs typeface="Calibri" pitchFamily="34" charset="-120"/>
              </a:rPr>
              <a:t>bounded work that ends where you said — not ten charts and no answer.</a:t>
            </a:r>
            <a:endParaRPr lang="en-US" sz="1020" dirty="0"/>
          </a:p>
          <a:p>
            <a:pPr indent="0" marL="0">
              <a:lnSpc>
                <a:spcPct val="107000"/>
              </a:lnSpc>
              <a:buNone/>
            </a:pPr>
            <a:r>
              <a:rPr lang="en-US" sz="1020" b="1" dirty="0">
                <a:solidFill>
                  <a:srgbClr val="232A31"/>
                </a:solidFill>
                <a:latin typeface="Calibri" pitchFamily="34" charset="0"/>
                <a:ea typeface="Calibri" pitchFamily="34" charset="-122"/>
                <a:cs typeface="Calibri" pitchFamily="34" charset="-120"/>
              </a:rPr>
              <a:t>Why — </a:t>
            </a:r>
            <a:pPr indent="0" marL="0">
              <a:lnSpc>
                <a:spcPct val="107000"/>
              </a:lnSpc>
              <a:buNone/>
            </a:pPr>
            <a:r>
              <a:rPr lang="en-US" sz="1020" dirty="0">
                <a:solidFill>
                  <a:srgbClr val="46545F"/>
                </a:solidFill>
                <a:latin typeface="Calibri" pitchFamily="34" charset="0"/>
                <a:ea typeface="Calibri" pitchFamily="34" charset="-122"/>
                <a:cs typeface="Calibri" pitchFamily="34" charset="-120"/>
              </a:rPr>
              <a:t>converts open-ended capability into a scoped job with a finish line. In Part 5 it grows up to become gates and autonomy rules for agents. </a:t>
            </a:r>
            <a:pPr indent="0" marL="0">
              <a:lnSpc>
                <a:spcPct val="107000"/>
              </a:lnSpc>
              <a:buNone/>
            </a:pPr>
            <a:endParaRPr lang="en-US" sz="1020" dirty="0"/>
          </a:p>
        </p:txBody>
      </p:sp>
      <p:sp>
        <p:nvSpPr>
          <p:cNvPr id="20" name="Text 18"/>
          <p:cNvSpPr/>
          <p:nvPr/>
        </p:nvSpPr>
        <p:spPr>
          <a:xfrm>
            <a:off x="7818120" y="4882896"/>
            <a:ext cx="3657600" cy="1261872"/>
          </a:xfrm>
          <a:prstGeom prst="rect">
            <a:avLst/>
          </a:prstGeom>
          <a:noFill/>
          <a:ln/>
        </p:spPr>
        <p:txBody>
          <a:bodyPr wrap="square" lIns="0" tIns="0" rIns="0" bIns="0" rtlCol="0" anchor="ctr"/>
          <a:lstStyle/>
          <a:p>
            <a:pPr indent="0" marL="0">
              <a:lnSpc>
                <a:spcPct val="103000"/>
              </a:lnSpc>
              <a:buNone/>
            </a:pPr>
            <a:r>
              <a:rPr lang="en-US" sz="9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940" i="1" dirty="0">
                <a:solidFill>
                  <a:srgbClr val="46545F"/>
                </a:solidFill>
                <a:latin typeface="Calibri" pitchFamily="34" charset="0"/>
                <a:ea typeface="Calibri" pitchFamily="34" charset="-122"/>
                <a:cs typeface="Calibri" pitchFamily="34" charset="-120"/>
              </a:rPr>
              <a:t>“Keep it focused.”</a:t>
            </a:r>
            <a:endParaRPr lang="en-US" sz="900" dirty="0"/>
          </a:p>
          <a:p>
            <a:pPr indent="0" marL="0">
              <a:lnSpc>
                <a:spcPct val="103000"/>
              </a:lnSpc>
              <a:buNone/>
            </a:pPr>
            <a:r>
              <a:rPr lang="en-US" sz="900" b="1" dirty="0">
                <a:solidFill>
                  <a:srgbClr val="3B8560"/>
                </a:solidFill>
                <a:latin typeface="Calibri" pitchFamily="34" charset="0"/>
                <a:ea typeface="Calibri" pitchFamily="34" charset="-122"/>
                <a:cs typeface="Calibri" pitchFamily="34" charset="-120"/>
              </a:rPr>
              <a:t>strong </a:t>
            </a:r>
            <a:pPr indent="0" marL="0">
              <a:lnSpc>
                <a:spcPct val="103000"/>
              </a:lnSpc>
              <a:buNone/>
            </a:pPr>
            <a:r>
              <a:rPr lang="en-US" sz="940" i="1" dirty="0">
                <a:solidFill>
                  <a:srgbClr val="232A31"/>
                </a:solidFill>
                <a:latin typeface="Calibri" pitchFamily="34" charset="0"/>
                <a:ea typeface="Calibri" pitchFamily="34" charset="-122"/>
                <a:cs typeface="Calibri" pitchFamily="34" charset="-120"/>
              </a:rPr>
              <a:t>“Answer these three questions, then stop — do not go exploring.”</a:t>
            </a:r>
            <a:endParaRPr lang="en-US" sz="900" dirty="0"/>
          </a:p>
        </p:txBody>
      </p:sp>
      <p:sp>
        <p:nvSpPr>
          <p:cNvPr id="21" name="Text 19"/>
          <p:cNvSpPr/>
          <p:nvPr/>
        </p:nvSpPr>
        <p:spPr>
          <a:xfrm>
            <a:off x="502920" y="6327648"/>
            <a:ext cx="11155680" cy="274320"/>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Seven elements. Each moves something out of your head onto the page — when output disappoints, one of them stayed in your head.</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YOUR FIELD MAP</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27</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YOUR FIELD MAP · A HANDOUT YOU KEEP</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taxonomy — the catalog behind the elements</a:t>
            </a:r>
            <a:endParaRPr lang="en-US" sz="3000" dirty="0"/>
          </a:p>
        </p:txBody>
      </p:sp>
      <p:sp>
        <p:nvSpPr>
          <p:cNvPr id="6" name="Text 4"/>
          <p:cNvSpPr/>
          <p:nvPr/>
        </p:nvSpPr>
        <p:spPr>
          <a:xfrm>
            <a:off x="502920" y="1536192"/>
            <a:ext cx="5623560" cy="2651760"/>
          </a:xfrm>
          <a:prstGeom prst="rect">
            <a:avLst/>
          </a:prstGeom>
          <a:noFill/>
          <a:ln/>
        </p:spPr>
        <p:txBody>
          <a:bodyPr wrap="square" lIns="0" tIns="0" rIns="0" bIns="0" rtlCol="0" anchor="t"/>
          <a:lstStyle/>
          <a:p>
            <a:pPr algn="l" marL="127000" indent="-127000">
              <a:lnSpc>
                <a:spcPct val="104000"/>
              </a:lnSpc>
              <a:spcAft>
                <a:spcPts val="800"/>
              </a:spcAft>
              <a:buSzPct val="100000"/>
              <a:buChar char="•"/>
            </a:pPr>
            <a:r>
              <a:rPr lang="en-US" sz="1200" b="1" dirty="0">
                <a:solidFill>
                  <a:srgbClr val="46545F"/>
                </a:solidFill>
                <a:latin typeface="Calibri" pitchFamily="34" charset="0"/>
                <a:ea typeface="Calibri" pitchFamily="34" charset="-122"/>
                <a:cs typeface="Calibri" pitchFamily="34" charset="-120"/>
              </a:rPr>
              <a:t>What it is, and why it exists: the seven elements you just met, industrialized into a catalog — so at the moment of doubt you pick a proven fill instead of improvising one.</a:t>
            </a:r>
            <a:endParaRPr lang="en-US" sz="1200" dirty="0"/>
          </a:p>
          <a:p>
            <a:pPr algn="l" marL="127000" indent="-127000">
              <a:lnSpc>
                <a:spcPct val="104000"/>
              </a:lnSpc>
              <a:spcAft>
                <a:spcPts val="800"/>
              </a:spcAft>
              <a:buSzPct val="100000"/>
              <a:buChar char="•"/>
            </a:pPr>
            <a:r>
              <a:rPr lang="en-US" sz="1200" dirty="0">
                <a:solidFill>
                  <a:srgbClr val="46545F"/>
                </a:solidFill>
                <a:latin typeface="Calibri" pitchFamily="34" charset="0"/>
                <a:ea typeface="Calibri" pitchFamily="34" charset="-122"/>
                <a:cs typeface="Calibri" pitchFamily="34" charset="-120"/>
              </a:rPr>
              <a:t>Where it came from: distilled from the official vendor guides and the studies behind this part — built for this course, versioned and updated with it.</a:t>
            </a:r>
            <a:endParaRPr lang="en-US" sz="1200" dirty="0"/>
          </a:p>
          <a:p>
            <a:pPr algn="l" marL="127000" indent="-127000">
              <a:lnSpc>
                <a:spcPct val="104000"/>
              </a:lnSpc>
              <a:spcAft>
                <a:spcPts val="800"/>
              </a:spcAft>
              <a:buSzPct val="100000"/>
              <a:buChar char="•"/>
            </a:pPr>
            <a:r>
              <a:rPr lang="en-US" sz="1200" dirty="0">
                <a:solidFill>
                  <a:srgbClr val="46545F"/>
                </a:solidFill>
                <a:latin typeface="Calibri" pitchFamily="34" charset="0"/>
                <a:ea typeface="Calibri" pitchFamily="34" charset="-122"/>
                <a:cs typeface="Calibri" pitchFamily="34" charset="-120"/>
              </a:rPr>
              <a:t>Every slot carries a plain-language “Why it matters” — the same what-you-get logic from the last three slides, with the research behind it.</a:t>
            </a:r>
            <a:endParaRPr lang="en-US" sz="1200" dirty="0"/>
          </a:p>
          <a:p>
            <a:pPr algn="l" marL="127000" indent="-127000">
              <a:lnSpc>
                <a:spcPct val="104000"/>
              </a:lnSpc>
              <a:spcAft>
                <a:spcPts val="800"/>
              </a:spcAft>
              <a:buSzPct val="100000"/>
              <a:buChar char="•"/>
            </a:pPr>
            <a:r>
              <a:rPr lang="en-US" sz="1200" dirty="0">
                <a:solidFill>
                  <a:srgbClr val="46545F"/>
                </a:solidFill>
                <a:latin typeface="Calibri" pitchFamily="34" charset="0"/>
                <a:ea typeface="Calibri" pitchFamily="34" charset="-122"/>
                <a:cs typeface="Calibri" pitchFamily="34" charset="-120"/>
              </a:rPr>
              <a:t>How to use it: something disappointed → name the element → pick a stronger fill from the menu. You don’t study it; you look things up in it. (Two wings: 7 generative elements + the 12 agentic blocks of Part 5.)</a:t>
            </a:r>
            <a:endParaRPr lang="en-US" sz="1200" dirty="0"/>
          </a:p>
        </p:txBody>
      </p:sp>
      <p:sp>
        <p:nvSpPr>
          <p:cNvPr id="7" name="Shape 5"/>
          <p:cNvSpPr/>
          <p:nvPr/>
        </p:nvSpPr>
        <p:spPr>
          <a:xfrm>
            <a:off x="6400800" y="1481328"/>
            <a:ext cx="5257800" cy="2697480"/>
          </a:xfrm>
          <a:prstGeom prst="roundRect">
            <a:avLst>
              <a:gd name="adj" fmla="val 2712"/>
            </a:avLst>
          </a:prstGeom>
          <a:solidFill>
            <a:srgbClr val="F2F5F6"/>
          </a:solidFill>
          <a:ln/>
        </p:spPr>
      </p:sp>
      <p:sp>
        <p:nvSpPr>
          <p:cNvPr id="8" name="Text 6"/>
          <p:cNvSpPr/>
          <p:nvPr/>
        </p:nvSpPr>
        <p:spPr>
          <a:xfrm>
            <a:off x="6675120" y="1664208"/>
            <a:ext cx="4754880" cy="320040"/>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How to read one entry</a:t>
            </a:r>
            <a:endParaRPr lang="en-US" sz="1400" dirty="0"/>
          </a:p>
        </p:txBody>
      </p:sp>
      <p:sp>
        <p:nvSpPr>
          <p:cNvPr id="9" name="Shape 7"/>
          <p:cNvSpPr/>
          <p:nvPr/>
        </p:nvSpPr>
        <p:spPr>
          <a:xfrm>
            <a:off x="6675120" y="2066544"/>
            <a:ext cx="2240280" cy="384048"/>
          </a:xfrm>
          <a:prstGeom prst="roundRect">
            <a:avLst>
              <a:gd name="adj" fmla="val 14286"/>
            </a:avLst>
          </a:prstGeom>
          <a:solidFill>
            <a:srgbClr val="0E7C7B"/>
          </a:solidFill>
          <a:ln/>
        </p:spPr>
      </p:sp>
      <p:sp>
        <p:nvSpPr>
          <p:cNvPr id="10" name="Text 8"/>
          <p:cNvSpPr/>
          <p:nvPr/>
        </p:nvSpPr>
        <p:spPr>
          <a:xfrm>
            <a:off x="6675120" y="2075688"/>
            <a:ext cx="224028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ELEMENT · Role</a:t>
            </a:r>
            <a:endParaRPr lang="en-US" sz="1050" dirty="0"/>
          </a:p>
        </p:txBody>
      </p:sp>
      <p:sp>
        <p:nvSpPr>
          <p:cNvPr id="11" name="Text 9"/>
          <p:cNvSpPr/>
          <p:nvPr/>
        </p:nvSpPr>
        <p:spPr>
          <a:xfrm>
            <a:off x="9052560" y="2103120"/>
            <a:ext cx="2377440" cy="310896"/>
          </a:xfrm>
          <a:prstGeom prst="rect">
            <a:avLst/>
          </a:prstGeom>
          <a:noFill/>
          <a:ln/>
        </p:spPr>
        <p:txBody>
          <a:bodyPr wrap="square" lIns="0" tIns="0" rIns="0" bIns="0" rtlCol="0" anchor="ctr"/>
          <a:lstStyle/>
          <a:p>
            <a:pPr indent="0" marL="0">
              <a:buNone/>
            </a:pPr>
            <a:r>
              <a:rPr lang="en-US" sz="1000" i="1" dirty="0">
                <a:solidFill>
                  <a:srgbClr val="7A8790"/>
                </a:solidFill>
                <a:latin typeface="Calibri" pitchFamily="34" charset="0"/>
                <a:ea typeface="Calibri" pitchFamily="34" charset="-122"/>
                <a:cs typeface="Calibri" pitchFamily="34" charset="-120"/>
              </a:rPr>
              <a:t>who is answering</a:t>
            </a:r>
            <a:endParaRPr lang="en-US" sz="1000" dirty="0"/>
          </a:p>
        </p:txBody>
      </p:sp>
      <p:sp>
        <p:nvSpPr>
          <p:cNvPr id="12" name="Shape 10"/>
          <p:cNvSpPr/>
          <p:nvPr/>
        </p:nvSpPr>
        <p:spPr>
          <a:xfrm>
            <a:off x="6903720" y="2450592"/>
            <a:ext cx="0" cy="256032"/>
          </a:xfrm>
          <a:prstGeom prst="line">
            <a:avLst/>
          </a:prstGeom>
          <a:noFill/>
          <a:ln w="15875">
            <a:solidFill>
              <a:srgbClr val="0E7C7B"/>
            </a:solidFill>
            <a:prstDash val="solid"/>
          </a:ln>
        </p:spPr>
      </p:sp>
      <p:sp>
        <p:nvSpPr>
          <p:cNvPr id="13" name="Shape 11"/>
          <p:cNvSpPr/>
          <p:nvPr/>
        </p:nvSpPr>
        <p:spPr>
          <a:xfrm>
            <a:off x="6903720" y="2706624"/>
            <a:ext cx="137160" cy="0"/>
          </a:xfrm>
          <a:prstGeom prst="line">
            <a:avLst/>
          </a:prstGeom>
          <a:noFill/>
          <a:ln w="15875">
            <a:solidFill>
              <a:srgbClr val="0E7C7B"/>
            </a:solidFill>
            <a:prstDash val="solid"/>
          </a:ln>
        </p:spPr>
      </p:sp>
      <p:sp>
        <p:nvSpPr>
          <p:cNvPr id="14" name="Shape 12"/>
          <p:cNvSpPr/>
          <p:nvPr/>
        </p:nvSpPr>
        <p:spPr>
          <a:xfrm>
            <a:off x="7040880" y="2523744"/>
            <a:ext cx="3063240" cy="365760"/>
          </a:xfrm>
          <a:prstGeom prst="roundRect">
            <a:avLst>
              <a:gd name="adj" fmla="val 15000"/>
            </a:avLst>
          </a:prstGeom>
          <a:solidFill>
            <a:srgbClr val="E4F0EF"/>
          </a:solidFill>
          <a:ln w="9525">
            <a:solidFill>
              <a:srgbClr val="0E7C7B"/>
            </a:solidFill>
            <a:prstDash val="solid"/>
          </a:ln>
        </p:spPr>
      </p:sp>
      <p:sp>
        <p:nvSpPr>
          <p:cNvPr id="15" name="Text 13"/>
          <p:cNvSpPr/>
          <p:nvPr/>
        </p:nvSpPr>
        <p:spPr>
          <a:xfrm>
            <a:off x="7040880" y="2532888"/>
            <a:ext cx="3063240" cy="347472"/>
          </a:xfrm>
          <a:prstGeom prst="rect">
            <a:avLst/>
          </a:prstGeom>
          <a:noFill/>
          <a:ln/>
        </p:spPr>
        <p:txBody>
          <a:bodyPr wrap="square" lIns="0" tIns="0" rIns="0" bIns="0" rtlCol="0" anchor="ctr"/>
          <a:lstStyle/>
          <a:p>
            <a:pPr algn="ctr" indent="0" marL="0">
              <a:buNone/>
            </a:pPr>
            <a:r>
              <a:rPr lang="en-US" sz="1000" b="1" dirty="0">
                <a:solidFill>
                  <a:srgbClr val="0A5B5A"/>
                </a:solidFill>
                <a:latin typeface="Calibri" pitchFamily="34" charset="0"/>
                <a:ea typeface="Calibri" pitchFamily="34" charset="-122"/>
                <a:cs typeface="Calibri" pitchFamily="34" charset="-120"/>
              </a:rPr>
              <a:t>ATTRIBUTE · identity — pick one</a:t>
            </a:r>
            <a:endParaRPr lang="en-US" sz="1000" dirty="0"/>
          </a:p>
        </p:txBody>
      </p:sp>
      <p:sp>
        <p:nvSpPr>
          <p:cNvPr id="16" name="Shape 14"/>
          <p:cNvSpPr/>
          <p:nvPr/>
        </p:nvSpPr>
        <p:spPr>
          <a:xfrm>
            <a:off x="7269480" y="2889504"/>
            <a:ext cx="0" cy="256032"/>
          </a:xfrm>
          <a:prstGeom prst="line">
            <a:avLst/>
          </a:prstGeom>
          <a:noFill/>
          <a:ln w="12700">
            <a:solidFill>
              <a:srgbClr val="7A8790"/>
            </a:solidFill>
            <a:prstDash val="solid"/>
          </a:ln>
        </p:spPr>
      </p:sp>
      <p:sp>
        <p:nvSpPr>
          <p:cNvPr id="17" name="Shape 15"/>
          <p:cNvSpPr/>
          <p:nvPr/>
        </p:nvSpPr>
        <p:spPr>
          <a:xfrm>
            <a:off x="7269480" y="3145536"/>
            <a:ext cx="137160" cy="0"/>
          </a:xfrm>
          <a:prstGeom prst="line">
            <a:avLst/>
          </a:prstGeom>
          <a:noFill/>
          <a:ln w="12700">
            <a:solidFill>
              <a:srgbClr val="7A8790"/>
            </a:solidFill>
            <a:prstDash val="solid"/>
          </a:ln>
        </p:spPr>
      </p:sp>
      <p:sp>
        <p:nvSpPr>
          <p:cNvPr id="18" name="Shape 16"/>
          <p:cNvSpPr/>
          <p:nvPr/>
        </p:nvSpPr>
        <p:spPr>
          <a:xfrm>
            <a:off x="7406640" y="2971800"/>
            <a:ext cx="1691640" cy="347472"/>
          </a:xfrm>
          <a:prstGeom prst="roundRect">
            <a:avLst>
              <a:gd name="adj" fmla="val 15789"/>
            </a:avLst>
          </a:prstGeom>
          <a:solidFill>
            <a:srgbClr val="FFFFFF"/>
          </a:solidFill>
          <a:ln w="9525">
            <a:solidFill>
              <a:srgbClr val="DCE3E6"/>
            </a:solidFill>
            <a:prstDash val="solid"/>
          </a:ln>
        </p:spPr>
      </p:sp>
      <p:sp>
        <p:nvSpPr>
          <p:cNvPr id="19" name="Text 17"/>
          <p:cNvSpPr/>
          <p:nvPr/>
        </p:nvSpPr>
        <p:spPr>
          <a:xfrm>
            <a:off x="7406640" y="2980944"/>
            <a:ext cx="1691640" cy="329184"/>
          </a:xfrm>
          <a:prstGeom prst="rect">
            <a:avLst/>
          </a:prstGeom>
          <a:noFill/>
          <a:ln/>
        </p:spPr>
        <p:txBody>
          <a:bodyPr wrap="square" lIns="0" tIns="0" rIns="0" bIns="0" rtlCol="0" anchor="ctr"/>
          <a:lstStyle/>
          <a:p>
            <a:pPr algn="ctr" indent="0" marL="0">
              <a:buNone/>
            </a:pPr>
            <a:r>
              <a:rPr lang="en-US" sz="950" dirty="0">
                <a:solidFill>
                  <a:srgbClr val="46545F"/>
                </a:solidFill>
                <a:latin typeface="Calibri" pitchFamily="34" charset="0"/>
                <a:ea typeface="Calibri" pitchFamily="34" charset="-122"/>
                <a:cs typeface="Calibri" pitchFamily="34" charset="-120"/>
              </a:rPr>
              <a:t>“Careful analyst”</a:t>
            </a:r>
            <a:endParaRPr lang="en-US" sz="950" dirty="0"/>
          </a:p>
        </p:txBody>
      </p:sp>
      <p:sp>
        <p:nvSpPr>
          <p:cNvPr id="20" name="Shape 18"/>
          <p:cNvSpPr/>
          <p:nvPr/>
        </p:nvSpPr>
        <p:spPr>
          <a:xfrm>
            <a:off x="9189720" y="2971800"/>
            <a:ext cx="1554480" cy="347472"/>
          </a:xfrm>
          <a:prstGeom prst="roundRect">
            <a:avLst>
              <a:gd name="adj" fmla="val 15789"/>
            </a:avLst>
          </a:prstGeom>
          <a:solidFill>
            <a:srgbClr val="FFFFFF"/>
          </a:solidFill>
          <a:ln w="9525">
            <a:solidFill>
              <a:srgbClr val="DCE3E6"/>
            </a:solidFill>
            <a:prstDash val="solid"/>
          </a:ln>
        </p:spPr>
      </p:sp>
      <p:sp>
        <p:nvSpPr>
          <p:cNvPr id="21" name="Text 19"/>
          <p:cNvSpPr/>
          <p:nvPr/>
        </p:nvSpPr>
        <p:spPr>
          <a:xfrm>
            <a:off x="9189720" y="2980944"/>
            <a:ext cx="1554480" cy="329184"/>
          </a:xfrm>
          <a:prstGeom prst="rect">
            <a:avLst/>
          </a:prstGeom>
          <a:noFill/>
          <a:ln/>
        </p:spPr>
        <p:txBody>
          <a:bodyPr wrap="square" lIns="0" tIns="0" rIns="0" bIns="0" rtlCol="0" anchor="ctr"/>
          <a:lstStyle/>
          <a:p>
            <a:pPr algn="ctr" indent="0" marL="0">
              <a:buNone/>
            </a:pPr>
            <a:r>
              <a:rPr lang="en-US" sz="950" dirty="0">
                <a:solidFill>
                  <a:srgbClr val="46545F"/>
                </a:solidFill>
                <a:latin typeface="Calibri" pitchFamily="34" charset="0"/>
                <a:ea typeface="Calibri" pitchFamily="34" charset="-122"/>
                <a:cs typeface="Calibri" pitchFamily="34" charset="-120"/>
              </a:rPr>
              <a:t>“Precise editor”</a:t>
            </a:r>
            <a:endParaRPr lang="en-US" sz="950" dirty="0"/>
          </a:p>
        </p:txBody>
      </p:sp>
      <p:sp>
        <p:nvSpPr>
          <p:cNvPr id="22" name="Shape 20"/>
          <p:cNvSpPr/>
          <p:nvPr/>
        </p:nvSpPr>
        <p:spPr>
          <a:xfrm>
            <a:off x="10835640" y="2971800"/>
            <a:ext cx="411480" cy="347472"/>
          </a:xfrm>
          <a:prstGeom prst="roundRect">
            <a:avLst>
              <a:gd name="adj" fmla="val 15789"/>
            </a:avLst>
          </a:prstGeom>
          <a:solidFill>
            <a:srgbClr val="FFFFFF"/>
          </a:solidFill>
          <a:ln w="9525">
            <a:solidFill>
              <a:srgbClr val="DCE3E6"/>
            </a:solidFill>
            <a:prstDash val="solid"/>
          </a:ln>
        </p:spPr>
      </p:sp>
      <p:sp>
        <p:nvSpPr>
          <p:cNvPr id="23" name="Text 21"/>
          <p:cNvSpPr/>
          <p:nvPr/>
        </p:nvSpPr>
        <p:spPr>
          <a:xfrm>
            <a:off x="10835640" y="2980944"/>
            <a:ext cx="411480" cy="329184"/>
          </a:xfrm>
          <a:prstGeom prst="rect">
            <a:avLst/>
          </a:prstGeom>
          <a:noFill/>
          <a:ln/>
        </p:spPr>
        <p:txBody>
          <a:bodyPr wrap="square" lIns="0" tIns="0" rIns="0" bIns="0" rtlCol="0" anchor="ctr"/>
          <a:lstStyle/>
          <a:p>
            <a:pPr algn="ctr" indent="0" marL="0">
              <a:buNone/>
            </a:pPr>
            <a:r>
              <a:rPr lang="en-US" sz="950" dirty="0">
                <a:solidFill>
                  <a:srgbClr val="46545F"/>
                </a:solidFill>
                <a:latin typeface="Calibri" pitchFamily="34" charset="0"/>
                <a:ea typeface="Calibri" pitchFamily="34" charset="-122"/>
                <a:cs typeface="Calibri" pitchFamily="34" charset="-120"/>
              </a:rPr>
              <a:t>…</a:t>
            </a:r>
            <a:endParaRPr lang="en-US" sz="950" dirty="0"/>
          </a:p>
        </p:txBody>
      </p:sp>
      <p:sp>
        <p:nvSpPr>
          <p:cNvPr id="24" name="Text 22"/>
          <p:cNvSpPr/>
          <p:nvPr/>
        </p:nvSpPr>
        <p:spPr>
          <a:xfrm>
            <a:off x="6675120" y="3456432"/>
            <a:ext cx="4754880" cy="658368"/>
          </a:xfrm>
          <a:prstGeom prst="rect">
            <a:avLst/>
          </a:prstGeom>
          <a:noFill/>
          <a:ln/>
        </p:spPr>
        <p:txBody>
          <a:bodyPr wrap="square" lIns="0" tIns="0" rIns="0" bIns="0" rtlCol="0" anchor="ctr"/>
          <a:lstStyle/>
          <a:p>
            <a:pPr indent="0" marL="0">
              <a:lnSpc>
                <a:spcPct val="106000"/>
              </a:lnSpc>
              <a:buNone/>
            </a:pPr>
            <a:r>
              <a:rPr lang="en-US" sz="950" i="1" dirty="0">
                <a:solidFill>
                  <a:srgbClr val="46545F"/>
                </a:solidFill>
                <a:latin typeface="Calibri" pitchFamily="34" charset="0"/>
                <a:ea typeface="Calibri" pitchFamily="34" charset="-122"/>
                <a:cs typeface="Calibri" pitchFamily="34" charset="-120"/>
              </a:rPr>
              <a:t>OPTIONS — every option ships with when-to-use guidance, and every slot with its research-backed “Why it matters.” You pick from a vetted menu instead of composing from scratch.</a:t>
            </a:r>
            <a:endParaRPr lang="en-US" sz="950" dirty="0"/>
          </a:p>
        </p:txBody>
      </p:sp>
      <p:sp>
        <p:nvSpPr>
          <p:cNvPr id="25" name="Shape 23"/>
          <p:cNvSpPr/>
          <p:nvPr/>
        </p:nvSpPr>
        <p:spPr>
          <a:xfrm>
            <a:off x="502920" y="4343400"/>
            <a:ext cx="11155680" cy="1737360"/>
          </a:xfrm>
          <a:prstGeom prst="roundRect">
            <a:avLst>
              <a:gd name="adj" fmla="val 4211"/>
            </a:avLst>
          </a:prstGeom>
          <a:solidFill>
            <a:srgbClr val="E4F0EF"/>
          </a:solidFill>
          <a:ln/>
        </p:spPr>
      </p:sp>
      <p:sp>
        <p:nvSpPr>
          <p:cNvPr id="26" name="Text 24"/>
          <p:cNvSpPr/>
          <p:nvPr/>
        </p:nvSpPr>
        <p:spPr>
          <a:xfrm>
            <a:off x="777240" y="4526280"/>
            <a:ext cx="1645920" cy="548640"/>
          </a:xfrm>
          <a:prstGeom prst="rect">
            <a:avLst/>
          </a:prstGeom>
          <a:noFill/>
          <a:ln/>
        </p:spPr>
        <p:txBody>
          <a:bodyPr wrap="square" lIns="0" tIns="0" rIns="0" bIns="0" rtlCol="0" anchor="ctr"/>
          <a:lstStyle/>
          <a:p>
            <a:pPr algn="ctr" indent="0" marL="0">
              <a:buNone/>
            </a:pPr>
            <a:r>
              <a:rPr lang="en-US" sz="3000" b="1" dirty="0">
                <a:solidFill>
                  <a:srgbClr val="0A5B5A"/>
                </a:solidFill>
                <a:latin typeface="Cambria" pitchFamily="34" charset="0"/>
                <a:ea typeface="Cambria" pitchFamily="34" charset="-122"/>
                <a:cs typeface="Cambria" pitchFamily="34" charset="-120"/>
              </a:rPr>
              <a:t>19</a:t>
            </a:r>
            <a:endParaRPr lang="en-US" sz="3000" dirty="0"/>
          </a:p>
        </p:txBody>
      </p:sp>
      <p:sp>
        <p:nvSpPr>
          <p:cNvPr id="27" name="Text 25"/>
          <p:cNvSpPr/>
          <p:nvPr/>
        </p:nvSpPr>
        <p:spPr>
          <a:xfrm>
            <a:off x="777240" y="5120640"/>
            <a:ext cx="1645920" cy="777240"/>
          </a:xfrm>
          <a:prstGeom prst="rect">
            <a:avLst/>
          </a:prstGeom>
          <a:noFill/>
          <a:ln/>
        </p:spPr>
        <p:txBody>
          <a:bodyPr wrap="square" lIns="0" tIns="0" rIns="0" bIns="0" rtlCol="0" anchor="t"/>
          <a:lstStyle/>
          <a:p>
            <a:pPr algn="ctr" indent="0" marL="0">
              <a:lnSpc>
                <a:spcPct val="102000"/>
              </a:lnSpc>
              <a:buNone/>
            </a:pPr>
            <a:r>
              <a:rPr lang="en-US" sz="900" dirty="0">
                <a:solidFill>
                  <a:srgbClr val="46545F"/>
                </a:solidFill>
                <a:latin typeface="Calibri" pitchFamily="34" charset="0"/>
                <a:ea typeface="Calibri" pitchFamily="34" charset="-122"/>
                <a:cs typeface="Calibri" pitchFamily="34" charset="-120"/>
              </a:rPr>
              <a:t>elements</a:t>
            </a:r>
            <a:endParaRPr lang="en-US" sz="900" dirty="0"/>
          </a:p>
          <a:p>
            <a:pPr algn="ctr" indent="0" marL="0">
              <a:lnSpc>
                <a:spcPct val="102000"/>
              </a:lnSpc>
              <a:buNone/>
            </a:pPr>
            <a:r>
              <a:rPr lang="en-US" sz="900" dirty="0">
                <a:solidFill>
                  <a:srgbClr val="46545F"/>
                </a:solidFill>
                <a:latin typeface="Calibri" pitchFamily="34" charset="0"/>
                <a:ea typeface="Calibri" pitchFamily="34" charset="-122"/>
                <a:cs typeface="Calibri" pitchFamily="34" charset="-120"/>
              </a:rPr>
              <a:t>(7 generative · 12 agentic)</a:t>
            </a:r>
            <a:endParaRPr lang="en-US" sz="900" dirty="0"/>
          </a:p>
        </p:txBody>
      </p:sp>
      <p:sp>
        <p:nvSpPr>
          <p:cNvPr id="28" name="Text 26"/>
          <p:cNvSpPr/>
          <p:nvPr/>
        </p:nvSpPr>
        <p:spPr>
          <a:xfrm>
            <a:off x="2560320" y="4526280"/>
            <a:ext cx="1645920" cy="548640"/>
          </a:xfrm>
          <a:prstGeom prst="rect">
            <a:avLst/>
          </a:prstGeom>
          <a:noFill/>
          <a:ln/>
        </p:spPr>
        <p:txBody>
          <a:bodyPr wrap="square" lIns="0" tIns="0" rIns="0" bIns="0" rtlCol="0" anchor="ctr"/>
          <a:lstStyle/>
          <a:p>
            <a:pPr algn="ctr" indent="0" marL="0">
              <a:buNone/>
            </a:pPr>
            <a:r>
              <a:rPr lang="en-US" sz="3000" b="1" dirty="0">
                <a:solidFill>
                  <a:srgbClr val="0A5B5A"/>
                </a:solidFill>
                <a:latin typeface="Cambria" pitchFamily="34" charset="0"/>
                <a:ea typeface="Cambria" pitchFamily="34" charset="-122"/>
                <a:cs typeface="Cambria" pitchFamily="34" charset="-120"/>
              </a:rPr>
              <a:t>78</a:t>
            </a:r>
            <a:endParaRPr lang="en-US" sz="3000" dirty="0"/>
          </a:p>
        </p:txBody>
      </p:sp>
      <p:sp>
        <p:nvSpPr>
          <p:cNvPr id="29" name="Text 27"/>
          <p:cNvSpPr/>
          <p:nvPr/>
        </p:nvSpPr>
        <p:spPr>
          <a:xfrm>
            <a:off x="2560320" y="5120640"/>
            <a:ext cx="1645920" cy="777240"/>
          </a:xfrm>
          <a:prstGeom prst="rect">
            <a:avLst/>
          </a:prstGeom>
          <a:noFill/>
          <a:ln/>
        </p:spPr>
        <p:txBody>
          <a:bodyPr wrap="square" lIns="0" tIns="0" rIns="0" bIns="0" rtlCol="0" anchor="t"/>
          <a:lstStyle/>
          <a:p>
            <a:pPr algn="ctr" indent="0" marL="0">
              <a:lnSpc>
                <a:spcPct val="102000"/>
              </a:lnSpc>
              <a:buNone/>
            </a:pPr>
            <a:r>
              <a:rPr lang="en-US" sz="900" dirty="0">
                <a:solidFill>
                  <a:srgbClr val="46545F"/>
                </a:solidFill>
                <a:latin typeface="Calibri" pitchFamily="34" charset="0"/>
                <a:ea typeface="Calibri" pitchFamily="34" charset="-122"/>
                <a:cs typeface="Calibri" pitchFamily="34" charset="-120"/>
              </a:rPr>
              <a:t>attributes —</a:t>
            </a:r>
            <a:endParaRPr lang="en-US" sz="900" dirty="0"/>
          </a:p>
          <a:p>
            <a:pPr algn="ctr" indent="0" marL="0">
              <a:lnSpc>
                <a:spcPct val="102000"/>
              </a:lnSpc>
              <a:buNone/>
            </a:pPr>
            <a:r>
              <a:rPr lang="en-US" sz="900" dirty="0">
                <a:solidFill>
                  <a:srgbClr val="46545F"/>
                </a:solidFill>
                <a:latin typeface="Calibri" pitchFamily="34" charset="0"/>
                <a:ea typeface="Calibri" pitchFamily="34" charset="-122"/>
                <a:cs typeface="Calibri" pitchFamily="34" charset="-120"/>
              </a:rPr>
              <a:t>the slots you fill</a:t>
            </a:r>
            <a:endParaRPr lang="en-US" sz="900" dirty="0"/>
          </a:p>
        </p:txBody>
      </p:sp>
      <p:sp>
        <p:nvSpPr>
          <p:cNvPr id="30" name="Text 28"/>
          <p:cNvSpPr/>
          <p:nvPr/>
        </p:nvSpPr>
        <p:spPr>
          <a:xfrm>
            <a:off x="4343400" y="4526280"/>
            <a:ext cx="1645920" cy="548640"/>
          </a:xfrm>
          <a:prstGeom prst="rect">
            <a:avLst/>
          </a:prstGeom>
          <a:noFill/>
          <a:ln/>
        </p:spPr>
        <p:txBody>
          <a:bodyPr wrap="square" lIns="0" tIns="0" rIns="0" bIns="0" rtlCol="0" anchor="ctr"/>
          <a:lstStyle/>
          <a:p>
            <a:pPr algn="ctr" indent="0" marL="0">
              <a:buNone/>
            </a:pPr>
            <a:r>
              <a:rPr lang="en-US" sz="3000" b="1" dirty="0">
                <a:solidFill>
                  <a:srgbClr val="0A5B5A"/>
                </a:solidFill>
                <a:latin typeface="Cambria" pitchFamily="34" charset="0"/>
                <a:ea typeface="Cambria" pitchFamily="34" charset="-122"/>
                <a:cs typeface="Cambria" pitchFamily="34" charset="-120"/>
              </a:rPr>
              <a:t>~290</a:t>
            </a:r>
            <a:endParaRPr lang="en-US" sz="3000" dirty="0"/>
          </a:p>
        </p:txBody>
      </p:sp>
      <p:sp>
        <p:nvSpPr>
          <p:cNvPr id="31" name="Text 29"/>
          <p:cNvSpPr/>
          <p:nvPr/>
        </p:nvSpPr>
        <p:spPr>
          <a:xfrm>
            <a:off x="4343400" y="5120640"/>
            <a:ext cx="1645920" cy="777240"/>
          </a:xfrm>
          <a:prstGeom prst="rect">
            <a:avLst/>
          </a:prstGeom>
          <a:noFill/>
          <a:ln/>
        </p:spPr>
        <p:txBody>
          <a:bodyPr wrap="square" lIns="0" tIns="0" rIns="0" bIns="0" rtlCol="0" anchor="t"/>
          <a:lstStyle/>
          <a:p>
            <a:pPr algn="ctr" indent="0" marL="0">
              <a:lnSpc>
                <a:spcPct val="102000"/>
              </a:lnSpc>
              <a:buNone/>
            </a:pPr>
            <a:r>
              <a:rPr lang="en-US" sz="900" dirty="0">
                <a:solidFill>
                  <a:srgbClr val="46545F"/>
                </a:solidFill>
                <a:latin typeface="Calibri" pitchFamily="34" charset="0"/>
                <a:ea typeface="Calibri" pitchFamily="34" charset="-122"/>
                <a:cs typeface="Calibri" pitchFamily="34" charset="-120"/>
              </a:rPr>
              <a:t>vetted options,</a:t>
            </a:r>
            <a:endParaRPr lang="en-US" sz="900" dirty="0"/>
          </a:p>
          <a:p>
            <a:pPr algn="ctr" indent="0" marL="0">
              <a:lnSpc>
                <a:spcPct val="102000"/>
              </a:lnSpc>
              <a:buNone/>
            </a:pPr>
            <a:r>
              <a:rPr lang="en-US" sz="900" dirty="0">
                <a:solidFill>
                  <a:srgbClr val="46545F"/>
                </a:solidFill>
                <a:latin typeface="Calibri" pitchFamily="34" charset="0"/>
                <a:ea typeface="Calibri" pitchFamily="34" charset="-122"/>
                <a:cs typeface="Calibri" pitchFamily="34" charset="-120"/>
              </a:rPr>
              <a:t>each with guidance</a:t>
            </a:r>
            <a:endParaRPr lang="en-US" sz="900" dirty="0"/>
          </a:p>
        </p:txBody>
      </p:sp>
      <p:sp>
        <p:nvSpPr>
          <p:cNvPr id="32" name="Text 30"/>
          <p:cNvSpPr/>
          <p:nvPr/>
        </p:nvSpPr>
        <p:spPr>
          <a:xfrm>
            <a:off x="6126480" y="4526280"/>
            <a:ext cx="1645920" cy="548640"/>
          </a:xfrm>
          <a:prstGeom prst="rect">
            <a:avLst/>
          </a:prstGeom>
          <a:noFill/>
          <a:ln/>
        </p:spPr>
        <p:txBody>
          <a:bodyPr wrap="square" lIns="0" tIns="0" rIns="0" bIns="0" rtlCol="0" anchor="ctr"/>
          <a:lstStyle/>
          <a:p>
            <a:pPr algn="ctr" indent="0" marL="0">
              <a:buNone/>
            </a:pPr>
            <a:r>
              <a:rPr lang="en-US" sz="3000" b="1" dirty="0">
                <a:solidFill>
                  <a:srgbClr val="0A5B5A"/>
                </a:solidFill>
                <a:latin typeface="Cambria" pitchFamily="34" charset="0"/>
                <a:ea typeface="Cambria" pitchFamily="34" charset="-122"/>
                <a:cs typeface="Cambria" pitchFamily="34" charset="-120"/>
              </a:rPr>
              <a:t>18</a:t>
            </a:r>
            <a:endParaRPr lang="en-US" sz="3000" dirty="0"/>
          </a:p>
        </p:txBody>
      </p:sp>
      <p:sp>
        <p:nvSpPr>
          <p:cNvPr id="33" name="Text 31"/>
          <p:cNvSpPr/>
          <p:nvPr/>
        </p:nvSpPr>
        <p:spPr>
          <a:xfrm>
            <a:off x="6126480" y="5120640"/>
            <a:ext cx="1645920" cy="777240"/>
          </a:xfrm>
          <a:prstGeom prst="rect">
            <a:avLst/>
          </a:prstGeom>
          <a:noFill/>
          <a:ln/>
        </p:spPr>
        <p:txBody>
          <a:bodyPr wrap="square" lIns="0" tIns="0" rIns="0" bIns="0" rtlCol="0" anchor="t"/>
          <a:lstStyle/>
          <a:p>
            <a:pPr algn="ctr" indent="0" marL="0">
              <a:lnSpc>
                <a:spcPct val="102000"/>
              </a:lnSpc>
              <a:buNone/>
            </a:pPr>
            <a:r>
              <a:rPr lang="en-US" sz="900" dirty="0">
                <a:solidFill>
                  <a:srgbClr val="46545F"/>
                </a:solidFill>
                <a:latin typeface="Calibri" pitchFamily="34" charset="0"/>
                <a:ea typeface="Calibri" pitchFamily="34" charset="-122"/>
                <a:cs typeface="Calibri" pitchFamily="34" charset="-120"/>
              </a:rPr>
              <a:t>presets — one-click</a:t>
            </a:r>
            <a:endParaRPr lang="en-US" sz="900" dirty="0"/>
          </a:p>
          <a:p>
            <a:pPr algn="ctr" indent="0" marL="0">
              <a:lnSpc>
                <a:spcPct val="102000"/>
              </a:lnSpc>
              <a:buNone/>
            </a:pPr>
            <a:r>
              <a:rPr lang="en-US" sz="900" dirty="0">
                <a:solidFill>
                  <a:srgbClr val="46545F"/>
                </a:solidFill>
                <a:latin typeface="Calibri" pitchFamily="34" charset="0"/>
                <a:ea typeface="Calibri" pitchFamily="34" charset="-122"/>
                <a:cs typeface="Calibri" pitchFamily="34" charset="-120"/>
              </a:rPr>
              <a:t>starting templates</a:t>
            </a:r>
            <a:endParaRPr lang="en-US" sz="900" dirty="0"/>
          </a:p>
        </p:txBody>
      </p:sp>
      <p:sp>
        <p:nvSpPr>
          <p:cNvPr id="34" name="Shape 32"/>
          <p:cNvSpPr/>
          <p:nvPr/>
        </p:nvSpPr>
        <p:spPr>
          <a:xfrm>
            <a:off x="8092440" y="4572000"/>
            <a:ext cx="0" cy="1280160"/>
          </a:xfrm>
          <a:prstGeom prst="line">
            <a:avLst/>
          </a:prstGeom>
          <a:noFill/>
          <a:ln w="9525">
            <a:solidFill>
              <a:srgbClr val="0E7C7B"/>
            </a:solidFill>
            <a:prstDash val="solid"/>
          </a:ln>
        </p:spPr>
      </p:sp>
      <p:sp>
        <p:nvSpPr>
          <p:cNvPr id="35" name="Text 33"/>
          <p:cNvSpPr/>
          <p:nvPr/>
        </p:nvSpPr>
        <p:spPr>
          <a:xfrm>
            <a:off x="8366760" y="4526280"/>
            <a:ext cx="3108960" cy="1371600"/>
          </a:xfrm>
          <a:prstGeom prst="rect">
            <a:avLst/>
          </a:prstGeom>
          <a:noFill/>
          <a:ln/>
        </p:spPr>
        <p:txBody>
          <a:bodyPr wrap="square" lIns="0" tIns="0" rIns="0" bIns="0" rtlCol="0" anchor="ctr"/>
          <a:lstStyle/>
          <a:p>
            <a:pPr indent="0" marL="0">
              <a:lnSpc>
                <a:spcPct val="110000"/>
              </a:lnSpc>
              <a:spcAft>
                <a:spcPts val="300"/>
              </a:spcAft>
              <a:buNone/>
            </a:pPr>
            <a:r>
              <a:rPr lang="en-US" sz="1150" b="1" dirty="0">
                <a:solidFill>
                  <a:srgbClr val="0A5B5A"/>
                </a:solidFill>
                <a:latin typeface="Calibri" pitchFamily="34" charset="0"/>
                <a:ea typeface="Calibri" pitchFamily="34" charset="-122"/>
                <a:cs typeface="Calibri" pitchFamily="34" charset="-120"/>
              </a:rPr>
              <a:t>In your handout pack — </a:t>
            </a:r>
            <a:endParaRPr lang="en-US" sz="115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the printed reference, the Template Creator, and the Configurator. When you fill a template in Part 4, this catalog is the menu you are choosing from.</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THE TOOLKIT</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28</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TOOLKIT · PLAN · DO · CHECK · ACT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toolkit is a loop</a:t>
            </a:r>
            <a:endParaRPr lang="en-US" sz="3000" dirty="0"/>
          </a:p>
        </p:txBody>
      </p:sp>
      <p:sp>
        <p:nvSpPr>
          <p:cNvPr id="6" name="Shape 4"/>
          <p:cNvSpPr/>
          <p:nvPr/>
        </p:nvSpPr>
        <p:spPr>
          <a:xfrm>
            <a:off x="502920" y="1444752"/>
            <a:ext cx="5440680" cy="2176272"/>
          </a:xfrm>
          <a:prstGeom prst="roundRect">
            <a:avLst>
              <a:gd name="adj" fmla="val 3361"/>
            </a:avLst>
          </a:prstGeom>
          <a:solidFill>
            <a:srgbClr val="E4F0EF"/>
          </a:solidFill>
          <a:ln/>
        </p:spPr>
      </p:sp>
      <p:sp>
        <p:nvSpPr>
          <p:cNvPr id="7" name="Shape 5"/>
          <p:cNvSpPr/>
          <p:nvPr/>
        </p:nvSpPr>
        <p:spPr>
          <a:xfrm>
            <a:off x="649224" y="1554480"/>
            <a:ext cx="402336" cy="402336"/>
          </a:xfrm>
          <a:prstGeom prst="ellipse">
            <a:avLst/>
          </a:prstGeom>
          <a:solidFill>
            <a:srgbClr val="0E7C7B"/>
          </a:solidFill>
          <a:ln/>
        </p:spPr>
      </p:sp>
      <p:sp>
        <p:nvSpPr>
          <p:cNvPr id="8" name="Text 6"/>
          <p:cNvSpPr/>
          <p:nvPr/>
        </p:nvSpPr>
        <p:spPr>
          <a:xfrm>
            <a:off x="649224" y="154533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P</a:t>
            </a:r>
            <a:endParaRPr lang="en-US" sz="1700" dirty="0"/>
          </a:p>
        </p:txBody>
      </p:sp>
      <p:sp>
        <p:nvSpPr>
          <p:cNvPr id="9" name="Text 7"/>
          <p:cNvSpPr/>
          <p:nvPr/>
        </p:nvSpPr>
        <p:spPr>
          <a:xfrm>
            <a:off x="1161288" y="1591056"/>
            <a:ext cx="4663440" cy="329184"/>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PLAN — design the ask</a:t>
            </a:r>
            <a:endParaRPr lang="en-US" sz="1350" dirty="0"/>
          </a:p>
        </p:txBody>
      </p:sp>
      <p:sp>
        <p:nvSpPr>
          <p:cNvPr id="10" name="Text 8"/>
          <p:cNvSpPr/>
          <p:nvPr/>
        </p:nvSpPr>
        <p:spPr>
          <a:xfrm>
            <a:off x="777240" y="1956816"/>
            <a:ext cx="4983480" cy="950976"/>
          </a:xfrm>
          <a:prstGeom prst="rect">
            <a:avLst/>
          </a:prstGeom>
          <a:noFill/>
          <a:ln/>
        </p:spPr>
        <p:txBody>
          <a:bodyPr wrap="square" lIns="0" tIns="0" rIns="0" bIns="0" rtlCol="0" anchor="ctr"/>
          <a:lstStyle/>
          <a:p>
            <a:pPr indent="0" marL="0">
              <a:lnSpc>
                <a:spcPct val="112000"/>
              </a:lnSpc>
              <a:buNone/>
            </a:pPr>
            <a:r>
              <a:rPr lang="en-US" sz="960" dirty="0">
                <a:solidFill>
                  <a:srgbClr val="46545F"/>
                </a:solidFill>
                <a:latin typeface="Calibri" pitchFamily="34" charset="0"/>
                <a:ea typeface="Calibri" pitchFamily="34" charset="-122"/>
                <a:cs typeface="Calibri" pitchFamily="34" charset="-120"/>
              </a:rPr>
              <a:t>· The anatomy: all seven elements, filled</a:t>
            </a:r>
            <a:endParaRPr lang="en-US" sz="960" dirty="0"/>
          </a:p>
          <a:p>
            <a:pPr indent="0" marL="0">
              <a:lnSpc>
                <a:spcPct val="112000"/>
              </a:lnSpc>
              <a:buNone/>
            </a:pPr>
            <a:r>
              <a:rPr lang="en-US" sz="960" dirty="0">
                <a:solidFill>
                  <a:srgbClr val="46545F"/>
                </a:solidFill>
                <a:latin typeface="Calibri" pitchFamily="34" charset="0"/>
                <a:ea typeface="Calibri" pitchFamily="34" charset="-122"/>
                <a:cs typeface="Calibri" pitchFamily="34" charset="-120"/>
              </a:rPr>
              <a:t>· Be specific — and say WHY behind each rule</a:t>
            </a:r>
            <a:endParaRPr lang="en-US" sz="960" dirty="0"/>
          </a:p>
          <a:p>
            <a:pPr indent="0" marL="0">
              <a:lnSpc>
                <a:spcPct val="112000"/>
              </a:lnSpc>
              <a:buNone/>
            </a:pPr>
            <a:r>
              <a:rPr lang="en-US" sz="960" dirty="0">
                <a:solidFill>
                  <a:srgbClr val="46545F"/>
                </a:solidFill>
                <a:latin typeface="Calibri" pitchFamily="34" charset="0"/>
                <a:ea typeface="Calibri" pitchFamily="34" charset="-122"/>
                <a:cs typeface="Calibri" pitchFamily="34" charset="-120"/>
              </a:rPr>
              <a:t>· Separate your ask from the pasted material</a:t>
            </a:r>
            <a:endParaRPr lang="en-US" sz="960" dirty="0"/>
          </a:p>
          <a:p>
            <a:pPr indent="0" marL="0">
              <a:lnSpc>
                <a:spcPct val="112000"/>
              </a:lnSpc>
              <a:buNone/>
            </a:pPr>
            <a:r>
              <a:rPr lang="en-US" sz="960" dirty="0">
                <a:solidFill>
                  <a:srgbClr val="46545F"/>
                </a:solidFill>
                <a:latin typeface="Calibri" pitchFamily="34" charset="0"/>
                <a:ea typeface="Calibri" pitchFamily="34" charset="-122"/>
                <a:cs typeface="Calibri" pitchFamily="34" charset="-120"/>
              </a:rPr>
              <a:t>· Show 2–3 examples, one edge case included</a:t>
            </a:r>
            <a:endParaRPr lang="en-US" sz="960" dirty="0"/>
          </a:p>
        </p:txBody>
      </p:sp>
      <p:sp>
        <p:nvSpPr>
          <p:cNvPr id="11" name="Shape 9"/>
          <p:cNvSpPr/>
          <p:nvPr/>
        </p:nvSpPr>
        <p:spPr>
          <a:xfrm>
            <a:off x="722376" y="3108960"/>
            <a:ext cx="5029200" cy="402336"/>
          </a:xfrm>
          <a:prstGeom prst="roundRect">
            <a:avLst>
              <a:gd name="adj" fmla="val 11364"/>
            </a:avLst>
          </a:prstGeom>
          <a:solidFill>
            <a:srgbClr val="FFFFFF"/>
          </a:solidFill>
          <a:ln w="9525">
            <a:solidFill>
              <a:srgbClr val="DCE3E6"/>
            </a:solidFill>
            <a:prstDash val="solid"/>
          </a:ln>
        </p:spPr>
      </p:sp>
      <p:sp>
        <p:nvSpPr>
          <p:cNvPr id="12" name="Text 10"/>
          <p:cNvSpPr/>
          <p:nvPr/>
        </p:nvSpPr>
        <p:spPr>
          <a:xfrm>
            <a:off x="832104" y="3136392"/>
            <a:ext cx="4828032" cy="347472"/>
          </a:xfrm>
          <a:prstGeom prst="rect">
            <a:avLst/>
          </a:prstGeom>
          <a:noFill/>
          <a:ln/>
        </p:spPr>
        <p:txBody>
          <a:bodyPr wrap="square" lIns="0" tIns="0" rIns="0" bIns="0" rtlCol="0" anchor="ctr"/>
          <a:lstStyle/>
          <a:p>
            <a:pPr indent="0" marL="0">
              <a:lnSpc>
                <a:spcPct val="98000"/>
              </a:lnSpc>
              <a:buNone/>
            </a:pPr>
            <a:r>
              <a:rPr lang="en-US" sz="820" b="1" dirty="0">
                <a:solidFill>
                  <a:srgbClr val="0A5B5A"/>
                </a:solidFill>
                <a:latin typeface="Calibri" pitchFamily="34" charset="0"/>
                <a:ea typeface="Calibri" pitchFamily="34" charset="-122"/>
                <a:cs typeface="Calibri" pitchFamily="34" charset="-120"/>
              </a:rPr>
              <a:t>delegate it → </a:t>
            </a:r>
            <a:pPr indent="0" marL="0">
              <a:lnSpc>
                <a:spcPct val="98000"/>
              </a:lnSpc>
              <a:buNone/>
            </a:pPr>
            <a:r>
              <a:rPr lang="en-US" sz="820" dirty="0">
                <a:solidFill>
                  <a:srgbClr val="0A5B5A"/>
                </a:solidFill>
                <a:latin typeface="Consolas" pitchFamily="34" charset="0"/>
                <a:ea typeface="Consolas" pitchFamily="34" charset="-122"/>
                <a:cs typeface="Consolas" pitchFamily="34" charset="-120"/>
              </a:rPr>
              <a:t>“I need [X] for [audience], with [constraints]. Draft me a strong prompt, then wait.”</a:t>
            </a:r>
            <a:endParaRPr lang="en-US" sz="820" dirty="0"/>
          </a:p>
        </p:txBody>
      </p:sp>
      <p:sp>
        <p:nvSpPr>
          <p:cNvPr id="13" name="Shape 11"/>
          <p:cNvSpPr/>
          <p:nvPr/>
        </p:nvSpPr>
        <p:spPr>
          <a:xfrm>
            <a:off x="6172200" y="1444752"/>
            <a:ext cx="5440680" cy="2176272"/>
          </a:xfrm>
          <a:prstGeom prst="roundRect">
            <a:avLst>
              <a:gd name="adj" fmla="val 3361"/>
            </a:avLst>
          </a:prstGeom>
          <a:solidFill>
            <a:srgbClr val="F2F5F6"/>
          </a:solidFill>
          <a:ln/>
        </p:spPr>
      </p:sp>
      <p:sp>
        <p:nvSpPr>
          <p:cNvPr id="14" name="Shape 12"/>
          <p:cNvSpPr/>
          <p:nvPr/>
        </p:nvSpPr>
        <p:spPr>
          <a:xfrm>
            <a:off x="6318504" y="1554480"/>
            <a:ext cx="402336" cy="402336"/>
          </a:xfrm>
          <a:prstGeom prst="ellipse">
            <a:avLst/>
          </a:prstGeom>
          <a:solidFill>
            <a:srgbClr val="0E7C7B"/>
          </a:solidFill>
          <a:ln/>
        </p:spPr>
      </p:sp>
      <p:sp>
        <p:nvSpPr>
          <p:cNvPr id="15" name="Text 13"/>
          <p:cNvSpPr/>
          <p:nvPr/>
        </p:nvSpPr>
        <p:spPr>
          <a:xfrm>
            <a:off x="6318504" y="154533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D</a:t>
            </a:r>
            <a:endParaRPr lang="en-US" sz="1700" dirty="0"/>
          </a:p>
        </p:txBody>
      </p:sp>
      <p:sp>
        <p:nvSpPr>
          <p:cNvPr id="16" name="Text 14"/>
          <p:cNvSpPr/>
          <p:nvPr/>
        </p:nvSpPr>
        <p:spPr>
          <a:xfrm>
            <a:off x="6830568" y="1591056"/>
            <a:ext cx="4663440" cy="329184"/>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DO — run it, in order</a:t>
            </a:r>
            <a:endParaRPr lang="en-US" sz="1350" dirty="0"/>
          </a:p>
        </p:txBody>
      </p:sp>
      <p:sp>
        <p:nvSpPr>
          <p:cNvPr id="17" name="Text 15"/>
          <p:cNvSpPr/>
          <p:nvPr/>
        </p:nvSpPr>
        <p:spPr>
          <a:xfrm>
            <a:off x="6446520" y="1956816"/>
            <a:ext cx="4983480" cy="731520"/>
          </a:xfrm>
          <a:prstGeom prst="rect">
            <a:avLst/>
          </a:prstGeom>
          <a:noFill/>
          <a:ln/>
        </p:spPr>
        <p:txBody>
          <a:bodyPr wrap="square" lIns="0" tIns="0" rIns="0" bIns="0" rtlCol="0" anchor="ctr"/>
          <a:lstStyle/>
          <a:p>
            <a:pPr indent="0" marL="0">
              <a:lnSpc>
                <a:spcPct val="112000"/>
              </a:lnSpc>
              <a:buNone/>
            </a:pPr>
            <a:r>
              <a:rPr lang="en-US" sz="960" dirty="0">
                <a:solidFill>
                  <a:srgbClr val="46545F"/>
                </a:solidFill>
                <a:latin typeface="Calibri" pitchFamily="34" charset="0"/>
                <a:ea typeface="Calibri" pitchFamily="34" charset="-122"/>
                <a:cs typeface="Calibri" pitchFamily="34" charset="-120"/>
              </a:rPr>
              <a:t>· Bullet the process as NUMBERED steps — order stated is order followed</a:t>
            </a:r>
            <a:endParaRPr lang="en-US" sz="960" dirty="0"/>
          </a:p>
          <a:p>
            <a:pPr indent="0" marL="0">
              <a:lnSpc>
                <a:spcPct val="112000"/>
              </a:lnSpc>
              <a:buNone/>
            </a:pPr>
            <a:r>
              <a:rPr lang="en-US" sz="960" dirty="0">
                <a:solidFill>
                  <a:srgbClr val="46545F"/>
                </a:solidFill>
                <a:latin typeface="Calibri" pitchFamily="34" charset="0"/>
                <a:ea typeface="Calibri" pitchFamily="34" charset="-122"/>
                <a:cs typeface="Calibri" pitchFamily="34" charset="-120"/>
              </a:rPr>
              <a:t>· Add “wait for my OK” where you want control</a:t>
            </a:r>
            <a:endParaRPr lang="en-US" sz="960" dirty="0"/>
          </a:p>
          <a:p>
            <a:pPr indent="0" marL="0">
              <a:lnSpc>
                <a:spcPct val="112000"/>
              </a:lnSpc>
              <a:buNone/>
            </a:pPr>
            <a:r>
              <a:rPr lang="en-US" sz="960" dirty="0">
                <a:solidFill>
                  <a:srgbClr val="46545F"/>
                </a:solidFill>
                <a:latin typeface="Calibri" pitchFamily="34" charset="0"/>
                <a:ea typeface="Calibri" pitchFamily="34" charset="-122"/>
                <a:cs typeface="Calibri" pitchFamily="34" charset="-120"/>
              </a:rPr>
              <a:t>· Documents at the top, ask at the end · fresh chat per topic</a:t>
            </a:r>
            <a:endParaRPr lang="en-US" sz="960" dirty="0"/>
          </a:p>
        </p:txBody>
      </p:sp>
      <p:sp>
        <p:nvSpPr>
          <p:cNvPr id="18" name="Shape 16"/>
          <p:cNvSpPr/>
          <p:nvPr/>
        </p:nvSpPr>
        <p:spPr>
          <a:xfrm>
            <a:off x="6391656" y="3108960"/>
            <a:ext cx="5029200" cy="402336"/>
          </a:xfrm>
          <a:prstGeom prst="roundRect">
            <a:avLst>
              <a:gd name="adj" fmla="val 11364"/>
            </a:avLst>
          </a:prstGeom>
          <a:solidFill>
            <a:srgbClr val="FFFFFF"/>
          </a:solidFill>
          <a:ln w="9525">
            <a:solidFill>
              <a:srgbClr val="DCE3E6"/>
            </a:solidFill>
            <a:prstDash val="solid"/>
          </a:ln>
        </p:spPr>
      </p:sp>
      <p:sp>
        <p:nvSpPr>
          <p:cNvPr id="19" name="Text 17"/>
          <p:cNvSpPr/>
          <p:nvPr/>
        </p:nvSpPr>
        <p:spPr>
          <a:xfrm>
            <a:off x="6501384" y="3136392"/>
            <a:ext cx="4828032" cy="347472"/>
          </a:xfrm>
          <a:prstGeom prst="rect">
            <a:avLst/>
          </a:prstGeom>
          <a:noFill/>
          <a:ln/>
        </p:spPr>
        <p:txBody>
          <a:bodyPr wrap="square" lIns="0" tIns="0" rIns="0" bIns="0" rtlCol="0" anchor="ctr"/>
          <a:lstStyle/>
          <a:p>
            <a:pPr indent="0" marL="0">
              <a:lnSpc>
                <a:spcPct val="98000"/>
              </a:lnSpc>
              <a:buNone/>
            </a:pPr>
            <a:r>
              <a:rPr lang="en-US" sz="820" b="1" dirty="0">
                <a:solidFill>
                  <a:srgbClr val="0A5B5A"/>
                </a:solidFill>
                <a:latin typeface="Calibri" pitchFamily="34" charset="0"/>
                <a:ea typeface="Calibri" pitchFamily="34" charset="-122"/>
                <a:cs typeface="Calibri" pitchFamily="34" charset="-120"/>
              </a:rPr>
              <a:t>delegate it → </a:t>
            </a:r>
            <a:pPr indent="0" marL="0">
              <a:lnSpc>
                <a:spcPct val="98000"/>
              </a:lnSpc>
              <a:buNone/>
            </a:pPr>
            <a:r>
              <a:rPr lang="en-US" sz="820" dirty="0">
                <a:solidFill>
                  <a:srgbClr val="0A5B5A"/>
                </a:solidFill>
                <a:latin typeface="Consolas" pitchFamily="34" charset="0"/>
                <a:ea typeface="Consolas" pitchFamily="34" charset="-122"/>
                <a:cs typeface="Consolas" pitchFamily="34" charset="-120"/>
              </a:rPr>
              <a:t>“1) Outline only. 2) Wait for my OK. 3) Draft section by section.”</a:t>
            </a:r>
            <a:endParaRPr lang="en-US" sz="820" dirty="0"/>
          </a:p>
        </p:txBody>
      </p:sp>
      <p:sp>
        <p:nvSpPr>
          <p:cNvPr id="20" name="Shape 18"/>
          <p:cNvSpPr/>
          <p:nvPr/>
        </p:nvSpPr>
        <p:spPr>
          <a:xfrm>
            <a:off x="502920" y="3730752"/>
            <a:ext cx="5440680" cy="2176272"/>
          </a:xfrm>
          <a:prstGeom prst="roundRect">
            <a:avLst>
              <a:gd name="adj" fmla="val 3361"/>
            </a:avLst>
          </a:prstGeom>
          <a:solidFill>
            <a:srgbClr val="FBF0E0"/>
          </a:solidFill>
          <a:ln/>
        </p:spPr>
      </p:sp>
      <p:sp>
        <p:nvSpPr>
          <p:cNvPr id="21" name="Shape 19"/>
          <p:cNvSpPr/>
          <p:nvPr/>
        </p:nvSpPr>
        <p:spPr>
          <a:xfrm>
            <a:off x="649224" y="3840480"/>
            <a:ext cx="402336" cy="402336"/>
          </a:xfrm>
          <a:prstGeom prst="ellipse">
            <a:avLst/>
          </a:prstGeom>
          <a:solidFill>
            <a:srgbClr val="B96A1B"/>
          </a:solidFill>
          <a:ln/>
        </p:spPr>
      </p:sp>
      <p:sp>
        <p:nvSpPr>
          <p:cNvPr id="22" name="Text 20"/>
          <p:cNvSpPr/>
          <p:nvPr/>
        </p:nvSpPr>
        <p:spPr>
          <a:xfrm>
            <a:off x="649224" y="383133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a:t>
            </a:r>
            <a:endParaRPr lang="en-US" sz="1700" dirty="0"/>
          </a:p>
        </p:txBody>
      </p:sp>
      <p:sp>
        <p:nvSpPr>
          <p:cNvPr id="23" name="Text 21"/>
          <p:cNvSpPr/>
          <p:nvPr/>
        </p:nvSpPr>
        <p:spPr>
          <a:xfrm>
            <a:off x="1161288" y="3877056"/>
            <a:ext cx="4663440" cy="329184"/>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CHECK — verify before you trust</a:t>
            </a:r>
            <a:endParaRPr lang="en-US" sz="1350" dirty="0"/>
          </a:p>
        </p:txBody>
      </p:sp>
      <p:sp>
        <p:nvSpPr>
          <p:cNvPr id="24" name="Text 22"/>
          <p:cNvSpPr/>
          <p:nvPr/>
        </p:nvSpPr>
        <p:spPr>
          <a:xfrm>
            <a:off x="777240" y="4242816"/>
            <a:ext cx="4983480" cy="950976"/>
          </a:xfrm>
          <a:prstGeom prst="rect">
            <a:avLst/>
          </a:prstGeom>
          <a:noFill/>
          <a:ln/>
        </p:spPr>
        <p:txBody>
          <a:bodyPr wrap="square" lIns="0" tIns="0" rIns="0" bIns="0" rtlCol="0" anchor="ctr"/>
          <a:lstStyle/>
          <a:p>
            <a:pPr indent="0" marL="0">
              <a:lnSpc>
                <a:spcPct val="112000"/>
              </a:lnSpc>
              <a:buNone/>
            </a:pPr>
            <a:r>
              <a:rPr lang="en-US" sz="960" dirty="0">
                <a:solidFill>
                  <a:srgbClr val="46545F"/>
                </a:solidFill>
                <a:latin typeface="Calibri" pitchFamily="34" charset="0"/>
                <a:ea typeface="Calibri" pitchFamily="34" charset="-122"/>
                <a:cs typeface="Calibri" pitchFamily="34" charset="-120"/>
              </a:rPr>
              <a:t>· Name the failed element (the grid — later this part)</a:t>
            </a:r>
            <a:endParaRPr lang="en-US" sz="960" dirty="0"/>
          </a:p>
          <a:p>
            <a:pPr indent="0" marL="0">
              <a:lnSpc>
                <a:spcPct val="112000"/>
              </a:lnSpc>
              <a:buNone/>
            </a:pPr>
            <a:r>
              <a:rPr lang="en-US" sz="960" dirty="0">
                <a:solidFill>
                  <a:srgbClr val="46545F"/>
                </a:solidFill>
                <a:latin typeface="Calibri" pitchFamily="34" charset="0"/>
                <a:ea typeface="Calibri" pitchFamily="34" charset="-122"/>
                <a:cs typeface="Calibri" pitchFamily="34" charset="-120"/>
              </a:rPr>
              <a:t>· Self-check against NAMED criteria — never “are you sure?”</a:t>
            </a:r>
            <a:endParaRPr lang="en-US" sz="960" dirty="0"/>
          </a:p>
          <a:p>
            <a:pPr indent="0" marL="0">
              <a:lnSpc>
                <a:spcPct val="112000"/>
              </a:lnSpc>
              <a:buNone/>
            </a:pPr>
            <a:r>
              <a:rPr lang="en-US" sz="960" dirty="0">
                <a:solidFill>
                  <a:srgbClr val="46545F"/>
                </a:solidFill>
                <a:latin typeface="Calibri" pitchFamily="34" charset="0"/>
                <a:ea typeface="Calibri" pitchFamily="34" charset="-122"/>
                <a:cs typeface="Calibri" pitchFamily="34" charset="-120"/>
              </a:rPr>
              <a:t>· Blind review: paste it as “a colleague’s draft”</a:t>
            </a:r>
            <a:endParaRPr lang="en-US" sz="960" dirty="0"/>
          </a:p>
          <a:p>
            <a:pPr indent="0" marL="0">
              <a:lnSpc>
                <a:spcPct val="112000"/>
              </a:lnSpc>
              <a:buNone/>
            </a:pPr>
            <a:r>
              <a:rPr lang="en-US" sz="960" dirty="0">
                <a:solidFill>
                  <a:srgbClr val="46545F"/>
                </a:solidFill>
                <a:latin typeface="Calibri" pitchFamily="34" charset="0"/>
                <a:ea typeface="Calibri" pitchFamily="34" charset="-122"/>
                <a:cs typeface="Calibri" pitchFamily="34" charset="-120"/>
              </a:rPr>
              <a:t>· Numbers reconcile to a known total · citations + the out</a:t>
            </a:r>
            <a:endParaRPr lang="en-US" sz="960" dirty="0"/>
          </a:p>
        </p:txBody>
      </p:sp>
      <p:sp>
        <p:nvSpPr>
          <p:cNvPr id="25" name="Shape 23"/>
          <p:cNvSpPr/>
          <p:nvPr/>
        </p:nvSpPr>
        <p:spPr>
          <a:xfrm>
            <a:off x="722376" y="5394960"/>
            <a:ext cx="5029200" cy="402336"/>
          </a:xfrm>
          <a:prstGeom prst="roundRect">
            <a:avLst>
              <a:gd name="adj" fmla="val 11364"/>
            </a:avLst>
          </a:prstGeom>
          <a:solidFill>
            <a:srgbClr val="FFFFFF"/>
          </a:solidFill>
          <a:ln w="9525">
            <a:solidFill>
              <a:srgbClr val="DCE3E6"/>
            </a:solidFill>
            <a:prstDash val="solid"/>
          </a:ln>
        </p:spPr>
      </p:sp>
      <p:sp>
        <p:nvSpPr>
          <p:cNvPr id="26" name="Text 24"/>
          <p:cNvSpPr/>
          <p:nvPr/>
        </p:nvSpPr>
        <p:spPr>
          <a:xfrm>
            <a:off x="832104" y="5422392"/>
            <a:ext cx="4828032" cy="347472"/>
          </a:xfrm>
          <a:prstGeom prst="rect">
            <a:avLst/>
          </a:prstGeom>
          <a:noFill/>
          <a:ln/>
        </p:spPr>
        <p:txBody>
          <a:bodyPr wrap="square" lIns="0" tIns="0" rIns="0" bIns="0" rtlCol="0" anchor="ctr"/>
          <a:lstStyle/>
          <a:p>
            <a:pPr indent="0" marL="0">
              <a:lnSpc>
                <a:spcPct val="98000"/>
              </a:lnSpc>
              <a:buNone/>
            </a:pPr>
            <a:r>
              <a:rPr lang="en-US" sz="820" b="1" dirty="0">
                <a:solidFill>
                  <a:srgbClr val="0A5B5A"/>
                </a:solidFill>
                <a:latin typeface="Calibri" pitchFamily="34" charset="0"/>
                <a:ea typeface="Calibri" pitchFamily="34" charset="-122"/>
                <a:cs typeface="Calibri" pitchFamily="34" charset="-120"/>
              </a:rPr>
              <a:t>delegate it → </a:t>
            </a:r>
            <a:pPr indent="0" marL="0">
              <a:lnSpc>
                <a:spcPct val="98000"/>
              </a:lnSpc>
              <a:buNone/>
            </a:pPr>
            <a:r>
              <a:rPr lang="en-US" sz="820" dirty="0">
                <a:solidFill>
                  <a:srgbClr val="0A5B5A"/>
                </a:solidFill>
                <a:latin typeface="Consolas" pitchFamily="34" charset="0"/>
                <a:ea typeface="Consolas" pitchFamily="34" charset="-122"/>
                <a:cs typeface="Consolas" pitchFamily="34" charset="-120"/>
              </a:rPr>
              <a:t>“Verify against these three criteria and list exactly what fails.”</a:t>
            </a:r>
            <a:endParaRPr lang="en-US" sz="820" dirty="0"/>
          </a:p>
        </p:txBody>
      </p:sp>
      <p:sp>
        <p:nvSpPr>
          <p:cNvPr id="27" name="Shape 25"/>
          <p:cNvSpPr/>
          <p:nvPr/>
        </p:nvSpPr>
        <p:spPr>
          <a:xfrm>
            <a:off x="6172200" y="3730752"/>
            <a:ext cx="5440680" cy="2176272"/>
          </a:xfrm>
          <a:prstGeom prst="roundRect">
            <a:avLst>
              <a:gd name="adj" fmla="val 3361"/>
            </a:avLst>
          </a:prstGeom>
          <a:solidFill>
            <a:srgbClr val="E7F2EC"/>
          </a:solidFill>
          <a:ln/>
        </p:spPr>
      </p:sp>
      <p:sp>
        <p:nvSpPr>
          <p:cNvPr id="28" name="Shape 26"/>
          <p:cNvSpPr/>
          <p:nvPr/>
        </p:nvSpPr>
        <p:spPr>
          <a:xfrm>
            <a:off x="6318504" y="3840480"/>
            <a:ext cx="402336" cy="402336"/>
          </a:xfrm>
          <a:prstGeom prst="ellipse">
            <a:avLst/>
          </a:prstGeom>
          <a:solidFill>
            <a:srgbClr val="3B8560"/>
          </a:solidFill>
          <a:ln/>
        </p:spPr>
      </p:sp>
      <p:sp>
        <p:nvSpPr>
          <p:cNvPr id="29" name="Text 27"/>
          <p:cNvSpPr/>
          <p:nvPr/>
        </p:nvSpPr>
        <p:spPr>
          <a:xfrm>
            <a:off x="6318504" y="383133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a:t>
            </a:r>
            <a:endParaRPr lang="en-US" sz="1700" dirty="0"/>
          </a:p>
        </p:txBody>
      </p:sp>
      <p:sp>
        <p:nvSpPr>
          <p:cNvPr id="30" name="Text 28"/>
          <p:cNvSpPr/>
          <p:nvPr/>
        </p:nvSpPr>
        <p:spPr>
          <a:xfrm>
            <a:off x="6830568" y="3877056"/>
            <a:ext cx="4663440" cy="329184"/>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ACT — improve &amp; standardize</a:t>
            </a:r>
            <a:endParaRPr lang="en-US" sz="1350" dirty="0"/>
          </a:p>
        </p:txBody>
      </p:sp>
      <p:sp>
        <p:nvSpPr>
          <p:cNvPr id="31" name="Text 29"/>
          <p:cNvSpPr/>
          <p:nvPr/>
        </p:nvSpPr>
        <p:spPr>
          <a:xfrm>
            <a:off x="6446520" y="4242816"/>
            <a:ext cx="4983480" cy="950976"/>
          </a:xfrm>
          <a:prstGeom prst="rect">
            <a:avLst/>
          </a:prstGeom>
          <a:noFill/>
          <a:ln/>
        </p:spPr>
        <p:txBody>
          <a:bodyPr wrap="square" lIns="0" tIns="0" rIns="0" bIns="0" rtlCol="0" anchor="ctr"/>
          <a:lstStyle/>
          <a:p>
            <a:pPr indent="0" marL="0">
              <a:lnSpc>
                <a:spcPct val="112000"/>
              </a:lnSpc>
              <a:buNone/>
            </a:pPr>
            <a:r>
              <a:rPr lang="en-US" sz="960" dirty="0">
                <a:solidFill>
                  <a:srgbClr val="46545F"/>
                </a:solidFill>
                <a:latin typeface="Calibri" pitchFamily="34" charset="0"/>
                <a:ea typeface="Calibri" pitchFamily="34" charset="-122"/>
                <a:cs typeface="Calibri" pitchFamily="34" charset="-120"/>
              </a:rPr>
              <a:t>· Fix ONE element, rerun — never reword at random</a:t>
            </a:r>
            <a:endParaRPr lang="en-US" sz="960" dirty="0"/>
          </a:p>
          <a:p>
            <a:pPr indent="0" marL="0">
              <a:lnSpc>
                <a:spcPct val="112000"/>
              </a:lnSpc>
              <a:buNone/>
            </a:pPr>
            <a:r>
              <a:rPr lang="en-US" sz="960" dirty="0">
                <a:solidFill>
                  <a:srgbClr val="46545F"/>
                </a:solidFill>
                <a:latin typeface="Calibri" pitchFamily="34" charset="0"/>
                <a:ea typeface="Calibri" pitchFamily="34" charset="-122"/>
                <a:cs typeface="Calibri" pitchFamily="34" charset="-120"/>
              </a:rPr>
              <a:t>· Metaprompt: have the AI rewrite the prompt itself</a:t>
            </a:r>
            <a:endParaRPr lang="en-US" sz="960" dirty="0"/>
          </a:p>
          <a:p>
            <a:pPr indent="0" marL="0">
              <a:lnSpc>
                <a:spcPct val="112000"/>
              </a:lnSpc>
              <a:buNone/>
            </a:pPr>
            <a:r>
              <a:rPr lang="en-US" sz="960" dirty="0">
                <a:solidFill>
                  <a:srgbClr val="46545F"/>
                </a:solidFill>
                <a:latin typeface="Calibri" pitchFamily="34" charset="0"/>
                <a:ea typeface="Calibri" pitchFamily="34" charset="-122"/>
                <a:cs typeface="Calibri" pitchFamily="34" charset="-120"/>
              </a:rPr>
              <a:t>· Works twice? Name it, version it, library (Part 6)</a:t>
            </a:r>
            <a:endParaRPr lang="en-US" sz="960" dirty="0"/>
          </a:p>
          <a:p>
            <a:pPr indent="0" marL="0">
              <a:lnSpc>
                <a:spcPct val="112000"/>
              </a:lnSpc>
              <a:buNone/>
            </a:pPr>
            <a:r>
              <a:rPr lang="en-US" sz="960" dirty="0">
                <a:solidFill>
                  <a:srgbClr val="46545F"/>
                </a:solidFill>
                <a:latin typeface="Calibri" pitchFamily="34" charset="0"/>
                <a:ea typeface="Calibri" pitchFamily="34" charset="-122"/>
                <a:cs typeface="Calibri" pitchFamily="34" charset="-120"/>
              </a:rPr>
              <a:t>· Re-baseline on every model upgrade</a:t>
            </a:r>
            <a:endParaRPr lang="en-US" sz="960" dirty="0"/>
          </a:p>
        </p:txBody>
      </p:sp>
      <p:sp>
        <p:nvSpPr>
          <p:cNvPr id="32" name="Shape 30"/>
          <p:cNvSpPr/>
          <p:nvPr/>
        </p:nvSpPr>
        <p:spPr>
          <a:xfrm>
            <a:off x="6391656" y="5394960"/>
            <a:ext cx="5029200" cy="402336"/>
          </a:xfrm>
          <a:prstGeom prst="roundRect">
            <a:avLst>
              <a:gd name="adj" fmla="val 11364"/>
            </a:avLst>
          </a:prstGeom>
          <a:solidFill>
            <a:srgbClr val="FFFFFF"/>
          </a:solidFill>
          <a:ln w="9525">
            <a:solidFill>
              <a:srgbClr val="DCE3E6"/>
            </a:solidFill>
            <a:prstDash val="solid"/>
          </a:ln>
        </p:spPr>
      </p:sp>
      <p:sp>
        <p:nvSpPr>
          <p:cNvPr id="33" name="Text 31"/>
          <p:cNvSpPr/>
          <p:nvPr/>
        </p:nvSpPr>
        <p:spPr>
          <a:xfrm>
            <a:off x="6501384" y="5422392"/>
            <a:ext cx="4828032" cy="347472"/>
          </a:xfrm>
          <a:prstGeom prst="rect">
            <a:avLst/>
          </a:prstGeom>
          <a:noFill/>
          <a:ln/>
        </p:spPr>
        <p:txBody>
          <a:bodyPr wrap="square" lIns="0" tIns="0" rIns="0" bIns="0" rtlCol="0" anchor="ctr"/>
          <a:lstStyle/>
          <a:p>
            <a:pPr indent="0" marL="0">
              <a:lnSpc>
                <a:spcPct val="98000"/>
              </a:lnSpc>
              <a:buNone/>
            </a:pPr>
            <a:r>
              <a:rPr lang="en-US" sz="820" b="1" dirty="0">
                <a:solidFill>
                  <a:srgbClr val="0A5B5A"/>
                </a:solidFill>
                <a:latin typeface="Calibri" pitchFamily="34" charset="0"/>
                <a:ea typeface="Calibri" pitchFamily="34" charset="-122"/>
                <a:cs typeface="Calibri" pitchFamily="34" charset="-120"/>
              </a:rPr>
              <a:t>delegate it → </a:t>
            </a:r>
            <a:pPr indent="0" marL="0">
              <a:lnSpc>
                <a:spcPct val="98000"/>
              </a:lnSpc>
              <a:buNone/>
            </a:pPr>
            <a:r>
              <a:rPr lang="en-US" sz="820" dirty="0">
                <a:solidFill>
                  <a:srgbClr val="0A5B5A"/>
                </a:solidFill>
                <a:latin typeface="Consolas" pitchFamily="34" charset="0"/>
                <a:ea typeface="Consolas" pitchFamily="34" charset="-122"/>
                <a:cs typeface="Consolas" pitchFamily="34" charset="-120"/>
              </a:rPr>
              <a:t>“Rewrite this prompt so it more consistently produces X.”</a:t>
            </a:r>
            <a:endParaRPr lang="en-US" sz="820" dirty="0"/>
          </a:p>
        </p:txBody>
      </p:sp>
      <p:sp>
        <p:nvSpPr>
          <p:cNvPr id="34" name="Shape 32"/>
          <p:cNvSpPr/>
          <p:nvPr/>
        </p:nvSpPr>
        <p:spPr>
          <a:xfrm>
            <a:off x="502920" y="6108192"/>
            <a:ext cx="11155680" cy="457200"/>
          </a:xfrm>
          <a:prstGeom prst="roundRect">
            <a:avLst>
              <a:gd name="adj" fmla="val 16000"/>
            </a:avLst>
          </a:prstGeom>
          <a:solidFill>
            <a:srgbClr val="E4F0EF"/>
          </a:solidFill>
          <a:ln/>
        </p:spPr>
      </p:sp>
      <p:sp>
        <p:nvSpPr>
          <p:cNvPr id="35" name="Shape 33"/>
          <p:cNvSpPr/>
          <p:nvPr/>
        </p:nvSpPr>
        <p:spPr>
          <a:xfrm>
            <a:off x="667512" y="6144768"/>
            <a:ext cx="384048" cy="384048"/>
          </a:xfrm>
          <a:prstGeom prst="ellipse">
            <a:avLst/>
          </a:prstGeom>
          <a:solidFill>
            <a:srgbClr val="0E7C7B"/>
          </a:solidFill>
          <a:ln/>
        </p:spPr>
      </p:sp>
      <p:pic>
        <p:nvPicPr>
          <p:cNvPr id="36" name="Image 0" descr="/home/user/Claude-Works/ai-training-prompt-engineering/src/assets/icons/refresh_w.png">    </p:cNvPr>
          <p:cNvPicPr>
            <a:picLocks noChangeAspect="1"/>
          </p:cNvPicPr>
          <p:nvPr/>
        </p:nvPicPr>
        <p:blipFill>
          <a:blip r:embed="rId1"/>
          <a:stretch>
            <a:fillRect/>
          </a:stretch>
        </p:blipFill>
        <p:spPr>
          <a:xfrm>
            <a:off x="767364" y="6244620"/>
            <a:ext cx="184343" cy="184343"/>
          </a:xfrm>
          <a:prstGeom prst="rect">
            <a:avLst/>
          </a:prstGeom>
        </p:spPr>
      </p:pic>
      <p:sp>
        <p:nvSpPr>
          <p:cNvPr id="37" name="Text 34"/>
          <p:cNvSpPr/>
          <p:nvPr/>
        </p:nvSpPr>
        <p:spPr>
          <a:xfrm>
            <a:off x="1216152" y="6181344"/>
            <a:ext cx="10213848" cy="31089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Every phase can itself be delegated to the AI —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the white lines show how. The methods are how YOU stay in charge of the loop.</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WHAT THE EVIDENCE SAYS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29</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EVIDENCE CORNER</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Six that work, six that don’t — in plain terms</a:t>
            </a:r>
            <a:endParaRPr lang="en-US" sz="3000" dirty="0"/>
          </a:p>
        </p:txBody>
      </p:sp>
      <p:sp>
        <p:nvSpPr>
          <p:cNvPr id="6" name="Shape 4"/>
          <p:cNvSpPr/>
          <p:nvPr/>
        </p:nvSpPr>
        <p:spPr>
          <a:xfrm>
            <a:off x="502920" y="1444752"/>
            <a:ext cx="5440680" cy="4572000"/>
          </a:xfrm>
          <a:prstGeom prst="roundRect">
            <a:avLst>
              <a:gd name="adj" fmla="val 1600"/>
            </a:avLst>
          </a:prstGeom>
          <a:solidFill>
            <a:srgbClr val="E7F2EC"/>
          </a:solidFill>
          <a:ln/>
        </p:spPr>
      </p:sp>
      <p:sp>
        <p:nvSpPr>
          <p:cNvPr id="7" name="Shape 5"/>
          <p:cNvSpPr/>
          <p:nvPr/>
        </p:nvSpPr>
        <p:spPr>
          <a:xfrm>
            <a:off x="704088" y="1591056"/>
            <a:ext cx="402336" cy="402336"/>
          </a:xfrm>
          <a:prstGeom prst="ellipse">
            <a:avLst/>
          </a:prstGeom>
          <a:solidFill>
            <a:srgbClr val="3B8560"/>
          </a:solidFill>
          <a:ln/>
        </p:spPr>
      </p:sp>
      <p:pic>
        <p:nvPicPr>
          <p:cNvPr id="8" name="Image 0" descr="/home/user/Claude-Works/ai-training-prompt-engineering/src/assets/icons/check_w.png">    </p:cNvPr>
          <p:cNvPicPr>
            <a:picLocks noChangeAspect="1"/>
          </p:cNvPicPr>
          <p:nvPr/>
        </p:nvPicPr>
        <p:blipFill>
          <a:blip r:embed="rId1"/>
          <a:stretch>
            <a:fillRect/>
          </a:stretch>
        </p:blipFill>
        <p:spPr>
          <a:xfrm>
            <a:off x="808695" y="1695663"/>
            <a:ext cx="193121" cy="193121"/>
          </a:xfrm>
          <a:prstGeom prst="rect">
            <a:avLst/>
          </a:prstGeom>
        </p:spPr>
      </p:pic>
      <p:sp>
        <p:nvSpPr>
          <p:cNvPr id="9" name="Text 6"/>
          <p:cNvSpPr/>
          <p:nvPr/>
        </p:nvSpPr>
        <p:spPr>
          <a:xfrm>
            <a:off x="1216152" y="1627632"/>
            <a:ext cx="4480560" cy="347472"/>
          </a:xfrm>
          <a:prstGeom prst="rect">
            <a:avLst/>
          </a:prstGeom>
          <a:noFill/>
          <a:ln/>
        </p:spPr>
        <p:txBody>
          <a:bodyPr wrap="square" lIns="0" tIns="0" rIns="0" bIns="0" rtlCol="0" anchor="ctr"/>
          <a:lstStyle/>
          <a:p>
            <a:pPr indent="0" marL="0">
              <a:buNone/>
            </a:pPr>
            <a:r>
              <a:rPr lang="en-US" sz="1450" b="1" dirty="0">
                <a:solidFill>
                  <a:srgbClr val="232A31"/>
                </a:solidFill>
                <a:latin typeface="Cambria" pitchFamily="34" charset="0"/>
                <a:ea typeface="Cambria" pitchFamily="34" charset="-122"/>
                <a:cs typeface="Cambria" pitchFamily="34" charset="-120"/>
              </a:rPr>
              <a:t>PROVEN TO WORK</a:t>
            </a:r>
            <a:endParaRPr lang="en-US" sz="1450" dirty="0"/>
          </a:p>
        </p:txBody>
      </p:sp>
      <p:sp>
        <p:nvSpPr>
          <p:cNvPr id="10" name="Text 7"/>
          <p:cNvSpPr/>
          <p:nvPr/>
        </p:nvSpPr>
        <p:spPr>
          <a:xfrm>
            <a:off x="777240" y="2121408"/>
            <a:ext cx="4937760" cy="603504"/>
          </a:xfrm>
          <a:prstGeom prst="rect">
            <a:avLst/>
          </a:prstGeom>
          <a:noFill/>
          <a:ln/>
        </p:spPr>
        <p:txBody>
          <a:bodyPr wrap="square" lIns="0" tIns="0" rIns="0" bIns="0" rtlCol="0" anchor="ctr"/>
          <a:lstStyle/>
          <a:p>
            <a:pPr indent="0" marL="0">
              <a:lnSpc>
                <a:spcPct val="100000"/>
              </a:lnSpc>
              <a:buNone/>
            </a:pPr>
            <a:r>
              <a:rPr lang="en-US" sz="1080" b="1" dirty="0">
                <a:solidFill>
                  <a:srgbClr val="232A31"/>
                </a:solidFill>
                <a:latin typeface="Calibri" pitchFamily="34" charset="0"/>
                <a:ea typeface="Calibri" pitchFamily="34" charset="-122"/>
                <a:cs typeface="Calibri" pitchFamily="34" charset="-120"/>
              </a:rPr>
              <a:t>Be specific: task, constraints, success criteria</a:t>
            </a:r>
            <a:endParaRPr lang="en-US" sz="1080" dirty="0"/>
          </a:p>
          <a:p>
            <a:pPr indent="0" marL="0">
              <a:lnSpc>
                <a:spcPct val="100000"/>
              </a:lnSpc>
              <a:buNone/>
            </a:pPr>
            <a:r>
              <a:rPr lang="en-US" sz="900" i="1" dirty="0">
                <a:solidFill>
                  <a:srgbClr val="46545F"/>
                </a:solidFill>
                <a:latin typeface="Calibri" pitchFamily="34" charset="0"/>
                <a:ea typeface="Calibri" pitchFamily="34" charset="-122"/>
                <a:cs typeface="Calibri" pitchFamily="34" charset="-120"/>
              </a:rPr>
              <a:t>unstated needs guessed right only ~41%</a:t>
            </a:r>
            <a:endParaRPr lang="en-US" sz="1080" dirty="0"/>
          </a:p>
        </p:txBody>
      </p:sp>
      <p:sp>
        <p:nvSpPr>
          <p:cNvPr id="11" name="Text 8"/>
          <p:cNvSpPr/>
          <p:nvPr/>
        </p:nvSpPr>
        <p:spPr>
          <a:xfrm>
            <a:off x="777240" y="2761488"/>
            <a:ext cx="4937760" cy="603504"/>
          </a:xfrm>
          <a:prstGeom prst="rect">
            <a:avLst/>
          </a:prstGeom>
          <a:noFill/>
          <a:ln/>
        </p:spPr>
        <p:txBody>
          <a:bodyPr wrap="square" lIns="0" tIns="0" rIns="0" bIns="0" rtlCol="0" anchor="ctr"/>
          <a:lstStyle/>
          <a:p>
            <a:pPr indent="0" marL="0">
              <a:lnSpc>
                <a:spcPct val="100000"/>
              </a:lnSpc>
              <a:buNone/>
            </a:pPr>
            <a:r>
              <a:rPr lang="en-US" sz="1080" b="1" dirty="0">
                <a:solidFill>
                  <a:srgbClr val="232A31"/>
                </a:solidFill>
                <a:latin typeface="Calibri" pitchFamily="34" charset="0"/>
                <a:ea typeface="Calibri" pitchFamily="34" charset="-122"/>
                <a:cs typeface="Calibri" pitchFamily="34" charset="-120"/>
              </a:rPr>
              <a:t>One tested, reused template</a:t>
            </a:r>
            <a:endParaRPr lang="en-US" sz="1080" dirty="0"/>
          </a:p>
          <a:p>
            <a:pPr indent="0" marL="0">
              <a:lnSpc>
                <a:spcPct val="100000"/>
              </a:lnSpc>
              <a:buNone/>
            </a:pPr>
            <a:r>
              <a:rPr lang="en-US" sz="900" i="1" dirty="0">
                <a:solidFill>
                  <a:srgbClr val="46545F"/>
                </a:solidFill>
                <a:latin typeface="Calibri" pitchFamily="34" charset="0"/>
                <a:ea typeface="Calibri" pitchFamily="34" charset="-122"/>
                <a:cs typeface="Calibri" pitchFamily="34" charset="-120"/>
              </a:rPr>
              <a:t>formatting alone swings results up to 76 points</a:t>
            </a:r>
            <a:endParaRPr lang="en-US" sz="1080" dirty="0"/>
          </a:p>
        </p:txBody>
      </p:sp>
      <p:sp>
        <p:nvSpPr>
          <p:cNvPr id="12" name="Text 9"/>
          <p:cNvSpPr/>
          <p:nvPr/>
        </p:nvSpPr>
        <p:spPr>
          <a:xfrm>
            <a:off x="777240" y="3401568"/>
            <a:ext cx="4937760" cy="603504"/>
          </a:xfrm>
          <a:prstGeom prst="rect">
            <a:avLst/>
          </a:prstGeom>
          <a:noFill/>
          <a:ln/>
        </p:spPr>
        <p:txBody>
          <a:bodyPr wrap="square" lIns="0" tIns="0" rIns="0" bIns="0" rtlCol="0" anchor="ctr"/>
          <a:lstStyle/>
          <a:p>
            <a:pPr indent="0" marL="0">
              <a:lnSpc>
                <a:spcPct val="100000"/>
              </a:lnSpc>
              <a:buNone/>
            </a:pPr>
            <a:r>
              <a:rPr lang="en-US" sz="1080" b="1" dirty="0">
                <a:solidFill>
                  <a:srgbClr val="232A31"/>
                </a:solidFill>
                <a:latin typeface="Calibri" pitchFamily="34" charset="0"/>
                <a:ea typeface="Calibri" pitchFamily="34" charset="-122"/>
                <a:cs typeface="Calibri" pitchFamily="34" charset="-120"/>
              </a:rPr>
              <a:t>Long inputs: documents on top, question at the END</a:t>
            </a:r>
            <a:endParaRPr lang="en-US" sz="1080" dirty="0"/>
          </a:p>
          <a:p>
            <a:pPr indent="0" marL="0">
              <a:lnSpc>
                <a:spcPct val="100000"/>
              </a:lnSpc>
              <a:buNone/>
            </a:pPr>
            <a:r>
              <a:rPr lang="en-US" sz="900" i="1" dirty="0">
                <a:solidFill>
                  <a:srgbClr val="46545F"/>
                </a:solidFill>
                <a:latin typeface="Calibri" pitchFamily="34" charset="0"/>
                <a:ea typeface="Calibri" pitchFamily="34" charset="-122"/>
                <a:cs typeface="Calibri" pitchFamily="34" charset="-120"/>
              </a:rPr>
              <a:t>up to ~30% better answers</a:t>
            </a:r>
            <a:endParaRPr lang="en-US" sz="1080" dirty="0"/>
          </a:p>
        </p:txBody>
      </p:sp>
      <p:sp>
        <p:nvSpPr>
          <p:cNvPr id="13" name="Text 10"/>
          <p:cNvSpPr/>
          <p:nvPr/>
        </p:nvSpPr>
        <p:spPr>
          <a:xfrm>
            <a:off x="777240" y="4041648"/>
            <a:ext cx="4937760" cy="603504"/>
          </a:xfrm>
          <a:prstGeom prst="rect">
            <a:avLst/>
          </a:prstGeom>
          <a:noFill/>
          <a:ln/>
        </p:spPr>
        <p:txBody>
          <a:bodyPr wrap="square" lIns="0" tIns="0" rIns="0" bIns="0" rtlCol="0" anchor="ctr"/>
          <a:lstStyle/>
          <a:p>
            <a:pPr indent="0" marL="0">
              <a:lnSpc>
                <a:spcPct val="100000"/>
              </a:lnSpc>
              <a:buNone/>
            </a:pPr>
            <a:r>
              <a:rPr lang="en-US" sz="1080" b="1" dirty="0">
                <a:solidFill>
                  <a:srgbClr val="232A31"/>
                </a:solidFill>
                <a:latin typeface="Calibri" pitchFamily="34" charset="0"/>
                <a:ea typeface="Calibri" pitchFamily="34" charset="-122"/>
                <a:cs typeface="Calibri" pitchFamily="34" charset="-120"/>
              </a:rPr>
              <a:t>Give it an out — “if you don’t know, say so”</a:t>
            </a:r>
            <a:endParaRPr lang="en-US" sz="1080" dirty="0"/>
          </a:p>
          <a:p>
            <a:pPr indent="0" marL="0">
              <a:lnSpc>
                <a:spcPct val="100000"/>
              </a:lnSpc>
              <a:buNone/>
            </a:pPr>
            <a:r>
              <a:rPr lang="en-US" sz="900" i="1" dirty="0">
                <a:solidFill>
                  <a:srgbClr val="46545F"/>
                </a:solidFill>
                <a:latin typeface="Calibri" pitchFamily="34" charset="0"/>
                <a:ea typeface="Calibri" pitchFamily="34" charset="-122"/>
                <a:cs typeface="Calibri" pitchFamily="34" charset="-120"/>
              </a:rPr>
              <a:t>invented answers cut by a third or more</a:t>
            </a:r>
            <a:endParaRPr lang="en-US" sz="1080" dirty="0"/>
          </a:p>
        </p:txBody>
      </p:sp>
      <p:sp>
        <p:nvSpPr>
          <p:cNvPr id="14" name="Text 11"/>
          <p:cNvSpPr/>
          <p:nvPr/>
        </p:nvSpPr>
        <p:spPr>
          <a:xfrm>
            <a:off x="777240" y="4681728"/>
            <a:ext cx="4937760" cy="603504"/>
          </a:xfrm>
          <a:prstGeom prst="rect">
            <a:avLst/>
          </a:prstGeom>
          <a:noFill/>
          <a:ln/>
        </p:spPr>
        <p:txBody>
          <a:bodyPr wrap="square" lIns="0" tIns="0" rIns="0" bIns="0" rtlCol="0" anchor="ctr"/>
          <a:lstStyle/>
          <a:p>
            <a:pPr indent="0" marL="0">
              <a:lnSpc>
                <a:spcPct val="100000"/>
              </a:lnSpc>
              <a:buNone/>
            </a:pPr>
            <a:r>
              <a:rPr lang="en-US" sz="1080" b="1" dirty="0">
                <a:solidFill>
                  <a:srgbClr val="232A31"/>
                </a:solidFill>
                <a:latin typeface="Calibri" pitchFamily="34" charset="0"/>
                <a:ea typeface="Calibri" pitchFamily="34" charset="-122"/>
                <a:cs typeface="Calibri" pitchFamily="34" charset="-120"/>
              </a:rPr>
              <a:t>Self-check against NAMED criteria</a:t>
            </a:r>
            <a:endParaRPr lang="en-US" sz="1080" dirty="0"/>
          </a:p>
          <a:p>
            <a:pPr indent="0" marL="0">
              <a:lnSpc>
                <a:spcPct val="100000"/>
              </a:lnSpc>
              <a:buNone/>
            </a:pPr>
            <a:r>
              <a:rPr lang="en-US" sz="900" i="1" dirty="0">
                <a:solidFill>
                  <a:srgbClr val="46545F"/>
                </a:solidFill>
                <a:latin typeface="Calibri" pitchFamily="34" charset="0"/>
                <a:ea typeface="Calibri" pitchFamily="34" charset="-122"/>
                <a:cs typeface="Calibri" pitchFamily="34" charset="-120"/>
              </a:rPr>
              <a:t>fact scores jump 56→71 with planned checks</a:t>
            </a:r>
            <a:endParaRPr lang="en-US" sz="1080" dirty="0"/>
          </a:p>
        </p:txBody>
      </p:sp>
      <p:sp>
        <p:nvSpPr>
          <p:cNvPr id="15" name="Text 12"/>
          <p:cNvSpPr/>
          <p:nvPr/>
        </p:nvSpPr>
        <p:spPr>
          <a:xfrm>
            <a:off x="777240" y="5321808"/>
            <a:ext cx="4937760" cy="603504"/>
          </a:xfrm>
          <a:prstGeom prst="rect">
            <a:avLst/>
          </a:prstGeom>
          <a:noFill/>
          <a:ln/>
        </p:spPr>
        <p:txBody>
          <a:bodyPr wrap="square" lIns="0" tIns="0" rIns="0" bIns="0" rtlCol="0" anchor="ctr"/>
          <a:lstStyle/>
          <a:p>
            <a:pPr indent="0" marL="0">
              <a:lnSpc>
                <a:spcPct val="100000"/>
              </a:lnSpc>
              <a:buNone/>
            </a:pPr>
            <a:r>
              <a:rPr lang="en-US" sz="1080" b="1" dirty="0">
                <a:solidFill>
                  <a:srgbClr val="232A31"/>
                </a:solidFill>
                <a:latin typeface="Calibri" pitchFamily="34" charset="0"/>
                <a:ea typeface="Calibri" pitchFamily="34" charset="-122"/>
                <a:cs typeface="Calibri" pitchFamily="34" charset="-120"/>
              </a:rPr>
              <a:t>Ask the AI to improve your prompt</a:t>
            </a:r>
            <a:endParaRPr lang="en-US" sz="1080" dirty="0"/>
          </a:p>
          <a:p>
            <a:pPr indent="0" marL="0">
              <a:lnSpc>
                <a:spcPct val="100000"/>
              </a:lnSpc>
              <a:buNone/>
            </a:pPr>
            <a:r>
              <a:rPr lang="en-US" sz="900" i="1" dirty="0">
                <a:solidFill>
                  <a:srgbClr val="46545F"/>
                </a:solidFill>
                <a:latin typeface="Calibri" pitchFamily="34" charset="0"/>
                <a:ea typeface="Calibri" pitchFamily="34" charset="-122"/>
                <a:cs typeface="Calibri" pitchFamily="34" charset="-120"/>
              </a:rPr>
              <a:t>official tools at every vendor; optimizer prompts beat human ones</a:t>
            </a:r>
            <a:endParaRPr lang="en-US" sz="1080" dirty="0"/>
          </a:p>
        </p:txBody>
      </p:sp>
      <p:sp>
        <p:nvSpPr>
          <p:cNvPr id="16" name="Shape 13"/>
          <p:cNvSpPr/>
          <p:nvPr/>
        </p:nvSpPr>
        <p:spPr>
          <a:xfrm>
            <a:off x="6172200" y="1444752"/>
            <a:ext cx="5440680" cy="4572000"/>
          </a:xfrm>
          <a:prstGeom prst="roundRect">
            <a:avLst>
              <a:gd name="adj" fmla="val 1600"/>
            </a:avLst>
          </a:prstGeom>
          <a:solidFill>
            <a:srgbClr val="F9E9E8"/>
          </a:solidFill>
          <a:ln/>
        </p:spPr>
      </p:sp>
      <p:sp>
        <p:nvSpPr>
          <p:cNvPr id="17" name="Shape 14"/>
          <p:cNvSpPr/>
          <p:nvPr/>
        </p:nvSpPr>
        <p:spPr>
          <a:xfrm>
            <a:off x="6373368" y="1591056"/>
            <a:ext cx="402336" cy="402336"/>
          </a:xfrm>
          <a:prstGeom prst="ellipse">
            <a:avLst/>
          </a:prstGeom>
          <a:solidFill>
            <a:srgbClr val="AF3230"/>
          </a:solidFill>
          <a:ln/>
        </p:spPr>
      </p:sp>
      <p:pic>
        <p:nvPicPr>
          <p:cNvPr id="18" name="Image 1" descr="/home/user/Claude-Works/ai-training-prompt-engineering/src/assets/icons/x_w.png">    </p:cNvPr>
          <p:cNvPicPr>
            <a:picLocks noChangeAspect="1"/>
          </p:cNvPicPr>
          <p:nvPr/>
        </p:nvPicPr>
        <p:blipFill>
          <a:blip r:embed="rId2"/>
          <a:stretch>
            <a:fillRect/>
          </a:stretch>
        </p:blipFill>
        <p:spPr>
          <a:xfrm>
            <a:off x="6477975" y="1695663"/>
            <a:ext cx="193121" cy="193121"/>
          </a:xfrm>
          <a:prstGeom prst="rect">
            <a:avLst/>
          </a:prstGeom>
        </p:spPr>
      </p:pic>
      <p:sp>
        <p:nvSpPr>
          <p:cNvPr id="19" name="Text 15"/>
          <p:cNvSpPr/>
          <p:nvPr/>
        </p:nvSpPr>
        <p:spPr>
          <a:xfrm>
            <a:off x="6885432" y="1627632"/>
            <a:ext cx="4480560" cy="347472"/>
          </a:xfrm>
          <a:prstGeom prst="rect">
            <a:avLst/>
          </a:prstGeom>
          <a:noFill/>
          <a:ln/>
        </p:spPr>
        <p:txBody>
          <a:bodyPr wrap="square" lIns="0" tIns="0" rIns="0" bIns="0" rtlCol="0" anchor="ctr"/>
          <a:lstStyle/>
          <a:p>
            <a:pPr indent="0" marL="0">
              <a:buNone/>
            </a:pPr>
            <a:r>
              <a:rPr lang="en-US" sz="1450" b="1" dirty="0">
                <a:solidFill>
                  <a:srgbClr val="232A31"/>
                </a:solidFill>
                <a:latin typeface="Cambria" pitchFamily="34" charset="0"/>
                <a:ea typeface="Cambria" pitchFamily="34" charset="-122"/>
                <a:cs typeface="Cambria" pitchFamily="34" charset="-120"/>
              </a:rPr>
              <a:t>MYTH — SAVE YOUR TYPING</a:t>
            </a:r>
            <a:endParaRPr lang="en-US" sz="1450" dirty="0"/>
          </a:p>
        </p:txBody>
      </p:sp>
      <p:sp>
        <p:nvSpPr>
          <p:cNvPr id="20" name="Text 16"/>
          <p:cNvSpPr/>
          <p:nvPr/>
        </p:nvSpPr>
        <p:spPr>
          <a:xfrm>
            <a:off x="6446520" y="2121408"/>
            <a:ext cx="4937760" cy="603504"/>
          </a:xfrm>
          <a:prstGeom prst="rect">
            <a:avLst/>
          </a:prstGeom>
          <a:noFill/>
          <a:ln/>
        </p:spPr>
        <p:txBody>
          <a:bodyPr wrap="square" lIns="0" tIns="0" rIns="0" bIns="0" rtlCol="0" anchor="ctr"/>
          <a:lstStyle/>
          <a:p>
            <a:pPr indent="0" marL="0">
              <a:lnSpc>
                <a:spcPct val="100000"/>
              </a:lnSpc>
              <a:buNone/>
            </a:pPr>
            <a:r>
              <a:rPr lang="en-US" sz="1080" b="1" dirty="0">
                <a:solidFill>
                  <a:srgbClr val="232A31"/>
                </a:solidFill>
                <a:latin typeface="Calibri" pitchFamily="34" charset="0"/>
                <a:ea typeface="Calibri" pitchFamily="34" charset="-122"/>
                <a:cs typeface="Calibri" pitchFamily="34" charset="-120"/>
              </a:rPr>
              <a:t>“Tell it it’s a genius and it gets smarter”</a:t>
            </a:r>
            <a:endParaRPr lang="en-US" sz="1080" dirty="0"/>
          </a:p>
          <a:p>
            <a:pPr indent="0" marL="0">
              <a:lnSpc>
                <a:spcPct val="100000"/>
              </a:lnSpc>
              <a:buNone/>
            </a:pPr>
            <a:r>
              <a:rPr lang="en-US" sz="900" i="1" dirty="0">
                <a:solidFill>
                  <a:srgbClr val="46545F"/>
                </a:solidFill>
                <a:latin typeface="Calibri" pitchFamily="34" charset="0"/>
                <a:ea typeface="Calibri" pitchFamily="34" charset="-122"/>
                <a:cs typeface="Calibri" pitchFamily="34" charset="-120"/>
              </a:rPr>
              <a:t>162 personas tested: zero accuracy gain</a:t>
            </a:r>
            <a:endParaRPr lang="en-US" sz="1080" dirty="0"/>
          </a:p>
        </p:txBody>
      </p:sp>
      <p:sp>
        <p:nvSpPr>
          <p:cNvPr id="21" name="Text 17"/>
          <p:cNvSpPr/>
          <p:nvPr/>
        </p:nvSpPr>
        <p:spPr>
          <a:xfrm>
            <a:off x="6446520" y="2761488"/>
            <a:ext cx="4937760" cy="603504"/>
          </a:xfrm>
          <a:prstGeom prst="rect">
            <a:avLst/>
          </a:prstGeom>
          <a:noFill/>
          <a:ln/>
        </p:spPr>
        <p:txBody>
          <a:bodyPr wrap="square" lIns="0" tIns="0" rIns="0" bIns="0" rtlCol="0" anchor="ctr"/>
          <a:lstStyle/>
          <a:p>
            <a:pPr indent="0" marL="0">
              <a:lnSpc>
                <a:spcPct val="100000"/>
              </a:lnSpc>
              <a:buNone/>
            </a:pPr>
            <a:r>
              <a:rPr lang="en-US" sz="1080" b="1" dirty="0">
                <a:solidFill>
                  <a:srgbClr val="232A31"/>
                </a:solidFill>
                <a:latin typeface="Calibri" pitchFamily="34" charset="0"/>
                <a:ea typeface="Calibri" pitchFamily="34" charset="-122"/>
                <a:cs typeface="Calibri" pitchFamily="34" charset="-120"/>
              </a:rPr>
              <a:t>“Tips, threats, ‘important to my career’”</a:t>
            </a:r>
            <a:endParaRPr lang="en-US" sz="1080" dirty="0"/>
          </a:p>
          <a:p>
            <a:pPr indent="0" marL="0">
              <a:lnSpc>
                <a:spcPct val="100000"/>
              </a:lnSpc>
              <a:buNone/>
            </a:pPr>
            <a:r>
              <a:rPr lang="en-US" sz="900" i="1" dirty="0">
                <a:solidFill>
                  <a:srgbClr val="46545F"/>
                </a:solidFill>
                <a:latin typeface="Calibri" pitchFamily="34" charset="0"/>
                <a:ea typeface="Calibri" pitchFamily="34" charset="-122"/>
                <a:cs typeface="Calibri" pitchFamily="34" charset="-120"/>
              </a:rPr>
              <a:t>null on average; the famous 115% was the cherry-picked best case</a:t>
            </a:r>
            <a:endParaRPr lang="en-US" sz="1080" dirty="0"/>
          </a:p>
        </p:txBody>
      </p:sp>
      <p:sp>
        <p:nvSpPr>
          <p:cNvPr id="22" name="Text 18"/>
          <p:cNvSpPr/>
          <p:nvPr/>
        </p:nvSpPr>
        <p:spPr>
          <a:xfrm>
            <a:off x="6446520" y="3401568"/>
            <a:ext cx="4937760" cy="603504"/>
          </a:xfrm>
          <a:prstGeom prst="rect">
            <a:avLst/>
          </a:prstGeom>
          <a:noFill/>
          <a:ln/>
        </p:spPr>
        <p:txBody>
          <a:bodyPr wrap="square" lIns="0" tIns="0" rIns="0" bIns="0" rtlCol="0" anchor="ctr"/>
          <a:lstStyle/>
          <a:p>
            <a:pPr indent="0" marL="0">
              <a:lnSpc>
                <a:spcPct val="100000"/>
              </a:lnSpc>
              <a:buNone/>
            </a:pPr>
            <a:r>
              <a:rPr lang="en-US" sz="1080" b="1" dirty="0">
                <a:solidFill>
                  <a:srgbClr val="232A31"/>
                </a:solidFill>
                <a:latin typeface="Calibri" pitchFamily="34" charset="0"/>
                <a:ea typeface="Calibri" pitchFamily="34" charset="-122"/>
                <a:cs typeface="Calibri" pitchFamily="34" charset="-120"/>
              </a:rPr>
              <a:t>“There are magic phrases”</a:t>
            </a:r>
            <a:endParaRPr lang="en-US" sz="1080" dirty="0"/>
          </a:p>
          <a:p>
            <a:pPr indent="0" marL="0">
              <a:lnSpc>
                <a:spcPct val="100000"/>
              </a:lnSpc>
              <a:buNone/>
            </a:pPr>
            <a:r>
              <a:rPr lang="en-US" sz="900" i="1" dirty="0">
                <a:solidFill>
                  <a:srgbClr val="46545F"/>
                </a:solidFill>
                <a:latin typeface="Calibri" pitchFamily="34" charset="0"/>
                <a:ea typeface="Calibri" pitchFamily="34" charset="-122"/>
                <a:cs typeface="Calibri" pitchFamily="34" charset="-120"/>
              </a:rPr>
              <a:t>“take a deep breath” won on one model, one benchmark — never universal</a:t>
            </a:r>
            <a:endParaRPr lang="en-US" sz="1080" dirty="0"/>
          </a:p>
        </p:txBody>
      </p:sp>
      <p:sp>
        <p:nvSpPr>
          <p:cNvPr id="23" name="Text 19"/>
          <p:cNvSpPr/>
          <p:nvPr/>
        </p:nvSpPr>
        <p:spPr>
          <a:xfrm>
            <a:off x="6446520" y="4041648"/>
            <a:ext cx="4937760" cy="603504"/>
          </a:xfrm>
          <a:prstGeom prst="rect">
            <a:avLst/>
          </a:prstGeom>
          <a:noFill/>
          <a:ln/>
        </p:spPr>
        <p:txBody>
          <a:bodyPr wrap="square" lIns="0" tIns="0" rIns="0" bIns="0" rtlCol="0" anchor="ctr"/>
          <a:lstStyle/>
          <a:p>
            <a:pPr indent="0" marL="0">
              <a:lnSpc>
                <a:spcPct val="100000"/>
              </a:lnSpc>
              <a:buNone/>
            </a:pPr>
            <a:r>
              <a:rPr lang="en-US" sz="1080" b="1" dirty="0">
                <a:solidFill>
                  <a:srgbClr val="232A31"/>
                </a:solidFill>
                <a:latin typeface="Calibri" pitchFamily="34" charset="0"/>
                <a:ea typeface="Calibri" pitchFamily="34" charset="-122"/>
                <a:cs typeface="Calibri" pitchFamily="34" charset="-120"/>
              </a:rPr>
              <a:t>“Longer prompts are always better”</a:t>
            </a:r>
            <a:endParaRPr lang="en-US" sz="1080" dirty="0"/>
          </a:p>
          <a:p>
            <a:pPr indent="0" marL="0">
              <a:lnSpc>
                <a:spcPct val="100000"/>
              </a:lnSpc>
              <a:buNone/>
            </a:pPr>
            <a:r>
              <a:rPr lang="en-US" sz="900" i="1" dirty="0">
                <a:solidFill>
                  <a:srgbClr val="46545F"/>
                </a:solidFill>
                <a:latin typeface="Calibri" pitchFamily="34" charset="0"/>
                <a:ea typeface="Calibri" pitchFamily="34" charset="-122"/>
                <a:cs typeface="Calibri" pitchFamily="34" charset="-120"/>
              </a:rPr>
              <a:t>padding drops accuracy at just ~3K tokens — density wins, not length</a:t>
            </a:r>
            <a:endParaRPr lang="en-US" sz="1080" dirty="0"/>
          </a:p>
        </p:txBody>
      </p:sp>
      <p:sp>
        <p:nvSpPr>
          <p:cNvPr id="24" name="Text 20"/>
          <p:cNvSpPr/>
          <p:nvPr/>
        </p:nvSpPr>
        <p:spPr>
          <a:xfrm>
            <a:off x="6446520" y="4681728"/>
            <a:ext cx="4937760" cy="603504"/>
          </a:xfrm>
          <a:prstGeom prst="rect">
            <a:avLst/>
          </a:prstGeom>
          <a:noFill/>
          <a:ln/>
        </p:spPr>
        <p:txBody>
          <a:bodyPr wrap="square" lIns="0" tIns="0" rIns="0" bIns="0" rtlCol="0" anchor="ctr"/>
          <a:lstStyle/>
          <a:p>
            <a:pPr indent="0" marL="0">
              <a:lnSpc>
                <a:spcPct val="100000"/>
              </a:lnSpc>
              <a:buNone/>
            </a:pPr>
            <a:r>
              <a:rPr lang="en-US" sz="1080" b="1" dirty="0">
                <a:solidFill>
                  <a:srgbClr val="232A31"/>
                </a:solidFill>
                <a:latin typeface="Calibri" pitchFamily="34" charset="0"/>
                <a:ea typeface="Calibri" pitchFamily="34" charset="-122"/>
                <a:cs typeface="Calibri" pitchFamily="34" charset="-120"/>
              </a:rPr>
              <a:t>“‘Are you sure?’ makes it double-check”</a:t>
            </a:r>
            <a:endParaRPr lang="en-US" sz="1080" dirty="0"/>
          </a:p>
          <a:p>
            <a:pPr indent="0" marL="0">
              <a:lnSpc>
                <a:spcPct val="100000"/>
              </a:lnSpc>
              <a:buNone/>
            </a:pPr>
            <a:r>
              <a:rPr lang="en-US" sz="900" i="1" dirty="0">
                <a:solidFill>
                  <a:srgbClr val="46545F"/>
                </a:solidFill>
                <a:latin typeface="Calibri" pitchFamily="34" charset="0"/>
                <a:ea typeface="Calibri" pitchFamily="34" charset="-122"/>
                <a:cs typeface="Calibri" pitchFamily="34" charset="-120"/>
              </a:rPr>
              <a:t>it makes it FOLD: answers flip under pushback in 58% of cases</a:t>
            </a:r>
            <a:endParaRPr lang="en-US" sz="1080" dirty="0"/>
          </a:p>
        </p:txBody>
      </p:sp>
      <p:sp>
        <p:nvSpPr>
          <p:cNvPr id="25" name="Text 21"/>
          <p:cNvSpPr/>
          <p:nvPr/>
        </p:nvSpPr>
        <p:spPr>
          <a:xfrm>
            <a:off x="6446520" y="5321808"/>
            <a:ext cx="4937760" cy="603504"/>
          </a:xfrm>
          <a:prstGeom prst="rect">
            <a:avLst/>
          </a:prstGeom>
          <a:noFill/>
          <a:ln/>
        </p:spPr>
        <p:txBody>
          <a:bodyPr wrap="square" lIns="0" tIns="0" rIns="0" bIns="0" rtlCol="0" anchor="ctr"/>
          <a:lstStyle/>
          <a:p>
            <a:pPr indent="0" marL="0">
              <a:lnSpc>
                <a:spcPct val="100000"/>
              </a:lnSpc>
              <a:buNone/>
            </a:pPr>
            <a:r>
              <a:rPr lang="en-US" sz="1080" b="1" dirty="0">
                <a:solidFill>
                  <a:srgbClr val="232A31"/>
                </a:solidFill>
                <a:latin typeface="Calibri" pitchFamily="34" charset="0"/>
                <a:ea typeface="Calibri" pitchFamily="34" charset="-122"/>
                <a:cs typeface="Calibri" pitchFamily="34" charset="-120"/>
              </a:rPr>
              <a:t>“The AI knows what I mean”</a:t>
            </a:r>
            <a:endParaRPr lang="en-US" sz="1080" dirty="0"/>
          </a:p>
          <a:p>
            <a:pPr indent="0" marL="0">
              <a:lnSpc>
                <a:spcPct val="100000"/>
              </a:lnSpc>
              <a:buNone/>
            </a:pPr>
            <a:r>
              <a:rPr lang="en-US" sz="900" i="1" dirty="0">
                <a:solidFill>
                  <a:srgbClr val="46545F"/>
                </a:solidFill>
                <a:latin typeface="Calibri" pitchFamily="34" charset="0"/>
                <a:ea typeface="Calibri" pitchFamily="34" charset="-122"/>
                <a:cs typeface="Calibri" pitchFamily="34" charset="-120"/>
              </a:rPr>
              <a:t>the same ~41% — mind-reading is the myth behind every vague prompt</a:t>
            </a:r>
            <a:endParaRPr lang="en-US" sz="1080" dirty="0"/>
          </a:p>
        </p:txBody>
      </p:sp>
      <p:sp>
        <p:nvSpPr>
          <p:cNvPr id="26" name="Shape 22"/>
          <p:cNvSpPr/>
          <p:nvPr/>
        </p:nvSpPr>
        <p:spPr>
          <a:xfrm>
            <a:off x="502920" y="6108192"/>
            <a:ext cx="11155680" cy="420624"/>
          </a:xfrm>
          <a:prstGeom prst="roundRect">
            <a:avLst>
              <a:gd name="adj" fmla="val 17391"/>
            </a:avLst>
          </a:prstGeom>
          <a:solidFill>
            <a:srgbClr val="E4F0EF"/>
          </a:solidFill>
          <a:ln/>
        </p:spPr>
      </p:sp>
      <p:sp>
        <p:nvSpPr>
          <p:cNvPr id="27" name="Shape 23"/>
          <p:cNvSpPr/>
          <p:nvPr/>
        </p:nvSpPr>
        <p:spPr>
          <a:xfrm>
            <a:off x="667512" y="6126480"/>
            <a:ext cx="384048" cy="384048"/>
          </a:xfrm>
          <a:prstGeom prst="ellipse">
            <a:avLst/>
          </a:prstGeom>
          <a:solidFill>
            <a:srgbClr val="0E7C7B"/>
          </a:solidFill>
          <a:ln/>
        </p:spPr>
      </p:sp>
      <p:pic>
        <p:nvPicPr>
          <p:cNvPr id="28" name="Image 2" descr="/home/user/Claude-Works/ai-training-prompt-engineering/src/assets/icons/download_w.png">    </p:cNvPr>
          <p:cNvPicPr>
            <a:picLocks noChangeAspect="1"/>
          </p:cNvPicPr>
          <p:nvPr/>
        </p:nvPicPr>
        <p:blipFill>
          <a:blip r:embed="rId3"/>
          <a:stretch>
            <a:fillRect/>
          </a:stretch>
        </p:blipFill>
        <p:spPr>
          <a:xfrm>
            <a:off x="767364" y="6226332"/>
            <a:ext cx="184343" cy="184343"/>
          </a:xfrm>
          <a:prstGeom prst="rect">
            <a:avLst/>
          </a:prstGeom>
        </p:spPr>
      </p:pic>
      <p:sp>
        <p:nvSpPr>
          <p:cNvPr id="29" name="Text 24"/>
          <p:cNvSpPr/>
          <p:nvPr/>
        </p:nvSpPr>
        <p:spPr>
          <a:xfrm>
            <a:off x="1216152" y="6181344"/>
            <a:ext cx="10213848" cy="274320"/>
          </a:xfrm>
          <a:prstGeom prst="rect">
            <a:avLst/>
          </a:prstGeom>
          <a:noFill/>
          <a:ln/>
        </p:spPr>
        <p:txBody>
          <a:bodyPr wrap="square" lIns="0" tIns="0" rIns="0" bIns="0" rtlCol="0" anchor="ctr"/>
          <a:lstStyle/>
          <a:p>
            <a:pPr indent="0" marL="0">
              <a:lnSpc>
                <a:spcPct val="106000"/>
              </a:lnSpc>
              <a:buNone/>
            </a:pPr>
            <a:r>
              <a:rPr lang="en-US" sz="1050" b="1" dirty="0">
                <a:solidFill>
                  <a:srgbClr val="0A5B5A"/>
                </a:solidFill>
                <a:latin typeface="Calibri" pitchFamily="34" charset="0"/>
                <a:ea typeface="Calibri" pitchFamily="34" charset="-122"/>
                <a:cs typeface="Calibri" pitchFamily="34" charset="-120"/>
              </a:rPr>
              <a:t>Every line has a study behind it —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sources in the PLAYBOOK tab of your Course Workbook. And one myth got its own slide: the next one.</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THE BIAS TO DESIGN AGAINST</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30</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AI MIRRORS YOU</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flattery bias — measured, and all over the news</a:t>
            </a:r>
            <a:endParaRPr lang="en-US" sz="3000" dirty="0"/>
          </a:p>
        </p:txBody>
      </p:sp>
      <p:sp>
        <p:nvSpPr>
          <p:cNvPr id="6" name="Shape 4"/>
          <p:cNvSpPr/>
          <p:nvPr/>
        </p:nvSpPr>
        <p:spPr>
          <a:xfrm>
            <a:off x="502920" y="1444752"/>
            <a:ext cx="4114800" cy="2286000"/>
          </a:xfrm>
          <a:prstGeom prst="roundRect">
            <a:avLst>
              <a:gd name="adj" fmla="val 3200"/>
            </a:avLst>
          </a:prstGeom>
          <a:solidFill>
            <a:srgbClr val="F2F5F6"/>
          </a:solidFill>
          <a:ln/>
        </p:spPr>
      </p:sp>
      <p:sp>
        <p:nvSpPr>
          <p:cNvPr id="7" name="Text 5"/>
          <p:cNvSpPr/>
          <p:nvPr/>
        </p:nvSpPr>
        <p:spPr>
          <a:xfrm>
            <a:off x="777240" y="1591056"/>
            <a:ext cx="2377440" cy="822960"/>
          </a:xfrm>
          <a:prstGeom prst="rect">
            <a:avLst/>
          </a:prstGeom>
          <a:noFill/>
          <a:ln/>
        </p:spPr>
        <p:txBody>
          <a:bodyPr wrap="square" lIns="0" tIns="0" rIns="0" bIns="0" rtlCol="0" anchor="ctr"/>
          <a:lstStyle/>
          <a:p>
            <a:pPr indent="0" marL="0">
              <a:buNone/>
            </a:pPr>
            <a:r>
              <a:rPr lang="en-US" sz="5000" b="1" dirty="0">
                <a:solidFill>
                  <a:srgbClr val="AF3230"/>
                </a:solidFill>
                <a:latin typeface="Cambria" pitchFamily="34" charset="0"/>
                <a:ea typeface="Cambria" pitchFamily="34" charset="-122"/>
                <a:cs typeface="Cambria" pitchFamily="34" charset="-120"/>
              </a:rPr>
              <a:t>+49%</a:t>
            </a:r>
            <a:endParaRPr lang="en-US" sz="5000" dirty="0"/>
          </a:p>
        </p:txBody>
      </p:sp>
      <p:sp>
        <p:nvSpPr>
          <p:cNvPr id="8" name="Text 6"/>
          <p:cNvSpPr/>
          <p:nvPr/>
        </p:nvSpPr>
        <p:spPr>
          <a:xfrm>
            <a:off x="777240" y="2432304"/>
            <a:ext cx="3566160" cy="777240"/>
          </a:xfrm>
          <a:prstGeom prst="rect">
            <a:avLst/>
          </a:prstGeom>
          <a:noFill/>
          <a:ln/>
        </p:spPr>
        <p:txBody>
          <a:bodyPr wrap="square" lIns="0" tIns="0" rIns="0" bIns="0" rtlCol="0" anchor="ctr"/>
          <a:lstStyle/>
          <a:p>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more often than a human would, the AI tells you you’re right — 11 leading models (Stanford/CMU, Science 2026)</a:t>
            </a:r>
            <a:endParaRPr lang="en-US" sz="1100" dirty="0"/>
          </a:p>
        </p:txBody>
      </p:sp>
      <p:sp>
        <p:nvSpPr>
          <p:cNvPr id="9" name="Text 7"/>
          <p:cNvSpPr/>
          <p:nvPr/>
        </p:nvSpPr>
        <p:spPr>
          <a:xfrm>
            <a:off x="777240" y="3200400"/>
            <a:ext cx="3566160" cy="457200"/>
          </a:xfrm>
          <a:prstGeom prst="rect">
            <a:avLst/>
          </a:prstGeom>
          <a:noFill/>
          <a:ln/>
        </p:spPr>
        <p:txBody>
          <a:bodyPr wrap="square" lIns="0" tIns="0" rIns="0" bIns="0" rtlCol="0" anchor="ctr"/>
          <a:lstStyle/>
          <a:p>
            <a:pPr indent="0" marL="0">
              <a:lnSpc>
                <a:spcPct val="100000"/>
              </a:lnSpc>
              <a:buNone/>
            </a:pPr>
            <a:r>
              <a:rPr lang="en-US" sz="900" i="1" dirty="0">
                <a:solidFill>
                  <a:srgbClr val="7A8790"/>
                </a:solidFill>
                <a:latin typeface="Calibri" pitchFamily="34" charset="0"/>
                <a:ea typeface="Calibri" pitchFamily="34" charset="-122"/>
                <a:cs typeface="Calibri" pitchFamily="34" charset="-120"/>
              </a:rPr>
              <a:t>Root cause: trained on human preferences — and we prefer agreement. A single flattering exchange measurably raises conviction.</a:t>
            </a:r>
            <a:endParaRPr lang="en-US" sz="900" dirty="0"/>
          </a:p>
        </p:txBody>
      </p:sp>
      <p:sp>
        <p:nvSpPr>
          <p:cNvPr id="10" name="Shape 8"/>
          <p:cNvSpPr/>
          <p:nvPr/>
        </p:nvSpPr>
        <p:spPr>
          <a:xfrm>
            <a:off x="4800600" y="1444752"/>
            <a:ext cx="6858000" cy="2286000"/>
          </a:xfrm>
          <a:prstGeom prst="roundRect">
            <a:avLst>
              <a:gd name="adj" fmla="val 3200"/>
            </a:avLst>
          </a:prstGeom>
          <a:solidFill>
            <a:srgbClr val="F2F5F6"/>
          </a:solidFill>
          <a:ln/>
        </p:spPr>
      </p:sp>
      <p:sp>
        <p:nvSpPr>
          <p:cNvPr id="11" name="Text 9"/>
          <p:cNvSpPr/>
          <p:nvPr/>
        </p:nvSpPr>
        <p:spPr>
          <a:xfrm>
            <a:off x="5047488" y="1554480"/>
            <a:ext cx="6309360" cy="292608"/>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It made the news</a:t>
            </a:r>
            <a:endParaRPr lang="en-US" sz="1400" dirty="0"/>
          </a:p>
        </p:txBody>
      </p:sp>
      <p:sp>
        <p:nvSpPr>
          <p:cNvPr id="12" name="Shape 10"/>
          <p:cNvSpPr/>
          <p:nvPr/>
        </p:nvSpPr>
        <p:spPr>
          <a:xfrm>
            <a:off x="5047488" y="1956816"/>
            <a:ext cx="777240" cy="274320"/>
          </a:xfrm>
          <a:prstGeom prst="roundRect">
            <a:avLst>
              <a:gd name="adj" fmla="val 16667"/>
            </a:avLst>
          </a:prstGeom>
          <a:solidFill>
            <a:srgbClr val="0E7C7B"/>
          </a:solidFill>
          <a:ln/>
        </p:spPr>
      </p:sp>
      <p:sp>
        <p:nvSpPr>
          <p:cNvPr id="13" name="Text 11"/>
          <p:cNvSpPr/>
          <p:nvPr/>
        </p:nvSpPr>
        <p:spPr>
          <a:xfrm>
            <a:off x="5047488" y="1965960"/>
            <a:ext cx="7772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APR 2025</a:t>
            </a:r>
            <a:endParaRPr lang="en-US" sz="800" dirty="0"/>
          </a:p>
        </p:txBody>
      </p:sp>
      <p:sp>
        <p:nvSpPr>
          <p:cNvPr id="14" name="Text 12"/>
          <p:cNvSpPr/>
          <p:nvPr/>
        </p:nvSpPr>
        <p:spPr>
          <a:xfrm>
            <a:off x="5943600" y="1920240"/>
            <a:ext cx="5577840" cy="420624"/>
          </a:xfrm>
          <a:prstGeom prst="rect">
            <a:avLst/>
          </a:prstGeom>
          <a:noFill/>
          <a:ln/>
        </p:spPr>
        <p:txBody>
          <a:bodyPr wrap="square" lIns="0" tIns="0" rIns="0" bIns="0" rtlCol="0" anchor="ctr"/>
          <a:lstStyle/>
          <a:p>
            <a:pPr indent="0" marL="0">
              <a:lnSpc>
                <a:spcPct val="95000"/>
              </a:lnSpc>
              <a:buNone/>
            </a:pPr>
            <a:r>
              <a:rPr lang="en-US" sz="920" dirty="0">
                <a:solidFill>
                  <a:srgbClr val="46545F"/>
                </a:solidFill>
                <a:latin typeface="Calibri" pitchFamily="34" charset="0"/>
                <a:ea typeface="Calibri" pitchFamily="34" charset="-122"/>
                <a:cs typeface="Calibri" pitchFamily="34" charset="-120"/>
              </a:rPr>
              <a:t>OpenAI rolls back a ChatGPT update for being — its own words — “overly flattering or agreeable… sycophantic.” Their metrics had rewarded the mirror.</a:t>
            </a:r>
            <a:endParaRPr lang="en-US" sz="920" dirty="0"/>
          </a:p>
        </p:txBody>
      </p:sp>
      <p:sp>
        <p:nvSpPr>
          <p:cNvPr id="15" name="Shape 13"/>
          <p:cNvSpPr/>
          <p:nvPr/>
        </p:nvSpPr>
        <p:spPr>
          <a:xfrm>
            <a:off x="5047488" y="2395728"/>
            <a:ext cx="777240" cy="274320"/>
          </a:xfrm>
          <a:prstGeom prst="roundRect">
            <a:avLst>
              <a:gd name="adj" fmla="val 16667"/>
            </a:avLst>
          </a:prstGeom>
          <a:solidFill>
            <a:srgbClr val="0E7C7B"/>
          </a:solidFill>
          <a:ln/>
        </p:spPr>
      </p:sp>
      <p:sp>
        <p:nvSpPr>
          <p:cNvPr id="16" name="Text 14"/>
          <p:cNvSpPr/>
          <p:nvPr/>
        </p:nvSpPr>
        <p:spPr>
          <a:xfrm>
            <a:off x="5047488" y="2404872"/>
            <a:ext cx="7772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JUN 2025</a:t>
            </a:r>
            <a:endParaRPr lang="en-US" sz="800" dirty="0"/>
          </a:p>
        </p:txBody>
      </p:sp>
      <p:sp>
        <p:nvSpPr>
          <p:cNvPr id="17" name="Text 15"/>
          <p:cNvSpPr/>
          <p:nvPr/>
        </p:nvSpPr>
        <p:spPr>
          <a:xfrm>
            <a:off x="5943600" y="2359152"/>
            <a:ext cx="5577840" cy="420624"/>
          </a:xfrm>
          <a:prstGeom prst="rect">
            <a:avLst/>
          </a:prstGeom>
          <a:noFill/>
          <a:ln/>
        </p:spPr>
        <p:txBody>
          <a:bodyPr wrap="square" lIns="0" tIns="0" rIns="0" bIns="0" rtlCol="0" anchor="ctr"/>
          <a:lstStyle/>
          <a:p>
            <a:pPr indent="0" marL="0">
              <a:lnSpc>
                <a:spcPct val="95000"/>
              </a:lnSpc>
              <a:buNone/>
            </a:pPr>
            <a:r>
              <a:rPr lang="en-US" sz="920" dirty="0">
                <a:solidFill>
                  <a:srgbClr val="46545F"/>
                </a:solidFill>
                <a:latin typeface="Calibri" pitchFamily="34" charset="0"/>
                <a:ea typeface="Calibri" pitchFamily="34" charset="-122"/>
                <a:cs typeface="Calibri" pitchFamily="34" charset="-120"/>
              </a:rPr>
              <a:t>New York Times: chatbots validating users’ false beliefs send some people “spiraling” — agreement as a safety problem.</a:t>
            </a:r>
            <a:endParaRPr lang="en-US" sz="920" dirty="0"/>
          </a:p>
        </p:txBody>
      </p:sp>
      <p:sp>
        <p:nvSpPr>
          <p:cNvPr id="18" name="Shape 16"/>
          <p:cNvSpPr/>
          <p:nvPr/>
        </p:nvSpPr>
        <p:spPr>
          <a:xfrm>
            <a:off x="5047488" y="2834640"/>
            <a:ext cx="777240" cy="274320"/>
          </a:xfrm>
          <a:prstGeom prst="roundRect">
            <a:avLst>
              <a:gd name="adj" fmla="val 16667"/>
            </a:avLst>
          </a:prstGeom>
          <a:solidFill>
            <a:srgbClr val="0E7C7B"/>
          </a:solidFill>
          <a:ln/>
        </p:spPr>
      </p:sp>
      <p:sp>
        <p:nvSpPr>
          <p:cNvPr id="19" name="Text 17"/>
          <p:cNvSpPr/>
          <p:nvPr/>
        </p:nvSpPr>
        <p:spPr>
          <a:xfrm>
            <a:off x="5047488" y="2843784"/>
            <a:ext cx="7772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AUG 2025</a:t>
            </a:r>
            <a:endParaRPr lang="en-US" sz="800" dirty="0"/>
          </a:p>
        </p:txBody>
      </p:sp>
      <p:sp>
        <p:nvSpPr>
          <p:cNvPr id="20" name="Text 18"/>
          <p:cNvSpPr/>
          <p:nvPr/>
        </p:nvSpPr>
        <p:spPr>
          <a:xfrm>
            <a:off x="5943600" y="2798064"/>
            <a:ext cx="5577840" cy="420624"/>
          </a:xfrm>
          <a:prstGeom prst="rect">
            <a:avLst/>
          </a:prstGeom>
          <a:noFill/>
          <a:ln/>
        </p:spPr>
        <p:txBody>
          <a:bodyPr wrap="square" lIns="0" tIns="0" rIns="0" bIns="0" rtlCol="0" anchor="ctr"/>
          <a:lstStyle/>
          <a:p>
            <a:pPr indent="0" marL="0">
              <a:lnSpc>
                <a:spcPct val="95000"/>
              </a:lnSpc>
              <a:buNone/>
            </a:pPr>
            <a:r>
              <a:rPr lang="en-US" sz="920" dirty="0">
                <a:solidFill>
                  <a:srgbClr val="46545F"/>
                </a:solidFill>
                <a:latin typeface="Calibri" pitchFamily="34" charset="0"/>
                <a:ea typeface="Calibri" pitchFamily="34" charset="-122"/>
                <a:cs typeface="Calibri" pitchFamily="34" charset="-120"/>
              </a:rPr>
              <a:t>Microsoft’s AI chief warns publicly about unhealthy AI validation — “not confined to people already at risk.”</a:t>
            </a:r>
            <a:endParaRPr lang="en-US" sz="920" dirty="0"/>
          </a:p>
        </p:txBody>
      </p:sp>
      <p:sp>
        <p:nvSpPr>
          <p:cNvPr id="21" name="Shape 19"/>
          <p:cNvSpPr/>
          <p:nvPr/>
        </p:nvSpPr>
        <p:spPr>
          <a:xfrm>
            <a:off x="5047488" y="3273552"/>
            <a:ext cx="777240" cy="274320"/>
          </a:xfrm>
          <a:prstGeom prst="roundRect">
            <a:avLst>
              <a:gd name="adj" fmla="val 16667"/>
            </a:avLst>
          </a:prstGeom>
          <a:solidFill>
            <a:srgbClr val="0E7C7B"/>
          </a:solidFill>
          <a:ln/>
        </p:spPr>
      </p:sp>
      <p:sp>
        <p:nvSpPr>
          <p:cNvPr id="22" name="Text 20"/>
          <p:cNvSpPr/>
          <p:nvPr/>
        </p:nvSpPr>
        <p:spPr>
          <a:xfrm>
            <a:off x="5047488" y="3282696"/>
            <a:ext cx="7772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2026</a:t>
            </a:r>
            <a:endParaRPr lang="en-US" sz="800" dirty="0"/>
          </a:p>
        </p:txBody>
      </p:sp>
      <p:sp>
        <p:nvSpPr>
          <p:cNvPr id="23" name="Text 21"/>
          <p:cNvSpPr/>
          <p:nvPr/>
        </p:nvSpPr>
        <p:spPr>
          <a:xfrm>
            <a:off x="5943600" y="3236976"/>
            <a:ext cx="5577840" cy="420624"/>
          </a:xfrm>
          <a:prstGeom prst="rect">
            <a:avLst/>
          </a:prstGeom>
          <a:noFill/>
          <a:ln/>
        </p:spPr>
        <p:txBody>
          <a:bodyPr wrap="square" lIns="0" tIns="0" rIns="0" bIns="0" rtlCol="0" anchor="ctr"/>
          <a:lstStyle/>
          <a:p>
            <a:pPr indent="0" marL="0">
              <a:lnSpc>
                <a:spcPct val="95000"/>
              </a:lnSpc>
              <a:buNone/>
            </a:pPr>
            <a:r>
              <a:rPr lang="en-US" sz="920" dirty="0">
                <a:solidFill>
                  <a:srgbClr val="46545F"/>
                </a:solidFill>
                <a:latin typeface="Calibri" pitchFamily="34" charset="0"/>
                <a:ea typeface="Calibri" pitchFamily="34" charset="-122"/>
                <a:cs typeface="Calibri" pitchFamily="34" charset="-120"/>
              </a:rPr>
              <a:t>The Science study measures it (+49%) — and the flattery bias draws regulatory attention.</a:t>
            </a:r>
            <a:endParaRPr lang="en-US" sz="920" dirty="0"/>
          </a:p>
        </p:txBody>
      </p:sp>
      <p:sp>
        <p:nvSpPr>
          <p:cNvPr id="24" name="Shape 22"/>
          <p:cNvSpPr/>
          <p:nvPr/>
        </p:nvSpPr>
        <p:spPr>
          <a:xfrm>
            <a:off x="502920" y="3913632"/>
            <a:ext cx="11155680" cy="960120"/>
          </a:xfrm>
          <a:prstGeom prst="roundRect">
            <a:avLst>
              <a:gd name="adj" fmla="val 7619"/>
            </a:avLst>
          </a:prstGeom>
          <a:solidFill>
            <a:srgbClr val="E4F0EF"/>
          </a:solidFill>
          <a:ln/>
        </p:spPr>
      </p:sp>
      <p:sp>
        <p:nvSpPr>
          <p:cNvPr id="25" name="Shape 23"/>
          <p:cNvSpPr/>
          <p:nvPr/>
        </p:nvSpPr>
        <p:spPr>
          <a:xfrm>
            <a:off x="667512" y="4201668"/>
            <a:ext cx="384048" cy="384048"/>
          </a:xfrm>
          <a:prstGeom prst="ellipse">
            <a:avLst/>
          </a:prstGeom>
          <a:solidFill>
            <a:srgbClr val="0E7C7B"/>
          </a:solidFill>
          <a:ln/>
        </p:spPr>
      </p:sp>
      <p:pic>
        <p:nvPicPr>
          <p:cNvPr id="26" name="Image 0" descr="/home/user/Claude-Works/ai-training-prompt-engineering/src/assets/icons/shield_w.png">    </p:cNvPr>
          <p:cNvPicPr>
            <a:picLocks noChangeAspect="1"/>
          </p:cNvPicPr>
          <p:nvPr/>
        </p:nvPicPr>
        <p:blipFill>
          <a:blip r:embed="rId1"/>
          <a:stretch>
            <a:fillRect/>
          </a:stretch>
        </p:blipFill>
        <p:spPr>
          <a:xfrm>
            <a:off x="767364" y="4301520"/>
            <a:ext cx="184343" cy="184343"/>
          </a:xfrm>
          <a:prstGeom prst="rect">
            <a:avLst/>
          </a:prstGeom>
        </p:spPr>
      </p:pic>
      <p:sp>
        <p:nvSpPr>
          <p:cNvPr id="27" name="Text 24"/>
          <p:cNvSpPr/>
          <p:nvPr/>
        </p:nvSpPr>
        <p:spPr>
          <a:xfrm>
            <a:off x="1216152" y="3986784"/>
            <a:ext cx="10213848" cy="813816"/>
          </a:xfrm>
          <a:prstGeom prst="rect">
            <a:avLst/>
          </a:prstGeom>
          <a:noFill/>
          <a:ln/>
        </p:spPr>
        <p:txBody>
          <a:bodyPr wrap="square" lIns="0" tIns="0" rIns="0" bIns="0" rtlCol="0" anchor="ctr"/>
          <a:lstStyle/>
          <a:p>
            <a:pPr indent="0" marL="0">
              <a:lnSpc>
                <a:spcPct val="106000"/>
              </a:lnSpc>
              <a:buNone/>
            </a:pPr>
            <a:r>
              <a:rPr lang="en-US" sz="1250" b="1" dirty="0">
                <a:solidFill>
                  <a:srgbClr val="0A5B5A"/>
                </a:solidFill>
                <a:latin typeface="Calibri" pitchFamily="34" charset="0"/>
                <a:ea typeface="Calibri" pitchFamily="34" charset="-122"/>
                <a:cs typeface="Calibri" pitchFamily="34" charset="-120"/>
              </a:rPr>
              <a:t>The countermeasures — usable today: </a:t>
            </a:r>
            <a:endParaRPr lang="en-US" sz="1250" dirty="0"/>
          </a:p>
          <a:p>
            <a:pPr indent="0" marL="0">
              <a:lnSpc>
                <a:spcPct val="106000"/>
              </a:lnSpc>
              <a:buNone/>
            </a:pPr>
            <a:r>
              <a:rPr lang="en-US" sz="1200" dirty="0">
                <a:solidFill>
                  <a:srgbClr val="46545F"/>
                </a:solidFill>
                <a:latin typeface="Calibri" pitchFamily="34" charset="0"/>
                <a:ea typeface="Calibri" pitchFamily="34" charset="-122"/>
                <a:cs typeface="Calibri" pitchFamily="34" charset="-120"/>
              </a:rPr>
              <a:t>never reveal your preferred answer when asking for a review · ask for the case AGAINST (“three weakest points”) · paste your draft as “a colleague’s” · never treat “are you sure?” as verification.</a:t>
            </a:r>
            <a:endParaRPr lang="en-US" sz="1250" dirty="0"/>
          </a:p>
        </p:txBody>
      </p:sp>
      <p:sp>
        <p:nvSpPr>
          <p:cNvPr id="28" name="Shape 25"/>
          <p:cNvSpPr/>
          <p:nvPr/>
        </p:nvSpPr>
        <p:spPr>
          <a:xfrm>
            <a:off x="502920" y="5029200"/>
            <a:ext cx="11155680" cy="1417320"/>
          </a:xfrm>
          <a:prstGeom prst="roundRect">
            <a:avLst>
              <a:gd name="adj" fmla="val 5161"/>
            </a:avLst>
          </a:prstGeom>
          <a:solidFill>
            <a:srgbClr val="FFFFFF"/>
          </a:solidFill>
          <a:ln w="9525">
            <a:solidFill>
              <a:srgbClr val="DCE3E6"/>
            </a:solidFill>
            <a:prstDash val="solid"/>
          </a:ln>
        </p:spPr>
      </p:sp>
      <p:sp>
        <p:nvSpPr>
          <p:cNvPr id="29" name="Text 26"/>
          <p:cNvSpPr/>
          <p:nvPr/>
        </p:nvSpPr>
        <p:spPr>
          <a:xfrm>
            <a:off x="777240" y="5138928"/>
            <a:ext cx="10607040" cy="256032"/>
          </a:xfrm>
          <a:prstGeom prst="rect">
            <a:avLst/>
          </a:prstGeom>
          <a:noFill/>
          <a:ln/>
        </p:spPr>
        <p:txBody>
          <a:bodyPr wrap="square" lIns="0" tIns="0" rIns="0" bIns="0" rtlCol="0" anchor="ctr"/>
          <a:lstStyle/>
          <a:p>
            <a:pPr indent="0" marL="0">
              <a:buNone/>
            </a:pPr>
            <a:r>
              <a:rPr lang="en-US" sz="1000" b="1" spc="50" kern="0" dirty="0">
                <a:solidFill>
                  <a:srgbClr val="0A5B5A"/>
                </a:solidFill>
                <a:latin typeface="Calibri" pitchFamily="34" charset="0"/>
                <a:ea typeface="Calibri" pitchFamily="34" charset="-122"/>
                <a:cs typeface="Calibri" pitchFamily="34" charset="-120"/>
              </a:rPr>
              <a:t>SEE IT YOURSELF — two chats, same paragraph:</a:t>
            </a:r>
            <a:endParaRPr lang="en-US" sz="1000" dirty="0"/>
          </a:p>
        </p:txBody>
      </p:sp>
      <p:sp>
        <p:nvSpPr>
          <p:cNvPr id="30" name="Text 27"/>
          <p:cNvSpPr/>
          <p:nvPr/>
        </p:nvSpPr>
        <p:spPr>
          <a:xfrm>
            <a:off x="777240" y="5413248"/>
            <a:ext cx="10607040" cy="457200"/>
          </a:xfrm>
          <a:prstGeom prst="rect">
            <a:avLst/>
          </a:prstGeom>
          <a:noFill/>
          <a:ln/>
        </p:spPr>
        <p:txBody>
          <a:bodyPr wrap="square" lIns="0" tIns="0" rIns="0" bIns="0" rtlCol="0" anchor="ctr"/>
          <a:lstStyle/>
          <a:p>
            <a:pPr indent="0" marL="0">
              <a:lnSpc>
                <a:spcPct val="108000"/>
              </a:lnSpc>
              <a:buNone/>
            </a:pPr>
            <a:r>
              <a:rPr lang="en-US" sz="950" dirty="0">
                <a:solidFill>
                  <a:srgbClr val="0A5B5A"/>
                </a:solidFill>
                <a:latin typeface="Consolas" pitchFamily="34" charset="0"/>
                <a:ea typeface="Consolas" pitchFamily="34" charset="-122"/>
                <a:cs typeface="Consolas" pitchFamily="34" charset="-120"/>
              </a:rPr>
              <a:t>Chat 1: “A colleague wrote this — rate it 1–10 and list its three biggest weaknesses.”   Chat 2: “I wrote this myself and I’m really proud of it — rate it 1–10 and list its three biggest weaknesses.”</a:t>
            </a:r>
            <a:endParaRPr lang="en-US" sz="950" dirty="0"/>
          </a:p>
        </p:txBody>
      </p:sp>
      <p:sp>
        <p:nvSpPr>
          <p:cNvPr id="31" name="Text 28"/>
          <p:cNvSpPr/>
          <p:nvPr/>
        </p:nvSpPr>
        <p:spPr>
          <a:xfrm>
            <a:off x="777240" y="5925312"/>
            <a:ext cx="10607040" cy="457200"/>
          </a:xfrm>
          <a:prstGeom prst="rect">
            <a:avLst/>
          </a:prstGeom>
          <a:noFill/>
          <a:ln/>
        </p:spPr>
        <p:txBody>
          <a:bodyPr wrap="square" lIns="0" tIns="0" rIns="0" bIns="0" rtlCol="0" anchor="ctr"/>
          <a:lstStyle/>
          <a:p>
            <a:pPr indent="0" marL="0">
              <a:lnSpc>
                <a:spcPct val="104000"/>
              </a:lnSpc>
              <a:buNone/>
            </a:pPr>
            <a:r>
              <a:rPr lang="en-US" sz="900" i="1" dirty="0">
                <a:solidFill>
                  <a:srgbClr val="7A8790"/>
                </a:solidFill>
                <a:latin typeface="Calibri" pitchFamily="34" charset="0"/>
                <a:ea typeface="Calibri" pitchFamily="34" charset="-122"/>
                <a:cs typeface="Calibri" pitchFamily="34" charset="-120"/>
              </a:rPr>
              <a:t>Did the score move — and the criticism soften — once it knew you were the author? To read more: ask your AI to “search the web for the April 2025 ChatGPT sycophancy rollback and two 2025+ studies — cite sources, say ‘not verified’ if unsure.”</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THE 2026 PLAYBOOK</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31</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DO · DON’T · EXPIRED — TOP FIVE EACH</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2026 prompting playbook</a:t>
            </a:r>
            <a:endParaRPr lang="en-US" sz="3000" dirty="0"/>
          </a:p>
        </p:txBody>
      </p:sp>
      <p:sp>
        <p:nvSpPr>
          <p:cNvPr id="6" name="Shape 4"/>
          <p:cNvSpPr/>
          <p:nvPr/>
        </p:nvSpPr>
        <p:spPr>
          <a:xfrm>
            <a:off x="502920" y="1444752"/>
            <a:ext cx="3611880" cy="4370832"/>
          </a:xfrm>
          <a:prstGeom prst="roundRect">
            <a:avLst>
              <a:gd name="adj" fmla="val 2025"/>
            </a:avLst>
          </a:prstGeom>
          <a:solidFill>
            <a:srgbClr val="E7F2EC"/>
          </a:solidFill>
          <a:ln/>
        </p:spPr>
      </p:sp>
      <p:sp>
        <p:nvSpPr>
          <p:cNvPr id="7" name="Shape 5"/>
          <p:cNvSpPr/>
          <p:nvPr/>
        </p:nvSpPr>
        <p:spPr>
          <a:xfrm>
            <a:off x="685800" y="1591056"/>
            <a:ext cx="384048" cy="384048"/>
          </a:xfrm>
          <a:prstGeom prst="ellipse">
            <a:avLst/>
          </a:prstGeom>
          <a:solidFill>
            <a:srgbClr val="3B8560"/>
          </a:solidFill>
          <a:ln/>
        </p:spPr>
      </p:sp>
      <p:pic>
        <p:nvPicPr>
          <p:cNvPr id="8" name="Image 0" descr="/home/user/Claude-Works/ai-training-prompt-engineering/src/assets/icons/check_w.png">    </p:cNvPr>
          <p:cNvPicPr>
            <a:picLocks noChangeAspect="1"/>
          </p:cNvPicPr>
          <p:nvPr/>
        </p:nvPicPr>
        <p:blipFill>
          <a:blip r:embed="rId1"/>
          <a:stretch>
            <a:fillRect/>
          </a:stretch>
        </p:blipFill>
        <p:spPr>
          <a:xfrm>
            <a:off x="785652" y="1690908"/>
            <a:ext cx="184343" cy="184343"/>
          </a:xfrm>
          <a:prstGeom prst="rect">
            <a:avLst/>
          </a:prstGeom>
        </p:spPr>
      </p:pic>
      <p:sp>
        <p:nvSpPr>
          <p:cNvPr id="9" name="Text 6"/>
          <p:cNvSpPr/>
          <p:nvPr/>
        </p:nvSpPr>
        <p:spPr>
          <a:xfrm>
            <a:off x="116128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TO DO — reliably helps</a:t>
            </a:r>
            <a:endParaRPr lang="en-US" sz="1250" dirty="0"/>
          </a:p>
        </p:txBody>
      </p:sp>
      <p:sp>
        <p:nvSpPr>
          <p:cNvPr id="10" name="Text 7"/>
          <p:cNvSpPr/>
          <p:nvPr/>
        </p:nvSpPr>
        <p:spPr>
          <a:xfrm>
            <a:off x="70408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1  </a:t>
            </a:r>
            <a:pPr indent="0" marL="0">
              <a:lnSpc>
                <a:spcPct val="100000"/>
              </a:lnSpc>
              <a:buNone/>
            </a:pPr>
            <a:r>
              <a:rPr lang="en-US" sz="890" dirty="0">
                <a:solidFill>
                  <a:srgbClr val="232A31"/>
                </a:solidFill>
                <a:latin typeface="Calibri" pitchFamily="34" charset="0"/>
                <a:ea typeface="Calibri" pitchFamily="34" charset="-122"/>
                <a:cs typeface="Calibri" pitchFamily="34" charset="-120"/>
              </a:rPr>
              <a:t>State the task precisely — verb, constraints, success criteria, and the WHY behind each rule</a:t>
            </a:r>
            <a:endParaRPr lang="en-US" sz="1050" dirty="0"/>
          </a:p>
        </p:txBody>
      </p:sp>
      <p:sp>
        <p:nvSpPr>
          <p:cNvPr id="11" name="Text 8"/>
          <p:cNvSpPr/>
          <p:nvPr/>
        </p:nvSpPr>
        <p:spPr>
          <a:xfrm>
            <a:off x="70408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2  </a:t>
            </a:r>
            <a:pPr indent="0" marL="0">
              <a:lnSpc>
                <a:spcPct val="100000"/>
              </a:lnSpc>
              <a:buNone/>
            </a:pPr>
            <a:r>
              <a:rPr lang="en-US" sz="890" dirty="0">
                <a:solidFill>
                  <a:srgbClr val="232A31"/>
                </a:solidFill>
                <a:latin typeface="Calibri" pitchFamily="34" charset="0"/>
                <a:ea typeface="Calibri" pitchFamily="34" charset="-122"/>
                <a:cs typeface="Calibri" pitchFamily="34" charset="-120"/>
              </a:rPr>
              <a:t>Separate instructions from material; standardize ONE tested, versioned template</a:t>
            </a:r>
            <a:endParaRPr lang="en-US" sz="1050" dirty="0"/>
          </a:p>
        </p:txBody>
      </p:sp>
      <p:sp>
        <p:nvSpPr>
          <p:cNvPr id="12" name="Text 9"/>
          <p:cNvSpPr/>
          <p:nvPr/>
        </p:nvSpPr>
        <p:spPr>
          <a:xfrm>
            <a:off x="70408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3  </a:t>
            </a:r>
            <a:pPr indent="0" marL="0">
              <a:lnSpc>
                <a:spcPct val="100000"/>
              </a:lnSpc>
              <a:buNone/>
            </a:pPr>
            <a:r>
              <a:rPr lang="en-US" sz="890" dirty="0">
                <a:solidFill>
                  <a:srgbClr val="232A31"/>
                </a:solidFill>
                <a:latin typeface="Calibri" pitchFamily="34" charset="0"/>
                <a:ea typeface="Calibri" pitchFamily="34" charset="-122"/>
                <a:cs typeface="Calibri" pitchFamily="34" charset="-120"/>
              </a:rPr>
              <a:t>Long inputs: documents at the top, instructions at the END (bookend both ends when very long)</a:t>
            </a:r>
            <a:endParaRPr lang="en-US" sz="1050" dirty="0"/>
          </a:p>
        </p:txBody>
      </p:sp>
      <p:sp>
        <p:nvSpPr>
          <p:cNvPr id="13" name="Text 10"/>
          <p:cNvSpPr/>
          <p:nvPr/>
        </p:nvSpPr>
        <p:spPr>
          <a:xfrm>
            <a:off x="70408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4  </a:t>
            </a:r>
            <a:pPr indent="0" marL="0">
              <a:lnSpc>
                <a:spcPct val="100000"/>
              </a:lnSpc>
              <a:buNone/>
            </a:pPr>
            <a:r>
              <a:rPr lang="en-US" sz="890" dirty="0">
                <a:solidFill>
                  <a:srgbClr val="232A31"/>
                </a:solidFill>
                <a:latin typeface="Calibri" pitchFamily="34" charset="0"/>
                <a:ea typeface="Calibri" pitchFamily="34" charset="-122"/>
                <a:cs typeface="Calibri" pitchFamily="34" charset="-120"/>
              </a:rPr>
              <a:t>Give an out + require citations</a:t>
            </a:r>
            <a:endParaRPr lang="en-US" sz="1050" dirty="0"/>
          </a:p>
        </p:txBody>
      </p:sp>
      <p:sp>
        <p:nvSpPr>
          <p:cNvPr id="14" name="Text 11"/>
          <p:cNvSpPr/>
          <p:nvPr/>
        </p:nvSpPr>
        <p:spPr>
          <a:xfrm>
            <a:off x="70408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5  </a:t>
            </a:r>
            <a:pPr indent="0" marL="0">
              <a:lnSpc>
                <a:spcPct val="100000"/>
              </a:lnSpc>
              <a:buNone/>
            </a:pPr>
            <a:r>
              <a:rPr lang="en-US" sz="890" dirty="0">
                <a:solidFill>
                  <a:srgbClr val="232A31"/>
                </a:solidFill>
                <a:latin typeface="Calibri" pitchFamily="34" charset="0"/>
                <a:ea typeface="Calibri" pitchFamily="34" charset="-122"/>
                <a:cs typeface="Calibri" pitchFamily="34" charset="-120"/>
              </a:rPr>
              <a:t>Numeric budgets for anything measurable — words, bullets, steps</a:t>
            </a:r>
            <a:endParaRPr lang="en-US" sz="1050" dirty="0"/>
          </a:p>
        </p:txBody>
      </p:sp>
      <p:sp>
        <p:nvSpPr>
          <p:cNvPr id="15" name="Shape 12"/>
          <p:cNvSpPr/>
          <p:nvPr/>
        </p:nvSpPr>
        <p:spPr>
          <a:xfrm>
            <a:off x="4297680" y="1444752"/>
            <a:ext cx="3611880" cy="4370832"/>
          </a:xfrm>
          <a:prstGeom prst="roundRect">
            <a:avLst>
              <a:gd name="adj" fmla="val 2025"/>
            </a:avLst>
          </a:prstGeom>
          <a:solidFill>
            <a:srgbClr val="F9E9E8"/>
          </a:solidFill>
          <a:ln/>
        </p:spPr>
      </p:sp>
      <p:sp>
        <p:nvSpPr>
          <p:cNvPr id="16" name="Shape 13"/>
          <p:cNvSpPr/>
          <p:nvPr/>
        </p:nvSpPr>
        <p:spPr>
          <a:xfrm>
            <a:off x="4480560" y="1591056"/>
            <a:ext cx="384048" cy="384048"/>
          </a:xfrm>
          <a:prstGeom prst="ellipse">
            <a:avLst/>
          </a:prstGeom>
          <a:solidFill>
            <a:srgbClr val="AF3230"/>
          </a:solidFill>
          <a:ln/>
        </p:spPr>
      </p:sp>
      <p:pic>
        <p:nvPicPr>
          <p:cNvPr id="17" name="Image 1" descr="/home/user/Claude-Works/ai-training-prompt-engineering/src/assets/icons/x_w.png">    </p:cNvPr>
          <p:cNvPicPr>
            <a:picLocks noChangeAspect="1"/>
          </p:cNvPicPr>
          <p:nvPr/>
        </p:nvPicPr>
        <p:blipFill>
          <a:blip r:embed="rId2"/>
          <a:stretch>
            <a:fillRect/>
          </a:stretch>
        </p:blipFill>
        <p:spPr>
          <a:xfrm>
            <a:off x="4580412" y="1690908"/>
            <a:ext cx="184343" cy="184343"/>
          </a:xfrm>
          <a:prstGeom prst="rect">
            <a:avLst/>
          </a:prstGeom>
        </p:spPr>
      </p:pic>
      <p:sp>
        <p:nvSpPr>
          <p:cNvPr id="18" name="Text 14"/>
          <p:cNvSpPr/>
          <p:nvPr/>
        </p:nvSpPr>
        <p:spPr>
          <a:xfrm>
            <a:off x="495604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NOT TO DO — hurts or wastes</a:t>
            </a:r>
            <a:endParaRPr lang="en-US" sz="1250" dirty="0"/>
          </a:p>
        </p:txBody>
      </p:sp>
      <p:sp>
        <p:nvSpPr>
          <p:cNvPr id="19" name="Text 15"/>
          <p:cNvSpPr/>
          <p:nvPr/>
        </p:nvSpPr>
        <p:spPr>
          <a:xfrm>
            <a:off x="449884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1  </a:t>
            </a:r>
            <a:pPr indent="0" marL="0">
              <a:lnSpc>
                <a:spcPct val="100000"/>
              </a:lnSpc>
              <a:buNone/>
            </a:pPr>
            <a:r>
              <a:rPr lang="en-US" sz="890" dirty="0">
                <a:solidFill>
                  <a:srgbClr val="232A31"/>
                </a:solidFill>
                <a:latin typeface="Calibri" pitchFamily="34" charset="0"/>
                <a:ea typeface="Calibri" pitchFamily="34" charset="-122"/>
                <a:cs typeface="Calibri" pitchFamily="34" charset="-120"/>
              </a:rPr>
              <a:t>Contradictory instructions — reasoning models burn tokens reconciling them</a:t>
            </a:r>
            <a:endParaRPr lang="en-US" sz="1050" dirty="0"/>
          </a:p>
        </p:txBody>
      </p:sp>
      <p:sp>
        <p:nvSpPr>
          <p:cNvPr id="20" name="Text 16"/>
          <p:cNvSpPr/>
          <p:nvPr/>
        </p:nvSpPr>
        <p:spPr>
          <a:xfrm>
            <a:off x="449884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2  </a:t>
            </a:r>
            <a:pPr indent="0" marL="0">
              <a:lnSpc>
                <a:spcPct val="100000"/>
              </a:lnSpc>
              <a:buNone/>
            </a:pPr>
            <a:r>
              <a:rPr lang="en-US" sz="890" dirty="0">
                <a:solidFill>
                  <a:srgbClr val="232A31"/>
                </a:solidFill>
                <a:latin typeface="Calibri" pitchFamily="34" charset="0"/>
                <a:ea typeface="Calibri" pitchFamily="34" charset="-122"/>
                <a:cs typeface="Calibri" pitchFamily="34" charset="-120"/>
              </a:rPr>
              <a:t>Tips, threats, emotional pressure — null on average, chaos per question</a:t>
            </a:r>
            <a:endParaRPr lang="en-US" sz="1050" dirty="0"/>
          </a:p>
        </p:txBody>
      </p:sp>
      <p:sp>
        <p:nvSpPr>
          <p:cNvPr id="21" name="Text 17"/>
          <p:cNvSpPr/>
          <p:nvPr/>
        </p:nvSpPr>
        <p:spPr>
          <a:xfrm>
            <a:off x="449884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3  </a:t>
            </a:r>
            <a:pPr indent="0" marL="0">
              <a:lnSpc>
                <a:spcPct val="100000"/>
              </a:lnSpc>
              <a:buNone/>
            </a:pPr>
            <a:r>
              <a:rPr lang="en-US" sz="890" dirty="0">
                <a:solidFill>
                  <a:srgbClr val="232A31"/>
                </a:solidFill>
                <a:latin typeface="Calibri" pitchFamily="34" charset="0"/>
                <a:ea typeface="Calibri" pitchFamily="34" charset="-122"/>
                <a:cs typeface="Calibri" pitchFamily="34" charset="-120"/>
              </a:rPr>
              <a:t>Bare “do not hallucinate” commands — they trigger over-refusal; use the out + citations instead</a:t>
            </a:r>
            <a:endParaRPr lang="en-US" sz="1050" dirty="0"/>
          </a:p>
        </p:txBody>
      </p:sp>
      <p:sp>
        <p:nvSpPr>
          <p:cNvPr id="22" name="Text 18"/>
          <p:cNvSpPr/>
          <p:nvPr/>
        </p:nvSpPr>
        <p:spPr>
          <a:xfrm>
            <a:off x="449884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4  </a:t>
            </a:r>
            <a:pPr indent="0" marL="0">
              <a:lnSpc>
                <a:spcPct val="100000"/>
              </a:lnSpc>
              <a:buNone/>
            </a:pPr>
            <a:r>
              <a:rPr lang="en-US" sz="890" dirty="0">
                <a:solidFill>
                  <a:srgbClr val="232A31"/>
                </a:solidFill>
                <a:latin typeface="Calibri" pitchFamily="34" charset="0"/>
                <a:ea typeface="Calibri" pitchFamily="34" charset="-122"/>
                <a:cs typeface="Calibri" pitchFamily="34" charset="-120"/>
              </a:rPr>
              <a:t>Revealing your preferred answer, or “are you sure?” as verification</a:t>
            </a:r>
            <a:endParaRPr lang="en-US" sz="1050" dirty="0"/>
          </a:p>
        </p:txBody>
      </p:sp>
      <p:sp>
        <p:nvSpPr>
          <p:cNvPr id="23" name="Text 19"/>
          <p:cNvSpPr/>
          <p:nvPr/>
        </p:nvSpPr>
        <p:spPr>
          <a:xfrm>
            <a:off x="449884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5  </a:t>
            </a:r>
            <a:pPr indent="0" marL="0">
              <a:lnSpc>
                <a:spcPct val="100000"/>
              </a:lnSpc>
              <a:buNone/>
            </a:pPr>
            <a:r>
              <a:rPr lang="en-US" sz="890" dirty="0">
                <a:solidFill>
                  <a:srgbClr val="232A31"/>
                </a:solidFill>
                <a:latin typeface="Calibri" pitchFamily="34" charset="0"/>
                <a:ea typeface="Calibri" pitchFamily="34" charset="-122"/>
                <a:cs typeface="Calibri" pitchFamily="34" charset="-120"/>
              </a:rPr>
              <a:t>Piling micro-rules — quality degrades past ~150 instructions; smallest prompt that keeps the contract</a:t>
            </a:r>
            <a:endParaRPr lang="en-US" sz="1050" dirty="0"/>
          </a:p>
        </p:txBody>
      </p:sp>
      <p:sp>
        <p:nvSpPr>
          <p:cNvPr id="24" name="Shape 20"/>
          <p:cNvSpPr/>
          <p:nvPr/>
        </p:nvSpPr>
        <p:spPr>
          <a:xfrm>
            <a:off x="8092440" y="1444752"/>
            <a:ext cx="3611880" cy="4370832"/>
          </a:xfrm>
          <a:prstGeom prst="roundRect">
            <a:avLst>
              <a:gd name="adj" fmla="val 2025"/>
            </a:avLst>
          </a:prstGeom>
          <a:solidFill>
            <a:srgbClr val="F2F5F6"/>
          </a:solidFill>
          <a:ln/>
        </p:spPr>
      </p:sp>
      <p:sp>
        <p:nvSpPr>
          <p:cNvPr id="25" name="Shape 21"/>
          <p:cNvSpPr/>
          <p:nvPr/>
        </p:nvSpPr>
        <p:spPr>
          <a:xfrm>
            <a:off x="8275320" y="1591056"/>
            <a:ext cx="384048" cy="384048"/>
          </a:xfrm>
          <a:prstGeom prst="ellipse">
            <a:avLst/>
          </a:prstGeom>
          <a:solidFill>
            <a:srgbClr val="46545F"/>
          </a:solidFill>
          <a:ln/>
        </p:spPr>
      </p:sp>
      <p:pic>
        <p:nvPicPr>
          <p:cNvPr id="26" name="Image 2" descr="/home/user/Claude-Works/ai-training-prompt-engineering/src/assets/icons/clock_w.png">    </p:cNvPr>
          <p:cNvPicPr>
            <a:picLocks noChangeAspect="1"/>
          </p:cNvPicPr>
          <p:nvPr/>
        </p:nvPicPr>
        <p:blipFill>
          <a:blip r:embed="rId3"/>
          <a:stretch>
            <a:fillRect/>
          </a:stretch>
        </p:blipFill>
        <p:spPr>
          <a:xfrm>
            <a:off x="8375172" y="1690908"/>
            <a:ext cx="184343" cy="184343"/>
          </a:xfrm>
          <a:prstGeom prst="rect">
            <a:avLst/>
          </a:prstGeom>
        </p:spPr>
      </p:pic>
      <p:sp>
        <p:nvSpPr>
          <p:cNvPr id="27" name="Text 22"/>
          <p:cNvSpPr/>
          <p:nvPr/>
        </p:nvSpPr>
        <p:spPr>
          <a:xfrm>
            <a:off x="875080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EXPIRED — was right in 2023</a:t>
            </a:r>
            <a:endParaRPr lang="en-US" sz="1250" dirty="0"/>
          </a:p>
        </p:txBody>
      </p:sp>
      <p:sp>
        <p:nvSpPr>
          <p:cNvPr id="28" name="Text 23"/>
          <p:cNvSpPr/>
          <p:nvPr/>
        </p:nvSpPr>
        <p:spPr>
          <a:xfrm>
            <a:off x="829360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1  </a:t>
            </a:r>
            <a:pPr indent="0" marL="0">
              <a:lnSpc>
                <a:spcPct val="100000"/>
              </a:lnSpc>
              <a:buNone/>
            </a:pPr>
            <a:r>
              <a:rPr lang="en-US" sz="890" dirty="0">
                <a:solidFill>
                  <a:srgbClr val="46545F"/>
                </a:solidFill>
                <a:latin typeface="Calibri" pitchFamily="34" charset="0"/>
                <a:ea typeface="Calibri" pitchFamily="34" charset="-122"/>
                <a:cs typeface="Calibri" pitchFamily="34" charset="-120"/>
              </a:rPr>
              <a:t>“Think step by step” → pick a reasoning model, set the effort dial</a:t>
            </a:r>
            <a:endParaRPr lang="en-US" sz="1050" dirty="0"/>
          </a:p>
        </p:txBody>
      </p:sp>
      <p:sp>
        <p:nvSpPr>
          <p:cNvPr id="29" name="Text 24"/>
          <p:cNvSpPr/>
          <p:nvPr/>
        </p:nvSpPr>
        <p:spPr>
          <a:xfrm>
            <a:off x="829360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2  </a:t>
            </a:r>
            <a:pPr indent="0" marL="0">
              <a:lnSpc>
                <a:spcPct val="100000"/>
              </a:lnSpc>
              <a:buNone/>
            </a:pPr>
            <a:r>
              <a:rPr lang="en-US" sz="890" dirty="0">
                <a:solidFill>
                  <a:srgbClr val="46545F"/>
                </a:solidFill>
                <a:latin typeface="Calibri" pitchFamily="34" charset="0"/>
                <a:ea typeface="Calibri" pitchFamily="34" charset="-122"/>
                <a:cs typeface="Calibri" pitchFamily="34" charset="-120"/>
              </a:rPr>
              <a:t>Piles of examples → zero-shot first, then 3–5 format-definers</a:t>
            </a:r>
            <a:endParaRPr lang="en-US" sz="1050" dirty="0"/>
          </a:p>
        </p:txBody>
      </p:sp>
      <p:sp>
        <p:nvSpPr>
          <p:cNvPr id="30" name="Text 25"/>
          <p:cNvSpPr/>
          <p:nvPr/>
        </p:nvSpPr>
        <p:spPr>
          <a:xfrm>
            <a:off x="829360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3  </a:t>
            </a:r>
            <a:pPr indent="0" marL="0">
              <a:lnSpc>
                <a:spcPct val="100000"/>
              </a:lnSpc>
              <a:buNone/>
            </a:pPr>
            <a:r>
              <a:rPr lang="en-US" sz="890" dirty="0">
                <a:solidFill>
                  <a:srgbClr val="46545F"/>
                </a:solidFill>
                <a:latin typeface="Calibri" pitchFamily="34" charset="0"/>
                <a:ea typeface="Calibri" pitchFamily="34" charset="-122"/>
                <a:cs typeface="Calibri" pitchFamily="34" charset="-120"/>
              </a:rPr>
              <a:t>“You are a world-class expert” for accuracy → persona for voice only</a:t>
            </a:r>
            <a:endParaRPr lang="en-US" sz="1050" dirty="0"/>
          </a:p>
        </p:txBody>
      </p:sp>
      <p:sp>
        <p:nvSpPr>
          <p:cNvPr id="31" name="Text 26"/>
          <p:cNvSpPr/>
          <p:nvPr/>
        </p:nvSpPr>
        <p:spPr>
          <a:xfrm>
            <a:off x="829360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4  </a:t>
            </a:r>
            <a:pPr indent="0" marL="0">
              <a:lnSpc>
                <a:spcPct val="100000"/>
              </a:lnSpc>
              <a:buNone/>
            </a:pPr>
            <a:r>
              <a:rPr lang="en-US" sz="890" dirty="0">
                <a:solidFill>
                  <a:srgbClr val="46545F"/>
                </a:solidFill>
                <a:latin typeface="Calibri" pitchFamily="34" charset="0"/>
                <a:ea typeface="Calibri" pitchFamily="34" charset="-122"/>
                <a:cs typeface="Calibri" pitchFamily="34" charset="-120"/>
              </a:rPr>
              <a:t>Magic phrases (“take a deep breath”, “my career depends on it”) → clarity; real stakes as factual context</a:t>
            </a:r>
            <a:endParaRPr lang="en-US" sz="1050" dirty="0"/>
          </a:p>
        </p:txBody>
      </p:sp>
      <p:sp>
        <p:nvSpPr>
          <p:cNvPr id="32" name="Text 27"/>
          <p:cNvSpPr/>
          <p:nvPr/>
        </p:nvSpPr>
        <p:spPr>
          <a:xfrm>
            <a:off x="829360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5  </a:t>
            </a:r>
            <a:pPr indent="0" marL="0">
              <a:lnSpc>
                <a:spcPct val="100000"/>
              </a:lnSpc>
              <a:buNone/>
            </a:pPr>
            <a:r>
              <a:rPr lang="en-US" sz="890" dirty="0">
                <a:solidFill>
                  <a:srgbClr val="46545F"/>
                </a:solidFill>
                <a:latin typeface="Calibri" pitchFamily="34" charset="0"/>
                <a:ea typeface="Calibri" pitchFamily="34" charset="-122"/>
                <a:cs typeface="Calibri" pitchFamily="34" charset="-120"/>
              </a:rPr>
              <a:t>Carrying your 2023 prompt stack to each new model → re-baseline on every upgrade (next slide’s loop)</a:t>
            </a:r>
            <a:endParaRPr lang="en-US" sz="1050" dirty="0"/>
          </a:p>
        </p:txBody>
      </p:sp>
      <p:sp>
        <p:nvSpPr>
          <p:cNvPr id="33" name="Shape 28"/>
          <p:cNvSpPr/>
          <p:nvPr/>
        </p:nvSpPr>
        <p:spPr>
          <a:xfrm>
            <a:off x="502920" y="5943600"/>
            <a:ext cx="11155680" cy="548640"/>
          </a:xfrm>
          <a:prstGeom prst="roundRect">
            <a:avLst>
              <a:gd name="adj" fmla="val 13333"/>
            </a:avLst>
          </a:prstGeom>
          <a:solidFill>
            <a:srgbClr val="E4F0EF"/>
          </a:solidFill>
          <a:ln/>
        </p:spPr>
      </p:sp>
      <p:sp>
        <p:nvSpPr>
          <p:cNvPr id="34" name="Shape 29"/>
          <p:cNvSpPr/>
          <p:nvPr/>
        </p:nvSpPr>
        <p:spPr>
          <a:xfrm>
            <a:off x="667512" y="6025896"/>
            <a:ext cx="384048" cy="384048"/>
          </a:xfrm>
          <a:prstGeom prst="ellipse">
            <a:avLst/>
          </a:prstGeom>
          <a:solidFill>
            <a:srgbClr val="0E7C7B"/>
          </a:solidFill>
          <a:ln/>
        </p:spPr>
      </p:sp>
      <p:pic>
        <p:nvPicPr>
          <p:cNvPr id="35" name="Image 3" descr="/home/user/Claude-Works/ai-training-prompt-engineering/src/assets/icons/download_w.png">    </p:cNvPr>
          <p:cNvPicPr>
            <a:picLocks noChangeAspect="1"/>
          </p:cNvPicPr>
          <p:nvPr/>
        </p:nvPicPr>
        <p:blipFill>
          <a:blip r:embed="rId4"/>
          <a:stretch>
            <a:fillRect/>
          </a:stretch>
        </p:blipFill>
        <p:spPr>
          <a:xfrm>
            <a:off x="767364" y="6125748"/>
            <a:ext cx="184343" cy="184343"/>
          </a:xfrm>
          <a:prstGeom prst="rect">
            <a:avLst/>
          </a:prstGeom>
        </p:spPr>
      </p:pic>
      <p:sp>
        <p:nvSpPr>
          <p:cNvPr id="36" name="Text 30"/>
          <p:cNvSpPr/>
          <p:nvPr/>
        </p:nvSpPr>
        <p:spPr>
          <a:xfrm>
            <a:off x="1216152" y="6016752"/>
            <a:ext cx="10213848" cy="40233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full 8 + 8 + 8, with the study behind every line: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tab PLAYBOOK of your Course Workbook — plus the one-page printout in your pack. Notice column 1, rule 4 IS column 2, rule 3 said positively: say what TO do.</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ITERATION</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32</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RUNNING THE LOOP · DRAFT → INSPECT → REFINE → STANDARDIZE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PDCA in practice</a:t>
            </a:r>
            <a:endParaRPr lang="en-US" sz="3000" dirty="0"/>
          </a:p>
        </p:txBody>
      </p:sp>
      <p:sp>
        <p:nvSpPr>
          <p:cNvPr id="6" name="Shape 4"/>
          <p:cNvSpPr/>
          <p:nvPr/>
        </p:nvSpPr>
        <p:spPr>
          <a:xfrm>
            <a:off x="502920" y="1481328"/>
            <a:ext cx="2651760" cy="1737360"/>
          </a:xfrm>
          <a:prstGeom prst="roundRect">
            <a:avLst>
              <a:gd name="adj" fmla="val 4211"/>
            </a:avLst>
          </a:prstGeom>
          <a:solidFill>
            <a:srgbClr val="F2F5F6"/>
          </a:solidFill>
          <a:ln/>
        </p:spPr>
      </p:sp>
      <p:sp>
        <p:nvSpPr>
          <p:cNvPr id="7" name="Shape 5"/>
          <p:cNvSpPr/>
          <p:nvPr/>
        </p:nvSpPr>
        <p:spPr>
          <a:xfrm>
            <a:off x="685800" y="1627632"/>
            <a:ext cx="402336" cy="402336"/>
          </a:xfrm>
          <a:prstGeom prst="ellipse">
            <a:avLst/>
          </a:prstGeom>
          <a:solidFill>
            <a:srgbClr val="0E7C7B"/>
          </a:solidFill>
          <a:ln/>
        </p:spPr>
      </p:sp>
      <p:pic>
        <p:nvPicPr>
          <p:cNvPr id="8" name="Image 0" descr="/home/user/Claude-Works/ai-training-prompt-engineering/src/assets/icons/edit_w.png">    </p:cNvPr>
          <p:cNvPicPr>
            <a:picLocks noChangeAspect="1"/>
          </p:cNvPicPr>
          <p:nvPr/>
        </p:nvPicPr>
        <p:blipFill>
          <a:blip r:embed="rId1"/>
          <a:stretch>
            <a:fillRect/>
          </a:stretch>
        </p:blipFill>
        <p:spPr>
          <a:xfrm>
            <a:off x="790407" y="1732239"/>
            <a:ext cx="193121" cy="193121"/>
          </a:xfrm>
          <a:prstGeom prst="rect">
            <a:avLst/>
          </a:prstGeom>
        </p:spPr>
      </p:pic>
      <p:sp>
        <p:nvSpPr>
          <p:cNvPr id="9" name="Text 6"/>
          <p:cNvSpPr/>
          <p:nvPr/>
        </p:nvSpPr>
        <p:spPr>
          <a:xfrm>
            <a:off x="1179576" y="1664208"/>
            <a:ext cx="1920240" cy="320040"/>
          </a:xfrm>
          <a:prstGeom prst="rect">
            <a:avLst/>
          </a:prstGeom>
          <a:noFill/>
          <a:ln/>
        </p:spPr>
        <p:txBody>
          <a:bodyPr wrap="square" lIns="0" tIns="0" rIns="0" bIns="0" rtlCol="0" anchor="ctr"/>
          <a:lstStyle/>
          <a:p>
            <a:pPr indent="0" marL="0">
              <a:buNone/>
            </a:pPr>
            <a:r>
              <a:rPr lang="en-US" sz="1300" b="1" dirty="0">
                <a:solidFill>
                  <a:srgbClr val="232A31"/>
                </a:solidFill>
                <a:latin typeface="Cambria" pitchFamily="34" charset="0"/>
                <a:ea typeface="Cambria" pitchFamily="34" charset="-122"/>
                <a:cs typeface="Cambria" pitchFamily="34" charset="-120"/>
              </a:rPr>
              <a:t>1 · Draft</a:t>
            </a:r>
            <a:endParaRPr lang="en-US" sz="1300" dirty="0"/>
          </a:p>
        </p:txBody>
      </p:sp>
      <p:sp>
        <p:nvSpPr>
          <p:cNvPr id="10" name="Shape 7"/>
          <p:cNvSpPr/>
          <p:nvPr/>
        </p:nvSpPr>
        <p:spPr>
          <a:xfrm>
            <a:off x="685800" y="2103120"/>
            <a:ext cx="1371600" cy="256032"/>
          </a:xfrm>
          <a:prstGeom prst="roundRect">
            <a:avLst>
              <a:gd name="adj" fmla="val 21429"/>
            </a:avLst>
          </a:prstGeom>
          <a:solidFill>
            <a:srgbClr val="FBF0E0"/>
          </a:solidFill>
          <a:ln w="7620">
            <a:solidFill>
              <a:srgbClr val="B96A1B"/>
            </a:solidFill>
            <a:prstDash val="solid"/>
          </a:ln>
        </p:spPr>
      </p:sp>
      <p:sp>
        <p:nvSpPr>
          <p:cNvPr id="11" name="Text 8"/>
          <p:cNvSpPr/>
          <p:nvPr/>
        </p:nvSpPr>
        <p:spPr>
          <a:xfrm>
            <a:off x="685800" y="2112264"/>
            <a:ext cx="1371600" cy="237744"/>
          </a:xfrm>
          <a:prstGeom prst="rect">
            <a:avLst/>
          </a:prstGeom>
          <a:noFill/>
          <a:ln/>
        </p:spPr>
        <p:txBody>
          <a:bodyPr wrap="square" lIns="0" tIns="0" rIns="0" bIns="0" rtlCol="0" anchor="ctr"/>
          <a:lstStyle/>
          <a:p>
            <a:pPr algn="ctr" indent="0" marL="0">
              <a:buNone/>
            </a:pPr>
            <a:r>
              <a:rPr lang="en-US" sz="750" b="1" spc="50" kern="0" dirty="0">
                <a:solidFill>
                  <a:srgbClr val="B96A1B"/>
                </a:solidFill>
                <a:latin typeface="Calibri" pitchFamily="34" charset="0"/>
                <a:ea typeface="Calibri" pitchFamily="34" charset="-122"/>
                <a:cs typeface="Calibri" pitchFamily="34" charset="-120"/>
              </a:rPr>
              <a:t>PLAN + DO</a:t>
            </a:r>
            <a:endParaRPr lang="en-US" sz="750" dirty="0"/>
          </a:p>
        </p:txBody>
      </p:sp>
      <p:sp>
        <p:nvSpPr>
          <p:cNvPr id="12" name="Text 9"/>
          <p:cNvSpPr/>
          <p:nvPr/>
        </p:nvSpPr>
        <p:spPr>
          <a:xfrm>
            <a:off x="685800" y="2414016"/>
            <a:ext cx="2331720" cy="777240"/>
          </a:xfrm>
          <a:prstGeom prst="rect">
            <a:avLst/>
          </a:prstGeom>
          <a:noFill/>
          <a:ln/>
        </p:spPr>
        <p:txBody>
          <a:bodyPr wrap="square" lIns="0" tIns="0" rIns="0" bIns="0" rtlCol="0" anchor="ctr"/>
          <a:lstStyle/>
          <a:p>
            <a:pPr indent="0" marL="0">
              <a:lnSpc>
                <a:spcPct val="100000"/>
              </a:lnSpc>
              <a:buNone/>
            </a:pPr>
            <a:r>
              <a:rPr lang="en-US" sz="890" dirty="0">
                <a:solidFill>
                  <a:srgbClr val="46545F"/>
                </a:solidFill>
                <a:latin typeface="Calibri" pitchFamily="34" charset="0"/>
                <a:ea typeface="Calibri" pitchFamily="34" charset="-122"/>
                <a:cs typeface="Calibri" pitchFamily="34" charset="-120"/>
              </a:rPr>
              <a:t>Write the prompt with the anatomy — or bullet what you want and let the AI draft it (the PLAN methods).</a:t>
            </a:r>
            <a:endParaRPr lang="en-US" sz="890" dirty="0"/>
          </a:p>
        </p:txBody>
      </p:sp>
      <p:sp>
        <p:nvSpPr>
          <p:cNvPr id="13" name="Shape 10"/>
          <p:cNvSpPr/>
          <p:nvPr/>
        </p:nvSpPr>
        <p:spPr>
          <a:xfrm>
            <a:off x="3291840" y="1481328"/>
            <a:ext cx="2651760" cy="1737360"/>
          </a:xfrm>
          <a:prstGeom prst="roundRect">
            <a:avLst>
              <a:gd name="adj" fmla="val 4211"/>
            </a:avLst>
          </a:prstGeom>
          <a:solidFill>
            <a:srgbClr val="F2F5F6"/>
          </a:solidFill>
          <a:ln/>
        </p:spPr>
      </p:sp>
      <p:sp>
        <p:nvSpPr>
          <p:cNvPr id="14" name="Shape 11"/>
          <p:cNvSpPr/>
          <p:nvPr/>
        </p:nvSpPr>
        <p:spPr>
          <a:xfrm>
            <a:off x="3474720" y="1627632"/>
            <a:ext cx="402336" cy="402336"/>
          </a:xfrm>
          <a:prstGeom prst="ellipse">
            <a:avLst/>
          </a:prstGeom>
          <a:solidFill>
            <a:srgbClr val="0E7C7B"/>
          </a:solidFill>
          <a:ln/>
        </p:spPr>
      </p:sp>
      <p:pic>
        <p:nvPicPr>
          <p:cNvPr id="15" name="Image 1" descr="/home/user/Claude-Works/ai-training-prompt-engineering/src/assets/icons/eye_w.png">    </p:cNvPr>
          <p:cNvPicPr>
            <a:picLocks noChangeAspect="1"/>
          </p:cNvPicPr>
          <p:nvPr/>
        </p:nvPicPr>
        <p:blipFill>
          <a:blip r:embed="rId2"/>
          <a:stretch>
            <a:fillRect/>
          </a:stretch>
        </p:blipFill>
        <p:spPr>
          <a:xfrm>
            <a:off x="3579327" y="1732239"/>
            <a:ext cx="193121" cy="193121"/>
          </a:xfrm>
          <a:prstGeom prst="rect">
            <a:avLst/>
          </a:prstGeom>
        </p:spPr>
      </p:pic>
      <p:sp>
        <p:nvSpPr>
          <p:cNvPr id="16" name="Text 12"/>
          <p:cNvSpPr/>
          <p:nvPr/>
        </p:nvSpPr>
        <p:spPr>
          <a:xfrm>
            <a:off x="3968496" y="1664208"/>
            <a:ext cx="1920240" cy="320040"/>
          </a:xfrm>
          <a:prstGeom prst="rect">
            <a:avLst/>
          </a:prstGeom>
          <a:noFill/>
          <a:ln/>
        </p:spPr>
        <p:txBody>
          <a:bodyPr wrap="square" lIns="0" tIns="0" rIns="0" bIns="0" rtlCol="0" anchor="ctr"/>
          <a:lstStyle/>
          <a:p>
            <a:pPr indent="0" marL="0">
              <a:buNone/>
            </a:pPr>
            <a:r>
              <a:rPr lang="en-US" sz="1300" b="1" dirty="0">
                <a:solidFill>
                  <a:srgbClr val="232A31"/>
                </a:solidFill>
                <a:latin typeface="Cambria" pitchFamily="34" charset="0"/>
                <a:ea typeface="Cambria" pitchFamily="34" charset="-122"/>
                <a:cs typeface="Cambria" pitchFamily="34" charset="-120"/>
              </a:rPr>
              <a:t>2 · Inspect</a:t>
            </a:r>
            <a:endParaRPr lang="en-US" sz="1300" dirty="0"/>
          </a:p>
        </p:txBody>
      </p:sp>
      <p:sp>
        <p:nvSpPr>
          <p:cNvPr id="17" name="Shape 13"/>
          <p:cNvSpPr/>
          <p:nvPr/>
        </p:nvSpPr>
        <p:spPr>
          <a:xfrm>
            <a:off x="3474720" y="2103120"/>
            <a:ext cx="1371600" cy="256032"/>
          </a:xfrm>
          <a:prstGeom prst="roundRect">
            <a:avLst>
              <a:gd name="adj" fmla="val 21429"/>
            </a:avLst>
          </a:prstGeom>
          <a:solidFill>
            <a:srgbClr val="FBF0E0"/>
          </a:solidFill>
          <a:ln w="7620">
            <a:solidFill>
              <a:srgbClr val="B96A1B"/>
            </a:solidFill>
            <a:prstDash val="solid"/>
          </a:ln>
        </p:spPr>
      </p:sp>
      <p:sp>
        <p:nvSpPr>
          <p:cNvPr id="18" name="Text 14"/>
          <p:cNvSpPr/>
          <p:nvPr/>
        </p:nvSpPr>
        <p:spPr>
          <a:xfrm>
            <a:off x="3474720" y="2112264"/>
            <a:ext cx="1371600" cy="237744"/>
          </a:xfrm>
          <a:prstGeom prst="rect">
            <a:avLst/>
          </a:prstGeom>
          <a:noFill/>
          <a:ln/>
        </p:spPr>
        <p:txBody>
          <a:bodyPr wrap="square" lIns="0" tIns="0" rIns="0" bIns="0" rtlCol="0" anchor="ctr"/>
          <a:lstStyle/>
          <a:p>
            <a:pPr algn="ctr" indent="0" marL="0">
              <a:buNone/>
            </a:pPr>
            <a:r>
              <a:rPr lang="en-US" sz="750" b="1" spc="50" kern="0" dirty="0">
                <a:solidFill>
                  <a:srgbClr val="B96A1B"/>
                </a:solidFill>
                <a:latin typeface="Calibri" pitchFamily="34" charset="0"/>
                <a:ea typeface="Calibri" pitchFamily="34" charset="-122"/>
                <a:cs typeface="Calibri" pitchFamily="34" charset="-120"/>
              </a:rPr>
              <a:t>CHECK</a:t>
            </a:r>
            <a:endParaRPr lang="en-US" sz="750" dirty="0"/>
          </a:p>
        </p:txBody>
      </p:sp>
      <p:sp>
        <p:nvSpPr>
          <p:cNvPr id="19" name="Text 15"/>
          <p:cNvSpPr/>
          <p:nvPr/>
        </p:nvSpPr>
        <p:spPr>
          <a:xfrm>
            <a:off x="3474720" y="2414016"/>
            <a:ext cx="2331720" cy="777240"/>
          </a:xfrm>
          <a:prstGeom prst="rect">
            <a:avLst/>
          </a:prstGeom>
          <a:noFill/>
          <a:ln/>
        </p:spPr>
        <p:txBody>
          <a:bodyPr wrap="square" lIns="0" tIns="0" rIns="0" bIns="0" rtlCol="0" anchor="ctr"/>
          <a:lstStyle/>
          <a:p>
            <a:pPr indent="0" marL="0">
              <a:lnSpc>
                <a:spcPct val="100000"/>
              </a:lnSpc>
              <a:buNone/>
            </a:pPr>
            <a:r>
              <a:rPr lang="en-US" sz="890" dirty="0">
                <a:solidFill>
                  <a:srgbClr val="46545F"/>
                </a:solidFill>
                <a:latin typeface="Calibri" pitchFamily="34" charset="0"/>
                <a:ea typeface="Calibri" pitchFamily="34" charset="-122"/>
                <a:cs typeface="Calibri" pitchFamily="34" charset="-120"/>
              </a:rPr>
              <a:t>Don’t reword at random: name the failed element with the grid → or self-check against named criteria (CHECK).</a:t>
            </a:r>
            <a:endParaRPr lang="en-US" sz="890" dirty="0"/>
          </a:p>
        </p:txBody>
      </p:sp>
      <p:sp>
        <p:nvSpPr>
          <p:cNvPr id="20" name="Shape 16"/>
          <p:cNvSpPr/>
          <p:nvPr/>
        </p:nvSpPr>
        <p:spPr>
          <a:xfrm>
            <a:off x="502920" y="3355848"/>
            <a:ext cx="2651760" cy="1737360"/>
          </a:xfrm>
          <a:prstGeom prst="roundRect">
            <a:avLst>
              <a:gd name="adj" fmla="val 4211"/>
            </a:avLst>
          </a:prstGeom>
          <a:solidFill>
            <a:srgbClr val="F2F5F6"/>
          </a:solidFill>
          <a:ln/>
        </p:spPr>
      </p:sp>
      <p:sp>
        <p:nvSpPr>
          <p:cNvPr id="21" name="Shape 17"/>
          <p:cNvSpPr/>
          <p:nvPr/>
        </p:nvSpPr>
        <p:spPr>
          <a:xfrm>
            <a:off x="685800" y="3502152"/>
            <a:ext cx="402336" cy="402336"/>
          </a:xfrm>
          <a:prstGeom prst="ellipse">
            <a:avLst/>
          </a:prstGeom>
          <a:solidFill>
            <a:srgbClr val="0E7C7B"/>
          </a:solidFill>
          <a:ln/>
        </p:spPr>
      </p:sp>
      <p:pic>
        <p:nvPicPr>
          <p:cNvPr id="22" name="Image 2" descr="/home/user/Claude-Works/ai-training-prompt-engineering/src/assets/icons/refresh_w.png">    </p:cNvPr>
          <p:cNvPicPr>
            <a:picLocks noChangeAspect="1"/>
          </p:cNvPicPr>
          <p:nvPr/>
        </p:nvPicPr>
        <p:blipFill>
          <a:blip r:embed="rId3"/>
          <a:stretch>
            <a:fillRect/>
          </a:stretch>
        </p:blipFill>
        <p:spPr>
          <a:xfrm>
            <a:off x="790407" y="3606759"/>
            <a:ext cx="193121" cy="193121"/>
          </a:xfrm>
          <a:prstGeom prst="rect">
            <a:avLst/>
          </a:prstGeom>
        </p:spPr>
      </p:pic>
      <p:sp>
        <p:nvSpPr>
          <p:cNvPr id="23" name="Text 18"/>
          <p:cNvSpPr/>
          <p:nvPr/>
        </p:nvSpPr>
        <p:spPr>
          <a:xfrm>
            <a:off x="1179576" y="3538728"/>
            <a:ext cx="1920240" cy="320040"/>
          </a:xfrm>
          <a:prstGeom prst="rect">
            <a:avLst/>
          </a:prstGeom>
          <a:noFill/>
          <a:ln/>
        </p:spPr>
        <p:txBody>
          <a:bodyPr wrap="square" lIns="0" tIns="0" rIns="0" bIns="0" rtlCol="0" anchor="ctr"/>
          <a:lstStyle/>
          <a:p>
            <a:pPr indent="0" marL="0">
              <a:buNone/>
            </a:pPr>
            <a:r>
              <a:rPr lang="en-US" sz="1300" b="1" dirty="0">
                <a:solidFill>
                  <a:srgbClr val="232A31"/>
                </a:solidFill>
                <a:latin typeface="Cambria" pitchFamily="34" charset="0"/>
                <a:ea typeface="Cambria" pitchFamily="34" charset="-122"/>
                <a:cs typeface="Cambria" pitchFamily="34" charset="-120"/>
              </a:rPr>
              <a:t>3 · Refine</a:t>
            </a:r>
            <a:endParaRPr lang="en-US" sz="1300" dirty="0"/>
          </a:p>
        </p:txBody>
      </p:sp>
      <p:sp>
        <p:nvSpPr>
          <p:cNvPr id="24" name="Shape 19"/>
          <p:cNvSpPr/>
          <p:nvPr/>
        </p:nvSpPr>
        <p:spPr>
          <a:xfrm>
            <a:off x="685800" y="3977640"/>
            <a:ext cx="1371600" cy="256032"/>
          </a:xfrm>
          <a:prstGeom prst="roundRect">
            <a:avLst>
              <a:gd name="adj" fmla="val 21429"/>
            </a:avLst>
          </a:prstGeom>
          <a:solidFill>
            <a:srgbClr val="FBF0E0"/>
          </a:solidFill>
          <a:ln w="7620">
            <a:solidFill>
              <a:srgbClr val="B96A1B"/>
            </a:solidFill>
            <a:prstDash val="solid"/>
          </a:ln>
        </p:spPr>
      </p:sp>
      <p:sp>
        <p:nvSpPr>
          <p:cNvPr id="25" name="Text 20"/>
          <p:cNvSpPr/>
          <p:nvPr/>
        </p:nvSpPr>
        <p:spPr>
          <a:xfrm>
            <a:off x="685800" y="3986784"/>
            <a:ext cx="1371600" cy="237744"/>
          </a:xfrm>
          <a:prstGeom prst="rect">
            <a:avLst/>
          </a:prstGeom>
          <a:noFill/>
          <a:ln/>
        </p:spPr>
        <p:txBody>
          <a:bodyPr wrap="square" lIns="0" tIns="0" rIns="0" bIns="0" rtlCol="0" anchor="ctr"/>
          <a:lstStyle/>
          <a:p>
            <a:pPr algn="ctr" indent="0" marL="0">
              <a:buNone/>
            </a:pPr>
            <a:r>
              <a:rPr lang="en-US" sz="750" b="1" spc="50" kern="0" dirty="0">
                <a:solidFill>
                  <a:srgbClr val="B96A1B"/>
                </a:solidFill>
                <a:latin typeface="Calibri" pitchFamily="34" charset="0"/>
                <a:ea typeface="Calibri" pitchFamily="34" charset="-122"/>
                <a:cs typeface="Calibri" pitchFamily="34" charset="-120"/>
              </a:rPr>
              <a:t>ACT</a:t>
            </a:r>
            <a:endParaRPr lang="en-US" sz="750" dirty="0"/>
          </a:p>
        </p:txBody>
      </p:sp>
      <p:sp>
        <p:nvSpPr>
          <p:cNvPr id="26" name="Text 21"/>
          <p:cNvSpPr/>
          <p:nvPr/>
        </p:nvSpPr>
        <p:spPr>
          <a:xfrm>
            <a:off x="685800" y="4288536"/>
            <a:ext cx="2331720" cy="777240"/>
          </a:xfrm>
          <a:prstGeom prst="rect">
            <a:avLst/>
          </a:prstGeom>
          <a:noFill/>
          <a:ln/>
        </p:spPr>
        <p:txBody>
          <a:bodyPr wrap="square" lIns="0" tIns="0" rIns="0" bIns="0" rtlCol="0" anchor="ctr"/>
          <a:lstStyle/>
          <a:p>
            <a:pPr indent="0" marL="0">
              <a:lnSpc>
                <a:spcPct val="100000"/>
              </a:lnSpc>
              <a:buNone/>
            </a:pPr>
            <a:r>
              <a:rPr lang="en-US" sz="890" dirty="0">
                <a:solidFill>
                  <a:srgbClr val="46545F"/>
                </a:solidFill>
                <a:latin typeface="Calibri" pitchFamily="34" charset="0"/>
                <a:ea typeface="Calibri" pitchFamily="34" charset="-122"/>
                <a:cs typeface="Calibri" pitchFamily="34" charset="-120"/>
              </a:rPr>
              <a:t>Fix that ONE element — or metaprompt: “rewrite this prompt so it more consistently produces X” (ACT).</a:t>
            </a:r>
            <a:endParaRPr lang="en-US" sz="890" dirty="0"/>
          </a:p>
        </p:txBody>
      </p:sp>
      <p:sp>
        <p:nvSpPr>
          <p:cNvPr id="27" name="Shape 22"/>
          <p:cNvSpPr/>
          <p:nvPr/>
        </p:nvSpPr>
        <p:spPr>
          <a:xfrm>
            <a:off x="3291840" y="3355848"/>
            <a:ext cx="2651760" cy="1737360"/>
          </a:xfrm>
          <a:prstGeom prst="roundRect">
            <a:avLst>
              <a:gd name="adj" fmla="val 4211"/>
            </a:avLst>
          </a:prstGeom>
          <a:solidFill>
            <a:srgbClr val="E4F0EF"/>
          </a:solidFill>
          <a:ln/>
        </p:spPr>
      </p:sp>
      <p:sp>
        <p:nvSpPr>
          <p:cNvPr id="28" name="Shape 23"/>
          <p:cNvSpPr/>
          <p:nvPr/>
        </p:nvSpPr>
        <p:spPr>
          <a:xfrm>
            <a:off x="3474720" y="3502152"/>
            <a:ext cx="402336" cy="402336"/>
          </a:xfrm>
          <a:prstGeom prst="ellipse">
            <a:avLst/>
          </a:prstGeom>
          <a:solidFill>
            <a:srgbClr val="0E7C7B"/>
          </a:solidFill>
          <a:ln/>
        </p:spPr>
      </p:sp>
      <p:pic>
        <p:nvPicPr>
          <p:cNvPr id="29" name="Image 3" descr="/home/user/Claude-Works/ai-training-prompt-engineering/src/assets/icons/save_w.png">    </p:cNvPr>
          <p:cNvPicPr>
            <a:picLocks noChangeAspect="1"/>
          </p:cNvPicPr>
          <p:nvPr/>
        </p:nvPicPr>
        <p:blipFill>
          <a:blip r:embed="rId4"/>
          <a:stretch>
            <a:fillRect/>
          </a:stretch>
        </p:blipFill>
        <p:spPr>
          <a:xfrm>
            <a:off x="3579327" y="3606759"/>
            <a:ext cx="193121" cy="193121"/>
          </a:xfrm>
          <a:prstGeom prst="rect">
            <a:avLst/>
          </a:prstGeom>
        </p:spPr>
      </p:pic>
      <p:sp>
        <p:nvSpPr>
          <p:cNvPr id="30" name="Text 24"/>
          <p:cNvSpPr/>
          <p:nvPr/>
        </p:nvSpPr>
        <p:spPr>
          <a:xfrm>
            <a:off x="3968496" y="3538728"/>
            <a:ext cx="1920240" cy="320040"/>
          </a:xfrm>
          <a:prstGeom prst="rect">
            <a:avLst/>
          </a:prstGeom>
          <a:noFill/>
          <a:ln/>
        </p:spPr>
        <p:txBody>
          <a:bodyPr wrap="square" lIns="0" tIns="0" rIns="0" bIns="0" rtlCol="0" anchor="ctr"/>
          <a:lstStyle/>
          <a:p>
            <a:pPr indent="0" marL="0">
              <a:buNone/>
            </a:pPr>
            <a:r>
              <a:rPr lang="en-US" sz="1300" b="1" dirty="0">
                <a:solidFill>
                  <a:srgbClr val="232A31"/>
                </a:solidFill>
                <a:latin typeface="Cambria" pitchFamily="34" charset="0"/>
                <a:ea typeface="Cambria" pitchFamily="34" charset="-122"/>
                <a:cs typeface="Cambria" pitchFamily="34" charset="-120"/>
              </a:rPr>
              <a:t>4 · Standardize</a:t>
            </a:r>
            <a:endParaRPr lang="en-US" sz="1300" dirty="0"/>
          </a:p>
        </p:txBody>
      </p:sp>
      <p:sp>
        <p:nvSpPr>
          <p:cNvPr id="31" name="Shape 25"/>
          <p:cNvSpPr/>
          <p:nvPr/>
        </p:nvSpPr>
        <p:spPr>
          <a:xfrm>
            <a:off x="3474720" y="3977640"/>
            <a:ext cx="1371600" cy="256032"/>
          </a:xfrm>
          <a:prstGeom prst="roundRect">
            <a:avLst>
              <a:gd name="adj" fmla="val 21429"/>
            </a:avLst>
          </a:prstGeom>
          <a:solidFill>
            <a:srgbClr val="FBF0E0"/>
          </a:solidFill>
          <a:ln w="7620">
            <a:solidFill>
              <a:srgbClr val="B96A1B"/>
            </a:solidFill>
            <a:prstDash val="solid"/>
          </a:ln>
        </p:spPr>
      </p:sp>
      <p:sp>
        <p:nvSpPr>
          <p:cNvPr id="32" name="Text 26"/>
          <p:cNvSpPr/>
          <p:nvPr/>
        </p:nvSpPr>
        <p:spPr>
          <a:xfrm>
            <a:off x="3474720" y="3986784"/>
            <a:ext cx="1371600" cy="237744"/>
          </a:xfrm>
          <a:prstGeom prst="rect">
            <a:avLst/>
          </a:prstGeom>
          <a:noFill/>
          <a:ln/>
        </p:spPr>
        <p:txBody>
          <a:bodyPr wrap="square" lIns="0" tIns="0" rIns="0" bIns="0" rtlCol="0" anchor="ctr"/>
          <a:lstStyle/>
          <a:p>
            <a:pPr algn="ctr" indent="0" marL="0">
              <a:buNone/>
            </a:pPr>
            <a:r>
              <a:rPr lang="en-US" sz="750" b="1" spc="50" kern="0" dirty="0">
                <a:solidFill>
                  <a:srgbClr val="B96A1B"/>
                </a:solidFill>
                <a:latin typeface="Calibri" pitchFamily="34" charset="0"/>
                <a:ea typeface="Calibri" pitchFamily="34" charset="-122"/>
                <a:cs typeface="Calibri" pitchFamily="34" charset="-120"/>
              </a:rPr>
              <a:t>STANDARD WORK</a:t>
            </a:r>
            <a:endParaRPr lang="en-US" sz="750" dirty="0"/>
          </a:p>
        </p:txBody>
      </p:sp>
      <p:sp>
        <p:nvSpPr>
          <p:cNvPr id="33" name="Text 27"/>
          <p:cNvSpPr/>
          <p:nvPr/>
        </p:nvSpPr>
        <p:spPr>
          <a:xfrm>
            <a:off x="3474720" y="4288536"/>
            <a:ext cx="2331720" cy="777240"/>
          </a:xfrm>
          <a:prstGeom prst="rect">
            <a:avLst/>
          </a:prstGeom>
          <a:noFill/>
          <a:ln/>
        </p:spPr>
        <p:txBody>
          <a:bodyPr wrap="square" lIns="0" tIns="0" rIns="0" bIns="0" rtlCol="0" anchor="ctr"/>
          <a:lstStyle/>
          <a:p>
            <a:pPr indent="0" marL="0">
              <a:lnSpc>
                <a:spcPct val="100000"/>
              </a:lnSpc>
              <a:buNone/>
            </a:pPr>
            <a:r>
              <a:rPr lang="en-US" sz="890" dirty="0">
                <a:solidFill>
                  <a:srgbClr val="46545F"/>
                </a:solidFill>
                <a:latin typeface="Calibri" pitchFamily="34" charset="0"/>
                <a:ea typeface="Calibri" pitchFamily="34" charset="-122"/>
                <a:cs typeface="Calibri" pitchFamily="34" charset="-120"/>
              </a:rPr>
              <a:t>Works twice? Name it, version it, put it in the library (Part 6). Improve the standard, not the improvisation.</a:t>
            </a:r>
            <a:endParaRPr lang="en-US" sz="890" dirty="0"/>
          </a:p>
        </p:txBody>
      </p:sp>
      <p:sp>
        <p:nvSpPr>
          <p:cNvPr id="34" name="Shape 28"/>
          <p:cNvSpPr/>
          <p:nvPr/>
        </p:nvSpPr>
        <p:spPr>
          <a:xfrm>
            <a:off x="6263640" y="1481328"/>
            <a:ext cx="5394960" cy="3749040"/>
          </a:xfrm>
          <a:prstGeom prst="roundRect">
            <a:avLst>
              <a:gd name="adj" fmla="val 1951"/>
            </a:avLst>
          </a:prstGeom>
          <a:solidFill>
            <a:srgbClr val="F2F5F6"/>
          </a:solidFill>
          <a:ln/>
        </p:spPr>
      </p:sp>
      <p:sp>
        <p:nvSpPr>
          <p:cNvPr id="35" name="Text 29"/>
          <p:cNvSpPr/>
          <p:nvPr/>
        </p:nvSpPr>
        <p:spPr>
          <a:xfrm>
            <a:off x="6510528" y="1645920"/>
            <a:ext cx="4937760" cy="347472"/>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Inspect with this — which element failed?</a:t>
            </a:r>
            <a:endParaRPr lang="en-US" sz="1350" dirty="0"/>
          </a:p>
        </p:txBody>
      </p:sp>
      <p:sp>
        <p:nvSpPr>
          <p:cNvPr id="36" name="Text 30"/>
          <p:cNvSpPr/>
          <p:nvPr/>
        </p:nvSpPr>
        <p:spPr>
          <a:xfrm>
            <a:off x="6510528" y="2084832"/>
            <a:ext cx="3291840" cy="384048"/>
          </a:xfrm>
          <a:prstGeom prst="rect">
            <a:avLst/>
          </a:prstGeom>
          <a:noFill/>
          <a:ln/>
        </p:spPr>
        <p:txBody>
          <a:bodyPr wrap="square" lIns="0" tIns="0" rIns="0" bIns="0" rtlCol="0" anchor="ctr"/>
          <a:lstStyle/>
          <a:p>
            <a:pPr indent="0" marL="0">
              <a:buNone/>
            </a:pPr>
            <a:r>
              <a:rPr lang="en-US" sz="980" dirty="0">
                <a:solidFill>
                  <a:srgbClr val="46545F"/>
                </a:solidFill>
                <a:latin typeface="Calibri" pitchFamily="34" charset="0"/>
                <a:ea typeface="Calibri" pitchFamily="34" charset="-122"/>
                <a:cs typeface="Calibri" pitchFamily="34" charset="-120"/>
              </a:rPr>
              <a:t>wrong altitude, tone, or posture</a:t>
            </a:r>
            <a:endParaRPr lang="en-US" sz="980" dirty="0"/>
          </a:p>
        </p:txBody>
      </p:sp>
      <p:sp>
        <p:nvSpPr>
          <p:cNvPr id="37" name="Text 31"/>
          <p:cNvSpPr/>
          <p:nvPr/>
        </p:nvSpPr>
        <p:spPr>
          <a:xfrm>
            <a:off x="9875520" y="2084832"/>
            <a:ext cx="1600200" cy="384048"/>
          </a:xfrm>
          <a:prstGeom prst="rect">
            <a:avLst/>
          </a:prstGeom>
          <a:noFill/>
          <a:ln/>
        </p:spPr>
        <p:txBody>
          <a:bodyPr wrap="square" lIns="0" tIns="0" rIns="0" bIns="0" rtlCol="0" anchor="ctr"/>
          <a:lstStyle/>
          <a:p>
            <a:pPr indent="0" marL="0">
              <a:buNone/>
            </a:pPr>
            <a:r>
              <a:rPr lang="en-US" sz="980" b="1" dirty="0">
                <a:solidFill>
                  <a:srgbClr val="0A5B5A"/>
                </a:solidFill>
                <a:latin typeface="Calibri" pitchFamily="34" charset="0"/>
                <a:ea typeface="Calibri" pitchFamily="34" charset="-122"/>
                <a:cs typeface="Calibri" pitchFamily="34" charset="-120"/>
              </a:rPr>
              <a:t>Role</a:t>
            </a:r>
            <a:endParaRPr lang="en-US" sz="980" dirty="0"/>
          </a:p>
        </p:txBody>
      </p:sp>
      <p:sp>
        <p:nvSpPr>
          <p:cNvPr id="38" name="Shape 32"/>
          <p:cNvSpPr/>
          <p:nvPr/>
        </p:nvSpPr>
        <p:spPr>
          <a:xfrm>
            <a:off x="6510528" y="2505456"/>
            <a:ext cx="4892040" cy="0"/>
          </a:xfrm>
          <a:prstGeom prst="line">
            <a:avLst/>
          </a:prstGeom>
          <a:noFill/>
          <a:ln w="6350">
            <a:solidFill>
              <a:srgbClr val="DCE3E6"/>
            </a:solidFill>
            <a:prstDash val="solid"/>
          </a:ln>
        </p:spPr>
      </p:sp>
      <p:sp>
        <p:nvSpPr>
          <p:cNvPr id="39" name="Text 33"/>
          <p:cNvSpPr/>
          <p:nvPr/>
        </p:nvSpPr>
        <p:spPr>
          <a:xfrm>
            <a:off x="6510528" y="2532888"/>
            <a:ext cx="3291840" cy="384048"/>
          </a:xfrm>
          <a:prstGeom prst="rect">
            <a:avLst/>
          </a:prstGeom>
          <a:noFill/>
          <a:ln/>
        </p:spPr>
        <p:txBody>
          <a:bodyPr wrap="square" lIns="0" tIns="0" rIns="0" bIns="0" rtlCol="0" anchor="ctr"/>
          <a:lstStyle/>
          <a:p>
            <a:pPr indent="0" marL="0">
              <a:buNone/>
            </a:pPr>
            <a:r>
              <a:rPr lang="en-US" sz="980" dirty="0">
                <a:solidFill>
                  <a:srgbClr val="46545F"/>
                </a:solidFill>
                <a:latin typeface="Calibri" pitchFamily="34" charset="0"/>
                <a:ea typeface="Calibri" pitchFamily="34" charset="-122"/>
                <a:cs typeface="Calibri" pitchFamily="34" charset="-120"/>
              </a:rPr>
              <a:t>answers a different (or vaguer) question</a:t>
            </a:r>
            <a:endParaRPr lang="en-US" sz="980" dirty="0"/>
          </a:p>
        </p:txBody>
      </p:sp>
      <p:sp>
        <p:nvSpPr>
          <p:cNvPr id="40" name="Text 34"/>
          <p:cNvSpPr/>
          <p:nvPr/>
        </p:nvSpPr>
        <p:spPr>
          <a:xfrm>
            <a:off x="9875520" y="2532888"/>
            <a:ext cx="1600200" cy="384048"/>
          </a:xfrm>
          <a:prstGeom prst="rect">
            <a:avLst/>
          </a:prstGeom>
          <a:noFill/>
          <a:ln/>
        </p:spPr>
        <p:txBody>
          <a:bodyPr wrap="square" lIns="0" tIns="0" rIns="0" bIns="0" rtlCol="0" anchor="ctr"/>
          <a:lstStyle/>
          <a:p>
            <a:pPr indent="0" marL="0">
              <a:buNone/>
            </a:pPr>
            <a:r>
              <a:rPr lang="en-US" sz="980" b="1" dirty="0">
                <a:solidFill>
                  <a:srgbClr val="0A5B5A"/>
                </a:solidFill>
                <a:latin typeface="Calibri" pitchFamily="34" charset="0"/>
                <a:ea typeface="Calibri" pitchFamily="34" charset="-122"/>
                <a:cs typeface="Calibri" pitchFamily="34" charset="-120"/>
              </a:rPr>
              <a:t>Task</a:t>
            </a:r>
            <a:endParaRPr lang="en-US" sz="980" dirty="0"/>
          </a:p>
        </p:txBody>
      </p:sp>
      <p:sp>
        <p:nvSpPr>
          <p:cNvPr id="41" name="Shape 35"/>
          <p:cNvSpPr/>
          <p:nvPr/>
        </p:nvSpPr>
        <p:spPr>
          <a:xfrm>
            <a:off x="6510528" y="2953512"/>
            <a:ext cx="4892040" cy="0"/>
          </a:xfrm>
          <a:prstGeom prst="line">
            <a:avLst/>
          </a:prstGeom>
          <a:noFill/>
          <a:ln w="6350">
            <a:solidFill>
              <a:srgbClr val="DCE3E6"/>
            </a:solidFill>
            <a:prstDash val="solid"/>
          </a:ln>
        </p:spPr>
      </p:sp>
      <p:sp>
        <p:nvSpPr>
          <p:cNvPr id="42" name="Text 36"/>
          <p:cNvSpPr/>
          <p:nvPr/>
        </p:nvSpPr>
        <p:spPr>
          <a:xfrm>
            <a:off x="6510528" y="2980944"/>
            <a:ext cx="3291840" cy="384048"/>
          </a:xfrm>
          <a:prstGeom prst="rect">
            <a:avLst/>
          </a:prstGeom>
          <a:noFill/>
          <a:ln/>
        </p:spPr>
        <p:txBody>
          <a:bodyPr wrap="square" lIns="0" tIns="0" rIns="0" bIns="0" rtlCol="0" anchor="ctr"/>
          <a:lstStyle/>
          <a:p>
            <a:pPr indent="0" marL="0">
              <a:buNone/>
            </a:pPr>
            <a:r>
              <a:rPr lang="en-US" sz="980" dirty="0">
                <a:solidFill>
                  <a:srgbClr val="46545F"/>
                </a:solidFill>
                <a:latin typeface="Calibri" pitchFamily="34" charset="0"/>
                <a:ea typeface="Calibri" pitchFamily="34" charset="-122"/>
                <a:cs typeface="Calibri" pitchFamily="34" charset="-120"/>
              </a:rPr>
              <a:t>generically right, specifically wrong for us</a:t>
            </a:r>
            <a:endParaRPr lang="en-US" sz="980" dirty="0"/>
          </a:p>
        </p:txBody>
      </p:sp>
      <p:sp>
        <p:nvSpPr>
          <p:cNvPr id="43" name="Text 37"/>
          <p:cNvSpPr/>
          <p:nvPr/>
        </p:nvSpPr>
        <p:spPr>
          <a:xfrm>
            <a:off x="9875520" y="2980944"/>
            <a:ext cx="1600200" cy="384048"/>
          </a:xfrm>
          <a:prstGeom prst="rect">
            <a:avLst/>
          </a:prstGeom>
          <a:noFill/>
          <a:ln/>
        </p:spPr>
        <p:txBody>
          <a:bodyPr wrap="square" lIns="0" tIns="0" rIns="0" bIns="0" rtlCol="0" anchor="ctr"/>
          <a:lstStyle/>
          <a:p>
            <a:pPr indent="0" marL="0">
              <a:buNone/>
            </a:pPr>
            <a:r>
              <a:rPr lang="en-US" sz="980" b="1" dirty="0">
                <a:solidFill>
                  <a:srgbClr val="0A5B5A"/>
                </a:solidFill>
                <a:latin typeface="Calibri" pitchFamily="34" charset="0"/>
                <a:ea typeface="Calibri" pitchFamily="34" charset="-122"/>
                <a:cs typeface="Calibri" pitchFamily="34" charset="-120"/>
              </a:rPr>
              <a:t>Context</a:t>
            </a:r>
            <a:endParaRPr lang="en-US" sz="980" dirty="0"/>
          </a:p>
        </p:txBody>
      </p:sp>
      <p:sp>
        <p:nvSpPr>
          <p:cNvPr id="44" name="Shape 38"/>
          <p:cNvSpPr/>
          <p:nvPr/>
        </p:nvSpPr>
        <p:spPr>
          <a:xfrm>
            <a:off x="6510528" y="3401568"/>
            <a:ext cx="4892040" cy="0"/>
          </a:xfrm>
          <a:prstGeom prst="line">
            <a:avLst/>
          </a:prstGeom>
          <a:noFill/>
          <a:ln w="6350">
            <a:solidFill>
              <a:srgbClr val="DCE3E6"/>
            </a:solidFill>
            <a:prstDash val="solid"/>
          </a:ln>
        </p:spPr>
      </p:sp>
      <p:sp>
        <p:nvSpPr>
          <p:cNvPr id="45" name="Text 39"/>
          <p:cNvSpPr/>
          <p:nvPr/>
        </p:nvSpPr>
        <p:spPr>
          <a:xfrm>
            <a:off x="6510528" y="3429000"/>
            <a:ext cx="3291840" cy="384048"/>
          </a:xfrm>
          <a:prstGeom prst="rect">
            <a:avLst/>
          </a:prstGeom>
          <a:noFill/>
          <a:ln/>
        </p:spPr>
        <p:txBody>
          <a:bodyPr wrap="square" lIns="0" tIns="0" rIns="0" bIns="0" rtlCol="0" anchor="ctr"/>
          <a:lstStyle/>
          <a:p>
            <a:pPr indent="0" marL="0">
              <a:buNone/>
            </a:pPr>
            <a:r>
              <a:rPr lang="en-US" sz="980" dirty="0">
                <a:solidFill>
                  <a:srgbClr val="46545F"/>
                </a:solidFill>
                <a:latin typeface="Calibri" pitchFamily="34" charset="0"/>
                <a:ea typeface="Calibri" pitchFamily="34" charset="-122"/>
                <a:cs typeface="Calibri" pitchFamily="34" charset="-120"/>
              </a:rPr>
              <a:t>right content, unusable shape or length</a:t>
            </a:r>
            <a:endParaRPr lang="en-US" sz="980" dirty="0"/>
          </a:p>
        </p:txBody>
      </p:sp>
      <p:sp>
        <p:nvSpPr>
          <p:cNvPr id="46" name="Text 40"/>
          <p:cNvSpPr/>
          <p:nvPr/>
        </p:nvSpPr>
        <p:spPr>
          <a:xfrm>
            <a:off x="9875520" y="3429000"/>
            <a:ext cx="1600200" cy="384048"/>
          </a:xfrm>
          <a:prstGeom prst="rect">
            <a:avLst/>
          </a:prstGeom>
          <a:noFill/>
          <a:ln/>
        </p:spPr>
        <p:txBody>
          <a:bodyPr wrap="square" lIns="0" tIns="0" rIns="0" bIns="0" rtlCol="0" anchor="ctr"/>
          <a:lstStyle/>
          <a:p>
            <a:pPr indent="0" marL="0">
              <a:buNone/>
            </a:pPr>
            <a:r>
              <a:rPr lang="en-US" sz="980" b="1" dirty="0">
                <a:solidFill>
                  <a:srgbClr val="0A5B5A"/>
                </a:solidFill>
                <a:latin typeface="Calibri" pitchFamily="34" charset="0"/>
                <a:ea typeface="Calibri" pitchFamily="34" charset="-122"/>
                <a:cs typeface="Calibri" pitchFamily="34" charset="-120"/>
              </a:rPr>
              <a:t>Format</a:t>
            </a:r>
            <a:endParaRPr lang="en-US" sz="980" dirty="0"/>
          </a:p>
        </p:txBody>
      </p:sp>
      <p:sp>
        <p:nvSpPr>
          <p:cNvPr id="47" name="Shape 41"/>
          <p:cNvSpPr/>
          <p:nvPr/>
        </p:nvSpPr>
        <p:spPr>
          <a:xfrm>
            <a:off x="6510528" y="3849624"/>
            <a:ext cx="4892040" cy="0"/>
          </a:xfrm>
          <a:prstGeom prst="line">
            <a:avLst/>
          </a:prstGeom>
          <a:noFill/>
          <a:ln w="6350">
            <a:solidFill>
              <a:srgbClr val="DCE3E6"/>
            </a:solidFill>
            <a:prstDash val="solid"/>
          </a:ln>
        </p:spPr>
      </p:sp>
      <p:sp>
        <p:nvSpPr>
          <p:cNvPr id="48" name="Text 42"/>
          <p:cNvSpPr/>
          <p:nvPr/>
        </p:nvSpPr>
        <p:spPr>
          <a:xfrm>
            <a:off x="6510528" y="3877056"/>
            <a:ext cx="3291840" cy="384048"/>
          </a:xfrm>
          <a:prstGeom prst="rect">
            <a:avLst/>
          </a:prstGeom>
          <a:noFill/>
          <a:ln/>
        </p:spPr>
        <p:txBody>
          <a:bodyPr wrap="square" lIns="0" tIns="0" rIns="0" bIns="0" rtlCol="0" anchor="ctr"/>
          <a:lstStyle/>
          <a:p>
            <a:pPr indent="0" marL="0">
              <a:buNone/>
            </a:pPr>
            <a:r>
              <a:rPr lang="en-US" sz="980" dirty="0">
                <a:solidFill>
                  <a:srgbClr val="46545F"/>
                </a:solidFill>
                <a:latin typeface="Calibri" pitchFamily="34" charset="0"/>
                <a:ea typeface="Calibri" pitchFamily="34" charset="-122"/>
                <a:cs typeface="Calibri" pitchFamily="34" charset="-120"/>
              </a:rPr>
              <a:t>doesn’t match the standard in your head</a:t>
            </a:r>
            <a:endParaRPr lang="en-US" sz="980" dirty="0"/>
          </a:p>
        </p:txBody>
      </p:sp>
      <p:sp>
        <p:nvSpPr>
          <p:cNvPr id="49" name="Text 43"/>
          <p:cNvSpPr/>
          <p:nvPr/>
        </p:nvSpPr>
        <p:spPr>
          <a:xfrm>
            <a:off x="9875520" y="3877056"/>
            <a:ext cx="1600200" cy="384048"/>
          </a:xfrm>
          <a:prstGeom prst="rect">
            <a:avLst/>
          </a:prstGeom>
          <a:noFill/>
          <a:ln/>
        </p:spPr>
        <p:txBody>
          <a:bodyPr wrap="square" lIns="0" tIns="0" rIns="0" bIns="0" rtlCol="0" anchor="ctr"/>
          <a:lstStyle/>
          <a:p>
            <a:pPr indent="0" marL="0">
              <a:buNone/>
            </a:pPr>
            <a:r>
              <a:rPr lang="en-US" sz="980" b="1" dirty="0">
                <a:solidFill>
                  <a:srgbClr val="0A5B5A"/>
                </a:solidFill>
                <a:latin typeface="Calibri" pitchFamily="34" charset="0"/>
                <a:ea typeface="Calibri" pitchFamily="34" charset="-122"/>
                <a:cs typeface="Calibri" pitchFamily="34" charset="-120"/>
              </a:rPr>
              <a:t>Examples</a:t>
            </a:r>
            <a:endParaRPr lang="en-US" sz="980" dirty="0"/>
          </a:p>
        </p:txBody>
      </p:sp>
      <p:sp>
        <p:nvSpPr>
          <p:cNvPr id="50" name="Shape 44"/>
          <p:cNvSpPr/>
          <p:nvPr/>
        </p:nvSpPr>
        <p:spPr>
          <a:xfrm>
            <a:off x="6510528" y="4297680"/>
            <a:ext cx="4892040" cy="0"/>
          </a:xfrm>
          <a:prstGeom prst="line">
            <a:avLst/>
          </a:prstGeom>
          <a:noFill/>
          <a:ln w="6350">
            <a:solidFill>
              <a:srgbClr val="DCE3E6"/>
            </a:solidFill>
            <a:prstDash val="solid"/>
          </a:ln>
        </p:spPr>
      </p:sp>
      <p:sp>
        <p:nvSpPr>
          <p:cNvPr id="51" name="Text 45"/>
          <p:cNvSpPr/>
          <p:nvPr/>
        </p:nvSpPr>
        <p:spPr>
          <a:xfrm>
            <a:off x="6510528" y="4325112"/>
            <a:ext cx="3291840" cy="384048"/>
          </a:xfrm>
          <a:prstGeom prst="rect">
            <a:avLst/>
          </a:prstGeom>
          <a:noFill/>
          <a:ln/>
        </p:spPr>
        <p:txBody>
          <a:bodyPr wrap="square" lIns="0" tIns="0" rIns="0" bIns="0" rtlCol="0" anchor="ctr"/>
          <a:lstStyle/>
          <a:p>
            <a:pPr indent="0" marL="0">
              <a:buNone/>
            </a:pPr>
            <a:r>
              <a:rPr lang="en-US" sz="980" dirty="0">
                <a:solidFill>
                  <a:srgbClr val="46545F"/>
                </a:solidFill>
                <a:latin typeface="Calibri" pitchFamily="34" charset="0"/>
                <a:ea typeface="Calibri" pitchFamily="34" charset="-122"/>
                <a:cs typeface="Calibri" pitchFamily="34" charset="-120"/>
              </a:rPr>
              <a:t>confidently invented</a:t>
            </a:r>
            <a:endParaRPr lang="en-US" sz="980" dirty="0"/>
          </a:p>
        </p:txBody>
      </p:sp>
      <p:sp>
        <p:nvSpPr>
          <p:cNvPr id="52" name="Text 46"/>
          <p:cNvSpPr/>
          <p:nvPr/>
        </p:nvSpPr>
        <p:spPr>
          <a:xfrm>
            <a:off x="9875520" y="4325112"/>
            <a:ext cx="1600200" cy="384048"/>
          </a:xfrm>
          <a:prstGeom prst="rect">
            <a:avLst/>
          </a:prstGeom>
          <a:noFill/>
          <a:ln/>
        </p:spPr>
        <p:txBody>
          <a:bodyPr wrap="square" lIns="0" tIns="0" rIns="0" bIns="0" rtlCol="0" anchor="ctr"/>
          <a:lstStyle/>
          <a:p>
            <a:pPr indent="0" marL="0">
              <a:buNone/>
            </a:pPr>
            <a:r>
              <a:rPr lang="en-US" sz="980" b="1" dirty="0">
                <a:solidFill>
                  <a:srgbClr val="0A5B5A"/>
                </a:solidFill>
                <a:latin typeface="Calibri" pitchFamily="34" charset="0"/>
                <a:ea typeface="Calibri" pitchFamily="34" charset="-122"/>
                <a:cs typeface="Calibri" pitchFamily="34" charset="-120"/>
              </a:rPr>
              <a:t>The Out (missing)</a:t>
            </a:r>
            <a:endParaRPr lang="en-US" sz="980" dirty="0"/>
          </a:p>
        </p:txBody>
      </p:sp>
      <p:sp>
        <p:nvSpPr>
          <p:cNvPr id="53" name="Shape 47"/>
          <p:cNvSpPr/>
          <p:nvPr/>
        </p:nvSpPr>
        <p:spPr>
          <a:xfrm>
            <a:off x="6510528" y="4745736"/>
            <a:ext cx="4892040" cy="0"/>
          </a:xfrm>
          <a:prstGeom prst="line">
            <a:avLst/>
          </a:prstGeom>
          <a:noFill/>
          <a:ln w="6350">
            <a:solidFill>
              <a:srgbClr val="DCE3E6"/>
            </a:solidFill>
            <a:prstDash val="solid"/>
          </a:ln>
        </p:spPr>
      </p:sp>
      <p:sp>
        <p:nvSpPr>
          <p:cNvPr id="54" name="Text 48"/>
          <p:cNvSpPr/>
          <p:nvPr/>
        </p:nvSpPr>
        <p:spPr>
          <a:xfrm>
            <a:off x="6510528" y="4773168"/>
            <a:ext cx="3291840" cy="384048"/>
          </a:xfrm>
          <a:prstGeom prst="rect">
            <a:avLst/>
          </a:prstGeom>
          <a:noFill/>
          <a:ln/>
        </p:spPr>
        <p:txBody>
          <a:bodyPr wrap="square" lIns="0" tIns="0" rIns="0" bIns="0" rtlCol="0" anchor="ctr"/>
          <a:lstStyle/>
          <a:p>
            <a:pPr indent="0" marL="0">
              <a:buNone/>
            </a:pPr>
            <a:r>
              <a:rPr lang="en-US" sz="980" dirty="0">
                <a:solidFill>
                  <a:srgbClr val="46545F"/>
                </a:solidFill>
                <a:latin typeface="Calibri" pitchFamily="34" charset="0"/>
                <a:ea typeface="Calibri" pitchFamily="34" charset="-122"/>
                <a:cs typeface="Calibri" pitchFamily="34" charset="-120"/>
              </a:rPr>
              <a:t>sprawls past what you asked</a:t>
            </a:r>
            <a:endParaRPr lang="en-US" sz="980" dirty="0"/>
          </a:p>
        </p:txBody>
      </p:sp>
      <p:sp>
        <p:nvSpPr>
          <p:cNvPr id="55" name="Text 49"/>
          <p:cNvSpPr/>
          <p:nvPr/>
        </p:nvSpPr>
        <p:spPr>
          <a:xfrm>
            <a:off x="9875520" y="4773168"/>
            <a:ext cx="1600200" cy="384048"/>
          </a:xfrm>
          <a:prstGeom prst="rect">
            <a:avLst/>
          </a:prstGeom>
          <a:noFill/>
          <a:ln/>
        </p:spPr>
        <p:txBody>
          <a:bodyPr wrap="square" lIns="0" tIns="0" rIns="0" bIns="0" rtlCol="0" anchor="ctr"/>
          <a:lstStyle/>
          <a:p>
            <a:pPr indent="0" marL="0">
              <a:buNone/>
            </a:pPr>
            <a:r>
              <a:rPr lang="en-US" sz="980" b="1" dirty="0">
                <a:solidFill>
                  <a:srgbClr val="0A5B5A"/>
                </a:solidFill>
                <a:latin typeface="Calibri" pitchFamily="34" charset="0"/>
                <a:ea typeface="Calibri" pitchFamily="34" charset="-122"/>
                <a:cs typeface="Calibri" pitchFamily="34" charset="-120"/>
              </a:rPr>
              <a:t>The Stop (missing)</a:t>
            </a:r>
            <a:endParaRPr lang="en-US" sz="980" dirty="0"/>
          </a:p>
        </p:txBody>
      </p:sp>
      <p:sp>
        <p:nvSpPr>
          <p:cNvPr id="56" name="Shape 50"/>
          <p:cNvSpPr/>
          <p:nvPr/>
        </p:nvSpPr>
        <p:spPr>
          <a:xfrm>
            <a:off x="502920" y="5440680"/>
            <a:ext cx="11155680" cy="1024128"/>
          </a:xfrm>
          <a:prstGeom prst="roundRect">
            <a:avLst>
              <a:gd name="adj" fmla="val 7143"/>
            </a:avLst>
          </a:prstGeom>
          <a:solidFill>
            <a:srgbClr val="FBF0E0"/>
          </a:solidFill>
          <a:ln/>
        </p:spPr>
      </p:sp>
      <p:sp>
        <p:nvSpPr>
          <p:cNvPr id="57" name="Shape 51"/>
          <p:cNvSpPr/>
          <p:nvPr/>
        </p:nvSpPr>
        <p:spPr>
          <a:xfrm>
            <a:off x="1161288" y="5468112"/>
            <a:ext cx="274320" cy="274320"/>
          </a:xfrm>
          <a:prstGeom prst="ellipse">
            <a:avLst/>
          </a:prstGeom>
          <a:solidFill>
            <a:srgbClr val="0E7C7B"/>
          </a:solidFill>
          <a:ln/>
        </p:spPr>
      </p:sp>
      <p:sp>
        <p:nvSpPr>
          <p:cNvPr id="58" name="Text 52"/>
          <p:cNvSpPr/>
          <p:nvPr/>
        </p:nvSpPr>
        <p:spPr>
          <a:xfrm>
            <a:off x="1161288" y="54589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P</a:t>
            </a:r>
            <a:endParaRPr lang="en-US" sz="1100" dirty="0"/>
          </a:p>
        </p:txBody>
      </p:sp>
      <p:sp>
        <p:nvSpPr>
          <p:cNvPr id="59" name="Shape 53"/>
          <p:cNvSpPr/>
          <p:nvPr/>
        </p:nvSpPr>
        <p:spPr>
          <a:xfrm>
            <a:off x="1508760" y="5815584"/>
            <a:ext cx="274320" cy="274320"/>
          </a:xfrm>
          <a:prstGeom prst="ellipse">
            <a:avLst/>
          </a:prstGeom>
          <a:solidFill>
            <a:srgbClr val="0E7C7B"/>
          </a:solidFill>
          <a:ln/>
        </p:spPr>
      </p:sp>
      <p:sp>
        <p:nvSpPr>
          <p:cNvPr id="60" name="Text 54"/>
          <p:cNvSpPr/>
          <p:nvPr/>
        </p:nvSpPr>
        <p:spPr>
          <a:xfrm>
            <a:off x="1508760" y="58064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D</a:t>
            </a:r>
            <a:endParaRPr lang="en-US" sz="1100" dirty="0"/>
          </a:p>
        </p:txBody>
      </p:sp>
      <p:sp>
        <p:nvSpPr>
          <p:cNvPr id="61" name="Shape 55"/>
          <p:cNvSpPr/>
          <p:nvPr/>
        </p:nvSpPr>
        <p:spPr>
          <a:xfrm>
            <a:off x="1161288" y="6163056"/>
            <a:ext cx="274320" cy="274320"/>
          </a:xfrm>
          <a:prstGeom prst="ellipse">
            <a:avLst/>
          </a:prstGeom>
          <a:solidFill>
            <a:srgbClr val="0E7C7B"/>
          </a:solidFill>
          <a:ln/>
        </p:spPr>
      </p:sp>
      <p:sp>
        <p:nvSpPr>
          <p:cNvPr id="62" name="Text 56"/>
          <p:cNvSpPr/>
          <p:nvPr/>
        </p:nvSpPr>
        <p:spPr>
          <a:xfrm>
            <a:off x="1161288" y="61539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a:t>
            </a:r>
            <a:endParaRPr lang="en-US" sz="1100" dirty="0"/>
          </a:p>
        </p:txBody>
      </p:sp>
      <p:sp>
        <p:nvSpPr>
          <p:cNvPr id="63" name="Shape 57"/>
          <p:cNvSpPr/>
          <p:nvPr/>
        </p:nvSpPr>
        <p:spPr>
          <a:xfrm>
            <a:off x="813816" y="5815584"/>
            <a:ext cx="274320" cy="274320"/>
          </a:xfrm>
          <a:prstGeom prst="ellipse">
            <a:avLst/>
          </a:prstGeom>
          <a:solidFill>
            <a:srgbClr val="B96A1B"/>
          </a:solidFill>
          <a:ln/>
        </p:spPr>
      </p:sp>
      <p:sp>
        <p:nvSpPr>
          <p:cNvPr id="64" name="Text 58"/>
          <p:cNvSpPr/>
          <p:nvPr/>
        </p:nvSpPr>
        <p:spPr>
          <a:xfrm>
            <a:off x="813816" y="58064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A</a:t>
            </a:r>
            <a:endParaRPr lang="en-US" sz="1100" dirty="0"/>
          </a:p>
        </p:txBody>
      </p:sp>
      <p:sp>
        <p:nvSpPr>
          <p:cNvPr id="65" name="Shape 59"/>
          <p:cNvSpPr/>
          <p:nvPr/>
        </p:nvSpPr>
        <p:spPr>
          <a:xfrm>
            <a:off x="1417320" y="5623560"/>
            <a:ext cx="182880" cy="164592"/>
          </a:xfrm>
          <a:prstGeom prst="line">
            <a:avLst/>
          </a:prstGeom>
          <a:noFill/>
          <a:ln w="12700">
            <a:solidFill>
              <a:srgbClr val="46545F"/>
            </a:solidFill>
            <a:prstDash val="solid"/>
            <a:tailEnd type="triangle"/>
          </a:ln>
        </p:spPr>
      </p:sp>
      <p:sp>
        <p:nvSpPr>
          <p:cNvPr id="66" name="Shape 60"/>
          <p:cNvSpPr/>
          <p:nvPr/>
        </p:nvSpPr>
        <p:spPr>
          <a:xfrm flipH="1">
            <a:off x="1417320" y="6135624"/>
            <a:ext cx="182880" cy="164592"/>
          </a:xfrm>
          <a:prstGeom prst="line">
            <a:avLst/>
          </a:prstGeom>
          <a:noFill/>
          <a:ln w="12700">
            <a:solidFill>
              <a:srgbClr val="46545F"/>
            </a:solidFill>
            <a:prstDash val="solid"/>
            <a:tailEnd type="triangle"/>
          </a:ln>
        </p:spPr>
      </p:sp>
      <p:sp>
        <p:nvSpPr>
          <p:cNvPr id="67" name="Shape 61"/>
          <p:cNvSpPr/>
          <p:nvPr/>
        </p:nvSpPr>
        <p:spPr>
          <a:xfrm flipH="1" flipV="1">
            <a:off x="987552" y="6135624"/>
            <a:ext cx="173736" cy="182880"/>
          </a:xfrm>
          <a:prstGeom prst="line">
            <a:avLst/>
          </a:prstGeom>
          <a:noFill/>
          <a:ln w="12700">
            <a:solidFill>
              <a:srgbClr val="46545F"/>
            </a:solidFill>
            <a:prstDash val="solid"/>
            <a:tailEnd type="triangle"/>
          </a:ln>
        </p:spPr>
      </p:sp>
      <p:sp>
        <p:nvSpPr>
          <p:cNvPr id="68" name="Shape 62"/>
          <p:cNvSpPr/>
          <p:nvPr/>
        </p:nvSpPr>
        <p:spPr>
          <a:xfrm flipV="1">
            <a:off x="987552" y="5788152"/>
            <a:ext cx="182880" cy="173736"/>
          </a:xfrm>
          <a:prstGeom prst="line">
            <a:avLst/>
          </a:prstGeom>
          <a:noFill/>
          <a:ln w="12700">
            <a:solidFill>
              <a:srgbClr val="46545F"/>
            </a:solidFill>
            <a:prstDash val="solid"/>
            <a:tailEnd type="triangle"/>
          </a:ln>
        </p:spPr>
      </p:sp>
      <p:sp>
        <p:nvSpPr>
          <p:cNvPr id="69" name="Shape 63"/>
          <p:cNvSpPr/>
          <p:nvPr/>
        </p:nvSpPr>
        <p:spPr>
          <a:xfrm>
            <a:off x="2148840" y="5541264"/>
            <a:ext cx="384048" cy="384048"/>
          </a:xfrm>
          <a:prstGeom prst="roundRect">
            <a:avLst>
              <a:gd name="adj" fmla="val 21429"/>
            </a:avLst>
          </a:prstGeom>
          <a:solidFill>
            <a:srgbClr val="FFFFFF"/>
          </a:solidFill>
          <a:ln w="9525">
            <a:solidFill>
              <a:srgbClr val="DCE3E6"/>
            </a:solidFill>
            <a:prstDash val="solid"/>
          </a:ln>
        </p:spPr>
      </p:sp>
      <p:pic>
        <p:nvPicPr>
          <p:cNvPr id="70" name="Image 4" descr="/home/user/Claude-Works/ai-training-prompt-engineering/src/assets/logos/toyota.png">    </p:cNvPr>
          <p:cNvPicPr>
            <a:picLocks noChangeAspect="1"/>
          </p:cNvPicPr>
          <p:nvPr/>
        </p:nvPicPr>
        <p:blipFill>
          <a:blip r:embed="rId5"/>
          <a:stretch>
            <a:fillRect/>
          </a:stretch>
        </p:blipFill>
        <p:spPr>
          <a:xfrm>
            <a:off x="2202607" y="5595031"/>
            <a:ext cx="276515" cy="276515"/>
          </a:xfrm>
          <a:prstGeom prst="rect">
            <a:avLst/>
          </a:prstGeom>
        </p:spPr>
      </p:pic>
      <p:sp>
        <p:nvSpPr>
          <p:cNvPr id="71" name="Text 64"/>
          <p:cNvSpPr/>
          <p:nvPr/>
        </p:nvSpPr>
        <p:spPr>
          <a:xfrm>
            <a:off x="2670048" y="5532120"/>
            <a:ext cx="6949440" cy="868680"/>
          </a:xfrm>
          <a:prstGeom prst="rect">
            <a:avLst/>
          </a:prstGeom>
          <a:noFill/>
          <a:ln/>
        </p:spPr>
        <p:txBody>
          <a:bodyPr wrap="square" lIns="0" tIns="0" rIns="0" bIns="0" rtlCol="0" anchor="ctr"/>
          <a:lstStyle/>
          <a:p>
            <a:pPr indent="0" marL="0">
              <a:lnSpc>
                <a:spcPct val="104000"/>
              </a:lnSpc>
              <a:buNone/>
            </a:pPr>
            <a:r>
              <a:rPr lang="en-US" sz="1150" b="1" dirty="0">
                <a:solidFill>
                  <a:srgbClr val="232A31"/>
                </a:solidFill>
                <a:latin typeface="Calibri" pitchFamily="34" charset="0"/>
                <a:ea typeface="Calibri" pitchFamily="34" charset="-122"/>
                <a:cs typeface="Calibri" pitchFamily="34" charset="-120"/>
              </a:rPr>
              <a:t>This is PDCA — Plan · Do · Check · Act: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the Deming/Toyota improvement cycle, applied to prompts. The Lean Enterprise Institute now literally teaches “Prompt-Do-Check-Act.” Part 3 taught the elements; this loop turns them into tested templates; Part 6 turns templates into a team asset.</a:t>
            </a:r>
            <a:endParaRPr lang="en-US" sz="1150" dirty="0"/>
          </a:p>
        </p:txBody>
      </p:sp>
      <p:sp>
        <p:nvSpPr>
          <p:cNvPr id="72" name="Shape 65"/>
          <p:cNvSpPr/>
          <p:nvPr/>
        </p:nvSpPr>
        <p:spPr>
          <a:xfrm>
            <a:off x="9765792" y="5605272"/>
            <a:ext cx="1755648" cy="713232"/>
          </a:xfrm>
          <a:prstGeom prst="roundRect">
            <a:avLst>
              <a:gd name="adj" fmla="val 8974"/>
            </a:avLst>
          </a:prstGeom>
          <a:solidFill>
            <a:srgbClr val="FFFFFF"/>
          </a:solidFill>
          <a:ln w="12700">
            <a:solidFill>
              <a:srgbClr val="B96A1B"/>
            </a:solidFill>
            <a:prstDash val="solid"/>
          </a:ln>
        </p:spPr>
      </p:sp>
      <p:sp>
        <p:nvSpPr>
          <p:cNvPr id="73" name="Text 66"/>
          <p:cNvSpPr/>
          <p:nvPr/>
        </p:nvSpPr>
        <p:spPr>
          <a:xfrm>
            <a:off x="9857232" y="5641848"/>
            <a:ext cx="1591056" cy="640080"/>
          </a:xfrm>
          <a:prstGeom prst="rect">
            <a:avLst/>
          </a:prstGeom>
          <a:noFill/>
          <a:ln/>
        </p:spPr>
        <p:txBody>
          <a:bodyPr wrap="square" lIns="0" tIns="0" rIns="0" bIns="0" rtlCol="0" anchor="ctr"/>
          <a:lstStyle/>
          <a:p>
            <a:pPr indent="0" marL="0">
              <a:lnSpc>
                <a:spcPct val="95000"/>
              </a:lnSpc>
              <a:buNone/>
            </a:pPr>
            <a:r>
              <a:rPr lang="en-US" sz="850" b="1" dirty="0">
                <a:solidFill>
                  <a:srgbClr val="232A31"/>
                </a:solidFill>
                <a:latin typeface="Calibri" pitchFamily="34" charset="0"/>
                <a:ea typeface="Calibri" pitchFamily="34" charset="-122"/>
                <a:cs typeface="Calibri" pitchFamily="34" charset="-120"/>
              </a:rPr>
              <a:t>W. EDWARDS DEMING</a:t>
            </a:r>
            <a:endParaRPr lang="en-US" sz="850" dirty="0"/>
          </a:p>
          <a:p>
            <a:pPr indent="0" marL="0">
              <a:lnSpc>
                <a:spcPct val="95000"/>
              </a:lnSpc>
              <a:buNone/>
            </a:pPr>
            <a:r>
              <a:rPr lang="en-US" sz="720" i="1" dirty="0">
                <a:solidFill>
                  <a:srgbClr val="46545F"/>
                </a:solidFill>
                <a:latin typeface="Calibri" pitchFamily="34" charset="0"/>
                <a:ea typeface="Calibri" pitchFamily="34" charset="-122"/>
                <a:cs typeface="Calibri" pitchFamily="34" charset="-120"/>
              </a:rPr>
              <a:t>1900–1993 · the quality pioneer whose cycle Toyota made famous</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THREE-MINUTE REP · PART 3</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33</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YOUR TURN — REBUILD ONE PROMPT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Same report, two prompts — feel the difference</a:t>
            </a:r>
            <a:endParaRPr lang="en-US" sz="3000" dirty="0"/>
          </a:p>
        </p:txBody>
      </p:sp>
      <p:sp>
        <p:nvSpPr>
          <p:cNvPr id="6" name="Shape 4"/>
          <p:cNvSpPr/>
          <p:nvPr/>
        </p:nvSpPr>
        <p:spPr>
          <a:xfrm>
            <a:off x="10314432" y="365760"/>
            <a:ext cx="384048" cy="384048"/>
          </a:xfrm>
          <a:prstGeom prst="ellipse">
            <a:avLst/>
          </a:prstGeom>
          <a:solidFill>
            <a:srgbClr val="0E7C7B"/>
          </a:solidFill>
          <a:ln/>
        </p:spPr>
      </p:sp>
      <p:pic>
        <p:nvPicPr>
          <p:cNvPr id="7" name="Image 0" descr="/home/user/Claude-Works/ai-training-prompt-engineering/src/assets/icons/clock_w.png">    </p:cNvPr>
          <p:cNvPicPr>
            <a:picLocks noChangeAspect="1"/>
          </p:cNvPicPr>
          <p:nvPr/>
        </p:nvPicPr>
        <p:blipFill>
          <a:blip r:embed="rId1"/>
          <a:stretch>
            <a:fillRect/>
          </a:stretch>
        </p:blipFill>
        <p:spPr>
          <a:xfrm>
            <a:off x="10414284" y="465612"/>
            <a:ext cx="184343" cy="184343"/>
          </a:xfrm>
          <a:prstGeom prst="rect">
            <a:avLst/>
          </a:prstGeom>
        </p:spPr>
      </p:pic>
      <p:sp>
        <p:nvSpPr>
          <p:cNvPr id="8" name="Text 5"/>
          <p:cNvSpPr/>
          <p:nvPr/>
        </p:nvSpPr>
        <p:spPr>
          <a:xfrm>
            <a:off x="10771632" y="402336"/>
            <a:ext cx="868680" cy="329184"/>
          </a:xfrm>
          <a:prstGeom prst="rect">
            <a:avLst/>
          </a:prstGeom>
          <a:noFill/>
          <a:ln/>
        </p:spPr>
        <p:txBody>
          <a:bodyPr wrap="square" lIns="0" tIns="0" rIns="0" bIns="0" rtlCol="0" anchor="ctr"/>
          <a:lstStyle/>
          <a:p>
            <a:pPr indent="0" marL="0">
              <a:buNone/>
            </a:pPr>
            <a:r>
              <a:rPr lang="en-US" sz="1600" b="1" dirty="0">
                <a:solidFill>
                  <a:srgbClr val="0E7C7B"/>
                </a:solidFill>
                <a:latin typeface="Cambria" pitchFamily="34" charset="0"/>
                <a:ea typeface="Cambria" pitchFamily="34" charset="-122"/>
                <a:cs typeface="Cambria" pitchFamily="34" charset="-120"/>
              </a:rPr>
              <a:t>3:00</a:t>
            </a:r>
            <a:endParaRPr lang="en-US" sz="1600" dirty="0"/>
          </a:p>
        </p:txBody>
      </p:sp>
      <p:sp>
        <p:nvSpPr>
          <p:cNvPr id="9" name="Shape 6"/>
          <p:cNvSpPr/>
          <p:nvPr/>
        </p:nvSpPr>
        <p:spPr>
          <a:xfrm>
            <a:off x="502920" y="1645920"/>
            <a:ext cx="6035040" cy="1600200"/>
          </a:xfrm>
          <a:prstGeom prst="roundRect">
            <a:avLst>
              <a:gd name="adj" fmla="val 4571"/>
            </a:avLst>
          </a:prstGeom>
          <a:solidFill>
            <a:srgbClr val="FFFFFF"/>
          </a:solidFill>
          <a:ln w="9525">
            <a:solidFill>
              <a:srgbClr val="DCE3E6"/>
            </a:solidFill>
            <a:prstDash val="solid"/>
          </a:ln>
        </p:spPr>
      </p:sp>
      <p:sp>
        <p:nvSpPr>
          <p:cNvPr id="10" name="Text 7"/>
          <p:cNvSpPr/>
          <p:nvPr/>
        </p:nvSpPr>
        <p:spPr>
          <a:xfrm>
            <a:off x="749808" y="1737360"/>
            <a:ext cx="5541264" cy="1417320"/>
          </a:xfrm>
          <a:prstGeom prst="rect">
            <a:avLst/>
          </a:prstGeom>
          <a:noFill/>
          <a:ln/>
        </p:spPr>
        <p:txBody>
          <a:bodyPr wrap="square" lIns="0" tIns="0" rIns="0" bIns="0" rtlCol="0" anchor="ctr"/>
          <a:lstStyle/>
          <a:p>
            <a:pPr indent="0" marL="0">
              <a:lnSpc>
                <a:spcPct val="110000"/>
              </a:lnSpc>
              <a:buNone/>
            </a:pPr>
            <a:r>
              <a:rPr lang="en-US" sz="1300" b="1" dirty="0">
                <a:solidFill>
                  <a:srgbClr val="B96A1B"/>
                </a:solidFill>
                <a:latin typeface="Calibri" pitchFamily="34" charset="0"/>
                <a:ea typeface="Calibri" pitchFamily="34" charset="-122"/>
                <a:cs typeface="Calibri" pitchFamily="34" charset="-120"/>
              </a:rPr>
              <a:t>STEP 1  ·  </a:t>
            </a:r>
            <a:pPr indent="0" marL="0">
              <a:lnSpc>
                <a:spcPct val="110000"/>
              </a:lnSpc>
              <a:buNone/>
            </a:pPr>
            <a:r>
              <a:rPr lang="en-US" sz="1200" b="1" dirty="0">
                <a:solidFill>
                  <a:srgbClr val="0A5B5A"/>
                </a:solidFill>
                <a:latin typeface="Calibri" pitchFamily="34" charset="0"/>
                <a:ea typeface="Calibri" pitchFamily="34" charset="-122"/>
                <a:cs typeface="Calibri" pitchFamily="34" charset="-120"/>
              </a:rPr>
              <a:t>TYPE THIS → </a:t>
            </a:r>
            <a:pPr indent="0" marL="0">
              <a:lnSpc>
                <a:spcPct val="110000"/>
              </a:lnSpc>
              <a:spcAft>
                <a:spcPts val="600"/>
              </a:spcAft>
              <a:buNone/>
            </a:pPr>
            <a:r>
              <a:rPr lang="en-US" sz="1150" dirty="0">
                <a:solidFill>
                  <a:srgbClr val="232A31"/>
                </a:solidFill>
                <a:latin typeface="Consolas" pitchFamily="34" charset="0"/>
                <a:ea typeface="Consolas" pitchFamily="34" charset="-122"/>
                <a:cs typeface="Consolas" pitchFamily="34" charset="-120"/>
              </a:rPr>
              <a:t>“Summarize this report.” + paste the report from tab EX-Rebuild of your Course Workbook</a:t>
            </a:r>
            <a:endParaRPr lang="en-US" sz="1300" dirty="0"/>
          </a:p>
          <a:p>
            <a:pPr indent="0" marL="0">
              <a:lnSpc>
                <a:spcPct val="110000"/>
              </a:lnSpc>
              <a:buNone/>
            </a:pPr>
            <a:r>
              <a:rPr lang="en-US" sz="1100" b="1" dirty="0">
                <a:solidFill>
                  <a:srgbClr val="46545F"/>
                </a:solidFill>
                <a:latin typeface="Calibri" pitchFamily="34" charset="0"/>
                <a:ea typeface="Calibri" pitchFamily="34" charset="-122"/>
                <a:cs typeface="Calibri" pitchFamily="34" charset="-120"/>
              </a:rPr>
              <a:t>WHY → </a:t>
            </a:r>
            <a:pPr indent="0" marL="0">
              <a:lnSpc>
                <a:spcPct val="110000"/>
              </a:lnSpc>
              <a:buNone/>
            </a:pPr>
            <a:r>
              <a:rPr lang="en-US" sz="1100" i="1" dirty="0">
                <a:solidFill>
                  <a:srgbClr val="46545F"/>
                </a:solidFill>
                <a:latin typeface="Calibri" pitchFamily="34" charset="0"/>
                <a:ea typeface="Calibri" pitchFamily="34" charset="-122"/>
                <a:cs typeface="Calibri" pitchFamily="34" charset="-120"/>
              </a:rPr>
              <a:t>the naive baseline — fluent, unfocused, written for nobody in particular.</a:t>
            </a:r>
            <a:endParaRPr lang="en-US" sz="1300" dirty="0"/>
          </a:p>
        </p:txBody>
      </p:sp>
      <p:sp>
        <p:nvSpPr>
          <p:cNvPr id="11" name="Shape 8"/>
          <p:cNvSpPr/>
          <p:nvPr/>
        </p:nvSpPr>
        <p:spPr>
          <a:xfrm>
            <a:off x="502920" y="3410712"/>
            <a:ext cx="6035040" cy="1600200"/>
          </a:xfrm>
          <a:prstGeom prst="roundRect">
            <a:avLst>
              <a:gd name="adj" fmla="val 4571"/>
            </a:avLst>
          </a:prstGeom>
          <a:solidFill>
            <a:srgbClr val="FFFFFF"/>
          </a:solidFill>
          <a:ln w="9525">
            <a:solidFill>
              <a:srgbClr val="DCE3E6"/>
            </a:solidFill>
            <a:prstDash val="solid"/>
          </a:ln>
        </p:spPr>
      </p:sp>
      <p:sp>
        <p:nvSpPr>
          <p:cNvPr id="12" name="Text 9"/>
          <p:cNvSpPr/>
          <p:nvPr/>
        </p:nvSpPr>
        <p:spPr>
          <a:xfrm>
            <a:off x="749808" y="3502152"/>
            <a:ext cx="5541264" cy="1417320"/>
          </a:xfrm>
          <a:prstGeom prst="rect">
            <a:avLst/>
          </a:prstGeom>
          <a:noFill/>
          <a:ln/>
        </p:spPr>
        <p:txBody>
          <a:bodyPr wrap="square" lIns="0" tIns="0" rIns="0" bIns="0" rtlCol="0" anchor="ctr"/>
          <a:lstStyle/>
          <a:p>
            <a:pPr indent="0" marL="0">
              <a:lnSpc>
                <a:spcPct val="110000"/>
              </a:lnSpc>
              <a:buNone/>
            </a:pPr>
            <a:r>
              <a:rPr lang="en-US" sz="1300" b="1" dirty="0">
                <a:solidFill>
                  <a:srgbClr val="B96A1B"/>
                </a:solidFill>
                <a:latin typeface="Calibri" pitchFamily="34" charset="0"/>
                <a:ea typeface="Calibri" pitchFamily="34" charset="-122"/>
                <a:cs typeface="Calibri" pitchFamily="34" charset="-120"/>
              </a:rPr>
              <a:t>STEP 2  ·  </a:t>
            </a:r>
            <a:pPr indent="0" marL="0">
              <a:lnSpc>
                <a:spcPct val="110000"/>
              </a:lnSpc>
              <a:buNone/>
            </a:pPr>
            <a:r>
              <a:rPr lang="en-US" sz="1200" b="1" dirty="0">
                <a:solidFill>
                  <a:srgbClr val="0A5B5A"/>
                </a:solidFill>
                <a:latin typeface="Calibri" pitchFamily="34" charset="0"/>
                <a:ea typeface="Calibri" pitchFamily="34" charset="-122"/>
                <a:cs typeface="Calibri" pitchFamily="34" charset="-120"/>
              </a:rPr>
              <a:t>TYPE THIS → </a:t>
            </a:r>
            <a:pPr indent="0" marL="0">
              <a:lnSpc>
                <a:spcPct val="110000"/>
              </a:lnSpc>
              <a:spcAft>
                <a:spcPts val="600"/>
              </a:spcAft>
              <a:buNone/>
            </a:pPr>
            <a:r>
              <a:rPr lang="en-US" sz="1150" dirty="0">
                <a:solidFill>
                  <a:srgbClr val="232A31"/>
                </a:solidFill>
                <a:latin typeface="Consolas" pitchFamily="34" charset="0"/>
                <a:ea typeface="Consolas" pitchFamily="34" charset="-122"/>
                <a:cs typeface="Consolas" pitchFamily="34" charset="-120"/>
              </a:rPr>
              <a:t>your upgrade, same report: add a Role, a named reader in the Task, a ≤ 80-word cap, and an Out.</a:t>
            </a:r>
            <a:endParaRPr lang="en-US" sz="1300" dirty="0"/>
          </a:p>
          <a:p>
            <a:pPr indent="0" marL="0">
              <a:lnSpc>
                <a:spcPct val="110000"/>
              </a:lnSpc>
              <a:buNone/>
            </a:pPr>
            <a:r>
              <a:rPr lang="en-US" sz="1100" b="1" dirty="0">
                <a:solidFill>
                  <a:srgbClr val="46545F"/>
                </a:solidFill>
                <a:latin typeface="Calibri" pitchFamily="34" charset="0"/>
                <a:ea typeface="Calibri" pitchFamily="34" charset="-122"/>
                <a:cs typeface="Calibri" pitchFamily="34" charset="-120"/>
              </a:rPr>
              <a:t>WHY → </a:t>
            </a:r>
            <a:pPr indent="0" marL="0">
              <a:lnSpc>
                <a:spcPct val="110000"/>
              </a:lnSpc>
              <a:buNone/>
            </a:pPr>
            <a:r>
              <a:rPr lang="en-US" sz="1100" i="1" dirty="0">
                <a:solidFill>
                  <a:srgbClr val="46545F"/>
                </a:solidFill>
                <a:latin typeface="Calibri" pitchFamily="34" charset="0"/>
                <a:ea typeface="Calibri" pitchFamily="34" charset="-122"/>
                <a:cs typeface="Calibri" pitchFamily="34" charset="-120"/>
              </a:rPr>
              <a:t>four elements — watch it change league. That contrast is Part 3.</a:t>
            </a:r>
            <a:endParaRPr lang="en-US" sz="1300" dirty="0"/>
          </a:p>
        </p:txBody>
      </p:sp>
      <p:sp>
        <p:nvSpPr>
          <p:cNvPr id="13" name="Shape 10"/>
          <p:cNvSpPr/>
          <p:nvPr/>
        </p:nvSpPr>
        <p:spPr>
          <a:xfrm>
            <a:off x="502920" y="5175504"/>
            <a:ext cx="6035040" cy="914400"/>
          </a:xfrm>
          <a:prstGeom prst="roundRect">
            <a:avLst>
              <a:gd name="adj" fmla="val 8000"/>
            </a:avLst>
          </a:prstGeom>
          <a:solidFill>
            <a:srgbClr val="F2F5F6"/>
          </a:solidFill>
          <a:ln/>
        </p:spPr>
      </p:sp>
      <p:sp>
        <p:nvSpPr>
          <p:cNvPr id="14" name="Text 11"/>
          <p:cNvSpPr/>
          <p:nvPr/>
        </p:nvSpPr>
        <p:spPr>
          <a:xfrm>
            <a:off x="777240" y="5266944"/>
            <a:ext cx="5486400" cy="731520"/>
          </a:xfrm>
          <a:prstGeom prst="rect">
            <a:avLst/>
          </a:prstGeom>
          <a:noFill/>
          <a:ln/>
        </p:spPr>
        <p:txBody>
          <a:bodyPr wrap="square" lIns="0" tIns="0" rIns="0" bIns="0" rtlCol="0" anchor="ctr"/>
          <a:lstStyle/>
          <a:p>
            <a:pPr indent="0" marL="0">
              <a:lnSpc>
                <a:spcPct val="106000"/>
              </a:lnSpc>
              <a:buNone/>
            </a:pPr>
            <a:r>
              <a:rPr lang="en-US" sz="1150" b="1" dirty="0">
                <a:solidFill>
                  <a:srgbClr val="232A31"/>
                </a:solidFill>
                <a:latin typeface="Calibri" pitchFamily="34" charset="0"/>
                <a:ea typeface="Calibri" pitchFamily="34" charset="-122"/>
                <a:cs typeface="Calibri" pitchFamily="34" charset="-120"/>
              </a:rPr>
              <a:t>Everything you need is in the tab: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the 60-word practice report AND both prompts, copy-paste ready. Run it in your course log.</a:t>
            </a:r>
            <a:endParaRPr lang="en-US" sz="1150" dirty="0"/>
          </a:p>
        </p:txBody>
      </p:sp>
      <p:sp>
        <p:nvSpPr>
          <p:cNvPr id="15" name="Shape 12"/>
          <p:cNvSpPr/>
          <p:nvPr/>
        </p:nvSpPr>
        <p:spPr>
          <a:xfrm>
            <a:off x="6720840" y="1600200"/>
            <a:ext cx="4937760" cy="2880360"/>
          </a:xfrm>
          <a:prstGeom prst="roundRect">
            <a:avLst>
              <a:gd name="adj" fmla="val 2540"/>
            </a:avLst>
          </a:prstGeom>
          <a:solidFill>
            <a:srgbClr val="FBF0E0"/>
          </a:solidFill>
          <a:ln/>
        </p:spPr>
      </p:sp>
      <p:sp>
        <p:nvSpPr>
          <p:cNvPr id="16" name="Text 13"/>
          <p:cNvSpPr/>
          <p:nvPr/>
        </p:nvSpPr>
        <p:spPr>
          <a:xfrm>
            <a:off x="6967728" y="1783080"/>
            <a:ext cx="4434840" cy="2560320"/>
          </a:xfrm>
          <a:prstGeom prst="rect">
            <a:avLst/>
          </a:prstGeom>
          <a:noFill/>
          <a:ln/>
        </p:spPr>
        <p:txBody>
          <a:bodyPr wrap="square" lIns="0" tIns="0" rIns="0" bIns="0" rtlCol="0" anchor="ctr"/>
          <a:lstStyle/>
          <a:p>
            <a:pPr indent="0" marL="0">
              <a:lnSpc>
                <a:spcPct val="112000"/>
              </a:lnSpc>
              <a:spcAft>
                <a:spcPts val="500"/>
              </a:spcAft>
              <a:buNone/>
            </a:pPr>
            <a:r>
              <a:rPr lang="en-US" sz="1150" b="1" dirty="0">
                <a:solidFill>
                  <a:srgbClr val="B96A1B"/>
                </a:solidFill>
                <a:latin typeface="Calibri" pitchFamily="34" charset="0"/>
                <a:ea typeface="Calibri" pitchFamily="34" charset="-122"/>
                <a:cs typeface="Calibri" pitchFamily="34" charset="-120"/>
              </a:rPr>
              <a:t>One strong answer (reveal after the rep)</a:t>
            </a:r>
            <a:endParaRPr lang="en-US" sz="1150" dirty="0"/>
          </a:p>
          <a:p>
            <a:pPr indent="0" marL="0">
              <a:lnSpc>
                <a:spcPct val="112000"/>
              </a:lnSpc>
              <a:buNone/>
            </a:pPr>
            <a:r>
              <a:rPr lang="en-US" sz="1100" i="1" dirty="0">
                <a:solidFill>
                  <a:srgbClr val="46545F"/>
                </a:solidFill>
                <a:latin typeface="Calibri" pitchFamily="34" charset="0"/>
                <a:ea typeface="Calibri" pitchFamily="34" charset="-122"/>
                <a:cs typeface="Calibri" pitchFamily="34" charset="-120"/>
              </a:rPr>
              <a:t>“You are a precise editor. Summarize this report for the operations lead in ≤ 80 words: the headline number first, what changed since Q1, and what it does NOT explain. If the report doesn’t say, say so.”</a:t>
            </a:r>
            <a:endParaRPr lang="en-US" sz="1150" dirty="0"/>
          </a:p>
        </p:txBody>
      </p:sp>
      <p:sp>
        <p:nvSpPr>
          <p:cNvPr id="17" name="Shape 14"/>
          <p:cNvSpPr/>
          <p:nvPr/>
        </p:nvSpPr>
        <p:spPr>
          <a:xfrm>
            <a:off x="6720840" y="4617720"/>
            <a:ext cx="4937760" cy="1463040"/>
          </a:xfrm>
          <a:prstGeom prst="roundRect">
            <a:avLst>
              <a:gd name="adj" fmla="val 5000"/>
            </a:avLst>
          </a:prstGeom>
          <a:solidFill>
            <a:srgbClr val="E4F0EF"/>
          </a:solidFill>
          <a:ln/>
        </p:spPr>
      </p:sp>
      <p:sp>
        <p:nvSpPr>
          <p:cNvPr id="18" name="Text 15"/>
          <p:cNvSpPr/>
          <p:nvPr/>
        </p:nvSpPr>
        <p:spPr>
          <a:xfrm>
            <a:off x="6967728" y="4773168"/>
            <a:ext cx="4434840" cy="1188720"/>
          </a:xfrm>
          <a:prstGeom prst="rect">
            <a:avLst/>
          </a:prstGeom>
          <a:noFill/>
          <a:ln/>
        </p:spPr>
        <p:txBody>
          <a:bodyPr wrap="square" lIns="0" tIns="0" rIns="0" bIns="0" rtlCol="0" anchor="ctr"/>
          <a:lstStyle/>
          <a:p>
            <a:pPr indent="0" marL="0">
              <a:lnSpc>
                <a:spcPct val="108000"/>
              </a:lnSpc>
              <a:spcAft>
                <a:spcPts val="300"/>
              </a:spcAft>
              <a:buNone/>
            </a:pPr>
            <a:r>
              <a:rPr lang="en-US" sz="1150" b="1" dirty="0">
                <a:solidFill>
                  <a:srgbClr val="0A5B5A"/>
                </a:solidFill>
                <a:latin typeface="Calibri" pitchFamily="34" charset="0"/>
                <a:ea typeface="Calibri" pitchFamily="34" charset="-122"/>
                <a:cs typeface="Calibri" pitchFamily="34" charset="-120"/>
              </a:rPr>
              <a:t>Then compare with a neighbor: </a:t>
            </a:r>
            <a:endParaRPr lang="en-US" sz="1150" dirty="0"/>
          </a:p>
          <a:p>
            <a:pPr indent="0" marL="0">
              <a:lnSpc>
                <a:spcPct val="108000"/>
              </a:lnSpc>
              <a:buNone/>
            </a:pPr>
            <a:r>
              <a:rPr lang="en-US" sz="1100" dirty="0">
                <a:solidFill>
                  <a:srgbClr val="46545F"/>
                </a:solidFill>
                <a:latin typeface="Calibri" pitchFamily="34" charset="0"/>
                <a:ea typeface="Calibri" pitchFamily="34" charset="-122"/>
                <a:cs typeface="Calibri" pitchFamily="34" charset="-120"/>
              </a:rPr>
              <a:t>whose STEP 2 summary is more useful — and which ELEMENT made the difference? Different fills, same anatomy.</a:t>
            </a:r>
            <a:endParaRPr lang="en-US" sz="1150" dirty="0"/>
          </a:p>
        </p:txBody>
      </p:sp>
      <p:sp>
        <p:nvSpPr>
          <p:cNvPr id="19" name="Text 16"/>
          <p:cNvSpPr/>
          <p:nvPr/>
        </p:nvSpPr>
        <p:spPr>
          <a:xfrm>
            <a:off x="502920" y="6263640"/>
            <a:ext cx="11155680" cy="320040"/>
          </a:xfrm>
          <a:prstGeom prst="rect">
            <a:avLst/>
          </a:prstGeom>
          <a:noFill/>
          <a:ln/>
        </p:spPr>
        <p:txBody>
          <a:bodyPr wrap="square" lIns="0" tIns="0" rIns="0" bIns="0" rtlCol="0" anchor="ctr"/>
          <a:lstStyle/>
          <a:p>
            <a:pPr indent="0" marL="0">
              <a:buNone/>
            </a:pPr>
            <a:r>
              <a:rPr lang="en-US" sz="1000" i="1" dirty="0">
                <a:solidFill>
                  <a:srgbClr val="7A8790"/>
                </a:solidFill>
                <a:latin typeface="Calibri" pitchFamily="34" charset="0"/>
                <a:ea typeface="Calibri" pitchFamily="34" charset="-122"/>
                <a:cs typeface="Calibri" pitchFamily="34" charset="-120"/>
              </a:rPr>
              <a:t>Why this rep: it is the one moment Part 3 asks you to WRITE — the elements stick when your hands use them once. Skippable if running long.</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A9BBC4"/>
                </a:solidFill>
                <a:latin typeface="Calibri" pitchFamily="34" charset="0"/>
                <a:ea typeface="Calibri" pitchFamily="34" charset="-122"/>
                <a:cs typeface="Calibri" pitchFamily="34" charset="-120"/>
              </a:rPr>
              <a:t>34</a:t>
            </a:r>
            <a:endParaRPr lang="en-US" sz="850" dirty="0"/>
          </a:p>
        </p:txBody>
      </p:sp>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0E7C7B"/>
          </a:solidFill>
          <a:ln/>
        </p:spPr>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192024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4 · THE PLAYBOOK</a:t>
            </a:r>
            <a:endParaRPr lang="en-US" sz="1600" dirty="0"/>
          </a:p>
        </p:txBody>
      </p:sp>
      <p:sp>
        <p:nvSpPr>
          <p:cNvPr id="16" name="Text 14"/>
          <p:cNvSpPr/>
          <p:nvPr/>
        </p:nvSpPr>
        <p:spPr>
          <a:xfrm>
            <a:off x="502920" y="237744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Thirteen templates,</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ready to copy</a:t>
            </a:r>
            <a:endParaRPr lang="en-US" sz="4400" dirty="0"/>
          </a:p>
        </p:txBody>
      </p:sp>
      <p:sp>
        <p:nvSpPr>
          <p:cNvPr id="17" name="Text 15"/>
          <p:cNvSpPr/>
          <p:nvPr/>
        </p:nvSpPr>
        <p:spPr>
          <a:xfrm>
            <a:off x="502920" y="42062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Eight generative + five agentic, shipped with this training in prompt-library/.</a:t>
            </a:r>
            <a:endParaRPr lang="en-US" sz="1500" dirty="0"/>
          </a:p>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Each: the template · a filled example · why it works · the pitfalls.</a:t>
            </a:r>
            <a:endParaRPr lang="en-US" sz="1500" dirty="0"/>
          </a:p>
        </p:txBody>
      </p:sp>
      <p:sp>
        <p:nvSpPr>
          <p:cNvPr id="18" name="Text 16"/>
          <p:cNvSpPr/>
          <p:nvPr/>
        </p:nvSpPr>
        <p:spPr>
          <a:xfrm>
            <a:off x="502920"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G1 Writing &amp; editing</a:t>
            </a:r>
            <a:endParaRPr lang="en-US" sz="1050" dirty="0"/>
          </a:p>
        </p:txBody>
      </p:sp>
      <p:sp>
        <p:nvSpPr>
          <p:cNvPr id="19" name="Text 17"/>
          <p:cNvSpPr/>
          <p:nvPr/>
        </p:nvSpPr>
        <p:spPr>
          <a:xfrm>
            <a:off x="3355848"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G2 Data analysis</a:t>
            </a:r>
            <a:endParaRPr lang="en-US" sz="1050" dirty="0"/>
          </a:p>
        </p:txBody>
      </p:sp>
      <p:sp>
        <p:nvSpPr>
          <p:cNvPr id="20" name="Text 18"/>
          <p:cNvSpPr/>
          <p:nvPr/>
        </p:nvSpPr>
        <p:spPr>
          <a:xfrm>
            <a:off x="6208776"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G3 Evaluations &amp; rubrics</a:t>
            </a:r>
            <a:endParaRPr lang="en-US" sz="1050" dirty="0"/>
          </a:p>
        </p:txBody>
      </p:sp>
      <p:sp>
        <p:nvSpPr>
          <p:cNvPr id="21" name="Text 19"/>
          <p:cNvSpPr/>
          <p:nvPr/>
        </p:nvSpPr>
        <p:spPr>
          <a:xfrm>
            <a:off x="9061704"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G4 Spreadsheets</a:t>
            </a:r>
            <a:endParaRPr lang="en-US" sz="1050" dirty="0"/>
          </a:p>
        </p:txBody>
      </p:sp>
      <p:sp>
        <p:nvSpPr>
          <p:cNvPr id="22" name="Text 20"/>
          <p:cNvSpPr/>
          <p:nvPr/>
        </p:nvSpPr>
        <p:spPr>
          <a:xfrm>
            <a:off x="502920"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G5 Presentations</a:t>
            </a:r>
            <a:endParaRPr lang="en-US" sz="1050" dirty="0"/>
          </a:p>
        </p:txBody>
      </p:sp>
      <p:sp>
        <p:nvSpPr>
          <p:cNvPr id="23" name="Text 21"/>
          <p:cNvSpPr/>
          <p:nvPr/>
        </p:nvSpPr>
        <p:spPr>
          <a:xfrm>
            <a:off x="3355848"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G6 Interactive HTML</a:t>
            </a:r>
            <a:endParaRPr lang="en-US" sz="1050" dirty="0"/>
          </a:p>
        </p:txBody>
      </p:sp>
      <p:sp>
        <p:nvSpPr>
          <p:cNvPr id="24" name="Text 22"/>
          <p:cNvSpPr/>
          <p:nvPr/>
        </p:nvSpPr>
        <p:spPr>
          <a:xfrm>
            <a:off x="6208776"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G7 Research briefs</a:t>
            </a:r>
            <a:endParaRPr lang="en-US" sz="1050" dirty="0"/>
          </a:p>
        </p:txBody>
      </p:sp>
      <p:sp>
        <p:nvSpPr>
          <p:cNvPr id="25" name="Text 23"/>
          <p:cNvSpPr/>
          <p:nvPr/>
        </p:nvSpPr>
        <p:spPr>
          <a:xfrm>
            <a:off x="9061704"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G8 Summarize &amp; compare</a:t>
            </a:r>
            <a:endParaRPr lang="en-US" sz="1050" dirty="0"/>
          </a:p>
        </p:txBody>
      </p:sp>
      <p:sp>
        <p:nvSpPr>
          <p:cNvPr id="26" name="Text 24"/>
          <p:cNvSpPr/>
          <p:nvPr/>
        </p:nvSpPr>
        <p:spPr>
          <a:xfrm>
            <a:off x="502920"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A1 Mission brief</a:t>
            </a:r>
            <a:endParaRPr lang="en-US" sz="1050" dirty="0"/>
          </a:p>
        </p:txBody>
      </p:sp>
      <p:sp>
        <p:nvSpPr>
          <p:cNvPr id="27" name="Text 25"/>
          <p:cNvSpPr/>
          <p:nvPr/>
        </p:nvSpPr>
        <p:spPr>
          <a:xfrm>
            <a:off x="3355848"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A2 ETL → presentation</a:t>
            </a:r>
            <a:endParaRPr lang="en-US" sz="1050" dirty="0"/>
          </a:p>
        </p:txBody>
      </p:sp>
      <p:sp>
        <p:nvSpPr>
          <p:cNvPr id="28" name="Text 26"/>
          <p:cNvSpPr/>
          <p:nvPr/>
        </p:nvSpPr>
        <p:spPr>
          <a:xfrm>
            <a:off x="6208776"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A3 Recurring cycle</a:t>
            </a:r>
            <a:endParaRPr lang="en-US" sz="1050" dirty="0"/>
          </a:p>
        </p:txBody>
      </p:sp>
      <p:sp>
        <p:nvSpPr>
          <p:cNvPr id="29" name="Text 27"/>
          <p:cNvSpPr/>
          <p:nvPr/>
        </p:nvSpPr>
        <p:spPr>
          <a:xfrm>
            <a:off x="9061704"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A4 CLAUDE.md starter</a:t>
            </a:r>
            <a:endParaRPr lang="en-US" sz="1050" dirty="0"/>
          </a:p>
        </p:txBody>
      </p:sp>
      <p:sp>
        <p:nvSpPr>
          <p:cNvPr id="30" name="Text 28"/>
          <p:cNvSpPr/>
          <p:nvPr/>
        </p:nvSpPr>
        <p:spPr>
          <a:xfrm>
            <a:off x="502920" y="6281928"/>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A5 Document pipeline</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DATA ANALYSIS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35</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TEMPLATE ANATOMY · G2 · DATA ANALYSIS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prompt is a document, not a sentence</a:t>
            </a:r>
            <a:endParaRPr lang="en-US" sz="3000" dirty="0"/>
          </a:p>
        </p:txBody>
      </p:sp>
      <p:sp>
        <p:nvSpPr>
          <p:cNvPr id="6" name="Shape 4"/>
          <p:cNvSpPr/>
          <p:nvPr/>
        </p:nvSpPr>
        <p:spPr>
          <a:xfrm>
            <a:off x="502920" y="1444752"/>
            <a:ext cx="5532120" cy="4572000"/>
          </a:xfrm>
          <a:prstGeom prst="roundRect">
            <a:avLst>
              <a:gd name="adj" fmla="val 1200"/>
            </a:avLst>
          </a:prstGeom>
          <a:solidFill>
            <a:srgbClr val="FFFFFF"/>
          </a:solidFill>
          <a:ln w="15875">
            <a:solidFill>
              <a:srgbClr val="46545F"/>
            </a:solidFill>
            <a:prstDash val="solid"/>
          </a:ln>
          <a:effectLst>
            <a:outerShdw sx="100000" sy="100000" kx="0" ky="0" algn="bl" rotWithShape="0" blurRad="76200" dist="25400" dir="2700000">
              <a:srgbClr val="999999">
                <a:alpha val="35000"/>
              </a:srgbClr>
            </a:outerShdw>
          </a:effectLst>
        </p:spPr>
      </p:sp>
      <p:sp>
        <p:nvSpPr>
          <p:cNvPr id="7" name="Shape 5"/>
          <p:cNvSpPr/>
          <p:nvPr/>
        </p:nvSpPr>
        <p:spPr>
          <a:xfrm>
            <a:off x="502920" y="1444752"/>
            <a:ext cx="5532120" cy="365760"/>
          </a:xfrm>
          <a:prstGeom prst="roundRect">
            <a:avLst>
              <a:gd name="adj" fmla="val 15000"/>
            </a:avLst>
          </a:prstGeom>
          <a:solidFill>
            <a:srgbClr val="46545F"/>
          </a:solidFill>
          <a:ln/>
        </p:spPr>
      </p:sp>
      <p:sp>
        <p:nvSpPr>
          <p:cNvPr id="8" name="Shape 6"/>
          <p:cNvSpPr/>
          <p:nvPr/>
        </p:nvSpPr>
        <p:spPr>
          <a:xfrm>
            <a:off x="658368" y="1563624"/>
            <a:ext cx="118872" cy="118872"/>
          </a:xfrm>
          <a:prstGeom prst="ellipse">
            <a:avLst/>
          </a:prstGeom>
          <a:solidFill>
            <a:srgbClr val="E74C3C"/>
          </a:solidFill>
          <a:ln/>
        </p:spPr>
      </p:sp>
      <p:sp>
        <p:nvSpPr>
          <p:cNvPr id="9" name="Shape 7"/>
          <p:cNvSpPr/>
          <p:nvPr/>
        </p:nvSpPr>
        <p:spPr>
          <a:xfrm>
            <a:off x="841248" y="1563624"/>
            <a:ext cx="118872" cy="118872"/>
          </a:xfrm>
          <a:prstGeom prst="ellipse">
            <a:avLst/>
          </a:prstGeom>
          <a:solidFill>
            <a:srgbClr val="F1C40F"/>
          </a:solidFill>
          <a:ln/>
        </p:spPr>
      </p:sp>
      <p:sp>
        <p:nvSpPr>
          <p:cNvPr id="10" name="Shape 8"/>
          <p:cNvSpPr/>
          <p:nvPr/>
        </p:nvSpPr>
        <p:spPr>
          <a:xfrm>
            <a:off x="1024128" y="1563624"/>
            <a:ext cx="118872" cy="118872"/>
          </a:xfrm>
          <a:prstGeom prst="ellipse">
            <a:avLst/>
          </a:prstGeom>
          <a:solidFill>
            <a:srgbClr val="2ECC71"/>
          </a:solidFill>
          <a:ln/>
        </p:spPr>
      </p:sp>
      <p:sp>
        <p:nvSpPr>
          <p:cNvPr id="11" name="Text 9"/>
          <p:cNvSpPr/>
          <p:nvPr/>
        </p:nvSpPr>
        <p:spPr>
          <a:xfrm>
            <a:off x="1280160" y="1463040"/>
            <a:ext cx="4572000" cy="329184"/>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G2_data_analysis.txt — your template, one page</a:t>
            </a:r>
            <a:endParaRPr lang="en-US" sz="950" dirty="0"/>
          </a:p>
        </p:txBody>
      </p:sp>
      <p:sp>
        <p:nvSpPr>
          <p:cNvPr id="12" name="Shape 10"/>
          <p:cNvSpPr/>
          <p:nvPr/>
        </p:nvSpPr>
        <p:spPr>
          <a:xfrm>
            <a:off x="685800" y="1956816"/>
            <a:ext cx="5166360" cy="731520"/>
          </a:xfrm>
          <a:prstGeom prst="roundRect">
            <a:avLst>
              <a:gd name="adj" fmla="val 5000"/>
            </a:avLst>
          </a:prstGeom>
          <a:solidFill>
            <a:srgbClr val="E4F0EF"/>
          </a:solidFill>
          <a:ln w="6350">
            <a:solidFill>
              <a:srgbClr val="DCE3E6"/>
            </a:solidFill>
            <a:prstDash val="solid"/>
          </a:ln>
        </p:spPr>
      </p:sp>
      <p:sp>
        <p:nvSpPr>
          <p:cNvPr id="13" name="Text 11"/>
          <p:cNvSpPr/>
          <p:nvPr/>
        </p:nvSpPr>
        <p:spPr>
          <a:xfrm>
            <a:off x="804672" y="1984248"/>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&lt;role&gt;</a:t>
            </a:r>
            <a:endParaRPr lang="en-US" sz="1100" dirty="0"/>
          </a:p>
        </p:txBody>
      </p:sp>
      <p:sp>
        <p:nvSpPr>
          <p:cNvPr id="14" name="Text 12"/>
          <p:cNvSpPr/>
          <p:nvPr/>
        </p:nvSpPr>
        <p:spPr>
          <a:xfrm>
            <a:off x="1883664" y="1984248"/>
            <a:ext cx="3886200" cy="676656"/>
          </a:xfrm>
          <a:prstGeom prst="rect">
            <a:avLst/>
          </a:prstGeom>
          <a:noFill/>
          <a:ln/>
        </p:spPr>
        <p:txBody>
          <a:bodyPr wrap="square" lIns="0" tIns="0" rIns="0" bIns="0" rtlCol="0" anchor="ctr"/>
          <a:lstStyle/>
          <a:p>
            <a:pPr indent="0" marL="0">
              <a:lnSpc>
                <a:spcPct val="100000"/>
              </a:lnSpc>
              <a:buNone/>
            </a:pPr>
            <a:r>
              <a:rPr lang="en-US" sz="780" dirty="0">
                <a:solidFill>
                  <a:srgbClr val="46545F"/>
                </a:solidFill>
                <a:latin typeface="Consolas" pitchFamily="34" charset="0"/>
                <a:ea typeface="Consolas" pitchFamily="34" charset="-122"/>
                <a:cs typeface="Consolas" pitchFamily="34" charset="-120"/>
              </a:rPr>
              <a:t>Careful analyst: compute by RUNNING CODE — never mental math. State n. Never drop data silently.</a:t>
            </a:r>
            <a:endParaRPr lang="en-US" sz="780" dirty="0"/>
          </a:p>
        </p:txBody>
      </p:sp>
      <p:sp>
        <p:nvSpPr>
          <p:cNvPr id="15" name="Shape 13"/>
          <p:cNvSpPr/>
          <p:nvPr/>
        </p:nvSpPr>
        <p:spPr>
          <a:xfrm>
            <a:off x="5870448" y="2322576"/>
            <a:ext cx="457200" cy="0"/>
          </a:xfrm>
          <a:prstGeom prst="line">
            <a:avLst/>
          </a:prstGeom>
          <a:noFill/>
          <a:ln w="9525">
            <a:solidFill>
              <a:srgbClr val="7A8790"/>
            </a:solidFill>
            <a:prstDash val="sysDot"/>
          </a:ln>
        </p:spPr>
      </p:sp>
      <p:sp>
        <p:nvSpPr>
          <p:cNvPr id="16" name="Shape 14"/>
          <p:cNvSpPr/>
          <p:nvPr/>
        </p:nvSpPr>
        <p:spPr>
          <a:xfrm>
            <a:off x="6345936" y="1938528"/>
            <a:ext cx="5303520" cy="768096"/>
          </a:xfrm>
          <a:prstGeom prst="roundRect">
            <a:avLst>
              <a:gd name="adj" fmla="val 9524"/>
            </a:avLst>
          </a:prstGeom>
          <a:solidFill>
            <a:srgbClr val="F2F5F6"/>
          </a:solidFill>
          <a:ln/>
        </p:spPr>
      </p:sp>
      <p:sp>
        <p:nvSpPr>
          <p:cNvPr id="17" name="Text 15"/>
          <p:cNvSpPr/>
          <p:nvPr/>
        </p:nvSpPr>
        <p:spPr>
          <a:xfrm>
            <a:off x="6565392" y="1984248"/>
            <a:ext cx="4892040" cy="676656"/>
          </a:xfrm>
          <a:prstGeom prst="rect">
            <a:avLst/>
          </a:prstGeom>
          <a:noFill/>
          <a:ln/>
        </p:spPr>
        <p:txBody>
          <a:bodyPr wrap="square" lIns="0" tIns="0" rIns="0" bIns="0" rtlCol="0" anchor="ctr"/>
          <a:lstStyle/>
          <a:p>
            <a:pPr indent="0" marL="0">
              <a:lnSpc>
                <a:spcPct val="100000"/>
              </a:lnSpc>
              <a:buNone/>
            </a:pPr>
            <a:r>
              <a:rPr lang="en-US" sz="1000" b="1" dirty="0">
                <a:solidFill>
                  <a:srgbClr val="232A31"/>
                </a:solidFill>
                <a:latin typeface="Calibri" pitchFamily="34" charset="0"/>
                <a:ea typeface="Calibri" pitchFamily="34" charset="-122"/>
                <a:cs typeface="Calibri" pitchFamily="34" charset="-120"/>
              </a:rPr>
              <a:t>Why code, not vibes — </a:t>
            </a:r>
            <a:pPr indent="0" marL="0">
              <a:lnSpc>
                <a:spcPct val="100000"/>
              </a:lnSpc>
              <a:buNone/>
            </a:pPr>
            <a:r>
              <a:rPr lang="en-US" sz="920" i="1" dirty="0">
                <a:solidFill>
                  <a:srgbClr val="46545F"/>
                </a:solidFill>
                <a:latin typeface="Calibri" pitchFamily="34" charset="0"/>
                <a:ea typeface="Calibri" pitchFamily="34" charset="-122"/>
                <a:cs typeface="Calibri" pitchFamily="34" charset="-120"/>
              </a:rPr>
              <a:t>LLM arithmetic is unreliable; code execution makes the math real. No code tool → don’t trust computed numbers.</a:t>
            </a:r>
            <a:endParaRPr lang="en-US" sz="1000" dirty="0"/>
          </a:p>
        </p:txBody>
      </p:sp>
      <p:sp>
        <p:nvSpPr>
          <p:cNvPr id="18" name="Shape 16"/>
          <p:cNvSpPr/>
          <p:nvPr/>
        </p:nvSpPr>
        <p:spPr>
          <a:xfrm>
            <a:off x="685800" y="2761488"/>
            <a:ext cx="5166360" cy="731520"/>
          </a:xfrm>
          <a:prstGeom prst="roundRect">
            <a:avLst>
              <a:gd name="adj" fmla="val 5000"/>
            </a:avLst>
          </a:prstGeom>
          <a:solidFill>
            <a:srgbClr val="FFFFFF"/>
          </a:solidFill>
          <a:ln w="6350">
            <a:solidFill>
              <a:srgbClr val="DCE3E6"/>
            </a:solidFill>
            <a:prstDash val="solid"/>
          </a:ln>
        </p:spPr>
      </p:sp>
      <p:sp>
        <p:nvSpPr>
          <p:cNvPr id="19" name="Text 17"/>
          <p:cNvSpPr/>
          <p:nvPr/>
        </p:nvSpPr>
        <p:spPr>
          <a:xfrm>
            <a:off x="804672" y="2788920"/>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&lt;data&gt;</a:t>
            </a:r>
            <a:endParaRPr lang="en-US" sz="1100" dirty="0"/>
          </a:p>
        </p:txBody>
      </p:sp>
      <p:sp>
        <p:nvSpPr>
          <p:cNvPr id="20" name="Text 18"/>
          <p:cNvSpPr/>
          <p:nvPr/>
        </p:nvSpPr>
        <p:spPr>
          <a:xfrm>
            <a:off x="1883664" y="2788920"/>
            <a:ext cx="3886200" cy="676656"/>
          </a:xfrm>
          <a:prstGeom prst="rect">
            <a:avLst/>
          </a:prstGeom>
          <a:noFill/>
          <a:ln/>
        </p:spPr>
        <p:txBody>
          <a:bodyPr wrap="square" lIns="0" tIns="0" rIns="0" bIns="0" rtlCol="0" anchor="ctr"/>
          <a:lstStyle/>
          <a:p>
            <a:pPr indent="0" marL="0">
              <a:lnSpc>
                <a:spcPct val="100000"/>
              </a:lnSpc>
              <a:buNone/>
            </a:pPr>
            <a:r>
              <a:rPr lang="en-US" sz="780" dirty="0">
                <a:solidFill>
                  <a:srgbClr val="46545F"/>
                </a:solidFill>
                <a:latin typeface="Consolas" pitchFamily="34" charset="0"/>
                <a:ea typeface="Consolas" pitchFamily="34" charset="-122"/>
                <a:cs typeface="Consolas" pitchFamily="34" charset="-120"/>
              </a:rPr>
              <a:t>File · sheet · header row · what one row means · exact column names · known quirks · metric definitions.</a:t>
            </a:r>
            <a:endParaRPr lang="en-US" sz="780" dirty="0"/>
          </a:p>
        </p:txBody>
      </p:sp>
      <p:sp>
        <p:nvSpPr>
          <p:cNvPr id="21" name="Shape 19"/>
          <p:cNvSpPr/>
          <p:nvPr/>
        </p:nvSpPr>
        <p:spPr>
          <a:xfrm>
            <a:off x="5870448" y="3127248"/>
            <a:ext cx="457200" cy="0"/>
          </a:xfrm>
          <a:prstGeom prst="line">
            <a:avLst/>
          </a:prstGeom>
          <a:noFill/>
          <a:ln w="9525">
            <a:solidFill>
              <a:srgbClr val="7A8790"/>
            </a:solidFill>
            <a:prstDash val="sysDot"/>
          </a:ln>
        </p:spPr>
      </p:sp>
      <p:sp>
        <p:nvSpPr>
          <p:cNvPr id="22" name="Shape 20"/>
          <p:cNvSpPr/>
          <p:nvPr/>
        </p:nvSpPr>
        <p:spPr>
          <a:xfrm>
            <a:off x="6345936" y="2743200"/>
            <a:ext cx="5303520" cy="768096"/>
          </a:xfrm>
          <a:prstGeom prst="roundRect">
            <a:avLst>
              <a:gd name="adj" fmla="val 9524"/>
            </a:avLst>
          </a:prstGeom>
          <a:solidFill>
            <a:srgbClr val="F2F5F6"/>
          </a:solidFill>
          <a:ln/>
        </p:spPr>
      </p:sp>
      <p:sp>
        <p:nvSpPr>
          <p:cNvPr id="23" name="Text 21"/>
          <p:cNvSpPr/>
          <p:nvPr/>
        </p:nvSpPr>
        <p:spPr>
          <a:xfrm>
            <a:off x="6565392" y="2788920"/>
            <a:ext cx="4892040" cy="676656"/>
          </a:xfrm>
          <a:prstGeom prst="rect">
            <a:avLst/>
          </a:prstGeom>
          <a:noFill/>
          <a:ln/>
        </p:spPr>
        <p:txBody>
          <a:bodyPr wrap="square" lIns="0" tIns="0" rIns="0" bIns="0" rtlCol="0" anchor="ctr"/>
          <a:lstStyle/>
          <a:p>
            <a:pPr indent="0" marL="0">
              <a:lnSpc>
                <a:spcPct val="100000"/>
              </a:lnSpc>
              <a:buNone/>
            </a:pPr>
            <a:r>
              <a:rPr lang="en-US" sz="1000" b="1" dirty="0">
                <a:solidFill>
                  <a:srgbClr val="232A31"/>
                </a:solidFill>
                <a:latin typeface="Calibri" pitchFamily="34" charset="0"/>
                <a:ea typeface="Calibri" pitchFamily="34" charset="-122"/>
                <a:cs typeface="Calibri" pitchFamily="34" charset="-120"/>
              </a:rPr>
              <a:t>Why schema first — </a:t>
            </a:r>
            <a:pPr indent="0" marL="0">
              <a:lnSpc>
                <a:spcPct val="100000"/>
              </a:lnSpc>
              <a:buNone/>
            </a:pPr>
            <a:r>
              <a:rPr lang="en-US" sz="920" i="1" dirty="0">
                <a:solidFill>
                  <a:srgbClr val="46545F"/>
                </a:solidFill>
                <a:latin typeface="Calibri" pitchFamily="34" charset="0"/>
                <a:ea typeface="Calibri" pitchFamily="34" charset="-122"/>
                <a:cs typeface="Calibri" pitchFamily="34" charset="-120"/>
              </a:rPr>
              <a:t>The model guessing your grain and denominator is the #1 source of wrong answers.</a:t>
            </a:r>
            <a:endParaRPr lang="en-US" sz="1000" dirty="0"/>
          </a:p>
        </p:txBody>
      </p:sp>
      <p:sp>
        <p:nvSpPr>
          <p:cNvPr id="24" name="Shape 22"/>
          <p:cNvSpPr/>
          <p:nvPr/>
        </p:nvSpPr>
        <p:spPr>
          <a:xfrm>
            <a:off x="685800" y="3566160"/>
            <a:ext cx="5166360" cy="731520"/>
          </a:xfrm>
          <a:prstGeom prst="roundRect">
            <a:avLst>
              <a:gd name="adj" fmla="val 5000"/>
            </a:avLst>
          </a:prstGeom>
          <a:solidFill>
            <a:srgbClr val="E4F0EF"/>
          </a:solidFill>
          <a:ln w="6350">
            <a:solidFill>
              <a:srgbClr val="DCE3E6"/>
            </a:solidFill>
            <a:prstDash val="solid"/>
          </a:ln>
        </p:spPr>
      </p:sp>
      <p:sp>
        <p:nvSpPr>
          <p:cNvPr id="25" name="Text 23"/>
          <p:cNvSpPr/>
          <p:nvPr/>
        </p:nvSpPr>
        <p:spPr>
          <a:xfrm>
            <a:off x="804672" y="3593592"/>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&lt;task&gt;</a:t>
            </a:r>
            <a:endParaRPr lang="en-US" sz="1100" dirty="0"/>
          </a:p>
        </p:txBody>
      </p:sp>
      <p:sp>
        <p:nvSpPr>
          <p:cNvPr id="26" name="Text 24"/>
          <p:cNvSpPr/>
          <p:nvPr/>
        </p:nvSpPr>
        <p:spPr>
          <a:xfrm>
            <a:off x="1883664" y="3593592"/>
            <a:ext cx="3886200" cy="676656"/>
          </a:xfrm>
          <a:prstGeom prst="rect">
            <a:avLst/>
          </a:prstGeom>
          <a:noFill/>
          <a:ln/>
        </p:spPr>
        <p:txBody>
          <a:bodyPr wrap="square" lIns="0" tIns="0" rIns="0" bIns="0" rtlCol="0" anchor="ctr"/>
          <a:lstStyle/>
          <a:p>
            <a:pPr indent="0" marL="0">
              <a:lnSpc>
                <a:spcPct val="100000"/>
              </a:lnSpc>
              <a:buNone/>
            </a:pPr>
            <a:r>
              <a:rPr lang="en-US" sz="780" dirty="0">
                <a:solidFill>
                  <a:srgbClr val="46545F"/>
                </a:solidFill>
                <a:latin typeface="Consolas" pitchFamily="34" charset="0"/>
                <a:ea typeface="Consolas" pitchFamily="34" charset="-122"/>
                <a:cs typeface="Consolas" pitchFamily="34" charset="-120"/>
              </a:rPr>
              <a:t>Numbered questions in priority order — “and stop when they’re answered.”</a:t>
            </a:r>
            <a:endParaRPr lang="en-US" sz="780" dirty="0"/>
          </a:p>
        </p:txBody>
      </p:sp>
      <p:sp>
        <p:nvSpPr>
          <p:cNvPr id="27" name="Shape 25"/>
          <p:cNvSpPr/>
          <p:nvPr/>
        </p:nvSpPr>
        <p:spPr>
          <a:xfrm>
            <a:off x="5870448" y="3931920"/>
            <a:ext cx="457200" cy="0"/>
          </a:xfrm>
          <a:prstGeom prst="line">
            <a:avLst/>
          </a:prstGeom>
          <a:noFill/>
          <a:ln w="9525">
            <a:solidFill>
              <a:srgbClr val="7A8790"/>
            </a:solidFill>
            <a:prstDash val="sysDot"/>
          </a:ln>
        </p:spPr>
      </p:sp>
      <p:sp>
        <p:nvSpPr>
          <p:cNvPr id="28" name="Shape 26"/>
          <p:cNvSpPr/>
          <p:nvPr/>
        </p:nvSpPr>
        <p:spPr>
          <a:xfrm>
            <a:off x="6345936" y="3547872"/>
            <a:ext cx="5303520" cy="768096"/>
          </a:xfrm>
          <a:prstGeom prst="roundRect">
            <a:avLst>
              <a:gd name="adj" fmla="val 9524"/>
            </a:avLst>
          </a:prstGeom>
          <a:solidFill>
            <a:srgbClr val="F2F5F6"/>
          </a:solidFill>
          <a:ln/>
        </p:spPr>
      </p:sp>
      <p:sp>
        <p:nvSpPr>
          <p:cNvPr id="29" name="Text 27"/>
          <p:cNvSpPr/>
          <p:nvPr/>
        </p:nvSpPr>
        <p:spPr>
          <a:xfrm>
            <a:off x="6565392" y="3593592"/>
            <a:ext cx="4892040" cy="676656"/>
          </a:xfrm>
          <a:prstGeom prst="rect">
            <a:avLst/>
          </a:prstGeom>
          <a:noFill/>
          <a:ln/>
        </p:spPr>
        <p:txBody>
          <a:bodyPr wrap="square" lIns="0" tIns="0" rIns="0" bIns="0" rtlCol="0" anchor="ctr"/>
          <a:lstStyle/>
          <a:p>
            <a:pPr indent="0" marL="0">
              <a:lnSpc>
                <a:spcPct val="100000"/>
              </a:lnSpc>
              <a:buNone/>
            </a:pPr>
            <a:r>
              <a:rPr lang="en-US" sz="1000" b="1" dirty="0">
                <a:solidFill>
                  <a:srgbClr val="232A31"/>
                </a:solidFill>
                <a:latin typeface="Calibri" pitchFamily="34" charset="0"/>
                <a:ea typeface="Calibri" pitchFamily="34" charset="-122"/>
                <a:cs typeface="Calibri" pitchFamily="34" charset="-120"/>
              </a:rPr>
              <a:t>Why questions, not topics — </a:t>
            </a:r>
            <a:pPr indent="0" marL="0">
              <a:lnSpc>
                <a:spcPct val="100000"/>
              </a:lnSpc>
              <a:buNone/>
            </a:pPr>
            <a:r>
              <a:rPr lang="en-US" sz="920" i="1" dirty="0">
                <a:solidFill>
                  <a:srgbClr val="46545F"/>
                </a:solidFill>
                <a:latin typeface="Calibri" pitchFamily="34" charset="0"/>
                <a:ea typeface="Calibri" pitchFamily="34" charset="-122"/>
                <a:cs typeface="Calibri" pitchFamily="34" charset="-120"/>
              </a:rPr>
              <a:t>Topics generate exploration; questions generate answers. The stop prevents ten charts and no answer.</a:t>
            </a:r>
            <a:endParaRPr lang="en-US" sz="1000" dirty="0"/>
          </a:p>
        </p:txBody>
      </p:sp>
      <p:sp>
        <p:nvSpPr>
          <p:cNvPr id="30" name="Shape 28"/>
          <p:cNvSpPr/>
          <p:nvPr/>
        </p:nvSpPr>
        <p:spPr>
          <a:xfrm>
            <a:off x="685800" y="4370832"/>
            <a:ext cx="5166360" cy="731520"/>
          </a:xfrm>
          <a:prstGeom prst="roundRect">
            <a:avLst>
              <a:gd name="adj" fmla="val 5000"/>
            </a:avLst>
          </a:prstGeom>
          <a:solidFill>
            <a:srgbClr val="FFFFFF"/>
          </a:solidFill>
          <a:ln w="6350">
            <a:solidFill>
              <a:srgbClr val="DCE3E6"/>
            </a:solidFill>
            <a:prstDash val="solid"/>
          </a:ln>
        </p:spPr>
      </p:sp>
      <p:sp>
        <p:nvSpPr>
          <p:cNvPr id="31" name="Text 29"/>
          <p:cNvSpPr/>
          <p:nvPr/>
        </p:nvSpPr>
        <p:spPr>
          <a:xfrm>
            <a:off x="804672" y="4398264"/>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&lt;method&gt;</a:t>
            </a:r>
            <a:endParaRPr lang="en-US" sz="1100" dirty="0"/>
          </a:p>
        </p:txBody>
      </p:sp>
      <p:sp>
        <p:nvSpPr>
          <p:cNvPr id="32" name="Text 30"/>
          <p:cNvSpPr/>
          <p:nvPr/>
        </p:nvSpPr>
        <p:spPr>
          <a:xfrm>
            <a:off x="1883664" y="4398264"/>
            <a:ext cx="3886200" cy="676656"/>
          </a:xfrm>
          <a:prstGeom prst="rect">
            <a:avLst/>
          </a:prstGeom>
          <a:noFill/>
          <a:ln/>
        </p:spPr>
        <p:txBody>
          <a:bodyPr wrap="square" lIns="0" tIns="0" rIns="0" bIns="0" rtlCol="0" anchor="ctr"/>
          <a:lstStyle/>
          <a:p>
            <a:pPr indent="0" marL="0">
              <a:lnSpc>
                <a:spcPct val="100000"/>
              </a:lnSpc>
              <a:buNone/>
            </a:pPr>
            <a:r>
              <a:rPr lang="en-US" sz="780" dirty="0">
                <a:solidFill>
                  <a:srgbClr val="46545F"/>
                </a:solidFill>
                <a:latin typeface="Consolas" pitchFamily="34" charset="0"/>
                <a:ea typeface="Consolas" pitchFamily="34" charset="-122"/>
                <a:cs typeface="Consolas" pitchFamily="34" charset="-120"/>
              </a:rPr>
              <a:t>Profile first and show me · reconcile to a known total · flag n &lt; 20 · “associated with”, never “caused by”.</a:t>
            </a:r>
            <a:endParaRPr lang="en-US" sz="780" dirty="0"/>
          </a:p>
        </p:txBody>
      </p:sp>
      <p:sp>
        <p:nvSpPr>
          <p:cNvPr id="33" name="Shape 31"/>
          <p:cNvSpPr/>
          <p:nvPr/>
        </p:nvSpPr>
        <p:spPr>
          <a:xfrm>
            <a:off x="5870448" y="4736592"/>
            <a:ext cx="457200" cy="0"/>
          </a:xfrm>
          <a:prstGeom prst="line">
            <a:avLst/>
          </a:prstGeom>
          <a:noFill/>
          <a:ln w="9525">
            <a:solidFill>
              <a:srgbClr val="7A8790"/>
            </a:solidFill>
            <a:prstDash val="sysDot"/>
          </a:ln>
        </p:spPr>
      </p:sp>
      <p:sp>
        <p:nvSpPr>
          <p:cNvPr id="34" name="Shape 32"/>
          <p:cNvSpPr/>
          <p:nvPr/>
        </p:nvSpPr>
        <p:spPr>
          <a:xfrm>
            <a:off x="6345936" y="4352544"/>
            <a:ext cx="5303520" cy="768096"/>
          </a:xfrm>
          <a:prstGeom prst="roundRect">
            <a:avLst>
              <a:gd name="adj" fmla="val 9524"/>
            </a:avLst>
          </a:prstGeom>
          <a:solidFill>
            <a:srgbClr val="F2F5F6"/>
          </a:solidFill>
          <a:ln/>
        </p:spPr>
      </p:sp>
      <p:sp>
        <p:nvSpPr>
          <p:cNvPr id="35" name="Text 33"/>
          <p:cNvSpPr/>
          <p:nvPr/>
        </p:nvSpPr>
        <p:spPr>
          <a:xfrm>
            <a:off x="6565392" y="4398264"/>
            <a:ext cx="4892040" cy="676656"/>
          </a:xfrm>
          <a:prstGeom prst="rect">
            <a:avLst/>
          </a:prstGeom>
          <a:noFill/>
          <a:ln/>
        </p:spPr>
        <p:txBody>
          <a:bodyPr wrap="square" lIns="0" tIns="0" rIns="0" bIns="0" rtlCol="0" anchor="ctr"/>
          <a:lstStyle/>
          <a:p>
            <a:pPr indent="0" marL="0">
              <a:lnSpc>
                <a:spcPct val="100000"/>
              </a:lnSpc>
              <a:buNone/>
            </a:pPr>
            <a:r>
              <a:rPr lang="en-US" sz="1000" b="1" dirty="0">
                <a:solidFill>
                  <a:srgbClr val="232A31"/>
                </a:solidFill>
                <a:latin typeface="Calibri" pitchFamily="34" charset="0"/>
                <a:ea typeface="Calibri" pitchFamily="34" charset="-122"/>
                <a:cs typeface="Calibri" pitchFamily="34" charset="-120"/>
              </a:rPr>
              <a:t>Why one anchor — </a:t>
            </a:r>
            <a:pPr indent="0" marL="0">
              <a:lnSpc>
                <a:spcPct val="100000"/>
              </a:lnSpc>
              <a:buNone/>
            </a:pPr>
            <a:r>
              <a:rPr lang="en-US" sz="920" i="1" dirty="0">
                <a:solidFill>
                  <a:srgbClr val="46545F"/>
                </a:solidFill>
                <a:latin typeface="Calibri" pitchFamily="34" charset="0"/>
                <a:ea typeface="Calibri" pitchFamily="34" charset="-122"/>
                <a:cs typeface="Calibri" pitchFamily="34" charset="-120"/>
              </a:rPr>
              <a:t>One reconciliation beats ten checks — and the language discipline survives into the deck leadership reads.</a:t>
            </a:r>
            <a:endParaRPr lang="en-US" sz="1000" dirty="0"/>
          </a:p>
        </p:txBody>
      </p:sp>
      <p:sp>
        <p:nvSpPr>
          <p:cNvPr id="36" name="Shape 34"/>
          <p:cNvSpPr/>
          <p:nvPr/>
        </p:nvSpPr>
        <p:spPr>
          <a:xfrm>
            <a:off x="685800" y="5175504"/>
            <a:ext cx="5166360" cy="731520"/>
          </a:xfrm>
          <a:prstGeom prst="roundRect">
            <a:avLst>
              <a:gd name="adj" fmla="val 5000"/>
            </a:avLst>
          </a:prstGeom>
          <a:solidFill>
            <a:srgbClr val="E4F0EF"/>
          </a:solidFill>
          <a:ln w="6350">
            <a:solidFill>
              <a:srgbClr val="DCE3E6"/>
            </a:solidFill>
            <a:prstDash val="solid"/>
          </a:ln>
        </p:spPr>
      </p:sp>
      <p:sp>
        <p:nvSpPr>
          <p:cNvPr id="37" name="Text 35"/>
          <p:cNvSpPr/>
          <p:nvPr/>
        </p:nvSpPr>
        <p:spPr>
          <a:xfrm>
            <a:off x="804672" y="5202936"/>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&lt;format&gt;</a:t>
            </a:r>
            <a:endParaRPr lang="en-US" sz="1100" dirty="0"/>
          </a:p>
        </p:txBody>
      </p:sp>
      <p:sp>
        <p:nvSpPr>
          <p:cNvPr id="38" name="Text 36"/>
          <p:cNvSpPr/>
          <p:nvPr/>
        </p:nvSpPr>
        <p:spPr>
          <a:xfrm>
            <a:off x="1883664" y="5202936"/>
            <a:ext cx="3886200" cy="676656"/>
          </a:xfrm>
          <a:prstGeom prst="rect">
            <a:avLst/>
          </a:prstGeom>
          <a:noFill/>
          <a:ln/>
        </p:spPr>
        <p:txBody>
          <a:bodyPr wrap="square" lIns="0" tIns="0" rIns="0" bIns="0" rtlCol="0" anchor="ctr"/>
          <a:lstStyle/>
          <a:p>
            <a:pPr indent="0" marL="0">
              <a:lnSpc>
                <a:spcPct val="100000"/>
              </a:lnSpc>
              <a:buNone/>
            </a:pPr>
            <a:r>
              <a:rPr lang="en-US" sz="780" dirty="0">
                <a:solidFill>
                  <a:srgbClr val="46545F"/>
                </a:solidFill>
                <a:latin typeface="Consolas" pitchFamily="34" charset="0"/>
                <a:ea typeface="Consolas" pitchFamily="34" charset="-122"/>
                <a:cs typeface="Consolas" pitchFamily="34" charset="-120"/>
              </a:rPr>
              <a:t>Headline answer with the number FIRST, then the table; assumptions and caveats at the end.</a:t>
            </a:r>
            <a:endParaRPr lang="en-US" sz="780" dirty="0"/>
          </a:p>
        </p:txBody>
      </p:sp>
      <p:sp>
        <p:nvSpPr>
          <p:cNvPr id="39" name="Shape 37"/>
          <p:cNvSpPr/>
          <p:nvPr/>
        </p:nvSpPr>
        <p:spPr>
          <a:xfrm>
            <a:off x="5870448" y="5541264"/>
            <a:ext cx="457200" cy="0"/>
          </a:xfrm>
          <a:prstGeom prst="line">
            <a:avLst/>
          </a:prstGeom>
          <a:noFill/>
          <a:ln w="9525">
            <a:solidFill>
              <a:srgbClr val="7A8790"/>
            </a:solidFill>
            <a:prstDash val="sysDot"/>
          </a:ln>
        </p:spPr>
      </p:sp>
      <p:sp>
        <p:nvSpPr>
          <p:cNvPr id="40" name="Shape 38"/>
          <p:cNvSpPr/>
          <p:nvPr/>
        </p:nvSpPr>
        <p:spPr>
          <a:xfrm>
            <a:off x="6345936" y="5157216"/>
            <a:ext cx="5303520" cy="768096"/>
          </a:xfrm>
          <a:prstGeom prst="roundRect">
            <a:avLst>
              <a:gd name="adj" fmla="val 9524"/>
            </a:avLst>
          </a:prstGeom>
          <a:solidFill>
            <a:srgbClr val="F2F5F6"/>
          </a:solidFill>
          <a:ln/>
        </p:spPr>
      </p:sp>
      <p:sp>
        <p:nvSpPr>
          <p:cNvPr id="41" name="Text 39"/>
          <p:cNvSpPr/>
          <p:nvPr/>
        </p:nvSpPr>
        <p:spPr>
          <a:xfrm>
            <a:off x="6565392" y="5202936"/>
            <a:ext cx="4892040" cy="676656"/>
          </a:xfrm>
          <a:prstGeom prst="rect">
            <a:avLst/>
          </a:prstGeom>
          <a:noFill/>
          <a:ln/>
        </p:spPr>
        <p:txBody>
          <a:bodyPr wrap="square" lIns="0" tIns="0" rIns="0" bIns="0" rtlCol="0" anchor="ctr"/>
          <a:lstStyle/>
          <a:p>
            <a:pPr indent="0" marL="0">
              <a:lnSpc>
                <a:spcPct val="100000"/>
              </a:lnSpc>
              <a:buNone/>
            </a:pPr>
            <a:r>
              <a:rPr lang="en-US" sz="1000" b="1" dirty="0">
                <a:solidFill>
                  <a:srgbClr val="232A31"/>
                </a:solidFill>
                <a:latin typeface="Calibri" pitchFamily="34" charset="0"/>
                <a:ea typeface="Calibri" pitchFamily="34" charset="-122"/>
                <a:cs typeface="Calibri" pitchFamily="34" charset="-120"/>
              </a:rPr>
              <a:t>Why answer-first — </a:t>
            </a:r>
            <a:pPr indent="0" marL="0">
              <a:lnSpc>
                <a:spcPct val="100000"/>
              </a:lnSpc>
              <a:buNone/>
            </a:pPr>
            <a:r>
              <a:rPr lang="en-US" sz="920" i="1" dirty="0">
                <a:solidFill>
                  <a:srgbClr val="46545F"/>
                </a:solidFill>
                <a:latin typeface="Calibri" pitchFamily="34" charset="0"/>
                <a:ea typeface="Calibri" pitchFamily="34" charset="-122"/>
                <a:cs typeface="Calibri" pitchFamily="34" charset="-120"/>
              </a:rPr>
              <a:t>You read the answer in 10 seconds and audit the rest only if it matters.</a:t>
            </a:r>
            <a:endParaRPr lang="en-US" sz="1000" dirty="0"/>
          </a:p>
        </p:txBody>
      </p:sp>
      <p:sp>
        <p:nvSpPr>
          <p:cNvPr id="42" name="Shape 40"/>
          <p:cNvSpPr/>
          <p:nvPr/>
        </p:nvSpPr>
        <p:spPr>
          <a:xfrm>
            <a:off x="502920" y="6126480"/>
            <a:ext cx="11155680" cy="411480"/>
          </a:xfrm>
          <a:prstGeom prst="roundRect">
            <a:avLst>
              <a:gd name="adj" fmla="val 17778"/>
            </a:avLst>
          </a:prstGeom>
          <a:solidFill>
            <a:srgbClr val="E4F0EF"/>
          </a:solidFill>
          <a:ln/>
        </p:spPr>
      </p:sp>
      <p:sp>
        <p:nvSpPr>
          <p:cNvPr id="43" name="Shape 41"/>
          <p:cNvSpPr/>
          <p:nvPr/>
        </p:nvSpPr>
        <p:spPr>
          <a:xfrm>
            <a:off x="667512" y="6140196"/>
            <a:ext cx="384048" cy="384048"/>
          </a:xfrm>
          <a:prstGeom prst="ellipse">
            <a:avLst/>
          </a:prstGeom>
          <a:solidFill>
            <a:srgbClr val="0E7C7B"/>
          </a:solidFill>
          <a:ln/>
        </p:spPr>
      </p:sp>
      <p:pic>
        <p:nvPicPr>
          <p:cNvPr id="44" name="Image 0" descr="/home/user/Claude-Works/ai-training-prompt-engineering/src/assets/icons/copy_w.png">    </p:cNvPr>
          <p:cNvPicPr>
            <a:picLocks noChangeAspect="1"/>
          </p:cNvPicPr>
          <p:nvPr/>
        </p:nvPicPr>
        <p:blipFill>
          <a:blip r:embed="rId1"/>
          <a:stretch>
            <a:fillRect/>
          </a:stretch>
        </p:blipFill>
        <p:spPr>
          <a:xfrm>
            <a:off x="767364" y="6240048"/>
            <a:ext cx="184343" cy="184343"/>
          </a:xfrm>
          <a:prstGeom prst="rect">
            <a:avLst/>
          </a:prstGeom>
        </p:spPr>
      </p:pic>
      <p:sp>
        <p:nvSpPr>
          <p:cNvPr id="45" name="Text 42"/>
          <p:cNvSpPr/>
          <p:nvPr/>
        </p:nvSpPr>
        <p:spPr>
          <a:xfrm>
            <a:off x="1216152" y="6199632"/>
            <a:ext cx="10213848" cy="265176"/>
          </a:xfrm>
          <a:prstGeom prst="rect">
            <a:avLst/>
          </a:prstGeom>
          <a:noFill/>
          <a:ln/>
        </p:spPr>
        <p:txBody>
          <a:bodyPr wrap="square" lIns="0" tIns="0" rIns="0" bIns="0" rtlCol="0" anchor="ctr"/>
          <a:lstStyle/>
          <a:p>
            <a:pPr indent="0" marL="0">
              <a:lnSpc>
                <a:spcPct val="106000"/>
              </a:lnSpc>
              <a:buNone/>
            </a:pPr>
            <a:r>
              <a:rPr lang="en-US" sz="1000" b="1" dirty="0">
                <a:solidFill>
                  <a:srgbClr val="0A5B5A"/>
                </a:solidFill>
                <a:latin typeface="Calibri" pitchFamily="34" charset="0"/>
                <a:ea typeface="Calibri" pitchFamily="34" charset="-122"/>
                <a:cs typeface="Calibri" pitchFamily="34" charset="-120"/>
              </a:rPr>
              <a:t>✂ Copy-paste, don’t retype: </a:t>
            </a:r>
            <a:pPr indent="0" marL="0">
              <a:lnSpc>
                <a:spcPct val="106000"/>
              </a:lnSpc>
              <a:buNone/>
            </a:pPr>
            <a:r>
              <a:rPr lang="en-US" sz="1000" dirty="0">
                <a:solidFill>
                  <a:srgbClr val="46545F"/>
                </a:solidFill>
                <a:latin typeface="Calibri" pitchFamily="34" charset="0"/>
                <a:ea typeface="Calibri" pitchFamily="34" charset="-122"/>
                <a:cs typeface="Calibri" pitchFamily="34" charset="-120"/>
              </a:rPr>
              <a:t>the full G2 template — blanks marked — is in tab G2-DataAnalysis of your Course Workbook; every prompt in this course lives in a named tab there.</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WALKTHROUGH 1 · DATA</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36</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WALKTHROUGH · AI DATA ANALYSIS — THE SETUP</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 real file, a real sequence — any AI tool</a:t>
            </a:r>
            <a:endParaRPr lang="en-US" sz="3000" dirty="0"/>
          </a:p>
        </p:txBody>
      </p:sp>
      <p:sp>
        <p:nvSpPr>
          <p:cNvPr id="6" name="Shape 4"/>
          <p:cNvSpPr/>
          <p:nvPr/>
        </p:nvSpPr>
        <p:spPr>
          <a:xfrm>
            <a:off x="502920" y="1481328"/>
            <a:ext cx="5394960" cy="2377440"/>
          </a:xfrm>
          <a:prstGeom prst="roundRect">
            <a:avLst>
              <a:gd name="adj" fmla="val 3077"/>
            </a:avLst>
          </a:prstGeom>
          <a:solidFill>
            <a:srgbClr val="F2F5F6"/>
          </a:solidFill>
          <a:ln/>
        </p:spPr>
      </p:sp>
      <p:sp>
        <p:nvSpPr>
          <p:cNvPr id="7" name="Text 5"/>
          <p:cNvSpPr/>
          <p:nvPr/>
        </p:nvSpPr>
        <p:spPr>
          <a:xfrm>
            <a:off x="777240" y="1664208"/>
            <a:ext cx="4846320" cy="347472"/>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Your practice data (in the Course Workbook)</a:t>
            </a:r>
            <a:endParaRPr lang="en-US" sz="1350" dirty="0"/>
          </a:p>
        </p:txBody>
      </p:sp>
      <p:sp>
        <p:nvSpPr>
          <p:cNvPr id="8" name="Text 6"/>
          <p:cNvSpPr/>
          <p:nvPr/>
        </p:nvSpPr>
        <p:spPr>
          <a:xfrm>
            <a:off x="822960" y="2084832"/>
            <a:ext cx="4846320" cy="173736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080" dirty="0">
                <a:solidFill>
                  <a:srgbClr val="46545F"/>
                </a:solidFill>
                <a:latin typeface="Calibri" pitchFamily="34" charset="0"/>
                <a:ea typeface="Calibri" pitchFamily="34" charset="-122"/>
                <a:cs typeface="Calibri" pitchFamily="34" charset="-120"/>
              </a:rPr>
              <a:t>Course_Workbook.xlsx, Data tab — 12 months of fictional supplier deliveries: 4 sites × 3 suppliers, 144 rows (units, returns, defects, inspection hours, cost, on-time).</a:t>
            </a:r>
            <a:endParaRPr lang="en-US" sz="1080" dirty="0"/>
          </a:p>
          <a:p>
            <a:pPr algn="l" marL="127000" indent="-127000">
              <a:lnSpc>
                <a:spcPct val="104000"/>
              </a:lnSpc>
              <a:spcAft>
                <a:spcPts val="700"/>
              </a:spcAft>
              <a:buSzPct val="100000"/>
              <a:buChar char="•"/>
            </a:pPr>
            <a:r>
              <a:rPr lang="en-US" sz="1080" b="1" dirty="0">
                <a:solidFill>
                  <a:srgbClr val="46545F"/>
                </a:solidFill>
                <a:latin typeface="Calibri" pitchFamily="34" charset="0"/>
                <a:ea typeface="Calibri" pitchFamily="34" charset="-122"/>
                <a:cs typeface="Calibri" pitchFamily="34" charset="-120"/>
              </a:rPr>
              <a:t>The README tab defines every column — that tab IS your &lt;data&gt; block: paste it, don’t retype it.</a:t>
            </a:r>
            <a:endParaRPr lang="en-US" sz="1080" dirty="0"/>
          </a:p>
          <a:p>
            <a:pPr algn="l" marL="127000" indent="-127000">
              <a:lnSpc>
                <a:spcPct val="104000"/>
              </a:lnSpc>
              <a:spcAft>
                <a:spcPts val="700"/>
              </a:spcAft>
              <a:buSzPct val="100000"/>
              <a:buChar char="•"/>
            </a:pPr>
            <a:r>
              <a:rPr lang="en-US" sz="1080" dirty="0">
                <a:solidFill>
                  <a:srgbClr val="46545F"/>
                </a:solidFill>
                <a:latin typeface="Calibri" pitchFamily="34" charset="0"/>
                <a:ea typeface="Calibri" pitchFamily="34" charset="-122"/>
                <a:cs typeface="Calibri" pitchFamily="34" charset="-120"/>
              </a:rPr>
              <a:t>Two quirks are planted on purpose. A good first prompt finds both.</a:t>
            </a:r>
            <a:endParaRPr lang="en-US" sz="1080" dirty="0"/>
          </a:p>
        </p:txBody>
      </p:sp>
      <p:sp>
        <p:nvSpPr>
          <p:cNvPr id="9" name="Shape 7"/>
          <p:cNvSpPr/>
          <p:nvPr/>
        </p:nvSpPr>
        <p:spPr>
          <a:xfrm>
            <a:off x="502920" y="4005072"/>
            <a:ext cx="5394960" cy="2011680"/>
          </a:xfrm>
          <a:prstGeom prst="roundRect">
            <a:avLst>
              <a:gd name="adj" fmla="val 3636"/>
            </a:avLst>
          </a:prstGeom>
          <a:solidFill>
            <a:srgbClr val="E4F0EF"/>
          </a:solidFill>
          <a:ln/>
        </p:spPr>
      </p:sp>
      <p:sp>
        <p:nvSpPr>
          <p:cNvPr id="10" name="Text 8"/>
          <p:cNvSpPr/>
          <p:nvPr/>
        </p:nvSpPr>
        <p:spPr>
          <a:xfrm>
            <a:off x="777240" y="4169664"/>
            <a:ext cx="4846320" cy="1737360"/>
          </a:xfrm>
          <a:prstGeom prst="rect">
            <a:avLst/>
          </a:prstGeom>
          <a:noFill/>
          <a:ln/>
        </p:spPr>
        <p:txBody>
          <a:bodyPr wrap="square" lIns="0" tIns="0" rIns="0" bIns="0" rtlCol="0" anchor="ctr"/>
          <a:lstStyle/>
          <a:p>
            <a:pPr indent="0" marL="0">
              <a:lnSpc>
                <a:spcPct val="110000"/>
              </a:lnSpc>
              <a:spcAft>
                <a:spcPts val="400"/>
              </a:spcAft>
              <a:buNone/>
            </a:pPr>
            <a:r>
              <a:rPr lang="en-US" sz="1200" b="1" dirty="0">
                <a:solidFill>
                  <a:srgbClr val="0A5B5A"/>
                </a:solidFill>
                <a:latin typeface="Calibri" pitchFamily="34" charset="0"/>
                <a:ea typeface="Calibri" pitchFamily="34" charset="-122"/>
                <a:cs typeface="Calibri" pitchFamily="34" charset="-120"/>
              </a:rPr>
              <a:t>The rule the whole walkthrough teaches: </a:t>
            </a:r>
            <a:endParaRPr lang="en-US" sz="120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never start with a question. Start by making the AI LOOK at the data and tell you what it sees — profile first, analyze second. Every wrong answer you’ve ever gotten from AI data analysis started with a skipped profile.</a:t>
            </a:r>
            <a:endParaRPr lang="en-US" sz="1200" dirty="0"/>
          </a:p>
        </p:txBody>
      </p:sp>
      <p:sp>
        <p:nvSpPr>
          <p:cNvPr id="11" name="Shape 9"/>
          <p:cNvSpPr/>
          <p:nvPr/>
        </p:nvSpPr>
        <p:spPr>
          <a:xfrm>
            <a:off x="6172200" y="1481328"/>
            <a:ext cx="5486400" cy="475488"/>
          </a:xfrm>
          <a:prstGeom prst="roundRect">
            <a:avLst>
              <a:gd name="adj" fmla="val 15385"/>
            </a:avLst>
          </a:prstGeom>
          <a:solidFill>
            <a:srgbClr val="E4F0EF"/>
          </a:solidFill>
          <a:ln/>
        </p:spPr>
      </p:sp>
      <p:sp>
        <p:nvSpPr>
          <p:cNvPr id="12" name="Shape 10"/>
          <p:cNvSpPr/>
          <p:nvPr/>
        </p:nvSpPr>
        <p:spPr>
          <a:xfrm>
            <a:off x="6245352" y="1527048"/>
            <a:ext cx="384048" cy="384048"/>
          </a:xfrm>
          <a:prstGeom prst="ellipse">
            <a:avLst/>
          </a:prstGeom>
          <a:solidFill>
            <a:srgbClr val="0E7C7B"/>
          </a:solidFill>
          <a:ln/>
        </p:spPr>
      </p:sp>
      <p:sp>
        <p:nvSpPr>
          <p:cNvPr id="13" name="Text 11"/>
          <p:cNvSpPr/>
          <p:nvPr/>
        </p:nvSpPr>
        <p:spPr>
          <a:xfrm>
            <a:off x="6245352" y="152704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4" name="Text 12"/>
          <p:cNvSpPr/>
          <p:nvPr/>
        </p:nvSpPr>
        <p:spPr>
          <a:xfrm>
            <a:off x="6739128" y="1527048"/>
            <a:ext cx="480060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UPLOAD the workbook to your AI</a:t>
            </a:r>
            <a:endParaRPr lang="en-US" sz="1200" dirty="0"/>
          </a:p>
        </p:txBody>
      </p:sp>
      <p:sp>
        <p:nvSpPr>
          <p:cNvPr id="15" name="Shape 13"/>
          <p:cNvSpPr/>
          <p:nvPr/>
        </p:nvSpPr>
        <p:spPr>
          <a:xfrm>
            <a:off x="8915400" y="1975104"/>
            <a:ext cx="0" cy="182880"/>
          </a:xfrm>
          <a:prstGeom prst="line">
            <a:avLst/>
          </a:prstGeom>
          <a:noFill/>
          <a:ln w="19050">
            <a:solidFill>
              <a:srgbClr val="0E7C7B"/>
            </a:solidFill>
            <a:prstDash val="solid"/>
            <a:tailEnd type="triangle"/>
          </a:ln>
        </p:spPr>
      </p:sp>
      <p:sp>
        <p:nvSpPr>
          <p:cNvPr id="16" name="Shape 14"/>
          <p:cNvSpPr/>
          <p:nvPr/>
        </p:nvSpPr>
        <p:spPr>
          <a:xfrm>
            <a:off x="6172200" y="2194560"/>
            <a:ext cx="5486400" cy="475488"/>
          </a:xfrm>
          <a:prstGeom prst="roundRect">
            <a:avLst>
              <a:gd name="adj" fmla="val 15385"/>
            </a:avLst>
          </a:prstGeom>
          <a:solidFill>
            <a:srgbClr val="E4F0EF"/>
          </a:solidFill>
          <a:ln/>
        </p:spPr>
      </p:sp>
      <p:sp>
        <p:nvSpPr>
          <p:cNvPr id="17" name="Shape 15"/>
          <p:cNvSpPr/>
          <p:nvPr/>
        </p:nvSpPr>
        <p:spPr>
          <a:xfrm>
            <a:off x="6245352" y="2240280"/>
            <a:ext cx="384048" cy="384048"/>
          </a:xfrm>
          <a:prstGeom prst="ellipse">
            <a:avLst/>
          </a:prstGeom>
          <a:solidFill>
            <a:srgbClr val="0E7C7B"/>
          </a:solidFill>
          <a:ln/>
        </p:spPr>
      </p:sp>
      <p:sp>
        <p:nvSpPr>
          <p:cNvPr id="18" name="Text 16"/>
          <p:cNvSpPr/>
          <p:nvPr/>
        </p:nvSpPr>
        <p:spPr>
          <a:xfrm>
            <a:off x="6245352" y="224028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9" name="Text 17"/>
          <p:cNvSpPr/>
          <p:nvPr/>
        </p:nvSpPr>
        <p:spPr>
          <a:xfrm>
            <a:off x="6739128" y="2240280"/>
            <a:ext cx="480060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TYPE THIS — then wait (tab G2-DataAnalysis)</a:t>
            </a:r>
            <a:endParaRPr lang="en-US" sz="1200" dirty="0"/>
          </a:p>
        </p:txBody>
      </p:sp>
      <p:sp>
        <p:nvSpPr>
          <p:cNvPr id="20" name="Shape 18"/>
          <p:cNvSpPr/>
          <p:nvPr/>
        </p:nvSpPr>
        <p:spPr>
          <a:xfrm>
            <a:off x="6172200" y="2724912"/>
            <a:ext cx="5486400" cy="1371600"/>
          </a:xfrm>
          <a:prstGeom prst="roundRect">
            <a:avLst>
              <a:gd name="adj" fmla="val 5333"/>
            </a:avLst>
          </a:prstGeom>
          <a:solidFill>
            <a:srgbClr val="FFFFFF"/>
          </a:solidFill>
          <a:ln w="9525">
            <a:solidFill>
              <a:srgbClr val="DCE3E6"/>
            </a:solidFill>
            <a:prstDash val="solid"/>
          </a:ln>
        </p:spPr>
      </p:sp>
      <p:sp>
        <p:nvSpPr>
          <p:cNvPr id="21" name="Text 19"/>
          <p:cNvSpPr/>
          <p:nvPr/>
        </p:nvSpPr>
        <p:spPr>
          <a:xfrm>
            <a:off x="6355080" y="2816352"/>
            <a:ext cx="5120640" cy="1207008"/>
          </a:xfrm>
          <a:prstGeom prst="rect">
            <a:avLst/>
          </a:prstGeom>
          <a:noFill/>
          <a:ln/>
        </p:spPr>
        <p:txBody>
          <a:bodyPr wrap="square" lIns="0" tIns="0" rIns="0" bIns="0" rtlCol="0" anchor="ctr"/>
          <a:lstStyle/>
          <a:p>
            <a:pPr indent="0" marL="0">
              <a:lnSpc>
                <a:spcPct val="110000"/>
              </a:lnSpc>
              <a:buNone/>
            </a:pPr>
            <a:r>
              <a:rPr lang="en-US" sz="960" dirty="0">
                <a:solidFill>
                  <a:srgbClr val="0A5B5A"/>
                </a:solidFill>
                <a:latin typeface="Consolas" pitchFamily="34" charset="0"/>
                <a:ea typeface="Consolas" pitchFamily="34" charset="-122"/>
                <a:cs typeface="Consolas" pitchFamily="34" charset="-120"/>
              </a:rPr>
              <a:t>Work only with the Data tab of this workbook. Before any analysis: profile it — rows, columns, types, missing or odd values, and anything that would trip a calculation. Show me the profile and STOP. Do not analyze yet.</a:t>
            </a:r>
            <a:endParaRPr lang="en-US" sz="960" dirty="0"/>
          </a:p>
        </p:txBody>
      </p:sp>
      <p:sp>
        <p:nvSpPr>
          <p:cNvPr id="22" name="Shape 20"/>
          <p:cNvSpPr/>
          <p:nvPr/>
        </p:nvSpPr>
        <p:spPr>
          <a:xfrm>
            <a:off x="8915400" y="4133088"/>
            <a:ext cx="0" cy="182880"/>
          </a:xfrm>
          <a:prstGeom prst="line">
            <a:avLst/>
          </a:prstGeom>
          <a:noFill/>
          <a:ln w="19050">
            <a:solidFill>
              <a:srgbClr val="0E7C7B"/>
            </a:solidFill>
            <a:prstDash val="solid"/>
            <a:tailEnd type="triangle"/>
          </a:ln>
        </p:spPr>
      </p:sp>
      <p:sp>
        <p:nvSpPr>
          <p:cNvPr id="23" name="Shape 21"/>
          <p:cNvSpPr/>
          <p:nvPr/>
        </p:nvSpPr>
        <p:spPr>
          <a:xfrm>
            <a:off x="6172200" y="4352544"/>
            <a:ext cx="5486400" cy="475488"/>
          </a:xfrm>
          <a:prstGeom prst="roundRect">
            <a:avLst>
              <a:gd name="adj" fmla="val 15385"/>
            </a:avLst>
          </a:prstGeom>
          <a:solidFill>
            <a:srgbClr val="FBF0E0"/>
          </a:solidFill>
          <a:ln/>
        </p:spPr>
      </p:sp>
      <p:sp>
        <p:nvSpPr>
          <p:cNvPr id="24" name="Shape 22"/>
          <p:cNvSpPr/>
          <p:nvPr/>
        </p:nvSpPr>
        <p:spPr>
          <a:xfrm>
            <a:off x="6245352" y="4398264"/>
            <a:ext cx="384048" cy="384048"/>
          </a:xfrm>
          <a:prstGeom prst="ellipse">
            <a:avLst/>
          </a:prstGeom>
          <a:solidFill>
            <a:srgbClr val="0E7C7B"/>
          </a:solidFill>
          <a:ln/>
        </p:spPr>
      </p:sp>
      <p:sp>
        <p:nvSpPr>
          <p:cNvPr id="25" name="Text 23"/>
          <p:cNvSpPr/>
          <p:nvPr/>
        </p:nvSpPr>
        <p:spPr>
          <a:xfrm>
            <a:off x="6245352" y="439826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6" name="Text 24"/>
          <p:cNvSpPr/>
          <p:nvPr/>
        </p:nvSpPr>
        <p:spPr>
          <a:xfrm>
            <a:off x="6739128" y="4398264"/>
            <a:ext cx="480060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CHECK the profile against this reveal</a:t>
            </a:r>
            <a:endParaRPr lang="en-US" sz="1200" dirty="0"/>
          </a:p>
        </p:txBody>
      </p:sp>
      <p:sp>
        <p:nvSpPr>
          <p:cNvPr id="27" name="Shape 25"/>
          <p:cNvSpPr/>
          <p:nvPr/>
        </p:nvSpPr>
        <p:spPr>
          <a:xfrm>
            <a:off x="6172200" y="4882896"/>
            <a:ext cx="5486400" cy="1207008"/>
          </a:xfrm>
          <a:prstGeom prst="roundRect">
            <a:avLst>
              <a:gd name="adj" fmla="val 6061"/>
            </a:avLst>
          </a:prstGeom>
          <a:solidFill>
            <a:srgbClr val="FBF0E0"/>
          </a:solidFill>
          <a:ln/>
        </p:spPr>
      </p:sp>
      <p:sp>
        <p:nvSpPr>
          <p:cNvPr id="28" name="Text 26"/>
          <p:cNvSpPr/>
          <p:nvPr/>
        </p:nvSpPr>
        <p:spPr>
          <a:xfrm>
            <a:off x="6382512" y="4974336"/>
            <a:ext cx="5074920" cy="1024128"/>
          </a:xfrm>
          <a:prstGeom prst="rect">
            <a:avLst/>
          </a:prstGeom>
          <a:noFill/>
          <a:ln/>
        </p:spPr>
        <p:txBody>
          <a:bodyPr wrap="square" lIns="0" tIns="0" rIns="0" bIns="0" rtlCol="0" anchor="ctr"/>
          <a:lstStyle/>
          <a:p>
            <a:pPr indent="0" marL="0">
              <a:lnSpc>
                <a:spcPct val="106000"/>
              </a:lnSpc>
              <a:buNone/>
            </a:pPr>
            <a:r>
              <a:rPr lang="en-US" sz="1050" b="1" dirty="0">
                <a:solidFill>
                  <a:srgbClr val="B96A1B"/>
                </a:solidFill>
                <a:latin typeface="Calibri" pitchFamily="34" charset="0"/>
                <a:ea typeface="Calibri" pitchFamily="34" charset="-122"/>
                <a:cs typeface="Calibri" pitchFamily="34" charset="-120"/>
              </a:rPr>
              <a:t>A good profile finds: </a:t>
            </a:r>
            <a:pPr indent="0" marL="0">
              <a:lnSpc>
                <a:spcPct val="106000"/>
              </a:lnSpc>
              <a:buNone/>
            </a:pPr>
            <a:r>
              <a:rPr lang="en-US" sz="1000" dirty="0">
                <a:solidFill>
                  <a:srgbClr val="46545F"/>
                </a:solidFill>
                <a:latin typeface="Calibri" pitchFamily="34" charset="0"/>
                <a:ea typeface="Calibri" pitchFamily="34" charset="-122"/>
                <a:cs typeface="Calibri" pitchFamily="34" charset="-120"/>
              </a:rPr>
              <a:t>144 data rows + a TOTAL row to exclude · one Inspection_Hours cell that says “n/a” · clean types elsewhere. Missed a quirk? That’s why this step exists — tell it, and make it re-profile.</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WALKTHROUGH 1 · DATA</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37</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WALKTHROUGH · CORRELATIONS &amp; COMPARISONS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Numbered questions in, defended answers out</a:t>
            </a:r>
            <a:endParaRPr lang="en-US" sz="3000" dirty="0"/>
          </a:p>
        </p:txBody>
      </p:sp>
      <p:sp>
        <p:nvSpPr>
          <p:cNvPr id="6" name="Shape 4"/>
          <p:cNvSpPr/>
          <p:nvPr/>
        </p:nvSpPr>
        <p:spPr>
          <a:xfrm>
            <a:off x="502920" y="1481328"/>
            <a:ext cx="11155680" cy="475488"/>
          </a:xfrm>
          <a:prstGeom prst="roundRect">
            <a:avLst>
              <a:gd name="adj" fmla="val 15385"/>
            </a:avLst>
          </a:prstGeom>
          <a:solidFill>
            <a:srgbClr val="E4F0EF"/>
          </a:solidFill>
          <a:ln/>
        </p:spPr>
      </p:sp>
      <p:sp>
        <p:nvSpPr>
          <p:cNvPr id="7" name="Shape 5"/>
          <p:cNvSpPr/>
          <p:nvPr/>
        </p:nvSpPr>
        <p:spPr>
          <a:xfrm>
            <a:off x="576072" y="1527048"/>
            <a:ext cx="384048" cy="384048"/>
          </a:xfrm>
          <a:prstGeom prst="ellipse">
            <a:avLst/>
          </a:prstGeom>
          <a:solidFill>
            <a:srgbClr val="0E7C7B"/>
          </a:solidFill>
          <a:ln/>
        </p:spPr>
      </p:sp>
      <p:sp>
        <p:nvSpPr>
          <p:cNvPr id="8" name="Text 6"/>
          <p:cNvSpPr/>
          <p:nvPr/>
        </p:nvSpPr>
        <p:spPr>
          <a:xfrm>
            <a:off x="576072" y="152704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1069848" y="1527048"/>
            <a:ext cx="1046988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Ask numbered questions — not topics</a:t>
            </a:r>
            <a:endParaRPr lang="en-US" sz="1200" dirty="0"/>
          </a:p>
        </p:txBody>
      </p:sp>
      <p:sp>
        <p:nvSpPr>
          <p:cNvPr id="10" name="Shape 8"/>
          <p:cNvSpPr/>
          <p:nvPr/>
        </p:nvSpPr>
        <p:spPr>
          <a:xfrm>
            <a:off x="502920" y="1993392"/>
            <a:ext cx="11155680" cy="950976"/>
          </a:xfrm>
          <a:prstGeom prst="roundRect">
            <a:avLst>
              <a:gd name="adj" fmla="val 7692"/>
            </a:avLst>
          </a:prstGeom>
          <a:solidFill>
            <a:srgbClr val="FFFFFF"/>
          </a:solidFill>
          <a:ln w="9525">
            <a:solidFill>
              <a:srgbClr val="DCE3E6"/>
            </a:solidFill>
            <a:prstDash val="solid"/>
          </a:ln>
        </p:spPr>
      </p:sp>
      <p:sp>
        <p:nvSpPr>
          <p:cNvPr id="11" name="Text 9"/>
          <p:cNvSpPr/>
          <p:nvPr/>
        </p:nvSpPr>
        <p:spPr>
          <a:xfrm>
            <a:off x="685800" y="2057400"/>
            <a:ext cx="10789920" cy="822960"/>
          </a:xfrm>
          <a:prstGeom prst="rect">
            <a:avLst/>
          </a:prstGeom>
          <a:noFill/>
          <a:ln/>
        </p:spPr>
        <p:txBody>
          <a:bodyPr wrap="square" lIns="0" tIns="0" rIns="0" bIns="0" rtlCol="0" anchor="ctr"/>
          <a:lstStyle/>
          <a:p>
            <a:pPr indent="0" marL="0">
              <a:lnSpc>
                <a:spcPct val="106000"/>
              </a:lnSpc>
              <a:buNone/>
            </a:pPr>
            <a:r>
              <a:rPr lang="en-US" sz="840" dirty="0">
                <a:solidFill>
                  <a:srgbClr val="0A5B5A"/>
                </a:solidFill>
                <a:latin typeface="Consolas" pitchFamily="34" charset="0"/>
                <a:ea typeface="Consolas" pitchFamily="34" charset="-122"/>
                <a:cs typeface="Consolas" pitchFamily="34" charset="-120"/>
              </a:rPr>
              <a:t>Working only on the 144 data rows (exclude the TOTAL row; treat the “n/a” as missing and say so): 1) Which supplier has the highest defect rate — (Defects_Found + Units_Returned) ÷ Units_Shipped — overall, and is it getting better or worse across the year? 2) Is there a relationship between Inspection_Hours and Units_Returned? Compute the correlation by running code, show your working, and describe it as an association, not a cause. 3) Rank the sites by On_Time_Percent. Answer in that order, then stop.</a:t>
            </a:r>
            <a:endParaRPr lang="en-US" sz="840" dirty="0"/>
          </a:p>
        </p:txBody>
      </p:sp>
      <p:sp>
        <p:nvSpPr>
          <p:cNvPr id="12" name="Shape 10"/>
          <p:cNvSpPr/>
          <p:nvPr/>
        </p:nvSpPr>
        <p:spPr>
          <a:xfrm>
            <a:off x="502920" y="3017520"/>
            <a:ext cx="11155680" cy="475488"/>
          </a:xfrm>
          <a:prstGeom prst="roundRect">
            <a:avLst>
              <a:gd name="adj" fmla="val 15385"/>
            </a:avLst>
          </a:prstGeom>
          <a:solidFill>
            <a:srgbClr val="E4F0EF"/>
          </a:solidFill>
          <a:ln/>
        </p:spPr>
      </p:sp>
      <p:sp>
        <p:nvSpPr>
          <p:cNvPr id="13" name="Shape 11"/>
          <p:cNvSpPr/>
          <p:nvPr/>
        </p:nvSpPr>
        <p:spPr>
          <a:xfrm>
            <a:off x="576072" y="3063240"/>
            <a:ext cx="384048" cy="384048"/>
          </a:xfrm>
          <a:prstGeom prst="ellipse">
            <a:avLst/>
          </a:prstGeom>
          <a:solidFill>
            <a:srgbClr val="0E7C7B"/>
          </a:solidFill>
          <a:ln/>
        </p:spPr>
      </p:sp>
      <p:sp>
        <p:nvSpPr>
          <p:cNvPr id="14" name="Text 12"/>
          <p:cNvSpPr/>
          <p:nvPr/>
        </p:nvSpPr>
        <p:spPr>
          <a:xfrm>
            <a:off x="576072" y="306324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p:nvPr/>
        </p:nvSpPr>
        <p:spPr>
          <a:xfrm>
            <a:off x="1069848" y="3063240"/>
            <a:ext cx="1046988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Comparative analysis — the scorecard</a:t>
            </a:r>
            <a:endParaRPr lang="en-US" sz="1200" dirty="0"/>
          </a:p>
        </p:txBody>
      </p:sp>
      <p:sp>
        <p:nvSpPr>
          <p:cNvPr id="16" name="Shape 14"/>
          <p:cNvSpPr/>
          <p:nvPr/>
        </p:nvSpPr>
        <p:spPr>
          <a:xfrm>
            <a:off x="502920" y="3529584"/>
            <a:ext cx="11155680" cy="786384"/>
          </a:xfrm>
          <a:prstGeom prst="roundRect">
            <a:avLst>
              <a:gd name="adj" fmla="val 9302"/>
            </a:avLst>
          </a:prstGeom>
          <a:solidFill>
            <a:srgbClr val="FFFFFF"/>
          </a:solidFill>
          <a:ln w="9525">
            <a:solidFill>
              <a:srgbClr val="DCE3E6"/>
            </a:solidFill>
            <a:prstDash val="solid"/>
          </a:ln>
        </p:spPr>
      </p:sp>
      <p:sp>
        <p:nvSpPr>
          <p:cNvPr id="17" name="Text 15"/>
          <p:cNvSpPr/>
          <p:nvPr/>
        </p:nvSpPr>
        <p:spPr>
          <a:xfrm>
            <a:off x="685800" y="3593592"/>
            <a:ext cx="10789920" cy="658368"/>
          </a:xfrm>
          <a:prstGeom prst="rect">
            <a:avLst/>
          </a:prstGeom>
          <a:noFill/>
          <a:ln/>
        </p:spPr>
        <p:txBody>
          <a:bodyPr wrap="square" lIns="0" tIns="0" rIns="0" bIns="0" rtlCol="0" anchor="ctr"/>
          <a:lstStyle/>
          <a:p>
            <a:pPr indent="0" marL="0">
              <a:lnSpc>
                <a:spcPct val="106000"/>
              </a:lnSpc>
              <a:buNone/>
            </a:pPr>
            <a:r>
              <a:rPr lang="en-US" sz="840" dirty="0">
                <a:solidFill>
                  <a:srgbClr val="0A5B5A"/>
                </a:solidFill>
                <a:latin typeface="Consolas" pitchFamily="34" charset="0"/>
                <a:ea typeface="Consolas" pitchFamily="34" charset="-122"/>
                <a:cs typeface="Consolas" pitchFamily="34" charset="-120"/>
              </a:rPr>
              <a:t>Build a supplier scorecard: one row per supplier — defect rate, return rate, average unit cost, average on-time % — best value per column marked. Then one paragraph: if we had to consolidate to one supplier, which one, and what does this data NOT tell us about that decision?</a:t>
            </a:r>
            <a:endParaRPr lang="en-US" sz="840" dirty="0"/>
          </a:p>
        </p:txBody>
      </p:sp>
      <p:sp>
        <p:nvSpPr>
          <p:cNvPr id="18" name="Shape 16"/>
          <p:cNvSpPr/>
          <p:nvPr/>
        </p:nvSpPr>
        <p:spPr>
          <a:xfrm>
            <a:off x="502920" y="4553712"/>
            <a:ext cx="11155680" cy="475488"/>
          </a:xfrm>
          <a:prstGeom prst="roundRect">
            <a:avLst>
              <a:gd name="adj" fmla="val 15385"/>
            </a:avLst>
          </a:prstGeom>
          <a:solidFill>
            <a:srgbClr val="E4F0EF"/>
          </a:solidFill>
          <a:ln/>
        </p:spPr>
      </p:sp>
      <p:sp>
        <p:nvSpPr>
          <p:cNvPr id="19" name="Shape 17"/>
          <p:cNvSpPr/>
          <p:nvPr/>
        </p:nvSpPr>
        <p:spPr>
          <a:xfrm>
            <a:off x="576072" y="4599432"/>
            <a:ext cx="384048" cy="384048"/>
          </a:xfrm>
          <a:prstGeom prst="ellipse">
            <a:avLst/>
          </a:prstGeom>
          <a:solidFill>
            <a:srgbClr val="0E7C7B"/>
          </a:solidFill>
          <a:ln/>
        </p:spPr>
      </p:sp>
      <p:sp>
        <p:nvSpPr>
          <p:cNvPr id="20" name="Text 18"/>
          <p:cNvSpPr/>
          <p:nvPr/>
        </p:nvSpPr>
        <p:spPr>
          <a:xfrm>
            <a:off x="576072" y="4599432"/>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9"/>
          <p:cNvSpPr/>
          <p:nvPr/>
        </p:nvSpPr>
        <p:spPr>
          <a:xfrm>
            <a:off x="1069848" y="4599432"/>
            <a:ext cx="1046988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The trust check</a:t>
            </a:r>
            <a:endParaRPr lang="en-US" sz="1200" dirty="0"/>
          </a:p>
        </p:txBody>
      </p:sp>
      <p:sp>
        <p:nvSpPr>
          <p:cNvPr id="22" name="Shape 20"/>
          <p:cNvSpPr/>
          <p:nvPr/>
        </p:nvSpPr>
        <p:spPr>
          <a:xfrm>
            <a:off x="502920" y="5065776"/>
            <a:ext cx="11155680" cy="786384"/>
          </a:xfrm>
          <a:prstGeom prst="roundRect">
            <a:avLst>
              <a:gd name="adj" fmla="val 9302"/>
            </a:avLst>
          </a:prstGeom>
          <a:solidFill>
            <a:srgbClr val="FFFFFF"/>
          </a:solidFill>
          <a:ln w="9525">
            <a:solidFill>
              <a:srgbClr val="DCE3E6"/>
            </a:solidFill>
            <a:prstDash val="solid"/>
          </a:ln>
        </p:spPr>
      </p:sp>
      <p:sp>
        <p:nvSpPr>
          <p:cNvPr id="23" name="Text 21"/>
          <p:cNvSpPr/>
          <p:nvPr/>
        </p:nvSpPr>
        <p:spPr>
          <a:xfrm>
            <a:off x="685800" y="5129784"/>
            <a:ext cx="10789920" cy="658368"/>
          </a:xfrm>
          <a:prstGeom prst="rect">
            <a:avLst/>
          </a:prstGeom>
          <a:noFill/>
          <a:ln/>
        </p:spPr>
        <p:txBody>
          <a:bodyPr wrap="square" lIns="0" tIns="0" rIns="0" bIns="0" rtlCol="0" anchor="ctr"/>
          <a:lstStyle/>
          <a:p>
            <a:pPr indent="0" marL="0">
              <a:lnSpc>
                <a:spcPct val="106000"/>
              </a:lnSpc>
              <a:buNone/>
            </a:pPr>
            <a:r>
              <a:rPr lang="en-US" sz="840" dirty="0">
                <a:solidFill>
                  <a:srgbClr val="0A5B5A"/>
                </a:solidFill>
                <a:latin typeface="Consolas" pitchFamily="34" charset="0"/>
                <a:ea typeface="Consolas" pitchFamily="34" charset="-122"/>
                <a:cs typeface="Consolas" pitchFamily="34" charset="-120"/>
              </a:rPr>
              <a:t>Reconcile: sum Units_Shipped across your 144 rows and compare it to the TOTAL row you excluded. Do they match? If not, what happened?</a:t>
            </a:r>
            <a:endParaRPr lang="en-US" sz="840" dirty="0"/>
          </a:p>
        </p:txBody>
      </p:sp>
      <p:sp>
        <p:nvSpPr>
          <p:cNvPr id="24" name="Shape 22"/>
          <p:cNvSpPr/>
          <p:nvPr/>
        </p:nvSpPr>
        <p:spPr>
          <a:xfrm>
            <a:off x="502920" y="6126480"/>
            <a:ext cx="11155680" cy="384048"/>
          </a:xfrm>
          <a:prstGeom prst="roundRect">
            <a:avLst>
              <a:gd name="adj" fmla="val 19048"/>
            </a:avLst>
          </a:prstGeom>
          <a:solidFill>
            <a:srgbClr val="FBF0E0"/>
          </a:solidFill>
          <a:ln/>
        </p:spPr>
      </p:sp>
      <p:sp>
        <p:nvSpPr>
          <p:cNvPr id="25" name="Shape 23"/>
          <p:cNvSpPr/>
          <p:nvPr/>
        </p:nvSpPr>
        <p:spPr>
          <a:xfrm>
            <a:off x="667512" y="6126480"/>
            <a:ext cx="384048" cy="384048"/>
          </a:xfrm>
          <a:prstGeom prst="ellipse">
            <a:avLst/>
          </a:prstGeom>
          <a:solidFill>
            <a:srgbClr val="B96A1B"/>
          </a:solidFill>
          <a:ln/>
        </p:spPr>
      </p:sp>
      <p:pic>
        <p:nvPicPr>
          <p:cNvPr id="26" name="Image 0" descr="/home/user/Claude-Works/ai-training-prompt-engineering/src/assets/icons/target_w.png">    </p:cNvPr>
          <p:cNvPicPr>
            <a:picLocks noChangeAspect="1"/>
          </p:cNvPicPr>
          <p:nvPr/>
        </p:nvPicPr>
        <p:blipFill>
          <a:blip r:embed="rId1"/>
          <a:stretch>
            <a:fillRect/>
          </a:stretch>
        </p:blipFill>
        <p:spPr>
          <a:xfrm>
            <a:off x="767364" y="6226332"/>
            <a:ext cx="184343" cy="184343"/>
          </a:xfrm>
          <a:prstGeom prst="rect">
            <a:avLst/>
          </a:prstGeom>
        </p:spPr>
      </p:pic>
      <p:sp>
        <p:nvSpPr>
          <p:cNvPr id="27" name="Text 24"/>
          <p:cNvSpPr/>
          <p:nvPr/>
        </p:nvSpPr>
        <p:spPr>
          <a:xfrm>
            <a:off x="1216152" y="6199632"/>
            <a:ext cx="10213848" cy="237744"/>
          </a:xfrm>
          <a:prstGeom prst="rect">
            <a:avLst/>
          </a:prstGeom>
          <a:noFill/>
          <a:ln/>
        </p:spPr>
        <p:txBody>
          <a:bodyPr wrap="square" lIns="0" tIns="0" rIns="0" bIns="0" rtlCol="0" anchor="ctr"/>
          <a:lstStyle/>
          <a:p>
            <a:pPr indent="0" marL="0">
              <a:lnSpc>
                <a:spcPct val="106000"/>
              </a:lnSpc>
              <a:buNone/>
            </a:pPr>
            <a:r>
              <a:rPr lang="en-US" sz="1000" b="1" dirty="0">
                <a:solidFill>
                  <a:srgbClr val="232A31"/>
                </a:solidFill>
                <a:latin typeface="Calibri" pitchFamily="34" charset="0"/>
                <a:ea typeface="Calibri" pitchFamily="34" charset="-122"/>
                <a:cs typeface="Calibri" pitchFamily="34" charset="-120"/>
              </a:rPr>
              <a:t>The tension the data holds: </a:t>
            </a:r>
            <a:pPr indent="0" marL="0">
              <a:lnSpc>
                <a:spcPct val="106000"/>
              </a:lnSpc>
              <a:buNone/>
            </a:pPr>
            <a:r>
              <a:rPr lang="en-US" sz="1000" dirty="0">
                <a:solidFill>
                  <a:srgbClr val="46545F"/>
                </a:solidFill>
                <a:latin typeface="Calibri" pitchFamily="34" charset="0"/>
                <a:ea typeface="Calibri" pitchFamily="34" charset="-122"/>
                <a:cs typeface="Calibri" pitchFamily="34" charset="-120"/>
              </a:rPr>
              <a:t>the cheapest supplier is also the most defective, and its defect rate is climbing — the scorecard question has no lazy answer.</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WALKTHROUGH 1 · DATA</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38</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WALKTHROUGH · THREE QUOTES, ONE TABLE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Messy documents in, decision-ready table out</a:t>
            </a:r>
            <a:endParaRPr lang="en-US" sz="3000" dirty="0"/>
          </a:p>
        </p:txBody>
      </p:sp>
      <p:sp>
        <p:nvSpPr>
          <p:cNvPr id="6" name="Shape 4"/>
          <p:cNvSpPr/>
          <p:nvPr/>
        </p:nvSpPr>
        <p:spPr>
          <a:xfrm>
            <a:off x="502920" y="1481328"/>
            <a:ext cx="5394960" cy="2286000"/>
          </a:xfrm>
          <a:prstGeom prst="roundRect">
            <a:avLst>
              <a:gd name="adj" fmla="val 3200"/>
            </a:avLst>
          </a:prstGeom>
          <a:solidFill>
            <a:srgbClr val="F2F5F6"/>
          </a:solidFill>
          <a:ln/>
        </p:spPr>
      </p:sp>
      <p:sp>
        <p:nvSpPr>
          <p:cNvPr id="7" name="Text 5"/>
          <p:cNvSpPr/>
          <p:nvPr/>
        </p:nvSpPr>
        <p:spPr>
          <a:xfrm>
            <a:off x="777240" y="1645920"/>
            <a:ext cx="484632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input (also in your pack)</a:t>
            </a:r>
            <a:endParaRPr lang="en-US" sz="1350" dirty="0"/>
          </a:p>
        </p:txBody>
      </p:sp>
      <p:sp>
        <p:nvSpPr>
          <p:cNvPr id="8" name="Text 6"/>
          <p:cNvSpPr/>
          <p:nvPr/>
        </p:nvSpPr>
        <p:spPr>
          <a:xfrm>
            <a:off x="822960" y="2048256"/>
            <a:ext cx="4846320" cy="164592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080" dirty="0">
                <a:solidFill>
                  <a:srgbClr val="46545F"/>
                </a:solidFill>
                <a:latin typeface="Calibri" pitchFamily="34" charset="0"/>
                <a:ea typeface="Calibri" pitchFamily="34" charset="-122"/>
                <a:cs typeface="Calibri" pitchFamily="34" charset="-120"/>
              </a:rPr>
              <a:t>Three fictional supplier quotations (PDFs) answering the same RFQ — Alpha Components, Bravo Plastics, Cardinal Metals.</a:t>
            </a:r>
            <a:endParaRPr lang="en-US" sz="1080" dirty="0"/>
          </a:p>
          <a:p>
            <a:pPr algn="l" marL="127000" indent="-127000">
              <a:lnSpc>
                <a:spcPct val="104000"/>
              </a:lnSpc>
              <a:spcAft>
                <a:spcPts val="700"/>
              </a:spcAft>
              <a:buSzPct val="100000"/>
              <a:buChar char="•"/>
            </a:pPr>
            <a:r>
              <a:rPr lang="en-US" sz="1080" b="1" dirty="0">
                <a:solidFill>
                  <a:srgbClr val="46545F"/>
                </a:solidFill>
                <a:latin typeface="Calibri" pitchFamily="34" charset="0"/>
                <a:ea typeface="Calibri" pitchFamily="34" charset="-122"/>
                <a:cs typeface="Calibri" pitchFamily="34" charset="-120"/>
              </a:rPr>
              <a:t>Deliberately NOT comparable at first glance: one quotes in euros per 1,000 units, one excludes tooling, one includes shipping, warranties differ 6–24 months.</a:t>
            </a:r>
            <a:endParaRPr lang="en-US" sz="1080" dirty="0"/>
          </a:p>
        </p:txBody>
      </p:sp>
      <p:sp>
        <p:nvSpPr>
          <p:cNvPr id="9" name="Shape 7"/>
          <p:cNvSpPr/>
          <p:nvPr/>
        </p:nvSpPr>
        <p:spPr>
          <a:xfrm>
            <a:off x="502920" y="3913632"/>
            <a:ext cx="5394960" cy="2103120"/>
          </a:xfrm>
          <a:prstGeom prst="roundRect">
            <a:avLst>
              <a:gd name="adj" fmla="val 3478"/>
            </a:avLst>
          </a:prstGeom>
          <a:solidFill>
            <a:srgbClr val="FBF0E0"/>
          </a:solidFill>
          <a:ln/>
        </p:spPr>
      </p:sp>
      <p:sp>
        <p:nvSpPr>
          <p:cNvPr id="10" name="Text 8"/>
          <p:cNvSpPr/>
          <p:nvPr/>
        </p:nvSpPr>
        <p:spPr>
          <a:xfrm>
            <a:off x="777240" y="4078224"/>
            <a:ext cx="4846320" cy="1828800"/>
          </a:xfrm>
          <a:prstGeom prst="rect">
            <a:avLst/>
          </a:prstGeom>
          <a:noFill/>
          <a:ln/>
        </p:spPr>
        <p:txBody>
          <a:bodyPr wrap="square" lIns="0" tIns="0" rIns="0" bIns="0" rtlCol="0" anchor="ctr"/>
          <a:lstStyle/>
          <a:p>
            <a:pPr indent="0" marL="0">
              <a:lnSpc>
                <a:spcPct val="108000"/>
              </a:lnSpc>
              <a:spcAft>
                <a:spcPts val="400"/>
              </a:spcAft>
              <a:buNone/>
            </a:pPr>
            <a:r>
              <a:rPr lang="en-US" sz="1150" b="1" dirty="0">
                <a:solidFill>
                  <a:srgbClr val="B96A1B"/>
                </a:solidFill>
                <a:latin typeface="Calibri" pitchFamily="34" charset="0"/>
                <a:ea typeface="Calibri" pitchFamily="34" charset="-122"/>
                <a:cs typeface="Calibri" pitchFamily="34" charset="-120"/>
              </a:rPr>
              <a:t>What the room should notice: </a:t>
            </a:r>
            <a:endParaRPr lang="en-US" sz="1150" dirty="0"/>
          </a:p>
          <a:p>
            <a:pPr indent="0" marL="0">
              <a:lnSpc>
                <a:spcPct val="108000"/>
              </a:lnSpc>
              <a:buNone/>
            </a:pPr>
            <a:r>
              <a:rPr lang="en-US" sz="1050" dirty="0">
                <a:solidFill>
                  <a:srgbClr val="46545F"/>
                </a:solidFill>
                <a:latin typeface="Calibri" pitchFamily="34" charset="0"/>
                <a:ea typeface="Calibri" pitchFamily="34" charset="-122"/>
                <a:cs typeface="Calibri" pitchFamily="34" charset="-120"/>
              </a:rP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endParaRPr lang="en-US" sz="1150" dirty="0"/>
          </a:p>
        </p:txBody>
      </p:sp>
      <p:sp>
        <p:nvSpPr>
          <p:cNvPr id="11" name="Shape 9"/>
          <p:cNvSpPr/>
          <p:nvPr/>
        </p:nvSpPr>
        <p:spPr>
          <a:xfrm>
            <a:off x="6172200" y="1481328"/>
            <a:ext cx="5486400" cy="475488"/>
          </a:xfrm>
          <a:prstGeom prst="roundRect">
            <a:avLst>
              <a:gd name="adj" fmla="val 15385"/>
            </a:avLst>
          </a:prstGeom>
          <a:solidFill>
            <a:srgbClr val="E4F0EF"/>
          </a:solidFill>
          <a:ln/>
        </p:spPr>
      </p:sp>
      <p:sp>
        <p:nvSpPr>
          <p:cNvPr id="12" name="Shape 10"/>
          <p:cNvSpPr/>
          <p:nvPr/>
        </p:nvSpPr>
        <p:spPr>
          <a:xfrm>
            <a:off x="6245352" y="1527048"/>
            <a:ext cx="384048" cy="384048"/>
          </a:xfrm>
          <a:prstGeom prst="ellipse">
            <a:avLst/>
          </a:prstGeom>
          <a:solidFill>
            <a:srgbClr val="0E7C7B"/>
          </a:solidFill>
          <a:ln/>
        </p:spPr>
      </p:sp>
      <p:sp>
        <p:nvSpPr>
          <p:cNvPr id="13" name="Text 11"/>
          <p:cNvSpPr/>
          <p:nvPr/>
        </p:nvSpPr>
        <p:spPr>
          <a:xfrm>
            <a:off x="6245352" y="152704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4" name="Text 12"/>
          <p:cNvSpPr/>
          <p:nvPr/>
        </p:nvSpPr>
        <p:spPr>
          <a:xfrm>
            <a:off x="6739128" y="1527048"/>
            <a:ext cx="480060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Extract &amp; normalize</a:t>
            </a:r>
            <a:endParaRPr lang="en-US" sz="1200" dirty="0"/>
          </a:p>
        </p:txBody>
      </p:sp>
      <p:sp>
        <p:nvSpPr>
          <p:cNvPr id="15" name="Shape 13"/>
          <p:cNvSpPr/>
          <p:nvPr/>
        </p:nvSpPr>
        <p:spPr>
          <a:xfrm>
            <a:off x="6172200" y="1993392"/>
            <a:ext cx="5486400" cy="1700784"/>
          </a:xfrm>
          <a:prstGeom prst="roundRect">
            <a:avLst>
              <a:gd name="adj" fmla="val 4301"/>
            </a:avLst>
          </a:prstGeom>
          <a:solidFill>
            <a:srgbClr val="FFFFFF"/>
          </a:solidFill>
          <a:ln w="9525">
            <a:solidFill>
              <a:srgbClr val="DCE3E6"/>
            </a:solidFill>
            <a:prstDash val="solid"/>
          </a:ln>
        </p:spPr>
      </p:sp>
      <p:sp>
        <p:nvSpPr>
          <p:cNvPr id="16" name="Text 14"/>
          <p:cNvSpPr/>
          <p:nvPr/>
        </p:nvSpPr>
        <p:spPr>
          <a:xfrm>
            <a:off x="6355080" y="2084832"/>
            <a:ext cx="5120640" cy="1517904"/>
          </a:xfrm>
          <a:prstGeom prst="rect">
            <a:avLst/>
          </a:prstGeom>
          <a:noFill/>
          <a:ln/>
        </p:spPr>
        <p:txBody>
          <a:bodyPr wrap="square" lIns="0" tIns="0" rIns="0" bIns="0" rtlCol="0" anchor="ctr"/>
          <a:lstStyle/>
          <a:p>
            <a:pPr indent="0" marL="0">
              <a:lnSpc>
                <a:spcPct val="108000"/>
              </a:lnSpc>
              <a:buNone/>
            </a:pPr>
            <a:r>
              <a:rPr lang="en-US" sz="870" dirty="0">
                <a:solidFill>
                  <a:srgbClr val="0A5B5A"/>
                </a:solidFill>
                <a:latin typeface="Consolas" pitchFamily="34" charset="0"/>
                <a:ea typeface="Consolas" pitchFamily="34" charset="-122"/>
                <a:cs typeface="Consolas" pitchFamily="34" charset="-120"/>
              </a:rP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endParaRPr lang="en-US" sz="870" dirty="0"/>
          </a:p>
        </p:txBody>
      </p:sp>
      <p:sp>
        <p:nvSpPr>
          <p:cNvPr id="17" name="Shape 15"/>
          <p:cNvSpPr/>
          <p:nvPr/>
        </p:nvSpPr>
        <p:spPr>
          <a:xfrm>
            <a:off x="6172200" y="3785616"/>
            <a:ext cx="5486400" cy="475488"/>
          </a:xfrm>
          <a:prstGeom prst="roundRect">
            <a:avLst>
              <a:gd name="adj" fmla="val 15385"/>
            </a:avLst>
          </a:prstGeom>
          <a:solidFill>
            <a:srgbClr val="E4F0EF"/>
          </a:solidFill>
          <a:ln/>
        </p:spPr>
      </p:sp>
      <p:sp>
        <p:nvSpPr>
          <p:cNvPr id="18" name="Shape 16"/>
          <p:cNvSpPr/>
          <p:nvPr/>
        </p:nvSpPr>
        <p:spPr>
          <a:xfrm>
            <a:off x="6245352" y="3831336"/>
            <a:ext cx="384048" cy="384048"/>
          </a:xfrm>
          <a:prstGeom prst="ellipse">
            <a:avLst/>
          </a:prstGeom>
          <a:solidFill>
            <a:srgbClr val="0E7C7B"/>
          </a:solidFill>
          <a:ln/>
        </p:spPr>
      </p:sp>
      <p:sp>
        <p:nvSpPr>
          <p:cNvPr id="19" name="Text 17"/>
          <p:cNvSpPr/>
          <p:nvPr/>
        </p:nvSpPr>
        <p:spPr>
          <a:xfrm>
            <a:off x="6245352" y="383133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20" name="Text 18"/>
          <p:cNvSpPr/>
          <p:nvPr/>
        </p:nvSpPr>
        <p:spPr>
          <a:xfrm>
            <a:off x="6739128" y="3831336"/>
            <a:ext cx="480060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Recommend, with caveats</a:t>
            </a:r>
            <a:endParaRPr lang="en-US" sz="1200" dirty="0"/>
          </a:p>
        </p:txBody>
      </p:sp>
      <p:sp>
        <p:nvSpPr>
          <p:cNvPr id="21" name="Shape 19"/>
          <p:cNvSpPr/>
          <p:nvPr/>
        </p:nvSpPr>
        <p:spPr>
          <a:xfrm>
            <a:off x="6172200" y="4297680"/>
            <a:ext cx="5486400" cy="1700784"/>
          </a:xfrm>
          <a:prstGeom prst="roundRect">
            <a:avLst>
              <a:gd name="adj" fmla="val 4301"/>
            </a:avLst>
          </a:prstGeom>
          <a:solidFill>
            <a:srgbClr val="FFFFFF"/>
          </a:solidFill>
          <a:ln w="9525">
            <a:solidFill>
              <a:srgbClr val="DCE3E6"/>
            </a:solidFill>
            <a:prstDash val="solid"/>
          </a:ln>
        </p:spPr>
      </p:sp>
      <p:sp>
        <p:nvSpPr>
          <p:cNvPr id="22" name="Text 20"/>
          <p:cNvSpPr/>
          <p:nvPr/>
        </p:nvSpPr>
        <p:spPr>
          <a:xfrm>
            <a:off x="6355080" y="4389120"/>
            <a:ext cx="5120640" cy="1517904"/>
          </a:xfrm>
          <a:prstGeom prst="rect">
            <a:avLst/>
          </a:prstGeom>
          <a:noFill/>
          <a:ln/>
        </p:spPr>
        <p:txBody>
          <a:bodyPr wrap="square" lIns="0" tIns="0" rIns="0" bIns="0" rtlCol="0" anchor="ctr"/>
          <a:lstStyle/>
          <a:p>
            <a:pPr indent="0" marL="0">
              <a:lnSpc>
                <a:spcPct val="108000"/>
              </a:lnSpc>
              <a:buNone/>
            </a:pPr>
            <a:r>
              <a:rPr lang="en-US" sz="870" dirty="0">
                <a:solidFill>
                  <a:srgbClr val="0A5B5A"/>
                </a:solidFill>
                <a:latin typeface="Consolas" pitchFamily="34" charset="0"/>
                <a:ea typeface="Consolas" pitchFamily="34" charset="-122"/>
                <a:cs typeface="Consolas" pitchFamily="34" charset="-120"/>
              </a:rPr>
              <a:t>Now: which quote has the lowest true landed cost at 5,000 units? Which is the best overall value once warranty, lead time and payment terms count? And what would you negotiate with each supplier before deciding? Keep it to one page; separate facts from judgment.</a:t>
            </a:r>
            <a:endParaRPr lang="en-US" sz="870" dirty="0"/>
          </a:p>
        </p:txBody>
      </p:sp>
      <p:sp>
        <p:nvSpPr>
          <p:cNvPr id="23" name="Text 21"/>
          <p:cNvSpPr/>
          <p:nvPr/>
        </p:nvSpPr>
        <p:spPr>
          <a:xfrm>
            <a:off x="502920" y="6144768"/>
            <a:ext cx="11155680" cy="292608"/>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Works the same in a chat upload, Copilot, or your company assistant — this is G8 (summarize &amp; compare) grown teeth. ✂ Both prompts: tab EX-Quotes of your Course Workbook.</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WALKTHROUGH 1 · DATA</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39</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WALKTHROUGH · FROM ANSWER TO ARTIFACT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Make the AI ship the file, not just the answer</a:t>
            </a:r>
            <a:endParaRPr lang="en-US" sz="3000" dirty="0"/>
          </a:p>
        </p:txBody>
      </p:sp>
      <p:sp>
        <p:nvSpPr>
          <p:cNvPr id="6" name="Shape 4"/>
          <p:cNvSpPr/>
          <p:nvPr/>
        </p:nvSpPr>
        <p:spPr>
          <a:xfrm>
            <a:off x="502920" y="1481328"/>
            <a:ext cx="11155680" cy="475488"/>
          </a:xfrm>
          <a:prstGeom prst="roundRect">
            <a:avLst>
              <a:gd name="adj" fmla="val 15385"/>
            </a:avLst>
          </a:prstGeom>
          <a:solidFill>
            <a:srgbClr val="E4F0EF"/>
          </a:solidFill>
          <a:ln/>
        </p:spPr>
      </p:sp>
      <p:sp>
        <p:nvSpPr>
          <p:cNvPr id="7" name="Shape 5"/>
          <p:cNvSpPr/>
          <p:nvPr/>
        </p:nvSpPr>
        <p:spPr>
          <a:xfrm>
            <a:off x="576072" y="1527048"/>
            <a:ext cx="384048" cy="384048"/>
          </a:xfrm>
          <a:prstGeom prst="ellipse">
            <a:avLst/>
          </a:prstGeom>
          <a:solidFill>
            <a:srgbClr val="0E7C7B"/>
          </a:solidFill>
          <a:ln/>
        </p:spPr>
      </p:sp>
      <p:sp>
        <p:nvSpPr>
          <p:cNvPr id="8" name="Text 6"/>
          <p:cNvSpPr/>
          <p:nvPr/>
        </p:nvSpPr>
        <p:spPr>
          <a:xfrm>
            <a:off x="576072" y="152704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9" name="Text 7"/>
          <p:cNvSpPr/>
          <p:nvPr/>
        </p:nvSpPr>
        <p:spPr>
          <a:xfrm>
            <a:off x="1069848" y="1527048"/>
            <a:ext cx="1046988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The deliverable — ship the file, not just the answer</a:t>
            </a:r>
            <a:endParaRPr lang="en-US" sz="1200" dirty="0"/>
          </a:p>
        </p:txBody>
      </p:sp>
      <p:sp>
        <p:nvSpPr>
          <p:cNvPr id="10" name="Shape 8"/>
          <p:cNvSpPr/>
          <p:nvPr/>
        </p:nvSpPr>
        <p:spPr>
          <a:xfrm>
            <a:off x="502920" y="1993392"/>
            <a:ext cx="11155680" cy="1188720"/>
          </a:xfrm>
          <a:prstGeom prst="roundRect">
            <a:avLst>
              <a:gd name="adj" fmla="val 6154"/>
            </a:avLst>
          </a:prstGeom>
          <a:solidFill>
            <a:srgbClr val="FFFFFF"/>
          </a:solidFill>
          <a:ln w="9525">
            <a:solidFill>
              <a:srgbClr val="DCE3E6"/>
            </a:solidFill>
            <a:prstDash val="solid"/>
          </a:ln>
        </p:spPr>
      </p:sp>
      <p:sp>
        <p:nvSpPr>
          <p:cNvPr id="11" name="Text 9"/>
          <p:cNvSpPr/>
          <p:nvPr/>
        </p:nvSpPr>
        <p:spPr>
          <a:xfrm>
            <a:off x="685800" y="2084832"/>
            <a:ext cx="10789920" cy="1024128"/>
          </a:xfrm>
          <a:prstGeom prst="rect">
            <a:avLst/>
          </a:prstGeom>
          <a:noFill/>
          <a:ln/>
        </p:spPr>
        <p:txBody>
          <a:bodyPr wrap="square" lIns="0" tIns="0" rIns="0" bIns="0" rtlCol="0" anchor="ctr"/>
          <a:lstStyle/>
          <a:p>
            <a:pPr indent="0" marL="0">
              <a:lnSpc>
                <a:spcPct val="110000"/>
              </a:lnSpc>
              <a:buNone/>
            </a:pPr>
            <a:r>
              <a:rPr lang="en-US" sz="920" dirty="0">
                <a:solidFill>
                  <a:srgbClr val="0A5B5A"/>
                </a:solidFill>
                <a:latin typeface="Consolas" pitchFamily="34" charset="0"/>
                <a:ea typeface="Consolas" pitchFamily="34" charset="-122"/>
                <a:cs typeface="Consolas" pitchFamily="34" charset="-120"/>
              </a:rPr>
              <a:t>Turn the supplier scorecard into a one-sheet spreadsheet I can circulate: a README tab explaining every column and where the numbers came from, the scorecard tab with formulas visible — not pasted values — and a short caveats section (the “n/a” cell, the excluded TOTAL row, the exchange-rate assumption). Use only numbers from this chat; if one is missing, leave the cell blank and say so — do not invent it.</a:t>
            </a:r>
            <a:endParaRPr lang="en-US" sz="920" dirty="0"/>
          </a:p>
        </p:txBody>
      </p:sp>
      <p:sp>
        <p:nvSpPr>
          <p:cNvPr id="12" name="Shape 10"/>
          <p:cNvSpPr/>
          <p:nvPr/>
        </p:nvSpPr>
        <p:spPr>
          <a:xfrm>
            <a:off x="502920" y="3337560"/>
            <a:ext cx="5394960" cy="2514600"/>
          </a:xfrm>
          <a:prstGeom prst="roundRect">
            <a:avLst>
              <a:gd name="adj" fmla="val 2909"/>
            </a:avLst>
          </a:prstGeom>
          <a:solidFill>
            <a:srgbClr val="F2F5F6"/>
          </a:solidFill>
          <a:ln/>
        </p:spPr>
      </p:sp>
      <p:sp>
        <p:nvSpPr>
          <p:cNvPr id="13" name="Text 11"/>
          <p:cNvSpPr/>
          <p:nvPr/>
        </p:nvSpPr>
        <p:spPr>
          <a:xfrm>
            <a:off x="777240" y="3520440"/>
            <a:ext cx="4846320" cy="2194560"/>
          </a:xfrm>
          <a:prstGeom prst="rect">
            <a:avLst/>
          </a:prstGeom>
          <a:noFill/>
          <a:ln/>
        </p:spPr>
        <p:txBody>
          <a:bodyPr wrap="square" lIns="0" tIns="0" rIns="0" bIns="0" rtlCol="0" anchor="ctr"/>
          <a:lstStyle/>
          <a:p>
            <a:pPr indent="0" marL="0">
              <a:lnSpc>
                <a:spcPct val="115000"/>
              </a:lnSpc>
              <a:spcAft>
                <a:spcPts val="500"/>
              </a:spcAft>
              <a:buNone/>
            </a:pPr>
            <a:r>
              <a:rPr lang="en-US" sz="1250" b="1" dirty="0">
                <a:solidFill>
                  <a:srgbClr val="232A31"/>
                </a:solidFill>
                <a:latin typeface="Calibri" pitchFamily="34" charset="0"/>
                <a:ea typeface="Calibri" pitchFamily="34" charset="-122"/>
                <a:cs typeface="Calibri" pitchFamily="34" charset="-120"/>
              </a:rPr>
              <a:t>Why these spec lines matter</a:t>
            </a:r>
            <a:endParaRPr lang="en-US" sz="1250" dirty="0"/>
          </a:p>
          <a:p>
            <a:pPr indent="0" marL="0">
              <a:lnSpc>
                <a:spcPct val="115000"/>
              </a:lnSpc>
              <a:buNone/>
            </a:pPr>
            <a:r>
              <a:rPr lang="en-US" sz="1080" dirty="0">
                <a:solidFill>
                  <a:srgbClr val="46545F"/>
                </a:solidFill>
                <a:latin typeface="Calibri" pitchFamily="34" charset="0"/>
                <a:ea typeface="Calibri" pitchFamily="34" charset="-122"/>
                <a:cs typeface="Calibri" pitchFamily="34" charset="-120"/>
              </a:rPr>
              <a:t>README tab — the file explains itself when it’s forwarded without you.</a:t>
            </a:r>
            <a:endParaRPr lang="en-US" sz="1250" dirty="0"/>
          </a:p>
          <a:p>
            <a:pPr indent="0" marL="0">
              <a:lnSpc>
                <a:spcPct val="115000"/>
              </a:lnSpc>
              <a:buNone/>
            </a:pPr>
            <a:r>
              <a:rPr lang="en-US" sz="1080" dirty="0">
                <a:solidFill>
                  <a:srgbClr val="46545F"/>
                </a:solidFill>
                <a:latin typeface="Calibri" pitchFamily="34" charset="0"/>
                <a:ea typeface="Calibri" pitchFamily="34" charset="-122"/>
                <a:cs typeface="Calibri" pitchFamily="34" charset="-120"/>
              </a:rPr>
              <a:t>Formulas visible — anyone can audit; nothing is a magic number.</a:t>
            </a:r>
            <a:endParaRPr lang="en-US" sz="1250" dirty="0"/>
          </a:p>
          <a:p>
            <a:pPr indent="0" marL="0">
              <a:lnSpc>
                <a:spcPct val="115000"/>
              </a:lnSpc>
              <a:buNone/>
            </a:pPr>
            <a:r>
              <a:rPr lang="en-US" sz="1080" dirty="0">
                <a:solidFill>
                  <a:srgbClr val="46545F"/>
                </a:solidFill>
                <a:latin typeface="Calibri" pitchFamily="34" charset="0"/>
                <a:ea typeface="Calibri" pitchFamily="34" charset="-122"/>
                <a:cs typeface="Calibri" pitchFamily="34" charset="-120"/>
              </a:rPr>
              <a:t>Caveats section — the quirks and assumptions travel WITH the numbers.</a:t>
            </a:r>
            <a:endParaRPr lang="en-US" sz="1250" dirty="0"/>
          </a:p>
          <a:p>
            <a:pPr indent="0" marL="0">
              <a:lnSpc>
                <a:spcPct val="115000"/>
              </a:lnSpc>
              <a:buNone/>
            </a:pPr>
            <a:r>
              <a:rPr lang="en-US" sz="1080" dirty="0">
                <a:solidFill>
                  <a:srgbClr val="46545F"/>
                </a:solidFill>
                <a:latin typeface="Calibri" pitchFamily="34" charset="0"/>
                <a:ea typeface="Calibri" pitchFamily="34" charset="-122"/>
                <a:cs typeface="Calibri" pitchFamily="34" charset="-120"/>
              </a:rPr>
              <a:t>“Don’t invent” + blank cells — the Out, working inside a spreadsheet.</a:t>
            </a:r>
            <a:endParaRPr lang="en-US" sz="1250" dirty="0"/>
          </a:p>
        </p:txBody>
      </p:sp>
      <p:sp>
        <p:nvSpPr>
          <p:cNvPr id="14" name="Shape 12"/>
          <p:cNvSpPr/>
          <p:nvPr/>
        </p:nvSpPr>
        <p:spPr>
          <a:xfrm>
            <a:off x="6172200" y="3337560"/>
            <a:ext cx="5486400" cy="2514600"/>
          </a:xfrm>
          <a:prstGeom prst="roundRect">
            <a:avLst>
              <a:gd name="adj" fmla="val 2909"/>
            </a:avLst>
          </a:prstGeom>
          <a:solidFill>
            <a:srgbClr val="E4F0EF"/>
          </a:solidFill>
          <a:ln/>
        </p:spPr>
      </p:sp>
      <p:sp>
        <p:nvSpPr>
          <p:cNvPr id="15" name="Text 13"/>
          <p:cNvSpPr/>
          <p:nvPr/>
        </p:nvSpPr>
        <p:spPr>
          <a:xfrm>
            <a:off x="6446520" y="3520440"/>
            <a:ext cx="4937760" cy="2194560"/>
          </a:xfrm>
          <a:prstGeom prst="rect">
            <a:avLst/>
          </a:prstGeom>
          <a:noFill/>
          <a:ln/>
        </p:spPr>
        <p:txBody>
          <a:bodyPr wrap="square" lIns="0" tIns="0" rIns="0" bIns="0" rtlCol="0" anchor="ctr"/>
          <a:lstStyle/>
          <a:p>
            <a:pPr indent="0" marL="0">
              <a:lnSpc>
                <a:spcPct val="115000"/>
              </a:lnSpc>
              <a:spcAft>
                <a:spcPts val="500"/>
              </a:spcAft>
              <a:buNone/>
            </a:pPr>
            <a:r>
              <a:rPr lang="en-US" sz="1250" b="1" dirty="0">
                <a:solidFill>
                  <a:srgbClr val="0A5B5A"/>
                </a:solidFill>
                <a:latin typeface="Calibri" pitchFamily="34" charset="0"/>
                <a:ea typeface="Calibri" pitchFamily="34" charset="-122"/>
                <a:cs typeface="Calibri" pitchFamily="34" charset="-120"/>
              </a:rPr>
              <a:t>The same move, everywhere</a:t>
            </a:r>
            <a:endParaRPr lang="en-US" sz="1250" dirty="0"/>
          </a:p>
          <a:p>
            <a:pPr indent="0" marL="0">
              <a:lnSpc>
                <a:spcPct val="115000"/>
              </a:lnSpc>
              <a:buNone/>
            </a:pPr>
            <a:r>
              <a:rPr lang="en-US" sz="1080" dirty="0">
                <a:solidFill>
                  <a:srgbClr val="46545F"/>
                </a:solidFill>
                <a:latin typeface="Calibri" pitchFamily="34" charset="0"/>
                <a:ea typeface="Calibri" pitchFamily="34" charset="-122"/>
                <a:cs typeface="Calibri" pitchFamily="34" charset="-120"/>
              </a:rPr>
              <a:t>Copilot in Excel: “build this as a new sheet with formulas” — it writes them in place.</a:t>
            </a:r>
            <a:endParaRPr lang="en-US" sz="1250" dirty="0"/>
          </a:p>
          <a:p>
            <a:pPr indent="0" marL="0">
              <a:lnSpc>
                <a:spcPct val="115000"/>
              </a:lnSpc>
              <a:buNone/>
            </a:pPr>
            <a:r>
              <a:rPr lang="en-US" sz="1080" dirty="0">
                <a:solidFill>
                  <a:srgbClr val="46545F"/>
                </a:solidFill>
                <a:latin typeface="Calibri" pitchFamily="34" charset="0"/>
                <a:ea typeface="Calibri" pitchFamily="34" charset="-122"/>
                <a:cs typeface="Calibri" pitchFamily="34" charset="-120"/>
              </a:rPr>
              <a:t>Chat assistants: they produce the .xlsx for download.</a:t>
            </a:r>
            <a:endParaRPr lang="en-US" sz="1250" dirty="0"/>
          </a:p>
          <a:p>
            <a:pPr indent="0" marL="0">
              <a:lnSpc>
                <a:spcPct val="115000"/>
              </a:lnSpc>
              <a:buNone/>
            </a:pPr>
            <a:r>
              <a:rPr lang="en-US" sz="1080" dirty="0">
                <a:solidFill>
                  <a:srgbClr val="46545F"/>
                </a:solidFill>
                <a:latin typeface="Calibri" pitchFamily="34" charset="0"/>
                <a:ea typeface="Calibri" pitchFamily="34" charset="-122"/>
                <a:cs typeface="Calibri" pitchFamily="34" charset="-120"/>
              </a:rPr>
              <a:t>Agentic tools (Part 5): they build the file, chart it, and write the email that sends it.</a:t>
            </a:r>
            <a:endParaRPr lang="en-US" sz="1250" dirty="0"/>
          </a:p>
          <a:p>
            <a:pPr indent="0" marL="0">
              <a:lnSpc>
                <a:spcPct val="115000"/>
              </a:lnSpc>
              <a:buNone/>
            </a:pPr>
            <a:r>
              <a:rPr lang="en-US" sz="1080" dirty="0">
                <a:solidFill>
                  <a:srgbClr val="46545F"/>
                </a:solidFill>
                <a:latin typeface="Calibri" pitchFamily="34" charset="0"/>
                <a:ea typeface="Calibri" pitchFamily="34" charset="-122"/>
                <a:cs typeface="Calibri" pitchFamily="34" charset="-120"/>
              </a:rPr>
              <a:t>The prompt barely changes — the delegation level does.</a:t>
            </a:r>
            <a:endParaRPr lang="en-US" sz="1250" dirty="0"/>
          </a:p>
        </p:txBody>
      </p:sp>
      <p:sp>
        <p:nvSpPr>
          <p:cNvPr id="16" name="Shape 14"/>
          <p:cNvSpPr/>
          <p:nvPr/>
        </p:nvSpPr>
        <p:spPr>
          <a:xfrm>
            <a:off x="502920" y="6035040"/>
            <a:ext cx="11155680" cy="457200"/>
          </a:xfrm>
          <a:prstGeom prst="roundRect">
            <a:avLst>
              <a:gd name="adj" fmla="val 16000"/>
            </a:avLst>
          </a:prstGeom>
          <a:solidFill>
            <a:srgbClr val="F9E9E8"/>
          </a:solidFill>
          <a:ln/>
        </p:spPr>
      </p:sp>
      <p:sp>
        <p:nvSpPr>
          <p:cNvPr id="17" name="Shape 15"/>
          <p:cNvSpPr/>
          <p:nvPr/>
        </p:nvSpPr>
        <p:spPr>
          <a:xfrm>
            <a:off x="667512" y="6071616"/>
            <a:ext cx="384048" cy="384048"/>
          </a:xfrm>
          <a:prstGeom prst="ellipse">
            <a:avLst/>
          </a:prstGeom>
          <a:solidFill>
            <a:srgbClr val="AF3230"/>
          </a:solidFill>
          <a:ln/>
        </p:spPr>
      </p:sp>
      <p:pic>
        <p:nvPicPr>
          <p:cNvPr id="18" name="Image 0" descr="/home/user/Claude-Works/ai-training-prompt-engineering/src/assets/icons/alert_w.png">    </p:cNvPr>
          <p:cNvPicPr>
            <a:picLocks noChangeAspect="1"/>
          </p:cNvPicPr>
          <p:nvPr/>
        </p:nvPicPr>
        <p:blipFill>
          <a:blip r:embed="rId1"/>
          <a:stretch>
            <a:fillRect/>
          </a:stretch>
        </p:blipFill>
        <p:spPr>
          <a:xfrm>
            <a:off x="767364" y="6171468"/>
            <a:ext cx="184343" cy="184343"/>
          </a:xfrm>
          <a:prstGeom prst="rect">
            <a:avLst/>
          </a:prstGeom>
        </p:spPr>
      </p:pic>
      <p:sp>
        <p:nvSpPr>
          <p:cNvPr id="19" name="Text 16"/>
          <p:cNvSpPr/>
          <p:nvPr/>
        </p:nvSpPr>
        <p:spPr>
          <a:xfrm>
            <a:off x="1216152" y="6108192"/>
            <a:ext cx="10213848" cy="310896"/>
          </a:xfrm>
          <a:prstGeom prst="rect">
            <a:avLst/>
          </a:prstGeom>
          <a:noFill/>
          <a:ln/>
        </p:spPr>
        <p:txBody>
          <a:bodyPr wrap="square" lIns="0" tIns="0" rIns="0" bIns="0" rtlCol="0" anchor="ctr"/>
          <a:lstStyle/>
          <a:p>
            <a:pPr indent="0" marL="0">
              <a:lnSpc>
                <a:spcPct val="106000"/>
              </a:lnSpc>
              <a:buNone/>
            </a:pPr>
            <a:r>
              <a:rPr lang="en-US" sz="1050" b="1" dirty="0">
                <a:solidFill>
                  <a:srgbClr val="AF3230"/>
                </a:solidFill>
                <a:latin typeface="Calibri" pitchFamily="34" charset="0"/>
                <a:ea typeface="Calibri" pitchFamily="34" charset="-122"/>
                <a:cs typeface="Calibri" pitchFamily="34" charset="-120"/>
              </a:rPr>
              <a:t>Before it ships: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open the file, spot-check two formulas against the chat, and verify the exchange rate — the house rule never retires.</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LIVE DEMO</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40</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LIVE DEMO · A DASHBOARD FROM A PASTE (G6)</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One prompt, one file, working software</a:t>
            </a:r>
            <a:endParaRPr lang="en-US" sz="3000" dirty="0"/>
          </a:p>
        </p:txBody>
      </p:sp>
      <p:sp>
        <p:nvSpPr>
          <p:cNvPr id="6" name="Shape 4"/>
          <p:cNvSpPr/>
          <p:nvPr/>
        </p:nvSpPr>
        <p:spPr>
          <a:xfrm>
            <a:off x="502920" y="1554480"/>
            <a:ext cx="6949440" cy="1097280"/>
          </a:xfrm>
          <a:prstGeom prst="roundRect">
            <a:avLst>
              <a:gd name="adj" fmla="val 6667"/>
            </a:avLst>
          </a:prstGeom>
          <a:solidFill>
            <a:srgbClr val="F2F5F6"/>
          </a:solidFill>
          <a:ln/>
        </p:spPr>
      </p:sp>
      <p:sp>
        <p:nvSpPr>
          <p:cNvPr id="7" name="Text 5"/>
          <p:cNvSpPr/>
          <p:nvPr/>
        </p:nvSpPr>
        <p:spPr>
          <a:xfrm>
            <a:off x="749808" y="1627632"/>
            <a:ext cx="6446520" cy="950976"/>
          </a:xfrm>
          <a:prstGeom prst="rect">
            <a:avLst/>
          </a:prstGeom>
          <a:noFill/>
          <a:ln/>
        </p:spPr>
        <p:txBody>
          <a:bodyPr wrap="square" lIns="0" tIns="0" rIns="0" bIns="0" rtlCol="0" anchor="ctr"/>
          <a:lstStyle/>
          <a:p>
            <a:pPr indent="0" marL="0">
              <a:lnSpc>
                <a:spcPct val="105000"/>
              </a:lnSpc>
              <a:spcAft>
                <a:spcPts val="200"/>
              </a:spcAft>
              <a:buNone/>
            </a:pPr>
            <a:r>
              <a:rPr lang="en-US" sz="1250" b="1" dirty="0">
                <a:solidFill>
                  <a:srgbClr val="0A5B5A"/>
                </a:solidFill>
                <a:latin typeface="Calibri" pitchFamily="34" charset="0"/>
                <a:ea typeface="Calibri" pitchFamily="34" charset="-122"/>
                <a:cs typeface="Calibri" pitchFamily="34" charset="-120"/>
              </a:rPr>
              <a:t>1 · The data  </a:t>
            </a:r>
            <a:endParaRPr lang="en-US" sz="1250" dirty="0"/>
          </a:p>
          <a:p>
            <a:pPr indent="0" marL="0">
              <a:lnSpc>
                <a:spcPct val="105000"/>
              </a:lnSpc>
              <a:buNone/>
            </a:pPr>
            <a:r>
              <a:rPr lang="en-US" sz="1080" dirty="0">
                <a:solidFill>
                  <a:srgbClr val="46545F"/>
                </a:solidFill>
                <a:latin typeface="Calibri" pitchFamily="34" charset="0"/>
                <a:ea typeface="Calibri" pitchFamily="34" charset="-122"/>
                <a:cs typeface="Calibri" pitchFamily="34" charset="-120"/>
              </a:rPr>
              <a:t>Paste a small generic table (20–30 rows: period, category, count — prepared in advance, nothing internal).</a:t>
            </a:r>
            <a:endParaRPr lang="en-US" sz="1250" dirty="0"/>
          </a:p>
        </p:txBody>
      </p:sp>
      <p:sp>
        <p:nvSpPr>
          <p:cNvPr id="8" name="Shape 6"/>
          <p:cNvSpPr/>
          <p:nvPr/>
        </p:nvSpPr>
        <p:spPr>
          <a:xfrm>
            <a:off x="502920" y="2788920"/>
            <a:ext cx="6949440" cy="1097280"/>
          </a:xfrm>
          <a:prstGeom prst="roundRect">
            <a:avLst>
              <a:gd name="adj" fmla="val 6667"/>
            </a:avLst>
          </a:prstGeom>
          <a:solidFill>
            <a:srgbClr val="F2F5F6"/>
          </a:solidFill>
          <a:ln/>
        </p:spPr>
      </p:sp>
      <p:sp>
        <p:nvSpPr>
          <p:cNvPr id="9" name="Text 7"/>
          <p:cNvSpPr/>
          <p:nvPr/>
        </p:nvSpPr>
        <p:spPr>
          <a:xfrm>
            <a:off x="749808" y="2862072"/>
            <a:ext cx="6446520" cy="950976"/>
          </a:xfrm>
          <a:prstGeom prst="rect">
            <a:avLst/>
          </a:prstGeom>
          <a:noFill/>
          <a:ln/>
        </p:spPr>
        <p:txBody>
          <a:bodyPr wrap="square" lIns="0" tIns="0" rIns="0" bIns="0" rtlCol="0" anchor="ctr"/>
          <a:lstStyle/>
          <a:p>
            <a:pPr indent="0" marL="0">
              <a:lnSpc>
                <a:spcPct val="105000"/>
              </a:lnSpc>
              <a:spcAft>
                <a:spcPts val="200"/>
              </a:spcAft>
              <a:buNone/>
            </a:pPr>
            <a:r>
              <a:rPr lang="en-US" sz="1250" b="1" dirty="0">
                <a:solidFill>
                  <a:srgbClr val="0A5B5A"/>
                </a:solidFill>
                <a:latin typeface="Calibri" pitchFamily="34" charset="0"/>
                <a:ea typeface="Calibri" pitchFamily="34" charset="-122"/>
                <a:cs typeface="Calibri" pitchFamily="34" charset="-120"/>
              </a:rPr>
              <a:t>2 · Run G6  </a:t>
            </a:r>
            <a:endParaRPr lang="en-US" sz="1250" dirty="0"/>
          </a:p>
          <a:p>
            <a:pPr indent="0" marL="0">
              <a:lnSpc>
                <a:spcPct val="105000"/>
              </a:lnSpc>
              <a:buNone/>
            </a:pPr>
            <a:r>
              <a:rPr lang="en-US" sz="1080" dirty="0">
                <a:solidFill>
                  <a:srgbClr val="46545F"/>
                </a:solidFill>
                <a:latin typeface="Calibri" pitchFamily="34" charset="0"/>
                <a:ea typeface="Calibri" pitchFamily="34" charset="-122"/>
                <a:cs typeface="Calibri" pitchFamily="34" charset="-120"/>
              </a:rPr>
              <a:t>Ask for: a SINGLE-FILE interactive HTML dashboard — KPI tiles, one filterable chart, a sortable table; data embedded; works offline from disk; formulas visible.</a:t>
            </a:r>
            <a:endParaRPr lang="en-US" sz="1250" dirty="0"/>
          </a:p>
        </p:txBody>
      </p:sp>
      <p:sp>
        <p:nvSpPr>
          <p:cNvPr id="10" name="Shape 8"/>
          <p:cNvSpPr/>
          <p:nvPr/>
        </p:nvSpPr>
        <p:spPr>
          <a:xfrm>
            <a:off x="502920" y="4023360"/>
            <a:ext cx="6949440" cy="1097280"/>
          </a:xfrm>
          <a:prstGeom prst="roundRect">
            <a:avLst>
              <a:gd name="adj" fmla="val 6667"/>
            </a:avLst>
          </a:prstGeom>
          <a:solidFill>
            <a:srgbClr val="F2F5F6"/>
          </a:solidFill>
          <a:ln/>
        </p:spPr>
      </p:sp>
      <p:sp>
        <p:nvSpPr>
          <p:cNvPr id="11" name="Text 9"/>
          <p:cNvSpPr/>
          <p:nvPr/>
        </p:nvSpPr>
        <p:spPr>
          <a:xfrm>
            <a:off x="749808" y="4096512"/>
            <a:ext cx="6446520" cy="950976"/>
          </a:xfrm>
          <a:prstGeom prst="rect">
            <a:avLst/>
          </a:prstGeom>
          <a:noFill/>
          <a:ln/>
        </p:spPr>
        <p:txBody>
          <a:bodyPr wrap="square" lIns="0" tIns="0" rIns="0" bIns="0" rtlCol="0" anchor="ctr"/>
          <a:lstStyle/>
          <a:p>
            <a:pPr indent="0" marL="0">
              <a:lnSpc>
                <a:spcPct val="105000"/>
              </a:lnSpc>
              <a:spcAft>
                <a:spcPts val="200"/>
              </a:spcAft>
              <a:buNone/>
            </a:pPr>
            <a:r>
              <a:rPr lang="en-US" sz="1250" b="1" dirty="0">
                <a:solidFill>
                  <a:srgbClr val="0A5B5A"/>
                </a:solidFill>
                <a:latin typeface="Calibri" pitchFamily="34" charset="0"/>
                <a:ea typeface="Calibri" pitchFamily="34" charset="-122"/>
                <a:cs typeface="Calibri" pitchFamily="34" charset="-120"/>
              </a:rPr>
              <a:t>3 · Open it  </a:t>
            </a:r>
            <a:endParaRPr lang="en-US" sz="1250" dirty="0"/>
          </a:p>
          <a:p>
            <a:pPr indent="0" marL="0">
              <a:lnSpc>
                <a:spcPct val="105000"/>
              </a:lnSpc>
              <a:buNone/>
            </a:pPr>
            <a:r>
              <a:rPr lang="en-US" sz="1080" dirty="0">
                <a:solidFill>
                  <a:srgbClr val="46545F"/>
                </a:solidFill>
                <a:latin typeface="Calibri" pitchFamily="34" charset="0"/>
                <a:ea typeface="Calibri" pitchFamily="34" charset="-122"/>
                <a:cs typeface="Calibri" pitchFamily="34" charset="-120"/>
              </a:rPr>
              <a:t>Download the file, double-click it, filter something, sort something. No install, no server, no login.</a:t>
            </a:r>
            <a:endParaRPr lang="en-US" sz="1250" dirty="0"/>
          </a:p>
        </p:txBody>
      </p:sp>
      <p:sp>
        <p:nvSpPr>
          <p:cNvPr id="12" name="Shape 10"/>
          <p:cNvSpPr/>
          <p:nvPr/>
        </p:nvSpPr>
        <p:spPr>
          <a:xfrm>
            <a:off x="7726680" y="1554480"/>
            <a:ext cx="3931920" cy="3611880"/>
          </a:xfrm>
          <a:prstGeom prst="roundRect">
            <a:avLst>
              <a:gd name="adj" fmla="val 2025"/>
            </a:avLst>
          </a:prstGeom>
          <a:solidFill>
            <a:srgbClr val="FBF0E0"/>
          </a:solidFill>
          <a:ln/>
        </p:spPr>
      </p:sp>
      <p:sp>
        <p:nvSpPr>
          <p:cNvPr id="13" name="Text 11"/>
          <p:cNvSpPr/>
          <p:nvPr/>
        </p:nvSpPr>
        <p:spPr>
          <a:xfrm>
            <a:off x="7955280" y="1737360"/>
            <a:ext cx="3474720" cy="3291840"/>
          </a:xfrm>
          <a:prstGeom prst="rect">
            <a:avLst/>
          </a:prstGeom>
          <a:noFill/>
          <a:ln/>
        </p:spPr>
        <p:txBody>
          <a:bodyPr wrap="square" lIns="0" tIns="0" rIns="0" bIns="0" rtlCol="0" anchor="ctr"/>
          <a:lstStyle/>
          <a:p>
            <a:pPr indent="0" marL="0">
              <a:lnSpc>
                <a:spcPct val="110000"/>
              </a:lnSpc>
              <a:spcAft>
                <a:spcPts val="500"/>
              </a:spcAft>
              <a:buNone/>
            </a:pPr>
            <a:r>
              <a:rPr lang="en-US" sz="1200" b="1" dirty="0">
                <a:solidFill>
                  <a:srgbClr val="B96A1B"/>
                </a:solidFill>
                <a:latin typeface="Calibri" pitchFamily="34" charset="0"/>
                <a:ea typeface="Calibri" pitchFamily="34" charset="-122"/>
                <a:cs typeface="Calibri" pitchFamily="34" charset="-120"/>
              </a:rPr>
              <a:t>What the room should notice</a:t>
            </a:r>
            <a:endParaRPr lang="en-US" sz="1200" dirty="0"/>
          </a:p>
          <a:p>
            <a:pPr indent="0" marL="0">
              <a:lnSpc>
                <a:spcPct val="110000"/>
              </a:lnSpc>
              <a:buNone/>
            </a:pPr>
            <a:r>
              <a:rPr lang="en-US" sz="1080" dirty="0">
                <a:solidFill>
                  <a:srgbClr val="46545F"/>
                </a:solidFill>
                <a:latin typeface="Calibri" pitchFamily="34" charset="0"/>
                <a:ea typeface="Calibri" pitchFamily="34" charset="-122"/>
                <a:cs typeface="Calibri" pitchFamily="34" charset="-120"/>
              </a:rPr>
              <a:t>The deliverable is a tool, not a text. The spec lines that made it trustworthy: single file · offline · data embedded · nothing hard-coded · formulas on screen.</a:t>
            </a:r>
            <a:endParaRPr lang="en-US" sz="1200" dirty="0"/>
          </a:p>
          <a:p>
            <a:pPr indent="0" marL="0">
              <a:lnSpc>
                <a:spcPct val="110000"/>
              </a:lnSpc>
              <a:buNone/>
            </a:pPr>
            <a:endParaRPr lang="en-US" sz="1200" dirty="0"/>
          </a:p>
          <a:p>
            <a:pPr indent="0" marL="0">
              <a:lnSpc>
                <a:spcPct val="110000"/>
              </a:lnSpc>
              <a:buNone/>
            </a:pPr>
            <a:r>
              <a:rPr lang="en-US" sz="1080" dirty="0">
                <a:solidFill>
                  <a:srgbClr val="46545F"/>
                </a:solidFill>
                <a:latin typeface="Calibri" pitchFamily="34" charset="0"/>
                <a:ea typeface="Calibri" pitchFamily="34" charset="-122"/>
                <a:cs typeface="Calibri" pitchFamily="34" charset="-120"/>
              </a:rPr>
              <a:t>Caveats to say out loud: it is a snapshot, not a live system — and share the FILE, not a public link.</a:t>
            </a:r>
            <a:endParaRPr lang="en-US" sz="1200" dirty="0"/>
          </a:p>
        </p:txBody>
      </p:sp>
      <p:sp>
        <p:nvSpPr>
          <p:cNvPr id="14" name="Shape 12"/>
          <p:cNvSpPr/>
          <p:nvPr/>
        </p:nvSpPr>
        <p:spPr>
          <a:xfrm>
            <a:off x="502920" y="5303520"/>
            <a:ext cx="11155680" cy="548640"/>
          </a:xfrm>
          <a:prstGeom prst="roundRect">
            <a:avLst>
              <a:gd name="adj" fmla="val 13333"/>
            </a:avLst>
          </a:prstGeom>
          <a:solidFill>
            <a:srgbClr val="F2F5F6"/>
          </a:solidFill>
          <a:ln w="9525">
            <a:solidFill>
              <a:srgbClr val="DCE3E6"/>
            </a:solidFill>
            <a:prstDash val="solid"/>
          </a:ln>
        </p:spPr>
      </p:sp>
      <p:sp>
        <p:nvSpPr>
          <p:cNvPr id="15" name="Shape 13"/>
          <p:cNvSpPr/>
          <p:nvPr/>
        </p:nvSpPr>
        <p:spPr>
          <a:xfrm>
            <a:off x="667512" y="5385816"/>
            <a:ext cx="384048" cy="384048"/>
          </a:xfrm>
          <a:prstGeom prst="ellipse">
            <a:avLst/>
          </a:prstGeom>
          <a:solidFill>
            <a:srgbClr val="46545F"/>
          </a:solidFill>
          <a:ln/>
        </p:spPr>
      </p:sp>
      <p:pic>
        <p:nvPicPr>
          <p:cNvPr id="16" name="Image 0" descr="/home/user/Claude-Works/ai-training-prompt-engineering/src/assets/icons/refresh_w.png">    </p:cNvPr>
          <p:cNvPicPr>
            <a:picLocks noChangeAspect="1"/>
          </p:cNvPicPr>
          <p:nvPr/>
        </p:nvPicPr>
        <p:blipFill>
          <a:blip r:embed="rId1"/>
          <a:stretch>
            <a:fillRect/>
          </a:stretch>
        </p:blipFill>
        <p:spPr>
          <a:xfrm>
            <a:off x="767364" y="5485668"/>
            <a:ext cx="184343" cy="184343"/>
          </a:xfrm>
          <a:prstGeom prst="rect">
            <a:avLst/>
          </a:prstGeom>
        </p:spPr>
      </p:pic>
      <p:sp>
        <p:nvSpPr>
          <p:cNvPr id="17" name="Text 14"/>
          <p:cNvSpPr/>
          <p:nvPr/>
        </p:nvSpPr>
        <p:spPr>
          <a:xfrm>
            <a:off x="1216152" y="5376672"/>
            <a:ext cx="10213848" cy="402336"/>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Backup plan: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if generation runs long, open the pre-built copy from your desktop and narrate the prompt — the room still sees prompt → working software.</a:t>
            </a:r>
            <a:endParaRPr lang="en-US" sz="1100" dirty="0"/>
          </a:p>
        </p:txBody>
      </p:sp>
      <p:sp>
        <p:nvSpPr>
          <p:cNvPr id="18" name="Shape 15"/>
          <p:cNvSpPr/>
          <p:nvPr/>
        </p:nvSpPr>
        <p:spPr>
          <a:xfrm>
            <a:off x="502920" y="5961888"/>
            <a:ext cx="11155680" cy="548640"/>
          </a:xfrm>
          <a:prstGeom prst="roundRect">
            <a:avLst>
              <a:gd name="adj" fmla="val 13333"/>
            </a:avLst>
          </a:prstGeom>
          <a:solidFill>
            <a:srgbClr val="FBF0E0"/>
          </a:solidFill>
          <a:ln/>
        </p:spPr>
      </p:sp>
      <p:sp>
        <p:nvSpPr>
          <p:cNvPr id="19" name="Shape 16"/>
          <p:cNvSpPr/>
          <p:nvPr/>
        </p:nvSpPr>
        <p:spPr>
          <a:xfrm>
            <a:off x="667512" y="6044184"/>
            <a:ext cx="384048" cy="384048"/>
          </a:xfrm>
          <a:prstGeom prst="ellipse">
            <a:avLst/>
          </a:prstGeom>
          <a:solidFill>
            <a:srgbClr val="B96A1B"/>
          </a:solidFill>
          <a:ln/>
        </p:spPr>
      </p:sp>
      <p:pic>
        <p:nvPicPr>
          <p:cNvPr id="20" name="Image 1" descr="/home/user/Claude-Works/ai-training-prompt-engineering/src/assets/icons/key_w.png">    </p:cNvPr>
          <p:cNvPicPr>
            <a:picLocks noChangeAspect="1"/>
          </p:cNvPicPr>
          <p:nvPr/>
        </p:nvPicPr>
        <p:blipFill>
          <a:blip r:embed="rId2"/>
          <a:stretch>
            <a:fillRect/>
          </a:stretch>
        </p:blipFill>
        <p:spPr>
          <a:xfrm>
            <a:off x="767364" y="6144036"/>
            <a:ext cx="184343" cy="184343"/>
          </a:xfrm>
          <a:prstGeom prst="rect">
            <a:avLst/>
          </a:prstGeom>
        </p:spPr>
      </p:pic>
      <p:sp>
        <p:nvSpPr>
          <p:cNvPr id="21" name="Text 17"/>
          <p:cNvSpPr/>
          <p:nvPr/>
        </p:nvSpPr>
        <p:spPr>
          <a:xfrm>
            <a:off x="1216152" y="6035040"/>
            <a:ext cx="10213848" cy="402336"/>
          </a:xfrm>
          <a:prstGeom prst="rect">
            <a:avLst/>
          </a:prstGeom>
          <a:noFill/>
          <a:ln/>
        </p:spPr>
        <p:txBody>
          <a:bodyPr wrap="square" lIns="0" tIns="0" rIns="0" bIns="0" rtlCol="0" anchor="ctr"/>
          <a:lstStyle/>
          <a:p>
            <a:pPr indent="0" marL="0">
              <a:lnSpc>
                <a:spcPct val="106000"/>
              </a:lnSpc>
              <a:buNone/>
            </a:pPr>
            <a:r>
              <a:rPr lang="en-US" sz="1050" b="1" dirty="0">
                <a:solidFill>
                  <a:srgbClr val="B96A1B"/>
                </a:solidFill>
                <a:latin typeface="Calibri" pitchFamily="34" charset="0"/>
                <a:ea typeface="Calibri" pitchFamily="34" charset="-122"/>
                <a:cs typeface="Calibri" pitchFamily="34" charset="-120"/>
              </a:rPr>
              <a:t>Who can run this: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it needs a tool that writes and packages code — Claude (Artifacts), ChatGPT (Canvas), Gemini (Canvas), typically on paid tiers; Copilot chat can’t build this today. No access? Hand the same spec to IT — or ask for the Excel version.</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WALKTHROUGH 2 · EMAIL</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41</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WALKTHROUGH · THE INBOX PLAY</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Five shapes — pick the one for the job</a:t>
            </a:r>
            <a:endParaRPr lang="en-US" sz="3000" dirty="0"/>
          </a:p>
        </p:txBody>
      </p:sp>
      <p:sp>
        <p:nvSpPr>
          <p:cNvPr id="6" name="Shape 4"/>
          <p:cNvSpPr/>
          <p:nvPr/>
        </p:nvSpPr>
        <p:spPr>
          <a:xfrm>
            <a:off x="502920" y="1481328"/>
            <a:ext cx="5486400" cy="694944"/>
          </a:xfrm>
          <a:prstGeom prst="roundRect">
            <a:avLst>
              <a:gd name="adj" fmla="val 10526"/>
            </a:avLst>
          </a:prstGeom>
          <a:solidFill>
            <a:srgbClr val="F2F5F6"/>
          </a:solidFill>
          <a:ln/>
        </p:spPr>
      </p:sp>
      <p:sp>
        <p:nvSpPr>
          <p:cNvPr id="7" name="Text 5"/>
          <p:cNvSpPr/>
          <p:nvPr/>
        </p:nvSpPr>
        <p:spPr>
          <a:xfrm>
            <a:off x="749808" y="1536192"/>
            <a:ext cx="5029200" cy="585216"/>
          </a:xfrm>
          <a:prstGeom prst="rect">
            <a:avLst/>
          </a:prstGeom>
          <a:noFill/>
          <a:ln/>
        </p:spPr>
        <p:txBody>
          <a:bodyPr wrap="square" lIns="0" tIns="0" rIns="0" bIns="0" rtlCol="0" anchor="ctr"/>
          <a:lstStyle/>
          <a:p>
            <a:pPr indent="0" marL="0">
              <a:lnSpc>
                <a:spcPct val="102000"/>
              </a:lnSpc>
              <a:buNone/>
            </a:pPr>
            <a:r>
              <a:rPr lang="en-US" sz="1080" b="1" dirty="0">
                <a:solidFill>
                  <a:srgbClr val="0A5B5A"/>
                </a:solidFill>
                <a:latin typeface="Calibri" pitchFamily="34" charset="0"/>
                <a:ea typeface="Calibri" pitchFamily="34" charset="-122"/>
                <a:cs typeface="Calibri" pitchFamily="34" charset="-120"/>
              </a:rPr>
              <a:t>1 · TL;DR triage — </a:t>
            </a:r>
            <a:pPr indent="0" marL="0">
              <a:lnSpc>
                <a:spcPct val="102000"/>
              </a:lnSpc>
              <a:buNone/>
            </a:pPr>
            <a:r>
              <a:rPr lang="en-US" sz="940" dirty="0">
                <a:solidFill>
                  <a:srgbClr val="46545F"/>
                </a:solidFill>
                <a:latin typeface="Calibri" pitchFamily="34" charset="0"/>
                <a:ea typeface="Calibri" pitchFamily="34" charset="-122"/>
                <a:cs typeface="Calibri" pitchFamily="34" charset="-120"/>
              </a:rPr>
              <a:t>One sentence, 30 words: current state or decision needed — not the history. For clearing an inbox.</a:t>
            </a:r>
            <a:endParaRPr lang="en-US" sz="1080" dirty="0"/>
          </a:p>
        </p:txBody>
      </p:sp>
      <p:sp>
        <p:nvSpPr>
          <p:cNvPr id="8" name="Shape 6"/>
          <p:cNvSpPr/>
          <p:nvPr/>
        </p:nvSpPr>
        <p:spPr>
          <a:xfrm>
            <a:off x="502920" y="2267712"/>
            <a:ext cx="5486400" cy="694944"/>
          </a:xfrm>
          <a:prstGeom prst="roundRect">
            <a:avLst>
              <a:gd name="adj" fmla="val 10526"/>
            </a:avLst>
          </a:prstGeom>
          <a:solidFill>
            <a:srgbClr val="E4F0EF"/>
          </a:solidFill>
          <a:ln/>
        </p:spPr>
      </p:sp>
      <p:sp>
        <p:nvSpPr>
          <p:cNvPr id="9" name="Text 7"/>
          <p:cNvSpPr/>
          <p:nvPr/>
        </p:nvSpPr>
        <p:spPr>
          <a:xfrm>
            <a:off x="749808" y="2322576"/>
            <a:ext cx="5029200" cy="585216"/>
          </a:xfrm>
          <a:prstGeom prst="rect">
            <a:avLst/>
          </a:prstGeom>
          <a:noFill/>
          <a:ln/>
        </p:spPr>
        <p:txBody>
          <a:bodyPr wrap="square" lIns="0" tIns="0" rIns="0" bIns="0" rtlCol="0" anchor="ctr"/>
          <a:lstStyle/>
          <a:p>
            <a:pPr indent="0" marL="0">
              <a:lnSpc>
                <a:spcPct val="102000"/>
              </a:lnSpc>
              <a:buNone/>
            </a:pPr>
            <a:r>
              <a:rPr lang="en-US" sz="1080" b="1" dirty="0">
                <a:solidFill>
                  <a:srgbClr val="0A5B5A"/>
                </a:solidFill>
                <a:latin typeface="Calibri" pitchFamily="34" charset="0"/>
                <a:ea typeface="Calibri" pitchFamily="34" charset="-122"/>
                <a:cs typeface="Calibri" pitchFamily="34" charset="-120"/>
              </a:rPr>
              <a:t>2 · The structured brief — </a:t>
            </a:r>
            <a:pPr indent="0" marL="0">
              <a:lnSpc>
                <a:spcPct val="102000"/>
              </a:lnSpc>
              <a:buNone/>
            </a:pPr>
            <a:r>
              <a:rPr lang="en-US" sz="940" dirty="0">
                <a:solidFill>
                  <a:srgbClr val="46545F"/>
                </a:solidFill>
                <a:latin typeface="Calibri" pitchFamily="34" charset="0"/>
                <a:ea typeface="Calibri" pitchFamily="34" charset="-122"/>
                <a:cs typeface="Calibri" pitchFamily="34" charset="-120"/>
              </a:rPr>
              <a:t>OVERVIEW · DECISIONS · ACTION ITEMS · OPEN QUESTIONS. The default when filing, forwarding, or catching up.</a:t>
            </a:r>
            <a:endParaRPr lang="en-US" sz="1080" dirty="0"/>
          </a:p>
        </p:txBody>
      </p:sp>
      <p:sp>
        <p:nvSpPr>
          <p:cNvPr id="10" name="Shape 8"/>
          <p:cNvSpPr/>
          <p:nvPr/>
        </p:nvSpPr>
        <p:spPr>
          <a:xfrm>
            <a:off x="502920" y="3054096"/>
            <a:ext cx="5486400" cy="694944"/>
          </a:xfrm>
          <a:prstGeom prst="roundRect">
            <a:avLst>
              <a:gd name="adj" fmla="val 10526"/>
            </a:avLst>
          </a:prstGeom>
          <a:solidFill>
            <a:srgbClr val="F2F5F6"/>
          </a:solidFill>
          <a:ln/>
        </p:spPr>
      </p:sp>
      <p:sp>
        <p:nvSpPr>
          <p:cNvPr id="11" name="Text 9"/>
          <p:cNvSpPr/>
          <p:nvPr/>
        </p:nvSpPr>
        <p:spPr>
          <a:xfrm>
            <a:off x="749808" y="3108960"/>
            <a:ext cx="5029200" cy="585216"/>
          </a:xfrm>
          <a:prstGeom prst="rect">
            <a:avLst/>
          </a:prstGeom>
          <a:noFill/>
          <a:ln/>
        </p:spPr>
        <p:txBody>
          <a:bodyPr wrap="square" lIns="0" tIns="0" rIns="0" bIns="0" rtlCol="0" anchor="ctr"/>
          <a:lstStyle/>
          <a:p>
            <a:pPr indent="0" marL="0">
              <a:lnSpc>
                <a:spcPct val="102000"/>
              </a:lnSpc>
              <a:buNone/>
            </a:pPr>
            <a:r>
              <a:rPr lang="en-US" sz="1080" b="1" dirty="0">
                <a:solidFill>
                  <a:srgbClr val="0A5B5A"/>
                </a:solidFill>
                <a:latin typeface="Calibri" pitchFamily="34" charset="0"/>
                <a:ea typeface="Calibri" pitchFamily="34" charset="-122"/>
                <a:cs typeface="Calibri" pitchFamily="34" charset="-120"/>
              </a:rPr>
              <a:t>3 · Action-items table — </a:t>
            </a:r>
            <a:pPr indent="0" marL="0">
              <a:lnSpc>
                <a:spcPct val="102000"/>
              </a:lnSpc>
              <a:buNone/>
            </a:pPr>
            <a:r>
              <a:rPr lang="en-US" sz="940" dirty="0">
                <a:solidFill>
                  <a:srgbClr val="46545F"/>
                </a:solidFill>
                <a:latin typeface="Calibri" pitchFamily="34" charset="0"/>
                <a:ea typeface="Calibri" pitchFamily="34" charset="-122"/>
                <a:cs typeface="Calibri" pitchFamily="34" charset="-120"/>
              </a:rPr>
              <a:t>Task | Owner | Due | Blocked by. Blank cells beat guessed ones. For moving work into your to-do system.</a:t>
            </a:r>
            <a:endParaRPr lang="en-US" sz="1080" dirty="0"/>
          </a:p>
        </p:txBody>
      </p:sp>
      <p:sp>
        <p:nvSpPr>
          <p:cNvPr id="12" name="Shape 10"/>
          <p:cNvSpPr/>
          <p:nvPr/>
        </p:nvSpPr>
        <p:spPr>
          <a:xfrm>
            <a:off x="502920" y="3840480"/>
            <a:ext cx="5486400" cy="694944"/>
          </a:xfrm>
          <a:prstGeom prst="roundRect">
            <a:avLst>
              <a:gd name="adj" fmla="val 10526"/>
            </a:avLst>
          </a:prstGeom>
          <a:solidFill>
            <a:srgbClr val="F2F5F6"/>
          </a:solidFill>
          <a:ln/>
        </p:spPr>
      </p:sp>
      <p:sp>
        <p:nvSpPr>
          <p:cNvPr id="13" name="Text 11"/>
          <p:cNvSpPr/>
          <p:nvPr/>
        </p:nvSpPr>
        <p:spPr>
          <a:xfrm>
            <a:off x="749808" y="3895344"/>
            <a:ext cx="5029200" cy="585216"/>
          </a:xfrm>
          <a:prstGeom prst="rect">
            <a:avLst/>
          </a:prstGeom>
          <a:noFill/>
          <a:ln/>
        </p:spPr>
        <p:txBody>
          <a:bodyPr wrap="square" lIns="0" tIns="0" rIns="0" bIns="0" rtlCol="0" anchor="ctr"/>
          <a:lstStyle/>
          <a:p>
            <a:pPr indent="0" marL="0">
              <a:lnSpc>
                <a:spcPct val="102000"/>
              </a:lnSpc>
              <a:buNone/>
            </a:pPr>
            <a:r>
              <a:rPr lang="en-US" sz="1080" b="1" dirty="0">
                <a:solidFill>
                  <a:srgbClr val="0A5B5A"/>
                </a:solidFill>
                <a:latin typeface="Calibri" pitchFamily="34" charset="0"/>
                <a:ea typeface="Calibri" pitchFamily="34" charset="-122"/>
                <a:cs typeface="Calibri" pitchFamily="34" charset="-120"/>
              </a:rPr>
              <a:t>4 · Decisions log — </a:t>
            </a:r>
            <a:pPr indent="0" marL="0">
              <a:lnSpc>
                <a:spcPct val="102000"/>
              </a:lnSpc>
              <a:buNone/>
            </a:pPr>
            <a:r>
              <a:rPr lang="en-US" sz="940" dirty="0">
                <a:solidFill>
                  <a:srgbClr val="46545F"/>
                </a:solidFill>
                <a:latin typeface="Calibri" pitchFamily="34" charset="0"/>
                <a:ea typeface="Calibri" pitchFamily="34" charset="-122"/>
                <a:cs typeface="Calibri" pitchFamily="34" charset="-120"/>
              </a:rPr>
              <a:t>Decision | Decided by | Reasoning | Date — settled only, proposals flagged. For defending choices later.</a:t>
            </a:r>
            <a:endParaRPr lang="en-US" sz="1080" dirty="0"/>
          </a:p>
        </p:txBody>
      </p:sp>
      <p:sp>
        <p:nvSpPr>
          <p:cNvPr id="14" name="Shape 12"/>
          <p:cNvSpPr/>
          <p:nvPr/>
        </p:nvSpPr>
        <p:spPr>
          <a:xfrm>
            <a:off x="502920" y="4626864"/>
            <a:ext cx="5486400" cy="694944"/>
          </a:xfrm>
          <a:prstGeom prst="roundRect">
            <a:avLst>
              <a:gd name="adj" fmla="val 10526"/>
            </a:avLst>
          </a:prstGeom>
          <a:solidFill>
            <a:srgbClr val="F2F5F6"/>
          </a:solidFill>
          <a:ln/>
        </p:spPr>
      </p:sp>
      <p:sp>
        <p:nvSpPr>
          <p:cNvPr id="15" name="Text 13"/>
          <p:cNvSpPr/>
          <p:nvPr/>
        </p:nvSpPr>
        <p:spPr>
          <a:xfrm>
            <a:off x="749808" y="4681728"/>
            <a:ext cx="5029200" cy="585216"/>
          </a:xfrm>
          <a:prstGeom prst="rect">
            <a:avLst/>
          </a:prstGeom>
          <a:noFill/>
          <a:ln/>
        </p:spPr>
        <p:txBody>
          <a:bodyPr wrap="square" lIns="0" tIns="0" rIns="0" bIns="0" rtlCol="0" anchor="ctr"/>
          <a:lstStyle/>
          <a:p>
            <a:pPr indent="0" marL="0">
              <a:lnSpc>
                <a:spcPct val="102000"/>
              </a:lnSpc>
              <a:buNone/>
            </a:pPr>
            <a:r>
              <a:rPr lang="en-US" sz="1080" b="1" dirty="0">
                <a:solidFill>
                  <a:srgbClr val="0A5B5A"/>
                </a:solidFill>
                <a:latin typeface="Calibri" pitchFamily="34" charset="0"/>
                <a:ea typeface="Calibri" pitchFamily="34" charset="-122"/>
                <a:cs typeface="Calibri" pitchFamily="34" charset="-120"/>
              </a:rPr>
              <a:t>5 · “Who owes what” — </a:t>
            </a:r>
            <a:pPr indent="0" marL="0">
              <a:lnSpc>
                <a:spcPct val="102000"/>
              </a:lnSpc>
              <a:buNone/>
            </a:pPr>
            <a:r>
              <a:rPr lang="en-US" sz="940" dirty="0">
                <a:solidFill>
                  <a:srgbClr val="46545F"/>
                </a:solidFill>
                <a:latin typeface="Calibri" pitchFamily="34" charset="0"/>
                <a:ea typeface="Calibri" pitchFamily="34" charset="-122"/>
                <a:cs typeface="Calibri" pitchFamily="34" charset="-120"/>
              </a:rPr>
              <a:t>Every unanswered question + “X owes Y: [thing]”, latest state only. For preparing your reply.</a:t>
            </a:r>
            <a:endParaRPr lang="en-US" sz="1080" dirty="0"/>
          </a:p>
        </p:txBody>
      </p:sp>
      <p:sp>
        <p:nvSpPr>
          <p:cNvPr id="16" name="Shape 14"/>
          <p:cNvSpPr/>
          <p:nvPr/>
        </p:nvSpPr>
        <p:spPr>
          <a:xfrm>
            <a:off x="6172200" y="1481328"/>
            <a:ext cx="5486400" cy="384048"/>
          </a:xfrm>
          <a:prstGeom prst="roundRect">
            <a:avLst>
              <a:gd name="adj" fmla="val 16667"/>
            </a:avLst>
          </a:prstGeom>
          <a:solidFill>
            <a:srgbClr val="0E7C7B"/>
          </a:solidFill>
          <a:ln/>
        </p:spPr>
      </p:sp>
      <p:sp>
        <p:nvSpPr>
          <p:cNvPr id="17" name="Text 15"/>
          <p:cNvSpPr/>
          <p:nvPr/>
        </p:nvSpPr>
        <p:spPr>
          <a:xfrm>
            <a:off x="6355080" y="1508760"/>
            <a:ext cx="5120640"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THE PROMPT · the structured brief (shape 2)</a:t>
            </a:r>
            <a:endParaRPr lang="en-US" sz="1050" dirty="0"/>
          </a:p>
        </p:txBody>
      </p:sp>
      <p:sp>
        <p:nvSpPr>
          <p:cNvPr id="18" name="Shape 16"/>
          <p:cNvSpPr/>
          <p:nvPr/>
        </p:nvSpPr>
        <p:spPr>
          <a:xfrm>
            <a:off x="6172200" y="1920240"/>
            <a:ext cx="5486400" cy="2395728"/>
          </a:xfrm>
          <a:prstGeom prst="roundRect">
            <a:avLst>
              <a:gd name="adj" fmla="val 3053"/>
            </a:avLst>
          </a:prstGeom>
          <a:solidFill>
            <a:srgbClr val="FFFFFF"/>
          </a:solidFill>
          <a:ln w="9525">
            <a:solidFill>
              <a:srgbClr val="DCE3E6"/>
            </a:solidFill>
            <a:prstDash val="solid"/>
          </a:ln>
        </p:spPr>
      </p:sp>
      <p:sp>
        <p:nvSpPr>
          <p:cNvPr id="19" name="Text 17"/>
          <p:cNvSpPr/>
          <p:nvPr/>
        </p:nvSpPr>
        <p:spPr>
          <a:xfrm>
            <a:off x="6355080" y="2029968"/>
            <a:ext cx="5120640" cy="2194560"/>
          </a:xfrm>
          <a:prstGeom prst="rect">
            <a:avLst/>
          </a:prstGeom>
          <a:noFill/>
          <a:ln/>
        </p:spPr>
        <p:txBody>
          <a:bodyPr wrap="square" lIns="0" tIns="0" rIns="0" bIns="0" rtlCol="0" anchor="ctr"/>
          <a:lstStyle/>
          <a:p>
            <a:pPr indent="0" marL="0">
              <a:lnSpc>
                <a:spcPct val="112000"/>
              </a:lnSpc>
              <a:buNone/>
            </a:pPr>
            <a:r>
              <a:rPr lang="en-US" sz="890" dirty="0">
                <a:solidFill>
                  <a:srgbClr val="0A5B5A"/>
                </a:solidFill>
                <a:latin typeface="Consolas" pitchFamily="34" charset="0"/>
                <a:ea typeface="Consolas" pitchFamily="34" charset="-122"/>
                <a:cs typeface="Consolas" pitchFamily="34" charset="-120"/>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lang="en-US" sz="890" dirty="0"/>
          </a:p>
        </p:txBody>
      </p:sp>
      <p:sp>
        <p:nvSpPr>
          <p:cNvPr id="20" name="Shape 18"/>
          <p:cNvSpPr/>
          <p:nvPr/>
        </p:nvSpPr>
        <p:spPr>
          <a:xfrm>
            <a:off x="6172200" y="4480560"/>
            <a:ext cx="5486400" cy="1536192"/>
          </a:xfrm>
          <a:prstGeom prst="roundRect">
            <a:avLst>
              <a:gd name="adj" fmla="val 4762"/>
            </a:avLst>
          </a:prstGeom>
          <a:solidFill>
            <a:srgbClr val="FBF0E0"/>
          </a:solidFill>
          <a:ln/>
        </p:spPr>
      </p:sp>
      <p:sp>
        <p:nvSpPr>
          <p:cNvPr id="21" name="Text 19"/>
          <p:cNvSpPr/>
          <p:nvPr/>
        </p:nvSpPr>
        <p:spPr>
          <a:xfrm>
            <a:off x="6382512" y="4626864"/>
            <a:ext cx="5074920" cy="1298448"/>
          </a:xfrm>
          <a:prstGeom prst="rect">
            <a:avLst/>
          </a:prstGeom>
          <a:noFill/>
          <a:ln/>
        </p:spPr>
        <p:txBody>
          <a:bodyPr wrap="square" lIns="0" tIns="0" rIns="0" bIns="0" rtlCol="0" anchor="ctr"/>
          <a:lstStyle/>
          <a:p>
            <a:pPr indent="0" marL="0">
              <a:lnSpc>
                <a:spcPct val="108000"/>
              </a:lnSpc>
              <a:spcAft>
                <a:spcPts val="300"/>
              </a:spcAft>
              <a:buNone/>
            </a:pPr>
            <a:r>
              <a:rPr lang="en-US" sz="1100" b="1" dirty="0">
                <a:solidFill>
                  <a:srgbClr val="B96A1B"/>
                </a:solidFill>
                <a:latin typeface="Calibri" pitchFamily="34" charset="0"/>
                <a:ea typeface="Calibri" pitchFamily="34" charset="-122"/>
                <a:cs typeface="Calibri" pitchFamily="34" charset="-120"/>
              </a:rPr>
              <a:t>Your practice thread (in the pack): </a:t>
            </a:r>
            <a:endParaRPr lang="en-US" sz="1100" dirty="0"/>
          </a:p>
          <a:p>
            <a:pPr indent="0" marL="0">
              <a:lnSpc>
                <a:spcPct val="108000"/>
              </a:lnSpc>
              <a:buNone/>
            </a:pPr>
            <a:r>
              <a:rPr lang="en-US" sz="1020" dirty="0">
                <a:solidFill>
                  <a:srgbClr val="46545F"/>
                </a:solidFill>
                <a:latin typeface="Calibri" pitchFamily="34" charset="0"/>
                <a:ea typeface="Calibri" pitchFamily="34" charset="-122"/>
                <a:cs typeface="Calibri" pitchFamily="34" charset="-120"/>
              </a:rPr>
              <a:t>“Q3 packaging change” — 10 messages, 6 people, and four planted traps: a date that MOVED mid-thread, an approval WITH a condition, a question nobody answered, and a mentioned attachment that isn’t there. A good brief catches all four.</a:t>
            </a:r>
            <a:endParaRPr lang="en-US" sz="1100" dirty="0"/>
          </a:p>
        </p:txBody>
      </p:sp>
      <p:sp>
        <p:nvSpPr>
          <p:cNvPr id="22" name="Text 20"/>
          <p:cNvSpPr/>
          <p:nvPr/>
        </p:nvSpPr>
        <p:spPr>
          <a:xfrm>
            <a:off x="502920" y="5577840"/>
            <a:ext cx="5486400" cy="731520"/>
          </a:xfrm>
          <a:prstGeom prst="rect">
            <a:avLst/>
          </a:prstGeom>
          <a:noFill/>
          <a:ln/>
        </p:spPr>
        <p:txBody>
          <a:bodyPr wrap="square" lIns="0" tIns="0" rIns="0" bIns="0" rtlCol="0" anchor="ctr"/>
          <a:lstStyle/>
          <a:p>
            <a:pPr indent="0" marL="0">
              <a:lnSpc>
                <a:spcPct val="105000"/>
              </a:lnSpc>
              <a:buNone/>
            </a:pPr>
            <a:r>
              <a:rPr lang="en-US" sz="950" i="1" dirty="0">
                <a:solidFill>
                  <a:srgbClr val="7A8790"/>
                </a:solidFill>
                <a:latin typeface="Calibri" pitchFamily="34" charset="0"/>
                <a:ea typeface="Calibri" pitchFamily="34" charset="-122"/>
                <a:cs typeface="Calibri" pitchFamily="34" charset="-120"/>
              </a:rPr>
              <a:t>Why this play: thread summarization is the single most-used Copilot feature — and the easiest to trust blindly. ✂ All five shape prompts: tab EX-Email of your Course Workbook.</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WALKTHROUGH 2 · EMAIL</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42</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WALKTHROUGH · THE INBOX PLAY, IN COPILOT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button starts it — the prompts finish it</a:t>
            </a:r>
            <a:endParaRPr lang="en-US" sz="3000" dirty="0"/>
          </a:p>
        </p:txBody>
      </p:sp>
      <p:sp>
        <p:nvSpPr>
          <p:cNvPr id="6" name="Shape 4"/>
          <p:cNvSpPr/>
          <p:nvPr/>
        </p:nvSpPr>
        <p:spPr>
          <a:xfrm>
            <a:off x="502920" y="1444752"/>
            <a:ext cx="3611880" cy="1371600"/>
          </a:xfrm>
          <a:prstGeom prst="roundRect">
            <a:avLst>
              <a:gd name="adj" fmla="val 3333"/>
            </a:avLst>
          </a:prstGeom>
          <a:solidFill>
            <a:srgbClr val="FFFFFF"/>
          </a:solidFill>
          <a:ln w="12700">
            <a:solidFill>
              <a:srgbClr val="46545F"/>
            </a:solidFill>
            <a:prstDash val="solid"/>
          </a:ln>
        </p:spPr>
      </p:sp>
      <p:sp>
        <p:nvSpPr>
          <p:cNvPr id="7" name="Shape 5"/>
          <p:cNvSpPr/>
          <p:nvPr/>
        </p:nvSpPr>
        <p:spPr>
          <a:xfrm>
            <a:off x="502920" y="1444752"/>
            <a:ext cx="3611880" cy="274320"/>
          </a:xfrm>
          <a:prstGeom prst="roundRect">
            <a:avLst>
              <a:gd name="adj" fmla="val 16667"/>
            </a:avLst>
          </a:prstGeom>
          <a:solidFill>
            <a:srgbClr val="46545F"/>
          </a:solidFill>
          <a:ln/>
        </p:spPr>
      </p:sp>
      <p:sp>
        <p:nvSpPr>
          <p:cNvPr id="8" name="Text 6"/>
          <p:cNvSpPr/>
          <p:nvPr/>
        </p:nvSpPr>
        <p:spPr>
          <a:xfrm>
            <a:off x="612648" y="1444752"/>
            <a:ext cx="3429000" cy="274320"/>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① The thread, in Outlook</a:t>
            </a:r>
            <a:endParaRPr lang="en-US" sz="850" dirty="0"/>
          </a:p>
        </p:txBody>
      </p:sp>
      <p:sp>
        <p:nvSpPr>
          <p:cNvPr id="9" name="Text 7"/>
          <p:cNvSpPr/>
          <p:nvPr/>
        </p:nvSpPr>
        <p:spPr>
          <a:xfrm>
            <a:off x="640080" y="1773936"/>
            <a:ext cx="3291840" cy="219456"/>
          </a:xfrm>
          <a:prstGeom prst="rect">
            <a:avLst/>
          </a:prstGeom>
          <a:noFill/>
          <a:ln/>
        </p:spPr>
        <p:txBody>
          <a:bodyPr wrap="square" lIns="0" tIns="0" rIns="0" bIns="0" rtlCol="0" anchor="ctr"/>
          <a:lstStyle/>
          <a:p>
            <a:pPr indent="0" marL="0">
              <a:buNone/>
            </a:pPr>
            <a:r>
              <a:rPr lang="en-US" sz="900" b="1" dirty="0">
                <a:solidFill>
                  <a:srgbClr val="232A31"/>
                </a:solidFill>
                <a:latin typeface="Calibri" pitchFamily="34" charset="0"/>
                <a:ea typeface="Calibri" pitchFamily="34" charset="-122"/>
                <a:cs typeface="Calibri" pitchFamily="34" charset="-120"/>
              </a:rPr>
              <a:t>Q3 packaging change</a:t>
            </a:r>
            <a:endParaRPr lang="en-US" sz="900" dirty="0"/>
          </a:p>
        </p:txBody>
      </p:sp>
      <p:sp>
        <p:nvSpPr>
          <p:cNvPr id="10" name="Shape 8"/>
          <p:cNvSpPr/>
          <p:nvPr/>
        </p:nvSpPr>
        <p:spPr>
          <a:xfrm>
            <a:off x="658368" y="2048256"/>
            <a:ext cx="146304" cy="146304"/>
          </a:xfrm>
          <a:prstGeom prst="ellipse">
            <a:avLst/>
          </a:prstGeom>
          <a:solidFill>
            <a:srgbClr val="0E7C7B"/>
          </a:solidFill>
          <a:ln/>
        </p:spPr>
      </p:sp>
      <p:sp>
        <p:nvSpPr>
          <p:cNvPr id="11" name="Shape 9"/>
          <p:cNvSpPr/>
          <p:nvPr/>
        </p:nvSpPr>
        <p:spPr>
          <a:xfrm>
            <a:off x="886968" y="2075688"/>
            <a:ext cx="2194560" cy="91440"/>
          </a:xfrm>
          <a:prstGeom prst="roundRect">
            <a:avLst>
              <a:gd name="adj" fmla="val 30000"/>
            </a:avLst>
          </a:prstGeom>
          <a:solidFill>
            <a:srgbClr val="DCE3E6"/>
          </a:solidFill>
          <a:ln/>
        </p:spPr>
      </p:sp>
      <p:sp>
        <p:nvSpPr>
          <p:cNvPr id="12" name="Shape 10"/>
          <p:cNvSpPr/>
          <p:nvPr/>
        </p:nvSpPr>
        <p:spPr>
          <a:xfrm>
            <a:off x="658368" y="2286000"/>
            <a:ext cx="146304" cy="146304"/>
          </a:xfrm>
          <a:prstGeom prst="ellipse">
            <a:avLst/>
          </a:prstGeom>
          <a:solidFill>
            <a:srgbClr val="B96A1B"/>
          </a:solidFill>
          <a:ln/>
        </p:spPr>
      </p:sp>
      <p:sp>
        <p:nvSpPr>
          <p:cNvPr id="13" name="Shape 11"/>
          <p:cNvSpPr/>
          <p:nvPr/>
        </p:nvSpPr>
        <p:spPr>
          <a:xfrm>
            <a:off x="886968" y="2313432"/>
            <a:ext cx="1828800" cy="91440"/>
          </a:xfrm>
          <a:prstGeom prst="roundRect">
            <a:avLst>
              <a:gd name="adj" fmla="val 30000"/>
            </a:avLst>
          </a:prstGeom>
          <a:solidFill>
            <a:srgbClr val="DCE3E6"/>
          </a:solidFill>
          <a:ln/>
        </p:spPr>
      </p:sp>
      <p:sp>
        <p:nvSpPr>
          <p:cNvPr id="14" name="Shape 12"/>
          <p:cNvSpPr/>
          <p:nvPr/>
        </p:nvSpPr>
        <p:spPr>
          <a:xfrm>
            <a:off x="658368" y="2523744"/>
            <a:ext cx="146304" cy="146304"/>
          </a:xfrm>
          <a:prstGeom prst="ellipse">
            <a:avLst/>
          </a:prstGeom>
          <a:solidFill>
            <a:srgbClr val="46545F"/>
          </a:solidFill>
          <a:ln/>
        </p:spPr>
      </p:sp>
      <p:sp>
        <p:nvSpPr>
          <p:cNvPr id="15" name="Shape 13"/>
          <p:cNvSpPr/>
          <p:nvPr/>
        </p:nvSpPr>
        <p:spPr>
          <a:xfrm>
            <a:off x="886968" y="2551176"/>
            <a:ext cx="1463040" cy="91440"/>
          </a:xfrm>
          <a:prstGeom prst="roundRect">
            <a:avLst>
              <a:gd name="adj" fmla="val 30000"/>
            </a:avLst>
          </a:prstGeom>
          <a:solidFill>
            <a:srgbClr val="DCE3E6"/>
          </a:solidFill>
          <a:ln/>
        </p:spPr>
      </p:sp>
      <p:sp>
        <p:nvSpPr>
          <p:cNvPr id="16" name="Text 14"/>
          <p:cNvSpPr/>
          <p:nvPr/>
        </p:nvSpPr>
        <p:spPr>
          <a:xfrm>
            <a:off x="640080" y="2578608"/>
            <a:ext cx="3291840" cy="201168"/>
          </a:xfrm>
          <a:prstGeom prst="rect">
            <a:avLst/>
          </a:prstGeom>
          <a:noFill/>
          <a:ln/>
        </p:spPr>
        <p:txBody>
          <a:bodyPr wrap="square" lIns="0" tIns="0" rIns="0" bIns="0" rtlCol="0" anchor="ctr"/>
          <a:lstStyle/>
          <a:p>
            <a:pPr indent="0" marL="0">
              <a:buNone/>
            </a:pPr>
            <a:r>
              <a:rPr lang="en-US" sz="750" i="1" dirty="0">
                <a:solidFill>
                  <a:srgbClr val="7A8790"/>
                </a:solidFill>
                <a:latin typeface="Calibri" pitchFamily="34" charset="0"/>
                <a:ea typeface="Calibri" pitchFamily="34" charset="-122"/>
                <a:cs typeface="Calibri" pitchFamily="34" charset="-120"/>
              </a:rPr>
              <a:t>10 messages · 6 people</a:t>
            </a:r>
            <a:endParaRPr lang="en-US" sz="750" dirty="0"/>
          </a:p>
        </p:txBody>
      </p:sp>
      <p:sp>
        <p:nvSpPr>
          <p:cNvPr id="17" name="Shape 15"/>
          <p:cNvSpPr/>
          <p:nvPr/>
        </p:nvSpPr>
        <p:spPr>
          <a:xfrm>
            <a:off x="4297680" y="1444752"/>
            <a:ext cx="3611880" cy="1371600"/>
          </a:xfrm>
          <a:prstGeom prst="roundRect">
            <a:avLst>
              <a:gd name="adj" fmla="val 3333"/>
            </a:avLst>
          </a:prstGeom>
          <a:solidFill>
            <a:srgbClr val="FFFFFF"/>
          </a:solidFill>
          <a:ln w="12700">
            <a:solidFill>
              <a:srgbClr val="46545F"/>
            </a:solidFill>
            <a:prstDash val="solid"/>
          </a:ln>
        </p:spPr>
      </p:sp>
      <p:sp>
        <p:nvSpPr>
          <p:cNvPr id="18" name="Shape 16"/>
          <p:cNvSpPr/>
          <p:nvPr/>
        </p:nvSpPr>
        <p:spPr>
          <a:xfrm>
            <a:off x="4297680" y="1444752"/>
            <a:ext cx="3611880" cy="274320"/>
          </a:xfrm>
          <a:prstGeom prst="roundRect">
            <a:avLst>
              <a:gd name="adj" fmla="val 16667"/>
            </a:avLst>
          </a:prstGeom>
          <a:solidFill>
            <a:srgbClr val="0E7C7B"/>
          </a:solidFill>
          <a:ln/>
        </p:spPr>
      </p:sp>
      <p:sp>
        <p:nvSpPr>
          <p:cNvPr id="19" name="Text 17"/>
          <p:cNvSpPr/>
          <p:nvPr/>
        </p:nvSpPr>
        <p:spPr>
          <a:xfrm>
            <a:off x="4407408" y="1444752"/>
            <a:ext cx="3429000" cy="274320"/>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② “Summary by Copilot” — with citations</a:t>
            </a:r>
            <a:endParaRPr lang="en-US" sz="850" dirty="0"/>
          </a:p>
        </p:txBody>
      </p:sp>
      <p:sp>
        <p:nvSpPr>
          <p:cNvPr id="20" name="Shape 18"/>
          <p:cNvSpPr/>
          <p:nvPr/>
        </p:nvSpPr>
        <p:spPr>
          <a:xfrm>
            <a:off x="4453128" y="1847088"/>
            <a:ext cx="2651760" cy="100584"/>
          </a:xfrm>
          <a:prstGeom prst="roundRect">
            <a:avLst>
              <a:gd name="adj" fmla="val 27273"/>
            </a:avLst>
          </a:prstGeom>
          <a:solidFill>
            <a:srgbClr val="DCE3E6"/>
          </a:solidFill>
          <a:ln/>
        </p:spPr>
      </p:sp>
      <p:sp>
        <p:nvSpPr>
          <p:cNvPr id="21" name="Shape 19"/>
          <p:cNvSpPr/>
          <p:nvPr/>
        </p:nvSpPr>
        <p:spPr>
          <a:xfrm>
            <a:off x="7150608" y="1819656"/>
            <a:ext cx="201168" cy="155448"/>
          </a:xfrm>
          <a:prstGeom prst="roundRect">
            <a:avLst>
              <a:gd name="adj" fmla="val 17647"/>
            </a:avLst>
          </a:prstGeom>
          <a:solidFill>
            <a:srgbClr val="0E7C7B"/>
          </a:solidFill>
          <a:ln/>
        </p:spPr>
      </p:sp>
      <p:sp>
        <p:nvSpPr>
          <p:cNvPr id="22" name="Text 20"/>
          <p:cNvSpPr/>
          <p:nvPr/>
        </p:nvSpPr>
        <p:spPr>
          <a:xfrm>
            <a:off x="7150608" y="1801368"/>
            <a:ext cx="201168" cy="17373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1</a:t>
            </a:r>
            <a:endParaRPr lang="en-US" sz="700" dirty="0"/>
          </a:p>
        </p:txBody>
      </p:sp>
      <p:sp>
        <p:nvSpPr>
          <p:cNvPr id="23" name="Shape 21"/>
          <p:cNvSpPr/>
          <p:nvPr/>
        </p:nvSpPr>
        <p:spPr>
          <a:xfrm>
            <a:off x="4453128" y="2121408"/>
            <a:ext cx="2194560" cy="100584"/>
          </a:xfrm>
          <a:prstGeom prst="roundRect">
            <a:avLst>
              <a:gd name="adj" fmla="val 27273"/>
            </a:avLst>
          </a:prstGeom>
          <a:solidFill>
            <a:srgbClr val="DCE3E6"/>
          </a:solidFill>
          <a:ln/>
        </p:spPr>
      </p:sp>
      <p:sp>
        <p:nvSpPr>
          <p:cNvPr id="24" name="Shape 22"/>
          <p:cNvSpPr/>
          <p:nvPr/>
        </p:nvSpPr>
        <p:spPr>
          <a:xfrm>
            <a:off x="6693408" y="2093976"/>
            <a:ext cx="201168" cy="155448"/>
          </a:xfrm>
          <a:prstGeom prst="roundRect">
            <a:avLst>
              <a:gd name="adj" fmla="val 17647"/>
            </a:avLst>
          </a:prstGeom>
          <a:solidFill>
            <a:srgbClr val="0E7C7B"/>
          </a:solidFill>
          <a:ln/>
        </p:spPr>
      </p:sp>
      <p:sp>
        <p:nvSpPr>
          <p:cNvPr id="25" name="Text 23"/>
          <p:cNvSpPr/>
          <p:nvPr/>
        </p:nvSpPr>
        <p:spPr>
          <a:xfrm>
            <a:off x="6693408" y="2075688"/>
            <a:ext cx="201168" cy="17373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2</a:t>
            </a:r>
            <a:endParaRPr lang="en-US" sz="700" dirty="0"/>
          </a:p>
        </p:txBody>
      </p:sp>
      <p:sp>
        <p:nvSpPr>
          <p:cNvPr id="26" name="Shape 24"/>
          <p:cNvSpPr/>
          <p:nvPr/>
        </p:nvSpPr>
        <p:spPr>
          <a:xfrm>
            <a:off x="4453128" y="2395728"/>
            <a:ext cx="1737360" cy="100584"/>
          </a:xfrm>
          <a:prstGeom prst="roundRect">
            <a:avLst>
              <a:gd name="adj" fmla="val 27273"/>
            </a:avLst>
          </a:prstGeom>
          <a:solidFill>
            <a:srgbClr val="DCE3E6"/>
          </a:solidFill>
          <a:ln/>
        </p:spPr>
      </p:sp>
      <p:sp>
        <p:nvSpPr>
          <p:cNvPr id="27" name="Shape 25"/>
          <p:cNvSpPr/>
          <p:nvPr/>
        </p:nvSpPr>
        <p:spPr>
          <a:xfrm>
            <a:off x="6236208" y="2368296"/>
            <a:ext cx="201168" cy="155448"/>
          </a:xfrm>
          <a:prstGeom prst="roundRect">
            <a:avLst>
              <a:gd name="adj" fmla="val 17647"/>
            </a:avLst>
          </a:prstGeom>
          <a:solidFill>
            <a:srgbClr val="0E7C7B"/>
          </a:solidFill>
          <a:ln/>
        </p:spPr>
      </p:sp>
      <p:sp>
        <p:nvSpPr>
          <p:cNvPr id="28" name="Text 26"/>
          <p:cNvSpPr/>
          <p:nvPr/>
        </p:nvSpPr>
        <p:spPr>
          <a:xfrm>
            <a:off x="6236208" y="2350008"/>
            <a:ext cx="201168" cy="17373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3</a:t>
            </a:r>
            <a:endParaRPr lang="en-US" sz="700" dirty="0"/>
          </a:p>
        </p:txBody>
      </p:sp>
      <p:sp>
        <p:nvSpPr>
          <p:cNvPr id="29" name="Text 27"/>
          <p:cNvSpPr/>
          <p:nvPr/>
        </p:nvSpPr>
        <p:spPr>
          <a:xfrm>
            <a:off x="4434840" y="2542032"/>
            <a:ext cx="3337560" cy="256032"/>
          </a:xfrm>
          <a:prstGeom prst="rect">
            <a:avLst/>
          </a:prstGeom>
          <a:noFill/>
          <a:ln/>
        </p:spPr>
        <p:txBody>
          <a:bodyPr wrap="square" lIns="0" tIns="0" rIns="0" bIns="0" rtlCol="0" anchor="ctr"/>
          <a:lstStyle/>
          <a:p>
            <a:pPr indent="0" marL="0">
              <a:buNone/>
            </a:pPr>
            <a:r>
              <a:rPr lang="en-US" sz="750" i="1" dirty="0">
                <a:solidFill>
                  <a:srgbClr val="0A5B5A"/>
                </a:solidFill>
                <a:latin typeface="Calibri" pitchFamily="34" charset="0"/>
                <a:ea typeface="Calibri" pitchFamily="34" charset="-122"/>
                <a:cs typeface="Calibri" pitchFamily="34" charset="-120"/>
              </a:rPr>
              <a:t>each number is a click-through citation — your verification tool</a:t>
            </a:r>
            <a:endParaRPr lang="en-US" sz="750" dirty="0"/>
          </a:p>
        </p:txBody>
      </p:sp>
      <p:sp>
        <p:nvSpPr>
          <p:cNvPr id="30" name="Shape 28"/>
          <p:cNvSpPr/>
          <p:nvPr/>
        </p:nvSpPr>
        <p:spPr>
          <a:xfrm>
            <a:off x="8092440" y="1444752"/>
            <a:ext cx="3611880" cy="1371600"/>
          </a:xfrm>
          <a:prstGeom prst="roundRect">
            <a:avLst>
              <a:gd name="adj" fmla="val 3333"/>
            </a:avLst>
          </a:prstGeom>
          <a:solidFill>
            <a:srgbClr val="FFFFFF"/>
          </a:solidFill>
          <a:ln w="12700">
            <a:solidFill>
              <a:srgbClr val="46545F"/>
            </a:solidFill>
            <a:prstDash val="solid"/>
          </a:ln>
        </p:spPr>
      </p:sp>
      <p:sp>
        <p:nvSpPr>
          <p:cNvPr id="31" name="Shape 29"/>
          <p:cNvSpPr/>
          <p:nvPr/>
        </p:nvSpPr>
        <p:spPr>
          <a:xfrm>
            <a:off x="8092440" y="1444752"/>
            <a:ext cx="3611880" cy="274320"/>
          </a:xfrm>
          <a:prstGeom prst="roundRect">
            <a:avLst>
              <a:gd name="adj" fmla="val 16667"/>
            </a:avLst>
          </a:prstGeom>
          <a:solidFill>
            <a:srgbClr val="46545F"/>
          </a:solidFill>
          <a:ln/>
        </p:spPr>
      </p:sp>
      <p:sp>
        <p:nvSpPr>
          <p:cNvPr id="32" name="Text 30"/>
          <p:cNvSpPr/>
          <p:nvPr/>
        </p:nvSpPr>
        <p:spPr>
          <a:xfrm>
            <a:off x="8202168" y="1444752"/>
            <a:ext cx="3429000" cy="274320"/>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③ The Copilot pane — where you refine</a:t>
            </a:r>
            <a:endParaRPr lang="en-US" sz="850" dirty="0"/>
          </a:p>
        </p:txBody>
      </p:sp>
      <p:sp>
        <p:nvSpPr>
          <p:cNvPr id="33" name="Shape 31"/>
          <p:cNvSpPr/>
          <p:nvPr/>
        </p:nvSpPr>
        <p:spPr>
          <a:xfrm>
            <a:off x="8229600" y="1810512"/>
            <a:ext cx="3337560" cy="365760"/>
          </a:xfrm>
          <a:prstGeom prst="roundRect">
            <a:avLst>
              <a:gd name="adj" fmla="val 15000"/>
            </a:avLst>
          </a:prstGeom>
          <a:solidFill>
            <a:srgbClr val="FFFFFF"/>
          </a:solidFill>
          <a:ln w="12700">
            <a:solidFill>
              <a:srgbClr val="0E7C7B"/>
            </a:solidFill>
            <a:prstDash val="solid"/>
          </a:ln>
        </p:spPr>
      </p:sp>
      <p:sp>
        <p:nvSpPr>
          <p:cNvPr id="34" name="Text 32"/>
          <p:cNvSpPr/>
          <p:nvPr/>
        </p:nvSpPr>
        <p:spPr>
          <a:xfrm>
            <a:off x="8321040" y="1828800"/>
            <a:ext cx="3154680" cy="329184"/>
          </a:xfrm>
          <a:prstGeom prst="rect">
            <a:avLst/>
          </a:prstGeom>
          <a:noFill/>
          <a:ln/>
        </p:spPr>
        <p:txBody>
          <a:bodyPr wrap="square" lIns="0" tIns="0" rIns="0" bIns="0" rtlCol="0" anchor="ctr"/>
          <a:lstStyle/>
          <a:p>
            <a:pPr indent="0" marL="0">
              <a:buNone/>
            </a:pPr>
            <a:r>
              <a:rPr lang="en-US" sz="760" dirty="0">
                <a:solidFill>
                  <a:srgbClr val="0A5B5A"/>
                </a:solidFill>
                <a:latin typeface="Consolas" pitchFamily="34" charset="0"/>
                <a:ea typeface="Consolas" pitchFamily="34" charset="-122"/>
                <a:cs typeface="Consolas" pitchFamily="34" charset="-120"/>
              </a:rPr>
              <a:t>“Who owes the next reply, and by when?”</a:t>
            </a:r>
            <a:endParaRPr lang="en-US" sz="760" dirty="0"/>
          </a:p>
        </p:txBody>
      </p:sp>
      <p:sp>
        <p:nvSpPr>
          <p:cNvPr id="35" name="Text 33"/>
          <p:cNvSpPr/>
          <p:nvPr/>
        </p:nvSpPr>
        <p:spPr>
          <a:xfrm>
            <a:off x="8229600" y="2267712"/>
            <a:ext cx="3337560" cy="457200"/>
          </a:xfrm>
          <a:prstGeom prst="rect">
            <a:avLst/>
          </a:prstGeom>
          <a:noFill/>
          <a:ln/>
        </p:spPr>
        <p:txBody>
          <a:bodyPr wrap="square" lIns="0" tIns="0" rIns="0" bIns="0" rtlCol="0" anchor="ctr"/>
          <a:lstStyle/>
          <a:p>
            <a:pPr indent="0" marL="0">
              <a:lnSpc>
                <a:spcPct val="110000"/>
              </a:lnSpc>
              <a:buNone/>
            </a:pPr>
            <a:r>
              <a:rPr lang="en-US" sz="720" dirty="0">
                <a:solidFill>
                  <a:srgbClr val="46545F"/>
                </a:solidFill>
                <a:latin typeface="Consolas" pitchFamily="34" charset="0"/>
                <a:ea typeface="Consolas" pitchFamily="34" charset="-122"/>
                <a:cs typeface="Consolas" pitchFamily="34" charset="-120"/>
              </a:rPr>
              <a:t>“List the action items” · “What did you base that on?”</a:t>
            </a:r>
            <a:endParaRPr lang="en-US" sz="720" dirty="0"/>
          </a:p>
        </p:txBody>
      </p:sp>
      <p:sp>
        <p:nvSpPr>
          <p:cNvPr id="36" name="Text 34"/>
          <p:cNvSpPr/>
          <p:nvPr/>
        </p:nvSpPr>
        <p:spPr>
          <a:xfrm>
            <a:off x="8595360" y="2834640"/>
            <a:ext cx="3063240" cy="201168"/>
          </a:xfrm>
          <a:prstGeom prst="rect">
            <a:avLst/>
          </a:prstGeom>
          <a:noFill/>
          <a:ln/>
        </p:spPr>
        <p:txBody>
          <a:bodyPr wrap="square" lIns="0" tIns="0" rIns="0" bIns="0" rtlCol="0" anchor="ctr"/>
          <a:lstStyle/>
          <a:p>
            <a:pPr algn="r" indent="0" marL="0">
              <a:buNone/>
            </a:pPr>
            <a:r>
              <a:rPr lang="en-US" sz="750" i="1" dirty="0">
                <a:solidFill>
                  <a:srgbClr val="7A8790"/>
                </a:solidFill>
                <a:latin typeface="Calibri" pitchFamily="34" charset="0"/>
                <a:ea typeface="Calibri" pitchFamily="34" charset="-122"/>
                <a:cs typeface="Calibri" pitchFamily="34" charset="-120"/>
              </a:rPr>
              <a:t>stylized illustration — not a screenshot</a:t>
            </a:r>
            <a:endParaRPr lang="en-US" sz="750" dirty="0"/>
          </a:p>
        </p:txBody>
      </p:sp>
      <p:sp>
        <p:nvSpPr>
          <p:cNvPr id="37" name="Shape 35"/>
          <p:cNvSpPr/>
          <p:nvPr/>
        </p:nvSpPr>
        <p:spPr>
          <a:xfrm>
            <a:off x="502920" y="3127248"/>
            <a:ext cx="5394960" cy="1783080"/>
          </a:xfrm>
          <a:prstGeom prst="roundRect">
            <a:avLst>
              <a:gd name="adj" fmla="val 4103"/>
            </a:avLst>
          </a:prstGeom>
          <a:solidFill>
            <a:srgbClr val="F2F5F6"/>
          </a:solidFill>
          <a:ln/>
        </p:spPr>
      </p:sp>
      <p:sp>
        <p:nvSpPr>
          <p:cNvPr id="38" name="Text 36"/>
          <p:cNvSpPr/>
          <p:nvPr/>
        </p:nvSpPr>
        <p:spPr>
          <a:xfrm>
            <a:off x="777240" y="3246120"/>
            <a:ext cx="4846320" cy="292608"/>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Mechanics worth knowing</a:t>
            </a:r>
            <a:endParaRPr lang="en-US" sz="1250" dirty="0"/>
          </a:p>
        </p:txBody>
      </p:sp>
      <p:sp>
        <p:nvSpPr>
          <p:cNvPr id="39" name="Text 37"/>
          <p:cNvSpPr/>
          <p:nvPr/>
        </p:nvSpPr>
        <p:spPr>
          <a:xfrm>
            <a:off x="822960" y="3584448"/>
            <a:ext cx="4846320" cy="1280160"/>
          </a:xfrm>
          <a:prstGeom prst="rect">
            <a:avLst/>
          </a:prstGeom>
          <a:noFill/>
          <a:ln/>
        </p:spPr>
        <p:txBody>
          <a:bodyPr wrap="square" lIns="0" tIns="0" rIns="0" bIns="0" rtlCol="0" anchor="t"/>
          <a:lstStyle/>
          <a:p>
            <a:pPr algn="l" marL="127000" indent="-127000">
              <a:lnSpc>
                <a:spcPct val="104000"/>
              </a:lnSpc>
              <a:spcAft>
                <a:spcPts val="400"/>
              </a:spcAft>
              <a:buSzPct val="100000"/>
              <a:buChar char="•"/>
            </a:pPr>
            <a:r>
              <a:rPr lang="en-US" sz="880" b="1" dirty="0">
                <a:solidFill>
                  <a:srgbClr val="46545F"/>
                </a:solidFill>
                <a:latin typeface="Calibri" pitchFamily="34" charset="0"/>
                <a:ea typeface="Calibri" pitchFamily="34" charset="-122"/>
                <a:cs typeface="Calibri" pitchFamily="34" charset="-120"/>
              </a:rPr>
              <a:t>The summary’s numbered citations jump to the source email — verify names and dates through them.</a:t>
            </a:r>
            <a:endParaRPr lang="en-US" sz="880" dirty="0"/>
          </a:p>
          <a:p>
            <a:pPr algn="l" marL="127000" indent="-127000">
              <a:lnSpc>
                <a:spcPct val="104000"/>
              </a:lnSpc>
              <a:spcAft>
                <a:spcPts val="400"/>
              </a:spcAft>
              <a:buSzPct val="100000"/>
              <a:buChar char="•"/>
            </a:pPr>
            <a:r>
              <a:rPr lang="en-US" sz="880" dirty="0">
                <a:solidFill>
                  <a:srgbClr val="46545F"/>
                </a:solidFill>
                <a:latin typeface="Calibri" pitchFamily="34" charset="0"/>
                <a:ea typeface="Calibri" pitchFamily="34" charset="-122"/>
                <a:cs typeface="Calibri" pitchFamily="34" charset="-120"/>
              </a:rPr>
              <a:t>Limits: attachments NOT read (use “Summarize a file”) · shared mailboxes &amp; encrypted mail out of scope · very short threads produce nothing.</a:t>
            </a:r>
            <a:endParaRPr lang="en-US" sz="880" dirty="0"/>
          </a:p>
          <a:p>
            <a:pPr algn="l" marL="127000" indent="-127000">
              <a:lnSpc>
                <a:spcPct val="104000"/>
              </a:lnSpc>
              <a:spcAft>
                <a:spcPts val="400"/>
              </a:spcAft>
              <a:buSzPct val="100000"/>
              <a:buChar char="•"/>
            </a:pPr>
            <a:r>
              <a:rPr lang="en-US" sz="880" dirty="0">
                <a:solidFill>
                  <a:srgbClr val="46545F"/>
                </a:solidFill>
                <a:latin typeface="Calibri" pitchFamily="34" charset="0"/>
                <a:ea typeface="Calibri" pitchFamily="34" charset="-122"/>
                <a:cs typeface="Calibri" pitchFamily="34" charset="-120"/>
              </a:rPr>
              <a:t>Microsoft’s own anatomy = ours: Goal · Context · Source · Expectations.</a:t>
            </a:r>
            <a:endParaRPr lang="en-US" sz="880" dirty="0"/>
          </a:p>
        </p:txBody>
      </p:sp>
      <p:sp>
        <p:nvSpPr>
          <p:cNvPr id="40" name="Shape 38"/>
          <p:cNvSpPr/>
          <p:nvPr/>
        </p:nvSpPr>
        <p:spPr>
          <a:xfrm>
            <a:off x="502920" y="5029200"/>
            <a:ext cx="5394960" cy="1371600"/>
          </a:xfrm>
          <a:prstGeom prst="roundRect">
            <a:avLst>
              <a:gd name="adj" fmla="val 5333"/>
            </a:avLst>
          </a:prstGeom>
          <a:solidFill>
            <a:srgbClr val="F9E9E8"/>
          </a:solidFill>
          <a:ln/>
        </p:spPr>
      </p:sp>
      <p:sp>
        <p:nvSpPr>
          <p:cNvPr id="41" name="Shape 39"/>
          <p:cNvSpPr/>
          <p:nvPr/>
        </p:nvSpPr>
        <p:spPr>
          <a:xfrm>
            <a:off x="667512" y="5522976"/>
            <a:ext cx="384048" cy="384048"/>
          </a:xfrm>
          <a:prstGeom prst="ellipse">
            <a:avLst/>
          </a:prstGeom>
          <a:solidFill>
            <a:srgbClr val="AF3230"/>
          </a:solidFill>
          <a:ln/>
        </p:spPr>
      </p:sp>
      <p:pic>
        <p:nvPicPr>
          <p:cNvPr id="42" name="Image 0" descr="/home/user/Claude-Works/ai-training-prompt-engineering/src/assets/icons/alert_w.png">    </p:cNvPr>
          <p:cNvPicPr>
            <a:picLocks noChangeAspect="1"/>
          </p:cNvPicPr>
          <p:nvPr/>
        </p:nvPicPr>
        <p:blipFill>
          <a:blip r:embed="rId1"/>
          <a:stretch>
            <a:fillRect/>
          </a:stretch>
        </p:blipFill>
        <p:spPr>
          <a:xfrm>
            <a:off x="767364" y="5622828"/>
            <a:ext cx="184343" cy="184343"/>
          </a:xfrm>
          <a:prstGeom prst="rect">
            <a:avLst/>
          </a:prstGeom>
        </p:spPr>
      </p:pic>
      <p:sp>
        <p:nvSpPr>
          <p:cNvPr id="43" name="Text 40"/>
          <p:cNvSpPr/>
          <p:nvPr/>
        </p:nvSpPr>
        <p:spPr>
          <a:xfrm>
            <a:off x="1216152" y="5102352"/>
            <a:ext cx="4453128" cy="1225296"/>
          </a:xfrm>
          <a:prstGeom prst="rect">
            <a:avLst/>
          </a:prstGeom>
          <a:noFill/>
          <a:ln/>
        </p:spPr>
        <p:txBody>
          <a:bodyPr wrap="square" lIns="0" tIns="0" rIns="0" bIns="0" rtlCol="0" anchor="ctr"/>
          <a:lstStyle/>
          <a:p>
            <a:pPr indent="0" marL="0">
              <a:lnSpc>
                <a:spcPct val="106000"/>
              </a:lnSpc>
              <a:buNone/>
            </a:pPr>
            <a:r>
              <a:rPr lang="en-US" sz="1000" b="1" dirty="0">
                <a:solidFill>
                  <a:srgbClr val="AF3230"/>
                </a:solidFill>
                <a:latin typeface="Calibri" pitchFamily="34" charset="0"/>
                <a:ea typeface="Calibri" pitchFamily="34" charset="-122"/>
                <a:cs typeface="Calibri" pitchFamily="34" charset="-120"/>
              </a:rPr>
              <a:t>Where naive “summarize this” fails: </a:t>
            </a:r>
            <a:endParaRPr lang="en-US" sz="1000" dirty="0"/>
          </a:p>
          <a:p>
            <a:pPr indent="0" marL="0">
              <a:lnSpc>
                <a:spcPct val="106000"/>
              </a:lnSpc>
              <a:buNone/>
            </a:pPr>
            <a:r>
              <a:rPr lang="en-US" sz="940" dirty="0">
                <a:solidFill>
                  <a:srgbClr val="46545F"/>
                </a:solidFill>
                <a:latin typeface="Calibri" pitchFamily="34" charset="0"/>
                <a:ea typeface="Calibri" pitchFamily="34" charset="-122"/>
                <a:cs typeface="Calibri" pitchFamily="34" charset="-120"/>
              </a:rPr>
              <a:t>the FIRST date, not the moved one · qualifiers dropped (“approved with a cap” → “approved”) · invented owners for “I’ll look into it.” Our prompt’s rules exist because of these three failures.</a:t>
            </a:r>
            <a:endParaRPr lang="en-US" sz="1000" dirty="0"/>
          </a:p>
        </p:txBody>
      </p:sp>
      <p:sp>
        <p:nvSpPr>
          <p:cNvPr id="44" name="Shape 41"/>
          <p:cNvSpPr/>
          <p:nvPr/>
        </p:nvSpPr>
        <p:spPr>
          <a:xfrm>
            <a:off x="6035040" y="3127248"/>
            <a:ext cx="5623560" cy="310896"/>
          </a:xfrm>
          <a:prstGeom prst="roundRect">
            <a:avLst>
              <a:gd name="adj" fmla="val 17647"/>
            </a:avLst>
          </a:prstGeom>
          <a:solidFill>
            <a:srgbClr val="0E7C7B"/>
          </a:solidFill>
          <a:ln/>
        </p:spPr>
      </p:sp>
      <p:sp>
        <p:nvSpPr>
          <p:cNvPr id="45" name="Text 42"/>
          <p:cNvSpPr/>
          <p:nvPr/>
        </p:nvSpPr>
        <p:spPr>
          <a:xfrm>
            <a:off x="6199632" y="3136392"/>
            <a:ext cx="5303520" cy="29260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STEP 1 · The brief</a:t>
            </a:r>
            <a:endParaRPr lang="en-US" sz="950" dirty="0"/>
          </a:p>
        </p:txBody>
      </p:sp>
      <p:sp>
        <p:nvSpPr>
          <p:cNvPr id="46" name="Shape 43"/>
          <p:cNvSpPr/>
          <p:nvPr/>
        </p:nvSpPr>
        <p:spPr>
          <a:xfrm>
            <a:off x="6035040" y="3456432"/>
            <a:ext cx="5623560" cy="658368"/>
          </a:xfrm>
          <a:prstGeom prst="roundRect">
            <a:avLst>
              <a:gd name="adj" fmla="val 11111"/>
            </a:avLst>
          </a:prstGeom>
          <a:solidFill>
            <a:srgbClr val="FFFFFF"/>
          </a:solidFill>
          <a:ln w="9525">
            <a:solidFill>
              <a:srgbClr val="DCE3E6"/>
            </a:solidFill>
            <a:prstDash val="solid"/>
          </a:ln>
        </p:spPr>
      </p:sp>
      <p:sp>
        <p:nvSpPr>
          <p:cNvPr id="47" name="Text 44"/>
          <p:cNvSpPr/>
          <p:nvPr/>
        </p:nvSpPr>
        <p:spPr>
          <a:xfrm>
            <a:off x="6199632" y="3493008"/>
            <a:ext cx="5303520" cy="585216"/>
          </a:xfrm>
          <a:prstGeom prst="rect">
            <a:avLst/>
          </a:prstGeom>
          <a:noFill/>
          <a:ln/>
        </p:spPr>
        <p:txBody>
          <a:bodyPr wrap="square" lIns="0" tIns="0" rIns="0" bIns="0" rtlCol="0" anchor="ctr"/>
          <a:lstStyle/>
          <a:p>
            <a:pPr indent="0" marL="0">
              <a:lnSpc>
                <a:spcPct val="98000"/>
              </a:lnSpc>
              <a:buNone/>
            </a:pPr>
            <a:r>
              <a:rPr lang="en-US" sz="750" dirty="0">
                <a:solidFill>
                  <a:srgbClr val="0A5B5A"/>
                </a:solidFill>
                <a:latin typeface="Consolas" pitchFamily="34" charset="0"/>
                <a:ea typeface="Consolas" pitchFamily="34" charset="-122"/>
                <a:cs typeface="Consolas" pitchFamily="34" charset="-120"/>
              </a:rPr>
              <a:t>Run the structured brief from the last slide on the practice thread (paste it, or run it on the thread in Copilot). Check it caught: the moved date, the 18k condition, the unanswered question, the missing attachment.</a:t>
            </a:r>
            <a:endParaRPr lang="en-US" sz="750" dirty="0"/>
          </a:p>
        </p:txBody>
      </p:sp>
      <p:sp>
        <p:nvSpPr>
          <p:cNvPr id="48" name="Shape 45"/>
          <p:cNvSpPr/>
          <p:nvPr/>
        </p:nvSpPr>
        <p:spPr>
          <a:xfrm>
            <a:off x="6035040" y="4187952"/>
            <a:ext cx="5623560" cy="310896"/>
          </a:xfrm>
          <a:prstGeom prst="roundRect">
            <a:avLst>
              <a:gd name="adj" fmla="val 17647"/>
            </a:avLst>
          </a:prstGeom>
          <a:solidFill>
            <a:srgbClr val="0E7C7B"/>
          </a:solidFill>
          <a:ln/>
        </p:spPr>
      </p:sp>
      <p:sp>
        <p:nvSpPr>
          <p:cNvPr id="49" name="Text 46"/>
          <p:cNvSpPr/>
          <p:nvPr/>
        </p:nvSpPr>
        <p:spPr>
          <a:xfrm>
            <a:off x="6199632" y="4197096"/>
            <a:ext cx="5303520" cy="29260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STEP 2 · Reply prep</a:t>
            </a:r>
            <a:endParaRPr lang="en-US" sz="950" dirty="0"/>
          </a:p>
        </p:txBody>
      </p:sp>
      <p:sp>
        <p:nvSpPr>
          <p:cNvPr id="50" name="Shape 47"/>
          <p:cNvSpPr/>
          <p:nvPr/>
        </p:nvSpPr>
        <p:spPr>
          <a:xfrm>
            <a:off x="6035040" y="4517136"/>
            <a:ext cx="5623560" cy="658368"/>
          </a:xfrm>
          <a:prstGeom prst="roundRect">
            <a:avLst>
              <a:gd name="adj" fmla="val 11111"/>
            </a:avLst>
          </a:prstGeom>
          <a:solidFill>
            <a:srgbClr val="FFFFFF"/>
          </a:solidFill>
          <a:ln w="9525">
            <a:solidFill>
              <a:srgbClr val="DCE3E6"/>
            </a:solidFill>
            <a:prstDash val="solid"/>
          </a:ln>
        </p:spPr>
      </p:sp>
      <p:sp>
        <p:nvSpPr>
          <p:cNvPr id="51" name="Text 48"/>
          <p:cNvSpPr/>
          <p:nvPr/>
        </p:nvSpPr>
        <p:spPr>
          <a:xfrm>
            <a:off x="6199632" y="4553712"/>
            <a:ext cx="5303520" cy="585216"/>
          </a:xfrm>
          <a:prstGeom prst="rect">
            <a:avLst/>
          </a:prstGeom>
          <a:noFill/>
          <a:ln/>
        </p:spPr>
        <p:txBody>
          <a:bodyPr wrap="square" lIns="0" tIns="0" rIns="0" bIns="0" rtlCol="0" anchor="ctr"/>
          <a:lstStyle/>
          <a:p>
            <a:pPr indent="0" marL="0">
              <a:lnSpc>
                <a:spcPct val="98000"/>
              </a:lnSpc>
              <a:buNone/>
            </a:pPr>
            <a:r>
              <a:rPr lang="en-US" sz="750" dirty="0">
                <a:solidFill>
                  <a:srgbClr val="0A5B5A"/>
                </a:solidFill>
                <a:latin typeface="Consolas" pitchFamily="34" charset="0"/>
                <a:ea typeface="Consolas" pitchFamily="34" charset="-122"/>
                <a:cs typeface="Consolas" pitchFamily="34" charset="-120"/>
              </a:rPr>
              <a:t>From the thread: List A — every question raised that was never answered. List B — WHO OWES WHAT: “X owes Y: [thing] by [date]”, latest state only. Blank beats guessed.</a:t>
            </a:r>
            <a:endParaRPr lang="en-US" sz="750" dirty="0"/>
          </a:p>
        </p:txBody>
      </p:sp>
      <p:sp>
        <p:nvSpPr>
          <p:cNvPr id="52" name="Shape 49"/>
          <p:cNvSpPr/>
          <p:nvPr/>
        </p:nvSpPr>
        <p:spPr>
          <a:xfrm>
            <a:off x="6035040" y="5248656"/>
            <a:ext cx="5623560" cy="310896"/>
          </a:xfrm>
          <a:prstGeom prst="roundRect">
            <a:avLst>
              <a:gd name="adj" fmla="val 17647"/>
            </a:avLst>
          </a:prstGeom>
          <a:solidFill>
            <a:srgbClr val="0E7C7B"/>
          </a:solidFill>
          <a:ln/>
        </p:spPr>
      </p:sp>
      <p:sp>
        <p:nvSpPr>
          <p:cNvPr id="53" name="Text 50"/>
          <p:cNvSpPr/>
          <p:nvPr/>
        </p:nvSpPr>
        <p:spPr>
          <a:xfrm>
            <a:off x="6199632" y="5257800"/>
            <a:ext cx="5303520" cy="29260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STEP 3 · The reply</a:t>
            </a:r>
            <a:endParaRPr lang="en-US" sz="950" dirty="0"/>
          </a:p>
        </p:txBody>
      </p:sp>
      <p:sp>
        <p:nvSpPr>
          <p:cNvPr id="54" name="Shape 51"/>
          <p:cNvSpPr/>
          <p:nvPr/>
        </p:nvSpPr>
        <p:spPr>
          <a:xfrm>
            <a:off x="6035040" y="5577840"/>
            <a:ext cx="5623560" cy="658368"/>
          </a:xfrm>
          <a:prstGeom prst="roundRect">
            <a:avLst>
              <a:gd name="adj" fmla="val 11111"/>
            </a:avLst>
          </a:prstGeom>
          <a:solidFill>
            <a:srgbClr val="FFFFFF"/>
          </a:solidFill>
          <a:ln w="9525">
            <a:solidFill>
              <a:srgbClr val="DCE3E6"/>
            </a:solidFill>
            <a:prstDash val="solid"/>
          </a:ln>
        </p:spPr>
      </p:sp>
      <p:sp>
        <p:nvSpPr>
          <p:cNvPr id="55" name="Text 52"/>
          <p:cNvSpPr/>
          <p:nvPr/>
        </p:nvSpPr>
        <p:spPr>
          <a:xfrm>
            <a:off x="6199632" y="5614416"/>
            <a:ext cx="5303520" cy="585216"/>
          </a:xfrm>
          <a:prstGeom prst="rect">
            <a:avLst/>
          </a:prstGeom>
          <a:noFill/>
          <a:ln/>
        </p:spPr>
        <p:txBody>
          <a:bodyPr wrap="square" lIns="0" tIns="0" rIns="0" bIns="0" rtlCol="0" anchor="ctr"/>
          <a:lstStyle/>
          <a:p>
            <a:pPr indent="0" marL="0">
              <a:lnSpc>
                <a:spcPct val="98000"/>
              </a:lnSpc>
              <a:buNone/>
            </a:pPr>
            <a:r>
              <a:rPr lang="en-US" sz="750" dirty="0">
                <a:solidFill>
                  <a:srgbClr val="0A5B5A"/>
                </a:solidFill>
                <a:latin typeface="Consolas" pitchFamily="34" charset="0"/>
                <a:ea typeface="Consolas" pitchFamily="34" charset="-122"/>
                <a:cs typeface="Consolas" pitchFamily="34" charset="-120"/>
              </a:rPr>
              <a:t>Using the brief above, draft my reply: answer the open questions, confirm the decisions with their conditions, propose next steps. Do not invent commitments — leave a [bracket] where I must decide. Under 120 words, one clear next step at the end.</a:t>
            </a:r>
            <a:endParaRPr lang="en-US" sz="750" dirty="0"/>
          </a:p>
        </p:txBody>
      </p:sp>
      <p:sp>
        <p:nvSpPr>
          <p:cNvPr id="56" name="Text 53"/>
          <p:cNvSpPr/>
          <p:nvPr/>
        </p:nvSpPr>
        <p:spPr>
          <a:xfrm>
            <a:off x="6035040" y="6291072"/>
            <a:ext cx="5623560" cy="256032"/>
          </a:xfrm>
          <a:prstGeom prst="rect">
            <a:avLst/>
          </a:prstGeom>
          <a:noFill/>
          <a:ln/>
        </p:spPr>
        <p:txBody>
          <a:bodyPr wrap="square" lIns="0" tIns="0" rIns="0" bIns="0" rtlCol="0" anchor="ctr"/>
          <a:lstStyle/>
          <a:p>
            <a:pPr indent="0" marL="0">
              <a:buNone/>
            </a:pPr>
            <a:r>
              <a:rPr lang="en-US" sz="800" i="1" dirty="0">
                <a:solidFill>
                  <a:srgbClr val="7A8790"/>
                </a:solidFill>
                <a:latin typeface="Calibri" pitchFamily="34" charset="0"/>
                <a:ea typeface="Calibri" pitchFamily="34" charset="-122"/>
                <a:cs typeface="Calibri" pitchFamily="34" charset="-120"/>
              </a:rPr>
              <a:t>Same prompts in any assistant — Copilot adds the citations and the tenant boundary (Part 2: green tier). ✂ Steps 1–3: tab EX-Email of your Course Workbook.</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WHAT NEXT</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43</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MORE PLAYS WE CAN DRILL NEXT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Pick what we drill next — the method transfers</a:t>
            </a:r>
            <a:endParaRPr lang="en-US" sz="3000" dirty="0"/>
          </a:p>
        </p:txBody>
      </p:sp>
      <p:sp>
        <p:nvSpPr>
          <p:cNvPr id="6" name="Shape 4"/>
          <p:cNvSpPr/>
          <p:nvPr/>
        </p:nvSpPr>
        <p:spPr>
          <a:xfrm>
            <a:off x="502920" y="1481328"/>
            <a:ext cx="5440680" cy="1261872"/>
          </a:xfrm>
          <a:prstGeom prst="roundRect">
            <a:avLst>
              <a:gd name="adj" fmla="val 5797"/>
            </a:avLst>
          </a:prstGeom>
          <a:solidFill>
            <a:srgbClr val="F2F5F6"/>
          </a:solidFill>
          <a:ln/>
        </p:spPr>
      </p:sp>
      <p:sp>
        <p:nvSpPr>
          <p:cNvPr id="7" name="Shape 5"/>
          <p:cNvSpPr/>
          <p:nvPr/>
        </p:nvSpPr>
        <p:spPr>
          <a:xfrm>
            <a:off x="685800" y="1700784"/>
            <a:ext cx="420624" cy="420624"/>
          </a:xfrm>
          <a:prstGeom prst="ellipse">
            <a:avLst/>
          </a:prstGeom>
          <a:solidFill>
            <a:srgbClr val="0E7C7B"/>
          </a:solidFill>
          <a:ln/>
        </p:spPr>
      </p:sp>
      <p:pic>
        <p:nvPicPr>
          <p:cNvPr id="8" name="Image 0" descr="/home/user/Claude-Works/ai-training-prompt-engineering/src/assets/icons/file_w.png">    </p:cNvPr>
          <p:cNvPicPr>
            <a:picLocks noChangeAspect="1"/>
          </p:cNvPicPr>
          <p:nvPr/>
        </p:nvPicPr>
        <p:blipFill>
          <a:blip r:embed="rId1"/>
          <a:stretch>
            <a:fillRect/>
          </a:stretch>
        </p:blipFill>
        <p:spPr>
          <a:xfrm>
            <a:off x="795162" y="1810146"/>
            <a:ext cx="201900" cy="201900"/>
          </a:xfrm>
          <a:prstGeom prst="rect">
            <a:avLst/>
          </a:prstGeom>
        </p:spPr>
      </p:pic>
      <p:sp>
        <p:nvSpPr>
          <p:cNvPr id="9" name="Text 6"/>
          <p:cNvSpPr/>
          <p:nvPr/>
        </p:nvSpPr>
        <p:spPr>
          <a:xfrm>
            <a:off x="1234440" y="1572768"/>
            <a:ext cx="4572000" cy="1097280"/>
          </a:xfrm>
          <a:prstGeom prst="rect">
            <a:avLst/>
          </a:prstGeom>
          <a:noFill/>
          <a:ln/>
        </p:spPr>
        <p:txBody>
          <a:bodyPr wrap="square" lIns="0" tIns="0" rIns="0" bIns="0" rtlCol="0" anchor="ctr"/>
          <a:lstStyle/>
          <a:p>
            <a:pPr indent="0" marL="0">
              <a:lnSpc>
                <a:spcPct val="104000"/>
              </a:lnSpc>
              <a:spcAft>
                <a:spcPts val="300"/>
              </a:spcAft>
              <a:buNone/>
            </a:pPr>
            <a:r>
              <a:rPr lang="en-US" sz="1200" b="1" dirty="0">
                <a:solidFill>
                  <a:srgbClr val="232A31"/>
                </a:solidFill>
                <a:latin typeface="Calibri" pitchFamily="34" charset="0"/>
                <a:ea typeface="Calibri" pitchFamily="34" charset="-122"/>
                <a:cs typeface="Calibri" pitchFamily="34" charset="-120"/>
              </a:rPr>
              <a:t>Document interpretation &amp; Q&amp;A</a:t>
            </a:r>
            <a:endParaRPr lang="en-US" sz="1200" dirty="0"/>
          </a:p>
          <a:p>
            <a:pPr indent="0" marL="0">
              <a:lnSpc>
                <a:spcPct val="104000"/>
              </a:lnSpc>
              <a:buNone/>
            </a:pPr>
            <a:r>
              <a:rPr lang="en-US" sz="980" dirty="0">
                <a:solidFill>
                  <a:srgbClr val="46545F"/>
                </a:solidFill>
                <a:latin typeface="Calibri" pitchFamily="34" charset="0"/>
                <a:ea typeface="Calibri" pitchFamily="34" charset="-122"/>
                <a:cs typeface="Calibri" pitchFamily="34" charset="-120"/>
              </a:rPr>
              <a:t>Upload a contract, spec, or standard; ask clause-level questions with page-cited answers and an “it doesn’t say” rule.</a:t>
            </a:r>
            <a:endParaRPr lang="en-US" sz="1200" dirty="0"/>
          </a:p>
        </p:txBody>
      </p:sp>
      <p:sp>
        <p:nvSpPr>
          <p:cNvPr id="10" name="Shape 7"/>
          <p:cNvSpPr/>
          <p:nvPr/>
        </p:nvSpPr>
        <p:spPr>
          <a:xfrm>
            <a:off x="6172200" y="1481328"/>
            <a:ext cx="5440680" cy="1261872"/>
          </a:xfrm>
          <a:prstGeom prst="roundRect">
            <a:avLst>
              <a:gd name="adj" fmla="val 5797"/>
            </a:avLst>
          </a:prstGeom>
          <a:solidFill>
            <a:srgbClr val="F2F5F6"/>
          </a:solidFill>
          <a:ln/>
        </p:spPr>
      </p:sp>
      <p:sp>
        <p:nvSpPr>
          <p:cNvPr id="11" name="Shape 8"/>
          <p:cNvSpPr/>
          <p:nvPr/>
        </p:nvSpPr>
        <p:spPr>
          <a:xfrm>
            <a:off x="6355080" y="1700784"/>
            <a:ext cx="420624" cy="420624"/>
          </a:xfrm>
          <a:prstGeom prst="ellipse">
            <a:avLst/>
          </a:prstGeom>
          <a:solidFill>
            <a:srgbClr val="0E7C7B"/>
          </a:solidFill>
          <a:ln/>
        </p:spPr>
      </p:sp>
      <p:pic>
        <p:nvPicPr>
          <p:cNvPr id="12" name="Image 1" descr="/home/user/Claude-Works/ai-training-prompt-engineering/src/assets/icons/image_w.png">    </p:cNvPr>
          <p:cNvPicPr>
            <a:picLocks noChangeAspect="1"/>
          </p:cNvPicPr>
          <p:nvPr/>
        </p:nvPicPr>
        <p:blipFill>
          <a:blip r:embed="rId2"/>
          <a:stretch>
            <a:fillRect/>
          </a:stretch>
        </p:blipFill>
        <p:spPr>
          <a:xfrm>
            <a:off x="6464442" y="1810146"/>
            <a:ext cx="201900" cy="201900"/>
          </a:xfrm>
          <a:prstGeom prst="rect">
            <a:avLst/>
          </a:prstGeom>
        </p:spPr>
      </p:pic>
      <p:sp>
        <p:nvSpPr>
          <p:cNvPr id="13" name="Text 9"/>
          <p:cNvSpPr/>
          <p:nvPr/>
        </p:nvSpPr>
        <p:spPr>
          <a:xfrm>
            <a:off x="6903720" y="1572768"/>
            <a:ext cx="4572000" cy="1097280"/>
          </a:xfrm>
          <a:prstGeom prst="rect">
            <a:avLst/>
          </a:prstGeom>
          <a:noFill/>
          <a:ln/>
        </p:spPr>
        <p:txBody>
          <a:bodyPr wrap="square" lIns="0" tIns="0" rIns="0" bIns="0" rtlCol="0" anchor="ctr"/>
          <a:lstStyle/>
          <a:p>
            <a:pPr indent="0" marL="0">
              <a:lnSpc>
                <a:spcPct val="104000"/>
              </a:lnSpc>
              <a:spcAft>
                <a:spcPts val="300"/>
              </a:spcAft>
              <a:buNone/>
            </a:pPr>
            <a:r>
              <a:rPr lang="en-US" sz="1200" b="1" dirty="0">
                <a:solidFill>
                  <a:srgbClr val="232A31"/>
                </a:solidFill>
                <a:latin typeface="Calibri" pitchFamily="34" charset="0"/>
                <a:ea typeface="Calibri" pitchFamily="34" charset="-122"/>
                <a:cs typeface="Calibri" pitchFamily="34" charset="-120"/>
              </a:rPr>
              <a:t>Image creation for work</a:t>
            </a:r>
            <a:endParaRPr lang="en-US" sz="1200" dirty="0"/>
          </a:p>
          <a:p>
            <a:pPr indent="0" marL="0">
              <a:lnSpc>
                <a:spcPct val="104000"/>
              </a:lnSpc>
              <a:buNone/>
            </a:pPr>
            <a:r>
              <a:rPr lang="en-US" sz="980" dirty="0">
                <a:solidFill>
                  <a:srgbClr val="46545F"/>
                </a:solidFill>
                <a:latin typeface="Calibri" pitchFamily="34" charset="0"/>
                <a:ea typeface="Calibri" pitchFamily="34" charset="-122"/>
                <a:cs typeface="Calibri" pitchFamily="34" charset="-120"/>
              </a:rPr>
              <a:t>Decks, one-pagers, training visuals — the commercially-safe lane (Firefly) vs the built-in chatbot lane, and prompt patterns for each.</a:t>
            </a:r>
            <a:endParaRPr lang="en-US" sz="1200" dirty="0"/>
          </a:p>
        </p:txBody>
      </p:sp>
      <p:sp>
        <p:nvSpPr>
          <p:cNvPr id="14" name="Shape 10"/>
          <p:cNvSpPr/>
          <p:nvPr/>
        </p:nvSpPr>
        <p:spPr>
          <a:xfrm>
            <a:off x="502920" y="2852928"/>
            <a:ext cx="5440680" cy="1261872"/>
          </a:xfrm>
          <a:prstGeom prst="roundRect">
            <a:avLst>
              <a:gd name="adj" fmla="val 5797"/>
            </a:avLst>
          </a:prstGeom>
          <a:solidFill>
            <a:srgbClr val="F2F5F6"/>
          </a:solidFill>
          <a:ln/>
        </p:spPr>
      </p:sp>
      <p:sp>
        <p:nvSpPr>
          <p:cNvPr id="15" name="Shape 11"/>
          <p:cNvSpPr/>
          <p:nvPr/>
        </p:nvSpPr>
        <p:spPr>
          <a:xfrm>
            <a:off x="685800" y="3072384"/>
            <a:ext cx="420624" cy="420624"/>
          </a:xfrm>
          <a:prstGeom prst="ellipse">
            <a:avLst/>
          </a:prstGeom>
          <a:solidFill>
            <a:srgbClr val="0E7C7B"/>
          </a:solidFill>
          <a:ln/>
        </p:spPr>
      </p:sp>
      <p:pic>
        <p:nvPicPr>
          <p:cNvPr id="16" name="Image 2" descr="/home/user/Claude-Works/ai-training-prompt-engineering/src/assets/icons/inbox_w.png">    </p:cNvPr>
          <p:cNvPicPr>
            <a:picLocks noChangeAspect="1"/>
          </p:cNvPicPr>
          <p:nvPr/>
        </p:nvPicPr>
        <p:blipFill>
          <a:blip r:embed="rId3"/>
          <a:stretch>
            <a:fillRect/>
          </a:stretch>
        </p:blipFill>
        <p:spPr>
          <a:xfrm>
            <a:off x="795162" y="3181746"/>
            <a:ext cx="201900" cy="201900"/>
          </a:xfrm>
          <a:prstGeom prst="rect">
            <a:avLst/>
          </a:prstGeom>
        </p:spPr>
      </p:pic>
      <p:sp>
        <p:nvSpPr>
          <p:cNvPr id="17" name="Text 12"/>
          <p:cNvSpPr/>
          <p:nvPr/>
        </p:nvSpPr>
        <p:spPr>
          <a:xfrm>
            <a:off x="1234440" y="2944368"/>
            <a:ext cx="4572000" cy="1097280"/>
          </a:xfrm>
          <a:prstGeom prst="rect">
            <a:avLst/>
          </a:prstGeom>
          <a:noFill/>
          <a:ln/>
        </p:spPr>
        <p:txBody>
          <a:bodyPr wrap="square" lIns="0" tIns="0" rIns="0" bIns="0" rtlCol="0" anchor="ctr"/>
          <a:lstStyle/>
          <a:p>
            <a:pPr indent="0" marL="0">
              <a:lnSpc>
                <a:spcPct val="104000"/>
              </a:lnSpc>
              <a:spcAft>
                <a:spcPts val="300"/>
              </a:spcAft>
              <a:buNone/>
            </a:pPr>
            <a:r>
              <a:rPr lang="en-US" sz="1200" b="1" dirty="0">
                <a:solidFill>
                  <a:srgbClr val="232A31"/>
                </a:solidFill>
                <a:latin typeface="Calibri" pitchFamily="34" charset="0"/>
                <a:ea typeface="Calibri" pitchFamily="34" charset="-122"/>
                <a:cs typeface="Calibri" pitchFamily="34" charset="-120"/>
              </a:rPr>
              <a:t>Inbox triage &amp; scheduled digests</a:t>
            </a:r>
            <a:endParaRPr lang="en-US" sz="1200" dirty="0"/>
          </a:p>
          <a:p>
            <a:pPr indent="0" marL="0">
              <a:lnSpc>
                <a:spcPct val="104000"/>
              </a:lnSpc>
              <a:buNone/>
            </a:pPr>
            <a:r>
              <a:rPr lang="en-US" sz="980" dirty="0">
                <a:solidFill>
                  <a:srgbClr val="46545F"/>
                </a:solidFill>
                <a:latin typeface="Calibri" pitchFamily="34" charset="0"/>
                <a:ea typeface="Calibri" pitchFamily="34" charset="-122"/>
                <a:cs typeface="Calibri" pitchFamily="34" charset="-120"/>
              </a:rPr>
              <a:t>Beyond one thread: “summarize unanswered emails from the past day, rank 1–5, draft replies for the top ones” — on a schedule.</a:t>
            </a:r>
            <a:endParaRPr lang="en-US" sz="1200" dirty="0"/>
          </a:p>
        </p:txBody>
      </p:sp>
      <p:sp>
        <p:nvSpPr>
          <p:cNvPr id="18" name="Shape 13"/>
          <p:cNvSpPr/>
          <p:nvPr/>
        </p:nvSpPr>
        <p:spPr>
          <a:xfrm>
            <a:off x="6172200" y="2852928"/>
            <a:ext cx="5440680" cy="1261872"/>
          </a:xfrm>
          <a:prstGeom prst="roundRect">
            <a:avLst>
              <a:gd name="adj" fmla="val 5797"/>
            </a:avLst>
          </a:prstGeom>
          <a:solidFill>
            <a:srgbClr val="F2F5F6"/>
          </a:solidFill>
          <a:ln/>
        </p:spPr>
      </p:sp>
      <p:sp>
        <p:nvSpPr>
          <p:cNvPr id="19" name="Shape 14"/>
          <p:cNvSpPr/>
          <p:nvPr/>
        </p:nvSpPr>
        <p:spPr>
          <a:xfrm>
            <a:off x="6355080" y="3072384"/>
            <a:ext cx="420624" cy="420624"/>
          </a:xfrm>
          <a:prstGeom prst="ellipse">
            <a:avLst/>
          </a:prstGeom>
          <a:solidFill>
            <a:srgbClr val="0E7C7B"/>
          </a:solidFill>
          <a:ln/>
        </p:spPr>
      </p:sp>
      <p:pic>
        <p:nvPicPr>
          <p:cNvPr id="20" name="Image 3" descr="/home/user/Claude-Works/ai-training-prompt-engineering/src/assets/icons/mic_w.png">    </p:cNvPr>
          <p:cNvPicPr>
            <a:picLocks noChangeAspect="1"/>
          </p:cNvPicPr>
          <p:nvPr/>
        </p:nvPicPr>
        <p:blipFill>
          <a:blip r:embed="rId4"/>
          <a:stretch>
            <a:fillRect/>
          </a:stretch>
        </p:blipFill>
        <p:spPr>
          <a:xfrm>
            <a:off x="6464442" y="3181746"/>
            <a:ext cx="201900" cy="201900"/>
          </a:xfrm>
          <a:prstGeom prst="rect">
            <a:avLst/>
          </a:prstGeom>
        </p:spPr>
      </p:pic>
      <p:sp>
        <p:nvSpPr>
          <p:cNvPr id="21" name="Text 15"/>
          <p:cNvSpPr/>
          <p:nvPr/>
        </p:nvSpPr>
        <p:spPr>
          <a:xfrm>
            <a:off x="6903720" y="2944368"/>
            <a:ext cx="4572000" cy="1097280"/>
          </a:xfrm>
          <a:prstGeom prst="rect">
            <a:avLst/>
          </a:prstGeom>
          <a:noFill/>
          <a:ln/>
        </p:spPr>
        <p:txBody>
          <a:bodyPr wrap="square" lIns="0" tIns="0" rIns="0" bIns="0" rtlCol="0" anchor="ctr"/>
          <a:lstStyle/>
          <a:p>
            <a:pPr indent="0" marL="0">
              <a:lnSpc>
                <a:spcPct val="104000"/>
              </a:lnSpc>
              <a:spcAft>
                <a:spcPts val="300"/>
              </a:spcAft>
              <a:buNone/>
            </a:pPr>
            <a:r>
              <a:rPr lang="en-US" sz="1200" b="1" dirty="0">
                <a:solidFill>
                  <a:srgbClr val="232A31"/>
                </a:solidFill>
                <a:latin typeface="Calibri" pitchFamily="34" charset="0"/>
                <a:ea typeface="Calibri" pitchFamily="34" charset="-122"/>
                <a:cs typeface="Calibri" pitchFamily="34" charset="-120"/>
              </a:rPr>
              <a:t>Meetings → minutes &amp; actions</a:t>
            </a:r>
            <a:endParaRPr lang="en-US" sz="1200" dirty="0"/>
          </a:p>
          <a:p>
            <a:pPr indent="0" marL="0">
              <a:lnSpc>
                <a:spcPct val="104000"/>
              </a:lnSpc>
              <a:buNone/>
            </a:pPr>
            <a:r>
              <a:rPr lang="en-US" sz="980" dirty="0">
                <a:solidFill>
                  <a:srgbClr val="46545F"/>
                </a:solidFill>
                <a:latin typeface="Calibri" pitchFamily="34" charset="0"/>
                <a:ea typeface="Calibri" pitchFamily="34" charset="-122"/>
                <a:cs typeface="Calibri" pitchFamily="34" charset="-120"/>
              </a:rPr>
              <a:t>Transcript in; decisions, actions with owners, and a circulated summary out — same shapes as the email play.</a:t>
            </a:r>
            <a:endParaRPr lang="en-US" sz="1200" dirty="0"/>
          </a:p>
        </p:txBody>
      </p:sp>
      <p:sp>
        <p:nvSpPr>
          <p:cNvPr id="22" name="Shape 16"/>
          <p:cNvSpPr/>
          <p:nvPr/>
        </p:nvSpPr>
        <p:spPr>
          <a:xfrm>
            <a:off x="502920" y="4224528"/>
            <a:ext cx="5440680" cy="1261872"/>
          </a:xfrm>
          <a:prstGeom prst="roundRect">
            <a:avLst>
              <a:gd name="adj" fmla="val 5797"/>
            </a:avLst>
          </a:prstGeom>
          <a:solidFill>
            <a:srgbClr val="F2F5F6"/>
          </a:solidFill>
          <a:ln/>
        </p:spPr>
      </p:sp>
      <p:sp>
        <p:nvSpPr>
          <p:cNvPr id="23" name="Shape 17"/>
          <p:cNvSpPr/>
          <p:nvPr/>
        </p:nvSpPr>
        <p:spPr>
          <a:xfrm>
            <a:off x="685800" y="4443984"/>
            <a:ext cx="420624" cy="420624"/>
          </a:xfrm>
          <a:prstGeom prst="ellipse">
            <a:avLst/>
          </a:prstGeom>
          <a:solidFill>
            <a:srgbClr val="0E7C7B"/>
          </a:solidFill>
          <a:ln/>
        </p:spPr>
      </p:sp>
      <p:pic>
        <p:nvPicPr>
          <p:cNvPr id="24" name="Image 4" descr="/home/user/Claude-Works/ai-training-prompt-engineering/src/assets/icons/translate_w.png">    </p:cNvPr>
          <p:cNvPicPr>
            <a:picLocks noChangeAspect="1"/>
          </p:cNvPicPr>
          <p:nvPr/>
        </p:nvPicPr>
        <p:blipFill>
          <a:blip r:embed="rId5"/>
          <a:stretch>
            <a:fillRect/>
          </a:stretch>
        </p:blipFill>
        <p:spPr>
          <a:xfrm>
            <a:off x="795162" y="4553346"/>
            <a:ext cx="201900" cy="201900"/>
          </a:xfrm>
          <a:prstGeom prst="rect">
            <a:avLst/>
          </a:prstGeom>
        </p:spPr>
      </p:pic>
      <p:sp>
        <p:nvSpPr>
          <p:cNvPr id="25" name="Text 18"/>
          <p:cNvSpPr/>
          <p:nvPr/>
        </p:nvSpPr>
        <p:spPr>
          <a:xfrm>
            <a:off x="1234440" y="4315968"/>
            <a:ext cx="4572000" cy="1097280"/>
          </a:xfrm>
          <a:prstGeom prst="rect">
            <a:avLst/>
          </a:prstGeom>
          <a:noFill/>
          <a:ln/>
        </p:spPr>
        <p:txBody>
          <a:bodyPr wrap="square" lIns="0" tIns="0" rIns="0" bIns="0" rtlCol="0" anchor="ctr"/>
          <a:lstStyle/>
          <a:p>
            <a:pPr indent="0" marL="0">
              <a:lnSpc>
                <a:spcPct val="104000"/>
              </a:lnSpc>
              <a:spcAft>
                <a:spcPts val="300"/>
              </a:spcAft>
              <a:buNone/>
            </a:pPr>
            <a:r>
              <a:rPr lang="en-US" sz="1200" b="1" dirty="0">
                <a:solidFill>
                  <a:srgbClr val="232A31"/>
                </a:solidFill>
                <a:latin typeface="Calibri" pitchFamily="34" charset="0"/>
                <a:ea typeface="Calibri" pitchFamily="34" charset="-122"/>
                <a:cs typeface="Calibri" pitchFamily="34" charset="-120"/>
              </a:rPr>
              <a:t>Translation &amp; tone shifts</a:t>
            </a:r>
            <a:endParaRPr lang="en-US" sz="1200" dirty="0"/>
          </a:p>
          <a:p>
            <a:pPr indent="0" marL="0">
              <a:lnSpc>
                <a:spcPct val="104000"/>
              </a:lnSpc>
              <a:buNone/>
            </a:pPr>
            <a:r>
              <a:rPr lang="en-US" sz="980" dirty="0">
                <a:solidFill>
                  <a:srgbClr val="46545F"/>
                </a:solidFill>
                <a:latin typeface="Calibri" pitchFamily="34" charset="0"/>
                <a:ea typeface="Calibri" pitchFamily="34" charset="-122"/>
                <a:cs typeface="Calibri" pitchFamily="34" charset="-120"/>
              </a:rPr>
              <a:t>Regulated-grade translation and audience rewrites: same content, five audiences, five registers.</a:t>
            </a:r>
            <a:endParaRPr lang="en-US" sz="1200" dirty="0"/>
          </a:p>
        </p:txBody>
      </p:sp>
      <p:sp>
        <p:nvSpPr>
          <p:cNvPr id="26" name="Shape 19"/>
          <p:cNvSpPr/>
          <p:nvPr/>
        </p:nvSpPr>
        <p:spPr>
          <a:xfrm>
            <a:off x="6172200" y="4224528"/>
            <a:ext cx="5440680" cy="1261872"/>
          </a:xfrm>
          <a:prstGeom prst="roundRect">
            <a:avLst>
              <a:gd name="adj" fmla="val 5797"/>
            </a:avLst>
          </a:prstGeom>
          <a:solidFill>
            <a:srgbClr val="F2F5F6"/>
          </a:solidFill>
          <a:ln/>
        </p:spPr>
      </p:sp>
      <p:sp>
        <p:nvSpPr>
          <p:cNvPr id="27" name="Shape 20"/>
          <p:cNvSpPr/>
          <p:nvPr/>
        </p:nvSpPr>
        <p:spPr>
          <a:xfrm>
            <a:off x="6355080" y="4443984"/>
            <a:ext cx="420624" cy="420624"/>
          </a:xfrm>
          <a:prstGeom prst="ellipse">
            <a:avLst/>
          </a:prstGeom>
          <a:solidFill>
            <a:srgbClr val="0E7C7B"/>
          </a:solidFill>
          <a:ln/>
        </p:spPr>
      </p:sp>
      <p:pic>
        <p:nvPicPr>
          <p:cNvPr id="28" name="Image 5" descr="/home/user/Claude-Works/ai-training-prompt-engineering/src/assets/icons/robot_w.png">    </p:cNvPr>
          <p:cNvPicPr>
            <a:picLocks noChangeAspect="1"/>
          </p:cNvPicPr>
          <p:nvPr/>
        </p:nvPicPr>
        <p:blipFill>
          <a:blip r:embed="rId6"/>
          <a:stretch>
            <a:fillRect/>
          </a:stretch>
        </p:blipFill>
        <p:spPr>
          <a:xfrm>
            <a:off x="6464442" y="4553346"/>
            <a:ext cx="201900" cy="201900"/>
          </a:xfrm>
          <a:prstGeom prst="rect">
            <a:avLst/>
          </a:prstGeom>
        </p:spPr>
      </p:pic>
      <p:sp>
        <p:nvSpPr>
          <p:cNvPr id="29" name="Text 21"/>
          <p:cNvSpPr/>
          <p:nvPr/>
        </p:nvSpPr>
        <p:spPr>
          <a:xfrm>
            <a:off x="6903720" y="4315968"/>
            <a:ext cx="4572000" cy="1097280"/>
          </a:xfrm>
          <a:prstGeom prst="rect">
            <a:avLst/>
          </a:prstGeom>
          <a:noFill/>
          <a:ln/>
        </p:spPr>
        <p:txBody>
          <a:bodyPr wrap="square" lIns="0" tIns="0" rIns="0" bIns="0" rtlCol="0" anchor="ctr"/>
          <a:lstStyle/>
          <a:p>
            <a:pPr indent="0" marL="0">
              <a:lnSpc>
                <a:spcPct val="104000"/>
              </a:lnSpc>
              <a:spcAft>
                <a:spcPts val="300"/>
              </a:spcAft>
              <a:buNone/>
            </a:pPr>
            <a:r>
              <a:rPr lang="en-US" sz="1200" b="1" dirty="0">
                <a:solidFill>
                  <a:srgbClr val="232A31"/>
                </a:solidFill>
                <a:latin typeface="Calibri" pitchFamily="34" charset="0"/>
                <a:ea typeface="Calibri" pitchFamily="34" charset="-122"/>
                <a:cs typeface="Calibri" pitchFamily="34" charset="-120"/>
              </a:rPr>
              <a:t>Recurring data pipelines</a:t>
            </a:r>
            <a:endParaRPr lang="en-US" sz="1200" dirty="0"/>
          </a:p>
          <a:p>
            <a:pPr indent="0" marL="0">
              <a:lnSpc>
                <a:spcPct val="104000"/>
              </a:lnSpc>
              <a:buNone/>
            </a:pPr>
            <a:r>
              <a:rPr lang="en-US" sz="980" dirty="0">
                <a:solidFill>
                  <a:srgbClr val="46545F"/>
                </a:solidFill>
                <a:latin typeface="Calibri" pitchFamily="34" charset="0"/>
                <a:ea typeface="Calibri" pitchFamily="34" charset="-122"/>
                <a:cs typeface="Calibri" pitchFamily="34" charset="-120"/>
              </a:rPr>
              <a:t>This block’s data play, delegated end-to-end to an agent on a schedule — that is exactly Part 5.</a:t>
            </a:r>
            <a:endParaRPr lang="en-US" sz="1200" dirty="0"/>
          </a:p>
        </p:txBody>
      </p:sp>
      <p:sp>
        <p:nvSpPr>
          <p:cNvPr id="30" name="Shape 22"/>
          <p:cNvSpPr/>
          <p:nvPr/>
        </p:nvSpPr>
        <p:spPr>
          <a:xfrm>
            <a:off x="502920" y="5760720"/>
            <a:ext cx="11155680" cy="594360"/>
          </a:xfrm>
          <a:prstGeom prst="roundRect">
            <a:avLst>
              <a:gd name="adj" fmla="val 12308"/>
            </a:avLst>
          </a:prstGeom>
          <a:solidFill>
            <a:srgbClr val="E4F0EF"/>
          </a:solidFill>
          <a:ln/>
        </p:spPr>
      </p:sp>
      <p:sp>
        <p:nvSpPr>
          <p:cNvPr id="31" name="Shape 23"/>
          <p:cNvSpPr/>
          <p:nvPr/>
        </p:nvSpPr>
        <p:spPr>
          <a:xfrm>
            <a:off x="667512" y="5865876"/>
            <a:ext cx="384048" cy="384048"/>
          </a:xfrm>
          <a:prstGeom prst="ellipse">
            <a:avLst/>
          </a:prstGeom>
          <a:solidFill>
            <a:srgbClr val="0E7C7B"/>
          </a:solidFill>
          <a:ln/>
        </p:spPr>
      </p:sp>
      <p:pic>
        <p:nvPicPr>
          <p:cNvPr id="32" name="Image 6" descr="/home/user/Claude-Works/ai-training-prompt-engineering/src/assets/icons/thumbsup_w.png">    </p:cNvPr>
          <p:cNvPicPr>
            <a:picLocks noChangeAspect="1"/>
          </p:cNvPicPr>
          <p:nvPr/>
        </p:nvPicPr>
        <p:blipFill>
          <a:blip r:embed="rId7"/>
          <a:stretch>
            <a:fillRect/>
          </a:stretch>
        </p:blipFill>
        <p:spPr>
          <a:xfrm>
            <a:off x="767364" y="5965728"/>
            <a:ext cx="184343" cy="184343"/>
          </a:xfrm>
          <a:prstGeom prst="rect">
            <a:avLst/>
          </a:prstGeom>
        </p:spPr>
      </p:pic>
      <p:sp>
        <p:nvSpPr>
          <p:cNvPr id="33" name="Text 24"/>
          <p:cNvSpPr/>
          <p:nvPr/>
        </p:nvSpPr>
        <p:spPr>
          <a:xfrm>
            <a:off x="1216152" y="5833872"/>
            <a:ext cx="10213848" cy="448056"/>
          </a:xfrm>
          <a:prstGeom prst="rect">
            <a:avLst/>
          </a:prstGeom>
          <a:noFill/>
          <a:ln/>
        </p:spPr>
        <p:txBody>
          <a:bodyPr wrap="square" lIns="0" tIns="0" rIns="0" bIns="0" rtlCol="0" anchor="ctr"/>
          <a:lstStyle/>
          <a:p>
            <a:pPr indent="0" marL="0">
              <a:lnSpc>
                <a:spcPct val="106000"/>
              </a:lnSpc>
              <a:buNone/>
            </a:pPr>
            <a:r>
              <a:rPr lang="en-US" sz="1150" b="1" dirty="0">
                <a:solidFill>
                  <a:srgbClr val="0A5B5A"/>
                </a:solidFill>
                <a:latin typeface="Calibri" pitchFamily="34" charset="0"/>
                <a:ea typeface="Calibri" pitchFamily="34" charset="-122"/>
                <a:cs typeface="Calibri" pitchFamily="34" charset="-120"/>
              </a:rPr>
              <a:t>Your vote decides: </a:t>
            </a:r>
            <a:pPr indent="0" marL="0">
              <a:lnSpc>
                <a:spcPct val="106000"/>
              </a:lnSpc>
              <a:buNone/>
            </a:pPr>
            <a:r>
              <a:rPr lang="en-US" sz="1150" dirty="0">
                <a:solidFill>
                  <a:srgbClr val="46545F"/>
                </a:solidFill>
                <a:latin typeface="Calibri" pitchFamily="34" charset="0"/>
                <a:ea typeface="Calibri" pitchFamily="34" charset="-122"/>
                <a:cs typeface="Calibri" pitchFamily="34" charset="-120"/>
              </a:rPr>
              <a:t>the next session drills the two plays this room wants most — tell me on the way out, or in the follow-up note.</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BLOCK 3 · WHERE WE LEFT OFF</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44</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BLOCK 3</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Sixty seconds of where we left off</a:t>
            </a:r>
            <a:endParaRPr lang="en-US" sz="3000" dirty="0"/>
          </a:p>
        </p:txBody>
      </p:sp>
      <p:sp>
        <p:nvSpPr>
          <p:cNvPr id="6" name="Shape 4"/>
          <p:cNvSpPr/>
          <p:nvPr/>
        </p:nvSpPr>
        <p:spPr>
          <a:xfrm>
            <a:off x="502920" y="1554480"/>
            <a:ext cx="5440680" cy="1325880"/>
          </a:xfrm>
          <a:prstGeom prst="roundRect">
            <a:avLst>
              <a:gd name="adj" fmla="val 5517"/>
            </a:avLst>
          </a:prstGeom>
          <a:solidFill>
            <a:srgbClr val="F2F5F6"/>
          </a:solidFill>
          <a:ln/>
        </p:spPr>
      </p:sp>
      <p:sp>
        <p:nvSpPr>
          <p:cNvPr id="7" name="Shape 5"/>
          <p:cNvSpPr/>
          <p:nvPr/>
        </p:nvSpPr>
        <p:spPr>
          <a:xfrm>
            <a:off x="685800" y="1938528"/>
            <a:ext cx="502920" cy="502920"/>
          </a:xfrm>
          <a:prstGeom prst="ellipse">
            <a:avLst/>
          </a:prstGeom>
          <a:solidFill>
            <a:srgbClr val="0E7C7B"/>
          </a:solidFill>
          <a:ln/>
        </p:spPr>
      </p:sp>
      <p:pic>
        <p:nvPicPr>
          <p:cNvPr id="8" name="Image 0" descr="/home/user/Claude-Works/ai-training-prompt-engineering/src/assets/icons/layers_w.png">    </p:cNvPr>
          <p:cNvPicPr>
            <a:picLocks noChangeAspect="1"/>
          </p:cNvPicPr>
          <p:nvPr/>
        </p:nvPicPr>
        <p:blipFill>
          <a:blip r:embed="rId1"/>
          <a:stretch>
            <a:fillRect/>
          </a:stretch>
        </p:blipFill>
        <p:spPr>
          <a:xfrm>
            <a:off x="816559" y="2069287"/>
            <a:ext cx="241402" cy="241402"/>
          </a:xfrm>
          <a:prstGeom prst="rect">
            <a:avLst/>
          </a:prstGeom>
        </p:spPr>
      </p:pic>
      <p:sp>
        <p:nvSpPr>
          <p:cNvPr id="9" name="Text 6"/>
          <p:cNvSpPr/>
          <p:nvPr/>
        </p:nvSpPr>
        <p:spPr>
          <a:xfrm>
            <a:off x="1325880" y="1645920"/>
            <a:ext cx="4480560" cy="1143000"/>
          </a:xfrm>
          <a:prstGeom prst="rect">
            <a:avLst/>
          </a:prstGeom>
          <a:noFill/>
          <a:ln/>
        </p:spPr>
        <p:txBody>
          <a:bodyPr wrap="square" lIns="0" tIns="0" rIns="0" bIns="0" rtlCol="0" anchor="ctr"/>
          <a:lstStyle/>
          <a:p>
            <a:pPr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The anatomy — a body with 7 organs</a:t>
            </a:r>
            <a:endParaRPr lang="en-US" sz="1250" dirty="0"/>
          </a:p>
          <a:p>
            <a:pPr indent="0" marL="0">
              <a:lnSpc>
                <a:spcPct val="105000"/>
              </a:lnSpc>
              <a:buNone/>
            </a:pPr>
            <a:r>
              <a:rPr lang="en-US" sz="1020" dirty="0">
                <a:solidFill>
                  <a:srgbClr val="46545F"/>
                </a:solidFill>
                <a:latin typeface="Calibri" pitchFamily="34" charset="0"/>
                <a:ea typeface="Calibri" pitchFamily="34" charset="-122"/>
                <a:cs typeface="Calibri" pitchFamily="34" charset="-120"/>
              </a:rPr>
              <a:t>Role · Task · Context · Format · Examples — plus the Out and the Stop. Miss an organ and it fails predictably.</a:t>
            </a:r>
            <a:endParaRPr lang="en-US" sz="1250" dirty="0"/>
          </a:p>
        </p:txBody>
      </p:sp>
      <p:sp>
        <p:nvSpPr>
          <p:cNvPr id="10" name="Shape 7"/>
          <p:cNvSpPr/>
          <p:nvPr/>
        </p:nvSpPr>
        <p:spPr>
          <a:xfrm>
            <a:off x="6172200" y="1554480"/>
            <a:ext cx="5440680" cy="1325880"/>
          </a:xfrm>
          <a:prstGeom prst="roundRect">
            <a:avLst>
              <a:gd name="adj" fmla="val 5517"/>
            </a:avLst>
          </a:prstGeom>
          <a:solidFill>
            <a:srgbClr val="F2F5F6"/>
          </a:solidFill>
          <a:ln/>
        </p:spPr>
      </p:sp>
      <p:sp>
        <p:nvSpPr>
          <p:cNvPr id="11" name="Shape 8"/>
          <p:cNvSpPr/>
          <p:nvPr/>
        </p:nvSpPr>
        <p:spPr>
          <a:xfrm>
            <a:off x="6355080" y="1938528"/>
            <a:ext cx="502920" cy="502920"/>
          </a:xfrm>
          <a:prstGeom prst="ellipse">
            <a:avLst/>
          </a:prstGeom>
          <a:solidFill>
            <a:srgbClr val="0E7C7B"/>
          </a:solidFill>
          <a:ln/>
        </p:spPr>
      </p:sp>
      <p:pic>
        <p:nvPicPr>
          <p:cNvPr id="12" name="Image 1" descr="/home/user/Claude-Works/ai-training-prompt-engineering/src/assets/icons/zap_w.png">    </p:cNvPr>
          <p:cNvPicPr>
            <a:picLocks noChangeAspect="1"/>
          </p:cNvPicPr>
          <p:nvPr/>
        </p:nvPicPr>
        <p:blipFill>
          <a:blip r:embed="rId2"/>
          <a:stretch>
            <a:fillRect/>
          </a:stretch>
        </p:blipFill>
        <p:spPr>
          <a:xfrm>
            <a:off x="6485839" y="2069287"/>
            <a:ext cx="241402" cy="241402"/>
          </a:xfrm>
          <a:prstGeom prst="rect">
            <a:avLst/>
          </a:prstGeom>
        </p:spPr>
      </p:pic>
      <p:sp>
        <p:nvSpPr>
          <p:cNvPr id="13" name="Text 9"/>
          <p:cNvSpPr/>
          <p:nvPr/>
        </p:nvSpPr>
        <p:spPr>
          <a:xfrm>
            <a:off x="6995160" y="1645920"/>
            <a:ext cx="4480560" cy="1143000"/>
          </a:xfrm>
          <a:prstGeom prst="rect">
            <a:avLst/>
          </a:prstGeom>
          <a:noFill/>
          <a:ln/>
        </p:spPr>
        <p:txBody>
          <a:bodyPr wrap="square" lIns="0" tIns="0" rIns="0" bIns="0" rtlCol="0" anchor="ctr"/>
          <a:lstStyle/>
          <a:p>
            <a:pPr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The techniques &amp; the playbook</a:t>
            </a:r>
            <a:endParaRPr lang="en-US" sz="1250" dirty="0"/>
          </a:p>
          <a:p>
            <a:pPr indent="0" marL="0">
              <a:lnSpc>
                <a:spcPct val="105000"/>
              </a:lnSpc>
              <a:buNone/>
            </a:pPr>
            <a:r>
              <a:rPr lang="en-US" sz="1020" dirty="0">
                <a:solidFill>
                  <a:srgbClr val="46545F"/>
                </a:solidFill>
                <a:latin typeface="Calibri" pitchFamily="34" charset="0"/>
                <a:ea typeface="Calibri" pitchFamily="34" charset="-122"/>
                <a:cs typeface="Calibri" pitchFamily="34" charset="-120"/>
              </a:rPr>
              <a:t>specificity-with-why · examples · tags · the out · chaining · self-check · metaprompting — and the Do / Don’t / Expired columns (PLAYBOOK tab).</a:t>
            </a:r>
            <a:endParaRPr lang="en-US" sz="1250" dirty="0"/>
          </a:p>
        </p:txBody>
      </p:sp>
      <p:sp>
        <p:nvSpPr>
          <p:cNvPr id="14" name="Shape 10"/>
          <p:cNvSpPr/>
          <p:nvPr/>
        </p:nvSpPr>
        <p:spPr>
          <a:xfrm>
            <a:off x="502920" y="3017520"/>
            <a:ext cx="5440680" cy="1325880"/>
          </a:xfrm>
          <a:prstGeom prst="roundRect">
            <a:avLst>
              <a:gd name="adj" fmla="val 5517"/>
            </a:avLst>
          </a:prstGeom>
          <a:solidFill>
            <a:srgbClr val="F2F5F6"/>
          </a:solidFill>
          <a:ln/>
        </p:spPr>
      </p:sp>
      <p:sp>
        <p:nvSpPr>
          <p:cNvPr id="15" name="Shape 11"/>
          <p:cNvSpPr/>
          <p:nvPr/>
        </p:nvSpPr>
        <p:spPr>
          <a:xfrm>
            <a:off x="685800" y="3401568"/>
            <a:ext cx="502920" cy="502920"/>
          </a:xfrm>
          <a:prstGeom prst="ellipse">
            <a:avLst/>
          </a:prstGeom>
          <a:solidFill>
            <a:srgbClr val="0E7C7B"/>
          </a:solidFill>
          <a:ln/>
        </p:spPr>
      </p:sp>
      <p:pic>
        <p:nvPicPr>
          <p:cNvPr id="16" name="Image 2" descr="/home/user/Claude-Works/ai-training-prompt-engineering/src/assets/icons/shield_w.png">    </p:cNvPr>
          <p:cNvPicPr>
            <a:picLocks noChangeAspect="1"/>
          </p:cNvPicPr>
          <p:nvPr/>
        </p:nvPicPr>
        <p:blipFill>
          <a:blip r:embed="rId3"/>
          <a:stretch>
            <a:fillRect/>
          </a:stretch>
        </p:blipFill>
        <p:spPr>
          <a:xfrm>
            <a:off x="816559" y="3532327"/>
            <a:ext cx="241402" cy="241402"/>
          </a:xfrm>
          <a:prstGeom prst="rect">
            <a:avLst/>
          </a:prstGeom>
        </p:spPr>
      </p:pic>
      <p:sp>
        <p:nvSpPr>
          <p:cNvPr id="17" name="Text 12"/>
          <p:cNvSpPr/>
          <p:nvPr/>
        </p:nvSpPr>
        <p:spPr>
          <a:xfrm>
            <a:off x="1325880" y="3108960"/>
            <a:ext cx="4480560" cy="1143000"/>
          </a:xfrm>
          <a:prstGeom prst="rect">
            <a:avLst/>
          </a:prstGeom>
          <a:noFill/>
          <a:ln/>
        </p:spPr>
        <p:txBody>
          <a:bodyPr wrap="square" lIns="0" tIns="0" rIns="0" bIns="0" rtlCol="0" anchor="ctr"/>
          <a:lstStyle/>
          <a:p>
            <a:pPr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The evidence rules</a:t>
            </a:r>
            <a:endParaRPr lang="en-US" sz="1250" dirty="0"/>
          </a:p>
          <a:p>
            <a:pPr indent="0" marL="0">
              <a:lnSpc>
                <a:spcPct val="105000"/>
              </a:lnSpc>
              <a:buNone/>
            </a:pPr>
            <a:r>
              <a:rPr lang="en-US" sz="1020" dirty="0">
                <a:solidFill>
                  <a:srgbClr val="46545F"/>
                </a:solidFill>
                <a:latin typeface="Calibri" pitchFamily="34" charset="0"/>
                <a:ea typeface="Calibri" pitchFamily="34" charset="-122"/>
                <a:cs typeface="Calibri" pitchFamily="34" charset="-120"/>
              </a:rPr>
              <a:t>numbers via code · citations or it didn’t happen · the AI mirrors you (+49%) — never reveal your preference when asking for judgment.</a:t>
            </a:r>
            <a:endParaRPr lang="en-US" sz="1250" dirty="0"/>
          </a:p>
        </p:txBody>
      </p:sp>
      <p:sp>
        <p:nvSpPr>
          <p:cNvPr id="18" name="Shape 13"/>
          <p:cNvSpPr/>
          <p:nvPr/>
        </p:nvSpPr>
        <p:spPr>
          <a:xfrm>
            <a:off x="6172200" y="3017520"/>
            <a:ext cx="5440680" cy="1325880"/>
          </a:xfrm>
          <a:prstGeom prst="roundRect">
            <a:avLst>
              <a:gd name="adj" fmla="val 5517"/>
            </a:avLst>
          </a:prstGeom>
          <a:solidFill>
            <a:srgbClr val="F2F5F6"/>
          </a:solidFill>
          <a:ln/>
        </p:spPr>
      </p:sp>
      <p:sp>
        <p:nvSpPr>
          <p:cNvPr id="19" name="Shape 14"/>
          <p:cNvSpPr/>
          <p:nvPr/>
        </p:nvSpPr>
        <p:spPr>
          <a:xfrm>
            <a:off x="6355080" y="3401568"/>
            <a:ext cx="502920" cy="502920"/>
          </a:xfrm>
          <a:prstGeom prst="ellipse">
            <a:avLst/>
          </a:prstGeom>
          <a:solidFill>
            <a:srgbClr val="0E7C7B"/>
          </a:solidFill>
          <a:ln/>
        </p:spPr>
      </p:sp>
      <p:pic>
        <p:nvPicPr>
          <p:cNvPr id="20" name="Image 3" descr="/home/user/Claude-Works/ai-training-prompt-engineering/src/assets/icons/download_w.png">    </p:cNvPr>
          <p:cNvPicPr>
            <a:picLocks noChangeAspect="1"/>
          </p:cNvPicPr>
          <p:nvPr/>
        </p:nvPicPr>
        <p:blipFill>
          <a:blip r:embed="rId4"/>
          <a:stretch>
            <a:fillRect/>
          </a:stretch>
        </p:blipFill>
        <p:spPr>
          <a:xfrm>
            <a:off x="6485839" y="3532327"/>
            <a:ext cx="241402" cy="241402"/>
          </a:xfrm>
          <a:prstGeom prst="rect">
            <a:avLst/>
          </a:prstGeom>
        </p:spPr>
      </p:pic>
      <p:sp>
        <p:nvSpPr>
          <p:cNvPr id="21" name="Text 15"/>
          <p:cNvSpPr/>
          <p:nvPr/>
        </p:nvSpPr>
        <p:spPr>
          <a:xfrm>
            <a:off x="6995160" y="3108960"/>
            <a:ext cx="4480560" cy="1143000"/>
          </a:xfrm>
          <a:prstGeom prst="rect">
            <a:avLst/>
          </a:prstGeom>
          <a:noFill/>
          <a:ln/>
        </p:spPr>
        <p:txBody>
          <a:bodyPr wrap="square" lIns="0" tIns="0" rIns="0" bIns="0" rtlCol="0" anchor="ctr"/>
          <a:lstStyle/>
          <a:p>
            <a:pPr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The take-home</a:t>
            </a:r>
            <a:endParaRPr lang="en-US" sz="1250" dirty="0"/>
          </a:p>
          <a:p>
            <a:pPr indent="0" marL="0">
              <a:lnSpc>
                <a:spcPct val="105000"/>
              </a:lnSpc>
              <a:buNone/>
            </a:pPr>
            <a:r>
              <a:rPr lang="en-US" sz="1020" dirty="0">
                <a:solidFill>
                  <a:srgbClr val="46545F"/>
                </a:solidFill>
                <a:latin typeface="Calibri" pitchFamily="34" charset="0"/>
                <a:ea typeface="Calibri" pitchFamily="34" charset="-122"/>
                <a:cs typeface="Calibri" pitchFamily="34" charset="-120"/>
              </a:rPr>
              <a:t>13 templates + the Course Workbook, every prompt in a named tab — the HANDOFF move was homework; who ran it?</a:t>
            </a:r>
            <a:endParaRPr lang="en-US" sz="1250" dirty="0"/>
          </a:p>
        </p:txBody>
      </p:sp>
      <p:sp>
        <p:nvSpPr>
          <p:cNvPr id="22" name="Shape 16"/>
          <p:cNvSpPr/>
          <p:nvPr/>
        </p:nvSpPr>
        <p:spPr>
          <a:xfrm>
            <a:off x="502920" y="4709160"/>
            <a:ext cx="11155680" cy="914400"/>
          </a:xfrm>
          <a:prstGeom prst="roundRect">
            <a:avLst>
              <a:gd name="adj" fmla="val 8000"/>
            </a:avLst>
          </a:prstGeom>
          <a:solidFill>
            <a:srgbClr val="E4F0EF"/>
          </a:solidFill>
          <a:ln/>
        </p:spPr>
      </p:sp>
      <p:sp>
        <p:nvSpPr>
          <p:cNvPr id="23" name="Shape 17"/>
          <p:cNvSpPr/>
          <p:nvPr/>
        </p:nvSpPr>
        <p:spPr>
          <a:xfrm>
            <a:off x="667512" y="4974336"/>
            <a:ext cx="384048" cy="384048"/>
          </a:xfrm>
          <a:prstGeom prst="ellipse">
            <a:avLst/>
          </a:prstGeom>
          <a:solidFill>
            <a:srgbClr val="0E7C7B"/>
          </a:solidFill>
          <a:ln/>
        </p:spPr>
      </p:sp>
      <p:pic>
        <p:nvPicPr>
          <p:cNvPr id="24" name="Image 4" descr="/home/user/Claude-Works/ai-training-prompt-engineering/src/assets/icons/robot_w.png">    </p:cNvPr>
          <p:cNvPicPr>
            <a:picLocks noChangeAspect="1"/>
          </p:cNvPicPr>
          <p:nvPr/>
        </p:nvPicPr>
        <p:blipFill>
          <a:blip r:embed="rId5"/>
          <a:stretch>
            <a:fillRect/>
          </a:stretch>
        </p:blipFill>
        <p:spPr>
          <a:xfrm>
            <a:off x="767364" y="5074188"/>
            <a:ext cx="184343" cy="184343"/>
          </a:xfrm>
          <a:prstGeom prst="rect">
            <a:avLst/>
          </a:prstGeom>
        </p:spPr>
      </p:pic>
      <p:sp>
        <p:nvSpPr>
          <p:cNvPr id="25" name="Text 18"/>
          <p:cNvSpPr/>
          <p:nvPr/>
        </p:nvSpPr>
        <p:spPr>
          <a:xfrm>
            <a:off x="1216152" y="4782312"/>
            <a:ext cx="10213848" cy="768096"/>
          </a:xfrm>
          <a:prstGeom prst="rect">
            <a:avLst/>
          </a:prstGeom>
          <a:noFill/>
          <a:ln/>
        </p:spPr>
        <p:txBody>
          <a:bodyPr wrap="square" lIns="0" tIns="0" rIns="0" bIns="0" rtlCol="0" anchor="ctr"/>
          <a:lstStyle/>
          <a:p>
            <a:pPr indent="0" marL="0">
              <a:lnSpc>
                <a:spcPct val="106000"/>
              </a:lnSpc>
              <a:buNone/>
            </a:pPr>
            <a:r>
              <a:rPr lang="en-US" sz="1300" b="1" dirty="0">
                <a:solidFill>
                  <a:srgbClr val="0A5B5A"/>
                </a:solidFill>
                <a:latin typeface="Calibri" pitchFamily="34" charset="0"/>
                <a:ea typeface="Calibri" pitchFamily="34" charset="-122"/>
                <a:cs typeface="Calibri" pitchFamily="34" charset="-120"/>
              </a:rPr>
              <a:t>Today: </a:t>
            </a:r>
            <a:pPr indent="0" marL="0">
              <a:lnSpc>
                <a:spcPct val="106000"/>
              </a:lnSpc>
              <a:buNone/>
            </a:pPr>
            <a:r>
              <a:rPr lang="en-US" sz="1300" dirty="0">
                <a:solidFill>
                  <a:srgbClr val="46545F"/>
                </a:solidFill>
                <a:latin typeface="Calibri" pitchFamily="34" charset="0"/>
                <a:ea typeface="Calibri" pitchFamily="34" charset="-122"/>
                <a:cs typeface="Calibri" pitchFamily="34" charset="-120"/>
              </a:rPr>
              <a:t>the leap from asking to delegating — the mission brief, gates and guardrails — then how a team keeps its prompts as assets.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A9BBC4"/>
                </a:solidFill>
                <a:latin typeface="Calibri" pitchFamily="34" charset="0"/>
                <a:ea typeface="Calibri" pitchFamily="34" charset="-122"/>
                <a:cs typeface="Calibri" pitchFamily="34" charset="-120"/>
              </a:rPr>
              <a:t>45</a:t>
            </a:r>
            <a:endParaRPr lang="en-US" sz="850" dirty="0"/>
          </a:p>
        </p:txBody>
      </p:sp>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0E7C7B"/>
          </a:solidFill>
          <a:ln/>
        </p:spPr>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210312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5 · AGENTIC AI</a:t>
            </a:r>
            <a:endParaRPr lang="en-US" sz="1600" dirty="0"/>
          </a:p>
        </p:txBody>
      </p:sp>
      <p:sp>
        <p:nvSpPr>
          <p:cNvPr id="16" name="Text 14"/>
          <p:cNvSpPr/>
          <p:nvPr/>
        </p:nvSpPr>
        <p:spPr>
          <a:xfrm>
            <a:off x="502920" y="256032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From asking</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to delegating</a:t>
            </a:r>
            <a:endParaRPr lang="en-US" sz="4400" dirty="0"/>
          </a:p>
        </p:txBody>
      </p:sp>
      <p:sp>
        <p:nvSpPr>
          <p:cNvPr id="17" name="Text 15"/>
          <p:cNvSpPr/>
          <p:nvPr/>
        </p:nvSpPr>
        <p:spPr>
          <a:xfrm>
            <a:off x="502920" y="44348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Chat prompts ask for text. Agentic prompts hand over a job — which changes what a prompt must contain: environment, process, checks, and when to stop and ask you.</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WHAT AN AGENT IS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46</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MECHANICS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An agent = model + tools + instructions, run in a loop</a:t>
            </a:r>
            <a:endParaRPr lang="en-US" sz="3000" dirty="0"/>
          </a:p>
        </p:txBody>
      </p:sp>
      <p:sp>
        <p:nvSpPr>
          <p:cNvPr id="6" name="Shape 4"/>
          <p:cNvSpPr/>
          <p:nvPr/>
        </p:nvSpPr>
        <p:spPr>
          <a:xfrm>
            <a:off x="502920" y="1600200"/>
            <a:ext cx="1325880" cy="1051560"/>
          </a:xfrm>
          <a:prstGeom prst="roundRect">
            <a:avLst>
              <a:gd name="adj" fmla="val 6957"/>
            </a:avLst>
          </a:prstGeom>
          <a:solidFill>
            <a:srgbClr val="E4F0EF"/>
          </a:solidFill>
          <a:ln/>
        </p:spPr>
      </p:sp>
      <p:sp>
        <p:nvSpPr>
          <p:cNvPr id="7" name="Text 5"/>
          <p:cNvSpPr/>
          <p:nvPr/>
        </p:nvSpPr>
        <p:spPr>
          <a:xfrm>
            <a:off x="502920" y="1719072"/>
            <a:ext cx="1325880" cy="365760"/>
          </a:xfrm>
          <a:prstGeom prst="rect">
            <a:avLst/>
          </a:prstGeom>
          <a:noFill/>
          <a:ln/>
        </p:spPr>
        <p:txBody>
          <a:bodyPr wrap="square" lIns="0" tIns="0" rIns="0" bIns="0" rtlCol="0" anchor="ctr"/>
          <a:lstStyle/>
          <a:p>
            <a:pPr algn="ctr" indent="0" marL="0">
              <a:buNone/>
            </a:pPr>
            <a:r>
              <a:rPr lang="en-US" sz="1300" b="1" dirty="0">
                <a:solidFill>
                  <a:srgbClr val="0A5B5A"/>
                </a:solidFill>
                <a:latin typeface="Cambria" pitchFamily="34" charset="0"/>
                <a:ea typeface="Cambria" pitchFamily="34" charset="-122"/>
                <a:cs typeface="Cambria" pitchFamily="34" charset="-120"/>
              </a:rPr>
              <a:t>Gather</a:t>
            </a:r>
            <a:endParaRPr lang="en-US" sz="1300" dirty="0"/>
          </a:p>
        </p:txBody>
      </p:sp>
      <p:sp>
        <p:nvSpPr>
          <p:cNvPr id="8" name="Text 6"/>
          <p:cNvSpPr/>
          <p:nvPr/>
        </p:nvSpPr>
        <p:spPr>
          <a:xfrm>
            <a:off x="557784" y="2066544"/>
            <a:ext cx="1216152" cy="548640"/>
          </a:xfrm>
          <a:prstGeom prst="rect">
            <a:avLst/>
          </a:prstGeom>
          <a:noFill/>
          <a:ln/>
        </p:spPr>
        <p:txBody>
          <a:bodyPr wrap="square" lIns="0" tIns="0" rIns="0" bIns="0" rtlCol="0" anchor="ctr"/>
          <a:lstStyle/>
          <a:p>
            <a:pPr algn="ctr" indent="0" marL="0">
              <a:lnSpc>
                <a:spcPct val="100000"/>
              </a:lnSpc>
              <a:buNone/>
            </a:pPr>
            <a:r>
              <a:rPr lang="en-US" sz="830" dirty="0">
                <a:solidFill>
                  <a:srgbClr val="46545F"/>
                </a:solidFill>
                <a:latin typeface="Calibri" pitchFamily="34" charset="0"/>
                <a:ea typeface="Calibri" pitchFamily="34" charset="-122"/>
                <a:cs typeface="Calibri" pitchFamily="34" charset="-120"/>
              </a:rPr>
              <a:t>read files, search, look at state</a:t>
            </a:r>
            <a:endParaRPr lang="en-US" sz="830" dirty="0"/>
          </a:p>
        </p:txBody>
      </p:sp>
      <p:sp>
        <p:nvSpPr>
          <p:cNvPr id="9" name="Shape 7"/>
          <p:cNvSpPr/>
          <p:nvPr/>
        </p:nvSpPr>
        <p:spPr>
          <a:xfrm>
            <a:off x="1837944" y="2121408"/>
            <a:ext cx="146304" cy="0"/>
          </a:xfrm>
          <a:prstGeom prst="line">
            <a:avLst/>
          </a:prstGeom>
          <a:noFill/>
          <a:ln w="28575">
            <a:solidFill>
              <a:srgbClr val="0E7C7B"/>
            </a:solidFill>
            <a:prstDash val="solid"/>
            <a:tailEnd type="triangle"/>
          </a:ln>
        </p:spPr>
      </p:sp>
      <p:sp>
        <p:nvSpPr>
          <p:cNvPr id="10" name="Shape 8"/>
          <p:cNvSpPr/>
          <p:nvPr/>
        </p:nvSpPr>
        <p:spPr>
          <a:xfrm>
            <a:off x="1984248" y="1600200"/>
            <a:ext cx="1325880" cy="1051560"/>
          </a:xfrm>
          <a:prstGeom prst="roundRect">
            <a:avLst>
              <a:gd name="adj" fmla="val 6957"/>
            </a:avLst>
          </a:prstGeom>
          <a:solidFill>
            <a:srgbClr val="E4F0EF"/>
          </a:solidFill>
          <a:ln/>
        </p:spPr>
      </p:sp>
      <p:sp>
        <p:nvSpPr>
          <p:cNvPr id="11" name="Text 9"/>
          <p:cNvSpPr/>
          <p:nvPr/>
        </p:nvSpPr>
        <p:spPr>
          <a:xfrm>
            <a:off x="1984248" y="1719072"/>
            <a:ext cx="1325880" cy="365760"/>
          </a:xfrm>
          <a:prstGeom prst="rect">
            <a:avLst/>
          </a:prstGeom>
          <a:noFill/>
          <a:ln/>
        </p:spPr>
        <p:txBody>
          <a:bodyPr wrap="square" lIns="0" tIns="0" rIns="0" bIns="0" rtlCol="0" anchor="ctr"/>
          <a:lstStyle/>
          <a:p>
            <a:pPr algn="ctr" indent="0" marL="0">
              <a:buNone/>
            </a:pPr>
            <a:r>
              <a:rPr lang="en-US" sz="1300" b="1" dirty="0">
                <a:solidFill>
                  <a:srgbClr val="0A5B5A"/>
                </a:solidFill>
                <a:latin typeface="Cambria" pitchFamily="34" charset="0"/>
                <a:ea typeface="Cambria" pitchFamily="34" charset="-122"/>
                <a:cs typeface="Cambria" pitchFamily="34" charset="-120"/>
              </a:rPr>
              <a:t>Act</a:t>
            </a:r>
            <a:endParaRPr lang="en-US" sz="1300" dirty="0"/>
          </a:p>
        </p:txBody>
      </p:sp>
      <p:sp>
        <p:nvSpPr>
          <p:cNvPr id="12" name="Text 10"/>
          <p:cNvSpPr/>
          <p:nvPr/>
        </p:nvSpPr>
        <p:spPr>
          <a:xfrm>
            <a:off x="2039112" y="2066544"/>
            <a:ext cx="1216152" cy="548640"/>
          </a:xfrm>
          <a:prstGeom prst="rect">
            <a:avLst/>
          </a:prstGeom>
          <a:noFill/>
          <a:ln/>
        </p:spPr>
        <p:txBody>
          <a:bodyPr wrap="square" lIns="0" tIns="0" rIns="0" bIns="0" rtlCol="0" anchor="ctr"/>
          <a:lstStyle/>
          <a:p>
            <a:pPr algn="ctr" indent="0" marL="0">
              <a:lnSpc>
                <a:spcPct val="100000"/>
              </a:lnSpc>
              <a:buNone/>
            </a:pPr>
            <a:r>
              <a:rPr lang="en-US" sz="830" dirty="0">
                <a:solidFill>
                  <a:srgbClr val="46545F"/>
                </a:solidFill>
                <a:latin typeface="Calibri" pitchFamily="34" charset="0"/>
                <a:ea typeface="Calibri" pitchFamily="34" charset="-122"/>
                <a:cs typeface="Calibri" pitchFamily="34" charset="-120"/>
              </a:rPr>
              <a:t>one step: edit, run, query, write</a:t>
            </a:r>
            <a:endParaRPr lang="en-US" sz="830" dirty="0"/>
          </a:p>
        </p:txBody>
      </p:sp>
      <p:sp>
        <p:nvSpPr>
          <p:cNvPr id="13" name="Shape 11"/>
          <p:cNvSpPr/>
          <p:nvPr/>
        </p:nvSpPr>
        <p:spPr>
          <a:xfrm>
            <a:off x="3319272" y="2121408"/>
            <a:ext cx="146304" cy="0"/>
          </a:xfrm>
          <a:prstGeom prst="line">
            <a:avLst/>
          </a:prstGeom>
          <a:noFill/>
          <a:ln w="28575">
            <a:solidFill>
              <a:srgbClr val="0E7C7B"/>
            </a:solidFill>
            <a:prstDash val="solid"/>
            <a:tailEnd type="triangle"/>
          </a:ln>
        </p:spPr>
      </p:sp>
      <p:sp>
        <p:nvSpPr>
          <p:cNvPr id="14" name="Shape 12"/>
          <p:cNvSpPr/>
          <p:nvPr/>
        </p:nvSpPr>
        <p:spPr>
          <a:xfrm>
            <a:off x="3465576" y="1600200"/>
            <a:ext cx="1325880" cy="1051560"/>
          </a:xfrm>
          <a:prstGeom prst="roundRect">
            <a:avLst>
              <a:gd name="adj" fmla="val 6957"/>
            </a:avLst>
          </a:prstGeom>
          <a:solidFill>
            <a:srgbClr val="E4F0EF"/>
          </a:solidFill>
          <a:ln/>
        </p:spPr>
      </p:sp>
      <p:sp>
        <p:nvSpPr>
          <p:cNvPr id="15" name="Text 13"/>
          <p:cNvSpPr/>
          <p:nvPr/>
        </p:nvSpPr>
        <p:spPr>
          <a:xfrm>
            <a:off x="3465576" y="1719072"/>
            <a:ext cx="1325880" cy="365760"/>
          </a:xfrm>
          <a:prstGeom prst="rect">
            <a:avLst/>
          </a:prstGeom>
          <a:noFill/>
          <a:ln/>
        </p:spPr>
        <p:txBody>
          <a:bodyPr wrap="square" lIns="0" tIns="0" rIns="0" bIns="0" rtlCol="0" anchor="ctr"/>
          <a:lstStyle/>
          <a:p>
            <a:pPr algn="ctr" indent="0" marL="0">
              <a:buNone/>
            </a:pPr>
            <a:r>
              <a:rPr lang="en-US" sz="1300" b="1" dirty="0">
                <a:solidFill>
                  <a:srgbClr val="0A5B5A"/>
                </a:solidFill>
                <a:latin typeface="Cambria" pitchFamily="34" charset="0"/>
                <a:ea typeface="Cambria" pitchFamily="34" charset="-122"/>
                <a:cs typeface="Cambria" pitchFamily="34" charset="-120"/>
              </a:rPr>
              <a:t>Verify</a:t>
            </a:r>
            <a:endParaRPr lang="en-US" sz="1300" dirty="0"/>
          </a:p>
        </p:txBody>
      </p:sp>
      <p:sp>
        <p:nvSpPr>
          <p:cNvPr id="16" name="Text 14"/>
          <p:cNvSpPr/>
          <p:nvPr/>
        </p:nvSpPr>
        <p:spPr>
          <a:xfrm>
            <a:off x="3520440" y="2066544"/>
            <a:ext cx="1216152" cy="548640"/>
          </a:xfrm>
          <a:prstGeom prst="rect">
            <a:avLst/>
          </a:prstGeom>
          <a:noFill/>
          <a:ln/>
        </p:spPr>
        <p:txBody>
          <a:bodyPr wrap="square" lIns="0" tIns="0" rIns="0" bIns="0" rtlCol="0" anchor="ctr"/>
          <a:lstStyle/>
          <a:p>
            <a:pPr algn="ctr" indent="0" marL="0">
              <a:lnSpc>
                <a:spcPct val="100000"/>
              </a:lnSpc>
              <a:buNone/>
            </a:pPr>
            <a:r>
              <a:rPr lang="en-US" sz="830" dirty="0">
                <a:solidFill>
                  <a:srgbClr val="46545F"/>
                </a:solidFill>
                <a:latin typeface="Calibri" pitchFamily="34" charset="0"/>
                <a:ea typeface="Calibri" pitchFamily="34" charset="-122"/>
                <a:cs typeface="Calibri" pitchFamily="34" charset="-120"/>
              </a:rPr>
              <a:t>check the result against the goal</a:t>
            </a:r>
            <a:endParaRPr lang="en-US" sz="830" dirty="0"/>
          </a:p>
        </p:txBody>
      </p:sp>
      <p:sp>
        <p:nvSpPr>
          <p:cNvPr id="17" name="Shape 15"/>
          <p:cNvSpPr/>
          <p:nvPr/>
        </p:nvSpPr>
        <p:spPr>
          <a:xfrm>
            <a:off x="4800600" y="2121408"/>
            <a:ext cx="146304" cy="0"/>
          </a:xfrm>
          <a:prstGeom prst="line">
            <a:avLst/>
          </a:prstGeom>
          <a:noFill/>
          <a:ln w="28575">
            <a:solidFill>
              <a:srgbClr val="0E7C7B"/>
            </a:solidFill>
            <a:prstDash val="solid"/>
            <a:tailEnd type="triangle"/>
          </a:ln>
        </p:spPr>
      </p:sp>
      <p:sp>
        <p:nvSpPr>
          <p:cNvPr id="18" name="Shape 16"/>
          <p:cNvSpPr/>
          <p:nvPr/>
        </p:nvSpPr>
        <p:spPr>
          <a:xfrm>
            <a:off x="4946904" y="1600200"/>
            <a:ext cx="1325880" cy="1051560"/>
          </a:xfrm>
          <a:prstGeom prst="roundRect">
            <a:avLst>
              <a:gd name="adj" fmla="val 6957"/>
            </a:avLst>
          </a:prstGeom>
          <a:solidFill>
            <a:srgbClr val="E4F0EF"/>
          </a:solidFill>
          <a:ln/>
        </p:spPr>
      </p:sp>
      <p:sp>
        <p:nvSpPr>
          <p:cNvPr id="19" name="Text 17"/>
          <p:cNvSpPr/>
          <p:nvPr/>
        </p:nvSpPr>
        <p:spPr>
          <a:xfrm>
            <a:off x="4946904" y="1719072"/>
            <a:ext cx="1325880" cy="365760"/>
          </a:xfrm>
          <a:prstGeom prst="rect">
            <a:avLst/>
          </a:prstGeom>
          <a:noFill/>
          <a:ln/>
        </p:spPr>
        <p:txBody>
          <a:bodyPr wrap="square" lIns="0" tIns="0" rIns="0" bIns="0" rtlCol="0" anchor="ctr"/>
          <a:lstStyle/>
          <a:p>
            <a:pPr algn="ctr" indent="0" marL="0">
              <a:buNone/>
            </a:pPr>
            <a:r>
              <a:rPr lang="en-US" sz="1300" b="1" dirty="0">
                <a:solidFill>
                  <a:srgbClr val="0A5B5A"/>
                </a:solidFill>
                <a:latin typeface="Cambria" pitchFamily="34" charset="0"/>
                <a:ea typeface="Cambria" pitchFamily="34" charset="-122"/>
                <a:cs typeface="Cambria" pitchFamily="34" charset="-120"/>
              </a:rPr>
              <a:t>Repeat</a:t>
            </a:r>
            <a:endParaRPr lang="en-US" sz="1300" dirty="0"/>
          </a:p>
        </p:txBody>
      </p:sp>
      <p:sp>
        <p:nvSpPr>
          <p:cNvPr id="20" name="Text 18"/>
          <p:cNvSpPr/>
          <p:nvPr/>
        </p:nvSpPr>
        <p:spPr>
          <a:xfrm>
            <a:off x="5001768" y="2066544"/>
            <a:ext cx="1216152" cy="548640"/>
          </a:xfrm>
          <a:prstGeom prst="rect">
            <a:avLst/>
          </a:prstGeom>
          <a:noFill/>
          <a:ln/>
        </p:spPr>
        <p:txBody>
          <a:bodyPr wrap="square" lIns="0" tIns="0" rIns="0" bIns="0" rtlCol="0" anchor="ctr"/>
          <a:lstStyle/>
          <a:p>
            <a:pPr algn="ctr" indent="0" marL="0">
              <a:lnSpc>
                <a:spcPct val="100000"/>
              </a:lnSpc>
              <a:buNone/>
            </a:pPr>
            <a:r>
              <a:rPr lang="en-US" sz="830" dirty="0">
                <a:solidFill>
                  <a:srgbClr val="46545F"/>
                </a:solidFill>
                <a:latin typeface="Calibri" pitchFamily="34" charset="0"/>
                <a:ea typeface="Calibri" pitchFamily="34" charset="-122"/>
                <a:cs typeface="Calibri" pitchFamily="34" charset="-120"/>
              </a:rPr>
              <a:t>adjust and continue — or stop</a:t>
            </a:r>
            <a:endParaRPr lang="en-US" sz="830" dirty="0"/>
          </a:p>
        </p:txBody>
      </p:sp>
      <p:sp>
        <p:nvSpPr>
          <p:cNvPr id="21" name="Shape 19"/>
          <p:cNvSpPr/>
          <p:nvPr/>
        </p:nvSpPr>
        <p:spPr>
          <a:xfrm>
            <a:off x="6144768" y="2651760"/>
            <a:ext cx="0" cy="365760"/>
          </a:xfrm>
          <a:prstGeom prst="line">
            <a:avLst/>
          </a:prstGeom>
          <a:noFill/>
          <a:ln w="19050">
            <a:solidFill>
              <a:srgbClr val="7A8790"/>
            </a:solidFill>
            <a:prstDash val="solid"/>
          </a:ln>
        </p:spPr>
      </p:sp>
      <p:sp>
        <p:nvSpPr>
          <p:cNvPr id="22" name="Shape 20"/>
          <p:cNvSpPr/>
          <p:nvPr/>
        </p:nvSpPr>
        <p:spPr>
          <a:xfrm>
            <a:off x="1161288" y="3017520"/>
            <a:ext cx="4983480" cy="0"/>
          </a:xfrm>
          <a:prstGeom prst="line">
            <a:avLst/>
          </a:prstGeom>
          <a:noFill/>
          <a:ln w="19050">
            <a:solidFill>
              <a:srgbClr val="7A8790"/>
            </a:solidFill>
            <a:prstDash val="solid"/>
          </a:ln>
        </p:spPr>
      </p:sp>
      <p:sp>
        <p:nvSpPr>
          <p:cNvPr id="23" name="Shape 21"/>
          <p:cNvSpPr/>
          <p:nvPr/>
        </p:nvSpPr>
        <p:spPr>
          <a:xfrm>
            <a:off x="1161288" y="2670048"/>
            <a:ext cx="0" cy="347472"/>
          </a:xfrm>
          <a:prstGeom prst="line">
            <a:avLst/>
          </a:prstGeom>
          <a:noFill/>
          <a:ln w="19050">
            <a:solidFill>
              <a:srgbClr val="7A8790"/>
            </a:solidFill>
            <a:prstDash val="solid"/>
            <a:tailEnd type="triangle"/>
          </a:ln>
        </p:spPr>
      </p:sp>
      <p:sp>
        <p:nvSpPr>
          <p:cNvPr id="24" name="Text 22"/>
          <p:cNvSpPr/>
          <p:nvPr/>
        </p:nvSpPr>
        <p:spPr>
          <a:xfrm>
            <a:off x="1371600" y="3072384"/>
            <a:ext cx="5029200" cy="274320"/>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…until the goal is met, a check fails, or a guardrail says “ask the human”</a:t>
            </a:r>
            <a:endParaRPr lang="en-US" sz="950" dirty="0"/>
          </a:p>
        </p:txBody>
      </p:sp>
      <p:sp>
        <p:nvSpPr>
          <p:cNvPr id="25" name="Shape 23"/>
          <p:cNvSpPr/>
          <p:nvPr/>
        </p:nvSpPr>
        <p:spPr>
          <a:xfrm>
            <a:off x="6766560" y="1600200"/>
            <a:ext cx="4892040" cy="1783080"/>
          </a:xfrm>
          <a:prstGeom prst="roundRect">
            <a:avLst>
              <a:gd name="adj" fmla="val 4103"/>
            </a:avLst>
          </a:prstGeom>
          <a:solidFill>
            <a:srgbClr val="F2F5F6"/>
          </a:solidFill>
          <a:ln/>
        </p:spPr>
      </p:sp>
      <p:sp>
        <p:nvSpPr>
          <p:cNvPr id="26" name="Text 24"/>
          <p:cNvSpPr/>
          <p:nvPr/>
        </p:nvSpPr>
        <p:spPr>
          <a:xfrm>
            <a:off x="6995160" y="1755648"/>
            <a:ext cx="4480560" cy="320040"/>
          </a:xfrm>
          <a:prstGeom prst="rect">
            <a:avLst/>
          </a:prstGeom>
          <a:noFill/>
          <a:ln/>
        </p:spPr>
        <p:txBody>
          <a:bodyPr wrap="square" lIns="0" tIns="0" rIns="0" bIns="0" rtlCol="0" anchor="ctr"/>
          <a:lstStyle/>
          <a:p>
            <a:pPr indent="0" marL="0">
              <a:buNone/>
            </a:pPr>
            <a:r>
              <a:rPr lang="en-US" sz="1300" b="1" dirty="0">
                <a:solidFill>
                  <a:srgbClr val="232A31"/>
                </a:solidFill>
                <a:latin typeface="Cambria" pitchFamily="34" charset="0"/>
                <a:ea typeface="Cambria" pitchFamily="34" charset="-122"/>
                <a:cs typeface="Cambria" pitchFamily="34" charset="-120"/>
              </a:rPr>
              <a:t>In the vendors’ words</a:t>
            </a:r>
            <a:endParaRPr lang="en-US" sz="1300" dirty="0"/>
          </a:p>
        </p:txBody>
      </p:sp>
      <p:sp>
        <p:nvSpPr>
          <p:cNvPr id="27" name="Text 25"/>
          <p:cNvSpPr/>
          <p:nvPr/>
        </p:nvSpPr>
        <p:spPr>
          <a:xfrm>
            <a:off x="6995160" y="2121408"/>
            <a:ext cx="4434840" cy="1188720"/>
          </a:xfrm>
          <a:prstGeom prst="rect">
            <a:avLst/>
          </a:prstGeom>
          <a:noFill/>
          <a:ln/>
        </p:spPr>
        <p:txBody>
          <a:bodyPr wrap="square" lIns="0" tIns="0" rIns="0" bIns="0" rtlCol="0" anchor="ctr"/>
          <a:lstStyle/>
          <a:p>
            <a:pPr indent="0" marL="0">
              <a:lnSpc>
                <a:spcPct val="110000"/>
              </a:lnSpc>
              <a:buNone/>
            </a:pPr>
            <a:r>
              <a:rPr lang="en-US" sz="1080" i="1" dirty="0">
                <a:solidFill>
                  <a:srgbClr val="46545F"/>
                </a:solidFill>
                <a:latin typeface="Calibri" pitchFamily="34" charset="0"/>
                <a:ea typeface="Calibri" pitchFamily="34" charset="-122"/>
                <a:cs typeface="Calibri" pitchFamily="34" charset="-120"/>
              </a:rPr>
              <a:t>“Systems that independently accomplish tasks on your behalf” (OpenAI) · models that “dynamically direct their own processes and tool usage” (Anthropic) — a chatbot that answers and waits is not an agent.</a:t>
            </a:r>
            <a:endParaRPr lang="en-US" sz="1080" dirty="0"/>
          </a:p>
        </p:txBody>
      </p:sp>
      <p:sp>
        <p:nvSpPr>
          <p:cNvPr id="28" name="Shape 26"/>
          <p:cNvSpPr/>
          <p:nvPr/>
        </p:nvSpPr>
        <p:spPr>
          <a:xfrm>
            <a:off x="502920" y="3611880"/>
            <a:ext cx="5440680" cy="1097280"/>
          </a:xfrm>
          <a:prstGeom prst="roundRect">
            <a:avLst>
              <a:gd name="adj" fmla="val 6667"/>
            </a:avLst>
          </a:prstGeom>
          <a:solidFill>
            <a:srgbClr val="F2F5F6"/>
          </a:solidFill>
          <a:ln/>
        </p:spPr>
      </p:sp>
      <p:sp>
        <p:nvSpPr>
          <p:cNvPr id="29" name="Shape 27"/>
          <p:cNvSpPr/>
          <p:nvPr/>
        </p:nvSpPr>
        <p:spPr>
          <a:xfrm>
            <a:off x="685800" y="3922776"/>
            <a:ext cx="457200" cy="457200"/>
          </a:xfrm>
          <a:prstGeom prst="ellipse">
            <a:avLst/>
          </a:prstGeom>
          <a:solidFill>
            <a:srgbClr val="46545F"/>
          </a:solidFill>
          <a:ln/>
        </p:spPr>
      </p:sp>
      <p:pic>
        <p:nvPicPr>
          <p:cNvPr id="30" name="Image 0" descr="/home/user/Claude-Works/ai-training-prompt-engineering/src/assets/icons/tool_w.png">    </p:cNvPr>
          <p:cNvPicPr>
            <a:picLocks noChangeAspect="1"/>
          </p:cNvPicPr>
          <p:nvPr/>
        </p:nvPicPr>
        <p:blipFill>
          <a:blip r:embed="rId1"/>
          <a:stretch>
            <a:fillRect/>
          </a:stretch>
        </p:blipFill>
        <p:spPr>
          <a:xfrm>
            <a:off x="804672" y="4041648"/>
            <a:ext cx="219456" cy="219456"/>
          </a:xfrm>
          <a:prstGeom prst="rect">
            <a:avLst/>
          </a:prstGeom>
        </p:spPr>
      </p:pic>
      <p:sp>
        <p:nvSpPr>
          <p:cNvPr id="31" name="Text 28"/>
          <p:cNvSpPr/>
          <p:nvPr/>
        </p:nvSpPr>
        <p:spPr>
          <a:xfrm>
            <a:off x="1280160" y="3685032"/>
            <a:ext cx="4572000" cy="960120"/>
          </a:xfrm>
          <a:prstGeom prst="rect">
            <a:avLst/>
          </a:prstGeom>
          <a:noFill/>
          <a:ln/>
        </p:spPr>
        <p:txBody>
          <a:bodyPr wrap="square" lIns="0" tIns="0" rIns="0" bIns="0" rtlCol="0" anchor="ctr"/>
          <a:lstStyle/>
          <a:p>
            <a:pPr indent="0" marL="0">
              <a:lnSpc>
                <a:spcPct val="104000"/>
              </a:lnSpc>
              <a:spcAft>
                <a:spcPts val="200"/>
              </a:spcAft>
              <a:buNone/>
            </a:pPr>
            <a:r>
              <a:rPr lang="en-US" sz="1250" b="1" dirty="0">
                <a:solidFill>
                  <a:srgbClr val="232A31"/>
                </a:solidFill>
                <a:latin typeface="Calibri" pitchFamily="34" charset="0"/>
                <a:ea typeface="Calibri" pitchFamily="34" charset="-122"/>
                <a:cs typeface="Calibri" pitchFamily="34" charset="-120"/>
              </a:rPr>
              <a:t>Tools — the arms</a:t>
            </a:r>
            <a:endParaRPr lang="en-US" sz="1250" dirty="0"/>
          </a:p>
          <a:p>
            <a:pPr indent="0" marL="0">
              <a:lnSpc>
                <a:spcPct val="104000"/>
              </a:lnSpc>
              <a:buNone/>
            </a:pPr>
            <a:r>
              <a:rPr lang="en-US" sz="1030" dirty="0">
                <a:solidFill>
                  <a:srgbClr val="46545F"/>
                </a:solidFill>
                <a:latin typeface="Calibri" pitchFamily="34" charset="0"/>
                <a:ea typeface="Calibri" pitchFamily="34" charset="-122"/>
                <a:cs typeface="Calibri" pitchFamily="34" charset="-120"/>
              </a:rPr>
              <a:t>files, shell, browsers, spreadsheets, email, code. The model requests; the harness executes.</a:t>
            </a:r>
            <a:endParaRPr lang="en-US" sz="1250" dirty="0"/>
          </a:p>
        </p:txBody>
      </p:sp>
      <p:sp>
        <p:nvSpPr>
          <p:cNvPr id="32" name="Shape 29"/>
          <p:cNvSpPr/>
          <p:nvPr/>
        </p:nvSpPr>
        <p:spPr>
          <a:xfrm>
            <a:off x="6172200" y="3611880"/>
            <a:ext cx="5440680" cy="1097280"/>
          </a:xfrm>
          <a:prstGeom prst="roundRect">
            <a:avLst>
              <a:gd name="adj" fmla="val 6667"/>
            </a:avLst>
          </a:prstGeom>
          <a:solidFill>
            <a:srgbClr val="F2F5F6"/>
          </a:solidFill>
          <a:ln/>
        </p:spPr>
      </p:sp>
      <p:sp>
        <p:nvSpPr>
          <p:cNvPr id="33" name="Shape 30"/>
          <p:cNvSpPr/>
          <p:nvPr/>
        </p:nvSpPr>
        <p:spPr>
          <a:xfrm>
            <a:off x="6355080" y="3922776"/>
            <a:ext cx="457200" cy="457200"/>
          </a:xfrm>
          <a:prstGeom prst="ellipse">
            <a:avLst/>
          </a:prstGeom>
          <a:solidFill>
            <a:srgbClr val="46545F"/>
          </a:solidFill>
          <a:ln/>
        </p:spPr>
      </p:sp>
      <p:pic>
        <p:nvPicPr>
          <p:cNvPr id="34" name="Image 1" descr="/home/user/Claude-Works/ai-training-prompt-engineering/src/assets/icons/branch_w.png">    </p:cNvPr>
          <p:cNvPicPr>
            <a:picLocks noChangeAspect="1"/>
          </p:cNvPicPr>
          <p:nvPr/>
        </p:nvPicPr>
        <p:blipFill>
          <a:blip r:embed="rId2"/>
          <a:stretch>
            <a:fillRect/>
          </a:stretch>
        </p:blipFill>
        <p:spPr>
          <a:xfrm>
            <a:off x="6473952" y="4041648"/>
            <a:ext cx="219456" cy="219456"/>
          </a:xfrm>
          <a:prstGeom prst="rect">
            <a:avLst/>
          </a:prstGeom>
        </p:spPr>
      </p:pic>
      <p:sp>
        <p:nvSpPr>
          <p:cNvPr id="35" name="Text 31"/>
          <p:cNvSpPr/>
          <p:nvPr/>
        </p:nvSpPr>
        <p:spPr>
          <a:xfrm>
            <a:off x="6949440" y="3685032"/>
            <a:ext cx="4572000" cy="960120"/>
          </a:xfrm>
          <a:prstGeom prst="rect">
            <a:avLst/>
          </a:prstGeom>
          <a:noFill/>
          <a:ln/>
        </p:spPr>
        <p:txBody>
          <a:bodyPr wrap="square" lIns="0" tIns="0" rIns="0" bIns="0" rtlCol="0" anchor="ctr"/>
          <a:lstStyle/>
          <a:p>
            <a:pPr indent="0" marL="0">
              <a:lnSpc>
                <a:spcPct val="104000"/>
              </a:lnSpc>
              <a:spcAft>
                <a:spcPts val="200"/>
              </a:spcAft>
              <a:buNone/>
            </a:pPr>
            <a:r>
              <a:rPr lang="en-US" sz="1250" b="1" dirty="0">
                <a:solidFill>
                  <a:srgbClr val="232A31"/>
                </a:solidFill>
                <a:latin typeface="Calibri" pitchFamily="34" charset="0"/>
                <a:ea typeface="Calibri" pitchFamily="34" charset="-122"/>
                <a:cs typeface="Calibri" pitchFamily="34" charset="-120"/>
              </a:rPr>
              <a:t>MCP — the standard port</a:t>
            </a:r>
            <a:endParaRPr lang="en-US" sz="1250" dirty="0"/>
          </a:p>
          <a:p>
            <a:pPr indent="0" marL="0">
              <a:lnSpc>
                <a:spcPct val="104000"/>
              </a:lnSpc>
              <a:buNone/>
            </a:pPr>
            <a:r>
              <a:rPr lang="en-US" sz="1030" dirty="0">
                <a:solidFill>
                  <a:srgbClr val="46545F"/>
                </a:solidFill>
                <a:latin typeface="Calibri" pitchFamily="34" charset="0"/>
                <a:ea typeface="Calibri" pitchFamily="34" charset="-122"/>
                <a:cs typeface="Calibri" pitchFamily="34" charset="-120"/>
              </a:rPr>
              <a:t>“USB-C of AI”: one open protocol to plug tools into any agent. Linux Foundation-governed since Dec 2025; ~half a billion SDK downloads/month by mid-2026.</a:t>
            </a:r>
            <a:endParaRPr lang="en-US" sz="1250" dirty="0"/>
          </a:p>
        </p:txBody>
      </p:sp>
      <p:sp>
        <p:nvSpPr>
          <p:cNvPr id="36" name="Shape 32"/>
          <p:cNvSpPr/>
          <p:nvPr/>
        </p:nvSpPr>
        <p:spPr>
          <a:xfrm>
            <a:off x="502920" y="4846320"/>
            <a:ext cx="5440680" cy="1097280"/>
          </a:xfrm>
          <a:prstGeom prst="roundRect">
            <a:avLst>
              <a:gd name="adj" fmla="val 6667"/>
            </a:avLst>
          </a:prstGeom>
          <a:solidFill>
            <a:srgbClr val="F2F5F6"/>
          </a:solidFill>
          <a:ln/>
        </p:spPr>
      </p:sp>
      <p:sp>
        <p:nvSpPr>
          <p:cNvPr id="37" name="Shape 33"/>
          <p:cNvSpPr/>
          <p:nvPr/>
        </p:nvSpPr>
        <p:spPr>
          <a:xfrm>
            <a:off x="685800" y="5157216"/>
            <a:ext cx="457200" cy="457200"/>
          </a:xfrm>
          <a:prstGeom prst="ellipse">
            <a:avLst/>
          </a:prstGeom>
          <a:solidFill>
            <a:srgbClr val="46545F"/>
          </a:solidFill>
          <a:ln/>
        </p:spPr>
      </p:sp>
      <p:pic>
        <p:nvPicPr>
          <p:cNvPr id="38" name="Image 2" descr="/home/user/Claude-Works/ai-training-prompt-engineering/src/assets/icons/memory_w.png">    </p:cNvPr>
          <p:cNvPicPr>
            <a:picLocks noChangeAspect="1"/>
          </p:cNvPicPr>
          <p:nvPr/>
        </p:nvPicPr>
        <p:blipFill>
          <a:blip r:embed="rId3"/>
          <a:stretch>
            <a:fillRect/>
          </a:stretch>
        </p:blipFill>
        <p:spPr>
          <a:xfrm>
            <a:off x="804672" y="5276088"/>
            <a:ext cx="219456" cy="219456"/>
          </a:xfrm>
          <a:prstGeom prst="rect">
            <a:avLst/>
          </a:prstGeom>
        </p:spPr>
      </p:pic>
      <p:sp>
        <p:nvSpPr>
          <p:cNvPr id="39" name="Text 34"/>
          <p:cNvSpPr/>
          <p:nvPr/>
        </p:nvSpPr>
        <p:spPr>
          <a:xfrm>
            <a:off x="1280160" y="4919472"/>
            <a:ext cx="4572000" cy="960120"/>
          </a:xfrm>
          <a:prstGeom prst="rect">
            <a:avLst/>
          </a:prstGeom>
          <a:noFill/>
          <a:ln/>
        </p:spPr>
        <p:txBody>
          <a:bodyPr wrap="square" lIns="0" tIns="0" rIns="0" bIns="0" rtlCol="0" anchor="ctr"/>
          <a:lstStyle/>
          <a:p>
            <a:pPr indent="0" marL="0">
              <a:lnSpc>
                <a:spcPct val="104000"/>
              </a:lnSpc>
              <a:spcAft>
                <a:spcPts val="200"/>
              </a:spcAft>
              <a:buNone/>
            </a:pPr>
            <a:r>
              <a:rPr lang="en-US" sz="1250" b="1" dirty="0">
                <a:solidFill>
                  <a:srgbClr val="232A31"/>
                </a:solidFill>
                <a:latin typeface="Calibri" pitchFamily="34" charset="0"/>
                <a:ea typeface="Calibri" pitchFamily="34" charset="-122"/>
                <a:cs typeface="Calibri" pitchFamily="34" charset="-120"/>
              </a:rPr>
              <a:t>Memory = files</a:t>
            </a:r>
            <a:endParaRPr lang="en-US" sz="1250" dirty="0"/>
          </a:p>
          <a:p>
            <a:pPr indent="0" marL="0">
              <a:lnSpc>
                <a:spcPct val="104000"/>
              </a:lnSpc>
              <a:buNone/>
            </a:pPr>
            <a:r>
              <a:rPr lang="en-US" sz="1030" dirty="0">
                <a:solidFill>
                  <a:srgbClr val="46545F"/>
                </a:solidFill>
                <a:latin typeface="Calibri" pitchFamily="34" charset="0"/>
                <a:ea typeface="Calibri" pitchFamily="34" charset="-122"/>
                <a:cs typeface="Calibri" pitchFamily="34" charset="-120"/>
              </a:rPr>
              <a:t>Context window is short-term memory; notes, logs, and git are long-term. Nothing survives a session unless written down.</a:t>
            </a:r>
            <a:endParaRPr lang="en-US" sz="1250" dirty="0"/>
          </a:p>
        </p:txBody>
      </p:sp>
      <p:sp>
        <p:nvSpPr>
          <p:cNvPr id="40" name="Shape 35"/>
          <p:cNvSpPr/>
          <p:nvPr/>
        </p:nvSpPr>
        <p:spPr>
          <a:xfrm>
            <a:off x="6172200" y="4846320"/>
            <a:ext cx="5440680" cy="1097280"/>
          </a:xfrm>
          <a:prstGeom prst="roundRect">
            <a:avLst>
              <a:gd name="adj" fmla="val 6667"/>
            </a:avLst>
          </a:prstGeom>
          <a:solidFill>
            <a:srgbClr val="F2F5F6"/>
          </a:solidFill>
          <a:ln/>
        </p:spPr>
      </p:sp>
      <p:sp>
        <p:nvSpPr>
          <p:cNvPr id="41" name="Shape 36"/>
          <p:cNvSpPr/>
          <p:nvPr/>
        </p:nvSpPr>
        <p:spPr>
          <a:xfrm>
            <a:off x="6355080" y="5157216"/>
            <a:ext cx="457200" cy="457200"/>
          </a:xfrm>
          <a:prstGeom prst="ellipse">
            <a:avLst/>
          </a:prstGeom>
          <a:solidFill>
            <a:srgbClr val="46545F"/>
          </a:solidFill>
          <a:ln/>
        </p:spPr>
      </p:sp>
      <p:pic>
        <p:nvPicPr>
          <p:cNvPr id="42" name="Image 3" descr="/home/user/Claude-Works/ai-training-prompt-engineering/src/assets/icons/shield_w.png">    </p:cNvPr>
          <p:cNvPicPr>
            <a:picLocks noChangeAspect="1"/>
          </p:cNvPicPr>
          <p:nvPr/>
        </p:nvPicPr>
        <p:blipFill>
          <a:blip r:embed="rId4"/>
          <a:stretch>
            <a:fillRect/>
          </a:stretch>
        </p:blipFill>
        <p:spPr>
          <a:xfrm>
            <a:off x="6473952" y="5276088"/>
            <a:ext cx="219456" cy="219456"/>
          </a:xfrm>
          <a:prstGeom prst="rect">
            <a:avLst/>
          </a:prstGeom>
        </p:spPr>
      </p:pic>
      <p:sp>
        <p:nvSpPr>
          <p:cNvPr id="43" name="Text 37"/>
          <p:cNvSpPr/>
          <p:nvPr/>
        </p:nvSpPr>
        <p:spPr>
          <a:xfrm>
            <a:off x="6949440" y="4919472"/>
            <a:ext cx="4572000" cy="960120"/>
          </a:xfrm>
          <a:prstGeom prst="rect">
            <a:avLst/>
          </a:prstGeom>
          <a:noFill/>
          <a:ln/>
        </p:spPr>
        <p:txBody>
          <a:bodyPr wrap="square" lIns="0" tIns="0" rIns="0" bIns="0" rtlCol="0" anchor="ctr"/>
          <a:lstStyle/>
          <a:p>
            <a:pPr indent="0" marL="0">
              <a:lnSpc>
                <a:spcPct val="104000"/>
              </a:lnSpc>
              <a:spcAft>
                <a:spcPts val="200"/>
              </a:spcAft>
              <a:buNone/>
            </a:pPr>
            <a:r>
              <a:rPr lang="en-US" sz="1250" b="1" dirty="0">
                <a:solidFill>
                  <a:srgbClr val="232A31"/>
                </a:solidFill>
                <a:latin typeface="Calibri" pitchFamily="34" charset="0"/>
                <a:ea typeface="Calibri" pitchFamily="34" charset="-122"/>
                <a:cs typeface="Calibri" pitchFamily="34" charset="-120"/>
              </a:rPr>
              <a:t>Guardrails</a:t>
            </a:r>
            <a:endParaRPr lang="en-US" sz="1250" dirty="0"/>
          </a:p>
          <a:p>
            <a:pPr indent="0" marL="0">
              <a:lnSpc>
                <a:spcPct val="104000"/>
              </a:lnSpc>
              <a:buNone/>
            </a:pPr>
            <a:r>
              <a:rPr lang="en-US" sz="1030" dirty="0">
                <a:solidFill>
                  <a:srgbClr val="46545F"/>
                </a:solidFill>
                <a:latin typeface="Calibri" pitchFamily="34" charset="0"/>
                <a:ea typeface="Calibri" pitchFamily="34" charset="-122"/>
                <a:cs typeface="Calibri" pitchFamily="34" charset="-120"/>
              </a:rPr>
              <a:t>permissions, sandboxes, approval gates for consequential actions — covered later this part.</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THE KEY DISTINCTION</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47</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HEART OF THIS TRAINING</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 generative prompt writes. An agentic prompt commissions.</a:t>
            </a:r>
            <a:endParaRPr lang="en-US" sz="3000" dirty="0"/>
          </a:p>
        </p:txBody>
      </p:sp>
      <p:sp>
        <p:nvSpPr>
          <p:cNvPr id="6" name="Text 4"/>
          <p:cNvSpPr/>
          <p:nvPr/>
        </p:nvSpPr>
        <p:spPr>
          <a:xfrm>
            <a:off x="2377440" y="1481328"/>
            <a:ext cx="4023360" cy="320040"/>
          </a:xfrm>
          <a:prstGeom prst="rect">
            <a:avLst/>
          </a:prstGeom>
          <a:noFill/>
          <a:ln/>
        </p:spPr>
        <p:txBody>
          <a:bodyPr wrap="square" lIns="0" tIns="0" rIns="0" bIns="0" rtlCol="0" anchor="ctr"/>
          <a:lstStyle/>
          <a:p>
            <a:pPr indent="0" marL="0">
              <a:buNone/>
            </a:pPr>
            <a:r>
              <a:rPr lang="en-US" sz="1350" b="1" dirty="0">
                <a:solidFill>
                  <a:srgbClr val="46545F"/>
                </a:solidFill>
                <a:latin typeface="Cambria" pitchFamily="34" charset="0"/>
                <a:ea typeface="Cambria" pitchFamily="34" charset="-122"/>
                <a:cs typeface="Cambria" pitchFamily="34" charset="-120"/>
              </a:rPr>
              <a:t>Generative (chat)</a:t>
            </a:r>
            <a:endParaRPr lang="en-US" sz="1350" dirty="0"/>
          </a:p>
        </p:txBody>
      </p:sp>
      <p:sp>
        <p:nvSpPr>
          <p:cNvPr id="7" name="Text 5"/>
          <p:cNvSpPr/>
          <p:nvPr/>
        </p:nvSpPr>
        <p:spPr>
          <a:xfrm>
            <a:off x="6720840" y="1481328"/>
            <a:ext cx="4572000" cy="320040"/>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Agentic</a:t>
            </a:r>
            <a:endParaRPr lang="en-US" sz="1350" dirty="0"/>
          </a:p>
        </p:txBody>
      </p:sp>
      <p:sp>
        <p:nvSpPr>
          <p:cNvPr id="8" name="Shape 6"/>
          <p:cNvSpPr/>
          <p:nvPr/>
        </p:nvSpPr>
        <p:spPr>
          <a:xfrm>
            <a:off x="502920" y="1847088"/>
            <a:ext cx="11155680" cy="621792"/>
          </a:xfrm>
          <a:prstGeom prst="roundRect">
            <a:avLst>
              <a:gd name="adj" fmla="val 11765"/>
            </a:avLst>
          </a:prstGeom>
          <a:solidFill>
            <a:srgbClr val="F2F5F6"/>
          </a:solidFill>
          <a:ln/>
        </p:spPr>
      </p:sp>
      <p:sp>
        <p:nvSpPr>
          <p:cNvPr id="9" name="Text 7"/>
          <p:cNvSpPr/>
          <p:nvPr/>
        </p:nvSpPr>
        <p:spPr>
          <a:xfrm>
            <a:off x="685800" y="1901952"/>
            <a:ext cx="1600200" cy="51206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Specifies</a:t>
            </a:r>
            <a:endParaRPr lang="en-US" sz="1050" dirty="0"/>
          </a:p>
        </p:txBody>
      </p:sp>
      <p:sp>
        <p:nvSpPr>
          <p:cNvPr id="10" name="Text 8"/>
          <p:cNvSpPr/>
          <p:nvPr/>
        </p:nvSpPr>
        <p:spPr>
          <a:xfrm>
            <a:off x="2377440" y="1892808"/>
            <a:ext cx="4114800" cy="530352"/>
          </a:xfrm>
          <a:prstGeom prst="rect">
            <a:avLst/>
          </a:prstGeom>
          <a:noFill/>
          <a:ln/>
        </p:spPr>
        <p:txBody>
          <a:bodyPr wrap="square" lIns="0" tIns="0" rIns="0" bIns="0" rtlCol="0" anchor="ctr"/>
          <a:lstStyle/>
          <a:p>
            <a:pPr indent="0" marL="0">
              <a:lnSpc>
                <a:spcPct val="100000"/>
              </a:lnSpc>
              <a:buNone/>
            </a:pPr>
            <a:r>
              <a:rPr lang="en-US" sz="960" dirty="0">
                <a:solidFill>
                  <a:srgbClr val="46545F"/>
                </a:solidFill>
                <a:latin typeface="Calibri" pitchFamily="34" charset="0"/>
                <a:ea typeface="Calibri" pitchFamily="34" charset="-122"/>
                <a:cs typeface="Calibri" pitchFamily="34" charset="-120"/>
              </a:rPr>
              <a:t>WHAT TO WRITE</a:t>
            </a:r>
            <a:endParaRPr lang="en-US" sz="960" dirty="0"/>
          </a:p>
        </p:txBody>
      </p:sp>
      <p:sp>
        <p:nvSpPr>
          <p:cNvPr id="11" name="Text 9"/>
          <p:cNvSpPr/>
          <p:nvPr/>
        </p:nvSpPr>
        <p:spPr>
          <a:xfrm>
            <a:off x="6720840" y="1892808"/>
            <a:ext cx="4754880" cy="530352"/>
          </a:xfrm>
          <a:prstGeom prst="rect">
            <a:avLst/>
          </a:prstGeom>
          <a:noFill/>
          <a:ln/>
        </p:spPr>
        <p:txBody>
          <a:bodyPr wrap="square" lIns="0" tIns="0" rIns="0" bIns="0" rtlCol="0" anchor="ctr"/>
          <a:lstStyle/>
          <a:p>
            <a:pPr indent="0" marL="0">
              <a:lnSpc>
                <a:spcPct val="100000"/>
              </a:lnSpc>
              <a:buNone/>
            </a:pPr>
            <a:r>
              <a:rPr lang="en-US" sz="960" dirty="0">
                <a:solidFill>
                  <a:srgbClr val="46545F"/>
                </a:solidFill>
                <a:latin typeface="Calibri" pitchFamily="34" charset="0"/>
                <a:ea typeface="Calibri" pitchFamily="34" charset="-122"/>
                <a:cs typeface="Calibri" pitchFamily="34" charset="-120"/>
              </a:rPr>
              <a:t>A JOB TO RUN</a:t>
            </a:r>
            <a:endParaRPr lang="en-US" sz="960" dirty="0"/>
          </a:p>
        </p:txBody>
      </p:sp>
      <p:sp>
        <p:nvSpPr>
          <p:cNvPr id="12" name="Shape 10"/>
          <p:cNvSpPr/>
          <p:nvPr/>
        </p:nvSpPr>
        <p:spPr>
          <a:xfrm>
            <a:off x="502920" y="2560320"/>
            <a:ext cx="11155680" cy="621792"/>
          </a:xfrm>
          <a:prstGeom prst="roundRect">
            <a:avLst>
              <a:gd name="adj" fmla="val 11765"/>
            </a:avLst>
          </a:prstGeom>
          <a:solidFill>
            <a:srgbClr val="FFFFFF"/>
          </a:solidFill>
          <a:ln w="9525">
            <a:solidFill>
              <a:srgbClr val="DCE3E6"/>
            </a:solidFill>
            <a:prstDash val="solid"/>
          </a:ln>
        </p:spPr>
      </p:sp>
      <p:sp>
        <p:nvSpPr>
          <p:cNvPr id="13" name="Text 11"/>
          <p:cNvSpPr/>
          <p:nvPr/>
        </p:nvSpPr>
        <p:spPr>
          <a:xfrm>
            <a:off x="685800" y="2615184"/>
            <a:ext cx="1600200" cy="51206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Contains</a:t>
            </a:r>
            <a:endParaRPr lang="en-US" sz="1050" dirty="0"/>
          </a:p>
        </p:txBody>
      </p:sp>
      <p:sp>
        <p:nvSpPr>
          <p:cNvPr id="14" name="Text 12"/>
          <p:cNvSpPr/>
          <p:nvPr/>
        </p:nvSpPr>
        <p:spPr>
          <a:xfrm>
            <a:off x="2377440" y="2606040"/>
            <a:ext cx="4114800" cy="530352"/>
          </a:xfrm>
          <a:prstGeom prst="rect">
            <a:avLst/>
          </a:prstGeom>
          <a:noFill/>
          <a:ln/>
        </p:spPr>
        <p:txBody>
          <a:bodyPr wrap="square" lIns="0" tIns="0" rIns="0" bIns="0" rtlCol="0" anchor="ctr"/>
          <a:lstStyle/>
          <a:p>
            <a:pPr indent="0" marL="0">
              <a:lnSpc>
                <a:spcPct val="100000"/>
              </a:lnSpc>
              <a:buNone/>
            </a:pPr>
            <a:r>
              <a:rPr lang="en-US" sz="960" dirty="0">
                <a:solidFill>
                  <a:srgbClr val="46545F"/>
                </a:solidFill>
                <a:latin typeface="Calibri" pitchFamily="34" charset="0"/>
                <a:ea typeface="Calibri" pitchFamily="34" charset="-122"/>
                <a:cs typeface="Calibri" pitchFamily="34" charset="-120"/>
              </a:rPr>
              <a:t>role · task · context · format · examples</a:t>
            </a:r>
            <a:endParaRPr lang="en-US" sz="960" dirty="0"/>
          </a:p>
        </p:txBody>
      </p:sp>
      <p:sp>
        <p:nvSpPr>
          <p:cNvPr id="15" name="Text 13"/>
          <p:cNvSpPr/>
          <p:nvPr/>
        </p:nvSpPr>
        <p:spPr>
          <a:xfrm>
            <a:off x="6720840" y="2606040"/>
            <a:ext cx="4754880" cy="530352"/>
          </a:xfrm>
          <a:prstGeom prst="rect">
            <a:avLst/>
          </a:prstGeom>
          <a:noFill/>
          <a:ln/>
        </p:spPr>
        <p:txBody>
          <a:bodyPr wrap="square" lIns="0" tIns="0" rIns="0" bIns="0" rtlCol="0" anchor="ctr"/>
          <a:lstStyle/>
          <a:p>
            <a:pPr indent="0" marL="0">
              <a:lnSpc>
                <a:spcPct val="100000"/>
              </a:lnSpc>
              <a:buNone/>
            </a:pPr>
            <a:r>
              <a:rPr lang="en-US" sz="960" dirty="0">
                <a:solidFill>
                  <a:srgbClr val="0A5B5A"/>
                </a:solidFill>
                <a:latin typeface="Calibri" pitchFamily="34" charset="0"/>
                <a:ea typeface="Calibri" pitchFamily="34" charset="-122"/>
                <a:cs typeface="Calibri" pitchFamily="34" charset="-120"/>
              </a:rPr>
              <a:t>all of that, PLUS: mission &amp; definition of done · environment &amp; file boundaries · allowed tools · process phases &amp; gates · autonomy rules · self-checks · deliverables &amp; logs</a:t>
            </a:r>
            <a:endParaRPr lang="en-US" sz="960" dirty="0"/>
          </a:p>
        </p:txBody>
      </p:sp>
      <p:sp>
        <p:nvSpPr>
          <p:cNvPr id="16" name="Shape 14"/>
          <p:cNvSpPr/>
          <p:nvPr/>
        </p:nvSpPr>
        <p:spPr>
          <a:xfrm>
            <a:off x="502920" y="3273552"/>
            <a:ext cx="11155680" cy="621792"/>
          </a:xfrm>
          <a:prstGeom prst="roundRect">
            <a:avLst>
              <a:gd name="adj" fmla="val 11765"/>
            </a:avLst>
          </a:prstGeom>
          <a:solidFill>
            <a:srgbClr val="F2F5F6"/>
          </a:solidFill>
          <a:ln/>
        </p:spPr>
      </p:sp>
      <p:sp>
        <p:nvSpPr>
          <p:cNvPr id="17" name="Text 15"/>
          <p:cNvSpPr/>
          <p:nvPr/>
        </p:nvSpPr>
        <p:spPr>
          <a:xfrm>
            <a:off x="685800" y="3328416"/>
            <a:ext cx="1600200" cy="51206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Produces</a:t>
            </a:r>
            <a:endParaRPr lang="en-US" sz="1050" dirty="0"/>
          </a:p>
        </p:txBody>
      </p:sp>
      <p:sp>
        <p:nvSpPr>
          <p:cNvPr id="18" name="Text 16"/>
          <p:cNvSpPr/>
          <p:nvPr/>
        </p:nvSpPr>
        <p:spPr>
          <a:xfrm>
            <a:off x="2377440" y="3319272"/>
            <a:ext cx="4114800" cy="530352"/>
          </a:xfrm>
          <a:prstGeom prst="rect">
            <a:avLst/>
          </a:prstGeom>
          <a:noFill/>
          <a:ln/>
        </p:spPr>
        <p:txBody>
          <a:bodyPr wrap="square" lIns="0" tIns="0" rIns="0" bIns="0" rtlCol="0" anchor="ctr"/>
          <a:lstStyle/>
          <a:p>
            <a:pPr indent="0" marL="0">
              <a:lnSpc>
                <a:spcPct val="100000"/>
              </a:lnSpc>
              <a:buNone/>
            </a:pPr>
            <a:r>
              <a:rPr lang="en-US" sz="960" dirty="0">
                <a:solidFill>
                  <a:srgbClr val="46545F"/>
                </a:solidFill>
                <a:latin typeface="Calibri" pitchFamily="34" charset="0"/>
                <a:ea typeface="Calibri" pitchFamily="34" charset="-122"/>
                <a:cs typeface="Calibri" pitchFamily="34" charset="-120"/>
              </a:rPr>
              <a:t>one response you read</a:t>
            </a:r>
            <a:endParaRPr lang="en-US" sz="960" dirty="0"/>
          </a:p>
        </p:txBody>
      </p:sp>
      <p:sp>
        <p:nvSpPr>
          <p:cNvPr id="19" name="Text 17"/>
          <p:cNvSpPr/>
          <p:nvPr/>
        </p:nvSpPr>
        <p:spPr>
          <a:xfrm>
            <a:off x="6720840" y="3319272"/>
            <a:ext cx="4754880" cy="530352"/>
          </a:xfrm>
          <a:prstGeom prst="rect">
            <a:avLst/>
          </a:prstGeom>
          <a:noFill/>
          <a:ln/>
        </p:spPr>
        <p:txBody>
          <a:bodyPr wrap="square" lIns="0" tIns="0" rIns="0" bIns="0" rtlCol="0" anchor="ctr"/>
          <a:lstStyle/>
          <a:p>
            <a:pPr indent="0" marL="0">
              <a:lnSpc>
                <a:spcPct val="100000"/>
              </a:lnSpc>
              <a:buNone/>
            </a:pPr>
            <a:r>
              <a:rPr lang="en-US" sz="960" dirty="0">
                <a:solidFill>
                  <a:srgbClr val="46545F"/>
                </a:solidFill>
                <a:latin typeface="Calibri" pitchFamily="34" charset="0"/>
                <a:ea typeface="Calibri" pitchFamily="34" charset="-122"/>
                <a:cs typeface="Calibri" pitchFamily="34" charset="-120"/>
              </a:rPr>
              <a:t>actions + artifacts + a report with evidence</a:t>
            </a:r>
            <a:endParaRPr lang="en-US" sz="960" dirty="0"/>
          </a:p>
        </p:txBody>
      </p:sp>
      <p:sp>
        <p:nvSpPr>
          <p:cNvPr id="20" name="Shape 18"/>
          <p:cNvSpPr/>
          <p:nvPr/>
        </p:nvSpPr>
        <p:spPr>
          <a:xfrm>
            <a:off x="502920" y="3986784"/>
            <a:ext cx="11155680" cy="621792"/>
          </a:xfrm>
          <a:prstGeom prst="roundRect">
            <a:avLst>
              <a:gd name="adj" fmla="val 11765"/>
            </a:avLst>
          </a:prstGeom>
          <a:solidFill>
            <a:srgbClr val="FFFFFF"/>
          </a:solidFill>
          <a:ln w="9525">
            <a:solidFill>
              <a:srgbClr val="DCE3E6"/>
            </a:solidFill>
            <a:prstDash val="solid"/>
          </a:ln>
        </p:spPr>
      </p:sp>
      <p:sp>
        <p:nvSpPr>
          <p:cNvPr id="21" name="Text 19"/>
          <p:cNvSpPr/>
          <p:nvPr/>
        </p:nvSpPr>
        <p:spPr>
          <a:xfrm>
            <a:off x="685800" y="4041648"/>
            <a:ext cx="1600200" cy="51206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Failure mode</a:t>
            </a:r>
            <a:endParaRPr lang="en-US" sz="1050" dirty="0"/>
          </a:p>
        </p:txBody>
      </p:sp>
      <p:sp>
        <p:nvSpPr>
          <p:cNvPr id="22" name="Text 20"/>
          <p:cNvSpPr/>
          <p:nvPr/>
        </p:nvSpPr>
        <p:spPr>
          <a:xfrm>
            <a:off x="2377440" y="4032504"/>
            <a:ext cx="4114800" cy="530352"/>
          </a:xfrm>
          <a:prstGeom prst="rect">
            <a:avLst/>
          </a:prstGeom>
          <a:noFill/>
          <a:ln/>
        </p:spPr>
        <p:txBody>
          <a:bodyPr wrap="square" lIns="0" tIns="0" rIns="0" bIns="0" rtlCol="0" anchor="ctr"/>
          <a:lstStyle/>
          <a:p>
            <a:pPr indent="0" marL="0">
              <a:lnSpc>
                <a:spcPct val="100000"/>
              </a:lnSpc>
              <a:buNone/>
            </a:pPr>
            <a:r>
              <a:rPr lang="en-US" sz="960" dirty="0">
                <a:solidFill>
                  <a:srgbClr val="46545F"/>
                </a:solidFill>
                <a:latin typeface="Calibri" pitchFamily="34" charset="0"/>
                <a:ea typeface="Calibri" pitchFamily="34" charset="-122"/>
                <a:cs typeface="Calibri" pitchFamily="34" charset="-120"/>
              </a:rPr>
              <a:t>bad text — just re-prompt</a:t>
            </a:r>
            <a:endParaRPr lang="en-US" sz="960" dirty="0"/>
          </a:p>
        </p:txBody>
      </p:sp>
      <p:sp>
        <p:nvSpPr>
          <p:cNvPr id="23" name="Text 21"/>
          <p:cNvSpPr/>
          <p:nvPr/>
        </p:nvSpPr>
        <p:spPr>
          <a:xfrm>
            <a:off x="6720840" y="4032504"/>
            <a:ext cx="4754880" cy="530352"/>
          </a:xfrm>
          <a:prstGeom prst="rect">
            <a:avLst/>
          </a:prstGeom>
          <a:noFill/>
          <a:ln/>
        </p:spPr>
        <p:txBody>
          <a:bodyPr wrap="square" lIns="0" tIns="0" rIns="0" bIns="0" rtlCol="0" anchor="ctr"/>
          <a:lstStyle/>
          <a:p>
            <a:pPr indent="0" marL="0">
              <a:lnSpc>
                <a:spcPct val="100000"/>
              </a:lnSpc>
              <a:buNone/>
            </a:pPr>
            <a:r>
              <a:rPr lang="en-US" sz="960" dirty="0">
                <a:solidFill>
                  <a:srgbClr val="46545F"/>
                </a:solidFill>
                <a:latin typeface="Calibri" pitchFamily="34" charset="0"/>
                <a:ea typeface="Calibri" pitchFamily="34" charset="-122"/>
                <a:cs typeface="Calibri" pitchFamily="34" charset="-120"/>
              </a:rPr>
              <a:t>wrong ACTIONS: files changed, emails sent. Hence gates, sandboxes, verification</a:t>
            </a:r>
            <a:endParaRPr lang="en-US" sz="960" dirty="0"/>
          </a:p>
        </p:txBody>
      </p:sp>
      <p:sp>
        <p:nvSpPr>
          <p:cNvPr id="24" name="Shape 22"/>
          <p:cNvSpPr/>
          <p:nvPr/>
        </p:nvSpPr>
        <p:spPr>
          <a:xfrm>
            <a:off x="502920" y="4700016"/>
            <a:ext cx="11155680" cy="621792"/>
          </a:xfrm>
          <a:prstGeom prst="roundRect">
            <a:avLst>
              <a:gd name="adj" fmla="val 11765"/>
            </a:avLst>
          </a:prstGeom>
          <a:solidFill>
            <a:srgbClr val="F2F5F6"/>
          </a:solidFill>
          <a:ln/>
        </p:spPr>
      </p:sp>
      <p:sp>
        <p:nvSpPr>
          <p:cNvPr id="25" name="Text 23"/>
          <p:cNvSpPr/>
          <p:nvPr/>
        </p:nvSpPr>
        <p:spPr>
          <a:xfrm>
            <a:off x="685800" y="4754880"/>
            <a:ext cx="1600200" cy="51206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Your role</a:t>
            </a:r>
            <a:endParaRPr lang="en-US" sz="1050" dirty="0"/>
          </a:p>
        </p:txBody>
      </p:sp>
      <p:sp>
        <p:nvSpPr>
          <p:cNvPr id="26" name="Text 24"/>
          <p:cNvSpPr/>
          <p:nvPr/>
        </p:nvSpPr>
        <p:spPr>
          <a:xfrm>
            <a:off x="2377440" y="4745736"/>
            <a:ext cx="4114800" cy="530352"/>
          </a:xfrm>
          <a:prstGeom prst="rect">
            <a:avLst/>
          </a:prstGeom>
          <a:noFill/>
          <a:ln/>
        </p:spPr>
        <p:txBody>
          <a:bodyPr wrap="square" lIns="0" tIns="0" rIns="0" bIns="0" rtlCol="0" anchor="ctr"/>
          <a:lstStyle/>
          <a:p>
            <a:pPr indent="0" marL="0">
              <a:lnSpc>
                <a:spcPct val="100000"/>
              </a:lnSpc>
              <a:buNone/>
            </a:pPr>
            <a:r>
              <a:rPr lang="en-US" sz="960" dirty="0">
                <a:solidFill>
                  <a:srgbClr val="46545F"/>
                </a:solidFill>
                <a:latin typeface="Calibri" pitchFamily="34" charset="0"/>
                <a:ea typeface="Calibri" pitchFamily="34" charset="-122"/>
                <a:cs typeface="Calibri" pitchFamily="34" charset="-120"/>
              </a:rPr>
              <a:t>reader and editor</a:t>
            </a:r>
            <a:endParaRPr lang="en-US" sz="960" dirty="0"/>
          </a:p>
        </p:txBody>
      </p:sp>
      <p:sp>
        <p:nvSpPr>
          <p:cNvPr id="27" name="Text 25"/>
          <p:cNvSpPr/>
          <p:nvPr/>
        </p:nvSpPr>
        <p:spPr>
          <a:xfrm>
            <a:off x="6720840" y="4745736"/>
            <a:ext cx="4754880" cy="530352"/>
          </a:xfrm>
          <a:prstGeom prst="rect">
            <a:avLst/>
          </a:prstGeom>
          <a:noFill/>
          <a:ln/>
        </p:spPr>
        <p:txBody>
          <a:bodyPr wrap="square" lIns="0" tIns="0" rIns="0" bIns="0" rtlCol="0" anchor="ctr"/>
          <a:lstStyle/>
          <a:p>
            <a:pPr indent="0" marL="0">
              <a:lnSpc>
                <a:spcPct val="100000"/>
              </a:lnSpc>
              <a:buNone/>
            </a:pPr>
            <a:r>
              <a:rPr lang="en-US" sz="960" dirty="0">
                <a:solidFill>
                  <a:srgbClr val="46545F"/>
                </a:solidFill>
                <a:latin typeface="Calibri" pitchFamily="34" charset="0"/>
                <a:ea typeface="Calibri" pitchFamily="34" charset="-122"/>
                <a:cs typeface="Calibri" pitchFamily="34" charset="-120"/>
              </a:rPr>
              <a:t>delegator and reviewer at checkpoints</a:t>
            </a:r>
            <a:endParaRPr lang="en-US" sz="960" dirty="0"/>
          </a:p>
        </p:txBody>
      </p:sp>
      <p:sp>
        <p:nvSpPr>
          <p:cNvPr id="28" name="Shape 26"/>
          <p:cNvSpPr/>
          <p:nvPr/>
        </p:nvSpPr>
        <p:spPr>
          <a:xfrm>
            <a:off x="502920" y="5413248"/>
            <a:ext cx="11155680" cy="621792"/>
          </a:xfrm>
          <a:prstGeom prst="roundRect">
            <a:avLst>
              <a:gd name="adj" fmla="val 11765"/>
            </a:avLst>
          </a:prstGeom>
          <a:solidFill>
            <a:srgbClr val="FFFFFF"/>
          </a:solidFill>
          <a:ln w="9525">
            <a:solidFill>
              <a:srgbClr val="DCE3E6"/>
            </a:solidFill>
            <a:prstDash val="solid"/>
          </a:ln>
        </p:spPr>
      </p:sp>
      <p:sp>
        <p:nvSpPr>
          <p:cNvPr id="29" name="Text 27"/>
          <p:cNvSpPr/>
          <p:nvPr/>
        </p:nvSpPr>
        <p:spPr>
          <a:xfrm>
            <a:off x="685800" y="5468112"/>
            <a:ext cx="1600200" cy="51206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Think of it as</a:t>
            </a:r>
            <a:endParaRPr lang="en-US" sz="1050" dirty="0"/>
          </a:p>
        </p:txBody>
      </p:sp>
      <p:sp>
        <p:nvSpPr>
          <p:cNvPr id="30" name="Text 28"/>
          <p:cNvSpPr/>
          <p:nvPr/>
        </p:nvSpPr>
        <p:spPr>
          <a:xfrm>
            <a:off x="2377440" y="5458968"/>
            <a:ext cx="4114800" cy="530352"/>
          </a:xfrm>
          <a:prstGeom prst="rect">
            <a:avLst/>
          </a:prstGeom>
          <a:noFill/>
          <a:ln/>
        </p:spPr>
        <p:txBody>
          <a:bodyPr wrap="square" lIns="0" tIns="0" rIns="0" bIns="0" rtlCol="0" anchor="ctr"/>
          <a:lstStyle/>
          <a:p>
            <a:pPr indent="0" marL="0">
              <a:lnSpc>
                <a:spcPct val="100000"/>
              </a:lnSpc>
              <a:buNone/>
            </a:pPr>
            <a:r>
              <a:rPr lang="en-US" sz="960" dirty="0">
                <a:solidFill>
                  <a:srgbClr val="46545F"/>
                </a:solidFill>
                <a:latin typeface="Calibri" pitchFamily="34" charset="0"/>
                <a:ea typeface="Calibri" pitchFamily="34" charset="-122"/>
                <a:cs typeface="Calibri" pitchFamily="34" charset="-120"/>
              </a:rPr>
              <a:t>briefing a ghost-writer</a:t>
            </a:r>
            <a:endParaRPr lang="en-US" sz="960" dirty="0"/>
          </a:p>
        </p:txBody>
      </p:sp>
      <p:sp>
        <p:nvSpPr>
          <p:cNvPr id="31" name="Text 29"/>
          <p:cNvSpPr/>
          <p:nvPr/>
        </p:nvSpPr>
        <p:spPr>
          <a:xfrm>
            <a:off x="6720840" y="5458968"/>
            <a:ext cx="4754880" cy="530352"/>
          </a:xfrm>
          <a:prstGeom prst="rect">
            <a:avLst/>
          </a:prstGeom>
          <a:noFill/>
          <a:ln/>
        </p:spPr>
        <p:txBody>
          <a:bodyPr wrap="square" lIns="0" tIns="0" rIns="0" bIns="0" rtlCol="0" anchor="ctr"/>
          <a:lstStyle/>
          <a:p>
            <a:pPr indent="0" marL="0">
              <a:lnSpc>
                <a:spcPct val="100000"/>
              </a:lnSpc>
              <a:buNone/>
            </a:pPr>
            <a:r>
              <a:rPr lang="en-US" sz="960" dirty="0">
                <a:solidFill>
                  <a:srgbClr val="46545F"/>
                </a:solidFill>
                <a:latin typeface="Calibri" pitchFamily="34" charset="0"/>
                <a:ea typeface="Calibri" pitchFamily="34" charset="-122"/>
                <a:cs typeface="Calibri" pitchFamily="34" charset="-120"/>
              </a:rPr>
              <a:t>a work order for a contractor</a:t>
            </a:r>
            <a:endParaRPr lang="en-US" sz="96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THE INHERITANCE MAP</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48</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INHERITANCE MAP</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agentic brief is the anatomy, grown up to survive autonomy</a:t>
            </a:r>
            <a:endParaRPr lang="en-US" sz="3000" dirty="0"/>
          </a:p>
        </p:txBody>
      </p:sp>
      <p:sp>
        <p:nvSpPr>
          <p:cNvPr id="6" name="Text 4"/>
          <p:cNvSpPr/>
          <p:nvPr/>
        </p:nvSpPr>
        <p:spPr>
          <a:xfrm>
            <a:off x="685800" y="1463040"/>
            <a:ext cx="2011680" cy="292608"/>
          </a:xfrm>
          <a:prstGeom prst="rect">
            <a:avLst/>
          </a:prstGeom>
          <a:noFill/>
          <a:ln/>
        </p:spPr>
        <p:txBody>
          <a:bodyPr wrap="square" lIns="0" tIns="0" rIns="0" bIns="0" rtlCol="0" anchor="ctr"/>
          <a:lstStyle/>
          <a:p>
            <a:pPr indent="0" marL="0">
              <a:buNone/>
            </a:pPr>
            <a:r>
              <a:rPr lang="en-US" sz="1100" b="1" dirty="0">
                <a:solidFill>
                  <a:srgbClr val="46545F"/>
                </a:solidFill>
                <a:latin typeface="Calibri" pitchFamily="34" charset="0"/>
                <a:ea typeface="Calibri" pitchFamily="34" charset="-122"/>
                <a:cs typeface="Calibri" pitchFamily="34" charset="-120"/>
              </a:rPr>
              <a:t>Generative element</a:t>
            </a:r>
            <a:endParaRPr lang="en-US" sz="1100" dirty="0"/>
          </a:p>
        </p:txBody>
      </p:sp>
      <p:sp>
        <p:nvSpPr>
          <p:cNvPr id="7" name="Text 5"/>
          <p:cNvSpPr/>
          <p:nvPr/>
        </p:nvSpPr>
        <p:spPr>
          <a:xfrm>
            <a:off x="2834640" y="1463040"/>
            <a:ext cx="3108960" cy="292608"/>
          </a:xfrm>
          <a:prstGeom prst="rect">
            <a:avLst/>
          </a:prstGeom>
          <a:noFill/>
          <a:ln/>
        </p:spPr>
        <p:txBody>
          <a:bodyPr wrap="square" lIns="0" tIns="0" rIns="0" bIns="0" rtlCol="0" anchor="ctr"/>
          <a:lstStyle/>
          <a:p>
            <a:pPr indent="0" marL="0">
              <a:buNone/>
            </a:pPr>
            <a:r>
              <a:rPr lang="en-US" sz="1100" b="1" dirty="0">
                <a:solidFill>
                  <a:srgbClr val="0A5B5A"/>
                </a:solidFill>
                <a:latin typeface="Calibri" pitchFamily="34" charset="0"/>
                <a:ea typeface="Calibri" pitchFamily="34" charset="-122"/>
                <a:cs typeface="Calibri" pitchFamily="34" charset="-120"/>
              </a:rPr>
              <a:t>Agentic descendant</a:t>
            </a:r>
            <a:endParaRPr lang="en-US" sz="1100" dirty="0"/>
          </a:p>
        </p:txBody>
      </p:sp>
      <p:sp>
        <p:nvSpPr>
          <p:cNvPr id="8" name="Text 6"/>
          <p:cNvSpPr/>
          <p:nvPr/>
        </p:nvSpPr>
        <p:spPr>
          <a:xfrm>
            <a:off x="6126480" y="1463040"/>
            <a:ext cx="5029200" cy="292608"/>
          </a:xfrm>
          <a:prstGeom prst="rect">
            <a:avLst/>
          </a:prstGeom>
          <a:noFill/>
          <a:ln/>
        </p:spPr>
        <p:txBody>
          <a:bodyPr wrap="square" lIns="0" tIns="0" rIns="0" bIns="0" rtlCol="0" anchor="ctr"/>
          <a:lstStyle/>
          <a:p>
            <a:pPr indent="0" marL="0">
              <a:buNone/>
            </a:pPr>
            <a:r>
              <a:rPr lang="en-US" sz="1100" b="1" dirty="0">
                <a:solidFill>
                  <a:srgbClr val="232A31"/>
                </a:solidFill>
                <a:latin typeface="Calibri" pitchFamily="34" charset="0"/>
                <a:ea typeface="Calibri" pitchFamily="34" charset="-122"/>
                <a:cs typeface="Calibri" pitchFamily="34" charset="-120"/>
              </a:rPr>
              <a:t>What was added — and why</a:t>
            </a:r>
            <a:endParaRPr lang="en-US" sz="1100" dirty="0"/>
          </a:p>
        </p:txBody>
      </p:sp>
      <p:sp>
        <p:nvSpPr>
          <p:cNvPr id="9" name="Shape 7"/>
          <p:cNvSpPr/>
          <p:nvPr/>
        </p:nvSpPr>
        <p:spPr>
          <a:xfrm>
            <a:off x="502920" y="1810512"/>
            <a:ext cx="11155680" cy="438912"/>
          </a:xfrm>
          <a:prstGeom prst="roundRect">
            <a:avLst>
              <a:gd name="adj" fmla="val 16667"/>
            </a:avLst>
          </a:prstGeom>
          <a:solidFill>
            <a:srgbClr val="F2F5F6"/>
          </a:solidFill>
          <a:ln/>
        </p:spPr>
      </p:sp>
      <p:sp>
        <p:nvSpPr>
          <p:cNvPr id="10" name="Text 8"/>
          <p:cNvSpPr/>
          <p:nvPr/>
        </p:nvSpPr>
        <p:spPr>
          <a:xfrm>
            <a:off x="685800" y="1837944"/>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Role</a:t>
            </a:r>
            <a:endParaRPr lang="en-US" sz="1050" dirty="0"/>
          </a:p>
        </p:txBody>
      </p:sp>
      <p:sp>
        <p:nvSpPr>
          <p:cNvPr id="11" name="Text 9"/>
          <p:cNvSpPr/>
          <p:nvPr/>
        </p:nvSpPr>
        <p:spPr>
          <a:xfrm>
            <a:off x="2834640" y="1837944"/>
            <a:ext cx="3154680" cy="384048"/>
          </a:xfrm>
          <a:prstGeom prst="rect">
            <a:avLst/>
          </a:prstGeom>
          <a:noFill/>
          <a:ln/>
        </p:spPr>
        <p:txBody>
          <a:bodyPr wrap="square" lIns="0" tIns="0" rIns="0" bIns="0" rtlCol="0" anchor="ctr"/>
          <a:lstStyle/>
          <a:p>
            <a:pPr indent="0" marL="0">
              <a:buNone/>
            </a:pPr>
            <a:r>
              <a:rPr lang="en-US" sz="950" dirty="0">
                <a:solidFill>
                  <a:srgbClr val="0A5B5A"/>
                </a:solidFill>
                <a:latin typeface="Consolas" pitchFamily="34" charset="0"/>
                <a:ea typeface="Consolas" pitchFamily="34" charset="-122"/>
                <a:cs typeface="Consolas" pitchFamily="34" charset="-120"/>
              </a:rPr>
              <a:t>&lt;role&gt;</a:t>
            </a:r>
            <a:endParaRPr lang="en-US" sz="950" dirty="0"/>
          </a:p>
        </p:txBody>
      </p:sp>
      <p:sp>
        <p:nvSpPr>
          <p:cNvPr id="12" name="Text 10"/>
          <p:cNvSpPr/>
          <p:nvPr/>
        </p:nvSpPr>
        <p:spPr>
          <a:xfrm>
            <a:off x="6126480" y="1837944"/>
            <a:ext cx="5349240" cy="384048"/>
          </a:xfrm>
          <a:prstGeom prst="rect">
            <a:avLst/>
          </a:prstGeom>
          <a:noFill/>
          <a:ln/>
        </p:spPr>
        <p:txBody>
          <a:bodyPr wrap="square" lIns="0" tIns="0" rIns="0" bIns="0" rtlCol="0" anchor="ctr"/>
          <a:lstStyle/>
          <a:p>
            <a:pPr indent="0" marL="0">
              <a:lnSpc>
                <a:spcPct val="95000"/>
              </a:lnSpc>
              <a:buNone/>
            </a:pPr>
            <a:r>
              <a:rPr lang="en-US" sz="950" dirty="0">
                <a:solidFill>
                  <a:srgbClr val="46545F"/>
                </a:solidFill>
                <a:latin typeface="Calibri" pitchFamily="34" charset="0"/>
                <a:ea typeface="Calibri" pitchFamily="34" charset="-122"/>
                <a:cs typeface="Calibri" pitchFamily="34" charset="-120"/>
              </a:rPr>
              <a:t>persists across unsupervised decisions → behaviors only</a:t>
            </a:r>
            <a:endParaRPr lang="en-US" sz="950" dirty="0"/>
          </a:p>
        </p:txBody>
      </p:sp>
      <p:sp>
        <p:nvSpPr>
          <p:cNvPr id="13" name="Shape 11"/>
          <p:cNvSpPr/>
          <p:nvPr/>
        </p:nvSpPr>
        <p:spPr>
          <a:xfrm>
            <a:off x="502920" y="2322576"/>
            <a:ext cx="11155680" cy="438912"/>
          </a:xfrm>
          <a:prstGeom prst="roundRect">
            <a:avLst>
              <a:gd name="adj" fmla="val 16667"/>
            </a:avLst>
          </a:prstGeom>
          <a:solidFill>
            <a:srgbClr val="FFFFFF"/>
          </a:solidFill>
          <a:ln w="9525">
            <a:solidFill>
              <a:srgbClr val="DCE3E6"/>
            </a:solidFill>
            <a:prstDash val="solid"/>
          </a:ln>
        </p:spPr>
      </p:sp>
      <p:sp>
        <p:nvSpPr>
          <p:cNvPr id="14" name="Text 12"/>
          <p:cNvSpPr/>
          <p:nvPr/>
        </p:nvSpPr>
        <p:spPr>
          <a:xfrm>
            <a:off x="685800" y="2350008"/>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Task</a:t>
            </a:r>
            <a:endParaRPr lang="en-US" sz="1050" dirty="0"/>
          </a:p>
        </p:txBody>
      </p:sp>
      <p:sp>
        <p:nvSpPr>
          <p:cNvPr id="15" name="Text 13"/>
          <p:cNvSpPr/>
          <p:nvPr/>
        </p:nvSpPr>
        <p:spPr>
          <a:xfrm>
            <a:off x="2834640" y="2350008"/>
            <a:ext cx="3154680" cy="384048"/>
          </a:xfrm>
          <a:prstGeom prst="rect">
            <a:avLst/>
          </a:prstGeom>
          <a:noFill/>
          <a:ln/>
        </p:spPr>
        <p:txBody>
          <a:bodyPr wrap="square" lIns="0" tIns="0" rIns="0" bIns="0" rtlCol="0" anchor="ctr"/>
          <a:lstStyle/>
          <a:p>
            <a:pPr indent="0" marL="0">
              <a:buNone/>
            </a:pPr>
            <a:r>
              <a:rPr lang="en-US" sz="950" dirty="0">
                <a:solidFill>
                  <a:srgbClr val="0A5B5A"/>
                </a:solidFill>
                <a:latin typeface="Consolas" pitchFamily="34" charset="0"/>
                <a:ea typeface="Consolas" pitchFamily="34" charset="-122"/>
                <a:cs typeface="Consolas" pitchFamily="34" charset="-120"/>
              </a:rPr>
              <a:t>&lt;mission&gt;</a:t>
            </a:r>
            <a:endParaRPr lang="en-US" sz="950" dirty="0"/>
          </a:p>
        </p:txBody>
      </p:sp>
      <p:sp>
        <p:nvSpPr>
          <p:cNvPr id="16" name="Text 14"/>
          <p:cNvSpPr/>
          <p:nvPr/>
        </p:nvSpPr>
        <p:spPr>
          <a:xfrm>
            <a:off x="6126480" y="2350008"/>
            <a:ext cx="5349240" cy="384048"/>
          </a:xfrm>
          <a:prstGeom prst="rect">
            <a:avLst/>
          </a:prstGeom>
          <a:noFill/>
          <a:ln/>
        </p:spPr>
        <p:txBody>
          <a:bodyPr wrap="square" lIns="0" tIns="0" rIns="0" bIns="0" rtlCol="0" anchor="ctr"/>
          <a:lstStyle/>
          <a:p>
            <a:pPr indent="0" marL="0">
              <a:lnSpc>
                <a:spcPct val="95000"/>
              </a:lnSpc>
              <a:buNone/>
            </a:pPr>
            <a:r>
              <a:rPr lang="en-US" sz="950" dirty="0">
                <a:solidFill>
                  <a:srgbClr val="46545F"/>
                </a:solidFill>
                <a:latin typeface="Calibri" pitchFamily="34" charset="0"/>
                <a:ea typeface="Calibri" pitchFamily="34" charset="-122"/>
                <a:cs typeface="Calibri" pitchFamily="34" charset="-120"/>
              </a:rPr>
              <a:t>+ a definition of done — the loop needs an exit condition</a:t>
            </a:r>
            <a:endParaRPr lang="en-US" sz="950" dirty="0"/>
          </a:p>
        </p:txBody>
      </p:sp>
      <p:sp>
        <p:nvSpPr>
          <p:cNvPr id="17" name="Shape 15"/>
          <p:cNvSpPr/>
          <p:nvPr/>
        </p:nvSpPr>
        <p:spPr>
          <a:xfrm>
            <a:off x="502920" y="2834640"/>
            <a:ext cx="11155680" cy="438912"/>
          </a:xfrm>
          <a:prstGeom prst="roundRect">
            <a:avLst>
              <a:gd name="adj" fmla="val 16667"/>
            </a:avLst>
          </a:prstGeom>
          <a:solidFill>
            <a:srgbClr val="F2F5F6"/>
          </a:solidFill>
          <a:ln/>
        </p:spPr>
      </p:sp>
      <p:sp>
        <p:nvSpPr>
          <p:cNvPr id="18" name="Text 16"/>
          <p:cNvSpPr/>
          <p:nvPr/>
        </p:nvSpPr>
        <p:spPr>
          <a:xfrm>
            <a:off x="685800" y="2862072"/>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Context</a:t>
            </a:r>
            <a:endParaRPr lang="en-US" sz="1050" dirty="0"/>
          </a:p>
        </p:txBody>
      </p:sp>
      <p:sp>
        <p:nvSpPr>
          <p:cNvPr id="19" name="Text 17"/>
          <p:cNvSpPr/>
          <p:nvPr/>
        </p:nvSpPr>
        <p:spPr>
          <a:xfrm>
            <a:off x="2834640" y="2862072"/>
            <a:ext cx="3154680" cy="384048"/>
          </a:xfrm>
          <a:prstGeom prst="rect">
            <a:avLst/>
          </a:prstGeom>
          <a:noFill/>
          <a:ln/>
        </p:spPr>
        <p:txBody>
          <a:bodyPr wrap="square" lIns="0" tIns="0" rIns="0" bIns="0" rtlCol="0" anchor="ctr"/>
          <a:lstStyle/>
          <a:p>
            <a:pPr indent="0" marL="0">
              <a:buNone/>
            </a:pPr>
            <a:r>
              <a:rPr lang="en-US" sz="950" dirty="0">
                <a:solidFill>
                  <a:srgbClr val="0A5B5A"/>
                </a:solidFill>
                <a:latin typeface="Consolas" pitchFamily="34" charset="0"/>
                <a:ea typeface="Consolas" pitchFamily="34" charset="-122"/>
                <a:cs typeface="Consolas" pitchFamily="34" charset="-120"/>
              </a:rPr>
              <a:t>&lt;context&gt; + &lt;inputs&gt;</a:t>
            </a:r>
            <a:endParaRPr lang="en-US" sz="950" dirty="0"/>
          </a:p>
        </p:txBody>
      </p:sp>
      <p:sp>
        <p:nvSpPr>
          <p:cNvPr id="20" name="Text 18"/>
          <p:cNvSpPr/>
          <p:nvPr/>
        </p:nvSpPr>
        <p:spPr>
          <a:xfrm>
            <a:off x="6126480" y="2862072"/>
            <a:ext cx="5349240" cy="384048"/>
          </a:xfrm>
          <a:prstGeom prst="rect">
            <a:avLst/>
          </a:prstGeom>
          <a:noFill/>
          <a:ln/>
        </p:spPr>
        <p:txBody>
          <a:bodyPr wrap="square" lIns="0" tIns="0" rIns="0" bIns="0" rtlCol="0" anchor="ctr"/>
          <a:lstStyle/>
          <a:p>
            <a:pPr indent="0" marL="0">
              <a:lnSpc>
                <a:spcPct val="95000"/>
              </a:lnSpc>
              <a:buNone/>
            </a:pPr>
            <a:r>
              <a:rPr lang="en-US" sz="950" dirty="0">
                <a:solidFill>
                  <a:srgbClr val="46545F"/>
                </a:solidFill>
                <a:latin typeface="Calibri" pitchFamily="34" charset="0"/>
                <a:ea typeface="Calibri" pitchFamily="34" charset="-122"/>
                <a:cs typeface="Calibri" pitchFamily="34" charset="-120"/>
              </a:rPr>
              <a:t>+ a per-source register with grain &amp; trust — agents touch every source repeatedly</a:t>
            </a:r>
            <a:endParaRPr lang="en-US" sz="950" dirty="0"/>
          </a:p>
        </p:txBody>
      </p:sp>
      <p:sp>
        <p:nvSpPr>
          <p:cNvPr id="21" name="Shape 19"/>
          <p:cNvSpPr/>
          <p:nvPr/>
        </p:nvSpPr>
        <p:spPr>
          <a:xfrm>
            <a:off x="502920" y="3346704"/>
            <a:ext cx="11155680" cy="438912"/>
          </a:xfrm>
          <a:prstGeom prst="roundRect">
            <a:avLst>
              <a:gd name="adj" fmla="val 16667"/>
            </a:avLst>
          </a:prstGeom>
          <a:solidFill>
            <a:srgbClr val="FFFFFF"/>
          </a:solidFill>
          <a:ln w="9525">
            <a:solidFill>
              <a:srgbClr val="DCE3E6"/>
            </a:solidFill>
            <a:prstDash val="solid"/>
          </a:ln>
        </p:spPr>
      </p:sp>
      <p:sp>
        <p:nvSpPr>
          <p:cNvPr id="22" name="Text 20"/>
          <p:cNvSpPr/>
          <p:nvPr/>
        </p:nvSpPr>
        <p:spPr>
          <a:xfrm>
            <a:off x="685800" y="3374136"/>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Format</a:t>
            </a:r>
            <a:endParaRPr lang="en-US" sz="1050" dirty="0"/>
          </a:p>
        </p:txBody>
      </p:sp>
      <p:sp>
        <p:nvSpPr>
          <p:cNvPr id="23" name="Text 21"/>
          <p:cNvSpPr/>
          <p:nvPr/>
        </p:nvSpPr>
        <p:spPr>
          <a:xfrm>
            <a:off x="2834640" y="3374136"/>
            <a:ext cx="3154680" cy="384048"/>
          </a:xfrm>
          <a:prstGeom prst="rect">
            <a:avLst/>
          </a:prstGeom>
          <a:noFill/>
          <a:ln/>
        </p:spPr>
        <p:txBody>
          <a:bodyPr wrap="square" lIns="0" tIns="0" rIns="0" bIns="0" rtlCol="0" anchor="ctr"/>
          <a:lstStyle/>
          <a:p>
            <a:pPr indent="0" marL="0">
              <a:buNone/>
            </a:pPr>
            <a:r>
              <a:rPr lang="en-US" sz="950" dirty="0">
                <a:solidFill>
                  <a:srgbClr val="0A5B5A"/>
                </a:solidFill>
                <a:latin typeface="Consolas" pitchFamily="34" charset="0"/>
                <a:ea typeface="Consolas" pitchFamily="34" charset="-122"/>
                <a:cs typeface="Consolas" pitchFamily="34" charset="-120"/>
              </a:rPr>
              <a:t>&lt;outputs&gt; + &lt;reporting&gt;</a:t>
            </a:r>
            <a:endParaRPr lang="en-US" sz="950" dirty="0"/>
          </a:p>
        </p:txBody>
      </p:sp>
      <p:sp>
        <p:nvSpPr>
          <p:cNvPr id="24" name="Text 22"/>
          <p:cNvSpPr/>
          <p:nvPr/>
        </p:nvSpPr>
        <p:spPr>
          <a:xfrm>
            <a:off x="6126480" y="3374136"/>
            <a:ext cx="5349240" cy="384048"/>
          </a:xfrm>
          <a:prstGeom prst="rect">
            <a:avLst/>
          </a:prstGeom>
          <a:noFill/>
          <a:ln/>
        </p:spPr>
        <p:txBody>
          <a:bodyPr wrap="square" lIns="0" tIns="0" rIns="0" bIns="0" rtlCol="0" anchor="ctr"/>
          <a:lstStyle/>
          <a:p>
            <a:pPr indent="0" marL="0">
              <a:lnSpc>
                <a:spcPct val="95000"/>
              </a:lnSpc>
              <a:buNone/>
            </a:pPr>
            <a:r>
              <a:rPr lang="en-US" sz="950" dirty="0">
                <a:solidFill>
                  <a:srgbClr val="46545F"/>
                </a:solidFill>
                <a:latin typeface="Calibri" pitchFamily="34" charset="0"/>
                <a:ea typeface="Calibri" pitchFamily="34" charset="-122"/>
                <a:cs typeface="Calibri" pitchFamily="34" charset="-120"/>
              </a:rPr>
              <a:t>+ audit logs and a fixed status shape — actions must be traceable</a:t>
            </a:r>
            <a:endParaRPr lang="en-US" sz="950" dirty="0"/>
          </a:p>
        </p:txBody>
      </p:sp>
      <p:sp>
        <p:nvSpPr>
          <p:cNvPr id="25" name="Shape 23"/>
          <p:cNvSpPr/>
          <p:nvPr/>
        </p:nvSpPr>
        <p:spPr>
          <a:xfrm>
            <a:off x="502920" y="3858768"/>
            <a:ext cx="11155680" cy="438912"/>
          </a:xfrm>
          <a:prstGeom prst="roundRect">
            <a:avLst>
              <a:gd name="adj" fmla="val 16667"/>
            </a:avLst>
          </a:prstGeom>
          <a:solidFill>
            <a:srgbClr val="F2F5F6"/>
          </a:solidFill>
          <a:ln/>
        </p:spPr>
      </p:sp>
      <p:sp>
        <p:nvSpPr>
          <p:cNvPr id="26" name="Text 24"/>
          <p:cNvSpPr/>
          <p:nvPr/>
        </p:nvSpPr>
        <p:spPr>
          <a:xfrm>
            <a:off x="685800" y="3886200"/>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Examples</a:t>
            </a:r>
            <a:endParaRPr lang="en-US" sz="1050" dirty="0"/>
          </a:p>
        </p:txBody>
      </p:sp>
      <p:sp>
        <p:nvSpPr>
          <p:cNvPr id="27" name="Text 25"/>
          <p:cNvSpPr/>
          <p:nvPr/>
        </p:nvSpPr>
        <p:spPr>
          <a:xfrm>
            <a:off x="2834640" y="3886200"/>
            <a:ext cx="3154680" cy="384048"/>
          </a:xfrm>
          <a:prstGeom prst="rect">
            <a:avLst/>
          </a:prstGeom>
          <a:noFill/>
          <a:ln/>
        </p:spPr>
        <p:txBody>
          <a:bodyPr wrap="square" lIns="0" tIns="0" rIns="0" bIns="0" rtlCol="0" anchor="ctr"/>
          <a:lstStyle/>
          <a:p>
            <a:pPr indent="0" marL="0">
              <a:buNone/>
            </a:pPr>
            <a:r>
              <a:rPr lang="en-US" sz="950" dirty="0">
                <a:solidFill>
                  <a:srgbClr val="0A5B5A"/>
                </a:solidFill>
                <a:latin typeface="Consolas" pitchFamily="34" charset="0"/>
                <a:ea typeface="Consolas" pitchFamily="34" charset="-122"/>
                <a:cs typeface="Consolas" pitchFamily="34" charset="-120"/>
              </a:rPr>
              <a:t>the filled brief</a:t>
            </a:r>
            <a:endParaRPr lang="en-US" sz="950" dirty="0"/>
          </a:p>
        </p:txBody>
      </p:sp>
      <p:sp>
        <p:nvSpPr>
          <p:cNvPr id="28" name="Text 26"/>
          <p:cNvSpPr/>
          <p:nvPr/>
        </p:nvSpPr>
        <p:spPr>
          <a:xfrm>
            <a:off x="6126480" y="3886200"/>
            <a:ext cx="5349240" cy="384048"/>
          </a:xfrm>
          <a:prstGeom prst="rect">
            <a:avLst/>
          </a:prstGeom>
          <a:noFill/>
          <a:ln/>
        </p:spPr>
        <p:txBody>
          <a:bodyPr wrap="square" lIns="0" tIns="0" rIns="0" bIns="0" rtlCol="0" anchor="ctr"/>
          <a:lstStyle/>
          <a:p>
            <a:pPr indent="0" marL="0">
              <a:lnSpc>
                <a:spcPct val="95000"/>
              </a:lnSpc>
              <a:buNone/>
            </a:pPr>
            <a:r>
              <a:rPr lang="en-US" sz="950" dirty="0">
                <a:solidFill>
                  <a:srgbClr val="46545F"/>
                </a:solidFill>
                <a:latin typeface="Calibri" pitchFamily="34" charset="0"/>
                <a:ea typeface="Calibri" pitchFamily="34" charset="-122"/>
                <a:cs typeface="Calibri" pitchFamily="34" charset="-120"/>
              </a:rPr>
              <a:t>a worked run is the agentic few-shot</a:t>
            </a:r>
            <a:endParaRPr lang="en-US" sz="950" dirty="0"/>
          </a:p>
        </p:txBody>
      </p:sp>
      <p:sp>
        <p:nvSpPr>
          <p:cNvPr id="29" name="Shape 27"/>
          <p:cNvSpPr/>
          <p:nvPr/>
        </p:nvSpPr>
        <p:spPr>
          <a:xfrm>
            <a:off x="502920" y="4370832"/>
            <a:ext cx="11155680" cy="438912"/>
          </a:xfrm>
          <a:prstGeom prst="roundRect">
            <a:avLst>
              <a:gd name="adj" fmla="val 16667"/>
            </a:avLst>
          </a:prstGeom>
          <a:solidFill>
            <a:srgbClr val="FFFFFF"/>
          </a:solidFill>
          <a:ln w="9525">
            <a:solidFill>
              <a:srgbClr val="DCE3E6"/>
            </a:solidFill>
            <a:prstDash val="solid"/>
          </a:ln>
        </p:spPr>
      </p:sp>
      <p:sp>
        <p:nvSpPr>
          <p:cNvPr id="30" name="Text 28"/>
          <p:cNvSpPr/>
          <p:nvPr/>
        </p:nvSpPr>
        <p:spPr>
          <a:xfrm>
            <a:off x="685800" y="4398264"/>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The Out</a:t>
            </a:r>
            <a:endParaRPr lang="en-US" sz="1050" dirty="0"/>
          </a:p>
        </p:txBody>
      </p:sp>
      <p:sp>
        <p:nvSpPr>
          <p:cNvPr id="31" name="Text 29"/>
          <p:cNvSpPr/>
          <p:nvPr/>
        </p:nvSpPr>
        <p:spPr>
          <a:xfrm>
            <a:off x="2834640" y="4398264"/>
            <a:ext cx="3154680" cy="384048"/>
          </a:xfrm>
          <a:prstGeom prst="rect">
            <a:avLst/>
          </a:prstGeom>
          <a:noFill/>
          <a:ln/>
        </p:spPr>
        <p:txBody>
          <a:bodyPr wrap="square" lIns="0" tIns="0" rIns="0" bIns="0" rtlCol="0" anchor="ctr"/>
          <a:lstStyle/>
          <a:p>
            <a:pPr indent="0" marL="0">
              <a:buNone/>
            </a:pPr>
            <a:r>
              <a:rPr lang="en-US" sz="950" dirty="0">
                <a:solidFill>
                  <a:srgbClr val="0A5B5A"/>
                </a:solidFill>
                <a:latin typeface="Consolas" pitchFamily="34" charset="0"/>
                <a:ea typeface="Consolas" pitchFamily="34" charset="-122"/>
                <a:cs typeface="Consolas" pitchFamily="34" charset="-120"/>
              </a:rPr>
              <a:t>UNKNOWN → open items</a:t>
            </a:r>
            <a:endParaRPr lang="en-US" sz="950" dirty="0"/>
          </a:p>
        </p:txBody>
      </p:sp>
      <p:sp>
        <p:nvSpPr>
          <p:cNvPr id="32" name="Text 30"/>
          <p:cNvSpPr/>
          <p:nvPr/>
        </p:nvSpPr>
        <p:spPr>
          <a:xfrm>
            <a:off x="6126480" y="4398264"/>
            <a:ext cx="5349240" cy="384048"/>
          </a:xfrm>
          <a:prstGeom prst="rect">
            <a:avLst/>
          </a:prstGeom>
          <a:noFill/>
          <a:ln/>
        </p:spPr>
        <p:txBody>
          <a:bodyPr wrap="square" lIns="0" tIns="0" rIns="0" bIns="0" rtlCol="0" anchor="ctr"/>
          <a:lstStyle/>
          <a:p>
            <a:pPr indent="0" marL="0">
              <a:lnSpc>
                <a:spcPct val="95000"/>
              </a:lnSpc>
              <a:buNone/>
            </a:pPr>
            <a:r>
              <a:rPr lang="en-US" sz="950" dirty="0">
                <a:solidFill>
                  <a:srgbClr val="46545F"/>
                </a:solidFill>
                <a:latin typeface="Calibri" pitchFamily="34" charset="0"/>
                <a:ea typeface="Calibri" pitchFamily="34" charset="-122"/>
                <a:cs typeface="Calibri" pitchFamily="34" charset="-120"/>
              </a:rPr>
              <a:t>not-knowing becomes a logged, owned item</a:t>
            </a:r>
            <a:endParaRPr lang="en-US" sz="950" dirty="0"/>
          </a:p>
        </p:txBody>
      </p:sp>
      <p:sp>
        <p:nvSpPr>
          <p:cNvPr id="33" name="Shape 31"/>
          <p:cNvSpPr/>
          <p:nvPr/>
        </p:nvSpPr>
        <p:spPr>
          <a:xfrm>
            <a:off x="502920" y="4882896"/>
            <a:ext cx="11155680" cy="438912"/>
          </a:xfrm>
          <a:prstGeom prst="roundRect">
            <a:avLst>
              <a:gd name="adj" fmla="val 16667"/>
            </a:avLst>
          </a:prstGeom>
          <a:solidFill>
            <a:srgbClr val="F2F5F6"/>
          </a:solidFill>
          <a:ln/>
        </p:spPr>
      </p:sp>
      <p:sp>
        <p:nvSpPr>
          <p:cNvPr id="34" name="Text 32"/>
          <p:cNvSpPr/>
          <p:nvPr/>
        </p:nvSpPr>
        <p:spPr>
          <a:xfrm>
            <a:off x="685800" y="4910328"/>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The Stop</a:t>
            </a:r>
            <a:endParaRPr lang="en-US" sz="1050" dirty="0"/>
          </a:p>
        </p:txBody>
      </p:sp>
      <p:sp>
        <p:nvSpPr>
          <p:cNvPr id="35" name="Text 33"/>
          <p:cNvSpPr/>
          <p:nvPr/>
        </p:nvSpPr>
        <p:spPr>
          <a:xfrm>
            <a:off x="2834640" y="4910328"/>
            <a:ext cx="3154680" cy="384048"/>
          </a:xfrm>
          <a:prstGeom prst="rect">
            <a:avLst/>
          </a:prstGeom>
          <a:noFill/>
          <a:ln/>
        </p:spPr>
        <p:txBody>
          <a:bodyPr wrap="square" lIns="0" tIns="0" rIns="0" bIns="0" rtlCol="0" anchor="ctr"/>
          <a:lstStyle/>
          <a:p>
            <a:pPr indent="0" marL="0">
              <a:buNone/>
            </a:pPr>
            <a:r>
              <a:rPr lang="en-US" sz="950" dirty="0">
                <a:solidFill>
                  <a:srgbClr val="0A5B5A"/>
                </a:solidFill>
                <a:latin typeface="Consolas" pitchFamily="34" charset="0"/>
                <a:ea typeface="Consolas" pitchFamily="34" charset="-122"/>
                <a:cs typeface="Consolas" pitchFamily="34" charset="-120"/>
              </a:rPr>
              <a:t>gates + autonomy rules</a:t>
            </a:r>
            <a:endParaRPr lang="en-US" sz="950" dirty="0"/>
          </a:p>
        </p:txBody>
      </p:sp>
      <p:sp>
        <p:nvSpPr>
          <p:cNvPr id="36" name="Text 34"/>
          <p:cNvSpPr/>
          <p:nvPr/>
        </p:nvSpPr>
        <p:spPr>
          <a:xfrm>
            <a:off x="6126480" y="4910328"/>
            <a:ext cx="5349240" cy="384048"/>
          </a:xfrm>
          <a:prstGeom prst="rect">
            <a:avLst/>
          </a:prstGeom>
          <a:noFill/>
          <a:ln/>
        </p:spPr>
        <p:txBody>
          <a:bodyPr wrap="square" lIns="0" tIns="0" rIns="0" bIns="0" rtlCol="0" anchor="ctr"/>
          <a:lstStyle/>
          <a:p>
            <a:pPr indent="0" marL="0">
              <a:lnSpc>
                <a:spcPct val="95000"/>
              </a:lnSpc>
              <a:buNone/>
            </a:pPr>
            <a:r>
              <a:rPr lang="en-US" sz="950" dirty="0">
                <a:solidFill>
                  <a:srgbClr val="46545F"/>
                </a:solidFill>
                <a:latin typeface="Calibri" pitchFamily="34" charset="0"/>
                <a:ea typeface="Calibri" pitchFamily="34" charset="-122"/>
                <a:cs typeface="Calibri" pitchFamily="34" charset="-120"/>
              </a:rPr>
              <a:t>scope control becomes checkpointed process</a:t>
            </a:r>
            <a:endParaRPr lang="en-US" sz="950" dirty="0"/>
          </a:p>
        </p:txBody>
      </p:sp>
      <p:sp>
        <p:nvSpPr>
          <p:cNvPr id="37" name="Shape 35"/>
          <p:cNvSpPr/>
          <p:nvPr/>
        </p:nvSpPr>
        <p:spPr>
          <a:xfrm>
            <a:off x="502920" y="5394960"/>
            <a:ext cx="11155680" cy="438912"/>
          </a:xfrm>
          <a:prstGeom prst="roundRect">
            <a:avLst>
              <a:gd name="adj" fmla="val 16667"/>
            </a:avLst>
          </a:prstGeom>
          <a:solidFill>
            <a:srgbClr val="FFFFFF"/>
          </a:solidFill>
          <a:ln w="9525">
            <a:solidFill>
              <a:srgbClr val="DCE3E6"/>
            </a:solidFill>
            <a:prstDash val="solid"/>
          </a:ln>
        </p:spPr>
      </p:sp>
      <p:sp>
        <p:nvSpPr>
          <p:cNvPr id="38" name="Text 36"/>
          <p:cNvSpPr/>
          <p:nvPr/>
        </p:nvSpPr>
        <p:spPr>
          <a:xfrm>
            <a:off x="685800" y="5422392"/>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(new in kind)</a:t>
            </a:r>
            <a:endParaRPr lang="en-US" sz="1050" dirty="0"/>
          </a:p>
        </p:txBody>
      </p:sp>
      <p:sp>
        <p:nvSpPr>
          <p:cNvPr id="39" name="Text 37"/>
          <p:cNvSpPr/>
          <p:nvPr/>
        </p:nvSpPr>
        <p:spPr>
          <a:xfrm>
            <a:off x="2834640" y="5422392"/>
            <a:ext cx="3154680" cy="384048"/>
          </a:xfrm>
          <a:prstGeom prst="rect">
            <a:avLst/>
          </a:prstGeom>
          <a:noFill/>
          <a:ln/>
        </p:spPr>
        <p:txBody>
          <a:bodyPr wrap="square" lIns="0" tIns="0" rIns="0" bIns="0" rtlCol="0" anchor="ctr"/>
          <a:lstStyle/>
          <a:p>
            <a:pPr indent="0" marL="0">
              <a:buNone/>
            </a:pPr>
            <a:r>
              <a:rPr lang="en-US" sz="950" dirty="0">
                <a:solidFill>
                  <a:srgbClr val="0A5B5A"/>
                </a:solidFill>
                <a:latin typeface="Consolas" pitchFamily="34" charset="0"/>
                <a:ea typeface="Consolas" pitchFamily="34" charset="-122"/>
                <a:cs typeface="Consolas" pitchFamily="34" charset="-120"/>
              </a:rPr>
              <a:t>&lt;environment&gt; &lt;plan&gt; &lt;checks&gt; &lt;rules&gt; &lt;quality_bar&gt;</a:t>
            </a:r>
            <a:endParaRPr lang="en-US" sz="950" dirty="0"/>
          </a:p>
        </p:txBody>
      </p:sp>
      <p:sp>
        <p:nvSpPr>
          <p:cNvPr id="40" name="Text 38"/>
          <p:cNvSpPr/>
          <p:nvPr/>
        </p:nvSpPr>
        <p:spPr>
          <a:xfrm>
            <a:off x="6126480" y="5422392"/>
            <a:ext cx="5349240" cy="384048"/>
          </a:xfrm>
          <a:prstGeom prst="rect">
            <a:avLst/>
          </a:prstGeom>
          <a:noFill/>
          <a:ln/>
        </p:spPr>
        <p:txBody>
          <a:bodyPr wrap="square" lIns="0" tIns="0" rIns="0" bIns="0" rtlCol="0" anchor="ctr"/>
          <a:lstStyle/>
          <a:p>
            <a:pPr indent="0" marL="0">
              <a:lnSpc>
                <a:spcPct val="95000"/>
              </a:lnSpc>
              <a:buNone/>
            </a:pPr>
            <a:r>
              <a:rPr lang="en-US" sz="950" dirty="0">
                <a:solidFill>
                  <a:srgbClr val="46545F"/>
                </a:solidFill>
                <a:latin typeface="Calibri" pitchFamily="34" charset="0"/>
                <a:ea typeface="Calibri" pitchFamily="34" charset="-122"/>
                <a:cs typeface="Calibri" pitchFamily="34" charset="-120"/>
              </a:rPr>
              <a:t>conduct, method, verification, invariants, completeness — text-only prompts never needed them</a:t>
            </a:r>
            <a:endParaRPr lang="en-US" sz="950" dirty="0"/>
          </a:p>
        </p:txBody>
      </p:sp>
      <p:sp>
        <p:nvSpPr>
          <p:cNvPr id="41" name="Shape 39"/>
          <p:cNvSpPr/>
          <p:nvPr/>
        </p:nvSpPr>
        <p:spPr>
          <a:xfrm>
            <a:off x="502920" y="6035040"/>
            <a:ext cx="11155680" cy="475488"/>
          </a:xfrm>
          <a:prstGeom prst="roundRect">
            <a:avLst>
              <a:gd name="adj" fmla="val 15385"/>
            </a:avLst>
          </a:prstGeom>
          <a:solidFill>
            <a:srgbClr val="FBF0E0"/>
          </a:solidFill>
          <a:ln/>
        </p:spPr>
      </p:sp>
      <p:sp>
        <p:nvSpPr>
          <p:cNvPr id="42" name="Shape 40"/>
          <p:cNvSpPr/>
          <p:nvPr/>
        </p:nvSpPr>
        <p:spPr>
          <a:xfrm>
            <a:off x="667512" y="6080760"/>
            <a:ext cx="384048" cy="384048"/>
          </a:xfrm>
          <a:prstGeom prst="ellipse">
            <a:avLst/>
          </a:prstGeom>
          <a:solidFill>
            <a:srgbClr val="B96A1B"/>
          </a:solidFill>
          <a:ln/>
        </p:spPr>
      </p:sp>
      <p:pic>
        <p:nvPicPr>
          <p:cNvPr id="43" name="Image 0" descr="/home/user/Claude-Works/ai-training-prompt-engineering/src/assets/icons/branch_w.png">    </p:cNvPr>
          <p:cNvPicPr>
            <a:picLocks noChangeAspect="1"/>
          </p:cNvPicPr>
          <p:nvPr/>
        </p:nvPicPr>
        <p:blipFill>
          <a:blip r:embed="rId1"/>
          <a:stretch>
            <a:fillRect/>
          </a:stretch>
        </p:blipFill>
        <p:spPr>
          <a:xfrm>
            <a:off x="767364" y="6180612"/>
            <a:ext cx="184343" cy="184343"/>
          </a:xfrm>
          <a:prstGeom prst="rect">
            <a:avLst/>
          </a:prstGeom>
        </p:spPr>
      </p:pic>
      <p:sp>
        <p:nvSpPr>
          <p:cNvPr id="44" name="Text 41"/>
          <p:cNvSpPr/>
          <p:nvPr/>
        </p:nvSpPr>
        <p:spPr>
          <a:xfrm>
            <a:off x="1216152" y="6108192"/>
            <a:ext cx="10213848" cy="329184"/>
          </a:xfrm>
          <a:prstGeom prst="rect">
            <a:avLst/>
          </a:prstGeom>
          <a:noFill/>
          <a:ln/>
        </p:spPr>
        <p:txBody>
          <a:bodyPr wrap="square" lIns="0" tIns="0" rIns="0" bIns="0" rtlCol="0" anchor="ctr"/>
          <a:lstStyle/>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Why the superset exists: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text that fails costs a re-prompt; actions that fail change the world. The new blocks govern conduct.</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THE MISSION BRIEF</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49</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TEMPLATE A1</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mission brief: twelve blocks, each preventing a failure</a:t>
            </a:r>
            <a:endParaRPr lang="en-US" sz="3000" dirty="0"/>
          </a:p>
        </p:txBody>
      </p:sp>
      <p:sp>
        <p:nvSpPr>
          <p:cNvPr id="6" name="Shape 4"/>
          <p:cNvSpPr/>
          <p:nvPr/>
        </p:nvSpPr>
        <p:spPr>
          <a:xfrm>
            <a:off x="502920" y="1481328"/>
            <a:ext cx="5440680" cy="658368"/>
          </a:xfrm>
          <a:prstGeom prst="roundRect">
            <a:avLst>
              <a:gd name="adj" fmla="val 11111"/>
            </a:avLst>
          </a:prstGeom>
          <a:solidFill>
            <a:srgbClr val="F2F5F6"/>
          </a:solidFill>
          <a:ln/>
        </p:spPr>
      </p:sp>
      <p:sp>
        <p:nvSpPr>
          <p:cNvPr id="7" name="Text 5"/>
          <p:cNvSpPr/>
          <p:nvPr/>
        </p:nvSpPr>
        <p:spPr>
          <a:xfrm>
            <a:off x="667512" y="1536192"/>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&lt;role&gt;</a:t>
            </a:r>
            <a:endParaRPr lang="en-US" sz="1050" dirty="0"/>
          </a:p>
        </p:txBody>
      </p:sp>
      <p:sp>
        <p:nvSpPr>
          <p:cNvPr id="8" name="Text 6"/>
          <p:cNvSpPr/>
          <p:nvPr/>
        </p:nvSpPr>
        <p:spPr>
          <a:xfrm>
            <a:off x="2313432" y="1527048"/>
            <a:ext cx="3520440" cy="566928"/>
          </a:xfrm>
          <a:prstGeom prst="rect">
            <a:avLst/>
          </a:prstGeom>
          <a:noFill/>
          <a:ln/>
        </p:spPr>
        <p:txBody>
          <a:bodyPr wrap="square" lIns="0" tIns="0" rIns="0" bIns="0" rtlCol="0" anchor="ctr"/>
          <a:lstStyle/>
          <a:p>
            <a:pPr indent="0" marL="0">
              <a:lnSpc>
                <a:spcPct val="98000"/>
              </a:lnSpc>
              <a:buNone/>
            </a:pPr>
            <a:r>
              <a:rPr lang="en-US" sz="930" dirty="0">
                <a:solidFill>
                  <a:srgbClr val="46545F"/>
                </a:solidFill>
                <a:latin typeface="Calibri" pitchFamily="34" charset="0"/>
                <a:ea typeface="Calibri" pitchFamily="34" charset="-122"/>
                <a:cs typeface="Calibri" pitchFamily="34" charset="-120"/>
              </a:rPr>
              <a:t>behaviours, not titles — “never invents numbers” beats “senior analyst”</a:t>
            </a:r>
            <a:endParaRPr lang="en-US" sz="930" dirty="0"/>
          </a:p>
        </p:txBody>
      </p:sp>
      <p:sp>
        <p:nvSpPr>
          <p:cNvPr id="9" name="Shape 7"/>
          <p:cNvSpPr/>
          <p:nvPr/>
        </p:nvSpPr>
        <p:spPr>
          <a:xfrm>
            <a:off x="6172200" y="1481328"/>
            <a:ext cx="5440680" cy="658368"/>
          </a:xfrm>
          <a:prstGeom prst="roundRect">
            <a:avLst>
              <a:gd name="adj" fmla="val 11111"/>
            </a:avLst>
          </a:prstGeom>
          <a:solidFill>
            <a:srgbClr val="F2F5F6"/>
          </a:solidFill>
          <a:ln/>
        </p:spPr>
      </p:sp>
      <p:sp>
        <p:nvSpPr>
          <p:cNvPr id="10" name="Text 8"/>
          <p:cNvSpPr/>
          <p:nvPr/>
        </p:nvSpPr>
        <p:spPr>
          <a:xfrm>
            <a:off x="6336792" y="1536192"/>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&lt;mission&gt;</a:t>
            </a:r>
            <a:endParaRPr lang="en-US" sz="1050" dirty="0"/>
          </a:p>
        </p:txBody>
      </p:sp>
      <p:sp>
        <p:nvSpPr>
          <p:cNvPr id="11" name="Text 9"/>
          <p:cNvSpPr/>
          <p:nvPr/>
        </p:nvSpPr>
        <p:spPr>
          <a:xfrm>
            <a:off x="7982712" y="1527048"/>
            <a:ext cx="3520440" cy="566928"/>
          </a:xfrm>
          <a:prstGeom prst="rect">
            <a:avLst/>
          </a:prstGeom>
          <a:noFill/>
          <a:ln/>
        </p:spPr>
        <p:txBody>
          <a:bodyPr wrap="square" lIns="0" tIns="0" rIns="0" bIns="0" rtlCol="0" anchor="ctr"/>
          <a:lstStyle/>
          <a:p>
            <a:pPr indent="0" marL="0">
              <a:lnSpc>
                <a:spcPct val="98000"/>
              </a:lnSpc>
              <a:buNone/>
            </a:pPr>
            <a:r>
              <a:rPr lang="en-US" sz="930" dirty="0">
                <a:solidFill>
                  <a:srgbClr val="46545F"/>
                </a:solidFill>
                <a:latin typeface="Calibri" pitchFamily="34" charset="0"/>
                <a:ea typeface="Calibri" pitchFamily="34" charset="-122"/>
                <a:cs typeface="Calibri" pitchFamily="34" charset="-120"/>
              </a:rPr>
              <a:t>one goal, one audience, one deadline, “done looks like…”</a:t>
            </a:r>
            <a:endParaRPr lang="en-US" sz="930" dirty="0"/>
          </a:p>
        </p:txBody>
      </p:sp>
      <p:sp>
        <p:nvSpPr>
          <p:cNvPr id="12" name="Shape 10"/>
          <p:cNvSpPr/>
          <p:nvPr/>
        </p:nvSpPr>
        <p:spPr>
          <a:xfrm>
            <a:off x="502920" y="2231136"/>
            <a:ext cx="5440680" cy="658368"/>
          </a:xfrm>
          <a:prstGeom prst="roundRect">
            <a:avLst>
              <a:gd name="adj" fmla="val 11111"/>
            </a:avLst>
          </a:prstGeom>
          <a:solidFill>
            <a:srgbClr val="F2F5F6"/>
          </a:solidFill>
          <a:ln/>
        </p:spPr>
      </p:sp>
      <p:sp>
        <p:nvSpPr>
          <p:cNvPr id="13" name="Text 11"/>
          <p:cNvSpPr/>
          <p:nvPr/>
        </p:nvSpPr>
        <p:spPr>
          <a:xfrm>
            <a:off x="667512" y="2286000"/>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&lt;context&gt;</a:t>
            </a:r>
            <a:endParaRPr lang="en-US" sz="1050" dirty="0"/>
          </a:p>
        </p:txBody>
      </p:sp>
      <p:sp>
        <p:nvSpPr>
          <p:cNvPr id="14" name="Text 12"/>
          <p:cNvSpPr/>
          <p:nvPr/>
        </p:nvSpPr>
        <p:spPr>
          <a:xfrm>
            <a:off x="2313432" y="2276856"/>
            <a:ext cx="3520440" cy="566928"/>
          </a:xfrm>
          <a:prstGeom prst="rect">
            <a:avLst/>
          </a:prstGeom>
          <a:noFill/>
          <a:ln/>
        </p:spPr>
        <p:txBody>
          <a:bodyPr wrap="square" lIns="0" tIns="0" rIns="0" bIns="0" rtlCol="0" anchor="ctr"/>
          <a:lstStyle/>
          <a:p>
            <a:pPr indent="0" marL="0">
              <a:lnSpc>
                <a:spcPct val="98000"/>
              </a:lnSpc>
              <a:buNone/>
            </a:pPr>
            <a:r>
              <a:rPr lang="en-US" sz="930" dirty="0">
                <a:solidFill>
                  <a:srgbClr val="46545F"/>
                </a:solidFill>
                <a:latin typeface="Calibri" pitchFamily="34" charset="0"/>
                <a:ea typeface="Calibri" pitchFamily="34" charset="-122"/>
                <a:cs typeface="Calibri" pitchFamily="34" charset="-120"/>
              </a:rPr>
              <a:t>glossary, quirks, targets — the tribal knowledge it can’t infer</a:t>
            </a:r>
            <a:endParaRPr lang="en-US" sz="930" dirty="0"/>
          </a:p>
        </p:txBody>
      </p:sp>
      <p:sp>
        <p:nvSpPr>
          <p:cNvPr id="15" name="Shape 13"/>
          <p:cNvSpPr/>
          <p:nvPr/>
        </p:nvSpPr>
        <p:spPr>
          <a:xfrm>
            <a:off x="6172200" y="2231136"/>
            <a:ext cx="5440680" cy="658368"/>
          </a:xfrm>
          <a:prstGeom prst="roundRect">
            <a:avLst>
              <a:gd name="adj" fmla="val 11111"/>
            </a:avLst>
          </a:prstGeom>
          <a:solidFill>
            <a:srgbClr val="F2F5F6"/>
          </a:solidFill>
          <a:ln/>
        </p:spPr>
      </p:sp>
      <p:sp>
        <p:nvSpPr>
          <p:cNvPr id="16" name="Text 14"/>
          <p:cNvSpPr/>
          <p:nvPr/>
        </p:nvSpPr>
        <p:spPr>
          <a:xfrm>
            <a:off x="6336792" y="2286000"/>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&lt;environment&gt;</a:t>
            </a:r>
            <a:endParaRPr lang="en-US" sz="1050" dirty="0"/>
          </a:p>
        </p:txBody>
      </p:sp>
      <p:sp>
        <p:nvSpPr>
          <p:cNvPr id="17" name="Text 15"/>
          <p:cNvSpPr/>
          <p:nvPr/>
        </p:nvSpPr>
        <p:spPr>
          <a:xfrm>
            <a:off x="7982712" y="2276856"/>
            <a:ext cx="3520440" cy="566928"/>
          </a:xfrm>
          <a:prstGeom prst="rect">
            <a:avLst/>
          </a:prstGeom>
          <a:noFill/>
          <a:ln/>
        </p:spPr>
        <p:txBody>
          <a:bodyPr wrap="square" lIns="0" tIns="0" rIns="0" bIns="0" rtlCol="0" anchor="ctr"/>
          <a:lstStyle/>
          <a:p>
            <a:pPr indent="0" marL="0">
              <a:lnSpc>
                <a:spcPct val="98000"/>
              </a:lnSpc>
              <a:buNone/>
            </a:pPr>
            <a:r>
              <a:rPr lang="en-US" sz="930" dirty="0">
                <a:solidFill>
                  <a:srgbClr val="46545F"/>
                </a:solidFill>
                <a:latin typeface="Calibri" pitchFamily="34" charset="0"/>
                <a:ea typeface="Calibri" pitchFamily="34" charset="-122"/>
                <a:cs typeface="Calibri" pitchFamily="34" charset="-120"/>
              </a:rPr>
              <a:t>where to read, where to write, what’s forbidden. Inputs are read-only</a:t>
            </a:r>
            <a:endParaRPr lang="en-US" sz="930" dirty="0"/>
          </a:p>
        </p:txBody>
      </p:sp>
      <p:sp>
        <p:nvSpPr>
          <p:cNvPr id="18" name="Shape 16"/>
          <p:cNvSpPr/>
          <p:nvPr/>
        </p:nvSpPr>
        <p:spPr>
          <a:xfrm>
            <a:off x="502920" y="2980944"/>
            <a:ext cx="5440680" cy="658368"/>
          </a:xfrm>
          <a:prstGeom prst="roundRect">
            <a:avLst>
              <a:gd name="adj" fmla="val 11111"/>
            </a:avLst>
          </a:prstGeom>
          <a:solidFill>
            <a:srgbClr val="F2F5F6"/>
          </a:solidFill>
          <a:ln/>
        </p:spPr>
      </p:sp>
      <p:sp>
        <p:nvSpPr>
          <p:cNvPr id="19" name="Text 17"/>
          <p:cNvSpPr/>
          <p:nvPr/>
        </p:nvSpPr>
        <p:spPr>
          <a:xfrm>
            <a:off x="667512" y="3035808"/>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&lt;inputs&gt;</a:t>
            </a:r>
            <a:endParaRPr lang="en-US" sz="1050" dirty="0"/>
          </a:p>
        </p:txBody>
      </p:sp>
      <p:sp>
        <p:nvSpPr>
          <p:cNvPr id="20" name="Text 18"/>
          <p:cNvSpPr/>
          <p:nvPr/>
        </p:nvSpPr>
        <p:spPr>
          <a:xfrm>
            <a:off x="2313432" y="3026664"/>
            <a:ext cx="3520440" cy="566928"/>
          </a:xfrm>
          <a:prstGeom prst="rect">
            <a:avLst/>
          </a:prstGeom>
          <a:noFill/>
          <a:ln/>
        </p:spPr>
        <p:txBody>
          <a:bodyPr wrap="square" lIns="0" tIns="0" rIns="0" bIns="0" rtlCol="0" anchor="ctr"/>
          <a:lstStyle/>
          <a:p>
            <a:pPr indent="0" marL="0">
              <a:lnSpc>
                <a:spcPct val="98000"/>
              </a:lnSpc>
              <a:buNone/>
            </a:pPr>
            <a:r>
              <a:rPr lang="en-US" sz="930" dirty="0">
                <a:solidFill>
                  <a:srgbClr val="46545F"/>
                </a:solidFill>
                <a:latin typeface="Calibri" pitchFamily="34" charset="0"/>
                <a:ea typeface="Calibri" pitchFamily="34" charset="-122"/>
                <a:cs typeface="Calibri" pitchFamily="34" charset="-120"/>
              </a:rPr>
              <a:t>each source: location, format, what one row means, trust level</a:t>
            </a:r>
            <a:endParaRPr lang="en-US" sz="930" dirty="0"/>
          </a:p>
        </p:txBody>
      </p:sp>
      <p:sp>
        <p:nvSpPr>
          <p:cNvPr id="21" name="Shape 19"/>
          <p:cNvSpPr/>
          <p:nvPr/>
        </p:nvSpPr>
        <p:spPr>
          <a:xfrm>
            <a:off x="6172200" y="2980944"/>
            <a:ext cx="5440680" cy="658368"/>
          </a:xfrm>
          <a:prstGeom prst="roundRect">
            <a:avLst>
              <a:gd name="adj" fmla="val 11111"/>
            </a:avLst>
          </a:prstGeom>
          <a:solidFill>
            <a:srgbClr val="F2F5F6"/>
          </a:solidFill>
          <a:ln/>
        </p:spPr>
      </p:sp>
      <p:sp>
        <p:nvSpPr>
          <p:cNvPr id="22" name="Text 20"/>
          <p:cNvSpPr/>
          <p:nvPr/>
        </p:nvSpPr>
        <p:spPr>
          <a:xfrm>
            <a:off x="6336792" y="3035808"/>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&lt;plan&gt;</a:t>
            </a:r>
            <a:endParaRPr lang="en-US" sz="1050" dirty="0"/>
          </a:p>
        </p:txBody>
      </p:sp>
      <p:sp>
        <p:nvSpPr>
          <p:cNvPr id="23" name="Text 21"/>
          <p:cNvSpPr/>
          <p:nvPr/>
        </p:nvSpPr>
        <p:spPr>
          <a:xfrm>
            <a:off x="7982712" y="3026664"/>
            <a:ext cx="3520440" cy="566928"/>
          </a:xfrm>
          <a:prstGeom prst="rect">
            <a:avLst/>
          </a:prstGeom>
          <a:noFill/>
          <a:ln/>
        </p:spPr>
        <p:txBody>
          <a:bodyPr wrap="square" lIns="0" tIns="0" rIns="0" bIns="0" rtlCol="0" anchor="ctr"/>
          <a:lstStyle/>
          <a:p>
            <a:pPr indent="0" marL="0">
              <a:lnSpc>
                <a:spcPct val="98000"/>
              </a:lnSpc>
              <a:buNone/>
            </a:pPr>
            <a:r>
              <a:rPr lang="en-US" sz="930" dirty="0">
                <a:solidFill>
                  <a:srgbClr val="46545F"/>
                </a:solidFill>
                <a:latin typeface="Calibri" pitchFamily="34" charset="0"/>
                <a:ea typeface="Calibri" pitchFamily="34" charset="-122"/>
                <a:cs typeface="Calibri" pitchFamily="34" charset="-120"/>
              </a:rPr>
              <a:t>the steps in order · methods allowed · methods needing permission</a:t>
            </a:r>
            <a:endParaRPr lang="en-US" sz="930" dirty="0"/>
          </a:p>
        </p:txBody>
      </p:sp>
      <p:sp>
        <p:nvSpPr>
          <p:cNvPr id="24" name="Shape 22"/>
          <p:cNvSpPr/>
          <p:nvPr/>
        </p:nvSpPr>
        <p:spPr>
          <a:xfrm>
            <a:off x="502920" y="3730752"/>
            <a:ext cx="5440680" cy="658368"/>
          </a:xfrm>
          <a:prstGeom prst="roundRect">
            <a:avLst>
              <a:gd name="adj" fmla="val 11111"/>
            </a:avLst>
          </a:prstGeom>
          <a:solidFill>
            <a:srgbClr val="F2F5F6"/>
          </a:solidFill>
          <a:ln/>
        </p:spPr>
      </p:sp>
      <p:sp>
        <p:nvSpPr>
          <p:cNvPr id="25" name="Text 23"/>
          <p:cNvSpPr/>
          <p:nvPr/>
        </p:nvSpPr>
        <p:spPr>
          <a:xfrm>
            <a:off x="667512" y="3785616"/>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&lt;checks&gt;</a:t>
            </a:r>
            <a:endParaRPr lang="en-US" sz="1050" dirty="0"/>
          </a:p>
        </p:txBody>
      </p:sp>
      <p:sp>
        <p:nvSpPr>
          <p:cNvPr id="26" name="Text 24"/>
          <p:cNvSpPr/>
          <p:nvPr/>
        </p:nvSpPr>
        <p:spPr>
          <a:xfrm>
            <a:off x="2313432" y="3776472"/>
            <a:ext cx="3520440" cy="566928"/>
          </a:xfrm>
          <a:prstGeom prst="rect">
            <a:avLst/>
          </a:prstGeom>
          <a:noFill/>
          <a:ln/>
        </p:spPr>
        <p:txBody>
          <a:bodyPr wrap="square" lIns="0" tIns="0" rIns="0" bIns="0" rtlCol="0" anchor="ctr"/>
          <a:lstStyle/>
          <a:p>
            <a:pPr indent="0" marL="0">
              <a:lnSpc>
                <a:spcPct val="98000"/>
              </a:lnSpc>
              <a:buNone/>
            </a:pPr>
            <a:r>
              <a:rPr lang="en-US" sz="930" dirty="0">
                <a:solidFill>
                  <a:srgbClr val="46545F"/>
                </a:solidFill>
                <a:latin typeface="Calibri" pitchFamily="34" charset="0"/>
                <a:ea typeface="Calibri" pitchFamily="34" charset="-122"/>
                <a:cs typeface="Calibri" pitchFamily="34" charset="-120"/>
              </a:rPr>
              <a:t>HARD (stop the run) vs SOFT (flag) — written so the agent can evaluate them</a:t>
            </a:r>
            <a:endParaRPr lang="en-US" sz="930" dirty="0"/>
          </a:p>
        </p:txBody>
      </p:sp>
      <p:sp>
        <p:nvSpPr>
          <p:cNvPr id="27" name="Shape 25"/>
          <p:cNvSpPr/>
          <p:nvPr/>
        </p:nvSpPr>
        <p:spPr>
          <a:xfrm>
            <a:off x="6172200" y="3730752"/>
            <a:ext cx="5440680" cy="658368"/>
          </a:xfrm>
          <a:prstGeom prst="roundRect">
            <a:avLst>
              <a:gd name="adj" fmla="val 11111"/>
            </a:avLst>
          </a:prstGeom>
          <a:solidFill>
            <a:srgbClr val="F2F5F6"/>
          </a:solidFill>
          <a:ln/>
        </p:spPr>
      </p:sp>
      <p:sp>
        <p:nvSpPr>
          <p:cNvPr id="28" name="Text 26"/>
          <p:cNvSpPr/>
          <p:nvPr/>
        </p:nvSpPr>
        <p:spPr>
          <a:xfrm>
            <a:off x="6336792" y="3785616"/>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&lt;outputs&gt;</a:t>
            </a:r>
            <a:endParaRPr lang="en-US" sz="1050" dirty="0"/>
          </a:p>
        </p:txBody>
      </p:sp>
      <p:sp>
        <p:nvSpPr>
          <p:cNvPr id="29" name="Text 27"/>
          <p:cNvSpPr/>
          <p:nvPr/>
        </p:nvSpPr>
        <p:spPr>
          <a:xfrm>
            <a:off x="7982712" y="3776472"/>
            <a:ext cx="3520440" cy="566928"/>
          </a:xfrm>
          <a:prstGeom prst="rect">
            <a:avLst/>
          </a:prstGeom>
          <a:noFill/>
          <a:ln/>
        </p:spPr>
        <p:txBody>
          <a:bodyPr wrap="square" lIns="0" tIns="0" rIns="0" bIns="0" rtlCol="0" anchor="ctr"/>
          <a:lstStyle/>
          <a:p>
            <a:pPr indent="0" marL="0">
              <a:lnSpc>
                <a:spcPct val="98000"/>
              </a:lnSpc>
              <a:buNone/>
            </a:pPr>
            <a:r>
              <a:rPr lang="en-US" sz="930" dirty="0">
                <a:solidFill>
                  <a:srgbClr val="46545F"/>
                </a:solidFill>
                <a:latin typeface="Calibri" pitchFamily="34" charset="0"/>
                <a:ea typeface="Calibri" pitchFamily="34" charset="-122"/>
                <a:cs typeface="Calibri" pitchFamily="34" charset="-120"/>
              </a:rPr>
              <a:t>exact deliverable names + the three logs: CHANGES · FINDINGS · OPEN_ITEMS</a:t>
            </a:r>
            <a:endParaRPr lang="en-US" sz="930" dirty="0"/>
          </a:p>
        </p:txBody>
      </p:sp>
      <p:sp>
        <p:nvSpPr>
          <p:cNvPr id="30" name="Shape 28"/>
          <p:cNvSpPr/>
          <p:nvPr/>
        </p:nvSpPr>
        <p:spPr>
          <a:xfrm>
            <a:off x="502920" y="4480560"/>
            <a:ext cx="5440680" cy="658368"/>
          </a:xfrm>
          <a:prstGeom prst="roundRect">
            <a:avLst>
              <a:gd name="adj" fmla="val 11111"/>
            </a:avLst>
          </a:prstGeom>
          <a:solidFill>
            <a:srgbClr val="F2F5F6"/>
          </a:solidFill>
          <a:ln/>
        </p:spPr>
      </p:sp>
      <p:sp>
        <p:nvSpPr>
          <p:cNvPr id="31" name="Text 29"/>
          <p:cNvSpPr/>
          <p:nvPr/>
        </p:nvSpPr>
        <p:spPr>
          <a:xfrm>
            <a:off x="667512" y="4535424"/>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&lt;process&gt;</a:t>
            </a:r>
            <a:endParaRPr lang="en-US" sz="1050" dirty="0"/>
          </a:p>
        </p:txBody>
      </p:sp>
      <p:sp>
        <p:nvSpPr>
          <p:cNvPr id="32" name="Text 30"/>
          <p:cNvSpPr/>
          <p:nvPr/>
        </p:nvSpPr>
        <p:spPr>
          <a:xfrm>
            <a:off x="2313432" y="4526280"/>
            <a:ext cx="3520440" cy="566928"/>
          </a:xfrm>
          <a:prstGeom prst="rect">
            <a:avLst/>
          </a:prstGeom>
          <a:noFill/>
          <a:ln/>
        </p:spPr>
        <p:txBody>
          <a:bodyPr wrap="square" lIns="0" tIns="0" rIns="0" bIns="0" rtlCol="0" anchor="ctr"/>
          <a:lstStyle/>
          <a:p>
            <a:pPr indent="0" marL="0">
              <a:lnSpc>
                <a:spcPct val="98000"/>
              </a:lnSpc>
              <a:buNone/>
            </a:pPr>
            <a:r>
              <a:rPr lang="en-US" sz="930" dirty="0">
                <a:solidFill>
                  <a:srgbClr val="46545F"/>
                </a:solidFill>
                <a:latin typeface="Calibri" pitchFamily="34" charset="0"/>
                <a:ea typeface="Calibri" pitchFamily="34" charset="-122"/>
                <a:cs typeface="Calibri" pitchFamily="34" charset="-120"/>
              </a:rPr>
              <a:t>phases with human gates: definitions → mid-run review → pre-render approval</a:t>
            </a:r>
            <a:endParaRPr lang="en-US" sz="930" dirty="0"/>
          </a:p>
        </p:txBody>
      </p:sp>
      <p:sp>
        <p:nvSpPr>
          <p:cNvPr id="33" name="Shape 31"/>
          <p:cNvSpPr/>
          <p:nvPr/>
        </p:nvSpPr>
        <p:spPr>
          <a:xfrm>
            <a:off x="6172200" y="4480560"/>
            <a:ext cx="5440680" cy="658368"/>
          </a:xfrm>
          <a:prstGeom prst="roundRect">
            <a:avLst>
              <a:gd name="adj" fmla="val 11111"/>
            </a:avLst>
          </a:prstGeom>
          <a:solidFill>
            <a:srgbClr val="F2F5F6"/>
          </a:solidFill>
          <a:ln/>
        </p:spPr>
      </p:sp>
      <p:sp>
        <p:nvSpPr>
          <p:cNvPr id="34" name="Text 32"/>
          <p:cNvSpPr/>
          <p:nvPr/>
        </p:nvSpPr>
        <p:spPr>
          <a:xfrm>
            <a:off x="6336792" y="4535424"/>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&lt;rules&gt;</a:t>
            </a:r>
            <a:endParaRPr lang="en-US" sz="1050" dirty="0"/>
          </a:p>
        </p:txBody>
      </p:sp>
      <p:sp>
        <p:nvSpPr>
          <p:cNvPr id="35" name="Text 33"/>
          <p:cNvSpPr/>
          <p:nvPr/>
        </p:nvSpPr>
        <p:spPr>
          <a:xfrm>
            <a:off x="7982712" y="4526280"/>
            <a:ext cx="3520440" cy="566928"/>
          </a:xfrm>
          <a:prstGeom prst="rect">
            <a:avLst/>
          </a:prstGeom>
          <a:noFill/>
          <a:ln/>
        </p:spPr>
        <p:txBody>
          <a:bodyPr wrap="square" lIns="0" tIns="0" rIns="0" bIns="0" rtlCol="0" anchor="ctr"/>
          <a:lstStyle/>
          <a:p>
            <a:pPr indent="0" marL="0">
              <a:lnSpc>
                <a:spcPct val="98000"/>
              </a:lnSpc>
              <a:buNone/>
            </a:pPr>
            <a:r>
              <a:rPr lang="en-US" sz="930" dirty="0">
                <a:solidFill>
                  <a:srgbClr val="46545F"/>
                </a:solidFill>
                <a:latin typeface="Calibri" pitchFamily="34" charset="0"/>
                <a:ea typeface="Calibri" pitchFamily="34" charset="-122"/>
                <a:cs typeface="Calibri" pitchFamily="34" charset="-120"/>
              </a:rPr>
              <a:t>the non-negotiables: never invent data, versioned outputs, assumptions logged</a:t>
            </a:r>
            <a:endParaRPr lang="en-US" sz="930" dirty="0"/>
          </a:p>
        </p:txBody>
      </p:sp>
      <p:sp>
        <p:nvSpPr>
          <p:cNvPr id="36" name="Shape 34"/>
          <p:cNvSpPr/>
          <p:nvPr/>
        </p:nvSpPr>
        <p:spPr>
          <a:xfrm>
            <a:off x="502920" y="5230368"/>
            <a:ext cx="5440680" cy="658368"/>
          </a:xfrm>
          <a:prstGeom prst="roundRect">
            <a:avLst>
              <a:gd name="adj" fmla="val 11111"/>
            </a:avLst>
          </a:prstGeom>
          <a:solidFill>
            <a:srgbClr val="F2F5F6"/>
          </a:solidFill>
          <a:ln/>
        </p:spPr>
      </p:sp>
      <p:sp>
        <p:nvSpPr>
          <p:cNvPr id="37" name="Text 35"/>
          <p:cNvSpPr/>
          <p:nvPr/>
        </p:nvSpPr>
        <p:spPr>
          <a:xfrm>
            <a:off x="667512" y="5285232"/>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&lt;quality_bar&gt;</a:t>
            </a:r>
            <a:endParaRPr lang="en-US" sz="1050" dirty="0"/>
          </a:p>
        </p:txBody>
      </p:sp>
      <p:sp>
        <p:nvSpPr>
          <p:cNvPr id="38" name="Text 36"/>
          <p:cNvSpPr/>
          <p:nvPr/>
        </p:nvSpPr>
        <p:spPr>
          <a:xfrm>
            <a:off x="2313432" y="5276088"/>
            <a:ext cx="3520440" cy="566928"/>
          </a:xfrm>
          <a:prstGeom prst="rect">
            <a:avLst/>
          </a:prstGeom>
          <a:noFill/>
          <a:ln/>
        </p:spPr>
        <p:txBody>
          <a:bodyPr wrap="square" lIns="0" tIns="0" rIns="0" bIns="0" rtlCol="0" anchor="ctr"/>
          <a:lstStyle/>
          <a:p>
            <a:pPr indent="0" marL="0">
              <a:lnSpc>
                <a:spcPct val="98000"/>
              </a:lnSpc>
              <a:buNone/>
            </a:pPr>
            <a:r>
              <a:rPr lang="en-US" sz="930" dirty="0">
                <a:solidFill>
                  <a:srgbClr val="46545F"/>
                </a:solidFill>
                <a:latin typeface="Calibri" pitchFamily="34" charset="0"/>
                <a:ea typeface="Calibri" pitchFamily="34" charset="-122"/>
                <a:cs typeface="Calibri" pitchFamily="34" charset="-120"/>
              </a:rPr>
              <a:t>definition of done as a checklist the agent must satisfy — and you can audit</a:t>
            </a:r>
            <a:endParaRPr lang="en-US" sz="930" dirty="0"/>
          </a:p>
        </p:txBody>
      </p:sp>
      <p:sp>
        <p:nvSpPr>
          <p:cNvPr id="39" name="Shape 37"/>
          <p:cNvSpPr/>
          <p:nvPr/>
        </p:nvSpPr>
        <p:spPr>
          <a:xfrm>
            <a:off x="6172200" y="5230368"/>
            <a:ext cx="5440680" cy="658368"/>
          </a:xfrm>
          <a:prstGeom prst="roundRect">
            <a:avLst>
              <a:gd name="adj" fmla="val 11111"/>
            </a:avLst>
          </a:prstGeom>
          <a:solidFill>
            <a:srgbClr val="F2F5F6"/>
          </a:solidFill>
          <a:ln/>
        </p:spPr>
      </p:sp>
      <p:sp>
        <p:nvSpPr>
          <p:cNvPr id="40" name="Text 38"/>
          <p:cNvSpPr/>
          <p:nvPr/>
        </p:nvSpPr>
        <p:spPr>
          <a:xfrm>
            <a:off x="6336792" y="5285232"/>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&lt;reporting&gt;</a:t>
            </a:r>
            <a:endParaRPr lang="en-US" sz="1050" dirty="0"/>
          </a:p>
        </p:txBody>
      </p:sp>
      <p:sp>
        <p:nvSpPr>
          <p:cNvPr id="41" name="Text 39"/>
          <p:cNvSpPr/>
          <p:nvPr/>
        </p:nvSpPr>
        <p:spPr>
          <a:xfrm>
            <a:off x="7982712" y="5276088"/>
            <a:ext cx="3520440" cy="566928"/>
          </a:xfrm>
          <a:prstGeom prst="rect">
            <a:avLst/>
          </a:prstGeom>
          <a:noFill/>
          <a:ln/>
        </p:spPr>
        <p:txBody>
          <a:bodyPr wrap="square" lIns="0" tIns="0" rIns="0" bIns="0" rtlCol="0" anchor="ctr"/>
          <a:lstStyle/>
          <a:p>
            <a:pPr indent="0" marL="0">
              <a:lnSpc>
                <a:spcPct val="98000"/>
              </a:lnSpc>
              <a:buNone/>
            </a:pPr>
            <a:r>
              <a:rPr lang="en-US" sz="930" dirty="0">
                <a:solidFill>
                  <a:srgbClr val="46545F"/>
                </a:solidFill>
                <a:latin typeface="Calibri" pitchFamily="34" charset="0"/>
                <a:ea typeface="Calibri" pitchFamily="34" charset="-122"/>
                <a:cs typeface="Calibri" pitchFamily="34" charset="-120"/>
              </a:rPr>
              <a:t>the exact shape of the final message: status, headline, evidence, open items</a:t>
            </a:r>
            <a:endParaRPr lang="en-US" sz="930" dirty="0"/>
          </a:p>
        </p:txBody>
      </p:sp>
      <p:sp>
        <p:nvSpPr>
          <p:cNvPr id="42" name="Shape 40"/>
          <p:cNvSpPr/>
          <p:nvPr/>
        </p:nvSpPr>
        <p:spPr>
          <a:xfrm>
            <a:off x="502920" y="5943600"/>
            <a:ext cx="11155680" cy="502920"/>
          </a:xfrm>
          <a:prstGeom prst="roundRect">
            <a:avLst>
              <a:gd name="adj" fmla="val 14545"/>
            </a:avLst>
          </a:prstGeom>
          <a:solidFill>
            <a:srgbClr val="E4F0EF"/>
          </a:solidFill>
          <a:ln/>
        </p:spPr>
      </p:sp>
      <p:sp>
        <p:nvSpPr>
          <p:cNvPr id="43" name="Shape 41"/>
          <p:cNvSpPr/>
          <p:nvPr/>
        </p:nvSpPr>
        <p:spPr>
          <a:xfrm>
            <a:off x="667512" y="6003036"/>
            <a:ext cx="384048" cy="384048"/>
          </a:xfrm>
          <a:prstGeom prst="ellipse">
            <a:avLst/>
          </a:prstGeom>
          <a:solidFill>
            <a:srgbClr val="0E7C7B"/>
          </a:solidFill>
          <a:ln/>
        </p:spPr>
      </p:sp>
      <p:pic>
        <p:nvPicPr>
          <p:cNvPr id="44" name="Image 0" descr="/home/user/Claude-Works/ai-training-prompt-engineering/src/assets/icons/check_w.png">    </p:cNvPr>
          <p:cNvPicPr>
            <a:picLocks noChangeAspect="1"/>
          </p:cNvPicPr>
          <p:nvPr/>
        </p:nvPicPr>
        <p:blipFill>
          <a:blip r:embed="rId1"/>
          <a:stretch>
            <a:fillRect/>
          </a:stretch>
        </p:blipFill>
        <p:spPr>
          <a:xfrm>
            <a:off x="767364" y="6102888"/>
            <a:ext cx="184343" cy="184343"/>
          </a:xfrm>
          <a:prstGeom prst="rect">
            <a:avLst/>
          </a:prstGeom>
        </p:spPr>
      </p:pic>
      <p:sp>
        <p:nvSpPr>
          <p:cNvPr id="45" name="Text 42"/>
          <p:cNvSpPr/>
          <p:nvPr/>
        </p:nvSpPr>
        <p:spPr>
          <a:xfrm>
            <a:off x="1216152" y="6016752"/>
            <a:ext cx="10213848" cy="356616"/>
          </a:xfrm>
          <a:prstGeom prst="rect">
            <a:avLst/>
          </a:prstGeom>
          <a:noFill/>
          <a:ln/>
        </p:spPr>
        <p:txBody>
          <a:bodyPr wrap="square" lIns="0" tIns="0" rIns="0" bIns="0" rtlCol="0" anchor="ctr"/>
          <a:lstStyle/>
          <a:p>
            <a:pPr indent="0" marL="0">
              <a:lnSpc>
                <a:spcPct val="106000"/>
              </a:lnSpc>
              <a:buNone/>
            </a:pPr>
            <a:r>
              <a:rPr lang="en-US" sz="1050" b="1" dirty="0">
                <a:solidFill>
                  <a:srgbClr val="0A5B5A"/>
                </a:solidFill>
                <a:latin typeface="Calibri" pitchFamily="34" charset="0"/>
                <a:ea typeface="Calibri" pitchFamily="34" charset="-122"/>
                <a:cs typeface="Calibri" pitchFamily="34" charset="-120"/>
              </a:rPr>
              <a:t>Grounding: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every block maps to vendor guidance — verifiable done-criteria, file boundaries, least-privilege tools, phased plans with approval, ask-before-irreversible, evidence over assertions.</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WORKED EXAMPLE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50</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TEMPLATE A2</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One prompt, five links: data in, defensible slide out</a:t>
            </a:r>
            <a:endParaRPr lang="en-US" sz="3000" dirty="0"/>
          </a:p>
        </p:txBody>
      </p:sp>
      <p:sp>
        <p:nvSpPr>
          <p:cNvPr id="6" name="Shape 4"/>
          <p:cNvSpPr/>
          <p:nvPr/>
        </p:nvSpPr>
        <p:spPr>
          <a:xfrm>
            <a:off x="502920" y="1554480"/>
            <a:ext cx="2103120" cy="2286000"/>
          </a:xfrm>
          <a:prstGeom prst="roundRect">
            <a:avLst>
              <a:gd name="adj" fmla="val 3478"/>
            </a:avLst>
          </a:prstGeom>
          <a:solidFill>
            <a:srgbClr val="F2F5F6"/>
          </a:solidFill>
          <a:ln/>
        </p:spPr>
      </p:sp>
      <p:sp>
        <p:nvSpPr>
          <p:cNvPr id="7" name="Shape 5"/>
          <p:cNvSpPr/>
          <p:nvPr/>
        </p:nvSpPr>
        <p:spPr>
          <a:xfrm>
            <a:off x="685800" y="1755648"/>
            <a:ext cx="457200" cy="457200"/>
          </a:xfrm>
          <a:prstGeom prst="ellipse">
            <a:avLst/>
          </a:prstGeom>
          <a:solidFill>
            <a:srgbClr val="0E7C7B"/>
          </a:solidFill>
          <a:ln/>
        </p:spPr>
      </p:sp>
      <p:pic>
        <p:nvPicPr>
          <p:cNvPr id="8" name="Image 0" descr="/home/user/Claude-Works/ai-training-prompt-engineering/src/assets/icons/inbox_w.png">    </p:cNvPr>
          <p:cNvPicPr>
            <a:picLocks noChangeAspect="1"/>
          </p:cNvPicPr>
          <p:nvPr/>
        </p:nvPicPr>
        <p:blipFill>
          <a:blip r:embed="rId1"/>
          <a:stretch>
            <a:fillRect/>
          </a:stretch>
        </p:blipFill>
        <p:spPr>
          <a:xfrm>
            <a:off x="804672" y="1874520"/>
            <a:ext cx="219456" cy="219456"/>
          </a:xfrm>
          <a:prstGeom prst="rect">
            <a:avLst/>
          </a:prstGeom>
        </p:spPr>
      </p:pic>
      <p:sp>
        <p:nvSpPr>
          <p:cNvPr id="9" name="Text 6"/>
          <p:cNvSpPr/>
          <p:nvPr/>
        </p:nvSpPr>
        <p:spPr>
          <a:xfrm>
            <a:off x="685800" y="2304288"/>
            <a:ext cx="17373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Extract</a:t>
            </a:r>
            <a:endParaRPr lang="en-US" sz="1350" dirty="0"/>
          </a:p>
        </p:txBody>
      </p:sp>
      <p:sp>
        <p:nvSpPr>
          <p:cNvPr id="10" name="Text 7"/>
          <p:cNvSpPr/>
          <p:nvPr/>
        </p:nvSpPr>
        <p:spPr>
          <a:xfrm>
            <a:off x="685800" y="2651760"/>
            <a:ext cx="1783080" cy="1097280"/>
          </a:xfrm>
          <a:prstGeom prst="rect">
            <a:avLst/>
          </a:prstGeom>
          <a:noFill/>
          <a:ln/>
        </p:spPr>
        <p:txBody>
          <a:bodyPr wrap="square" lIns="0" tIns="0" rIns="0" bIns="0" rtlCol="0" anchor="ctr"/>
          <a:lstStyle/>
          <a:p>
            <a:pPr indent="0" marL="0">
              <a:lnSpc>
                <a:spcPct val="105000"/>
              </a:lnSpc>
              <a:buNone/>
            </a:pPr>
            <a:r>
              <a:rPr lang="en-US" sz="930" dirty="0">
                <a:solidFill>
                  <a:srgbClr val="46545F"/>
                </a:solidFill>
                <a:latin typeface="Calibri" pitchFamily="34" charset="0"/>
                <a:ea typeface="Calibri" pitchFamily="34" charset="-122"/>
                <a:cs typeface="Calibri" pitchFamily="34" charset="-120"/>
              </a:rPr>
              <a:t>read-only; hash and profile every input; parse with explicit types; fix nothing yet</a:t>
            </a:r>
            <a:endParaRPr lang="en-US" sz="930" dirty="0"/>
          </a:p>
        </p:txBody>
      </p:sp>
      <p:sp>
        <p:nvSpPr>
          <p:cNvPr id="11" name="Shape 8"/>
          <p:cNvSpPr/>
          <p:nvPr/>
        </p:nvSpPr>
        <p:spPr>
          <a:xfrm>
            <a:off x="2624328" y="2651760"/>
            <a:ext cx="146304" cy="0"/>
          </a:xfrm>
          <a:prstGeom prst="line">
            <a:avLst/>
          </a:prstGeom>
          <a:noFill/>
          <a:ln w="28575">
            <a:solidFill>
              <a:srgbClr val="0E7C7B"/>
            </a:solidFill>
            <a:prstDash val="solid"/>
            <a:tailEnd type="triangle"/>
          </a:ln>
        </p:spPr>
      </p:sp>
      <p:sp>
        <p:nvSpPr>
          <p:cNvPr id="12" name="Shape 9"/>
          <p:cNvSpPr/>
          <p:nvPr/>
        </p:nvSpPr>
        <p:spPr>
          <a:xfrm>
            <a:off x="2788920" y="1554480"/>
            <a:ext cx="2103120" cy="2286000"/>
          </a:xfrm>
          <a:prstGeom prst="roundRect">
            <a:avLst>
              <a:gd name="adj" fmla="val 3478"/>
            </a:avLst>
          </a:prstGeom>
          <a:solidFill>
            <a:srgbClr val="F2F5F6"/>
          </a:solidFill>
          <a:ln/>
        </p:spPr>
      </p:sp>
      <p:sp>
        <p:nvSpPr>
          <p:cNvPr id="13" name="Shape 10"/>
          <p:cNvSpPr/>
          <p:nvPr/>
        </p:nvSpPr>
        <p:spPr>
          <a:xfrm>
            <a:off x="2971800" y="1755648"/>
            <a:ext cx="457200" cy="457200"/>
          </a:xfrm>
          <a:prstGeom prst="ellipse">
            <a:avLst/>
          </a:prstGeom>
          <a:solidFill>
            <a:srgbClr val="0E7C7B"/>
          </a:solidFill>
          <a:ln/>
        </p:spPr>
      </p:sp>
      <p:pic>
        <p:nvPicPr>
          <p:cNvPr id="14" name="Image 1" descr="/home/user/Claude-Works/ai-training-prompt-engineering/src/assets/icons/tool_w.png">    </p:cNvPr>
          <p:cNvPicPr>
            <a:picLocks noChangeAspect="1"/>
          </p:cNvPicPr>
          <p:nvPr/>
        </p:nvPicPr>
        <p:blipFill>
          <a:blip r:embed="rId2"/>
          <a:stretch>
            <a:fillRect/>
          </a:stretch>
        </p:blipFill>
        <p:spPr>
          <a:xfrm>
            <a:off x="3090672" y="1874520"/>
            <a:ext cx="219456" cy="219456"/>
          </a:xfrm>
          <a:prstGeom prst="rect">
            <a:avLst/>
          </a:prstGeom>
        </p:spPr>
      </p:pic>
      <p:sp>
        <p:nvSpPr>
          <p:cNvPr id="15" name="Text 11"/>
          <p:cNvSpPr/>
          <p:nvPr/>
        </p:nvSpPr>
        <p:spPr>
          <a:xfrm>
            <a:off x="2971800" y="2304288"/>
            <a:ext cx="17373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Transform</a:t>
            </a:r>
            <a:endParaRPr lang="en-US" sz="1350" dirty="0"/>
          </a:p>
        </p:txBody>
      </p:sp>
      <p:sp>
        <p:nvSpPr>
          <p:cNvPr id="16" name="Text 12"/>
          <p:cNvSpPr/>
          <p:nvPr/>
        </p:nvSpPr>
        <p:spPr>
          <a:xfrm>
            <a:off x="2971800" y="2651760"/>
            <a:ext cx="1783080" cy="1097280"/>
          </a:xfrm>
          <a:prstGeom prst="rect">
            <a:avLst/>
          </a:prstGeom>
          <a:noFill/>
          <a:ln/>
        </p:spPr>
        <p:txBody>
          <a:bodyPr wrap="square" lIns="0" tIns="0" rIns="0" bIns="0" rtlCol="0" anchor="ctr"/>
          <a:lstStyle/>
          <a:p>
            <a:pPr indent="0" marL="0">
              <a:lnSpc>
                <a:spcPct val="105000"/>
              </a:lnSpc>
              <a:buNone/>
            </a:pPr>
            <a:r>
              <a:rPr lang="en-US" sz="930" dirty="0">
                <a:solidFill>
                  <a:srgbClr val="46545F"/>
                </a:solidFill>
                <a:latin typeface="Calibri" pitchFamily="34" charset="0"/>
                <a:ea typeface="Calibri" pitchFamily="34" charset="-122"/>
                <a:cs typeface="Calibri" pitchFamily="34" charset="-120"/>
              </a:rPr>
              <a:t>one schema, ordered rules — each logged with rows affected; metrics defined as cards</a:t>
            </a:r>
            <a:endParaRPr lang="en-US" sz="930" dirty="0"/>
          </a:p>
        </p:txBody>
      </p:sp>
      <p:sp>
        <p:nvSpPr>
          <p:cNvPr id="17" name="Shape 13"/>
          <p:cNvSpPr/>
          <p:nvPr/>
        </p:nvSpPr>
        <p:spPr>
          <a:xfrm>
            <a:off x="4910328" y="2651760"/>
            <a:ext cx="146304" cy="0"/>
          </a:xfrm>
          <a:prstGeom prst="line">
            <a:avLst/>
          </a:prstGeom>
          <a:noFill/>
          <a:ln w="28575">
            <a:solidFill>
              <a:srgbClr val="0E7C7B"/>
            </a:solidFill>
            <a:prstDash val="solid"/>
            <a:tailEnd type="triangle"/>
          </a:ln>
        </p:spPr>
      </p:sp>
      <p:sp>
        <p:nvSpPr>
          <p:cNvPr id="18" name="Shape 14"/>
          <p:cNvSpPr/>
          <p:nvPr/>
        </p:nvSpPr>
        <p:spPr>
          <a:xfrm>
            <a:off x="5074920" y="1554480"/>
            <a:ext cx="2103120" cy="2286000"/>
          </a:xfrm>
          <a:prstGeom prst="roundRect">
            <a:avLst>
              <a:gd name="adj" fmla="val 3478"/>
            </a:avLst>
          </a:prstGeom>
          <a:solidFill>
            <a:srgbClr val="F2F5F6"/>
          </a:solidFill>
          <a:ln/>
        </p:spPr>
      </p:sp>
      <p:sp>
        <p:nvSpPr>
          <p:cNvPr id="19" name="Shape 15"/>
          <p:cNvSpPr/>
          <p:nvPr/>
        </p:nvSpPr>
        <p:spPr>
          <a:xfrm>
            <a:off x="5257800" y="1755648"/>
            <a:ext cx="457200" cy="457200"/>
          </a:xfrm>
          <a:prstGeom prst="ellipse">
            <a:avLst/>
          </a:prstGeom>
          <a:solidFill>
            <a:srgbClr val="0E7C7B"/>
          </a:solidFill>
          <a:ln/>
        </p:spPr>
      </p:sp>
      <p:pic>
        <p:nvPicPr>
          <p:cNvPr id="20" name="Image 2" descr="/home/user/Claude-Works/ai-training-prompt-engineering/src/assets/icons/check_w.png">    </p:cNvPr>
          <p:cNvPicPr>
            <a:picLocks noChangeAspect="1"/>
          </p:cNvPicPr>
          <p:nvPr/>
        </p:nvPicPr>
        <p:blipFill>
          <a:blip r:embed="rId3"/>
          <a:stretch>
            <a:fillRect/>
          </a:stretch>
        </p:blipFill>
        <p:spPr>
          <a:xfrm>
            <a:off x="5376672" y="1874520"/>
            <a:ext cx="219456" cy="219456"/>
          </a:xfrm>
          <a:prstGeom prst="rect">
            <a:avLst/>
          </a:prstGeom>
        </p:spPr>
      </p:pic>
      <p:sp>
        <p:nvSpPr>
          <p:cNvPr id="21" name="Text 16"/>
          <p:cNvSpPr/>
          <p:nvPr/>
        </p:nvSpPr>
        <p:spPr>
          <a:xfrm>
            <a:off x="5257800" y="2304288"/>
            <a:ext cx="17373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Validate</a:t>
            </a:r>
            <a:endParaRPr lang="en-US" sz="1350" dirty="0"/>
          </a:p>
        </p:txBody>
      </p:sp>
      <p:sp>
        <p:nvSpPr>
          <p:cNvPr id="22" name="Text 17"/>
          <p:cNvSpPr/>
          <p:nvPr/>
        </p:nvSpPr>
        <p:spPr>
          <a:xfrm>
            <a:off x="5257800" y="2651760"/>
            <a:ext cx="1783080" cy="1097280"/>
          </a:xfrm>
          <a:prstGeom prst="rect">
            <a:avLst/>
          </a:prstGeom>
          <a:noFill/>
          <a:ln/>
        </p:spPr>
        <p:txBody>
          <a:bodyPr wrap="square" lIns="0" tIns="0" rIns="0" bIns="0" rtlCol="0" anchor="ctr"/>
          <a:lstStyle/>
          <a:p>
            <a:pPr indent="0" marL="0">
              <a:lnSpc>
                <a:spcPct val="105000"/>
              </a:lnSpc>
              <a:buNone/>
            </a:pPr>
            <a:r>
              <a:rPr lang="en-US" sz="930" dirty="0">
                <a:solidFill>
                  <a:srgbClr val="46545F"/>
                </a:solidFill>
                <a:latin typeface="Calibri" pitchFamily="34" charset="0"/>
                <a:ea typeface="Calibri" pitchFamily="34" charset="-122"/>
                <a:cs typeface="Calibri" pitchFamily="34" charset="-120"/>
              </a:rPr>
              <a:t>reconcile to a known total; identities hold; HARD fail = STOP and report</a:t>
            </a:r>
            <a:endParaRPr lang="en-US" sz="930" dirty="0"/>
          </a:p>
        </p:txBody>
      </p:sp>
      <p:sp>
        <p:nvSpPr>
          <p:cNvPr id="23" name="Shape 18"/>
          <p:cNvSpPr/>
          <p:nvPr/>
        </p:nvSpPr>
        <p:spPr>
          <a:xfrm>
            <a:off x="7196328" y="2651760"/>
            <a:ext cx="146304" cy="0"/>
          </a:xfrm>
          <a:prstGeom prst="line">
            <a:avLst/>
          </a:prstGeom>
          <a:noFill/>
          <a:ln w="28575">
            <a:solidFill>
              <a:srgbClr val="0E7C7B"/>
            </a:solidFill>
            <a:prstDash val="solid"/>
            <a:tailEnd type="triangle"/>
          </a:ln>
        </p:spPr>
      </p:sp>
      <p:sp>
        <p:nvSpPr>
          <p:cNvPr id="24" name="Shape 19"/>
          <p:cNvSpPr/>
          <p:nvPr/>
        </p:nvSpPr>
        <p:spPr>
          <a:xfrm>
            <a:off x="7360920" y="1554480"/>
            <a:ext cx="2103120" cy="2286000"/>
          </a:xfrm>
          <a:prstGeom prst="roundRect">
            <a:avLst>
              <a:gd name="adj" fmla="val 3478"/>
            </a:avLst>
          </a:prstGeom>
          <a:solidFill>
            <a:srgbClr val="F2F5F6"/>
          </a:solidFill>
          <a:ln/>
        </p:spPr>
      </p:sp>
      <p:sp>
        <p:nvSpPr>
          <p:cNvPr id="25" name="Shape 20"/>
          <p:cNvSpPr/>
          <p:nvPr/>
        </p:nvSpPr>
        <p:spPr>
          <a:xfrm>
            <a:off x="7543800" y="1755648"/>
            <a:ext cx="457200" cy="457200"/>
          </a:xfrm>
          <a:prstGeom prst="ellipse">
            <a:avLst/>
          </a:prstGeom>
          <a:solidFill>
            <a:srgbClr val="0E7C7B"/>
          </a:solidFill>
          <a:ln/>
        </p:spPr>
      </p:sp>
      <p:pic>
        <p:nvPicPr>
          <p:cNvPr id="26" name="Image 3" descr="/home/user/Claude-Works/ai-training-prompt-engineering/src/assets/icons/chart_w.png">    </p:cNvPr>
          <p:cNvPicPr>
            <a:picLocks noChangeAspect="1"/>
          </p:cNvPicPr>
          <p:nvPr/>
        </p:nvPicPr>
        <p:blipFill>
          <a:blip r:embed="rId4"/>
          <a:stretch>
            <a:fillRect/>
          </a:stretch>
        </p:blipFill>
        <p:spPr>
          <a:xfrm>
            <a:off x="7662672" y="1874520"/>
            <a:ext cx="219456" cy="219456"/>
          </a:xfrm>
          <a:prstGeom prst="rect">
            <a:avLst/>
          </a:prstGeom>
        </p:spPr>
      </p:pic>
      <p:sp>
        <p:nvSpPr>
          <p:cNvPr id="27" name="Text 21"/>
          <p:cNvSpPr/>
          <p:nvPr/>
        </p:nvSpPr>
        <p:spPr>
          <a:xfrm>
            <a:off x="7543800" y="2304288"/>
            <a:ext cx="17373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Analyze</a:t>
            </a:r>
            <a:endParaRPr lang="en-US" sz="1350" dirty="0"/>
          </a:p>
        </p:txBody>
      </p:sp>
      <p:sp>
        <p:nvSpPr>
          <p:cNvPr id="28" name="Text 22"/>
          <p:cNvSpPr/>
          <p:nvPr/>
        </p:nvSpPr>
        <p:spPr>
          <a:xfrm>
            <a:off x="7543800" y="2651760"/>
            <a:ext cx="1783080" cy="1097280"/>
          </a:xfrm>
          <a:prstGeom prst="rect">
            <a:avLst/>
          </a:prstGeom>
          <a:noFill/>
          <a:ln/>
        </p:spPr>
        <p:txBody>
          <a:bodyPr wrap="square" lIns="0" tIns="0" rIns="0" bIns="0" rtlCol="0" anchor="ctr"/>
          <a:lstStyle/>
          <a:p>
            <a:pPr indent="0" marL="0">
              <a:lnSpc>
                <a:spcPct val="105000"/>
              </a:lnSpc>
              <a:buNone/>
            </a:pPr>
            <a:r>
              <a:rPr lang="en-US" sz="930" dirty="0">
                <a:solidFill>
                  <a:srgbClr val="46545F"/>
                </a:solidFill>
                <a:latin typeface="Calibri" pitchFamily="34" charset="0"/>
                <a:ea typeface="Calibri" pitchFamily="34" charset="-122"/>
                <a:cs typeface="Calibri" pitchFamily="34" charset="-120"/>
              </a:rPr>
              <a:t>answer the numbered questions, then stop; “associated with,” never “caused by”</a:t>
            </a:r>
            <a:endParaRPr lang="en-US" sz="930" dirty="0"/>
          </a:p>
        </p:txBody>
      </p:sp>
      <p:sp>
        <p:nvSpPr>
          <p:cNvPr id="29" name="Shape 23"/>
          <p:cNvSpPr/>
          <p:nvPr/>
        </p:nvSpPr>
        <p:spPr>
          <a:xfrm>
            <a:off x="9482328" y="2651760"/>
            <a:ext cx="146304" cy="0"/>
          </a:xfrm>
          <a:prstGeom prst="line">
            <a:avLst/>
          </a:prstGeom>
          <a:noFill/>
          <a:ln w="28575">
            <a:solidFill>
              <a:srgbClr val="0E7C7B"/>
            </a:solidFill>
            <a:prstDash val="solid"/>
            <a:tailEnd type="triangle"/>
          </a:ln>
        </p:spPr>
      </p:sp>
      <p:sp>
        <p:nvSpPr>
          <p:cNvPr id="30" name="Shape 24"/>
          <p:cNvSpPr/>
          <p:nvPr/>
        </p:nvSpPr>
        <p:spPr>
          <a:xfrm>
            <a:off x="9646920" y="1554480"/>
            <a:ext cx="2103120" cy="2286000"/>
          </a:xfrm>
          <a:prstGeom prst="roundRect">
            <a:avLst>
              <a:gd name="adj" fmla="val 3478"/>
            </a:avLst>
          </a:prstGeom>
          <a:solidFill>
            <a:srgbClr val="F2F5F6"/>
          </a:solidFill>
          <a:ln/>
        </p:spPr>
      </p:sp>
      <p:sp>
        <p:nvSpPr>
          <p:cNvPr id="31" name="Shape 25"/>
          <p:cNvSpPr/>
          <p:nvPr/>
        </p:nvSpPr>
        <p:spPr>
          <a:xfrm>
            <a:off x="9829800" y="1755648"/>
            <a:ext cx="457200" cy="457200"/>
          </a:xfrm>
          <a:prstGeom prst="ellipse">
            <a:avLst/>
          </a:prstGeom>
          <a:solidFill>
            <a:srgbClr val="0E7C7B"/>
          </a:solidFill>
          <a:ln/>
        </p:spPr>
      </p:sp>
      <p:pic>
        <p:nvPicPr>
          <p:cNvPr id="32" name="Image 4" descr="/home/user/Claude-Works/ai-training-prompt-engineering/src/assets/icons/layout_w.png">    </p:cNvPr>
          <p:cNvPicPr>
            <a:picLocks noChangeAspect="1"/>
          </p:cNvPicPr>
          <p:nvPr/>
        </p:nvPicPr>
        <p:blipFill>
          <a:blip r:embed="rId5"/>
          <a:stretch>
            <a:fillRect/>
          </a:stretch>
        </p:blipFill>
        <p:spPr>
          <a:xfrm>
            <a:off x="9948672" y="1874520"/>
            <a:ext cx="219456" cy="219456"/>
          </a:xfrm>
          <a:prstGeom prst="rect">
            <a:avLst/>
          </a:prstGeom>
        </p:spPr>
      </p:pic>
      <p:sp>
        <p:nvSpPr>
          <p:cNvPr id="33" name="Text 26"/>
          <p:cNvSpPr/>
          <p:nvPr/>
        </p:nvSpPr>
        <p:spPr>
          <a:xfrm>
            <a:off x="9829800" y="2304288"/>
            <a:ext cx="17373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Present</a:t>
            </a:r>
            <a:endParaRPr lang="en-US" sz="1350" dirty="0"/>
          </a:p>
        </p:txBody>
      </p:sp>
      <p:sp>
        <p:nvSpPr>
          <p:cNvPr id="34" name="Text 27"/>
          <p:cNvSpPr/>
          <p:nvPr/>
        </p:nvSpPr>
        <p:spPr>
          <a:xfrm>
            <a:off x="9829800" y="2651760"/>
            <a:ext cx="1783080" cy="1097280"/>
          </a:xfrm>
          <a:prstGeom prst="rect">
            <a:avLst/>
          </a:prstGeom>
          <a:noFill/>
          <a:ln/>
        </p:spPr>
        <p:txBody>
          <a:bodyPr wrap="square" lIns="0" tIns="0" rIns="0" bIns="0" rtlCol="0" anchor="ctr"/>
          <a:lstStyle/>
          <a:p>
            <a:pPr indent="0" marL="0">
              <a:lnSpc>
                <a:spcPct val="105000"/>
              </a:lnSpc>
              <a:buNone/>
            </a:pPr>
            <a:r>
              <a:rPr lang="en-US" sz="930" dirty="0">
                <a:solidFill>
                  <a:srgbClr val="46545F"/>
                </a:solidFill>
                <a:latin typeface="Calibri" pitchFamily="34" charset="0"/>
                <a:ea typeface="Calibri" pitchFamily="34" charset="-122"/>
                <a:cs typeface="Calibri" pitchFamily="34" charset="-120"/>
              </a:rPr>
              <a:t>headline titles with the number; n on every proportion; source + as-of footer</a:t>
            </a:r>
            <a:endParaRPr lang="en-US" sz="930" dirty="0"/>
          </a:p>
        </p:txBody>
      </p:sp>
      <p:sp>
        <p:nvSpPr>
          <p:cNvPr id="35" name="Shape 28"/>
          <p:cNvSpPr/>
          <p:nvPr/>
        </p:nvSpPr>
        <p:spPr>
          <a:xfrm>
            <a:off x="502920" y="4114800"/>
            <a:ext cx="3611880" cy="1325880"/>
          </a:xfrm>
          <a:prstGeom prst="roundRect">
            <a:avLst>
              <a:gd name="adj" fmla="val 5517"/>
            </a:avLst>
          </a:prstGeom>
          <a:solidFill>
            <a:srgbClr val="FBF0E0"/>
          </a:solidFill>
          <a:ln/>
        </p:spPr>
      </p:sp>
      <p:sp>
        <p:nvSpPr>
          <p:cNvPr id="36" name="Text 29"/>
          <p:cNvSpPr/>
          <p:nvPr/>
        </p:nvSpPr>
        <p:spPr>
          <a:xfrm>
            <a:off x="704088" y="4224528"/>
            <a:ext cx="3246120" cy="1143000"/>
          </a:xfrm>
          <a:prstGeom prst="rect">
            <a:avLst/>
          </a:prstGeom>
          <a:noFill/>
          <a:ln/>
        </p:spPr>
        <p:txBody>
          <a:bodyPr wrap="square" lIns="0" tIns="0" rIns="0" bIns="0" rtlCol="0" anchor="ctr"/>
          <a:lstStyle/>
          <a:p>
            <a:pPr indent="0" marL="0">
              <a:lnSpc>
                <a:spcPct val="105000"/>
              </a:lnSpc>
              <a:spcAft>
                <a:spcPts val="300"/>
              </a:spcAft>
              <a:buNone/>
            </a:pPr>
            <a:r>
              <a:rPr lang="en-US" sz="1200" b="1" dirty="0">
                <a:solidFill>
                  <a:srgbClr val="B96A1B"/>
                </a:solidFill>
                <a:latin typeface="Calibri" pitchFamily="34" charset="0"/>
                <a:ea typeface="Calibri" pitchFamily="34" charset="-122"/>
                <a:cs typeface="Calibri" pitchFamily="34" charset="-120"/>
              </a:rPr>
              <a:t>▶ GATE 1 · Definitions</a:t>
            </a:r>
            <a:endParaRPr lang="en-US" sz="1200" dirty="0"/>
          </a:p>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before any data is touched: the agent restates metrics, schema, assumptions — you confirm. Catches the wrong denominator for pennies.</a:t>
            </a:r>
            <a:endParaRPr lang="en-US" sz="1200" dirty="0"/>
          </a:p>
        </p:txBody>
      </p:sp>
      <p:sp>
        <p:nvSpPr>
          <p:cNvPr id="37" name="Shape 30"/>
          <p:cNvSpPr/>
          <p:nvPr/>
        </p:nvSpPr>
        <p:spPr>
          <a:xfrm>
            <a:off x="4325112" y="4114800"/>
            <a:ext cx="3611880" cy="1325880"/>
          </a:xfrm>
          <a:prstGeom prst="roundRect">
            <a:avLst>
              <a:gd name="adj" fmla="val 5517"/>
            </a:avLst>
          </a:prstGeom>
          <a:solidFill>
            <a:srgbClr val="FBF0E0"/>
          </a:solidFill>
          <a:ln/>
        </p:spPr>
      </p:sp>
      <p:sp>
        <p:nvSpPr>
          <p:cNvPr id="38" name="Text 31"/>
          <p:cNvSpPr/>
          <p:nvPr/>
        </p:nvSpPr>
        <p:spPr>
          <a:xfrm>
            <a:off x="4526280" y="4224528"/>
            <a:ext cx="3246120" cy="1143000"/>
          </a:xfrm>
          <a:prstGeom prst="rect">
            <a:avLst/>
          </a:prstGeom>
          <a:noFill/>
          <a:ln/>
        </p:spPr>
        <p:txBody>
          <a:bodyPr wrap="square" lIns="0" tIns="0" rIns="0" bIns="0" rtlCol="0" anchor="ctr"/>
          <a:lstStyle/>
          <a:p>
            <a:pPr indent="0" marL="0">
              <a:lnSpc>
                <a:spcPct val="105000"/>
              </a:lnSpc>
              <a:spcAft>
                <a:spcPts val="300"/>
              </a:spcAft>
              <a:buNone/>
            </a:pPr>
            <a:r>
              <a:rPr lang="en-US" sz="1200" b="1" dirty="0">
                <a:solidFill>
                  <a:srgbClr val="B96A1B"/>
                </a:solidFill>
                <a:latin typeface="Calibri" pitchFamily="34" charset="0"/>
                <a:ea typeface="Calibri" pitchFamily="34" charset="-122"/>
                <a:cs typeface="Calibri" pitchFamily="34" charset="-120"/>
              </a:rPr>
              <a:t>▶ GATE 2 · Reconciliation</a:t>
            </a:r>
            <a:endParaRPr lang="en-US" sz="1200" dirty="0"/>
          </a:p>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after transform: totals tie to a number you already trust. Any HARD check fails → the run stops, with the offending rows.</a:t>
            </a:r>
            <a:endParaRPr lang="en-US" sz="1200" dirty="0"/>
          </a:p>
        </p:txBody>
      </p:sp>
      <p:sp>
        <p:nvSpPr>
          <p:cNvPr id="39" name="Shape 32"/>
          <p:cNvSpPr/>
          <p:nvPr/>
        </p:nvSpPr>
        <p:spPr>
          <a:xfrm>
            <a:off x="8147304" y="4114800"/>
            <a:ext cx="3611880" cy="1325880"/>
          </a:xfrm>
          <a:prstGeom prst="roundRect">
            <a:avLst>
              <a:gd name="adj" fmla="val 5517"/>
            </a:avLst>
          </a:prstGeom>
          <a:solidFill>
            <a:srgbClr val="FBF0E0"/>
          </a:solidFill>
          <a:ln/>
        </p:spPr>
      </p:sp>
      <p:sp>
        <p:nvSpPr>
          <p:cNvPr id="40" name="Text 33"/>
          <p:cNvSpPr/>
          <p:nvPr/>
        </p:nvSpPr>
        <p:spPr>
          <a:xfrm>
            <a:off x="8348472" y="4224528"/>
            <a:ext cx="3246120" cy="1143000"/>
          </a:xfrm>
          <a:prstGeom prst="rect">
            <a:avLst/>
          </a:prstGeom>
          <a:noFill/>
          <a:ln/>
        </p:spPr>
        <p:txBody>
          <a:bodyPr wrap="square" lIns="0" tIns="0" rIns="0" bIns="0" rtlCol="0" anchor="ctr"/>
          <a:lstStyle/>
          <a:p>
            <a:pPr indent="0" marL="0">
              <a:lnSpc>
                <a:spcPct val="105000"/>
              </a:lnSpc>
              <a:spcAft>
                <a:spcPts val="300"/>
              </a:spcAft>
              <a:buNone/>
            </a:pPr>
            <a:r>
              <a:rPr lang="en-US" sz="1200" b="1" dirty="0">
                <a:solidFill>
                  <a:srgbClr val="B96A1B"/>
                </a:solidFill>
                <a:latin typeface="Calibri" pitchFamily="34" charset="0"/>
                <a:ea typeface="Calibri" pitchFamily="34" charset="-122"/>
                <a:cs typeface="Calibri" pitchFamily="34" charset="-120"/>
              </a:rPr>
              <a:t>▶ GATE 3 · Headlines</a:t>
            </a:r>
            <a:endParaRPr lang="en-US" sz="1200" dirty="0"/>
          </a:p>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before rendering: slide titles + bullets as plain text. Re-rendering is cheap; re-thinking a circulated deck is not.</a:t>
            </a:r>
            <a:endParaRPr lang="en-US" sz="1200" dirty="0"/>
          </a:p>
        </p:txBody>
      </p:sp>
      <p:sp>
        <p:nvSpPr>
          <p:cNvPr id="41" name="Shape 34"/>
          <p:cNvSpPr/>
          <p:nvPr/>
        </p:nvSpPr>
        <p:spPr>
          <a:xfrm>
            <a:off x="502920" y="5669280"/>
            <a:ext cx="11155680" cy="685800"/>
          </a:xfrm>
          <a:prstGeom prst="roundRect">
            <a:avLst>
              <a:gd name="adj" fmla="val 10667"/>
            </a:avLst>
          </a:prstGeom>
          <a:solidFill>
            <a:srgbClr val="E4F0EF"/>
          </a:solidFill>
          <a:ln/>
        </p:spPr>
      </p:sp>
      <p:sp>
        <p:nvSpPr>
          <p:cNvPr id="42" name="Shape 35"/>
          <p:cNvSpPr/>
          <p:nvPr/>
        </p:nvSpPr>
        <p:spPr>
          <a:xfrm>
            <a:off x="667512" y="5820156"/>
            <a:ext cx="384048" cy="384048"/>
          </a:xfrm>
          <a:prstGeom prst="ellipse">
            <a:avLst/>
          </a:prstGeom>
          <a:solidFill>
            <a:srgbClr val="0E7C7B"/>
          </a:solidFill>
          <a:ln/>
        </p:spPr>
      </p:sp>
      <p:pic>
        <p:nvPicPr>
          <p:cNvPr id="43" name="Image 5" descr="/home/user/Claude-Works/ai-training-prompt-engineering/src/assets/icons/zap_w.png">    </p:cNvPr>
          <p:cNvPicPr>
            <a:picLocks noChangeAspect="1"/>
          </p:cNvPicPr>
          <p:nvPr/>
        </p:nvPicPr>
        <p:blipFill>
          <a:blip r:embed="rId6"/>
          <a:stretch>
            <a:fillRect/>
          </a:stretch>
        </p:blipFill>
        <p:spPr>
          <a:xfrm>
            <a:off x="767364" y="5920008"/>
            <a:ext cx="184343" cy="184343"/>
          </a:xfrm>
          <a:prstGeom prst="rect">
            <a:avLst/>
          </a:prstGeom>
        </p:spPr>
      </p:pic>
      <p:sp>
        <p:nvSpPr>
          <p:cNvPr id="44" name="Text 36"/>
          <p:cNvSpPr/>
          <p:nvPr/>
        </p:nvSpPr>
        <p:spPr>
          <a:xfrm>
            <a:off x="1216152" y="5742432"/>
            <a:ext cx="10213848" cy="539496"/>
          </a:xfrm>
          <a:prstGeom prst="rect">
            <a:avLst/>
          </a:prstGeom>
          <a:noFill/>
          <a:ln/>
        </p:spPr>
        <p:txBody>
          <a:bodyPr wrap="square" lIns="0" tIns="0" rIns="0" bIns="0" rtlCol="0" anchor="ctr"/>
          <a:lstStyle/>
          <a:p>
            <a:pPr indent="0" marL="0">
              <a:lnSpc>
                <a:spcPct val="106000"/>
              </a:lnSpc>
              <a:buNone/>
            </a:pPr>
            <a:r>
              <a:rPr lang="en-US" sz="1200" b="1" dirty="0">
                <a:solidFill>
                  <a:srgbClr val="0A5B5A"/>
                </a:solidFill>
                <a:latin typeface="Calibri" pitchFamily="34" charset="0"/>
                <a:ea typeface="Calibri" pitchFamily="34" charset="-122"/>
                <a:cs typeface="Calibri" pitchFamily="34" charset="-120"/>
              </a:rPr>
              <a:t>Between gates: full autonomy. </a:t>
            </a:r>
            <a:pPr indent="0" marL="0">
              <a:lnSpc>
                <a:spcPct val="106000"/>
              </a:lnSpc>
              <a:buNone/>
            </a:pPr>
            <a:r>
              <a:rPr lang="en-US" sz="1200" dirty="0">
                <a:solidFill>
                  <a:srgbClr val="46545F"/>
                </a:solidFill>
                <a:latin typeface="Calibri" pitchFamily="34" charset="0"/>
                <a:ea typeface="Calibri" pitchFamily="34" charset="-122"/>
                <a:cs typeface="Calibri" pitchFamily="34" charset="-120"/>
              </a:rPr>
              <a:t>Ask only if: a HARD check fails · an input isn’t as described · a definition is ambiguous · a published number would change. Otherwise, proceed.</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GUARDRAILS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51</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WORKING SAFELY</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Arms need supervision: five rules for delegating</a:t>
            </a:r>
            <a:endParaRPr lang="en-US" sz="3000" dirty="0"/>
          </a:p>
        </p:txBody>
      </p:sp>
      <p:sp>
        <p:nvSpPr>
          <p:cNvPr id="6" name="Shape 4"/>
          <p:cNvSpPr/>
          <p:nvPr/>
        </p:nvSpPr>
        <p:spPr>
          <a:xfrm>
            <a:off x="502920" y="1527048"/>
            <a:ext cx="457200" cy="457200"/>
          </a:xfrm>
          <a:prstGeom prst="ellipse">
            <a:avLst/>
          </a:prstGeom>
          <a:solidFill>
            <a:srgbClr val="0E7C7B"/>
          </a:solidFill>
          <a:ln/>
        </p:spPr>
      </p:sp>
      <p:pic>
        <p:nvPicPr>
          <p:cNvPr id="7" name="Image 0" descr="/home/user/Claude-Works/ai-training-prompt-engineering/src/assets/icons/hand_w.png">    </p:cNvPr>
          <p:cNvPicPr>
            <a:picLocks noChangeAspect="1"/>
          </p:cNvPicPr>
          <p:nvPr/>
        </p:nvPicPr>
        <p:blipFill>
          <a:blip r:embed="rId1"/>
          <a:stretch>
            <a:fillRect/>
          </a:stretch>
        </p:blipFill>
        <p:spPr>
          <a:xfrm>
            <a:off x="621792" y="1645920"/>
            <a:ext cx="219456" cy="219456"/>
          </a:xfrm>
          <a:prstGeom prst="rect">
            <a:avLst/>
          </a:prstGeom>
        </p:spPr>
      </p:pic>
      <p:sp>
        <p:nvSpPr>
          <p:cNvPr id="8" name="Text 5"/>
          <p:cNvSpPr/>
          <p:nvPr/>
        </p:nvSpPr>
        <p:spPr>
          <a:xfrm>
            <a:off x="1161288" y="1435608"/>
            <a:ext cx="10497312" cy="896112"/>
          </a:xfrm>
          <a:prstGeom prst="rect">
            <a:avLst/>
          </a:prstGeom>
          <a:noFill/>
          <a:ln/>
        </p:spPr>
        <p:txBody>
          <a:bodyPr wrap="square" lIns="0" tIns="0" rIns="0" bIns="0" rtlCol="0" anchor="t"/>
          <a:lstStyle/>
          <a:p>
            <a:pPr algn="l" indent="0" marL="0">
              <a:lnSpc>
                <a:spcPct val="105000"/>
              </a:lnSpc>
              <a:spcAft>
                <a:spcPts val="200"/>
              </a:spcAft>
              <a:buNone/>
            </a:pPr>
            <a:r>
              <a:rPr lang="en-US" sz="1300" b="1" dirty="0">
                <a:solidFill>
                  <a:srgbClr val="232A31"/>
                </a:solidFill>
                <a:latin typeface="Calibri" pitchFamily="34" charset="0"/>
                <a:ea typeface="Calibri" pitchFamily="34" charset="-122"/>
                <a:cs typeface="Calibri" pitchFamily="34" charset="-120"/>
              </a:rPr>
              <a:t>Reversible? proceed. Irreversible? ask.</a:t>
            </a:r>
            <a:endParaRPr lang="en-US" sz="1300" dirty="0"/>
          </a:p>
          <a:p>
            <a:pPr algn="l" indent="0" marL="0">
              <a:lnSpc>
                <a:spcPct val="105000"/>
              </a:lnSpc>
              <a:buNone/>
            </a:pPr>
            <a:r>
              <a:rPr lang="en-US" sz="1080" dirty="0">
                <a:solidFill>
                  <a:srgbClr val="46545F"/>
                </a:solidFill>
                <a:latin typeface="Calibri" pitchFamily="34" charset="0"/>
                <a:ea typeface="Calibri" pitchFamily="34" charset="-122"/>
                <a:cs typeface="Calibri" pitchFamily="34" charset="-120"/>
              </a:rPr>
              <a:t>Edits in a scratch folder are reversible. Deleting, sending, publishing, overwriting a master — the prompt must say: stop and ask first.</a:t>
            </a:r>
            <a:endParaRPr lang="en-US" sz="1300" dirty="0"/>
          </a:p>
        </p:txBody>
      </p:sp>
      <p:sp>
        <p:nvSpPr>
          <p:cNvPr id="9" name="Shape 6"/>
          <p:cNvSpPr/>
          <p:nvPr/>
        </p:nvSpPr>
        <p:spPr>
          <a:xfrm>
            <a:off x="502920" y="2459736"/>
            <a:ext cx="457200" cy="457200"/>
          </a:xfrm>
          <a:prstGeom prst="ellipse">
            <a:avLst/>
          </a:prstGeom>
          <a:solidFill>
            <a:srgbClr val="0E7C7B"/>
          </a:solidFill>
          <a:ln/>
        </p:spPr>
      </p:sp>
      <p:pic>
        <p:nvPicPr>
          <p:cNvPr id="10" name="Image 1" descr="/home/user/Claude-Works/ai-training-prompt-engineering/src/assets/icons/key_w.png">    </p:cNvPr>
          <p:cNvPicPr>
            <a:picLocks noChangeAspect="1"/>
          </p:cNvPicPr>
          <p:nvPr/>
        </p:nvPicPr>
        <p:blipFill>
          <a:blip r:embed="rId2"/>
          <a:stretch>
            <a:fillRect/>
          </a:stretch>
        </p:blipFill>
        <p:spPr>
          <a:xfrm>
            <a:off x="621792" y="2578608"/>
            <a:ext cx="219456" cy="219456"/>
          </a:xfrm>
          <a:prstGeom prst="rect">
            <a:avLst/>
          </a:prstGeom>
        </p:spPr>
      </p:pic>
      <p:sp>
        <p:nvSpPr>
          <p:cNvPr id="11" name="Text 7"/>
          <p:cNvSpPr/>
          <p:nvPr/>
        </p:nvSpPr>
        <p:spPr>
          <a:xfrm>
            <a:off x="1161288" y="2368296"/>
            <a:ext cx="10497312" cy="896112"/>
          </a:xfrm>
          <a:prstGeom prst="rect">
            <a:avLst/>
          </a:prstGeom>
          <a:noFill/>
          <a:ln/>
        </p:spPr>
        <p:txBody>
          <a:bodyPr wrap="square" lIns="0" tIns="0" rIns="0" bIns="0" rtlCol="0" anchor="t"/>
          <a:lstStyle/>
          <a:p>
            <a:pPr algn="l" indent="0" marL="0">
              <a:lnSpc>
                <a:spcPct val="105000"/>
              </a:lnSpc>
              <a:spcAft>
                <a:spcPts val="200"/>
              </a:spcAft>
              <a:buNone/>
            </a:pPr>
            <a:r>
              <a:rPr lang="en-US" sz="1300" b="1" dirty="0">
                <a:solidFill>
                  <a:srgbClr val="232A31"/>
                </a:solidFill>
                <a:latin typeface="Calibri" pitchFamily="34" charset="0"/>
                <a:ea typeface="Calibri" pitchFamily="34" charset="-122"/>
                <a:cs typeface="Calibri" pitchFamily="34" charset="-120"/>
              </a:rPr>
              <a:t>Least privilege</a:t>
            </a:r>
            <a:endParaRPr lang="en-US" sz="1300" dirty="0"/>
          </a:p>
          <a:p>
            <a:pPr algn="l" indent="0" marL="0">
              <a:lnSpc>
                <a:spcPct val="105000"/>
              </a:lnSpc>
              <a:buNone/>
            </a:pPr>
            <a:r>
              <a:rPr lang="en-US" sz="1080" dirty="0">
                <a:solidFill>
                  <a:srgbClr val="46545F"/>
                </a:solidFill>
                <a:latin typeface="Calibri" pitchFamily="34" charset="0"/>
                <a:ea typeface="Calibri" pitchFamily="34" charset="-122"/>
                <a:cs typeface="Calibri" pitchFamily="34" charset="-120"/>
              </a:rPr>
              <a:t>Give the minimum access for the shortest time. UK NCSC: “If you cannot understand, monitor or contain an agent’s actions, it is not ready for deployment.”</a:t>
            </a:r>
            <a:endParaRPr lang="en-US" sz="1300" dirty="0"/>
          </a:p>
        </p:txBody>
      </p:sp>
      <p:sp>
        <p:nvSpPr>
          <p:cNvPr id="12" name="Shape 8"/>
          <p:cNvSpPr/>
          <p:nvPr/>
        </p:nvSpPr>
        <p:spPr>
          <a:xfrm>
            <a:off x="502920" y="3392424"/>
            <a:ext cx="457200" cy="457200"/>
          </a:xfrm>
          <a:prstGeom prst="ellipse">
            <a:avLst/>
          </a:prstGeom>
          <a:solidFill>
            <a:srgbClr val="AF3230"/>
          </a:solidFill>
          <a:ln/>
        </p:spPr>
      </p:sp>
      <p:pic>
        <p:nvPicPr>
          <p:cNvPr id="13" name="Image 2" descr="/home/user/Claude-Works/ai-training-prompt-engineering/src/assets/icons/alert_w.png">    </p:cNvPr>
          <p:cNvPicPr>
            <a:picLocks noChangeAspect="1"/>
          </p:cNvPicPr>
          <p:nvPr/>
        </p:nvPicPr>
        <p:blipFill>
          <a:blip r:embed="rId3"/>
          <a:stretch>
            <a:fillRect/>
          </a:stretch>
        </p:blipFill>
        <p:spPr>
          <a:xfrm>
            <a:off x="621792" y="3511296"/>
            <a:ext cx="219456" cy="219456"/>
          </a:xfrm>
          <a:prstGeom prst="rect">
            <a:avLst/>
          </a:prstGeom>
        </p:spPr>
      </p:pic>
      <p:sp>
        <p:nvSpPr>
          <p:cNvPr id="14" name="Text 9"/>
          <p:cNvSpPr/>
          <p:nvPr/>
        </p:nvSpPr>
        <p:spPr>
          <a:xfrm>
            <a:off x="1161288" y="3300984"/>
            <a:ext cx="10497312" cy="896112"/>
          </a:xfrm>
          <a:prstGeom prst="rect">
            <a:avLst/>
          </a:prstGeom>
          <a:noFill/>
          <a:ln/>
        </p:spPr>
        <p:txBody>
          <a:bodyPr wrap="square" lIns="0" tIns="0" rIns="0" bIns="0" rtlCol="0" anchor="t"/>
          <a:lstStyle/>
          <a:p>
            <a:pPr algn="l" indent="0" marL="0">
              <a:lnSpc>
                <a:spcPct val="105000"/>
              </a:lnSpc>
              <a:spcAft>
                <a:spcPts val="200"/>
              </a:spcAft>
              <a:buNone/>
            </a:pPr>
            <a:r>
              <a:rPr lang="en-US" sz="1300" b="1" dirty="0">
                <a:solidFill>
                  <a:srgbClr val="232A31"/>
                </a:solidFill>
                <a:latin typeface="Calibri" pitchFamily="34" charset="0"/>
                <a:ea typeface="Calibri" pitchFamily="34" charset="-122"/>
                <a:cs typeface="Calibri" pitchFamily="34" charset="-120"/>
              </a:rPr>
              <a:t>Prompt injection is real</a:t>
            </a:r>
            <a:endParaRPr lang="en-US" sz="1300" dirty="0"/>
          </a:p>
          <a:p>
            <a:pPr algn="l" indent="0" marL="0">
              <a:lnSpc>
                <a:spcPct val="105000"/>
              </a:lnSpc>
              <a:buNone/>
            </a:pPr>
            <a:r>
              <a:rPr lang="en-US" sz="1080" dirty="0">
                <a:solidFill>
                  <a:srgbClr val="46545F"/>
                </a:solidFill>
                <a:latin typeface="Calibri" pitchFamily="34" charset="0"/>
                <a:ea typeface="Calibri" pitchFamily="34" charset="-122"/>
                <a:cs typeface="Calibri" pitchFamily="34" charset="-120"/>
              </a:rPr>
              <a:t>Anything the agent reads — a web page, an emailed doc, a spreadsheet — can carry hostile instructions. Danger peaks when private data + untrusted content + outbound channels combine: break one leg of that trifecta.</a:t>
            </a:r>
            <a:endParaRPr lang="en-US" sz="1300" dirty="0"/>
          </a:p>
        </p:txBody>
      </p:sp>
      <p:sp>
        <p:nvSpPr>
          <p:cNvPr id="15" name="Shape 10"/>
          <p:cNvSpPr/>
          <p:nvPr/>
        </p:nvSpPr>
        <p:spPr>
          <a:xfrm>
            <a:off x="502920" y="4325112"/>
            <a:ext cx="457200" cy="457200"/>
          </a:xfrm>
          <a:prstGeom prst="ellipse">
            <a:avLst/>
          </a:prstGeom>
          <a:solidFill>
            <a:srgbClr val="AF3230"/>
          </a:solidFill>
          <a:ln/>
        </p:spPr>
      </p:sp>
      <p:pic>
        <p:nvPicPr>
          <p:cNvPr id="16" name="Image 3" descr="/home/user/Claude-Works/ai-training-prompt-engineering/src/assets/icons/package_w.png">    </p:cNvPr>
          <p:cNvPicPr>
            <a:picLocks noChangeAspect="1"/>
          </p:cNvPicPr>
          <p:nvPr/>
        </p:nvPicPr>
        <p:blipFill>
          <a:blip r:embed="rId4"/>
          <a:stretch>
            <a:fillRect/>
          </a:stretch>
        </p:blipFill>
        <p:spPr>
          <a:xfrm>
            <a:off x="621792" y="4443984"/>
            <a:ext cx="219456" cy="219456"/>
          </a:xfrm>
          <a:prstGeom prst="rect">
            <a:avLst/>
          </a:prstGeom>
        </p:spPr>
      </p:pic>
      <p:sp>
        <p:nvSpPr>
          <p:cNvPr id="17" name="Text 11"/>
          <p:cNvSpPr/>
          <p:nvPr/>
        </p:nvSpPr>
        <p:spPr>
          <a:xfrm>
            <a:off x="1161288" y="4233672"/>
            <a:ext cx="10497312" cy="896112"/>
          </a:xfrm>
          <a:prstGeom prst="rect">
            <a:avLst/>
          </a:prstGeom>
          <a:noFill/>
          <a:ln/>
        </p:spPr>
        <p:txBody>
          <a:bodyPr wrap="square" lIns="0" tIns="0" rIns="0" bIns="0" rtlCol="0" anchor="t"/>
          <a:lstStyle/>
          <a:p>
            <a:pPr algn="l" indent="0" marL="0">
              <a:lnSpc>
                <a:spcPct val="105000"/>
              </a:lnSpc>
              <a:spcAft>
                <a:spcPts val="200"/>
              </a:spcAft>
              <a:buNone/>
            </a:pPr>
            <a:r>
              <a:rPr lang="en-US" sz="1300" b="1" dirty="0">
                <a:solidFill>
                  <a:srgbClr val="232A31"/>
                </a:solidFill>
                <a:latin typeface="Calibri" pitchFamily="34" charset="0"/>
                <a:ea typeface="Calibri" pitchFamily="34" charset="-122"/>
                <a:cs typeface="Calibri" pitchFamily="34" charset="-120"/>
              </a:rPr>
              <a:t>Vet third-party “skills”</a:t>
            </a:r>
            <a:endParaRPr lang="en-US" sz="1300" dirty="0"/>
          </a:p>
          <a:p>
            <a:pPr algn="l" indent="0" marL="0">
              <a:lnSpc>
                <a:spcPct val="105000"/>
              </a:lnSpc>
              <a:buNone/>
            </a:pPr>
            <a:r>
              <a:rPr lang="en-US" sz="1080" dirty="0">
                <a:solidFill>
                  <a:srgbClr val="46545F"/>
                </a:solidFill>
                <a:latin typeface="Calibri" pitchFamily="34" charset="0"/>
                <a:ea typeface="Calibri" pitchFamily="34" charset="-122"/>
                <a:cs typeface="Calibri" pitchFamily="34" charset="-120"/>
              </a:rPr>
              <a:t>Community plugins are unsigned code + instructions. The #1-ranked community skill for one popular open agent was silently exfiltrating data (Cisco, Jan 2026). Treat skills like unqualified suppliers: inspect before install.</a:t>
            </a:r>
            <a:endParaRPr lang="en-US" sz="1300" dirty="0"/>
          </a:p>
        </p:txBody>
      </p:sp>
      <p:sp>
        <p:nvSpPr>
          <p:cNvPr id="18" name="Shape 12"/>
          <p:cNvSpPr/>
          <p:nvPr/>
        </p:nvSpPr>
        <p:spPr>
          <a:xfrm>
            <a:off x="502920" y="5257800"/>
            <a:ext cx="457200" cy="457200"/>
          </a:xfrm>
          <a:prstGeom prst="ellipse">
            <a:avLst/>
          </a:prstGeom>
          <a:solidFill>
            <a:srgbClr val="0E7C7B"/>
          </a:solidFill>
          <a:ln/>
        </p:spPr>
      </p:sp>
      <p:pic>
        <p:nvPicPr>
          <p:cNvPr id="19" name="Image 4" descr="/home/user/Claude-Works/ai-training-prompt-engineering/src/assets/icons/eye_w.png">    </p:cNvPr>
          <p:cNvPicPr>
            <a:picLocks noChangeAspect="1"/>
          </p:cNvPicPr>
          <p:nvPr/>
        </p:nvPicPr>
        <p:blipFill>
          <a:blip r:embed="rId5"/>
          <a:stretch>
            <a:fillRect/>
          </a:stretch>
        </p:blipFill>
        <p:spPr>
          <a:xfrm>
            <a:off x="621792" y="5376672"/>
            <a:ext cx="219456" cy="219456"/>
          </a:xfrm>
          <a:prstGeom prst="rect">
            <a:avLst/>
          </a:prstGeom>
        </p:spPr>
      </p:pic>
      <p:sp>
        <p:nvSpPr>
          <p:cNvPr id="20" name="Text 13"/>
          <p:cNvSpPr/>
          <p:nvPr/>
        </p:nvSpPr>
        <p:spPr>
          <a:xfrm>
            <a:off x="1161288" y="5166360"/>
            <a:ext cx="10497312" cy="896112"/>
          </a:xfrm>
          <a:prstGeom prst="rect">
            <a:avLst/>
          </a:prstGeom>
          <a:noFill/>
          <a:ln/>
        </p:spPr>
        <p:txBody>
          <a:bodyPr wrap="square" lIns="0" tIns="0" rIns="0" bIns="0" rtlCol="0" anchor="t"/>
          <a:lstStyle/>
          <a:p>
            <a:pPr algn="l" indent="0" marL="0">
              <a:lnSpc>
                <a:spcPct val="105000"/>
              </a:lnSpc>
              <a:spcAft>
                <a:spcPts val="200"/>
              </a:spcAft>
              <a:buNone/>
            </a:pPr>
            <a:r>
              <a:rPr lang="en-US" sz="1300" b="1" dirty="0">
                <a:solidFill>
                  <a:srgbClr val="232A31"/>
                </a:solidFill>
                <a:latin typeface="Calibri" pitchFamily="34" charset="0"/>
                <a:ea typeface="Calibri" pitchFamily="34" charset="-122"/>
                <a:cs typeface="Calibri" pitchFamily="34" charset="-120"/>
              </a:rPr>
              <a:t>Demand evidence, not assertions</a:t>
            </a:r>
            <a:endParaRPr lang="en-US" sz="1300" dirty="0"/>
          </a:p>
          <a:p>
            <a:pPr algn="l" indent="0" marL="0">
              <a:lnSpc>
                <a:spcPct val="105000"/>
              </a:lnSpc>
              <a:buNone/>
            </a:pPr>
            <a:r>
              <a:rPr lang="en-US" sz="1080" dirty="0">
                <a:solidFill>
                  <a:srgbClr val="46545F"/>
                </a:solidFill>
                <a:latin typeface="Calibri" pitchFamily="34" charset="0"/>
                <a:ea typeface="Calibri" pitchFamily="34" charset="-122"/>
                <a:cs typeface="Calibri" pitchFamily="34" charset="-120"/>
              </a:rPr>
              <a:t>“Done” means: the check it ran, the output it got, the file re-opened and verified. Spot-check agent work like any new hire’s — trust grows with track record.</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STANDING MEMORY</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52</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TEMPLATES A3 + A4</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Write the brief once — the workspace remembers</a:t>
            </a:r>
            <a:endParaRPr lang="en-US" sz="3000" dirty="0"/>
          </a:p>
        </p:txBody>
      </p:sp>
      <p:sp>
        <p:nvSpPr>
          <p:cNvPr id="6" name="Shape 4"/>
          <p:cNvSpPr/>
          <p:nvPr/>
        </p:nvSpPr>
        <p:spPr>
          <a:xfrm>
            <a:off x="502920" y="1508760"/>
            <a:ext cx="5486400" cy="4526280"/>
          </a:xfrm>
          <a:prstGeom prst="roundRect">
            <a:avLst>
              <a:gd name="adj" fmla="val 1616"/>
            </a:avLst>
          </a:prstGeom>
          <a:solidFill>
            <a:srgbClr val="F2F5F6"/>
          </a:solidFill>
          <a:ln/>
        </p:spPr>
      </p:sp>
      <p:sp>
        <p:nvSpPr>
          <p:cNvPr id="7" name="Text 5"/>
          <p:cNvSpPr/>
          <p:nvPr/>
        </p:nvSpPr>
        <p:spPr>
          <a:xfrm>
            <a:off x="777240" y="1719072"/>
            <a:ext cx="4846320" cy="365760"/>
          </a:xfrm>
          <a:prstGeom prst="rect">
            <a:avLst/>
          </a:prstGeom>
          <a:noFill/>
          <a:ln/>
        </p:spPr>
        <p:txBody>
          <a:bodyPr wrap="square" lIns="0" tIns="0" rIns="0" bIns="0" rtlCol="0" anchor="ctr"/>
          <a:lstStyle/>
          <a:p>
            <a:pPr indent="0" marL="0">
              <a:buNone/>
            </a:pPr>
            <a:r>
              <a:rPr lang="en-US" sz="1450" b="1" dirty="0">
                <a:solidFill>
                  <a:srgbClr val="0A5B5A"/>
                </a:solidFill>
                <a:latin typeface="Cambria" pitchFamily="34" charset="0"/>
                <a:ea typeface="Cambria" pitchFamily="34" charset="-122"/>
                <a:cs typeface="Cambria" pitchFamily="34" charset="-120"/>
              </a:rPr>
              <a:t>A4 · CLAUDE.md / project instructions</a:t>
            </a:r>
            <a:endParaRPr lang="en-US" sz="1450" dirty="0"/>
          </a:p>
        </p:txBody>
      </p:sp>
      <p:sp>
        <p:nvSpPr>
          <p:cNvPr id="8" name="Text 6"/>
          <p:cNvSpPr/>
          <p:nvPr/>
        </p:nvSpPr>
        <p:spPr>
          <a:xfrm>
            <a:off x="822960" y="2194560"/>
            <a:ext cx="4937760" cy="365760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A file the agent reads at the start of every session — the onboarding packet for your workspace</a:t>
            </a:r>
            <a:endParaRPr lang="en-US" sz="1150" dirty="0"/>
          </a:p>
          <a:p>
            <a:pPr algn="l" marL="127000" indent="-127000">
              <a:lnSpc>
                <a:spcPct val="104000"/>
              </a:lnSpc>
              <a:spcAft>
                <a:spcPts val="700"/>
              </a:spcAft>
              <a:buSzPct val="100000"/>
              <a:buChar char="•"/>
            </a:pPr>
            <a:r>
              <a:rPr lang="en-US" sz="1150" b="1" dirty="0">
                <a:solidFill>
                  <a:srgbClr val="46545F"/>
                </a:solidFill>
                <a:latin typeface="Calibri" pitchFamily="34" charset="0"/>
                <a:ea typeface="Calibri" pitchFamily="34" charset="-122"/>
                <a:cs typeface="Calibri" pitchFamily="34" charset="-120"/>
              </a:rPr>
              <a:t>Include: folder layout &amp; read/write boundaries · conventions · standing rules &amp; ask-first list · known data quirks</a:t>
            </a:r>
            <a:endParaRPr lang="en-US" sz="1150" dirty="0"/>
          </a:p>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Exclude: anything it can infer by reading the files, tutorials, stale details</a:t>
            </a:r>
            <a:endParaRPr lang="en-US" sz="1150" dirty="0"/>
          </a:p>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Keep it ≤ ~60 lines. Per line ask: “would removing this cause mistakes?” If not, cut — bloat drowns your real instructions</a:t>
            </a:r>
            <a:endParaRPr lang="en-US" sz="1150" dirty="0"/>
          </a:p>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Never: credentials, personal data. It’s read every session and lives in history</a:t>
            </a:r>
            <a:endParaRPr lang="en-US" sz="1150" dirty="0"/>
          </a:p>
        </p:txBody>
      </p:sp>
      <p:sp>
        <p:nvSpPr>
          <p:cNvPr id="9" name="Shape 7"/>
          <p:cNvSpPr/>
          <p:nvPr/>
        </p:nvSpPr>
        <p:spPr>
          <a:xfrm>
            <a:off x="6172200" y="1508760"/>
            <a:ext cx="5486400" cy="4526280"/>
          </a:xfrm>
          <a:prstGeom prst="roundRect">
            <a:avLst>
              <a:gd name="adj" fmla="val 1616"/>
            </a:avLst>
          </a:prstGeom>
          <a:solidFill>
            <a:srgbClr val="E4F0EF"/>
          </a:solidFill>
          <a:ln/>
        </p:spPr>
      </p:sp>
      <p:sp>
        <p:nvSpPr>
          <p:cNvPr id="10" name="Text 8"/>
          <p:cNvSpPr/>
          <p:nvPr/>
        </p:nvSpPr>
        <p:spPr>
          <a:xfrm>
            <a:off x="6446520" y="1719072"/>
            <a:ext cx="4846320" cy="365760"/>
          </a:xfrm>
          <a:prstGeom prst="rect">
            <a:avLst/>
          </a:prstGeom>
          <a:noFill/>
          <a:ln/>
        </p:spPr>
        <p:txBody>
          <a:bodyPr wrap="square" lIns="0" tIns="0" rIns="0" bIns="0" rtlCol="0" anchor="ctr"/>
          <a:lstStyle/>
          <a:p>
            <a:pPr indent="0" marL="0">
              <a:buNone/>
            </a:pPr>
            <a:r>
              <a:rPr lang="en-US" sz="1450" b="1" dirty="0">
                <a:solidFill>
                  <a:srgbClr val="0A5B5A"/>
                </a:solidFill>
                <a:latin typeface="Cambria" pitchFamily="34" charset="0"/>
                <a:ea typeface="Cambria" pitchFamily="34" charset="-122"/>
                <a:cs typeface="Cambria" pitchFamily="34" charset="-120"/>
              </a:rPr>
              <a:t>A3 · Reuse by diff</a:t>
            </a:r>
            <a:endParaRPr lang="en-US" sz="1450" dirty="0"/>
          </a:p>
        </p:txBody>
      </p:sp>
      <p:sp>
        <p:nvSpPr>
          <p:cNvPr id="11" name="Text 9"/>
          <p:cNvSpPr/>
          <p:nvPr/>
        </p:nvSpPr>
        <p:spPr>
          <a:xfrm>
            <a:off x="6492240" y="2194560"/>
            <a:ext cx="4937760" cy="365760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The economics of agentic prompting: the full mission brief is written once, stored in the workspace</a:t>
            </a:r>
            <a:endParaRPr lang="en-US" sz="1150" dirty="0"/>
          </a:p>
          <a:p>
            <a:pPr algn="l" marL="127000" indent="-127000">
              <a:lnSpc>
                <a:spcPct val="104000"/>
              </a:lnSpc>
              <a:spcAft>
                <a:spcPts val="700"/>
              </a:spcAft>
              <a:buSzPct val="100000"/>
              <a:buChar char="•"/>
            </a:pPr>
            <a:r>
              <a:rPr lang="en-US" sz="1150" b="1" dirty="0">
                <a:solidFill>
                  <a:srgbClr val="46545F"/>
                </a:solidFill>
                <a:latin typeface="Calibri" pitchFamily="34" charset="0"/>
                <a:ea typeface="Calibri" pitchFamily="34" charset="-122"/>
                <a:cs typeface="Calibri" pitchFamily="34" charset="-120"/>
              </a:rPr>
              <a:t>Each cycle’s prompt is then ten lines: new input paths, the as-of date, deltas to watch, this cycle’s extra gate</a:t>
            </a:r>
            <a:endParaRPr lang="en-US" sz="1150" dirty="0"/>
          </a:p>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Delta reporting: compare every headline metric to last cycle; moves beyond threshold get one-line explanations</a:t>
            </a:r>
            <a:endParaRPr lang="en-US" sz="1150" dirty="0"/>
          </a:p>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When a definition changes at a gate — update the standing brief in the same session, log it in CHANGES.md</a:t>
            </a:r>
            <a:endParaRPr lang="en-US" sz="1150" dirty="0"/>
          </a:p>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After two “just this once” exceptions, fold them into the brief</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THREE-MINUTE REP · PART 5</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53</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THREE-MINUTE REP</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Write one gate</a:t>
            </a:r>
            <a:endParaRPr lang="en-US" sz="3000" dirty="0"/>
          </a:p>
        </p:txBody>
      </p:sp>
      <p:sp>
        <p:nvSpPr>
          <p:cNvPr id="6" name="Shape 4"/>
          <p:cNvSpPr/>
          <p:nvPr/>
        </p:nvSpPr>
        <p:spPr>
          <a:xfrm>
            <a:off x="10314432" y="365760"/>
            <a:ext cx="384048" cy="384048"/>
          </a:xfrm>
          <a:prstGeom prst="ellipse">
            <a:avLst/>
          </a:prstGeom>
          <a:solidFill>
            <a:srgbClr val="0E7C7B"/>
          </a:solidFill>
          <a:ln/>
        </p:spPr>
      </p:sp>
      <p:pic>
        <p:nvPicPr>
          <p:cNvPr id="7" name="Image 0" descr="/home/user/Claude-Works/ai-training-prompt-engineering/src/assets/icons/clock_w.png">    </p:cNvPr>
          <p:cNvPicPr>
            <a:picLocks noChangeAspect="1"/>
          </p:cNvPicPr>
          <p:nvPr/>
        </p:nvPicPr>
        <p:blipFill>
          <a:blip r:embed="rId1"/>
          <a:stretch>
            <a:fillRect/>
          </a:stretch>
        </p:blipFill>
        <p:spPr>
          <a:xfrm>
            <a:off x="10414284" y="465612"/>
            <a:ext cx="184343" cy="184343"/>
          </a:xfrm>
          <a:prstGeom prst="rect">
            <a:avLst/>
          </a:prstGeom>
        </p:spPr>
      </p:pic>
      <p:sp>
        <p:nvSpPr>
          <p:cNvPr id="8" name="Text 5"/>
          <p:cNvSpPr/>
          <p:nvPr/>
        </p:nvSpPr>
        <p:spPr>
          <a:xfrm>
            <a:off x="10771632" y="402336"/>
            <a:ext cx="868680" cy="329184"/>
          </a:xfrm>
          <a:prstGeom prst="rect">
            <a:avLst/>
          </a:prstGeom>
          <a:noFill/>
          <a:ln/>
        </p:spPr>
        <p:txBody>
          <a:bodyPr wrap="square" lIns="0" tIns="0" rIns="0" bIns="0" rtlCol="0" anchor="ctr"/>
          <a:lstStyle/>
          <a:p>
            <a:pPr indent="0" marL="0">
              <a:buNone/>
            </a:pPr>
            <a:r>
              <a:rPr lang="en-US" sz="1600" b="1" dirty="0">
                <a:solidFill>
                  <a:srgbClr val="0E7C7B"/>
                </a:solidFill>
                <a:latin typeface="Cambria" pitchFamily="34" charset="0"/>
                <a:ea typeface="Cambria" pitchFamily="34" charset="-122"/>
                <a:cs typeface="Cambria" pitchFamily="34" charset="-120"/>
              </a:rPr>
              <a:t>3:00</a:t>
            </a:r>
            <a:endParaRPr lang="en-US" sz="1600" dirty="0"/>
          </a:p>
        </p:txBody>
      </p:sp>
      <p:sp>
        <p:nvSpPr>
          <p:cNvPr id="9" name="Shape 6"/>
          <p:cNvSpPr/>
          <p:nvPr/>
        </p:nvSpPr>
        <p:spPr>
          <a:xfrm>
            <a:off x="502920" y="1600200"/>
            <a:ext cx="6766560" cy="3108960"/>
          </a:xfrm>
          <a:prstGeom prst="roundRect">
            <a:avLst>
              <a:gd name="adj" fmla="val 2353"/>
            </a:avLst>
          </a:prstGeom>
          <a:solidFill>
            <a:srgbClr val="E4F0EF"/>
          </a:solidFill>
          <a:ln/>
        </p:spPr>
      </p:sp>
      <p:sp>
        <p:nvSpPr>
          <p:cNvPr id="10" name="Text 7"/>
          <p:cNvSpPr/>
          <p:nvPr/>
        </p:nvSpPr>
        <p:spPr>
          <a:xfrm>
            <a:off x="822960" y="1874520"/>
            <a:ext cx="6035040" cy="2651760"/>
          </a:xfrm>
          <a:prstGeom prst="rect">
            <a:avLst/>
          </a:prstGeom>
          <a:noFill/>
          <a:ln/>
        </p:spPr>
        <p:txBody>
          <a:bodyPr wrap="square" lIns="0" tIns="0" rIns="0" bIns="0" rtlCol="0" anchor="t"/>
          <a:lstStyle/>
          <a:p>
            <a:pPr algn="l" marL="127000" indent="-127000">
              <a:lnSpc>
                <a:spcPct val="104000"/>
              </a:lnSpc>
              <a:spcAft>
                <a:spcPts val="1000"/>
              </a:spcAft>
              <a:buSzPct val="100000"/>
              <a:buChar char="•"/>
            </a:pPr>
            <a:r>
              <a:rPr lang="en-US" sz="1300" b="1" dirty="0">
                <a:solidFill>
                  <a:srgbClr val="46545F"/>
                </a:solidFill>
                <a:latin typeface="Calibri" pitchFamily="34" charset="0"/>
                <a:ea typeface="Calibri" pitchFamily="34" charset="-122"/>
                <a:cs typeface="Calibri" pitchFamily="34" charset="-120"/>
              </a:rPr>
              <a:t>Think of one job you would delegate to an agent — a recurring report, a folder to process.</a:t>
            </a:r>
            <a:endParaRPr lang="en-US" sz="1300" dirty="0"/>
          </a:p>
          <a:p>
            <a:pPr algn="l" marL="127000" indent="-127000">
              <a:lnSpc>
                <a:spcPct val="104000"/>
              </a:lnSpc>
              <a:spcAft>
                <a:spcPts val="1000"/>
              </a:spcAft>
              <a:buSzPct val="100000"/>
              <a:buChar char="•"/>
            </a:pPr>
            <a:r>
              <a:rPr lang="en-US" sz="1300" dirty="0">
                <a:solidFill>
                  <a:srgbClr val="46545F"/>
                </a:solidFill>
                <a:latin typeface="Calibri" pitchFamily="34" charset="0"/>
                <a:ea typeface="Calibri" pitchFamily="34" charset="-122"/>
                <a:cs typeface="Calibri" pitchFamily="34" charset="-120"/>
              </a:rPr>
              <a:t>Write its GATE 1 line: what must you confirm before it touches anything?</a:t>
            </a:r>
            <a:endParaRPr lang="en-US" sz="1300" dirty="0"/>
          </a:p>
          <a:p>
            <a:pPr algn="l" marL="127000" indent="-127000">
              <a:lnSpc>
                <a:spcPct val="104000"/>
              </a:lnSpc>
              <a:spcAft>
                <a:spcPts val="1000"/>
              </a:spcAft>
              <a:buSzPct val="100000"/>
              <a:buChar char="•"/>
            </a:pPr>
            <a:r>
              <a:rPr lang="en-US" sz="1300" dirty="0">
                <a:solidFill>
                  <a:srgbClr val="46545F"/>
                </a:solidFill>
                <a:latin typeface="Calibri" pitchFamily="34" charset="0"/>
                <a:ea typeface="Calibri" pitchFamily="34" charset="-122"/>
                <a:cs typeface="Calibri" pitchFamily="34" charset="-120"/>
              </a:rPr>
              <a:t>Write one HARD check: an equality the agent can actually evaluate, anchored to a number you already trust.</a:t>
            </a:r>
            <a:endParaRPr lang="en-US" sz="1300" dirty="0"/>
          </a:p>
        </p:txBody>
      </p:sp>
      <p:sp>
        <p:nvSpPr>
          <p:cNvPr id="11" name="Shape 8"/>
          <p:cNvSpPr/>
          <p:nvPr/>
        </p:nvSpPr>
        <p:spPr>
          <a:xfrm>
            <a:off x="7543800" y="1600200"/>
            <a:ext cx="4114800" cy="3108960"/>
          </a:xfrm>
          <a:prstGeom prst="roundRect">
            <a:avLst>
              <a:gd name="adj" fmla="val 2353"/>
            </a:avLst>
          </a:prstGeom>
          <a:solidFill>
            <a:srgbClr val="F2F5F6"/>
          </a:solidFill>
          <a:ln/>
        </p:spPr>
      </p:sp>
      <p:sp>
        <p:nvSpPr>
          <p:cNvPr id="12" name="Text 9"/>
          <p:cNvSpPr/>
          <p:nvPr/>
        </p:nvSpPr>
        <p:spPr>
          <a:xfrm>
            <a:off x="7790688" y="1783080"/>
            <a:ext cx="3611880" cy="2743200"/>
          </a:xfrm>
          <a:prstGeom prst="rect">
            <a:avLst/>
          </a:prstGeom>
          <a:noFill/>
          <a:ln/>
        </p:spPr>
        <p:txBody>
          <a:bodyPr wrap="square" lIns="0" tIns="0" rIns="0" bIns="0" rtlCol="0" anchor="ctr"/>
          <a:lstStyle/>
          <a:p>
            <a:pPr indent="0" marL="0">
              <a:lnSpc>
                <a:spcPct val="112000"/>
              </a:lnSpc>
              <a:spcAft>
                <a:spcPts val="500"/>
              </a:spcAft>
              <a:buNone/>
            </a:pPr>
            <a:r>
              <a:rPr lang="en-US" sz="1150" b="1" dirty="0">
                <a:solidFill>
                  <a:srgbClr val="232A31"/>
                </a:solidFill>
                <a:latin typeface="Calibri" pitchFamily="34" charset="0"/>
                <a:ea typeface="Calibri" pitchFamily="34" charset="-122"/>
                <a:cs typeface="Calibri" pitchFamily="34" charset="-120"/>
              </a:rPr>
              <a:t>Shape to aim for (presenter)</a:t>
            </a:r>
            <a:endParaRPr lang="en-US" sz="1150" dirty="0"/>
          </a:p>
          <a:p>
            <a:pPr indent="0" marL="0">
              <a:lnSpc>
                <a:spcPct val="112000"/>
              </a:lnSpc>
              <a:buNone/>
            </a:pPr>
            <a:r>
              <a:rPr lang="en-US" sz="1100" i="1" dirty="0">
                <a:solidFill>
                  <a:srgbClr val="46545F"/>
                </a:solidFill>
                <a:latin typeface="Calibri" pitchFamily="34" charset="0"/>
                <a:ea typeface="Calibri" pitchFamily="34" charset="-122"/>
                <a:cs typeface="Calibri" pitchFamily="34" charset="-120"/>
              </a:rPr>
              <a:t>“GATE 1: restate the metric definitions and the file layout; wait for my OK.”</a:t>
            </a:r>
            <a:endParaRPr lang="en-US" sz="1150" dirty="0"/>
          </a:p>
          <a:p>
            <a:pPr indent="0" marL="0">
              <a:lnSpc>
                <a:spcPct val="112000"/>
              </a:lnSpc>
              <a:buNone/>
            </a:pPr>
            <a:endParaRPr lang="en-US" sz="1150" dirty="0"/>
          </a:p>
          <a:p>
            <a:pPr indent="0" marL="0">
              <a:lnSpc>
                <a:spcPct val="112000"/>
              </a:lnSpc>
              <a:buNone/>
            </a:pPr>
            <a:r>
              <a:rPr lang="en-US" sz="1100" i="1" dirty="0">
                <a:solidFill>
                  <a:srgbClr val="46545F"/>
                </a:solidFill>
                <a:latin typeface="Calibri" pitchFamily="34" charset="0"/>
                <a:ea typeface="Calibri" pitchFamily="34" charset="-122"/>
                <a:cs typeface="Calibri" pitchFamily="34" charset="-120"/>
              </a:rPr>
              <a:t>“HARD: computed totals must equal last cycle’s published total exactly.”</a:t>
            </a:r>
            <a:endParaRPr lang="en-US" sz="1150" dirty="0"/>
          </a:p>
        </p:txBody>
      </p:sp>
      <p:sp>
        <p:nvSpPr>
          <p:cNvPr id="13" name="Text 10"/>
          <p:cNvSpPr/>
          <p:nvPr/>
        </p:nvSpPr>
        <p:spPr>
          <a:xfrm>
            <a:off x="502920" y="4983480"/>
            <a:ext cx="11155680" cy="320040"/>
          </a:xfrm>
          <a:prstGeom prst="rect">
            <a:avLst/>
          </a:prstGeom>
          <a:noFill/>
          <a:ln/>
        </p:spPr>
        <p:txBody>
          <a:bodyPr wrap="square" lIns="0" tIns="0" rIns="0" bIns="0" rtlCol="0" anchor="ctr"/>
          <a:lstStyle/>
          <a:p>
            <a:pPr indent="0" marL="0">
              <a:buNone/>
            </a:pPr>
            <a:r>
              <a:rPr lang="en-US" sz="1050" i="1" dirty="0">
                <a:solidFill>
                  <a:srgbClr val="7A8790"/>
                </a:solidFill>
                <a:latin typeface="Calibri" pitchFamily="34" charset="0"/>
                <a:ea typeface="Calibri" pitchFamily="34" charset="-122"/>
                <a:cs typeface="Calibri" pitchFamily="34" charset="-120"/>
              </a:rPr>
              <a:t>Skippable if running long — the A1 template carries the full scaffold.</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A9BBC4"/>
                </a:solidFill>
                <a:latin typeface="Calibri" pitchFamily="34" charset="0"/>
                <a:ea typeface="Calibri" pitchFamily="34" charset="-122"/>
                <a:cs typeface="Calibri" pitchFamily="34" charset="-120"/>
              </a:rPr>
              <a:t>54</a:t>
            </a:r>
            <a:endParaRPr lang="en-US" sz="850" dirty="0"/>
          </a:p>
        </p:txBody>
      </p:sp>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0E7C7B"/>
          </a:solidFill>
          <a:ln/>
        </p:spPr>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210312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6 · PROMPT MANAGEMENT</a:t>
            </a:r>
            <a:endParaRPr lang="en-US" sz="1600" dirty="0"/>
          </a:p>
        </p:txBody>
      </p:sp>
      <p:sp>
        <p:nvSpPr>
          <p:cNvPr id="16" name="Text 14"/>
          <p:cNvSpPr/>
          <p:nvPr/>
        </p:nvSpPr>
        <p:spPr>
          <a:xfrm>
            <a:off x="502920" y="256032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Prompts are assets.</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Manage them like it.</a:t>
            </a:r>
            <a:endParaRPr lang="en-US" sz="4400" dirty="0"/>
          </a:p>
        </p:txBody>
      </p:sp>
      <p:sp>
        <p:nvSpPr>
          <p:cNvPr id="17" name="Text 15"/>
          <p:cNvSpPr/>
          <p:nvPr/>
        </p:nvSpPr>
        <p:spPr>
          <a:xfrm>
            <a:off x="502920" y="44348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A good prompt took an hour of iteration to earn. Re-typing it from memory throws that hour away — and gives your teammate a worse version than yours.</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6 · THE PROMOTION LADDER</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55</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FROM RETYPING TO ASSET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promotion ladder — and when to climb it</a:t>
            </a:r>
            <a:endParaRPr lang="en-US" sz="3000" dirty="0"/>
          </a:p>
        </p:txBody>
      </p:sp>
      <p:sp>
        <p:nvSpPr>
          <p:cNvPr id="6" name="Shape 4"/>
          <p:cNvSpPr/>
          <p:nvPr/>
        </p:nvSpPr>
        <p:spPr>
          <a:xfrm>
            <a:off x="502920" y="1527048"/>
            <a:ext cx="438912" cy="438912"/>
          </a:xfrm>
          <a:prstGeom prst="ellipse">
            <a:avLst/>
          </a:prstGeom>
          <a:solidFill>
            <a:srgbClr val="0E7C7B"/>
          </a:solidFill>
          <a:ln/>
        </p:spPr>
      </p:sp>
      <p:pic>
        <p:nvPicPr>
          <p:cNvPr id="7" name="Image 0" descr="/home/user/Claude-Works/ai-training-prompt-engineering/src/assets/icons/edit_w.png">    </p:cNvPr>
          <p:cNvPicPr>
            <a:picLocks noChangeAspect="1"/>
          </p:cNvPicPr>
          <p:nvPr/>
        </p:nvPicPr>
        <p:blipFill>
          <a:blip r:embed="rId1"/>
          <a:stretch>
            <a:fillRect/>
          </a:stretch>
        </p:blipFill>
        <p:spPr>
          <a:xfrm>
            <a:off x="617037" y="1641165"/>
            <a:ext cx="210678" cy="210678"/>
          </a:xfrm>
          <a:prstGeom prst="rect">
            <a:avLst/>
          </a:prstGeom>
        </p:spPr>
      </p:pic>
      <p:sp>
        <p:nvSpPr>
          <p:cNvPr id="8" name="Text 5"/>
          <p:cNvSpPr/>
          <p:nvPr/>
        </p:nvSpPr>
        <p:spPr>
          <a:xfrm>
            <a:off x="1143000" y="1435608"/>
            <a:ext cx="5669280" cy="868680"/>
          </a:xfrm>
          <a:prstGeom prst="rect">
            <a:avLst/>
          </a:prstGeom>
          <a:noFill/>
          <a:ln/>
        </p:spPr>
        <p:txBody>
          <a:bodyPr wrap="square" lIns="0" tIns="0" rIns="0" bIns="0" rtlCol="0" anchor="t"/>
          <a:lstStyle/>
          <a:p>
            <a:pPr algn="l"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1 · One-off prompt</a:t>
            </a:r>
            <a:endParaRPr lang="en-US" sz="1250" dirty="0"/>
          </a:p>
          <a:p>
            <a:pPr algn="l" indent="0" marL="0">
              <a:lnSpc>
                <a:spcPct val="105000"/>
              </a:lnSpc>
              <a:buNone/>
            </a:pPr>
            <a:r>
              <a:rPr lang="en-US" sz="1020" dirty="0">
                <a:solidFill>
                  <a:srgbClr val="46545F"/>
                </a:solidFill>
                <a:latin typeface="Calibri" pitchFamily="34" charset="0"/>
                <a:ea typeface="Calibri" pitchFamily="34" charset="-122"/>
                <a:cs typeface="Calibri" pitchFamily="34" charset="-120"/>
              </a:rPr>
              <a:t>Typed, used, gone. Fine for genuinely one-time asks.</a:t>
            </a:r>
            <a:endParaRPr lang="en-US" sz="1250" dirty="0"/>
          </a:p>
        </p:txBody>
      </p:sp>
      <p:sp>
        <p:nvSpPr>
          <p:cNvPr id="9" name="Shape 6"/>
          <p:cNvSpPr/>
          <p:nvPr/>
        </p:nvSpPr>
        <p:spPr>
          <a:xfrm>
            <a:off x="502920" y="2432304"/>
            <a:ext cx="438912" cy="438912"/>
          </a:xfrm>
          <a:prstGeom prst="ellipse">
            <a:avLst/>
          </a:prstGeom>
          <a:solidFill>
            <a:srgbClr val="0E7C7B"/>
          </a:solidFill>
          <a:ln/>
        </p:spPr>
      </p:sp>
      <p:pic>
        <p:nvPicPr>
          <p:cNvPr id="10" name="Image 1" descr="/home/user/Claude-Works/ai-training-prompt-engineering/src/assets/icons/save_w.png">    </p:cNvPr>
          <p:cNvPicPr>
            <a:picLocks noChangeAspect="1"/>
          </p:cNvPicPr>
          <p:nvPr/>
        </p:nvPicPr>
        <p:blipFill>
          <a:blip r:embed="rId2"/>
          <a:stretch>
            <a:fillRect/>
          </a:stretch>
        </p:blipFill>
        <p:spPr>
          <a:xfrm>
            <a:off x="617037" y="2546421"/>
            <a:ext cx="210678" cy="210678"/>
          </a:xfrm>
          <a:prstGeom prst="rect">
            <a:avLst/>
          </a:prstGeom>
        </p:spPr>
      </p:pic>
      <p:sp>
        <p:nvSpPr>
          <p:cNvPr id="11" name="Text 7"/>
          <p:cNvSpPr/>
          <p:nvPr/>
        </p:nvSpPr>
        <p:spPr>
          <a:xfrm>
            <a:off x="1143000" y="2340864"/>
            <a:ext cx="5669280" cy="868680"/>
          </a:xfrm>
          <a:prstGeom prst="rect">
            <a:avLst/>
          </a:prstGeom>
          <a:noFill/>
          <a:ln/>
        </p:spPr>
        <p:txBody>
          <a:bodyPr wrap="square" lIns="0" tIns="0" rIns="0" bIns="0" rtlCol="0" anchor="t"/>
          <a:lstStyle/>
          <a:p>
            <a:pPr algn="l"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2 · Personal library</a:t>
            </a:r>
            <a:endParaRPr lang="en-US" sz="1250" dirty="0"/>
          </a:p>
          <a:p>
            <a:pPr algn="l" indent="0" marL="0">
              <a:lnSpc>
                <a:spcPct val="105000"/>
              </a:lnSpc>
              <a:buNone/>
            </a:pPr>
            <a:r>
              <a:rPr lang="en-US" sz="1020" dirty="0">
                <a:solidFill>
                  <a:srgbClr val="46545F"/>
                </a:solidFill>
                <a:latin typeface="Calibri" pitchFamily="34" charset="0"/>
                <a:ea typeface="Calibri" pitchFamily="34" charset="-122"/>
                <a:cs typeface="Calibri" pitchFamily="34" charset="-120"/>
              </a:rPr>
              <a:t>A saved-prompts doc or text-expander snippets. Zero infrastructure; start today.</a:t>
            </a:r>
            <a:endParaRPr lang="en-US" sz="1250" dirty="0"/>
          </a:p>
        </p:txBody>
      </p:sp>
      <p:sp>
        <p:nvSpPr>
          <p:cNvPr id="12" name="Shape 8"/>
          <p:cNvSpPr/>
          <p:nvPr/>
        </p:nvSpPr>
        <p:spPr>
          <a:xfrm>
            <a:off x="502920" y="3337560"/>
            <a:ext cx="438912" cy="438912"/>
          </a:xfrm>
          <a:prstGeom prst="ellipse">
            <a:avLst/>
          </a:prstGeom>
          <a:solidFill>
            <a:srgbClr val="0E7C7B"/>
          </a:solidFill>
          <a:ln/>
        </p:spPr>
      </p:sp>
      <p:pic>
        <p:nvPicPr>
          <p:cNvPr id="13" name="Image 2" descr="/home/user/Claude-Works/ai-training-prompt-engineering/src/assets/icons/users_w.png">    </p:cNvPr>
          <p:cNvPicPr>
            <a:picLocks noChangeAspect="1"/>
          </p:cNvPicPr>
          <p:nvPr/>
        </p:nvPicPr>
        <p:blipFill>
          <a:blip r:embed="rId3"/>
          <a:stretch>
            <a:fillRect/>
          </a:stretch>
        </p:blipFill>
        <p:spPr>
          <a:xfrm>
            <a:off x="617037" y="3451677"/>
            <a:ext cx="210678" cy="210678"/>
          </a:xfrm>
          <a:prstGeom prst="rect">
            <a:avLst/>
          </a:prstGeom>
        </p:spPr>
      </p:pic>
      <p:sp>
        <p:nvSpPr>
          <p:cNvPr id="14" name="Text 9"/>
          <p:cNvSpPr/>
          <p:nvPr/>
        </p:nvSpPr>
        <p:spPr>
          <a:xfrm>
            <a:off x="1143000" y="3246120"/>
            <a:ext cx="5669280" cy="868680"/>
          </a:xfrm>
          <a:prstGeom prst="rect">
            <a:avLst/>
          </a:prstGeom>
          <a:noFill/>
          <a:ln/>
        </p:spPr>
        <p:txBody>
          <a:bodyPr wrap="square" lIns="0" tIns="0" rIns="0" bIns="0" rtlCol="0" anchor="t"/>
          <a:lstStyle/>
          <a:p>
            <a:pPr algn="l"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3 · Team library</a:t>
            </a:r>
            <a:endParaRPr lang="en-US" sz="1250" dirty="0"/>
          </a:p>
          <a:p>
            <a:pPr algn="l" indent="0" marL="0">
              <a:lnSpc>
                <a:spcPct val="105000"/>
              </a:lnSpc>
              <a:buNone/>
            </a:pPr>
            <a:r>
              <a:rPr lang="en-US" sz="1020" dirty="0">
                <a:solidFill>
                  <a:srgbClr val="46545F"/>
                </a:solidFill>
                <a:latin typeface="Calibri" pitchFamily="34" charset="0"/>
                <a:ea typeface="Calibri" pitchFamily="34" charset="-122"/>
                <a:cs typeface="Calibri" pitchFamily="34" charset="-120"/>
              </a:rPr>
              <a:t>A shared database — Notion, SharePoint list, Copilot Prompt Gallery. One tested template, everyone’s baseline.</a:t>
            </a:r>
            <a:endParaRPr lang="en-US" sz="1250" dirty="0"/>
          </a:p>
        </p:txBody>
      </p:sp>
      <p:sp>
        <p:nvSpPr>
          <p:cNvPr id="15" name="Shape 10"/>
          <p:cNvSpPr/>
          <p:nvPr/>
        </p:nvSpPr>
        <p:spPr>
          <a:xfrm>
            <a:off x="502920" y="4242816"/>
            <a:ext cx="438912" cy="438912"/>
          </a:xfrm>
          <a:prstGeom prst="ellipse">
            <a:avLst/>
          </a:prstGeom>
          <a:solidFill>
            <a:srgbClr val="0E7C7B"/>
          </a:solidFill>
          <a:ln/>
        </p:spPr>
      </p:sp>
      <p:pic>
        <p:nvPicPr>
          <p:cNvPr id="16" name="Image 3" descr="/home/user/Claude-Works/ai-training-prompt-engineering/src/assets/icons/package_w.png">    </p:cNvPr>
          <p:cNvPicPr>
            <a:picLocks noChangeAspect="1"/>
          </p:cNvPicPr>
          <p:nvPr/>
        </p:nvPicPr>
        <p:blipFill>
          <a:blip r:embed="rId4"/>
          <a:stretch>
            <a:fillRect/>
          </a:stretch>
        </p:blipFill>
        <p:spPr>
          <a:xfrm>
            <a:off x="617037" y="4356933"/>
            <a:ext cx="210678" cy="210678"/>
          </a:xfrm>
          <a:prstGeom prst="rect">
            <a:avLst/>
          </a:prstGeom>
        </p:spPr>
      </p:pic>
      <p:sp>
        <p:nvSpPr>
          <p:cNvPr id="17" name="Text 11"/>
          <p:cNvSpPr/>
          <p:nvPr/>
        </p:nvSpPr>
        <p:spPr>
          <a:xfrm>
            <a:off x="1143000" y="4151376"/>
            <a:ext cx="5669280" cy="868680"/>
          </a:xfrm>
          <a:prstGeom prst="rect">
            <a:avLst/>
          </a:prstGeom>
          <a:noFill/>
          <a:ln/>
        </p:spPr>
        <p:txBody>
          <a:bodyPr wrap="square" lIns="0" tIns="0" rIns="0" bIns="0" rtlCol="0" anchor="t"/>
          <a:lstStyle/>
          <a:p>
            <a:pPr algn="l"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4 · Packaged &amp; auto-applied</a:t>
            </a:r>
            <a:endParaRPr lang="en-US" sz="1250" dirty="0"/>
          </a:p>
          <a:p>
            <a:pPr algn="l" indent="0" marL="0">
              <a:lnSpc>
                <a:spcPct val="105000"/>
              </a:lnSpc>
              <a:buNone/>
            </a:pPr>
            <a:r>
              <a:rPr lang="en-US" sz="1020" dirty="0">
                <a:solidFill>
                  <a:srgbClr val="46545F"/>
                </a:solidFill>
                <a:latin typeface="Calibri" pitchFamily="34" charset="0"/>
                <a:ea typeface="Calibri" pitchFamily="34" charset="-122"/>
                <a:cs typeface="Calibri" pitchFamily="34" charset="-120"/>
              </a:rPr>
              <a:t>Project instructions, Claude Skills, Gems, Copilot agents: the prompt loads itself when the context matches.</a:t>
            </a:r>
            <a:endParaRPr lang="en-US" sz="1250" dirty="0"/>
          </a:p>
        </p:txBody>
      </p:sp>
      <p:sp>
        <p:nvSpPr>
          <p:cNvPr id="18" name="Shape 12"/>
          <p:cNvSpPr/>
          <p:nvPr/>
        </p:nvSpPr>
        <p:spPr>
          <a:xfrm>
            <a:off x="502920" y="5148072"/>
            <a:ext cx="438912" cy="438912"/>
          </a:xfrm>
          <a:prstGeom prst="ellipse">
            <a:avLst/>
          </a:prstGeom>
          <a:solidFill>
            <a:srgbClr val="0E7C7B"/>
          </a:solidFill>
          <a:ln/>
        </p:spPr>
      </p:sp>
      <p:pic>
        <p:nvPicPr>
          <p:cNvPr id="19" name="Image 4" descr="/home/user/Claude-Works/ai-training-prompt-engineering/src/assets/icons/branch_w.png">    </p:cNvPr>
          <p:cNvPicPr>
            <a:picLocks noChangeAspect="1"/>
          </p:cNvPicPr>
          <p:nvPr/>
        </p:nvPicPr>
        <p:blipFill>
          <a:blip r:embed="rId5"/>
          <a:stretch>
            <a:fillRect/>
          </a:stretch>
        </p:blipFill>
        <p:spPr>
          <a:xfrm>
            <a:off x="617037" y="5262189"/>
            <a:ext cx="210678" cy="210678"/>
          </a:xfrm>
          <a:prstGeom prst="rect">
            <a:avLst/>
          </a:prstGeom>
        </p:spPr>
      </p:pic>
      <p:sp>
        <p:nvSpPr>
          <p:cNvPr id="20" name="Text 13"/>
          <p:cNvSpPr/>
          <p:nvPr/>
        </p:nvSpPr>
        <p:spPr>
          <a:xfrm>
            <a:off x="1143000" y="5056632"/>
            <a:ext cx="5669280" cy="868680"/>
          </a:xfrm>
          <a:prstGeom prst="rect">
            <a:avLst/>
          </a:prstGeom>
          <a:noFill/>
          <a:ln/>
        </p:spPr>
        <p:txBody>
          <a:bodyPr wrap="square" lIns="0" tIns="0" rIns="0" bIns="0" rtlCol="0" anchor="t"/>
          <a:lstStyle/>
          <a:p>
            <a:pPr algn="l"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5 · Prompts as code</a:t>
            </a:r>
            <a:endParaRPr lang="en-US" sz="1250" dirty="0"/>
          </a:p>
          <a:p>
            <a:pPr algn="l" indent="0" marL="0">
              <a:lnSpc>
                <a:spcPct val="105000"/>
              </a:lnSpc>
              <a:buNone/>
            </a:pPr>
            <a:r>
              <a:rPr lang="en-US" sz="1020" dirty="0">
                <a:solidFill>
                  <a:srgbClr val="46545F"/>
                </a:solidFill>
                <a:latin typeface="Calibri" pitchFamily="34" charset="0"/>
                <a:ea typeface="Calibri" pitchFamily="34" charset="-122"/>
                <a:cs typeface="Calibri" pitchFamily="34" charset="-120"/>
              </a:rPr>
              <a:t>CLAUDE.md / AGENTS.md / briefs in the repo, versioned in git, reviewed like code. Where agentic briefs live.</a:t>
            </a:r>
            <a:endParaRPr lang="en-US" sz="1250" dirty="0"/>
          </a:p>
        </p:txBody>
      </p:sp>
      <p:sp>
        <p:nvSpPr>
          <p:cNvPr id="21" name="Shape 14"/>
          <p:cNvSpPr/>
          <p:nvPr/>
        </p:nvSpPr>
        <p:spPr>
          <a:xfrm>
            <a:off x="7086600" y="1481328"/>
            <a:ext cx="4572000" cy="2834640"/>
          </a:xfrm>
          <a:prstGeom prst="roundRect">
            <a:avLst>
              <a:gd name="adj" fmla="val 2581"/>
            </a:avLst>
          </a:prstGeom>
          <a:solidFill>
            <a:srgbClr val="E4F0EF"/>
          </a:solidFill>
          <a:ln/>
        </p:spPr>
      </p:sp>
      <p:sp>
        <p:nvSpPr>
          <p:cNvPr id="22" name="Text 15"/>
          <p:cNvSpPr/>
          <p:nvPr/>
        </p:nvSpPr>
        <p:spPr>
          <a:xfrm>
            <a:off x="7333488" y="1664208"/>
            <a:ext cx="4114800" cy="365760"/>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The promotion trigger</a:t>
            </a:r>
            <a:endParaRPr lang="en-US" sz="1400" dirty="0"/>
          </a:p>
        </p:txBody>
      </p:sp>
      <p:sp>
        <p:nvSpPr>
          <p:cNvPr id="23" name="Text 16"/>
          <p:cNvSpPr/>
          <p:nvPr/>
        </p:nvSpPr>
        <p:spPr>
          <a:xfrm>
            <a:off x="7333488" y="2103120"/>
            <a:ext cx="4114800" cy="2103120"/>
          </a:xfrm>
          <a:prstGeom prst="rect">
            <a:avLst/>
          </a:prstGeom>
          <a:noFill/>
          <a:ln/>
        </p:spPr>
        <p:txBody>
          <a:bodyPr wrap="square" lIns="0" tIns="0" rIns="0" bIns="0" rtlCol="0" anchor="ctr"/>
          <a:lstStyle/>
          <a:p>
            <a:pPr indent="0" marL="0">
              <a:lnSpc>
                <a:spcPct val="112000"/>
              </a:lnSpc>
              <a:buNone/>
            </a:pPr>
            <a:r>
              <a:rPr lang="en-US" sz="1150" dirty="0">
                <a:solidFill>
                  <a:srgbClr val="46545F"/>
                </a:solidFill>
                <a:latin typeface="Calibri" pitchFamily="34" charset="0"/>
                <a:ea typeface="Calibri" pitchFamily="34" charset="-122"/>
                <a:cs typeface="Calibri" pitchFamily="34" charset="-120"/>
              </a:rPr>
              <a:t>Anthropic’s rule of thumb: the moment you’ve explained the same task more than once, it’s time to package it.</a:t>
            </a:r>
            <a:endParaRPr lang="en-US" sz="1150" dirty="0"/>
          </a:p>
          <a:p>
            <a:pPr indent="0" marL="0">
              <a:lnSpc>
                <a:spcPct val="112000"/>
              </a:lnSpc>
              <a:buNone/>
            </a:pPr>
            <a:endParaRPr lang="en-US" sz="1150" dirty="0"/>
          </a:p>
          <a:p>
            <a:pPr indent="0" marL="0">
              <a:lnSpc>
                <a:spcPct val="112000"/>
              </a:lnSpc>
              <a:buNone/>
            </a:pPr>
            <a:r>
              <a:rPr lang="en-US" sz="1150" dirty="0">
                <a:solidFill>
                  <a:srgbClr val="46545F"/>
                </a:solidFill>
                <a:latin typeface="Calibri" pitchFamily="34" charset="0"/>
                <a:ea typeface="Calibri" pitchFamily="34" charset="-122"/>
                <a:cs typeface="Calibri" pitchFamily="34" charset="-120"/>
              </a:rPr>
              <a:t>Refined an approach you want repeated? Package it. Quality depends on reference material? Package it with the material.</a:t>
            </a:r>
            <a:endParaRPr lang="en-US" sz="1150" dirty="0"/>
          </a:p>
        </p:txBody>
      </p:sp>
      <p:sp>
        <p:nvSpPr>
          <p:cNvPr id="24" name="Shape 17"/>
          <p:cNvSpPr/>
          <p:nvPr/>
        </p:nvSpPr>
        <p:spPr>
          <a:xfrm>
            <a:off x="7086600" y="4480560"/>
            <a:ext cx="4572000" cy="1554480"/>
          </a:xfrm>
          <a:prstGeom prst="roundRect">
            <a:avLst>
              <a:gd name="adj" fmla="val 4706"/>
            </a:avLst>
          </a:prstGeom>
          <a:solidFill>
            <a:srgbClr val="F2F5F6"/>
          </a:solidFill>
          <a:ln/>
        </p:spPr>
      </p:sp>
      <p:sp>
        <p:nvSpPr>
          <p:cNvPr id="25" name="Text 18"/>
          <p:cNvSpPr/>
          <p:nvPr/>
        </p:nvSpPr>
        <p:spPr>
          <a:xfrm>
            <a:off x="7333488" y="4645152"/>
            <a:ext cx="4114800" cy="1280160"/>
          </a:xfrm>
          <a:prstGeom prst="rect">
            <a:avLst/>
          </a:prstGeom>
          <a:noFill/>
          <a:ln/>
        </p:spPr>
        <p:txBody>
          <a:bodyPr wrap="square" lIns="0" tIns="0" rIns="0" bIns="0" rtlCol="0" anchor="ctr"/>
          <a:lstStyle/>
          <a:p>
            <a:pPr indent="0" marL="0">
              <a:lnSpc>
                <a:spcPct val="110000"/>
              </a:lnSpc>
              <a:spcAft>
                <a:spcPts val="300"/>
              </a:spcAft>
              <a:buNone/>
            </a:pPr>
            <a:r>
              <a:rPr lang="en-US" sz="1150" b="1" dirty="0">
                <a:solidFill>
                  <a:srgbClr val="232A31"/>
                </a:solidFill>
                <a:latin typeface="Calibri" pitchFamily="34" charset="0"/>
                <a:ea typeface="Calibri" pitchFamily="34" charset="-122"/>
                <a:cs typeface="Calibri" pitchFamily="34" charset="-120"/>
              </a:rPr>
              <a:t>A familiar discipline: </a:t>
            </a:r>
            <a:endParaRPr lang="en-US" sz="115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a prompt library is run like controlled work instructions — a name, an owner, a revision, a review date. Same muscle, lighter weight.</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6 · WHERE THINGS LIVE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56</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STORAGE MAP</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Every tool has a home for reusable prompts — Aug 2026</a:t>
            </a:r>
            <a:endParaRPr lang="en-US" sz="3000" dirty="0"/>
          </a:p>
        </p:txBody>
      </p:sp>
      <p:sp>
        <p:nvSpPr>
          <p:cNvPr id="6" name="Shape 4"/>
          <p:cNvSpPr/>
          <p:nvPr/>
        </p:nvSpPr>
        <p:spPr>
          <a:xfrm>
            <a:off x="502920" y="1481328"/>
            <a:ext cx="11155680" cy="658368"/>
          </a:xfrm>
          <a:prstGeom prst="roundRect">
            <a:avLst>
              <a:gd name="adj" fmla="val 11111"/>
            </a:avLst>
          </a:prstGeom>
          <a:solidFill>
            <a:srgbClr val="F2F5F6"/>
          </a:solidFill>
          <a:ln/>
        </p:spPr>
      </p:sp>
      <p:sp>
        <p:nvSpPr>
          <p:cNvPr id="7" name="Text 5"/>
          <p:cNvSpPr/>
          <p:nvPr/>
        </p:nvSpPr>
        <p:spPr>
          <a:xfrm>
            <a:off x="731520" y="1545336"/>
            <a:ext cx="1737360" cy="530352"/>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ChatGPT</a:t>
            </a:r>
            <a:endParaRPr lang="en-US" sz="1250" dirty="0"/>
          </a:p>
        </p:txBody>
      </p:sp>
      <p:sp>
        <p:nvSpPr>
          <p:cNvPr id="8" name="Text 6"/>
          <p:cNvSpPr/>
          <p:nvPr/>
        </p:nvSpPr>
        <p:spPr>
          <a:xfrm>
            <a:off x="2560320" y="1536192"/>
            <a:ext cx="8869680" cy="548640"/>
          </a:xfrm>
          <a:prstGeom prst="rect">
            <a:avLst/>
          </a:prstGeom>
          <a:noFill/>
          <a:ln/>
        </p:spPr>
        <p:txBody>
          <a:bodyPr wrap="square" lIns="0" tIns="0" rIns="0" bIns="0" rtlCol="0" anchor="ctr"/>
          <a:lstStyle/>
          <a:p>
            <a:pPr indent="0" marL="0">
              <a:lnSpc>
                <a:spcPct val="100000"/>
              </a:lnSpc>
              <a:buNone/>
            </a:pPr>
            <a:r>
              <a:rPr lang="en-US" sz="1030" dirty="0">
                <a:solidFill>
                  <a:srgbClr val="46545F"/>
                </a:solidFill>
                <a:latin typeface="Calibri" pitchFamily="34" charset="0"/>
                <a:ea typeface="Calibri" pitchFamily="34" charset="-122"/>
                <a:cs typeface="Calibri" pitchFamily="34" charset="-120"/>
              </a:rPr>
              <a:t>Projects (files + project instructions) · custom GPTs — transitioning to workspace agents on business plans</a:t>
            </a:r>
            <a:endParaRPr lang="en-US" sz="1030" dirty="0"/>
          </a:p>
        </p:txBody>
      </p:sp>
      <p:sp>
        <p:nvSpPr>
          <p:cNvPr id="9" name="Shape 7"/>
          <p:cNvSpPr/>
          <p:nvPr/>
        </p:nvSpPr>
        <p:spPr>
          <a:xfrm>
            <a:off x="502920" y="2231136"/>
            <a:ext cx="11155680" cy="658368"/>
          </a:xfrm>
          <a:prstGeom prst="roundRect">
            <a:avLst>
              <a:gd name="adj" fmla="val 11111"/>
            </a:avLst>
          </a:prstGeom>
          <a:solidFill>
            <a:srgbClr val="F2F5F6"/>
          </a:solidFill>
          <a:ln/>
        </p:spPr>
      </p:sp>
      <p:sp>
        <p:nvSpPr>
          <p:cNvPr id="10" name="Text 8"/>
          <p:cNvSpPr/>
          <p:nvPr/>
        </p:nvSpPr>
        <p:spPr>
          <a:xfrm>
            <a:off x="731520" y="2295144"/>
            <a:ext cx="1737360" cy="530352"/>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Claude</a:t>
            </a:r>
            <a:endParaRPr lang="en-US" sz="1250" dirty="0"/>
          </a:p>
        </p:txBody>
      </p:sp>
      <p:sp>
        <p:nvSpPr>
          <p:cNvPr id="11" name="Text 9"/>
          <p:cNvSpPr/>
          <p:nvPr/>
        </p:nvSpPr>
        <p:spPr>
          <a:xfrm>
            <a:off x="2560320" y="2286000"/>
            <a:ext cx="8869680" cy="548640"/>
          </a:xfrm>
          <a:prstGeom prst="rect">
            <a:avLst/>
          </a:prstGeom>
          <a:noFill/>
          <a:ln/>
        </p:spPr>
        <p:txBody>
          <a:bodyPr wrap="square" lIns="0" tIns="0" rIns="0" bIns="0" rtlCol="0" anchor="ctr"/>
          <a:lstStyle/>
          <a:p>
            <a:pPr indent="0" marL="0">
              <a:lnSpc>
                <a:spcPct val="100000"/>
              </a:lnSpc>
              <a:buNone/>
            </a:pPr>
            <a:r>
              <a:rPr lang="en-US" sz="1030" dirty="0">
                <a:solidFill>
                  <a:srgbClr val="46545F"/>
                </a:solidFill>
                <a:latin typeface="Calibri" pitchFamily="34" charset="0"/>
                <a:ea typeface="Calibri" pitchFamily="34" charset="-122"/>
                <a:cs typeface="Calibri" pitchFamily="34" charset="-120"/>
              </a:rPr>
              <a:t>Projects (instructions + knowledge) · Styles (tone) · Skills — a folder with SKILL.md that loads itself when relevant</a:t>
            </a:r>
            <a:endParaRPr lang="en-US" sz="1030" dirty="0"/>
          </a:p>
        </p:txBody>
      </p:sp>
      <p:sp>
        <p:nvSpPr>
          <p:cNvPr id="12" name="Shape 10"/>
          <p:cNvSpPr/>
          <p:nvPr/>
        </p:nvSpPr>
        <p:spPr>
          <a:xfrm>
            <a:off x="502920" y="2980944"/>
            <a:ext cx="11155680" cy="658368"/>
          </a:xfrm>
          <a:prstGeom prst="roundRect">
            <a:avLst>
              <a:gd name="adj" fmla="val 11111"/>
            </a:avLst>
          </a:prstGeom>
          <a:solidFill>
            <a:srgbClr val="F2F5F6"/>
          </a:solidFill>
          <a:ln/>
        </p:spPr>
      </p:sp>
      <p:sp>
        <p:nvSpPr>
          <p:cNvPr id="13" name="Text 11"/>
          <p:cNvSpPr/>
          <p:nvPr/>
        </p:nvSpPr>
        <p:spPr>
          <a:xfrm>
            <a:off x="731520" y="3044952"/>
            <a:ext cx="1737360" cy="530352"/>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Gemini</a:t>
            </a:r>
            <a:endParaRPr lang="en-US" sz="1250" dirty="0"/>
          </a:p>
        </p:txBody>
      </p:sp>
      <p:sp>
        <p:nvSpPr>
          <p:cNvPr id="14" name="Text 12"/>
          <p:cNvSpPr/>
          <p:nvPr/>
        </p:nvSpPr>
        <p:spPr>
          <a:xfrm>
            <a:off x="2560320" y="3035808"/>
            <a:ext cx="8869680" cy="548640"/>
          </a:xfrm>
          <a:prstGeom prst="rect">
            <a:avLst/>
          </a:prstGeom>
          <a:noFill/>
          <a:ln/>
        </p:spPr>
        <p:txBody>
          <a:bodyPr wrap="square" lIns="0" tIns="0" rIns="0" bIns="0" rtlCol="0" anchor="ctr"/>
          <a:lstStyle/>
          <a:p>
            <a:pPr indent="0" marL="0">
              <a:lnSpc>
                <a:spcPct val="100000"/>
              </a:lnSpc>
              <a:buNone/>
            </a:pPr>
            <a:r>
              <a:rPr lang="en-US" sz="1030" dirty="0">
                <a:solidFill>
                  <a:srgbClr val="46545F"/>
                </a:solidFill>
                <a:latin typeface="Calibri" pitchFamily="34" charset="0"/>
                <a:ea typeface="Calibri" pitchFamily="34" charset="-122"/>
                <a:cs typeface="Calibri" pitchFamily="34" charset="-120"/>
              </a:rPr>
              <a:t>Gems (instructions + knowledge files, shareable via Drive permissions) · saved prompt “skills” in Chrome</a:t>
            </a:r>
            <a:endParaRPr lang="en-US" sz="1030" dirty="0"/>
          </a:p>
        </p:txBody>
      </p:sp>
      <p:sp>
        <p:nvSpPr>
          <p:cNvPr id="15" name="Shape 13"/>
          <p:cNvSpPr/>
          <p:nvPr/>
        </p:nvSpPr>
        <p:spPr>
          <a:xfrm>
            <a:off x="502920" y="3730752"/>
            <a:ext cx="11155680" cy="658368"/>
          </a:xfrm>
          <a:prstGeom prst="roundRect">
            <a:avLst>
              <a:gd name="adj" fmla="val 11111"/>
            </a:avLst>
          </a:prstGeom>
          <a:solidFill>
            <a:srgbClr val="F2F5F6"/>
          </a:solidFill>
          <a:ln/>
        </p:spPr>
      </p:sp>
      <p:sp>
        <p:nvSpPr>
          <p:cNvPr id="16" name="Text 14"/>
          <p:cNvSpPr/>
          <p:nvPr/>
        </p:nvSpPr>
        <p:spPr>
          <a:xfrm>
            <a:off x="731520" y="3794760"/>
            <a:ext cx="1737360" cy="530352"/>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Copilot</a:t>
            </a:r>
            <a:endParaRPr lang="en-US" sz="1250" dirty="0"/>
          </a:p>
        </p:txBody>
      </p:sp>
      <p:sp>
        <p:nvSpPr>
          <p:cNvPr id="17" name="Text 15"/>
          <p:cNvSpPr/>
          <p:nvPr/>
        </p:nvSpPr>
        <p:spPr>
          <a:xfrm>
            <a:off x="2560320" y="3785616"/>
            <a:ext cx="8869680" cy="548640"/>
          </a:xfrm>
          <a:prstGeom prst="rect">
            <a:avLst/>
          </a:prstGeom>
          <a:noFill/>
          <a:ln/>
        </p:spPr>
        <p:txBody>
          <a:bodyPr wrap="square" lIns="0" tIns="0" rIns="0" bIns="0" rtlCol="0" anchor="ctr"/>
          <a:lstStyle/>
          <a:p>
            <a:pPr indent="0" marL="0">
              <a:lnSpc>
                <a:spcPct val="100000"/>
              </a:lnSpc>
              <a:buNone/>
            </a:pPr>
            <a:r>
              <a:rPr lang="en-US" sz="1030" dirty="0">
                <a:solidFill>
                  <a:srgbClr val="46545F"/>
                </a:solidFill>
                <a:latin typeface="Calibri" pitchFamily="34" charset="0"/>
                <a:ea typeface="Calibri" pitchFamily="34" charset="-122"/>
                <a:cs typeface="Calibri" pitchFamily="34" charset="-120"/>
              </a:rPr>
              <a:t>Prompt Gallery — save, share to a Team, admin-auditable, stays inside your tenant · Agent Builder for packaged agents</a:t>
            </a:r>
            <a:endParaRPr lang="en-US" sz="1030" dirty="0"/>
          </a:p>
        </p:txBody>
      </p:sp>
      <p:sp>
        <p:nvSpPr>
          <p:cNvPr id="18" name="Shape 16"/>
          <p:cNvSpPr/>
          <p:nvPr/>
        </p:nvSpPr>
        <p:spPr>
          <a:xfrm>
            <a:off x="502920" y="4480560"/>
            <a:ext cx="11155680" cy="658368"/>
          </a:xfrm>
          <a:prstGeom prst="roundRect">
            <a:avLst>
              <a:gd name="adj" fmla="val 11111"/>
            </a:avLst>
          </a:prstGeom>
          <a:solidFill>
            <a:srgbClr val="E4F0EF"/>
          </a:solidFill>
          <a:ln/>
        </p:spPr>
      </p:sp>
      <p:sp>
        <p:nvSpPr>
          <p:cNvPr id="19" name="Text 17"/>
          <p:cNvSpPr/>
          <p:nvPr/>
        </p:nvSpPr>
        <p:spPr>
          <a:xfrm>
            <a:off x="731520" y="4544568"/>
            <a:ext cx="1737360" cy="530352"/>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Any tool</a:t>
            </a:r>
            <a:endParaRPr lang="en-US" sz="1250" dirty="0"/>
          </a:p>
        </p:txBody>
      </p:sp>
      <p:sp>
        <p:nvSpPr>
          <p:cNvPr id="20" name="Text 18"/>
          <p:cNvSpPr/>
          <p:nvPr/>
        </p:nvSpPr>
        <p:spPr>
          <a:xfrm>
            <a:off x="2560320" y="4535424"/>
            <a:ext cx="8869680" cy="548640"/>
          </a:xfrm>
          <a:prstGeom prst="rect">
            <a:avLst/>
          </a:prstGeom>
          <a:noFill/>
          <a:ln/>
        </p:spPr>
        <p:txBody>
          <a:bodyPr wrap="square" lIns="0" tIns="0" rIns="0" bIns="0" rtlCol="0" anchor="ctr"/>
          <a:lstStyle/>
          <a:p>
            <a:pPr indent="0" marL="0">
              <a:lnSpc>
                <a:spcPct val="100000"/>
              </a:lnSpc>
              <a:buNone/>
            </a:pPr>
            <a:r>
              <a:rPr lang="en-US" sz="1030" dirty="0">
                <a:solidFill>
                  <a:srgbClr val="46545F"/>
                </a:solidFill>
                <a:latin typeface="Calibri" pitchFamily="34" charset="0"/>
                <a:ea typeface="Calibri" pitchFamily="34" charset="-122"/>
                <a:cs typeface="Calibri" pitchFamily="34" charset="-120"/>
              </a:rPr>
              <a:t>The team library database: name · purpose · template · owner · version + change note · models tested · last tested · example output · status</a:t>
            </a:r>
            <a:endParaRPr lang="en-US" sz="1030" dirty="0"/>
          </a:p>
        </p:txBody>
      </p:sp>
      <p:sp>
        <p:nvSpPr>
          <p:cNvPr id="21" name="Shape 19"/>
          <p:cNvSpPr/>
          <p:nvPr/>
        </p:nvSpPr>
        <p:spPr>
          <a:xfrm>
            <a:off x="502920" y="5230368"/>
            <a:ext cx="11155680" cy="658368"/>
          </a:xfrm>
          <a:prstGeom prst="roundRect">
            <a:avLst>
              <a:gd name="adj" fmla="val 11111"/>
            </a:avLst>
          </a:prstGeom>
          <a:solidFill>
            <a:srgbClr val="E4F0EF"/>
          </a:solidFill>
          <a:ln/>
        </p:spPr>
      </p:sp>
      <p:sp>
        <p:nvSpPr>
          <p:cNvPr id="22" name="Text 20"/>
          <p:cNvSpPr/>
          <p:nvPr/>
        </p:nvSpPr>
        <p:spPr>
          <a:xfrm>
            <a:off x="731520" y="5294376"/>
            <a:ext cx="1737360" cy="530352"/>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Agentic (repo)</a:t>
            </a:r>
            <a:endParaRPr lang="en-US" sz="1250" dirty="0"/>
          </a:p>
        </p:txBody>
      </p:sp>
      <p:sp>
        <p:nvSpPr>
          <p:cNvPr id="23" name="Text 21"/>
          <p:cNvSpPr/>
          <p:nvPr/>
        </p:nvSpPr>
        <p:spPr>
          <a:xfrm>
            <a:off x="2560320" y="5285232"/>
            <a:ext cx="8869680" cy="548640"/>
          </a:xfrm>
          <a:prstGeom prst="rect">
            <a:avLst/>
          </a:prstGeom>
          <a:noFill/>
          <a:ln/>
        </p:spPr>
        <p:txBody>
          <a:bodyPr wrap="square" lIns="0" tIns="0" rIns="0" bIns="0" rtlCol="0" anchor="ctr"/>
          <a:lstStyle/>
          <a:p>
            <a:pPr indent="0" marL="0">
              <a:lnSpc>
                <a:spcPct val="100000"/>
              </a:lnSpc>
              <a:buNone/>
            </a:pPr>
            <a:r>
              <a:rPr lang="en-US" sz="1030" dirty="0">
                <a:solidFill>
                  <a:srgbClr val="46545F"/>
                </a:solidFill>
                <a:latin typeface="Calibri" pitchFamily="34" charset="0"/>
                <a:ea typeface="Calibri" pitchFamily="34" charset="-122"/>
                <a:cs typeface="Calibri" pitchFamily="34" charset="-120"/>
              </a:rPr>
              <a:t>CLAUDE.md / AGENTS.md at the root · briefs and skills in versioned folders · reviewed like code — this training’s repo is the worked example</a:t>
            </a:r>
            <a:endParaRPr lang="en-US" sz="1030" dirty="0"/>
          </a:p>
        </p:txBody>
      </p:sp>
      <p:sp>
        <p:nvSpPr>
          <p:cNvPr id="24" name="Shape 22"/>
          <p:cNvSpPr/>
          <p:nvPr/>
        </p:nvSpPr>
        <p:spPr>
          <a:xfrm>
            <a:off x="502920" y="6080760"/>
            <a:ext cx="11155680" cy="457200"/>
          </a:xfrm>
          <a:prstGeom prst="roundRect">
            <a:avLst>
              <a:gd name="adj" fmla="val 16000"/>
            </a:avLst>
          </a:prstGeom>
          <a:solidFill>
            <a:srgbClr val="F2F5F6"/>
          </a:solidFill>
          <a:ln w="9525">
            <a:solidFill>
              <a:srgbClr val="DCE3E6"/>
            </a:solidFill>
            <a:prstDash val="solid"/>
          </a:ln>
        </p:spPr>
      </p:sp>
      <p:sp>
        <p:nvSpPr>
          <p:cNvPr id="25" name="Shape 23"/>
          <p:cNvSpPr/>
          <p:nvPr/>
        </p:nvSpPr>
        <p:spPr>
          <a:xfrm>
            <a:off x="667512" y="6117336"/>
            <a:ext cx="384048" cy="384048"/>
          </a:xfrm>
          <a:prstGeom prst="ellipse">
            <a:avLst/>
          </a:prstGeom>
          <a:solidFill>
            <a:srgbClr val="46545F"/>
          </a:solidFill>
          <a:ln/>
        </p:spPr>
      </p:sp>
      <p:pic>
        <p:nvPicPr>
          <p:cNvPr id="26" name="Image 0" descr="/home/user/Claude-Works/ai-training-prompt-engineering/src/assets/icons/help_w.png">    </p:cNvPr>
          <p:cNvPicPr>
            <a:picLocks noChangeAspect="1"/>
          </p:cNvPicPr>
          <p:nvPr/>
        </p:nvPicPr>
        <p:blipFill>
          <a:blip r:embed="rId1"/>
          <a:stretch>
            <a:fillRect/>
          </a:stretch>
        </p:blipFill>
        <p:spPr>
          <a:xfrm>
            <a:off x="767364" y="6217188"/>
            <a:ext cx="184343" cy="184343"/>
          </a:xfrm>
          <a:prstGeom prst="rect">
            <a:avLst/>
          </a:prstGeom>
        </p:spPr>
      </p:pic>
      <p:sp>
        <p:nvSpPr>
          <p:cNvPr id="27" name="Text 24"/>
          <p:cNvSpPr/>
          <p:nvPr/>
        </p:nvSpPr>
        <p:spPr>
          <a:xfrm>
            <a:off x="1216152" y="6153912"/>
            <a:ext cx="10213848" cy="310896"/>
          </a:xfrm>
          <a:prstGeom prst="rect">
            <a:avLst/>
          </a:prstGeom>
          <a:noFill/>
          <a:ln/>
        </p:spPr>
        <p:txBody>
          <a:bodyPr wrap="square" lIns="0" tIns="0" rIns="0" bIns="0" rtlCol="0" anchor="ctr"/>
          <a:lstStyle/>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Naming collision warning: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“Skills” means a packaged folder at Anthropic but a saved prompt in Chrome’s Gemini — check which one a colleague means.</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6 · CONVENTIONS &amp; GOVERNANCE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57</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HOUSE RULES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Conventions that keep a library alive — and safe</a:t>
            </a:r>
            <a:endParaRPr lang="en-US" sz="3000" dirty="0"/>
          </a:p>
        </p:txBody>
      </p:sp>
      <p:sp>
        <p:nvSpPr>
          <p:cNvPr id="6" name="Shape 4"/>
          <p:cNvSpPr/>
          <p:nvPr/>
        </p:nvSpPr>
        <p:spPr>
          <a:xfrm>
            <a:off x="502920" y="1508760"/>
            <a:ext cx="5486400" cy="4526280"/>
          </a:xfrm>
          <a:prstGeom prst="roundRect">
            <a:avLst>
              <a:gd name="adj" fmla="val 1616"/>
            </a:avLst>
          </a:prstGeom>
          <a:solidFill>
            <a:srgbClr val="F2F5F6"/>
          </a:solidFill>
          <a:ln/>
        </p:spPr>
      </p:sp>
      <p:sp>
        <p:nvSpPr>
          <p:cNvPr id="7" name="Text 5"/>
          <p:cNvSpPr/>
          <p:nvPr/>
        </p:nvSpPr>
        <p:spPr>
          <a:xfrm>
            <a:off x="777240" y="1719072"/>
            <a:ext cx="4846320" cy="365760"/>
          </a:xfrm>
          <a:prstGeom prst="rect">
            <a:avLst/>
          </a:prstGeom>
          <a:noFill/>
          <a:ln/>
        </p:spPr>
        <p:txBody>
          <a:bodyPr wrap="square" lIns="0" tIns="0" rIns="0" bIns="0" rtlCol="0" anchor="ctr"/>
          <a:lstStyle/>
          <a:p>
            <a:pPr indent="0" marL="0">
              <a:buNone/>
            </a:pPr>
            <a:r>
              <a:rPr lang="en-US" sz="1400" b="1" dirty="0">
                <a:solidFill>
                  <a:srgbClr val="0A5B5A"/>
                </a:solidFill>
                <a:latin typeface="Cambria" pitchFamily="34" charset="0"/>
                <a:ea typeface="Cambria" pitchFamily="34" charset="-122"/>
                <a:cs typeface="Cambria" pitchFamily="34" charset="-120"/>
              </a:rPr>
              <a:t>Conventions (this library uses them)</a:t>
            </a:r>
            <a:endParaRPr lang="en-US" sz="1400" dirty="0"/>
          </a:p>
        </p:txBody>
      </p:sp>
      <p:sp>
        <p:nvSpPr>
          <p:cNvPr id="8" name="Text 6"/>
          <p:cNvSpPr/>
          <p:nvPr/>
        </p:nvSpPr>
        <p:spPr>
          <a:xfrm>
            <a:off x="822960" y="2176272"/>
            <a:ext cx="4937760" cy="374904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{{placeholders}} for everything that changes per run — mail-merge fields for prompts; search for “{{” before running</a:t>
            </a:r>
            <a:endParaRPr lang="en-US" sz="1100" dirty="0"/>
          </a:p>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[optional] blocks you delete when unused</a:t>
            </a:r>
            <a:endParaRPr lang="en-US" sz="1100" dirty="0"/>
          </a:p>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Version + one-line change note — Rev A/B/C discipline, lighter weight; note which model it was tested on</a:t>
            </a:r>
            <a:endParaRPr lang="en-US" sz="1100" dirty="0"/>
          </a:p>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A filled example next to every blank template — the gold standard that shows what “good” looks like</a:t>
            </a:r>
            <a:endParaRPr lang="en-US" sz="1100" dirty="0"/>
          </a:p>
          <a:p>
            <a:pPr algn="l" marL="127000" indent="-127000">
              <a:lnSpc>
                <a:spcPct val="104000"/>
              </a:lnSpc>
              <a:spcAft>
                <a:spcPts val="700"/>
              </a:spcAft>
              <a:buSzPct val="100000"/>
              <a:buChar char="•"/>
            </a:pPr>
            <a:r>
              <a:rPr lang="en-US" sz="1100" b="1" dirty="0">
                <a:solidFill>
                  <a:srgbClr val="46545F"/>
                </a:solidFill>
                <a:latin typeface="Calibri" pitchFamily="34" charset="0"/>
                <a:ea typeface="Calibri" pitchFamily="34" charset="-122"/>
                <a:cs typeface="Calibri" pitchFamily="34" charset="-120"/>
              </a:rPr>
              <a:t>Test on 3–5 real cases (one edge case) before marking approved; re-test after model changes</a:t>
            </a:r>
            <a:endParaRPr lang="en-US" sz="1100" dirty="0"/>
          </a:p>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Every approved prompt has a named owner and a review cadence</a:t>
            </a:r>
            <a:endParaRPr lang="en-US" sz="1100" dirty="0"/>
          </a:p>
        </p:txBody>
      </p:sp>
      <p:sp>
        <p:nvSpPr>
          <p:cNvPr id="9" name="Shape 7"/>
          <p:cNvSpPr/>
          <p:nvPr/>
        </p:nvSpPr>
        <p:spPr>
          <a:xfrm>
            <a:off x="6172200" y="1508760"/>
            <a:ext cx="5486400" cy="2834640"/>
          </a:xfrm>
          <a:prstGeom prst="roundRect">
            <a:avLst>
              <a:gd name="adj" fmla="val 2581"/>
            </a:avLst>
          </a:prstGeom>
          <a:solidFill>
            <a:srgbClr val="F9E9E8"/>
          </a:solidFill>
          <a:ln/>
        </p:spPr>
      </p:sp>
      <p:sp>
        <p:nvSpPr>
          <p:cNvPr id="10" name="Text 8"/>
          <p:cNvSpPr/>
          <p:nvPr/>
        </p:nvSpPr>
        <p:spPr>
          <a:xfrm>
            <a:off x="6446520" y="1719072"/>
            <a:ext cx="4846320" cy="365760"/>
          </a:xfrm>
          <a:prstGeom prst="rect">
            <a:avLst/>
          </a:prstGeom>
          <a:noFill/>
          <a:ln/>
        </p:spPr>
        <p:txBody>
          <a:bodyPr wrap="square" lIns="0" tIns="0" rIns="0" bIns="0" rtlCol="0" anchor="ctr"/>
          <a:lstStyle/>
          <a:p>
            <a:pPr indent="0" marL="0">
              <a:buNone/>
            </a:pPr>
            <a:r>
              <a:rPr lang="en-US" sz="1400" b="1" dirty="0">
                <a:solidFill>
                  <a:srgbClr val="AF3230"/>
                </a:solidFill>
                <a:latin typeface="Cambria" pitchFamily="34" charset="0"/>
                <a:ea typeface="Cambria" pitchFamily="34" charset="-122"/>
                <a:cs typeface="Cambria" pitchFamily="34" charset="-120"/>
              </a:rPr>
              <a:t>Governance: prompts contain data</a:t>
            </a:r>
            <a:endParaRPr lang="en-US" sz="1400" dirty="0"/>
          </a:p>
        </p:txBody>
      </p:sp>
      <p:sp>
        <p:nvSpPr>
          <p:cNvPr id="11" name="Text 9"/>
          <p:cNvSpPr/>
          <p:nvPr/>
        </p:nvSpPr>
        <p:spPr>
          <a:xfrm>
            <a:off x="6492240" y="2176272"/>
            <a:ext cx="4937760" cy="210312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100" b="1" dirty="0">
                <a:solidFill>
                  <a:srgbClr val="46545F"/>
                </a:solidFill>
                <a:latin typeface="Calibri" pitchFamily="34" charset="0"/>
                <a:ea typeface="Calibri" pitchFamily="34" charset="-122"/>
                <a:cs typeface="Calibri" pitchFamily="34" charset="-120"/>
              </a:rPr>
              <a:t>A stored prompt often carries supplier names, pricing, findings, draft language — classify the library like the documents it quotes</a:t>
            </a:r>
            <a:endParaRPr lang="en-US" sz="1100" dirty="0"/>
          </a:p>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Never store credentials, personal data, or patient-adjacent examples in a template — {{placeholders}} supply them at run time</a:t>
            </a:r>
            <a:endParaRPr lang="en-US" sz="1100" dirty="0"/>
          </a:p>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Shared = distributed. Owner approval before team-wide sharing; treat third-party skills like installing software — audit first</a:t>
            </a:r>
            <a:endParaRPr lang="en-US" sz="1100" dirty="0"/>
          </a:p>
        </p:txBody>
      </p:sp>
      <p:sp>
        <p:nvSpPr>
          <p:cNvPr id="12" name="Shape 10"/>
          <p:cNvSpPr/>
          <p:nvPr/>
        </p:nvSpPr>
        <p:spPr>
          <a:xfrm>
            <a:off x="6172200" y="4526280"/>
            <a:ext cx="5486400" cy="1508760"/>
          </a:xfrm>
          <a:prstGeom prst="roundRect">
            <a:avLst>
              <a:gd name="adj" fmla="val 4848"/>
            </a:avLst>
          </a:prstGeom>
          <a:solidFill>
            <a:srgbClr val="E4F0EF"/>
          </a:solidFill>
          <a:ln/>
        </p:spPr>
      </p:sp>
      <p:sp>
        <p:nvSpPr>
          <p:cNvPr id="13" name="Text 11"/>
          <p:cNvSpPr/>
          <p:nvPr/>
        </p:nvSpPr>
        <p:spPr>
          <a:xfrm>
            <a:off x="6446520" y="4690872"/>
            <a:ext cx="4983480" cy="1280160"/>
          </a:xfrm>
          <a:prstGeom prst="rect">
            <a:avLst/>
          </a:prstGeom>
          <a:noFill/>
          <a:ln/>
        </p:spPr>
        <p:txBody>
          <a:bodyPr wrap="square" lIns="0" tIns="0" rIns="0" bIns="0" rtlCol="0" anchor="ctr"/>
          <a:lstStyle/>
          <a:p>
            <a:pPr indent="0" marL="0">
              <a:lnSpc>
                <a:spcPct val="110000"/>
              </a:lnSpc>
              <a:spcAft>
                <a:spcPts val="300"/>
              </a:spcAft>
              <a:buNone/>
            </a:pPr>
            <a:r>
              <a:rPr lang="en-US" sz="1200" b="1" dirty="0">
                <a:solidFill>
                  <a:srgbClr val="0A5B5A"/>
                </a:solidFill>
                <a:latin typeface="Calibri" pitchFamily="34" charset="0"/>
                <a:ea typeface="Calibri" pitchFamily="34" charset="-122"/>
                <a:cs typeface="Calibri" pitchFamily="34" charset="-120"/>
              </a:rPr>
              <a:t>Tools change; the practice doesn’t. </a:t>
            </a:r>
            <a:endParaRPr lang="en-US" sz="120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Prompt-tooling startups get acquired and shut down yearly. Version it, test it, own it — that discipline outlives every platform.</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THREE-MINUTE REP · PART 6</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58</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THREE-MINUTE REP</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Pick your rung, pick your prompt</a:t>
            </a:r>
            <a:endParaRPr lang="en-US" sz="3000" dirty="0"/>
          </a:p>
        </p:txBody>
      </p:sp>
      <p:sp>
        <p:nvSpPr>
          <p:cNvPr id="6" name="Shape 4"/>
          <p:cNvSpPr/>
          <p:nvPr/>
        </p:nvSpPr>
        <p:spPr>
          <a:xfrm>
            <a:off x="10314432" y="365760"/>
            <a:ext cx="384048" cy="384048"/>
          </a:xfrm>
          <a:prstGeom prst="ellipse">
            <a:avLst/>
          </a:prstGeom>
          <a:solidFill>
            <a:srgbClr val="0E7C7B"/>
          </a:solidFill>
          <a:ln/>
        </p:spPr>
      </p:sp>
      <p:pic>
        <p:nvPicPr>
          <p:cNvPr id="7" name="Image 0" descr="/home/user/Claude-Works/ai-training-prompt-engineering/src/assets/icons/clock_w.png">    </p:cNvPr>
          <p:cNvPicPr>
            <a:picLocks noChangeAspect="1"/>
          </p:cNvPicPr>
          <p:nvPr/>
        </p:nvPicPr>
        <p:blipFill>
          <a:blip r:embed="rId1"/>
          <a:stretch>
            <a:fillRect/>
          </a:stretch>
        </p:blipFill>
        <p:spPr>
          <a:xfrm>
            <a:off x="10414284" y="465612"/>
            <a:ext cx="184343" cy="184343"/>
          </a:xfrm>
          <a:prstGeom prst="rect">
            <a:avLst/>
          </a:prstGeom>
        </p:spPr>
      </p:pic>
      <p:sp>
        <p:nvSpPr>
          <p:cNvPr id="8" name="Text 5"/>
          <p:cNvSpPr/>
          <p:nvPr/>
        </p:nvSpPr>
        <p:spPr>
          <a:xfrm>
            <a:off x="10771632" y="402336"/>
            <a:ext cx="868680" cy="329184"/>
          </a:xfrm>
          <a:prstGeom prst="rect">
            <a:avLst/>
          </a:prstGeom>
          <a:noFill/>
          <a:ln/>
        </p:spPr>
        <p:txBody>
          <a:bodyPr wrap="square" lIns="0" tIns="0" rIns="0" bIns="0" rtlCol="0" anchor="ctr"/>
          <a:lstStyle/>
          <a:p>
            <a:pPr indent="0" marL="0">
              <a:buNone/>
            </a:pPr>
            <a:r>
              <a:rPr lang="en-US" sz="1600" b="1" dirty="0">
                <a:solidFill>
                  <a:srgbClr val="0E7C7B"/>
                </a:solidFill>
                <a:latin typeface="Cambria" pitchFamily="34" charset="0"/>
                <a:ea typeface="Cambria" pitchFamily="34" charset="-122"/>
                <a:cs typeface="Cambria" pitchFamily="34" charset="-120"/>
              </a:rPr>
              <a:t>3:00</a:t>
            </a:r>
            <a:endParaRPr lang="en-US" sz="1600" dirty="0"/>
          </a:p>
        </p:txBody>
      </p:sp>
      <p:sp>
        <p:nvSpPr>
          <p:cNvPr id="9" name="Shape 6"/>
          <p:cNvSpPr/>
          <p:nvPr/>
        </p:nvSpPr>
        <p:spPr>
          <a:xfrm>
            <a:off x="502920" y="1600200"/>
            <a:ext cx="11155680" cy="2926080"/>
          </a:xfrm>
          <a:prstGeom prst="roundRect">
            <a:avLst>
              <a:gd name="adj" fmla="val 2500"/>
            </a:avLst>
          </a:prstGeom>
          <a:solidFill>
            <a:srgbClr val="E4F0EF"/>
          </a:solidFill>
          <a:ln/>
        </p:spPr>
      </p:sp>
      <p:sp>
        <p:nvSpPr>
          <p:cNvPr id="10" name="Text 7"/>
          <p:cNvSpPr/>
          <p:nvPr/>
        </p:nvSpPr>
        <p:spPr>
          <a:xfrm>
            <a:off x="822960" y="1920240"/>
            <a:ext cx="10424160" cy="2011680"/>
          </a:xfrm>
          <a:prstGeom prst="rect">
            <a:avLst/>
          </a:prstGeom>
          <a:noFill/>
          <a:ln/>
        </p:spPr>
        <p:txBody>
          <a:bodyPr wrap="square" lIns="0" tIns="0" rIns="0" bIns="0" rtlCol="0" anchor="t"/>
          <a:lstStyle/>
          <a:p>
            <a:pPr algn="l" marL="127000" indent="-127000">
              <a:lnSpc>
                <a:spcPct val="104000"/>
              </a:lnSpc>
              <a:spcAft>
                <a:spcPts val="1100"/>
              </a:spcAft>
              <a:buSzPct val="100000"/>
              <a:buChar char="•"/>
            </a:pPr>
            <a:r>
              <a:rPr lang="en-US" sz="1350" b="1" dirty="0">
                <a:solidFill>
                  <a:srgbClr val="46545F"/>
                </a:solidFill>
                <a:latin typeface="Calibri" pitchFamily="34" charset="0"/>
                <a:ea typeface="Calibri" pitchFamily="34" charset="-122"/>
                <a:cs typeface="Calibri" pitchFamily="34" charset="-120"/>
              </a:rPr>
              <a:t>Which rung of the promotion ladder are you on today — one-off typing, personal doc, team library, packaged, as-code?</a:t>
            </a:r>
            <a:endParaRPr lang="en-US" sz="1350" dirty="0"/>
          </a:p>
          <a:p>
            <a:pPr algn="l" marL="127000" indent="-127000">
              <a:lnSpc>
                <a:spcPct val="104000"/>
              </a:lnSpc>
              <a:spcAft>
                <a:spcPts val="1100"/>
              </a:spcAft>
              <a:buSzPct val="100000"/>
              <a:buChar char="•"/>
            </a:pPr>
            <a:r>
              <a:rPr lang="en-US" sz="1350" dirty="0">
                <a:solidFill>
                  <a:srgbClr val="46545F"/>
                </a:solidFill>
                <a:latin typeface="Calibri" pitchFamily="34" charset="0"/>
                <a:ea typeface="Calibri" pitchFamily="34" charset="-122"/>
                <a:cs typeface="Calibri" pitchFamily="34" charset="-120"/>
              </a:rPr>
              <a:t>Name the ONE prompt you already reuse from memory. That is your first library entry.</a:t>
            </a:r>
            <a:endParaRPr lang="en-US" sz="1350" dirty="0"/>
          </a:p>
          <a:p>
            <a:pPr algn="l" marL="127000" indent="-127000">
              <a:lnSpc>
                <a:spcPct val="104000"/>
              </a:lnSpc>
              <a:spcAft>
                <a:spcPts val="1100"/>
              </a:spcAft>
              <a:buSzPct val="100000"/>
              <a:buChar char="•"/>
            </a:pPr>
            <a:r>
              <a:rPr lang="en-US" sz="1350" dirty="0">
                <a:solidFill>
                  <a:srgbClr val="46545F"/>
                </a:solidFill>
                <a:latin typeface="Calibri" pitchFamily="34" charset="0"/>
                <a:ea typeface="Calibri" pitchFamily="34" charset="-122"/>
                <a:cs typeface="Calibri" pitchFamily="34" charset="-120"/>
              </a:rPr>
              <a:t>Write where it will live and its v1.0 line — you have just started your prompt library.</a:t>
            </a:r>
            <a:endParaRPr lang="en-US" sz="1350" dirty="0"/>
          </a:p>
        </p:txBody>
      </p:sp>
      <p:sp>
        <p:nvSpPr>
          <p:cNvPr id="11" name="Shape 8"/>
          <p:cNvSpPr/>
          <p:nvPr/>
        </p:nvSpPr>
        <p:spPr>
          <a:xfrm>
            <a:off x="822960" y="3822192"/>
            <a:ext cx="1938528" cy="457200"/>
          </a:xfrm>
          <a:prstGeom prst="roundRect">
            <a:avLst>
              <a:gd name="adj" fmla="val 20000"/>
            </a:avLst>
          </a:prstGeom>
          <a:solidFill>
            <a:srgbClr val="FFFFFF"/>
          </a:solidFill>
          <a:ln w="12700">
            <a:solidFill>
              <a:srgbClr val="0E7C7B"/>
            </a:solidFill>
            <a:prstDash val="solid"/>
          </a:ln>
        </p:spPr>
      </p:sp>
      <p:sp>
        <p:nvSpPr>
          <p:cNvPr id="12" name="Text 9"/>
          <p:cNvSpPr/>
          <p:nvPr/>
        </p:nvSpPr>
        <p:spPr>
          <a:xfrm>
            <a:off x="822960" y="3831336"/>
            <a:ext cx="1938528" cy="438912"/>
          </a:xfrm>
          <a:prstGeom prst="rect">
            <a:avLst/>
          </a:prstGeom>
          <a:noFill/>
          <a:ln/>
        </p:spPr>
        <p:txBody>
          <a:bodyPr wrap="square" lIns="0" tIns="0" rIns="0" bIns="0" rtlCol="0" anchor="ctr"/>
          <a:lstStyle/>
          <a:p>
            <a:pPr algn="ctr" indent="0" marL="0">
              <a:buNone/>
            </a:pPr>
            <a:r>
              <a:rPr lang="en-US" sz="1100" b="1" dirty="0">
                <a:solidFill>
                  <a:srgbClr val="0A5B5A"/>
                </a:solidFill>
                <a:latin typeface="Calibri" pitchFamily="34" charset="0"/>
                <a:ea typeface="Calibri" pitchFamily="34" charset="-122"/>
                <a:cs typeface="Calibri" pitchFamily="34" charset="-120"/>
              </a:rPr>
              <a:t>1 · one-off</a:t>
            </a:r>
            <a:endParaRPr lang="en-US" sz="1100" dirty="0"/>
          </a:p>
        </p:txBody>
      </p:sp>
      <p:sp>
        <p:nvSpPr>
          <p:cNvPr id="13" name="Shape 10"/>
          <p:cNvSpPr/>
          <p:nvPr/>
        </p:nvSpPr>
        <p:spPr>
          <a:xfrm>
            <a:off x="2770632" y="4050792"/>
            <a:ext cx="128016" cy="0"/>
          </a:xfrm>
          <a:prstGeom prst="line">
            <a:avLst/>
          </a:prstGeom>
          <a:noFill/>
          <a:ln w="28575">
            <a:solidFill>
              <a:srgbClr val="0E7C7B"/>
            </a:solidFill>
            <a:prstDash val="solid"/>
            <a:tailEnd type="triangle"/>
          </a:ln>
        </p:spPr>
      </p:sp>
      <p:sp>
        <p:nvSpPr>
          <p:cNvPr id="14" name="Shape 11"/>
          <p:cNvSpPr/>
          <p:nvPr/>
        </p:nvSpPr>
        <p:spPr>
          <a:xfrm>
            <a:off x="2907792" y="3822192"/>
            <a:ext cx="1938528" cy="457200"/>
          </a:xfrm>
          <a:prstGeom prst="roundRect">
            <a:avLst>
              <a:gd name="adj" fmla="val 20000"/>
            </a:avLst>
          </a:prstGeom>
          <a:solidFill>
            <a:srgbClr val="FFFFFF"/>
          </a:solidFill>
          <a:ln w="12700">
            <a:solidFill>
              <a:srgbClr val="0E7C7B"/>
            </a:solidFill>
            <a:prstDash val="solid"/>
          </a:ln>
        </p:spPr>
      </p:sp>
      <p:sp>
        <p:nvSpPr>
          <p:cNvPr id="15" name="Text 12"/>
          <p:cNvSpPr/>
          <p:nvPr/>
        </p:nvSpPr>
        <p:spPr>
          <a:xfrm>
            <a:off x="2907792" y="3831336"/>
            <a:ext cx="1938528" cy="438912"/>
          </a:xfrm>
          <a:prstGeom prst="rect">
            <a:avLst/>
          </a:prstGeom>
          <a:noFill/>
          <a:ln/>
        </p:spPr>
        <p:txBody>
          <a:bodyPr wrap="square" lIns="0" tIns="0" rIns="0" bIns="0" rtlCol="0" anchor="ctr"/>
          <a:lstStyle/>
          <a:p>
            <a:pPr algn="ctr" indent="0" marL="0">
              <a:buNone/>
            </a:pPr>
            <a:r>
              <a:rPr lang="en-US" sz="1100" b="1" dirty="0">
                <a:solidFill>
                  <a:srgbClr val="0A5B5A"/>
                </a:solidFill>
                <a:latin typeface="Calibri" pitchFamily="34" charset="0"/>
                <a:ea typeface="Calibri" pitchFamily="34" charset="-122"/>
                <a:cs typeface="Calibri" pitchFamily="34" charset="-120"/>
              </a:rPr>
              <a:t>2 · personal doc</a:t>
            </a:r>
            <a:endParaRPr lang="en-US" sz="1100" dirty="0"/>
          </a:p>
        </p:txBody>
      </p:sp>
      <p:sp>
        <p:nvSpPr>
          <p:cNvPr id="16" name="Shape 13"/>
          <p:cNvSpPr/>
          <p:nvPr/>
        </p:nvSpPr>
        <p:spPr>
          <a:xfrm>
            <a:off x="4855464" y="4050792"/>
            <a:ext cx="128016" cy="0"/>
          </a:xfrm>
          <a:prstGeom prst="line">
            <a:avLst/>
          </a:prstGeom>
          <a:noFill/>
          <a:ln w="28575">
            <a:solidFill>
              <a:srgbClr val="0E7C7B"/>
            </a:solidFill>
            <a:prstDash val="solid"/>
            <a:tailEnd type="triangle"/>
          </a:ln>
        </p:spPr>
      </p:sp>
      <p:sp>
        <p:nvSpPr>
          <p:cNvPr id="17" name="Shape 14"/>
          <p:cNvSpPr/>
          <p:nvPr/>
        </p:nvSpPr>
        <p:spPr>
          <a:xfrm>
            <a:off x="4992624" y="3822192"/>
            <a:ext cx="1938528" cy="457200"/>
          </a:xfrm>
          <a:prstGeom prst="roundRect">
            <a:avLst>
              <a:gd name="adj" fmla="val 20000"/>
            </a:avLst>
          </a:prstGeom>
          <a:solidFill>
            <a:srgbClr val="FFFFFF"/>
          </a:solidFill>
          <a:ln w="12700">
            <a:solidFill>
              <a:srgbClr val="0E7C7B"/>
            </a:solidFill>
            <a:prstDash val="solid"/>
          </a:ln>
        </p:spPr>
      </p:sp>
      <p:sp>
        <p:nvSpPr>
          <p:cNvPr id="18" name="Text 15"/>
          <p:cNvSpPr/>
          <p:nvPr/>
        </p:nvSpPr>
        <p:spPr>
          <a:xfrm>
            <a:off x="4992624" y="3831336"/>
            <a:ext cx="1938528" cy="438912"/>
          </a:xfrm>
          <a:prstGeom prst="rect">
            <a:avLst/>
          </a:prstGeom>
          <a:noFill/>
          <a:ln/>
        </p:spPr>
        <p:txBody>
          <a:bodyPr wrap="square" lIns="0" tIns="0" rIns="0" bIns="0" rtlCol="0" anchor="ctr"/>
          <a:lstStyle/>
          <a:p>
            <a:pPr algn="ctr" indent="0" marL="0">
              <a:buNone/>
            </a:pPr>
            <a:r>
              <a:rPr lang="en-US" sz="1100" b="1" dirty="0">
                <a:solidFill>
                  <a:srgbClr val="0A5B5A"/>
                </a:solidFill>
                <a:latin typeface="Calibri" pitchFamily="34" charset="0"/>
                <a:ea typeface="Calibri" pitchFamily="34" charset="-122"/>
                <a:cs typeface="Calibri" pitchFamily="34" charset="-120"/>
              </a:rPr>
              <a:t>3 · team library</a:t>
            </a:r>
            <a:endParaRPr lang="en-US" sz="1100" dirty="0"/>
          </a:p>
        </p:txBody>
      </p:sp>
      <p:sp>
        <p:nvSpPr>
          <p:cNvPr id="19" name="Shape 16"/>
          <p:cNvSpPr/>
          <p:nvPr/>
        </p:nvSpPr>
        <p:spPr>
          <a:xfrm>
            <a:off x="6940296" y="4050792"/>
            <a:ext cx="128016" cy="0"/>
          </a:xfrm>
          <a:prstGeom prst="line">
            <a:avLst/>
          </a:prstGeom>
          <a:noFill/>
          <a:ln w="28575">
            <a:solidFill>
              <a:srgbClr val="0E7C7B"/>
            </a:solidFill>
            <a:prstDash val="solid"/>
            <a:tailEnd type="triangle"/>
          </a:ln>
        </p:spPr>
      </p:sp>
      <p:sp>
        <p:nvSpPr>
          <p:cNvPr id="20" name="Shape 17"/>
          <p:cNvSpPr/>
          <p:nvPr/>
        </p:nvSpPr>
        <p:spPr>
          <a:xfrm>
            <a:off x="7077456" y="3822192"/>
            <a:ext cx="1938528" cy="457200"/>
          </a:xfrm>
          <a:prstGeom prst="roundRect">
            <a:avLst>
              <a:gd name="adj" fmla="val 20000"/>
            </a:avLst>
          </a:prstGeom>
          <a:solidFill>
            <a:srgbClr val="FFFFFF"/>
          </a:solidFill>
          <a:ln w="12700">
            <a:solidFill>
              <a:srgbClr val="0E7C7B"/>
            </a:solidFill>
            <a:prstDash val="solid"/>
          </a:ln>
        </p:spPr>
      </p:sp>
      <p:sp>
        <p:nvSpPr>
          <p:cNvPr id="21" name="Text 18"/>
          <p:cNvSpPr/>
          <p:nvPr/>
        </p:nvSpPr>
        <p:spPr>
          <a:xfrm>
            <a:off x="7077456" y="3831336"/>
            <a:ext cx="1938528" cy="438912"/>
          </a:xfrm>
          <a:prstGeom prst="rect">
            <a:avLst/>
          </a:prstGeom>
          <a:noFill/>
          <a:ln/>
        </p:spPr>
        <p:txBody>
          <a:bodyPr wrap="square" lIns="0" tIns="0" rIns="0" bIns="0" rtlCol="0" anchor="ctr"/>
          <a:lstStyle/>
          <a:p>
            <a:pPr algn="ctr" indent="0" marL="0">
              <a:buNone/>
            </a:pPr>
            <a:r>
              <a:rPr lang="en-US" sz="1100" b="1" dirty="0">
                <a:solidFill>
                  <a:srgbClr val="0A5B5A"/>
                </a:solidFill>
                <a:latin typeface="Calibri" pitchFamily="34" charset="0"/>
                <a:ea typeface="Calibri" pitchFamily="34" charset="-122"/>
                <a:cs typeface="Calibri" pitchFamily="34" charset="-120"/>
              </a:rPr>
              <a:t>4 · packaged</a:t>
            </a:r>
            <a:endParaRPr lang="en-US" sz="1100" dirty="0"/>
          </a:p>
        </p:txBody>
      </p:sp>
      <p:sp>
        <p:nvSpPr>
          <p:cNvPr id="22" name="Shape 19"/>
          <p:cNvSpPr/>
          <p:nvPr/>
        </p:nvSpPr>
        <p:spPr>
          <a:xfrm>
            <a:off x="9025128" y="4050792"/>
            <a:ext cx="128016" cy="0"/>
          </a:xfrm>
          <a:prstGeom prst="line">
            <a:avLst/>
          </a:prstGeom>
          <a:noFill/>
          <a:ln w="28575">
            <a:solidFill>
              <a:srgbClr val="0E7C7B"/>
            </a:solidFill>
            <a:prstDash val="solid"/>
            <a:tailEnd type="triangle"/>
          </a:ln>
        </p:spPr>
      </p:sp>
      <p:sp>
        <p:nvSpPr>
          <p:cNvPr id="23" name="Shape 20"/>
          <p:cNvSpPr/>
          <p:nvPr/>
        </p:nvSpPr>
        <p:spPr>
          <a:xfrm>
            <a:off x="9162288" y="3822192"/>
            <a:ext cx="1938528" cy="457200"/>
          </a:xfrm>
          <a:prstGeom prst="roundRect">
            <a:avLst>
              <a:gd name="adj" fmla="val 20000"/>
            </a:avLst>
          </a:prstGeom>
          <a:solidFill>
            <a:srgbClr val="FFFFFF"/>
          </a:solidFill>
          <a:ln w="12700">
            <a:solidFill>
              <a:srgbClr val="0E7C7B"/>
            </a:solidFill>
            <a:prstDash val="solid"/>
          </a:ln>
        </p:spPr>
      </p:sp>
      <p:sp>
        <p:nvSpPr>
          <p:cNvPr id="24" name="Text 21"/>
          <p:cNvSpPr/>
          <p:nvPr/>
        </p:nvSpPr>
        <p:spPr>
          <a:xfrm>
            <a:off x="9162288" y="3831336"/>
            <a:ext cx="1938528" cy="438912"/>
          </a:xfrm>
          <a:prstGeom prst="rect">
            <a:avLst/>
          </a:prstGeom>
          <a:noFill/>
          <a:ln/>
        </p:spPr>
        <p:txBody>
          <a:bodyPr wrap="square" lIns="0" tIns="0" rIns="0" bIns="0" rtlCol="0" anchor="ctr"/>
          <a:lstStyle/>
          <a:p>
            <a:pPr algn="ctr" indent="0" marL="0">
              <a:buNone/>
            </a:pPr>
            <a:r>
              <a:rPr lang="en-US" sz="1100" b="1" dirty="0">
                <a:solidFill>
                  <a:srgbClr val="0A5B5A"/>
                </a:solidFill>
                <a:latin typeface="Calibri" pitchFamily="34" charset="0"/>
                <a:ea typeface="Calibri" pitchFamily="34" charset="-122"/>
                <a:cs typeface="Calibri" pitchFamily="34" charset="-120"/>
              </a:rPr>
              <a:t>5 · as-code</a:t>
            </a:r>
            <a:endParaRPr lang="en-US" sz="1100" dirty="0"/>
          </a:p>
        </p:txBody>
      </p:sp>
      <p:sp>
        <p:nvSpPr>
          <p:cNvPr id="25" name="Text 22"/>
          <p:cNvSpPr/>
          <p:nvPr/>
        </p:nvSpPr>
        <p:spPr>
          <a:xfrm>
            <a:off x="502920" y="4846320"/>
            <a:ext cx="11155680" cy="320040"/>
          </a:xfrm>
          <a:prstGeom prst="rect">
            <a:avLst/>
          </a:prstGeom>
          <a:noFill/>
          <a:ln/>
        </p:spPr>
        <p:txBody>
          <a:bodyPr wrap="square" lIns="0" tIns="0" rIns="0" bIns="0" rtlCol="0" anchor="ctr"/>
          <a:lstStyle/>
          <a:p>
            <a:pPr indent="0" marL="0">
              <a:buNone/>
            </a:pPr>
            <a:r>
              <a:rPr lang="en-US" sz="1050" i="1" dirty="0">
                <a:solidFill>
                  <a:srgbClr val="B96A1B"/>
                </a:solidFill>
                <a:latin typeface="Calibri" pitchFamily="34" charset="0"/>
                <a:ea typeface="Calibri" pitchFamily="34" charset="-122"/>
                <a:cs typeface="Calibri" pitchFamily="34" charset="-120"/>
              </a:rPr>
              <a:t>This one is not skippable — it is the whole training cashing out.</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CONCLUSION · THE SISTER SKILL</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59</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YOU ALREADY WRITE PROMPTS FOR A LIVING — SAME SKILL, NEW AUDIENCE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They’re called requirements</a:t>
            </a:r>
            <a:endParaRPr lang="en-US" sz="3000" dirty="0"/>
          </a:p>
        </p:txBody>
      </p:sp>
      <p:sp>
        <p:nvSpPr>
          <p:cNvPr id="6" name="Shape 4"/>
          <p:cNvSpPr/>
          <p:nvPr/>
        </p:nvSpPr>
        <p:spPr>
          <a:xfrm>
            <a:off x="502920" y="1444752"/>
            <a:ext cx="11155680" cy="713232"/>
          </a:xfrm>
          <a:prstGeom prst="roundRect">
            <a:avLst>
              <a:gd name="adj" fmla="val 10256"/>
            </a:avLst>
          </a:prstGeom>
          <a:solidFill>
            <a:srgbClr val="E4F0EF"/>
          </a:solidFill>
          <a:ln/>
        </p:spPr>
      </p:sp>
      <p:sp>
        <p:nvSpPr>
          <p:cNvPr id="7" name="Text 5"/>
          <p:cNvSpPr/>
          <p:nvPr/>
        </p:nvSpPr>
        <p:spPr>
          <a:xfrm>
            <a:off x="777240" y="1517904"/>
            <a:ext cx="10607040" cy="566928"/>
          </a:xfrm>
          <a:prstGeom prst="rect">
            <a:avLst/>
          </a:prstGeom>
          <a:noFill/>
          <a:ln/>
        </p:spPr>
        <p:txBody>
          <a:bodyPr wrap="square" lIns="0" tIns="0" rIns="0" bIns="0" rtlCol="0" anchor="ctr"/>
          <a:lstStyle/>
          <a:p>
            <a:pPr indent="0" marL="0">
              <a:lnSpc>
                <a:spcPct val="105000"/>
              </a:lnSpc>
              <a:buNone/>
            </a:pPr>
            <a:r>
              <a:rPr lang="en-US" sz="1300" i="1" dirty="0">
                <a:solidFill>
                  <a:srgbClr val="0A5B5A"/>
                </a:solidFill>
                <a:latin typeface="Calibri" pitchFamily="34" charset="0"/>
                <a:ea typeface="Calibri" pitchFamily="34" charset="-122"/>
                <a:cs typeface="Calibri" pitchFamily="34" charset="-120"/>
              </a:rPr>
              <a:t>“Prompt engineering and requirements engineering are literally the same skill — using clarity, context, and intentionality to communicate your intent.”</a:t>
            </a:r>
            <a:pPr indent="0" marL="0">
              <a:lnSpc>
                <a:spcPct val="105000"/>
              </a:lnSpc>
              <a:buNone/>
            </a:pPr>
            <a:r>
              <a:rPr lang="en-US" sz="1000" dirty="0">
                <a:solidFill>
                  <a:srgbClr val="7A8790"/>
                </a:solidFill>
                <a:latin typeface="Calibri" pitchFamily="34" charset="0"/>
                <a:ea typeface="Calibri" pitchFamily="34" charset="-122"/>
                <a:cs typeface="Calibri" pitchFamily="34" charset="-120"/>
              </a:rPr>
              <a:t>   — Andrew Stellman, O’Reilly, 2025</a:t>
            </a:r>
            <a:endParaRPr lang="en-US" sz="1300" dirty="0"/>
          </a:p>
        </p:txBody>
      </p:sp>
      <p:sp>
        <p:nvSpPr>
          <p:cNvPr id="8" name="Shape 6"/>
          <p:cNvSpPr/>
          <p:nvPr/>
        </p:nvSpPr>
        <p:spPr>
          <a:xfrm>
            <a:off x="502920" y="2286000"/>
            <a:ext cx="6309360" cy="3017520"/>
          </a:xfrm>
          <a:prstGeom prst="roundRect">
            <a:avLst>
              <a:gd name="adj" fmla="val 2424"/>
            </a:avLst>
          </a:prstGeom>
          <a:solidFill>
            <a:srgbClr val="F2F5F6"/>
          </a:solidFill>
          <a:ln/>
        </p:spPr>
      </p:sp>
      <p:sp>
        <p:nvSpPr>
          <p:cNvPr id="9" name="Text 7"/>
          <p:cNvSpPr/>
          <p:nvPr/>
        </p:nvSpPr>
        <p:spPr>
          <a:xfrm>
            <a:off x="777240" y="2432304"/>
            <a:ext cx="5669280" cy="320040"/>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Same structure, three ways</a:t>
            </a:r>
            <a:endParaRPr lang="en-US" sz="1400" dirty="0"/>
          </a:p>
        </p:txBody>
      </p:sp>
      <p:sp>
        <p:nvSpPr>
          <p:cNvPr id="10" name="Shape 8"/>
          <p:cNvSpPr/>
          <p:nvPr/>
        </p:nvSpPr>
        <p:spPr>
          <a:xfrm>
            <a:off x="731520" y="2852928"/>
            <a:ext cx="3017520" cy="731520"/>
          </a:xfrm>
          <a:prstGeom prst="roundRect">
            <a:avLst>
              <a:gd name="adj" fmla="val 10000"/>
            </a:avLst>
          </a:prstGeom>
          <a:solidFill>
            <a:srgbClr val="FFFFFF"/>
          </a:solidFill>
          <a:ln w="9525">
            <a:solidFill>
              <a:srgbClr val="DCE3E6"/>
            </a:solidFill>
            <a:prstDash val="solid"/>
          </a:ln>
        </p:spPr>
      </p:sp>
      <p:sp>
        <p:nvSpPr>
          <p:cNvPr id="11" name="Text 9"/>
          <p:cNvSpPr/>
          <p:nvPr/>
        </p:nvSpPr>
        <p:spPr>
          <a:xfrm>
            <a:off x="859536" y="2898648"/>
            <a:ext cx="2788920" cy="640080"/>
          </a:xfrm>
          <a:prstGeom prst="rect">
            <a:avLst/>
          </a:prstGeom>
          <a:noFill/>
          <a:ln/>
        </p:spPr>
        <p:txBody>
          <a:bodyPr wrap="square" lIns="0" tIns="0" rIns="0" bIns="0" rtlCol="0" anchor="ctr"/>
          <a:lstStyle/>
          <a:p>
            <a:pPr indent="0" marL="0">
              <a:lnSpc>
                <a:spcPct val="98000"/>
              </a:lnSpc>
              <a:buNone/>
            </a:pPr>
            <a:r>
              <a:rPr lang="en-US" sz="950" b="1" dirty="0">
                <a:solidFill>
                  <a:srgbClr val="232A31"/>
                </a:solidFill>
                <a:latin typeface="Calibri" pitchFamily="34" charset="0"/>
                <a:ea typeface="Calibri" pitchFamily="34" charset="-122"/>
                <a:cs typeface="Calibri" pitchFamily="34" charset="-120"/>
              </a:rPr>
              <a:t>User story</a:t>
            </a:r>
            <a:endParaRPr lang="en-US" sz="950" dirty="0"/>
          </a:p>
          <a:p>
            <a:pPr indent="0" marL="0">
              <a:lnSpc>
                <a:spcPct val="98000"/>
              </a:lnSpc>
              <a:buNone/>
            </a:pPr>
            <a:r>
              <a:rPr lang="en-US" sz="800" i="1" dirty="0">
                <a:solidFill>
                  <a:srgbClr val="46545F"/>
                </a:solidFill>
                <a:latin typeface="Calibri" pitchFamily="34" charset="0"/>
                <a:ea typeface="Calibri" pitchFamily="34" charset="-122"/>
                <a:cs typeface="Calibri" pitchFamily="34" charset="-120"/>
              </a:rPr>
              <a:t>“As a [role], I want [goal], so that [benefit]”</a:t>
            </a:r>
            <a:endParaRPr lang="en-US" sz="950" dirty="0"/>
          </a:p>
        </p:txBody>
      </p:sp>
      <p:sp>
        <p:nvSpPr>
          <p:cNvPr id="12" name="Shape 10"/>
          <p:cNvSpPr/>
          <p:nvPr/>
        </p:nvSpPr>
        <p:spPr>
          <a:xfrm>
            <a:off x="3803904" y="3127248"/>
            <a:ext cx="201168" cy="0"/>
          </a:xfrm>
          <a:prstGeom prst="line">
            <a:avLst/>
          </a:prstGeom>
          <a:noFill/>
          <a:ln w="28575">
            <a:solidFill>
              <a:srgbClr val="0E7C7B"/>
            </a:solidFill>
            <a:prstDash val="solid"/>
            <a:tailEnd type="triangle"/>
          </a:ln>
        </p:spPr>
      </p:sp>
      <p:sp>
        <p:nvSpPr>
          <p:cNvPr id="13" name="Text 11"/>
          <p:cNvSpPr/>
          <p:nvPr/>
        </p:nvSpPr>
        <p:spPr>
          <a:xfrm>
            <a:off x="4114800" y="2880360"/>
            <a:ext cx="2560320" cy="685800"/>
          </a:xfrm>
          <a:prstGeom prst="rect">
            <a:avLst/>
          </a:prstGeom>
          <a:noFill/>
          <a:ln/>
        </p:spPr>
        <p:txBody>
          <a:bodyPr wrap="square" lIns="0" tIns="0" rIns="0" bIns="0" rtlCol="0" anchor="ctr"/>
          <a:lstStyle/>
          <a:p>
            <a:pPr indent="0" marL="0">
              <a:lnSpc>
                <a:spcPct val="98000"/>
              </a:lnSpc>
              <a:buNone/>
            </a:pPr>
            <a:r>
              <a:rPr lang="en-US" sz="840" b="1" dirty="0">
                <a:solidFill>
                  <a:srgbClr val="0A5B5A"/>
                </a:solidFill>
                <a:latin typeface="Calibri" pitchFamily="34" charset="0"/>
                <a:ea typeface="Calibri" pitchFamily="34" charset="-122"/>
                <a:cs typeface="Calibri" pitchFamily="34" charset="-120"/>
              </a:rPr>
              <a:t>ROLE + TASK — the so-that is the Task’s purpose clause</a:t>
            </a:r>
            <a:endParaRPr lang="en-US" sz="840" dirty="0"/>
          </a:p>
        </p:txBody>
      </p:sp>
      <p:sp>
        <p:nvSpPr>
          <p:cNvPr id="14" name="Shape 12"/>
          <p:cNvSpPr/>
          <p:nvPr/>
        </p:nvSpPr>
        <p:spPr>
          <a:xfrm>
            <a:off x="731520" y="3675888"/>
            <a:ext cx="3017520" cy="731520"/>
          </a:xfrm>
          <a:prstGeom prst="roundRect">
            <a:avLst>
              <a:gd name="adj" fmla="val 10000"/>
            </a:avLst>
          </a:prstGeom>
          <a:solidFill>
            <a:srgbClr val="FFFFFF"/>
          </a:solidFill>
          <a:ln w="9525">
            <a:solidFill>
              <a:srgbClr val="DCE3E6"/>
            </a:solidFill>
            <a:prstDash val="solid"/>
          </a:ln>
        </p:spPr>
      </p:sp>
      <p:sp>
        <p:nvSpPr>
          <p:cNvPr id="15" name="Text 13"/>
          <p:cNvSpPr/>
          <p:nvPr/>
        </p:nvSpPr>
        <p:spPr>
          <a:xfrm>
            <a:off x="859536" y="3721608"/>
            <a:ext cx="2788920" cy="640080"/>
          </a:xfrm>
          <a:prstGeom prst="rect">
            <a:avLst/>
          </a:prstGeom>
          <a:noFill/>
          <a:ln/>
        </p:spPr>
        <p:txBody>
          <a:bodyPr wrap="square" lIns="0" tIns="0" rIns="0" bIns="0" rtlCol="0" anchor="ctr"/>
          <a:lstStyle/>
          <a:p>
            <a:pPr indent="0" marL="0">
              <a:lnSpc>
                <a:spcPct val="98000"/>
              </a:lnSpc>
              <a:buNone/>
            </a:pPr>
            <a:r>
              <a:rPr lang="en-US" sz="950" b="1" dirty="0">
                <a:solidFill>
                  <a:srgbClr val="232A31"/>
                </a:solidFill>
                <a:latin typeface="Calibri" pitchFamily="34" charset="0"/>
                <a:ea typeface="Calibri" pitchFamily="34" charset="-122"/>
                <a:cs typeface="Calibri" pitchFamily="34" charset="-120"/>
              </a:rPr>
              <a:t>Acceptance criteria</a:t>
            </a:r>
            <a:endParaRPr lang="en-US" sz="950" dirty="0"/>
          </a:p>
          <a:p>
            <a:pPr indent="0" marL="0">
              <a:lnSpc>
                <a:spcPct val="98000"/>
              </a:lnSpc>
              <a:buNone/>
            </a:pPr>
            <a:r>
              <a:rPr lang="en-US" sz="800" i="1" dirty="0">
                <a:solidFill>
                  <a:srgbClr val="46545F"/>
                </a:solidFill>
                <a:latin typeface="Calibri" pitchFamily="34" charset="0"/>
                <a:ea typeface="Calibri" pitchFamily="34" charset="-122"/>
                <a:cs typeface="Calibri" pitchFamily="34" charset="-120"/>
              </a:rPr>
              <a:t>Given [state] · When [action] · Then [result]</a:t>
            </a:r>
            <a:endParaRPr lang="en-US" sz="950" dirty="0"/>
          </a:p>
        </p:txBody>
      </p:sp>
      <p:sp>
        <p:nvSpPr>
          <p:cNvPr id="16" name="Shape 14"/>
          <p:cNvSpPr/>
          <p:nvPr/>
        </p:nvSpPr>
        <p:spPr>
          <a:xfrm>
            <a:off x="3803904" y="3950208"/>
            <a:ext cx="201168" cy="0"/>
          </a:xfrm>
          <a:prstGeom prst="line">
            <a:avLst/>
          </a:prstGeom>
          <a:noFill/>
          <a:ln w="28575">
            <a:solidFill>
              <a:srgbClr val="0E7C7B"/>
            </a:solidFill>
            <a:prstDash val="solid"/>
            <a:tailEnd type="triangle"/>
          </a:ln>
        </p:spPr>
      </p:sp>
      <p:sp>
        <p:nvSpPr>
          <p:cNvPr id="17" name="Text 15"/>
          <p:cNvSpPr/>
          <p:nvPr/>
        </p:nvSpPr>
        <p:spPr>
          <a:xfrm>
            <a:off x="4114800" y="3703320"/>
            <a:ext cx="2560320" cy="685800"/>
          </a:xfrm>
          <a:prstGeom prst="rect">
            <a:avLst/>
          </a:prstGeom>
          <a:noFill/>
          <a:ln/>
        </p:spPr>
        <p:txBody>
          <a:bodyPr wrap="square" lIns="0" tIns="0" rIns="0" bIns="0" rtlCol="0" anchor="ctr"/>
          <a:lstStyle/>
          <a:p>
            <a:pPr indent="0" marL="0">
              <a:lnSpc>
                <a:spcPct val="98000"/>
              </a:lnSpc>
              <a:buNone/>
            </a:pPr>
            <a:r>
              <a:rPr lang="en-US" sz="840" b="1" dirty="0">
                <a:solidFill>
                  <a:srgbClr val="0A5B5A"/>
                </a:solidFill>
                <a:latin typeface="Calibri" pitchFamily="34" charset="0"/>
                <a:ea typeface="Calibri" pitchFamily="34" charset="-122"/>
                <a:cs typeface="Calibri" pitchFamily="34" charset="-120"/>
              </a:rPr>
              <a:t>Given = CONTEXT · When = TASK · Then = FORMAT + checks</a:t>
            </a:r>
            <a:endParaRPr lang="en-US" sz="840" dirty="0"/>
          </a:p>
        </p:txBody>
      </p:sp>
      <p:sp>
        <p:nvSpPr>
          <p:cNvPr id="18" name="Shape 16"/>
          <p:cNvSpPr/>
          <p:nvPr/>
        </p:nvSpPr>
        <p:spPr>
          <a:xfrm>
            <a:off x="731520" y="4498848"/>
            <a:ext cx="3017520" cy="731520"/>
          </a:xfrm>
          <a:prstGeom prst="roundRect">
            <a:avLst>
              <a:gd name="adj" fmla="val 10000"/>
            </a:avLst>
          </a:prstGeom>
          <a:solidFill>
            <a:srgbClr val="FFFFFF"/>
          </a:solidFill>
          <a:ln w="9525">
            <a:solidFill>
              <a:srgbClr val="DCE3E6"/>
            </a:solidFill>
            <a:prstDash val="solid"/>
          </a:ln>
        </p:spPr>
      </p:sp>
      <p:sp>
        <p:nvSpPr>
          <p:cNvPr id="19" name="Text 17"/>
          <p:cNvSpPr/>
          <p:nvPr/>
        </p:nvSpPr>
        <p:spPr>
          <a:xfrm>
            <a:off x="859536" y="4544568"/>
            <a:ext cx="2788920" cy="640080"/>
          </a:xfrm>
          <a:prstGeom prst="rect">
            <a:avLst/>
          </a:prstGeom>
          <a:noFill/>
          <a:ln/>
        </p:spPr>
        <p:txBody>
          <a:bodyPr wrap="square" lIns="0" tIns="0" rIns="0" bIns="0" rtlCol="0" anchor="ctr"/>
          <a:lstStyle/>
          <a:p>
            <a:pPr indent="0" marL="0">
              <a:lnSpc>
                <a:spcPct val="98000"/>
              </a:lnSpc>
              <a:buNone/>
            </a:pPr>
            <a:r>
              <a:rPr lang="en-US" sz="950" b="1" dirty="0">
                <a:solidFill>
                  <a:srgbClr val="232A31"/>
                </a:solidFill>
                <a:latin typeface="Calibri" pitchFamily="34" charset="0"/>
                <a:ea typeface="Calibri" pitchFamily="34" charset="-122"/>
                <a:cs typeface="Calibri" pitchFamily="34" charset="-120"/>
              </a:rPr>
              <a:t>ISO 29148 standard</a:t>
            </a:r>
            <a:endParaRPr lang="en-US" sz="950" dirty="0"/>
          </a:p>
          <a:p>
            <a:pPr indent="0" marL="0">
              <a:lnSpc>
                <a:spcPct val="98000"/>
              </a:lnSpc>
              <a:buNone/>
            </a:pPr>
            <a:r>
              <a:rPr lang="en-US" sz="800" i="1" dirty="0">
                <a:solidFill>
                  <a:srgbClr val="46545F"/>
                </a:solidFill>
                <a:latin typeface="Calibri" pitchFamily="34" charset="0"/>
                <a:ea typeface="Calibri" pitchFamily="34" charset="-122"/>
                <a:cs typeface="Calibri" pitchFamily="34" charset="-120"/>
              </a:rPr>
              <a:t>unambiguous · complete · singular · verifiable</a:t>
            </a:r>
            <a:endParaRPr lang="en-US" sz="950" dirty="0"/>
          </a:p>
        </p:txBody>
      </p:sp>
      <p:sp>
        <p:nvSpPr>
          <p:cNvPr id="20" name="Shape 18"/>
          <p:cNvSpPr/>
          <p:nvPr/>
        </p:nvSpPr>
        <p:spPr>
          <a:xfrm>
            <a:off x="3803904" y="4773168"/>
            <a:ext cx="201168" cy="0"/>
          </a:xfrm>
          <a:prstGeom prst="line">
            <a:avLst/>
          </a:prstGeom>
          <a:noFill/>
          <a:ln w="28575">
            <a:solidFill>
              <a:srgbClr val="0E7C7B"/>
            </a:solidFill>
            <a:prstDash val="solid"/>
            <a:tailEnd type="triangle"/>
          </a:ln>
        </p:spPr>
      </p:sp>
      <p:sp>
        <p:nvSpPr>
          <p:cNvPr id="21" name="Text 19"/>
          <p:cNvSpPr/>
          <p:nvPr/>
        </p:nvSpPr>
        <p:spPr>
          <a:xfrm>
            <a:off x="4114800" y="4526280"/>
            <a:ext cx="2560320" cy="685800"/>
          </a:xfrm>
          <a:prstGeom prst="rect">
            <a:avLst/>
          </a:prstGeom>
          <a:noFill/>
          <a:ln/>
        </p:spPr>
        <p:txBody>
          <a:bodyPr wrap="square" lIns="0" tIns="0" rIns="0" bIns="0" rtlCol="0" anchor="ctr"/>
          <a:lstStyle/>
          <a:p>
            <a:pPr indent="0" marL="0">
              <a:lnSpc>
                <a:spcPct val="98000"/>
              </a:lnSpc>
              <a:buNone/>
            </a:pPr>
            <a:r>
              <a:rPr lang="en-US" sz="840" b="1" dirty="0">
                <a:solidFill>
                  <a:srgbClr val="0A5B5A"/>
                </a:solidFill>
                <a:latin typeface="Calibri" pitchFamily="34" charset="0"/>
                <a:ea typeface="Calibri" pitchFamily="34" charset="-122"/>
                <a:cs typeface="Calibri" pitchFamily="34" charset="-120"/>
              </a:rPr>
              <a:t>TASK precision · CONTEXT · THE STOP · FORMAT + self-check</a:t>
            </a:r>
            <a:endParaRPr lang="en-US" sz="840" dirty="0"/>
          </a:p>
        </p:txBody>
      </p:sp>
      <p:sp>
        <p:nvSpPr>
          <p:cNvPr id="22" name="Shape 20"/>
          <p:cNvSpPr/>
          <p:nvPr/>
        </p:nvSpPr>
        <p:spPr>
          <a:xfrm>
            <a:off x="6949440" y="2286000"/>
            <a:ext cx="4709160" cy="3017520"/>
          </a:xfrm>
          <a:prstGeom prst="roundRect">
            <a:avLst>
              <a:gd name="adj" fmla="val 2424"/>
            </a:avLst>
          </a:prstGeom>
          <a:solidFill>
            <a:srgbClr val="F2F5F6"/>
          </a:solidFill>
          <a:ln/>
        </p:spPr>
      </p:sp>
      <p:sp>
        <p:nvSpPr>
          <p:cNvPr id="23" name="Text 21"/>
          <p:cNvSpPr/>
          <p:nvPr/>
        </p:nvSpPr>
        <p:spPr>
          <a:xfrm>
            <a:off x="7205472" y="2432304"/>
            <a:ext cx="4206240" cy="320040"/>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Why it wins</a:t>
            </a:r>
            <a:endParaRPr lang="en-US" sz="1400" dirty="0"/>
          </a:p>
        </p:txBody>
      </p:sp>
      <p:sp>
        <p:nvSpPr>
          <p:cNvPr id="24" name="Text 22"/>
          <p:cNvSpPr/>
          <p:nvPr/>
        </p:nvSpPr>
        <p:spPr>
          <a:xfrm>
            <a:off x="7205472" y="2798064"/>
            <a:ext cx="4206240" cy="685800"/>
          </a:xfrm>
          <a:prstGeom prst="rect">
            <a:avLst/>
          </a:prstGeom>
          <a:noFill/>
          <a:ln/>
        </p:spPr>
        <p:txBody>
          <a:bodyPr wrap="square" lIns="0" tIns="0" rIns="0" bIns="0" rtlCol="0" anchor="ctr"/>
          <a:lstStyle/>
          <a:p>
            <a:pPr indent="0" marL="0">
              <a:lnSpc>
                <a:spcPct val="102000"/>
              </a:lnSpc>
              <a:buNone/>
            </a:pPr>
            <a:r>
              <a:rPr lang="en-US" sz="2200" b="1" dirty="0">
                <a:solidFill>
                  <a:srgbClr val="AF3230"/>
                </a:solidFill>
                <a:latin typeface="Cambria" pitchFamily="34" charset="0"/>
                <a:ea typeface="Cambria" pitchFamily="34" charset="-122"/>
                <a:cs typeface="Cambria" pitchFamily="34" charset="-120"/>
              </a:rPr>
              <a:t>41.1%</a:t>
            </a:r>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  — how often a model guesses an UNSTATED requirement right. A spec deletes the guessing.</a:t>
            </a:r>
            <a:endParaRPr lang="en-US" sz="2200" dirty="0"/>
          </a:p>
        </p:txBody>
      </p:sp>
      <p:sp>
        <p:nvSpPr>
          <p:cNvPr id="25" name="Text 23"/>
          <p:cNvSpPr/>
          <p:nvPr/>
        </p:nvSpPr>
        <p:spPr>
          <a:xfrm>
            <a:off x="7205472" y="3566160"/>
            <a:ext cx="4206240" cy="868680"/>
          </a:xfrm>
          <a:prstGeom prst="rect">
            <a:avLst/>
          </a:prstGeom>
          <a:noFill/>
          <a:ln/>
        </p:spPr>
        <p:txBody>
          <a:bodyPr wrap="square" lIns="0" tIns="0" rIns="0" bIns="0" rtlCol="0" anchor="ctr"/>
          <a:lstStyle/>
          <a:p>
            <a:pPr indent="0" marL="0">
              <a:lnSpc>
                <a:spcPct val="105000"/>
              </a:lnSpc>
              <a:spcAft>
                <a:spcPts val="300"/>
              </a:spcAft>
              <a:buNone/>
            </a:pPr>
            <a:r>
              <a:rPr lang="en-US" sz="1000" b="1" dirty="0">
                <a:solidFill>
                  <a:srgbClr val="232A31"/>
                </a:solidFill>
                <a:latin typeface="Calibri" pitchFamily="34" charset="0"/>
                <a:ea typeface="Calibri" pitchFamily="34" charset="-122"/>
                <a:cs typeface="Calibri" pitchFamily="34" charset="-120"/>
              </a:rPr>
              <a:t>The software world moved first: </a:t>
            </a:r>
            <a:endParaRPr lang="en-US" sz="1000" dirty="0"/>
          </a:p>
          <a:p>
            <a:pPr indent="0" marL="0">
              <a:lnSpc>
                <a:spcPct val="105000"/>
              </a:lnSpc>
              <a:buNone/>
            </a:pPr>
            <a:r>
              <a:rPr lang="en-US" sz="960" dirty="0">
                <a:solidFill>
                  <a:srgbClr val="46545F"/>
                </a:solidFill>
                <a:latin typeface="Calibri" pitchFamily="34" charset="0"/>
                <a:ea typeface="Calibri" pitchFamily="34" charset="-122"/>
                <a:cs typeface="Calibri" pitchFamily="34" charset="-120"/>
              </a:rPr>
              <a:t>GitHub’s Spec Kit (2025) makes the written spec “the source of truth” AI agents build from — spec-driven development is requirements writing, industrialized.</a:t>
            </a:r>
            <a:endParaRPr lang="en-US" sz="1000" dirty="0"/>
          </a:p>
        </p:txBody>
      </p:sp>
      <p:sp>
        <p:nvSpPr>
          <p:cNvPr id="26" name="Text 24"/>
          <p:cNvSpPr/>
          <p:nvPr/>
        </p:nvSpPr>
        <p:spPr>
          <a:xfrm>
            <a:off x="7205472" y="4498848"/>
            <a:ext cx="4206240" cy="685800"/>
          </a:xfrm>
          <a:prstGeom prst="rect">
            <a:avLst/>
          </a:prstGeom>
          <a:noFill/>
          <a:ln/>
        </p:spPr>
        <p:txBody>
          <a:bodyPr wrap="square" lIns="0" tIns="0" rIns="0" bIns="0" rtlCol="0" anchor="ctr"/>
          <a:lstStyle/>
          <a:p>
            <a:pPr indent="0" marL="0">
              <a:lnSpc>
                <a:spcPct val="104000"/>
              </a:lnSpc>
              <a:buNone/>
            </a:pPr>
            <a:r>
              <a:rPr lang="en-US" sz="1050" i="1" dirty="0">
                <a:solidFill>
                  <a:srgbClr val="0A5B5A"/>
                </a:solidFill>
                <a:latin typeface="Calibri" pitchFamily="34" charset="0"/>
                <a:ea typeface="Calibri" pitchFamily="34" charset="-122"/>
                <a:cs typeface="Calibri" pitchFamily="34" charset="-120"/>
              </a:rPr>
              <a:t>“Whoever writes the spec… is now the programmer.”</a:t>
            </a:r>
            <a:endParaRPr lang="en-US" sz="1050" dirty="0"/>
          </a:p>
          <a:p>
            <a:pPr indent="0" marL="0">
              <a:lnSpc>
                <a:spcPct val="104000"/>
              </a:lnSpc>
              <a:buNone/>
            </a:pPr>
            <a:r>
              <a:rPr lang="en-US" sz="850" dirty="0">
                <a:solidFill>
                  <a:srgbClr val="7A8790"/>
                </a:solidFill>
                <a:latin typeface="Calibri" pitchFamily="34" charset="0"/>
                <a:ea typeface="Calibri" pitchFamily="34" charset="-122"/>
                <a:cs typeface="Calibri" pitchFamily="34" charset="-120"/>
              </a:rPr>
              <a:t>— Sean Grove, OpenAI, 2025</a:t>
            </a:r>
            <a:endParaRPr lang="en-US" sz="1050" dirty="0"/>
          </a:p>
        </p:txBody>
      </p:sp>
      <p:sp>
        <p:nvSpPr>
          <p:cNvPr id="27" name="Shape 25"/>
          <p:cNvSpPr/>
          <p:nvPr/>
        </p:nvSpPr>
        <p:spPr>
          <a:xfrm>
            <a:off x="502920" y="5486400"/>
            <a:ext cx="11155680" cy="868680"/>
          </a:xfrm>
          <a:prstGeom prst="roundRect">
            <a:avLst>
              <a:gd name="adj" fmla="val 8421"/>
            </a:avLst>
          </a:prstGeom>
          <a:solidFill>
            <a:srgbClr val="FBF0E0"/>
          </a:solidFill>
          <a:ln/>
        </p:spPr>
      </p:sp>
      <p:sp>
        <p:nvSpPr>
          <p:cNvPr id="28" name="Shape 26"/>
          <p:cNvSpPr/>
          <p:nvPr/>
        </p:nvSpPr>
        <p:spPr>
          <a:xfrm>
            <a:off x="667512" y="5728716"/>
            <a:ext cx="384048" cy="384048"/>
          </a:xfrm>
          <a:prstGeom prst="ellipse">
            <a:avLst/>
          </a:prstGeom>
          <a:solidFill>
            <a:srgbClr val="B96A1B"/>
          </a:solidFill>
          <a:ln/>
        </p:spPr>
      </p:sp>
      <p:pic>
        <p:nvPicPr>
          <p:cNvPr id="29" name="Image 0" descr="/home/user/Claude-Works/ai-training-prompt-engineering/src/assets/icons/key_w.png">    </p:cNvPr>
          <p:cNvPicPr>
            <a:picLocks noChangeAspect="1"/>
          </p:cNvPicPr>
          <p:nvPr/>
        </p:nvPicPr>
        <p:blipFill>
          <a:blip r:embed="rId1"/>
          <a:stretch>
            <a:fillRect/>
          </a:stretch>
        </p:blipFill>
        <p:spPr>
          <a:xfrm>
            <a:off x="767364" y="5828568"/>
            <a:ext cx="184343" cy="184343"/>
          </a:xfrm>
          <a:prstGeom prst="rect">
            <a:avLst/>
          </a:prstGeom>
        </p:spPr>
      </p:pic>
      <p:sp>
        <p:nvSpPr>
          <p:cNvPr id="30" name="Text 27"/>
          <p:cNvSpPr/>
          <p:nvPr/>
        </p:nvSpPr>
        <p:spPr>
          <a:xfrm>
            <a:off x="1216152" y="5559552"/>
            <a:ext cx="10213848" cy="722376"/>
          </a:xfrm>
          <a:prstGeom prst="rect">
            <a:avLst/>
          </a:prstGeom>
          <a:noFill/>
          <a:ln/>
        </p:spPr>
        <p:txBody>
          <a:bodyPr wrap="square" lIns="0" tIns="0" rIns="0" bIns="0" rtlCol="0" anchor="ctr"/>
          <a:lstStyle/>
          <a:p>
            <a:pPr indent="0" marL="0">
              <a:lnSpc>
                <a:spcPct val="106000"/>
              </a:lnSpc>
              <a:buNone/>
            </a:pPr>
            <a:r>
              <a:rPr lang="en-US" sz="1200" b="1" dirty="0">
                <a:solidFill>
                  <a:srgbClr val="232A31"/>
                </a:solidFill>
                <a:latin typeface="Calibri" pitchFamily="34" charset="0"/>
                <a:ea typeface="Calibri" pitchFamily="34" charset="-122"/>
                <a:cs typeface="Calibri" pitchFamily="34" charset="-120"/>
              </a:rPr>
              <a:t>What this means for this room: </a:t>
            </a:r>
            <a:endParaRPr lang="en-US" sz="1150" dirty="0"/>
          </a:p>
          <a:p>
            <a:pPr indent="0" marL="0">
              <a:lnSpc>
                <a:spcPct val="106000"/>
              </a:lnSpc>
              <a:buNone/>
            </a:pPr>
            <a:r>
              <a:rPr lang="en-US" sz="1150" dirty="0">
                <a:solidFill>
                  <a:srgbClr val="46545F"/>
                </a:solidFill>
                <a:latin typeface="Calibri" pitchFamily="34" charset="0"/>
                <a:ea typeface="Calibri" pitchFamily="34" charset="-122"/>
                <a:cs typeface="Calibri" pitchFamily="34" charset="-120"/>
              </a:rPr>
              <a:t>if you can write an SOP, a test protocol, or an acceptance criterion, you already own the hardest 80% of prompt engineering — the seven elements are a requirements document in miniature.</a:t>
            </a:r>
            <a:endParaRPr lang="en-US" sz="11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CONCLUSION · ASK BETTER QUESTIONS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60</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BEST PROMPT IS A QUESTION</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Sometimes theirs — let the AI interview you</a:t>
            </a:r>
            <a:endParaRPr lang="en-US" sz="3000" dirty="0"/>
          </a:p>
        </p:txBody>
      </p:sp>
      <p:sp>
        <p:nvSpPr>
          <p:cNvPr id="6" name="Shape 4"/>
          <p:cNvSpPr/>
          <p:nvPr/>
        </p:nvSpPr>
        <p:spPr>
          <a:xfrm>
            <a:off x="502920" y="1444752"/>
            <a:ext cx="5669280" cy="3108960"/>
          </a:xfrm>
          <a:prstGeom prst="roundRect">
            <a:avLst>
              <a:gd name="adj" fmla="val 2353"/>
            </a:avLst>
          </a:prstGeom>
          <a:solidFill>
            <a:srgbClr val="E4F0EF"/>
          </a:solidFill>
          <a:ln/>
        </p:spPr>
      </p:sp>
      <p:sp>
        <p:nvSpPr>
          <p:cNvPr id="7" name="Text 5"/>
          <p:cNvSpPr/>
          <p:nvPr/>
        </p:nvSpPr>
        <p:spPr>
          <a:xfrm>
            <a:off x="777240" y="1591056"/>
            <a:ext cx="5120640" cy="320040"/>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The flip — one line you can paste today</a:t>
            </a:r>
            <a:endParaRPr lang="en-US" sz="1350" dirty="0"/>
          </a:p>
        </p:txBody>
      </p:sp>
      <p:sp>
        <p:nvSpPr>
          <p:cNvPr id="8" name="Shape 6"/>
          <p:cNvSpPr/>
          <p:nvPr/>
        </p:nvSpPr>
        <p:spPr>
          <a:xfrm>
            <a:off x="749808" y="1975104"/>
            <a:ext cx="5166360" cy="777240"/>
          </a:xfrm>
          <a:prstGeom prst="roundRect">
            <a:avLst>
              <a:gd name="adj" fmla="val 9412"/>
            </a:avLst>
          </a:prstGeom>
          <a:solidFill>
            <a:srgbClr val="FFFFFF"/>
          </a:solidFill>
          <a:ln w="9525">
            <a:solidFill>
              <a:srgbClr val="DCE3E6"/>
            </a:solidFill>
            <a:prstDash val="solid"/>
          </a:ln>
        </p:spPr>
      </p:sp>
      <p:sp>
        <p:nvSpPr>
          <p:cNvPr id="9" name="Text 7"/>
          <p:cNvSpPr/>
          <p:nvPr/>
        </p:nvSpPr>
        <p:spPr>
          <a:xfrm>
            <a:off x="896112" y="2048256"/>
            <a:ext cx="4892040" cy="640080"/>
          </a:xfrm>
          <a:prstGeom prst="rect">
            <a:avLst/>
          </a:prstGeom>
          <a:noFill/>
          <a:ln/>
        </p:spPr>
        <p:txBody>
          <a:bodyPr wrap="square" lIns="0" tIns="0" rIns="0" bIns="0" rtlCol="0" anchor="ctr"/>
          <a:lstStyle/>
          <a:p>
            <a:pPr indent="0" marL="0">
              <a:lnSpc>
                <a:spcPct val="106000"/>
              </a:lnSpc>
              <a:buNone/>
            </a:pPr>
            <a:r>
              <a:rPr lang="en-US" sz="1000" dirty="0">
                <a:solidFill>
                  <a:srgbClr val="0A5B5A"/>
                </a:solidFill>
                <a:latin typeface="Consolas" pitchFamily="34" charset="0"/>
                <a:ea typeface="Consolas" pitchFamily="34" charset="-122"/>
                <a:cs typeface="Consolas" pitchFamily="34" charset="-120"/>
              </a:rPr>
              <a:t>“Before answering, ask me clarifying questions until you’re 95% confident you understand what I need.”</a:t>
            </a:r>
            <a:endParaRPr lang="en-US" sz="1000" dirty="0"/>
          </a:p>
        </p:txBody>
      </p:sp>
      <p:sp>
        <p:nvSpPr>
          <p:cNvPr id="10" name="Text 8"/>
          <p:cNvSpPr/>
          <p:nvPr/>
        </p:nvSpPr>
        <p:spPr>
          <a:xfrm>
            <a:off x="777240" y="2871216"/>
            <a:ext cx="5120640" cy="914400"/>
          </a:xfrm>
          <a:prstGeom prst="rect">
            <a:avLst/>
          </a:prstGeom>
          <a:noFill/>
          <a:ln/>
        </p:spPr>
        <p:txBody>
          <a:bodyPr wrap="square" lIns="0" tIns="0" rIns="0" bIns="0" rtlCol="0" anchor="ctr"/>
          <a:lstStyle/>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Why it works: </a:t>
            </a:r>
            <a:pPr indent="0" marL="0">
              <a:lnSpc>
                <a:spcPct val="106000"/>
              </a:lnSpc>
              <a:buNone/>
            </a:pPr>
            <a:r>
              <a:rPr lang="en-US" sz="1000" dirty="0">
                <a:solidFill>
                  <a:srgbClr val="46545F"/>
                </a:solidFill>
                <a:latin typeface="Calibri" pitchFamily="34" charset="0"/>
                <a:ea typeface="Calibri" pitchFamily="34" charset="-122"/>
                <a:cs typeface="Calibri" pitchFamily="34" charset="-120"/>
              </a:rPr>
              <a:t>unstated needs get guessed right 41.1% of the time — but when the model asks FIRST, accuracy jumps ~7–14 points (ClarifyGPT, FSE 2024). Answering its questions isn’t politeness; it’s quality control.</a:t>
            </a:r>
            <a:endParaRPr lang="en-US" sz="1050" dirty="0"/>
          </a:p>
        </p:txBody>
      </p:sp>
      <p:sp>
        <p:nvSpPr>
          <p:cNvPr id="11" name="Text 9"/>
          <p:cNvSpPr/>
          <p:nvPr/>
        </p:nvSpPr>
        <p:spPr>
          <a:xfrm>
            <a:off x="777240" y="3840480"/>
            <a:ext cx="5120640" cy="594360"/>
          </a:xfrm>
          <a:prstGeom prst="rect">
            <a:avLst/>
          </a:prstGeom>
          <a:noFill/>
          <a:ln/>
        </p:spPr>
        <p:txBody>
          <a:bodyPr wrap="square" lIns="0" tIns="0" rIns="0" bIns="0" rtlCol="0" anchor="ctr"/>
          <a:lstStyle/>
          <a:p>
            <a:pPr indent="0" marL="0">
              <a:lnSpc>
                <a:spcPct val="105000"/>
              </a:lnSpc>
              <a:buNone/>
            </a:pPr>
            <a:r>
              <a:rPr lang="en-US" sz="950" i="1" dirty="0">
                <a:solidFill>
                  <a:srgbClr val="0A5B5A"/>
                </a:solidFill>
                <a:latin typeface="Calibri" pitchFamily="34" charset="0"/>
                <a:ea typeface="Calibri" pitchFamily="34" charset="-122"/>
                <a:cs typeface="Calibri" pitchFamily="34" charset="-120"/>
              </a:rPr>
              <a:t>You’ve run this before — it was Prompt 1/7, step 2, on slide two. The course opened and closes on the same move.</a:t>
            </a:r>
            <a:endParaRPr lang="en-US" sz="950" dirty="0"/>
          </a:p>
        </p:txBody>
      </p:sp>
      <p:sp>
        <p:nvSpPr>
          <p:cNvPr id="12" name="Shape 10"/>
          <p:cNvSpPr/>
          <p:nvPr/>
        </p:nvSpPr>
        <p:spPr>
          <a:xfrm>
            <a:off x="6355080" y="1444752"/>
            <a:ext cx="5303520" cy="3108960"/>
          </a:xfrm>
          <a:prstGeom prst="roundRect">
            <a:avLst>
              <a:gd name="adj" fmla="val 2353"/>
            </a:avLst>
          </a:prstGeom>
          <a:solidFill>
            <a:srgbClr val="F2F5F6"/>
          </a:solidFill>
          <a:ln/>
        </p:spPr>
      </p:sp>
      <p:sp>
        <p:nvSpPr>
          <p:cNvPr id="13" name="Text 11"/>
          <p:cNvSpPr/>
          <p:nvPr/>
        </p:nvSpPr>
        <p:spPr>
          <a:xfrm>
            <a:off x="6601968" y="1591056"/>
            <a:ext cx="484632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question toolkit — for you, not the AI</a:t>
            </a:r>
            <a:endParaRPr lang="en-US" sz="1350" dirty="0"/>
          </a:p>
        </p:txBody>
      </p:sp>
      <p:sp>
        <p:nvSpPr>
          <p:cNvPr id="14" name="Shape 12"/>
          <p:cNvSpPr/>
          <p:nvPr/>
        </p:nvSpPr>
        <p:spPr>
          <a:xfrm>
            <a:off x="6601968" y="2066544"/>
            <a:ext cx="365760" cy="365760"/>
          </a:xfrm>
          <a:prstGeom prst="ellipse">
            <a:avLst/>
          </a:prstGeom>
          <a:solidFill>
            <a:srgbClr val="0E7C7B"/>
          </a:solidFill>
          <a:ln/>
        </p:spPr>
      </p:sp>
      <p:pic>
        <p:nvPicPr>
          <p:cNvPr id="15" name="Image 0" descr="/home/user/Claude-Works/ai-training-prompt-engineering/src/assets/icons/refresh_w.png">    </p:cNvPr>
          <p:cNvPicPr>
            <a:picLocks noChangeAspect="1"/>
          </p:cNvPicPr>
          <p:nvPr/>
        </p:nvPicPr>
        <p:blipFill>
          <a:blip r:embed="rId1"/>
          <a:stretch>
            <a:fillRect/>
          </a:stretch>
        </p:blipFill>
        <p:spPr>
          <a:xfrm>
            <a:off x="6697066" y="2161642"/>
            <a:ext cx="175565" cy="175565"/>
          </a:xfrm>
          <a:prstGeom prst="rect">
            <a:avLst/>
          </a:prstGeom>
        </p:spPr>
      </p:pic>
      <p:sp>
        <p:nvSpPr>
          <p:cNvPr id="16" name="Text 13"/>
          <p:cNvSpPr/>
          <p:nvPr/>
        </p:nvSpPr>
        <p:spPr>
          <a:xfrm>
            <a:off x="7077456" y="1993392"/>
            <a:ext cx="4389120" cy="822960"/>
          </a:xfrm>
          <a:prstGeom prst="rect">
            <a:avLst/>
          </a:prstGeom>
          <a:noFill/>
          <a:ln/>
        </p:spPr>
        <p:txBody>
          <a:bodyPr wrap="square" lIns="0" tIns="0" rIns="0" bIns="0" rtlCol="0" anchor="ctr"/>
          <a:lstStyle/>
          <a:p>
            <a:pPr indent="0" marL="0">
              <a:lnSpc>
                <a:spcPct val="103000"/>
              </a:lnSpc>
              <a:buNone/>
            </a:pPr>
            <a:r>
              <a:rPr lang="en-US" sz="1050" b="1" dirty="0">
                <a:solidFill>
                  <a:srgbClr val="0A5B5A"/>
                </a:solidFill>
                <a:latin typeface="Calibri" pitchFamily="34" charset="0"/>
                <a:ea typeface="Calibri" pitchFamily="34" charset="-122"/>
                <a:cs typeface="Calibri" pitchFamily="34" charset="-120"/>
              </a:rPr>
              <a:t>Five Whys — </a:t>
            </a:r>
            <a:pPr indent="0" marL="0">
              <a:lnSpc>
                <a:spcPct val="103000"/>
              </a:lnSpc>
              <a:buNone/>
            </a:pPr>
            <a:r>
              <a:rPr lang="en-US" sz="960" dirty="0">
                <a:solidFill>
                  <a:srgbClr val="46545F"/>
                </a:solidFill>
                <a:latin typeface="Calibri" pitchFamily="34" charset="0"/>
                <a:ea typeface="Calibri" pitchFamily="34" charset="-122"/>
                <a:cs typeface="Calibri" pitchFamily="34" charset="-120"/>
              </a:rPr>
              <a:t>Ohno, Toyota: “by repeating why five times… the solution becomes clear.” Same factory as our PDCA loop.</a:t>
            </a:r>
            <a:endParaRPr lang="en-US" sz="1050" dirty="0"/>
          </a:p>
        </p:txBody>
      </p:sp>
      <p:sp>
        <p:nvSpPr>
          <p:cNvPr id="17" name="Shape 14"/>
          <p:cNvSpPr/>
          <p:nvPr/>
        </p:nvSpPr>
        <p:spPr>
          <a:xfrm>
            <a:off x="6601968" y="2926080"/>
            <a:ext cx="365760" cy="365760"/>
          </a:xfrm>
          <a:prstGeom prst="ellipse">
            <a:avLst/>
          </a:prstGeom>
          <a:solidFill>
            <a:srgbClr val="0E7C7B"/>
          </a:solidFill>
          <a:ln/>
        </p:spPr>
      </p:sp>
      <p:pic>
        <p:nvPicPr>
          <p:cNvPr id="18" name="Image 1" descr="/home/user/Claude-Works/ai-training-prompt-engineering/src/assets/icons/branch_w.png">    </p:cNvPr>
          <p:cNvPicPr>
            <a:picLocks noChangeAspect="1"/>
          </p:cNvPicPr>
          <p:nvPr/>
        </p:nvPicPr>
        <p:blipFill>
          <a:blip r:embed="rId2"/>
          <a:stretch>
            <a:fillRect/>
          </a:stretch>
        </p:blipFill>
        <p:spPr>
          <a:xfrm>
            <a:off x="6697066" y="3021178"/>
            <a:ext cx="175565" cy="175565"/>
          </a:xfrm>
          <a:prstGeom prst="rect">
            <a:avLst/>
          </a:prstGeom>
        </p:spPr>
      </p:pic>
      <p:sp>
        <p:nvSpPr>
          <p:cNvPr id="19" name="Text 15"/>
          <p:cNvSpPr/>
          <p:nvPr/>
        </p:nvSpPr>
        <p:spPr>
          <a:xfrm>
            <a:off x="7077456" y="2852928"/>
            <a:ext cx="4389120" cy="822960"/>
          </a:xfrm>
          <a:prstGeom prst="rect">
            <a:avLst/>
          </a:prstGeom>
          <a:noFill/>
          <a:ln/>
        </p:spPr>
        <p:txBody>
          <a:bodyPr wrap="square" lIns="0" tIns="0" rIns="0" bIns="0" rtlCol="0" anchor="ctr"/>
          <a:lstStyle/>
          <a:p>
            <a:pPr indent="0" marL="0">
              <a:lnSpc>
                <a:spcPct val="103000"/>
              </a:lnSpc>
              <a:buNone/>
            </a:pPr>
            <a:r>
              <a:rPr lang="en-US" sz="1050" b="1" dirty="0">
                <a:solidFill>
                  <a:srgbClr val="0A5B5A"/>
                </a:solidFill>
                <a:latin typeface="Calibri" pitchFamily="34" charset="0"/>
                <a:ea typeface="Calibri" pitchFamily="34" charset="-122"/>
                <a:cs typeface="Calibri" pitchFamily="34" charset="-120"/>
              </a:rPr>
              <a:t>Open → closed funnel — </a:t>
            </a:r>
            <a:pPr indent="0" marL="0">
              <a:lnSpc>
                <a:spcPct val="103000"/>
              </a:lnSpc>
              <a:buNone/>
            </a:pPr>
            <a:r>
              <a:rPr lang="en-US" sz="960" dirty="0">
                <a:solidFill>
                  <a:srgbClr val="46545F"/>
                </a:solidFill>
                <a:latin typeface="Calibri" pitchFamily="34" charset="0"/>
                <a:ea typeface="Calibri" pitchFamily="34" charset="-122"/>
                <a:cs typeface="Calibri" pitchFamily="34" charset="-120"/>
              </a:rPr>
              <a:t>Open questions to explore (“what’s driving this?”), closed to verify (“so the cap is 18k — yes or no?”).</a:t>
            </a:r>
            <a:endParaRPr lang="en-US" sz="1050" dirty="0"/>
          </a:p>
        </p:txBody>
      </p:sp>
      <p:sp>
        <p:nvSpPr>
          <p:cNvPr id="20" name="Shape 16"/>
          <p:cNvSpPr/>
          <p:nvPr/>
        </p:nvSpPr>
        <p:spPr>
          <a:xfrm>
            <a:off x="6601968" y="3785616"/>
            <a:ext cx="365760" cy="365760"/>
          </a:xfrm>
          <a:prstGeom prst="ellipse">
            <a:avLst/>
          </a:prstGeom>
          <a:solidFill>
            <a:srgbClr val="0E7C7B"/>
          </a:solidFill>
          <a:ln/>
        </p:spPr>
      </p:sp>
      <p:pic>
        <p:nvPicPr>
          <p:cNvPr id="21" name="Image 2" descr="/home/user/Claude-Works/ai-training-prompt-engineering/src/assets/icons/help_w.png">    </p:cNvPr>
          <p:cNvPicPr>
            <a:picLocks noChangeAspect="1"/>
          </p:cNvPicPr>
          <p:nvPr/>
        </p:nvPicPr>
        <p:blipFill>
          <a:blip r:embed="rId3"/>
          <a:stretch>
            <a:fillRect/>
          </a:stretch>
        </p:blipFill>
        <p:spPr>
          <a:xfrm>
            <a:off x="6697066" y="3880714"/>
            <a:ext cx="175565" cy="175565"/>
          </a:xfrm>
          <a:prstGeom prst="rect">
            <a:avLst/>
          </a:prstGeom>
        </p:spPr>
      </p:pic>
      <p:sp>
        <p:nvSpPr>
          <p:cNvPr id="22" name="Text 17"/>
          <p:cNvSpPr/>
          <p:nvPr/>
        </p:nvSpPr>
        <p:spPr>
          <a:xfrm>
            <a:off x="7077456" y="3712464"/>
            <a:ext cx="4389120" cy="822960"/>
          </a:xfrm>
          <a:prstGeom prst="rect">
            <a:avLst/>
          </a:prstGeom>
          <a:noFill/>
          <a:ln/>
        </p:spPr>
        <p:txBody>
          <a:bodyPr wrap="square" lIns="0" tIns="0" rIns="0" bIns="0" rtlCol="0" anchor="ctr"/>
          <a:lstStyle/>
          <a:p>
            <a:pPr indent="0" marL="0">
              <a:lnSpc>
                <a:spcPct val="103000"/>
              </a:lnSpc>
              <a:buNone/>
            </a:pPr>
            <a:r>
              <a:rPr lang="en-US" sz="1050" b="1" dirty="0">
                <a:solidFill>
                  <a:srgbClr val="0A5B5A"/>
                </a:solidFill>
                <a:latin typeface="Calibri" pitchFamily="34" charset="0"/>
                <a:ea typeface="Calibri" pitchFamily="34" charset="-122"/>
                <a:cs typeface="Calibri" pitchFamily="34" charset="-120"/>
              </a:rPr>
              <a:t>The Socratic check — </a:t>
            </a:r>
            <a:pPr indent="0" marL="0">
              <a:lnSpc>
                <a:spcPct val="103000"/>
              </a:lnSpc>
              <a:buNone/>
            </a:pPr>
            <a:r>
              <a:rPr lang="en-US" sz="960" dirty="0">
                <a:solidFill>
                  <a:srgbClr val="46545F"/>
                </a:solidFill>
                <a:latin typeface="Calibri" pitchFamily="34" charset="0"/>
                <a:ea typeface="Calibri" pitchFamily="34" charset="-122"/>
                <a:cs typeface="Calibri" pitchFamily="34" charset="-120"/>
              </a:rPr>
              <a:t>Interrogate any AI answer: what’s assumed? what’s the evidence? what if we’re wrong?</a:t>
            </a:r>
            <a:endParaRPr lang="en-US" sz="1050" dirty="0"/>
          </a:p>
        </p:txBody>
      </p:sp>
      <p:sp>
        <p:nvSpPr>
          <p:cNvPr id="23" name="Shape 18"/>
          <p:cNvSpPr/>
          <p:nvPr/>
        </p:nvSpPr>
        <p:spPr>
          <a:xfrm>
            <a:off x="502920" y="4681728"/>
            <a:ext cx="11155680" cy="914400"/>
          </a:xfrm>
          <a:prstGeom prst="roundRect">
            <a:avLst>
              <a:gd name="adj" fmla="val 8000"/>
            </a:avLst>
          </a:prstGeom>
          <a:solidFill>
            <a:srgbClr val="F2F5F6"/>
          </a:solidFill>
          <a:ln/>
        </p:spPr>
      </p:sp>
      <p:sp>
        <p:nvSpPr>
          <p:cNvPr id="24" name="Text 19"/>
          <p:cNvSpPr/>
          <p:nvPr/>
        </p:nvSpPr>
        <p:spPr>
          <a:xfrm>
            <a:off x="777240" y="4773168"/>
            <a:ext cx="10607040" cy="749808"/>
          </a:xfrm>
          <a:prstGeom prst="rect">
            <a:avLst/>
          </a:prstGeom>
          <a:noFill/>
          <a:ln/>
        </p:spPr>
        <p:txBody>
          <a:bodyPr wrap="square" lIns="0" tIns="0" rIns="0" bIns="0" rtlCol="0" anchor="ctr"/>
          <a:lstStyle/>
          <a:p>
            <a:pPr indent="0" marL="0">
              <a:lnSpc>
                <a:spcPct val="108000"/>
              </a:lnSpc>
              <a:buNone/>
            </a:pPr>
            <a:r>
              <a:rPr lang="en-US" sz="1250" i="1" dirty="0">
                <a:solidFill>
                  <a:srgbClr val="232A31"/>
                </a:solidFill>
                <a:latin typeface="Calibri" pitchFamily="34" charset="0"/>
                <a:ea typeface="Calibri" pitchFamily="34" charset="-122"/>
                <a:cs typeface="Calibri" pitchFamily="34" charset="-120"/>
              </a:rPr>
              <a:t>“Figuring out what questions to ask will be more important than figuring out the answer.”</a:t>
            </a:r>
            <a:pPr indent="0" marL="0">
              <a:lnSpc>
                <a:spcPct val="108000"/>
              </a:lnSpc>
              <a:spcAft>
                <a:spcPts val="300"/>
              </a:spcAft>
              <a:buNone/>
            </a:pPr>
            <a:r>
              <a:rPr lang="en-US" sz="950" dirty="0">
                <a:solidFill>
                  <a:srgbClr val="7A8790"/>
                </a:solidFill>
                <a:latin typeface="Calibri" pitchFamily="34" charset="0"/>
                <a:ea typeface="Calibri" pitchFamily="34" charset="-122"/>
                <a:cs typeface="Calibri" pitchFamily="34" charset="-120"/>
              </a:rPr>
              <a:t>  — Sam Altman, 2025</a:t>
            </a:r>
            <a:endParaRPr lang="en-US" sz="1250" dirty="0"/>
          </a:p>
          <a:p>
            <a:pPr indent="0" marL="0">
              <a:lnSpc>
                <a:spcPct val="108000"/>
              </a:lnSpc>
              <a:buNone/>
            </a:pPr>
            <a:r>
              <a:rPr lang="en-US" sz="1050" i="1" dirty="0">
                <a:solidFill>
                  <a:srgbClr val="46545F"/>
                </a:solidFill>
                <a:latin typeface="Calibri" pitchFamily="34" charset="0"/>
                <a:ea typeface="Calibri" pitchFamily="34" charset="-122"/>
                <a:cs typeface="Calibri" pitchFamily="34" charset="-120"/>
              </a:rPr>
              <a:t>“[Computers] are useless. They can only give you answers.”</a:t>
            </a:r>
            <a:pPr indent="0" marL="0">
              <a:lnSpc>
                <a:spcPct val="108000"/>
              </a:lnSpc>
              <a:buNone/>
            </a:pPr>
            <a:r>
              <a:rPr lang="en-US" sz="900" dirty="0">
                <a:solidFill>
                  <a:srgbClr val="7A8790"/>
                </a:solidFill>
                <a:latin typeface="Calibri" pitchFamily="34" charset="0"/>
                <a:ea typeface="Calibri" pitchFamily="34" charset="-122"/>
                <a:cs typeface="Calibri" pitchFamily="34" charset="-120"/>
              </a:rPr>
              <a:t>  — Pablo Picasso, 1964. Sixty years apart, same conclusion.</a:t>
            </a:r>
            <a:endParaRPr lang="en-US" sz="1250" dirty="0"/>
          </a:p>
        </p:txBody>
      </p:sp>
      <p:sp>
        <p:nvSpPr>
          <p:cNvPr id="25" name="Shape 20"/>
          <p:cNvSpPr/>
          <p:nvPr/>
        </p:nvSpPr>
        <p:spPr>
          <a:xfrm>
            <a:off x="502920" y="5742432"/>
            <a:ext cx="11155680" cy="658368"/>
          </a:xfrm>
          <a:prstGeom prst="roundRect">
            <a:avLst>
              <a:gd name="adj" fmla="val 11111"/>
            </a:avLst>
          </a:prstGeom>
          <a:solidFill>
            <a:srgbClr val="E4F0EF"/>
          </a:solidFill>
          <a:ln/>
        </p:spPr>
      </p:sp>
      <p:sp>
        <p:nvSpPr>
          <p:cNvPr id="26" name="Shape 21"/>
          <p:cNvSpPr/>
          <p:nvPr/>
        </p:nvSpPr>
        <p:spPr>
          <a:xfrm>
            <a:off x="667512" y="5879592"/>
            <a:ext cx="384048" cy="384048"/>
          </a:xfrm>
          <a:prstGeom prst="ellipse">
            <a:avLst/>
          </a:prstGeom>
          <a:solidFill>
            <a:srgbClr val="0E7C7B"/>
          </a:solidFill>
          <a:ln/>
        </p:spPr>
      </p:sp>
      <p:pic>
        <p:nvPicPr>
          <p:cNvPr id="27" name="Image 3" descr="/home/user/Claude-Works/ai-training-prompt-engineering/src/assets/icons/zap_w.png">    </p:cNvPr>
          <p:cNvPicPr>
            <a:picLocks noChangeAspect="1"/>
          </p:cNvPicPr>
          <p:nvPr/>
        </p:nvPicPr>
        <p:blipFill>
          <a:blip r:embed="rId4"/>
          <a:stretch>
            <a:fillRect/>
          </a:stretch>
        </p:blipFill>
        <p:spPr>
          <a:xfrm>
            <a:off x="767364" y="5979444"/>
            <a:ext cx="184343" cy="184343"/>
          </a:xfrm>
          <a:prstGeom prst="rect">
            <a:avLst/>
          </a:prstGeom>
        </p:spPr>
      </p:pic>
      <p:sp>
        <p:nvSpPr>
          <p:cNvPr id="28" name="Text 22"/>
          <p:cNvSpPr/>
          <p:nvPr/>
        </p:nvSpPr>
        <p:spPr>
          <a:xfrm>
            <a:off x="1216152" y="5815584"/>
            <a:ext cx="10213848" cy="512064"/>
          </a:xfrm>
          <a:prstGeom prst="rect">
            <a:avLst/>
          </a:prstGeom>
          <a:noFill/>
          <a:ln/>
        </p:spPr>
        <p:txBody>
          <a:bodyPr wrap="square" lIns="0" tIns="0" rIns="0" bIns="0" rtlCol="0" anchor="ctr"/>
          <a:lstStyle/>
          <a:p>
            <a:pPr indent="0" marL="0">
              <a:lnSpc>
                <a:spcPct val="106000"/>
              </a:lnSpc>
              <a:buNone/>
            </a:pPr>
            <a:r>
              <a:rPr lang="en-US" sz="1150" b="1" dirty="0">
                <a:solidFill>
                  <a:srgbClr val="0A5B5A"/>
                </a:solidFill>
                <a:latin typeface="Calibri" pitchFamily="34" charset="0"/>
                <a:ea typeface="Calibri" pitchFamily="34" charset="-122"/>
                <a:cs typeface="Calibri" pitchFamily="34" charset="-120"/>
              </a:rPr>
              <a:t>The two skills are one: </a:t>
            </a:r>
            <a:pPr indent="0" marL="0">
              <a:lnSpc>
                <a:spcPct val="106000"/>
              </a:lnSpc>
              <a:buNone/>
            </a:pPr>
            <a:r>
              <a:rPr lang="en-US" sz="1150" dirty="0">
                <a:solidFill>
                  <a:srgbClr val="46545F"/>
                </a:solidFill>
                <a:latin typeface="Calibri" pitchFamily="34" charset="0"/>
                <a:ea typeface="Calibri" pitchFamily="34" charset="-122"/>
                <a:cs typeface="Calibri" pitchFamily="34" charset="-120"/>
              </a:rPr>
              <a:t>the seven elements are a requirements spec in miniature — and the element you CAN’T fill in yet is the exact question to ask, or to let the AI ask you.</a:t>
            </a:r>
            <a:endParaRPr lang="en-US" sz="11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WRAP-UP</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61</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WRAP-UP</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Ten things worth remembering</a:t>
            </a:r>
            <a:endParaRPr lang="en-US" sz="3000" dirty="0"/>
          </a:p>
        </p:txBody>
      </p:sp>
      <p:sp>
        <p:nvSpPr>
          <p:cNvPr id="6" name="Shape 4"/>
          <p:cNvSpPr/>
          <p:nvPr/>
        </p:nvSpPr>
        <p:spPr>
          <a:xfrm>
            <a:off x="502920" y="1463040"/>
            <a:ext cx="5440680" cy="841248"/>
          </a:xfrm>
          <a:prstGeom prst="roundRect">
            <a:avLst>
              <a:gd name="adj" fmla="val 8696"/>
            </a:avLst>
          </a:prstGeom>
          <a:solidFill>
            <a:srgbClr val="F2F5F6"/>
          </a:solidFill>
          <a:ln/>
        </p:spPr>
      </p:sp>
      <p:sp>
        <p:nvSpPr>
          <p:cNvPr id="7" name="Text 5"/>
          <p:cNvSpPr/>
          <p:nvPr/>
        </p:nvSpPr>
        <p:spPr>
          <a:xfrm>
            <a:off x="612648" y="1591056"/>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216152" y="1517904"/>
            <a:ext cx="4617720" cy="731520"/>
          </a:xfrm>
          <a:prstGeom prst="rect">
            <a:avLst/>
          </a:prstGeom>
          <a:noFill/>
          <a:ln/>
        </p:spPr>
        <p:txBody>
          <a:bodyPr wrap="square" lIns="0" tIns="0" rIns="0" bIns="0" rtlCol="0" anchor="ctr"/>
          <a:lstStyle/>
          <a:p>
            <a:pPr indent="0" marL="0">
              <a:lnSpc>
                <a:spcPct val="102000"/>
              </a:lnSpc>
              <a:buNone/>
            </a:pPr>
            <a:r>
              <a:rPr lang="en-US" sz="980" dirty="0">
                <a:solidFill>
                  <a:srgbClr val="46545F"/>
                </a:solidFill>
                <a:latin typeface="Calibri" pitchFamily="34" charset="0"/>
                <a:ea typeface="Calibri" pitchFamily="34" charset="-122"/>
                <a:cs typeface="Calibri" pitchFamily="34" charset="-120"/>
              </a:rPr>
              <a:t>The prompt is the whole steering wheel — everything the model knows about your task must be in it (or in files it can read).</a:t>
            </a:r>
            <a:endParaRPr lang="en-US" sz="980" dirty="0"/>
          </a:p>
        </p:txBody>
      </p:sp>
      <p:sp>
        <p:nvSpPr>
          <p:cNvPr id="9" name="Shape 7"/>
          <p:cNvSpPr/>
          <p:nvPr/>
        </p:nvSpPr>
        <p:spPr>
          <a:xfrm>
            <a:off x="6172200" y="1463040"/>
            <a:ext cx="5440680" cy="841248"/>
          </a:xfrm>
          <a:prstGeom prst="roundRect">
            <a:avLst>
              <a:gd name="adj" fmla="val 8696"/>
            </a:avLst>
          </a:prstGeom>
          <a:solidFill>
            <a:srgbClr val="F2F5F6"/>
          </a:solidFill>
          <a:ln/>
        </p:spPr>
      </p:sp>
      <p:sp>
        <p:nvSpPr>
          <p:cNvPr id="10" name="Text 8"/>
          <p:cNvSpPr/>
          <p:nvPr/>
        </p:nvSpPr>
        <p:spPr>
          <a:xfrm>
            <a:off x="6281928" y="1591056"/>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6885432" y="1517904"/>
            <a:ext cx="4617720" cy="731520"/>
          </a:xfrm>
          <a:prstGeom prst="rect">
            <a:avLst/>
          </a:prstGeom>
          <a:noFill/>
          <a:ln/>
        </p:spPr>
        <p:txBody>
          <a:bodyPr wrap="square" lIns="0" tIns="0" rIns="0" bIns="0" rtlCol="0" anchor="ctr"/>
          <a:lstStyle/>
          <a:p>
            <a:pPr indent="0" marL="0">
              <a:lnSpc>
                <a:spcPct val="102000"/>
              </a:lnSpc>
              <a:buNone/>
            </a:pPr>
            <a:r>
              <a:rPr lang="en-US" sz="980" dirty="0">
                <a:solidFill>
                  <a:srgbClr val="46545F"/>
                </a:solidFill>
                <a:latin typeface="Calibri" pitchFamily="34" charset="0"/>
                <a:ea typeface="Calibri" pitchFamily="34" charset="-122"/>
                <a:cs typeface="Calibri" pitchFamily="34" charset="-120"/>
              </a:rPr>
              <a:t>Anatomy beats inspiration: Role · Task · Context · Format · Examples — plus the Out and the Stop. A prompt is a requirement with a new audience.</a:t>
            </a:r>
            <a:endParaRPr lang="en-US" sz="980" dirty="0"/>
          </a:p>
        </p:txBody>
      </p:sp>
      <p:sp>
        <p:nvSpPr>
          <p:cNvPr id="12" name="Shape 10"/>
          <p:cNvSpPr/>
          <p:nvPr/>
        </p:nvSpPr>
        <p:spPr>
          <a:xfrm>
            <a:off x="502920" y="2395728"/>
            <a:ext cx="5440680" cy="841248"/>
          </a:xfrm>
          <a:prstGeom prst="roundRect">
            <a:avLst>
              <a:gd name="adj" fmla="val 8696"/>
            </a:avLst>
          </a:prstGeom>
          <a:solidFill>
            <a:srgbClr val="F2F5F6"/>
          </a:solidFill>
          <a:ln/>
        </p:spPr>
      </p:sp>
      <p:sp>
        <p:nvSpPr>
          <p:cNvPr id="13" name="Text 11"/>
          <p:cNvSpPr/>
          <p:nvPr/>
        </p:nvSpPr>
        <p:spPr>
          <a:xfrm>
            <a:off x="612648" y="2523744"/>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216152" y="2450592"/>
            <a:ext cx="4617720" cy="731520"/>
          </a:xfrm>
          <a:prstGeom prst="rect">
            <a:avLst/>
          </a:prstGeom>
          <a:noFill/>
          <a:ln/>
        </p:spPr>
        <p:txBody>
          <a:bodyPr wrap="square" lIns="0" tIns="0" rIns="0" bIns="0" rtlCol="0" anchor="ctr"/>
          <a:lstStyle/>
          <a:p>
            <a:pPr indent="0" marL="0">
              <a:lnSpc>
                <a:spcPct val="102000"/>
              </a:lnSpc>
              <a:buNone/>
            </a:pPr>
            <a:r>
              <a:rPr lang="en-US" sz="980" dirty="0">
                <a:solidFill>
                  <a:srgbClr val="46545F"/>
                </a:solidFill>
                <a:latin typeface="Calibri" pitchFamily="34" charset="0"/>
                <a:ea typeface="Calibri" pitchFamily="34" charset="-122"/>
                <a:cs typeface="Calibri" pitchFamily="34" charset="-120"/>
              </a:rPr>
              <a:t>The context window is a desk, not a filing cabinet: long documents at the top, question at the end, fresh chat per topic.</a:t>
            </a:r>
            <a:endParaRPr lang="en-US" sz="980" dirty="0"/>
          </a:p>
        </p:txBody>
      </p:sp>
      <p:sp>
        <p:nvSpPr>
          <p:cNvPr id="15" name="Shape 13"/>
          <p:cNvSpPr/>
          <p:nvPr/>
        </p:nvSpPr>
        <p:spPr>
          <a:xfrm>
            <a:off x="6172200" y="2395728"/>
            <a:ext cx="5440680" cy="841248"/>
          </a:xfrm>
          <a:prstGeom prst="roundRect">
            <a:avLst>
              <a:gd name="adj" fmla="val 8696"/>
            </a:avLst>
          </a:prstGeom>
          <a:solidFill>
            <a:srgbClr val="F2F5F6"/>
          </a:solidFill>
          <a:ln/>
        </p:spPr>
      </p:sp>
      <p:sp>
        <p:nvSpPr>
          <p:cNvPr id="16" name="Text 14"/>
          <p:cNvSpPr/>
          <p:nvPr/>
        </p:nvSpPr>
        <p:spPr>
          <a:xfrm>
            <a:off x="6281928" y="2523744"/>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4</a:t>
            </a:r>
            <a:endParaRPr lang="en-US" sz="2000" dirty="0"/>
          </a:p>
        </p:txBody>
      </p:sp>
      <p:sp>
        <p:nvSpPr>
          <p:cNvPr id="17" name="Text 15"/>
          <p:cNvSpPr/>
          <p:nvPr/>
        </p:nvSpPr>
        <p:spPr>
          <a:xfrm>
            <a:off x="6885432" y="2450592"/>
            <a:ext cx="4617720" cy="731520"/>
          </a:xfrm>
          <a:prstGeom prst="rect">
            <a:avLst/>
          </a:prstGeom>
          <a:noFill/>
          <a:ln/>
        </p:spPr>
        <p:txBody>
          <a:bodyPr wrap="square" lIns="0" tIns="0" rIns="0" bIns="0" rtlCol="0" anchor="ctr"/>
          <a:lstStyle/>
          <a:p>
            <a:pPr indent="0" marL="0">
              <a:lnSpc>
                <a:spcPct val="102000"/>
              </a:lnSpc>
              <a:buNone/>
            </a:pPr>
            <a:r>
              <a:rPr lang="en-US" sz="980" dirty="0">
                <a:solidFill>
                  <a:srgbClr val="46545F"/>
                </a:solidFill>
                <a:latin typeface="Calibri" pitchFamily="34" charset="0"/>
                <a:ea typeface="Calibri" pitchFamily="34" charset="-122"/>
                <a:cs typeface="Calibri" pitchFamily="34" charset="-120"/>
              </a:rPr>
              <a:t>Numbers come from code execution, quotes come from documents, current facts come from search — never from free recall.</a:t>
            </a:r>
            <a:endParaRPr lang="en-US" sz="980" dirty="0"/>
          </a:p>
        </p:txBody>
      </p:sp>
      <p:sp>
        <p:nvSpPr>
          <p:cNvPr id="18" name="Shape 16"/>
          <p:cNvSpPr/>
          <p:nvPr/>
        </p:nvSpPr>
        <p:spPr>
          <a:xfrm>
            <a:off x="502920" y="3328416"/>
            <a:ext cx="5440680" cy="841248"/>
          </a:xfrm>
          <a:prstGeom prst="roundRect">
            <a:avLst>
              <a:gd name="adj" fmla="val 8696"/>
            </a:avLst>
          </a:prstGeom>
          <a:solidFill>
            <a:srgbClr val="F2F5F6"/>
          </a:solidFill>
          <a:ln/>
        </p:spPr>
      </p:sp>
      <p:sp>
        <p:nvSpPr>
          <p:cNvPr id="19" name="Text 17"/>
          <p:cNvSpPr/>
          <p:nvPr/>
        </p:nvSpPr>
        <p:spPr>
          <a:xfrm>
            <a:off x="612648" y="3456432"/>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5</a:t>
            </a:r>
            <a:endParaRPr lang="en-US" sz="2000" dirty="0"/>
          </a:p>
        </p:txBody>
      </p:sp>
      <p:sp>
        <p:nvSpPr>
          <p:cNvPr id="20" name="Text 18"/>
          <p:cNvSpPr/>
          <p:nvPr/>
        </p:nvSpPr>
        <p:spPr>
          <a:xfrm>
            <a:off x="1216152" y="3383280"/>
            <a:ext cx="4617720" cy="731520"/>
          </a:xfrm>
          <a:prstGeom prst="rect">
            <a:avLst/>
          </a:prstGeom>
          <a:noFill/>
          <a:ln/>
        </p:spPr>
        <p:txBody>
          <a:bodyPr wrap="square" lIns="0" tIns="0" rIns="0" bIns="0" rtlCol="0" anchor="ctr"/>
          <a:lstStyle/>
          <a:p>
            <a:pPr indent="0" marL="0">
              <a:lnSpc>
                <a:spcPct val="102000"/>
              </a:lnSpc>
              <a:buNone/>
            </a:pPr>
            <a:r>
              <a:rPr lang="en-US" sz="980" dirty="0">
                <a:solidFill>
                  <a:srgbClr val="46545F"/>
                </a:solidFill>
                <a:latin typeface="Calibri" pitchFamily="34" charset="0"/>
                <a:ea typeface="Calibri" pitchFamily="34" charset="-122"/>
                <a:cs typeface="Calibri" pitchFamily="34" charset="-120"/>
              </a:rPr>
              <a:t>Fluency is not evidence. Uncited claims are drafts. Give the model an out and demand citations.</a:t>
            </a:r>
            <a:endParaRPr lang="en-US" sz="980" dirty="0"/>
          </a:p>
        </p:txBody>
      </p:sp>
      <p:sp>
        <p:nvSpPr>
          <p:cNvPr id="21" name="Shape 19"/>
          <p:cNvSpPr/>
          <p:nvPr/>
        </p:nvSpPr>
        <p:spPr>
          <a:xfrm>
            <a:off x="6172200" y="3328416"/>
            <a:ext cx="5440680" cy="841248"/>
          </a:xfrm>
          <a:prstGeom prst="roundRect">
            <a:avLst>
              <a:gd name="adj" fmla="val 8696"/>
            </a:avLst>
          </a:prstGeom>
          <a:solidFill>
            <a:srgbClr val="F2F5F6"/>
          </a:solidFill>
          <a:ln/>
        </p:spPr>
      </p:sp>
      <p:sp>
        <p:nvSpPr>
          <p:cNvPr id="22" name="Text 20"/>
          <p:cNvSpPr/>
          <p:nvPr/>
        </p:nvSpPr>
        <p:spPr>
          <a:xfrm>
            <a:off x="6281928" y="3456432"/>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6</a:t>
            </a:r>
            <a:endParaRPr lang="en-US" sz="2000" dirty="0"/>
          </a:p>
        </p:txBody>
      </p:sp>
      <p:sp>
        <p:nvSpPr>
          <p:cNvPr id="23" name="Text 21"/>
          <p:cNvSpPr/>
          <p:nvPr/>
        </p:nvSpPr>
        <p:spPr>
          <a:xfrm>
            <a:off x="6885432" y="3383280"/>
            <a:ext cx="4617720" cy="731520"/>
          </a:xfrm>
          <a:prstGeom prst="rect">
            <a:avLst/>
          </a:prstGeom>
          <a:noFill/>
          <a:ln/>
        </p:spPr>
        <p:txBody>
          <a:bodyPr wrap="square" lIns="0" tIns="0" rIns="0" bIns="0" rtlCol="0" anchor="ctr"/>
          <a:lstStyle/>
          <a:p>
            <a:pPr indent="0" marL="0">
              <a:lnSpc>
                <a:spcPct val="102000"/>
              </a:lnSpc>
              <a:buNone/>
            </a:pPr>
            <a:r>
              <a:rPr lang="en-US" sz="980" dirty="0">
                <a:solidFill>
                  <a:srgbClr val="46545F"/>
                </a:solidFill>
                <a:latin typeface="Calibri" pitchFamily="34" charset="0"/>
                <a:ea typeface="Calibri" pitchFamily="34" charset="-122"/>
                <a:cs typeface="Calibri" pitchFamily="34" charset="-120"/>
              </a:rPr>
              <a:t>Never reveal your preferred answer when asking for judgment — AI affirms you ~49% more than a human would.</a:t>
            </a:r>
            <a:endParaRPr lang="en-US" sz="980" dirty="0"/>
          </a:p>
        </p:txBody>
      </p:sp>
      <p:sp>
        <p:nvSpPr>
          <p:cNvPr id="24" name="Shape 22"/>
          <p:cNvSpPr/>
          <p:nvPr/>
        </p:nvSpPr>
        <p:spPr>
          <a:xfrm>
            <a:off x="502920" y="4261104"/>
            <a:ext cx="5440680" cy="841248"/>
          </a:xfrm>
          <a:prstGeom prst="roundRect">
            <a:avLst>
              <a:gd name="adj" fmla="val 8696"/>
            </a:avLst>
          </a:prstGeom>
          <a:solidFill>
            <a:srgbClr val="F2F5F6"/>
          </a:solidFill>
          <a:ln/>
        </p:spPr>
      </p:sp>
      <p:sp>
        <p:nvSpPr>
          <p:cNvPr id="25" name="Text 23"/>
          <p:cNvSpPr/>
          <p:nvPr/>
        </p:nvSpPr>
        <p:spPr>
          <a:xfrm>
            <a:off x="612648" y="4389120"/>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7</a:t>
            </a:r>
            <a:endParaRPr lang="en-US" sz="2000" dirty="0"/>
          </a:p>
        </p:txBody>
      </p:sp>
      <p:sp>
        <p:nvSpPr>
          <p:cNvPr id="26" name="Text 24"/>
          <p:cNvSpPr/>
          <p:nvPr/>
        </p:nvSpPr>
        <p:spPr>
          <a:xfrm>
            <a:off x="1216152" y="4315968"/>
            <a:ext cx="4617720" cy="731520"/>
          </a:xfrm>
          <a:prstGeom prst="rect">
            <a:avLst/>
          </a:prstGeom>
          <a:noFill/>
          <a:ln/>
        </p:spPr>
        <p:txBody>
          <a:bodyPr wrap="square" lIns="0" tIns="0" rIns="0" bIns="0" rtlCol="0" anchor="ctr"/>
          <a:lstStyle/>
          <a:p>
            <a:pPr indent="0" marL="0">
              <a:lnSpc>
                <a:spcPct val="102000"/>
              </a:lnSpc>
              <a:buNone/>
            </a:pPr>
            <a:r>
              <a:rPr lang="en-US" sz="980" dirty="0">
                <a:solidFill>
                  <a:srgbClr val="46545F"/>
                </a:solidFill>
                <a:latin typeface="Calibri" pitchFamily="34" charset="0"/>
                <a:ea typeface="Calibri" pitchFamily="34" charset="-122"/>
                <a:cs typeface="Calibri" pitchFamily="34" charset="-120"/>
              </a:rPr>
              <a:t>On thinking models: drop the step-by-step scripts, keep the clarity. Contradictions now cost real money.</a:t>
            </a:r>
            <a:endParaRPr lang="en-US" sz="980" dirty="0"/>
          </a:p>
        </p:txBody>
      </p:sp>
      <p:sp>
        <p:nvSpPr>
          <p:cNvPr id="27" name="Shape 25"/>
          <p:cNvSpPr/>
          <p:nvPr/>
        </p:nvSpPr>
        <p:spPr>
          <a:xfrm>
            <a:off x="6172200" y="4261104"/>
            <a:ext cx="5440680" cy="841248"/>
          </a:xfrm>
          <a:prstGeom prst="roundRect">
            <a:avLst>
              <a:gd name="adj" fmla="val 8696"/>
            </a:avLst>
          </a:prstGeom>
          <a:solidFill>
            <a:srgbClr val="F2F5F6"/>
          </a:solidFill>
          <a:ln/>
        </p:spPr>
      </p:sp>
      <p:sp>
        <p:nvSpPr>
          <p:cNvPr id="28" name="Text 26"/>
          <p:cNvSpPr/>
          <p:nvPr/>
        </p:nvSpPr>
        <p:spPr>
          <a:xfrm>
            <a:off x="6281928" y="4389120"/>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8</a:t>
            </a:r>
            <a:endParaRPr lang="en-US" sz="2000" dirty="0"/>
          </a:p>
        </p:txBody>
      </p:sp>
      <p:sp>
        <p:nvSpPr>
          <p:cNvPr id="29" name="Text 27"/>
          <p:cNvSpPr/>
          <p:nvPr/>
        </p:nvSpPr>
        <p:spPr>
          <a:xfrm>
            <a:off x="6885432" y="4315968"/>
            <a:ext cx="4617720" cy="731520"/>
          </a:xfrm>
          <a:prstGeom prst="rect">
            <a:avLst/>
          </a:prstGeom>
          <a:noFill/>
          <a:ln/>
        </p:spPr>
        <p:txBody>
          <a:bodyPr wrap="square" lIns="0" tIns="0" rIns="0" bIns="0" rtlCol="0" anchor="ctr"/>
          <a:lstStyle/>
          <a:p>
            <a:pPr indent="0" marL="0">
              <a:lnSpc>
                <a:spcPct val="102000"/>
              </a:lnSpc>
              <a:buNone/>
            </a:pPr>
            <a:r>
              <a:rPr lang="en-US" sz="980" dirty="0">
                <a:solidFill>
                  <a:srgbClr val="46545F"/>
                </a:solidFill>
                <a:latin typeface="Calibri" pitchFamily="34" charset="0"/>
                <a:ea typeface="Calibri" pitchFamily="34" charset="-122"/>
                <a:cs typeface="Calibri" pitchFamily="34" charset="-120"/>
              </a:rPr>
              <a:t>A generative prompt says what to write. An agentic prompt is a work order: mission, environment, checks, gates, autonomy rules.</a:t>
            </a:r>
            <a:endParaRPr lang="en-US" sz="980" dirty="0"/>
          </a:p>
        </p:txBody>
      </p:sp>
      <p:sp>
        <p:nvSpPr>
          <p:cNvPr id="30" name="Shape 28"/>
          <p:cNvSpPr/>
          <p:nvPr/>
        </p:nvSpPr>
        <p:spPr>
          <a:xfrm>
            <a:off x="502920" y="5193792"/>
            <a:ext cx="5440680" cy="841248"/>
          </a:xfrm>
          <a:prstGeom prst="roundRect">
            <a:avLst>
              <a:gd name="adj" fmla="val 8696"/>
            </a:avLst>
          </a:prstGeom>
          <a:solidFill>
            <a:srgbClr val="F2F5F6"/>
          </a:solidFill>
          <a:ln/>
        </p:spPr>
      </p:sp>
      <p:sp>
        <p:nvSpPr>
          <p:cNvPr id="31" name="Text 29"/>
          <p:cNvSpPr/>
          <p:nvPr/>
        </p:nvSpPr>
        <p:spPr>
          <a:xfrm>
            <a:off x="612648" y="5321808"/>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9</a:t>
            </a:r>
            <a:endParaRPr lang="en-US" sz="2000" dirty="0"/>
          </a:p>
        </p:txBody>
      </p:sp>
      <p:sp>
        <p:nvSpPr>
          <p:cNvPr id="32" name="Text 30"/>
          <p:cNvSpPr/>
          <p:nvPr/>
        </p:nvSpPr>
        <p:spPr>
          <a:xfrm>
            <a:off x="1216152" y="5248656"/>
            <a:ext cx="4617720" cy="731520"/>
          </a:xfrm>
          <a:prstGeom prst="rect">
            <a:avLst/>
          </a:prstGeom>
          <a:noFill/>
          <a:ln/>
        </p:spPr>
        <p:txBody>
          <a:bodyPr wrap="square" lIns="0" tIns="0" rIns="0" bIns="0" rtlCol="0" anchor="ctr"/>
          <a:lstStyle/>
          <a:p>
            <a:pPr indent="0" marL="0">
              <a:lnSpc>
                <a:spcPct val="102000"/>
              </a:lnSpc>
              <a:buNone/>
            </a:pPr>
            <a:r>
              <a:rPr lang="en-US" sz="980" dirty="0">
                <a:solidFill>
                  <a:srgbClr val="46545F"/>
                </a:solidFill>
                <a:latin typeface="Calibri" pitchFamily="34" charset="0"/>
                <a:ea typeface="Calibri" pitchFamily="34" charset="-122"/>
                <a:cs typeface="Calibri" pitchFamily="34" charset="-120"/>
              </a:rPr>
              <a:t>Gates catch errors at the cheapest point: definitions before data, reconciliation before analysis, headlines before rendering.</a:t>
            </a:r>
            <a:endParaRPr lang="en-US" sz="980" dirty="0"/>
          </a:p>
        </p:txBody>
      </p:sp>
      <p:sp>
        <p:nvSpPr>
          <p:cNvPr id="33" name="Shape 31"/>
          <p:cNvSpPr/>
          <p:nvPr/>
        </p:nvSpPr>
        <p:spPr>
          <a:xfrm>
            <a:off x="6172200" y="5193792"/>
            <a:ext cx="5440680" cy="841248"/>
          </a:xfrm>
          <a:prstGeom prst="roundRect">
            <a:avLst>
              <a:gd name="adj" fmla="val 8696"/>
            </a:avLst>
          </a:prstGeom>
          <a:solidFill>
            <a:srgbClr val="F2F5F6"/>
          </a:solidFill>
          <a:ln/>
        </p:spPr>
      </p:sp>
      <p:sp>
        <p:nvSpPr>
          <p:cNvPr id="34" name="Text 32"/>
          <p:cNvSpPr/>
          <p:nvPr/>
        </p:nvSpPr>
        <p:spPr>
          <a:xfrm>
            <a:off x="6281928" y="5321808"/>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10</a:t>
            </a:r>
            <a:endParaRPr lang="en-US" sz="2000" dirty="0"/>
          </a:p>
        </p:txBody>
      </p:sp>
      <p:sp>
        <p:nvSpPr>
          <p:cNvPr id="35" name="Text 33"/>
          <p:cNvSpPr/>
          <p:nvPr/>
        </p:nvSpPr>
        <p:spPr>
          <a:xfrm>
            <a:off x="6885432" y="5248656"/>
            <a:ext cx="4617720" cy="731520"/>
          </a:xfrm>
          <a:prstGeom prst="rect">
            <a:avLst/>
          </a:prstGeom>
          <a:noFill/>
          <a:ln/>
        </p:spPr>
        <p:txBody>
          <a:bodyPr wrap="square" lIns="0" tIns="0" rIns="0" bIns="0" rtlCol="0" anchor="ctr"/>
          <a:lstStyle/>
          <a:p>
            <a:pPr indent="0" marL="0">
              <a:lnSpc>
                <a:spcPct val="102000"/>
              </a:lnSpc>
              <a:buNone/>
            </a:pPr>
            <a:r>
              <a:rPr lang="en-US" sz="980" dirty="0">
                <a:solidFill>
                  <a:srgbClr val="46545F"/>
                </a:solidFill>
                <a:latin typeface="Calibri" pitchFamily="34" charset="0"/>
                <a:ea typeface="Calibri" pitchFamily="34" charset="-122"/>
                <a:cs typeface="Calibri" pitchFamily="34" charset="-120"/>
              </a:rPr>
              <a:t>Prompts that work are assets: name them, version them, store them where the team (and the agent) can find them.</a:t>
            </a:r>
            <a:endParaRPr lang="en-US" sz="98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HANDS-ON</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62</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HANDS-ON · 15 MINUTES EACH</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Three exercises that make it stick</a:t>
            </a:r>
            <a:endParaRPr lang="en-US" sz="3000" dirty="0"/>
          </a:p>
        </p:txBody>
      </p:sp>
      <p:sp>
        <p:nvSpPr>
          <p:cNvPr id="6" name="Shape 4"/>
          <p:cNvSpPr/>
          <p:nvPr/>
        </p:nvSpPr>
        <p:spPr>
          <a:xfrm>
            <a:off x="502920" y="1508760"/>
            <a:ext cx="11155680" cy="1389888"/>
          </a:xfrm>
          <a:prstGeom prst="roundRect">
            <a:avLst>
              <a:gd name="adj" fmla="val 5263"/>
            </a:avLst>
          </a:prstGeom>
          <a:solidFill>
            <a:srgbClr val="F2F5F6"/>
          </a:solidFill>
          <a:ln/>
        </p:spPr>
      </p:sp>
      <p:sp>
        <p:nvSpPr>
          <p:cNvPr id="7" name="Shape 5"/>
          <p:cNvSpPr/>
          <p:nvPr/>
        </p:nvSpPr>
        <p:spPr>
          <a:xfrm>
            <a:off x="777240" y="1911096"/>
            <a:ext cx="548640" cy="548640"/>
          </a:xfrm>
          <a:prstGeom prst="ellipse">
            <a:avLst/>
          </a:prstGeom>
          <a:solidFill>
            <a:srgbClr val="0E7C7B"/>
          </a:solidFill>
          <a:ln/>
        </p:spPr>
      </p:sp>
      <p:pic>
        <p:nvPicPr>
          <p:cNvPr id="8" name="Image 0" descr="/home/user/Claude-Works/ai-training-prompt-engineering/src/assets/icons/edit_w.png">    </p:cNvPr>
          <p:cNvPicPr>
            <a:picLocks noChangeAspect="1"/>
          </p:cNvPicPr>
          <p:nvPr/>
        </p:nvPicPr>
        <p:blipFill>
          <a:blip r:embed="rId1"/>
          <a:stretch>
            <a:fillRect/>
          </a:stretch>
        </p:blipFill>
        <p:spPr>
          <a:xfrm>
            <a:off x="919886" y="2053742"/>
            <a:ext cx="263347" cy="263347"/>
          </a:xfrm>
          <a:prstGeom prst="rect">
            <a:avLst/>
          </a:prstGeom>
        </p:spPr>
      </p:pic>
      <p:sp>
        <p:nvSpPr>
          <p:cNvPr id="9" name="Text 6"/>
          <p:cNvSpPr/>
          <p:nvPr/>
        </p:nvSpPr>
        <p:spPr>
          <a:xfrm>
            <a:off x="1508760" y="1618488"/>
            <a:ext cx="7406640" cy="1188720"/>
          </a:xfrm>
          <a:prstGeom prst="rect">
            <a:avLst/>
          </a:prstGeom>
          <a:noFill/>
          <a:ln/>
        </p:spPr>
        <p:txBody>
          <a:bodyPr wrap="square" lIns="0" tIns="0" rIns="0" bIns="0" rtlCol="0" anchor="ctr"/>
          <a:lstStyle/>
          <a:p>
            <a:pPr indent="0" marL="0">
              <a:lnSpc>
                <a:spcPct val="107000"/>
              </a:lnSpc>
              <a:spcAft>
                <a:spcPts val="300"/>
              </a:spcAft>
              <a:buNone/>
            </a:pPr>
            <a:r>
              <a:rPr lang="en-US" sz="1350" b="1" dirty="0">
                <a:solidFill>
                  <a:srgbClr val="232A31"/>
                </a:solidFill>
                <a:latin typeface="Calibri" pitchFamily="34" charset="0"/>
                <a:ea typeface="Calibri" pitchFamily="34" charset="-122"/>
                <a:cs typeface="Calibri" pitchFamily="34" charset="-120"/>
              </a:rPr>
              <a:t>Exercise 1 · Anatomy rebuild  </a:t>
            </a:r>
            <a:endParaRPr lang="en-US" sz="1350" dirty="0"/>
          </a:p>
          <a:p>
            <a:pPr indent="0" marL="0">
              <a:lnSpc>
                <a:spcPct val="107000"/>
              </a:lnSpc>
              <a:buNone/>
            </a:pPr>
            <a:r>
              <a:rPr lang="en-US" sz="1100" dirty="0">
                <a:solidFill>
                  <a:srgbClr val="46545F"/>
                </a:solidFill>
                <a:latin typeface="Calibri" pitchFamily="34" charset="0"/>
                <a:ea typeface="Calibri" pitchFamily="34" charset="-122"/>
                <a:cs typeface="Calibri" pitchFamily="34" charset="-120"/>
              </a:rPr>
              <a:t>Take a prompt you actually used last week. Rebuild it with the five-block anatomy (G-templates as reference). Run both versions; compare outputs side by side. Then ask the model to improve your rebuilt prompt — metaprompting — and run that too.</a:t>
            </a:r>
            <a:endParaRPr lang="en-US" sz="1350" dirty="0"/>
          </a:p>
        </p:txBody>
      </p:sp>
      <p:sp>
        <p:nvSpPr>
          <p:cNvPr id="10" name="Text 7"/>
          <p:cNvSpPr/>
          <p:nvPr/>
        </p:nvSpPr>
        <p:spPr>
          <a:xfrm>
            <a:off x="9052560" y="1618488"/>
            <a:ext cx="2468880" cy="1188720"/>
          </a:xfrm>
          <a:prstGeom prst="rect">
            <a:avLst/>
          </a:prstGeom>
          <a:noFill/>
          <a:ln/>
        </p:spPr>
        <p:txBody>
          <a:bodyPr wrap="square" lIns="0" tIns="0" rIns="0" bIns="0" rtlCol="0" anchor="ctr"/>
          <a:lstStyle/>
          <a:p>
            <a:pPr indent="0" marL="0">
              <a:lnSpc>
                <a:spcPct val="108000"/>
              </a:lnSpc>
              <a:buNone/>
            </a:pPr>
            <a:r>
              <a:rPr lang="en-US" sz="1000" i="1" dirty="0">
                <a:solidFill>
                  <a:srgbClr val="0A5B5A"/>
                </a:solidFill>
                <a:latin typeface="Calibri" pitchFamily="34" charset="0"/>
                <a:ea typeface="Calibri" pitchFamily="34" charset="-122"/>
                <a:cs typeface="Calibri" pitchFamily="34" charset="-120"/>
              </a:rPr>
              <a:t>You’ll see the quality jump — and how cheap it was.</a:t>
            </a:r>
            <a:endParaRPr lang="en-US" sz="1000" dirty="0"/>
          </a:p>
        </p:txBody>
      </p:sp>
      <p:sp>
        <p:nvSpPr>
          <p:cNvPr id="11" name="Shape 8"/>
          <p:cNvSpPr/>
          <p:nvPr/>
        </p:nvSpPr>
        <p:spPr>
          <a:xfrm>
            <a:off x="502920" y="3044952"/>
            <a:ext cx="11155680" cy="1389888"/>
          </a:xfrm>
          <a:prstGeom prst="roundRect">
            <a:avLst>
              <a:gd name="adj" fmla="val 5263"/>
            </a:avLst>
          </a:prstGeom>
          <a:solidFill>
            <a:srgbClr val="F2F5F6"/>
          </a:solidFill>
          <a:ln/>
        </p:spPr>
      </p:sp>
      <p:sp>
        <p:nvSpPr>
          <p:cNvPr id="12" name="Shape 9"/>
          <p:cNvSpPr/>
          <p:nvPr/>
        </p:nvSpPr>
        <p:spPr>
          <a:xfrm>
            <a:off x="777240" y="3447288"/>
            <a:ext cx="548640" cy="548640"/>
          </a:xfrm>
          <a:prstGeom prst="ellipse">
            <a:avLst/>
          </a:prstGeom>
          <a:solidFill>
            <a:srgbClr val="0E7C7B"/>
          </a:solidFill>
          <a:ln/>
        </p:spPr>
      </p:sp>
      <p:pic>
        <p:nvPicPr>
          <p:cNvPr id="13" name="Image 1" descr="/home/user/Claude-Works/ai-training-prompt-engineering/src/assets/icons/scale_w.png">    </p:cNvPr>
          <p:cNvPicPr>
            <a:picLocks noChangeAspect="1"/>
          </p:cNvPicPr>
          <p:nvPr/>
        </p:nvPicPr>
        <p:blipFill>
          <a:blip r:embed="rId2"/>
          <a:stretch>
            <a:fillRect/>
          </a:stretch>
        </p:blipFill>
        <p:spPr>
          <a:xfrm>
            <a:off x="919886" y="3589934"/>
            <a:ext cx="263347" cy="263347"/>
          </a:xfrm>
          <a:prstGeom prst="rect">
            <a:avLst/>
          </a:prstGeom>
        </p:spPr>
      </p:pic>
      <p:sp>
        <p:nvSpPr>
          <p:cNvPr id="14" name="Text 10"/>
          <p:cNvSpPr/>
          <p:nvPr/>
        </p:nvSpPr>
        <p:spPr>
          <a:xfrm>
            <a:off x="1508760" y="3154680"/>
            <a:ext cx="7406640" cy="1188720"/>
          </a:xfrm>
          <a:prstGeom prst="rect">
            <a:avLst/>
          </a:prstGeom>
          <a:noFill/>
          <a:ln/>
        </p:spPr>
        <p:txBody>
          <a:bodyPr wrap="square" lIns="0" tIns="0" rIns="0" bIns="0" rtlCol="0" anchor="ctr"/>
          <a:lstStyle/>
          <a:p>
            <a:pPr indent="0" marL="0">
              <a:lnSpc>
                <a:spcPct val="107000"/>
              </a:lnSpc>
              <a:spcAft>
                <a:spcPts val="300"/>
              </a:spcAft>
              <a:buNone/>
            </a:pPr>
            <a:r>
              <a:rPr lang="en-US" sz="1350" b="1" dirty="0">
                <a:solidFill>
                  <a:srgbClr val="232A31"/>
                </a:solidFill>
                <a:latin typeface="Calibri" pitchFamily="34" charset="0"/>
                <a:ea typeface="Calibri" pitchFamily="34" charset="-122"/>
                <a:cs typeface="Calibri" pitchFamily="34" charset="-120"/>
              </a:rPr>
              <a:t>Exercise 2 · Blind review  </a:t>
            </a:r>
            <a:endParaRPr lang="en-US" sz="1350" dirty="0"/>
          </a:p>
          <a:p>
            <a:pPr indent="0" marL="0">
              <a:lnSpc>
                <a:spcPct val="107000"/>
              </a:lnSpc>
              <a:buNone/>
            </a:pPr>
            <a:r>
              <a:rPr lang="en-US" sz="1100" dirty="0">
                <a:solidFill>
                  <a:srgbClr val="46545F"/>
                </a:solidFill>
                <a:latin typeface="Calibri" pitchFamily="34" charset="0"/>
                <a:ea typeface="Calibri" pitchFamily="34" charset="-122"/>
                <a:cs typeface="Calibri" pitchFamily="34" charset="-120"/>
              </a:rPr>
              <a:t>Take a document or plan you own. Paste it as “a colleague’s draft” and run G3’s critique template: case against, three weakest points, what evidence would change the verdict. Do NOT hint at your view.</a:t>
            </a:r>
            <a:endParaRPr lang="en-US" sz="1350" dirty="0"/>
          </a:p>
        </p:txBody>
      </p:sp>
      <p:sp>
        <p:nvSpPr>
          <p:cNvPr id="15" name="Text 11"/>
          <p:cNvSpPr/>
          <p:nvPr/>
        </p:nvSpPr>
        <p:spPr>
          <a:xfrm>
            <a:off x="9052560" y="3154680"/>
            <a:ext cx="2468880" cy="1188720"/>
          </a:xfrm>
          <a:prstGeom prst="rect">
            <a:avLst/>
          </a:prstGeom>
          <a:noFill/>
          <a:ln/>
        </p:spPr>
        <p:txBody>
          <a:bodyPr wrap="square" lIns="0" tIns="0" rIns="0" bIns="0" rtlCol="0" anchor="ctr"/>
          <a:lstStyle/>
          <a:p>
            <a:pPr indent="0" marL="0">
              <a:lnSpc>
                <a:spcPct val="108000"/>
              </a:lnSpc>
              <a:buNone/>
            </a:pPr>
            <a:r>
              <a:rPr lang="en-US" sz="1000" i="1" dirty="0">
                <a:solidFill>
                  <a:srgbClr val="0A5B5A"/>
                </a:solidFill>
                <a:latin typeface="Calibri" pitchFamily="34" charset="0"/>
                <a:ea typeface="Calibri" pitchFamily="34" charset="-122"/>
                <a:cs typeface="Calibri" pitchFamily="34" charset="-120"/>
              </a:rPr>
              <a:t>Most people meet their first honest AI review here.</a:t>
            </a:r>
            <a:endParaRPr lang="en-US" sz="1000" dirty="0"/>
          </a:p>
        </p:txBody>
      </p:sp>
      <p:sp>
        <p:nvSpPr>
          <p:cNvPr id="16" name="Shape 12"/>
          <p:cNvSpPr/>
          <p:nvPr/>
        </p:nvSpPr>
        <p:spPr>
          <a:xfrm>
            <a:off x="502920" y="4581144"/>
            <a:ext cx="11155680" cy="1389888"/>
          </a:xfrm>
          <a:prstGeom prst="roundRect">
            <a:avLst>
              <a:gd name="adj" fmla="val 5263"/>
            </a:avLst>
          </a:prstGeom>
          <a:solidFill>
            <a:srgbClr val="F2F5F6"/>
          </a:solidFill>
          <a:ln/>
        </p:spPr>
      </p:sp>
      <p:sp>
        <p:nvSpPr>
          <p:cNvPr id="17" name="Shape 13"/>
          <p:cNvSpPr/>
          <p:nvPr/>
        </p:nvSpPr>
        <p:spPr>
          <a:xfrm>
            <a:off x="777240" y="4983480"/>
            <a:ext cx="548640" cy="548640"/>
          </a:xfrm>
          <a:prstGeom prst="ellipse">
            <a:avLst/>
          </a:prstGeom>
          <a:solidFill>
            <a:srgbClr val="0E7C7B"/>
          </a:solidFill>
          <a:ln/>
        </p:spPr>
      </p:sp>
      <p:pic>
        <p:nvPicPr>
          <p:cNvPr id="18" name="Image 2" descr="/home/user/Claude-Works/ai-training-prompt-engineering/src/assets/icons/robot_w.png">    </p:cNvPr>
          <p:cNvPicPr>
            <a:picLocks noChangeAspect="1"/>
          </p:cNvPicPr>
          <p:nvPr/>
        </p:nvPicPr>
        <p:blipFill>
          <a:blip r:embed="rId3"/>
          <a:stretch>
            <a:fillRect/>
          </a:stretch>
        </p:blipFill>
        <p:spPr>
          <a:xfrm>
            <a:off x="919886" y="5126126"/>
            <a:ext cx="263347" cy="263347"/>
          </a:xfrm>
          <a:prstGeom prst="rect">
            <a:avLst/>
          </a:prstGeom>
        </p:spPr>
      </p:pic>
      <p:sp>
        <p:nvSpPr>
          <p:cNvPr id="19" name="Text 14"/>
          <p:cNvSpPr/>
          <p:nvPr/>
        </p:nvSpPr>
        <p:spPr>
          <a:xfrm>
            <a:off x="1508760" y="4690872"/>
            <a:ext cx="7406640" cy="1188720"/>
          </a:xfrm>
          <a:prstGeom prst="rect">
            <a:avLst/>
          </a:prstGeom>
          <a:noFill/>
          <a:ln/>
        </p:spPr>
        <p:txBody>
          <a:bodyPr wrap="square" lIns="0" tIns="0" rIns="0" bIns="0" rtlCol="0" anchor="ctr"/>
          <a:lstStyle/>
          <a:p>
            <a:pPr indent="0" marL="0">
              <a:lnSpc>
                <a:spcPct val="107000"/>
              </a:lnSpc>
              <a:spcAft>
                <a:spcPts val="300"/>
              </a:spcAft>
              <a:buNone/>
            </a:pPr>
            <a:r>
              <a:rPr lang="en-US" sz="1350" b="1" dirty="0">
                <a:solidFill>
                  <a:srgbClr val="232A31"/>
                </a:solidFill>
                <a:latin typeface="Calibri" pitchFamily="34" charset="0"/>
                <a:ea typeface="Calibri" pitchFamily="34" charset="-122"/>
                <a:cs typeface="Calibri" pitchFamily="34" charset="-120"/>
              </a:rPr>
              <a:t>Exercise 3 · First mission brief  </a:t>
            </a:r>
            <a:endParaRPr lang="en-US" sz="1350" dirty="0"/>
          </a:p>
          <a:p>
            <a:pPr indent="0" marL="0">
              <a:lnSpc>
                <a:spcPct val="107000"/>
              </a:lnSpc>
              <a:buNone/>
            </a:pPr>
            <a:r>
              <a:rPr lang="en-US" sz="1100" dirty="0">
                <a:solidFill>
                  <a:srgbClr val="46545F"/>
                </a:solidFill>
                <a:latin typeface="Calibri" pitchFamily="34" charset="0"/>
                <a:ea typeface="Calibri" pitchFamily="34" charset="-122"/>
                <a:cs typeface="Calibri" pitchFamily="34" charset="-120"/>
              </a:rPr>
              <a:t>Pick a small recurring job with files (a folder to summarize, a tracker to update). Fill A1’s twelve blocks — placeholders and all. You don’t need an agent to run it today: writing the brief is the skill.</a:t>
            </a:r>
            <a:endParaRPr lang="en-US" sz="1350" dirty="0"/>
          </a:p>
        </p:txBody>
      </p:sp>
      <p:sp>
        <p:nvSpPr>
          <p:cNvPr id="20" name="Text 15"/>
          <p:cNvSpPr/>
          <p:nvPr/>
        </p:nvSpPr>
        <p:spPr>
          <a:xfrm>
            <a:off x="9052560" y="4690872"/>
            <a:ext cx="2468880" cy="1188720"/>
          </a:xfrm>
          <a:prstGeom prst="rect">
            <a:avLst/>
          </a:prstGeom>
          <a:noFill/>
          <a:ln/>
        </p:spPr>
        <p:txBody>
          <a:bodyPr wrap="square" lIns="0" tIns="0" rIns="0" bIns="0" rtlCol="0" anchor="ctr"/>
          <a:lstStyle/>
          <a:p>
            <a:pPr indent="0" marL="0">
              <a:lnSpc>
                <a:spcPct val="108000"/>
              </a:lnSpc>
              <a:buNone/>
            </a:pPr>
            <a:r>
              <a:rPr lang="en-US" sz="1000" i="1" dirty="0">
                <a:solidFill>
                  <a:srgbClr val="0A5B5A"/>
                </a:solidFill>
                <a:latin typeface="Calibri" pitchFamily="34" charset="0"/>
                <a:ea typeface="Calibri" pitchFamily="34" charset="-122"/>
                <a:cs typeface="Calibri" pitchFamily="34" charset="-120"/>
              </a:rPr>
              <a:t>Where the checks and gates feel awkward is where your process was fuzzy all along.</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REFERENCE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63</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REFERENCE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Glossary — nineteen terms that matter</a:t>
            </a:r>
            <a:endParaRPr lang="en-US" sz="3000" dirty="0"/>
          </a:p>
        </p:txBody>
      </p:sp>
      <p:sp>
        <p:nvSpPr>
          <p:cNvPr id="6" name="Text 4"/>
          <p:cNvSpPr/>
          <p:nvPr/>
        </p:nvSpPr>
        <p:spPr>
          <a:xfrm>
            <a:off x="502920" y="1417320"/>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Escalation ladder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prompt first, retrieve second, fine-tune last — capability triage (Part 1)</a:t>
            </a:r>
            <a:endParaRPr lang="en-US" sz="1050" dirty="0"/>
          </a:p>
        </p:txBody>
      </p:sp>
      <p:sp>
        <p:nvSpPr>
          <p:cNvPr id="7" name="Text 5"/>
          <p:cNvSpPr/>
          <p:nvPr/>
        </p:nvSpPr>
        <p:spPr>
          <a:xfrm>
            <a:off x="6172200" y="1417320"/>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Promotion ladder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one-off → personal → team → packaged → as-code — where a prompt lives (Part 6)</a:t>
            </a:r>
            <a:endParaRPr lang="en-US" sz="1050" dirty="0"/>
          </a:p>
        </p:txBody>
      </p:sp>
      <p:sp>
        <p:nvSpPr>
          <p:cNvPr id="8" name="Text 6"/>
          <p:cNvSpPr/>
          <p:nvPr/>
        </p:nvSpPr>
        <p:spPr>
          <a:xfrm>
            <a:off x="502920" y="1911096"/>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Token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the text chunk a model actually reads (~¾ of a word); pricing and limits count these</a:t>
            </a:r>
            <a:endParaRPr lang="en-US" sz="1050" dirty="0"/>
          </a:p>
        </p:txBody>
      </p:sp>
      <p:sp>
        <p:nvSpPr>
          <p:cNvPr id="9" name="Text 7"/>
          <p:cNvSpPr/>
          <p:nvPr/>
        </p:nvSpPr>
        <p:spPr>
          <a:xfrm>
            <a:off x="6172200" y="1911096"/>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Context window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working memory per conversation — everything must fit; cleared when the chat ends</a:t>
            </a:r>
            <a:endParaRPr lang="en-US" sz="1050" dirty="0"/>
          </a:p>
        </p:txBody>
      </p:sp>
      <p:sp>
        <p:nvSpPr>
          <p:cNvPr id="10" name="Text 8"/>
          <p:cNvSpPr/>
          <p:nvPr/>
        </p:nvSpPr>
        <p:spPr>
          <a:xfrm>
            <a:off x="502920" y="2404872"/>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Knowledge cutoff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where training data stops; anything after needs search or your documents</a:t>
            </a:r>
            <a:endParaRPr lang="en-US" sz="1050" dirty="0"/>
          </a:p>
        </p:txBody>
      </p:sp>
      <p:sp>
        <p:nvSpPr>
          <p:cNvPr id="11" name="Text 9"/>
          <p:cNvSpPr/>
          <p:nvPr/>
        </p:nvSpPr>
        <p:spPr>
          <a:xfrm>
            <a:off x="6172200" y="2404872"/>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RAG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retrieval-augmented generation — fetch relevant passages, answer from them, with citations</a:t>
            </a:r>
            <a:endParaRPr lang="en-US" sz="1050" dirty="0"/>
          </a:p>
        </p:txBody>
      </p:sp>
      <p:sp>
        <p:nvSpPr>
          <p:cNvPr id="12" name="Text 10"/>
          <p:cNvSpPr/>
          <p:nvPr/>
        </p:nvSpPr>
        <p:spPr>
          <a:xfrm>
            <a:off x="502920" y="2898648"/>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Embedding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a text’s coordinate in meaning-space; powers semantic search and RAG retrieval</a:t>
            </a:r>
            <a:endParaRPr lang="en-US" sz="1050" dirty="0"/>
          </a:p>
        </p:txBody>
      </p:sp>
      <p:sp>
        <p:nvSpPr>
          <p:cNvPr id="13" name="Text 11"/>
          <p:cNvSpPr/>
          <p:nvPr/>
        </p:nvSpPr>
        <p:spPr>
          <a:xfrm>
            <a:off x="6172200" y="2898648"/>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Hallucination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fluent, confident, wrong — plausibility optimized instead of truth</a:t>
            </a:r>
            <a:endParaRPr lang="en-US" sz="1050" dirty="0"/>
          </a:p>
        </p:txBody>
      </p:sp>
      <p:sp>
        <p:nvSpPr>
          <p:cNvPr id="14" name="Text 12"/>
          <p:cNvSpPr/>
          <p:nvPr/>
        </p:nvSpPr>
        <p:spPr>
          <a:xfrm>
            <a:off x="502920" y="3392424"/>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Reasoning model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drafts and checks internally before answering; slower, costlier, better at hard problems</a:t>
            </a:r>
            <a:endParaRPr lang="en-US" sz="1050" dirty="0"/>
          </a:p>
        </p:txBody>
      </p:sp>
      <p:sp>
        <p:nvSpPr>
          <p:cNvPr id="15" name="Text 13"/>
          <p:cNvSpPr/>
          <p:nvPr/>
        </p:nvSpPr>
        <p:spPr>
          <a:xfrm>
            <a:off x="6172200" y="3392424"/>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Few-shot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teaching by 3–5 examples in the prompt</a:t>
            </a:r>
            <a:endParaRPr lang="en-US" sz="1050" dirty="0"/>
          </a:p>
        </p:txBody>
      </p:sp>
      <p:sp>
        <p:nvSpPr>
          <p:cNvPr id="16" name="Text 14"/>
          <p:cNvSpPr/>
          <p:nvPr/>
        </p:nvSpPr>
        <p:spPr>
          <a:xfrm>
            <a:off x="502920" y="3886200"/>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Chain-of-thought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prompting visible step-by-step reasoning — now built into thinking models</a:t>
            </a:r>
            <a:endParaRPr lang="en-US" sz="1050" dirty="0"/>
          </a:p>
        </p:txBody>
      </p:sp>
      <p:sp>
        <p:nvSpPr>
          <p:cNvPr id="17" name="Text 15"/>
          <p:cNvSpPr/>
          <p:nvPr/>
        </p:nvSpPr>
        <p:spPr>
          <a:xfrm>
            <a:off x="6172200" y="3886200"/>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Metaprompting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asking the model to critique or rewrite your prompt</a:t>
            </a:r>
            <a:endParaRPr lang="en-US" sz="1050" dirty="0"/>
          </a:p>
        </p:txBody>
      </p:sp>
      <p:sp>
        <p:nvSpPr>
          <p:cNvPr id="18" name="Text 16"/>
          <p:cNvSpPr/>
          <p:nvPr/>
        </p:nvSpPr>
        <p:spPr>
          <a:xfrm>
            <a:off x="502920" y="4379976"/>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Sycophancy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the trained tendency to agree with you; blind the review to defuse it</a:t>
            </a:r>
            <a:endParaRPr lang="en-US" sz="1050" dirty="0"/>
          </a:p>
        </p:txBody>
      </p:sp>
      <p:sp>
        <p:nvSpPr>
          <p:cNvPr id="19" name="Text 17"/>
          <p:cNvSpPr/>
          <p:nvPr/>
        </p:nvSpPr>
        <p:spPr>
          <a:xfrm>
            <a:off x="6172200" y="4379976"/>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Agent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model + tools + instructions in a loop, acting until done or stopped</a:t>
            </a:r>
            <a:endParaRPr lang="en-US" sz="1050" dirty="0"/>
          </a:p>
        </p:txBody>
      </p:sp>
      <p:sp>
        <p:nvSpPr>
          <p:cNvPr id="20" name="Text 18"/>
          <p:cNvSpPr/>
          <p:nvPr/>
        </p:nvSpPr>
        <p:spPr>
          <a:xfrm>
            <a:off x="502920" y="4873752"/>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MCP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Model Context Protocol — the open standard for plugging tools into agents</a:t>
            </a:r>
            <a:endParaRPr lang="en-US" sz="1050" dirty="0"/>
          </a:p>
        </p:txBody>
      </p:sp>
      <p:sp>
        <p:nvSpPr>
          <p:cNvPr id="21" name="Text 19"/>
          <p:cNvSpPr/>
          <p:nvPr/>
        </p:nvSpPr>
        <p:spPr>
          <a:xfrm>
            <a:off x="6172200" y="4873752"/>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Mission brief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an agentic prompt: goal, environment, inputs, process, checks, gates, reporting</a:t>
            </a:r>
            <a:endParaRPr lang="en-US" sz="1050" dirty="0"/>
          </a:p>
        </p:txBody>
      </p:sp>
      <p:sp>
        <p:nvSpPr>
          <p:cNvPr id="22" name="Text 20"/>
          <p:cNvSpPr/>
          <p:nvPr/>
        </p:nvSpPr>
        <p:spPr>
          <a:xfrm>
            <a:off x="502920" y="5367528"/>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Gate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a human checkpoint inside an agent’s process — approve before it proceeds</a:t>
            </a:r>
            <a:endParaRPr lang="en-US" sz="1050" dirty="0"/>
          </a:p>
        </p:txBody>
      </p:sp>
      <p:sp>
        <p:nvSpPr>
          <p:cNvPr id="23" name="Text 21"/>
          <p:cNvSpPr/>
          <p:nvPr/>
        </p:nvSpPr>
        <p:spPr>
          <a:xfrm>
            <a:off x="6172200" y="5367528"/>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Open weights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a downloadable model you can self-host — the data-privacy end of the spectrum</a:t>
            </a:r>
            <a:endParaRPr lang="en-US" sz="1050" dirty="0"/>
          </a:p>
        </p:txBody>
      </p:sp>
      <p:sp>
        <p:nvSpPr>
          <p:cNvPr id="24" name="Text 22"/>
          <p:cNvSpPr/>
          <p:nvPr/>
        </p:nvSpPr>
        <p:spPr>
          <a:xfrm>
            <a:off x="502920" y="5861304"/>
            <a:ext cx="5440680" cy="512064"/>
          </a:xfrm>
          <a:prstGeom prst="rect">
            <a:avLst/>
          </a:prstGeom>
          <a:noFill/>
          <a:ln/>
        </p:spPr>
        <p:txBody>
          <a:bodyPr wrap="square" lIns="0" tIns="0" rIns="0" bIns="0" rtlCol="0" anchor="ctr"/>
          <a:lstStyle/>
          <a:p>
            <a:pPr indent="0" marL="0">
              <a:lnSpc>
                <a:spcPct val="100000"/>
              </a:lnSpc>
              <a:buNone/>
            </a:pPr>
            <a:r>
              <a:rPr lang="en-US" sz="1050" b="1" dirty="0">
                <a:solidFill>
                  <a:srgbClr val="0A5B5A"/>
                </a:solidFill>
                <a:latin typeface="Calibri" pitchFamily="34" charset="0"/>
                <a:ea typeface="Calibri" pitchFamily="34" charset="-122"/>
                <a:cs typeface="Calibri" pitchFamily="34" charset="-120"/>
              </a:rPr>
              <a:t>Taxonomy —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the element → attribute → option catalog behind the Template Creator — your parts list for prompts</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REFERENCE · EVIDENCE MAP 1 OF 2</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64</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REFERENCE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Why each dial matters — the generative criteria</a:t>
            </a:r>
            <a:endParaRPr lang="en-US" sz="3000" dirty="0"/>
          </a:p>
        </p:txBody>
      </p:sp>
      <p:sp>
        <p:nvSpPr>
          <p:cNvPr id="6" name="Text 4"/>
          <p:cNvSpPr/>
          <p:nvPr/>
        </p:nvSpPr>
        <p:spPr>
          <a:xfrm>
            <a:off x="685800" y="1444752"/>
            <a:ext cx="2103120" cy="274320"/>
          </a:xfrm>
          <a:prstGeom prst="rect">
            <a:avLst/>
          </a:prstGeom>
          <a:noFill/>
          <a:ln/>
        </p:spPr>
        <p:txBody>
          <a:bodyPr wrap="square" lIns="0" tIns="0" rIns="0" bIns="0" rtlCol="0" anchor="ctr"/>
          <a:lstStyle/>
          <a:p>
            <a:pPr indent="0" marL="0">
              <a:buNone/>
            </a:pPr>
            <a:r>
              <a:rPr lang="en-US" sz="1050" b="1" dirty="0">
                <a:solidFill>
                  <a:srgbClr val="46545F"/>
                </a:solidFill>
                <a:latin typeface="Calibri" pitchFamily="34" charset="0"/>
                <a:ea typeface="Calibri" pitchFamily="34" charset="-122"/>
                <a:cs typeface="Calibri" pitchFamily="34" charset="-120"/>
              </a:rPr>
              <a:t>Criteria class</a:t>
            </a:r>
            <a:endParaRPr lang="en-US" sz="1050" dirty="0"/>
          </a:p>
        </p:txBody>
      </p:sp>
      <p:sp>
        <p:nvSpPr>
          <p:cNvPr id="7" name="Text 5"/>
          <p:cNvSpPr/>
          <p:nvPr/>
        </p:nvSpPr>
        <p:spPr>
          <a:xfrm>
            <a:off x="2880360" y="1444752"/>
            <a:ext cx="5486400" cy="274320"/>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What it does to your output</a:t>
            </a:r>
            <a:endParaRPr lang="en-US" sz="1050" dirty="0"/>
          </a:p>
        </p:txBody>
      </p:sp>
      <p:sp>
        <p:nvSpPr>
          <p:cNvPr id="8" name="Text 6"/>
          <p:cNvSpPr/>
          <p:nvPr/>
        </p:nvSpPr>
        <p:spPr>
          <a:xfrm>
            <a:off x="8503920" y="1444752"/>
            <a:ext cx="2971800" cy="274320"/>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Evidence</a:t>
            </a:r>
            <a:endParaRPr lang="en-US" sz="1050" dirty="0"/>
          </a:p>
        </p:txBody>
      </p:sp>
      <p:sp>
        <p:nvSpPr>
          <p:cNvPr id="9" name="Shape 7"/>
          <p:cNvSpPr/>
          <p:nvPr/>
        </p:nvSpPr>
        <p:spPr>
          <a:xfrm>
            <a:off x="502920" y="1755648"/>
            <a:ext cx="11155680" cy="402336"/>
          </a:xfrm>
          <a:prstGeom prst="roundRect">
            <a:avLst>
              <a:gd name="adj" fmla="val 18182"/>
            </a:avLst>
          </a:prstGeom>
          <a:solidFill>
            <a:srgbClr val="F2F5F6"/>
          </a:solidFill>
          <a:ln/>
        </p:spPr>
      </p:sp>
      <p:sp>
        <p:nvSpPr>
          <p:cNvPr id="10" name="Text 8"/>
          <p:cNvSpPr/>
          <p:nvPr/>
        </p:nvSpPr>
        <p:spPr>
          <a:xfrm>
            <a:off x="685800" y="17739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Identity &amp; role</a:t>
            </a:r>
            <a:endParaRPr lang="en-US" sz="930" dirty="0"/>
          </a:p>
        </p:txBody>
      </p:sp>
      <p:sp>
        <p:nvSpPr>
          <p:cNvPr id="11" name="Text 9"/>
          <p:cNvSpPr/>
          <p:nvPr/>
        </p:nvSpPr>
        <p:spPr>
          <a:xfrm>
            <a:off x="2880360" y="17739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Sets voice, vocabulary, and caution level — which region of training answers. Titles add no accuracy: 162-persona testing found no gain.</a:t>
            </a:r>
            <a:endParaRPr lang="en-US" sz="880" dirty="0"/>
          </a:p>
        </p:txBody>
      </p:sp>
      <p:sp>
        <p:nvSpPr>
          <p:cNvPr id="12" name="Text 10"/>
          <p:cNvSpPr/>
          <p:nvPr/>
        </p:nvSpPr>
        <p:spPr>
          <a:xfrm>
            <a:off x="8503920" y="17739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Zheng 2024 · Salewski 2023</a:t>
            </a:r>
            <a:endParaRPr lang="en-US" sz="820" dirty="0"/>
          </a:p>
        </p:txBody>
      </p:sp>
      <p:sp>
        <p:nvSpPr>
          <p:cNvPr id="13" name="Shape 11"/>
          <p:cNvSpPr/>
          <p:nvPr/>
        </p:nvSpPr>
        <p:spPr>
          <a:xfrm>
            <a:off x="502920" y="2212848"/>
            <a:ext cx="11155680" cy="402336"/>
          </a:xfrm>
          <a:prstGeom prst="roundRect">
            <a:avLst>
              <a:gd name="adj" fmla="val 18182"/>
            </a:avLst>
          </a:prstGeom>
          <a:solidFill>
            <a:srgbClr val="FFFFFF"/>
          </a:solidFill>
          <a:ln w="9525">
            <a:solidFill>
              <a:srgbClr val="DCE3E6"/>
            </a:solidFill>
            <a:prstDash val="solid"/>
          </a:ln>
        </p:spPr>
      </p:sp>
      <p:sp>
        <p:nvSpPr>
          <p:cNvPr id="14" name="Text 12"/>
          <p:cNvSpPr/>
          <p:nvPr/>
        </p:nvSpPr>
        <p:spPr>
          <a:xfrm>
            <a:off x="685800" y="22311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Behavioral rules</a:t>
            </a:r>
            <a:endParaRPr lang="en-US" sz="930" dirty="0"/>
          </a:p>
        </p:txBody>
      </p:sp>
      <p:sp>
        <p:nvSpPr>
          <p:cNvPr id="15" name="Text 13"/>
          <p:cNvSpPr/>
          <p:nvPr/>
        </p:nvSpPr>
        <p:spPr>
          <a:xfrm>
            <a:off x="2880360" y="22311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Turn “be careful” into rules checkable line-by-line in the output; grounding rules drastically cut invented content.</a:t>
            </a:r>
            <a:endParaRPr lang="en-US" sz="880" dirty="0"/>
          </a:p>
        </p:txBody>
      </p:sp>
      <p:sp>
        <p:nvSpPr>
          <p:cNvPr id="16" name="Text 14"/>
          <p:cNvSpPr/>
          <p:nvPr/>
        </p:nvSpPr>
        <p:spPr>
          <a:xfrm>
            <a:off x="8503920" y="22311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Anthropic hallucination docs</a:t>
            </a:r>
            <a:endParaRPr lang="en-US" sz="820" dirty="0"/>
          </a:p>
        </p:txBody>
      </p:sp>
      <p:sp>
        <p:nvSpPr>
          <p:cNvPr id="17" name="Shape 15"/>
          <p:cNvSpPr/>
          <p:nvPr/>
        </p:nvSpPr>
        <p:spPr>
          <a:xfrm>
            <a:off x="502920" y="2670048"/>
            <a:ext cx="11155680" cy="402336"/>
          </a:xfrm>
          <a:prstGeom prst="roundRect">
            <a:avLst>
              <a:gd name="adj" fmla="val 18182"/>
            </a:avLst>
          </a:prstGeom>
          <a:solidFill>
            <a:srgbClr val="F2F5F6"/>
          </a:solidFill>
          <a:ln/>
        </p:spPr>
      </p:sp>
      <p:sp>
        <p:nvSpPr>
          <p:cNvPr id="18" name="Text 16"/>
          <p:cNvSpPr/>
          <p:nvPr/>
        </p:nvSpPr>
        <p:spPr>
          <a:xfrm>
            <a:off x="685800" y="26883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Stance &amp; blinding</a:t>
            </a:r>
            <a:endParaRPr lang="en-US" sz="930" dirty="0"/>
          </a:p>
        </p:txBody>
      </p:sp>
      <p:sp>
        <p:nvSpPr>
          <p:cNvPr id="19" name="Text 17"/>
          <p:cNvSpPr/>
          <p:nvPr/>
        </p:nvSpPr>
        <p:spPr>
          <a:xfrm>
            <a:off x="2880360" y="26883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Models affirm users ~49% more than humans and mirror any side you reveal — a declared neutral or critic stance pre-empts the mirror.</a:t>
            </a:r>
            <a:endParaRPr lang="en-US" sz="880" dirty="0"/>
          </a:p>
        </p:txBody>
      </p:sp>
      <p:sp>
        <p:nvSpPr>
          <p:cNvPr id="20" name="Text 18"/>
          <p:cNvSpPr/>
          <p:nvPr/>
        </p:nvSpPr>
        <p:spPr>
          <a:xfrm>
            <a:off x="8503920" y="26883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Cheng, Science 2026 · Sharma 2023</a:t>
            </a:r>
            <a:endParaRPr lang="en-US" sz="820" dirty="0"/>
          </a:p>
        </p:txBody>
      </p:sp>
      <p:sp>
        <p:nvSpPr>
          <p:cNvPr id="21" name="Shape 19"/>
          <p:cNvSpPr/>
          <p:nvPr/>
        </p:nvSpPr>
        <p:spPr>
          <a:xfrm>
            <a:off x="502920" y="3127248"/>
            <a:ext cx="11155680" cy="402336"/>
          </a:xfrm>
          <a:prstGeom prst="roundRect">
            <a:avLst>
              <a:gd name="adj" fmla="val 18182"/>
            </a:avLst>
          </a:prstGeom>
          <a:solidFill>
            <a:srgbClr val="FFFFFF"/>
          </a:solidFill>
          <a:ln w="9525">
            <a:solidFill>
              <a:srgbClr val="DCE3E6"/>
            </a:solidFill>
            <a:prstDash val="solid"/>
          </a:ln>
        </p:spPr>
      </p:sp>
      <p:sp>
        <p:nvSpPr>
          <p:cNvPr id="22" name="Text 20"/>
          <p:cNvSpPr/>
          <p:nvPr/>
        </p:nvSpPr>
        <p:spPr>
          <a:xfrm>
            <a:off x="685800" y="31455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Task verb &amp; question</a:t>
            </a:r>
            <a:endParaRPr lang="en-US" sz="930" dirty="0"/>
          </a:p>
        </p:txBody>
      </p:sp>
      <p:sp>
        <p:nvSpPr>
          <p:cNvPr id="23" name="Text 21"/>
          <p:cNvSpPr/>
          <p:nvPr/>
        </p:nvSpPr>
        <p:spPr>
          <a:xfrm>
            <a:off x="2880360" y="31455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The verb selects the operation; a precise question carries its own completion test. Ambiguity burns thinking tokens on reconciliation.</a:t>
            </a:r>
            <a:endParaRPr lang="en-US" sz="880" dirty="0"/>
          </a:p>
        </p:txBody>
      </p:sp>
      <p:sp>
        <p:nvSpPr>
          <p:cNvPr id="24" name="Text 22"/>
          <p:cNvSpPr/>
          <p:nvPr/>
        </p:nvSpPr>
        <p:spPr>
          <a:xfrm>
            <a:off x="8503920" y="31455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Google guide · OpenAI GPT-5 guide</a:t>
            </a:r>
            <a:endParaRPr lang="en-US" sz="820" dirty="0"/>
          </a:p>
        </p:txBody>
      </p:sp>
      <p:sp>
        <p:nvSpPr>
          <p:cNvPr id="25" name="Shape 23"/>
          <p:cNvSpPr/>
          <p:nvPr/>
        </p:nvSpPr>
        <p:spPr>
          <a:xfrm>
            <a:off x="502920" y="3584448"/>
            <a:ext cx="11155680" cy="402336"/>
          </a:xfrm>
          <a:prstGeom prst="roundRect">
            <a:avLst>
              <a:gd name="adj" fmla="val 18182"/>
            </a:avLst>
          </a:prstGeom>
          <a:solidFill>
            <a:srgbClr val="F2F5F6"/>
          </a:solidFill>
          <a:ln/>
        </p:spPr>
      </p:sp>
      <p:sp>
        <p:nvSpPr>
          <p:cNvPr id="26" name="Text 24"/>
          <p:cNvSpPr/>
          <p:nvPr/>
        </p:nvSpPr>
        <p:spPr>
          <a:xfrm>
            <a:off x="685800" y="36027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Purpose — the why</a:t>
            </a:r>
            <a:endParaRPr lang="en-US" sz="930" dirty="0"/>
          </a:p>
        </p:txBody>
      </p:sp>
      <p:sp>
        <p:nvSpPr>
          <p:cNvPr id="27" name="Text 25"/>
          <p:cNvSpPr/>
          <p:nvPr/>
        </p:nvSpPr>
        <p:spPr>
          <a:xfrm>
            <a:off x="2880360" y="36027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Models generalize from reasons: an explained rule gets applied in spirit to cases you never listed.</a:t>
            </a:r>
            <a:endParaRPr lang="en-US" sz="880" dirty="0"/>
          </a:p>
        </p:txBody>
      </p:sp>
      <p:sp>
        <p:nvSpPr>
          <p:cNvPr id="28" name="Text 26"/>
          <p:cNvSpPr/>
          <p:nvPr/>
        </p:nvSpPr>
        <p:spPr>
          <a:xfrm>
            <a:off x="8503920" y="36027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Anthropic best practices</a:t>
            </a:r>
            <a:endParaRPr lang="en-US" sz="820" dirty="0"/>
          </a:p>
        </p:txBody>
      </p:sp>
      <p:sp>
        <p:nvSpPr>
          <p:cNvPr id="29" name="Shape 27"/>
          <p:cNvSpPr/>
          <p:nvPr/>
        </p:nvSpPr>
        <p:spPr>
          <a:xfrm>
            <a:off x="502920" y="4041648"/>
            <a:ext cx="11155680" cy="402336"/>
          </a:xfrm>
          <a:prstGeom prst="roundRect">
            <a:avLst>
              <a:gd name="adj" fmla="val 18182"/>
            </a:avLst>
          </a:prstGeom>
          <a:solidFill>
            <a:srgbClr val="FFFFFF"/>
          </a:solidFill>
          <a:ln w="9525">
            <a:solidFill>
              <a:srgbClr val="DCE3E6"/>
            </a:solidFill>
            <a:prstDash val="solid"/>
          </a:ln>
        </p:spPr>
      </p:sp>
      <p:sp>
        <p:nvSpPr>
          <p:cNvPr id="30" name="Text 28"/>
          <p:cNvSpPr/>
          <p:nvPr/>
        </p:nvSpPr>
        <p:spPr>
          <a:xfrm>
            <a:off x="685800" y="40599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Context &amp; glossary</a:t>
            </a:r>
            <a:endParaRPr lang="en-US" sz="930" dirty="0"/>
          </a:p>
        </p:txBody>
      </p:sp>
      <p:sp>
        <p:nvSpPr>
          <p:cNvPr id="31" name="Text 29"/>
          <p:cNvSpPr/>
          <p:nvPr/>
        </p:nvSpPr>
        <p:spPr>
          <a:xfrm>
            <a:off x="2880360" y="40599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Replaces the model’s most-plausible guess with your facts; every unstated quirk becomes an invented “fix.”</a:t>
            </a:r>
            <a:endParaRPr lang="en-US" sz="880" dirty="0"/>
          </a:p>
        </p:txBody>
      </p:sp>
      <p:sp>
        <p:nvSpPr>
          <p:cNvPr id="32" name="Text 30"/>
          <p:cNvSpPr/>
          <p:nvPr/>
        </p:nvSpPr>
        <p:spPr>
          <a:xfrm>
            <a:off x="8503920" y="40599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OpenAI 2025, why LMs hallucinate</a:t>
            </a:r>
            <a:endParaRPr lang="en-US" sz="820" dirty="0"/>
          </a:p>
        </p:txBody>
      </p:sp>
      <p:sp>
        <p:nvSpPr>
          <p:cNvPr id="33" name="Shape 31"/>
          <p:cNvSpPr/>
          <p:nvPr/>
        </p:nvSpPr>
        <p:spPr>
          <a:xfrm>
            <a:off x="502920" y="4498848"/>
            <a:ext cx="11155680" cy="402336"/>
          </a:xfrm>
          <a:prstGeom prst="roundRect">
            <a:avLst>
              <a:gd name="adj" fmla="val 18182"/>
            </a:avLst>
          </a:prstGeom>
          <a:solidFill>
            <a:srgbClr val="F2F5F6"/>
          </a:solidFill>
          <a:ln/>
        </p:spPr>
      </p:sp>
      <p:sp>
        <p:nvSpPr>
          <p:cNvPr id="34" name="Text 32"/>
          <p:cNvSpPr/>
          <p:nvPr/>
        </p:nvSpPr>
        <p:spPr>
          <a:xfrm>
            <a:off x="685800" y="45171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Material placement</a:t>
            </a:r>
            <a:endParaRPr lang="en-US" sz="930" dirty="0"/>
          </a:p>
        </p:txBody>
      </p:sp>
      <p:sp>
        <p:nvSpPr>
          <p:cNvPr id="35" name="Text 33"/>
          <p:cNvSpPr/>
          <p:nvPr/>
        </p:nvSpPr>
        <p:spPr>
          <a:xfrm>
            <a:off x="2880360" y="45171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Documents at the top, question at the end: up to ~30% better answers; content buried mid-context sags.</a:t>
            </a:r>
            <a:endParaRPr lang="en-US" sz="880" dirty="0"/>
          </a:p>
        </p:txBody>
      </p:sp>
      <p:sp>
        <p:nvSpPr>
          <p:cNvPr id="36" name="Text 34"/>
          <p:cNvSpPr/>
          <p:nvPr/>
        </p:nvSpPr>
        <p:spPr>
          <a:xfrm>
            <a:off x="8503920" y="45171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Anthropic long-context · Liu 2023</a:t>
            </a:r>
            <a:endParaRPr lang="en-US" sz="820" dirty="0"/>
          </a:p>
        </p:txBody>
      </p:sp>
      <p:sp>
        <p:nvSpPr>
          <p:cNvPr id="37" name="Shape 35"/>
          <p:cNvSpPr/>
          <p:nvPr/>
        </p:nvSpPr>
        <p:spPr>
          <a:xfrm>
            <a:off x="502920" y="4956048"/>
            <a:ext cx="11155680" cy="402336"/>
          </a:xfrm>
          <a:prstGeom prst="roundRect">
            <a:avLst>
              <a:gd name="adj" fmla="val 18182"/>
            </a:avLst>
          </a:prstGeom>
          <a:solidFill>
            <a:srgbClr val="FFFFFF"/>
          </a:solidFill>
          <a:ln w="9525">
            <a:solidFill>
              <a:srgbClr val="DCE3E6"/>
            </a:solidFill>
            <a:prstDash val="solid"/>
          </a:ln>
        </p:spPr>
      </p:sp>
      <p:sp>
        <p:nvSpPr>
          <p:cNvPr id="38" name="Text 36"/>
          <p:cNvSpPr/>
          <p:nvPr/>
        </p:nvSpPr>
        <p:spPr>
          <a:xfrm>
            <a:off x="685800" y="49743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Format &amp; length</a:t>
            </a:r>
            <a:endParaRPr lang="en-US" sz="930" dirty="0"/>
          </a:p>
        </p:txBody>
      </p:sp>
      <p:sp>
        <p:nvSpPr>
          <p:cNvPr id="39" name="Text 37"/>
          <p:cNvSpPr/>
          <p:nvPr/>
        </p:nvSpPr>
        <p:spPr>
          <a:xfrm>
            <a:off x="2880360" y="49743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Tiny format changes swing accuracy up to 76 points — a tested shape removes that variance. Numeric caps are enforceable; adjectives are moods.</a:t>
            </a:r>
            <a:endParaRPr lang="en-US" sz="880" dirty="0"/>
          </a:p>
        </p:txBody>
      </p:sp>
      <p:sp>
        <p:nvSpPr>
          <p:cNvPr id="40" name="Text 38"/>
          <p:cNvSpPr/>
          <p:nvPr/>
        </p:nvSpPr>
        <p:spPr>
          <a:xfrm>
            <a:off x="8503920" y="49743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Sclar, ICLR 2024</a:t>
            </a:r>
            <a:endParaRPr lang="en-US" sz="820" dirty="0"/>
          </a:p>
        </p:txBody>
      </p:sp>
      <p:sp>
        <p:nvSpPr>
          <p:cNvPr id="41" name="Shape 39"/>
          <p:cNvSpPr/>
          <p:nvPr/>
        </p:nvSpPr>
        <p:spPr>
          <a:xfrm>
            <a:off x="502920" y="5413248"/>
            <a:ext cx="11155680" cy="402336"/>
          </a:xfrm>
          <a:prstGeom prst="roundRect">
            <a:avLst>
              <a:gd name="adj" fmla="val 18182"/>
            </a:avLst>
          </a:prstGeom>
          <a:solidFill>
            <a:srgbClr val="F2F5F6"/>
          </a:solidFill>
          <a:ln/>
        </p:spPr>
      </p:sp>
      <p:sp>
        <p:nvSpPr>
          <p:cNvPr id="42" name="Text 40"/>
          <p:cNvSpPr/>
          <p:nvPr/>
        </p:nvSpPr>
        <p:spPr>
          <a:xfrm>
            <a:off x="685800" y="54315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Examples</a:t>
            </a:r>
            <a:endParaRPr lang="en-US" sz="930" dirty="0"/>
          </a:p>
        </p:txBody>
      </p:sp>
      <p:sp>
        <p:nvSpPr>
          <p:cNvPr id="43" name="Text 41"/>
          <p:cNvSpPr/>
          <p:nvPr/>
        </p:nvSpPr>
        <p:spPr>
          <a:xfrm>
            <a:off x="2880360" y="54315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The model imitates format, tone, AND edge-case behavior; exemplar choice and order alone can swing accuracy from chance to 90%+. Zero-shot first on thinking models.</a:t>
            </a:r>
            <a:endParaRPr lang="en-US" sz="880" dirty="0"/>
          </a:p>
        </p:txBody>
      </p:sp>
      <p:sp>
        <p:nvSpPr>
          <p:cNvPr id="44" name="Text 42"/>
          <p:cNvSpPr/>
          <p:nvPr/>
        </p:nvSpPr>
        <p:spPr>
          <a:xfrm>
            <a:off x="8503920" y="54315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Brown 2020 · Lu 2021 · DeepSeek-R1</a:t>
            </a:r>
            <a:endParaRPr lang="en-US" sz="820" dirty="0"/>
          </a:p>
        </p:txBody>
      </p:sp>
      <p:sp>
        <p:nvSpPr>
          <p:cNvPr id="45" name="Shape 43"/>
          <p:cNvSpPr/>
          <p:nvPr/>
        </p:nvSpPr>
        <p:spPr>
          <a:xfrm>
            <a:off x="502920" y="5870448"/>
            <a:ext cx="11155680" cy="402336"/>
          </a:xfrm>
          <a:prstGeom prst="roundRect">
            <a:avLst>
              <a:gd name="adj" fmla="val 18182"/>
            </a:avLst>
          </a:prstGeom>
          <a:solidFill>
            <a:srgbClr val="FFFFFF"/>
          </a:solidFill>
          <a:ln w="9525">
            <a:solidFill>
              <a:srgbClr val="DCE3E6"/>
            </a:solidFill>
            <a:prstDash val="solid"/>
          </a:ln>
        </p:spPr>
      </p:sp>
      <p:sp>
        <p:nvSpPr>
          <p:cNvPr id="46" name="Text 44"/>
          <p:cNvSpPr/>
          <p:nvPr/>
        </p:nvSpPr>
        <p:spPr>
          <a:xfrm>
            <a:off x="685800" y="58887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The Out &amp; the Stop</a:t>
            </a:r>
            <a:endParaRPr lang="en-US" sz="930" dirty="0"/>
          </a:p>
        </p:txBody>
      </p:sp>
      <p:sp>
        <p:nvSpPr>
          <p:cNvPr id="47" name="Text 45"/>
          <p:cNvSpPr/>
          <p:nvPr/>
        </p:nvSpPr>
        <p:spPr>
          <a:xfrm>
            <a:off x="2880360" y="58887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Permission to say “I don’t know” drastically cuts invented answers — training rewards guessing; numbered scope plus a stop rule bound the sprawl.</a:t>
            </a:r>
            <a:endParaRPr lang="en-US" sz="880" dirty="0"/>
          </a:p>
        </p:txBody>
      </p:sp>
      <p:sp>
        <p:nvSpPr>
          <p:cNvPr id="48" name="Text 46"/>
          <p:cNvSpPr/>
          <p:nvPr/>
        </p:nvSpPr>
        <p:spPr>
          <a:xfrm>
            <a:off x="8503920" y="58887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Anthropic docs · OpenAI 2025</a:t>
            </a:r>
            <a:endParaRPr lang="en-US" sz="82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REFERENCE · EVIDENCE MAP 2 OF 2</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65</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REFERENCE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Why each dial matters — the agentic criteria</a:t>
            </a:r>
            <a:endParaRPr lang="en-US" sz="3000" dirty="0"/>
          </a:p>
        </p:txBody>
      </p:sp>
      <p:sp>
        <p:nvSpPr>
          <p:cNvPr id="6" name="Text 4"/>
          <p:cNvSpPr/>
          <p:nvPr/>
        </p:nvSpPr>
        <p:spPr>
          <a:xfrm>
            <a:off x="685800" y="1444752"/>
            <a:ext cx="2103120" cy="274320"/>
          </a:xfrm>
          <a:prstGeom prst="rect">
            <a:avLst/>
          </a:prstGeom>
          <a:noFill/>
          <a:ln/>
        </p:spPr>
        <p:txBody>
          <a:bodyPr wrap="square" lIns="0" tIns="0" rIns="0" bIns="0" rtlCol="0" anchor="ctr"/>
          <a:lstStyle/>
          <a:p>
            <a:pPr indent="0" marL="0">
              <a:buNone/>
            </a:pPr>
            <a:r>
              <a:rPr lang="en-US" sz="1050" b="1" dirty="0">
                <a:solidFill>
                  <a:srgbClr val="46545F"/>
                </a:solidFill>
                <a:latin typeface="Calibri" pitchFamily="34" charset="0"/>
                <a:ea typeface="Calibri" pitchFamily="34" charset="-122"/>
                <a:cs typeface="Calibri" pitchFamily="34" charset="-120"/>
              </a:rPr>
              <a:t>Criteria class</a:t>
            </a:r>
            <a:endParaRPr lang="en-US" sz="1050" dirty="0"/>
          </a:p>
        </p:txBody>
      </p:sp>
      <p:sp>
        <p:nvSpPr>
          <p:cNvPr id="7" name="Text 5"/>
          <p:cNvSpPr/>
          <p:nvPr/>
        </p:nvSpPr>
        <p:spPr>
          <a:xfrm>
            <a:off x="2880360" y="1444752"/>
            <a:ext cx="5486400" cy="274320"/>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What it does to your output</a:t>
            </a:r>
            <a:endParaRPr lang="en-US" sz="1050" dirty="0"/>
          </a:p>
        </p:txBody>
      </p:sp>
      <p:sp>
        <p:nvSpPr>
          <p:cNvPr id="8" name="Text 6"/>
          <p:cNvSpPr/>
          <p:nvPr/>
        </p:nvSpPr>
        <p:spPr>
          <a:xfrm>
            <a:off x="8503920" y="1444752"/>
            <a:ext cx="2971800" cy="274320"/>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Evidence</a:t>
            </a:r>
            <a:endParaRPr lang="en-US" sz="1050" dirty="0"/>
          </a:p>
        </p:txBody>
      </p:sp>
      <p:sp>
        <p:nvSpPr>
          <p:cNvPr id="9" name="Shape 7"/>
          <p:cNvSpPr/>
          <p:nvPr/>
        </p:nvSpPr>
        <p:spPr>
          <a:xfrm>
            <a:off x="502920" y="1755648"/>
            <a:ext cx="11155680" cy="402336"/>
          </a:xfrm>
          <a:prstGeom prst="roundRect">
            <a:avLst>
              <a:gd name="adj" fmla="val 18182"/>
            </a:avLst>
          </a:prstGeom>
          <a:solidFill>
            <a:srgbClr val="F2F5F6"/>
          </a:solidFill>
          <a:ln/>
        </p:spPr>
      </p:sp>
      <p:sp>
        <p:nvSpPr>
          <p:cNvPr id="10" name="Text 8"/>
          <p:cNvSpPr/>
          <p:nvPr/>
        </p:nvSpPr>
        <p:spPr>
          <a:xfrm>
            <a:off x="685800" y="17739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Posture &amp; standing rules</a:t>
            </a:r>
            <a:endParaRPr lang="en-US" sz="930" dirty="0"/>
          </a:p>
        </p:txBody>
      </p:sp>
      <p:sp>
        <p:nvSpPr>
          <p:cNvPr id="11" name="Text 9"/>
          <p:cNvSpPr/>
          <p:nvPr/>
        </p:nvSpPr>
        <p:spPr>
          <a:xfrm>
            <a:off x="2880360" y="17739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Conduct that must survive hour three of an unsupervised run — rules live in re-read files, not in fading conversation context.</a:t>
            </a:r>
            <a:endParaRPr lang="en-US" sz="880" dirty="0"/>
          </a:p>
        </p:txBody>
      </p:sp>
      <p:sp>
        <p:nvSpPr>
          <p:cNvPr id="12" name="Text 10"/>
          <p:cNvSpPr/>
          <p:nvPr/>
        </p:nvSpPr>
        <p:spPr>
          <a:xfrm>
            <a:off x="8503920" y="17739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Anthropic harness guidance</a:t>
            </a:r>
            <a:endParaRPr lang="en-US" sz="820" dirty="0"/>
          </a:p>
        </p:txBody>
      </p:sp>
      <p:sp>
        <p:nvSpPr>
          <p:cNvPr id="13" name="Shape 11"/>
          <p:cNvSpPr/>
          <p:nvPr/>
        </p:nvSpPr>
        <p:spPr>
          <a:xfrm>
            <a:off x="502920" y="2212848"/>
            <a:ext cx="11155680" cy="402336"/>
          </a:xfrm>
          <a:prstGeom prst="roundRect">
            <a:avLst>
              <a:gd name="adj" fmla="val 18182"/>
            </a:avLst>
          </a:prstGeom>
          <a:solidFill>
            <a:srgbClr val="FFFFFF"/>
          </a:solidFill>
          <a:ln w="9525">
            <a:solidFill>
              <a:srgbClr val="DCE3E6"/>
            </a:solidFill>
            <a:prstDash val="solid"/>
          </a:ln>
        </p:spPr>
      </p:sp>
      <p:sp>
        <p:nvSpPr>
          <p:cNvPr id="14" name="Text 12"/>
          <p:cNvSpPr/>
          <p:nvPr/>
        </p:nvSpPr>
        <p:spPr>
          <a:xfrm>
            <a:off x="685800" y="22311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Done + verifiable-by</a:t>
            </a:r>
            <a:endParaRPr lang="en-US" sz="930" dirty="0"/>
          </a:p>
        </p:txBody>
      </p:sp>
      <p:sp>
        <p:nvSpPr>
          <p:cNvPr id="15" name="Text 13"/>
          <p:cNvSpPr/>
          <p:nvPr/>
        </p:nvSpPr>
        <p:spPr>
          <a:xfrm>
            <a:off x="2880360" y="22311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The loop needs an exit it can TEST: mark work complete “only after end-to-end verification — not when the code is written.”</a:t>
            </a:r>
            <a:endParaRPr lang="en-US" sz="880" dirty="0"/>
          </a:p>
        </p:txBody>
      </p:sp>
      <p:sp>
        <p:nvSpPr>
          <p:cNvPr id="16" name="Text 14"/>
          <p:cNvSpPr/>
          <p:nvPr/>
        </p:nvSpPr>
        <p:spPr>
          <a:xfrm>
            <a:off x="8503920" y="22311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Anthropic memory-tool (verbatim)</a:t>
            </a:r>
            <a:endParaRPr lang="en-US" sz="820" dirty="0"/>
          </a:p>
        </p:txBody>
      </p:sp>
      <p:sp>
        <p:nvSpPr>
          <p:cNvPr id="17" name="Shape 15"/>
          <p:cNvSpPr/>
          <p:nvPr/>
        </p:nvSpPr>
        <p:spPr>
          <a:xfrm>
            <a:off x="502920" y="2670048"/>
            <a:ext cx="11155680" cy="402336"/>
          </a:xfrm>
          <a:prstGeom prst="roundRect">
            <a:avLst>
              <a:gd name="adj" fmla="val 18182"/>
            </a:avLst>
          </a:prstGeom>
          <a:solidFill>
            <a:srgbClr val="F2F5F6"/>
          </a:solidFill>
          <a:ln/>
        </p:spPr>
      </p:sp>
      <p:sp>
        <p:nvSpPr>
          <p:cNvPr id="18" name="Text 16"/>
          <p:cNvSpPr/>
          <p:nvPr/>
        </p:nvSpPr>
        <p:spPr>
          <a:xfrm>
            <a:off x="685800" y="26883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Environment boundaries</a:t>
            </a:r>
            <a:endParaRPr lang="en-US" sz="930" dirty="0"/>
          </a:p>
        </p:txBody>
      </p:sp>
      <p:sp>
        <p:nvSpPr>
          <p:cNvPr id="19" name="Text 17"/>
          <p:cNvSpPr/>
          <p:nvPr/>
        </p:nvSpPr>
        <p:spPr>
          <a:xfrm>
            <a:off x="2880360" y="26883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Immutable inputs and versioned outputs engineer reversibility in before the first action — blast radius is a design choice.</a:t>
            </a:r>
            <a:endParaRPr lang="en-US" sz="880" dirty="0"/>
          </a:p>
        </p:txBody>
      </p:sp>
      <p:sp>
        <p:nvSpPr>
          <p:cNvPr id="20" name="Text 18"/>
          <p:cNvSpPr/>
          <p:nvPr/>
        </p:nvSpPr>
        <p:spPr>
          <a:xfrm>
            <a:off x="8503920" y="26883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Claude Code protected paths</a:t>
            </a:r>
            <a:endParaRPr lang="en-US" sz="820" dirty="0"/>
          </a:p>
        </p:txBody>
      </p:sp>
      <p:sp>
        <p:nvSpPr>
          <p:cNvPr id="21" name="Shape 19"/>
          <p:cNvSpPr/>
          <p:nvPr/>
        </p:nvSpPr>
        <p:spPr>
          <a:xfrm>
            <a:off x="502920" y="3127248"/>
            <a:ext cx="11155680" cy="402336"/>
          </a:xfrm>
          <a:prstGeom prst="roundRect">
            <a:avLst>
              <a:gd name="adj" fmla="val 18182"/>
            </a:avLst>
          </a:prstGeom>
          <a:solidFill>
            <a:srgbClr val="FFFFFF"/>
          </a:solidFill>
          <a:ln w="9525">
            <a:solidFill>
              <a:srgbClr val="DCE3E6"/>
            </a:solidFill>
            <a:prstDash val="solid"/>
          </a:ln>
        </p:spPr>
      </p:sp>
      <p:sp>
        <p:nvSpPr>
          <p:cNvPr id="22" name="Text 20"/>
          <p:cNvSpPr/>
          <p:nvPr/>
        </p:nvSpPr>
        <p:spPr>
          <a:xfrm>
            <a:off x="685800" y="31455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Least-privilege tools</a:t>
            </a:r>
            <a:endParaRPr lang="en-US" sz="930" dirty="0"/>
          </a:p>
        </p:txBody>
      </p:sp>
      <p:sp>
        <p:nvSpPr>
          <p:cNvPr id="23" name="Text 21"/>
          <p:cNvSpPr/>
          <p:nvPr/>
        </p:nvSpPr>
        <p:spPr>
          <a:xfrm>
            <a:off x="2880360" y="31455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Name what exists, forbid the rest; risk-rate each tool low/medium/high by write access, reversibility, and impact.</a:t>
            </a:r>
            <a:endParaRPr lang="en-US" sz="880" dirty="0"/>
          </a:p>
        </p:txBody>
      </p:sp>
      <p:sp>
        <p:nvSpPr>
          <p:cNvPr id="24" name="Text 22"/>
          <p:cNvSpPr/>
          <p:nvPr/>
        </p:nvSpPr>
        <p:spPr>
          <a:xfrm>
            <a:off x="8503920" y="31455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OpenAI practical guide · NCSC</a:t>
            </a:r>
            <a:endParaRPr lang="en-US" sz="820" dirty="0"/>
          </a:p>
        </p:txBody>
      </p:sp>
      <p:sp>
        <p:nvSpPr>
          <p:cNvPr id="25" name="Shape 23"/>
          <p:cNvSpPr/>
          <p:nvPr/>
        </p:nvSpPr>
        <p:spPr>
          <a:xfrm>
            <a:off x="502920" y="3584448"/>
            <a:ext cx="11155680" cy="402336"/>
          </a:xfrm>
          <a:prstGeom prst="roundRect">
            <a:avLst>
              <a:gd name="adj" fmla="val 18182"/>
            </a:avLst>
          </a:prstGeom>
          <a:solidFill>
            <a:srgbClr val="F2F5F6"/>
          </a:solidFill>
          <a:ln/>
        </p:spPr>
      </p:sp>
      <p:sp>
        <p:nvSpPr>
          <p:cNvPr id="26" name="Text 24"/>
          <p:cNvSpPr/>
          <p:nvPr/>
        </p:nvSpPr>
        <p:spPr>
          <a:xfrm>
            <a:off x="685800" y="36027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Input register &amp; trust</a:t>
            </a:r>
            <a:endParaRPr lang="en-US" sz="930" dirty="0"/>
          </a:p>
        </p:txBody>
      </p:sp>
      <p:sp>
        <p:nvSpPr>
          <p:cNvPr id="27" name="Text 25"/>
          <p:cNvSpPr/>
          <p:nvPr/>
        </p:nvSpPr>
        <p:spPr>
          <a:xfrm>
            <a:off x="2880360" y="36027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Trust level dictates validation depth; UNKNOWN beats a plausible guess — a guessed grain propagates through the whole run.</a:t>
            </a:r>
            <a:endParaRPr lang="en-US" sz="880" dirty="0"/>
          </a:p>
        </p:txBody>
      </p:sp>
      <p:sp>
        <p:nvSpPr>
          <p:cNvPr id="28" name="Text 26"/>
          <p:cNvSpPr/>
          <p:nvPr/>
        </p:nvSpPr>
        <p:spPr>
          <a:xfrm>
            <a:off x="8503920" y="36027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pipeline/register discipline</a:t>
            </a:r>
            <a:endParaRPr lang="en-US" sz="820" dirty="0"/>
          </a:p>
        </p:txBody>
      </p:sp>
      <p:sp>
        <p:nvSpPr>
          <p:cNvPr id="29" name="Shape 27"/>
          <p:cNvSpPr/>
          <p:nvPr/>
        </p:nvSpPr>
        <p:spPr>
          <a:xfrm>
            <a:off x="502920" y="4041648"/>
            <a:ext cx="11155680" cy="402336"/>
          </a:xfrm>
          <a:prstGeom prst="roundRect">
            <a:avLst>
              <a:gd name="adj" fmla="val 18182"/>
            </a:avLst>
          </a:prstGeom>
          <a:solidFill>
            <a:srgbClr val="FFFFFF"/>
          </a:solidFill>
          <a:ln w="9525">
            <a:solidFill>
              <a:srgbClr val="DCE3E6"/>
            </a:solidFill>
            <a:prstDash val="solid"/>
          </a:ln>
        </p:spPr>
      </p:sp>
      <p:sp>
        <p:nvSpPr>
          <p:cNvPr id="30" name="Text 28"/>
          <p:cNvSpPr/>
          <p:nvPr/>
        </p:nvSpPr>
        <p:spPr>
          <a:xfrm>
            <a:off x="685800" y="40599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Plan steps &amp; methods</a:t>
            </a:r>
            <a:endParaRPr lang="en-US" sz="930" dirty="0"/>
          </a:p>
        </p:txBody>
      </p:sp>
      <p:sp>
        <p:nvSpPr>
          <p:cNvPr id="31" name="Text 29"/>
          <p:cNvSpPr/>
          <p:nvPr/>
        </p:nvSpPr>
        <p:spPr>
          <a:xfrm>
            <a:off x="2880360" y="40599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Named inputs and outputs per step keep intermediates inspectable; boring methods re-run identically; math runs as code.</a:t>
            </a:r>
            <a:endParaRPr lang="en-US" sz="880" dirty="0"/>
          </a:p>
        </p:txBody>
      </p:sp>
      <p:sp>
        <p:nvSpPr>
          <p:cNvPr id="32" name="Text 30"/>
          <p:cNvSpPr/>
          <p:nvPr/>
        </p:nvSpPr>
        <p:spPr>
          <a:xfrm>
            <a:off x="8503920" y="40599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Anthropic chaining · Faith &amp; Fate 2023</a:t>
            </a:r>
            <a:endParaRPr lang="en-US" sz="820" dirty="0"/>
          </a:p>
        </p:txBody>
      </p:sp>
      <p:sp>
        <p:nvSpPr>
          <p:cNvPr id="33" name="Shape 31"/>
          <p:cNvSpPr/>
          <p:nvPr/>
        </p:nvSpPr>
        <p:spPr>
          <a:xfrm>
            <a:off x="502920" y="4498848"/>
            <a:ext cx="11155680" cy="402336"/>
          </a:xfrm>
          <a:prstGeom prst="roundRect">
            <a:avLst>
              <a:gd name="adj" fmla="val 18182"/>
            </a:avLst>
          </a:prstGeom>
          <a:solidFill>
            <a:srgbClr val="F2F5F6"/>
          </a:solidFill>
          <a:ln/>
        </p:spPr>
      </p:sp>
      <p:sp>
        <p:nvSpPr>
          <p:cNvPr id="34" name="Text 32"/>
          <p:cNvSpPr/>
          <p:nvPr/>
        </p:nvSpPr>
        <p:spPr>
          <a:xfrm>
            <a:off x="685800" y="45171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Checks: anchor · hard · soft</a:t>
            </a:r>
            <a:endParaRPr lang="en-US" sz="930" dirty="0"/>
          </a:p>
        </p:txBody>
      </p:sp>
      <p:sp>
        <p:nvSpPr>
          <p:cNvPr id="35" name="Text 33"/>
          <p:cNvSpPr/>
          <p:nvPr/>
        </p:nvSpPr>
        <p:spPr>
          <a:xfrm>
            <a:off x="2880360" y="45171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Rules-based feedback is “the best form of feedback” an agent gets; one outside anchor catches whole-pipeline errors in a single comparison.</a:t>
            </a:r>
            <a:endParaRPr lang="en-US" sz="880" dirty="0"/>
          </a:p>
        </p:txBody>
      </p:sp>
      <p:sp>
        <p:nvSpPr>
          <p:cNvPr id="36" name="Text 34"/>
          <p:cNvSpPr/>
          <p:nvPr/>
        </p:nvSpPr>
        <p:spPr>
          <a:xfrm>
            <a:off x="8503920" y="45171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Anthropic Agent SDK</a:t>
            </a:r>
            <a:endParaRPr lang="en-US" sz="820" dirty="0"/>
          </a:p>
        </p:txBody>
      </p:sp>
      <p:sp>
        <p:nvSpPr>
          <p:cNvPr id="37" name="Shape 35"/>
          <p:cNvSpPr/>
          <p:nvPr/>
        </p:nvSpPr>
        <p:spPr>
          <a:xfrm>
            <a:off x="502920" y="4956048"/>
            <a:ext cx="11155680" cy="402336"/>
          </a:xfrm>
          <a:prstGeom prst="roundRect">
            <a:avLst>
              <a:gd name="adj" fmla="val 18182"/>
            </a:avLst>
          </a:prstGeom>
          <a:solidFill>
            <a:srgbClr val="FFFFFF"/>
          </a:solidFill>
          <a:ln w="9525">
            <a:solidFill>
              <a:srgbClr val="DCE3E6"/>
            </a:solidFill>
            <a:prstDash val="solid"/>
          </a:ln>
        </p:spPr>
      </p:sp>
      <p:sp>
        <p:nvSpPr>
          <p:cNvPr id="38" name="Text 36"/>
          <p:cNvSpPr/>
          <p:nvPr/>
        </p:nvSpPr>
        <p:spPr>
          <a:xfrm>
            <a:off x="685800" y="49743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Gates &amp; autonomy</a:t>
            </a:r>
            <a:endParaRPr lang="en-US" sz="930" dirty="0"/>
          </a:p>
        </p:txBody>
      </p:sp>
      <p:sp>
        <p:nvSpPr>
          <p:cNvPr id="39" name="Text 37"/>
          <p:cNvSpPr/>
          <p:nvPr/>
        </p:nvSpPr>
        <p:spPr>
          <a:xfrm>
            <a:off x="2880360" y="49743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Approval sits where errors are cheapest — plan, pre-irreversible, failure thresholds; autonomy is a design choice named by the role YOU keep.</a:t>
            </a:r>
            <a:endParaRPr lang="en-US" sz="880" dirty="0"/>
          </a:p>
        </p:txBody>
      </p:sp>
      <p:sp>
        <p:nvSpPr>
          <p:cNvPr id="40" name="Text 38"/>
          <p:cNvSpPr/>
          <p:nvPr/>
        </p:nvSpPr>
        <p:spPr>
          <a:xfrm>
            <a:off x="8503920" y="49743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OpenAI guide · Feng et al. 2025</a:t>
            </a:r>
            <a:endParaRPr lang="en-US" sz="820" dirty="0"/>
          </a:p>
        </p:txBody>
      </p:sp>
      <p:sp>
        <p:nvSpPr>
          <p:cNvPr id="41" name="Shape 39"/>
          <p:cNvSpPr/>
          <p:nvPr/>
        </p:nvSpPr>
        <p:spPr>
          <a:xfrm>
            <a:off x="502920" y="5413248"/>
            <a:ext cx="11155680" cy="402336"/>
          </a:xfrm>
          <a:prstGeom prst="roundRect">
            <a:avLst>
              <a:gd name="adj" fmla="val 18182"/>
            </a:avLst>
          </a:prstGeom>
          <a:solidFill>
            <a:srgbClr val="F2F5F6"/>
          </a:solidFill>
          <a:ln/>
        </p:spPr>
      </p:sp>
      <p:sp>
        <p:nvSpPr>
          <p:cNvPr id="42" name="Text 40"/>
          <p:cNvSpPr/>
          <p:nvPr/>
        </p:nvSpPr>
        <p:spPr>
          <a:xfrm>
            <a:off x="685800" y="54315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Logs &amp; reproducibility</a:t>
            </a:r>
            <a:endParaRPr lang="en-US" sz="930" dirty="0"/>
          </a:p>
        </p:txBody>
      </p:sp>
      <p:sp>
        <p:nvSpPr>
          <p:cNvPr id="43" name="Text 41"/>
          <p:cNvSpPr/>
          <p:nvPr/>
        </p:nvSpPr>
        <p:spPr>
          <a:xfrm>
            <a:off x="2880360" y="54315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Structured updates and descriptive commits make a run auditable and recoverable; same inputs → same outputs is engineered, not hoped.</a:t>
            </a:r>
            <a:endParaRPr lang="en-US" sz="880" dirty="0"/>
          </a:p>
        </p:txBody>
      </p:sp>
      <p:sp>
        <p:nvSpPr>
          <p:cNvPr id="44" name="Text 42"/>
          <p:cNvSpPr/>
          <p:nvPr/>
        </p:nvSpPr>
        <p:spPr>
          <a:xfrm>
            <a:off x="8503920" y="54315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Anthropic harness guidance</a:t>
            </a:r>
            <a:endParaRPr lang="en-US" sz="820" dirty="0"/>
          </a:p>
        </p:txBody>
      </p:sp>
      <p:sp>
        <p:nvSpPr>
          <p:cNvPr id="45" name="Shape 43"/>
          <p:cNvSpPr/>
          <p:nvPr/>
        </p:nvSpPr>
        <p:spPr>
          <a:xfrm>
            <a:off x="502920" y="5870448"/>
            <a:ext cx="11155680" cy="402336"/>
          </a:xfrm>
          <a:prstGeom prst="roundRect">
            <a:avLst>
              <a:gd name="adj" fmla="val 18182"/>
            </a:avLst>
          </a:prstGeom>
          <a:solidFill>
            <a:srgbClr val="FFFFFF"/>
          </a:solidFill>
          <a:ln w="9525">
            <a:solidFill>
              <a:srgbClr val="DCE3E6"/>
            </a:solidFill>
            <a:prstDash val="solid"/>
          </a:ln>
        </p:spPr>
      </p:sp>
      <p:sp>
        <p:nvSpPr>
          <p:cNvPr id="46" name="Text 44"/>
          <p:cNvSpPr/>
          <p:nvPr/>
        </p:nvSpPr>
        <p:spPr>
          <a:xfrm>
            <a:off x="685800" y="5888736"/>
            <a:ext cx="2103120" cy="365760"/>
          </a:xfrm>
          <a:prstGeom prst="rect">
            <a:avLst/>
          </a:prstGeom>
          <a:noFill/>
          <a:ln/>
        </p:spPr>
        <p:txBody>
          <a:bodyPr wrap="square" lIns="0" tIns="0" rIns="0" bIns="0" rtlCol="0" anchor="ctr"/>
          <a:lstStyle/>
          <a:p>
            <a:pPr indent="0" marL="0">
              <a:lnSpc>
                <a:spcPct val="92000"/>
              </a:lnSpc>
              <a:buNone/>
            </a:pPr>
            <a:r>
              <a:rPr lang="en-US" sz="930" b="1" dirty="0">
                <a:solidFill>
                  <a:srgbClr val="232A31"/>
                </a:solidFill>
                <a:latin typeface="Calibri" pitchFamily="34" charset="0"/>
                <a:ea typeface="Calibri" pitchFamily="34" charset="-122"/>
                <a:cs typeface="Calibri" pitchFamily="34" charset="-120"/>
              </a:rPr>
              <a:t>Report shape &amp; discipline</a:t>
            </a:r>
            <a:endParaRPr lang="en-US" sz="930" dirty="0"/>
          </a:p>
        </p:txBody>
      </p:sp>
      <p:sp>
        <p:nvSpPr>
          <p:cNvPr id="47" name="Text 45"/>
          <p:cNvSpPr/>
          <p:nvPr/>
        </p:nvSpPr>
        <p:spPr>
          <a:xfrm>
            <a:off x="2880360" y="5888736"/>
            <a:ext cx="5486400" cy="365760"/>
          </a:xfrm>
          <a:prstGeom prst="rect">
            <a:avLst/>
          </a:prstGeom>
          <a:noFill/>
          <a:ln/>
        </p:spPr>
        <p:txBody>
          <a:bodyPr wrap="square" lIns="0" tIns="0" rIns="0" bIns="0" rtlCol="0" anchor="ctr"/>
          <a:lstStyle/>
          <a:p>
            <a:pPr indent="0" marL="0">
              <a:lnSpc>
                <a:spcPct val="92000"/>
              </a:lnSpc>
              <a:buNone/>
            </a:pPr>
            <a:r>
              <a:rPr lang="en-US" sz="880" dirty="0">
                <a:solidFill>
                  <a:srgbClr val="46545F"/>
                </a:solidFill>
                <a:latin typeface="Calibri" pitchFamily="34" charset="0"/>
                <a:ea typeface="Calibri" pitchFamily="34" charset="-122"/>
                <a:cs typeface="Calibri" pitchFamily="34" charset="-120"/>
              </a:rPr>
              <a:t>A fixed status shape reads in 30 seconds; “done” means the check it ran, the output it got, the file re-opened — evidence, not assertion.</a:t>
            </a:r>
            <a:endParaRPr lang="en-US" sz="880" dirty="0"/>
          </a:p>
        </p:txBody>
      </p:sp>
      <p:sp>
        <p:nvSpPr>
          <p:cNvPr id="48" name="Text 46"/>
          <p:cNvSpPr/>
          <p:nvPr/>
        </p:nvSpPr>
        <p:spPr>
          <a:xfrm>
            <a:off x="8503920" y="5888736"/>
            <a:ext cx="2971800" cy="365760"/>
          </a:xfrm>
          <a:prstGeom prst="rect">
            <a:avLst/>
          </a:prstGeom>
          <a:noFill/>
          <a:ln/>
        </p:spPr>
        <p:txBody>
          <a:bodyPr wrap="square" lIns="0" tIns="0" rIns="0" bIns="0" rtlCol="0" anchor="ctr"/>
          <a:lstStyle/>
          <a:p>
            <a:pPr indent="0" marL="0">
              <a:lnSpc>
                <a:spcPct val="92000"/>
              </a:lnSpc>
              <a:buNone/>
            </a:pPr>
            <a:r>
              <a:rPr lang="en-US" sz="820" i="1" dirty="0">
                <a:solidFill>
                  <a:srgbClr val="7A8790"/>
                </a:solidFill>
                <a:latin typeface="Calibri" pitchFamily="34" charset="0"/>
                <a:ea typeface="Calibri" pitchFamily="34" charset="-122"/>
                <a:cs typeface="Calibri" pitchFamily="34" charset="-120"/>
              </a:rPr>
              <a:t>SDK status enums · harness docs</a:t>
            </a:r>
            <a:endParaRPr lang="en-US" sz="82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REFERENCE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66</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REFERENCE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Sources this training is built on</a:t>
            </a:r>
            <a:endParaRPr lang="en-US" sz="3000" dirty="0"/>
          </a:p>
        </p:txBody>
      </p:sp>
      <p:sp>
        <p:nvSpPr>
          <p:cNvPr id="6" name="Shape 4"/>
          <p:cNvSpPr/>
          <p:nvPr/>
        </p:nvSpPr>
        <p:spPr>
          <a:xfrm>
            <a:off x="502920" y="1481328"/>
            <a:ext cx="3611880" cy="4572000"/>
          </a:xfrm>
          <a:prstGeom prst="roundRect">
            <a:avLst>
              <a:gd name="adj" fmla="val 2025"/>
            </a:avLst>
          </a:prstGeom>
          <a:solidFill>
            <a:srgbClr val="F2F5F6"/>
          </a:solidFill>
          <a:ln/>
        </p:spPr>
      </p:sp>
      <p:sp>
        <p:nvSpPr>
          <p:cNvPr id="7" name="Text 5"/>
          <p:cNvSpPr/>
          <p:nvPr/>
        </p:nvSpPr>
        <p:spPr>
          <a:xfrm>
            <a:off x="704088" y="1645920"/>
            <a:ext cx="3200400" cy="502920"/>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Vendor guidance (fetched Aug 2026)</a:t>
            </a:r>
            <a:endParaRPr lang="en-US" sz="1250" dirty="0"/>
          </a:p>
        </p:txBody>
      </p:sp>
      <p:sp>
        <p:nvSpPr>
          <p:cNvPr id="8" name="Text 6"/>
          <p:cNvSpPr/>
          <p:nvPr/>
        </p:nvSpPr>
        <p:spPr>
          <a:xfrm>
            <a:off x="722376" y="2212848"/>
            <a:ext cx="3200400" cy="365760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900" dirty="0">
                <a:solidFill>
                  <a:srgbClr val="46545F"/>
                </a:solidFill>
                <a:latin typeface="Calibri" pitchFamily="34" charset="0"/>
                <a:ea typeface="Calibri" pitchFamily="34" charset="-122"/>
                <a:cs typeface="Calibri" pitchFamily="34" charset="-120"/>
              </a:rPr>
              <a:t>Anthropic — Prompting best practices; long-context tips; reduce-hallucinations; Building Effective Agents; Claude Code best practices; context engineering</a:t>
            </a:r>
            <a:endParaRPr lang="en-US" sz="900" dirty="0"/>
          </a:p>
          <a:p>
            <a:pPr algn="l" marL="127000" indent="-127000">
              <a:lnSpc>
                <a:spcPct val="104000"/>
              </a:lnSpc>
              <a:spcAft>
                <a:spcPts val="700"/>
              </a:spcAft>
              <a:buSzPct val="100000"/>
              <a:buChar char="•"/>
            </a:pPr>
            <a:r>
              <a:rPr lang="en-US" sz="900" dirty="0">
                <a:solidFill>
                  <a:srgbClr val="46545F"/>
                </a:solidFill>
                <a:latin typeface="Calibri" pitchFamily="34" charset="0"/>
                <a:ea typeface="Calibri" pitchFamily="34" charset="-122"/>
                <a:cs typeface="Calibri" pitchFamily="34" charset="-120"/>
              </a:rPr>
              <a:t>OpenAI — GPT-5 prompting guide; reasoning best practices; A Practical Guide to Building Agents; Model Spec</a:t>
            </a:r>
            <a:endParaRPr lang="en-US" sz="900" dirty="0"/>
          </a:p>
          <a:p>
            <a:pPr algn="l" marL="127000" indent="-127000">
              <a:lnSpc>
                <a:spcPct val="104000"/>
              </a:lnSpc>
              <a:spcAft>
                <a:spcPts val="700"/>
              </a:spcAft>
              <a:buSzPct val="100000"/>
              <a:buChar char="•"/>
            </a:pPr>
            <a:r>
              <a:rPr lang="en-US" sz="900" dirty="0">
                <a:solidFill>
                  <a:srgbClr val="46545F"/>
                </a:solidFill>
                <a:latin typeface="Calibri" pitchFamily="34" charset="0"/>
                <a:ea typeface="Calibri" pitchFamily="34" charset="-122"/>
                <a:cs typeface="Calibri" pitchFamily="34" charset="-120"/>
              </a:rPr>
              <a:t>Google — Gemini for Workspace prompting guides (Persona-Task-Context-Format)</a:t>
            </a:r>
            <a:endParaRPr lang="en-US" sz="900" dirty="0"/>
          </a:p>
          <a:p>
            <a:pPr algn="l" marL="127000" indent="-127000">
              <a:lnSpc>
                <a:spcPct val="104000"/>
              </a:lnSpc>
              <a:spcAft>
                <a:spcPts val="700"/>
              </a:spcAft>
              <a:buSzPct val="100000"/>
              <a:buChar char="•"/>
            </a:pPr>
            <a:r>
              <a:rPr lang="en-US" sz="900" dirty="0">
                <a:solidFill>
                  <a:srgbClr val="46545F"/>
                </a:solidFill>
                <a:latin typeface="Calibri" pitchFamily="34" charset="0"/>
                <a:ea typeface="Calibri" pitchFamily="34" charset="-122"/>
                <a:cs typeface="Calibri" pitchFamily="34" charset="-120"/>
              </a:rPr>
              <a:t>Microsoft — Copilot prompt guidance (Goal-Context-Source-Expectations); Copilot agents docs</a:t>
            </a:r>
            <a:endParaRPr lang="en-US" sz="900" dirty="0"/>
          </a:p>
        </p:txBody>
      </p:sp>
      <p:sp>
        <p:nvSpPr>
          <p:cNvPr id="9" name="Shape 7"/>
          <p:cNvSpPr/>
          <p:nvPr/>
        </p:nvSpPr>
        <p:spPr>
          <a:xfrm>
            <a:off x="4325112" y="1481328"/>
            <a:ext cx="3611880" cy="4572000"/>
          </a:xfrm>
          <a:prstGeom prst="roundRect">
            <a:avLst>
              <a:gd name="adj" fmla="val 2025"/>
            </a:avLst>
          </a:prstGeom>
          <a:solidFill>
            <a:srgbClr val="F2F5F6"/>
          </a:solidFill>
          <a:ln/>
        </p:spPr>
      </p:sp>
      <p:sp>
        <p:nvSpPr>
          <p:cNvPr id="10" name="Text 8"/>
          <p:cNvSpPr/>
          <p:nvPr/>
        </p:nvSpPr>
        <p:spPr>
          <a:xfrm>
            <a:off x="4526280" y="1645920"/>
            <a:ext cx="3200400" cy="502920"/>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Research</a:t>
            </a:r>
            <a:endParaRPr lang="en-US" sz="1250" dirty="0"/>
          </a:p>
        </p:txBody>
      </p:sp>
      <p:sp>
        <p:nvSpPr>
          <p:cNvPr id="11" name="Text 9"/>
          <p:cNvSpPr/>
          <p:nvPr/>
        </p:nvSpPr>
        <p:spPr>
          <a:xfrm>
            <a:off x="4544568" y="2212848"/>
            <a:ext cx="3200400" cy="365760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900" dirty="0">
                <a:solidFill>
                  <a:srgbClr val="46545F"/>
                </a:solidFill>
                <a:latin typeface="Calibri" pitchFamily="34" charset="0"/>
                <a:ea typeface="Calibri" pitchFamily="34" charset="-122"/>
                <a:cs typeface="Calibri" pitchFamily="34" charset="-120"/>
              </a:rPr>
              <a:t>Brown et al. 2020 (few-shot) · Wei et al. 2022 &amp; Kojima et al. 2022 (chain-of-thought) · Wang et al. 2023 (self-consistency)</a:t>
            </a:r>
            <a:endParaRPr lang="en-US" sz="900" dirty="0"/>
          </a:p>
          <a:p>
            <a:pPr algn="l" marL="127000" indent="-127000">
              <a:lnSpc>
                <a:spcPct val="104000"/>
              </a:lnSpc>
              <a:spcAft>
                <a:spcPts val="700"/>
              </a:spcAft>
              <a:buSzPct val="100000"/>
              <a:buChar char="•"/>
            </a:pPr>
            <a:r>
              <a:rPr lang="en-US" sz="900" dirty="0">
                <a:solidFill>
                  <a:srgbClr val="46545F"/>
                </a:solidFill>
                <a:latin typeface="Calibri" pitchFamily="34" charset="0"/>
                <a:ea typeface="Calibri" pitchFamily="34" charset="-122"/>
                <a:cs typeface="Calibri" pitchFamily="34" charset="-120"/>
              </a:rPr>
              <a:t>Sclar et al. 2024 (format brittleness) · Zheng et al. 2024 (personas) · Salinas &amp; Morstatter 2024 (tips/perturbations)</a:t>
            </a:r>
            <a:endParaRPr lang="en-US" sz="900" dirty="0"/>
          </a:p>
          <a:p>
            <a:pPr algn="l" marL="127000" indent="-127000">
              <a:lnSpc>
                <a:spcPct val="104000"/>
              </a:lnSpc>
              <a:spcAft>
                <a:spcPts val="700"/>
              </a:spcAft>
              <a:buSzPct val="100000"/>
              <a:buChar char="•"/>
            </a:pPr>
            <a:r>
              <a:rPr lang="en-US" sz="900" dirty="0">
                <a:solidFill>
                  <a:srgbClr val="46545F"/>
                </a:solidFill>
                <a:latin typeface="Calibri" pitchFamily="34" charset="0"/>
                <a:ea typeface="Calibri" pitchFamily="34" charset="-122"/>
                <a:cs typeface="Calibri" pitchFamily="34" charset="-120"/>
              </a:rPr>
              <a:t>Cheng et al., Science 2026 (sycophancy) · Sharma et al. 2023 (why sycophancy) · Liu et al. 2023 (lost in the middle)</a:t>
            </a:r>
            <a:endParaRPr lang="en-US" sz="900" dirty="0"/>
          </a:p>
          <a:p>
            <a:pPr algn="l" marL="127000" indent="-127000">
              <a:lnSpc>
                <a:spcPct val="104000"/>
              </a:lnSpc>
              <a:spcAft>
                <a:spcPts val="700"/>
              </a:spcAft>
              <a:buSzPct val="100000"/>
              <a:buChar char="•"/>
            </a:pPr>
            <a:r>
              <a:rPr lang="en-US" sz="900" dirty="0">
                <a:solidFill>
                  <a:srgbClr val="46545F"/>
                </a:solidFill>
                <a:latin typeface="Calibri" pitchFamily="34" charset="0"/>
                <a:ea typeface="Calibri" pitchFamily="34" charset="-122"/>
                <a:cs typeface="Calibri" pitchFamily="34" charset="-120"/>
              </a:rPr>
              <a:t>OpenAI 2025 (why language models hallucinate) · Sprague et al. 2025 (when CoT helps)</a:t>
            </a:r>
            <a:endParaRPr lang="en-US" sz="900" dirty="0"/>
          </a:p>
        </p:txBody>
      </p:sp>
      <p:sp>
        <p:nvSpPr>
          <p:cNvPr id="12" name="Shape 10"/>
          <p:cNvSpPr/>
          <p:nvPr/>
        </p:nvSpPr>
        <p:spPr>
          <a:xfrm>
            <a:off x="8147304" y="1481328"/>
            <a:ext cx="3611880" cy="4572000"/>
          </a:xfrm>
          <a:prstGeom prst="roundRect">
            <a:avLst>
              <a:gd name="adj" fmla="val 2025"/>
            </a:avLst>
          </a:prstGeom>
          <a:solidFill>
            <a:srgbClr val="F2F5F6"/>
          </a:solidFill>
          <a:ln/>
        </p:spPr>
      </p:sp>
      <p:sp>
        <p:nvSpPr>
          <p:cNvPr id="13" name="Text 11"/>
          <p:cNvSpPr/>
          <p:nvPr/>
        </p:nvSpPr>
        <p:spPr>
          <a:xfrm>
            <a:off x="8348472" y="1645920"/>
            <a:ext cx="3200400" cy="502920"/>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Landscape &amp; governance</a:t>
            </a:r>
            <a:endParaRPr lang="en-US" sz="1250" dirty="0"/>
          </a:p>
        </p:txBody>
      </p:sp>
      <p:sp>
        <p:nvSpPr>
          <p:cNvPr id="14" name="Text 12"/>
          <p:cNvSpPr/>
          <p:nvPr/>
        </p:nvSpPr>
        <p:spPr>
          <a:xfrm>
            <a:off x="8366760" y="2212848"/>
            <a:ext cx="3200400" cy="365760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900" dirty="0">
                <a:solidFill>
                  <a:srgbClr val="46545F"/>
                </a:solidFill>
                <a:latin typeface="Calibri" pitchFamily="34" charset="0"/>
                <a:ea typeface="Calibri" pitchFamily="34" charset="-122"/>
                <a:cs typeface="Calibri" pitchFamily="34" charset="-120"/>
              </a:rPr>
              <a:t>Stanford HAI AI Index 2026 · LMArena / Artificial Analysis / SWE-bench (Aug 2026 snapshots)</a:t>
            </a:r>
            <a:endParaRPr lang="en-US" sz="900" dirty="0"/>
          </a:p>
          <a:p>
            <a:pPr algn="l" marL="127000" indent="-127000">
              <a:lnSpc>
                <a:spcPct val="104000"/>
              </a:lnSpc>
              <a:spcAft>
                <a:spcPts val="700"/>
              </a:spcAft>
              <a:buSzPct val="100000"/>
              <a:buChar char="•"/>
            </a:pPr>
            <a:r>
              <a:rPr lang="en-US" sz="900" dirty="0">
                <a:solidFill>
                  <a:srgbClr val="46545F"/>
                </a:solidFill>
                <a:latin typeface="Calibri" pitchFamily="34" charset="0"/>
                <a:ea typeface="Calibri" pitchFamily="34" charset="-122"/>
                <a:cs typeface="Calibri" pitchFamily="34" charset="-120"/>
              </a:rPr>
              <a:t>OWASP LLM Top 10 (2025) · UK NCSC agentic-AI guidance · Cisco AI Defense (skills audit) · Harmonic Security (shadow-AI prompts)</a:t>
            </a:r>
            <a:endParaRPr lang="en-US" sz="900" dirty="0"/>
          </a:p>
          <a:p>
            <a:pPr algn="l" marL="127000" indent="-127000">
              <a:lnSpc>
                <a:spcPct val="104000"/>
              </a:lnSpc>
              <a:spcAft>
                <a:spcPts val="700"/>
              </a:spcAft>
              <a:buSzPct val="100000"/>
              <a:buChar char="•"/>
            </a:pPr>
            <a:r>
              <a:rPr lang="en-US" sz="900" dirty="0">
                <a:solidFill>
                  <a:srgbClr val="46545F"/>
                </a:solidFill>
                <a:latin typeface="Calibri" pitchFamily="34" charset="0"/>
                <a:ea typeface="Calibri" pitchFamily="34" charset="-122"/>
                <a:cs typeface="Calibri" pitchFamily="34" charset="-120"/>
              </a:rPr>
              <a:t>Vendor launch posts &amp; major-outlet reporting (Reuters, CNBC, TechCrunch, Bloomberg) for all product dates</a:t>
            </a:r>
            <a:endParaRPr lang="en-US" sz="900" dirty="0"/>
          </a:p>
        </p:txBody>
      </p:sp>
      <p:sp>
        <p:nvSpPr>
          <p:cNvPr id="15" name="Text 13"/>
          <p:cNvSpPr/>
          <p:nvPr/>
        </p:nvSpPr>
        <p:spPr>
          <a:xfrm>
            <a:off x="502920" y="6172200"/>
            <a:ext cx="11155680" cy="320040"/>
          </a:xfrm>
          <a:prstGeom prst="rect">
            <a:avLst/>
          </a:prstGeom>
          <a:noFill/>
          <a:ln/>
        </p:spPr>
        <p:txBody>
          <a:bodyPr wrap="square" lIns="0" tIns="0" rIns="0" bIns="0" rtlCol="0" anchor="ctr"/>
          <a:lstStyle/>
          <a:p>
            <a:pPr indent="0" marL="0">
              <a:buNone/>
            </a:pPr>
            <a:r>
              <a:rPr lang="en-US" sz="1000" i="1" dirty="0">
                <a:solidFill>
                  <a:srgbClr val="7A8790"/>
                </a:solidFill>
                <a:latin typeface="Calibri" pitchFamily="34" charset="0"/>
                <a:ea typeface="Calibri" pitchFamily="34" charset="-122"/>
                <a:cs typeface="Calibri" pitchFamily="34" charset="-120"/>
              </a:rPr>
              <a:t>Full source list with URLs: notes/research/ in the training repo — every fact in this deck carries an “as of” date there.</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KEEP LEARNING</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67</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KEEP LEARNING</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Recommended reading — start practical, go deep</a:t>
            </a:r>
            <a:endParaRPr lang="en-US" sz="3000" dirty="0"/>
          </a:p>
        </p:txBody>
      </p:sp>
      <p:sp>
        <p:nvSpPr>
          <p:cNvPr id="6" name="Shape 4"/>
          <p:cNvSpPr/>
          <p:nvPr/>
        </p:nvSpPr>
        <p:spPr>
          <a:xfrm>
            <a:off x="502920" y="1481328"/>
            <a:ext cx="3611880" cy="4023360"/>
          </a:xfrm>
          <a:prstGeom prst="roundRect">
            <a:avLst>
              <a:gd name="adj" fmla="val 2025"/>
            </a:avLst>
          </a:prstGeom>
          <a:solidFill>
            <a:srgbClr val="F2F5F6"/>
          </a:solidFill>
          <a:ln/>
        </p:spPr>
      </p:sp>
      <p:sp>
        <p:nvSpPr>
          <p:cNvPr id="7" name="Text 5"/>
          <p:cNvSpPr/>
          <p:nvPr/>
        </p:nvSpPr>
        <p:spPr>
          <a:xfrm>
            <a:off x="704088" y="1645920"/>
            <a:ext cx="3200400" cy="365760"/>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Practical start</a:t>
            </a:r>
            <a:endParaRPr lang="en-US" sz="1350" dirty="0"/>
          </a:p>
        </p:txBody>
      </p:sp>
      <p:sp>
        <p:nvSpPr>
          <p:cNvPr id="8" name="Text 6"/>
          <p:cNvSpPr/>
          <p:nvPr/>
        </p:nvSpPr>
        <p:spPr>
          <a:xfrm>
            <a:off x="722376" y="2103120"/>
            <a:ext cx="3200400" cy="1554480"/>
          </a:xfrm>
          <a:prstGeom prst="rect">
            <a:avLst/>
          </a:prstGeom>
          <a:noFill/>
          <a:ln/>
        </p:spPr>
        <p:txBody>
          <a:bodyPr wrap="square" lIns="0" tIns="0" rIns="0" bIns="0" rtlCol="0" anchor="ctr"/>
          <a:lstStyle/>
          <a:p>
            <a:pPr indent="0" marL="0">
              <a:lnSpc>
                <a:spcPct val="105000"/>
              </a:lnSpc>
              <a:spcAft>
                <a:spcPts val="200"/>
              </a:spcAft>
              <a:buNone/>
            </a:pPr>
            <a:r>
              <a:rPr lang="en-US" sz="1050" b="1" dirty="0">
                <a:solidFill>
                  <a:srgbClr val="232A31"/>
                </a:solidFill>
                <a:latin typeface="Calibri" pitchFamily="34" charset="0"/>
                <a:ea typeface="Calibri" pitchFamily="34" charset="-122"/>
                <a:cs typeface="Calibri" pitchFamily="34" charset="-120"/>
              </a:rPr>
              <a:t>Mollick — Co-Intelligence (2024)</a:t>
            </a:r>
            <a:endParaRPr lang="en-US" sz="1050" dirty="0"/>
          </a:p>
          <a:p>
            <a:pPr indent="0" marL="0">
              <a:lnSpc>
                <a:spcPct val="105000"/>
              </a:lnSpc>
              <a:buNone/>
            </a:pPr>
            <a:r>
              <a:rPr lang="en-US" sz="950" dirty="0">
                <a:solidFill>
                  <a:srgbClr val="46545F"/>
                </a:solidFill>
                <a:latin typeface="Calibri" pitchFamily="34" charset="0"/>
                <a:ea typeface="Calibri" pitchFamily="34" charset="-122"/>
                <a:cs typeface="Calibri" pitchFamily="34" charset="-120"/>
              </a:rPr>
              <a:t>the working-with-AI mindset book; read first</a:t>
            </a:r>
            <a:endParaRPr lang="en-US" sz="1050" dirty="0"/>
          </a:p>
        </p:txBody>
      </p:sp>
      <p:sp>
        <p:nvSpPr>
          <p:cNvPr id="9" name="Text 7"/>
          <p:cNvSpPr/>
          <p:nvPr/>
        </p:nvSpPr>
        <p:spPr>
          <a:xfrm>
            <a:off x="722376" y="3749040"/>
            <a:ext cx="3200400" cy="1554480"/>
          </a:xfrm>
          <a:prstGeom prst="rect">
            <a:avLst/>
          </a:prstGeom>
          <a:noFill/>
          <a:ln/>
        </p:spPr>
        <p:txBody>
          <a:bodyPr wrap="square" lIns="0" tIns="0" rIns="0" bIns="0" rtlCol="0" anchor="ctr"/>
          <a:lstStyle/>
          <a:p>
            <a:pPr indent="0" marL="0">
              <a:lnSpc>
                <a:spcPct val="105000"/>
              </a:lnSpc>
              <a:spcAft>
                <a:spcPts val="200"/>
              </a:spcAft>
              <a:buNone/>
            </a:pPr>
            <a:r>
              <a:rPr lang="en-US" sz="1050" b="1" dirty="0">
                <a:solidFill>
                  <a:srgbClr val="232A31"/>
                </a:solidFill>
                <a:latin typeface="Calibri" pitchFamily="34" charset="0"/>
                <a:ea typeface="Calibri" pitchFamily="34" charset="-122"/>
                <a:cs typeface="Calibri" pitchFamily="34" charset="-120"/>
              </a:rPr>
              <a:t>Kneusel — How AI Works (2024)</a:t>
            </a:r>
            <a:endParaRPr lang="en-US" sz="1050" dirty="0"/>
          </a:p>
          <a:p>
            <a:pPr indent="0" marL="0">
              <a:lnSpc>
                <a:spcPct val="105000"/>
              </a:lnSpc>
              <a:buNone/>
            </a:pPr>
            <a:r>
              <a:rPr lang="en-US" sz="950" dirty="0">
                <a:solidFill>
                  <a:srgbClr val="46545F"/>
                </a:solidFill>
                <a:latin typeface="Calibri" pitchFamily="34" charset="0"/>
                <a:ea typeface="Calibri" pitchFamily="34" charset="-122"/>
                <a:cs typeface="Calibri" pitchFamily="34" charset="-120"/>
              </a:rPr>
              <a:t>the concepts of Part 1, gently and rigorously</a:t>
            </a:r>
            <a:endParaRPr lang="en-US" sz="1050" dirty="0"/>
          </a:p>
        </p:txBody>
      </p:sp>
      <p:sp>
        <p:nvSpPr>
          <p:cNvPr id="10" name="Shape 8"/>
          <p:cNvSpPr/>
          <p:nvPr/>
        </p:nvSpPr>
        <p:spPr>
          <a:xfrm>
            <a:off x="4325112" y="1481328"/>
            <a:ext cx="3611880" cy="4023360"/>
          </a:xfrm>
          <a:prstGeom prst="roundRect">
            <a:avLst>
              <a:gd name="adj" fmla="val 2025"/>
            </a:avLst>
          </a:prstGeom>
          <a:solidFill>
            <a:srgbClr val="E4F0EF"/>
          </a:solidFill>
          <a:ln/>
        </p:spPr>
      </p:sp>
      <p:sp>
        <p:nvSpPr>
          <p:cNvPr id="11" name="Text 9"/>
          <p:cNvSpPr/>
          <p:nvPr/>
        </p:nvSpPr>
        <p:spPr>
          <a:xfrm>
            <a:off x="4526280" y="1645920"/>
            <a:ext cx="3200400" cy="365760"/>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The craft</a:t>
            </a:r>
            <a:endParaRPr lang="en-US" sz="1350" dirty="0"/>
          </a:p>
        </p:txBody>
      </p:sp>
      <p:sp>
        <p:nvSpPr>
          <p:cNvPr id="12" name="Text 10"/>
          <p:cNvSpPr/>
          <p:nvPr/>
        </p:nvSpPr>
        <p:spPr>
          <a:xfrm>
            <a:off x="4544568" y="2103120"/>
            <a:ext cx="3200400" cy="1554480"/>
          </a:xfrm>
          <a:prstGeom prst="rect">
            <a:avLst/>
          </a:prstGeom>
          <a:noFill/>
          <a:ln/>
        </p:spPr>
        <p:txBody>
          <a:bodyPr wrap="square" lIns="0" tIns="0" rIns="0" bIns="0" rtlCol="0" anchor="ctr"/>
          <a:lstStyle/>
          <a:p>
            <a:pPr indent="0" marL="0">
              <a:lnSpc>
                <a:spcPct val="105000"/>
              </a:lnSpc>
              <a:spcAft>
                <a:spcPts val="200"/>
              </a:spcAft>
              <a:buNone/>
            </a:pPr>
            <a:r>
              <a:rPr lang="en-US" sz="1050" b="1" dirty="0">
                <a:solidFill>
                  <a:srgbClr val="232A31"/>
                </a:solidFill>
                <a:latin typeface="Calibri" pitchFamily="34" charset="0"/>
                <a:ea typeface="Calibri" pitchFamily="34" charset="-122"/>
                <a:cs typeface="Calibri" pitchFamily="34" charset="-120"/>
              </a:rPr>
              <a:t>Phoenix &amp; Taylor — Prompt Engineering for Generative AI (O’Reilly 2024)</a:t>
            </a:r>
            <a:endParaRPr lang="en-US" sz="1050" dirty="0"/>
          </a:p>
          <a:p>
            <a:pPr indent="0" marL="0">
              <a:lnSpc>
                <a:spcPct val="105000"/>
              </a:lnSpc>
              <a:buNone/>
            </a:pPr>
            <a:r>
              <a:rPr lang="en-US" sz="950" dirty="0">
                <a:solidFill>
                  <a:srgbClr val="46545F"/>
                </a:solidFill>
                <a:latin typeface="Calibri" pitchFamily="34" charset="0"/>
                <a:ea typeface="Calibri" pitchFamily="34" charset="-122"/>
                <a:cs typeface="Calibri" pitchFamily="34" charset="-120"/>
              </a:rPr>
              <a:t>the five principles, applied — closest to Parts 3–4</a:t>
            </a:r>
            <a:endParaRPr lang="en-US" sz="1050" dirty="0"/>
          </a:p>
        </p:txBody>
      </p:sp>
      <p:sp>
        <p:nvSpPr>
          <p:cNvPr id="13" name="Text 11"/>
          <p:cNvSpPr/>
          <p:nvPr/>
        </p:nvSpPr>
        <p:spPr>
          <a:xfrm>
            <a:off x="4544568" y="3749040"/>
            <a:ext cx="3200400" cy="1554480"/>
          </a:xfrm>
          <a:prstGeom prst="rect">
            <a:avLst/>
          </a:prstGeom>
          <a:noFill/>
          <a:ln/>
        </p:spPr>
        <p:txBody>
          <a:bodyPr wrap="square" lIns="0" tIns="0" rIns="0" bIns="0" rtlCol="0" anchor="ctr"/>
          <a:lstStyle/>
          <a:p>
            <a:pPr indent="0" marL="0">
              <a:lnSpc>
                <a:spcPct val="105000"/>
              </a:lnSpc>
              <a:spcAft>
                <a:spcPts val="200"/>
              </a:spcAft>
              <a:buNone/>
            </a:pPr>
            <a:r>
              <a:rPr lang="en-US" sz="1050" b="1" dirty="0">
                <a:solidFill>
                  <a:srgbClr val="232A31"/>
                </a:solidFill>
                <a:latin typeface="Calibri" pitchFamily="34" charset="0"/>
                <a:ea typeface="Calibri" pitchFamily="34" charset="-122"/>
                <a:cs typeface="Calibri" pitchFamily="34" charset="-120"/>
              </a:rPr>
              <a:t>Berryman &amp; Ziegler — Prompt Engineering for LLMs (O’Reilly 2024)</a:t>
            </a:r>
            <a:endParaRPr lang="en-US" sz="1050" dirty="0"/>
          </a:p>
          <a:p>
            <a:pPr indent="0" marL="0">
              <a:lnSpc>
                <a:spcPct val="105000"/>
              </a:lnSpc>
              <a:buNone/>
            </a:pPr>
            <a:r>
              <a:rPr lang="en-US" sz="950" dirty="0">
                <a:solidFill>
                  <a:srgbClr val="46545F"/>
                </a:solidFill>
                <a:latin typeface="Calibri" pitchFamily="34" charset="0"/>
                <a:ea typeface="Calibri" pitchFamily="34" charset="-122"/>
                <a:cs typeface="Calibri" pitchFamily="34" charset="-120"/>
              </a:rPr>
              <a:t>how prompts actually meet the model; by GitHub Copilot creators</a:t>
            </a:r>
            <a:endParaRPr lang="en-US" sz="1050" dirty="0"/>
          </a:p>
        </p:txBody>
      </p:sp>
      <p:sp>
        <p:nvSpPr>
          <p:cNvPr id="14" name="Shape 12"/>
          <p:cNvSpPr/>
          <p:nvPr/>
        </p:nvSpPr>
        <p:spPr>
          <a:xfrm>
            <a:off x="8147304" y="1481328"/>
            <a:ext cx="3611880" cy="4023360"/>
          </a:xfrm>
          <a:prstGeom prst="roundRect">
            <a:avLst>
              <a:gd name="adj" fmla="val 2025"/>
            </a:avLst>
          </a:prstGeom>
          <a:solidFill>
            <a:srgbClr val="F2F5F6"/>
          </a:solidFill>
          <a:ln/>
        </p:spPr>
      </p:sp>
      <p:sp>
        <p:nvSpPr>
          <p:cNvPr id="15" name="Text 13"/>
          <p:cNvSpPr/>
          <p:nvPr/>
        </p:nvSpPr>
        <p:spPr>
          <a:xfrm>
            <a:off x="8348472" y="1645920"/>
            <a:ext cx="3200400" cy="365760"/>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Going deep</a:t>
            </a:r>
            <a:endParaRPr lang="en-US" sz="1350" dirty="0"/>
          </a:p>
        </p:txBody>
      </p:sp>
      <p:sp>
        <p:nvSpPr>
          <p:cNvPr id="16" name="Text 14"/>
          <p:cNvSpPr/>
          <p:nvPr/>
        </p:nvSpPr>
        <p:spPr>
          <a:xfrm>
            <a:off x="8366760" y="2103120"/>
            <a:ext cx="3200400" cy="1554480"/>
          </a:xfrm>
          <a:prstGeom prst="rect">
            <a:avLst/>
          </a:prstGeom>
          <a:noFill/>
          <a:ln/>
        </p:spPr>
        <p:txBody>
          <a:bodyPr wrap="square" lIns="0" tIns="0" rIns="0" bIns="0" rtlCol="0" anchor="ctr"/>
          <a:lstStyle/>
          <a:p>
            <a:pPr indent="0" marL="0">
              <a:lnSpc>
                <a:spcPct val="105000"/>
              </a:lnSpc>
              <a:spcAft>
                <a:spcPts val="200"/>
              </a:spcAft>
              <a:buNone/>
            </a:pPr>
            <a:r>
              <a:rPr lang="en-US" sz="1050" b="1" dirty="0">
                <a:solidFill>
                  <a:srgbClr val="232A31"/>
                </a:solidFill>
                <a:latin typeface="Calibri" pitchFamily="34" charset="0"/>
                <a:ea typeface="Calibri" pitchFamily="34" charset="-122"/>
                <a:cs typeface="Calibri" pitchFamily="34" charset="-120"/>
              </a:rPr>
              <a:t>Huyen — AI Engineering (O’Reilly 2025)</a:t>
            </a:r>
            <a:endParaRPr lang="en-US" sz="1050" dirty="0"/>
          </a:p>
          <a:p>
            <a:pPr indent="0" marL="0">
              <a:lnSpc>
                <a:spcPct val="105000"/>
              </a:lnSpc>
              <a:buNone/>
            </a:pPr>
            <a:r>
              <a:rPr lang="en-US" sz="950" dirty="0">
                <a:solidFill>
                  <a:srgbClr val="46545F"/>
                </a:solidFill>
                <a:latin typeface="Calibri" pitchFamily="34" charset="0"/>
                <a:ea typeface="Calibri" pitchFamily="34" charset="-122"/>
                <a:cs typeface="Calibri" pitchFamily="34" charset="-120"/>
              </a:rPr>
              <a:t>RAG, agents, evaluation — the engineering behind Part 5</a:t>
            </a:r>
            <a:endParaRPr lang="en-US" sz="1050" dirty="0"/>
          </a:p>
        </p:txBody>
      </p:sp>
      <p:sp>
        <p:nvSpPr>
          <p:cNvPr id="17" name="Text 15"/>
          <p:cNvSpPr/>
          <p:nvPr/>
        </p:nvSpPr>
        <p:spPr>
          <a:xfrm>
            <a:off x="8366760" y="3749040"/>
            <a:ext cx="3200400" cy="1554480"/>
          </a:xfrm>
          <a:prstGeom prst="rect">
            <a:avLst/>
          </a:prstGeom>
          <a:noFill/>
          <a:ln/>
        </p:spPr>
        <p:txBody>
          <a:bodyPr wrap="square" lIns="0" tIns="0" rIns="0" bIns="0" rtlCol="0" anchor="ctr"/>
          <a:lstStyle/>
          <a:p>
            <a:pPr indent="0" marL="0">
              <a:lnSpc>
                <a:spcPct val="105000"/>
              </a:lnSpc>
              <a:spcAft>
                <a:spcPts val="200"/>
              </a:spcAft>
              <a:buNone/>
            </a:pPr>
            <a:r>
              <a:rPr lang="en-US" sz="1050" b="1" dirty="0">
                <a:solidFill>
                  <a:srgbClr val="232A31"/>
                </a:solidFill>
                <a:latin typeface="Calibri" pitchFamily="34" charset="0"/>
                <a:ea typeface="Calibri" pitchFamily="34" charset="-122"/>
                <a:cs typeface="Calibri" pitchFamily="34" charset="-120"/>
              </a:rPr>
              <a:t>Alammar &amp; Grootendorst — Hands-On Large Language Models (2024)</a:t>
            </a:r>
            <a:endParaRPr lang="en-US" sz="1050" dirty="0"/>
          </a:p>
          <a:p>
            <a:pPr indent="0" marL="0">
              <a:lnSpc>
                <a:spcPct val="105000"/>
              </a:lnSpc>
              <a:buNone/>
            </a:pPr>
            <a:r>
              <a:rPr lang="en-US" sz="950" dirty="0">
                <a:solidFill>
                  <a:srgbClr val="46545F"/>
                </a:solidFill>
                <a:latin typeface="Calibri" pitchFamily="34" charset="0"/>
                <a:ea typeface="Calibri" pitchFamily="34" charset="-122"/>
                <a:cs typeface="Calibri" pitchFamily="34" charset="-120"/>
              </a:rPr>
              <a:t>visual internals: tokens, embeddings, transformers</a:t>
            </a:r>
            <a:endParaRPr lang="en-US" sz="1050" dirty="0"/>
          </a:p>
        </p:txBody>
      </p:sp>
      <p:sp>
        <p:nvSpPr>
          <p:cNvPr id="18" name="Shape 16"/>
          <p:cNvSpPr/>
          <p:nvPr/>
        </p:nvSpPr>
        <p:spPr>
          <a:xfrm>
            <a:off x="502920" y="5715000"/>
            <a:ext cx="11155680" cy="685800"/>
          </a:xfrm>
          <a:prstGeom prst="roundRect">
            <a:avLst>
              <a:gd name="adj" fmla="val 10667"/>
            </a:avLst>
          </a:prstGeom>
          <a:solidFill>
            <a:srgbClr val="FBF0E0"/>
          </a:solidFill>
          <a:ln/>
        </p:spPr>
      </p:sp>
      <p:sp>
        <p:nvSpPr>
          <p:cNvPr id="19" name="Shape 17"/>
          <p:cNvSpPr/>
          <p:nvPr/>
        </p:nvSpPr>
        <p:spPr>
          <a:xfrm>
            <a:off x="667512" y="5865876"/>
            <a:ext cx="384048" cy="384048"/>
          </a:xfrm>
          <a:prstGeom prst="ellipse">
            <a:avLst/>
          </a:prstGeom>
          <a:solidFill>
            <a:srgbClr val="B96A1B"/>
          </a:solidFill>
          <a:ln/>
        </p:spPr>
      </p:sp>
      <p:pic>
        <p:nvPicPr>
          <p:cNvPr id="20" name="Image 0" descr="/home/user/Claude-Works/ai-training-prompt-engineering/src/assets/icons/zap_w.png">    </p:cNvPr>
          <p:cNvPicPr>
            <a:picLocks noChangeAspect="1"/>
          </p:cNvPicPr>
          <p:nvPr/>
        </p:nvPicPr>
        <p:blipFill>
          <a:blip r:embed="rId1"/>
          <a:stretch>
            <a:fillRect/>
          </a:stretch>
        </p:blipFill>
        <p:spPr>
          <a:xfrm>
            <a:off x="767364" y="5965728"/>
            <a:ext cx="184343" cy="184343"/>
          </a:xfrm>
          <a:prstGeom prst="rect">
            <a:avLst/>
          </a:prstGeom>
        </p:spPr>
      </p:pic>
      <p:sp>
        <p:nvSpPr>
          <p:cNvPr id="21" name="Text 18"/>
          <p:cNvSpPr/>
          <p:nvPr/>
        </p:nvSpPr>
        <p:spPr>
          <a:xfrm>
            <a:off x="1216152" y="5788152"/>
            <a:ext cx="10213848" cy="539496"/>
          </a:xfrm>
          <a:prstGeom prst="rect">
            <a:avLst/>
          </a:prstGeom>
          <a:noFill/>
          <a:ln/>
        </p:spPr>
        <p:txBody>
          <a:bodyPr wrap="square" lIns="0" tIns="0" rIns="0" bIns="0" rtlCol="0" anchor="ctr"/>
          <a:lstStyle/>
          <a:p>
            <a:pPr indent="0" marL="0">
              <a:lnSpc>
                <a:spcPct val="106000"/>
              </a:lnSpc>
              <a:buNone/>
            </a:pPr>
            <a:r>
              <a:rPr lang="en-US" sz="1200" b="1" dirty="0">
                <a:solidFill>
                  <a:srgbClr val="232A31"/>
                </a:solidFill>
                <a:latin typeface="Calibri" pitchFamily="34" charset="0"/>
                <a:ea typeface="Calibri" pitchFamily="34" charset="-122"/>
                <a:cs typeface="Calibri" pitchFamily="34" charset="-120"/>
              </a:rPr>
              <a:t>And the fastest teacher of all: </a:t>
            </a:r>
            <a:pPr indent="0" marL="0">
              <a:lnSpc>
                <a:spcPct val="106000"/>
              </a:lnSpc>
              <a:buNone/>
            </a:pPr>
            <a:r>
              <a:rPr lang="en-US" sz="1200" dirty="0">
                <a:solidFill>
                  <a:srgbClr val="46545F"/>
                </a:solidFill>
                <a:latin typeface="Calibri" pitchFamily="34" charset="0"/>
                <a:ea typeface="Calibri" pitchFamily="34" charset="-122"/>
                <a:cs typeface="Calibri" pitchFamily="34" charset="-120"/>
              </a:rPr>
              <a:t>the prompt library in this repo. Copy a template, run it on your real work today, improve it, commit the improvement.</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A9BBC4"/>
                </a:solidFill>
                <a:latin typeface="Calibri" pitchFamily="34" charset="0"/>
                <a:ea typeface="Calibri" pitchFamily="34" charset="-122"/>
                <a:cs typeface="Calibri" pitchFamily="34" charset="-120"/>
              </a:rPr>
              <a:t>68</a:t>
            </a:r>
            <a:endParaRPr lang="en-US" sz="850" dirty="0"/>
          </a:p>
        </p:txBody>
      </p:sp>
      <p:sp>
        <p:nvSpPr>
          <p:cNvPr id="3" name="Text 1"/>
          <p:cNvSpPr/>
          <p:nvPr/>
        </p:nvSpPr>
        <p:spPr>
          <a:xfrm>
            <a:off x="502920" y="2194560"/>
            <a:ext cx="10972800" cy="457200"/>
          </a:xfrm>
          <a:prstGeom prst="rect">
            <a:avLst/>
          </a:prstGeom>
          <a:noFill/>
          <a:ln/>
        </p:spPr>
        <p:txBody>
          <a:bodyPr wrap="square" lIns="0" tIns="0" rIns="0" bIns="0" rtlCol="0" anchor="ctr"/>
          <a:lstStyle/>
          <a:p>
            <a:pPr indent="0" marL="0">
              <a:buNone/>
            </a:pPr>
            <a:r>
              <a:rPr lang="en-US" sz="1500" b="1" spc="400" kern="0" dirty="0">
                <a:solidFill>
                  <a:srgbClr val="5FB8B0"/>
                </a:solidFill>
                <a:latin typeface="Calibri" pitchFamily="34" charset="0"/>
                <a:ea typeface="Calibri" pitchFamily="34" charset="-122"/>
                <a:cs typeface="Calibri" pitchFamily="34" charset="-120"/>
              </a:rPr>
              <a:t>FROM PROMPTS TO AGENTS</a:t>
            </a:r>
            <a:endParaRPr lang="en-US" sz="1500" dirty="0"/>
          </a:p>
        </p:txBody>
      </p:sp>
      <p:sp>
        <p:nvSpPr>
          <p:cNvPr id="4" name="Text 2"/>
          <p:cNvSpPr/>
          <p:nvPr/>
        </p:nvSpPr>
        <p:spPr>
          <a:xfrm>
            <a:off x="502920" y="2697480"/>
            <a:ext cx="10515600" cy="2194560"/>
          </a:xfrm>
          <a:prstGeom prst="rect">
            <a:avLst/>
          </a:prstGeom>
          <a:noFill/>
          <a:ln/>
        </p:spPr>
        <p:txBody>
          <a:bodyPr wrap="square" lIns="0" tIns="0" rIns="0" bIns="0" rtlCol="0" anchor="ctr"/>
          <a:lstStyle/>
          <a:p>
            <a:pPr indent="0" marL="0">
              <a:lnSpc>
                <a:spcPct val="112000"/>
              </a:lnSpc>
              <a:buNone/>
            </a:pPr>
            <a:r>
              <a:rPr lang="en-US" sz="4000" b="1" dirty="0">
                <a:solidFill>
                  <a:srgbClr val="ECF2F4"/>
                </a:solidFill>
                <a:latin typeface="Cambria" pitchFamily="34" charset="0"/>
                <a:ea typeface="Cambria" pitchFamily="34" charset="-122"/>
                <a:cs typeface="Cambria" pitchFamily="34" charset="-120"/>
              </a:rPr>
              <a:t>Draft with AI.</a:t>
            </a:r>
            <a:endParaRPr lang="en-US" sz="4000" dirty="0"/>
          </a:p>
          <a:p>
            <a:pPr indent="0" marL="0">
              <a:lnSpc>
                <a:spcPct val="112000"/>
              </a:lnSpc>
              <a:buNone/>
            </a:pPr>
            <a:r>
              <a:rPr lang="en-US" sz="4000" b="1" dirty="0">
                <a:solidFill>
                  <a:srgbClr val="ECF2F4"/>
                </a:solidFill>
                <a:latin typeface="Cambria" pitchFamily="34" charset="0"/>
                <a:ea typeface="Cambria" pitchFamily="34" charset="-122"/>
                <a:cs typeface="Cambria" pitchFamily="34" charset="-120"/>
              </a:rPr>
              <a:t>Decide with judgment.</a:t>
            </a:r>
            <a:endParaRPr lang="en-US" sz="4000" dirty="0"/>
          </a:p>
          <a:p>
            <a:pPr indent="0" marL="0">
              <a:lnSpc>
                <a:spcPct val="112000"/>
              </a:lnSpc>
              <a:buNone/>
            </a:pPr>
            <a:r>
              <a:rPr lang="en-US" sz="4000" b="1" dirty="0">
                <a:solidFill>
                  <a:srgbClr val="ECF2F4"/>
                </a:solidFill>
                <a:latin typeface="Cambria" pitchFamily="34" charset="0"/>
                <a:ea typeface="Cambria" pitchFamily="34" charset="-122"/>
                <a:cs typeface="Cambria" pitchFamily="34" charset="-120"/>
              </a:rPr>
              <a:t>Delegate with a brief.</a:t>
            </a:r>
            <a:endParaRPr lang="en-US" sz="4000" dirty="0"/>
          </a:p>
        </p:txBody>
      </p:sp>
      <p:sp>
        <p:nvSpPr>
          <p:cNvPr id="5" name="Text 3"/>
          <p:cNvSpPr/>
          <p:nvPr/>
        </p:nvSpPr>
        <p:spPr>
          <a:xfrm>
            <a:off x="502920" y="5120640"/>
            <a:ext cx="10515600" cy="548640"/>
          </a:xfrm>
          <a:prstGeom prst="rect">
            <a:avLst/>
          </a:prstGeom>
          <a:noFill/>
          <a:ln/>
        </p:spPr>
        <p:txBody>
          <a:bodyPr wrap="square" lIns="0" tIns="0" rIns="0" bIns="0" rtlCol="0" anchor="ctr"/>
          <a:lstStyle/>
          <a:p>
            <a:pPr indent="0" marL="0">
              <a:lnSpc>
                <a:spcPct val="115000"/>
              </a:lnSpc>
              <a:buNone/>
            </a:pPr>
            <a:r>
              <a:rPr lang="en-US" sz="1300" dirty="0">
                <a:solidFill>
                  <a:srgbClr val="A9BBC4"/>
                </a:solidFill>
                <a:latin typeface="Calibri" pitchFamily="34" charset="0"/>
                <a:ea typeface="Calibri" pitchFamily="34" charset="-122"/>
                <a:cs typeface="Calibri" pitchFamily="34" charset="-120"/>
              </a:rPr>
              <a:t>Templates: prompt-library/ · Research &amp; sources: notes/ · Questions and template improvements: open an issue or bring them to the next session.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Prompts to Agents — Prompt Engineering for Generative &amp; Agentic AI</dc:title>
  <dc:subject>PptxGenJS Presentation</dc:subject>
  <dc:creator>Training Team</dc:creator>
  <cp:lastModifiedBy>Training Team</cp:lastModifiedBy>
  <cp:revision>1</cp:revision>
  <dcterms:created xsi:type="dcterms:W3CDTF">2026-09-10T18:40:06Z</dcterms:created>
  <dcterms:modified xsi:type="dcterms:W3CDTF">2026-09-10T18:40:06Z</dcterms:modified>
</cp:coreProperties>
</file>