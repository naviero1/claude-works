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4-1.jpg" ContentType="image/jpg"/>
  <Override PartName="/ppt/media/image-14-2.jpg" ContentType="image/jpg"/>
  <Override PartName="/ppt/media/image-14-3.jpg" ContentType="image/jpg"/>
  <Override PartName="/ppt/media/image-14-4.jpg" ContentType="image/jpg"/>
  <Override PartName="/ppt/media/image-29-2.jpg" ContentType="image/jpg"/>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ns0="http://schemas.openxmlformats.org/officeDocument/2006/relationships" id="364" ns0:id="rId115"/>
    <p:sldId xmlns:r="http://schemas.openxmlformats.org/officeDocument/2006/relationships" id="260" r:id="R2ea203b92871473d"/>
    <p:sldId xmlns:ns0="http://schemas.openxmlformats.org/officeDocument/2006/relationships" id="365" ns0:id="rId116"/>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7" r:id="R8f44df3f995741be"/>
    <p:sldId xmlns:r="http://schemas.openxmlformats.org/officeDocument/2006/relationships" id="270" r:id="R2e829fbd5b88413d"/>
    <p:sldId xmlns:ns0="http://schemas.openxmlformats.org/officeDocument/2006/relationships" id="361" ns0:id="rId112"/>
    <p:sldId xmlns:ns0="http://schemas.openxmlformats.org/officeDocument/2006/relationships" id="362" ns0:id="rId113"/>
    <p:sldId xmlns:ns0="http://schemas.openxmlformats.org/officeDocument/2006/relationships" id="363" ns0:id="rId114"/>
    <p:sldId xmlns:r="http://schemas.openxmlformats.org/officeDocument/2006/relationships" id="271" r:id="R87625dd8e0984c06"/>
    <p:sldId xmlns:ns0="http://schemas.openxmlformats.org/officeDocument/2006/relationships" id="366" ns0:id="rId117"/>
    <p:sldId xmlns:ns0="http://schemas.openxmlformats.org/officeDocument/2006/relationships" id="367" ns0:id="rId109"/>
    <p:sldId xmlns:ns0="http://schemas.openxmlformats.org/officeDocument/2006/relationships" id="368" ns0:id="rId108"/>
    <p:sldId xmlns:r="http://schemas.openxmlformats.org/officeDocument/2006/relationships" id="273" r:id="R0c46244e8fb14028"/>
    <p:sldId xmlns:ns0="http://schemas.openxmlformats.org/officeDocument/2006/relationships" id="360" ns0:id="rId111"/>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ns0="http://schemas.openxmlformats.org/officeDocument/2006/relationships" id="369" ns0:id="rId118"/>
    <p:sldId xmlns:r="http://schemas.openxmlformats.org/officeDocument/2006/relationships" id="282" r:id="Rf617b4374eff49ab"/>
    <p:sldId xmlns:r="http://schemas.openxmlformats.org/officeDocument/2006/relationships" id="283" r:id="Rc1ab04196d404aed"/>
    <p:sldId xmlns:ns0="http://schemas.openxmlformats.org/officeDocument/2006/relationships" id="370" ns0:id="rId119"/>
    <p:sldId xmlns:ns0="http://schemas.openxmlformats.org/officeDocument/2006/relationships" id="371" ns0:id="rId120"/>
    <p:sldId xmlns:ns0="http://schemas.openxmlformats.org/officeDocument/2006/relationships" id="372" ns0:id="rId121"/>
    <p:sldId xmlns:ns0="http://schemas.openxmlformats.org/officeDocument/2006/relationships" id="373" ns0:id="rId122"/>
    <p:sldId xmlns:r="http://schemas.openxmlformats.org/officeDocument/2006/relationships" id="289" r:id="Rc8d585cd4e5649e6"/>
    <p:sldId xmlns:r="http://schemas.openxmlformats.org/officeDocument/2006/relationships" id="291" r:id="R72360af60b1244c5"/>
    <p:sldId xmlns:r="http://schemas.openxmlformats.org/officeDocument/2006/relationships" id="292" r:id="Rdb3d43f0242a4fac"/>
    <p:sldId xmlns:r="http://schemas.openxmlformats.org/officeDocument/2006/relationships" id="290" r:id="R93d4d1d0de584694"/>
    <p:sldId xmlns:r="http://schemas.openxmlformats.org/officeDocument/2006/relationships" id="294" r:id="Rc4414996e3934b5d"/>
    <p:sldId xmlns:r="http://schemas.openxmlformats.org/officeDocument/2006/relationships" id="295" r:id="R19fb9c5b0ac74759"/>
    <p:sldId xmlns:r="http://schemas.openxmlformats.org/officeDocument/2006/relationships" id="298" r:id="R774ece67fad84555"/>
    <p:sldId xmlns:r="http://schemas.openxmlformats.org/officeDocument/2006/relationships" id="296" r:id="R807c75ee14994fe2"/>
    <p:sldId xmlns:r="http://schemas.openxmlformats.org/officeDocument/2006/relationships" id="297" r:id="R186fa38805ad4cc8"/>
    <p:sldId xmlns:r="http://schemas.openxmlformats.org/officeDocument/2006/relationships" id="357" r:id="RnewSlide102"/>
    <p:sldId xmlns:r="http://schemas.openxmlformats.org/officeDocument/2006/relationships" id="358" r:id="RnewSlide10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69238ad314e4c27" Type="http://schemas.openxmlformats.org/officeDocument/2006/relationships/slide" Target="slides/slide22.xml"/><Relationship Id="R0b89ffdaa91d419b" Type="http://schemas.openxmlformats.org/officeDocument/2006/relationships/notesMaster" Target="notesMasters/notesMaster1.xml"/><Relationship Id="R0c46244e8fb14028" Type="http://schemas.openxmlformats.org/officeDocument/2006/relationships/slide" Target="slides/slide20.xml"/><Relationship Id="R0c612231d0d14151" Type="http://schemas.openxmlformats.org/officeDocument/2006/relationships/slide" Target="slides/slide9.xml"/><Relationship Id="R186fa38805ad4cc8" Type="http://schemas.openxmlformats.org/officeDocument/2006/relationships/slide" Target="slides/slide44.xml"/><Relationship Id="R19fb9c5b0ac74759" Type="http://schemas.openxmlformats.org/officeDocument/2006/relationships/slide" Target="slides/slide41.xml"/><Relationship Id="R2e829fbd5b88413d" Type="http://schemas.openxmlformats.org/officeDocument/2006/relationships/slide" Target="slides/slide12.xml"/><Relationship Id="R2ea203b92871473d" Type="http://schemas.openxmlformats.org/officeDocument/2006/relationships/slide" Target="slides/slide5.xml"/><Relationship Id="R33a496a507fc4955" Type="http://schemas.openxmlformats.org/officeDocument/2006/relationships/slide" Target="slides/slide8.xml"/><Relationship Id="R458c038f106f42b3" Type="http://schemas.openxmlformats.org/officeDocument/2006/relationships/slide" Target="slides/slide24.xml"/><Relationship Id="R49126e58d84e4d17" Type="http://schemas.openxmlformats.org/officeDocument/2006/relationships/slide" Target="slides/slide2.xml"/><Relationship Id="R49c9e195f24045a4" Type="http://schemas.openxmlformats.org/officeDocument/2006/relationships/slide" Target="slides/slide10.xml"/><Relationship Id="R5aa8b9bfd01543b2" Type="http://schemas.openxmlformats.org/officeDocument/2006/relationships/slideMaster" Target="slideMasters/slideMaster1.xml"/><Relationship Id="R6ae5b62127bb4a3e" Type="http://schemas.openxmlformats.org/officeDocument/2006/relationships/slide" Target="slides/slide27.xml"/><Relationship Id="R6c515ce50f4e4f7f" Type="http://schemas.openxmlformats.org/officeDocument/2006/relationships/tableStyles" Target="tableStyles.xml"/><Relationship Id="R72360af60b1244c5" Type="http://schemas.openxmlformats.org/officeDocument/2006/relationships/slide" Target="slides/slide37.xml"/><Relationship Id="R74a68a196bca4aa9" Type="http://schemas.openxmlformats.org/officeDocument/2006/relationships/slide" Target="slides/slide7.xml"/><Relationship Id="R774ece67fad84555" Type="http://schemas.openxmlformats.org/officeDocument/2006/relationships/slide" Target="slides/slide42.xml"/><Relationship Id="R807c75ee14994fe2" Type="http://schemas.openxmlformats.org/officeDocument/2006/relationships/slide" Target="slides/slide43.xml"/><Relationship Id="R830a4c4d00184e7b" Type="http://schemas.openxmlformats.org/officeDocument/2006/relationships/viewProps" Target="viewProps.xml"/><Relationship Id="R87625dd8e0984c06" Type="http://schemas.openxmlformats.org/officeDocument/2006/relationships/slide" Target="slides/slide16.xml"/><Relationship Id="R8f44df3f995741be" Type="http://schemas.openxmlformats.org/officeDocument/2006/relationships/slide" Target="slides/slide11.xml"/><Relationship Id="R927cd8835efb4ab0" Type="http://schemas.openxmlformats.org/officeDocument/2006/relationships/slide" Target="slides/slide28.xml"/><Relationship Id="R93d4d1d0de584694" Type="http://schemas.openxmlformats.org/officeDocument/2006/relationships/slide" Target="slides/slide39.xml"/><Relationship Id="Ra5ba5c8e347f44e1" Type="http://schemas.openxmlformats.org/officeDocument/2006/relationships/theme" Target="theme/theme1.xml"/><Relationship Id="Ra8c5ee05ff704923" Type="http://schemas.openxmlformats.org/officeDocument/2006/relationships/slide" Target="slides/slide1.xml"/><Relationship Id="Rc1ab04196d404aed" Type="http://schemas.openxmlformats.org/officeDocument/2006/relationships/slide" Target="slides/slide31.xml"/><Relationship Id="Rc4414996e3934b5d" Type="http://schemas.openxmlformats.org/officeDocument/2006/relationships/slide" Target="slides/slide40.xml"/><Relationship Id="Rc8d585cd4e5649e6" Type="http://schemas.openxmlformats.org/officeDocument/2006/relationships/slide" Target="slides/slide36.xml"/><Relationship Id="Rd36e565f71ed490d" Type="http://schemas.openxmlformats.org/officeDocument/2006/relationships/presProps" Target="presProps.xml"/><Relationship Id="Rdb3d43f0242a4fac" Type="http://schemas.openxmlformats.org/officeDocument/2006/relationships/slide" Target="slides/slide38.xml"/><Relationship Id="Re16d95a845d14216" Type="http://schemas.openxmlformats.org/officeDocument/2006/relationships/slide" Target="slides/slide26.xml"/><Relationship Id="Rf1f0b08a68ab460c" Type="http://schemas.openxmlformats.org/officeDocument/2006/relationships/slide" Target="slides/slide3.xml"/><Relationship Id="Rf55a94a8bf554d05" Type="http://schemas.openxmlformats.org/officeDocument/2006/relationships/slide" Target="slides/slide23.xml"/><Relationship Id="Rf617b4374eff49ab" Type="http://schemas.openxmlformats.org/officeDocument/2006/relationships/slide" Target="slides/slide30.xml"/><Relationship Id="Rfa30b3a8386f4027" Type="http://schemas.openxmlformats.org/officeDocument/2006/relationships/slide" Target="slides/slide25.xml"/><Relationship Id="RnewSlide102" Type="http://schemas.openxmlformats.org/officeDocument/2006/relationships/slide" Target="slides/slide45.xml"/><Relationship Id="RnewSlide103" Type="http://schemas.openxmlformats.org/officeDocument/2006/relationships/slide" Target="slides/slide46.xml"/><Relationship Id="rId108" Type="http://schemas.openxmlformats.org/officeDocument/2006/relationships/slide" Target="slides/slide19.xml"/><Relationship Id="rId109" Type="http://schemas.openxmlformats.org/officeDocument/2006/relationships/slide" Target="slides/slide18.xml"/><Relationship Id="rId111" Type="http://schemas.openxmlformats.org/officeDocument/2006/relationships/slide" Target="slides/slide21.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4.xml"/><Relationship Id="rId116" Type="http://schemas.openxmlformats.org/officeDocument/2006/relationships/slide" Target="slides/slide6.xml"/><Relationship Id="rId117" Type="http://schemas.openxmlformats.org/officeDocument/2006/relationships/slide" Target="slides/slide17.xml"/><Relationship Id="rId118" Type="http://schemas.openxmlformats.org/officeDocument/2006/relationships/slide" Target="slides/slide29.xml"/><Relationship Id="rId119" Type="http://schemas.openxmlformats.org/officeDocument/2006/relationships/slide" Target="slides/slide32.xml"/><Relationship Id="rId120" Type="http://schemas.openxmlformats.org/officeDocument/2006/relationships/slide" Target="slides/slide33.xml"/><Relationship Id="rId121" Type="http://schemas.openxmlformats.org/officeDocument/2006/relationships/slide" Target="slides/slide34.xml"/><Relationship Id="rId12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1.xml"/><Relationship Id="R2635673221b54893"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2.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3.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5.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6.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8.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30.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31.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6.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9.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4.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42.xml"/></Relationships>
</file>

<file path=ppt/notesSlides/_rels/notesSlide102.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5.xml"/></Relationships>
</file>

<file path=ppt/notesSlides/_rels/notesSlide103.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4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72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after the concept slide. These four bands are an instructional synthesis and recommended starting choices, not a cross-vendor benchmark or a claim about parameter counts. Actual speed depends on reasoning effort, input size, output length, tool use, service load, and retries. Sol is a capable professional model; placing it below Astra does not make it a small model. Anthropic describes Haiku 4.5 as fastest, Sonnet 5 as fast, Opus 5 as moderate, and Fable 5.1 as slower within its own lineup. Google Flash 3.8 supports complex workflows as well as everyday work, so it spans bands. Google Pro 3.1 is a preview reasoning candidate; the slide does not rank it above Flash 3.8. Model availability varies by product and plan.</a:t>
            </a:r>
          </a:p>
          <a:p>
            <a:r>
              <a:t>OpenAI short names denote model families: Luna, Terra and Sol version 5.6, and Astra version 6. The model prefix GPT (Generative Pre-trained Transformer) is omitted in the table to keep labels readable.</a:t>
            </a:r>
          </a:p>
          <a:p>
            <a:r>
              <a:t>Escalate when validation fails, ambiguity remains, or mistakes have costly consequences. For a spreadsheet, check formulas and recalculate with known test cases. For a deck, inspect rendered slides and verify required content. For email summaries, verify owners, dates and commitments against source messages. A difficult task can also need better evidence or specialist tools.</a:t>
            </a:r>
          </a:p>
          <a:p/>
          <a:p>
            <a:r>
              <a:t>Examples are illustrative task recommendations based on the documented model roles. They are not measured task-specific performance results. Classify a specific request by ambiguity, dependencies and error cost, rather than by the file type alone. Routine does not mean unimportant.</a:t>
            </a:r>
          </a:p>
          <a:p>
            <a:r>
              <a:t>For presentations, use stronger reasoning for learning objectives and sequence, then a economical model for bounded template edits. For spreadsheets, prioritize assumption logic and executable calculation tests. For emails, distinguish direct extraction from resolving contradictions across messages.</a:t>
            </a:r>
          </a:p>
          <a:p>
            <a:r>
              <a:t>Sources checked September 17, 2026:</a:t>
            </a:r>
          </a:p>
          <a:p>
            <a:r>
              <a:t>OpenAI model catalog: https://developers.openai.com/api/docs/models</a:t>
            </a:r>
          </a:p>
          <a:p>
            <a:r>
              <a:t>Anthropic model overview: https://platform.claude.com/docs/en/models/overview</a:t>
            </a:r>
          </a:p>
          <a:p>
            <a:r>
              <a:t>Google model catalog: https://ai.google.dev/gemini-api/docs/models</a:t>
            </a:r>
          </a:p>
          <a:p>
            <a:r>
              <a:t>Google Flash 3.8: https://ai.google.dev/gemini-api/docs/models/gemini-3.8-flash</a:t>
            </a:r>
          </a:p>
          <a:p>
            <a:r>
              <a:t>Google Pro 3.1 preview: https://ai.google.dev/gemini-api/docs/models/gemini-3.1-pro-preview</a:t>
            </a:r>
          </a:p>
          <a:p>
            <a:r>
              <a:t>Google Flash-Lite 3.5: https://ai.google.dev/gemini-api/docs/models/gemini-3.5-flash-lite</a:t>
            </a:r>
          </a:p>
          <a:p>
            <a:r>
              <a:t>Selection principle: https://developers.openai.com/api/docs/guides/model-selection</a:t>
            </a:r>
          </a:p>
          <a:p>
            <a:r>
              <a:t>Reasoning effort and token accounting: https://developers.openai.com/api/docs/guides/reasoning</a:t>
            </a:r>
          </a:p>
          <a:p/>
          <a:p>
            <a:r>
              <a:t>FACILITATION: REFERENCE · 0:20–0:30. Orient, do not read: bands are starting choices, not cross-vendor benchmark rankings.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explanation:</a:t>
            </a:r>
          </a:p>
          <a:p>
            <a:r>
              <a:t>The horizontal dimension is reasoning difficulty: ambiguity, dependent steps and conflicting evidence. The vertical dimension is volume: the number of items or amount of material. They are conceptual categories, not measured numeric axes. A large task can consist of many easy independent actions, while one short question can require difficult reasoning.</a:t>
            </a:r>
          </a:p>
          <a:p>
            <a:r>
              <a:t>Model capability means the range and difficulty of problems the model can solve. Reasoning effort is the inference-time computation spent on a request. Processing capacity covers distinct operational limits: context per request and throughput across requests. Throughput depends on the serving system, concurrency and account limits as well as the model. Context-window size alone does not establish reasoning quality.</a:t>
            </a:r>
          </a:p>
          <a:p>
            <a:r>
              <a:t>The example counts are illustrative. Batching applies to separable work, and a staged workflow should preserve dependencies and source evidence. Error consequences can justify stronger review at any level of volume or complexity.</a:t>
            </a:r>
          </a:p>
          <a:p>
            <a:r>
              <a:t>Do not add seconds and token counts directly. Measure quality against required checks, then compare time to an acceptable result and total consumption separately, or normalize them before combining.</a:t>
            </a:r>
          </a:p>
          <a:p>
            <a:r>
              <a:t>Sources checked September 17, 2026:</a:t>
            </a:r>
          </a:p>
          <a:p>
            <a:r>
              <a:t>OpenAI model catalog: https://developers.openai.com/api/docs/models</a:t>
            </a:r>
          </a:p>
          <a:p>
            <a:r>
              <a:t>Anthropic model overview: https://platform.claude.com/docs/en/models/overview</a:t>
            </a:r>
          </a:p>
          <a:p>
            <a:r>
              <a:t>Google model catalog: https://ai.google.dev/gemini-api/docs/models</a:t>
            </a:r>
          </a:p>
          <a:p>
            <a:r>
              <a:t>Google Flash 3.8: https://ai.google.dev/gemini-api/docs/models/gemini-3.8-flash</a:t>
            </a:r>
          </a:p>
          <a:p>
            <a:r>
              <a:t>Google Pro 3.1 preview: https://ai.google.dev/gemini-api/docs/models/gemini-3.1-pro-preview</a:t>
            </a:r>
          </a:p>
          <a:p>
            <a:r>
              <a:t>Google Flash-Lite 3.5: https://ai.google.dev/gemini-api/docs/models/gemini-3.5-flash-lite</a:t>
            </a:r>
          </a:p>
          <a:p>
            <a:r>
              <a:t>Selection principle: https://developers.openai.com/api/docs/guides/model-selection</a:t>
            </a:r>
          </a:p>
          <a:p>
            <a:r>
              <a:t>Reasoning effort and token accounting: https://developers.openai.com/api/docs/guides/reasoning</a:t>
            </a:r>
          </a:p>
          <a:p/>
          <a:p>
            <a:r>
              <a:t>FACILITATION: TEACH · about 1:00. Concept slide — capability, reasoning effort and workload volume are separate decisions.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et al., 2025; revised 2026 —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93–98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et al., 2025; revised 2026 —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0:40</a:t>
            </a:r>
          </a:p>
          <a:p xmlns:a="http://schemas.openxmlformats.org/drawingml/2006/main">
            <a:r>
              <a:t>PURPOSE: Open the application block with the whole arc in one breath.</a:t>
            </a:r>
          </a:p>
          <a:p xmlns:a="http://schemas.openxmlformats.org/drawingml/2006/main">
            <a:r>
              <a:t>LAND THIS: One dataset, uploaded once, becomes an analysis, charts, a returned file, a dashboard, and a presentation.</a:t>
            </a:r>
          </a:p>
          <a:p xmlns:a="http://schemas.openxmlformats.org/drawingml/2006/main">
            <a:r>
              <a:t>SAY: Everything in this block runs on one workbook you upload at the start. You will analyze it, question it, get it back with editable charts, feed the returned file to a dashboard, and end with a management mock-up.</a:t>
            </a:r>
          </a:p>
          <a:p xmlns:a="http://schemas.openxmlformats.org/drawingml/2006/main">
            <a:r>
              <a:t>SAY: Each added instruction in a prompt exists to resolve a specific ambiguity. A basic ask like "analyze the supplier data and tell me which supplier is worst" makes the model pick the rows, the metric, and "worst" for you, silently. The prompts you are about to run name the file, define the metric from sums, handle the missing value, and demand reconciliation - each line closes one gap. That lesson used to be its own slide; it now travels with every prompt you run today.</a:t>
            </a:r>
          </a:p>
          <a:p xmlns:a="http://schemas.openxmlformats.org/drawingml/2006/main">
            <a:r>
              <a:t>DO: Nothing yet - the upload comes on the next slide.</a:t>
            </a:r>
          </a:p>
          <a:p xmlns:a="http://schemas.openxmlformats.org/drawingml/2006/main">
            <a:r>
              <a:t>BRIDGE: Move to "Upload the Data File and Run These Two Prompts".</a:t>
            </a:r>
          </a:p>
          <a:p xmlns:a="http://schemas.openxmlformats.org/drawingml/2006/main">
            <a:r>
              <a:t>IF LATE: COMPRESS to the arc sentence.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assistant returns a real, editable artifact - and participants verify it is real.</a:t>
            </a:r>
          </a:p>
          <a:p xmlns:a="http://schemas.openxmlformats.org/drawingml/2006/main">
            <a:r>
              <a:t>LAND THIS: Native charts you can click and edit, formulas you can trace - not a picture of an analysis.</a:t>
            </a:r>
          </a:p>
          <a:p xmlns:a="http://schemas.openxmlformats.org/drawingml/2006/main">
            <a:r>
              <a:t>SAY: Run the full prompt from tab Excel-Charts. When the file comes back, we open it together.</a:t>
            </a:r>
          </a:p>
          <a:p xmlns:a="http://schemas.openxmlformats.org/drawingml/2006/main">
            <a:r>
              <a:t>DO: 2:00 run the prompt; 2:00 open the returned file, inspect Summary, click the column chart and show its editable source range; if generation stalls, open the prepared Supplier_Data_Analyzed.xlsx instead.</a:t>
            </a:r>
          </a:p>
          <a:p xmlns:a="http://schemas.openxmlformats.org/drawingml/2006/main">
            <a:r>
              <a:t>BRIDGE: Move to "Describe the Dashboard You Want" - the returned file is the dashboard's input.</a:t>
            </a:r>
          </a:p>
          <a:p xmlns:a="http://schemas.openxmlformats.org/drawingml/2006/main">
            <a:r>
              <a:t>IF LATE: Show the prepared fallback and click one chart; skip the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6:00</a:t>
            </a:r>
          </a:p>
          <a:p xmlns:a="http://schemas.openxmlformats.org/drawingml/2006/main">
            <a:r>
              <a:t>PURPOSE: The single intake for the whole block - inspect before calculating, then compute checked rates.</a:t>
            </a:r>
          </a:p>
          <a:p xmlns:a="http://schemas.openxmlformats.org/drawingml/2006/main">
            <a:r>
              <a:t>LAND THIS: Inspection is a separate prompt that ends with "then wait" - the model must not calculate until the scope is agreed.</a:t>
            </a:r>
          </a:p>
          <a:p xmlns:a="http://schemas.openxmlformats.org/drawingml/2006/main">
            <a:r>
              <a:t>SAY: Upload the exercise file, run the inspect prompt, and read what comes back before you let it calculate.</a:t>
            </a:r>
          </a:p>
          <a:p xmlns:a="http://schemas.openxmlformats.org/drawingml/2006/main">
            <a:r>
              <a:t>DO: 0:00-1:00 upload and run PROMPT 1; 1:00-2:30 compare inspection findings across the room; 2:30-5:00 run PROMPT 2; 5:00-6:00 check rankings and reconciliation together.</a:t>
            </a:r>
          </a:p>
          <a:p xmlns:a="http://schemas.openxmlformats.org/drawingml/2006/main">
            <a:r>
              <a:t>ANSWER KEY (instructor only - not shown to participants before they attempt): 144 detail rows plus one TOTAL row; one missing Inspection_Hours value (missing, not zero); 224,902 units shipped and 432 returns; Bravo Plastics highest at about 0.348 percent (262 / 75,184); Cardinal 0.129 percent; Alpha 0.099 percent; the data do not establish causation. Full key: workbook tab KEY-Analysis.</a:t>
            </a:r>
          </a:p>
          <a:p xmlns:a="http://schemas.openxmlformats.org/drawingml/2006/main">
            <a:r>
              <a:t>BRIDGE: Move to "Ask a Follow-Up Question".</a:t>
            </a:r>
          </a:p>
          <a:p xmlns:a="http://schemas.openxmlformats.org/drawingml/2006/main">
            <a:r>
              <a:t>IF LATE: KEEP - this is the anchor exercise of the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TIME: 2:30</a:t>
            </a:r>
          </a:p>
          <a:p xmlns:a="http://schemas.openxmlformats.org/drawingml/2006/main">
            <a:r>
              <a:t>PURPOSE: Business questioning of the same data - and the findings-versus-causes discipline.</a:t>
            </a:r>
          </a:p>
          <a:p xmlns:a="http://schemas.openxmlformats.org/drawingml/2006/main">
            <a:r>
              <a:t>LAND THIS: The model may offer explanations; the data only support patterns.</a:t>
            </a:r>
          </a:p>
          <a:p xmlns:a="http://schemas.openxmlformats.org/drawingml/2006/main">
            <a:r>
              <a:t>SAY: Ask the follow-up, then look for any causal language in the answer - that is the teaching moment.</a:t>
            </a:r>
          </a:p>
          <a:p xmlns:a="http://schemas.openxmlformats.org/drawingml/2006/main">
            <a:r>
              <a:t>DO: 1:30 run and read; 1:00 name one causal claim someone's answer made and strip it back to the finding.</a:t>
            </a:r>
          </a:p>
          <a:p xmlns:a="http://schemas.openxmlformats.org/drawingml/2006/main">
            <a:r>
              <a:t>BRIDGE: Move to "Add the Charts and Return the Excel File".</a:t>
            </a:r>
          </a:p>
          <a:p xmlns:a="http://schemas.openxmlformats.org/drawingml/2006/main">
            <a:r>
              <a:t>IF LATE: COMPRESS to the prompt and one example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TIME: 1:00</a:t>
            </a:r>
          </a:p>
          <a:p xmlns:a="http://schemas.openxmlformats.org/drawingml/2006/main">
            <a:r>
              <a:t>PURPOSE: Requirements for interactive behavior, in plain language, before anything renders.</a:t>
            </a:r>
          </a:p>
          <a:p xmlns:a="http://schemas.openxmlformats.org/drawingml/2006/main">
            <a:r>
              <a:t>LAND THIS: You do not need to write the code. You need to describe the behavior.</a:t>
            </a:r>
          </a:p>
          <a:p xmlns:a="http://schemas.openxmlformats.org/drawingml/2006/main">
            <a:r>
              <a:t>SAY: Read the prompt aloud - every clause is a behavior you could check by clicking.</a:t>
            </a:r>
          </a:p>
          <a:p xmlns:a="http://schemas.openxmlformats.org/drawingml/2006/main">
            <a:r>
              <a:t>BRIDGE: Move to "Build and Test the Dashboard".</a:t>
            </a:r>
          </a:p>
          <a:p xmlns:a="http://schemas.openxmlformats.org/drawingml/2006/main">
            <a:r>
              <a:t>IF LATE: COMPRESS to the teaching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4:00</a:t>
            </a:r>
          </a:p>
          <a:p xmlns:a="http://schemas.openxmlformats.org/drawingml/2006/main">
            <a:r>
              <a:t>PURPOSE: The dashboard consumes the verified workbook - and is trusted only after the filtered check.</a:t>
            </a:r>
          </a:p>
          <a:p xmlns:a="http://schemas.openxmlformats.org/drawingml/2006/main">
            <a:r>
              <a:t>LAND THIS: Same data, same definitions, same numbers - the dashboard is the analysis wearing a different interface.</a:t>
            </a:r>
          </a:p>
          <a:p xmlns:a="http://schemas.openxmlformats.org/drawingml/2006/main">
            <a:r>
              <a:t>SAY: Three actions only: open, filter, verify. Then you name one refinement.</a:t>
            </a:r>
          </a:p>
          <a:p xmlns:a="http://schemas.openxmlformats.org/drawingml/2006/main">
            <a:r>
              <a:t>DO: 1:30 generate or open the prepared references/exercise-data/Supplier_Quality_Dashboard.html; 1:30 run the three actions; 1:00 collect refinement asks from the room.</a:t>
            </a:r>
          </a:p>
          <a:p xmlns:a="http://schemas.openxmlformats.org/drawingml/2006/main">
            <a:r>
              <a:t>BRIDGE: Move to "Turn the Findings into a Five-Slide Management Mock-up".</a:t>
            </a:r>
          </a:p>
          <a:p xmlns:a="http://schemas.openxmlformats.org/drawingml/2006/main">
            <a:r>
              <a:t>IF LATE: Run the three actions on the prepared file; skip refinements.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TIME: 1:00</a:t>
            </a:r>
          </a:p>
          <a:p xmlns:a="http://schemas.openxmlformats.org/drawingml/2006/main">
            <a:r>
              <a:t>PURPOSE: One thread, five results - choosing the result IS the prompt.</a:t>
            </a:r>
          </a:p>
          <a:p xmlns:a="http://schemas.openxmlformats.org/drawingml/2006/main">
            <a:r>
              <a:t>LAND THIS: Pick the outcome first; the prompt is one sentence once you have.</a:t>
            </a:r>
          </a:p>
          <a:p xmlns:a="http://schemas.openxmlformats.org/drawingml/2006/main">
            <a:r>
              <a:t>SAY: Workflow: run Outlook's built-in Copilot summary first, then use Copilot to refine it with one of these. If that feature is unavailable, paste the supplied fictional thread into an approved assistant - same prompts, same results.</a:t>
            </a:r>
          </a:p>
          <a:p xmlns:a="http://schemas.openxmlformats.org/drawingml/2006/main">
            <a:r>
              <a:t>ACCOUNT NOTE (verified Sep 2026, notes/research/r28): the full Copilot-in-Outlook experience depends on the organization's Copilot license and current Outlook version; the pasted-text path always works. Never practice on real confidential threads.</a:t>
            </a:r>
          </a:p>
          <a:p xmlns:a="http://schemas.openxmlformats.org/drawingml/2006/main">
            <a:r>
              <a:t>BRIDGE: Move to "Outlook Exercise: Decisions, Actions, and Open Questions".</a:t>
            </a:r>
          </a:p>
          <a:p xmlns:a="http://schemas.openxmlformats.org/drawingml/2006/main">
            <a:r>
              <a:t>IF LATE: COMPRESS to Catch-me-up and Prepare-my-reply.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3:00</a:t>
            </a:r>
          </a:p>
          <a:p xmlns:a="http://schemas.openxmlformats.org/drawingml/2006/main">
            <a:r>
              <a:t>PURPOSE: The structured extraction on a thread with planted traps.</a:t>
            </a:r>
          </a:p>
          <a:p xmlns:a="http://schemas.openxmlformats.org/drawingml/2006/main">
            <a:r>
              <a:t>LAND THIS: "Not stated" and a citation per claim - the two habits that survive contact with a real inbox.</a:t>
            </a:r>
          </a:p>
          <a:p xmlns:a="http://schemas.openxmlformats.org/drawingml/2006/main">
            <a:r>
              <a:t>SAY: Run the structured prompt, then we check against the key.</a:t>
            </a:r>
          </a:p>
          <a:p xmlns:a="http://schemas.openxmlformats.org/drawingml/2006/main">
            <a:r>
              <a:t>DO: 1:30 run; 1:30 walk the key.</a:t>
            </a:r>
          </a:p>
          <a:p xmlns:a="http://schemas.openxmlformats.org/drawingml/2006/main">
            <a:r>
              <a:t>ANSWER KEY (instructor only): change date moved Sep 25 to Oct 2, conditional on quality sign-off · trial date Sep 25 supersedes Sep 18 · the 18,000 cap holds and freight is NOT approved · Luis's revised plan due Sep 16 · freight responsibility unresolved · the drawing is referenced but not accessible. Full key: tab KEY-Email + instructor-keys/Packaging_Change_Expected_Brief.md.</a:t>
            </a:r>
          </a:p>
          <a:p xmlns:a="http://schemas.openxmlformats.org/drawingml/2006/main">
            <a:r>
              <a:t>BRIDGE: Move to "Extract Supplier Quotes into Excel".</a:t>
            </a:r>
          </a:p>
          <a:p xmlns:a="http://schemas.openxmlformats.org/drawingml/2006/main">
            <a:r>
              <a:t>IF LATE: KEEP - this is the email anchor.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Close the data arc on a decision artifact built only from verified findings.</a:t>
            </a:r>
          </a:p>
          <a:p xmlns:a="http://schemas.openxmlformats.org/drawingml/2006/main">
            <a:r>
              <a:t>LAND THIS: Exploration and decision are different jobs - the same verified numbers wear two interfaces.</a:t>
            </a:r>
          </a:p>
          <a:p xmlns:a="http://schemas.openxmlformats.org/drawingml/2006/main">
            <a:r>
              <a:t>SAY: Fill the audience and the decision, run it, and open the fallback beside the result.</a:t>
            </a:r>
          </a:p>
          <a:p xmlns:a="http://schemas.openxmlformats.org/drawingml/2006/main">
            <a:r>
              <a:t>DO: 1:30 run with a chosen [audience]/[decision]; 1:00 compare one slide against the prepared mock deck's discipline (findings left, judgment right).</a:t>
            </a:r>
          </a:p>
          <a:p xmlns:a="http://schemas.openxmlformats.org/drawingml/2006/main">
            <a:r>
              <a:t>BRIDGE: Move to "Organize an Email Thread in Outlook".</a:t>
            </a:r>
          </a:p>
          <a:p xmlns:a="http://schemas.openxmlformats.org/drawingml/2006/main">
            <a:r>
              <a:t>IF LATE: Open the prepared mock deck and show slide 4's findings/recommendations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Documents-to-spreadsheet, step one: extraction with provenance, no judgment.</a:t>
            </a:r>
          </a:p>
          <a:p xmlns:a="http://schemas.openxmlformats.org/drawingml/2006/main">
            <a:r>
              <a:t>LAND THIS: Verbatim values, original currencies, "Not stated" for silence, a citation per value.</a:t>
            </a:r>
          </a:p>
          <a:p xmlns:a="http://schemas.openxmlformats.org/drawingml/2006/main">
            <a:r>
              <a:t>SAY: Attach the three PDFs and run it. Anything converted, ranked, or recommended at this step is a miss.</a:t>
            </a:r>
          </a:p>
          <a:p xmlns:a="http://schemas.openxmlformats.org/drawingml/2006/main">
            <a:r>
              <a:t>DO: 1:30 run; 1:00 spot-check two extracted values against the PDFs on screen.</a:t>
            </a:r>
          </a:p>
          <a:p xmlns:a="http://schemas.openxmlformats.org/drawingml/2006/main">
            <a:r>
              <a:t>BRIDGE: Move to "Normalize and Compare the Supplier Quotes".</a:t>
            </a:r>
          </a:p>
          <a:p xmlns:a="http://schemas.openxmlformats.org/drawingml/2006/main">
            <a:r>
              <a:t>IF LATE: SKIP to the prepared Quote_Comparison_Workbook.xlsx in the next slide's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r>
              <a:t>TIME: 2:30</a:t>
            </a:r>
          </a:p>
          <a:p xmlns:a="http://schemas.openxmlformats.org/drawingml/2006/main">
            <a:r>
              <a:t>PURPOSE: Step two: normalize only what has a basis; refuse a premature winner.</a:t>
            </a:r>
          </a:p>
          <a:p xmlns:a="http://schemas.openxmlformats.org/drawingml/2006/main">
            <a:r>
              <a:t>LAND THIS: A fair comparison names its blocking gaps before it names a favorite.</a:t>
            </a:r>
          </a:p>
          <a:p xmlns:a="http://schemas.openxmlformats.org/drawingml/2006/main">
            <a:r>
              <a:t>SAY: Continue in the same chat from the extraction. Watch whether it converts euros without a rate - that is the discipline test.</a:t>
            </a:r>
          </a:p>
          <a:p xmlns:a="http://schemas.openxmlformats.org/drawingml/2006/main">
            <a:r>
              <a:t>DO: 1:30 run; 1:00 open the prepared workbook and read the blocking-gap list aloud.</a:t>
            </a:r>
          </a:p>
          <a:p xmlns:a="http://schemas.openxmlformats.org/drawingml/2006/main">
            <a:r>
              <a:t>ANSWER SKETCH (instructor only): at 5,000 units with tooling amortized - Alpha USD 15.60/unit (freight excluded), Bravo EUR 14.70/unit (not convertible without a supplied rate; freight, duties, VAT excluded), Cardinal USD 16.40/unit all-in (DDP, certs, longest warranty). Correct outcome: NO best quote yet. Key: instructor-keys/Quote_Comparison_Key.md.</a:t>
            </a:r>
          </a:p>
          <a:p xmlns:a="http://schemas.openxmlformats.org/drawingml/2006/main">
            <a:r>
              <a:t>BRIDGE: Move to "Turn Reference Files into a Research Spreadsheet".</a:t>
            </a:r>
          </a:p>
          <a:p xmlns:a="http://schemas.openxmlformats.org/drawingml/2006/main">
            <a:r>
              <a:t>IF LATE: Open the prepared workbook; skip live 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1:00 (TEACH)</a:t>
            </a:r>
          </a:p>
          <a:p>
            <a:r>
              <a:t>Define the term before the requirements menu uses it. An artifact is the deliverable itself — the file or structured output the AI returns — as opposed to the conversational answer.</a:t>
            </a:r>
          </a:p>
          <a:p>
            <a:r>
              <a:t>Tie to the vehicle slide: in chat (generative) you shape the artifact turn by turn, so requirements can arrive incrementally. In a delegated run (agentic) the artifact must be fully specified up front — the prompt is the contract.</a:t>
            </a:r>
          </a:p>
          <a:p>
            <a:r>
              <a:t>Transition: 'So before we pick requirements, we name the artifact. Here is the menu, per artifact.'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 Id="rId3" Type="http://schemas.openxmlformats.org/officeDocument/2006/relationships/image" Target="../media/image22.png"/></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 Id="rId3" Type="http://schemas.openxmlformats.org/officeDocument/2006/relationships/image" Target="../media/image22.png"/></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 Id="rId3" Type="http://schemas.openxmlformats.org/officeDocument/2006/relationships/image" Target="../media/image1.jp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 Id="rId3" Type="http://schemas.openxmlformats.org/officeDocument/2006/relationships/image" Target="../media/image3.jpe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 Id="rId3" Type="http://schemas.openxmlformats.org/officeDocument/2006/relationships/image" Target="../media/image4.jpeg"/></Relationships>
</file>

<file path=ppt/slides/_rels/slide11.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 Id="rId3" Type="http://schemas.openxmlformats.org/officeDocument/2006/relationships/image" Target="../media/image57.jpg"/><Relationship Id="rId4" Type="http://schemas.openxmlformats.org/officeDocument/2006/relationships/image" Target="../media/image58.jpg"/><Relationship Id="rId5" Type="http://schemas.openxmlformats.org/officeDocument/2006/relationships/image" Target="../media/image59.jpg"/><Relationship Id="rId6" Type="http://schemas.openxmlformats.org/officeDocument/2006/relationships/image" Target="../media/image6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 Id="rId3" Type="http://schemas.openxmlformats.org/officeDocument/2006/relationships/image" Target="../media/image-14-2.jpg"/><Relationship Id="rId4" Type="http://schemas.openxmlformats.org/officeDocument/2006/relationships/image" Target="../media/image-14-3.jpg"/><Relationship Id="rId5" Type="http://schemas.openxmlformats.org/officeDocument/2006/relationships/image" Target="../media/image-14-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29-2.jpg"/></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image" Target="../media/image-17-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30.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30-2.png"/><Relationship Id="rId4" Type="http://schemas.openxmlformats.org/officeDocument/2006/relationships/image" Target="../media/image-30-3.png"/><Relationship Id="rId5" Type="http://schemas.openxmlformats.org/officeDocument/2006/relationships/image" Target="../media/image-30-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1.png"/></Relationships>
</file>

<file path=ppt/slides/_rels/slide36.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01f32571ad43472f" Type="http://schemas.openxmlformats.org/officeDocument/2006/relationships/notesSlide" Target="../notesSlides/notesSlide102.xml"/><Relationship Id="R52e6fd8e759e4e92"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01f32571ad43472f" Type="http://schemas.openxmlformats.org/officeDocument/2006/relationships/notesSlide" Target="../notesSlides/notesSlide103.xml"/><Relationship Id="R52e6fd8e759e4e92"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1920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1920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553712"/>
            <a:ext cx="11155680" cy="1170432"/>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663440"/>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3"/>
          <a:stretch xmlns:a="http://schemas.openxmlformats.org/drawingml/2006/main">
            <a:fillRect l="0" t="0" r="0" b="0"/>
          </a:stretch>
        </p:blipFill>
        <p:spPr>
          <a:xfrm xmlns:a="http://schemas.openxmlformats.org/drawingml/2006/main">
            <a:off x="740664" y="4754880"/>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681728"/>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690872"/>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1/7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690872"/>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Your course log — and the first rep · tab EX1-TwoModes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010912"/>
            <a:ext cx="10789919" cy="66751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“Use this chat as my course log. When I request a report, use only the conversation available to you and flag any gaps. Acknowledge briefly.”</a:t>
            </a:r>
            <a:endParaRPr sz="1000"/>
          </a:p>
          <a:p xmlns:a="http://schemas.openxmlformats.org/drawingml/2006/main">
            <a:pPr algn="l"/>
            <a:r>
              <a:rPr sz="950" b="1">
                <a:solidFill>
                  <a:srgbClr val="B96A1B"/>
                </a:solidFill>
                <a:latin typeface="Calibri"/>
              </a:rPr>
              <a:t>SEND 2 · </a:t>
            </a:r>
            <a:r>
              <a:rPr sz="950" b="1">
                <a:solidFill>
                  <a:srgbClr val="0A5B5A"/>
                </a:solidFill>
                <a:latin typeface="Calibri"/>
              </a:rPr>
              <a:t>TYPE THIS → </a:t>
            </a:r>
            <a:r>
              <a:rPr sz="900" b="0">
                <a:solidFill>
                  <a:srgbClr val="232A31"/>
                </a:solidFill>
                <a:latin typeface="Calibri"/>
              </a:rPr>
              <a:t>“Write a farewell message for a coworker in about 50 words.”</a:t>
            </a:r>
          </a:p>
          <a:p xmlns:a="http://schemas.openxmlformats.org/drawingml/2006/main">
            <a:pPr algn="l"/>
            <a:r>
              <a:rPr sz="950" b="1">
                <a:solidFill>
                  <a:srgbClr val="B96A1B"/>
                </a:solidFill>
                <a:latin typeface="Calibri"/>
              </a:rPr>
              <a:t>SEND 3 · </a:t>
            </a:r>
            <a:r>
              <a:rPr sz="950" b="1">
                <a:solidFill>
                  <a:srgbClr val="0A5B5A"/>
                </a:solidFill>
                <a:latin typeface="Calibri"/>
              </a:rPr>
              <a:t>TYPE THIS → </a:t>
            </a:r>
            <a:r>
              <a:rPr sz="900" b="0">
                <a:solidFill>
                  <a:srgbClr val="232A31"/>
                </a:solidFill>
                <a:latin typeface="Calibri"/>
              </a:rPr>
              <a:t>“Before revising, ask up to three questions that would most improve the message. Wait for my answers, then revise it.”</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txBody>
          <a:bodyPr/>
          <a:p/>
        </p:txBody>
      </p:sp>
      <p:sp>
        <p:nvSpPr>
          <p:cNvPr id="7" name="Shape 5"/>
          <p:cNvSpPr/>
          <p:nvPr/>
        </p:nvSpPr>
        <p:spPr>
          <a:xfrm>
            <a:off x="722376" y="1755648"/>
            <a:ext cx="457200" cy="457200"/>
          </a:xfrm>
          <a:prstGeom prst="ellipse">
            <a:avLst/>
          </a:prstGeom>
          <a:solidFill>
            <a:srgbClr val="0E7C7B"/>
          </a:solidFill>
          <a:ln/>
        </p:spPr>
        <p:txBody>
          <a:bodyPr/>
          <a:p/>
        </p:txBody>
      </p:sp>
      <p:pic>
        <p:nvPicPr>
          <p:cNvPr id="8" name="Image 0" descr="/home/user/Claude-Works/ai-training-prompt-engineering/src/assets/icons/edit_w.png">    </p:cNvPr>
          <p:cNvPicPr>
            <a:picLocks noChangeAspect="1"/>
          </p:cNvPicPr>
          <p:nvPr/>
        </p:nvPicPr>
        <p:blipFill>
          <a:blip r:embed="rId2"/>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txBody>
          <a:bodyPr/>
          <a:p/>
        </p:txBody>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txBody>
          <a:bodyPr/>
          <a:p/>
        </p:txBody>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txBody>
          <a:bodyPr/>
          <a:p/>
        </p:txBody>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flipH="1">
            <a:off x="1234440" y="2779776"/>
            <a:ext cx="502920" cy="164592"/>
          </a:xfrm>
          <a:prstGeom prst="line">
            <a:avLst/>
          </a:prstGeom>
          <a:noFill/>
          <a:ln w="12700">
            <a:solidFill>
              <a:srgbClr val="0E7C7B"/>
            </a:solidFill>
            <a:prstDash val="solid"/>
          </a:ln>
        </p:spPr>
        <p:txBody>
          <a:bodyPr/>
          <a:p/>
        </p:txBody>
      </p:sp>
      <p:sp>
        <p:nvSpPr>
          <p:cNvPr id="18" name="Shape 15"/>
          <p:cNvSpPr/>
          <p:nvPr/>
        </p:nvSpPr>
        <p:spPr>
          <a:xfrm>
            <a:off x="1984248" y="2779776"/>
            <a:ext cx="502920" cy="164592"/>
          </a:xfrm>
          <a:prstGeom prst="line">
            <a:avLst/>
          </a:prstGeom>
          <a:noFill/>
          <a:ln w="12700">
            <a:solidFill>
              <a:srgbClr val="0E7C7B"/>
            </a:solidFill>
            <a:prstDash val="solid"/>
          </a:ln>
        </p:spPr>
        <p:txBody>
          <a:bodyPr/>
          <a:p/>
        </p:txBody>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txBody>
          <a:bodyPr/>
          <a:p/>
        </p:txBody>
      </p:sp>
      <p:sp>
        <p:nvSpPr>
          <p:cNvPr id="22" name="Shape 19"/>
          <p:cNvSpPr/>
          <p:nvPr/>
        </p:nvSpPr>
        <p:spPr>
          <a:xfrm>
            <a:off x="3419856" y="1554480"/>
            <a:ext cx="2697480" cy="3401568"/>
          </a:xfrm>
          <a:prstGeom prst="roundRect">
            <a:avLst>
              <a:gd name="adj" fmla="val 2712"/>
            </a:avLst>
          </a:prstGeom>
          <a:solidFill>
            <a:srgbClr val="F2F5F6"/>
          </a:solidFill>
          <a:ln/>
        </p:spPr>
        <p:txBody>
          <a:bodyPr/>
          <a:p/>
        </p:txBody>
      </p:sp>
      <p:sp>
        <p:nvSpPr>
          <p:cNvPr id="23" name="Shape 20"/>
          <p:cNvSpPr/>
          <p:nvPr/>
        </p:nvSpPr>
        <p:spPr>
          <a:xfrm>
            <a:off x="3639312" y="1755648"/>
            <a:ext cx="457200" cy="457200"/>
          </a:xfrm>
          <a:prstGeom prst="ellipse">
            <a:avLst/>
          </a:prstGeom>
          <a:solidFill>
            <a:srgbClr val="0E7C7B"/>
          </a:solidFill>
          <a:ln/>
        </p:spPr>
        <p:txBody>
          <a:bodyPr/>
          <a:p/>
        </p:txBody>
      </p:sp>
      <p:pic>
        <p:nvPicPr>
          <p:cNvPr id="24" name="Image 1" descr="/home/user/Claude-Works/ai-training-prompt-engineering/src/assets/icons/chart_w.png">    </p:cNvPr>
          <p:cNvPicPr>
            <a:picLocks noChangeAspect="1"/>
          </p:cNvPicPr>
          <p:nvPr/>
        </p:nvPicPr>
        <p:blipFill>
          <a:blip r:embed="rId3"/>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txBody>
          <a:bodyPr/>
          <a:p/>
        </p:txBody>
      </p:sp>
      <p:sp>
        <p:nvSpPr>
          <p:cNvPr id="28" name="Shape 24"/>
          <p:cNvSpPr/>
          <p:nvPr/>
        </p:nvSpPr>
        <p:spPr>
          <a:xfrm>
            <a:off x="3968496" y="2642616"/>
            <a:ext cx="777240" cy="301752"/>
          </a:xfrm>
          <a:prstGeom prst="line">
            <a:avLst/>
          </a:prstGeom>
          <a:noFill/>
          <a:ln w="11430">
            <a:solidFill>
              <a:srgbClr val="DCE3E6"/>
            </a:solidFill>
            <a:prstDash val="solid"/>
          </a:ln>
        </p:spPr>
        <p:txBody>
          <a:bodyPr/>
          <a:p/>
        </p:txBody>
      </p:sp>
      <p:sp>
        <p:nvSpPr>
          <p:cNvPr id="29" name="Shape 25"/>
          <p:cNvSpPr/>
          <p:nvPr/>
        </p:nvSpPr>
        <p:spPr>
          <a:xfrm flipV="1">
            <a:off x="3968496" y="2743200"/>
            <a:ext cx="777240" cy="100584"/>
          </a:xfrm>
          <a:prstGeom prst="line">
            <a:avLst/>
          </a:prstGeom>
          <a:noFill/>
          <a:ln w="11430">
            <a:solidFill>
              <a:srgbClr val="DCE3E6"/>
            </a:solidFill>
            <a:prstDash val="solid"/>
          </a:ln>
        </p:spPr>
        <p:txBody>
          <a:bodyPr/>
          <a:p/>
        </p:txBody>
      </p:sp>
      <p:sp>
        <p:nvSpPr>
          <p:cNvPr id="30" name="Shape 26"/>
          <p:cNvSpPr/>
          <p:nvPr/>
        </p:nvSpPr>
        <p:spPr>
          <a:xfrm>
            <a:off x="3968496" y="2843784"/>
            <a:ext cx="777240" cy="100584"/>
          </a:xfrm>
          <a:prstGeom prst="line">
            <a:avLst/>
          </a:prstGeom>
          <a:noFill/>
          <a:ln w="11430">
            <a:solidFill>
              <a:srgbClr val="DCE3E6"/>
            </a:solidFill>
            <a:prstDash val="solid"/>
          </a:ln>
        </p:spPr>
        <p:txBody>
          <a:bodyPr/>
          <a:p/>
        </p:txBody>
      </p:sp>
      <p:sp>
        <p:nvSpPr>
          <p:cNvPr id="31" name="Shape 27"/>
          <p:cNvSpPr/>
          <p:nvPr/>
        </p:nvSpPr>
        <p:spPr>
          <a:xfrm flipV="1">
            <a:off x="3968496" y="2743200"/>
            <a:ext cx="777240" cy="301752"/>
          </a:xfrm>
          <a:prstGeom prst="line">
            <a:avLst/>
          </a:prstGeom>
          <a:noFill/>
          <a:ln w="11430">
            <a:solidFill>
              <a:srgbClr val="DCE3E6"/>
            </a:solidFill>
            <a:prstDash val="solid"/>
          </a:ln>
        </p:spPr>
        <p:txBody>
          <a:bodyPr/>
          <a:p/>
        </p:txBody>
      </p:sp>
      <p:sp>
        <p:nvSpPr>
          <p:cNvPr id="32" name="Shape 28"/>
          <p:cNvSpPr/>
          <p:nvPr/>
        </p:nvSpPr>
        <p:spPr>
          <a:xfrm flipV="1">
            <a:off x="3968496" y="2944368"/>
            <a:ext cx="777240" cy="100584"/>
          </a:xfrm>
          <a:prstGeom prst="line">
            <a:avLst/>
          </a:prstGeom>
          <a:noFill/>
          <a:ln w="11430">
            <a:solidFill>
              <a:srgbClr val="DCE3E6"/>
            </a:solidFill>
            <a:prstDash val="solid"/>
          </a:ln>
        </p:spPr>
        <p:txBody>
          <a:bodyPr/>
          <a:p/>
        </p:txBody>
      </p:sp>
      <p:sp>
        <p:nvSpPr>
          <p:cNvPr id="33" name="Shape 29"/>
          <p:cNvSpPr/>
          <p:nvPr/>
        </p:nvSpPr>
        <p:spPr>
          <a:xfrm>
            <a:off x="4882896" y="2743200"/>
            <a:ext cx="685800" cy="100584"/>
          </a:xfrm>
          <a:prstGeom prst="line">
            <a:avLst/>
          </a:prstGeom>
          <a:noFill/>
          <a:ln w="11430">
            <a:solidFill>
              <a:srgbClr val="DCE3E6"/>
            </a:solidFill>
            <a:prstDash val="solid"/>
          </a:ln>
        </p:spPr>
        <p:txBody>
          <a:bodyPr/>
          <a:p/>
        </p:txBody>
      </p:sp>
      <p:sp>
        <p:nvSpPr>
          <p:cNvPr id="34" name="Shape 30"/>
          <p:cNvSpPr/>
          <p:nvPr/>
        </p:nvSpPr>
        <p:spPr>
          <a:xfrm flipV="1">
            <a:off x="4882896" y="2843784"/>
            <a:ext cx="685800" cy="100584"/>
          </a:xfrm>
          <a:prstGeom prst="line">
            <a:avLst/>
          </a:prstGeom>
          <a:noFill/>
          <a:ln w="11430">
            <a:solidFill>
              <a:srgbClr val="DCE3E6"/>
            </a:solidFill>
            <a:prstDash val="solid"/>
          </a:ln>
        </p:spPr>
        <p:txBody>
          <a:bodyPr/>
          <a:p/>
        </p:txBody>
      </p:sp>
      <p:sp>
        <p:nvSpPr>
          <p:cNvPr id="35" name="Shape 31"/>
          <p:cNvSpPr/>
          <p:nvPr/>
        </p:nvSpPr>
        <p:spPr>
          <a:xfrm>
            <a:off x="3840480" y="2578608"/>
            <a:ext cx="137160" cy="137160"/>
          </a:xfrm>
          <a:prstGeom prst="ellipse">
            <a:avLst/>
          </a:prstGeom>
          <a:solidFill>
            <a:srgbClr val="0E7C7B"/>
          </a:solidFill>
          <a:ln/>
        </p:spPr>
        <p:txBody>
          <a:bodyPr/>
          <a:p/>
        </p:txBody>
      </p:sp>
      <p:sp>
        <p:nvSpPr>
          <p:cNvPr id="36" name="Shape 32"/>
          <p:cNvSpPr/>
          <p:nvPr/>
        </p:nvSpPr>
        <p:spPr>
          <a:xfrm>
            <a:off x="3840480" y="2779776"/>
            <a:ext cx="137160" cy="137160"/>
          </a:xfrm>
          <a:prstGeom prst="ellipse">
            <a:avLst/>
          </a:prstGeom>
          <a:solidFill>
            <a:srgbClr val="0E7C7B"/>
          </a:solidFill>
          <a:ln/>
        </p:spPr>
        <p:txBody>
          <a:bodyPr/>
          <a:p/>
        </p:txBody>
      </p:sp>
      <p:sp>
        <p:nvSpPr>
          <p:cNvPr id="37" name="Shape 33"/>
          <p:cNvSpPr/>
          <p:nvPr/>
        </p:nvSpPr>
        <p:spPr>
          <a:xfrm>
            <a:off x="3840480" y="2980944"/>
            <a:ext cx="137160" cy="137160"/>
          </a:xfrm>
          <a:prstGeom prst="ellipse">
            <a:avLst/>
          </a:prstGeom>
          <a:solidFill>
            <a:srgbClr val="0E7C7B"/>
          </a:solidFill>
          <a:ln/>
        </p:spPr>
        <p:txBody>
          <a:bodyPr/>
          <a:p/>
        </p:txBody>
      </p:sp>
      <p:sp>
        <p:nvSpPr>
          <p:cNvPr id="38" name="Shape 34"/>
          <p:cNvSpPr/>
          <p:nvPr/>
        </p:nvSpPr>
        <p:spPr>
          <a:xfrm>
            <a:off x="4754880" y="2679192"/>
            <a:ext cx="137160" cy="137160"/>
          </a:xfrm>
          <a:prstGeom prst="ellipse">
            <a:avLst/>
          </a:prstGeom>
          <a:solidFill>
            <a:srgbClr val="0E7C7B"/>
          </a:solidFill>
          <a:ln/>
        </p:spPr>
        <p:txBody>
          <a:bodyPr/>
          <a:p/>
        </p:txBody>
      </p:sp>
      <p:sp>
        <p:nvSpPr>
          <p:cNvPr id="39" name="Shape 35"/>
          <p:cNvSpPr/>
          <p:nvPr/>
        </p:nvSpPr>
        <p:spPr>
          <a:xfrm>
            <a:off x="4754880" y="2880360"/>
            <a:ext cx="137160" cy="137160"/>
          </a:xfrm>
          <a:prstGeom prst="ellipse">
            <a:avLst/>
          </a:prstGeom>
          <a:solidFill>
            <a:srgbClr val="0E7C7B"/>
          </a:solidFill>
          <a:ln/>
        </p:spPr>
        <p:txBody>
          <a:bodyPr/>
          <a:p/>
        </p:txBody>
      </p:sp>
      <p:sp>
        <p:nvSpPr>
          <p:cNvPr id="40" name="Shape 36"/>
          <p:cNvSpPr/>
          <p:nvPr/>
        </p:nvSpPr>
        <p:spPr>
          <a:xfrm>
            <a:off x="5577840" y="2779776"/>
            <a:ext cx="137160" cy="137160"/>
          </a:xfrm>
          <a:prstGeom prst="ellipse">
            <a:avLst/>
          </a:prstGeom>
          <a:solidFill>
            <a:srgbClr val="B96A1B"/>
          </a:solidFill>
          <a:ln/>
        </p:spPr>
        <p:txBody>
          <a:bodyPr/>
          <a:p/>
        </p:txBody>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txBody>
          <a:bodyPr/>
          <a:p/>
        </p:txBody>
      </p:sp>
      <p:sp>
        <p:nvSpPr>
          <p:cNvPr id="44" name="Shape 40"/>
          <p:cNvSpPr/>
          <p:nvPr/>
        </p:nvSpPr>
        <p:spPr>
          <a:xfrm>
            <a:off x="6336792" y="1554480"/>
            <a:ext cx="2697480" cy="3401568"/>
          </a:xfrm>
          <a:prstGeom prst="roundRect">
            <a:avLst>
              <a:gd name="adj" fmla="val 2712"/>
            </a:avLst>
          </a:prstGeom>
          <a:solidFill>
            <a:srgbClr val="E4F0EF"/>
          </a:solidFill>
          <a:ln/>
        </p:spPr>
        <p:txBody>
          <a:bodyPr/>
          <a:p/>
        </p:txBody>
      </p:sp>
      <p:sp>
        <p:nvSpPr>
          <p:cNvPr id="45" name="Shape 41"/>
          <p:cNvSpPr/>
          <p:nvPr/>
        </p:nvSpPr>
        <p:spPr>
          <a:xfrm>
            <a:off x="6556248" y="1755648"/>
            <a:ext cx="457200" cy="457200"/>
          </a:xfrm>
          <a:prstGeom prst="ellipse">
            <a:avLst/>
          </a:prstGeom>
          <a:solidFill>
            <a:srgbClr val="0E7C7B"/>
          </a:solidFill>
          <a:ln/>
        </p:spPr>
        <p:txBody>
          <a:bodyPr/>
          <a:p/>
        </p:txBody>
      </p:sp>
      <p:pic>
        <p:nvPicPr>
          <p:cNvPr id="46" name="Image 2" descr="/home/user/Claude-Works/ai-training-prompt-engineering/src/assets/icons/brain_w.png">    </p:cNvPr>
          <p:cNvPicPr>
            <a:picLocks noChangeAspect="1"/>
          </p:cNvPicPr>
          <p:nvPr/>
        </p:nvPicPr>
        <p:blipFill>
          <a:blip r:embed="rId4"/>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txBody>
          <a:bodyPr/>
          <a:p/>
        </p:txBody>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txBody>
          <a:bodyPr/>
          <a:p/>
        </p:txBody>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txBody>
          <a:bodyPr/>
          <a:p/>
        </p:txBody>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txBody>
          <a:bodyPr/>
          <a:p/>
        </p:txBody>
      </p:sp>
      <p:sp>
        <p:nvSpPr>
          <p:cNvPr id="56" name="Shape 51"/>
          <p:cNvSpPr/>
          <p:nvPr/>
        </p:nvSpPr>
        <p:spPr>
          <a:xfrm>
            <a:off x="8421624" y="2761488"/>
            <a:ext cx="384048" cy="201168"/>
          </a:xfrm>
          <a:prstGeom prst="roundRect">
            <a:avLst>
              <a:gd name="adj" fmla="val 18182"/>
            </a:avLst>
          </a:prstGeom>
          <a:solidFill>
            <a:srgbClr val="0E7C7B"/>
          </a:solidFill>
          <a:ln/>
        </p:spPr>
        <p:txBody>
          <a:bodyPr/>
          <a:p/>
        </p:txBody>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txBody>
          <a:bodyPr/>
          <a:p/>
        </p:txBody>
      </p:sp>
      <p:sp>
        <p:nvSpPr>
          <p:cNvPr id="61" name="Shape 56"/>
          <p:cNvSpPr/>
          <p:nvPr/>
        </p:nvSpPr>
        <p:spPr>
          <a:xfrm>
            <a:off x="9253728" y="1554480"/>
            <a:ext cx="2697480" cy="3401568"/>
          </a:xfrm>
          <a:prstGeom prst="roundRect">
            <a:avLst>
              <a:gd name="adj" fmla="val 2712"/>
            </a:avLst>
          </a:prstGeom>
          <a:solidFill>
            <a:srgbClr val="E4F0EF"/>
          </a:solidFill>
          <a:ln/>
        </p:spPr>
        <p:txBody>
          <a:bodyPr/>
          <a:p/>
        </p:txBody>
      </p:sp>
      <p:sp>
        <p:nvSpPr>
          <p:cNvPr id="62" name="Shape 57"/>
          <p:cNvSpPr/>
          <p:nvPr/>
        </p:nvSpPr>
        <p:spPr>
          <a:xfrm>
            <a:off x="9473184" y="1755648"/>
            <a:ext cx="457200" cy="457200"/>
          </a:xfrm>
          <a:prstGeom prst="ellipse">
            <a:avLst/>
          </a:prstGeom>
          <a:solidFill>
            <a:srgbClr val="0E7C7B"/>
          </a:solidFill>
          <a:ln/>
        </p:spPr>
        <p:txBody>
          <a:bodyPr/>
          <a:p/>
        </p:txBody>
      </p:sp>
      <p:pic>
        <p:nvPicPr>
          <p:cNvPr id="63" name="Image 3" descr="/home/user/Claude-Works/ai-training-prompt-engineering/src/assets/icons/robot_w.png">    </p:cNvPr>
          <p:cNvPicPr>
            <a:picLocks noChangeAspect="1"/>
          </p:cNvPicPr>
          <p:nvPr/>
        </p:nvPicPr>
        <p:blipFill>
          <a:blip r:embed="rId5"/>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txBody>
          <a:bodyPr/>
          <a:p/>
        </p:txBody>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txBody>
          <a:bodyPr/>
          <a:p/>
        </p:txBody>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txBody>
          <a:bodyPr/>
          <a:p/>
        </p:txBody>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txBody>
          <a:bodyPr/>
          <a:p/>
        </p:txBody>
      </p:sp>
      <p:sp>
        <p:nvSpPr>
          <p:cNvPr id="73" name="Shape 67"/>
          <p:cNvSpPr/>
          <p:nvPr/>
        </p:nvSpPr>
        <p:spPr>
          <a:xfrm>
            <a:off x="10899648" y="2752344"/>
            <a:ext cx="128016" cy="0"/>
          </a:xfrm>
          <a:prstGeom prst="line">
            <a:avLst/>
          </a:prstGeom>
          <a:noFill/>
          <a:ln w="12700">
            <a:solidFill>
              <a:srgbClr val="0E7C7B"/>
            </a:solidFill>
            <a:prstDash val="solid"/>
            <a:tailEnd type="triangle"/>
          </a:ln>
        </p:spPr>
        <p:txBody>
          <a:bodyPr/>
          <a:p/>
        </p:txBody>
      </p:sp>
      <p:sp>
        <p:nvSpPr>
          <p:cNvPr id="74" name="Shape 68"/>
          <p:cNvSpPr/>
          <p:nvPr/>
        </p:nvSpPr>
        <p:spPr>
          <a:xfrm>
            <a:off x="9838944" y="3017520"/>
            <a:ext cx="1572768" cy="0"/>
          </a:xfrm>
          <a:prstGeom prst="line">
            <a:avLst/>
          </a:prstGeom>
          <a:noFill/>
          <a:ln w="12700">
            <a:solidFill>
              <a:srgbClr val="0E7C7B"/>
            </a:solidFill>
            <a:prstDash val="solid"/>
            <a:headEnd type="triangle"/>
          </a:ln>
        </p:spPr>
        <p:txBody>
          <a:bodyPr/>
          <a:p/>
        </p:txBody>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txBody>
          <a:bodyPr/>
          <a:p/>
        </p:txBody>
      </p:sp>
      <p:sp>
        <p:nvSpPr>
          <p:cNvPr id="78" name="Shape 72"/>
          <p:cNvSpPr/>
          <p:nvPr/>
        </p:nvSpPr>
        <p:spPr>
          <a:xfrm>
            <a:off x="667512" y="5408676"/>
            <a:ext cx="384048" cy="384048"/>
          </a:xfrm>
          <a:prstGeom prst="ellipse">
            <a:avLst/>
          </a:prstGeom>
          <a:solidFill>
            <a:srgbClr val="B96A1B"/>
          </a:solidFill>
          <a:ln/>
        </p:spPr>
        <p:txBody>
          <a:bodyPr/>
          <a:p/>
        </p:txBody>
      </p:sp>
      <p:pic>
        <p:nvPicPr>
          <p:cNvPr id="79" name="Image 4" descr="/home/user/Claude-Works/ai-training-prompt-engineering/src/assets/icons/trend_w.png">    </p:cNvPr>
          <p:cNvPicPr>
            <a:picLocks noChangeAspect="1"/>
          </p:cNvPicPr>
          <p:nvPr/>
        </p:nvPicPr>
        <p:blipFill>
          <a:blip r:embed="rId6"/>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
        <p:nvSpPr>
          <p:cNvPr id="81"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83"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84"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4</a:t>
            </a:r>
          </a:p>
        </p:txBody>
      </p:sp>
    </p:spTree>
  </p:cSld>
  <p:clrMapOvr>
    <a:masterClrMapping/>
  </p:clrMapOvr>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txBody xmlns:a="http://schemas.openxmlformats.org/drawingml/2006/main">
          <a:bodyPr/>
          <a:p/>
        </p:txBody>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txBody>
          <a:bodyPr/>
          <a:p/>
        </p:txBody>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txBody>
          <a:bodyPr/>
          <a:p/>
        </p:txBody>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txBody>
          <a:bodyPr/>
          <a:p/>
        </p:txBody>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94760" cy="38404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Y axis: training compute per model, in FLOP (one FLOP = one arithmetic operation) — log scale</a:t>
            </a:r>
            <a:endParaRPr lang="en-US" sz="1000" dirty="0"/>
          </a:p>
        </p:txBody>
      </p:sp>
      <p:sp>
        <p:nvSpPr>
          <p:cNvPr id="15" name="Shape 13"/>
          <p:cNvSpPr/>
          <p:nvPr/>
        </p:nvSpPr>
        <p:spPr>
          <a:xfrm>
            <a:off x="4334256" y="4666488"/>
            <a:ext cx="54864" cy="0"/>
          </a:xfrm>
          <a:prstGeom prst="line">
            <a:avLst/>
          </a:prstGeom>
          <a:noFill/>
          <a:ln w="12700">
            <a:solidFill>
              <a:srgbClr val="7A8790"/>
            </a:solidFill>
            <a:prstDash val="solid"/>
          </a:ln>
        </p:spPr>
        <p:txBody>
          <a:bodyPr/>
          <a:p/>
        </p:txBody>
      </p:sp>
      <p:sp>
        <p:nvSpPr>
          <p:cNvPr id="16" name="Text 14"/>
          <p:cNvSpPr/>
          <p:nvPr/>
        </p:nvSpPr>
        <p:spPr>
          <a:xfrm>
            <a:off x="3931920" y="457504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10¹⁸</a:t>
            </a:r>
            <a:endParaRPr lang="en-US" sz="850" dirty="0"/>
          </a:p>
        </p:txBody>
      </p:sp>
      <p:sp>
        <p:nvSpPr>
          <p:cNvPr id="17" name="Shape 15"/>
          <p:cNvSpPr/>
          <p:nvPr/>
        </p:nvSpPr>
        <p:spPr>
          <a:xfrm>
            <a:off x="4334256" y="3797808"/>
            <a:ext cx="54864" cy="0"/>
          </a:xfrm>
          <a:prstGeom prst="line">
            <a:avLst/>
          </a:prstGeom>
          <a:noFill/>
          <a:ln w="12700">
            <a:solidFill>
              <a:srgbClr val="7A8790"/>
            </a:solidFill>
            <a:prstDash val="solid"/>
          </a:ln>
        </p:spPr>
        <p:txBody>
          <a:bodyPr/>
          <a:p/>
        </p:txBody>
      </p:sp>
      <p:sp>
        <p:nvSpPr>
          <p:cNvPr id="18" name="Text 16"/>
          <p:cNvSpPr/>
          <p:nvPr/>
        </p:nvSpPr>
        <p:spPr>
          <a:xfrm>
            <a:off x="3931920" y="370636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10²¹</a:t>
            </a:r>
            <a:endParaRPr lang="en-US" sz="850" dirty="0"/>
          </a:p>
        </p:txBody>
      </p:sp>
      <p:sp>
        <p:nvSpPr>
          <p:cNvPr id="19" name="Shape 17"/>
          <p:cNvSpPr/>
          <p:nvPr/>
        </p:nvSpPr>
        <p:spPr>
          <a:xfrm>
            <a:off x="4334256" y="2929128"/>
            <a:ext cx="54864" cy="0"/>
          </a:xfrm>
          <a:prstGeom prst="line">
            <a:avLst/>
          </a:prstGeom>
          <a:noFill/>
          <a:ln w="12700">
            <a:solidFill>
              <a:srgbClr val="7A8790"/>
            </a:solidFill>
            <a:prstDash val="solid"/>
          </a:ln>
        </p:spPr>
        <p:txBody>
          <a:bodyPr/>
          <a:p/>
        </p:txBody>
      </p:sp>
      <p:sp>
        <p:nvSpPr>
          <p:cNvPr id="20" name="Text 18"/>
          <p:cNvSpPr/>
          <p:nvPr/>
        </p:nvSpPr>
        <p:spPr>
          <a:xfrm>
            <a:off x="3931920" y="2837688"/>
            <a:ext cx="384048" cy="18288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10²⁴</a:t>
            </a:r>
            <a:endParaRPr lang="en-US" sz="850" dirty="0"/>
          </a:p>
        </p:txBody>
      </p:sp>
      <p:sp>
        <p:nvSpPr>
          <p:cNvPr id="21" name="Shape 19"/>
          <p:cNvSpPr/>
          <p:nvPr/>
        </p:nvSpPr>
        <p:spPr>
          <a:xfrm flipV="1">
            <a:off x="4370832" y="4281373"/>
            <a:ext cx="3200400" cy="480670"/>
          </a:xfrm>
          <a:prstGeom prst="line">
            <a:avLst/>
          </a:prstGeom>
          <a:noFill/>
          <a:ln w="19050">
            <a:solidFill>
              <a:srgbClr val="7A8790"/>
            </a:solidFill>
            <a:prstDash val="dash"/>
          </a:ln>
        </p:spPr>
        <p:txBody>
          <a:bodyPr/>
          <a:p/>
        </p:txBody>
      </p:sp>
      <p:sp>
        <p:nvSpPr>
          <p:cNvPr id="22" name="Shape 20"/>
          <p:cNvSpPr/>
          <p:nvPr/>
        </p:nvSpPr>
        <p:spPr>
          <a:xfrm flipV="1">
            <a:off x="4370832" y="3716731"/>
            <a:ext cx="2036618" cy="1045312"/>
          </a:xfrm>
          <a:prstGeom prst="line">
            <a:avLst/>
          </a:prstGeom>
          <a:noFill/>
          <a:ln w="25400">
            <a:solidFill>
              <a:srgbClr val="0E7C7B"/>
            </a:solidFill>
            <a:prstDash val="solid"/>
          </a:ln>
        </p:spPr>
        <p:txBody>
          <a:bodyPr/>
          <a:p/>
        </p:txBody>
      </p:sp>
      <p:sp>
        <p:nvSpPr>
          <p:cNvPr id="23" name="Shape 21"/>
          <p:cNvSpPr/>
          <p:nvPr/>
        </p:nvSpPr>
        <p:spPr>
          <a:xfrm flipV="1">
            <a:off x="6407450" y="3076804"/>
            <a:ext cx="290945" cy="639928"/>
          </a:xfrm>
          <a:prstGeom prst="line">
            <a:avLst/>
          </a:prstGeom>
          <a:noFill/>
          <a:ln w="25400">
            <a:solidFill>
              <a:srgbClr val="0E7C7B"/>
            </a:solidFill>
            <a:prstDash val="solid"/>
          </a:ln>
        </p:spPr>
        <p:txBody>
          <a:bodyPr/>
          <a:p/>
        </p:txBody>
      </p:sp>
      <p:sp>
        <p:nvSpPr>
          <p:cNvPr id="24" name="Shape 22"/>
          <p:cNvSpPr/>
          <p:nvPr/>
        </p:nvSpPr>
        <p:spPr>
          <a:xfrm flipV="1">
            <a:off x="6698396" y="2546909"/>
            <a:ext cx="872836" cy="529895"/>
          </a:xfrm>
          <a:prstGeom prst="line">
            <a:avLst/>
          </a:prstGeom>
          <a:noFill/>
          <a:ln w="25400">
            <a:solidFill>
              <a:srgbClr val="0E7C7B"/>
            </a:solidFill>
            <a:prstDash val="solid"/>
          </a:ln>
        </p:spPr>
        <p:txBody>
          <a:bodyPr/>
          <a:p/>
        </p:txBody>
      </p:sp>
      <p:sp>
        <p:nvSpPr>
          <p:cNvPr id="25" name="Shape 23"/>
          <p:cNvSpPr/>
          <p:nvPr/>
        </p:nvSpPr>
        <p:spPr>
          <a:xfrm>
            <a:off x="4315968" y="4707179"/>
            <a:ext cx="109728" cy="109728"/>
          </a:xfrm>
          <a:prstGeom prst="ellipse">
            <a:avLst/>
          </a:prstGeom>
          <a:solidFill>
            <a:srgbClr val="0A5B5A"/>
          </a:solidFill>
          <a:ln/>
        </p:spPr>
        <p:txBody>
          <a:bodyPr/>
          <a:p/>
        </p:txBody>
      </p:sp>
      <p:sp>
        <p:nvSpPr>
          <p:cNvPr id="26" name="Text 24"/>
          <p:cNvSpPr/>
          <p:nvPr/>
        </p:nvSpPr>
        <p:spPr>
          <a:xfrm>
            <a:off x="4462272" y="4506011"/>
            <a:ext cx="914400" cy="201168"/>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7" name="Shape 25"/>
          <p:cNvSpPr/>
          <p:nvPr/>
        </p:nvSpPr>
        <p:spPr>
          <a:xfrm>
            <a:off x="6352586" y="3661867"/>
            <a:ext cx="109728" cy="109728"/>
          </a:xfrm>
          <a:prstGeom prst="ellipse">
            <a:avLst/>
          </a:prstGeom>
          <a:solidFill>
            <a:srgbClr val="0A5B5A"/>
          </a:solidFill>
          <a:ln/>
        </p:spPr>
        <p:txBody>
          <a:bodyPr/>
          <a:p/>
        </p:txBody>
      </p:sp>
      <p:sp>
        <p:nvSpPr>
          <p:cNvPr id="28" name="Text 26"/>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9" name="Shape 27"/>
          <p:cNvSpPr/>
          <p:nvPr/>
        </p:nvSpPr>
        <p:spPr>
          <a:xfrm>
            <a:off x="6643532" y="3021940"/>
            <a:ext cx="109728" cy="109728"/>
          </a:xfrm>
          <a:prstGeom prst="ellipse">
            <a:avLst/>
          </a:prstGeom>
          <a:solidFill>
            <a:srgbClr val="0A5B5A"/>
          </a:solidFill>
          <a:ln/>
        </p:spPr>
        <p:txBody>
          <a:bodyPr/>
          <a:p/>
        </p:txBody>
      </p:sp>
      <p:sp>
        <p:nvSpPr>
          <p:cNvPr id="30" name="Text 28"/>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31" name="Shape 29"/>
          <p:cNvSpPr/>
          <p:nvPr/>
        </p:nvSpPr>
        <p:spPr>
          <a:xfrm>
            <a:off x="7516368" y="2492045"/>
            <a:ext cx="109728" cy="109728"/>
          </a:xfrm>
          <a:prstGeom prst="ellipse">
            <a:avLst/>
          </a:prstGeom>
          <a:solidFill>
            <a:srgbClr val="0A5B5A"/>
          </a:solidFill>
          <a:ln/>
        </p:spPr>
        <p:txBody>
          <a:bodyPr/>
          <a:p/>
        </p:txBody>
      </p:sp>
      <p:sp>
        <p:nvSpPr>
          <p:cNvPr id="32" name="Text 30"/>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33" name="Text 31"/>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34" name="Text 32"/>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35" name="Text 33"/>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6" name="Text 34"/>
          <p:cNvSpPr/>
          <p:nvPr/>
        </p:nvSpPr>
        <p:spPr>
          <a:xfrm>
            <a:off x="4160520" y="5193792"/>
            <a:ext cx="3794760" cy="548640"/>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2000"/>
              </a:lnSpc>
              <a:buNone/>
            </a:pPr>
            <a:r>
              <a:rPr lang="en-US" sz="1150" b="1" dirty="0">
                <a:solidFill>
                  <a:srgbClr val="AF3230"/>
                </a:solidFill>
                <a:latin typeface="Calibri" pitchFamily="34" charset="0"/>
                <a:ea typeface="Calibri" pitchFamily="34" charset="-122"/>
                <a:cs typeface="Calibri" pitchFamily="34" charset="-120"/>
              </a:rPr>
              <a:t>Actual: ×45,000,000.</a:t>
            </a:r>
            <a:endParaRPr lang="en-US" sz="1000" dirty="0"/>
          </a:p>
          <a:p>
            <a:pPr indent="0" marL="0">
              <a:lnSpc>
                <a:spcPct val="102000"/>
              </a:lnSpc>
              <a:buNone/>
            </a:pPr>
            <a:r>
              <a:rPr lang="en-US" sz="950" dirty="0">
                <a:solidFill>
                  <a:srgbClr val="46545F"/>
                </a:solidFill>
                <a:latin typeface="Calibri" pitchFamily="34" charset="0"/>
                <a:ea typeface="Calibri" pitchFamily="34" charset="-122"/>
                <a:cs typeface="Calibri" pitchFamily="34" charset="-120"/>
              </a:rPr>
              <a:t>GPT-4 ≈ 2×10²⁵ FLOP: ~200,000 years on AlexNet’s two cards — a ~25,000-GPU data-center hall: ~3 months.</a:t>
            </a:r>
            <a:endParaRPr lang="en-US" sz="1000" dirty="0"/>
          </a:p>
        </p:txBody>
      </p:sp>
      <p:sp>
        <p:nvSpPr>
          <p:cNvPr id="37" name="Shape 35"/>
          <p:cNvSpPr/>
          <p:nvPr/>
        </p:nvSpPr>
        <p:spPr>
          <a:xfrm>
            <a:off x="8321040" y="1481328"/>
            <a:ext cx="3337560" cy="4279392"/>
          </a:xfrm>
          <a:prstGeom prst="roundRect">
            <a:avLst>
              <a:gd name="adj" fmla="val 2192"/>
            </a:avLst>
          </a:prstGeom>
          <a:solidFill>
            <a:srgbClr val="F2F5F6"/>
          </a:solidFill>
          <a:ln/>
        </p:spPr>
        <p:txBody>
          <a:bodyPr/>
          <a:p/>
        </p:txBody>
      </p:sp>
      <p:sp>
        <p:nvSpPr>
          <p:cNvPr id="38" name="Text 36"/>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9" name="Shape 37"/>
          <p:cNvSpPr/>
          <p:nvPr/>
        </p:nvSpPr>
        <p:spPr>
          <a:xfrm>
            <a:off x="8549640" y="2011680"/>
            <a:ext cx="420624" cy="420624"/>
          </a:xfrm>
          <a:prstGeom prst="ellipse">
            <a:avLst/>
          </a:prstGeom>
          <a:solidFill>
            <a:srgbClr val="0E7C7B"/>
          </a:solidFill>
          <a:ln/>
        </p:spPr>
        <p:txBody>
          <a:bodyPr/>
          <a:p/>
        </p:txBody>
      </p:sp>
      <p:pic>
        <p:nvPicPr>
          <p:cNvPr id="40" name="Image 0" descr="/home/user/Claude-Works/ai-training-prompt-engineering/src/assets/icons/cpu_w.png">    </p:cNvPr>
          <p:cNvPicPr>
            <a:picLocks noChangeAspect="1"/>
          </p:cNvPicPr>
          <p:nvPr/>
        </p:nvPicPr>
        <p:blipFill>
          <a:blip r:embed="rId2"/>
          <a:stretch>
            <a:fillRect/>
          </a:stretch>
        </p:blipFill>
        <p:spPr>
          <a:xfrm>
            <a:off x="8659002" y="2121042"/>
            <a:ext cx="201900" cy="201900"/>
          </a:xfrm>
          <a:prstGeom prst="rect">
            <a:avLst/>
          </a:prstGeom>
        </p:spPr>
      </p:pic>
      <p:sp>
        <p:nvSpPr>
          <p:cNvPr id="41" name="Text 38"/>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42" name="Shape 39"/>
          <p:cNvSpPr/>
          <p:nvPr/>
        </p:nvSpPr>
        <p:spPr>
          <a:xfrm>
            <a:off x="8549640" y="3182112"/>
            <a:ext cx="420624" cy="420624"/>
          </a:xfrm>
          <a:prstGeom prst="ellipse">
            <a:avLst/>
          </a:prstGeom>
          <a:solidFill>
            <a:srgbClr val="0E7C7B"/>
          </a:solidFill>
          <a:ln/>
        </p:spPr>
        <p:txBody>
          <a:bodyPr/>
          <a:p/>
        </p:txBody>
      </p:sp>
      <p:pic>
        <p:nvPicPr>
          <p:cNvPr id="43" name="Image 1" descr="/home/user/Claude-Works/ai-training-prompt-engineering/src/assets/icons/users_w.png">    </p:cNvPr>
          <p:cNvPicPr>
            <a:picLocks noChangeAspect="1"/>
          </p:cNvPicPr>
          <p:nvPr/>
        </p:nvPicPr>
        <p:blipFill>
          <a:blip r:embed="rId3"/>
          <a:stretch>
            <a:fillRect/>
          </a:stretch>
        </p:blipFill>
        <p:spPr>
          <a:xfrm>
            <a:off x="8659002" y="3291474"/>
            <a:ext cx="201900" cy="201900"/>
          </a:xfrm>
          <a:prstGeom prst="rect">
            <a:avLst/>
          </a:prstGeom>
        </p:spPr>
      </p:pic>
      <p:sp>
        <p:nvSpPr>
          <p:cNvPr id="44" name="Text 40"/>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45" name="Shape 41"/>
          <p:cNvSpPr/>
          <p:nvPr/>
        </p:nvSpPr>
        <p:spPr>
          <a:xfrm>
            <a:off x="8549640" y="4352544"/>
            <a:ext cx="420624" cy="420624"/>
          </a:xfrm>
          <a:prstGeom prst="ellipse">
            <a:avLst/>
          </a:prstGeom>
          <a:solidFill>
            <a:srgbClr val="0E7C7B"/>
          </a:solidFill>
          <a:ln/>
        </p:spPr>
        <p:txBody>
          <a:bodyPr/>
          <a:p/>
        </p:txBody>
      </p:sp>
      <p:pic>
        <p:nvPicPr>
          <p:cNvPr id="46" name="Image 2" descr="/home/user/Claude-Works/ai-training-prompt-engineering/src/assets/icons/zap_w.png">    </p:cNvPr>
          <p:cNvPicPr>
            <a:picLocks noChangeAspect="1"/>
          </p:cNvPicPr>
          <p:nvPr/>
        </p:nvPicPr>
        <p:blipFill>
          <a:blip r:embed="rId4"/>
          <a:stretch>
            <a:fillRect/>
          </a:stretch>
        </p:blipFill>
        <p:spPr>
          <a:xfrm>
            <a:off x="8659002" y="4461906"/>
            <a:ext cx="201900" cy="201900"/>
          </a:xfrm>
          <a:prstGeom prst="rect">
            <a:avLst/>
          </a:prstGeom>
        </p:spPr>
      </p:pic>
      <p:sp>
        <p:nvSpPr>
          <p:cNvPr id="47" name="Text 42"/>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8" name="Text 43"/>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9" name="Shape 44"/>
          <p:cNvSpPr/>
          <p:nvPr/>
        </p:nvSpPr>
        <p:spPr>
          <a:xfrm>
            <a:off x="502920" y="5870448"/>
            <a:ext cx="11155680" cy="621792"/>
          </a:xfrm>
          <a:prstGeom prst="roundRect">
            <a:avLst>
              <a:gd name="adj" fmla="val 11765"/>
            </a:avLst>
          </a:prstGeom>
          <a:solidFill>
            <a:srgbClr val="FBF0E0"/>
          </a:solidFill>
          <a:ln/>
        </p:spPr>
        <p:txBody>
          <a:bodyPr/>
          <a:p/>
        </p:txBody>
      </p:sp>
      <p:sp>
        <p:nvSpPr>
          <p:cNvPr id="50" name="Shape 45"/>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txBody>
          <a:bodyPr/>
          <a:p/>
        </p:txBody>
      </p:sp>
      <p:pic>
        <p:nvPicPr>
          <p:cNvPr id="51" name="Image 3" descr="/home/user/Claude-Works/ai-training-prompt-engineering/src/assets/logos/nvidia.png">    </p:cNvPr>
          <p:cNvPicPr>
            <a:picLocks noChangeAspect="1"/>
          </p:cNvPicPr>
          <p:nvPr/>
        </p:nvPicPr>
        <p:blipFill>
          <a:blip r:embed="rId5"/>
          <a:stretch>
            <a:fillRect/>
          </a:stretch>
        </p:blipFill>
        <p:spPr>
          <a:xfrm>
            <a:off x="712135" y="6043087"/>
            <a:ext cx="276515" cy="276515"/>
          </a:xfrm>
          <a:prstGeom prst="rect">
            <a:avLst/>
          </a:prstGeom>
        </p:spPr>
      </p:pic>
      <p:sp>
        <p:nvSpPr>
          <p:cNvPr id="52" name="Text 46"/>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
        <p:nvSpPr>
          <p:cNvPr id="53"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5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5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6</a:t>
            </a:r>
          </a:p>
        </p:txBody>
      </p:sp>
    </p:spTree>
  </p:cSld>
  <p:clrMapOvr>
    <a:masterClrMapping/>
  </p:clrMapOvr>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1920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1920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480560"/>
            <a:ext cx="11155680" cy="1261872"/>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590288"/>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3"/>
          <a:stretch xmlns:a="http://schemas.openxmlformats.org/drawingml/2006/main">
            <a:fillRect l="0" t="0" r="0" b="0"/>
          </a:stretch>
        </p:blipFill>
        <p:spPr>
          <a:xfrm xmlns:a="http://schemas.openxmlformats.org/drawingml/2006/main">
            <a:off x="740664" y="4681728"/>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608576"/>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61772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61772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4937760"/>
            <a:ext cx="10789919" cy="557783"/>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B96A1B"/>
                </a:solidFill>
                <a:latin typeface="Calibri"/>
              </a:rPr>
              <a:t>SEND 1 · </a:t>
            </a:r>
            <a:r>
              <a:rPr sz="950" b="1">
                <a:solidFill>
                  <a:srgbClr val="0A5B5A"/>
                </a:solidFill>
                <a:latin typeface="Calibri"/>
              </a:rPr>
              <a:t>TYPE THIS → </a:t>
            </a:r>
            <a:r>
              <a:rPr sz="900" b="0">
                <a:solidFill>
                  <a:srgbClr val="232A31"/>
                </a:solidFill>
                <a:latin typeface="Calibri"/>
              </a:rPr>
              <a:t>“Finish this sentence five different ways: “We should review the launch date because…” Treat each ending as a hypothetical possibility.”</a:t>
            </a:r>
            <a:endParaRPr sz="1000"/>
          </a:p>
          <a:p xmlns:a="http://schemas.openxmlformats.org/drawingml/2006/main">
            <a:pPr algn="l"/>
            <a:r>
              <a:rPr sz="950" b="1">
                <a:solidFill>
                  <a:srgbClr val="B96A1B"/>
                </a:solidFill>
                <a:latin typeface="Calibri"/>
              </a:rPr>
              <a:t>SEND 2 · </a:t>
            </a:r>
            <a:r>
              <a:rPr sz="950" b="1">
                <a:solidFill>
                  <a:srgbClr val="0A5B5A"/>
                </a:solidFill>
                <a:latin typeface="Calibri"/>
              </a:rPr>
              <a:t>TYPE THIS → </a:t>
            </a:r>
            <a:r>
              <a:rPr sz="900" b="0">
                <a:solidFill>
                  <a:srgbClr val="232A31"/>
                </a:solidFill>
                <a:latin typeface="Calibri"/>
              </a:rPr>
              <a:t>“Repeat using these facts: we are a business-to-business software company; our beta ends April 20; a competitor launches May 3. Separate supplied facts from assumptions. End with one missing fact that could change the timing decision.”</a:t>
            </a:r>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5486400"/>
            <a:ext cx="10789919"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0">
                <a:solidFill>
                  <a:srgbClr val="0A5B5A"/>
                </a:solidFill>
                <a:latin typeface="Calibri"/>
              </a:rPr>
              <a:t>✂ copy-paste, don’t retype: tab EX2-Guesses of your Course Workbook</a:t>
            </a:r>
            <a:endParaRPr sz="950"/>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0A6261"/>
                </a:solidFill>
                <a:latin typeface="Calibri"/>
                <a:ea typeface="Calibri"/>
                <a:cs typeface="Calibri"/>
              </a:rPr>
              <a:t>TEACH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904" y="1874519"/>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500"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246120" y="1874519"/>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904" y="2724912"/>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500"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246120" y="2724912"/>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904" y="3575304"/>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1500"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246120" y="3575304"/>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pic xmlns:a="http://schemas.openxmlformats.org/drawingml/2006/main" xmlns:r="http://schemas.openxmlformats.org/officeDocument/2006/relationships">
        <p:nvPicPr>
          <p:cNvPr id="15" name="Picture 14" descr="lego_tokens.jpg"/>
          <p:cNvPicPr>
            <a:picLocks noChangeAspect="1"/>
          </p:cNvPicPr>
          <p:nvPr/>
        </p:nvPicPr>
        <p:blipFill>
          <a:blip r:embed="rId3"/>
          <a:stretch>
            <a:fillRect/>
          </a:stretch>
        </p:blipFill>
        <p:spPr>
          <a:xfrm>
            <a:off x="8842248" y="2986001"/>
            <a:ext cx="2633472" cy="1471213"/>
          </a:xfrm>
          <a:prstGeom prst="rect">
            <a:avLst/>
          </a:prstGeom>
        </p:spPr>
      </p:pic>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315968"/>
            <a:ext cx="8092440" cy="1188720"/>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425696"/>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4"/>
          <a:stretch xmlns:a="http://schemas.openxmlformats.org/drawingml/2006/main">
            <a:fillRect l="0" t="0" r="0" b="0"/>
          </a:stretch>
        </p:blipFill>
        <p:spPr>
          <a:xfrm xmlns:a="http://schemas.openxmlformats.org/drawingml/2006/main">
            <a:off x="740664" y="451713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443983"/>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4531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3/7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453128"/>
            <a:ext cx="59436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Tokens, explained by the model</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4773168"/>
            <a:ext cx="7726679" cy="48463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0A5B5A"/>
                </a:solidFill>
                <a:latin typeface="Calibri"/>
              </a:rPr>
              <a:t>TYPE THIS → </a:t>
            </a:r>
            <a:r>
              <a:rPr sz="900" b="0">
                <a:solidFill>
                  <a:srgbClr val="232A31"/>
                </a:solidFill>
                <a:latin typeface="Calibri"/>
              </a:rPr>
              <a:t>“Explain tokens to a new colleague using a LEGO-brick analogy, in about 100 words. Show an illustrative word split and explain why the actual split depends on the tokenizer. Connect token counts to context limits and charges when billing is based on tokens. End with one practical implication for working with long documents.”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5248655"/>
            <a:ext cx="7726679"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0">
                <a:solidFill>
                  <a:srgbClr val="0A5B5A"/>
                </a:solidFill>
                <a:latin typeface="Calibri"/>
              </a:rPr>
              <a:t>✂ copy-paste, don’t retype: tab EX3-Tokens of your Course Workbook</a:t>
            </a:r>
            <a:endParaRPr sz="950"/>
          </a:p>
        </p:txBody>
      </p:sp>
      <p:sp xmlns:a="http://schemas.openxmlformats.org/drawingml/2006/main">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400" b="1">
                <a:solidFill>
                  <a:srgbClr val="0E7C7B"/>
                </a:solidFill>
                <a:latin typeface="Calibri"/>
              </a:rPr>
              <a:t>TOKENS</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904" y="1874519"/>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500"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246120" y="1874519"/>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904" y="2724912"/>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500"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246120" y="2724912"/>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904" y="3575304"/>
            <a:ext cx="251460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1500"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246120" y="3575304"/>
            <a:ext cx="5349240" cy="777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13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pic xmlns:a="http://schemas.openxmlformats.org/drawingml/2006/main" xmlns:r="http://schemas.openxmlformats.org/officeDocument/2006/relationships">
        <p:nvPicPr>
          <p:cNvPr id="15" name="Picture 14" descr="image.jpeg"/>
          <p:cNvPicPr>
            <a:picLocks noChangeAspect="1"/>
          </p:cNvPicPr>
          <p:nvPr/>
        </p:nvPicPr>
        <p:blipFill>
          <a:blip r:embed="rId3"/>
          <a:stretch>
            <a:fillRect/>
          </a:stretch>
        </p:blipFill>
        <p:spPr>
          <a:xfrm>
            <a:off x="8842248" y="2986001"/>
            <a:ext cx="2633472" cy="1471213"/>
          </a:xfrm>
          <a:prstGeom prst="rect">
            <a:avLst/>
          </a:prstGeom>
        </p:spPr>
      </p:pic>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315968"/>
            <a:ext cx="8092440" cy="1389888"/>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425696"/>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4"/>
          <a:stretch xmlns:a="http://schemas.openxmlformats.org/drawingml/2006/main">
            <a:fillRect l="0" t="0" r="0" b="0"/>
          </a:stretch>
        </p:blipFill>
        <p:spPr>
          <a:xfrm xmlns:a="http://schemas.openxmlformats.org/drawingml/2006/main">
            <a:off x="740664" y="451713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443983"/>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4531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4/7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453128"/>
            <a:ext cx="59436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The desk — explained · tab EX4-Handoff</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4773168"/>
            <a:ext cx="7726679" cy="88696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00" b="1">
                <a:solidFill>
                  <a:srgbClr val="B96A1B"/>
                </a:solidFill>
                <a:latin typeface="Calibri"/>
              </a:rPr>
              <a:t>SEND 1 · </a:t>
            </a:r>
            <a:r>
              <a:rPr sz="900" b="1">
                <a:solidFill>
                  <a:srgbClr val="0A5B5A"/>
                </a:solidFill>
                <a:latin typeface="Calibri"/>
              </a:rPr>
              <a:t>TYPE THIS → </a:t>
            </a:r>
            <a:r>
              <a:rPr sz="850" b="0">
                <a:solidFill>
                  <a:srgbClr val="232A31"/>
                </a:solidFill>
                <a:latin typeface="Calibri"/>
              </a:rPr>
              <a:t>“Explain a context window using a desk analogy, in about 100 words. What occupies the desk, and what happens as it fills? Distinguish information available for the current response from saved chat history and optional memory. Identify what depends on the application. End with one useful habit for continuing a long task.”</a:t>
            </a:r>
            <a:endParaRPr sz="1000"/>
          </a:p>
          <a:p xmlns:a="http://schemas.openxmlformats.org/drawingml/2006/main">
            <a:pPr algn="l"/>
            <a:r>
              <a:rPr sz="900" b="1">
                <a:solidFill>
                  <a:srgbClr val="B96A1B"/>
                </a:solidFill>
                <a:latin typeface="Calibri"/>
              </a:rPr>
              <a:t>HANDOFF FOLLOW-UP · </a:t>
            </a:r>
            <a:r>
              <a:rPr sz="900" b="1">
                <a:solidFill>
                  <a:srgbClr val="0A5B5A"/>
                </a:solidFill>
                <a:latin typeface="Calibri"/>
              </a:rPr>
              <a:t>TYPE THIS → </a:t>
            </a:r>
            <a:r>
              <a:rPr sz="850" b="0">
                <a:solidFill>
                  <a:srgbClr val="232A31"/>
                </a:solidFill>
                <a:latin typeface="Calibri"/>
              </a:rPr>
              <a:t>“Create a concise HANDOFF from the conversation currently available: goal, decisions, constraints, unresolved questions, and next action. Name any files needed to continue. Mark missing information rather than inventing it.”</a:t>
            </a:r>
          </a:p>
        </p:txBody>
      </p:sp>
      <p:sp xmlns:a="http://schemas.openxmlformats.org/drawingml/2006/main">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200" b="1">
                <a:solidFill>
                  <a:srgbClr val="0E7C7B"/>
                </a:solidFill>
                <a:latin typeface="Calibri"/>
              </a:rPr>
              <a:t>CONTEXT WINDOW</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14" name="heritage-panel"/>
          <p:cNvSpPr/>
          <p:nvPr/>
        </p:nvSpPr>
        <p:spPr>
          <a:xfrm>
            <a:off x="8732520" y="2857985"/>
            <a:ext cx="2852928" cy="172724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904" y="1933956"/>
            <a:ext cx="25146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246120" y="1933956"/>
            <a:ext cx="534924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904" y="3150108"/>
            <a:ext cx="25146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246120" y="3150108"/>
            <a:ext cx="534924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904" y="4366260"/>
            <a:ext cx="25146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246120" y="4366260"/>
            <a:ext cx="534924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pic xmlns:a="http://schemas.openxmlformats.org/drawingml/2006/main" xmlns:r="http://schemas.openxmlformats.org/officeDocument/2006/relationships">
        <p:nvPicPr>
          <p:cNvPr id="15" name="Picture 14" descr="image.jpeg"/>
          <p:cNvPicPr>
            <a:picLocks noChangeAspect="1"/>
          </p:cNvPicPr>
          <p:nvPr/>
        </p:nvPicPr>
        <p:blipFill>
          <a:blip r:embed="rId3"/>
          <a:stretch>
            <a:fillRect/>
          </a:stretch>
        </p:blipFill>
        <p:spPr>
          <a:xfrm>
            <a:off x="8842248" y="2986001"/>
            <a:ext cx="2633472" cy="1471213"/>
          </a:xfrm>
          <a:prstGeom prst="rect">
            <a:avLst/>
          </a:prstGeom>
        </p:spPr>
      </p:pic>
      <p:sp xmlns:a="http://schemas.openxmlformats.org/drawingml/2006/main">
        <p:nvSpPr>
          <p:cNvPr id="16"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600" b="1">
                <a:solidFill>
                  <a:srgbClr val="0E7C7B"/>
                </a:solidFill>
                <a:latin typeface="Calibri"/>
              </a:rPr>
              <a:t>RAG</a:t>
            </a:r>
          </a:p>
          <a:p>
            <a:pPr algn="r"/>
            <a:r>
              <a:rPr sz="900" b="0" i="1">
                <a:solidFill>
                  <a:srgbClr val="657278"/>
                </a:solidFill>
                <a:latin typeface="Calibri"/>
              </a:rPr>
              <a:t>Retrieval-Augmented Generation</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1783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1783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407408"/>
            <a:ext cx="11155680" cy="1280160"/>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4517136"/>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Id3"/>
          <a:stretch xmlns:a="http://schemas.openxmlformats.org/drawingml/2006/main">
            <a:fillRect l="0" t="0" r="0" b="0"/>
          </a:stretch>
        </p:blipFill>
        <p:spPr>
          <a:xfrm xmlns:a="http://schemas.openxmlformats.org/drawingml/2006/main">
            <a:off x="740664" y="460857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4535424"/>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454456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rPr>
              <a:t>PROMPT 5/7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454456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rPr>
              <a:t>Fast responses vs more reasoning — three examples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4864608"/>
            <a:ext cx="10789919" cy="576071"/>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0A5B5A"/>
                </a:solidFill>
                <a:latin typeface="Calibri"/>
              </a:rPr>
              <a:t>TYPE THIS → </a:t>
            </a:r>
            <a:r>
              <a:rPr sz="900" b="0">
                <a:solidFill>
                  <a:srgbClr val="232A31"/>
                </a:solidFill>
                <a:latin typeface="Calibri"/>
              </a:rPr>
              <a:t>“Explain when to start with fast responses versus more reasoning, using three examples: a routine email, inconsistent supplier data, and a problem with several interacting causes. For each, give a starting choice and what would justify increasing effort. Explain the tradeoff in time and resource use without guessing prices. About 120 words.”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5431536"/>
            <a:ext cx="10789919"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0">
                <a:solidFill>
                  <a:srgbClr val="0A5B5A"/>
                </a:solidFill>
                <a:latin typeface="Calibri"/>
              </a:rPr>
              <a:t>✂ copy-paste, don’t retype: tab EX5-TwoSpeeds of your Course Workbook</a:t>
            </a:r>
            <a:endParaRPr sz="950"/>
          </a:p>
        </p:txBody>
      </p:sp>
      <p:sp xmlns:a="http://schemas.openxmlformats.org/drawingml/2006/main">
        <p:nvSpPr>
          <p:cNvPr id="10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000" b="1">
                <a:solidFill>
                  <a:srgbClr val="0E7C7B"/>
                </a:solidFill>
                <a:latin typeface="Calibri"/>
              </a:rPr>
              <a:t>REASONING EFFORT</a:t>
            </a:r>
          </a:p>
        </p:txBody>
      </p:sp>
    </p:spTree>
    <p:extLst>
      <p:ext uri="{BB962C8B-B14F-4D97-AF65-F5344CB8AC3E}">
        <p14:creationId xmlns:p14="http://schemas.microsoft.com/office/powerpoint/2010/main" val="1850001581"/>
      </p:ext>
    </p:extLst>
  </p:cSld>
</p:sld>
</file>

<file path=ppt/slides/slide12.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1353312" y="1933575"/>
            <a:ext cx="288036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lIns="27432" rIns="18288">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4343400" y="1933575"/>
            <a:ext cx="7242048"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1353312" y="2800350"/>
            <a:ext cx="288036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lIns="27432" rIns="18288">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4343400" y="2800350"/>
            <a:ext cx="7242048"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1353312" y="3667125"/>
            <a:ext cx="288036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lIns="27432" rIns="18288">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4343400" y="3667125"/>
            <a:ext cx="7242048"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1353312" y="4533900"/>
            <a:ext cx="288036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lIns="27432" rIns="18288">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4343400" y="4533900"/>
            <a:ext cx="7242048"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pic xmlns:a="http://schemas.openxmlformats.org/drawingml/2006/main" xmlns:r="http://schemas.openxmlformats.org/officeDocument/2006/relationships">
        <p:nvPicPr>
          <p:cNvPr id="16" name="Picture 15" descr="emblem_cue_card.jpg"/>
          <p:cNvPicPr>
            <a:picLocks noChangeAspect="1"/>
          </p:cNvPicPr>
          <p:nvPr/>
        </p:nvPicPr>
        <p:blipFill>
          <a:blip r:embed="rId3"/>
          <a:stretch>
            <a:fillRect/>
          </a:stretch>
        </p:blipFill>
        <p:spPr>
          <a:xfrm>
            <a:off x="609904" y="2027682"/>
            <a:ext cx="621792" cy="621792"/>
          </a:xfrm>
          <a:prstGeom prst="rect">
            <a:avLst/>
          </a:prstGeom>
        </p:spPr>
      </p:pic>
      <p:pic xmlns:a="http://schemas.openxmlformats.org/drawingml/2006/main" xmlns:r="http://schemas.openxmlformats.org/officeDocument/2006/relationships">
        <p:nvPicPr>
          <p:cNvPr id="17" name="Picture 16" descr="emblem_fake_receipt.jpg"/>
          <p:cNvPicPr>
            <a:picLocks noChangeAspect="1"/>
          </p:cNvPicPr>
          <p:nvPr/>
        </p:nvPicPr>
        <p:blipFill>
          <a:blip r:embed="rId4"/>
          <a:stretch>
            <a:fillRect/>
          </a:stretch>
        </p:blipFill>
        <p:spPr>
          <a:xfrm>
            <a:off x="609904" y="2893618"/>
            <a:ext cx="621792" cy="621792"/>
          </a:xfrm>
          <a:prstGeom prst="rect">
            <a:avLst/>
          </a:prstGeom>
        </p:spPr>
      </p:pic>
      <p:pic xmlns:a="http://schemas.openxmlformats.org/drawingml/2006/main" xmlns:r="http://schemas.openxmlformats.org/officeDocument/2006/relationships">
        <p:nvPicPr>
          <p:cNvPr id="18" name="Picture 17" descr="emblem_rubber_chicken.jpg"/>
          <p:cNvPicPr>
            <a:picLocks noChangeAspect="1"/>
          </p:cNvPicPr>
          <p:nvPr/>
        </p:nvPicPr>
        <p:blipFill>
          <a:blip r:embed="rId5"/>
          <a:stretch>
            <a:fillRect/>
          </a:stretch>
        </p:blipFill>
        <p:spPr>
          <a:xfrm>
            <a:off x="609904" y="3760470"/>
            <a:ext cx="621792" cy="621792"/>
          </a:xfrm>
          <a:prstGeom prst="rect">
            <a:avLst/>
          </a:prstGeom>
        </p:spPr>
      </p:pic>
      <p:pic xmlns:a="http://schemas.openxmlformats.org/drawingml/2006/main" xmlns:r="http://schemas.openxmlformats.org/officeDocument/2006/relationships">
        <p:nvPicPr>
          <p:cNvPr id="19" name="Picture 18" descr="emblem_gilded_frame.jpg"/>
          <p:cNvPicPr>
            <a:picLocks noChangeAspect="1"/>
          </p:cNvPicPr>
          <p:nvPr/>
        </p:nvPicPr>
        <p:blipFill>
          <a:blip r:embed="rId6"/>
          <a:stretch>
            <a:fillRect/>
          </a:stretch>
        </p:blipFill>
        <p:spPr>
          <a:xfrm>
            <a:off x="609904" y="4627321"/>
            <a:ext cx="621792" cy="621792"/>
          </a:xfrm>
          <a:prstGeom prst="rect">
            <a:avLst/>
          </a:prstGeom>
        </p:spPr>
      </p:pic>
      <p:sp xmlns:a="http://schemas.openxmlformats.org/drawingml/2006/main">
        <p:nvSpPr>
          <p:cNvPr id="20" name="term-badge"/>
          <p:cNvSpPr/>
          <p:nvPr/>
        </p:nvSpPr>
        <p:spPr>
          <a:xfrm>
            <a:off x="8613648" y="1188720"/>
            <a:ext cx="29718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200" b="1">
                <a:solidFill>
                  <a:srgbClr val="0E7C7B"/>
                </a:solidFill>
                <a:latin typeface="Calibri"/>
              </a:rPr>
              <a:t>HALLUCINATION</a:t>
            </a:r>
          </a:p>
        </p:txBody>
      </p:sp>
    </p:spTree>
    <p:extLst>
      <p:ext uri="{BB962C8B-B14F-4D97-AF65-F5344CB8AC3E}">
        <p14:creationId xmlns:p14="http://schemas.microsoft.com/office/powerpoint/2010/main" val="475868969"/>
      </p:ext>
    </p:extLst>
  </p:cSld>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400" dirty="0"/>
          </a:p>
          <a:p>
            <a:pPr algn="l" marL="127000" indent="-127000">
              <a:lnSpc>
                <a:spcPct val="104000"/>
              </a:lnSpc>
              <a:spcAft>
                <a:spcPts val="600"/>
              </a:spcAft>
              <a:buSzPct val="100000"/>
              <a:buChar char="•"/>
            </a:pPr>
            <a:r>
              <a:rPr lang="en-US" sz="140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400" dirty="0"/>
          </a:p>
          <a:p>
            <a:pPr algn="l" marL="127000" indent="-127000">
              <a:lnSpc>
                <a:spcPct val="104000"/>
              </a:lnSpc>
              <a:spcAft>
                <a:spcPts val="600"/>
              </a:spcAft>
              <a:buSzPct val="100000"/>
              <a:buChar char="•"/>
            </a:pPr>
            <a:r>
              <a:rPr lang="en-US" sz="140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400" dirty="0"/>
          </a:p>
        </p:txBody>
      </p:sp>
      <p:sp>
        <p:nvSpPr>
          <p:cNvPr id="7" name="Shape 5"/>
          <p:cNvSpPr/>
          <p:nvPr/>
        </p:nvSpPr>
        <p:spPr>
          <a:xfrm>
            <a:off x="502920" y="3950208"/>
            <a:ext cx="5120640" cy="2231136"/>
          </a:xfrm>
          <a:prstGeom prst="roundRect">
            <a:avLst>
              <a:gd name="adj" fmla="val 3279"/>
            </a:avLst>
          </a:prstGeom>
          <a:solidFill>
            <a:srgbClr val="F2F5F6"/>
          </a:solidFill>
          <a:ln/>
        </p:spPr>
        <p:txBody>
          <a:bodyPr/>
          <a:p/>
        </p:txBody>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txBody>
          <a:bodyPr/>
          <a:p/>
        </p:txBody>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txBody>
          <a:bodyPr/>
          <a:p/>
        </p:txBody>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txBody>
          <a:bodyPr/>
          <a:p/>
        </p:txBody>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txBody>
          <a:bodyPr/>
          <a:p/>
        </p:txBody>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txBody>
          <a:bodyPr/>
          <a:p/>
        </p:txBody>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txBody>
          <a:bodyPr/>
          <a:p/>
        </p:txBody>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txBody>
          <a:bodyPr/>
          <a:p/>
        </p:txBody>
      </p:sp>
      <p:pic>
        <p:nvPicPr>
          <p:cNvPr id="25" name="Image 0" descr="/home/user/Claude-Works/ai-training-prompt-engineering/src/assets/images/emblem_cue_card.jpg">    </p:cNvPr>
          <p:cNvPicPr>
            <a:picLocks noChangeAspect="1"/>
          </p:cNvPicPr>
          <p:nvPr/>
        </p:nvPicPr>
        <p:blipFill>
          <a:blip r:embed="rId2"/>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txBody>
          <a:bodyPr/>
          <a:p/>
        </p:txBody>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txBody>
          <a:bodyPr/>
          <a:p/>
        </p:txBody>
      </p:sp>
      <p:pic>
        <p:nvPicPr>
          <p:cNvPr id="29" name="Image 1" descr="/home/user/Claude-Works/ai-training-prompt-engineering/src/assets/images/emblem_fake_receipt.jpg">    </p:cNvPr>
          <p:cNvPicPr>
            <a:picLocks noChangeAspect="1"/>
          </p:cNvPicPr>
          <p:nvPr/>
        </p:nvPicPr>
        <p:blipFill>
          <a:blip r:embed="rId3"/>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txBody>
          <a:bodyPr/>
          <a:p/>
        </p:txBody>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txBody>
          <a:bodyPr/>
          <a:p/>
        </p:txBody>
      </p:sp>
      <p:pic>
        <p:nvPicPr>
          <p:cNvPr id="33" name="Image 2" descr="/home/user/Claude-Works/ai-training-prompt-engineering/src/assets/images/emblem_rubber_chicken.jpg">    </p:cNvPr>
          <p:cNvPicPr>
            <a:picLocks noChangeAspect="1"/>
          </p:cNvPicPr>
          <p:nvPr/>
        </p:nvPicPr>
        <p:blipFill>
          <a:blip r:embed="rId4"/>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txBody>
          <a:bodyPr/>
          <a:p/>
        </p:txBody>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txBody>
          <a:bodyPr/>
          <a:p/>
        </p:txBody>
      </p:sp>
      <p:pic>
        <p:nvPicPr>
          <p:cNvPr id="37" name="Image 3" descr="/home/user/Claude-Works/ai-training-prompt-engineering/src/assets/images/emblem_gilded_frame.jpg">    </p:cNvPr>
          <p:cNvPicPr>
            <a:picLocks noChangeAspect="1"/>
          </p:cNvPicPr>
          <p:nvPr/>
        </p:nvPicPr>
        <p:blipFill>
          <a:blip r:embed="rId5"/>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txBody>
          <a:bodyPr/>
          <a:p/>
        </p:txBody>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
        <p:nvSpPr>
          <p:cNvPr id="4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4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4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81328"/>
          </a:xfrm>
          <a:prstGeom prst="roundRect">
            <a:avLst>
              <a:gd name="adj" fmla="val 4938"/>
            </a:avLst>
          </a:prstGeom>
          <a:solidFill>
            <a:srgbClr val="F2F5F6"/>
          </a:solidFill>
          <a:ln/>
        </p:spPr>
        <p:txBody>
          <a:bodyPr/>
          <a:p/>
        </p:txBody>
      </p:sp>
      <p:sp>
        <p:nvSpPr>
          <p:cNvPr id="7" name="Shape 5"/>
          <p:cNvSpPr/>
          <p:nvPr/>
        </p:nvSpPr>
        <p:spPr>
          <a:xfrm>
            <a:off x="685800" y="1664208"/>
            <a:ext cx="402336" cy="402336"/>
          </a:xfrm>
          <a:prstGeom prst="ellipse">
            <a:avLst/>
          </a:prstGeom>
          <a:solidFill>
            <a:srgbClr val="B96A1B"/>
          </a:solidFill>
          <a:ln/>
        </p:spPr>
        <p:txBody>
          <a:bodyPr/>
          <a:p/>
        </p:txBody>
      </p:sp>
      <p:pic>
        <p:nvPicPr>
          <p:cNvPr id="8" name="Image 0" descr="/home/user/Claude-Works/ai-training-prompt-engineering/src/assets/icons/alert_w.png">    </p:cNvPr>
          <p:cNvPicPr>
            <a:picLocks noChangeAspect="1"/>
          </p:cNvPicPr>
          <p:nvPr/>
        </p:nvPicPr>
        <p:blipFill>
          <a:blip r:embed="rId2"/>
          <a:stretch>
            <a:fillRect/>
          </a:stretch>
        </p:blipFill>
        <p:spPr>
          <a:xfrm>
            <a:off x="790407" y="1768815"/>
            <a:ext cx="193121" cy="193121"/>
          </a:xfrm>
          <a:prstGeom prst="rect">
            <a:avLst/>
          </a:prstGeom>
        </p:spPr>
      </p:pic>
      <p:sp>
        <p:nvSpPr>
          <p:cNvPr id="9" name="Text 6"/>
          <p:cNvSpPr/>
          <p:nvPr/>
        </p:nvSpPr>
        <p:spPr>
          <a:xfrm>
            <a:off x="121615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Glue on pizza · May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400" dirty="0"/>
          </a:p>
        </p:txBody>
      </p:sp>
      <p:sp>
        <p:nvSpPr>
          <p:cNvPr id="10" name="Shape 7"/>
          <p:cNvSpPr/>
          <p:nvPr/>
        </p:nvSpPr>
        <p:spPr>
          <a:xfrm>
            <a:off x="6172200" y="1481328"/>
            <a:ext cx="5440680" cy="1481328"/>
          </a:xfrm>
          <a:prstGeom prst="roundRect">
            <a:avLst>
              <a:gd name="adj" fmla="val 4938"/>
            </a:avLst>
          </a:prstGeom>
          <a:solidFill>
            <a:srgbClr val="F2F5F6"/>
          </a:solidFill>
          <a:ln/>
        </p:spPr>
        <p:txBody>
          <a:bodyPr/>
          <a:p/>
        </p:txBody>
      </p:sp>
      <p:sp>
        <p:nvSpPr>
          <p:cNvPr id="11" name="Shape 8"/>
          <p:cNvSpPr/>
          <p:nvPr/>
        </p:nvSpPr>
        <p:spPr>
          <a:xfrm>
            <a:off x="6355080" y="1664208"/>
            <a:ext cx="402336" cy="402336"/>
          </a:xfrm>
          <a:prstGeom prst="ellipse">
            <a:avLst/>
          </a:prstGeom>
          <a:solidFill>
            <a:srgbClr val="AF3230"/>
          </a:solidFill>
          <a:ln/>
        </p:spPr>
        <p:txBody>
          <a:bodyPr/>
          <a:p/>
        </p:txBody>
      </p:sp>
      <p:pic>
        <p:nvPicPr>
          <p:cNvPr id="12" name="Image 1" descr="/home/user/Claude-Works/ai-training-prompt-engineering/src/assets/icons/gavel_w.png">    </p:cNvPr>
          <p:cNvPicPr>
            <a:picLocks noChangeAspect="1"/>
          </p:cNvPicPr>
          <p:nvPr/>
        </p:nvPicPr>
        <p:blipFill>
          <a:blip r:embed="rId3"/>
          <a:stretch>
            <a:fillRect/>
          </a:stretch>
        </p:blipFill>
        <p:spPr>
          <a:xfrm>
            <a:off x="6459687" y="1768815"/>
            <a:ext cx="193121" cy="193121"/>
          </a:xfrm>
          <a:prstGeom prst="rect">
            <a:avLst/>
          </a:prstGeom>
        </p:spPr>
      </p:pic>
      <p:sp>
        <p:nvSpPr>
          <p:cNvPr id="13" name="Text 9"/>
          <p:cNvSpPr/>
          <p:nvPr/>
        </p:nvSpPr>
        <p:spPr>
          <a:xfrm>
            <a:off x="6885432" y="1554480"/>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ChatGPT lawyer · Jun 2023</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400" dirty="0"/>
          </a:p>
        </p:txBody>
      </p:sp>
      <p:sp>
        <p:nvSpPr>
          <p:cNvPr id="14" name="Shape 10"/>
          <p:cNvSpPr/>
          <p:nvPr/>
        </p:nvSpPr>
        <p:spPr>
          <a:xfrm>
            <a:off x="502920" y="3017520"/>
            <a:ext cx="5440680" cy="1481328"/>
          </a:xfrm>
          <a:prstGeom prst="roundRect">
            <a:avLst>
              <a:gd name="adj" fmla="val 4938"/>
            </a:avLst>
          </a:prstGeom>
          <a:solidFill>
            <a:srgbClr val="F2F5F6"/>
          </a:solidFill>
          <a:ln/>
        </p:spPr>
        <p:txBody>
          <a:bodyPr/>
          <a:p/>
        </p:txBody>
      </p:sp>
      <p:sp>
        <p:nvSpPr>
          <p:cNvPr id="15" name="Shape 11"/>
          <p:cNvSpPr/>
          <p:nvPr/>
        </p:nvSpPr>
        <p:spPr>
          <a:xfrm>
            <a:off x="685800" y="3200400"/>
            <a:ext cx="402336" cy="402336"/>
          </a:xfrm>
          <a:prstGeom prst="ellipse">
            <a:avLst/>
          </a:prstGeom>
          <a:solidFill>
            <a:srgbClr val="AF3230"/>
          </a:solidFill>
          <a:ln/>
        </p:spPr>
        <p:txBody>
          <a:bodyPr/>
          <a:p/>
        </p:txBody>
      </p:sp>
      <p:pic>
        <p:nvPicPr>
          <p:cNvPr id="16" name="Image 2" descr="/home/user/Claude-Works/ai-training-prompt-engineering/src/assets/icons/send_w.png">    </p:cNvPr>
          <p:cNvPicPr>
            <a:picLocks noChangeAspect="1"/>
          </p:cNvPicPr>
          <p:nvPr/>
        </p:nvPicPr>
        <p:blipFill>
          <a:blip r:embed="rId4"/>
          <a:stretch>
            <a:fillRect/>
          </a:stretch>
        </p:blipFill>
        <p:spPr>
          <a:xfrm>
            <a:off x="790407" y="3305007"/>
            <a:ext cx="193121" cy="193121"/>
          </a:xfrm>
          <a:prstGeom prst="rect">
            <a:avLst/>
          </a:prstGeom>
        </p:spPr>
      </p:pic>
      <p:sp>
        <p:nvSpPr>
          <p:cNvPr id="17" name="Text 12"/>
          <p:cNvSpPr/>
          <p:nvPr/>
        </p:nvSpPr>
        <p:spPr>
          <a:xfrm>
            <a:off x="121615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Air Canada’s chatbot · Feb 2024</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400" dirty="0"/>
          </a:p>
        </p:txBody>
      </p:sp>
      <p:sp>
        <p:nvSpPr>
          <p:cNvPr id="18" name="Shape 13"/>
          <p:cNvSpPr/>
          <p:nvPr/>
        </p:nvSpPr>
        <p:spPr>
          <a:xfrm>
            <a:off x="6172200" y="3017520"/>
            <a:ext cx="5440680" cy="1481328"/>
          </a:xfrm>
          <a:prstGeom prst="roundRect">
            <a:avLst>
              <a:gd name="adj" fmla="val 4938"/>
            </a:avLst>
          </a:prstGeom>
          <a:solidFill>
            <a:srgbClr val="F2F5F6"/>
          </a:solidFill>
          <a:ln/>
        </p:spPr>
        <p:txBody>
          <a:bodyPr/>
          <a:p/>
        </p:txBody>
      </p:sp>
      <p:sp>
        <p:nvSpPr>
          <p:cNvPr id="19" name="Shape 14"/>
          <p:cNvSpPr/>
          <p:nvPr/>
        </p:nvSpPr>
        <p:spPr>
          <a:xfrm>
            <a:off x="6355080" y="3200400"/>
            <a:ext cx="402336" cy="402336"/>
          </a:xfrm>
          <a:prstGeom prst="ellipse">
            <a:avLst/>
          </a:prstGeom>
          <a:solidFill>
            <a:srgbClr val="AF3230"/>
          </a:solidFill>
          <a:ln/>
        </p:spPr>
        <p:txBody>
          <a:bodyPr/>
          <a:p/>
        </p:txBody>
      </p:sp>
      <p:pic>
        <p:nvPicPr>
          <p:cNvPr id="20" name="Image 3" descr="/home/user/Claude-Works/ai-training-prompt-engineering/src/assets/icons/chart_w.png">    </p:cNvPr>
          <p:cNvPicPr>
            <a:picLocks noChangeAspect="1"/>
          </p:cNvPicPr>
          <p:nvPr/>
        </p:nvPicPr>
        <p:blipFill>
          <a:blip r:embed="rId5"/>
          <a:stretch>
            <a:fillRect/>
          </a:stretch>
        </p:blipFill>
        <p:spPr>
          <a:xfrm>
            <a:off x="6459687" y="3305007"/>
            <a:ext cx="193121" cy="193121"/>
          </a:xfrm>
          <a:prstGeom prst="rect">
            <a:avLst/>
          </a:prstGeom>
        </p:spPr>
      </p:pic>
      <p:sp>
        <p:nvSpPr>
          <p:cNvPr id="21" name="Text 15"/>
          <p:cNvSpPr/>
          <p:nvPr/>
        </p:nvSpPr>
        <p:spPr>
          <a:xfrm>
            <a:off x="6885432" y="3090672"/>
            <a:ext cx="4572000" cy="1353312"/>
          </a:xfrm>
          <a:prstGeom prst="rect">
            <a:avLst/>
          </a:prstGeom>
          <a:noFill/>
          <a:ln/>
        </p:spPr>
        <p:txBody>
          <a:bodyPr wrap="square" lIns="0" tIns="0" rIns="0" bIns="0" rtlCol="0" anchor="ctr"/>
          <a:lstStyle/>
          <a:p>
            <a:pPr indent="0" marL="0">
              <a:lnSpc>
                <a:spcPct val="98000"/>
              </a:lnSpc>
              <a:spcAft>
                <a:spcPts val="300"/>
              </a:spcAft>
              <a:buNone/>
            </a:pPr>
            <a:r>
              <a:rPr lang="en-US" sz="1400" b="1" dirty="0">
                <a:solidFill>
                  <a:srgbClr val="232A31"/>
                </a:solidFill>
                <a:latin typeface="Calibri" pitchFamily="34" charset="0"/>
                <a:ea typeface="Calibri" pitchFamily="34" charset="-122"/>
                <a:cs typeface="Calibri" pitchFamily="34" charset="-120"/>
              </a:rPr>
              <a:t>The Big Four arc · 2025–26</a:t>
            </a:r>
            <a:endParaRPr lang="en-US" sz="1400" dirty="0"/>
          </a:p>
          <a:p>
            <a:pPr indent="0" marL="0">
              <a:lnSpc>
                <a:spcPct val="98000"/>
              </a:lnSpc>
              <a:buNone/>
            </a:pPr>
            <a:r>
              <a:rPr lang="en-US" sz="140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400" dirty="0"/>
          </a:p>
        </p:txBody>
      </p:sp>
      <p:sp>
        <p:nvSpPr>
          <p:cNvPr id="22" name="Shape 16"/>
          <p:cNvSpPr/>
          <p:nvPr/>
        </p:nvSpPr>
        <p:spPr>
          <a:xfrm>
            <a:off x="502920" y="4608576"/>
            <a:ext cx="11155680" cy="548640"/>
          </a:xfrm>
          <a:prstGeom prst="roundRect">
            <a:avLst>
              <a:gd name="adj" fmla="val 13333"/>
            </a:avLst>
          </a:prstGeom>
          <a:solidFill>
            <a:srgbClr val="FBF0E0"/>
          </a:solidFill>
          <a:ln/>
        </p:spPr>
        <p:txBody>
          <a:bodyPr/>
          <a:p/>
        </p:txBody>
      </p:sp>
      <p:sp>
        <p:nvSpPr>
          <p:cNvPr id="23" name="Shape 17"/>
          <p:cNvSpPr/>
          <p:nvPr/>
        </p:nvSpPr>
        <p:spPr>
          <a:xfrm>
            <a:off x="667512" y="4690872"/>
            <a:ext cx="384048" cy="384048"/>
          </a:xfrm>
          <a:prstGeom prst="ellipse">
            <a:avLst/>
          </a:prstGeom>
          <a:solidFill>
            <a:srgbClr val="B96A1B"/>
          </a:solidFill>
          <a:ln/>
        </p:spPr>
        <p:txBody>
          <a:bodyPr/>
          <a:p/>
        </p:txBody>
      </p:sp>
      <p:pic>
        <p:nvPicPr>
          <p:cNvPr id="24" name="Image 4" descr="/home/user/Claude-Works/ai-training-prompt-engineering/src/assets/icons/scale_w.png">    </p:cNvPr>
          <p:cNvPicPr>
            <a:picLocks noChangeAspect="1"/>
          </p:cNvPicPr>
          <p:nvPr/>
        </p:nvPicPr>
        <p:blipFill>
          <a:blip r:embed="rId6"/>
          <a:stretch>
            <a:fillRect/>
          </a:stretch>
        </p:blipFill>
        <p:spPr>
          <a:xfrm>
            <a:off x="767364" y="4790724"/>
            <a:ext cx="184343" cy="184343"/>
          </a:xfrm>
          <a:prstGeom prst="rect">
            <a:avLst/>
          </a:prstGeom>
        </p:spPr>
      </p:pic>
      <p:sp>
        <p:nvSpPr>
          <p:cNvPr id="25" name="Text 18"/>
          <p:cNvSpPr/>
          <p:nvPr/>
        </p:nvSpPr>
        <p:spPr>
          <a:xfrm>
            <a:off x="1216152" y="4681728"/>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400" dirty="0"/>
          </a:p>
        </p:txBody>
      </p:sp>
      <p:sp>
        <p:nvSpPr>
          <p:cNvPr id="26" name="Shape 19"/>
          <p:cNvSpPr/>
          <p:nvPr/>
        </p:nvSpPr>
        <p:spPr>
          <a:xfrm>
            <a:off x="502920" y="5212080"/>
            <a:ext cx="11155680" cy="585216"/>
          </a:xfrm>
          <a:prstGeom prst="roundRect">
            <a:avLst>
              <a:gd name="adj" fmla="val 12500"/>
            </a:avLst>
          </a:prstGeom>
          <a:solidFill>
            <a:srgbClr val="E4F0EF"/>
          </a:solidFill>
          <a:ln/>
        </p:spPr>
        <p:txBody>
          <a:bodyPr/>
          <a:p/>
        </p:txBody>
      </p:sp>
      <p:sp>
        <p:nvSpPr>
          <p:cNvPr id="27" name="Shape 20"/>
          <p:cNvSpPr/>
          <p:nvPr/>
        </p:nvSpPr>
        <p:spPr>
          <a:xfrm>
            <a:off x="667512" y="5312664"/>
            <a:ext cx="384048" cy="384048"/>
          </a:xfrm>
          <a:prstGeom prst="ellipse">
            <a:avLst/>
          </a:prstGeom>
          <a:solidFill>
            <a:srgbClr val="0E7C7B"/>
          </a:solidFill>
          <a:ln/>
        </p:spPr>
        <p:txBody>
          <a:bodyPr/>
          <a:p/>
        </p:txBody>
      </p:sp>
      <p:pic>
        <p:nvPicPr>
          <p:cNvPr id="28" name="Image 5" descr="/home/user/Claude-Works/ai-training-prompt-engineering/src/assets/icons/check_w.png">    </p:cNvPr>
          <p:cNvPicPr>
            <a:picLocks noChangeAspect="1"/>
          </p:cNvPicPr>
          <p:nvPr/>
        </p:nvPicPr>
        <p:blipFill>
          <a:blip r:embed="rId7"/>
          <a:stretch>
            <a:fillRect/>
          </a:stretch>
        </p:blipFill>
        <p:spPr>
          <a:xfrm>
            <a:off x="767364" y="5412516"/>
            <a:ext cx="184343" cy="184343"/>
          </a:xfrm>
          <a:prstGeom prst="rect">
            <a:avLst/>
          </a:prstGeom>
        </p:spPr>
      </p:pic>
      <p:sp>
        <p:nvSpPr>
          <p:cNvPr id="29" name="Text 21"/>
          <p:cNvSpPr/>
          <p:nvPr/>
        </p:nvSpPr>
        <p:spPr>
          <a:xfrm>
            <a:off x="1216152" y="5285232"/>
            <a:ext cx="10213848" cy="438912"/>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200" dirty="0"/>
          </a:p>
        </p:txBody>
      </p:sp>
      <p:sp>
        <p:nvSpPr>
          <p:cNvPr id="30" name="Shape 22"/>
          <p:cNvSpPr/>
          <p:nvPr/>
        </p:nvSpPr>
        <p:spPr>
          <a:xfrm>
            <a:off x="502920" y="5852160"/>
            <a:ext cx="11155680" cy="548640"/>
          </a:xfrm>
          <a:prstGeom prst="roundRect">
            <a:avLst>
              <a:gd name="adj" fmla="val 13333"/>
            </a:avLst>
          </a:prstGeom>
          <a:solidFill>
            <a:srgbClr val="F9E9E8"/>
          </a:solidFill>
          <a:ln/>
        </p:spPr>
        <p:txBody>
          <a:bodyPr/>
          <a:p/>
        </p:txBody>
      </p:sp>
      <p:sp>
        <p:nvSpPr>
          <p:cNvPr id="31" name="Shape 23"/>
          <p:cNvSpPr/>
          <p:nvPr/>
        </p:nvSpPr>
        <p:spPr>
          <a:xfrm>
            <a:off x="667512" y="5934456"/>
            <a:ext cx="384048" cy="384048"/>
          </a:xfrm>
          <a:prstGeom prst="ellipse">
            <a:avLst/>
          </a:prstGeom>
          <a:solidFill>
            <a:srgbClr val="AF3230"/>
          </a:solidFill>
          <a:ln/>
        </p:spPr>
        <p:txBody>
          <a:bodyPr/>
          <a:p/>
        </p:txBody>
      </p:sp>
      <p:pic>
        <p:nvPicPr>
          <p:cNvPr id="32" name="Image 6" descr="/home/user/Claude-Works/ai-training-prompt-engineering/src/assets/icons/alert_w.png">    </p:cNvPr>
          <p:cNvPicPr>
            <a:picLocks noChangeAspect="1"/>
          </p:cNvPicPr>
          <p:nvPr/>
        </p:nvPicPr>
        <p:blipFill>
          <a:blip r:embed="rId2"/>
          <a:stretch>
            <a:fillRect/>
          </a:stretch>
        </p:blipFill>
        <p:spPr>
          <a:xfrm>
            <a:off x="767364" y="6034308"/>
            <a:ext cx="184343" cy="184343"/>
          </a:xfrm>
          <a:prstGeom prst="rect">
            <a:avLst/>
          </a:prstGeom>
        </p:spPr>
      </p:pic>
      <p:sp>
        <p:nvSpPr>
          <p:cNvPr id="33" name="Text 24"/>
          <p:cNvSpPr/>
          <p:nvPr/>
        </p:nvSpPr>
        <p:spPr>
          <a:xfrm>
            <a:off x="1216152" y="5925312"/>
            <a:ext cx="10213848" cy="402336"/>
          </a:xfrm>
          <a:prstGeom prst="rect">
            <a:avLst/>
          </a:prstGeom>
          <a:noFill/>
          <a:ln/>
        </p:spPr>
        <p:txBody>
          <a:bodyPr wrap="square" lIns="0" tIns="0" rIns="0" bIns="0" rtlCol="0" anchor="ctr"/>
          <a:lstStyle/>
          <a:p>
            <a:pPr indent="0" marL="0">
              <a:lnSpc>
                <a:spcPct val="106000"/>
              </a:lnSpc>
              <a:buNone/>
            </a:pPr>
            <a:r>
              <a:rPr lang="en-US" sz="14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4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400" dirty="0"/>
          </a:p>
        </p:txBody>
      </p:sp>
      <p:sp>
        <p:nvSpPr>
          <p:cNvPr id="34"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3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3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txBody>
          <a:bodyPr/>
          <a:p/>
        </p:txBody>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txBody>
          <a:bodyPr/>
          <a:p/>
        </p:txBody>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txBody>
          <a:bodyPr/>
          <a:p/>
        </p:txBody>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txBody>
          <a:bodyPr/>
          <a:p/>
        </p:txBody>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txBody>
          <a:bodyPr/>
          <a:p/>
        </p:txBody>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txBody>
          <a:bodyPr/>
          <a:p/>
        </p:txBody>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txBody>
          <a:bodyPr/>
          <a:p/>
        </p:txBody>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txBody>
          <a:bodyPr/>
          <a:p/>
        </p:txBody>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6400800" cy="1188720"/>
          </a:xfrm>
          <a:prstGeom prst="roundRect">
            <a:avLst>
              <a:gd name="adj" fmla="val 6154"/>
            </a:avLst>
          </a:prstGeom>
          <a:solidFill>
            <a:srgbClr val="E4F0EF"/>
          </a:solidFill>
          <a:ln/>
        </p:spPr>
        <p:txBody>
          <a:bodyPr/>
          <a:p/>
        </p:txBody>
      </p:sp>
      <p:sp>
        <p:nvSpPr>
          <p:cNvPr id="31" name="Shape 29"/>
          <p:cNvSpPr/>
          <p:nvPr/>
        </p:nvSpPr>
        <p:spPr>
          <a:xfrm>
            <a:off x="667512" y="4315968"/>
            <a:ext cx="384048" cy="384048"/>
          </a:xfrm>
          <a:prstGeom prst="ellipse">
            <a:avLst/>
          </a:prstGeom>
          <a:solidFill>
            <a:srgbClr val="0E7C7B"/>
          </a:solidFill>
          <a:ln/>
        </p:spPr>
        <p:txBody>
          <a:bodyPr/>
          <a:p/>
        </p:txBody>
      </p:sp>
      <p:pic>
        <p:nvPicPr>
          <p:cNvPr id="32" name="Image 0" descr="/home/user/Claude-Works/ai-training-prompt-engineering/src/assets/icons/shield_w.png">    </p:cNvPr>
          <p:cNvPicPr>
            <a:picLocks noChangeAspect="1"/>
          </p:cNvPicPr>
          <p:nvPr/>
        </p:nvPicPr>
        <p:blipFill>
          <a:blip r:embed="rId2"/>
          <a:stretch>
            <a:fillRect/>
          </a:stretch>
        </p:blipFill>
        <p:spPr>
          <a:xfrm>
            <a:off x="767364" y="4415820"/>
            <a:ext cx="184343" cy="184343"/>
          </a:xfrm>
          <a:prstGeom prst="rect">
            <a:avLst/>
          </a:prstGeom>
        </p:spPr>
      </p:pic>
      <p:sp>
        <p:nvSpPr>
          <p:cNvPr id="33" name="Text 30"/>
          <p:cNvSpPr/>
          <p:nvPr/>
        </p:nvSpPr>
        <p:spPr>
          <a:xfrm>
            <a:off x="1216152" y="3986784"/>
            <a:ext cx="5458968" cy="10424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countermeasures — usable today: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100" dirty="0"/>
          </a:p>
        </p:txBody>
      </p:sp>
      <p:sp>
        <p:nvSpPr>
          <p:cNvPr id="34" name="Shape 31"/>
          <p:cNvSpPr/>
          <p:nvPr/>
        </p:nvSpPr>
        <p:spPr>
          <a:xfrm>
            <a:off x="502920" y="5212080"/>
            <a:ext cx="6400800" cy="1261872"/>
          </a:xfrm>
          <a:prstGeom prst="roundRect">
            <a:avLst>
              <a:gd name="adj" fmla="val 5797"/>
            </a:avLst>
          </a:prstGeom>
          <a:solidFill>
            <a:srgbClr val="FFFFFF"/>
          </a:solidFill>
          <a:ln w="9525">
            <a:solidFill>
              <a:srgbClr val="DCE3E6"/>
            </a:solidFill>
            <a:prstDash val="solid"/>
          </a:ln>
        </p:spPr>
        <p:txBody>
          <a:bodyPr/>
          <a:p/>
        </p:txBody>
      </p:sp>
      <p:sp>
        <p:nvSpPr>
          <p:cNvPr id="35" name="Text 32"/>
          <p:cNvSpPr/>
          <p:nvPr/>
        </p:nvSpPr>
        <p:spPr>
          <a:xfrm>
            <a:off x="777240" y="5303520"/>
            <a:ext cx="5852160" cy="219456"/>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541264"/>
            <a:ext cx="5852160" cy="566928"/>
          </a:xfrm>
          <a:prstGeom prst="rect">
            <a:avLst/>
          </a:prstGeom>
          <a:noFill/>
          <a:ln/>
        </p:spPr>
        <p:txBody>
          <a:bodyPr wrap="square" lIns="0" tIns="0" rIns="0" bIns="0" rtlCol="0" anchor="ctr"/>
          <a:lstStyle/>
          <a:p>
            <a:pPr indent="0" marL="0">
              <a:lnSpc>
                <a:spcPct val="105000"/>
              </a:lnSpc>
              <a:buNone/>
            </a:pPr>
            <a:r>
              <a:rPr lang="en-US" sz="95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three biggest weaknesses.”</a:t>
            </a:r>
            <a:endParaRPr lang="en-US" sz="950" dirty="0"/>
          </a:p>
        </p:txBody>
      </p:sp>
      <p:sp>
        <p:nvSpPr>
          <p:cNvPr id="37" name="Text 34"/>
          <p:cNvSpPr/>
          <p:nvPr/>
        </p:nvSpPr>
        <p:spPr>
          <a:xfrm>
            <a:off x="777240" y="6126480"/>
            <a:ext cx="5852160" cy="292608"/>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pic>
        <p:nvPicPr>
          <p:cNvPr id="38" name="Image 1" descr="/home/user/Claude-Works/ai-training-prompt-engineering/src/assets/images/mirror_reflection.jpg">    </p:cNvPr>
          <p:cNvPicPr>
            <a:picLocks noChangeAspect="1"/>
          </p:cNvPicPr>
          <p:nvPr/>
        </p:nvPicPr>
        <p:blipFill>
          <a:blip r:embed="rId3"/>
          <a:srcRect l="0" r="0" t="0" b="0"/>
          <a:stretch/>
        </p:blipFill>
        <p:spPr>
          <a:xfrm>
            <a:off x="7086600" y="3913632"/>
            <a:ext cx="4572000" cy="2560320"/>
          </a:xfrm>
          <a:prstGeom prst="rect">
            <a:avLst/>
          </a:prstGeom>
        </p:spPr>
      </p:pic>
      <p:sp>
        <p:nvSpPr>
          <p:cNvPr id="39" name="Shape 35"/>
          <p:cNvSpPr/>
          <p:nvPr/>
        </p:nvSpPr>
        <p:spPr>
          <a:xfrm>
            <a:off x="7086600" y="3913632"/>
            <a:ext cx="4572000" cy="2560320"/>
          </a:xfrm>
          <a:prstGeom prst="roundRect">
            <a:avLst>
              <a:gd name="adj" fmla="val 2143"/>
            </a:avLst>
          </a:prstGeom>
          <a:ln w="12700">
            <a:solidFill>
              <a:srgbClr val="DCE3E6"/>
            </a:solidFill>
            <a:prstDash val="solid"/>
          </a:ln>
        </p:spPr>
        <p:txBody>
          <a:bodyPr/>
          <a:p/>
        </p:txBody>
      </p:sp>
      <p:sp>
        <p:nvSpPr>
          <p:cNvPr id="4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4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4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15</a:t>
            </a:r>
          </a:p>
        </p:txBody>
      </p:sp>
    </p:spTree>
  </p:cSld>
  <p:clrMapOvr>
    <a:masterClrMapping/>
  </p:clrMapOvr>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txBody>
          <a:bodyPr/>
          <a:p/>
        </p:txBody>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txBody>
          <a:bodyPr/>
          <a:p/>
        </p:txBody>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txBody>
          <a:bodyPr/>
          <a:p/>
        </p:txBody>
      </p:sp>
      <p:pic>
        <p:nvPicPr>
          <p:cNvPr id="9" name="Image 0" descr="/home/user/Claude-Works/ai-training-prompt-engineering/src/assets/logos/openai.png">    </p:cNvPr>
          <p:cNvPicPr>
            <a:picLocks noChangeAspect="1"/>
          </p:cNvPicPr>
          <p:nvPr/>
        </p:nvPicPr>
        <p:blipFill>
          <a:blip r:embed="rId2"/>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100" dirty="0"/>
          </a:p>
        </p:txBody>
      </p:sp>
      <p:sp>
        <p:nvSpPr>
          <p:cNvPr id="14" name="Text 11"/>
          <p:cNvSpPr/>
          <p:nvPr/>
        </p:nvSpPr>
        <p:spPr>
          <a:xfrm>
            <a:off x="685800"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50" dirty="0"/>
          </a:p>
        </p:txBody>
      </p:sp>
      <p:sp>
        <p:nvSpPr>
          <p:cNvPr id="15" name="Shape 12"/>
          <p:cNvSpPr/>
          <p:nvPr/>
        </p:nvSpPr>
        <p:spPr>
          <a:xfrm>
            <a:off x="4325112" y="1444752"/>
            <a:ext cx="3611880" cy="2212848"/>
          </a:xfrm>
          <a:prstGeom prst="roundRect">
            <a:avLst>
              <a:gd name="adj" fmla="val 3306"/>
            </a:avLst>
          </a:prstGeom>
          <a:solidFill>
            <a:srgbClr val="F2F5F6"/>
          </a:solidFill>
          <a:ln/>
        </p:spPr>
        <p:txBody>
          <a:bodyPr/>
          <a:p/>
        </p:txBody>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txBody>
          <a:bodyPr/>
          <a:p/>
        </p:txBody>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txBody>
          <a:bodyPr/>
          <a:p/>
        </p:txBody>
      </p:sp>
      <p:pic>
        <p:nvPicPr>
          <p:cNvPr id="18" name="Image 1" descr="/home/user/Claude-Works/ai-training-prompt-engineering/src/assets/logos/gemini.png">    </p:cNvPr>
          <p:cNvPicPr>
            <a:picLocks noChangeAspect="1"/>
          </p:cNvPicPr>
          <p:nvPr/>
        </p:nvPicPr>
        <p:blipFill>
          <a:blip r:embed="rId3"/>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100" dirty="0"/>
          </a:p>
        </p:txBody>
      </p:sp>
      <p:sp>
        <p:nvSpPr>
          <p:cNvPr id="23" name="Text 19"/>
          <p:cNvSpPr/>
          <p:nvPr/>
        </p:nvSpPr>
        <p:spPr>
          <a:xfrm>
            <a:off x="4507992"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50" dirty="0"/>
          </a:p>
        </p:txBody>
      </p:sp>
      <p:sp>
        <p:nvSpPr>
          <p:cNvPr id="24" name="Shape 20"/>
          <p:cNvSpPr/>
          <p:nvPr/>
        </p:nvSpPr>
        <p:spPr>
          <a:xfrm>
            <a:off x="8147304" y="1444752"/>
            <a:ext cx="3611880" cy="2212848"/>
          </a:xfrm>
          <a:prstGeom prst="roundRect">
            <a:avLst>
              <a:gd name="adj" fmla="val 3306"/>
            </a:avLst>
          </a:prstGeom>
          <a:solidFill>
            <a:srgbClr val="F2F5F6"/>
          </a:solidFill>
          <a:ln/>
        </p:spPr>
        <p:txBody>
          <a:bodyPr/>
          <a:p/>
        </p:txBody>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txBody>
          <a:bodyPr/>
          <a:p/>
        </p:txBody>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txBody>
          <a:bodyPr/>
          <a:p/>
        </p:txBody>
      </p:sp>
      <p:pic>
        <p:nvPicPr>
          <p:cNvPr id="27" name="Image 2" descr="/home/user/Claude-Works/ai-training-prompt-engineering/src/assets/logos/copilot.png">    </p:cNvPr>
          <p:cNvPicPr>
            <a:picLocks noChangeAspect="1"/>
          </p:cNvPicPr>
          <p:nvPr/>
        </p:nvPicPr>
        <p:blipFill>
          <a:blip r:embed="rId4"/>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100" dirty="0"/>
          </a:p>
        </p:txBody>
      </p:sp>
      <p:sp>
        <p:nvSpPr>
          <p:cNvPr id="32" name="Text 27"/>
          <p:cNvSpPr/>
          <p:nvPr/>
        </p:nvSpPr>
        <p:spPr>
          <a:xfrm>
            <a:off x="8330184" y="3291840"/>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50" dirty="0"/>
          </a:p>
        </p:txBody>
      </p:sp>
      <p:sp>
        <p:nvSpPr>
          <p:cNvPr id="33" name="Shape 28"/>
          <p:cNvSpPr/>
          <p:nvPr/>
        </p:nvSpPr>
        <p:spPr>
          <a:xfrm>
            <a:off x="502920" y="3785616"/>
            <a:ext cx="3611880" cy="2212848"/>
          </a:xfrm>
          <a:prstGeom prst="roundRect">
            <a:avLst>
              <a:gd name="adj" fmla="val 3306"/>
            </a:avLst>
          </a:prstGeom>
          <a:solidFill>
            <a:srgbClr val="F2F5F6"/>
          </a:solidFill>
          <a:ln/>
        </p:spPr>
        <p:txBody>
          <a:bodyPr/>
          <a:p/>
        </p:txBody>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txBody>
          <a:bodyPr/>
          <a:p/>
        </p:txBody>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txBody>
          <a:bodyPr/>
          <a:p/>
        </p:txBody>
      </p:sp>
      <p:pic>
        <p:nvPicPr>
          <p:cNvPr id="36" name="Image 3" descr="/home/user/Claude-Works/ai-training-prompt-engineering/src/assets/logos/claude.png">    </p:cNvPr>
          <p:cNvPicPr>
            <a:picLocks noChangeAspect="1"/>
          </p:cNvPicPr>
          <p:nvPr/>
        </p:nvPicPr>
        <p:blipFill>
          <a:blip r:embed="rId5"/>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100" dirty="0"/>
          </a:p>
        </p:txBody>
      </p:sp>
      <p:sp>
        <p:nvSpPr>
          <p:cNvPr id="41" name="Text 35"/>
          <p:cNvSpPr/>
          <p:nvPr/>
        </p:nvSpPr>
        <p:spPr>
          <a:xfrm>
            <a:off x="685800"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50" dirty="0"/>
          </a:p>
        </p:txBody>
      </p:sp>
      <p:sp>
        <p:nvSpPr>
          <p:cNvPr id="42" name="Shape 36"/>
          <p:cNvSpPr/>
          <p:nvPr/>
        </p:nvSpPr>
        <p:spPr>
          <a:xfrm>
            <a:off x="4325112" y="3785616"/>
            <a:ext cx="3611880" cy="2212848"/>
          </a:xfrm>
          <a:prstGeom prst="roundRect">
            <a:avLst>
              <a:gd name="adj" fmla="val 3306"/>
            </a:avLst>
          </a:prstGeom>
          <a:solidFill>
            <a:srgbClr val="F2F5F6"/>
          </a:solidFill>
          <a:ln/>
        </p:spPr>
        <p:txBody>
          <a:bodyPr/>
          <a:p/>
        </p:txBody>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txBody>
          <a:bodyPr/>
          <a:p/>
        </p:txBody>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txBody>
          <a:bodyPr/>
          <a:p/>
        </p:txBody>
      </p:sp>
      <p:pic>
        <p:nvPicPr>
          <p:cNvPr id="45" name="Image 4" descr="/home/user/Claude-Works/ai-training-prompt-engineering/src/assets/logos/perplexity.png">    </p:cNvPr>
          <p:cNvPicPr>
            <a:picLocks noChangeAspect="1"/>
          </p:cNvPicPr>
          <p:nvPr/>
        </p:nvPicPr>
        <p:blipFill>
          <a:blip r:embed="rId6"/>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100" dirty="0"/>
          </a:p>
        </p:txBody>
      </p:sp>
      <p:sp>
        <p:nvSpPr>
          <p:cNvPr id="50" name="Text 43"/>
          <p:cNvSpPr/>
          <p:nvPr/>
        </p:nvSpPr>
        <p:spPr>
          <a:xfrm>
            <a:off x="4507992"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50" dirty="0"/>
          </a:p>
        </p:txBody>
      </p:sp>
      <p:sp>
        <p:nvSpPr>
          <p:cNvPr id="51" name="Shape 44"/>
          <p:cNvSpPr/>
          <p:nvPr/>
        </p:nvSpPr>
        <p:spPr>
          <a:xfrm>
            <a:off x="8147304" y="3785616"/>
            <a:ext cx="3611880" cy="2212848"/>
          </a:xfrm>
          <a:prstGeom prst="roundRect">
            <a:avLst>
              <a:gd name="adj" fmla="val 3306"/>
            </a:avLst>
          </a:prstGeom>
          <a:solidFill>
            <a:srgbClr val="F2F5F6"/>
          </a:solidFill>
          <a:ln/>
        </p:spPr>
        <p:txBody>
          <a:bodyPr/>
          <a:p/>
        </p:txBody>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txBody>
          <a:bodyPr/>
          <a:p/>
        </p:txBody>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txBody>
          <a:bodyPr/>
          <a:p/>
        </p:txBody>
      </p:sp>
      <p:pic>
        <p:nvPicPr>
          <p:cNvPr id="54" name="Image 5" descr="/home/user/Claude-Works/ai-training-prompt-engineering/src/assets/logos/grok.png">    </p:cNvPr>
          <p:cNvPicPr>
            <a:picLocks noChangeAspect="1"/>
          </p:cNvPicPr>
          <p:nvPr/>
        </p:nvPicPr>
        <p:blipFill>
          <a:blip r:embed="rId7"/>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94944"/>
          </a:xfrm>
          <a:prstGeom prst="rect">
            <a:avLst/>
          </a:prstGeom>
          <a:noFill/>
          <a:ln/>
        </p:spPr>
        <p:txBody>
          <a:bodyPr wrap="square" lIns="0" tIns="0" rIns="0" bIns="0" rtlCol="0" anchor="ctr"/>
          <a:lstStyle/>
          <a:p>
            <a:pPr indent="0" marL="0">
              <a:lnSpc>
                <a:spcPct val="98000"/>
              </a:lnSpc>
              <a:buNone/>
            </a:pPr>
            <a:r>
              <a:rPr lang="en-US" sz="11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100" dirty="0"/>
          </a:p>
        </p:txBody>
      </p:sp>
      <p:sp>
        <p:nvSpPr>
          <p:cNvPr id="59" name="Text 51"/>
          <p:cNvSpPr/>
          <p:nvPr/>
        </p:nvSpPr>
        <p:spPr>
          <a:xfrm>
            <a:off x="8330184" y="5632704"/>
            <a:ext cx="3273552" cy="347472"/>
          </a:xfrm>
          <a:prstGeom prst="rect">
            <a:avLst/>
          </a:prstGeom>
          <a:noFill/>
          <a:ln/>
        </p:spPr>
        <p:txBody>
          <a:bodyPr wrap="square" lIns="0" tIns="0" rIns="0" bIns="0" rtlCol="0" anchor="ctr"/>
          <a:lstStyle/>
          <a:p>
            <a:pPr indent="0" marL="0">
              <a:lnSpc>
                <a:spcPct val="92000"/>
              </a:lnSpc>
              <a:buNone/>
            </a:pPr>
            <a:r>
              <a:rPr lang="en-US" sz="105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50" dirty="0"/>
          </a:p>
        </p:txBody>
      </p:sp>
      <p:sp>
        <p:nvSpPr>
          <p:cNvPr id="60" name="FACILITATION_MODE_BAR"/>
          <p:cNvSpPr/>
          <p:nvPr/>
        </p:nvSpPr>
        <p:spPr>
          <a:xfrm>
            <a:off x="0" y="0"/>
            <a:ext cx="12191695" cy="38404"/>
          </a:xfrm>
          <a:prstGeom prst="rect">
            <a:avLst/>
          </a:prstGeom>
          <a:solidFill>
            <a:srgbClr val="A7B0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1">
                <a:solidFill>
                  <a:srgbClr val="526267"/>
                </a:solidFill>
                <a:latin typeface="Calibri"/>
              </a:rPr>
              <a:t>REFERENCE  STUDY</a:t>
            </a:r>
          </a:p>
        </p:txBody>
      </p:sp>
      <p:sp>
        <p:nvSpPr>
          <p:cNvPr id="62"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a:solidFill>
                  <a:srgbClr val="526267"/>
                </a:solidFill>
                <a:latin typeface="Calibri"/>
              </a:rPr>
              <a:t>From Prompts to Agents</a:t>
            </a:r>
          </a:p>
        </p:txBody>
      </p:sp>
      <p:sp>
        <p:nvSpPr>
          <p:cNvPr id="63"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a:solidFill>
                  <a:srgbClr val="657278"/>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lide-title">
            <a:extLst>
              <a:ext uri="{FF2B5EF4-FFF2-40B4-BE49-F238E27FC236}">
                <a16:creationId xmlns:a16="http://schemas.microsoft.com/office/drawing/2014/main" id="{E2F32EF2-5C76-4CCF-9CBB-FA96A44207EC}"/>
              </a:ext>
            </a:extLst>
          </p:cNvPr>
          <p:cNvSpPr>
            <a:spLocks noGrp="1"/>
          </p:cNvSpPr>
          <p:nvPr/>
        </p:nvSpPr>
        <p:spPr>
          <a:xfrm>
            <a:off x="504748" y="658368"/>
            <a:ext cx="11155680" cy="548640"/>
          </a:xfrm>
          <a:prstGeom prst="rect">
            <a:avLst/>
          </a:prstGeom>
          <a:noFill/>
          <a:ln w="0">
            <a:noFill/>
          </a:ln>
        </p:spPr>
        <p:txBody>
          <a:bodyPr wrap="square" lIns="0" tIns="0" rIns="0" bIns="0" anchor="t">
            <a:noAutofit/>
          </a:bodyPr>
          <a:lstStyle/>
          <a:p>
            <a:pPr algn="l">
              <a:defRPr sz="2820" b="1">
                <a:solidFill>
                  <a:srgbClr val="202E35"/>
                </a:solidFill>
                <a:latin typeface="Nimbus Sans"/>
                <a:ea typeface="Nimbus Sans"/>
                <a:cs typeface="Nimbus Sans"/>
              </a:defRPr>
            </a:pPr>
            <a:r>
              <a:rPr sz="2800" b="1">
                <a:solidFill>
                  <a:srgbClr val="232A31"/>
                </a:solidFill>
                <a:latin typeface="Cambria"/>
                <a:ea typeface="Nimbus Sans"/>
                <a:cs typeface="Nimbus Sans"/>
              </a:rPr>
              <a:t>Task difficulty and processing capacity</a:t>
            </a:r>
          </a:p>
        </p:txBody>
      </p:sp>
      <p:sp>
        <p:nvSpPr>
          <p:cNvPr id="2" name="slide-subtitle">
            <a:extLst>
              <a:ext uri="{FF2B5EF4-FFF2-40B4-BE49-F238E27FC236}">
                <a16:creationId xmlns:a16="http://schemas.microsoft.com/office/drawing/2014/main" id="{2BA5404B-47E0-4646-A7FF-51B3E16E8B0C}"/>
              </a:ext>
            </a:extLst>
          </p:cNvPr>
          <p:cNvSpPr>
            <a:spLocks noGrp="1"/>
          </p:cNvSpPr>
          <p:nvPr/>
        </p:nvSpPr>
        <p:spPr>
          <a:xfrm>
            <a:off x="504748" y="1298448"/>
            <a:ext cx="11155680" cy="365760"/>
          </a:xfrm>
          <a:prstGeom prst="rect">
            <a:avLst/>
          </a:prstGeom>
          <a:noFill/>
          <a:ln w="0">
            <a:noFill/>
          </a:ln>
        </p:spPr>
        <p:txBody>
          <a:bodyPr wrap="square" lIns="0" tIns="0" rIns="0" bIns="0" anchor="t">
            <a:noAutofit/>
          </a:bodyPr>
          <a:lstStyle/>
          <a:p>
            <a:pPr algn="l">
              <a:defRPr sz="1620" b="0">
                <a:solidFill>
                  <a:srgbClr val="52636C"/>
                </a:solidFill>
                <a:latin typeface="Nimbus Sans"/>
                <a:ea typeface="Nimbus Sans"/>
                <a:cs typeface="Nimbus Sans"/>
              </a:defRPr>
            </a:pPr>
            <a:r>
              <a:rPr sz="1350" b="0">
                <a:solidFill>
                  <a:srgbClr val="657278"/>
                </a:solidFill>
                <a:latin typeface="Calibri"/>
                <a:ea typeface="Nimbus Sans"/>
                <a:cs typeface="Nimbus Sans"/>
              </a:rPr>
              <a:t>Model capability, reasoning effort and workload volume are separate choices</a:t>
            </a:r>
          </a:p>
        </p:txBody>
      </p:sp>
      <p:graphicFrame>
        <p:nvGraphicFramePr>
          <p:cNvPr id="14" name=""/>
          <p:cNvGraphicFramePr/>
          <p:nvPr/>
        </p:nvGraphicFramePr>
        <p:xfrm>
          <a:off x="563880" y="1767840"/>
          <a:ext cx="7741920" cy="3977640"/>
        </p:xfrm>
        <a:graphic>
          <a:graphicData uri="http://schemas.openxmlformats.org/drawingml/2006/table">
            <a:tbl>
              <a:tblPr firstRow="0" bandRow="0"/>
              <a:tblGrid>
                <a:gridCol w="1371600"/>
                <a:gridCol w="3185160"/>
                <a:gridCol w="3185160"/>
              </a:tblGrid>
              <a:tr h="472440">
                <a:tc>
                  <a:txBody>
                    <a:bodyPr wrap="square" lIns="161925" tIns="104775" rIns="133350" bIns="104775">
                      <a:noAutofit/>
                    </a:bodyPr>
                    <a:lstStyle/>
                    <a:p>
                      <a:r>
                        <a:rPr sz="1500" b="1">
                          <a:solidFill>
                            <a:srgbClr val="FFFFFF"/>
                          </a:solidFill>
                          <a:latin typeface="Nimbus Sans"/>
                          <a:ea typeface="Nimbus Sans"/>
                          <a:cs typeface="Nimbus Sans"/>
                        </a:rPr>
                        <a:t>Workload volume</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Clear rules / low reasoning</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Ambiguity / high reasoning</a:t>
                      </a:r>
                    </a:p>
                  </a:txBody>
                  <a:tcPr marL="91440" marR="91440" marT="45720" marB="45720" anchor="ctr">
                    <a:solidFill>
                      <a:srgbClr val="126D70"/>
                    </a:solidFill>
                  </a:tcPr>
                </a:tc>
              </a:tr>
              <a:tr h="1752600">
                <a:tc>
                  <a:txBody>
                    <a:bodyPr wrap="square" lIns="161925" tIns="104775" rIns="133350" bIns="104775">
                      <a:noAutofit/>
                    </a:bodyPr>
                    <a:lstStyle/>
                    <a:p>
                      <a:r>
                        <a:rPr sz="1620" b="1">
                          <a:solidFill>
                            <a:srgbClr val="126D70"/>
                          </a:solidFill>
                          <a:latin typeface="Nimbus Sans"/>
                          <a:ea typeface="Nimbus Sans"/>
                          <a:cs typeface="Nimbus Sans"/>
                        </a:rPr>
                        <a:t>Many items</a:t>
                      </a:r>
                    </a:p>
                  </a:txBody>
                  <a:tcPr marL="91440" marR="91440" marT="45720" marB="45720" anchor="ctr">
                    <a:solidFill>
                      <a:srgbClr val="EAF2F1"/>
                    </a:solidFill>
                  </a:tcPr>
                </a:tc>
                <a:tc>
                  <a:txBody>
                    <a:bodyPr wrap="square" lIns="161925" tIns="104775" rIns="133350" bIns="104775">
                      <a:noAutofit/>
                    </a:bodyPr>
                    <a:lstStyle/>
                    <a:p>
                      <a:r>
                        <a:rPr sz="1560" b="0">
                          <a:solidFill>
                            <a:srgbClr val="202E35"/>
                          </a:solidFill>
                          <a:latin typeface="Nimbus Sans"/>
                          <a:ea typeface="Nimbus Sans"/>
                          <a:cs typeface="Nimbus Sans"/>
                        </a:rPr>
                        <a:t>500 routine email summaries</a:t>
                      </a:r>
                    </a:p>
                    <a:p>
                      <a:r>
                        <a:rPr sz="1560" b="0">
                          <a:solidFill>
                            <a:srgbClr val="202E35"/>
                          </a:solidFill>
                          <a:latin typeface="Nimbus Sans"/>
                          <a:ea typeface="Nimbus Sans"/>
                          <a:cs typeface="Nimbus Sans"/>
                        </a:rPr>
                        <a:t>10,000 rows to classify</a:t>
                      </a:r>
                    </a:p>
                    <a:p>
                      <a:r>
                        <a:rPr sz="1560" b="0">
                          <a:solidFill>
                            <a:srgbClr val="202E35"/>
                          </a:solidFill>
                          <a:latin typeface="Nimbus Sans"/>
                          <a:ea typeface="Nimbus Sans"/>
                          <a:cs typeface="Nimbus Sans"/>
                        </a:rPr>
                        <a:t/>
                      </a:r>
                    </a:p>
                    <a:p>
                      <a:r>
                        <a:rPr sz="1560" b="1">
                          <a:solidFill>
                            <a:srgbClr val="126D70"/>
                          </a:solidFill>
                          <a:latin typeface="Nimbus Sans"/>
                          <a:ea typeface="Nimbus Sans"/>
                          <a:cs typeface="Nimbus Sans"/>
                        </a:rPr>
                        <a:t>Fast model + batching</a:t>
                      </a:r>
                    </a:p>
                  </a:txBody>
                  <a:tcPr marL="91440" marR="91440" marT="45720" marB="45720" anchor="ctr">
                    <a:solidFill>
                      <a:srgbClr val="FFFFFF"/>
                    </a:solidFill>
                  </a:tcPr>
                </a:tc>
                <a:tc>
                  <a:txBody>
                    <a:bodyPr wrap="square" lIns="161925" tIns="104775" rIns="133350" bIns="104775">
                      <a:noAutofit/>
                    </a:bodyPr>
                    <a:lstStyle/>
                    <a:p>
                      <a:r>
                        <a:rPr sz="1560" b="0">
                          <a:solidFill>
                            <a:srgbClr val="202E35"/>
                          </a:solidFill>
                          <a:latin typeface="Nimbus Sans"/>
                          <a:ea typeface="Nimbus Sans"/>
                          <a:cs typeface="Nimbus Sans"/>
                        </a:rPr>
                        <a:t>50 conflicting supplier threads</a:t>
                      </a:r>
                    </a:p>
                    <a:p>
                      <a:r>
                        <a:rPr sz="1560" b="0">
                          <a:solidFill>
                            <a:srgbClr val="202E35"/>
                          </a:solidFill>
                          <a:latin typeface="Nimbus Sans"/>
                          <a:ea typeface="Nimbus Sans"/>
                          <a:cs typeface="Nimbus Sans"/>
                        </a:rPr>
                        <a:t>A linked production forecast</a:t>
                      </a:r>
                    </a:p>
                    <a:p>
                      <a:r>
                        <a:rPr sz="1560" b="0">
                          <a:solidFill>
                            <a:srgbClr val="202E35"/>
                          </a:solidFill>
                          <a:latin typeface="Nimbus Sans"/>
                          <a:ea typeface="Nimbus Sans"/>
                          <a:cs typeface="Nimbus Sans"/>
                        </a:rPr>
                        <a:t/>
                      </a:r>
                    </a:p>
                    <a:p>
                      <a:r>
                        <a:rPr sz="1560" b="1">
                          <a:solidFill>
                            <a:srgbClr val="126D70"/>
                          </a:solidFill>
                          <a:latin typeface="Nimbus Sans"/>
                          <a:ea typeface="Nimbus Sans"/>
                          <a:cs typeface="Nimbus Sans"/>
                        </a:rPr>
                        <a:t>Strong model + staged work</a:t>
                      </a:r>
                    </a:p>
                  </a:txBody>
                  <a:tcPr marL="91440" marR="91440" marT="45720" marB="45720" anchor="ctr">
                    <a:solidFill>
                      <a:srgbClr val="FFFFFF"/>
                    </a:solidFill>
                  </a:tcPr>
                </a:tc>
              </a:tr>
              <a:tr h="1752600">
                <a:tc>
                  <a:txBody>
                    <a:bodyPr wrap="square" lIns="161925" tIns="104775" rIns="133350" bIns="104775">
                      <a:noAutofit/>
                    </a:bodyPr>
                    <a:lstStyle/>
                    <a:p>
                      <a:r>
                        <a:rPr sz="1620" b="1">
                          <a:solidFill>
                            <a:srgbClr val="126D70"/>
                          </a:solidFill>
                          <a:latin typeface="Nimbus Sans"/>
                          <a:ea typeface="Nimbus Sans"/>
                          <a:cs typeface="Nimbus Sans"/>
                        </a:rPr>
                        <a:t>Few items</a:t>
                      </a:r>
                    </a:p>
                  </a:txBody>
                  <a:tcPr marL="91440" marR="91440" marT="45720" marB="45720" anchor="ctr">
                    <a:solidFill>
                      <a:srgbClr val="EAF2F1"/>
                    </a:solidFill>
                  </a:tcPr>
                </a:tc>
                <a:tc>
                  <a:txBody>
                    <a:bodyPr wrap="square" lIns="161925" tIns="104775" rIns="133350" bIns="104775">
                      <a:noAutofit/>
                    </a:bodyPr>
                    <a:lstStyle/>
                    <a:p>
                      <a:r>
                        <a:rPr sz="1560" b="0">
                          <a:solidFill>
                            <a:srgbClr val="202E35"/>
                          </a:solidFill>
                          <a:latin typeface="Nimbus Sans"/>
                          <a:ea typeface="Nimbus Sans"/>
                          <a:cs typeface="Nimbus Sans"/>
                        </a:rPr>
                        <a:t>Rewrite one email</a:t>
                      </a:r>
                    </a:p>
                    <a:p>
                      <a:r>
                        <a:rPr sz="1560" b="0">
                          <a:solidFill>
                            <a:srgbClr val="202E35"/>
                          </a:solidFill>
                          <a:latin typeface="Nimbus Sans"/>
                          <a:ea typeface="Nimbus Sans"/>
                          <a:cs typeface="Nimbus Sans"/>
                        </a:rPr>
                        <a:t>Extract a date or owner</a:t>
                      </a:r>
                    </a:p>
                    <a:p>
                      <a:r>
                        <a:rPr sz="1560" b="0">
                          <a:solidFill>
                            <a:srgbClr val="202E35"/>
                          </a:solidFill>
                          <a:latin typeface="Nimbus Sans"/>
                          <a:ea typeface="Nimbus Sans"/>
                          <a:cs typeface="Nimbus Sans"/>
                        </a:rPr>
                        <a:t/>
                      </a:r>
                    </a:p>
                    <a:p>
                      <a:r>
                        <a:rPr sz="1560" b="1">
                          <a:solidFill>
                            <a:srgbClr val="126D70"/>
                          </a:solidFill>
                          <a:latin typeface="Nimbus Sans"/>
                          <a:ea typeface="Nimbus Sans"/>
                          <a:cs typeface="Nimbus Sans"/>
                        </a:rPr>
                        <a:t>Fast model + low effort</a:t>
                      </a:r>
                    </a:p>
                  </a:txBody>
                  <a:tcPr marL="91440" marR="91440" marT="45720" marB="45720" anchor="ctr">
                    <a:solidFill>
                      <a:srgbClr val="EAF2F1"/>
                    </a:solidFill>
                  </a:tcPr>
                </a:tc>
                <a:tc>
                  <a:txBody>
                    <a:bodyPr wrap="square" lIns="161925" tIns="104775" rIns="133350" bIns="104775">
                      <a:noAutofit/>
                    </a:bodyPr>
                    <a:lstStyle/>
                    <a:p>
                      <a:r>
                        <a:rPr sz="1560" b="0">
                          <a:solidFill>
                            <a:srgbClr val="202E35"/>
                          </a:solidFill>
                          <a:latin typeface="Nimbus Sans"/>
                          <a:ea typeface="Nimbus Sans"/>
                          <a:cs typeface="Nimbus Sans"/>
                        </a:rPr>
                        <a:t>Resolve conflicting requirements</a:t>
                      </a:r>
                    </a:p>
                    <a:p>
                      <a:r>
                        <a:rPr sz="1560" b="0">
                          <a:solidFill>
                            <a:srgbClr val="202E35"/>
                          </a:solidFill>
                          <a:latin typeface="Nimbus Sans"/>
                          <a:ea typeface="Nimbus Sans"/>
                          <a:cs typeface="Nimbus Sans"/>
                        </a:rPr>
                        <a:t>Choose forecast assumptions</a:t>
                      </a:r>
                    </a:p>
                    <a:p>
                      <a:r>
                        <a:rPr sz="1560" b="0">
                          <a:solidFill>
                            <a:srgbClr val="202E35"/>
                          </a:solidFill>
                          <a:latin typeface="Nimbus Sans"/>
                          <a:ea typeface="Nimbus Sans"/>
                          <a:cs typeface="Nimbus Sans"/>
                        </a:rPr>
                        <a:t/>
                      </a:r>
                    </a:p>
                    <a:p>
                      <a:r>
                        <a:rPr sz="1560" b="1">
                          <a:solidFill>
                            <a:srgbClr val="126D70"/>
                          </a:solidFill>
                          <a:latin typeface="Nimbus Sans"/>
                          <a:ea typeface="Nimbus Sans"/>
                          <a:cs typeface="Nimbus Sans"/>
                        </a:rPr>
                        <a:t>Strong model + more reasoning</a:t>
                      </a:r>
                    </a:p>
                  </a:txBody>
                  <a:tcPr marL="91440" marR="91440" marT="45720" marB="45720" anchor="ctr">
                    <a:solidFill>
                      <a:srgbClr val="EAF2F1"/>
                    </a:solidFill>
                  </a:tcPr>
                </a:tc>
              </a:tr>
            </a:tbl>
          </a:graphicData>
        </a:graphic>
      </p:graphicFrame>
      <p:sp>
        <p:nvSpPr>
          <p:cNvPr id="4" name="capability-heading">
            <a:extLst>
              <a:ext uri="{FF2B5EF4-FFF2-40B4-BE49-F238E27FC236}">
                <a16:creationId xmlns:a16="http://schemas.microsoft.com/office/drawing/2014/main" id="{3EF1B28A-EE6B-4C88-AE8C-B74D5C8B2FE9}"/>
              </a:ext>
            </a:extLst>
          </p:cNvPr>
          <p:cNvSpPr>
            <a:spLocks noGrp="1"/>
          </p:cNvSpPr>
          <p:nvPr/>
        </p:nvSpPr>
        <p:spPr>
          <a:xfrm>
            <a:off x="8686800" y="180594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MODEL CAPABILITY</a:t>
            </a:r>
          </a:p>
        </p:txBody>
      </p:sp>
      <p:sp>
        <p:nvSpPr>
          <p:cNvPr id="5" name="capability-definition">
            <a:extLst>
              <a:ext uri="{FF2B5EF4-FFF2-40B4-BE49-F238E27FC236}">
                <a16:creationId xmlns:a16="http://schemas.microsoft.com/office/drawing/2014/main" id="{CACF656D-83B1-4C11-A423-C762C4513E87}"/>
              </a:ext>
            </a:extLst>
          </p:cNvPr>
          <p:cNvSpPr>
            <a:spLocks noGrp="1"/>
          </p:cNvSpPr>
          <p:nvPr/>
        </p:nvSpPr>
        <p:spPr>
          <a:xfrm>
            <a:off x="8686800" y="2148840"/>
            <a:ext cx="2910840" cy="624840"/>
          </a:xfrm>
          <a:prstGeom prst="rect">
            <a:avLst/>
          </a:prstGeom>
          <a:noFill/>
          <a:ln w="0">
            <a:noFill/>
          </a:ln>
        </p:spPr>
        <p:txBody>
          <a:bodyPr wrap="square" lIns="0" tIns="0" rIns="0" bIns="0" anchor="t">
            <a:noAutofit/>
          </a:bodyPr>
          <a:lstStyle/>
          <a:p>
            <a:pPr>
              <a:defRPr sz="1680" b="0">
                <a:solidFill>
                  <a:srgbClr val="202E35"/>
                </a:solidFill>
                <a:latin typeface="Nimbus Sans"/>
                <a:ea typeface="Nimbus Sans"/>
                <a:cs typeface="Nimbus Sans"/>
              </a:defRPr>
            </a:pPr>
            <a:r>
              <a:rPr sz="1680" b="0">
                <a:solidFill>
                  <a:srgbClr val="202E35"/>
                </a:solidFill>
                <a:latin typeface="Nimbus Sans"/>
                <a:ea typeface="Nimbus Sans"/>
                <a:cs typeface="Nimbus Sans"/>
              </a:rPr>
              <a:t>What kinds of problems</a:t>
            </a:r>
          </a:p>
          <a:p>
            <a:pPr>
              <a:defRPr sz="1680" b="0">
                <a:solidFill>
                  <a:srgbClr val="202E35"/>
                </a:solidFill>
                <a:latin typeface="Nimbus Sans"/>
                <a:ea typeface="Nimbus Sans"/>
                <a:cs typeface="Nimbus Sans"/>
              </a:defRPr>
            </a:pPr>
            <a:r>
              <a:rPr sz="1680" b="0">
                <a:solidFill>
                  <a:srgbClr val="202E35"/>
                </a:solidFill>
                <a:latin typeface="Nimbus Sans"/>
                <a:ea typeface="Nimbus Sans"/>
                <a:cs typeface="Nimbus Sans"/>
              </a:rPr>
              <a:t>the model can solve</a:t>
            </a:r>
          </a:p>
        </p:txBody>
      </p:sp>
      <p:sp>
        <p:nvSpPr>
          <p:cNvPr id="6" name="effort-heading">
            <a:extLst>
              <a:ext uri="{FF2B5EF4-FFF2-40B4-BE49-F238E27FC236}">
                <a16:creationId xmlns:a16="http://schemas.microsoft.com/office/drawing/2014/main" id="{84C5D65E-27C5-4B2E-868A-67F0BC2DE285}"/>
              </a:ext>
            </a:extLst>
          </p:cNvPr>
          <p:cNvSpPr>
            <a:spLocks noGrp="1"/>
          </p:cNvSpPr>
          <p:nvPr/>
        </p:nvSpPr>
        <p:spPr>
          <a:xfrm>
            <a:off x="8686800" y="297942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REASONING EFFORT</a:t>
            </a:r>
          </a:p>
        </p:txBody>
      </p:sp>
      <p:sp>
        <p:nvSpPr>
          <p:cNvPr id="7" name="effort-definition">
            <a:extLst>
              <a:ext uri="{FF2B5EF4-FFF2-40B4-BE49-F238E27FC236}">
                <a16:creationId xmlns:a16="http://schemas.microsoft.com/office/drawing/2014/main" id="{31AA29CA-3FC6-4F6B-A034-88DAEF8A83C8}"/>
              </a:ext>
            </a:extLst>
          </p:cNvPr>
          <p:cNvSpPr>
            <a:spLocks noGrp="1"/>
          </p:cNvSpPr>
          <p:nvPr/>
        </p:nvSpPr>
        <p:spPr>
          <a:xfrm>
            <a:off x="8686800" y="3322320"/>
            <a:ext cx="2910840" cy="800100"/>
          </a:xfrm>
          <a:prstGeom prst="rect">
            <a:avLst/>
          </a:prstGeom>
          <a:noFill/>
          <a:ln w="0">
            <a:noFill/>
          </a:ln>
        </p:spPr>
        <p:txBody>
          <a:bodyPr wrap="square" lIns="0" tIns="0" rIns="0" bIns="0" anchor="t">
            <a:noAutofit/>
          </a:bodyPr>
          <a:lstStyle/>
          <a:p>
            <a:pPr>
              <a:defRPr sz="1620" b="0">
                <a:solidFill>
                  <a:srgbClr val="202E35"/>
                </a:solidFill>
                <a:latin typeface="Nimbus Sans"/>
                <a:ea typeface="Nimbus Sans"/>
                <a:cs typeface="Nimbus Sans"/>
              </a:defRPr>
            </a:pPr>
            <a:r>
              <a:rPr sz="1620" b="0">
                <a:solidFill>
                  <a:srgbClr val="202E35"/>
                </a:solidFill>
                <a:latin typeface="Nimbus Sans"/>
                <a:ea typeface="Nimbus Sans"/>
                <a:cs typeface="Nimbus Sans"/>
              </a:rPr>
              <a:t>Computation spent on this task.</a:t>
            </a:r>
          </a:p>
          <a:p>
            <a:pPr>
              <a:defRPr sz="1620" b="0">
                <a:solidFill>
                  <a:srgbClr val="202E35"/>
                </a:solidFill>
                <a:latin typeface="Nimbus Sans"/>
                <a:ea typeface="Nimbus Sans"/>
                <a:cs typeface="Nimbus Sans"/>
              </a:defRPr>
            </a:pPr>
            <a:r>
              <a:rPr sz="1620" b="0">
                <a:solidFill>
                  <a:srgbClr val="202E35"/>
                </a:solidFill>
                <a:latin typeface="Nimbus Sans"/>
                <a:ea typeface="Nimbus Sans"/>
                <a:cs typeface="Nimbus Sans"/>
              </a:rPr>
              <a:t>More effort can add time and cost.</a:t>
            </a:r>
          </a:p>
        </p:txBody>
      </p:sp>
      <p:sp>
        <p:nvSpPr>
          <p:cNvPr id="8" name="processing-heading">
            <a:extLst>
              <a:ext uri="{FF2B5EF4-FFF2-40B4-BE49-F238E27FC236}">
                <a16:creationId xmlns:a16="http://schemas.microsoft.com/office/drawing/2014/main" id="{4D4C4637-339F-4C45-8674-995486F6099D}"/>
              </a:ext>
            </a:extLst>
          </p:cNvPr>
          <p:cNvSpPr>
            <a:spLocks noGrp="1"/>
          </p:cNvSpPr>
          <p:nvPr/>
        </p:nvSpPr>
        <p:spPr>
          <a:xfrm>
            <a:off x="8686800" y="4305300"/>
            <a:ext cx="2971800" cy="274320"/>
          </a:xfrm>
          <a:prstGeom prst="rect">
            <a:avLst/>
          </a:prstGeom>
          <a:noFill/>
          <a:ln w="0">
            <a:noFill/>
          </a:ln>
        </p:spPr>
        <p:txBody>
          <a:bodyPr wrap="square" lIns="0" tIns="0" rIns="0" bIns="0" anchor="t">
            <a:noAutofit/>
          </a:bodyPr>
          <a:lstStyle/>
          <a:p>
            <a:pPr>
              <a:defRPr sz="1440" b="1">
                <a:solidFill>
                  <a:srgbClr val="126D70"/>
                </a:solidFill>
                <a:latin typeface="Nimbus Sans"/>
                <a:ea typeface="Nimbus Sans"/>
                <a:cs typeface="Nimbus Sans"/>
              </a:defRPr>
            </a:pPr>
            <a:r>
              <a:rPr sz="1440" b="1">
                <a:solidFill>
                  <a:srgbClr val="126D70"/>
                </a:solidFill>
                <a:latin typeface="Nimbus Sans"/>
                <a:ea typeface="Nimbus Sans"/>
                <a:cs typeface="Nimbus Sans"/>
              </a:rPr>
              <a:t>PROCESSING CAPACITY</a:t>
            </a:r>
          </a:p>
        </p:txBody>
      </p:sp>
      <p:sp>
        <p:nvSpPr>
          <p:cNvPr id="9" name="processing-definition">
            <a:extLst>
              <a:ext uri="{FF2B5EF4-FFF2-40B4-BE49-F238E27FC236}">
                <a16:creationId xmlns:a16="http://schemas.microsoft.com/office/drawing/2014/main" id="{C4426DF8-4DC2-4596-A2D3-DB97847137DA}"/>
              </a:ext>
            </a:extLst>
          </p:cNvPr>
          <p:cNvSpPr>
            <a:spLocks noGrp="1"/>
          </p:cNvSpPr>
          <p:nvPr/>
        </p:nvSpPr>
        <p:spPr>
          <a:xfrm>
            <a:off x="8686800" y="4648200"/>
            <a:ext cx="2941320" cy="1005840"/>
          </a:xfrm>
          <a:prstGeom prst="rect">
            <a:avLst/>
          </a:prstGeom>
          <a:noFill/>
          <a:ln w="0">
            <a:noFill/>
          </a:ln>
        </p:spPr>
        <p:txBody>
          <a:bodyPr wrap="square" lIns="0" tIns="0" rIns="0" bIns="0" anchor="t">
            <a:noAutofit/>
          </a:bodyPr>
          <a:lstStyle/>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Context: information per request</a:t>
            </a:r>
          </a:p>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Throughput: work per minute</a:t>
            </a:r>
          </a:p>
          <a:p>
            <a:pPr>
              <a:defRPr sz="1560" b="0">
                <a:solidFill>
                  <a:srgbClr val="202E35"/>
                </a:solidFill>
                <a:latin typeface="Nimbus Sans"/>
                <a:ea typeface="Nimbus Sans"/>
                <a:cs typeface="Nimbus Sans"/>
              </a:defRPr>
            </a:pPr>
            <a:r>
              <a:rPr sz="1560" b="0">
                <a:solidFill>
                  <a:srgbClr val="202E35"/>
                </a:solidFill>
                <a:latin typeface="Nimbus Sans"/>
                <a:ea typeface="Nimbus Sans"/>
                <a:cs typeface="Nimbus Sans"/>
              </a:rPr>
              <a:t>Tools and batching also matter.</a:t>
            </a:r>
          </a:p>
        </p:txBody>
      </p:sp>
      <p:sp>
        <p:nvSpPr>
          <p:cNvPr id="10" name="principle">
            <a:extLst>
              <a:ext uri="{FF2B5EF4-FFF2-40B4-BE49-F238E27FC236}">
                <a16:creationId xmlns:a16="http://schemas.microsoft.com/office/drawing/2014/main" id="{E20C5799-FF3F-4FD5-B6F7-8C14D3905621}"/>
              </a:ext>
            </a:extLst>
          </p:cNvPr>
          <p:cNvSpPr>
            <a:spLocks noGrp="1"/>
          </p:cNvSpPr>
          <p:nvPr/>
        </p:nvSpPr>
        <p:spPr>
          <a:xfrm>
            <a:off x="563880" y="6035040"/>
            <a:ext cx="11064240" cy="350520"/>
          </a:xfrm>
          <a:prstGeom prst="rect">
            <a:avLst/>
          </a:prstGeom>
          <a:noFill/>
          <a:ln w="0">
            <a:noFill/>
          </a:ln>
        </p:spPr>
        <p:txBody>
          <a:bodyPr wrap="square" lIns="0" tIns="0" rIns="0" bIns="0" anchor="t">
            <a:noAutofit/>
          </a:bodyPr>
          <a:lstStyle/>
          <a:p>
            <a:pPr>
              <a:defRPr sz="1800" b="1">
                <a:solidFill>
                  <a:srgbClr val="126D70"/>
                </a:solidFill>
                <a:latin typeface="Nimbus Sans"/>
                <a:ea typeface="Nimbus Sans"/>
                <a:cs typeface="Nimbus Sans"/>
              </a:defRPr>
            </a:pPr>
            <a:r>
              <a:rPr sz="1800" b="1">
                <a:solidFill>
                  <a:srgbClr val="126D70"/>
                </a:solidFill>
                <a:latin typeface="Nimbus Sans"/>
                <a:ea typeface="Nimbus Sans"/>
                <a:cs typeface="Nimbus Sans"/>
              </a:rPr>
              <a:t>Required quality first. Then minimize total time and cost, including rework.</a:t>
            </a:r>
          </a:p>
        </p:txBody>
      </p:sp>
      <p:sp>
        <p:nvSpPr>
          <p:cNvPr id="1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More workload raises processing demand. Higher stakes call for stronger verification.</a:t>
            </a:r>
          </a:p>
        </p:txBody>
      </p:sp>
      <p:sp>
        <p:nvSpPr>
          <p:cNvPr id="1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18</a:t>
            </a:r>
          </a:p>
        </p:txBody>
      </p:sp>
      <p:sp>
        <p:nvSpPr>
          <p:cNvPr id="18" name="kicker"/>
          <p:cNvSpPr/>
          <p:nvPr/>
        </p:nvSpPr>
        <p:spPr>
          <a:xfrm>
            <a:off x="504748" y="365760"/>
            <a:ext cx="8686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r>
              <a:rPr sz="1100" b="1">
                <a:solidFill>
                  <a:srgbClr val="0E7C7B"/>
                </a:solidFill>
                <a:latin typeface="Calibri"/>
              </a:rPr>
              <a:t>PART 2 · MODELS &amp; TOOLS — MATCH THE MODEL TO THE JOB</a:t>
            </a:r>
          </a:p>
        </p:txBody>
      </p:sp>
      <p:sp>
        <p:nvSpPr>
          <p:cNvPr id="11" name="FACILITATION_MODE_BAR">
            <a:extLst>
              <a:ext uri="{FF2B5EF4-FFF2-40B4-BE49-F238E27FC236}">
                <a16:creationId xmlns:a16="http://schemas.microsoft.com/office/drawing/2014/main" id="{06D8392E-27B3-4B1C-82E1-7695EFC49F31}"/>
              </a:ext>
            </a:extLst>
          </p:cNvPr>
          <p:cNvSpPr>
            <a:spLocks noGrp="1"/>
          </p:cNvSpPr>
          <p:nvPr/>
        </p:nvSpPr>
        <p:spPr>
          <a:xfrm>
            <a:off x="0" y="0"/>
            <a:ext cx="12192000" cy="57150"/>
          </a:xfrm>
          <a:prstGeom prst="rect">
            <a:avLst/>
          </a:prstGeom>
          <a:solidFill>
            <a:srgbClr val="0E7C7B"/>
          </a:solidFill>
          <a:ln w="0">
            <a:noFill/>
          </a:ln>
        </p:spPr>
        <p:txBody>
          <a:bodyPr/>
          <a:p/>
        </p:txBody>
      </p:sp>
      <p:sp>
        <p:nvSpPr>
          <p:cNvPr id="2" name="mode">
            <a:extLst>
              <a:ext uri="{FF2B5EF4-FFF2-40B4-BE49-F238E27FC236}">
                <a16:creationId xmlns:a16="http://schemas.microsoft.com/office/drawing/2014/main" id="{68F21A4B-ED18-418F-99E4-20CCE0CF6494}"/>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title">
            <a:extLst>
              <a:ext uri="{FF2B5EF4-FFF2-40B4-BE49-F238E27FC236}">
                <a16:creationId xmlns:a16="http://schemas.microsoft.com/office/drawing/2014/main" id="{74A227F0-A246-4E4F-AE47-7B740C822F22}"/>
              </a:ext>
            </a:extLst>
          </p:cNvPr>
          <p:cNvSpPr>
            <a:spLocks noGrp="1"/>
          </p:cNvSpPr>
          <p:nvPr/>
        </p:nvSpPr>
        <p:spPr>
          <a:xfrm>
            <a:off x="504748" y="548640"/>
            <a:ext cx="11155680" cy="457200"/>
          </a:xfrm>
          <a:prstGeom prst="rect">
            <a:avLst/>
          </a:prstGeom>
          <a:noFill/>
          <a:ln w="0">
            <a:noFill/>
          </a:ln>
        </p:spPr>
        <p:txBody>
          <a:bodyPr wrap="square" lIns="0" tIns="0" rIns="0" bIns="0" anchor="t">
            <a:noAutofit/>
          </a:bodyPr>
          <a:lstStyle/>
          <a:p>
            <a:pPr algn="l">
              <a:defRPr sz="2820" b="1">
                <a:solidFill>
                  <a:srgbClr val="202E35"/>
                </a:solidFill>
                <a:latin typeface="Nimbus Sans"/>
                <a:ea typeface="Nimbus Sans"/>
                <a:cs typeface="Nimbus Sans"/>
              </a:defRPr>
            </a:pPr>
            <a:r>
              <a:rPr sz="2800" b="1">
                <a:solidFill>
                  <a:srgbClr val="232A31"/>
                </a:solidFill>
                <a:latin typeface="Cambria"/>
                <a:ea typeface="Nimbus Sans"/>
                <a:cs typeface="Nimbus Sans"/>
              </a:rPr>
              <a:t>Model tiers and task examples</a:t>
            </a:r>
          </a:p>
        </p:txBody>
      </p:sp>
      <p:sp>
        <p:nvSpPr>
          <p:cNvPr id="2" name="slide-subtitle">
            <a:extLst>
              <a:ext uri="{FF2B5EF4-FFF2-40B4-BE49-F238E27FC236}">
                <a16:creationId xmlns:a16="http://schemas.microsoft.com/office/drawing/2014/main" id="{9A64E26E-E509-4E4D-ACCD-99F8967E64FD}"/>
              </a:ext>
            </a:extLst>
          </p:cNvPr>
          <p:cNvSpPr>
            <a:spLocks noGrp="1"/>
          </p:cNvSpPr>
          <p:nvPr/>
        </p:nvSpPr>
        <p:spPr>
          <a:xfrm>
            <a:off x="504748" y="1042415"/>
            <a:ext cx="11155680" cy="310896"/>
          </a:xfrm>
          <a:prstGeom prst="rect">
            <a:avLst/>
          </a:prstGeom>
          <a:noFill/>
          <a:ln w="0">
            <a:noFill/>
          </a:ln>
        </p:spPr>
        <p:txBody>
          <a:bodyPr wrap="square" lIns="0" tIns="0" rIns="0" bIns="0" anchor="t">
            <a:noAutofit/>
          </a:bodyPr>
          <a:lstStyle/>
          <a:p>
            <a:pPr algn="l">
              <a:defRPr sz="1620" b="0">
                <a:solidFill>
                  <a:srgbClr val="52636C"/>
                </a:solidFill>
                <a:latin typeface="Nimbus Sans"/>
                <a:ea typeface="Nimbus Sans"/>
                <a:cs typeface="Nimbus Sans"/>
              </a:defRPr>
            </a:pPr>
            <a:r>
              <a:rPr sz="1250" b="0">
                <a:solidFill>
                  <a:srgbClr val="657278"/>
                </a:solidFill>
                <a:latin typeface="Calibri"/>
                <a:ea typeface="Nimbus Sans"/>
                <a:cs typeface="Nimbus Sans"/>
              </a:rPr>
              <a:t>Starting choices by vendor, from routine execution to demanding reasoning</a:t>
            </a:r>
          </a:p>
        </p:txBody>
      </p:sp>
      <p:graphicFrame>
        <p:nvGraphicFramePr>
          <p:cNvPr id="8" name=""/>
          <p:cNvGraphicFramePr/>
          <p:nvPr/>
        </p:nvGraphicFramePr>
        <p:xfrm>
          <a:off x="563880" y="1409700"/>
          <a:ext cx="11064240" cy="4541520"/>
        </p:xfrm>
        <a:graphic>
          <a:graphicData uri="http://schemas.openxmlformats.org/drawingml/2006/table">
            <a:tbl>
              <a:tblPr firstRow="0" bandRow="0"/>
              <a:tblGrid>
                <a:gridCol w="1691640"/>
                <a:gridCol w="4191000"/>
                <a:gridCol w="1463040"/>
                <a:gridCol w="1638300"/>
                <a:gridCol w="2080260"/>
              </a:tblGrid>
              <a:tr h="518160">
                <a:tc>
                  <a:txBody>
                    <a:bodyPr wrap="square" lIns="161925" tIns="104775" rIns="133350" bIns="104775">
                      <a:noAutofit/>
                    </a:bodyPr>
                    <a:lstStyle/>
                    <a:p>
                      <a:r>
                        <a:rPr sz="1500" b="1">
                          <a:solidFill>
                            <a:srgbClr val="FFFFFF"/>
                          </a:solidFill>
                          <a:latin typeface="Nimbus Sans"/>
                          <a:ea typeface="Nimbus Sans"/>
                          <a:cs typeface="Nimbus Sans"/>
                        </a:rPr>
                        <a:t>Task band</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Examples</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OpenAI</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Anthropic</a:t>
                      </a:r>
                    </a:p>
                    <a:p>
                      <a:r>
                        <a:rPr sz="1500" b="1">
                          <a:solidFill>
                            <a:srgbClr val="FFFFFF"/>
                          </a:solidFill>
                          <a:latin typeface="Nimbus Sans"/>
                          <a:ea typeface="Nimbus Sans"/>
                          <a:cs typeface="Nimbus Sans"/>
                        </a:rPr>
                        <a:t>Claude</a:t>
                      </a:r>
                    </a:p>
                  </a:txBody>
                  <a:tcPr marL="91440" marR="91440" marT="45720" marB="45720" anchor="ctr">
                    <a:solidFill>
                      <a:srgbClr val="126D70"/>
                    </a:solidFill>
                  </a:tcPr>
                </a:tc>
                <a:tc>
                  <a:txBody>
                    <a:bodyPr wrap="square" lIns="161925" tIns="104775" rIns="133350" bIns="104775">
                      <a:noAutofit/>
                    </a:bodyPr>
                    <a:lstStyle/>
                    <a:p>
                      <a:r>
                        <a:rPr sz="1500" b="1">
                          <a:solidFill>
                            <a:srgbClr val="FFFFFF"/>
                          </a:solidFill>
                          <a:latin typeface="Nimbus Sans"/>
                          <a:ea typeface="Nimbus Sans"/>
                          <a:cs typeface="Nimbus Sans"/>
                        </a:rPr>
                        <a:t>Google</a:t>
                      </a:r>
                    </a:p>
                    <a:p>
                      <a:r>
                        <a:rPr sz="1500" b="1">
                          <a:solidFill>
                            <a:srgbClr val="FFFFFF"/>
                          </a:solidFill>
                          <a:latin typeface="Nimbus Sans"/>
                          <a:ea typeface="Nimbus Sans"/>
                          <a:cs typeface="Nimbus Sans"/>
                        </a:rPr>
                        <a:t>Gemini</a:t>
                      </a:r>
                    </a:p>
                  </a:txBody>
                  <a:tcPr marL="91440" marR="91440" marT="45720" marB="45720" anchor="ctr">
                    <a:solidFill>
                      <a:srgbClr val="126D70"/>
                    </a:solidFill>
                  </a:tcPr>
                </a:tc>
              </a:tr>
              <a:tr h="1005840">
                <a:tc>
                  <a:txBody>
                    <a:bodyPr wrap="square" lIns="161925" tIns="95250" rIns="95250" bIns="95250">
                      <a:noAutofit/>
                    </a:bodyPr>
                    <a:lstStyle/>
                    <a:p>
                      <a:r>
                        <a:rPr sz="1560" b="1">
                          <a:solidFill>
                            <a:srgbClr val="126D70"/>
                          </a:solidFill>
                          <a:latin typeface="Nimbus Sans"/>
                          <a:ea typeface="Nimbus Sans"/>
                          <a:cs typeface="Nimbus Sans"/>
                        </a:rPr>
                        <a:t>1  Routine</a:t>
                      </a:r>
                    </a:p>
                    <a:p>
                      <a:r>
                        <a:rPr sz="1560" b="1">
                          <a:solidFill>
                            <a:srgbClr val="126D70"/>
                          </a:solidFill>
                          <a:latin typeface="Nimbus Sans"/>
                          <a:ea typeface="Nimbus Sans"/>
                          <a:cs typeface="Nimbus Sans"/>
                        </a:rPr>
                        <a:t>Usually fastest</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Summarize email / extract dates</a:t>
                      </a:r>
                    </a:p>
                    <a:p>
                      <a:r>
                        <a:rPr sz="1500" b="0">
                          <a:solidFill>
                            <a:srgbClr val="202E35"/>
                          </a:solidFill>
                          <a:latin typeface="Nimbus Sans"/>
                          <a:ea typeface="Nimbus Sans"/>
                          <a:cs typeface="Nimbus Sans"/>
                        </a:rPr>
                        <a:t>Translate or correct grammar</a:t>
                      </a:r>
                    </a:p>
                    <a:p>
                      <a:r>
                        <a:rPr sz="1500" b="0">
                          <a:solidFill>
                            <a:srgbClr val="202E35"/>
                          </a:solidFill>
                          <a:latin typeface="Nimbus Sans"/>
                          <a:ea typeface="Nimbus Sans"/>
                          <a:cs typeface="Nimbus Sans"/>
                        </a:rPr>
                        <a:t>Format a known spreadsheet</a:t>
                      </a:r>
                    </a:p>
                  </a:txBody>
                  <a:tcPr marL="91440" marR="91440" marT="45720" marB="45720" anchor="ctr">
                    <a:solidFill>
                      <a:srgbClr val="FFFFFF"/>
                    </a:solidFill>
                  </a:tcPr>
                </a:tc>
                <a:tc>
                  <a:txBody>
                    <a:bodyPr wrap="square" lIns="161925" tIns="95250" rIns="95250" bIns="95250">
                      <a:noAutofit/>
                    </a:bodyPr>
                    <a:lstStyle/>
                    <a:p>
                      <a:r>
                        <a:rPr sz="1740" b="1">
                          <a:solidFill>
                            <a:srgbClr val="202E35"/>
                          </a:solidFill>
                          <a:latin typeface="Nimbus Sans"/>
                          <a:ea typeface="Nimbus Sans"/>
                          <a:cs typeface="Nimbus Sans"/>
                        </a:rPr>
                        <a:t>Luna 5.6</a:t>
                      </a:r>
                    </a:p>
                  </a:txBody>
                  <a:tcPr marL="91440" marR="91440" marT="45720" marB="45720" anchor="ctr">
                    <a:solidFill>
                      <a:srgbClr val="FFFFFF"/>
                    </a:solidFill>
                  </a:tcPr>
                </a:tc>
                <a:tc>
                  <a:txBody>
                    <a:bodyPr wrap="square" lIns="161925" tIns="95250" rIns="95250" bIns="95250">
                      <a:noAutofit/>
                    </a:bodyPr>
                    <a:lstStyle/>
                    <a:p>
                      <a:r>
                        <a:rPr sz="1740" b="1">
                          <a:solidFill>
                            <a:srgbClr val="202E35"/>
                          </a:solidFill>
                          <a:latin typeface="Nimbus Sans"/>
                          <a:ea typeface="Nimbus Sans"/>
                          <a:cs typeface="Nimbus Sans"/>
                        </a:rPr>
                        <a:t>Haiku 4.5</a:t>
                      </a:r>
                    </a:p>
                  </a:txBody>
                  <a:tcPr marL="91440" marR="91440" marT="45720" marB="45720" anchor="ctr">
                    <a:solidFill>
                      <a:srgbClr val="FFFFFF"/>
                    </a:solidFill>
                  </a:tcPr>
                </a:tc>
                <a:tc>
                  <a:txBody>
                    <a:bodyPr wrap="square" lIns="161925" tIns="104775" rIns="133350" bIns="104775">
                      <a:noAutofit/>
                    </a:bodyPr>
                    <a:lstStyle/>
                    <a:p>
                      <a:r>
                        <a:rPr sz="1500" b="1">
                          <a:solidFill>
                            <a:srgbClr val="202E35"/>
                          </a:solidFill>
                          <a:latin typeface="Nimbus Sans"/>
                          <a:ea typeface="Nimbus Sans"/>
                          <a:cs typeface="Nimbus Sans"/>
                        </a:rPr>
                        <a:t>3.5 Flash-Lite</a:t>
                      </a:r>
                    </a:p>
                  </a:txBody>
                  <a:tcPr marL="91440" marR="91440" marT="45720" marB="45720" anchor="ctr">
                    <a:solidFill>
                      <a:srgbClr val="FFFFFF"/>
                    </a:solidFill>
                  </a:tcPr>
                </a:tc>
              </a:tr>
              <a:tr h="1005840">
                <a:tc>
                  <a:txBody>
                    <a:bodyPr wrap="square" lIns="161925" tIns="95250" rIns="95250" bIns="95250">
                      <a:noAutofit/>
                    </a:bodyPr>
                    <a:lstStyle/>
                    <a:p>
                      <a:r>
                        <a:rPr sz="1560" b="1">
                          <a:solidFill>
                            <a:srgbClr val="126D70"/>
                          </a:solidFill>
                          <a:latin typeface="Nimbus Sans"/>
                          <a:ea typeface="Nimbus Sans"/>
                          <a:cs typeface="Nimbus Sans"/>
                        </a:rPr>
                        <a:t>2  Structured</a:t>
                      </a:r>
                    </a:p>
                    <a:p>
                      <a:r>
                        <a:rPr sz="1560" b="1">
                          <a:solidFill>
                            <a:srgbClr val="126D70"/>
                          </a:solidFill>
                          <a:latin typeface="Nimbus Sans"/>
                          <a:ea typeface="Nimbus Sans"/>
                          <a:cs typeface="Nimbus Sans"/>
                        </a:rPr>
                        <a:t>Balanced effort</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Draft slides from an outline</a:t>
                      </a:r>
                    </a:p>
                    <a:p>
                      <a:r>
                        <a:rPr sz="1500" b="0">
                          <a:solidFill>
                            <a:srgbClr val="202E35"/>
                          </a:solidFill>
                          <a:latin typeface="Nimbus Sans"/>
                          <a:ea typeface="Nimbus Sans"/>
                          <a:cs typeface="Nimbus Sans"/>
                        </a:rPr>
                        <a:t>Compare quotes / build trackers</a:t>
                      </a:r>
                    </a:p>
                    <a:p>
                      <a:r>
                        <a:rPr sz="1500" b="0">
                          <a:solidFill>
                            <a:srgbClr val="202E35"/>
                          </a:solidFill>
                          <a:latin typeface="Nimbus Sans"/>
                          <a:ea typeface="Nimbus Sans"/>
                          <a:cs typeface="Nimbus Sans"/>
                        </a:rPr>
                        <a:t>Write a small script</a:t>
                      </a:r>
                    </a:p>
                  </a:txBody>
                  <a:tcPr marL="91440" marR="91440" marT="45720" marB="45720" anchor="ctr">
                    <a:solidFill>
                      <a:srgbClr val="EAF2F1"/>
                    </a:solidFill>
                  </a:tcPr>
                </a:tc>
                <a:tc>
                  <a:txBody>
                    <a:bodyPr wrap="square" lIns="161925" tIns="95250" rIns="95250" bIns="95250">
                      <a:noAutofit/>
                    </a:bodyPr>
                    <a:lstStyle/>
                    <a:p>
                      <a:r>
                        <a:rPr sz="1740" b="1">
                          <a:solidFill>
                            <a:srgbClr val="202E35"/>
                          </a:solidFill>
                          <a:latin typeface="Nimbus Sans"/>
                          <a:ea typeface="Nimbus Sans"/>
                          <a:cs typeface="Nimbus Sans"/>
                        </a:rPr>
                        <a:t>Terra 5.6</a:t>
                      </a:r>
                    </a:p>
                  </a:txBody>
                  <a:tcPr marL="91440" marR="91440" marT="45720" marB="45720" anchor="ctr">
                    <a:solidFill>
                      <a:srgbClr val="EAF2F1"/>
                    </a:solidFill>
                  </a:tcPr>
                </a:tc>
                <a:tc>
                  <a:txBody>
                    <a:bodyPr wrap="square" lIns="161925" tIns="95250" rIns="95250" bIns="95250">
                      <a:noAutofit/>
                    </a:bodyPr>
                    <a:lstStyle/>
                    <a:p>
                      <a:r>
                        <a:rPr sz="1740" b="1">
                          <a:solidFill>
                            <a:srgbClr val="202E35"/>
                          </a:solidFill>
                          <a:latin typeface="Nimbus Sans"/>
                          <a:ea typeface="Nimbus Sans"/>
                          <a:cs typeface="Nimbus Sans"/>
                        </a:rPr>
                        <a:t>Sonnet 5</a:t>
                      </a:r>
                    </a:p>
                  </a:txBody>
                  <a:tcPr marL="91440" marR="91440" marT="45720" marB="45720" anchor="ctr">
                    <a:solidFill>
                      <a:srgbClr val="EAF2F1"/>
                    </a:solidFill>
                  </a:tcPr>
                </a:tc>
                <a:tc>
                  <a:txBody>
                    <a:bodyPr wrap="square" lIns="161925" tIns="104775" rIns="133350" bIns="104775">
                      <a:noAutofit/>
                    </a:bodyPr>
                    <a:lstStyle/>
                    <a:p>
                      <a:r>
                        <a:rPr sz="1500" b="1">
                          <a:solidFill>
                            <a:srgbClr val="202E35"/>
                          </a:solidFill>
                          <a:latin typeface="Nimbus Sans"/>
                          <a:ea typeface="Nimbus Sans"/>
                          <a:cs typeface="Nimbus Sans"/>
                        </a:rPr>
                        <a:t>3.8 Flash</a:t>
                      </a:r>
                    </a:p>
                  </a:txBody>
                  <a:tcPr marL="91440" marR="91440" marT="45720" marB="45720" anchor="ctr">
                    <a:solidFill>
                      <a:srgbClr val="EAF2F1"/>
                    </a:solidFill>
                  </a:tcPr>
                </a:tc>
              </a:tr>
              <a:tr h="1005840">
                <a:tc>
                  <a:txBody>
                    <a:bodyPr wrap="square" lIns="161925" tIns="95250" rIns="95250" bIns="95250">
                      <a:noAutofit/>
                    </a:bodyPr>
                    <a:lstStyle/>
                    <a:p>
                      <a:r>
                        <a:rPr sz="1560" b="1">
                          <a:solidFill>
                            <a:srgbClr val="126D70"/>
                          </a:solidFill>
                          <a:latin typeface="Nimbus Sans"/>
                          <a:ea typeface="Nimbus Sans"/>
                          <a:cs typeface="Nimbus Sans"/>
                        </a:rPr>
                        <a:t>3  Analytical</a:t>
                      </a:r>
                    </a:p>
                    <a:p>
                      <a:r>
                        <a:rPr sz="1560" b="1">
                          <a:solidFill>
                            <a:srgbClr val="126D70"/>
                          </a:solidFill>
                          <a:latin typeface="Nimbus Sans"/>
                          <a:ea typeface="Nimbus Sans"/>
                          <a:cs typeface="Nimbus Sans"/>
                        </a:rPr>
                        <a:t>More reasoning</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Design linked spreadsheet models</a:t>
                      </a:r>
                    </a:p>
                    <a:p>
                      <a:r>
                        <a:rPr sz="1500" b="0">
                          <a:solidFill>
                            <a:srgbClr val="202E35"/>
                          </a:solidFill>
                          <a:latin typeface="Nimbus Sans"/>
                          <a:ea typeface="Nimbus Sans"/>
                          <a:cs typeface="Nimbus Sans"/>
                        </a:rPr>
                        <a:t>Reconcile threads / sequence slides</a:t>
                      </a:r>
                    </a:p>
                    <a:p>
                      <a:r>
                        <a:rPr sz="1500" b="0">
                          <a:solidFill>
                            <a:srgbClr val="202E35"/>
                          </a:solidFill>
                          <a:latin typeface="Nimbus Sans"/>
                          <a:ea typeface="Nimbus Sans"/>
                          <a:cs typeface="Nimbus Sans"/>
                        </a:rPr>
                        <a:t>Diagnose recurring process failures</a:t>
                      </a:r>
                    </a:p>
                  </a:txBody>
                  <a:tcPr marL="91440" marR="91440" marT="45720" marB="45720" anchor="ctr">
                    <a:solidFill>
                      <a:srgbClr val="FFFFFF"/>
                    </a:solidFill>
                  </a:tcPr>
                </a:tc>
                <a:tc>
                  <a:txBody>
                    <a:bodyPr wrap="square" lIns="161925" tIns="95250" rIns="95250" bIns="95250">
                      <a:noAutofit/>
                    </a:bodyPr>
                    <a:lstStyle/>
                    <a:p>
                      <a:r>
                        <a:rPr sz="1740" b="1">
                          <a:solidFill>
                            <a:srgbClr val="202E35"/>
                          </a:solidFill>
                          <a:latin typeface="Nimbus Sans"/>
                          <a:ea typeface="Nimbus Sans"/>
                          <a:cs typeface="Nimbus Sans"/>
                        </a:rPr>
                        <a:t>Sol 5.6</a:t>
                      </a:r>
                    </a:p>
                  </a:txBody>
                  <a:tcPr marL="91440" marR="91440" marT="45720" marB="45720" anchor="ctr">
                    <a:solidFill>
                      <a:srgbClr val="FFFFFF"/>
                    </a:solidFill>
                  </a:tcPr>
                </a:tc>
                <a:tc>
                  <a:txBody>
                    <a:bodyPr wrap="square" lIns="161925" tIns="95250" rIns="95250" bIns="95250">
                      <a:noAutofit/>
                    </a:bodyPr>
                    <a:lstStyle/>
                    <a:p>
                      <a:r>
                        <a:rPr sz="1740" b="1">
                          <a:solidFill>
                            <a:srgbClr val="202E35"/>
                          </a:solidFill>
                          <a:latin typeface="Nimbus Sans"/>
                          <a:ea typeface="Nimbus Sans"/>
                          <a:cs typeface="Nimbus Sans"/>
                        </a:rPr>
                        <a:t>Opus 5</a:t>
                      </a:r>
                    </a:p>
                  </a:txBody>
                  <a:tcPr marL="91440" marR="91440" marT="45720" marB="45720" anchor="ctr">
                    <a:solidFill>
                      <a:srgbClr val="FFFFFF"/>
                    </a:solidFill>
                  </a:tcPr>
                </a:tc>
                <a:tc>
                  <a:txBody>
                    <a:bodyPr wrap="square" lIns="161925" tIns="104775" rIns="133350" bIns="104775">
                      <a:noAutofit/>
                    </a:bodyPr>
                    <a:lstStyle/>
                    <a:p>
                      <a:r>
                        <a:rPr sz="1500" b="1">
                          <a:solidFill>
                            <a:srgbClr val="202E35"/>
                          </a:solidFill>
                          <a:latin typeface="Nimbus Sans"/>
                          <a:ea typeface="Nimbus Sans"/>
                          <a:cs typeface="Nimbus Sans"/>
                        </a:rPr>
                        <a:t>3.8 Flash</a:t>
                      </a:r>
                    </a:p>
                    <a:p>
                      <a:r>
                        <a:rPr sz="1500" b="1">
                          <a:solidFill>
                            <a:srgbClr val="202E35"/>
                          </a:solidFill>
                          <a:latin typeface="Nimbus Sans"/>
                          <a:ea typeface="Nimbus Sans"/>
                          <a:cs typeface="Nimbus Sans"/>
                        </a:rPr>
                        <a:t>3.1 Pro (preview)</a:t>
                      </a:r>
                    </a:p>
                  </a:txBody>
                  <a:tcPr marL="91440" marR="91440" marT="45720" marB="45720" anchor="ctr">
                    <a:solidFill>
                      <a:srgbClr val="FFFFFF"/>
                    </a:solidFill>
                  </a:tcPr>
                </a:tc>
              </a:tr>
              <a:tr h="1005840">
                <a:tc>
                  <a:txBody>
                    <a:bodyPr wrap="square" lIns="161925" tIns="95250" rIns="95250" bIns="95250">
                      <a:noAutofit/>
                    </a:bodyPr>
                    <a:lstStyle/>
                    <a:p>
                      <a:r>
                        <a:rPr sz="1560" b="1">
                          <a:solidFill>
                            <a:srgbClr val="126D70"/>
                          </a:solidFill>
                          <a:latin typeface="Nimbus Sans"/>
                          <a:ea typeface="Nimbus Sans"/>
                          <a:cs typeface="Nimbus Sans"/>
                        </a:rPr>
                        <a:t>4  Difficult</a:t>
                      </a:r>
                    </a:p>
                    <a:p>
                      <a:r>
                        <a:rPr sz="1560" b="1">
                          <a:solidFill>
                            <a:srgbClr val="126D70"/>
                          </a:solidFill>
                          <a:latin typeface="Nimbus Sans"/>
                          <a:ea typeface="Nimbus Sans"/>
                          <a:cs typeface="Nimbus Sans"/>
                        </a:rPr>
                        <a:t>Allow more time</a:t>
                      </a:r>
                    </a:p>
                  </a:txBody>
                  <a:tcPr marL="91440" marR="91440" marT="45720" marB="45720" anchor="ctr">
                    <a:solidFill>
                      <a:srgbClr val="EAF2F1"/>
                    </a:solidFill>
                  </a:tcPr>
                </a:tc>
                <a:tc>
                  <a:txBody>
                    <a:bodyPr wrap="square" lIns="161925" tIns="104775" rIns="133350" bIns="104775">
                      <a:noAutofit/>
                    </a:bodyPr>
                    <a:lstStyle/>
                    <a:p>
                      <a:r>
                        <a:rPr sz="1500" b="0">
                          <a:solidFill>
                            <a:srgbClr val="202E35"/>
                          </a:solidFill>
                          <a:latin typeface="Nimbus Sans"/>
                          <a:ea typeface="Nimbus Sans"/>
                          <a:cs typeface="Nimbus Sans"/>
                        </a:rPr>
                        <a:t>Stress-test assumptions / audit decisions</a:t>
                      </a:r>
                    </a:p>
                    <a:p>
                      <a:r>
                        <a:rPr sz="1500" b="0">
                          <a:solidFill>
                            <a:srgbClr val="202E35"/>
                          </a:solidFill>
                          <a:latin typeface="Nimbus Sans"/>
                          <a:ea typeface="Nimbus Sans"/>
                          <a:cs typeface="Nimbus Sans"/>
                        </a:rPr>
                        <a:t>Plan a complex system redesign</a:t>
                      </a:r>
                    </a:p>
                    <a:p>
                      <a:r>
                        <a:rPr sz="1500" b="0">
                          <a:solidFill>
                            <a:srgbClr val="202E35"/>
                          </a:solidFill>
                          <a:latin typeface="Nimbus Sans"/>
                          <a:ea typeface="Nimbus Sans"/>
                          <a:cs typeface="Nimbus Sans"/>
                        </a:rPr>
                        <a:t>Resolve weak or conflicting evidence</a:t>
                      </a:r>
                    </a:p>
                  </a:txBody>
                  <a:tcPr marL="91440" marR="91440" marT="45720" marB="45720" anchor="ctr">
                    <a:solidFill>
                      <a:srgbClr val="EAF2F1"/>
                    </a:solidFill>
                  </a:tcPr>
                </a:tc>
                <a:tc>
                  <a:txBody>
                    <a:bodyPr wrap="square" lIns="161925" tIns="95250" rIns="95250" bIns="95250">
                      <a:noAutofit/>
                    </a:bodyPr>
                    <a:lstStyle/>
                    <a:p>
                      <a:r>
                        <a:rPr sz="1740" b="1">
                          <a:solidFill>
                            <a:srgbClr val="202E35"/>
                          </a:solidFill>
                          <a:latin typeface="Nimbus Sans"/>
                          <a:ea typeface="Nimbus Sans"/>
                          <a:cs typeface="Nimbus Sans"/>
                        </a:rPr>
                        <a:t>Astra 6</a:t>
                      </a:r>
                    </a:p>
                  </a:txBody>
                  <a:tcPr marL="91440" marR="91440" marT="45720" marB="45720" anchor="ctr">
                    <a:solidFill>
                      <a:srgbClr val="EAF2F1"/>
                    </a:solidFill>
                  </a:tcPr>
                </a:tc>
                <a:tc>
                  <a:txBody>
                    <a:bodyPr wrap="square" lIns="161925" tIns="95250" rIns="95250" bIns="95250">
                      <a:noAutofit/>
                    </a:bodyPr>
                    <a:lstStyle/>
                    <a:p>
                      <a:r>
                        <a:rPr sz="1740" b="1">
                          <a:solidFill>
                            <a:srgbClr val="202E35"/>
                          </a:solidFill>
                          <a:latin typeface="Nimbus Sans"/>
                          <a:ea typeface="Nimbus Sans"/>
                          <a:cs typeface="Nimbus Sans"/>
                        </a:rPr>
                        <a:t>Fable 5.1</a:t>
                      </a:r>
                    </a:p>
                  </a:txBody>
                  <a:tcPr marL="91440" marR="91440" marT="45720" marB="45720" anchor="ctr">
                    <a:solidFill>
                      <a:srgbClr val="EAF2F1"/>
                    </a:solidFill>
                  </a:tcPr>
                </a:tc>
                <a:tc>
                  <a:txBody>
                    <a:bodyPr wrap="square" lIns="161925" tIns="104775" rIns="133350" bIns="104775">
                      <a:noAutofit/>
                    </a:bodyPr>
                    <a:lstStyle/>
                    <a:p>
                      <a:r>
                        <a:rPr sz="1500" b="1">
                          <a:solidFill>
                            <a:srgbClr val="202E35"/>
                          </a:solidFill>
                          <a:latin typeface="Nimbus Sans"/>
                          <a:ea typeface="Nimbus Sans"/>
                          <a:cs typeface="Nimbus Sans"/>
                        </a:rPr>
                        <a:t>3.8 Flash</a:t>
                      </a:r>
                    </a:p>
                    <a:p>
                      <a:r>
                        <a:rPr sz="1500" b="1">
                          <a:solidFill>
                            <a:srgbClr val="202E35"/>
                          </a:solidFill>
                          <a:latin typeface="Nimbus Sans"/>
                          <a:ea typeface="Nimbus Sans"/>
                          <a:cs typeface="Nimbus Sans"/>
                        </a:rPr>
                        <a:t>3.1 Pro (preview)</a:t>
                      </a:r>
                    </a:p>
                  </a:txBody>
                  <a:tcPr marL="91440" marR="91440" marT="45720" marB="45720" anchor="ctr">
                    <a:solidFill>
                      <a:srgbClr val="EAF2F1"/>
                    </a:solidFill>
                  </a:tcPr>
                </a:tc>
              </a:tr>
            </a:tbl>
          </a:graphicData>
        </a:graphic>
      </p:graphicFrame>
      <p:sp>
        <p:nvSpPr>
          <p:cNvPr id="4" name="escalation-rule">
            <a:extLst>
              <a:ext uri="{FF2B5EF4-FFF2-40B4-BE49-F238E27FC236}">
                <a16:creationId xmlns:a16="http://schemas.microsoft.com/office/drawing/2014/main" id="{7ABCC422-D6F2-4AC9-9E76-CDB6100D09F2}"/>
              </a:ext>
            </a:extLst>
          </p:cNvPr>
          <p:cNvSpPr>
            <a:spLocks noGrp="1"/>
          </p:cNvSpPr>
          <p:nvPr/>
        </p:nvSpPr>
        <p:spPr>
          <a:xfrm>
            <a:off x="563880" y="6156960"/>
            <a:ext cx="11049000" cy="320040"/>
          </a:xfrm>
          <a:prstGeom prst="rect">
            <a:avLst/>
          </a:prstGeom>
          <a:noFill/>
          <a:ln w="0">
            <a:noFill/>
          </a:ln>
        </p:spPr>
        <p:txBody>
          <a:bodyPr wrap="square" lIns="0" tIns="0" rIns="0" bIns="0" anchor="t">
            <a:noAutofit/>
          </a:bodyPr>
          <a:lstStyle/>
          <a:p>
            <a:pPr>
              <a:defRPr sz="1740" b="1">
                <a:solidFill>
                  <a:srgbClr val="126D70"/>
                </a:solidFill>
                <a:latin typeface="Nimbus Sans"/>
                <a:ea typeface="Nimbus Sans"/>
                <a:cs typeface="Nimbus Sans"/>
              </a:defRPr>
            </a:pPr>
            <a:r>
              <a:rPr sz="1740" b="1">
                <a:solidFill>
                  <a:srgbClr val="126D70"/>
                </a:solidFill>
                <a:latin typeface="Nimbus Sans"/>
                <a:ea typeface="Nimbus Sans"/>
                <a:cs typeface="Nimbus Sans"/>
              </a:rPr>
              <a:t>Higher ambiguity or costly errors justify more reasoning and stronger checks.</a:t>
            </a:r>
          </a:p>
        </p:txBody>
      </p:sp>
      <p:sp>
        <p:nvSpPr>
          <p:cNvPr id="9"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Use bands, not equal benchmark ranks. Google spans bands. Speed varies with effort, context and tools. 17 Sep 2026.</a:t>
            </a:r>
          </a:p>
        </p:txBody>
      </p:sp>
      <p:sp>
        <p:nvSpPr>
          <p:cNvPr id="10"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19</a:t>
            </a:r>
          </a:p>
        </p:txBody>
      </p:sp>
      <p:sp>
        <p:nvSpPr>
          <p:cNvPr id="12" name="kicker"/>
          <p:cNvSpPr/>
          <p:nvPr/>
        </p:nvSpPr>
        <p:spPr>
          <a:xfrm>
            <a:off x="504748" y="365760"/>
            <a:ext cx="8686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r>
              <a:rPr sz="1100" b="1">
                <a:solidFill>
                  <a:srgbClr val="0E7C7B"/>
                </a:solidFill>
                <a:latin typeface="Calibri"/>
              </a:rPr>
              <a:t>PART 2 · MODELS &amp; TOOLS — STARTING CHOICES BY VENDOR</a:t>
            </a:r>
          </a:p>
        </p:txBody>
      </p:sp>
      <p:sp>
        <p:nvSpPr>
          <p:cNvPr id="13" name="FACILITATION_MODE_BAR">
            <a:extLst>
              <a:ext uri="{FF2B5EF4-FFF2-40B4-BE49-F238E27FC236}">
                <a16:creationId xmlns:a16="http://schemas.microsoft.com/office/drawing/2014/main" id="{14AAB781-130C-49FD-9E57-DAC04AF8B545}"/>
              </a:ext>
            </a:extLst>
          </p:cNvPr>
          <p:cNvSpPr>
            <a:spLocks noGrp="1"/>
          </p:cNvSpPr>
          <p:nvPr/>
        </p:nvSpPr>
        <p:spPr>
          <a:xfrm>
            <a:off x="0" y="0"/>
            <a:ext cx="12192000" cy="57150"/>
          </a:xfrm>
          <a:prstGeom prst="rect">
            <a:avLst/>
          </a:prstGeom>
          <a:solidFill>
            <a:srgbClr val="0E7C7B"/>
          </a:solidFill>
          <a:ln w="0">
            <a:noFill/>
          </a:ln>
        </p:spPr>
        <p:txBody>
          <a:bodyPr/>
          <a:p/>
        </p:txBody>
      </p:sp>
      <p:sp>
        <p:nvSpPr>
          <p:cNvPr id="2" name="mode">
            <a:extLst>
              <a:ext uri="{FF2B5EF4-FFF2-40B4-BE49-F238E27FC236}">
                <a16:creationId xmlns:a16="http://schemas.microsoft.com/office/drawing/2014/main" id="{A6966CEC-43EC-42D7-B2B2-4FFCC0D957B8}"/>
              </a:ext>
            </a:extLst>
          </p:cNvPr>
          <p:cNvSpPr>
            <a:spLocks noGrp="1"/>
          </p:cNvSpPr>
          <p:nvPr/>
        </p:nvSpPr>
        <p:spPr>
          <a:xfrm>
            <a:off x="8382000" y="228600"/>
            <a:ext cx="3200400" cy="333375"/>
          </a:xfrm>
          <a:prstGeom prst="rect">
            <a:avLst/>
          </a:prstGeom>
          <a:noFill/>
          <a:ln w="0">
            <a:noFill/>
          </a:ln>
        </p:spPr>
        <p:txBody>
          <a:bodyPr anchor="t">
            <a:noAutofit/>
          </a:bodyPr>
          <a:lstStyle/>
          <a:p>
            <a:pPr>
              <a:buNone/>
              <a:defRPr sz="1350" b="1">
                <a:solidFill>
                  <a:srgbClr val="5D6B70"/>
                </a:solidFill>
                <a:latin typeface="Calibri"/>
                <a:ea typeface="Calibri"/>
                <a:cs typeface="Calibri"/>
              </a:defRPr>
            </a:pPr>
            <a:r>
              <a:rPr sz="1350" b="1">
                <a:solidFill>
                  <a:srgbClr val="0A6261"/>
                </a:solidFill>
                <a:latin typeface="Calibri"/>
                <a:ea typeface="Calibri"/>
                <a:cs typeface="Calibri"/>
              </a:rPr>
              <a:t>REFERENCE   0:30</a:t>
            </a:r>
          </a:p>
        </p:txBody>
      </p:sp>
    </p:spTree>
  </p:cSld>
  <p:clrMapOvr>
    <a:masterClrMapping/>
  </p:clrMapOvr>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txBody xmlns:a="http://schemas.openxmlformats.org/drawingml/2006/main">
          <a:bodyPr/>
          <a:p/>
        </p:txBody>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txBody xmlns:a="http://schemas.openxmlformats.org/drawingml/2006/main">
          <a:bodyPr/>
          <a:p/>
        </p:txBody>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txBody xmlns:a="http://schemas.openxmlformats.org/drawingml/2006/main">
          <a:bodyPr/>
          <a:p/>
        </p:txBody>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txBody xmlns:a="http://schemas.openxmlformats.org/drawingml/2006/main">
          <a:bodyPr/>
          <a:p/>
        </p:txBody>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txBody xmlns:a="http://schemas.openxmlformats.org/drawingml/2006/main">
          <a:bodyPr/>
          <a:p/>
        </p:txBody>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8000"/>
              </a:lnSpc>
              <a:buNone/>
            </a:pPr>
            <a:r>
              <a:rPr sz="950" b="1">
                <a:solidFill>
                  <a:srgbClr val="0A5B5A"/>
                </a:solidFill>
                <a:latin typeface="Calibri"/>
              </a:rPr>
              <a:t>TYPE THIS → </a:t>
            </a:r>
            <a:r>
              <a:rPr sz="900" b="0">
                <a:solidFill>
                  <a:srgbClr val="232A31"/>
                </a:solidFill>
                <a:latin typeface="Calibri"/>
              </a:rPr>
              <a:t>“Explain Mixture of Experts using a specialist-hospital analogy, in about 120 words. Describe how selected computational components handle each token and how activating only a subset can reduce computation. Explain one way the hospital analogy can mislead, and why lower computation alone does not determine customer prices.”</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20</a:t>
            </a:r>
          </a:p>
        </p:txBody>
      </p:sp>
      <p:sp xmlns:a="http://schemas.openxmlformats.org/drawingml/2006/main">
        <p:nvSpPr>
          <p:cNvPr id="111" name="term-badge"/>
          <p:cNvSpPr/>
          <p:nvPr/>
        </p:nvSpPr>
        <p:spPr>
          <a:xfrm>
            <a:off x="9418320" y="502920"/>
            <a:ext cx="224028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400" b="1">
                <a:solidFill>
                  <a:srgbClr val="0E7C7B"/>
                </a:solidFill>
                <a:latin typeface="Calibri"/>
              </a:rPr>
              <a:t>MoE</a:t>
            </a:r>
          </a:p>
          <a:p>
            <a:pPr algn="r"/>
            <a:r>
              <a:rPr sz="900" b="0" i="1">
                <a:solidFill>
                  <a:srgbClr val="657278"/>
                </a:solidFill>
                <a:latin typeface="Calibri"/>
              </a:rPr>
              <a:t>Mixture of Experts</a:t>
            </a:r>
          </a:p>
        </p:txBody>
      </p:sp>
    </p:spTree>
    <p:extLst>
      <p:ext uri="{BB962C8B-B14F-4D97-AF65-F5344CB8AC3E}">
        <p14:creationId xmlns:p14="http://schemas.microsoft.com/office/powerpoint/2010/main" val="1400800326"/>
      </p:ext>
    </p:extLst>
  </p:cSld>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ACILITATION_MODE_BAR"/>
          <p:cNvSpPr/>
          <p:nvPr/>
        </p:nvSpPr>
        <p:spPr>
          <a:xfrm>
            <a:off x="0" y="0"/>
            <a:ext cx="12191695" cy="38404"/>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ACILITATION_MODE_LABEL"/>
          <p:cNvSpPr/>
          <p:nvPr/>
        </p:nvSpPr>
        <p:spPr>
          <a:xfrm>
            <a:off x="9525304" y="161848"/>
            <a:ext cx="2333548" cy="2852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 rIns="18288" tIns="9144" bIns="9144">
            <a:noAutofit/>
          </a:bodyPr>
          <a:lstStyle/>
          <a:p>
            <a:pPr algn="r"/>
            <a:r>
              <a:rPr sz="1200" b="1" i="0">
                <a:solidFill>
                  <a:srgbClr val="0A6261"/>
                </a:solidFill>
                <a:latin typeface="Calibri"/>
              </a:rPr>
              <a:t>TEACH  0:50</a:t>
            </a:r>
          </a:p>
        </p:txBody>
      </p:sp>
      <p:sp>
        <p:nvSpPr>
          <p:cNvPr id="4" name="kicker"/>
          <p:cNvSpPr/>
          <p:nvPr/>
        </p:nvSpPr>
        <p:spPr>
          <a:xfrm>
            <a:off x="502920" y="274320"/>
            <a:ext cx="111556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300" b="1" i="0">
                <a:solidFill>
                  <a:srgbClr val="0E7C7B"/>
                </a:solidFill>
                <a:latin typeface="Calibri"/>
              </a:rPr>
              <a:t>WHEN THE RUN GOES WRONG</a:t>
            </a:r>
          </a:p>
        </p:txBody>
      </p:sp>
      <p:sp>
        <p:nvSpPr>
          <p:cNvPr id="5" name="title"/>
          <p:cNvSpPr/>
          <p:nvPr/>
        </p:nvSpPr>
        <p:spPr>
          <a:xfrm>
            <a:off x="502920" y="530352"/>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3000" b="1" i="0">
                <a:solidFill>
                  <a:srgbClr val="232A31"/>
                </a:solidFill>
                <a:latin typeface="Cambria"/>
              </a:rPr>
              <a:t>Four context failures — name it, then cure it</a:t>
            </a:r>
          </a:p>
        </p:txBody>
      </p:sp>
      <p:sp>
        <p:nvSpPr>
          <p:cNvPr id="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050" b="0" i="0">
                <a:solidFill>
                  <a:srgbClr val="526267"/>
                </a:solidFill>
                <a:latin typeface="Calibri"/>
              </a:rPr>
              <a:t>From Prompts to Agents</a:t>
            </a:r>
          </a:p>
        </p:txBody>
      </p:sp>
      <p:sp>
        <p:nvSpPr>
          <p:cNvPr id="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r"/>
            <a:r>
              <a:rPr sz="1050" b="0" i="0">
                <a:solidFill>
                  <a:srgbClr val="657278"/>
                </a:solidFill>
                <a:latin typeface="Calibri"/>
              </a:rPr>
              <a:t>21</a:t>
            </a:r>
          </a:p>
        </p:txBody>
      </p:sp>
      <p:sp>
        <p:nvSpPr>
          <p:cNvPr id="8" name="cf-card-0"/>
          <p:cNvSpPr/>
          <p:nvPr/>
        </p:nvSpPr>
        <p:spPr>
          <a:xfrm>
            <a:off x="502920" y="148132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f-label-0"/>
          <p:cNvSpPr/>
          <p:nvPr/>
        </p:nvSpPr>
        <p:spPr>
          <a:xfrm>
            <a:off x="630936" y="157276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0E7C7B"/>
                </a:solidFill>
                <a:latin typeface="Calibri"/>
              </a:rPr>
              <a:t>POISONING</a:t>
            </a:r>
          </a:p>
        </p:txBody>
      </p:sp>
      <p:sp>
        <p:nvSpPr>
          <p:cNvPr id="10" name="cf-body-0"/>
          <p:cNvSpPr/>
          <p:nvPr/>
        </p:nvSpPr>
        <p:spPr>
          <a:xfrm>
            <a:off x="2194560" y="155448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18288" bIns="18288">
            <a:noAutofit/>
          </a:bodyPr>
          <a:lstStyle/>
          <a:p>
            <a:pPr algn="l"/>
            <a:r>
              <a:rPr sz="1250" b="0" i="0">
                <a:solidFill>
                  <a:srgbClr val="3D4B50"/>
                </a:solidFill>
                <a:latin typeface="Calibri"/>
              </a:rPr>
              <a:t>One bad “fact” entered the log early — every later step politely builds on it.</a:t>
            </a:r>
          </a:p>
          <a:p>
            <a:pPr algn="l"/>
            <a:r>
              <a:rPr sz="1250" b="1" i="0">
                <a:solidFill>
                  <a:srgbClr val="875012"/>
                </a:solidFill>
                <a:latin typeface="Calibri"/>
              </a:rPr>
              <a:t>Cure: </a:t>
            </a:r>
            <a:r>
              <a:rPr sz="1250" b="0" i="0">
                <a:solidFill>
                  <a:srgbClr val="3D4B50"/>
                </a:solidFill>
                <a:latin typeface="Calibri"/>
              </a:rPr>
              <a:t>fresh session; re-load only what you trust — the standing brief + verified files.</a:t>
            </a:r>
          </a:p>
        </p:txBody>
      </p:sp>
      <p:sp>
        <p:nvSpPr>
          <p:cNvPr id="11" name="cf-card-1"/>
          <p:cNvSpPr/>
          <p:nvPr/>
        </p:nvSpPr>
        <p:spPr>
          <a:xfrm>
            <a:off x="502920" y="267004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f-label-1"/>
          <p:cNvSpPr/>
          <p:nvPr/>
        </p:nvSpPr>
        <p:spPr>
          <a:xfrm>
            <a:off x="630936" y="276148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0E7C7B"/>
                </a:solidFill>
                <a:latin typeface="Calibri"/>
              </a:rPr>
              <a:t>DRIFT</a:t>
            </a:r>
          </a:p>
        </p:txBody>
      </p:sp>
      <p:sp>
        <p:nvSpPr>
          <p:cNvPr id="13" name="cf-body-1"/>
          <p:cNvSpPr/>
          <p:nvPr/>
        </p:nvSpPr>
        <p:spPr>
          <a:xfrm>
            <a:off x="2194560" y="274320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18288" bIns="18288">
            <a:noAutofit/>
          </a:bodyPr>
          <a:lstStyle/>
          <a:p>
            <a:pPr algn="l"/>
            <a:r>
              <a:rPr sz="1250" b="0" i="0">
                <a:solidFill>
                  <a:srgbClr val="3D4B50"/>
                </a:solidFill>
                <a:latin typeface="Calibri"/>
              </a:rPr>
              <a:t>A long run wanders off the goal; the middle of a huge context gets skimmed.</a:t>
            </a:r>
          </a:p>
          <a:p>
            <a:pPr algn="l"/>
            <a:r>
              <a:rPr sz="1250" b="1" i="0">
                <a:solidFill>
                  <a:srgbClr val="875012"/>
                </a:solidFill>
                <a:latin typeface="Calibri"/>
              </a:rPr>
              <a:t>Cure: </a:t>
            </a:r>
            <a:r>
              <a:rPr sz="1250" b="0" i="0">
                <a:solidFill>
                  <a:srgbClr val="3D4B50"/>
                </a:solidFill>
                <a:latin typeface="Calibri"/>
              </a:rPr>
              <a:t>re-inject the mission; compact (the HANDOFF move); stop conditions in the brief.</a:t>
            </a:r>
          </a:p>
        </p:txBody>
      </p:sp>
      <p:sp>
        <p:nvSpPr>
          <p:cNvPr id="14" name="cf-card-2"/>
          <p:cNvSpPr/>
          <p:nvPr/>
        </p:nvSpPr>
        <p:spPr>
          <a:xfrm>
            <a:off x="502920" y="385876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f-label-2"/>
          <p:cNvSpPr/>
          <p:nvPr/>
        </p:nvSpPr>
        <p:spPr>
          <a:xfrm>
            <a:off x="630936" y="395020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0E7C7B"/>
                </a:solidFill>
                <a:latin typeface="Calibri"/>
              </a:rPr>
              <a:t>CONFUSION</a:t>
            </a:r>
          </a:p>
        </p:txBody>
      </p:sp>
      <p:sp>
        <p:nvSpPr>
          <p:cNvPr id="16" name="cf-body-2"/>
          <p:cNvSpPr/>
          <p:nvPr/>
        </p:nvSpPr>
        <p:spPr>
          <a:xfrm>
            <a:off x="2194560" y="393192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18288" bIns="18288">
            <a:noAutofit/>
          </a:bodyPr>
          <a:lstStyle/>
          <a:p>
            <a:pPr algn="l"/>
            <a:r>
              <a:rPr sz="1250" b="0" i="0">
                <a:solidFill>
                  <a:srgbClr val="3D4B50"/>
                </a:solidFill>
                <a:latin typeface="Calibri"/>
              </a:rPr>
              <a:t>Too many tools on the desk — it picks the wrong one, or dithers between them.</a:t>
            </a:r>
          </a:p>
          <a:p>
            <a:pPr algn="l"/>
            <a:r>
              <a:rPr sz="1250" b="1" i="0">
                <a:solidFill>
                  <a:srgbClr val="875012"/>
                </a:solidFill>
                <a:latin typeface="Calibri"/>
              </a:rPr>
              <a:t>Cure: </a:t>
            </a:r>
            <a:r>
              <a:rPr sz="1250" b="0" i="0">
                <a:solidFill>
                  <a:srgbClr val="3D4B50"/>
                </a:solidFill>
                <a:latin typeface="Calibri"/>
              </a:rPr>
              <a:t>fewer tools per phase; the &lt;plan&gt; names the methods allowed.</a:t>
            </a:r>
          </a:p>
        </p:txBody>
      </p:sp>
      <p:sp>
        <p:nvSpPr>
          <p:cNvPr id="17" name="cf-card-3"/>
          <p:cNvSpPr/>
          <p:nvPr/>
        </p:nvSpPr>
        <p:spPr>
          <a:xfrm>
            <a:off x="502920" y="5047488"/>
            <a:ext cx="6446520" cy="1078992"/>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f-label-3"/>
          <p:cNvSpPr/>
          <p:nvPr/>
        </p:nvSpPr>
        <p:spPr>
          <a:xfrm>
            <a:off x="630936" y="5138928"/>
            <a:ext cx="1508760" cy="8961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0E7C7B"/>
                </a:solidFill>
                <a:latin typeface="Calibri"/>
              </a:rPr>
              <a:t>CLASH</a:t>
            </a:r>
          </a:p>
        </p:txBody>
      </p:sp>
      <p:sp>
        <p:nvSpPr>
          <p:cNvPr id="19" name="cf-body-3"/>
          <p:cNvSpPr/>
          <p:nvPr/>
        </p:nvSpPr>
        <p:spPr>
          <a:xfrm>
            <a:off x="2194560" y="5120640"/>
            <a:ext cx="4663440" cy="9509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18288" bIns="18288">
            <a:noAutofit/>
          </a:bodyPr>
          <a:lstStyle/>
          <a:p>
            <a:pPr algn="l"/>
            <a:r>
              <a:rPr sz="1250" b="0" i="0">
                <a:solidFill>
                  <a:srgbClr val="3D4B50"/>
                </a:solidFill>
                <a:latin typeface="Calibri"/>
              </a:rPr>
              <a:t>Two sources disagree and the run silently picks one of them.</a:t>
            </a:r>
          </a:p>
          <a:p>
            <a:pPr algn="l"/>
            <a:r>
              <a:rPr sz="1250" b="1" i="0">
                <a:solidFill>
                  <a:srgbClr val="875012"/>
                </a:solidFill>
                <a:latin typeface="Calibri"/>
              </a:rPr>
              <a:t>Cure: </a:t>
            </a:r>
            <a:r>
              <a:rPr sz="1250" b="0" i="0">
                <a:solidFill>
                  <a:srgbClr val="3D4B50"/>
                </a:solidFill>
                <a:latin typeface="Calibri"/>
              </a:rPr>
              <a:t>one source of truth per fact, named in &lt;inputs&gt;; an explicit override order.</a:t>
            </a:r>
          </a:p>
        </p:txBody>
      </p:sp>
      <p:sp>
        <p:nvSpPr>
          <p:cNvPr id="20" name="cf-panel"/>
          <p:cNvSpPr/>
          <p:nvPr/>
        </p:nvSpPr>
        <p:spPr>
          <a:xfrm>
            <a:off x="7132320" y="1481328"/>
            <a:ext cx="4526280" cy="4901184"/>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f-panel-head"/>
          <p:cNvSpPr/>
          <p:nvPr/>
        </p:nvSpPr>
        <p:spPr>
          <a:xfrm>
            <a:off x="7278624" y="1609344"/>
            <a:ext cx="42062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500" b="1" i="0">
                <a:solidFill>
                  <a:srgbClr val="232A31"/>
                </a:solidFill>
                <a:latin typeface="Calibri"/>
              </a:rPr>
              <a:t>“Why did it ignore me?”</a:t>
            </a:r>
          </a:p>
        </p:txBody>
      </p:sp>
      <p:sp>
        <p:nvSpPr>
          <p:cNvPr id="22" name="cf-layer-0"/>
          <p:cNvSpPr/>
          <p:nvPr/>
        </p:nvSpPr>
        <p:spPr>
          <a:xfrm>
            <a:off x="7278624" y="2029968"/>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f-layer-t-0"/>
          <p:cNvSpPr/>
          <p:nvPr/>
        </p:nvSpPr>
        <p:spPr>
          <a:xfrm>
            <a:off x="7351775" y="2066544"/>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9144" bIns="9144">
            <a:noAutofit/>
          </a:bodyPr>
          <a:lstStyle/>
          <a:p>
            <a:pPr algn="l"/>
            <a:r>
              <a:rPr sz="1150" b="1" i="0">
                <a:solidFill>
                  <a:srgbClr val="232A31"/>
                </a:solidFill>
                <a:latin typeface="Calibri"/>
              </a:rPr>
              <a:t>SYSTEM PROMPT  </a:t>
            </a:r>
            <a:r>
              <a:rPr sz="1150" b="0" i="0">
                <a:solidFill>
                  <a:srgbClr val="3D4B50"/>
                </a:solidFill>
                <a:latin typeface="Calibri"/>
              </a:rPr>
              <a:t>the vendor’s standing orders</a:t>
            </a:r>
          </a:p>
        </p:txBody>
      </p:sp>
      <p:sp>
        <p:nvSpPr>
          <p:cNvPr id="24" name="cf-layer-1"/>
          <p:cNvSpPr/>
          <p:nvPr/>
        </p:nvSpPr>
        <p:spPr>
          <a:xfrm>
            <a:off x="7278624" y="2505456"/>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f-layer-t-1"/>
          <p:cNvSpPr/>
          <p:nvPr/>
        </p:nvSpPr>
        <p:spPr>
          <a:xfrm>
            <a:off x="7351775" y="2542032"/>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9144" bIns="9144">
            <a:noAutofit/>
          </a:bodyPr>
          <a:lstStyle/>
          <a:p>
            <a:pPr algn="l"/>
            <a:r>
              <a:rPr sz="1150" b="1" i="0">
                <a:solidFill>
                  <a:srgbClr val="232A31"/>
                </a:solidFill>
                <a:latin typeface="Calibri"/>
              </a:rPr>
              <a:t>PROJECT FILE  </a:t>
            </a:r>
            <a:r>
              <a:rPr sz="1150" b="0" i="0">
                <a:solidFill>
                  <a:srgbClr val="3D4B50"/>
                </a:solidFill>
                <a:latin typeface="Calibri"/>
              </a:rPr>
              <a:t>CLAUDE.md / AGENTS.md</a:t>
            </a:r>
          </a:p>
        </p:txBody>
      </p:sp>
      <p:sp>
        <p:nvSpPr>
          <p:cNvPr id="26" name="cf-layer-2"/>
          <p:cNvSpPr/>
          <p:nvPr/>
        </p:nvSpPr>
        <p:spPr>
          <a:xfrm>
            <a:off x="7278624" y="2980944"/>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f-layer-t-2"/>
          <p:cNvSpPr/>
          <p:nvPr/>
        </p:nvSpPr>
        <p:spPr>
          <a:xfrm>
            <a:off x="7351775" y="3017520"/>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9144" bIns="9144">
            <a:noAutofit/>
          </a:bodyPr>
          <a:lstStyle/>
          <a:p>
            <a:pPr algn="l"/>
            <a:r>
              <a:rPr sz="1150" b="1" i="0">
                <a:solidFill>
                  <a:srgbClr val="232A31"/>
                </a:solidFill>
                <a:latin typeface="Calibri"/>
              </a:rPr>
              <a:t>SKILL  </a:t>
            </a:r>
            <a:r>
              <a:rPr sz="1150" b="0" i="0">
                <a:solidFill>
                  <a:srgbClr val="3D4B50"/>
                </a:solidFill>
                <a:latin typeface="Calibri"/>
              </a:rPr>
              <a:t>loads when the task matches</a:t>
            </a:r>
          </a:p>
        </p:txBody>
      </p:sp>
      <p:sp>
        <p:nvSpPr>
          <p:cNvPr id="28" name="cf-layer-3"/>
          <p:cNvSpPr/>
          <p:nvPr/>
        </p:nvSpPr>
        <p:spPr>
          <a:xfrm>
            <a:off x="7278624" y="3456432"/>
            <a:ext cx="4224528" cy="38404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f-layer-t-3"/>
          <p:cNvSpPr/>
          <p:nvPr/>
        </p:nvSpPr>
        <p:spPr>
          <a:xfrm>
            <a:off x="7351775" y="3493008"/>
            <a:ext cx="4096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9144" bIns="9144">
            <a:noAutofit/>
          </a:bodyPr>
          <a:lstStyle/>
          <a:p>
            <a:pPr algn="l"/>
            <a:r>
              <a:rPr sz="1150" b="1" i="0">
                <a:solidFill>
                  <a:srgbClr val="232A31"/>
                </a:solidFill>
                <a:latin typeface="Calibri"/>
              </a:rPr>
              <a:t>YOUR MESSAGE  </a:t>
            </a:r>
            <a:r>
              <a:rPr sz="1150" b="0" i="0">
                <a:solidFill>
                  <a:srgbClr val="3D4B50"/>
                </a:solidFill>
                <a:latin typeface="Calibri"/>
              </a:rPr>
              <a:t>today’s ask — easiest to lose</a:t>
            </a:r>
          </a:p>
        </p:txBody>
      </p:sp>
      <p:sp>
        <p:nvSpPr>
          <p:cNvPr id="30" name="cf-expl"/>
          <p:cNvSpPr/>
          <p:nvPr/>
        </p:nvSpPr>
        <p:spPr>
          <a:xfrm>
            <a:off x="7278624" y="4041648"/>
            <a:ext cx="4224528"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200" b="0" i="0">
                <a:solidFill>
                  <a:srgbClr val="3D4B50"/>
                </a:solidFill>
                <a:latin typeface="Calibri"/>
              </a:rPr>
              <a:t>Instructions stack in layers; conflicts resolve by precedence — the layer you typed is the easiest to lose. Find which layer said what before you blame the model. One-job rules belong in a SKILL, not another standing paragraph.</a:t>
            </a:r>
          </a:p>
        </p:txBody>
      </p:sp>
      <p:sp>
        <p:nvSpPr>
          <p:cNvPr id="31" name="cf-note"/>
          <p:cNvSpPr/>
          <p:nvPr/>
        </p:nvSpPr>
        <p:spPr>
          <a:xfrm>
            <a:off x="7278624" y="5577840"/>
            <a:ext cx="4224528"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noAutofit/>
          </a:bodyPr>
          <a:lstStyle/>
          <a:p>
            <a:pPr algn="l"/>
            <a:r>
              <a:rPr sz="1150" b="0" i="1">
                <a:solidFill>
                  <a:srgbClr val="657278"/>
                </a:solidFill>
                <a:latin typeface="Calibri"/>
              </a:rPr>
              <a:t>Tool descriptions are prompts too — the agent reads them like a junior reads an API doc.</a:t>
            </a:r>
          </a:p>
        </p:txBody>
      </p:sp>
      <p:sp>
        <p:nvSpPr>
          <p:cNvPr id="32" name="cf-foot"/>
          <p:cNvSpPr/>
          <p:nvPr/>
        </p:nvSpPr>
        <p:spPr>
          <a:xfrm>
            <a:off x="502920" y="6272784"/>
            <a:ext cx="640080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noAutofit/>
          </a:bodyPr>
          <a:lstStyle/>
          <a:p>
            <a:pPr algn="l"/>
            <a:r>
              <a:rPr sz="1200" b="0" i="1">
                <a:solidFill>
                  <a:srgbClr val="657278"/>
                </a:solidFill>
                <a:latin typeface="Calibri"/>
              </a:rPr>
              <a:t>The requirements grid diagnosed the PROMPT; this grid diagnoses the RUN.</a:t>
            </a:r>
          </a:p>
        </p:txBody>
      </p:sp>
    </p:spTree>
  </p:cSld>
  <p:clrMapOvr>
    <a:masterClrMapping/>
  </p:clrMapOvr>
</p:sld>
</file>

<file path=ppt/slides/slide22.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22</a:t>
            </a:r>
          </a:p>
        </p:txBody>
      </p:sp>
    </p:spTree>
    <p:extLst>
      <p:ext uri="{BB962C8B-B14F-4D97-AF65-F5344CB8AC3E}">
        <p14:creationId xmlns:p14="http://schemas.microsoft.com/office/powerpoint/2010/main" val="146884725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4"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 xmlns:a="http://schemas.openxmlformats.org/drawingml/2006/main">
        <p:nvSpPr>
          <p:cNvPr id="15"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YOU ALREADY DO THIS AT WORK</a:t>
            </a:r>
          </a:p>
        </p:txBody>
      </p:sp>
      <p:sp xmlns:a="http://schemas.openxmlformats.org/drawingml/2006/main">
        <p:nvSpPr>
          <p:cNvPr id="16"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6920522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5"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92</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 xmlns:a="http://schemas.openxmlformats.org/drawingml/2006/main">
        <p:nvSpPr>
          <p:cNvPr id="16"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TESTABLE BEATS VAGUE</a:t>
            </a:r>
          </a:p>
        </p:txBody>
      </p:sp>
      <p:sp xmlns:a="http://schemas.openxmlformats.org/drawingml/2006/main">
        <p:nvSpPr>
          <p:cNvPr id="17" name="takeaway-accent"/>
          <p:cNvSpPr/>
          <p:nvPr/>
        </p:nvSpPr>
        <p:spPr>
          <a:xfrm>
            <a:off x="457200" y="6246113"/>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816882031"/>
      </p:ext>
    </p:extLst>
  </p:cSld>
</p:sld>
</file>

<file path=ppt/slides/slide25.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9" name="pilot-spec-panel"/>
          <p:cNvSpPr/>
          <p:nvPr/>
        </p:nvSpPr>
        <p:spPr>
          <a:xfrm>
            <a:off x="2377440" y="1847088"/>
            <a:ext cx="9208008" cy="3511295"/>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 xmlns:a="http://schemas.openxmlformats.org/drawingml/2006/main">
        <p:nvSpPr>
          <p:cNvPr id="10" name="pilot-group-0"/>
          <p:cNvSpPr/>
          <p:nvPr/>
        </p:nvSpPr>
        <p:spPr>
          <a:xfrm>
            <a:off x="2514600" y="1938528"/>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highlight>
                  <a:srgbClr val="EAF3F2"/>
                </a:highlight>
                <a:latin typeface="Calibri"/>
              </a:rPr>
              <a:t>For a manager choosing supplier follow-up</a:t>
            </a:r>
            <a:r>
              <a:rPr sz="2400" b="0">
                <a:solidFill>
                  <a:srgbClr val="232A31"/>
                </a:solidFill>
                <a:latin typeface="Calibri"/>
              </a:rPr>
              <a:t>, calculate return rate from the </a:t>
            </a:r>
            <a:r>
              <a:rPr sz="2400" b="0">
                <a:solidFill>
                  <a:srgbClr val="232A31"/>
                </a:solidFill>
                <a:highlight>
                  <a:srgbClr val="EAF3F2"/>
                </a:highlight>
                <a:latin typeface="Calibri"/>
              </a:rPr>
              <a:t>supplied workbook</a:t>
            </a:r>
            <a:r>
              <a:rPr sz="2400" b="0">
                <a:solidFill>
                  <a:srgbClr val="232A31"/>
                </a:solidFill>
                <a:latin typeface="Calibri"/>
              </a:rPr>
              <a:t>.</a:t>
            </a:r>
          </a:p>
        </p:txBody>
      </p:sp>
      <p:sp xmlns:a="http://schemas.openxmlformats.org/drawingml/2006/main">
        <p:nvSpPr>
          <p:cNvPr id="11" name="pilot-bracket-0"/>
          <p:cNvSpPr/>
          <p:nvPr/>
        </p:nvSpPr>
        <p:spPr>
          <a:xfrm>
            <a:off x="2340864" y="1975104"/>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 name="pilot-label-0"/>
          <p:cNvSpPr/>
          <p:nvPr/>
        </p:nvSpPr>
        <p:spPr>
          <a:xfrm>
            <a:off x="548640" y="1938528"/>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Audience + source</a:t>
            </a:r>
          </a:p>
        </p:txBody>
      </p:sp>
      <p:sp xmlns:a="http://schemas.openxmlformats.org/drawingml/2006/main">
        <p:nvSpPr>
          <p:cNvPr id="13" name="pilot-group-1"/>
          <p:cNvSpPr/>
          <p:nvPr/>
        </p:nvSpPr>
        <p:spPr>
          <a:xfrm>
            <a:off x="2514600" y="2971800"/>
            <a:ext cx="9070848" cy="8778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Use </a:t>
            </a:r>
            <a:r>
              <a:rPr sz="2400" b="0">
                <a:solidFill>
                  <a:srgbClr val="232A31"/>
                </a:solidFill>
                <a:highlight>
                  <a:srgbClr val="EAF3F2"/>
                </a:highlight>
                <a:latin typeface="Calibri"/>
              </a:rPr>
              <a:t>total returns ÷ total units shipped</a:t>
            </a:r>
            <a:r>
              <a:rPr sz="2400" b="0">
                <a:solidFill>
                  <a:srgbClr val="232A31"/>
                </a:solidFill>
                <a:latin typeface="Calibri"/>
              </a:rPr>
              <a:t>. </a:t>
            </a:r>
            <a:r>
              <a:rPr sz="2400" b="0">
                <a:solidFill>
                  <a:srgbClr val="232A31"/>
                </a:solidFill>
                <a:highlight>
                  <a:srgbClr val="EAF3F2"/>
                </a:highlight>
                <a:latin typeface="Calibri"/>
              </a:rPr>
              <a:t>Exclude the existing TOTAL row</a:t>
            </a:r>
            <a:r>
              <a:rPr sz="2400" b="0">
                <a:solidFill>
                  <a:srgbClr val="232A31"/>
                </a:solidFill>
                <a:latin typeface="Calibri"/>
              </a:rPr>
              <a:t>.</a:t>
            </a:r>
          </a:p>
        </p:txBody>
      </p:sp>
      <p:sp xmlns:a="http://schemas.openxmlformats.org/drawingml/2006/main">
        <p:nvSpPr>
          <p:cNvPr id="14" name="pilot-bracket-1"/>
          <p:cNvSpPr/>
          <p:nvPr/>
        </p:nvSpPr>
        <p:spPr>
          <a:xfrm>
            <a:off x="2340864" y="3008376"/>
            <a:ext cx="100584" cy="841247"/>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 name="pilot-label-1"/>
          <p:cNvSpPr/>
          <p:nvPr/>
        </p:nvSpPr>
        <p:spPr>
          <a:xfrm>
            <a:off x="548640" y="2971800"/>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method</a:t>
            </a:r>
          </a:p>
        </p:txBody>
      </p:sp>
      <p:sp xmlns:a="http://schemas.openxmlformats.org/drawingml/2006/main">
        <p:nvSpPr>
          <p:cNvPr id="16" name="pilot-group-2"/>
          <p:cNvSpPr/>
          <p:nvPr/>
        </p:nvSpPr>
        <p:spPr>
          <a:xfrm>
            <a:off x="2514600" y="3968496"/>
            <a:ext cx="9070848" cy="12618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400" b="0">
                <a:solidFill>
                  <a:srgbClr val="232A31"/>
                </a:solidFill>
                <a:latin typeface="Calibri"/>
              </a:rPr>
              <a:t>Return a </a:t>
            </a:r>
            <a:r>
              <a:rPr sz="2400" b="0">
                <a:solidFill>
                  <a:srgbClr val="232A31"/>
                </a:solidFill>
                <a:highlight>
                  <a:srgbClr val="EAF3F2"/>
                </a:highlight>
                <a:latin typeface="Calibri"/>
              </a:rPr>
              <a:t>ranked table</a:t>
            </a:r>
            <a:r>
              <a:rPr sz="2400" b="0">
                <a:solidFill>
                  <a:srgbClr val="232A31"/>
                </a:solidFill>
                <a:latin typeface="Calibri"/>
              </a:rPr>
              <a:t> and a </a:t>
            </a:r>
            <a:r>
              <a:rPr sz="2400" b="0">
                <a:solidFill>
                  <a:srgbClr val="232A31"/>
                </a:solidFill>
                <a:highlight>
                  <a:srgbClr val="EAF3F2"/>
                </a:highlight>
                <a:latin typeface="Calibri"/>
              </a:rPr>
              <a:t>brief, neutral explanation</a:t>
            </a:r>
            <a:r>
              <a:rPr sz="2400" b="0">
                <a:solidFill>
                  <a:srgbClr val="232A31"/>
                </a:solidFill>
                <a:latin typeface="Calibri"/>
              </a:rPr>
              <a:t>. </a:t>
            </a:r>
            <a:r>
              <a:rPr sz="2400" b="0">
                <a:solidFill>
                  <a:srgbClr val="232A31"/>
                </a:solidFill>
                <a:highlight>
                  <a:srgbClr val="EAF3F2"/>
                </a:highlight>
                <a:latin typeface="Calibri"/>
              </a:rPr>
              <a:t>State missing information and reconcile totals</a:t>
            </a:r>
            <a:r>
              <a:rPr sz="2400" b="0">
                <a:solidFill>
                  <a:srgbClr val="232A31"/>
                </a:solidFill>
                <a:latin typeface="Calibri"/>
              </a:rPr>
              <a:t> to the source.</a:t>
            </a:r>
          </a:p>
        </p:txBody>
      </p:sp>
      <p:sp xmlns:a="http://schemas.openxmlformats.org/drawingml/2006/main">
        <p:nvSpPr>
          <p:cNvPr id="17" name="pilot-bracket-2"/>
          <p:cNvSpPr/>
          <p:nvPr/>
        </p:nvSpPr>
        <p:spPr>
          <a:xfrm>
            <a:off x="2340864" y="4005072"/>
            <a:ext cx="100584" cy="1225295"/>
          </a:xfrm>
          <a:prstGeom prst="leftBracket">
            <a:avLst>
              <a:gd name="adj" fmla="val 18000"/>
            </a:avLst>
          </a:prstGeom>
          <a:no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 name="pilot-label-2"/>
          <p:cNvSpPr/>
          <p:nvPr/>
        </p:nvSpPr>
        <p:spPr>
          <a:xfrm>
            <a:off x="548640" y="3968496"/>
            <a:ext cx="1755648" cy="9601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a:solidFill>
                  <a:srgbClr val="0A6261"/>
                </a:solidFill>
                <a:latin typeface="Calibri"/>
              </a:rPr>
              <a:t>format + tone + check</a:t>
            </a:r>
          </a:p>
        </p:txBody>
      </p:sp>
    </p:spTree>
    <p:extLst>
      <p:ext uri="{BB962C8B-B14F-4D97-AF65-F5344CB8AC3E}">
        <p14:creationId xmlns:p14="http://schemas.microsoft.com/office/powerpoint/2010/main" val="149011545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E7C7B"/>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E7C7B"/>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 xmlns:a="http://schemas.openxmlformats.org/drawingml/2006/main">
        <p:nvSpPr>
          <p:cNvPr id="13"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ROLES DESCRIBE BEHAVIOR</a:t>
            </a:r>
          </a:p>
        </p:txBody>
      </p:sp>
      <p:sp xmlns:a="http://schemas.openxmlformats.org/drawingml/2006/main">
        <p:nvSpPr>
          <p:cNvPr id="14"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121732852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 xmlns:a="http://schemas.openxmlformats.org/drawingml/2006/main">
        <p:nvSpPr>
          <p:cNvPr id="17"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ELEMENTS MAP TO REQUIREMENTS</a:t>
            </a:r>
          </a:p>
        </p:txBody>
      </p:sp>
      <p:sp xmlns:a="http://schemas.openxmlformats.org/drawingml/2006/main">
        <p:nvSpPr>
          <p:cNvPr id="18"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73541720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4"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E7C7B"/>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solidFill xmlns:a="http://schemas.openxmlformats.org/drawingml/2006/main">
            <a:srgbClr val="F2F5F6"/>
          </a:solidFill>
          <a:ln xmlns:a="http://schemas.openxmlformats.org/drawingml/2006/main" w="0">
            <a:noFill/>
          </a:ln>
        </p:spPr>
        <p:txBody>
          <a:bodyPr xmlns:a="http://schemas.openxmlformats.org/drawingml/2006/main" anchor="t" lIns="146304" tIns="91440" rIns="128016">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 xmlns:a="http://schemas.openxmlformats.org/drawingml/2006/main">
        <p:nvSpPr>
          <p:cNvPr id="15" name="kicker"/>
          <p:cNvSpPr/>
          <p:nvPr/>
        </p:nvSpPr>
        <p:spPr>
          <a:xfrm>
            <a:off x="612648" y="457200"/>
            <a:ext cx="75895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r>
              <a:rPr sz="1100" b="1">
                <a:solidFill>
                  <a:srgbClr val="0E7C7B"/>
                </a:solidFill>
                <a:latin typeface="Calibri"/>
              </a:rPr>
              <a:t>THE CRAFT — EXAMPLES, OUTS, AND STOP RULES</a:t>
            </a:r>
          </a:p>
        </p:txBody>
      </p:sp>
      <p:sp xmlns:a="http://schemas.openxmlformats.org/drawingml/2006/main">
        <p:nvSpPr>
          <p:cNvPr id="16" name="takeaway-accent"/>
          <p:cNvSpPr/>
          <p:nvPr/>
        </p:nvSpPr>
        <p:spPr>
          <a:xfrm>
            <a:off x="457200" y="5817488"/>
            <a:ext cx="50292" cy="5029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891697836"/>
      </p:ext>
    </p:extLst>
  </p:cSld>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G"/>
          <p:cNvSpPr/>
          <p:nvPr/>
        </p:nvSpPr>
        <p:spPr>
          <a:xfrm>
            <a:off x="0" y="0"/>
            <a:ext cx="12191695" cy="6858000"/>
          </a:xfrm>
          <a:prstGeom prst="rect">
            <a:avLst/>
          </a:prstGeom>
          <a:solidFill>
            <a:srgbClr val="F7F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p:nvPr/>
        </p:nvSpPr>
        <p:spPr>
          <a:xfrm>
            <a:off x="504748" y="384048"/>
            <a:ext cx="82296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100" b="1" i="0">
                <a:solidFill>
                  <a:srgbClr val="0E7C7B"/>
                </a:solidFill>
                <a:latin typeface="Calibri"/>
              </a:rPr>
              <a:t>NAME THE DELIVERABLE</a:t>
            </a:r>
          </a:p>
        </p:txBody>
      </p:sp>
      <p:sp>
        <p:nvSpPr>
          <p:cNvPr id="4" name="title"/>
          <p:cNvSpPr/>
          <p:nvPr/>
        </p:nvSpPr>
        <p:spPr>
          <a:xfrm>
            <a:off x="504748" y="731520"/>
            <a:ext cx="111556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3000" b="1" i="0">
                <a:solidFill>
                  <a:srgbClr val="232A31"/>
                </a:solidFill>
                <a:latin typeface="Cambria"/>
              </a:rPr>
              <a:t>Artifacts — what the AI hands back</a:t>
            </a:r>
          </a:p>
        </p:txBody>
      </p:sp>
      <p:sp>
        <p:nvSpPr>
          <p:cNvPr id="5" name="subtitle"/>
          <p:cNvSpPr/>
          <p:nvPr/>
        </p:nvSpPr>
        <p:spPr>
          <a:xfrm>
            <a:off x="504748" y="1389888"/>
            <a:ext cx="111556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400" b="0" i="0">
                <a:solidFill>
                  <a:srgbClr val="657278"/>
                </a:solidFill>
                <a:latin typeface="Calibri"/>
              </a:rPr>
              <a:t>An artifact is the finished work product — a document, table, deck, or working file — not the conversation that produced it.</a:t>
            </a:r>
          </a:p>
        </p:txBody>
      </p:sp>
      <p:sp>
        <p:nvSpPr>
          <p:cNvPr id="6" name="card-generative"/>
          <p:cNvSpPr/>
          <p:nvPr/>
        </p:nvSpPr>
        <p:spPr>
          <a:xfrm>
            <a:off x="504748" y="2057400"/>
            <a:ext cx="548640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en-head"/>
          <p:cNvSpPr/>
          <p:nvPr/>
        </p:nvSpPr>
        <p:spPr>
          <a:xfrm>
            <a:off x="731520" y="2286000"/>
            <a:ext cx="50292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500" b="1" i="0">
                <a:solidFill>
                  <a:srgbClr val="0E7C7B"/>
                </a:solidFill>
                <a:latin typeface="Calibri"/>
              </a:rPr>
              <a:t>GENERATIVE — you shape it</a:t>
            </a:r>
          </a:p>
        </p:txBody>
      </p:sp>
      <p:sp>
        <p:nvSpPr>
          <p:cNvPr id="8" name="gen-body"/>
          <p:cNvSpPr/>
          <p:nvPr/>
        </p:nvSpPr>
        <p:spPr>
          <a:xfrm>
            <a:off x="731520" y="2743200"/>
            <a:ext cx="50292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i="0">
                <a:solidFill>
                  <a:srgbClr val="232A31"/>
                </a:solidFill>
                <a:latin typeface="Calibri"/>
              </a:rPr>
              <a:t>Chat produces drafts inside the conversation: text, tables, code you refine turn by turn. The artifact emerges from the exchange — you are the loop, and you carry it out of the chat.</a:t>
            </a:r>
          </a:p>
        </p:txBody>
      </p:sp>
      <p:sp>
        <p:nvSpPr>
          <p:cNvPr id="9" name="gen-ex"/>
          <p:cNvSpPr/>
          <p:nvPr/>
        </p:nvSpPr>
        <p:spPr>
          <a:xfrm>
            <a:off x="731520" y="4343400"/>
            <a:ext cx="502920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200" b="0" i="1">
                <a:solidFill>
                  <a:srgbClr val="657278"/>
                </a:solidFill>
                <a:latin typeface="Calibri"/>
              </a:rPr>
              <a:t>Draft email · summary · rewritten section · one-off table</a:t>
            </a:r>
          </a:p>
        </p:txBody>
      </p:sp>
      <p:sp>
        <p:nvSpPr>
          <p:cNvPr id="10" name="card-agentic"/>
          <p:cNvSpPr/>
          <p:nvPr/>
        </p:nvSpPr>
        <p:spPr>
          <a:xfrm>
            <a:off x="6199632" y="2057400"/>
            <a:ext cx="5486400" cy="3017520"/>
          </a:xfrm>
          <a:prstGeom prst="rect">
            <a:avLst/>
          </a:prstGeom>
          <a:solidFill>
            <a:srgbClr val="F2F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gt-head"/>
          <p:cNvSpPr/>
          <p:nvPr/>
        </p:nvSpPr>
        <p:spPr>
          <a:xfrm>
            <a:off x="6428232" y="2286000"/>
            <a:ext cx="502920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500" b="1" i="0">
                <a:solidFill>
                  <a:srgbClr val="0E7C7B"/>
                </a:solidFill>
                <a:latin typeface="Calibri"/>
              </a:rPr>
              <a:t>AGENTIC — you specify it</a:t>
            </a:r>
          </a:p>
        </p:txBody>
      </p:sp>
      <p:sp>
        <p:nvSpPr>
          <p:cNvPr id="12" name="agt-body"/>
          <p:cNvSpPr/>
          <p:nvPr/>
        </p:nvSpPr>
        <p:spPr>
          <a:xfrm>
            <a:off x="6428232" y="2743200"/>
            <a:ext cx="50292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i="0">
                <a:solidFill>
                  <a:srgbClr val="232A31"/>
                </a:solidFill>
                <a:latin typeface="Calibri"/>
              </a:rPr>
              <a:t>An agent delivers the finished file against your brief: workbook, slide deck, report, working page. You are not in the loop while it works — so the artifact is the contract, and the requirements travel in the prompt.</a:t>
            </a:r>
          </a:p>
        </p:txBody>
      </p:sp>
      <p:sp>
        <p:nvSpPr>
          <p:cNvPr id="13" name="agt-ex"/>
          <p:cNvSpPr/>
          <p:nvPr/>
        </p:nvSpPr>
        <p:spPr>
          <a:xfrm>
            <a:off x="6428232" y="4343400"/>
            <a:ext cx="502920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200" b="0" i="1">
                <a:solidFill>
                  <a:srgbClr val="657278"/>
                </a:solidFill>
                <a:latin typeface="Calibri"/>
              </a:rPr>
              <a:t>Analyzed workbook · five-slide deck · action-items table · research spreadsheet</a:t>
            </a:r>
          </a:p>
        </p:txBody>
      </p:sp>
      <p:sp>
        <p:nvSpPr>
          <p:cNvPr id="14" name="principle"/>
          <p:cNvSpPr/>
          <p:nvPr/>
        </p:nvSpPr>
        <p:spPr>
          <a:xfrm>
            <a:off x="504748" y="5394960"/>
            <a:ext cx="1115568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400" b="1" i="0">
                <a:solidFill>
                  <a:srgbClr val="232A31"/>
                </a:solidFill>
                <a:latin typeface="Calibri"/>
              </a:rPr>
              <a:t>Name the artifact first. Every requirement on the next slide attaches to the artifact — the more of the work you delegate, the more the artifact's definition has to carry.</a:t>
            </a:r>
          </a:p>
        </p:txBody>
      </p:sp>
      <p:sp>
        <p:nvSpPr>
          <p:cNvPr id="15"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From Prompts to Agents</a:t>
            </a:r>
          </a:p>
        </p:txBody>
      </p:sp>
      <p:sp>
        <p:nvSpPr>
          <p:cNvPr id="16"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29</a:t>
            </a:r>
          </a:p>
        </p:txBody>
      </p:sp>
      <p:sp>
        <p:nvSpPr>
          <p:cNvPr id="17" name="term-badge"/>
          <p:cNvSpPr/>
          <p:nvPr/>
        </p:nvSpPr>
        <p:spPr>
          <a:xfrm>
            <a:off x="9098280" y="457200"/>
            <a:ext cx="260604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850" b="1">
                <a:solidFill>
                  <a:srgbClr val="526267"/>
                </a:solidFill>
                <a:latin typeface="Calibri"/>
              </a:rPr>
              <a:t>R E M E M B E R</a:t>
            </a:r>
          </a:p>
          <a:p>
            <a:pPr algn="r"/>
            <a:r>
              <a:rPr sz="2200" b="1">
                <a:solidFill>
                  <a:srgbClr val="0E7C7B"/>
                </a:solidFill>
                <a:latin typeface="Calibri"/>
              </a:rPr>
              <a:t>ARTIFACT</a:t>
            </a:r>
          </a:p>
        </p:txBody>
      </p:sp>
    </p:spTree>
  </p:cSld>
  <p:clrMapOvr>
    <a:masterClrMapping/>
  </p:clrMapOvr>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93–98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475719825"/>
      </p:ext>
    </p:extLst>
  </p:cSld>
</p:sld>
</file>

<file path=ppt/slides/slide31.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xmlns:a="http://schemas.openxmlformats.org/drawingml/2006/main">
        <p:nvSpPr>
          <p:cNvPr id="25" name="pilot-card-ACT"/>
          <p:cNvSpPr/>
          <p:nvPr/>
        </p:nvSpPr>
        <p:spPr>
          <a:xfrm>
            <a:off x="61264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pilot-card-CHECK"/>
          <p:cNvSpPr/>
          <p:nvPr/>
        </p:nvSpPr>
        <p:spPr>
          <a:xfrm>
            <a:off x="6601968" y="3858768"/>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 name="pilot-card-DO"/>
          <p:cNvSpPr/>
          <p:nvPr/>
        </p:nvSpPr>
        <p:spPr>
          <a:xfrm>
            <a:off x="660196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pilot-card-PLAN"/>
          <p:cNvSpPr/>
          <p:nvPr/>
        </p:nvSpPr>
        <p:spPr>
          <a:xfrm>
            <a:off x="612648" y="1901952"/>
            <a:ext cx="4983480" cy="155448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81</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 xmlns:a="http://schemas.openxmlformats.org/drawingml/2006/main">
        <p:nvSpPr>
          <p:cNvPr id="17" name="pilot-card-PLAN-label"/>
          <p:cNvSpPr/>
          <p:nvPr/>
        </p:nvSpPr>
        <p:spPr>
          <a:xfrm>
            <a:off x="68580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PLAN</a:t>
            </a:r>
          </a:p>
        </p:txBody>
      </p:sp>
      <p:sp xmlns:a="http://schemas.openxmlformats.org/drawingml/2006/main">
        <p:nvSpPr>
          <p:cNvPr id="18" name="pilot-card-PLAN-body"/>
          <p:cNvSpPr/>
          <p:nvPr/>
        </p:nvSpPr>
        <p:spPr>
          <a:xfrm>
            <a:off x="667512"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Define the task and the success check.</a:t>
            </a:r>
          </a:p>
        </p:txBody>
      </p:sp>
      <p:sp xmlns:a="http://schemas.openxmlformats.org/drawingml/2006/main">
        <p:nvSpPr>
          <p:cNvPr id="20" name="pilot-card-DO-label"/>
          <p:cNvSpPr/>
          <p:nvPr/>
        </p:nvSpPr>
        <p:spPr>
          <a:xfrm>
            <a:off x="6675120" y="1947672"/>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DO</a:t>
            </a:r>
          </a:p>
        </p:txBody>
      </p:sp>
      <p:sp xmlns:a="http://schemas.openxmlformats.org/drawingml/2006/main">
        <p:nvSpPr>
          <p:cNvPr id="21" name="pilot-card-DO-body"/>
          <p:cNvSpPr/>
          <p:nvPr/>
        </p:nvSpPr>
        <p:spPr>
          <a:xfrm>
            <a:off x="6656831" y="2331720"/>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Run the prompt against the supplied source.</a:t>
            </a:r>
          </a:p>
        </p:txBody>
      </p:sp>
      <p:sp xmlns:a="http://schemas.openxmlformats.org/drawingml/2006/main">
        <p:nvSpPr>
          <p:cNvPr id="23" name="pilot-card-CHECK-label"/>
          <p:cNvSpPr/>
          <p:nvPr/>
        </p:nvSpPr>
        <p:spPr>
          <a:xfrm>
            <a:off x="667512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CHECK</a:t>
            </a:r>
          </a:p>
        </p:txBody>
      </p:sp>
      <p:sp xmlns:a="http://schemas.openxmlformats.org/drawingml/2006/main">
        <p:nvSpPr>
          <p:cNvPr id="24" name="pilot-card-CHECK-body"/>
          <p:cNvSpPr/>
          <p:nvPr/>
        </p:nvSpPr>
        <p:spPr>
          <a:xfrm>
            <a:off x="6656831"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Compare the result with evidence or a known calculation.</a:t>
            </a:r>
          </a:p>
        </p:txBody>
      </p:sp>
      <p:sp xmlns:a="http://schemas.openxmlformats.org/drawingml/2006/main">
        <p:nvSpPr>
          <p:cNvPr id="26" name="pilot-card-ACT-label"/>
          <p:cNvSpPr/>
          <p:nvPr/>
        </p:nvSpPr>
        <p:spPr>
          <a:xfrm>
            <a:off x="685800" y="3904487"/>
            <a:ext cx="21945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175" b="1">
                <a:solidFill>
                  <a:srgbClr val="0A6261"/>
                </a:solidFill>
                <a:latin typeface="Calibri"/>
              </a:rPr>
              <a:t>ACT</a:t>
            </a:r>
          </a:p>
        </p:txBody>
      </p:sp>
      <p:sp xmlns:a="http://schemas.openxmlformats.org/drawingml/2006/main">
        <p:nvSpPr>
          <p:cNvPr id="27" name="pilot-card-ACT-body"/>
          <p:cNvSpPr/>
          <p:nvPr/>
        </p:nvSpPr>
        <p:spPr>
          <a:xfrm>
            <a:off x="667512" y="4288536"/>
            <a:ext cx="4855464" cy="107899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2250" b="0">
                <a:solidFill>
                  <a:srgbClr val="232A31"/>
                </a:solidFill>
                <a:latin typeface="Calibri"/>
              </a:rPr>
              <a:t>Fix the specific failure and rerun the affected check.</a:t>
            </a:r>
          </a:p>
        </p:txBody>
      </p:sp>
      <p:cxnSp xmlns:a="http://schemas.openxmlformats.org/drawingml/2006/main">
        <p:nvCxnSpPr>
          <p:cNvPr id="28" name="pilot-arrow-plan-do"/>
          <p:cNvCxnSpPr/>
          <p:nvPr/>
        </p:nvCxnSpPr>
        <p:spPr>
          <a:xfrm>
            <a:off x="5669280" y="2679192"/>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29" name="pilot-arrow-do-check"/>
          <p:cNvCxnSpPr/>
          <p:nvPr/>
        </p:nvCxnSpPr>
        <p:spPr>
          <a:xfrm>
            <a:off x="909370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0" name="pilot-arrow-check-act"/>
          <p:cNvCxnSpPr/>
          <p:nvPr/>
        </p:nvCxnSpPr>
        <p:spPr>
          <a:xfrm flipH="1">
            <a:off x="5669280" y="4636008"/>
            <a:ext cx="859536" cy="0"/>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cxnSp xmlns:a="http://schemas.openxmlformats.org/drawingml/2006/main">
        <p:nvCxnSpPr>
          <p:cNvPr id="31" name="pilot-arrow-act-plan"/>
          <p:cNvCxnSpPr/>
          <p:nvPr/>
        </p:nvCxnSpPr>
        <p:spPr>
          <a:xfrm flipV="1">
            <a:off x="3104388" y="3511296"/>
            <a:ext cx="0" cy="292608"/>
          </a:xfrm>
          <a:prstGeom prst="line">
            <a:avLst/>
          </a:prstGeom>
          <a:ln w="25400">
            <a:solidFill>
              <a:srgbClr val="0E7C7B"/>
            </a:solidFill>
            <a:tailEnd type="triangle" w="med" len="med"/>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64354410"/>
      </p:ext>
    </p:extLst>
  </p:cSld>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txBody>
          <a:bodyPr/>
          <a:p/>
        </p:txBody>
      </p:sp>
      <p:sp>
        <p:nvSpPr>
          <p:cNvPr id="7" name="Shape 5"/>
          <p:cNvSpPr/>
          <p:nvPr/>
        </p:nvSpPr>
        <p:spPr>
          <a:xfrm>
            <a:off x="685800" y="1591056"/>
            <a:ext cx="384048" cy="384048"/>
          </a:xfrm>
          <a:prstGeom prst="ellipse">
            <a:avLst/>
          </a:prstGeom>
          <a:solidFill>
            <a:srgbClr val="3B8560"/>
          </a:solidFill>
          <a:ln/>
        </p:spPr>
        <p:txBody>
          <a:bodyPr/>
          <a:p/>
        </p:txBody>
      </p:sp>
      <p:pic>
        <p:nvPicPr>
          <p:cNvPr id="8" name="Image 0" descr="/home/user/Claude-Works/ai-training-prompt-engineering/src/assets/icons/check_w.png">    </p:cNvPr>
          <p:cNvPicPr>
            <a:picLocks noChangeAspect="1"/>
          </p:cNvPicPr>
          <p:nvPr/>
        </p:nvPicPr>
        <p:blipFill>
          <a:blip r:embed="rId2"/>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txBody>
          <a:bodyPr/>
          <a:p/>
        </p:txBody>
      </p:sp>
      <p:sp>
        <p:nvSpPr>
          <p:cNvPr id="16" name="Shape 13"/>
          <p:cNvSpPr/>
          <p:nvPr/>
        </p:nvSpPr>
        <p:spPr>
          <a:xfrm>
            <a:off x="4480560" y="1591056"/>
            <a:ext cx="384048" cy="384048"/>
          </a:xfrm>
          <a:prstGeom prst="ellipse">
            <a:avLst/>
          </a:prstGeom>
          <a:solidFill>
            <a:srgbClr val="AF3230"/>
          </a:solidFill>
          <a:ln/>
        </p:spPr>
        <p:txBody>
          <a:bodyPr/>
          <a:p/>
        </p:txBody>
      </p:sp>
      <p:pic>
        <p:nvPicPr>
          <p:cNvPr id="17" name="Image 1" descr="/home/user/Claude-Works/ai-training-prompt-engineering/src/assets/icons/x_w.png">    </p:cNvPr>
          <p:cNvPicPr>
            <a:picLocks noChangeAspect="1"/>
          </p:cNvPicPr>
          <p:nvPr/>
        </p:nvPicPr>
        <p:blipFill>
          <a:blip r:embed="rId3"/>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txBody>
          <a:bodyPr/>
          <a:p/>
        </p:txBody>
      </p:sp>
      <p:sp>
        <p:nvSpPr>
          <p:cNvPr id="25" name="Shape 21"/>
          <p:cNvSpPr/>
          <p:nvPr/>
        </p:nvSpPr>
        <p:spPr>
          <a:xfrm>
            <a:off x="8275320" y="1591056"/>
            <a:ext cx="384048" cy="384048"/>
          </a:xfrm>
          <a:prstGeom prst="ellipse">
            <a:avLst/>
          </a:prstGeom>
          <a:solidFill>
            <a:srgbClr val="46545F"/>
          </a:solidFill>
          <a:ln/>
        </p:spPr>
        <p:txBody>
          <a:bodyPr/>
          <a:p/>
        </p:txBody>
      </p:sp>
      <p:pic>
        <p:nvPicPr>
          <p:cNvPr id="26" name="Image 2" descr="/home/user/Claude-Works/ai-training-prompt-engineering/src/assets/icons/clock_w.png">    </p:cNvPr>
          <p:cNvPicPr>
            <a:picLocks noChangeAspect="1"/>
          </p:cNvPicPr>
          <p:nvPr/>
        </p:nvPicPr>
        <p:blipFill>
          <a:blip r:embed="rId4"/>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txBody>
          <a:bodyPr/>
          <a:p/>
        </p:txBody>
      </p:sp>
      <p:sp>
        <p:nvSpPr>
          <p:cNvPr id="34" name="Shape 29"/>
          <p:cNvSpPr/>
          <p:nvPr/>
        </p:nvSpPr>
        <p:spPr>
          <a:xfrm>
            <a:off x="667512" y="6025896"/>
            <a:ext cx="384048" cy="384048"/>
          </a:xfrm>
          <a:prstGeom prst="ellipse">
            <a:avLst/>
          </a:prstGeom>
          <a:solidFill>
            <a:srgbClr val="0E7C7B"/>
          </a:solidFill>
          <a:ln/>
        </p:spPr>
        <p:txBody>
          <a:bodyPr/>
          <a:p/>
        </p:txBody>
      </p:sp>
      <p:pic>
        <p:nvPicPr>
          <p:cNvPr id="35" name="Image 3" descr="/home/user/Claude-Works/ai-training-prompt-engineering/src/assets/icons/download_w.png">    </p:cNvPr>
          <p:cNvPicPr>
            <a:picLocks noChangeAspect="1"/>
          </p:cNvPicPr>
          <p:nvPr/>
        </p:nvPicPr>
        <p:blipFill>
          <a:blip r:embed="rId5"/>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and your Field Guide explains the WHY behind every line. Notice column 1, rule 4 IS column 2, rule 3 said positively: say what TO do.</a:t>
            </a:r>
            <a:endParaRPr lang="en-US" sz="1100" dirty="0"/>
          </a:p>
        </p:txBody>
      </p:sp>
      <p:sp>
        <p:nvSpPr>
          <p:cNvPr id="37"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From Prompts to Agents</a:t>
            </a:r>
          </a:p>
        </p:txBody>
      </p:sp>
      <p:sp>
        <p:nvSpPr>
          <p:cNvPr id="38"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TURN YOUR COURSE LOG INTO A REPORT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keepsake report</a:t>
            </a:r>
            <a:endParaRPr lang="en-US" sz="3000" dirty="0"/>
          </a:p>
        </p:txBody>
      </p:sp>
      <p:sp>
        <p:nvSpPr>
          <p:cNvPr id="6" name="Shape 4"/>
          <p:cNvSpPr/>
          <p:nvPr/>
        </p:nvSpPr>
        <p:spPr>
          <a:xfrm>
            <a:off x="10314432" y="365760"/>
            <a:ext cx="384048" cy="384048"/>
          </a:xfrm>
          <a:prstGeom prst="ellipse">
            <a:avLst/>
          </a:prstGeom>
          <a:solidFill>
            <a:srgbClr val="0E7C7B"/>
          </a:solidFill>
          <a:ln/>
        </p:spPr>
        <p:txBody>
          <a:bodyPr/>
          <a:p/>
        </p:txBody>
      </p:sp>
      <p:pic>
        <p:nvPicPr>
          <p:cNvPr id="7" name="Image 0" descr="/home/user/Claude-Works/ai-training-prompt-engineering/src/assets/icons/clock_w.png">    </p:cNvPr>
          <p:cNvPicPr>
            <a:picLocks noChangeAspect="1"/>
          </p:cNvPicPr>
          <p:nvPr/>
        </p:nvPicPr>
        <p:blipFill>
          <a:blip r:embed="rId2"/>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txBody>
          <a:bodyPr/>
          <a:p/>
        </p:txBody>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“List every prompt I have run in this course log, in order — one line each: what it did, and which element or move it taught.”</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the log replays your whole course — every numbered prompt is in there.</a:t>
            </a:r>
            <a:endParaRPr lang="en-US" sz="1300" dirty="0"/>
          </a:p>
        </p:txBody>
      </p:sp>
      <p:sp>
        <p:nvSpPr>
          <p:cNvPr id="11" name="Shape 8"/>
          <p:cNvSpPr/>
          <p:nvPr/>
        </p:nvSpPr>
        <p:spPr>
          <a:xfrm>
            <a:off x="502920" y="3410712"/>
            <a:ext cx="6035040" cy="1737360"/>
          </a:xfrm>
          <a:prstGeom prst="roundRect">
            <a:avLst>
              <a:gd name="adj" fmla="val 4211"/>
            </a:avLst>
          </a:prstGeom>
          <a:solidFill>
            <a:srgbClr val="FFFFFF"/>
          </a:solidFill>
          <a:ln w="9525">
            <a:solidFill>
              <a:srgbClr val="DCE3E6"/>
            </a:solidFill>
            <a:prstDash val="solid"/>
          </a:ln>
        </p:spPr>
        <p:txBody>
          <a:bodyPr/>
          <a:p/>
        </p:txBody>
      </p:sp>
      <p:sp>
        <p:nvSpPr>
          <p:cNvPr id="12" name="Text 9"/>
          <p:cNvSpPr/>
          <p:nvPr/>
        </p:nvSpPr>
        <p:spPr>
          <a:xfrm>
            <a:off x="749808" y="3502152"/>
            <a:ext cx="5541264" cy="1554480"/>
          </a:xfrm>
          <a:prstGeom prst="rect">
            <a:avLst/>
          </a:prstGeom>
          <a:noFill/>
          <a:ln/>
        </p:spPr>
        <p:txBody>
          <a:bodyPr wrap="square" lIns="0" tIns="0" rIns="0" bIns="0" rtlCol="0" anchor="ctr"/>
          <a:lstStyle/>
          <a:p>
            <a:pPr indent="0" marL="0">
              <a:lnSpc>
                <a:spcPct val="108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08000"/>
              </a:lnSpc>
              <a:spcAft>
                <a:spcPts val="600"/>
              </a:spcAft>
              <a:buNone/>
            </a:pPr>
            <a:r>
              <a:rPr lang="en-US" sz="1100" dirty="0">
                <a:solidFill>
                  <a:srgbClr val="232A31"/>
                </a:solidFill>
                <a:latin typeface="Consolas" pitchFamily="34" charset="0"/>
                <a:ea typeface="Consolas" pitchFamily="34" charset="-122"/>
                <a:cs typeface="Consolas" pitchFamily="34" charset="-120"/>
              </a:rPr>
              <a:t>“Now turn that into my one-page course report: the seven elements with my own example for each, the loop, and the three prompts I will reuse at work. Anything the log doesn’t show: write UNKNOWN — don’t invent. Deliver the report, then stop.”</a:t>
            </a:r>
            <a:endParaRPr lang="en-US" sz="1300" dirty="0"/>
          </a:p>
          <a:p>
            <a:pPr indent="0" marL="0">
              <a:lnSpc>
                <a:spcPct val="108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100" i="1" dirty="0">
                <a:solidFill>
                  <a:srgbClr val="46545F"/>
                </a:solidFill>
                <a:latin typeface="Calibri" pitchFamily="34" charset="0"/>
                <a:ea typeface="Calibri" pitchFamily="34" charset="-122"/>
                <a:cs typeface="Calibri" pitchFamily="34" charset="-120"/>
              </a:rPr>
              <a:t>your examples, your report — with the Out and the Stop doing their jobs.</a:t>
            </a:r>
            <a:endParaRPr lang="en-US" sz="1300" dirty="0"/>
          </a:p>
        </p:txBody>
      </p:sp>
      <p:sp>
        <p:nvSpPr>
          <p:cNvPr id="13" name="Shape 10"/>
          <p:cNvSpPr/>
          <p:nvPr/>
        </p:nvSpPr>
        <p:spPr>
          <a:xfrm>
            <a:off x="502920" y="5312664"/>
            <a:ext cx="6035040" cy="777240"/>
          </a:xfrm>
          <a:prstGeom prst="roundRect">
            <a:avLst>
              <a:gd name="adj" fmla="val 9412"/>
            </a:avLst>
          </a:prstGeom>
          <a:solidFill>
            <a:srgbClr val="F2F5F6"/>
          </a:solidFill>
          <a:ln/>
        </p:spPr>
        <p:txBody>
          <a:bodyPr/>
          <a:p/>
        </p:txBody>
      </p:sp>
      <p:sp>
        <p:nvSpPr>
          <p:cNvPr id="14" name="Text 11"/>
          <p:cNvSpPr/>
          <p:nvPr/>
        </p:nvSpPr>
        <p:spPr>
          <a:xfrm>
            <a:off x="777240" y="5385816"/>
            <a:ext cx="5486400" cy="630936"/>
          </a:xfrm>
          <a:prstGeom prst="rect">
            <a:avLst/>
          </a:prstGeom>
          <a:noFill/>
          <a:ln/>
        </p:spPr>
        <p:txBody>
          <a:bodyPr wrap="square" lIns="0" tIns="0" rIns="0" bIns="0" rtlCol="0" anchor="ctr"/>
          <a:lstStyle/>
          <a:p>
            <a:pPr indent="0" marL="0">
              <a:lnSpc>
                <a:spcPct val="105000"/>
              </a:lnSpc>
              <a:buNone/>
            </a:pPr>
            <a:r>
              <a:rPr lang="en-US" sz="1150" b="1" dirty="0">
                <a:solidFill>
                  <a:srgbClr val="232A31"/>
                </a:solidFill>
                <a:latin typeface="Calibri" pitchFamily="34" charset="0"/>
                <a:ea typeface="Calibri" pitchFamily="34" charset="-122"/>
                <a:cs typeface="Calibri" pitchFamily="34" charset="-120"/>
              </a:rPr>
              <a:t>Both prompts are in tab EX-Report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of your Course Workbook — run them in the course log you opened with Prompt 1.</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txBody>
          <a:bodyPr/>
          <a:p/>
        </p:txBody>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0000"/>
              </a:lnSpc>
              <a:spcAft>
                <a:spcPts val="500"/>
              </a:spcAft>
              <a:buNone/>
            </a:pPr>
            <a:r>
              <a:rPr lang="en-US" sz="1150" b="1" dirty="0">
                <a:solidFill>
                  <a:srgbClr val="B96A1B"/>
                </a:solidFill>
                <a:latin typeface="Calibri" pitchFamily="34" charset="0"/>
                <a:ea typeface="Calibri" pitchFamily="34" charset="-122"/>
                <a:cs typeface="Calibri" pitchFamily="34" charset="-120"/>
              </a:rPr>
              <a:t>Why this is the closing rep</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Every numbered prompt you ran taught one move — and your log kept them all. The report writes itself because the raw material is real, yours, and already in the chat.</a:t>
            </a:r>
            <a:endParaRPr lang="en-US" sz="1150" dirty="0"/>
          </a:p>
          <a:p>
            <a:pPr indent="0" marL="0">
              <a:lnSpc>
                <a:spcPct val="110000"/>
              </a:lnSpc>
              <a:buNone/>
            </a:pP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Step 1 opened the course by telling the AI to remember; this is the payoff. The report IS your first library entry: name it, date it, keep it.</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txBody>
          <a:bodyPr/>
          <a:p/>
        </p:txBody>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same course, different logs — which three prompts made THEIR reuse list, and why? Different fills, same anatomy.</a:t>
            </a:r>
            <a:endParaRPr lang="en-US" sz="1150" dirty="0"/>
          </a:p>
        </p:txBody>
      </p:sp>
      <p:sp>
        <p:nvSpPr>
          <p:cNvPr id="19"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From Prompts to Agents</a:t>
            </a:r>
          </a:p>
        </p:txBody>
      </p:sp>
      <p:sp>
        <p:nvSpPr>
          <p:cNvPr id="20"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C272E"/>
        </a:solidFill>
      </p:bgPr>
    </p:bg>
    <p:spTree>
      <p:nvGrpSpPr>
        <p:cNvPr id="1" name=""/>
        <p:cNvGrpSpPr/>
        <p:nvPr/>
      </p:nvGrpSpPr>
      <p:grpSpPr/>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txBody>
          <a:bodyPr/>
          <a:p/>
        </p:txBody>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txBody>
          <a:bodyPr/>
          <a:p/>
        </p:txBody>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
        <p:nvSpPr>
          <p:cNvPr id="31"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A7B0B5"/>
                </a:solidFill>
                <a:latin typeface="Calibri"/>
              </a:rPr>
              <a:t>From Prompts to Agents</a:t>
            </a:r>
          </a:p>
        </p:txBody>
      </p:sp>
      <p:sp>
        <p:nvSpPr>
          <p:cNvPr id="32"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A7B0B5"/>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txBody>
          <a:bodyPr/>
          <a:p/>
        </p:txBody>
      </p:sp>
      <p:sp>
        <p:nvSpPr>
          <p:cNvPr id="7" name="Shape 5"/>
          <p:cNvSpPr/>
          <p:nvPr/>
        </p:nvSpPr>
        <p:spPr>
          <a:xfrm>
            <a:off x="502920" y="1444752"/>
            <a:ext cx="5532120" cy="365760"/>
          </a:xfrm>
          <a:prstGeom prst="roundRect">
            <a:avLst>
              <a:gd name="adj" fmla="val 15000"/>
            </a:avLst>
          </a:prstGeom>
          <a:solidFill>
            <a:srgbClr val="46545F"/>
          </a:solidFill>
          <a:ln/>
        </p:spPr>
        <p:txBody>
          <a:bodyPr/>
          <a:p/>
        </p:txBody>
      </p:sp>
      <p:sp>
        <p:nvSpPr>
          <p:cNvPr id="8" name="Shape 6"/>
          <p:cNvSpPr/>
          <p:nvPr/>
        </p:nvSpPr>
        <p:spPr>
          <a:xfrm>
            <a:off x="658368" y="1563624"/>
            <a:ext cx="118872" cy="118872"/>
          </a:xfrm>
          <a:prstGeom prst="ellipse">
            <a:avLst/>
          </a:prstGeom>
          <a:solidFill>
            <a:srgbClr val="E74C3C"/>
          </a:solidFill>
          <a:ln/>
        </p:spPr>
        <p:txBody>
          <a:bodyPr/>
          <a:p/>
        </p:txBody>
      </p:sp>
      <p:sp>
        <p:nvSpPr>
          <p:cNvPr id="9" name="Shape 7"/>
          <p:cNvSpPr/>
          <p:nvPr/>
        </p:nvSpPr>
        <p:spPr>
          <a:xfrm>
            <a:off x="841248" y="1563624"/>
            <a:ext cx="118872" cy="118872"/>
          </a:xfrm>
          <a:prstGeom prst="ellipse">
            <a:avLst/>
          </a:prstGeom>
          <a:solidFill>
            <a:srgbClr val="F1C40F"/>
          </a:solidFill>
          <a:ln/>
        </p:spPr>
        <p:txBody>
          <a:bodyPr/>
          <a:p/>
        </p:txBody>
      </p:sp>
      <p:sp>
        <p:nvSpPr>
          <p:cNvPr id="10" name="Shape 8"/>
          <p:cNvSpPr/>
          <p:nvPr/>
        </p:nvSpPr>
        <p:spPr>
          <a:xfrm>
            <a:off x="1024128" y="1563624"/>
            <a:ext cx="118872" cy="118872"/>
          </a:xfrm>
          <a:prstGeom prst="ellipse">
            <a:avLst/>
          </a:prstGeom>
          <a:solidFill>
            <a:srgbClr val="2ECC71"/>
          </a:solidFill>
          <a:ln/>
        </p:spPr>
        <p:txBody>
          <a:bodyPr/>
          <a:p/>
        </p:txBody>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txBody>
          <a:bodyPr/>
          <a:p/>
        </p:txBody>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txBody>
          <a:bodyPr/>
          <a:p/>
        </p:txBody>
      </p:sp>
      <p:sp>
        <p:nvSpPr>
          <p:cNvPr id="16" name="Shape 14"/>
          <p:cNvSpPr/>
          <p:nvPr/>
        </p:nvSpPr>
        <p:spPr>
          <a:xfrm>
            <a:off x="6345936" y="1938528"/>
            <a:ext cx="5303520" cy="768096"/>
          </a:xfrm>
          <a:prstGeom prst="roundRect">
            <a:avLst>
              <a:gd name="adj" fmla="val 9524"/>
            </a:avLst>
          </a:prstGeom>
          <a:solidFill>
            <a:srgbClr val="F2F5F6"/>
          </a:solidFill>
          <a:ln/>
        </p:spPr>
        <p:txBody>
          <a:bodyPr/>
          <a:p/>
        </p:txBody>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txBody>
          <a:bodyPr/>
          <a:p/>
        </p:txBody>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txBody>
          <a:bodyPr/>
          <a:p/>
        </p:txBody>
      </p:sp>
      <p:sp>
        <p:nvSpPr>
          <p:cNvPr id="22" name="Shape 20"/>
          <p:cNvSpPr/>
          <p:nvPr/>
        </p:nvSpPr>
        <p:spPr>
          <a:xfrm>
            <a:off x="6345936" y="2743200"/>
            <a:ext cx="5303520" cy="768096"/>
          </a:xfrm>
          <a:prstGeom prst="roundRect">
            <a:avLst>
              <a:gd name="adj" fmla="val 9524"/>
            </a:avLst>
          </a:prstGeom>
          <a:solidFill>
            <a:srgbClr val="F2F5F6"/>
          </a:solidFill>
          <a:ln/>
        </p:spPr>
        <p:txBody>
          <a:bodyPr/>
          <a:p/>
        </p:txBody>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txBody>
          <a:bodyPr/>
          <a:p/>
        </p:txBody>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txBody>
          <a:bodyPr/>
          <a:p/>
        </p:txBody>
      </p:sp>
      <p:sp>
        <p:nvSpPr>
          <p:cNvPr id="28" name="Shape 26"/>
          <p:cNvSpPr/>
          <p:nvPr/>
        </p:nvSpPr>
        <p:spPr>
          <a:xfrm>
            <a:off x="6345936" y="3547872"/>
            <a:ext cx="5303520" cy="768096"/>
          </a:xfrm>
          <a:prstGeom prst="roundRect">
            <a:avLst>
              <a:gd name="adj" fmla="val 9524"/>
            </a:avLst>
          </a:prstGeom>
          <a:solidFill>
            <a:srgbClr val="F2F5F6"/>
          </a:solidFill>
          <a:ln/>
        </p:spPr>
        <p:txBody>
          <a:bodyPr/>
          <a:p/>
        </p:txBody>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txBody>
          <a:bodyPr/>
          <a:p/>
        </p:txBody>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txBody>
          <a:bodyPr/>
          <a:p/>
        </p:txBody>
      </p:sp>
      <p:sp>
        <p:nvSpPr>
          <p:cNvPr id="34" name="Shape 32"/>
          <p:cNvSpPr/>
          <p:nvPr/>
        </p:nvSpPr>
        <p:spPr>
          <a:xfrm>
            <a:off x="6345936" y="4352544"/>
            <a:ext cx="5303520" cy="768096"/>
          </a:xfrm>
          <a:prstGeom prst="roundRect">
            <a:avLst>
              <a:gd name="adj" fmla="val 9524"/>
            </a:avLst>
          </a:prstGeom>
          <a:solidFill>
            <a:srgbClr val="F2F5F6"/>
          </a:solidFill>
          <a:ln/>
        </p:spPr>
        <p:txBody>
          <a:bodyPr/>
          <a:p/>
        </p:txBody>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txBody>
          <a:bodyPr/>
          <a:p/>
        </p:txBody>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txBody>
          <a:bodyPr/>
          <a:p/>
        </p:txBody>
      </p:sp>
      <p:sp>
        <p:nvSpPr>
          <p:cNvPr id="40" name="Shape 38"/>
          <p:cNvSpPr/>
          <p:nvPr/>
        </p:nvSpPr>
        <p:spPr>
          <a:xfrm>
            <a:off x="6345936" y="5157216"/>
            <a:ext cx="5303520" cy="768096"/>
          </a:xfrm>
          <a:prstGeom prst="roundRect">
            <a:avLst>
              <a:gd name="adj" fmla="val 9524"/>
            </a:avLst>
          </a:prstGeom>
          <a:solidFill>
            <a:srgbClr val="F2F5F6"/>
          </a:solidFill>
          <a:ln/>
        </p:spPr>
        <p:txBody>
          <a:bodyPr/>
          <a:p/>
        </p:txBody>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txBody>
          <a:bodyPr/>
          <a:p/>
        </p:txBody>
      </p:sp>
      <p:sp>
        <p:nvSpPr>
          <p:cNvPr id="43" name="Shape 41"/>
          <p:cNvSpPr/>
          <p:nvPr/>
        </p:nvSpPr>
        <p:spPr>
          <a:xfrm>
            <a:off x="667512" y="6140196"/>
            <a:ext cx="384048" cy="384048"/>
          </a:xfrm>
          <a:prstGeom prst="ellipse">
            <a:avLst/>
          </a:prstGeom>
          <a:solidFill>
            <a:srgbClr val="0E7C7B"/>
          </a:solidFill>
          <a:ln/>
        </p:spPr>
        <p:txBody>
          <a:bodyPr/>
          <a:p/>
        </p:txBody>
      </p:sp>
      <p:pic>
        <p:nvPicPr>
          <p:cNvPr id="44" name="Image 0" descr="/home/user/Claude-Works/ai-training-prompt-engineering/src/assets/icons/copy_w.png">    </p:cNvPr>
          <p:cNvPicPr>
            <a:picLocks noChangeAspect="1"/>
          </p:cNvPicPr>
          <p:nvPr/>
        </p:nvPicPr>
        <p:blipFill>
          <a:blip r:embed="rId2"/>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
        <p:nvSpPr>
          <p:cNvPr id="46" name="detail-link"/>
          <p:cNvSpPr/>
          <p:nvPr/>
        </p:nvSpPr>
        <p:spPr>
          <a:xfrm>
            <a:off x="504748" y="6534302"/>
            <a:ext cx="10287000"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050" b="0" i="0">
                <a:solidFill>
                  <a:srgbClr val="526267"/>
                </a:solidFill>
                <a:latin typeface="Calibri"/>
              </a:rPr>
              <a:t>From Prompts to Agents</a:t>
            </a:r>
          </a:p>
        </p:txBody>
      </p:sp>
      <p:sp>
        <p:nvSpPr>
          <p:cNvPr id="47" name="page-number"/>
          <p:cNvSpPr/>
          <p:nvPr/>
        </p:nvSpPr>
        <p:spPr>
          <a:xfrm>
            <a:off x="11382451" y="6534302"/>
            <a:ext cx="476402" cy="25694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r"/>
            <a:r>
              <a:rPr sz="1050" b="0" i="0">
                <a:solidFill>
                  <a:srgbClr val="657278"/>
                </a:solidFill>
                <a:latin typeface="Calibri"/>
              </a:rPr>
              <a:t>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 · APPLICATION</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Data Analytics Exercise</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workbook. Questions. Charts. A returned file.</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00" b="0">
                <a:solidFill>
                  <a:srgbClr val="D6E0E2"/>
                </a:solidFill>
                <a:latin typeface="Calibri"/>
                <a:ea typeface="Calibri"/>
                <a:cs typeface="Calibri"/>
              </a:rPr>
              <a:t>Analyze the data in Excel, return the workbook with editable charts, then reuse it for the dashboard and presentation mock-up.</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TEACH  0:40</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36</a:t>
            </a:r>
          </a:p>
        </p:txBody>
      </p:sp>
    </p:spTree>
    <p:extLst>
      <p:ext uri="{BB962C8B-B14F-4D97-AF65-F5344CB8AC3E}">
        <p14:creationId xmlns:p14="http://schemas.microsoft.com/office/powerpoint/2010/main" val="1528682446"/>
      </p:ext>
    </p:extLst>
  </p:cSld>
</p:sld>
</file>

<file path=ppt/slides/slide37.xml><?xml version="1.0" encoding="utf-8"?>
<p:sld xmlns:p="http://schemas.openxmlformats.org/presentationml/2006/main">
  <p:cSld>
    <p:bg>
      <p:bgPr>
        <a:solidFill xmlns:a="http://schemas.openxmlformats.org/drawingml/2006/main">
          <a:srgbClr val="F7F8F6"/>
        </a:solidFill>
      </p:bgPr>
    </p:bg>
    <p:spTree>
      <p:nvGrpSpPr>
        <p:cNvPr id="1" name=""/>
        <p:cNvGrpSpPr/>
        <p:nvPr/>
      </p:nvGrpSpPr>
      <p:grpSpPr>
        <a:xfrm xmlns:a="http://schemas.openxmlformats.org/drawingml/2006/main"/>
      </p:grpSpPr>
      <p:sp xmlns:a="http://schemas.openxmlformats.org/drawingml/2006/main">
        <p:nvSpPr>
          <p:cNvPr id="14"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xmlns:a="http://schemas.openxmlformats.org/drawingml/2006/main">
        <p:nvSpPr>
          <p:cNvPr id="12" name="pilot-p2-panel"/>
          <p:cNvSpPr/>
          <p:nvPr/>
        </p:nvSpPr>
        <p:spPr>
          <a:xfrm>
            <a:off x="609904" y="3954018"/>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pilot-p1-panel"/>
          <p:cNvSpPr/>
          <p:nvPr/>
        </p:nvSpPr>
        <p:spPr>
          <a:xfrm>
            <a:off x="609904" y="2414016"/>
            <a:ext cx="10972800" cy="1320546"/>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6:00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Upload the Data File and Run These Two Prompts</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Attempt first — the verified key stays with the instructor and the workbook keys.</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 xmlns:a="http://schemas.openxmlformats.org/drawingml/2006/main">
        <p:nvSpPr>
          <p:cNvPr id="9" name="pilot-file-line"/>
          <p:cNvSpPr/>
          <p:nvPr/>
        </p:nvSpPr>
        <p:spPr>
          <a:xfrm>
            <a:off x="609904"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800" b="1" i="0">
                <a:solidFill>
                  <a:srgbClr val="232A31"/>
                </a:solidFill>
                <a:latin typeface="Calibri"/>
              </a:rPr>
              <a:t>File: Supplier_Data_Exercise.xlsx — upload it, attach nothing else.</a:t>
            </a:r>
          </a:p>
        </p:txBody>
      </p:sp>
      <p:sp xmlns:a="http://schemas.openxmlformats.org/drawingml/2006/main">
        <p:nvSpPr>
          <p:cNvPr id="11" name="pilot-p1"/>
          <p:cNvSpPr/>
          <p:nvPr/>
        </p:nvSpPr>
        <p:spPr>
          <a:xfrm>
            <a:off x="685800" y="2468880"/>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i="0">
                <a:solidFill>
                  <a:srgbClr val="875012"/>
                </a:solidFill>
                <a:latin typeface="Calibri"/>
              </a:rPr>
              <a:t>PROMPT 1 — INSPECT</a:t>
            </a:r>
          </a:p>
          <a:p>
            <a:pPr algn="l"/>
            <a:r>
              <a:rPr sz="1700" b="0" i="0">
                <a:solidFill>
                  <a:srgbClr val="232A31"/>
                </a:solidFill>
                <a:latin typeface="Calibri"/>
              </a:rPr>
              <a:t>“Before calculating anything, inspect the file. Tell me what one row represents, how many detail rows it contains, whether any values are missing, and whether any total or summary row could be counted twice. Tell me what you would include or exclude, then wait.”</a:t>
            </a:r>
          </a:p>
        </p:txBody>
      </p:sp>
      <p:sp xmlns:a="http://schemas.openxmlformats.org/drawingml/2006/main">
        <p:nvSpPr>
          <p:cNvPr id="13" name="pilot-p2"/>
          <p:cNvSpPr/>
          <p:nvPr/>
        </p:nvSpPr>
        <p:spPr>
          <a:xfrm>
            <a:off x="685800" y="4008881"/>
            <a:ext cx="10826496" cy="122910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a:noAutofit/>
          </a:bodyPr>
          <a:lstStyle/>
          <a:p>
            <a:pPr algn="l"/>
            <a:r>
              <a:rPr sz="1700" b="1" i="0">
                <a:solidFill>
                  <a:srgbClr val="875012"/>
                </a:solidFill>
                <a:latin typeface="Calibri"/>
              </a:rPr>
              <a:t>PROMPT 2 — ANALYZE</a:t>
            </a:r>
          </a:p>
          <a:p>
            <a:pPr algn="l"/>
            <a:r>
              <a:rPr sz="1700" b="0" i="0">
                <a:solidFill>
                  <a:srgbClr val="232A31"/>
                </a:solidFill>
                <a:latin typeface="Calibri"/>
              </a:rPr>
              <a:t>“Using detail rows only, calculate each supplier’s return rate as total Units_Returned divided by total Units_Shipped. Rank suppliers from highest to lowest. Show the totals used, reconcile the overall totals to the source file, and state one limitation of the comparison.”</a:t>
            </a:r>
          </a:p>
        </p:txBody>
      </p:sp>
    </p:spTree>
    <p:extLst>
      <p:ext uri="{BB962C8B-B14F-4D97-AF65-F5344CB8AC3E}">
        <p14:creationId xmlns:p14="http://schemas.microsoft.com/office/powerpoint/2010/main" val="526347815"/>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Ask a Follow-Up Question</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Findings, not causes — the pattern, its values, and the data you would need next.</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 xmlns:a="http://schemas.openxmlformats.org/drawingml/2006/main">
        <p:nvSpPr>
          <p:cNvPr id="10" name="ex-intro"/>
          <p:cNvSpPr/>
          <p:nvPr/>
        </p:nvSpPr>
        <p:spPr>
          <a:xfrm>
            <a:off x="612648"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600" b="1">
                <a:solidFill>
                  <a:srgbClr val="232A31"/>
                </a:solidFill>
                <a:latin typeface="Calibri"/>
              </a:rPr>
              <a:t>Same chat, same data — one more prompt:</a:t>
            </a:r>
          </a:p>
        </p:txBody>
      </p:sp>
      <p:sp xmlns:a="http://schemas.openxmlformats.org/drawingml/2006/main">
        <p:nvSpPr>
          <p:cNvPr id="11" name="ex-box-panel"/>
          <p:cNvSpPr/>
          <p:nvPr/>
        </p:nvSpPr>
        <p:spPr>
          <a:xfrm>
            <a:off x="612648" y="2432304"/>
            <a:ext cx="10972800" cy="13716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“Using the same data, compare return rate by month and site. Identify the clearest increase, decrease, or unusual pattern. Show the values behind it. Do not claim a cause. List the additional data needed to investigate why it happened.”</a:t>
            </a:r>
          </a:p>
        </p:txBody>
      </p:sp>
      <p:sp xmlns:a="http://schemas.openxmlformats.org/drawingml/2006/main">
        <p:nvSpPr>
          <p:cNvPr id="12" name="ex-note"/>
          <p:cNvSpPr/>
          <p:nvPr/>
        </p:nvSpPr>
        <p:spPr>
          <a:xfrm>
            <a:off x="612648" y="3986784"/>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a:solidFill>
                  <a:srgbClr val="46545F"/>
                </a:solidFill>
                <a:latin typeface="Calibri"/>
              </a:rPr>
              <a:t>A finding names a pattern and shows its values. A cause needs data this file does not contain — the honest answer lists what to collect next.</a:t>
            </a:r>
          </a:p>
        </p:txBody>
      </p:sp>
    </p:spTree>
    <p:extLst>
      <p:ext uri="{BB962C8B-B14F-4D97-AF65-F5344CB8AC3E}">
        <p14:creationId xmlns:p14="http://schemas.microsoft.com/office/powerpoint/2010/main" val="129586125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300" b="1">
                <a:solidFill>
                  <a:srgbClr val="0A6261"/>
                </a:solidFill>
                <a:latin typeface="Calibri"/>
              </a:rPr>
              <a:t>Add the Charts and Return the Excel File</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workbook tab Excel-Charts · prepared fallback: Supplier_Data_Analyzed.xlsx.</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39</a:t>
            </a:r>
          </a:p>
        </p:txBody>
      </p:sp>
      <p:sp xmlns:a="http://schemas.openxmlformats.org/drawingml/2006/main">
        <p:nvSpPr>
          <p:cNvPr id="17" name="ex-box-panel"/>
          <p:cNvSpPr/>
          <p:nvPr/>
        </p:nvSpPr>
        <p:spPr>
          <a:xfrm>
            <a:off x="612648" y="1874519"/>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Update the uploaded workbook and return an editable Excel file named Supplier_Data_Analyzed.xlsx — original data unchanged, analysis on a new Summary sheet.</a:t>
            </a:r>
          </a:p>
        </p:txBody>
      </p:sp>
      <p:sp xmlns:a="http://schemas.openxmlformats.org/drawingml/2006/main">
        <p:nvSpPr>
          <p:cNvPr id="18" name="ex-box-panel"/>
          <p:cNvSpPr/>
          <p:nvPr/>
        </p:nvSpPr>
        <p:spPr>
          <a:xfrm>
            <a:off x="612648" y="2843784"/>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SUMMARY SHEET</a:t>
            </a:r>
          </a:p>
          <a:p>
            <a:pPr algn="l"/>
            <a:r>
              <a:rPr sz="1400" b="0">
                <a:solidFill>
                  <a:srgbClr val="232A31"/>
                </a:solidFill>
                <a:latin typeface="Calibri"/>
              </a:rPr>
              <a:t>Comparison table: units shipped, returned, return rate, defect rate · native editable column chart (supplier rates) · native line chart (rate by month) · period, definitions, limitations note.</a:t>
            </a:r>
          </a:p>
        </p:txBody>
      </p:sp>
      <p:sp xmlns:a="http://schemas.openxmlformats.org/drawingml/2006/main">
        <p:nvSpPr>
          <p:cNvPr id="19" name="ex-box-panel"/>
          <p:cNvSpPr/>
          <p:nvPr/>
        </p:nvSpPr>
        <p:spPr>
          <a:xfrm>
            <a:off x="612648" y="3813048"/>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RULES</a:t>
            </a:r>
          </a:p>
          <a:p>
            <a:pPr algn="l"/>
            <a:r>
              <a:rPr sz="1400" b="0">
                <a:solidFill>
                  <a:srgbClr val="232A31"/>
                </a:solidFill>
                <a:latin typeface="Calibri"/>
              </a:rPr>
              <a:t>Traceable Excel logic — formulas or PivotTables, never hard-coded chart values · missing values stay missing · totals reconcile to the source before the file returns.</a:t>
            </a:r>
          </a:p>
        </p:txBody>
      </p:sp>
      <p:sp xmlns:a="http://schemas.openxmlformats.org/drawingml/2006/main">
        <p:nvSpPr>
          <p:cNvPr id="20" name="ex-box-panel"/>
          <p:cNvSpPr/>
          <p:nvPr/>
        </p:nvSpPr>
        <p:spPr>
          <a:xfrm>
            <a:off x="612648" y="4782312"/>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PROVE IT</a:t>
            </a:r>
          </a:p>
          <a:p>
            <a:pPr algn="l"/>
            <a:r>
              <a:rPr sz="1400" b="0">
                <a:solidFill>
                  <a:srgbClr val="232A31"/>
                </a:solidFill>
                <a:latin typeface="Calibri"/>
              </a:rPr>
              <a:t>Open the returned workbook, inspect the Summary sheet, click one chart — its source range or PivotTable must be editable.</a:t>
            </a:r>
          </a:p>
        </p:txBody>
      </p:sp>
    </p:spTree>
    <p:extLst>
      <p:ext uri="{BB962C8B-B14F-4D97-AF65-F5344CB8AC3E}">
        <p14:creationId xmlns:p14="http://schemas.microsoft.com/office/powerpoint/2010/main" val="146957604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4"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300" b="1">
                <a:solidFill>
                  <a:srgbClr val="0A6261"/>
                </a:solidFill>
                <a:latin typeface="Calibri"/>
                <a:ea typeface="Calibri"/>
                <a:cs typeface="Calibri"/>
              </a:rPr>
              <a:t>Describe the Dashboard You Want</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Extended dashboard vocabulary: Course_Workbook.xlsx and the reference layer — not this slide.</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 xmlns:a="http://schemas.openxmlformats.org/drawingml/2006/main">
        <p:nvSpPr>
          <p:cNvPr id="15" name="ex-box-panel"/>
          <p:cNvSpPr/>
          <p:nvPr/>
        </p:nvSpPr>
        <p:spPr>
          <a:xfrm>
            <a:off x="612648" y="1874519"/>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“Using the returned Supplier_Data_Analyzed.xlsx workbook and its verified definitions, create one self-contained HTML dashboard that works offline.”</a:t>
            </a:r>
          </a:p>
        </p:txBody>
      </p:sp>
      <p:sp xmlns:a="http://schemas.openxmlformats.org/drawingml/2006/main">
        <p:nvSpPr>
          <p:cNvPr id="16" name="ex-box-panel"/>
          <p:cNvSpPr/>
          <p:nvPr/>
        </p:nvSpPr>
        <p:spPr>
          <a:xfrm>
            <a:off x="612648" y="3191256"/>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IT MUST INCLUDE</a:t>
            </a:r>
          </a:p>
          <a:p>
            <a:pPr algn="l"/>
            <a:r>
              <a:rPr sz="1400" b="0">
                <a:solidFill>
                  <a:srgbClr val="232A31"/>
                </a:solidFill>
                <a:latin typeface="Calibri"/>
              </a:rPr>
              <a:t>Date-range selector · supplier and site filters · metric selector · summary values · trend chart · sortable detail table · reset control. Every filter updates every view; show the selected period and metric definitions; display a clear message when no rows match.</a:t>
            </a:r>
          </a:p>
        </p:txBody>
      </p:sp>
      <p:sp xmlns:a="http://schemas.openxmlformats.org/drawingml/2006/main">
        <p:nvSpPr>
          <p:cNvPr id="17" name="ex-box-panel"/>
          <p:cNvSpPr/>
          <p:nvPr/>
        </p:nvSpPr>
        <p:spPr>
          <a:xfrm>
            <a:off x="612648" y="4507992"/>
            <a:ext cx="10972800" cy="120700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TEACHING LINE</a:t>
            </a:r>
          </a:p>
          <a:p>
            <a:pPr algn="l"/>
            <a:r>
              <a:rPr sz="1400" b="0">
                <a:solidFill>
                  <a:srgbClr val="232A31"/>
                </a:solidFill>
                <a:latin typeface="Calibri"/>
              </a:rPr>
              <a:t>You do not need to write the code. You need to describe the behavior.</a:t>
            </a:r>
          </a:p>
        </p:txBody>
      </p:sp>
    </p:spTree>
    <p:extLst>
      <p:ext uri="{BB962C8B-B14F-4D97-AF65-F5344CB8AC3E}">
        <p14:creationId xmlns:p14="http://schemas.microsoft.com/office/powerpoint/2010/main" val="187541384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Build and Test the Dashboard</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 21 returns · 0.245% — the same numbers, from the same verified file.</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41</a:t>
            </a:r>
          </a:p>
        </p:txBody>
      </p:sp>
      <p:sp xmlns:a="http://schemas.openxmlformats.org/drawingml/2006/main">
        <p:nvSpPr>
          <p:cNvPr id="10" name="ex-intro"/>
          <p:cNvSpPr/>
          <p:nvPr/>
        </p:nvSpPr>
        <p:spPr>
          <a:xfrm>
            <a:off x="612648" y="1901952"/>
            <a:ext cx="10972800" cy="4023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600" b="1">
                <a:solidFill>
                  <a:srgbClr val="232A31"/>
                </a:solidFill>
                <a:latin typeface="Calibri"/>
              </a:rPr>
              <a:t>Input: Supplier_Data_Analyzed.xlsx — the returned workbook: same data, definitions, and period.</a:t>
            </a:r>
          </a:p>
        </p:txBody>
      </p:sp>
      <p:sp xmlns:a="http://schemas.openxmlformats.org/drawingml/2006/main">
        <p:nvSpPr>
          <p:cNvPr id="11" name="ex-box-panel"/>
          <p:cNvSpPr/>
          <p:nvPr/>
        </p:nvSpPr>
        <p:spPr>
          <a:xfrm>
            <a:off x="612648" y="2414016"/>
            <a:ext cx="10972800" cy="14173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TEST IT</a:t>
            </a:r>
          </a:p>
          <a:p>
            <a:pPr algn="l"/>
            <a:r>
              <a:rPr sz="1400" b="0">
                <a:solidFill>
                  <a:srgbClr val="232A31"/>
                </a:solidFill>
                <a:latin typeface="Calibri"/>
              </a:rPr>
              <a:t>1  Open the generated HTML file.</a:t>
            </a:r>
          </a:p>
          <a:p>
            <a:pPr algn="l"/>
            <a:r>
              <a:rPr sz="1400" b="0">
                <a:solidFill>
                  <a:srgbClr val="232A31"/>
                </a:solidFill>
                <a:latin typeface="Calibri"/>
              </a:rPr>
              <a:t>2  Filter to Berlin, Bravo Plastics, March through August 2026.</a:t>
            </a:r>
          </a:p>
          <a:p>
            <a:pPr algn="l"/>
            <a:r>
              <a:rPr sz="1400" b="0">
                <a:solidFill>
                  <a:srgbClr val="232A31"/>
                </a:solidFill>
                <a:latin typeface="Calibri"/>
              </a:rPr>
              <a:t>3  Verify 8,575 units, 21 returns, and a 0.245 percent return rate against the source.</a:t>
            </a:r>
          </a:p>
        </p:txBody>
      </p:sp>
      <p:sp xmlns:a="http://schemas.openxmlformats.org/drawingml/2006/main">
        <p:nvSpPr>
          <p:cNvPr id="12" name="ex-box-panel"/>
          <p:cNvSpPr/>
          <p:nvPr/>
        </p:nvSpPr>
        <p:spPr>
          <a:xfrm>
            <a:off x="612648" y="3959352"/>
            <a:ext cx="10972800" cy="1024128"/>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Then ask for ONE refinement using the vocabulary — a different date range, grouping, metric, drill-down, sort, or reset behavior.</a:t>
            </a:r>
          </a:p>
        </p:txBody>
      </p:sp>
    </p:spTree>
    <p:extLst>
      <p:ext uri="{BB962C8B-B14F-4D97-AF65-F5344CB8AC3E}">
        <p14:creationId xmlns:p14="http://schemas.microsoft.com/office/powerpoint/2010/main" val="131037884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2:30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000" b="1">
                <a:solidFill>
                  <a:srgbClr val="232A31"/>
                </a:solidFill>
                <a:latin typeface="Calibri"/>
              </a:rPr>
              <a:t>Turn the Findings into a Five-Slide Management Mock-up</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700" b="1">
                <a:solidFill>
                  <a:srgbClr val="3D4B50"/>
                </a:solidFill>
                <a:latin typeface="Calibri"/>
              </a:rPr>
              <a:t>Full prompt: workbook tab 3-Present-Findings · reference page 99 · fallback: Supplier_Quality_Mock_Presentation.pptx.</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42</a:t>
            </a:r>
          </a:p>
        </p:txBody>
      </p:sp>
      <p:sp xmlns:a="http://schemas.openxmlformats.org/drawingml/2006/main">
        <p:nvSpPr>
          <p:cNvPr id="17" name="ex-box-panel"/>
          <p:cNvSpPr/>
          <p:nvPr/>
        </p:nvSpPr>
        <p:spPr>
          <a:xfrm>
            <a:off x="612648" y="1874519"/>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“Using only the verified findings from this exercise, create an editable five-slide PowerPoint mock-up for [audience] to support [decision].”</a:t>
            </a:r>
          </a:p>
        </p:txBody>
      </p:sp>
      <p:sp xmlns:a="http://schemas.openxmlformats.org/drawingml/2006/main">
        <p:nvSpPr>
          <p:cNvPr id="18" name="ex-box-panel"/>
          <p:cNvSpPr/>
          <p:nvPr/>
        </p:nvSpPr>
        <p:spPr>
          <a:xfrm>
            <a:off x="612648" y="2843784"/>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FIVE SLIDES</a:t>
            </a:r>
          </a:p>
          <a:p>
            <a:pPr algn="l"/>
            <a:r>
              <a:rPr sz="1400" b="0">
                <a:solidFill>
                  <a:srgbClr val="232A31"/>
                </a:solidFill>
                <a:latin typeface="Calibri"/>
              </a:rPr>
              <a:t>1 Question and scope · 2 Supplier comparison · 3 The most important trend · 4 Recommended follow-up · 5 Limitations and next steps.</a:t>
            </a:r>
          </a:p>
        </p:txBody>
      </p:sp>
      <p:sp xmlns:a="http://schemas.openxmlformats.org/drawingml/2006/main">
        <p:nvSpPr>
          <p:cNvPr id="19" name="ex-box-panel"/>
          <p:cNvSpPr/>
          <p:nvPr/>
        </p:nvSpPr>
        <p:spPr>
          <a:xfrm>
            <a:off x="612648" y="3813048"/>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RULES</a:t>
            </a:r>
          </a:p>
          <a:p>
            <a:pPr algn="l"/>
            <a:r>
              <a:rPr sz="1400" b="0">
                <a:solidFill>
                  <a:srgbClr val="232A31"/>
                </a:solidFill>
                <a:latin typeface="Calibri"/>
              </a:rPr>
              <a:t>One main message per slide · readable charts, concise visible text, speaker notes · findings separated from recommendations · no invented causes or commitments.</a:t>
            </a:r>
          </a:p>
        </p:txBody>
      </p:sp>
      <p:sp xmlns:a="http://schemas.openxmlformats.org/drawingml/2006/main">
        <p:nvSpPr>
          <p:cNvPr id="20" name="ex-box-panel"/>
          <p:cNvSpPr/>
          <p:nvPr/>
        </p:nvSpPr>
        <p:spPr>
          <a:xfrm>
            <a:off x="612648" y="4782312"/>
            <a:ext cx="10972800" cy="91440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WHY IT DIFFERS</a:t>
            </a:r>
          </a:p>
          <a:p>
            <a:pPr algn="l"/>
            <a:r>
              <a:rPr sz="1400" b="0">
                <a:solidFill>
                  <a:srgbClr val="232A31"/>
                </a:solidFill>
                <a:latin typeface="Calibri"/>
              </a:rPr>
              <a:t>The dashboard supports exploration; the presentation supports a management decision — the final step of the connected data exercise.</a:t>
            </a:r>
          </a:p>
        </p:txBody>
      </p:sp>
    </p:spTree>
    <p:extLst>
      <p:ext uri="{BB962C8B-B14F-4D97-AF65-F5344CB8AC3E}">
        <p14:creationId xmlns:p14="http://schemas.microsoft.com/office/powerpoint/2010/main" val="87674091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16" name="BG"/>
          <p:cNvSpPr/>
          <p:nvPr/>
        </p:nvSpPr>
        <p:spPr>
          <a:xfrm>
            <a:off x="0" y="0"/>
            <a:ext cx="12191695" cy="6858000"/>
          </a:xfrm>
          <a:prstGeom prst="rect">
            <a:avLst/>
          </a:prstGeom>
          <a:solidFill>
            <a:srgbClr val="E9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200" b="1" i="0"/>
              <a:t>Organize an Email Thread in Outlook</a:t>
            </a:r>
          </a:p>
          <a:p xmlns:a="http://schemas.openxmlformats.org/drawingml/2006/main">
            <a:r>
              <a:rPr sz="1700" b="0" i="1"/>
              <a:t>Choose the result you need</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Use only messages and attachments you can access · write “Not stated” instead of guessing · cite the supporting sender and date · do not send anything.</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 xmlns:a="http://schemas.openxmlformats.org/drawingml/2006/main">
        <p:nvSpPr>
          <p:cNvPr id="17" name="copilot-where"/>
          <p:cNvSpPr/>
          <p:nvPr/>
        </p:nvSpPr>
        <p:spPr>
          <a:xfrm>
            <a:off x="612648" y="5138928"/>
            <a:ext cx="10972800" cy="566928"/>
          </a:xfrm>
          <a:prstGeom prst="rect">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54864" rIns="109728">
            <a:noAutofit/>
          </a:bodyPr>
          <a:lstStyle/>
          <a:p>
            <a:pPr algn="l"/>
            <a:r>
              <a:rPr sz="1050" b="1">
                <a:solidFill>
                  <a:srgbClr val="0A5B5A"/>
                </a:solidFill>
                <a:latin typeface="Calibri"/>
              </a:rPr>
              <a:t>WHERE TO CLICK IN OUTLOOK →  </a:t>
            </a:r>
            <a:r>
              <a:rPr sz="1000" b="0">
                <a:solidFill>
                  <a:srgbClr val="232A31"/>
                </a:solidFill>
                <a:latin typeface="Calibri"/>
              </a:rPr>
              <a:t>Open the thread — the “Summary by Copilot” banner sits at the top of the reading pane; click Summarize. For drafting, select the Copilot button on the Home ribbon → Draft with Copilot. Icon missing? Your account needs a Microsoft 365 Copilot license — check with IT.</a:t>
            </a:r>
          </a:p>
        </p:txBody>
      </p:sp>
      <p:sp xmlns:a="http://schemas.openxmlformats.org/drawingml/2006/main">
        <p:nvSpPr>
          <p:cNvPr id="18" name="ex-box-panel"/>
          <p:cNvSpPr/>
          <p:nvPr/>
        </p:nvSpPr>
        <p:spPr>
          <a:xfrm>
            <a:off x="612648" y="1847088"/>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CATCH ME UP</a:t>
            </a:r>
          </a:p>
          <a:p>
            <a:pPr algn="l"/>
            <a:r>
              <a:rPr sz="1200" b="0">
                <a:solidFill>
                  <a:srgbClr val="232A31"/>
                </a:solidFill>
                <a:latin typeface="Calibri"/>
              </a:rPr>
              <a:t>“Summarize the current situation in three sentences.”</a:t>
            </a:r>
          </a:p>
        </p:txBody>
      </p:sp>
      <p:sp xmlns:a="http://schemas.openxmlformats.org/drawingml/2006/main">
        <p:nvSpPr>
          <p:cNvPr id="19" name="ex-box-panel"/>
          <p:cNvSpPr/>
          <p:nvPr/>
        </p:nvSpPr>
        <p:spPr>
          <a:xfrm>
            <a:off x="612648" y="2651760"/>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WHAT CHANGED · WHO OWES WHAT</a:t>
            </a:r>
          </a:p>
          <a:p>
            <a:pPr algn="l"/>
            <a:r>
              <a:rPr sz="1200" b="0">
                <a:solidFill>
                  <a:srgbClr val="232A31"/>
                </a:solidFill>
                <a:latin typeface="Calibri"/>
              </a:rPr>
              <a:t>“List changed dates or decisions and show the latest version.” · “Create a table with task, owner, due date, and dependency.”</a:t>
            </a:r>
          </a:p>
        </p:txBody>
      </p:sp>
      <p:sp xmlns:a="http://schemas.openxmlformats.org/drawingml/2006/main">
        <p:nvSpPr>
          <p:cNvPr id="20" name="ex-box-panel"/>
          <p:cNvSpPr/>
          <p:nvPr/>
        </p:nvSpPr>
        <p:spPr>
          <a:xfrm>
            <a:off x="612648" y="3456432"/>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WHAT REMAINS OPEN</a:t>
            </a:r>
          </a:p>
          <a:p>
            <a:pPr algn="l"/>
            <a:r>
              <a:rPr sz="1200" b="0">
                <a:solidFill>
                  <a:srgbClr val="232A31"/>
                </a:solidFill>
                <a:latin typeface="Calibri"/>
              </a:rPr>
              <a:t>“List unanswered questions, approval conditions, and missing attachments.”</a:t>
            </a:r>
          </a:p>
        </p:txBody>
      </p:sp>
      <p:sp xmlns:a="http://schemas.openxmlformats.org/drawingml/2006/main">
        <p:nvSpPr>
          <p:cNvPr id="21" name="ex-box-panel"/>
          <p:cNvSpPr/>
          <p:nvPr/>
        </p:nvSpPr>
        <p:spPr>
          <a:xfrm>
            <a:off x="612648" y="4261104"/>
            <a:ext cx="10972800" cy="7315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PREPARE MY REPLY</a:t>
            </a:r>
          </a:p>
          <a:p>
            <a:pPr algn="l"/>
            <a:r>
              <a:rPr sz="1200" b="0">
                <a:solidFill>
                  <a:srgbClr val="232A31"/>
                </a:solidFill>
                <a:latin typeface="Calibri"/>
              </a:rPr>
              <a:t>“Draft a concise response. Use brackets where I still need to decide. Do not invent commitments.”</a:t>
            </a:r>
          </a:p>
        </p:txBody>
      </p:sp>
    </p:spTree>
    <p:extLst>
      <p:ext uri="{BB962C8B-B14F-4D97-AF65-F5344CB8AC3E}">
        <p14:creationId xmlns:p14="http://schemas.microsoft.com/office/powerpoint/2010/main" val="182227215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E9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2900" b="1">
                <a:solidFill>
                  <a:srgbClr val="232A31"/>
                </a:solidFill>
                <a:latin typeface="Calibri"/>
                <a:ea typeface="Calibri"/>
                <a:cs typeface="Calibri"/>
              </a:rPr>
              <a:t>Outlook Exercise: Decisions, Actions, and Open Questions</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Your brief is checked against the instructor key — the thread has planted traps. Attempt first.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90–91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44</a:t>
            </a:r>
          </a:p>
        </p:txBody>
      </p:sp>
      <p:sp xmlns:a="http://schemas.openxmlformats.org/drawingml/2006/main">
        <p:nvSpPr>
          <p:cNvPr id="10" name="ex-box-panel"/>
          <p:cNvSpPr/>
          <p:nvPr/>
        </p:nvSpPr>
        <p:spPr>
          <a:xfrm>
            <a:off x="612648" y="1920240"/>
            <a:ext cx="10972800" cy="210312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“Review this thread using only the messages and attachments you can access. Give me the current status, confirmed decisions and conditions, action items with owner and due date, changed dates or commitments, unanswered questions, missing attachments, and messages that need a reply. Write ‘Not stated’ when the thread does not say. Cite the supporting message by sender and date.”</a:t>
            </a:r>
          </a:p>
        </p:txBody>
      </p:sp>
      <p:sp xmlns:a="http://schemas.openxmlformats.org/drawingml/2006/main">
        <p:nvSpPr>
          <p:cNvPr id="11" name="ex-note"/>
          <p:cNvSpPr/>
          <p:nvPr/>
        </p:nvSpPr>
        <p:spPr>
          <a:xfrm>
            <a:off x="612648" y="4169663"/>
            <a:ext cx="109728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a:solidFill>
                  <a:srgbClr val="46545F"/>
                </a:solidFill>
                <a:latin typeface="Calibri"/>
              </a:rPr>
              <a:t>Run it after the built-in summary, in the Copilot chat pane on the same conversation — or paste Packaging_Change_Thread.txt into an approved assistant.</a:t>
            </a:r>
          </a:p>
        </p:txBody>
      </p:sp>
    </p:spTree>
    <p:extLst>
      <p:ext uri="{BB962C8B-B14F-4D97-AF65-F5344CB8AC3E}">
        <p14:creationId xmlns:p14="http://schemas.microsoft.com/office/powerpoint/2010/main" val="165831923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Extract Supplier Quotes into Excel</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Files: Quote_Alpha_Components.pdf · Quote_Bravo_Plastics.pdf · Quote_Cardinal_Metals.pdf — full prompt: workbook tab Quote-Extract.</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45</a:t>
            </a:r>
          </a:p>
        </p:txBody>
      </p:sp>
      <p:sp xmlns:a="http://schemas.openxmlformats.org/drawingml/2006/main">
        <p:nvSpPr>
          <p:cNvPr id="10" name="ex-box-panel"/>
          <p:cNvSpPr/>
          <p:nvPr/>
        </p:nvSpPr>
        <p:spPr>
          <a:xfrm>
            <a:off x="612648" y="1920240"/>
            <a:ext cx="10972800" cy="26060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“Review the attached supplier quotation files and create an editable Excel workbook. Create a Raw Extraction sheet with one row per quotation: supplier, quoted scope, currency, quoted quantity, unit price, tooling or other one-time charges, freight, taxes, lead time, payment terms, quote validity, exclusions, source file, source page, and missing information.”</a:t>
            </a:r>
          </a:p>
          <a:p>
            <a:pPr algn="l"/>
            <a:r>
              <a:rPr sz="1400" b="0">
                <a:solidFill>
                  <a:srgbClr val="232A31"/>
                </a:solidFill>
                <a:latin typeface="Calibri"/>
              </a:rPr>
              <a:t>“Copy values exactly as stated. Keep currencies, quantities, and units in their original form. Write ‘Not stated’ when a field is absent. Do not normalize, rank, or recommend yet. Cite the source file and page for every extracted commercial value.”</a:t>
            </a:r>
          </a:p>
        </p:txBody>
      </p:sp>
      <p:sp xmlns:a="http://schemas.openxmlformats.org/drawingml/2006/main">
        <p:nvSpPr>
          <p:cNvPr id="11" name="ex-note"/>
          <p:cNvSpPr/>
          <p:nvPr/>
        </p:nvSpPr>
        <p:spPr>
          <a:xfrm>
            <a:off x="612648" y="4663440"/>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a:solidFill>
                  <a:srgbClr val="46545F"/>
                </a:solidFill>
                <a:latin typeface="Calibri"/>
              </a:rPr>
              <a:t>Step one is faithful extraction and traceability — judgment comes next.</a:t>
            </a:r>
          </a:p>
        </p:txBody>
      </p:sp>
    </p:spTree>
    <p:extLst>
      <p:ext uri="{BB962C8B-B14F-4D97-AF65-F5344CB8AC3E}">
        <p14:creationId xmlns:p14="http://schemas.microsoft.com/office/powerpoint/2010/main" val="52634781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9" name="BG"/>
          <p:cNvSpPr/>
          <p:nvPr/>
        </p:nvSpPr>
        <p:spPr>
          <a:xfrm>
            <a:off x="0" y="0"/>
            <a:ext cx="12191695" cy="6858000"/>
          </a:xfrm>
          <a:prstGeom prst="rect">
            <a:avLst/>
          </a:prstGeom>
          <a:solidFill>
            <a:srgbClr val="FBF0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2:30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300" b="1">
                <a:solidFill>
                  <a:srgbClr val="232A31"/>
                </a:solidFill>
                <a:latin typeface="Calibri"/>
                <a:ea typeface="Calibri"/>
                <a:cs typeface="Calibri"/>
              </a:rPr>
              <a:t>Normalize and Compare the Supplier Quotes</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700" b="1">
                <a:solidFill>
                  <a:srgbClr val="3D4B50"/>
                </a:solidFill>
                <a:latin typeface="Calibri"/>
                <a:ea typeface="Calibri"/>
                <a:cs typeface="Calibri"/>
              </a:rPr>
              <a:t>No winner while the basis is incomplete — prepared example: Quote_Comparison_Workbook.xlsx · tab Quote-Compare.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 xmlns:a="http://schemas.openxmlformats.org/drawingml/2006/main">
        <p:nvSpPr>
          <p:cNvPr id="10" name="ex-box-panel"/>
          <p:cNvSpPr/>
          <p:nvPr/>
        </p:nvSpPr>
        <p:spPr>
          <a:xfrm>
            <a:off x="612648" y="1920240"/>
            <a:ext cx="10972800" cy="2606040"/>
          </a:xfrm>
          <a:prstGeom prst="rect">
            <a:avLst/>
          </a:prstGeom>
          <a:solidFill>
            <a:srgbClr val="FFFFFF"/>
          </a:solidFill>
          <a:ln w="12700">
            <a:solidFill>
              <a:srgbClr val="A7B0B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46304" tIns="73152" bIns="54864">
            <a:noAutofit/>
          </a:bodyPr>
          <a:lstStyle/>
          <a:p>
            <a:pPr algn="l"/>
            <a:r>
              <a:rPr sz="1500" b="1">
                <a:solidFill>
                  <a:srgbClr val="875012"/>
                </a:solidFill>
                <a:latin typeface="Calibri"/>
              </a:rPr>
              <a:t>THE PROMPT</a:t>
            </a:r>
          </a:p>
          <a:p>
            <a:pPr algn="l"/>
            <a:r>
              <a:rPr sz="1400" b="0">
                <a:solidFill>
                  <a:srgbClr val="232A31"/>
                </a:solidFill>
                <a:latin typeface="Calibri"/>
              </a:rPr>
              <a:t>“Using the Raw Extraction sheet, create a Normalized Comparison sheet. Normalize quantities, units, or currencies only when the conversion rule or basis is supplied. Keep every original extracted value visible. Flag differences in scope, assumptions, exclusions, and commercial terms. Show formulas for comparable totals.”</a:t>
            </a:r>
          </a:p>
          <a:p>
            <a:pPr algn="l"/>
            <a:r>
              <a:rPr sz="1400" b="0">
                <a:solidFill>
                  <a:srgbClr val="232A31"/>
                </a:solidFill>
                <a:latin typeface="Calibri"/>
              </a:rPr>
              <a:t>“Do not identify a best quote until the comparison basis is complete. List the missing information and unresolved questions that prevent a fair recommendation.”</a:t>
            </a:r>
          </a:p>
        </p:txBody>
      </p:sp>
      <p:sp xmlns:a="http://schemas.openxmlformats.org/drawingml/2006/main">
        <p:nvSpPr>
          <p:cNvPr id="11" name="ex-note"/>
          <p:cNvSpPr/>
          <p:nvPr/>
        </p:nvSpPr>
        <p:spPr>
          <a:xfrm>
            <a:off x="612648" y="4663440"/>
            <a:ext cx="10972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l"/>
            <a:r>
              <a:rPr sz="1300" b="0">
                <a:solidFill>
                  <a:srgbClr val="46545F"/>
                </a:solidFill>
                <a:latin typeface="Calibri"/>
              </a:rPr>
              <a:t>The trap: the cheapest-looking quote stops looking cheapest once tooling, freight, currency, and scope are on the table.</a:t>
            </a:r>
          </a:p>
        </p:txBody>
      </p:sp>
    </p:spTree>
    <p:extLst>
      <p:ext uri="{BB962C8B-B14F-4D97-AF65-F5344CB8AC3E}">
        <p14:creationId xmlns:p14="http://schemas.microsoft.com/office/powerpoint/2010/main" val="52634781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