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8" r:id="R1fbfbc89ece44e43"/>
    <p:sldId xmlns:r="http://schemas.openxmlformats.org/officeDocument/2006/relationships" id="289" r:id="Rc8d585cd4e5649e6"/>
    <p:sldId xmlns:r="http://schemas.openxmlformats.org/officeDocument/2006/relationships" id="290" r:id="R93d4d1d0de584694"/>
    <p:sldId xmlns:r="http://schemas.openxmlformats.org/officeDocument/2006/relationships" id="291" r:id="R72360af60b1244c5"/>
    <p:sldId xmlns:r="http://schemas.openxmlformats.org/officeDocument/2006/relationships" id="292" r:id="Rdb3d43f0242a4fac"/>
    <p:sldId xmlns:r="http://schemas.openxmlformats.org/officeDocument/2006/relationships" id="293" r:id="Rc671bf21a3eb43f1"/>
    <p:sldId xmlns:r="http://schemas.openxmlformats.org/officeDocument/2006/relationships" id="294" r:id="Rc4414996e3934b5d"/>
    <p:sldId xmlns:r="http://schemas.openxmlformats.org/officeDocument/2006/relationships" id="295" r:id="R19fb9c5b0ac74759"/>
    <p:sldId xmlns:r="http://schemas.openxmlformats.org/officeDocument/2006/relationships" id="296" r:id="R807c75ee14994fe2"/>
    <p:sldId xmlns:r="http://schemas.openxmlformats.org/officeDocument/2006/relationships" id="297" r:id="R186fa38805ad4cc8"/>
    <p:sldId xmlns:r="http://schemas.openxmlformats.org/officeDocument/2006/relationships" id="298" r:id="R774ece67fad84555"/>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2.xml"/><Relationship Id="R19fb9c5b0ac74759" Type="http://schemas.openxmlformats.org/officeDocument/2006/relationships/slide" Target="slides/slide40.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33.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6.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43.xml"/><Relationship Id="R7ff20651f7f24b61" Type="http://schemas.openxmlformats.org/officeDocument/2006/relationships/slide" Target="slides/slide52.xml"/><Relationship Id="R807c75ee14994fe2" Type="http://schemas.openxmlformats.org/officeDocument/2006/relationships/slide" Target="slides/slide41.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5.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9.xml"/><Relationship Id="Rc5e85b598ee44992" Type="http://schemas.openxmlformats.org/officeDocument/2006/relationships/slide" Target="slides/slide63.xml"/><Relationship Id="Rc671bf21a3eb43f1" Type="http://schemas.openxmlformats.org/officeDocument/2006/relationships/slide" Target="slides/slide38.xml"/><Relationship Id="Rc75194e0feac4b09" Type="http://schemas.openxmlformats.org/officeDocument/2006/relationships/slide" Target="slides/slide6.xml"/><Relationship Id="Rc8d585cd4e5649e6" Type="http://schemas.openxmlformats.org/officeDocument/2006/relationships/slide" Target="slides/slide34.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7.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4.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5.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2.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“Optional practice: a course-log study aid”.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Generated reflection supports recall but does not prove skill.</a:t>
            </a:r>
            <a:endParaRPr/>
          </a:p>
          <a:p xmlns:a="http://schemas.openxmlformats.org/drawingml/2006/main">
            <a:r>
              <a:t/>
            </a:r>
            <a:endParaRPr/>
          </a:p>
          <a:p xmlns:a="http://schemas.openxmlformats.org/drawingml/2006/main">
            <a:r>
              <a:t>SAY:</a:t>
            </a:r>
            <a:endParaRPr/>
          </a:p>
          <a:p xmlns:a="http://schemas.openxmlformats.org/drawingml/2006/main">
            <a:r>
              <a:t>- This optional activity turns a course log into a study aid.</a:t>
            </a:r>
            <a:endParaRPr/>
          </a:p>
          <a:p xmlns:a="http://schemas.openxmlformats.org/drawingml/2006/main">
            <a:r>
              <a:t>- A generated summary supports recall but does not prove that the learner can do the task.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4: Putting Prompts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3</a:t>
            </a:r>
            <a:endParaRPr/>
          </a:p>
          <a:p xmlns:a="http://schemas.openxmlformats.org/drawingml/2006/main">
            <a:r>
              <a:t>31</a:t>
            </a:r>
            <a:endParaRPr/>
          </a:p>
          <a:p xmlns:a="http://schemas.openxmlformats.org/drawingml/2006/main">
            <a:r>
              <a:t>YOUR TURN — TURN YOUR COURSE LOG INTO A REPORT</a:t>
            </a:r>
            <a:endParaRPr/>
          </a:p>
          <a:p xmlns:a="http://schemas.openxmlformats.org/drawingml/2006/main">
            <a:r>
              <a:t>One prompt, one keepsake report</a:t>
            </a:r>
            <a:endParaRPr/>
          </a:p>
          <a:p xmlns:a="http://schemas.openxmlformats.org/drawingml/2006/main">
            <a:r>
              <a:t>3:00</a:t>
            </a:r>
            <a:endParaRPr/>
          </a:p>
          <a:p xmlns:a="http://schemas.openxmlformats.org/drawingml/2006/main">
            <a:r>
              <a:t>STEP 1  ·  TYPE THIS → “List every prompt I have run in this course log, in order — one line each: what it did, and which element or move it taught.”</a:t>
            </a:r>
            <a:endParaRPr/>
          </a:p>
          <a:p xmlns:a="http://schemas.openxmlformats.org/drawingml/2006/main">
            <a:r>
              <a:t>WHY → the log replays your whole course — every numbered prompt is in there.</a:t>
            </a:r>
            <a:endParaRP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endParaRPr/>
          </a:p>
          <a:p xmlns:a="http://schemas.openxmlformats.org/drawingml/2006/main">
            <a:r>
              <a:t>WHY → your examples, your report — with the Out and the Stop doing their jobs.</a:t>
            </a:r>
            <a:endParaRPr/>
          </a:p>
          <a:p xmlns:a="http://schemas.openxmlformats.org/drawingml/2006/main">
            <a:r>
              <a:t>Both prompts are in tab EX-Report of your Course Workbook — run them in the course log you opened with Prompt 1.</a:t>
            </a:r>
            <a:endParaRPr/>
          </a:p>
          <a:p xmlns:a="http://schemas.openxmlformats.org/drawingml/2006/main">
            <a:r>
              <a:t>Why this is the closing rep</a:t>
            </a:r>
            <a:endParaRPr/>
          </a:p>
          <a:p xmlns:a="http://schemas.openxmlformats.org/drawingml/2006/main">
            <a:r>
              <a:t>Every numbered prompt you ran taught one move — and your log kept them all. The report writes itself because the raw material is real, yours, and already in the chat.</a:t>
            </a:r>
            <a:endParaRPr/>
          </a:p>
          <a:p xmlns:a="http://schemas.openxmlformats.org/drawingml/2006/main">
            <a:r>
              <a:t/>
            </a:r>
            <a:endParaRPr/>
          </a:p>
          <a:p xmlns:a="http://schemas.openxmlformats.org/drawingml/2006/main">
            <a:r>
              <a:t>Step 1 opened the course by telling the AI to remember; this is the payoff. The report IS your first library entry: name it, date it, keep it.</a:t>
            </a:r>
            <a:endParaRPr/>
          </a:p>
          <a:p xmlns:a="http://schemas.openxmlformats.org/drawingml/2006/main">
            <a:r>
              <a:t>Then compare with a neighbor: </a:t>
            </a:r>
            <a:endParaRPr/>
          </a:p>
          <a:p xmlns:a="http://schemas.openxmlformats.org/drawingml/2006/main">
            <a:r>
              <a:t>same course, different logs — which three prompts made THEIR reuse list, and why? Different fills, same anatomy.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3:00 badge. Frame the payoff: “your very first prompt today told the AI to remember everything — now you collect.” Both steps run in the SAME chat they have used all course (the course log).</a:t>
            </a:r>
            <a:endParaRPr/>
          </a:p>
          <a:p xmlns:a="http://schemas.openxmlformats.org/drawingml/2006/main">
            <a:r>
              <a:t>2) STEP 1: the log lists every prompt it has seen, with what each taught. Let people scroll their own list — that quiet moment of “I did all that” is the point.</a:t>
            </a:r>
            <a:endParaRP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endParaRPr/>
          </a:p>
          <a:p xmlns:a="http://schemas.openxmlformats.org/drawingml/2006/main">
            <a:r>
              <a:t>4) Neighbor compare: which three prompts made THEIR reuse list. Public commitment sticks.</a:t>
            </a:r>
            <a:endParaRP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endParaRPr/>
          </a:p>
          <a:p xmlns:a="http://schemas.openxmlformats.org/drawingml/2006/main">
            <a:r>
              <a:t>6) Skip only under extreme time pressure — this rep converts the course into an artifact they keep.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endParaRPr/>
          </a:p>
          <a:p xmlns:a="http://schemas.openxmlformats.org/drawingml/2006/main">
            <a:r>
              <a:t>The report doubles as Part 6 setup: it is literally their first library entry.</a:t>
            </a:r>
            <a:endParaRPr/>
          </a:p>
          <a:p xmlns:a="http://schemas.openxmlformats.org/drawingml/2006/main">
            <a:r>
              <a:t>31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p xmlns:a="http://schemas.openxmlformats.org/drawingml/2006/main">
            <a:r>
              <a:t>TIME: 0:05</a:t>
            </a:r>
          </a:p>
          <a:p xmlns:a="http://schemas.openxmlformats.org/drawingml/2006/main"/>
          <a:p xmlns:a="http://schemas.openxmlformats.org/drawingml/2006/main">
            <a:r>
              <a:t>PURPOSE: Orient participants and reset attention.</a:t>
            </a:r>
          </a:p>
          <a:p xmlns:a="http://schemas.openxmlformats.org/drawingml/2006/main"/>
          <a:p xmlns:a="http://schemas.openxmlformats.org/drawingml/2006/main">
            <a:r>
              <a:t>LAND THIS: One case runs through all five artifacts: analysis, dashboard, presentation, email brief, plain-language note.</a:t>
            </a:r>
          </a:p>
          <a:p xmlns:a="http://schemas.openxmlformats.org/drawingml/2006/main"/>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p xmlns:a="http://schemas.openxmlformats.org/drawingml/2006/main">
            <a:r>
              <a:t>DO: None.</a:t>
            </a:r>
          </a:p>
          <a:p xmlns:a="http://schemas.openxmlformats.org/drawingml/2006/main"/>
          <a:p xmlns:a="http://schemas.openxmlformats.org/drawingml/2006/main">
            <a:r>
              <a:t>BRIDGE: Move to “A data-analysis brief”.</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32</a:t>
            </a:r>
          </a:p>
          <a:p xmlns:a="http://schemas.openxmlformats.org/drawingml/2006/main">
            <a:r>
              <a:t>1 · PRIMER</a:t>
            </a:r>
          </a:p>
          <a:p xmlns:a="http://schemas.openxmlformats.org/drawingml/2006/main">
            <a:r>
              <a:t>2 · TOOLS</a:t>
            </a:r>
          </a:p>
          <a:p xmlns:a="http://schemas.openxmlformats.org/drawingml/2006/main">
            <a:r>
              <a:t>3 · CRAFT</a:t>
            </a:r>
          </a:p>
          <a:p xmlns:a="http://schemas.openxmlformats.org/drawingml/2006/main">
            <a:r>
              <a:t>4 · PLAYBOOK</a:t>
            </a:r>
          </a:p>
          <a:p xmlns:a="http://schemas.openxmlformats.org/drawingml/2006/main">
            <a:r>
              <a:t>5 · AGENTS</a:t>
            </a:r>
          </a:p>
          <a:p xmlns:a="http://schemas.openxmlformats.org/drawingml/2006/main">
            <a:r>
              <a:t>6 · ASSETS</a:t>
            </a:r>
          </a:p>
          <a:p xmlns:a="http://schemas.openxmlformats.org/drawingml/2006/main">
            <a:r>
              <a:t>PART 4 · THE PLAYBOOK</a:t>
            </a:r>
          </a:p>
          <a:p xmlns:a="http://schemas.openxmlformats.org/drawingml/2006/main">
            <a:r>
              <a:t>Thirteen templates,</a:t>
            </a:r>
          </a:p>
          <a:p xmlns:a="http://schemas.openxmlformats.org/drawingml/2006/main">
            <a:r>
              <a:t>ready to copy</a:t>
            </a:r>
          </a:p>
          <a:p xmlns:a="http://schemas.openxmlformats.org/drawingml/2006/main">
            <a:r>
              <a:t>Eight generative + five agentic, shipped with this training in prompt-library/.</a:t>
            </a:r>
          </a:p>
          <a:p xmlns:a="http://schemas.openxmlformats.org/drawingml/2006/main">
            <a:r>
              <a:t>Each: the template · a filled example · why it works · the pitfalls.</a:t>
            </a:r>
          </a:p>
          <a:p xmlns:a="http://schemas.openxmlformats.org/drawingml/2006/main">
            <a:r>
              <a:t>▸ G1 Writing &amp; editing</a:t>
            </a:r>
          </a:p>
          <a:p xmlns:a="http://schemas.openxmlformats.org/drawingml/2006/main">
            <a:r>
              <a:t>▸ G2 Data analysis</a:t>
            </a:r>
          </a:p>
          <a:p xmlns:a="http://schemas.openxmlformats.org/drawingml/2006/main">
            <a:r>
              <a:t>▸ G3 Evaluations &amp; rubrics</a:t>
            </a:r>
          </a:p>
          <a:p xmlns:a="http://schemas.openxmlformats.org/drawingml/2006/main">
            <a:r>
              <a:t>▸ G4 Spreadsheets</a:t>
            </a:r>
          </a:p>
          <a:p xmlns:a="http://schemas.openxmlformats.org/drawingml/2006/main">
            <a:r>
              <a:t>▸ G5 Presentations</a:t>
            </a:r>
          </a:p>
          <a:p xmlns:a="http://schemas.openxmlformats.org/drawingml/2006/main">
            <a:r>
              <a:t>▸ G6 Interactive HTML</a:t>
            </a:r>
          </a:p>
          <a:p xmlns:a="http://schemas.openxmlformats.org/drawingml/2006/main">
            <a:r>
              <a:t>▸ G7 Research briefs</a:t>
            </a:r>
          </a:p>
          <a:p xmlns:a="http://schemas.openxmlformats.org/drawingml/2006/main">
            <a:r>
              <a:t>▸ G8 Summarize &amp; compare</a:t>
            </a:r>
          </a:p>
          <a:p xmlns:a="http://schemas.openxmlformats.org/drawingml/2006/main">
            <a:r>
              <a:t>▸ A1 Mission brief</a:t>
            </a:r>
          </a:p>
          <a:p xmlns:a="http://schemas.openxmlformats.org/drawingml/2006/main">
            <a:r>
              <a:t>▸ A2 ETL → presentation</a:t>
            </a:r>
          </a:p>
          <a:p xmlns:a="http://schemas.openxmlformats.org/drawingml/2006/main">
            <a:r>
              <a:t>▸ A3 Recurring cycle</a:t>
            </a:r>
          </a:p>
          <a:p xmlns:a="http://schemas.openxmlformats.org/drawingml/2006/main">
            <a:r>
              <a:t>▸ A4 CLAUDE.md starter</a:t>
            </a:r>
          </a:p>
          <a:p xmlns:a="http://schemas.openxmlformats.org/drawingml/2006/main">
            <a:r>
              <a:t>▸ A5 Document pipeline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Progress bar: part 4. One frame: “thirteen templates ship with this training — we walk two worked examples end to end and run one live demo; the rest is your handout.”</a:t>
            </a:r>
          </a:p>
          <a:p xmlns:a="http://schemas.openxmlformats.org/drawingml/2006/main">
            <a:r>
              <a:t>2) Point at the list: G = generative, runs in any chat tool; A (in teal) = agentic, for Claude Code / Cowork-class tools — Part 5’s world.</a:t>
            </a:r>
          </a:p>
          <a:p xmlns:a="http://schemas.openxmlformats.org/drawingml/2006/main">
            <a:r>
              <a:t>3) Emphasize once: starting points to adapt, not scripts.</a:t>
            </a:r>
          </a:p>
          <a:p xmlns:a="http://schemas.openxmlformats.org/drawingml/2006/main">
            <a:r>
              <a:t>4) Advance within 30 seconds.</a:t>
            </a:r>
          </a:p>
          <a:p xmlns:a="http://schemas.openxmlformats.org/drawingml/2006/main"/>
          <a:p xmlns:a="http://schemas.openxmlformats.org/drawingml/2006/main">
            <a:r>
              <a:t>ACRONYMS —</a:t>
            </a:r>
          </a:p>
          <a:p xmlns:a="http://schemas.openxmlformats.org/drawingml/2006/main">
            <a:r>
              <a:t>ETL = Extract, Transform, Load — A2’s data-pipeline shape. CLAUDE.md = the standing-instructions file agents read at session start (A4). HTML = the single-file web-page format (G6).</a:t>
            </a:r>
          </a:p>
          <a:p xmlns:a="http://schemas.openxmlformats.org/drawingml/2006/main"/>
          <a:p xmlns:a="http://schemas.openxmlformats.org/drawingml/2006/main">
            <a:r>
              <a:t>CONTENT —</a:t>
            </a:r>
          </a:p>
          <a:p xmlns:a="http://schemas.openxmlformats.org/drawingml/2006/main">
            <a:r>
              <a:t>These are starting points to adapt, not scripts. Generative templates (G) run in any chat assistant; agentic templates (A, in teal) are for Claude Code / Cowork-class tools — Part 5 explains them.</a:t>
            </a:r>
          </a:p>
          <a:p xmlns:a="http://schemas.openxmlformats.org/drawingml/2006/main">
            <a:r>
              <a:t>32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Open the connected case and show incremental prompt improvement.</a:t>
            </a:r>
          </a:p>
          <a:p xmlns:a="http://schemas.openxmlformats.org/drawingml/2006/main"/>
          <a:p xmlns:a="http://schemas.openxmlformats.org/drawingml/2006/main">
            <a:r>
              <a:t>LAND THIS: A prompt improves by adding the requirement that fixes a specific observed weakness.</a:t>
            </a:r>
          </a:p>
          <a:p xmlns:a="http://schemas.openxmlformats.org/drawingml/2006/main"/>
          <a:p xmlns:a="http://schemas.openxmlformats.org/drawingml/2006/main">
            <a:r>
              <a:t>SAY:</a:t>
            </a:r>
          </a:p>
          <a:p xmlns:a="http://schemas.openxmlformats.org/drawingml/2006/main">
            <a:r>
              <a:t>- Read the basic prompt aloud, then ask what it left the model to decide.</a:t>
            </a:r>
          </a:p>
          <a:p xmlns:a="http://schemas.openxmlformats.org/drawingml/2006/main">
            <a:r>
              <a:t>- Each improvement line maps to a requirement type from the earlier lesson; the workbook tab 1-Analyze-Data shows the full iteration.</a:t>
            </a:r>
          </a:p>
          <a:p xmlns:a="http://schemas.openxmlformats.org/drawingml/2006/main">
            <a:r>
              <a:t>- The same cleaned records feed the dashboard, the presentation, and the rest of today’s case.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inspect the workbook”.</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DATA ANALYSIS</a:t>
            </a:r>
          </a:p>
          <a:p xmlns:a="http://schemas.openxmlformats.org/drawingml/2006/main">
            <a:r>
              <a:t>33</a:t>
            </a:r>
          </a:p>
          <a:p xmlns:a="http://schemas.openxmlformats.org/drawingml/2006/main">
            <a:r>
              <a:t>TEMPLATE ANATOMY · G2 · DATA ANALYSIS</a:t>
            </a:r>
          </a:p>
          <a:p xmlns:a="http://schemas.openxmlformats.org/drawingml/2006/main">
            <a:r>
              <a:t>The prompt is a document, not a sentence</a:t>
            </a:r>
          </a:p>
          <a:p xmlns:a="http://schemas.openxmlformats.org/drawingml/2006/main">
            <a:r>
              <a:t>G2_data_analysis.txt — your template, one page</a:t>
            </a:r>
          </a:p>
          <a:p xmlns:a="http://schemas.openxmlformats.org/drawingml/2006/main">
            <a:r>
              <a:t>&lt;role&gt;</a:t>
            </a:r>
          </a:p>
          <a:p xmlns:a="http://schemas.openxmlformats.org/drawingml/2006/main">
            <a:r>
              <a:t>Careful analyst: compute by RUNNING CODE — never mental math. State n. Never drop data silently.</a:t>
            </a:r>
          </a:p>
          <a:p xmlns:a="http://schemas.openxmlformats.org/drawingml/2006/main">
            <a:r>
              <a:t>Why code, not vibes — LLM arithmetic is unreliable; code execution makes the math real. No code tool → don’t trust computed numbers.</a:t>
            </a:r>
          </a:p>
          <a:p xmlns:a="http://schemas.openxmlformats.org/drawingml/2006/main">
            <a:r>
              <a:t>&lt;data&gt;</a:t>
            </a:r>
          </a:p>
          <a:p xmlns:a="http://schemas.openxmlformats.org/drawingml/2006/main">
            <a:r>
              <a:t>File · sheet · header row · what one row means · exact column names · known quirks · metric definitions.</a:t>
            </a:r>
          </a:p>
          <a:p xmlns:a="http://schemas.openxmlformats.org/drawingml/2006/main">
            <a:r>
              <a:t>Why schema first — The model guessing your grain and denominator is the #1 source of wrong answers.</a:t>
            </a:r>
          </a:p>
          <a:p xmlns:a="http://schemas.openxmlformats.org/drawingml/2006/main">
            <a:r>
              <a:t>&lt;task&gt;</a:t>
            </a:r>
          </a:p>
          <a:p xmlns:a="http://schemas.openxmlformats.org/drawingml/2006/main">
            <a:r>
              <a:t>Numbered questions in priority order — “and stop when they’re answered.”</a:t>
            </a:r>
          </a:p>
          <a:p xmlns:a="http://schemas.openxmlformats.org/drawingml/2006/main">
            <a:r>
              <a:t>Why questions, not topics — Topics generate exploration; questions generate answers. The stop prevents ten charts and no answer.</a:t>
            </a:r>
          </a:p>
          <a:p xmlns:a="http://schemas.openxmlformats.org/drawingml/2006/main">
            <a:r>
              <a:t>&lt;method&gt;</a:t>
            </a:r>
          </a:p>
          <a:p xmlns:a="http://schemas.openxmlformats.org/drawingml/2006/main">
            <a:r>
              <a:t>Profile first and show me · reconcile to a known total · flag n &lt; 20 · “associated with”, never “caused by”.</a:t>
            </a:r>
          </a:p>
          <a:p xmlns:a="http://schemas.openxmlformats.org/drawingml/2006/main">
            <a:r>
              <a:t>Why one anchor — One reconciliation beats ten checks — and the language discipline survives into the deck leadership reads.</a:t>
            </a:r>
          </a:p>
          <a:p xmlns:a="http://schemas.openxmlformats.org/drawingml/2006/main">
            <a:r>
              <a:t>&lt;format&gt;</a:t>
            </a:r>
          </a:p>
          <a:p xmlns:a="http://schemas.openxmlformats.org/drawingml/2006/main">
            <a:r>
              <a:t>Headline answer with the number FIRST, then the table; assumptions and caveats at the end.</a:t>
            </a:r>
          </a:p>
          <a:p xmlns:a="http://schemas.openxmlformats.org/drawingml/2006/main">
            <a:r>
              <a:t>Why answer-first — You read the answer in 10 seconds and audit the rest only if it matters.</a:t>
            </a:r>
          </a:p>
          <a:p xmlns:a="http://schemas.openxmlformats.org/drawingml/2006/main">
            <a:r>
              <a:t>✂ Copy-paste, don’t retype: the full G2 template — blanks marked — is in tab G2-DataAnalysis of your Course Workbook; every prompt in this course lives in a named tab there.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with the visual: “THIS is what a serious prompt looks like — a one-page DOCUMENT with labeled blocks, not a sentence. The other twelve templates share this shape.”</a:t>
            </a:r>
          </a:p>
          <a:p xmlns:a="http://schemas.openxmlformats.org/drawingml/2006/main">
            <a:r>
              <a:t>2) Walk the page TOP TO BOTTOM; per block: name it, one line on what goes in, then read the matching right-hand WHY aloud — the why is the teaching.</a:t>
            </a:r>
          </a:p>
          <a:p xmlns:a="http://schemas.openxmlformats.org/drawingml/2006/main">
            <a:r>
              <a:t>3) Slow on &lt;method&gt;: “reconcile to a known total — one anchor beats ten checks.”</a:t>
            </a:r>
          </a:p>
          <a:p xmlns:a="http://schemas.openxmlformats.org/drawingml/2006/main">
            <a:r>
              <a:t>4) Teal band — the workbook system, said once for the whole course: every prompt they will ever need today is copy-paste ready in a NAMED TAB of the Course Workbook. Nobody retypes anything.</a:t>
            </a:r>
          </a:p>
          <a:p xmlns:a="http://schemas.openxmlformats.org/drawingml/2006/main"/>
          <a:p xmlns:a="http://schemas.openxmlformats.org/drawingml/2006/main">
            <a:r>
              <a:t>BRIDGE —</a:t>
            </a:r>
          </a:p>
          <a:p xmlns:a="http://schemas.openxmlformats.org/drawingml/2006/main">
            <a:r>
              <a:t>“Enough anatomy — let’s RUN it, on a real file, step by step.”</a:t>
            </a:r>
          </a:p>
          <a:p xmlns:a="http://schemas.openxmlformats.org/drawingml/2006/main"/>
          <a:p xmlns:a="http://schemas.openxmlformats.org/drawingml/2006/main">
            <a:r>
              <a:t>ACRONYMS —</a:t>
            </a:r>
          </a:p>
          <a:p xmlns:a="http://schemas.openxmlformats.org/drawingml/2006/main">
            <a:r>
              <a:t>LLM = Large Language Model. n = sample size (flag n &lt; 20). G2 = this template’s library code.</a:t>
            </a:r>
          </a:p>
          <a:p xmlns:a="http://schemas.openxmlformats.org/drawingml/2006/main"/>
          <a:p xmlns:a="http://schemas.openxmlformats.org/drawingml/2006/main">
            <a:r>
              <a:t>CONTENT —</a:t>
            </a:r>
          </a:p>
          <a:p xmlns:a="http://schemas.openxmlformats.org/drawingml/2006/main">
            <a:r>
              <a:t>v1.6: rebuilt as a document mock with side-car whys (owner: more visual); workbook-tab pointer added (owner: all prompts copyable from Excel).</a:t>
            </a: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p>
          <a:p xmlns:a="http://schemas.openxmlformats.org/drawingml/2006/main">
            <a:r>
              <a:t>For recurring or multi-file pipelines, the agentic sibling is A2 (Part 5).</a:t>
            </a:r>
          </a:p>
          <a:p xmlns:a="http://schemas.openxmlformats.org/drawingml/2006/main">
            <a:r>
              <a:t>33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Inspect the data and its boundaries before asking for conclusions.</a:t>
            </a:r>
          </a:p>
          <a:p xmlns:a="http://schemas.openxmlformats.org/drawingml/2006/main"/>
          <a:p xmlns:a="http://schemas.openxmlformats.org/drawingml/2006/main">
            <a:r>
              <a:t>SAY:</a:t>
            </a:r>
          </a:p>
          <a:p xmlns:a="http://schemas.openxmlformats.org/drawingml/2006/main">
            <a:r>
              <a:t>- Give participants Course_Workbook.xlsx (Data tab) or demonstrate from the prepared file.</a:t>
            </a:r>
          </a:p>
          <a:p xmlns:a="http://schemas.openxmlformats.org/drawingml/2006/main">
            <a:r>
              <a:t>- Allow one minute to run the profile and one minute to inspect the response.</a:t>
            </a:r>
          </a:p>
          <a:p xmlns:a="http://schemas.openxmlformats.org/drawingml/2006/main">
            <a:r>
              <a:t>- Debrief why a total row and a missing measurement need different treatment.</a:t>
            </a:r>
          </a:p>
          <a:p xmlns:a="http://schemas.openxmlformats.org/drawingml/2006/main"/>
          <a:p xmlns:a="http://schemas.openxmlformats.org/drawingml/2006/main">
            <a:r>
              <a:t>DO: 0:00–0:30 open the file; 0:30–1:30 run the profile; 1:30–2:30 inspect exclusions and missing value; 2:30–3:00 compare with the success check.</a:t>
            </a:r>
          </a:p>
          <a:p xmlns:a="http://schemas.openxmlformats.org/drawingml/2006/main"/>
          <a:p xmlns:a="http://schemas.openxmlformats.org/drawingml/2006/main">
            <a:r>
              <a:t>BRIDGE: Move to “Exercise: compare suppliers and check the result”.</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34</a:t>
            </a:r>
          </a:p>
          <a:p xmlns:a="http://schemas.openxmlformats.org/drawingml/2006/main">
            <a:r>
              <a:t>WALKTHROUGH · AI DATA ANALYSIS — THE SETUP</a:t>
            </a:r>
          </a:p>
          <a:p xmlns:a="http://schemas.openxmlformats.org/drawingml/2006/main">
            <a:r>
              <a:t>A real file, a real sequence — any AI tool</a:t>
            </a:r>
          </a:p>
          <a:p xmlns:a="http://schemas.openxmlformats.org/drawingml/2006/main">
            <a:r>
              <a:t>Your practice data (in the Course Workbook)</a:t>
            </a:r>
          </a:p>
          <a:p xmlns:a="http://schemas.openxmlformats.org/drawingml/2006/main">
            <a:r>
              <a:t>Course_Workbook.xlsx, Data tab — 12 months of fictional supplier deliveries: 4 sites × 3 suppliers, 144 rows (units, returns, defects, inspection hours, cost, on-time).</a:t>
            </a:r>
          </a:p>
          <a:p xmlns:a="http://schemas.openxmlformats.org/drawingml/2006/main">
            <a:r>
              <a:t>The README tab defines every column — that tab IS your &lt;data&gt; block: paste it, don’t retype it.</a:t>
            </a:r>
          </a:p>
          <a:p xmlns:a="http://schemas.openxmlformats.org/drawingml/2006/main">
            <a:r>
              <a:t>Two quirks are planted on purpose. A good first prompt finds both.</a:t>
            </a:r>
          </a:p>
          <a:p xmlns:a="http://schemas.openxmlformats.org/drawingml/2006/main">
            <a:r>
              <a:t>The rule the whole walkthrough teaches: </a:t>
            </a:r>
          </a:p>
          <a:p xmlns:a="http://schemas.openxmlformats.org/drawingml/2006/main">
            <a:r>
              <a:t>never start with a question. Start by making the AI LOOK at the data and tell you what it sees — profile first, analyze second. Every wrong answer you’ve ever gotten from AI data analysis started with a skipped profile.</a:t>
            </a:r>
          </a:p>
          <a:p xmlns:a="http://schemas.openxmlformats.org/drawingml/2006/main">
            <a:r>
              <a:t>1</a:t>
            </a:r>
          </a:p>
          <a:p xmlns:a="http://schemas.openxmlformats.org/drawingml/2006/main">
            <a:r>
              <a:t>UPLOAD the workbook to your AI</a:t>
            </a:r>
          </a:p>
          <a:p xmlns:a="http://schemas.openxmlformats.org/drawingml/2006/main">
            <a:r>
              <a:t>2</a:t>
            </a:r>
          </a:p>
          <a:p xmlns:a="http://schemas.openxmlformats.org/drawingml/2006/main">
            <a:r>
              <a:t>TYPE THIS — then wait (tab G2-DataAnalysis)</a:t>
            </a:r>
          </a:p>
          <a:p xmlns:a="http://schemas.openxmlformats.org/drawingml/2006/main">
            <a:r>
              <a:t>Work only with the Data tab of this workbook. Before any analysis: profile it — rows, columns, types, missing or odd values, and anything that would trip a calculation. Show me the profile and STOP. Do not analyze yet.</a:t>
            </a:r>
          </a:p>
          <a:p xmlns:a="http://schemas.openxmlformats.org/drawingml/2006/main">
            <a:r>
              <a:t>3</a:t>
            </a:r>
          </a:p>
          <a:p xmlns:a="http://schemas.openxmlformats.org/drawingml/2006/main">
            <a:r>
              <a:t>CHECK the profile against this reveal</a:t>
            </a:r>
          </a:p>
          <a:p xmlns:a="http://schemas.openxmlformats.org/drawingml/2006/main">
            <a:r>
              <a:t>A good profile finds: 144 data rows + a TOTAL row to exclude · one Inspection_Hours cell that says “n/a” · clean types elsewhere. Missed a quirk? That’s why this step exists — tell it, and make it re-profile.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“we picked data analysis as walkthrough #1 because it is the single most-used office AI case — and the easiest to get quietly wrong.”</a:t>
            </a:r>
          </a:p>
          <a:p xmlns:a="http://schemas.openxmlformats.org/drawingml/2006/main">
            <a:r>
              <a:t>2) LEFT top: the practice data lives in the Course Workbook everyone already has — Data tab is the dataset, README tab is the &lt;data&gt; block from G2, ready-made.</a:t>
            </a:r>
          </a:p>
          <a:p xmlns:a="http://schemas.openxmlformats.org/drawingml/2006/main">
            <a:r>
              <a:t>3) Teal card — the rule, verbatim: never start with a question; profile first, analyze second.</a:t>
            </a:r>
          </a:p>
          <a:p xmlns:a="http://schemas.openxmlformats.org/drawingml/2006/main">
            <a:r>
              <a:t>4) RIGHT: the numbered sequence ① upload ② type-and-wait ③ check — run it live (Copilot in Excel, a chat upload, or the company assistant — same prompt works in all three).</a:t>
            </a:r>
          </a:p>
          <a:p xmlns:a="http://schemas.openxmlformats.org/drawingml/2006/main">
            <a:r>
              <a:t>5) The ③ reveal: the file has two planted traps; a good profile catches both. If the room’s AI missed one, that IS the lesson.</a:t>
            </a:r>
          </a:p>
          <a:p xmlns:a="http://schemas.openxmlformats.org/drawingml/2006/main"/>
          <a:p xmlns:a="http://schemas.openxmlformats.org/drawingml/2006/main">
            <a:r>
              <a:t>BRIDGE —</a:t>
            </a:r>
          </a:p>
          <a:p xmlns:a="http://schemas.openxmlformats.org/drawingml/2006/main">
            <a:r>
              <a:t>“Data profiled and trusted — now the questions.”</a:t>
            </a:r>
          </a:p>
          <a:p xmlns:a="http://schemas.openxmlformats.org/drawingml/2006/main"/>
          <a:p xmlns:a="http://schemas.openxmlformats.org/drawingml/2006/main">
            <a:r>
              <a:t>ACRONYMS —</a:t>
            </a:r>
          </a:p>
          <a:p xmlns:a="http://schemas.openxmlformats.org/drawingml/2006/main">
            <a:r>
              <a:t>RAG = Retrieval-Augmented Generation (Part 1) — “your company RAG assistant” = the internal upload-and-ask tool.</a:t>
            </a:r>
          </a:p>
          <a:p xmlns:a="http://schemas.openxmlformats.org/drawingml/2006/main"/>
          <a:p xmlns:a="http://schemas.openxmlformats.org/drawingml/2006/main">
            <a:r>
              <a:t>CONTENT —</a:t>
            </a:r>
          </a:p>
          <a:p xmlns:a="http://schemas.openxmlformats.org/drawingml/2006/main">
            <a:r>
              <a:t>v1.6: sequence rebuilt as the vertical ①②③ flow (owner: order was confusing); dataset folded into Course_Workbook.xlsx (Data + README tabs) so trainees carry ONE file.</a:t>
            </a:r>
          </a:p>
          <a:p xmlns:a="http://schemas.openxmlformats.org/drawingml/2006/main">
            <a:r>
              <a:t>The workbook lives in deliverables/ and regenerates from src/build_exercise_pack.py (seeded — the numbers quoted on these slides stay true after a rebuild).</a:t>
            </a:r>
          </a:p>
          <a:p xmlns:a="http://schemas.openxmlformats.org/drawingml/2006/main">
            <a:r>
              <a:t>Planted quirks: TOTAL row at the bottom; “n/a” text in Inspection_Hours around row 38. Both documented in the README tab.</a:t>
            </a:r>
          </a:p>
          <a:p xmlns:a="http://schemas.openxmlformats.org/drawingml/2006/main">
            <a:r>
              <a:t>All data fictional and generated — safe to upload anywhere policy allows.</a:t>
            </a:r>
          </a:p>
          <a:p xmlns:a="http://schemas.openxmlformats.org/drawingml/2006/main">
            <a:r>
              <a:t>34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Make verification and evidence limits part of the prompting skill.</a:t>
            </a:r>
            <a:endParaRPr/>
          </a:p>
          <a:p xmlns:a="http://schemas.openxmlformats.org/drawingml/2006/main">
            <a:r>
              <a:t/>
            </a:r>
            <a:endParaRPr/>
          </a:p>
          <a:p xmlns:a="http://schemas.openxmlformats.org/drawingml/2006/main">
            <a:r>
              <a:t>LAND THIS: Correct calculations, honest limits, and reconciliation matter more than confident prose.</a:t>
            </a:r>
            <a:endParaRPr/>
          </a:p>
          <a:p xmlns:a="http://schemas.openxmlformats.org/drawingml/2006/main">
            <a:r>
              <a:t/>
            </a:r>
            <a:endParaRPr/>
          </a:p>
          <a:p xmlns:a="http://schemas.openxmlformats.org/drawingml/2006/main">
            <a:r>
              <a:t>SAY:</a:t>
            </a:r>
            <a:endParaRPr/>
          </a:p>
          <a:p xmlns:a="http://schemas.openxmlformats.org/drawingml/2006/main">
            <a:r>
              <a:t>- Protect the five minutes. The live question is one rate and one verified comparison.</a:t>
            </a:r>
            <a:endParaRPr/>
          </a:p>
          <a:p xmlns:a="http://schemas.openxmlformats.org/drawingml/2006/main">
            <a:r>
              <a:t>- Use totals in the numerator and denominator; do not average row-level percentages.</a:t>
            </a:r>
            <a:endParaRPr/>
          </a:p>
          <a:p xmlns:a="http://schemas.openxmlformats.org/drawingml/2006/main">
            <a:r>
              <a:t>- The fuller scorecard, defect measure, and correlation question remain reference extensions.</a:t>
            </a:r>
            <a:endParaRPr/>
          </a:p>
          <a:p xmlns:a="http://schemas.openxmlformats.org/drawingml/2006/main">
            <a:r>
              <a:t/>
            </a:r>
            <a:endParaRPr/>
          </a:p>
          <a:p xmlns:a="http://schemas.openxmlformats.org/drawingml/2006/main">
            <a:r>
              <a:t>DO: 0:00–0:30 state the task; 0:30–2:30 calculate; 2:30–3:30 reconcile; 3:30–4:30 explain one limitation; 4:30–5:00 compare the answer. Without individual tool access, calculate together from the prepared output.</a:t>
            </a:r>
            <a:endParaRPr/>
          </a:p>
          <a:p xmlns:a="http://schemas.openxmlformats.org/drawingml/2006/main">
            <a:r>
              <a:t/>
            </a:r>
            <a:endParaRPr/>
          </a:p>
          <a:p xmlns:a="http://schemas.openxmlformats.org/drawingml/2006/main">
            <a:r>
              <a:t>BRIDGE: Move to “Optional extension: compare supplier quotations”.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ANSWER KEY</a:t>
            </a:r>
            <a:endParaRPr/>
          </a:p>
          <a:p xmlns:a="http://schemas.openxmlformats.org/drawingml/2006/main">
            <a:r>
              <a:t>144 detail records. Total shipped: 224,902; returns: 432; defects found: 2,207. Return rates: Alpha 74 / 75,060 = 0.098588%; Bravo 262 / 75,184 = 0.348479%; Cardinal 96 / 74,658 = 0.128586%. Total rate: 432 / 224,902 = 0.192084%. Separate defect occurrences from returned units; do not interpret their sum as a count of distinct defective units.</a:t>
            </a:r>
            <a:endParaRP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35</a:t>
            </a:r>
            <a:endParaRPr/>
          </a:p>
          <a:p xmlns:a="http://schemas.openxmlformats.org/drawingml/2006/main">
            <a:r>
              <a:t>WALKTHROUGH · CORRELATIONS &amp; COMPARISONS</a:t>
            </a:r>
            <a:endParaRPr/>
          </a:p>
          <a:p xmlns:a="http://schemas.openxmlformats.org/drawingml/2006/main">
            <a:r>
              <a:t>Numbered questions in, defended answers out</a:t>
            </a:r>
            <a:endParaRPr/>
          </a:p>
          <a:p xmlns:a="http://schemas.openxmlformats.org/drawingml/2006/main">
            <a:r>
              <a:t>1</a:t>
            </a:r>
            <a:endParaRPr/>
          </a:p>
          <a:p xmlns:a="http://schemas.openxmlformats.org/drawingml/2006/main">
            <a:r>
              <a:t>Ask numbered questions — not topics</a:t>
            </a:r>
            <a:endParaRPr/>
          </a:p>
          <a:p xmlns:a="http://schemas.openxmlformats.org/drawingml/2006/main">
            <a: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a:p>
          <a:p xmlns:a="http://schemas.openxmlformats.org/drawingml/2006/main">
            <a:r>
              <a:t>2</a:t>
            </a:r>
            <a:endParaRPr/>
          </a:p>
          <a:p xmlns:a="http://schemas.openxmlformats.org/drawingml/2006/main">
            <a:r>
              <a:t>Comparative analysis — the scorecard</a:t>
            </a:r>
            <a:endParaRPr/>
          </a:p>
          <a:p xmlns:a="http://schemas.openxmlformats.org/drawingml/2006/main">
            <a: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a:p>
          <a:p xmlns:a="http://schemas.openxmlformats.org/drawingml/2006/main">
            <a:r>
              <a:t>3</a:t>
            </a:r>
            <a:endParaRPr/>
          </a:p>
          <a:p xmlns:a="http://schemas.openxmlformats.org/drawingml/2006/main">
            <a:r>
              <a:t>The trust check</a:t>
            </a:r>
            <a:endParaRPr/>
          </a:p>
          <a:p xmlns:a="http://schemas.openxmlformats.org/drawingml/2006/main">
            <a:r>
              <a:t>Reconcile: sum Units_Shipped across your 144 rows and compare it to the TOTAL row you excluded. Do they match? If not, what happened?</a:t>
            </a:r>
            <a:endParaRPr/>
          </a:p>
          <a:p xmlns:a="http://schemas.openxmlformats.org/drawingml/2006/main">
            <a:r>
              <a:t>The tension the data holds: the cheapest supplier is also the most defective, and its defect rate is climbing — the scorecard question has no lazy answer.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Read STEP 1 aloud and point at its G2 DNA: numbered questions in priority order · the quirks handled explicitly · compute by running code · “associated with, not caused by” · then STOP.</a:t>
            </a:r>
            <a:endParaRPr/>
          </a:p>
          <a:p xmlns:a="http://schemas.openxmlformats.org/drawingml/2006/main">
            <a:r>
              <a:t>2) Expected findings (your answer key): Bravo Plastics is the defect leader and trending worse; Inspection_Hours vs Units_Returned comes out NEGATIVE (more inspection, fewer escapes — planted); Osaka leads on-time, Monterrey trails.</a:t>
            </a:r>
            <a:endParaRPr/>
          </a:p>
          <a:p xmlns:a="http://schemas.openxmlformats.org/drawingml/2006/main">
            <a:r>
              <a:t>3) STEP 2: the scorecard tension — Bravo is cheapest AND most defective. The paragraph question teaches the habit of asking what the data does NOT say (volumes, switching costs, quality trend causes).</a:t>
            </a:r>
            <a:endParaRPr/>
          </a:p>
          <a:p xmlns:a="http://schemas.openxmlformats.org/drawingml/2006/main">
            <a:r>
              <a:t>4) STEP 3 is the G2 reconciliation anchor performed: the sums should match the TOTAL row. One anchor beats ten checks.</a:t>
            </a:r>
            <a:endParaRPr/>
          </a:p>
          <a:p xmlns:a="http://schemas.openxmlformats.org/drawingml/2006/main">
            <a:r>
              <a:t>5) Timing: run steps live if the room is hands-on (10 min), or narrate from prepared outputs.</a:t>
            </a:r>
            <a:endParaRPr/>
          </a:p>
          <a:p xmlns:a="http://schemas.openxmlformats.org/drawingml/2006/main">
            <a:r>
              <a:t/>
            </a:r>
            <a:endParaRPr/>
          </a:p>
          <a:p xmlns:a="http://schemas.openxmlformats.org/drawingml/2006/main">
            <a:r>
              <a:t>BRIDGE —</a:t>
            </a:r>
            <a:endParaRPr/>
          </a:p>
          <a:p xmlns:a="http://schemas.openxmlformats.org/drawingml/2006/main">
            <a:r>
              <a:t>“Same discipline, different input — three PDFs nobody wants to read.”</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step headers joined the numbered-banner family; all three prompts are copy-paste ready in tab G2-DataAnalysis of the Course Workbook.</a:t>
            </a:r>
            <a:endParaRPr/>
          </a:p>
          <a:p xmlns:a="http://schemas.openxmlformats.org/drawingml/2006/main">
            <a:r>
              <a:t>The dataset is engineered so these findings are real: Bravo base defect rate 1.6% trending +0.08%/month; catch-rate rises with inspection hours (escapes fall); Osaka on-time ~97%, Monterrey ~88%; December volume dip.</a:t>
            </a:r>
            <a:endParaRPr/>
          </a:p>
          <a:p xmlns:a="http://schemas.openxmlformats.org/drawingml/2006/main">
            <a:r>
              <a:t>If someone asks “can Copilot do correlations?” — yes: in Excel it writes the formulas or Python; the prompt is identical.</a:t>
            </a:r>
            <a:endParaRPr/>
          </a:p>
          <a:p xmlns:a="http://schemas.openxmlformats.org/drawingml/2006/main">
            <a:r>
              <a:t>35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Quote comparison requires complete cost inputs or clearly marked gaps.</a:t>
            </a:r>
          </a:p>
          <a:p xmlns:a="http://schemas.openxmlformats.org/drawingml/2006/main"/>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p xmlns:a="http://schemas.openxmlformats.org/drawingml/2006/main">
            <a:r>
              <a:t>DO: None.</a:t>
            </a:r>
          </a:p>
          <a:p xmlns:a="http://schemas.openxmlformats.org/drawingml/2006/main"/>
          <a:p xmlns:a="http://schemas.openxmlformats.org/drawingml/2006/main">
            <a:r>
              <a:t>BRIDGE: Move to “A deliverable needs artifact requirements”.</a:t>
            </a:r>
          </a:p>
          <a:p xmlns:a="http://schemas.openxmlformats.org/drawingml/2006/main"/>
          <a:p xmlns:a="http://schemas.openxmlformats.org/drawingml/2006/main">
            <a:r>
              <a:t>IF LATE: SKIP</a:t>
            </a:r>
          </a:p>
          <a:p xmlns:a="http://schemas.openxmlformats.org/drawingml/2006/main"/>
          <a:p xmlns:a="http://schemas.openxmlformats.org/drawingml/2006/main">
            <a:r>
              <a:t>MATERIALS: Quote_Alpha_Components.pdf, Quote_Bravo_Plastics.pdf, Quote_Cardinal_Metals.pdf + workbook tab EX-Quotes (all in the pack).</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p xmlns:a="http://schemas.openxmlformats.org/drawingml/2006/main">
            <a:r>
              <a:t>BRIDGE —</a:t>
            </a:r>
          </a:p>
          <a:p xmlns:a="http://schemas.openxmlformats.org/drawingml/2006/main">
            <a:r>
              <a:t>“Analysis is answers. Next: turning answers into a file you can circulate.”</a:t>
            </a:r>
          </a:p>
          <a:p xmlns:a="http://schemas.openxmlformats.org/drawingml/2006/main"/>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A usable artifact carries formulas, definitions, sources, and caveats.</a:t>
            </a:r>
            <a:endParaRPr/>
          </a:p>
          <a:p xmlns:a="http://schemas.openxmlformats.org/drawingml/2006/main">
            <a:r>
              <a:t/>
            </a:r>
            <a:endParaRPr/>
          </a:p>
          <a:p xmlns:a="http://schemas.openxmlformats.org/drawingml/2006/main">
            <a:r>
              <a:t>SAY:</a:t>
            </a:r>
            <a:endParaRPr/>
          </a:p>
          <a:p xmlns:a="http://schemas.openxmlformats.org/drawingml/2006/main">
            <a:r>
              <a:t>- A file needs both content requirements and requirements for how it is used and delivered.</a:t>
            </a:r>
            <a:endParaRPr/>
          </a:p>
          <a:p xmlns:a="http://schemas.openxmlformats.org/drawingml/2006/main">
            <a:r>
              <a:t>- An editable workbook, an offline dashboard, and a projected presentation need different delivery checks.</a:t>
            </a:r>
            <a:endParaRPr/>
          </a:p>
          <a:p xmlns:a="http://schemas.openxmlformats.org/drawingml/2006/main">
            <a:r>
              <a:t>- Choose relevant types from the artifact catalog; keep the underlying source available.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“Demonstration: a dashboard you can check”.</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37</a:t>
            </a:r>
            <a:endParaRPr/>
          </a:p>
          <a:p xmlns:a="http://schemas.openxmlformats.org/drawingml/2006/main">
            <a:r>
              <a:t>WALKTHROUGH · FROM ANSWER TO ARTIFACT</a:t>
            </a:r>
            <a:endParaRPr/>
          </a:p>
          <a:p xmlns:a="http://schemas.openxmlformats.org/drawingml/2006/main">
            <a:r>
              <a:t>Make the AI ship the file, not just the answer</a:t>
            </a:r>
            <a:endParaRPr/>
          </a:p>
          <a:p xmlns:a="http://schemas.openxmlformats.org/drawingml/2006/main">
            <a:r>
              <a:t>4</a:t>
            </a:r>
            <a:endParaRPr/>
          </a:p>
          <a:p xmlns:a="http://schemas.openxmlformats.org/drawingml/2006/main">
            <a:r>
              <a:t>The deliverable — ship the file, not just the answer</a:t>
            </a:r>
            <a:endParaRPr/>
          </a:p>
          <a:p xmlns:a="http://schemas.openxmlformats.org/drawingml/2006/main">
            <a: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a:p>
          <a:p xmlns:a="http://schemas.openxmlformats.org/drawingml/2006/main">
            <a:r>
              <a:t>Why these spec lines matter</a:t>
            </a:r>
            <a:endParaRPr/>
          </a:p>
          <a:p xmlns:a="http://schemas.openxmlformats.org/drawingml/2006/main">
            <a:r>
              <a:t>README tab — the file explains itself when it’s forwarded without you.</a:t>
            </a:r>
            <a:endParaRPr/>
          </a:p>
          <a:p xmlns:a="http://schemas.openxmlformats.org/drawingml/2006/main">
            <a:r>
              <a:t>Formulas visible — anyone can audit; nothing is a magic number.</a:t>
            </a:r>
            <a:endParaRPr/>
          </a:p>
          <a:p xmlns:a="http://schemas.openxmlformats.org/drawingml/2006/main">
            <a:r>
              <a:t>Caveats section — the quirks and assumptions travel WITH the numbers.</a:t>
            </a:r>
            <a:endParaRPr/>
          </a:p>
          <a:p xmlns:a="http://schemas.openxmlformats.org/drawingml/2006/main">
            <a:r>
              <a:t>“Don’t invent” + blank cells — the Out, working inside a spreadsheet.</a:t>
            </a:r>
            <a:endParaRPr/>
          </a:p>
          <a:p xmlns:a="http://schemas.openxmlformats.org/drawingml/2006/main">
            <a:r>
              <a:t>The same move, everywhere</a:t>
            </a:r>
            <a:endParaRPr/>
          </a:p>
          <a:p xmlns:a="http://schemas.openxmlformats.org/drawingml/2006/main">
            <a:r>
              <a:t>Copilot in Excel: “build this as a new sheet with formulas” — it writes them in place.</a:t>
            </a:r>
            <a:endParaRPr/>
          </a:p>
          <a:p xmlns:a="http://schemas.openxmlformats.org/drawingml/2006/main">
            <a:r>
              <a:t>Chat assistants: they produce the .xlsx for download.</a:t>
            </a:r>
            <a:endParaRPr/>
          </a:p>
          <a:p xmlns:a="http://schemas.openxmlformats.org/drawingml/2006/main">
            <a:r>
              <a:t>Agentic tools (Part 5): they build the file, chart it, and write the email that sends it.</a:t>
            </a:r>
            <a:endParaRPr/>
          </a:p>
          <a:p xmlns:a="http://schemas.openxmlformats.org/drawingml/2006/main">
            <a:r>
              <a:t>The prompt barely changes — the delegation level does.</a:t>
            </a:r>
            <a:endParaRPr/>
          </a:p>
          <a:p xmlns:a="http://schemas.openxmlformats.org/drawingml/2006/main">
            <a:r>
              <a:t>Before it ships: open the file, spot-check two formulas against the chat, and verify the exchange rate — the house rule never retires.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last mile — most people copy AI answers into Excel by hand. Don’t: make it ship the artifact.”</a:t>
            </a:r>
            <a:endParaRPr/>
          </a:p>
          <a:p xmlns:a="http://schemas.openxmlformats.org/drawingml/2006/main">
            <a:r>
              <a:t>2) Read STEP 4 aloud, then the left card: each spec line exists for a reason — README (self-explaining file), visible formulas (auditable), caveats (assumptions travel), don’t-invent (the Out, in spreadsheet form).</a:t>
            </a:r>
            <a:endParaRPr/>
          </a:p>
          <a:p xmlns:a="http://schemas.openxmlformats.org/drawingml/2006/main">
            <a:r>
              <a:t>3) Right card: the same move in every tool — only the delegation level changes; Part 5 takes it to the fully-delegated end.</a:t>
            </a:r>
            <a:endParaRPr/>
          </a:p>
          <a:p xmlns:a="http://schemas.openxmlformats.org/drawingml/2006/main">
            <a:r>
              <a:t>4) Red band: verify before it ships. Always.</a:t>
            </a:r>
            <a:endParaRPr/>
          </a:p>
          <a:p xmlns:a="http://schemas.openxmlformats.org/drawingml/2006/main">
            <a:r>
              <a:t/>
            </a:r>
            <a:endParaRPr/>
          </a:p>
          <a:p xmlns:a="http://schemas.openxmlformats.org/drawingml/2006/main">
            <a:r>
              <a:t>BRIDGE —</a:t>
            </a:r>
            <a:endParaRPr/>
          </a:p>
          <a:p xmlns:a="http://schemas.openxmlformats.org/drawingml/2006/main">
            <a:r>
              <a:t>“That’s the most-used play in office AI, end to end. Now watch two more templates run live.”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header joined the numbered-banner family (steps ①–④ across the walkthrough).</a:t>
            </a:r>
            <a:endParaRPr/>
          </a:p>
          <a:p xmlns:a="http://schemas.openxmlformats.org/drawingml/2006/main">
            <a:r>
              <a:t>This four-slide walkthrough (35–38) = G2 + G8 executed on the practice pack; G4’s spreadsheet rules (README tab, formulas-not-values) reappear as the deliverable spec — the templates compose.</a:t>
            </a:r>
            <a:endParaRPr/>
          </a:p>
          <a:p xmlns:a="http://schemas.openxmlformats.org/drawingml/2006/main">
            <a:r>
              <a:t>All walkthrough prompts (steps 0–4) are copy-paste ready in tab G2-DataAnalysis of the Course Workbook.</a:t>
            </a:r>
            <a:endParaRPr/>
          </a:p>
          <a:p xmlns:a="http://schemas.openxmlformats.org/drawingml/2006/main">
            <a:r>
              <a:t>Future library note (ledger): consider promoting the quotation-comparison sequence to a numbered template.</a:t>
            </a:r>
            <a:endParaRPr/>
          </a:p>
          <a:p xmlns:a="http://schemas.openxmlformats.org/drawingml/2006/main">
            <a:r>
              <a:t>37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4:00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You specify a dashboard’s BEHAVIOR in plain language; the page is structure, JavaScript supplies the behavior — no code needed to ask for it.</a:t>
            </a:r>
          </a:p>
          <a:p xmlns:a="http://schemas.openxmlformats.org/drawingml/2006/main"/>
          <a:p xmlns:a="http://schemas.openxmlformats.org/drawingml/2006/main">
            <a:r>
              <a:t>SAY:</a:t>
            </a:r>
          </a:p>
          <a:p xmlns:a="http://schemas.openxmlformats.org/drawingml/2006/main">
            <a:r>
              <a:t>- Prepared output: Supplier_Quality_Dashboard.html in the pack — same cleaned records, same definitions as the exercise you just ran.</a:t>
            </a:r>
          </a:p>
          <a:p xmlns:a="http://schemas.openxmlformats.org/drawingml/2006/main">
            <a:r>
              <a:t>- Name the controls as you use them: month range, supplier/site filters, compare-by, granularity, metric selector, drill-down, sort, Reset — the vocabulary lives in workbook tab 2-Build-Dashboard.</a:t>
            </a:r>
          </a:p>
          <a:p xmlns:a="http://schemas.openxmlformats.org/drawingml/2006/main">
            <a:r>
              <a:t>- One filter must re-scope EVERY view — tiles, charts, and table always agree; empty results say so; missing is not zero.</a:t>
            </a:r>
          </a:p>
          <a:p xmlns:a="http://schemas.openxmlformats.org/drawingml/2006/main">
            <a:r>
              <a:t>- Say aloud: it is a data snapshot, not a live reporting system.</a:t>
            </a:r>
          </a:p>
          <a:p xmlns:a="http://schemas.openxmlformats.org/drawingml/2006/main"/>
          <a:p xmlns:a="http://schemas.openxmlformats.org/drawingml/2006/main">
            <a:r>
              <a:t>DO: 0:00–0:45 show the build prompt (v1→v3, reference page 98); 0:45–1:30 open the prepared file offline; 1:30–3:00 run the Berlin × Bravo filter and compare 8,575 / 21 / 0.245% with the workbook; 3:00–4:00 one refinement participants name using the control vocabulary.</a:t>
            </a:r>
          </a:p>
          <a:p xmlns:a="http://schemas.openxmlformats.org/drawingml/2006/main"/>
          <a:p xmlns:a="http://schemas.openxmlformats.org/drawingml/2006/main">
            <a:r>
              <a:t>BRIDGE: Move to “An email summary has a job to do”.</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PREPARATION: Open the prepared dashboard in advance. The connected supplier-dashboard-presentation exercise belongs to the next redesign described in the Claude handoff. Do not claim that a particular account can generate, preview, or download the file until checked in that actual account.</a:t>
            </a:r>
          </a:p>
          <a:p xmlns:a="http://schemas.openxmlformats.org/drawingml/2006/main"/>
          <a:p xmlns:a="http://schemas.openxmlformats.org/drawingml/2006/main">
            <a:r>
              <a:t>SOURCE DETAIL FOR SELF-STUDY</a:t>
            </a:r>
          </a:p>
          <a:p xmlns:a="http://schemas.openxmlformats.org/drawingml/2006/main">
            <a:r>
              <a:t>PART 4 · LIVE DEMO</a:t>
            </a:r>
          </a:p>
          <a:p xmlns:a="http://schemas.openxmlformats.org/drawingml/2006/main">
            <a:r>
              <a:t>38</a:t>
            </a:r>
          </a:p>
          <a:p xmlns:a="http://schemas.openxmlformats.org/drawingml/2006/main">
            <a:r>
              <a:t>LIVE DEMO · A DASHBOARD FROM A PASTE (G6)</a:t>
            </a:r>
          </a:p>
          <a:p xmlns:a="http://schemas.openxmlformats.org/drawingml/2006/main">
            <a:r>
              <a:t>One prompt, one file, working software</a:t>
            </a:r>
          </a:p>
          <a:p xmlns:a="http://schemas.openxmlformats.org/drawingml/2006/main">
            <a:r>
              <a:t>1 · The data  </a:t>
            </a:r>
          </a:p>
          <a:p xmlns:a="http://schemas.openxmlformats.org/drawingml/2006/main">
            <a:r>
              <a:t>Paste a small generic table (20–30 rows: period, category, count — prepared in advance, nothing internal).</a:t>
            </a:r>
          </a:p>
          <a:p xmlns:a="http://schemas.openxmlformats.org/drawingml/2006/main">
            <a:r>
              <a:t>2 · Run G6  </a:t>
            </a:r>
          </a:p>
          <a:p xmlns:a="http://schemas.openxmlformats.org/drawingml/2006/main">
            <a:r>
              <a:t>Ask for: a SINGLE-FILE interactive HTML dashboard — KPI tiles, one filterable chart, a sortable table; data embedded; works offline from disk; formulas visible.</a:t>
            </a:r>
          </a:p>
          <a:p xmlns:a="http://schemas.openxmlformats.org/drawingml/2006/main">
            <a:r>
              <a:t>3 · Open it  </a:t>
            </a:r>
          </a:p>
          <a:p xmlns:a="http://schemas.openxmlformats.org/drawingml/2006/main">
            <a:r>
              <a:t>Download the file, double-click it, filter something, sort something. No install, no server, no login.</a:t>
            </a:r>
          </a:p>
          <a:p xmlns:a="http://schemas.openxmlformats.org/drawingml/2006/main">
            <a:r>
              <a:t>What the room should notice</a:t>
            </a:r>
          </a:p>
          <a:p xmlns:a="http://schemas.openxmlformats.org/drawingml/2006/main">
            <a:r>
              <a:t>The deliverable is a tool, not a text. What made it trustworthy: single file · offline · data embedded · formulas visible. Say aloud: a snapshot, not a live system — share the FILE, not a link.</a:t>
            </a:r>
          </a:p>
          <a:p xmlns:a="http://schemas.openxmlformats.org/drawingml/2006/main">
            <a:r>
              <a:t>Backup plan: if generation runs long, open the pre-built copy and narrate the prompt. Build it yourself later: tab EX-Dashboard — shape → build → check → refine, plus the dashboard vocabulary.</a:t>
            </a:r>
          </a:p>
          <a:p xmlns:a="http://schemas.openxmlformats.org/drawingml/2006/main">
            <a:r>
              <a:t>Who can run this: it needs a tool that writes and packages code — Claude (Artifacts), ChatGPT (Canvas), Gemini (Canvas), typically on paid tiers; in Copilot that means Pages, not plain chat. No access? Hand the same spec to IT — or ask for the Excel version.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“this time the deliverable is a tool, not a text.” This one stays a PRESENTER demo — you run it; the room watches (not everyone’s tool can build it — see the amber band).</a:t>
            </a:r>
          </a:p>
          <a:p xmlns:a="http://schemas.openxmlformats.org/drawingml/2006/main">
            <a:r>
              <a:t>2) Run the three step cards IN ORDER: paste the prepared table → run G6 → download the file, double-click it, filter something, sort something.</a:t>
            </a:r>
          </a:p>
          <a:p xmlns:a="http://schemas.openxmlformats.org/drawingml/2006/main">
            <a:r>
              <a:t>3) WHILE it generates, narrate the amber spec lines — single file, offline, data embedded, nothing hard-coded, formulas visible — those lines are what made it trustworthy.</a:t>
            </a:r>
          </a:p>
          <a:p xmlns:a="http://schemas.openxmlformats.org/drawingml/2006/main">
            <a:r>
              <a:t>4) Say the two caveats OUT LOUD: it is a snapshot, not a live system; share the FILE, not a public link.</a:t>
            </a:r>
          </a:p>
          <a:p xmlns:a="http://schemas.openxmlformats.org/drawingml/2006/main">
            <a:r>
              <a:t>5) Grey band is your safety net: pre-built copy on the desktop. Amber band answers the inevitable “can MY AI do this?” — capability, not skill: code/canvas tools (mostly paid tiers) can; Copilot chat can’t; the fallback is the spec to IT or an Excel version.</a:t>
            </a:r>
          </a:p>
          <a:p xmlns:a="http://schemas.openxmlformats.org/drawingml/2006/main"/>
          <a:p xmlns:a="http://schemas.openxmlformats.org/drawingml/2006/main">
            <a:r>
              <a:t>BRIDGE —</a:t>
            </a:r>
          </a:p>
          <a:p xmlns:a="http://schemas.openxmlformats.org/drawingml/2006/main">
            <a:r>
              <a:t>“One more daily-life play — the inbox.”</a:t>
            </a:r>
          </a:p>
          <a:p xmlns:a="http://schemas.openxmlformats.org/drawingml/2006/main"/>
          <a:p xmlns:a="http://schemas.openxmlformats.org/drawingml/2006/main">
            <a:r>
              <a:t>ACRONYMS —</a:t>
            </a:r>
          </a:p>
          <a:p xmlns:a="http://schemas.openxmlformats.org/drawingml/2006/main">
            <a:r>
              <a:t>HTML = HyperText Markup Language — the single-file web-page format. KPI = Key Performance Indicator (the number tiles). G6 = the interactive-HTML template’s library code.</a:t>
            </a:r>
          </a:p>
          <a:p xmlns:a="http://schemas.openxmlformats.org/drawingml/2006/main"/>
          <a:p xmlns:a="http://schemas.openxmlformats.org/drawingml/2006/main">
            <a:r>
              <a:t>CONTENT —</a:t>
            </a:r>
          </a:p>
          <a:p xmlns:a="http://schemas.openxmlformats.org/drawingml/2006/main">
            <a:r>
              <a:t>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a:t>
            </a:r>
          </a:p>
          <a:p xmlns:a="http://schemas.openxmlformats.org/drawingml/2006/main">
            <a:r>
              <a:t>Pre-stage the data table and the G6 prompt in a text file so the demo is paste-paste-run. Budget 6–8 minutes.</a:t>
            </a:r>
          </a:p>
          <a:p xmlns:a="http://schemas.openxmlformats.org/drawingml/2006/main">
            <a:r>
              <a:t>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a:t>
            </a:r>
          </a:p>
          <a:p xmlns:a="http://schemas.openxmlformats.org/drawingml/2006/main">
            <a:r>
              <a:t>ART — the laptop-dashboard illustration in the amber card is owner-generated (R16): what the deliverable looks like, before the live one exists.</a:t>
            </a:r>
          </a:p>
          <a:p xmlns:a="http://schemas.openxmlformats.org/drawingml/2006/main">
            <a:r>
              <a:t>38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Email work begins by separating known facts from unanswered questions.</a:t>
            </a:r>
          </a:p>
          <a:p xmlns:a="http://schemas.openxmlformats.org/drawingml/2006/main"/>
          <a:p xmlns:a="http://schemas.openxmlformats.org/drawingml/2006/main">
            <a:r>
              <a:t>SAY:</a:t>
            </a:r>
          </a:p>
          <a:p xmlns:a="http://schemas.openxmlformats.org/drawingml/2006/main">
            <a:r>
              <a:t>- A chronological retelling can obscure the current decision.</a:t>
            </a:r>
          </a:p>
          <a:p xmlns:a="http://schemas.openxmlformats.org/drawingml/2006/main">
            <a:r>
              <a:t>- The same source can support a brief, an action table, or reply preparation.</a:t>
            </a:r>
          </a:p>
          <a:p xmlns:a="http://schemas.openxmlformats.org/drawingml/2006/main">
            <a:r>
              <a:t>- Use the fictional packaging thread at the end of this deck — also supplied as Packaging_Change_Thread.txt for copy-paste.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find the decision behind the thread”.</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39</a:t>
            </a:r>
          </a:p>
          <a:p xmlns:a="http://schemas.openxmlformats.org/drawingml/2006/main">
            <a:r>
              <a:t>WALKTHROUGH · THE INBOX PLAY</a:t>
            </a:r>
          </a:p>
          <a:p xmlns:a="http://schemas.openxmlformats.org/drawingml/2006/main">
            <a:r>
              <a:t>Five shapes — pick the one for the job</a:t>
            </a:r>
          </a:p>
          <a:p xmlns:a="http://schemas.openxmlformats.org/drawingml/2006/main">
            <a:r>
              <a:t>1 · TL;DR triage — One sentence, 30 words: current state or decision needed — not the history. For clearing an inbox.</a:t>
            </a:r>
          </a:p>
          <a:p xmlns:a="http://schemas.openxmlformats.org/drawingml/2006/main">
            <a:r>
              <a:t>2 · The structured brief — OVERVIEW · DECISIONS · ACTION ITEMS · OPEN QUESTIONS. The default when filing, forwarding, or catching up.</a:t>
            </a:r>
          </a:p>
          <a:p xmlns:a="http://schemas.openxmlformats.org/drawingml/2006/main">
            <a:r>
              <a:t>3 · Action-items table — Task | Owner | Due | Blocked by. Blank cells beat guessed ones. For moving work into your to-do system.</a:t>
            </a:r>
          </a:p>
          <a:p xmlns:a="http://schemas.openxmlformats.org/drawingml/2006/main">
            <a:r>
              <a:t>4 · Decisions log — Decision | Decided by | Reasoning | Date — settled only, proposals flagged. For defending choices later.</a:t>
            </a:r>
          </a:p>
          <a:p xmlns:a="http://schemas.openxmlformats.org/drawingml/2006/main">
            <a:r>
              <a:t>5 · “Who owes what” — Every unanswered question + “X owes Y: [thing]”, latest state only. For preparing your reply.</a:t>
            </a:r>
          </a:p>
          <a:p xmlns:a="http://schemas.openxmlformats.org/drawingml/2006/main">
            <a:r>
              <a:t>THE PROMPT · the structured brief (shape 2)</a:t>
            </a: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xmlns:a="http://schemas.openxmlformats.org/drawingml/2006/main">
            <a:r>
              <a:t>Your practice thread (in the pack): </a:t>
            </a: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p>
          <a:p xmlns:a="http://schemas.openxmlformats.org/drawingml/2006/main">
            <a:r>
              <a:t>Why this play: thread summarization is the single most-used Copilot feature — and the easiest to trust blindly. ✂ All five shape prompts: tab EX-Email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“the other daily play — the inbox. There isn’t ONE way to summarize a thread; there are five shapes, and picking the shape is the skill.”</a:t>
            </a:r>
          </a:p>
          <a:p xmlns:a="http://schemas.openxmlformats.org/drawingml/2006/main">
            <a:r>
              <a:t>2) Walk the five shape cards, one line each; the highlighted one — the structured brief — is the default.</a:t>
            </a: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p>
          <a:p xmlns:a="http://schemas.openxmlformats.org/drawingml/2006/main">
            <a:r>
              <a:t>4) Amber card: the practice thread and its four traps — run it live next slide.</a:t>
            </a:r>
          </a:p>
          <a:p xmlns:a="http://schemas.openxmlformats.org/drawingml/2006/main"/>
          <a:p xmlns:a="http://schemas.openxmlformats.org/drawingml/2006/main">
            <a:r>
              <a:t>BRIDGE —</a:t>
            </a:r>
          </a:p>
          <a:p xmlns:a="http://schemas.openxmlformats.org/drawingml/2006/main">
            <a:r>
              <a:t>“Now the same play inside Copilot — buttons, limits, and the full sequence.”</a:t>
            </a:r>
          </a:p>
          <a:p xmlns:a="http://schemas.openxmlformats.org/drawingml/2006/main"/>
          <a:p xmlns:a="http://schemas.openxmlformats.org/drawingml/2006/main">
            <a:r>
              <a:t>ACRONYMS —</a:t>
            </a:r>
          </a:p>
          <a:p xmlns:a="http://schemas.openxmlformats.org/drawingml/2006/main">
            <a:r>
              <a:t>TL;DR = too long; didn’t read — the one-line summary.</a:t>
            </a:r>
          </a:p>
          <a:p xmlns:a="http://schemas.openxmlformats.org/drawingml/2006/main"/>
          <a:p xmlns:a="http://schemas.openxmlformats.org/drawingml/2006/main">
            <a:r>
              <a:t>CONTENT —</a:t>
            </a: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xmlns:a="http://schemas.openxmlformats.org/drawingml/2006/main">
            <a:r>
              <a:t>39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The participant should produce a short email without inventing decisions.</a:t>
            </a:r>
          </a:p>
          <a:p xmlns:a="http://schemas.openxmlformats.org/drawingml/2006/main"/>
          <a:p xmlns:a="http://schemas.openxmlformats.org/drawingml/2006/main">
            <a:r>
              <a:t>SAY:</a:t>
            </a:r>
          </a:p>
          <a:p xmlns:a="http://schemas.openxmlformats.org/drawingml/2006/main">
            <a:r>
              <a:t>- Open Packaging_Change_Thread.txt in advance or paste it into the approved assistant. The full reusable prompt: workbook tab 4-Summarize-Email and reference page 101.</a:t>
            </a:r>
          </a:p>
          <a:p xmlns:a="http://schemas.openxmlformats.org/drawingml/2006/main">
            <a:r>
              <a:t>- Verified Sep 2026 (notes/research/r28): Outlook offers “Summary by Copilot” on an open thread with numbered citations; drafts stay drafts. The full experience needs the organization’s Copilot license — the supplied-text exercise is the fallback that always works.</a:t>
            </a:r>
          </a:p>
          <a:p xmlns:a="http://schemas.openxmlformats.org/drawingml/2006/main">
            <a:r>
              <a:t>- Debrief the four traps before drafting any reply.</a:t>
            </a:r>
          </a:p>
          <a:p xmlns:a="http://schemas.openxmlformats.org/drawingml/2006/main"/>
          <a:p xmlns:a="http://schemas.openxmlformats.org/drawingml/2006/main">
            <a:r>
              <a:t>DO: 0:00–0:30 introduce the thread; 0:30–1:30 run the brief; 1:30–2:30 compare the four traps; 2:30–3:00 name the next clarification. The complete thread and answer key are in the appendix.</a:t>
            </a:r>
          </a:p>
          <a:p xmlns:a="http://schemas.openxmlformats.org/drawingml/2006/main"/>
          <a:p xmlns:a="http://schemas.openxmlformats.org/drawingml/2006/main">
            <a:r>
              <a:t>BRIDGE: Move to “Pick what we drill next — the method transfers”.</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40</a:t>
            </a:r>
          </a:p>
          <a:p xmlns:a="http://schemas.openxmlformats.org/drawingml/2006/main">
            <a:r>
              <a:t>WALKTHROUGH · THE INBOX PLAY, IN COPILOT</a:t>
            </a:r>
          </a:p>
          <a:p xmlns:a="http://schemas.openxmlformats.org/drawingml/2006/main">
            <a:r>
              <a:t>The button starts it — the prompts finish it</a:t>
            </a:r>
          </a:p>
          <a:p xmlns:a="http://schemas.openxmlformats.org/drawingml/2006/main">
            <a:r>
              <a:t>① The thread, in Outlook</a:t>
            </a:r>
          </a:p>
          <a:p xmlns:a="http://schemas.openxmlformats.org/drawingml/2006/main">
            <a:r>
              <a:t>Q3 packaging change</a:t>
            </a:r>
          </a:p>
          <a:p xmlns:a="http://schemas.openxmlformats.org/drawingml/2006/main">
            <a:r>
              <a:t>10 messages · 6 people</a:t>
            </a:r>
          </a:p>
          <a:p xmlns:a="http://schemas.openxmlformats.org/drawingml/2006/main">
            <a:r>
              <a:t>② “Summary by Copilot” — with citations</a:t>
            </a:r>
          </a:p>
          <a:p xmlns:a="http://schemas.openxmlformats.org/drawingml/2006/main">
            <a:r>
              <a:t>1</a:t>
            </a:r>
          </a:p>
          <a:p xmlns:a="http://schemas.openxmlformats.org/drawingml/2006/main">
            <a:r>
              <a:t>2</a:t>
            </a:r>
          </a:p>
          <a:p xmlns:a="http://schemas.openxmlformats.org/drawingml/2006/main">
            <a:r>
              <a:t>3</a:t>
            </a:r>
          </a:p>
          <a:p xmlns:a="http://schemas.openxmlformats.org/drawingml/2006/main">
            <a:r>
              <a:t>each number is a click-through citation — your verification tool</a:t>
            </a:r>
          </a:p>
          <a:p xmlns:a="http://schemas.openxmlformats.org/drawingml/2006/main">
            <a:r>
              <a:t>③ The Copilot pane — where you refine</a:t>
            </a:r>
          </a:p>
          <a:p xmlns:a="http://schemas.openxmlformats.org/drawingml/2006/main">
            <a:r>
              <a:t>“Who owes the next reply, and by when?”</a:t>
            </a:r>
          </a:p>
          <a:p xmlns:a="http://schemas.openxmlformats.org/drawingml/2006/main">
            <a:r>
              <a:t>“List the action items” · “What did you base that on?”</a:t>
            </a:r>
          </a:p>
          <a:p xmlns:a="http://schemas.openxmlformats.org/drawingml/2006/main">
            <a:r>
              <a:t>stylized illustration — not a screenshot</a:t>
            </a:r>
          </a:p>
          <a:p xmlns:a="http://schemas.openxmlformats.org/drawingml/2006/main">
            <a:r>
              <a:t>Mechanics worth knowing</a:t>
            </a:r>
          </a:p>
          <a:p xmlns:a="http://schemas.openxmlformats.org/drawingml/2006/main">
            <a:r>
              <a:t>Numbered citations jump to the source email — verify names and dates through them.</a:t>
            </a:r>
          </a:p>
          <a:p xmlns:a="http://schemas.openxmlformats.org/drawingml/2006/main">
            <a:r>
              <a:t>Limits: attachments NOT read (use “Summarize a file”) · shared &amp; encrypted mail excluded · very short threads produce nothing.</a:t>
            </a:r>
          </a:p>
          <a:p xmlns:a="http://schemas.openxmlformats.org/drawingml/2006/main">
            <a:r>
              <a:t>Microsoft’s own anatomy = ours: Goal · Context · Source · Expectations.</a:t>
            </a:r>
          </a:p>
          <a:p xmlns:a="http://schemas.openxmlformats.org/drawingml/2006/main">
            <a:r>
              <a:t>Where naive “summarize this” fails: </a:t>
            </a:r>
          </a:p>
          <a:p xmlns:a="http://schemas.openxmlformats.org/drawingml/2006/main">
            <a:r>
              <a:t>the FIRST date, not the moved one · qualifiers dropped (“approved with a cap” → “approved”) · invented owners for “I’ll look into it.” Our prompt’s rules exist because of these three failures.</a:t>
            </a:r>
          </a:p>
          <a:p xmlns:a="http://schemas.openxmlformats.org/drawingml/2006/main">
            <a:r>
              <a:t>STEP 1 · The brief</a:t>
            </a:r>
          </a:p>
          <a:p xmlns:a="http://schemas.openxmlformats.org/drawingml/2006/main">
            <a:r>
              <a:t>Run the structured brief from the last slide on the practice thread (paste it, or run it on the thread in Copilot). Check it caught: the moved date, the 18k condition, the unanswered question, the missing attachment.</a:t>
            </a:r>
          </a:p>
          <a:p xmlns:a="http://schemas.openxmlformats.org/drawingml/2006/main">
            <a:r>
              <a:t>STEP 2 · Reply prep</a:t>
            </a:r>
          </a:p>
          <a:p xmlns:a="http://schemas.openxmlformats.org/drawingml/2006/main">
            <a:r>
              <a:t>From the thread: List A — every question raised that was never answered. List B — WHO OWES WHAT: “X owes Y: [thing] by [date]”, latest state only. Blank beats guessed.</a:t>
            </a:r>
          </a:p>
          <a:p xmlns:a="http://schemas.openxmlformats.org/drawingml/2006/main">
            <a:r>
              <a:t>STEP 3 · The reply</a:t>
            </a:r>
          </a:p>
          <a:p xmlns:a="http://schemas.openxmlformats.org/drawingml/2006/main">
            <a:r>
              <a:t>Using the brief above, draft my reply: answer the open questions, confirm the decisions with their conditions, propose next steps. Do not invent commitments — leave a [bracket] where I must decide. Under 120 words, one clear next step at the end.</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a:t>
            </a:r>
          </a:p>
          <a:p xmlns:a="http://schemas.openxmlformats.org/drawingml/2006/main">
            <a:r>
              <a:t>2) LEFT mechanics card: citations are the verification tool; know the three limits (attachments, shared mailboxes, encrypted mail). And the anatomy echo: Microsoft’s Goal-Context-Source-Expectations IS our Role-Task-Context-Format wearing a trench coat.</a:t>
            </a:r>
          </a:p>
          <a:p xmlns:a="http://schemas.openxmlformats.org/drawingml/2006/main">
            <a:r>
              <a:t>3) RIGHT: run the three steps on the practice thread, live if possible. Step 1’s reveal: did it catch the Oct 6 date (not Sep 22), the 18k CONDITION on Dan’s approval, Sofia’s unanswered question, the phantom attachment?</a:t>
            </a:r>
          </a:p>
          <a:p xmlns:a="http://schemas.openxmlformats.org/drawingml/2006/main">
            <a:r>
              <a:t>4) Red card: the three classic failures, and why our prompt’s rules exist. If the room’s Copilot summary missed a trap — that’s the lesson, not a malfunction.</a:t>
            </a:r>
          </a:p>
          <a:p xmlns:a="http://schemas.openxmlformats.org/drawingml/2006/main">
            <a:r>
              <a:t>5) Footer: green-tier reminder — thread summarization belongs in the tenant, not a personal chatbot; steps 1–3 are copy-paste ready in tab EX-Email.</a:t>
            </a:r>
          </a:p>
          <a:p xmlns:a="http://schemas.openxmlformats.org/drawingml/2006/main"/>
          <a:p xmlns:a="http://schemas.openxmlformats.org/drawingml/2006/main">
            <a:r>
              <a:t>BRIDGE —</a:t>
            </a:r>
          </a:p>
          <a:p xmlns:a="http://schemas.openxmlformats.org/drawingml/2006/main">
            <a:r>
              <a:t>“Two plays end to end. Here’s the menu of what we could drill next.”</a:t>
            </a:r>
          </a:p>
          <a:p xmlns:a="http://schemas.openxmlformats.org/drawingml/2006/main"/>
          <a:p xmlns:a="http://schemas.openxmlformats.org/drawingml/2006/main">
            <a:r>
              <a:t>ACRONYMS —</a:t>
            </a:r>
          </a:p>
          <a:p xmlns:a="http://schemas.openxmlformats.org/drawingml/2006/main">
            <a:r>
              <a:t>GCSE (Microsoft’s) = Goal, Context, Source, Expectations — its recommended prompt structure.</a:t>
            </a:r>
          </a:p>
          <a:p xmlns:a="http://schemas.openxmlformats.org/drawingml/2006/main"/>
          <a:p xmlns:a="http://schemas.openxmlformats.org/drawingml/2006/main">
            <a:r>
              <a:t>CONTENT —</a:t>
            </a:r>
          </a:p>
          <a:p xmlns:a="http://schemas.openxmlformats.org/drawingml/2006/main">
            <a:r>
              <a:t>v1.6: stylized 3-panel Outlook strip added (owner: pictures + do-from-Outlook); drawn in house style and labeled as illustration — no real UI screenshots, so nothing goes stale or misrepresents a tenant.</a:t>
            </a:r>
          </a:p>
          <a:p xmlns:a="http://schemas.openxmlformats.org/drawingml/2006/main">
            <a:r>
              <a:t>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a:t>
            </a:r>
          </a:p>
          <a:p xmlns:a="http://schemas.openxmlformats.org/drawingml/2006/main">
            <a:r>
              <a:t>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p>
          <a:p xmlns:a="http://schemas.openxmlformats.org/drawingml/2006/main">
            <a:r>
              <a:t>Font-policy pass: the on-slide footer under the steps was removed (fewer footnotes) — its content is already step 5 above: same prompts work in any assistant; Copilot adds citations and the tenant boundary (green tier); steps 1–3 live in tab EX-Email.</a:t>
            </a:r>
          </a:p>
          <a:p xmlns:a="http://schemas.openxmlformats.org/drawingml/2006/main">
            <a:r>
              <a:t>40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0:00 (optional self-study; no live allocation)</a:t>
            </a:r>
          </a:p>
          <a:p xmlns:a="http://schemas.openxmlformats.org/drawingml/2006/main"/>
          <a:p xmlns:a="http://schemas.openxmlformats.org/drawingml/2006/main">
            <a:r>
              <a:t>PURPOSE: Support independent study with the checked exercise material.</a:t>
            </a:r>
          </a:p>
          <a:p xmlns:a="http://schemas.openxmlformats.org/drawingml/2006/main"/>
          <a:p xmlns:a="http://schemas.openxmlformats.org/drawingml/2006/main">
            <a:r>
              <a:t>LAND THIS: The verified analysis becomes a five-slide management story without inventing results.</a:t>
            </a:r>
          </a:p>
          <a:p xmlns:a="http://schemas.openxmlformats.org/drawingml/2006/main"/>
          <a:p xmlns:a="http://schemas.openxmlformats.org/drawingml/2006/main">
            <a:r>
              <a:t>SAY:</a:t>
            </a:r>
          </a:p>
          <a:p xmlns:a="http://schemas.openxmlformats.org/drawingml/2006/main">
            <a:r>
              <a:t>- Orient in one breath: the case continues — same numbers, now aimed at a decision audience. The mock deck is the prepared output; audit it before reusing the prompt.</a:t>
            </a:r>
          </a:p>
          <a:p xmlns:a="http://schemas.openxmlformats.org/drawingml/2006/main"/>
          <a:p xmlns:a="http://schemas.openxmlformats.org/drawingml/2006/main">
            <a:r>
              <a:t>DO: None.</a:t>
            </a:r>
          </a:p>
          <a:p xmlns:a="http://schemas.openxmlformats.org/drawingml/2006/main"/>
          <a:p xmlns:a="http://schemas.openxmlformats.org/drawingml/2006/main">
            <a:r>
              <a:t>BRIDGE: Optional self-study. Return to the related live slide or continue the reference material as needed.</a:t>
            </a:r>
          </a:p>
          <a:p xmlns:a="http://schemas.openxmlformats.org/drawingml/2006/main"/>
          <a:p xmlns:a="http://schemas.openxmlformats.org/drawingml/2006/main">
            <a:r>
              <a:t>IF LATE: SKIP</a:t>
            </a:r>
          </a:p>
          <a:p xmlns:a="http://schemas.openxmlformats.org/drawingml/2006/main"/>
          <a:p xmlns:a="http://schemas.openxmlformats.org/drawingml/2006/main">
            <a:r>
              <a:t>RELATED: workbook tab 3-Present-Findings; reference page 99; prepared file Supplier_Quality_Mock_Presentation.pptx.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2:00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Plain language is a requirements problem: audience, vocabulary, fidelity, and a learning check — not dumbing down.</a:t>
            </a:r>
          </a:p>
          <a:p xmlns:a="http://schemas.openxmlformats.org/drawingml/2006/main"/>
          <a:p xmlns:a="http://schemas.openxmlformats.org/drawingml/2006/main">
            <a:r>
              <a:t>SAY:</a:t>
            </a:r>
          </a:p>
          <a:p xmlns:a="http://schemas.openxmlformats.org/drawingml/2006/main">
            <a:r>
              <a:t>- Run the reusable prompt live on the inventory-replenishment source (references/exercise-data/plain-language/); the sample output is the fallback.</a:t>
            </a:r>
          </a:p>
          <a:p xmlns:a="http://schemas.openxmlformats.org/drawingml/2006/main">
            <a:r>
              <a:t>- Respectful adult tone — never childish; meaning and caveats survive or the simplification failed.</a:t>
            </a:r>
          </a:p>
          <a:p xmlns:a="http://schemas.openxmlformats.org/drawingml/2006/main">
            <a:r>
              <a:t>- Self-study variations: the water cycle · how an internet message travels (sources + samples + keys in the pack).</a:t>
            </a:r>
          </a:p>
          <a:p xmlns:a="http://schemas.openxmlformats.org/drawingml/2006/main"/>
          <a:p xmlns:a="http://schemas.openxmlformats.org/drawingml/2006/main">
            <a:r>
              <a:t>DO: 0:00–0:30 show the prompt and source; 0:30–1:20 run it or open the sample; 1:20–2:00 check the three success items together.</a:t>
            </a:r>
          </a:p>
          <a:p xmlns:a="http://schemas.openxmlformats.org/drawingml/2006/main"/>
          <a:p xmlns:a="http://schemas.openxmlformats.org/drawingml/2006/main">
            <a:r>
              <a:t>BRIDGE: Move to “Part 5: agentic work”.</a:t>
            </a:r>
          </a:p>
          <a:p xmlns:a="http://schemas.openxmlformats.org/drawingml/2006/main"/>
          <a:p xmlns:a="http://schemas.openxmlformats.org/drawingml/2006/main">
            <a:r>
              <a:t>IF LATE: COMPRESS to showing the sample output and the three checks.</a:t>
            </a:r>
          </a:p>
          <a:p xmlns:a="http://schemas.openxmlformats.org/drawingml/2006/main"/>
          <a:p xmlns:a="http://schemas.openxmlformats.org/drawingml/2006/main">
            <a:r>
              <a:t>PROTECTED APPLICATION: Use prepared inputs and fallback outputs.</a:t>
            </a:r>
          </a:p>
          <a:p xmlns:a="http://schemas.openxmlformats.org/drawingml/2006/main"/>
          <a:p xmlns:a="http://schemas.openxmlformats.org/drawingml/2006/main">
            <a:r>
              <a:t>MATERIALS: references/exercise-data/plain-language/README.md (reusable prompt) + three topic files; workbook tab 5-Explain-Clearly.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0.348479%;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0.349%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(old slide 43) when the presentation demonstration took its slot.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t>RELATED: live demonstration slide 40; Supplier_Data_Clean.csv;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t>RELATED: slide 43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t>RELATED: slide 44 (live demonstration);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4" name="main-prompt">
            <a:extLst xmlns:a="http://schemas.openxmlformats.org/drawingml/2006/main">
              <a:ext uri="{FF2B5EF4-FFF2-40B4-BE49-F238E27FC236}">
                <a16:creationId xmlns:a16="http://schemas.microsoft.com/office/drawing/2014/main" id="{B654C62C-01B0-427B-A293-5EAF55D1136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For a manager choosing supplier follow-up, calculate return rate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total returns ÷ total units shipped. Exclude the existing TOTAL row.</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Return a ranked table and a brief, neutral explanation. State missing information and reconcile totals to the source.</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4" name="row-0-label">
            <a:extLst xmlns:a="http://schemas.openxmlformats.org/drawingml/2006/main">
              <a:ext uri="{FF2B5EF4-FFF2-40B4-BE49-F238E27FC236}">
                <a16:creationId xmlns:a16="http://schemas.microsoft.com/office/drawing/2014/main" id="{ED87A271-C077-46D1-B50A-43614F251FD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PLAN</a:t>
            </a:r>
          </a:p>
        </p:txBody>
      </p:sp>
      <p:sp>
        <p:nvSpPr>
          <p:cNvPr id="5" name="row-0-body">
            <a:extLst xmlns:a="http://schemas.openxmlformats.org/drawingml/2006/main">
              <a:ext uri="{FF2B5EF4-FFF2-40B4-BE49-F238E27FC236}">
                <a16:creationId xmlns:a16="http://schemas.microsoft.com/office/drawing/2014/main" id="{6D66EBFA-55B5-4562-A93F-7662675A755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task and the success check.</a:t>
            </a:r>
          </a:p>
        </p:txBody>
      </p:sp>
      <p:sp>
        <p:nvSpPr>
          <p:cNvPr id="6" name="row-1-label">
            <a:extLst xmlns:a="http://schemas.openxmlformats.org/drawingml/2006/main">
              <a:ext uri="{FF2B5EF4-FFF2-40B4-BE49-F238E27FC236}">
                <a16:creationId xmlns:a16="http://schemas.microsoft.com/office/drawing/2014/main" id="{2BCA6B3D-48A0-4A70-BF6C-ACEE8390F79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DO</a:t>
            </a:r>
          </a:p>
        </p:txBody>
      </p:sp>
      <p:sp>
        <p:nvSpPr>
          <p:cNvPr id="7" name="row-1-body">
            <a:extLst xmlns:a="http://schemas.openxmlformats.org/drawingml/2006/main">
              <a:ext uri="{FF2B5EF4-FFF2-40B4-BE49-F238E27FC236}">
                <a16:creationId xmlns:a16="http://schemas.microsoft.com/office/drawing/2014/main" id="{30C5B660-4204-4F1C-8AAC-775C443EE6D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prompt against the supplied source.</a:t>
            </a:r>
          </a:p>
        </p:txBody>
      </p:sp>
      <p:sp>
        <p:nvSpPr>
          <p:cNvPr id="8" name="row-2-label">
            <a:extLst xmlns:a="http://schemas.openxmlformats.org/drawingml/2006/main">
              <a:ext uri="{FF2B5EF4-FFF2-40B4-BE49-F238E27FC236}">
                <a16:creationId xmlns:a16="http://schemas.microsoft.com/office/drawing/2014/main" id="{7117F861-F26A-49A6-9E5B-B56D5F0BF539}"/>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a:t>
            </a:r>
          </a:p>
        </p:txBody>
      </p:sp>
      <p:sp>
        <p:nvSpPr>
          <p:cNvPr id="9" name="row-2-body">
            <a:extLst xmlns:a="http://schemas.openxmlformats.org/drawingml/2006/main">
              <a:ext uri="{FF2B5EF4-FFF2-40B4-BE49-F238E27FC236}">
                <a16:creationId xmlns:a16="http://schemas.microsoft.com/office/drawing/2014/main" id="{3F14F77D-B1C1-410F-BCBF-14876DD1A08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evidence or a known calculation.</a:t>
            </a:r>
          </a:p>
        </p:txBody>
      </p:sp>
      <p:sp>
        <p:nvSpPr>
          <p:cNvPr id="10" name="row-3-label">
            <a:extLst xmlns:a="http://schemas.openxmlformats.org/drawingml/2006/main">
              <a:ext uri="{FF2B5EF4-FFF2-40B4-BE49-F238E27FC236}">
                <a16:creationId xmlns:a16="http://schemas.microsoft.com/office/drawing/2014/main" id="{18DC591B-CE66-4ACB-AC4A-FC6B01BD391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a:t>
            </a:r>
          </a:p>
        </p:txBody>
      </p:sp>
      <p:sp>
        <p:nvSpPr>
          <p:cNvPr id="11" name="row-3-body">
            <a:extLst xmlns:a="http://schemas.openxmlformats.org/drawingml/2006/main">
              <a:ext uri="{FF2B5EF4-FFF2-40B4-BE49-F238E27FC236}">
                <a16:creationId xmlns:a16="http://schemas.microsoft.com/office/drawing/2014/main" id="{B3439584-F765-4B13-B35A-C232B4BBD7B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Fix the specific failure and rerun the affected check.</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33</a:t>
            </a:r>
          </a:p>
        </p:txBody>
      </p:sp>
    </p:spTree>
    <p:extLst>
      <p:ext uri="{BB962C8B-B14F-4D97-AF65-F5344CB8AC3E}">
        <p14:creationId xmlns:p14="http://schemas.microsoft.com/office/powerpoint/2010/main" val="996966470"/>
      </p:ext>
    </p:extLst>
  </p:cSld>
</p:sld>
</file>

<file path=ppt/slides/slide3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Putting Prompts to Work</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supplier case, five artifacts</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examples to identify the requirements each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Detailed templates remain available for reference.</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0:05</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34</a:t>
            </a:r>
          </a:p>
        </p:txBody>
      </p:sp>
    </p:spTree>
    <p:extLst>
      <p:ext uri="{BB962C8B-B14F-4D97-AF65-F5344CB8AC3E}">
        <p14:creationId xmlns:p14="http://schemas.microsoft.com/office/powerpoint/2010/main" val="1528682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0A6261"/>
                </a:solidFill>
                <a:latin typeface="Calibri"/>
              </a:rPr>
              <a:t>One question, one improving prompt</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question</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Which supplier has the highest return rate, and what should we investigate next? The same case runs through all five artifacts today.</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A basic prompt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“Analyze the supplier data and tell me which supplier is worst.” It runs — but it decides scope, metric, and “worst” for you, silently.</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Its weaknesses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No source scope, no metric definition, no denominator rule, no missing-data rule, no check. Every gap becomes the model’s guess.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improved prompt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Names the file and detail rows, defines return rate as totals ÷ totals, keeps defects separate, handles the missing value, demands reconciliation.</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Each added line is a requirement type fixing one named weakness — write the requirement, not the wish.</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35</a:t>
            </a:r>
          </a:p>
        </p:txBody>
      </p:sp>
    </p:spTree>
    <p:extLst>
      <p:ext uri="{BB962C8B-B14F-4D97-AF65-F5344CB8AC3E}">
        <p14:creationId xmlns:p14="http://schemas.microsoft.com/office/powerpoint/2010/main" val="14695760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inspect the workbook</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Inspect the Data tab before calculating.</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Report the detail-row count, column meanings, missing values, and any summary rows that could be counted twice.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Explain what you would include or exclude, then wait.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144 detail rows, one TOTAL row, and one missing inspection-hours value.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36</a:t>
            </a:r>
          </a:p>
        </p:txBody>
      </p:sp>
    </p:spTree>
    <p:extLst>
      <p:ext uri="{BB962C8B-B14F-4D97-AF65-F5344CB8AC3E}">
        <p14:creationId xmlns:p14="http://schemas.microsoft.com/office/powerpoint/2010/main" val="5263478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compare suppliers and check the result</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Using detail rows only, calculate return rate by supplier:</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total Units_Returned ÷ total Units_Shipped.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Rank suppliers from highest to lowest. Reconcile the shipped and returned totals. Explain one limitation of the comparison.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224,902 units shipped and 432 returns. Highest return rate: Bravo Plastics, about 0.349%.</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29586125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2612494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deliverable needs artifact requirements</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Content and structure</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Scorecard and Definitions tabs; measures, units, and period.</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Method and evidence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Calculation rules, sources, exclusions, missing values, and limits.</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Delivery and acceptance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Editable workbook; open it and spot-check two calculations.</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Spreadsheet, dashboard, presentation, email brief, or document: specify the result and its acceptance checks.</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39</a:t>
            </a:r>
          </a:p>
        </p:txBody>
      </p:sp>
    </p:spTree>
    <p:extLst>
      <p:ext uri="{BB962C8B-B14F-4D97-AF65-F5344CB8AC3E}">
        <p14:creationId xmlns:p14="http://schemas.microsoft.com/office/powerpoint/2010/main" val="18754138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Demonstration: a dashboard you can check</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Open the prepared dashboard — one self-contained HTML (HyperText Markup Language) file built from the SAME cleaned supplier records as the analysis.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Filter to Berlin × Bravo Plastics, 2026-03 to 2026-08 — and watch the tiles, chart, and table change together.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21 returns, 0.245% — matches the workbook; the page footer runs the same self-check.</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3103788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 email summary has a job to do</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Current situation</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is true now?</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Decisions</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was agreed, and under what conditions?</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Actions</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Who owes what, by when?</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Open questions</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still needs an answer?</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Requirements: scope + extraction fields + chronology + evidence. Preserve conditions.</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Tree>
    <p:extLst>
      <p:ext uri="{BB962C8B-B14F-4D97-AF65-F5344CB8AC3E}">
        <p14:creationId xmlns:p14="http://schemas.microsoft.com/office/powerpoint/2010/main" val="182227215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find the decision behind the thread</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Summarize the packaging-change conversation as a current-state brief.</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Separate decisions, conditions, actions with owners and dates, and unanswered questions. Identify missing attachments.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only the supplied messages. Write “Not stated” instead of guessing.</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moved date, 18,000 cost cap, unresolved question, and missing attachment.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165831923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0:10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Self-study demonstration: present the findings</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What it makes</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five-slide management deck: question &amp; scope · supplier comparison · the trend · proposed follow-up · limitations &amp; next steps.</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spine</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Audience and decision named · one main message per slide · accurate units and period · speaker notes · findings separated from recommendations · nothing invented.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in your pack — every number traced to the workbook; open it beside the analysis.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Check it like an artifact</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Count slides against the coverage list, reconcile two numbers with the workbook, inspect the exported slides for clipping and readability.</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and requirement checklist: workbook tab 3-Present-Findings · reference page 99.</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43</a:t>
            </a:r>
          </a:p>
        </p:txBody>
      </p:sp>
    </p:spTree>
    <p:extLst>
      <p:ext uri="{BB962C8B-B14F-4D97-AF65-F5344CB8AC3E}">
        <p14:creationId xmlns:p14="http://schemas.microsoft.com/office/powerpoint/2010/main" val="87674091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Demonstration: explain it clearly</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task</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Using the supplied source, explain reorder points and safety stock so a reader at a fifth-grade reading level understands — main idea first, adult tone.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requirements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Familiar words · short sentences · one concrete example · terms defined at first use · analogy only if accurate, with its limit stated · conditions preserved.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 answerable from the text alone.</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fidelity check</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Compare against the source: any simplification that changes the meaning gets flagged. Readability scores are supporting evidence, not proof.</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Success check: main idea in the first sentence · analogy limit stated · the review caveat survived the simplification.</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35</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41</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cleaned supplier records: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43.</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Inventory replenishment (the live demonstration)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live demonstration: slide 44.</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