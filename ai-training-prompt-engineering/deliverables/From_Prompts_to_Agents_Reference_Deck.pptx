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8.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r="http://schemas.openxmlformats.org/officeDocument/2006/relationships" id="274" r:id="R8d8266f16f39499e"/>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ns0="http://schemas.openxmlformats.org/officeDocument/2006/relationships" id="359" ns0:id="rId110"/>
    <p:sldId xmlns:r="http://schemas.openxmlformats.org/officeDocument/2006/relationships" id="299" r:id="Rf83dd77c14194f0b"/>
    <p:sldId xmlns:r="http://schemas.openxmlformats.org/officeDocument/2006/relationships" id="268" r:id="R497eec08e90f49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2afab2e450c4195" Type="http://schemas.openxmlformats.org/officeDocument/2006/relationships/slide" Target="slides/slide34.xml"/><Relationship Id="R05855d706bc045fe" Type="http://schemas.openxmlformats.org/officeDocument/2006/relationships/slide" Target="slides/slide38.xml"/><Relationship Id="R0ac1719f35204866" Type="http://schemas.openxmlformats.org/officeDocument/2006/relationships/slide" Target="slides/slide7.xml"/><Relationship Id="R0b89ffdaa91d419b" Type="http://schemas.openxmlformats.org/officeDocument/2006/relationships/notesMaster" Target="notesMasters/notesMaster1.xml"/><Relationship Id="R0c8f4d29f8a04f60" Type="http://schemas.openxmlformats.org/officeDocument/2006/relationships/slide" Target="slides/slide14.xml"/><Relationship Id="R15145c6c7e234ba1" Type="http://schemas.openxmlformats.org/officeDocument/2006/relationships/slide" Target="slides/slide43.xml"/><Relationship Id="R1d77e68a871f4474" Type="http://schemas.openxmlformats.org/officeDocument/2006/relationships/slide" Target="slides/slide47.xml"/><Relationship Id="R1e1b2aa1bb794464" Type="http://schemas.openxmlformats.org/officeDocument/2006/relationships/slide" Target="slides/slide5.xml"/><Relationship Id="R1fbfbc89ece44e43" Type="http://schemas.openxmlformats.org/officeDocument/2006/relationships/slide" Target="slides/slide58.xml"/><Relationship Id="R22c468c81ffa482e" Type="http://schemas.openxmlformats.org/officeDocument/2006/relationships/slide" Target="slides/slide18.xml"/><Relationship Id="R2b2e423f66a449ed" Type="http://schemas.openxmlformats.org/officeDocument/2006/relationships/slide" Target="slides/slide46.xml"/><Relationship Id="R2bcb4d96ecf8422d" Type="http://schemas.openxmlformats.org/officeDocument/2006/relationships/slide" Target="slides/slide11.xml"/><Relationship Id="R2de53fc756054224" Type="http://schemas.openxmlformats.org/officeDocument/2006/relationships/slide" Target="slides/slide1.xml"/><Relationship Id="R2f94eac98ebf4dcf" Type="http://schemas.openxmlformats.org/officeDocument/2006/relationships/slide" Target="slides/slide16.xml"/><Relationship Id="R3b56dbb5e0334107" Type="http://schemas.openxmlformats.org/officeDocument/2006/relationships/slide" Target="slides/slide12.xml"/><Relationship Id="R3f248e2bf34e4ee7" Type="http://schemas.openxmlformats.org/officeDocument/2006/relationships/slide" Target="slides/slide61.xml"/><Relationship Id="R3fa5858789f04404" Type="http://schemas.openxmlformats.org/officeDocument/2006/relationships/slide" Target="slides/slide22.xml"/><Relationship Id="R3fff51fc7d614878" Type="http://schemas.openxmlformats.org/officeDocument/2006/relationships/slide" Target="slides/slide62.xml"/><Relationship Id="R40e1c79f179f4e8f" Type="http://schemas.openxmlformats.org/officeDocument/2006/relationships/slide" Target="slides/slide2.xml"/><Relationship Id="R42701428448d4235" Type="http://schemas.openxmlformats.org/officeDocument/2006/relationships/slide" Target="slides/slide64.xml"/><Relationship Id="R44780e2ebdb6403f" Type="http://schemas.openxmlformats.org/officeDocument/2006/relationships/slide" Target="slides/slide24.xml"/><Relationship Id="R497eec08e90f4972" Type="http://schemas.openxmlformats.org/officeDocument/2006/relationships/slide" Target="slides/slide67.xml"/><Relationship Id="R49b805558b704520" Type="http://schemas.openxmlformats.org/officeDocument/2006/relationships/slide" Target="slides/slide51.xml"/><Relationship Id="R4c65dd02438d42f5" Type="http://schemas.openxmlformats.org/officeDocument/2006/relationships/slide" Target="slides/slide17.xml"/><Relationship Id="R4e11cd081d8c42cc" Type="http://schemas.openxmlformats.org/officeDocument/2006/relationships/slide" Target="slides/slide4.xml"/><Relationship Id="R5aa8b9bfd01543b2" Type="http://schemas.openxmlformats.org/officeDocument/2006/relationships/slideMaster" Target="slideMasters/slideMaster1.xml"/><Relationship Id="R5d1c473c62ac4960" Type="http://schemas.openxmlformats.org/officeDocument/2006/relationships/slide" Target="slides/slide42.xml"/><Relationship Id="R620ac1dbc6f14e53" Type="http://schemas.openxmlformats.org/officeDocument/2006/relationships/slide" Target="slides/slide27.xml"/><Relationship Id="R64d1fcab01954a83" Type="http://schemas.openxmlformats.org/officeDocument/2006/relationships/slide" Target="slides/slide39.xml"/><Relationship Id="R6c515ce50f4e4f7f" Type="http://schemas.openxmlformats.org/officeDocument/2006/relationships/tableStyles" Target="tableStyles.xml"/><Relationship Id="R6f9e6b8c5b6d4ef6" Type="http://schemas.openxmlformats.org/officeDocument/2006/relationships/slide" Target="slides/slide29.xml"/><Relationship Id="R72f4e34109924bff" Type="http://schemas.openxmlformats.org/officeDocument/2006/relationships/slide" Target="slides/slide50.xml"/><Relationship Id="R7538f1ee4e264b12" Type="http://schemas.openxmlformats.org/officeDocument/2006/relationships/slide" Target="slides/slide9.xml"/><Relationship Id="R7ff20651f7f24b61" Type="http://schemas.openxmlformats.org/officeDocument/2006/relationships/slide" Target="slides/slide8.xml"/><Relationship Id="R80f7ed3959794549" Type="http://schemas.openxmlformats.org/officeDocument/2006/relationships/slide" Target="slides/slide49.xml"/><Relationship Id="R823c328ecb794c2b" Type="http://schemas.openxmlformats.org/officeDocument/2006/relationships/slide" Target="slides/slide32.xml"/><Relationship Id="R830a4c4d00184e7b" Type="http://schemas.openxmlformats.org/officeDocument/2006/relationships/viewProps" Target="viewProps.xml"/><Relationship Id="R88a5cc6292ea42b7" Type="http://schemas.openxmlformats.org/officeDocument/2006/relationships/slide" Target="slides/slide33.xml"/><Relationship Id="R8d8266f16f39499e" Type="http://schemas.openxmlformats.org/officeDocument/2006/relationships/slide" Target="slides/slide60.xml"/><Relationship Id="R8f9157d733974967" Type="http://schemas.openxmlformats.org/officeDocument/2006/relationships/slide" Target="slides/slide35.xml"/><Relationship Id="R99253aca67014940" Type="http://schemas.openxmlformats.org/officeDocument/2006/relationships/slide" Target="slides/slide52.xml"/><Relationship Id="Ra06c56ae3a56481f" Type="http://schemas.openxmlformats.org/officeDocument/2006/relationships/slide" Target="slides/slide6.xml"/><Relationship Id="Ra5ba5c8e347f44e1" Type="http://schemas.openxmlformats.org/officeDocument/2006/relationships/theme" Target="theme/theme1.xml"/><Relationship Id="Rab3fd1a7c8a84fb5" Type="http://schemas.openxmlformats.org/officeDocument/2006/relationships/slide" Target="slides/slide41.xml"/><Relationship Id="Rae84fa895e7748ca" Type="http://schemas.openxmlformats.org/officeDocument/2006/relationships/slide" Target="slides/slide63.xml"/><Relationship Id="Rb17885eb73d14520" Type="http://schemas.openxmlformats.org/officeDocument/2006/relationships/slide" Target="slides/slide44.xml"/><Relationship Id="Rbaa478a0935549e2" Type="http://schemas.openxmlformats.org/officeDocument/2006/relationships/slide" Target="slides/slide26.xml"/><Relationship Id="Rbb8266a8051248ab" Type="http://schemas.openxmlformats.org/officeDocument/2006/relationships/slide" Target="slides/slide23.xml"/><Relationship Id="Rc19ca91603b2489c" Type="http://schemas.openxmlformats.org/officeDocument/2006/relationships/slide" Target="slides/slide28.xml"/><Relationship Id="Rc347af9a1dea4fa3" Type="http://schemas.openxmlformats.org/officeDocument/2006/relationships/slide" Target="slides/slide48.xml"/><Relationship Id="Rc38ef0b539dc41dd" Type="http://schemas.openxmlformats.org/officeDocument/2006/relationships/slide" Target="slides/slide31.xml"/><Relationship Id="Rc5e85b598ee44992" Type="http://schemas.openxmlformats.org/officeDocument/2006/relationships/slide" Target="slides/slide19.xml"/><Relationship Id="Rc671bf21a3eb43f1" Type="http://schemas.openxmlformats.org/officeDocument/2006/relationships/slide" Target="slides/slide59.xml"/><Relationship Id="Rca6780869fc647e3" Type="http://schemas.openxmlformats.org/officeDocument/2006/relationships/slide" Target="slides/slide25.xml"/><Relationship Id="Rd125716ce4294b9c" Type="http://schemas.openxmlformats.org/officeDocument/2006/relationships/slide" Target="slides/slide15.xml"/><Relationship Id="Rd36e565f71ed490d" Type="http://schemas.openxmlformats.org/officeDocument/2006/relationships/presProps" Target="presProps.xml"/><Relationship Id="Rd9664eb4c866478d" Type="http://schemas.openxmlformats.org/officeDocument/2006/relationships/slide" Target="slides/slide45.xml"/><Relationship Id="Re228b723b77d4a79" Type="http://schemas.openxmlformats.org/officeDocument/2006/relationships/slide" Target="slides/slide40.xml"/><Relationship Id="Re2e4afc3a8524f5b" Type="http://schemas.openxmlformats.org/officeDocument/2006/relationships/slide" Target="slides/slide30.xml"/><Relationship Id="Re62d8fa47a29432d" Type="http://schemas.openxmlformats.org/officeDocument/2006/relationships/slide" Target="slides/slide13.xml"/><Relationship Id="Reb419e1bc7894222" Type="http://schemas.openxmlformats.org/officeDocument/2006/relationships/slide" Target="slides/slide36.xml"/><Relationship Id="Rf04d4de72cd24ec1" Type="http://schemas.openxmlformats.org/officeDocument/2006/relationships/slide" Target="slides/slide10.xml"/><Relationship Id="Rf3e1268529fb4912" Type="http://schemas.openxmlformats.org/officeDocument/2006/relationships/slide" Target="slides/slide21.xml"/><Relationship Id="Rf624d4e59fd34102" Type="http://schemas.openxmlformats.org/officeDocument/2006/relationships/slide" Target="slides/slide20.xml"/><Relationship Id="Rf67660129de8488f" Type="http://schemas.openxmlformats.org/officeDocument/2006/relationships/slide" Target="slides/slide3.xml"/><Relationship Id="Rf83dd77c14194f0b" Type="http://schemas.openxmlformats.org/officeDocument/2006/relationships/slide" Target="slides/slide66.xml"/><Relationship Id="Rf8ebba3d3d364e8e" Type="http://schemas.openxmlformats.org/officeDocument/2006/relationships/slide" Target="slides/slide37.xml"/><Relationship Id="rId1" Type="http://schemas.openxmlformats.org/officeDocument/2006/relationships/slide" Target="slides/slide53.xml"/><Relationship Id="rId2" Type="http://schemas.openxmlformats.org/officeDocument/2006/relationships/slide" Target="slides/slide54.xml"/><Relationship Id="rId3" Type="http://schemas.openxmlformats.org/officeDocument/2006/relationships/slide" Target="slides/slide55.xml"/><Relationship Id="rId4" Type="http://schemas.openxmlformats.org/officeDocument/2006/relationships/slide" Target="slides/slide56.xml"/><Relationship Id="rId5" Type="http://schemas.openxmlformats.org/officeDocument/2006/relationships/slide" Target="slides/slide57.xml"/><Relationship Id="rId110"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67.xml"/><Relationship Id="Rf967b19574264e6d"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62.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58.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66.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1.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2.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3.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5.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6.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7.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8.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9.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10.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11.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12.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13.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14.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15.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16.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17.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18.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19.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20.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21.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22.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23.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24.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25.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26.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27.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28.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29.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30.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31.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32.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33.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34.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35.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36.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37.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38.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39.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40.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41.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42.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43.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44.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45.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46.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47.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48.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49.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50.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51.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52.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“erase slide 12 it is too redundant.” Content preserved; it carries approved PROMPT 6/7 (feature menu).</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Product menus change; verify current access rather than memorizing a catalog.</a:t>
            </a:r>
          </a:p>
          <a:p xmlns:a="http://schemas.openxmlformats.org/drawingml/2006/main"/>
          <a:p xmlns:a="http://schemas.openxmlformats.org/drawingml/2006/main">
            <a:r>
              <a:t>SAY:</a:t>
            </a:r>
          </a:p>
          <a:p xmlns:a="http://schemas.openxmlformats.org/drawingml/2006/main">
            <a:r>
              <a:t>- Feature names and availability change.</a:t>
            </a:r>
          </a:p>
          <a:p xmlns:a="http://schemas.openxmlformats.org/drawingml/2006/main">
            <a:r>
              <a:t>- Verify the current product documentation rather than relying on a model’s description of itself.</a:t>
            </a:r>
          </a:p>
          <a:p xmlns:a="http://schemas.openxmlformats.org/drawingml/2006/main"/>
          <a:p xmlns:a="http://schemas.openxmlformats.org/drawingml/2006/main">
            <a:r>
              <a:t>DO: None.</a:t>
            </a:r>
          </a:p>
          <a:p xmlns:a="http://schemas.openxmlformats.org/drawingml/2006/main"/>
          <a:p xmlns:a="http://schemas.openxmlformats.org/drawingml/2006/main">
            <a:r>
              <a:t>BRIDGE: Move to “Verification belongs in the task”.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13</a:t>
            </a:r>
          </a:p>
          <a:p xmlns:a="http://schemas.openxmlformats.org/drawingml/2006/main">
            <a:r>
              <a:t>CONCEPT 5 · THE FEATURE MENU · CONTINUED</a:t>
            </a:r>
          </a:p>
          <a:p xmlns:a="http://schemas.openxmlformats.org/drawingml/2006/main">
            <a:r>
              <a:t>Where your tokens go</a:t>
            </a:r>
          </a:p>
          <a:p xmlns:a="http://schemas.openxmlformats.org/drawingml/2006/main">
            <a:r>
              <a:t>The cost ladder — every vendor sells it</a:t>
            </a:r>
          </a:p>
          <a:p xmlns:a="http://schemas.openxmlformats.org/drawingml/2006/main">
            <a:r>
              <a:t>Quick answer</a:t>
            </a:r>
          </a:p>
          <a:p xmlns:a="http://schemas.openxmlformats.org/drawingml/2006/main">
            <a:r>
              <a:t>1×  one pass, instant</a:t>
            </a:r>
          </a:p>
          <a:p xmlns:a="http://schemas.openxmlformats.org/drawingml/2006/main">
            <a:r>
              <a:t>Thinking / extended reasoning</a:t>
            </a:r>
          </a:p>
          <a:p xmlns:a="http://schemas.openxmlformats.org/drawingml/2006/main">
            <a:r>
              <a:t>5–20×  drafts and checks before answering</a:t>
            </a:r>
          </a:p>
          <a:p xmlns:a="http://schemas.openxmlformats.org/drawingml/2006/main">
            <a:r>
              <a:t>Web search</a:t>
            </a:r>
          </a:p>
          <a:p xmlns:a="http://schemas.openxmlformats.org/drawingml/2006/main">
            <a:r>
              <a:t>+sources  grounds the answer in live pages</a:t>
            </a:r>
          </a:p>
          <a:p xmlns:a="http://schemas.openxmlformats.org/drawingml/2006/main">
            <a:r>
              <a:t>Deep research</a:t>
            </a:r>
          </a:p>
          <a:p xmlns:a="http://schemas.openxmlformats.org/drawingml/2006/main">
            <a:r>
              <a:t>100×+  browses for minutes, cited report</a:t>
            </a:r>
          </a:p>
          <a:p xmlns:a="http://schemas.openxmlformats.org/drawingml/2006/main">
            <a:r>
              <a:t>Agent modes</a:t>
            </a:r>
          </a:p>
          <a:p xmlns:a="http://schemas.openxmlformats.org/drawingml/2006/main">
            <a:r>
              <a:t>the most  plans and acts across many steps</a:t>
            </a:r>
          </a:p>
          <a:p xmlns:a="http://schemas.openxmlformats.org/drawingml/2006/main">
            <a:r>
              <a:t>What it’s called where you are (Sep 2026)</a:t>
            </a:r>
          </a:p>
          <a:p xmlns:a="http://schemas.openxmlformats.org/drawingml/2006/main">
            <a:r>
              <a:t>ChatGPT</a:t>
            </a:r>
          </a:p>
          <a:p xmlns:a="http://schemas.openxmlformats.org/drawingml/2006/main">
            <a:r>
              <a:t>deep research · thinking slider (paid) · “Think” button (free)</a:t>
            </a:r>
          </a:p>
          <a:p xmlns:a="http://schemas.openxmlformats.org/drawingml/2006/main">
            <a:r>
              <a:t>Gemini</a:t>
            </a:r>
          </a:p>
          <a:p xmlns:a="http://schemas.openxmlformats.org/drawingml/2006/main">
            <a:r>
              <a:t>Deep Research (all tiers) · Deep Think = separate hard-reasoning mode (Ultra)</a:t>
            </a:r>
          </a:p>
          <a:p xmlns:a="http://schemas.openxmlformats.org/drawingml/2006/main">
            <a:r>
              <a:t>Claude</a:t>
            </a:r>
          </a:p>
          <a:p xmlns:a="http://schemas.openxmlformats.org/drawingml/2006/main">
            <a:r>
              <a:t>Research (paid plans) · extended thinking</a:t>
            </a:r>
          </a:p>
          <a:p xmlns:a="http://schemas.openxmlformats.org/drawingml/2006/main">
            <a:r>
              <a:t>Copilot</a:t>
            </a:r>
          </a:p>
          <a:p xmlns:a="http://schemas.openxmlformats.org/drawingml/2006/main">
            <a:r>
              <a:t>Quick response · Think Deeper · Smart (GPT-5) · Researcher agent</a:t>
            </a:r>
          </a:p>
          <a:p xmlns:a="http://schemas.openxmlformats.org/drawingml/2006/main">
            <a:r>
              <a:t>Perplexity</a:t>
            </a:r>
          </a:p>
          <a:p xmlns:a="http://schemas.openxmlformats.org/drawingml/2006/main">
            <a:r>
              <a:t>Search · Research · Create files and apps</a:t>
            </a:r>
          </a:p>
          <a:p xmlns:a="http://schemas.openxmlformats.org/drawingml/2006/main">
            <a:r>
              <a:t>Grok</a:t>
            </a:r>
          </a:p>
          <a:p xmlns:a="http://schemas.openxmlformats.org/drawingml/2006/main">
            <a:r>
              <a:t>Auto · Fast · Expert · Heavy (multi-agent, $300 tier) — Think/DeepSearch retired</a:t>
            </a:r>
          </a:p>
          <a:p xmlns:a="http://schemas.openxmlformats.org/drawingml/2006/main">
            <a:r>
              <a:t>Deep research, demystified: a reasoning model given a browser and time — it plans, reads sources for minutes, and synthesizes a cited report. The MoE story in Part 2 is why that became affordable.</a:t>
            </a:r>
          </a:p>
          <a:p xmlns:a="http://schemas.openxmlformats.org/drawingml/2006/main">
            <a:r>
              <a:t>PROMPT 6/7</a:t>
            </a:r>
          </a:p>
          <a:p xmlns:a="http://schemas.openxmlformats.org/drawingml/2006/main">
            <a:r>
              <a:t>Ask your own product for its menu</a:t>
            </a:r>
          </a:p>
          <a:p xmlns:a="http://schemas.openxmlformats.org/drawingml/2006/main">
            <a:r>
              <a:t>TYPE THIS → “List the modes this app gives me — quick answer, thinking, web search, deep research, agent — one line each on what it does differently and its rough effort. Say ‘unsure’ rather than guess.”</a:t>
            </a:r>
          </a:p>
          <a:p xmlns:a="http://schemas.openxmlformats.org/drawingml/2006/main">
            <a:r>
              <a:t>WHY → your own product hands you its menu; ask again the day it changes.</a:t>
            </a:r>
          </a:p>
          <a:p xmlns:a="http://schemas.openxmlformats.org/drawingml/2006/main">
            <a:r>
              <a:t>✂ copy-paste, don’t retype: tab EX6-FeatureMenu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Left card: climb the staircase — 1× quick answer up to agent modes. The discipline: pick the SMALLEST mode that can succeed; escalate deliberately.</a:t>
            </a: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p>
          <a:p xmlns:a="http://schemas.openxmlformats.org/drawingml/2006/main">
            <a:r>
              <a:t>3) Italic line: deep research demystified.</a:t>
            </a:r>
          </a:p>
          <a:p xmlns:a="http://schemas.openxmlformats.org/drawingml/2006/main"/>
          <a:p xmlns:a="http://schemas.openxmlformats.org/drawingml/2006/main">
            <a:r>
              <a:t>TRY IT — PROMPT 6/7 (copy from tab EX6-FeatureMenu)</a:t>
            </a:r>
          </a:p>
          <a:p xmlns:a="http://schemas.openxmlformats.org/drawingml/2006/main">
            <a:r>
              <a:t>Self-updating — the answer regenerates the day any vendor renames a button. The extended 6-column table version lives in the tab.</a:t>
            </a:r>
          </a:p>
          <a:p xmlns:a="http://schemas.openxmlformats.org/drawingml/2006/main">
            <a:r>
              <a:t>Recovery (model misstates its own toggles): “it knows what its modes DO better than where the buttons live — keep the ladder, verify toggles with your eyes.”</a:t>
            </a:r>
          </a:p>
          <a:p xmlns:a="http://schemas.openxmlformats.org/drawingml/2006/main"/>
          <a:p xmlns:a="http://schemas.openxmlformats.org/drawingml/2006/main">
            <a:r>
              <a:t>BRIDGE —</a:t>
            </a:r>
          </a:p>
          <a:p xmlns:a="http://schemas.openxmlformats.org/drawingml/2006/main">
            <a:r>
              <a:t>“Last concept — the one everyone asks about first.”</a:t>
            </a:r>
          </a:p>
          <a:p xmlns:a="http://schemas.openxmlformats.org/drawingml/2006/main"/>
          <a:p xmlns:a="http://schemas.openxmlformats.org/drawingml/2006/main">
            <a:r>
              <a:t>ACRONYMS —</a:t>
            </a:r>
          </a:p>
          <a:p xmlns:a="http://schemas.openxmlformats.org/drawingml/2006/main">
            <a:r>
              <a:t>MoE = Mixture of Experts (Part 2).</a:t>
            </a:r>
          </a:p>
          <a:p xmlns:a="http://schemas.openxmlformats.org/drawingml/2006/main"/>
          <a:p xmlns:a="http://schemas.openxmlformats.org/drawingml/2006/main">
            <a:r>
              <a:t>CONTENT —</a:t>
            </a: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p>
          <a:p xmlns:a="http://schemas.openxmlformats.org/drawingml/2006/main">
            <a:r>
              <a:t>The 5–20× multiplier is sourced (r2); the 100×+ deep-research figure is an order-of-magnitude illustration, not a billed rate.</a:t>
            </a:r>
          </a:p>
          <a:p xmlns:a="http://schemas.openxmlformats.org/drawingml/2006/main">
            <a:r>
              <a:t>Scaling anecdote for questions: one fast prompt vs an orchestrated multi-agent research run = hundreds of quick answers’ worth of tokens.</a:t>
            </a:r>
          </a:p>
          <a:p xmlns:a="http://schemas.openxmlformats.org/drawingml/2006/main">
            <a:r>
              <a:t>13</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RELOCATED to self-study per owner direction (2026-09-18): “I don’t think we need slide 21.” Content preserved.</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Confirm approved tools and data rules before participants upload anything.</a:t>
            </a:r>
          </a:p>
          <a:p xmlns:a="http://schemas.openxmlformats.org/drawingml/2006/main"/>
          <a:p xmlns:a="http://schemas.openxmlformats.org/drawingml/2006/main">
            <a:r>
              <a:t>SAY:</a:t>
            </a:r>
          </a:p>
          <a:p xmlns:a="http://schemas.openxmlformats.org/drawingml/2006/main">
            <a:r>
              <a:t>- Company data rules depend on the actual account, service, contract, and configuration.</a:t>
            </a:r>
          </a:p>
          <a:p xmlns:a="http://schemas.openxmlformats.org/drawingml/2006/main">
            <a:r>
              <a:t>- A vendor’s home country alone does not describe every customer’s storage arrangement.</a:t>
            </a:r>
          </a:p>
          <a:p xmlns:a="http://schemas.openxmlformats.org/drawingml/2006/main">
            <a:r>
              <a:t>- Resolve uncertain access before an upload, using the organization’s approved guidance.</a:t>
            </a:r>
          </a:p>
          <a:p xmlns:a="http://schemas.openxmlformats.org/drawingml/2006/main"/>
          <a:p xmlns:a="http://schemas.openxmlformats.org/drawingml/2006/main">
            <a:r>
              <a:t>DO: None.</a:t>
            </a:r>
          </a:p>
          <a:p xmlns:a="http://schemas.openxmlformats.org/drawingml/2006/main"/>
          <a:p xmlns:a="http://schemas.openxmlformats.org/drawingml/2006/main">
            <a:r>
              <a:t>BRIDGE: Move to “Part 3: prompt engineering”.</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2 · TRUST &amp; DATA</a:t>
            </a:r>
          </a:p>
          <a:p xmlns:a="http://schemas.openxmlformats.org/drawingml/2006/main">
            <a:r>
              <a:t>19</a:t>
            </a:r>
          </a:p>
          <a:p xmlns:a="http://schemas.openxmlformats.org/drawingml/2006/main">
            <a:r>
              <a:t>WHERE YOUR WORDS GO</a:t>
            </a:r>
          </a:p>
          <a:p xmlns:a="http://schemas.openxmlformats.org/drawingml/2006/main">
            <a:r>
              <a:t>Whose servers, in which country — Sep 2026</a:t>
            </a:r>
          </a:p>
          <a:p xmlns:a="http://schemas.openxmlformats.org/drawingml/2006/main">
            <a:r>
              <a:t>UNITED STATES</a:t>
            </a:r>
          </a:p>
          <a:p xmlns:a="http://schemas.openxmlformats.org/drawingml/2006/main">
            <a:r>
              <a:t>Anthropic</a:t>
            </a:r>
          </a:p>
          <a:p xmlns:a="http://schemas.openxmlformats.org/drawingml/2006/main">
            <a:r>
              <a:t>stored in the US</a:t>
            </a:r>
          </a:p>
          <a:p xmlns:a="http://schemas.openxmlformats.org/drawingml/2006/main">
            <a:r>
              <a:t>OpenAI</a:t>
            </a:r>
          </a:p>
          <a:p xmlns:a="http://schemas.openxmlformats.org/drawingml/2006/main">
            <a:r>
              <a:t>US by default</a:t>
            </a:r>
          </a:p>
          <a:p xmlns:a="http://schemas.openxmlformats.org/drawingml/2006/main">
            <a:r>
              <a:t>xAI</a:t>
            </a:r>
          </a:p>
          <a:p xmlns:a="http://schemas.openxmlformats.org/drawingml/2006/main">
            <a:r>
              <a:t>own Memphis data centers</a:t>
            </a:r>
          </a:p>
          <a:p xmlns:a="http://schemas.openxmlformats.org/drawingml/2006/main">
            <a:r>
              <a:t>Perplexity</a:t>
            </a:r>
          </a:p>
          <a:p xmlns:a="http://schemas.openxmlformats.org/drawingml/2006/main">
            <a:r>
              <a:t>AWS cloud, worldwide</a:t>
            </a:r>
          </a:p>
          <a:p xmlns:a="http://schemas.openxmlformats.org/drawingml/2006/main">
            <a:r>
              <a:t>EUROPE — residency on business tiers</a:t>
            </a:r>
          </a:p>
          <a:p xmlns:a="http://schemas.openxmlformats.org/drawingml/2006/main">
            <a:r>
              <a:t>OpenAI</a:t>
            </a:r>
          </a:p>
          <a:p xmlns:a="http://schemas.openxmlformats.org/drawingml/2006/main">
            <a:r>
              <a:t>EU residency (2025) + in-region processing (2026)</a:t>
            </a:r>
          </a:p>
          <a:p xmlns:a="http://schemas.openxmlformats.org/drawingml/2006/main">
            <a:r>
              <a:t>Microsoft</a:t>
            </a:r>
          </a:p>
          <a:p xmlns:a="http://schemas.openxmlformats.org/drawingml/2006/main">
            <a:r>
              <a:t>EU Data Boundary — Claude-in-Copilot sits outside it</a:t>
            </a:r>
          </a:p>
          <a:p xmlns:a="http://schemas.openxmlformats.org/drawingml/2006/main">
            <a:r>
              <a:t>Google</a:t>
            </a:r>
          </a:p>
          <a:p xmlns:a="http://schemas.openxmlformats.org/drawingml/2006/main">
            <a:r>
              <a:t>enterprise residency by region</a:t>
            </a:r>
          </a:p>
          <a:p xmlns:a="http://schemas.openxmlformats.org/drawingml/2006/main">
            <a:r>
              <a:t>Anthropic</a:t>
            </a:r>
          </a:p>
          <a:p xmlns:a="http://schemas.openxmlformats.org/drawingml/2006/main">
            <a:r>
              <a:t>EU via cloud partners (Bedrock · Vertex · Foundry)</a:t>
            </a:r>
          </a:p>
          <a:p xmlns:a="http://schemas.openxmlformats.org/drawingml/2006/main">
            <a:r>
              <a:t>CHINA &amp; ASIA</a:t>
            </a:r>
          </a:p>
          <a:p xmlns:a="http://schemas.openxmlformats.org/drawingml/2006/main">
            <a:r>
              <a:t>DeepSeek</a:t>
            </a:r>
          </a:p>
          <a:p xmlns:a="http://schemas.openxmlformats.org/drawingml/2006/main">
            <a:r>
              <a:t>“stored in the People’s Republic of China” — its own policy</a:t>
            </a:r>
          </a:p>
          <a:p xmlns:a="http://schemas.openxmlformats.org/drawingml/2006/main">
            <a:r>
              <a:t>Kimi (Moonshot)</a:t>
            </a:r>
          </a:p>
          <a:p xmlns:a="http://schemas.openxmlformats.org/drawingml/2006/main">
            <a:r>
              <a:t>PRC storage</a:t>
            </a:r>
          </a:p>
          <a:p xmlns:a="http://schemas.openxmlformats.org/drawingml/2006/main">
            <a:r>
              <a:t>Z</a:t>
            </a:r>
          </a:p>
          <a:p xmlns:a="http://schemas.openxmlformats.org/drawingml/2006/main">
            <a:r>
              <a:t>Z.ai (Zhipu)</a:t>
            </a:r>
          </a:p>
          <a:p xmlns:a="http://schemas.openxmlformats.org/drawingml/2006/main">
            <a:r>
              <a:t>Singapore processing · US Entity-List parent</a:t>
            </a:r>
          </a:p>
          <a:p xmlns:a="http://schemas.openxmlformats.org/drawingml/2006/main">
            <a:r>
              <a:t>Residency = choosing where it lives. </a:t>
            </a:r>
          </a:p>
          <a:p xmlns:a="http://schemas.openxmlformats.org/drawingml/2006/main">
            <a:r>
              <a:t>An enterprise feature: the same vendor can host your company tenant in the EU while its consumer app stores chats in the US.</a:t>
            </a:r>
          </a:p>
          <a:p xmlns:a="http://schemas.openxmlformats.org/drawingml/2006/main">
            <a:r>
              <a:t>The one question that settles it: </a:t>
            </a:r>
          </a:p>
          <a:p xmlns:a="http://schemas.openxmlformats.org/drawingml/2006/main">
            <a:r>
              <a:t>ask IT which region and tier YOUR account runs on — your organization’s AI policy has the answer for everything else.</a:t>
            </a:r>
          </a:p>
          <a:p xmlns:a="http://schemas.openxmlformats.org/drawingml/2006/main"/>
          <a:p xmlns:a="http://schemas.openxmlformats.org/drawingml/2006/main">
            <a:r>
              <a:t>ARCHIVED SOURCE NOTES</a:t>
            </a:r>
          </a:p>
          <a:p xmlns:a="http://schemas.openxmlformats.org/drawingml/2006/main">
            <a:r>
              <a:t>[REFRESH QUARTERLY — owner: Oscar]</a:t>
            </a:r>
          </a:p>
          <a:p xmlns:a="http://schemas.openxmlformats.org/drawingml/2006/main"/>
          <a:p xmlns:a="http://schemas.openxmlformats.org/drawingml/2006/main">
            <a:r>
              <a:t>HOW TO PRESENT —</a:t>
            </a:r>
          </a:p>
          <a:p xmlns:a="http://schemas.openxmlformats.org/drawingml/2006/main">
            <a:r>
              <a:t>1) Frame: “one geography question — whose servers, in which country — and one account question. That’s the whole trust topic at our level.”</a:t>
            </a: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p>
          <a:p xmlns:a="http://schemas.openxmlformats.org/drawingml/2006/main">
            <a:r>
              <a:t>3) The italic map line: SAME LOGO, DIFFERENT HOMES — the account tier decides which one yours is. That is the entire lesson.</a:t>
            </a:r>
          </a:p>
          <a:p xmlns:a="http://schemas.openxmlformats.org/drawingml/2006/main">
            <a:r>
              <a:t>4) Teal card: residency, defined once.</a:t>
            </a: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p>
          <a:p xmlns:a="http://schemas.openxmlformats.org/drawingml/2006/main"/>
          <a:p xmlns:a="http://schemas.openxmlformats.org/drawingml/2006/main">
            <a:r>
              <a:t>BRIDGE —</a:t>
            </a:r>
          </a:p>
          <a:p xmlns:a="http://schemas.openxmlformats.org/drawingml/2006/main">
            <a:r>
              <a:t>“That’s the landscape. Part 3 — the craft itself.”</a:t>
            </a:r>
          </a:p>
          <a:p xmlns:a="http://schemas.openxmlformats.org/drawingml/2006/main"/>
          <a:p xmlns:a="http://schemas.openxmlformats.org/drawingml/2006/main">
            <a:r>
              <a:t>ACRONYMS —</a:t>
            </a:r>
          </a:p>
          <a:p xmlns:a="http://schemas.openxmlformats.org/drawingml/2006/main">
            <a:r>
              <a:t>PRC = People’s Republic of China. EU Data Boundary = Microsoft’s commitment to process EU data inside the EU.</a:t>
            </a:r>
          </a:p>
          <a:p xmlns:a="http://schemas.openxmlformats.org/drawingml/2006/main">
            <a:r>
              <a:t>AWS = Amazon Web Services. Entity List = the US federal trade-restriction list — a procurement red flag.</a:t>
            </a:r>
          </a:p>
          <a:p xmlns:a="http://schemas.openxmlformats.org/drawingml/2006/main"/>
          <a:p xmlns:a="http://schemas.openxmlformats.org/drawingml/2006/main">
            <a:r>
              <a:t>CONTENT —</a:t>
            </a:r>
          </a:p>
          <a:p xmlns:a="http://schemas.openxmlformats.org/drawingml/2006/main">
            <a:r>
              <a:t>v1.12 (owner edits, ported): the centered “same logo, different homes — the ACCOUNT TIER decides” line was removed from the slide — say it aloud instead when sweeping the panels; it remains the slide’s one-line lesson.</a:t>
            </a: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p>
          <a:p xmlns:a="http://schemas.openxmlformats.org/drawingml/2006/main">
            <a:r>
              <a:t>Defaults drift (Anthropic flipped consumer training Aug 2025; Microsoft Oct 2024) — re-verify quarterly.</a:t>
            </a:r>
          </a:p>
          <a:p xmlns:a="http://schemas.openxmlformats.org/drawingml/2006/main">
            <a:r>
              <a:t>Standing rule, always said aloud: your organization’s AI policy and approved-tool list outrank everything on this slide.</a:t>
            </a:r>
          </a:p>
          <a:p xmlns:a="http://schemas.openxmlformats.org/drawingml/2006/main">
            <a:r>
              <a:t>19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Prompt advice depends on the model, task, and evidence.</a:t>
            </a:r>
          </a:p>
          <a:p xmlns:a="http://schemas.openxmlformats.org/drawingml/2006/main"/>
          <a:p xmlns:a="http://schemas.openxmlformats.org/drawingml/2006/main">
            <a:r>
              <a:t>SAY:</a:t>
            </a:r>
          </a:p>
          <a:p xmlns:a="http://schemas.openxmlformats.org/drawingml/2006/main">
            <a:r>
              <a:t>- These techniques are ideas to test against representative examples.</a:t>
            </a:r>
          </a:p>
          <a:p xmlns:a="http://schemas.openxmlformats.org/drawingml/2006/main">
            <a:r>
              <a:t>- A result from one model or benchmark is not a universal effect size.</a:t>
            </a:r>
          </a:p>
          <a:p xmlns:a="http://schemas.openxmlformats.org/drawingml/2006/main"/>
          <a:p xmlns:a="http://schemas.openxmlformats.org/drawingml/2006/main">
            <a:r>
              <a:t>DO: None.</a:t>
            </a:r>
          </a:p>
          <a:p xmlns:a="http://schemas.openxmlformats.org/drawingml/2006/main"/>
          <a:p xmlns:a="http://schemas.openxmlformats.org/drawingml/2006/main">
            <a:r>
              <a:t>BRIDGE: Move to “A neutral rubric reduces leading feedback”.</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WHAT THE EVIDENCE SAYS</a:t>
            </a:r>
          </a:p>
          <a:p xmlns:a="http://schemas.openxmlformats.org/drawingml/2006/main">
            <a:r>
              <a:t>28</a:t>
            </a:r>
          </a:p>
          <a:p xmlns:a="http://schemas.openxmlformats.org/drawingml/2006/main">
            <a:r>
              <a:t>EVIDENCE CORNER</a:t>
            </a:r>
          </a:p>
          <a:p xmlns:a="http://schemas.openxmlformats.org/drawingml/2006/main">
            <a:r>
              <a:t>Six that work, six that don’t — in plain terms</a:t>
            </a:r>
          </a:p>
          <a:p xmlns:a="http://schemas.openxmlformats.org/drawingml/2006/main">
            <a:r>
              <a:t>PROVEN TO WORK</a:t>
            </a:r>
          </a:p>
          <a:p xmlns:a="http://schemas.openxmlformats.org/drawingml/2006/main">
            <a:r>
              <a:t>Be specific: task, constraints, success criteria</a:t>
            </a:r>
          </a:p>
          <a:p xmlns:a="http://schemas.openxmlformats.org/drawingml/2006/main">
            <a:r>
              <a:t>unstated needs guessed right only ~41%</a:t>
            </a:r>
          </a:p>
          <a:p xmlns:a="http://schemas.openxmlformats.org/drawingml/2006/main">
            <a:r>
              <a:t>One tested, reused template</a:t>
            </a:r>
          </a:p>
          <a:p xmlns:a="http://schemas.openxmlformats.org/drawingml/2006/main">
            <a:r>
              <a:t>formatting alone swings results up to 76 points</a:t>
            </a:r>
          </a:p>
          <a:p xmlns:a="http://schemas.openxmlformats.org/drawingml/2006/main">
            <a:r>
              <a:t>Long inputs: documents on top, question at the END</a:t>
            </a:r>
          </a:p>
          <a:p xmlns:a="http://schemas.openxmlformats.org/drawingml/2006/main">
            <a:r>
              <a:t>up to ~30% better answers</a:t>
            </a:r>
          </a:p>
          <a:p xmlns:a="http://schemas.openxmlformats.org/drawingml/2006/main">
            <a:r>
              <a:t>Give it an out — “if you don’t know, say so”</a:t>
            </a:r>
          </a:p>
          <a:p xmlns:a="http://schemas.openxmlformats.org/drawingml/2006/main">
            <a:r>
              <a:t>invented answers cut by a third or more</a:t>
            </a:r>
          </a:p>
          <a:p xmlns:a="http://schemas.openxmlformats.org/drawingml/2006/main">
            <a:r>
              <a:t>Self-check against NAMED criteria</a:t>
            </a:r>
          </a:p>
          <a:p xmlns:a="http://schemas.openxmlformats.org/drawingml/2006/main">
            <a:r>
              <a:t>fact scores jump 56→71 with planned checks</a:t>
            </a:r>
          </a:p>
          <a:p xmlns:a="http://schemas.openxmlformats.org/drawingml/2006/main">
            <a:r>
              <a:t>Ask the AI to improve your prompt</a:t>
            </a:r>
          </a:p>
          <a:p xmlns:a="http://schemas.openxmlformats.org/drawingml/2006/main">
            <a:r>
              <a:t>official tools at every vendor; optimizer prompts beat human ones</a:t>
            </a:r>
          </a:p>
          <a:p xmlns:a="http://schemas.openxmlformats.org/drawingml/2006/main">
            <a:r>
              <a:t>MYTH — SAVE YOUR TYPING</a:t>
            </a:r>
          </a:p>
          <a:p xmlns:a="http://schemas.openxmlformats.org/drawingml/2006/main">
            <a:r>
              <a:t>“Tell it it’s a genius and it gets smarter”</a:t>
            </a:r>
          </a:p>
          <a:p xmlns:a="http://schemas.openxmlformats.org/drawingml/2006/main">
            <a:r>
              <a:t>162 personas tested: zero accuracy gain</a:t>
            </a:r>
          </a:p>
          <a:p xmlns:a="http://schemas.openxmlformats.org/drawingml/2006/main">
            <a:r>
              <a:t>“Tips, threats, ‘important to my career’”</a:t>
            </a:r>
          </a:p>
          <a:p xmlns:a="http://schemas.openxmlformats.org/drawingml/2006/main">
            <a:r>
              <a:t>null on average; the famous 115% was the cherry-picked best case</a:t>
            </a:r>
          </a:p>
          <a:p xmlns:a="http://schemas.openxmlformats.org/drawingml/2006/main">
            <a:r>
              <a:t>“There are magic phrases”</a:t>
            </a:r>
          </a:p>
          <a:p xmlns:a="http://schemas.openxmlformats.org/drawingml/2006/main">
            <a:r>
              <a:t>“take a deep breath” won on one model &amp; benchmark — never universal</a:t>
            </a:r>
          </a:p>
          <a:p xmlns:a="http://schemas.openxmlformats.org/drawingml/2006/main">
            <a:r>
              <a:t>“Longer prompts are always better”</a:t>
            </a:r>
          </a:p>
          <a:p xmlns:a="http://schemas.openxmlformats.org/drawingml/2006/main">
            <a:r>
              <a:t>padding drops accuracy at just ~3K tokens — density wins, not length</a:t>
            </a:r>
          </a:p>
          <a:p xmlns:a="http://schemas.openxmlformats.org/drawingml/2006/main">
            <a:r>
              <a:t>“‘Are you sure?’ makes it double-check”</a:t>
            </a:r>
          </a:p>
          <a:p xmlns:a="http://schemas.openxmlformats.org/drawingml/2006/main">
            <a:r>
              <a:t>it makes it FOLD: answers flip under pushback in 58% of cases</a:t>
            </a:r>
          </a:p>
          <a:p xmlns:a="http://schemas.openxmlformats.org/drawingml/2006/main">
            <a:r>
              <a:t>“The AI knows what I mean”</a:t>
            </a:r>
          </a:p>
          <a:p xmlns:a="http://schemas.openxmlformats.org/drawingml/2006/main">
            <a:r>
              <a:t>the same ~41% — mind-reading is the myth behind every vague prompt</a:t>
            </a:r>
          </a:p>
          <a:p xmlns:a="http://schemas.openxmlformats.org/drawingml/2006/main">
            <a:r>
              <a:t>Every line has a study behind it — sources in the PLAYBOOK tab of your Course Workbook. And one myth got its own slide: the next one.</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Frame: “everything on this slide survived replication — and everything on the right failed it. Twelve lines, plain terms.”</a:t>
            </a: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p>
          <a:p xmlns:a="http://schemas.openxmlformats.org/drawingml/2006/main">
            <a:r>
              <a:t>3) RED column; land the symmetry joke: myth 6 and proven 1 are the same number (~41%) — “the AI knows what I mean” is the myth; “say what you mean” is the cure.</a:t>
            </a:r>
          </a:p>
          <a:p xmlns:a="http://schemas.openxmlformats.org/drawingml/2006/main">
            <a:r>
              <a:t>4) On myth 5, tease: “that one is so important it gets the next slide to itself.”</a:t>
            </a:r>
          </a:p>
          <a:p xmlns:a="http://schemas.openxmlformats.org/drawingml/2006/main"/>
          <a:p xmlns:a="http://schemas.openxmlformats.org/drawingml/2006/main">
            <a:r>
              <a:t>BRIDGE —</a:t>
            </a:r>
          </a:p>
          <a:p xmlns:a="http://schemas.openxmlformats.org/drawingml/2006/main">
            <a:r>
              <a:t>“The bias behind myth 5 — the mirror.”</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p>
          <a:p xmlns:a="http://schemas.openxmlformats.org/drawingml/2006/main">
            <a:r>
              <a:t>“Say the WHY behind a rule” is VENDOR GUIDANCE (Anthropic docs), not independently measured — keep it folded into specificity, never as its own proven line (r25 downgrade).</a:t>
            </a: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p>
          <a:p xmlns:a="http://schemas.openxmlformats.org/drawingml/2006/main">
            <a:r>
              <a:t>The 2025 Wharton replication wave (25–100 runs per question) independently confirms both columns.</a:t>
            </a:r>
          </a:p>
          <a:p xmlns:a="http://schemas.openxmlformats.org/drawingml/2006/main">
            <a:r>
              <a:t>28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A neutral review rubric reduces the influence of the requester’s preference.</a:t>
            </a:r>
          </a:p>
          <a:p xmlns:a="http://schemas.openxmlformats.org/drawingml/2006/main"/>
          <a:p xmlns:a="http://schemas.openxmlformats.org/drawingml/2006/main">
            <a:r>
              <a:t>SAY:</a:t>
            </a:r>
          </a:p>
          <a:p xmlns:a="http://schemas.openxmlformats.org/drawingml/2006/main">
            <a:r>
              <a:t>- A leading question can bias an evaluation toward the requester’s view.</a:t>
            </a:r>
          </a:p>
          <a:p xmlns:a="http://schemas.openxmlformats.org/drawingml/2006/main">
            <a:r>
              <a:t>- Use an explicit rubric and ask what evidence would change the conclusion.</a:t>
            </a:r>
          </a:p>
          <a:p xmlns:a="http://schemas.openxmlformats.org/drawingml/2006/main"/>
          <a:p xmlns:a="http://schemas.openxmlformats.org/drawingml/2006/main">
            <a:r>
              <a:t>DO: None.</a:t>
            </a:r>
          </a:p>
          <a:p xmlns:a="http://schemas.openxmlformats.org/drawingml/2006/main"/>
          <a:p xmlns:a="http://schemas.openxmlformats.org/drawingml/2006/main">
            <a:r>
              <a:t>BRIDGE: Move to “A practical prompt review checklist”.</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BIAS TO DESIGN AGAINST</a:t>
            </a:r>
          </a:p>
          <a:p xmlns:a="http://schemas.openxmlformats.org/drawingml/2006/main">
            <a:r>
              <a:t>29</a:t>
            </a:r>
          </a:p>
          <a:p xmlns:a="http://schemas.openxmlformats.org/drawingml/2006/main">
            <a:r>
              <a:t>AI MIRRORS YOU</a:t>
            </a:r>
          </a:p>
          <a:p xmlns:a="http://schemas.openxmlformats.org/drawingml/2006/main">
            <a:r>
              <a:t>The flattery bias — measured, and all over the news</a:t>
            </a:r>
          </a:p>
          <a:p xmlns:a="http://schemas.openxmlformats.org/drawingml/2006/main">
            <a:r>
              <a:t>+49%</a:t>
            </a:r>
          </a:p>
          <a:p xmlns:a="http://schemas.openxmlformats.org/drawingml/2006/main">
            <a:r>
              <a:t>how often it says you’re right — a person = 100</a:t>
            </a:r>
          </a:p>
          <a:p xmlns:a="http://schemas.openxmlformats.org/drawingml/2006/main">
            <a:r>
              <a:t>a person</a:t>
            </a:r>
          </a:p>
          <a:p xmlns:a="http://schemas.openxmlformats.org/drawingml/2006/main">
            <a:r>
              <a:t>100</a:t>
            </a:r>
          </a:p>
          <a:p xmlns:a="http://schemas.openxmlformats.org/drawingml/2006/main">
            <a:r>
              <a:t>the AI</a:t>
            </a:r>
          </a:p>
          <a:p xmlns:a="http://schemas.openxmlformats.org/drawingml/2006/main">
            <a:r>
              <a:t>149</a:t>
            </a:r>
          </a:p>
          <a:p xmlns:a="http://schemas.openxmlformats.org/drawingml/2006/main">
            <a:r>
              <a:t>11 leading models (Stanford/CMU, Science 2026). Root cause: trained on human preferences — and we prefer agreement.</a:t>
            </a:r>
          </a:p>
          <a:p xmlns:a="http://schemas.openxmlformats.org/drawingml/2006/main">
            <a:r>
              <a:t>It made the news</a:t>
            </a:r>
          </a:p>
          <a:p xmlns:a="http://schemas.openxmlformats.org/drawingml/2006/main">
            <a:r>
              <a:t>APR 2025</a:t>
            </a:r>
          </a:p>
          <a:p xmlns:a="http://schemas.openxmlformats.org/drawingml/2006/main">
            <a:r>
              <a:t>OpenAI rolls back a ChatGPT update — its own words: “overly flattering or agreeable… sycophantic.” Its metrics had rewarded the mirror.</a:t>
            </a:r>
          </a:p>
          <a:p xmlns:a="http://schemas.openxmlformats.org/drawingml/2006/main">
            <a:r>
              <a:t>JUN 2025</a:t>
            </a:r>
          </a:p>
          <a:p xmlns:a="http://schemas.openxmlformats.org/drawingml/2006/main">
            <a:r>
              <a:t>New York Times: chatbots validating false beliefs send some users “spiraling” — agreement as a safety problem.</a:t>
            </a:r>
          </a:p>
          <a:p xmlns:a="http://schemas.openxmlformats.org/drawingml/2006/main">
            <a:r>
              <a:t>AUG 2025</a:t>
            </a:r>
          </a:p>
          <a:p xmlns:a="http://schemas.openxmlformats.org/drawingml/2006/main">
            <a:r>
              <a:t>Microsoft’s AI chief warns of unhealthy AI validation — “not confined to people already at risk.”</a:t>
            </a:r>
          </a:p>
          <a:p xmlns:a="http://schemas.openxmlformats.org/drawingml/2006/main">
            <a:r>
              <a:t>2026</a:t>
            </a:r>
          </a:p>
          <a:p xmlns:a="http://schemas.openxmlformats.org/drawingml/2006/main">
            <a:r>
              <a:t>The Science study measures it (+49%) — and the flattery bias draws regulatory attention.</a:t>
            </a:r>
          </a:p>
          <a:p xmlns:a="http://schemas.openxmlformats.org/drawingml/2006/main">
            <a:r>
              <a:t>The countermeasures — usable today: </a:t>
            </a:r>
          </a:p>
          <a:p xmlns:a="http://schemas.openxmlformats.org/drawingml/2006/main">
            <a:r>
              <a:t>never reveal your preferred answer when asking for a review · ask for the case AGAINST (“three weakest points”) · paste your draft as “a colleague’s” · never treat “are you sure?” as verification.</a:t>
            </a:r>
          </a:p>
          <a:p xmlns:a="http://schemas.openxmlformats.org/drawingml/2006/main">
            <a:r>
              <a:t>SEE IT YOURSELF — two chats, same paragraph:</a:t>
            </a:r>
          </a:p>
          <a:p xmlns:a="http://schemas.openxmlformats.org/drawingml/2006/main">
            <a:r>
              <a:t>Chat 1: “A colleague wrote this — rate it 1–10 and list its three biggest weaknesses.”   Chat 2: “I wrote this myself and I’m really proud of it — rate it 1–10, three biggest weaknesses.”</a:t>
            </a:r>
          </a:p>
          <a:p xmlns:a="http://schemas.openxmlformats.org/drawingml/2006/main">
            <a:r>
              <a:t>Did the score move — and the criticism soften — once it knew you were the author?</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it as one sentence first: “the AI is a mirror — it agrees with you about half again as often as a person would.” Then the +49%.</a:t>
            </a: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p>
          <a:p xmlns:a="http://schemas.openxmlformats.org/drawingml/2006/main">
            <a:r>
              <a:t>3) Countermeasures — read all four; the first changes behavior TODAY.</a:t>
            </a: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p>
          <a:p xmlns:a="http://schemas.openxmlformats.org/drawingml/2006/main"/>
          <a:p xmlns:a="http://schemas.openxmlformats.org/drawingml/2006/main">
            <a:r>
              <a:t>BRIDGE —</a:t>
            </a:r>
          </a:p>
          <a:p xmlns:a="http://schemas.openxmlformats.org/drawingml/2006/main">
            <a:r>
              <a:t>“So what’s current best practice, all in one place? The playbook.”</a:t>
            </a:r>
          </a:p>
          <a:p xmlns:a="http://schemas.openxmlformats.org/drawingml/2006/main"/>
          <a:p xmlns:a="http://schemas.openxmlformats.org/drawingml/2006/main">
            <a:r>
              <a:t>ACRONYMS —</a:t>
            </a:r>
          </a:p>
          <a:p xmlns:a="http://schemas.openxmlformats.org/drawingml/2006/main">
            <a:r>
              <a:t>CMU = Carnegie Mellon University (co-authors of the Science study).</a:t>
            </a:r>
          </a:p>
          <a:p xmlns:a="http://schemas.openxmlformats.org/drawingml/2006/main"/>
          <a:p xmlns:a="http://schemas.openxmlformats.org/drawingml/2006/main">
            <a:r>
              <a:t>CONTENT —</a:t>
            </a: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p>
          <a:p xmlns:a="http://schemas.openxmlformats.org/drawingml/2006/main">
            <a:r>
              <a:t>Handled with care: no medical claims from the “AI psychosis” coverage; countermeasures are the deck’s standing blind-review discipline.</a:t>
            </a: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p>
          <a:p xmlns:a="http://schemas.openxmlformats.org/drawingml/2006/main">
            <a:r>
              <a:t>29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outside the first-session teaching scope.</a:t>
            </a:r>
          </a:p>
          <a:p xmlns:a="http://schemas.openxmlformats.org/drawingml/2006/main"/>
          <a:p xmlns:a="http://schemas.openxmlformats.org/drawingml/2006/main">
            <a:r>
              <a:t>MODE: REFERENCE</a:t>
            </a:r>
          </a:p>
          <a:p xmlns:a="http://schemas.openxmlformats.org/drawingml/2006/main"/>
          <a:p xmlns:a="http://schemas.openxmlformats.org/drawingml/2006/main">
            <a:r>
              <a:t>TIME: 0:10</a:t>
            </a:r>
          </a:p>
          <a:p xmlns:a="http://schemas.openxmlformats.org/drawingml/2006/main"/>
          <a:p xmlns:a="http://schemas.openxmlformats.org/drawingml/2006/main">
            <a:r>
              <a:t>PURPOSE: Preserve depth for self-study without consuming live practice time.</a:t>
            </a:r>
          </a:p>
          <a:p xmlns:a="http://schemas.openxmlformats.org/drawingml/2006/main"/>
          <a:p xmlns:a="http://schemas.openxmlformats.org/drawingml/2006/main">
            <a:r>
              <a:t>LAND THIS: Treat universal prompt rules as hypotheses to test, not laws.</a:t>
            </a:r>
          </a:p>
          <a:p xmlns:a="http://schemas.openxmlformats.org/drawingml/2006/main"/>
          <a:p xmlns:a="http://schemas.openxmlformats.org/drawingml/2006/main">
            <a:r>
              <a:t>SAY:</a:t>
            </a:r>
          </a:p>
          <a:p xmlns:a="http://schemas.openxmlformats.org/drawingml/2006/main">
            <a:r>
              <a:t>- Use this playbook as a reference when diagnosing an unsatisfactory answer.</a:t>
            </a:r>
          </a:p>
          <a:p xmlns:a="http://schemas.openxmlformats.org/drawingml/2006/main">
            <a:r>
              <a:t>- Avoid turning model-dependent advice into universal rules.</a:t>
            </a:r>
          </a:p>
          <a:p xmlns:a="http://schemas.openxmlformats.org/drawingml/2006/main"/>
          <a:p xmlns:a="http://schemas.openxmlformats.org/drawingml/2006/main">
            <a:r>
              <a:t>DO: None.</a:t>
            </a:r>
          </a:p>
          <a:p xmlns:a="http://schemas.openxmlformats.org/drawingml/2006/main"/>
          <a:p xmlns:a="http://schemas.openxmlformats.org/drawingml/2006/main">
            <a:r>
              <a:t>BRIDGE: Move to “Data Analytics Exercise”.</a:t>
            </a:r>
          </a:p>
          <a:p xmlns:a="http://schemas.openxmlformats.org/drawingml/2006/main"/>
          <a:p xmlns:a="http://schemas.openxmlformats.org/drawingml/2006/main">
            <a:r>
              <a:t>IF LATE: SKIP</a:t>
            </a:r>
          </a:p>
          <a:p xmlns:a="http://schemas.openxmlformats.org/drawingml/2006/main"/>
          <a:p xmlns:a="http://schemas.openxmlformats.org/drawingml/2006/main">
            <a:r>
              <a:t>SOURCE DETAIL FOR SELF-STUDY</a:t>
            </a:r>
          </a:p>
          <a:p xmlns:a="http://schemas.openxmlformats.org/drawingml/2006/main">
            <a:r>
              <a:t>PART 3 · THE 2026 PLAYBOOK</a:t>
            </a:r>
          </a:p>
          <a:p xmlns:a="http://schemas.openxmlformats.org/drawingml/2006/main">
            <a:r>
              <a:t>30</a:t>
            </a:r>
          </a:p>
          <a:p xmlns:a="http://schemas.openxmlformats.org/drawingml/2006/main">
            <a:r>
              <a:t>DO · DON’T · EXPIRED — TOP FIVE EACH</a:t>
            </a:r>
          </a:p>
          <a:p xmlns:a="http://schemas.openxmlformats.org/drawingml/2006/main">
            <a:r>
              <a:t>The 2026 prompting playbook</a:t>
            </a:r>
          </a:p>
          <a:p xmlns:a="http://schemas.openxmlformats.org/drawingml/2006/main">
            <a:r>
              <a:t>TO DO — reliably helps</a:t>
            </a:r>
          </a:p>
          <a:p xmlns:a="http://schemas.openxmlformats.org/drawingml/2006/main">
            <a:r>
              <a:t>1  State the task precisely — verb, constraints, success criteria, and the WHY behind each rule</a:t>
            </a:r>
          </a:p>
          <a:p xmlns:a="http://schemas.openxmlformats.org/drawingml/2006/main">
            <a:r>
              <a:t>2  Separate instructions from material; standardize ONE tested, versioned template</a:t>
            </a:r>
          </a:p>
          <a:p xmlns:a="http://schemas.openxmlformats.org/drawingml/2006/main">
            <a:r>
              <a:t>3  Long inputs: documents at the top, instructions at the END (bookend both ends when very long)</a:t>
            </a:r>
          </a:p>
          <a:p xmlns:a="http://schemas.openxmlformats.org/drawingml/2006/main">
            <a:r>
              <a:t>4  Give an out + require citations</a:t>
            </a:r>
          </a:p>
          <a:p xmlns:a="http://schemas.openxmlformats.org/drawingml/2006/main">
            <a:r>
              <a:t>5  Numeric budgets for anything measurable — words, bullets, steps</a:t>
            </a:r>
          </a:p>
          <a:p xmlns:a="http://schemas.openxmlformats.org/drawingml/2006/main">
            <a:r>
              <a:t>NOT TO DO — hurts or wastes</a:t>
            </a:r>
          </a:p>
          <a:p xmlns:a="http://schemas.openxmlformats.org/drawingml/2006/main">
            <a:r>
              <a:t>1  Contradictory instructions — reasoning models burn tokens reconciling them</a:t>
            </a:r>
          </a:p>
          <a:p xmlns:a="http://schemas.openxmlformats.org/drawingml/2006/main">
            <a:r>
              <a:t>2  Tips, threats, emotional pressure — null on average, chaos per question</a:t>
            </a:r>
          </a:p>
          <a:p xmlns:a="http://schemas.openxmlformats.org/drawingml/2006/main">
            <a:r>
              <a:t>3  Bare “do not hallucinate” commands — they trigger over-refusal; use the out + citations instead</a:t>
            </a:r>
          </a:p>
          <a:p xmlns:a="http://schemas.openxmlformats.org/drawingml/2006/main">
            <a:r>
              <a:t>4  Revealing your preferred answer, or “are you sure?” as verification</a:t>
            </a:r>
          </a:p>
          <a:p xmlns:a="http://schemas.openxmlformats.org/drawingml/2006/main">
            <a:r>
              <a:t>5  Piling micro-rules — quality degrades past ~150 instructions; smallest prompt that keeps the contract</a:t>
            </a:r>
          </a:p>
          <a:p xmlns:a="http://schemas.openxmlformats.org/drawingml/2006/main">
            <a:r>
              <a:t>EXPIRED — was right in 2023</a:t>
            </a:r>
          </a:p>
          <a:p xmlns:a="http://schemas.openxmlformats.org/drawingml/2006/main">
            <a:r>
              <a:t>1  “Think step by step” → pick a reasoning model, set the effort dial</a:t>
            </a:r>
          </a:p>
          <a:p xmlns:a="http://schemas.openxmlformats.org/drawingml/2006/main">
            <a:r>
              <a:t>2  Piles of examples → zero-shot first, then 3–5 format-definers</a:t>
            </a:r>
          </a:p>
          <a:p xmlns:a="http://schemas.openxmlformats.org/drawingml/2006/main">
            <a:r>
              <a:t>3  “You are a world-class expert” for accuracy → persona for voice only</a:t>
            </a:r>
          </a:p>
          <a:p xmlns:a="http://schemas.openxmlformats.org/drawingml/2006/main">
            <a:r>
              <a:t>4  Magic phrases (“take a deep breath”, “my career depends on it”) → clarity; real stakes as factual context</a:t>
            </a:r>
          </a:p>
          <a:p xmlns:a="http://schemas.openxmlformats.org/drawingml/2006/main">
            <a:r>
              <a:t>5  Carrying your 2023 prompt stack to each new model → re-baseline on every upgrade (next slide’s loop)</a:t>
            </a: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Why this slide exists, in one line: “half the prompting advice on the internet is from 2023 — here is the 2026 state of play, in three columns: keep, avoid, unlearn.”</a:t>
            </a:r>
          </a:p>
          <a:p xmlns:a="http://schemas.openxmlformats.org/drawingml/2006/main">
            <a:r>
              <a:t>2) GREEN column, fast — these five are Part 3 itself, condensed; nothing new, that’s the point.</a:t>
            </a: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p>
          <a:p xmlns:a="http://schemas.openxmlformats.org/drawingml/2006/main"/>
          <a:p xmlns:a="http://schemas.openxmlformats.org/drawingml/2006/main">
            <a:r>
              <a:t>COHERENCE SEAMS (if someone spots a “contradiction”) —</a:t>
            </a:r>
          </a:p>
          <a:p xmlns:a="http://schemas.openxmlformats.org/drawingml/2006/main">
            <a:r>
              <a:t>Numeric caps vs no-absolutes: caps constrain QUANTITY; ALWAYS/NEVER locks JUDGMENT — reserve absolutes for true invariants.</a:t>
            </a:r>
          </a:p>
          <a:p xmlns:a="http://schemas.openxmlformats.org/drawingml/2006/main">
            <a:r>
              <a:t>Bookending vs no-repetition: repeat verbatim at both ends of LONG context, or not at all — paraphrased blanket repetition is the anti-pattern.</a:t>
            </a:r>
          </a:p>
          <a:p xmlns:a="http://schemas.openxmlformats.org/drawingml/2006/main">
            <a:r>
              <a:t>Task detail vs rule-piling: detail = information density (helps); piling = rule COUNT (past ~150, quality sags, early rules win).</a:t>
            </a:r>
          </a:p>
          <a:p xmlns:a="http://schemas.openxmlformats.org/drawingml/2006/main">
            <a:r>
              <a:t>CoT expired only on frontier reasoning models — still legitimate on small/local/non-thinking models.</a:t>
            </a:r>
          </a:p>
          <a:p xmlns:a="http://schemas.openxmlformats.org/drawingml/2006/main"/>
          <a:p xmlns:a="http://schemas.openxmlformats.org/drawingml/2006/main">
            <a:r>
              <a:t>BRIDGE —</a:t>
            </a:r>
          </a:p>
          <a:p xmlns:a="http://schemas.openxmlformats.org/drawingml/2006/main">
            <a:r>
              <a:t>“The craft is stable — here’s the habit that compounds it.”</a:t>
            </a:r>
          </a:p>
          <a:p xmlns:a="http://schemas.openxmlformats.org/drawingml/2006/main"/>
          <a:p xmlns:a="http://schemas.openxmlformats.org/drawingml/2006/main">
            <a:r>
              <a:t>ACRONYMS —</a:t>
            </a:r>
          </a:p>
          <a:p xmlns:a="http://schemas.openxmlformats.org/drawingml/2006/main">
            <a:r>
              <a:t>CoT = Chain-of-Thought — the old “think step by step” style, now built into thinking models.</a:t>
            </a:r>
          </a:p>
          <a:p xmlns:a="http://schemas.openxmlformats.org/drawingml/2006/main"/>
          <a:p xmlns:a="http://schemas.openxmlformats.org/drawingml/2006/main">
            <a:r>
              <a:t>CONTENT —</a:t>
            </a: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p>
          <a:p xmlns:a="http://schemas.openxmlformats.org/drawingml/2006/main">
            <a:r>
              <a:t>What did NOT change (say if the room looks nervous): clarity, context, format, the out, grounding, iteration — the anatomy applies to every model they will ever use; scaffolding tricks retire, briefing skills compound.</a:t>
            </a: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p>
          <a:p xmlns:a="http://schemas.openxmlformats.org/drawingml/2006/main">
            <a:r>
              <a:t>30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(main deck slides 47–48);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RELOCATED to self-study per owner direction (2026-09-18): “get rid of 49” Content preserved.</a:t>
            </a:r>
          </a:p>
          <a:p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Reference Deck slide 106, “The right workspace for the data”.)</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92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main deck slide 42).</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EX-Dashboard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main deck slide 41;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main deck slide 42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91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3.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8.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9.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12.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13.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14.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19.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21.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22.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24.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26.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27.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28.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29.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30.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31.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33.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36.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37.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38.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39.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40.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41.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42.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43.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45.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49.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51.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54.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55.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56.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57.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58.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59.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61.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62.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63.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 Id="rId3" Type="http://schemas.openxmlformats.org/officeDocument/2006/relationships/notesSlide" Target="../notesSlides/notesSlide17.xml"/></Relationships>
</file>

<file path=ppt/slides/_rels/slide66.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 Id="rId3" Type="http://schemas.openxmlformats.org/officeDocument/2006/relationships/image" Target="../media/image22.png"/></Relationships>
</file>

<file path=ppt/slides/slide1.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47</a:t>
            </a:r>
          </a:p>
        </p:txBody>
      </p:sp>
    </p:spTree>
    <p:extLst>
      <p:ext uri="{BB962C8B-B14F-4D97-AF65-F5344CB8AC3E}">
        <p14:creationId xmlns:p14="http://schemas.microsoft.com/office/powerpoint/2010/main" val="929021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5923189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49</a:t>
            </a:r>
          </a:p>
        </p:txBody>
      </p:sp>
    </p:spTree>
    <p:extLst>
      <p:ext uri="{BB962C8B-B14F-4D97-AF65-F5344CB8AC3E}">
        <p14:creationId xmlns:p14="http://schemas.microsoft.com/office/powerpoint/2010/main" val="9042127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8356137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51</a:t>
            </a:r>
          </a:p>
        </p:txBody>
      </p:sp>
    </p:spTree>
    <p:extLst>
      <p:ext uri="{BB962C8B-B14F-4D97-AF65-F5344CB8AC3E}">
        <p14:creationId xmlns:p14="http://schemas.microsoft.com/office/powerpoint/2010/main" val="623786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14695394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87</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3503921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2011186280"/>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88</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55</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3926892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57</a:t>
            </a:r>
          </a:p>
        </p:txBody>
      </p:sp>
    </p:spTree>
    <p:extLst>
      <p:ext uri="{BB962C8B-B14F-4D97-AF65-F5344CB8AC3E}">
        <p14:creationId xmlns:p14="http://schemas.microsoft.com/office/powerpoint/2010/main" val="8078469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136429918"/>
      </p:ext>
    </p:extLst>
  </p:cSld>
</p:sld>
</file>

<file path=ppt/slides/slide1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59</a:t>
            </a:r>
          </a:p>
        </p:txBody>
      </p:sp>
    </p:spTree>
    <p:extLst>
      <p:ext uri="{BB962C8B-B14F-4D97-AF65-F5344CB8AC3E}">
        <p14:creationId xmlns:p14="http://schemas.microsoft.com/office/powerpoint/2010/main" val="15577781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9368014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10937314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266330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4461624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16047376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65</a:t>
            </a:r>
          </a:p>
        </p:txBody>
      </p:sp>
    </p:spTree>
    <p:extLst>
      <p:ext uri="{BB962C8B-B14F-4D97-AF65-F5344CB8AC3E}">
        <p14:creationId xmlns:p14="http://schemas.microsoft.com/office/powerpoint/2010/main" val="173695199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66</a:t>
            </a:r>
          </a:p>
        </p:txBody>
      </p:sp>
    </p:spTree>
    <p:extLst>
      <p:ext uri="{BB962C8B-B14F-4D97-AF65-F5344CB8AC3E}">
        <p14:creationId xmlns:p14="http://schemas.microsoft.com/office/powerpoint/2010/main" val="546940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195005424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3272459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90811741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70</a:t>
            </a:r>
          </a:p>
        </p:txBody>
      </p:sp>
    </p:spTree>
    <p:extLst>
      <p:ext uri="{BB962C8B-B14F-4D97-AF65-F5344CB8AC3E}">
        <p14:creationId xmlns:p14="http://schemas.microsoft.com/office/powerpoint/2010/main" val="468794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71</a:t>
            </a:r>
          </a:p>
        </p:txBody>
      </p:sp>
    </p:spTree>
    <p:extLst>
      <p:ext uri="{BB962C8B-B14F-4D97-AF65-F5344CB8AC3E}">
        <p14:creationId xmlns:p14="http://schemas.microsoft.com/office/powerpoint/2010/main" val="596619051"/>
      </p:ext>
    </p:extLst>
  </p:cSld>
</p:sld>
</file>

<file path=ppt/slides/slide26.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72</a:t>
            </a:r>
          </a:p>
        </p:txBody>
      </p:sp>
    </p:spTree>
    <p:extLst>
      <p:ext uri="{BB962C8B-B14F-4D97-AF65-F5344CB8AC3E}">
        <p14:creationId xmlns:p14="http://schemas.microsoft.com/office/powerpoint/2010/main" val="773604891"/>
      </p:ext>
    </p:extLst>
  </p:cSld>
</p:sld>
</file>

<file path=ppt/slides/slide27.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1000" b="1">
                <a:solidFill>
                  <a:srgbClr val="B96A1B"/>
                </a:solidFill>
                <a:latin typeface="Calibri"/>
              </a:rPr>
              <a:t>SEND 1 · </a:t>
            </a:r>
            <a:r>
              <a:rPr sz="1000" b="1">
                <a:solidFill>
                  <a:srgbClr val="0A5B5A"/>
                </a:solidFill>
                <a:latin typeface="Calibri"/>
              </a:rPr>
              <a:t>TYPE THIS → </a:t>
            </a:r>
            <a:r>
              <a:rPr sz="950" b="0">
                <a:solidFill>
                  <a:srgbClr val="232A31"/>
                </a:solidFill>
                <a:latin typeface="Calibri"/>
              </a:rPr>
              <a:t>“Finish this sentence five different ways: “We should review the launch date because…” Treat each ending as a hypothetical possibility.”</a:t>
            </a:r>
            <a:endParaRPr sz="1000"/>
          </a:p>
          <a:p xmlns:a="http://schemas.openxmlformats.org/drawingml/2006/main">
            <a:pPr algn="l"/>
            <a:r>
              <a:rPr sz="1000" b="1">
                <a:solidFill>
                  <a:srgbClr val="B96A1B"/>
                </a:solidFill>
                <a:latin typeface="Calibri"/>
              </a:rPr>
              <a:t>SEND 2 · </a:t>
            </a:r>
            <a:r>
              <a:rPr sz="1000" b="1">
                <a:solidFill>
                  <a:srgbClr val="0A5B5A"/>
                </a:solidFill>
                <a:latin typeface="Calibri"/>
              </a:rPr>
              <a:t>TYPE THIS → </a:t>
            </a:r>
            <a:r>
              <a:rPr sz="950" b="0">
                <a:solidFill>
                  <a:srgbClr val="232A31"/>
                </a:solidFill>
                <a:latin typeface="Calibri"/>
              </a:rPr>
              <a:t>“Repeat using these facts: we are a business-to-business software company; our beta ends April 20; a competitor launches May 3. Separate supplied facts from assumptions. End with one missing fact that could change the timing decision.”</a:t>
            </a:r>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32830804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8000"/>
              </a:lnSpc>
              <a:buNone/>
            </a:pPr>
            <a:r>
              <a:rPr sz="950" b="1">
                <a:solidFill>
                  <a:srgbClr val="B96A1B"/>
                </a:solidFill>
                <a:latin typeface="Calibri"/>
              </a:rPr>
              <a:t>SEND 1 · </a:t>
            </a:r>
            <a:r>
              <a:rPr sz="950" b="1">
                <a:solidFill>
                  <a:srgbClr val="0A5B5A"/>
                </a:solidFill>
                <a:latin typeface="Calibri"/>
              </a:rPr>
              <a:t>TYPE THIS → </a:t>
            </a:r>
            <a:r>
              <a:rPr sz="900" b="0">
                <a:solidFill>
                  <a:srgbClr val="232A31"/>
                </a:solidFill>
                <a:latin typeface="Calibri"/>
              </a:rPr>
              <a:t>“Explain a context window using a desk analogy, in about 100 words. What occupies the desk, and what happens as it fills? Distinguish information available for the current response from saved chat history and optional memory. Identify what depends on the application. End with one useful habit for continuing a long task.”</a:t>
            </a:r>
            <a:endParaRPr sz="1000"/>
          </a:p>
          <a:p xmlns:a="http://schemas.openxmlformats.org/drawingml/2006/main">
            <a:pPr algn="l"/>
            <a:r>
              <a:rPr sz="950" b="1">
                <a:solidFill>
                  <a:srgbClr val="B96A1B"/>
                </a:solidFill>
                <a:latin typeface="Calibri"/>
              </a:rPr>
              <a:t>HANDOFF FOLLOW-UP · </a:t>
            </a:r>
            <a:r>
              <a:rPr sz="950" b="1">
                <a:solidFill>
                  <a:srgbClr val="0A5B5A"/>
                </a:solidFill>
                <a:latin typeface="Calibri"/>
              </a:rPr>
              <a:t>TYPE THIS → </a:t>
            </a:r>
            <a:r>
              <a:rPr sz="900" b="0">
                <a:solidFill>
                  <a:srgbClr val="232A31"/>
                </a:solidFill>
                <a:latin typeface="Calibri"/>
              </a:rPr>
              <a:t>“Create a concise HANDOFF from the conversation currently available: goal, decisions, constraints, unresolved questions, and next action. Name any files needed to continue. Mark missing information rather than inventing it.”</a:t>
            </a:r>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63487475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72316286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25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149011545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27</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121732852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28</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73541720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29</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89169783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31</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435441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slide 107 (self-study)</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200021502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34</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1469576047"/>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main deck slide 44</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8222721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Reference Deck slide 49</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90421270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Reference Deck slide 52</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146953944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Reference Deck slide 53</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87</a:t>
            </a:r>
          </a:p>
        </p:txBody>
      </p:sp>
    </p:spTree>
    <p:extLst>
      <p:ext uri="{BB962C8B-B14F-4D97-AF65-F5344CB8AC3E}">
        <p14:creationId xmlns:p14="http://schemas.microsoft.com/office/powerpoint/2010/main" val="35039219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Reference Deck slide 55</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88</a:t>
            </a:r>
          </a:p>
        </p:txBody>
      </p:sp>
    </p:spTree>
    <p:extLst>
      <p:ext uri="{BB962C8B-B14F-4D97-AF65-F5344CB8AC3E}">
        <p14:creationId xmlns:p14="http://schemas.microsoft.com/office/powerpoint/2010/main" val="67646735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Tree>
    <p:extLst>
      <p:ext uri="{BB962C8B-B14F-4D97-AF65-F5344CB8AC3E}">
        <p14:creationId xmlns:p14="http://schemas.microsoft.com/office/powerpoint/2010/main" val="50748863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spTree>
    <p:extLst>
      <p:ext uri="{BB962C8B-B14F-4D97-AF65-F5344CB8AC3E}">
        <p14:creationId xmlns:p14="http://schemas.microsoft.com/office/powerpoint/2010/main" val="40487522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97</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98</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99</a:t>
            </a:r>
          </a:p>
        </p:txBody>
      </p:sp>
    </p:spTree>
    <p:extLst>
      <p:ext uri="{BB962C8B-B14F-4D97-AF65-F5344CB8AC3E}">
        <p14:creationId xmlns:p14="http://schemas.microsoft.com/office/powerpoint/2010/main" val="129382413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main deck slide 42.</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Inventory replenishment (the worked demonstration)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102</a:t>
            </a:r>
          </a:p>
        </p:txBody>
      </p:sp>
    </p:spTree>
    <p:extLst>
      <p:ext uri="{BB962C8B-B14F-4D97-AF65-F5344CB8AC3E}">
        <p14:creationId xmlns:p14="http://schemas.microsoft.com/office/powerpoint/2010/main" val="40487522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template: the course book, Reusable prompts chapter · source thread: Packaging_Change_Thread.txt · key: slides 90–91.</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103</a:t>
            </a:r>
          </a:p>
        </p:txBody>
      </p:sp>
    </p:spTree>
    <p:extLst>
      <p:ext uri="{BB962C8B-B14F-4D97-AF65-F5344CB8AC3E}">
        <p14:creationId xmlns:p14="http://schemas.microsoft.com/office/powerpoint/2010/main" val="4048752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104</a:t>
            </a:r>
          </a:p>
        </p:txBody>
      </p:sp>
    </p:spTree>
    <p:extLst>
      <p:ext uri="{BB962C8B-B14F-4D97-AF65-F5344CB8AC3E}">
        <p14:creationId xmlns:p14="http://schemas.microsoft.com/office/powerpoint/2010/main" val="99696647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105</a:t>
            </a:r>
          </a:p>
        </p:txBody>
      </p:sp>
    </p:spTree>
    <p:extLst>
      <p:ext uri="{BB962C8B-B14F-4D97-AF65-F5344CB8AC3E}">
        <p14:creationId xmlns:p14="http://schemas.microsoft.com/office/powerpoint/2010/main" val="2612494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106</a:t>
            </a:r>
          </a:p>
        </p:txBody>
      </p:sp>
    </p:spTree>
    <p:extLst>
      <p:ext uri="{BB962C8B-B14F-4D97-AF65-F5344CB8AC3E}">
        <p14:creationId xmlns:p14="http://schemas.microsoft.com/office/powerpoint/2010/main" val="1317624103"/>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107</a:t>
            </a:r>
          </a:p>
        </p:txBody>
      </p:sp>
    </p:spTree>
    <p:extLst>
      <p:ext uri="{BB962C8B-B14F-4D97-AF65-F5344CB8AC3E}">
        <p14:creationId xmlns:p14="http://schemas.microsoft.com/office/powerpoint/2010/main" val="200021502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108</a:t>
            </a:r>
          </a:p>
        </p:txBody>
      </p:sp>
    </p:spTree>
    <p:extLst>
      <p:ext uri="{BB962C8B-B14F-4D97-AF65-F5344CB8AC3E}">
        <p14:creationId xmlns:p14="http://schemas.microsoft.com/office/powerpoint/2010/main" val="111665530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109</a:t>
            </a:r>
          </a:p>
        </p:txBody>
      </p:sp>
    </p:spTree>
    <p:extLst>
      <p:ext uri="{BB962C8B-B14F-4D97-AF65-F5344CB8AC3E}">
        <p14:creationId xmlns:p14="http://schemas.microsoft.com/office/powerpoint/2010/main" val="5324068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110</a:t>
            </a:r>
          </a:p>
        </p:txBody>
      </p:sp>
    </p:spTree>
    <p:extLst>
      <p:ext uri="{BB962C8B-B14F-4D97-AF65-F5344CB8AC3E}">
        <p14:creationId xmlns:p14="http://schemas.microsoft.com/office/powerpoint/2010/main" val="128242613"/>
      </p:ext>
    </p:extLst>
  </p:cSld>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From Prompts to Agents</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111</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112</a:t>
            </a:r>
          </a:p>
        </p:txBody>
      </p:sp>
    </p:spTree>
    <p:extLst>
      <p:ext uri="{BB962C8B-B14F-4D97-AF65-F5344CB8AC3E}">
        <p14:creationId xmlns:p14="http://schemas.microsoft.com/office/powerpoint/2010/main" val="876740918"/>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29384"/>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29384"/>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651760"/>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651760"/>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374136"/>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374136"/>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096512"/>
            <a:ext cx="27622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1400"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096512"/>
            <a:ext cx="7943850" cy="6583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40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113</a:t>
            </a:r>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901184"/>
            <a:ext cx="11155680" cy="804672"/>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1091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Id3"/>
          <a:stretch xmlns:a="http://schemas.openxmlformats.org/drawingml/2006/main">
            <a:fillRect l="0" t="0" r="0" b="0"/>
          </a:stretch>
        </p:blipFill>
        <p:spPr>
          <a:xfrm xmlns:a="http://schemas.openxmlformats.org/drawingml/2006/main">
            <a:off x="740664" y="5102352"/>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FFFFFF"/>
                </a:solidFill>
                <a:latin typeface="Calibri"/>
              </a:rPr>
              <a:t>PROMPT 6/7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rPr>
              <a:t>Your app’s menu, explained · tab EX6-FeatureMenu</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58384"/>
            <a:ext cx="10789919" cy="30175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ct val="108000"/>
              </a:lnSpc>
              <a:buNone/>
            </a:pPr>
            <a:r>
              <a:rPr sz="950" b="1">
                <a:solidFill>
                  <a:srgbClr val="0A5B5A"/>
                </a:solidFill>
                <a:latin typeface="Calibri"/>
              </a:rPr>
              <a:t>TYPE THIS → </a:t>
            </a:r>
            <a:r>
              <a:rPr sz="900" b="0">
                <a:solidFill>
                  <a:srgbClr val="232A31"/>
                </a:solidFill>
                <a:latin typeface="Calibri"/>
              </a:rPr>
              <a:t>“Using the supplied screenshot or copied text of my app’s menu, explain each visible mode in one line: its purpose and a suitable workplace task. Mark anything the supplied information does not establish as needing verification. If the menu is missing, ask for it first.”</a:t>
            </a:r>
            <a:endParaRPr sz="1000"/>
          </a:p>
        </p:txBody>
      </p:sp>
    </p:spTree>
    <p:extLst>
      <p:ext uri="{BB962C8B-B14F-4D97-AF65-F5344CB8AC3E}">
        <p14:creationId xmlns:p14="http://schemas.microsoft.com/office/powerpoint/2010/main" val="174845623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