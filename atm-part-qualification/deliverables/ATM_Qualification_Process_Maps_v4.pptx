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b750dfc7354f61" /><Relationship Type="http://schemas.openxmlformats.org/officeDocument/2006/relationships/extended-properties" Target="/docProps/app.xml" Id="R33256829829e4345" /><Relationship Type="http://schemas.openxmlformats.org/officeDocument/2006/relationships/officeDocument" Target="/ppt/presentation.xml" Id="R23075669ed74466d" /></Relationships>
</file>

<file path=ppt/presentation.xml><?xml version="1.0" encoding="utf-8"?>
<p:presentation xmlns:p="http://schemas.openxmlformats.org/presentationml/2006/main">
  <p:sldMasterIdLst>
    <p:sldMasterId xmlns:r="http://schemas.openxmlformats.org/officeDocument/2006/relationships" id="2147483648" r:id="R2e63d01353fc498a"/>
  </p:sldMasterIdLst>
  <p:notesMasterIdLst>
    <p:notesMasterId xmlns:r="http://schemas.openxmlformats.org/officeDocument/2006/relationships" r:id="R4cbf35f5769941f1"/>
  </p:notesMasterIdLst>
  <p:sldIdLst>
    <p:sldId xmlns:r="http://schemas.openxmlformats.org/officeDocument/2006/relationships" id="256" r:id="R7106c0fb892e4867"/>
    <p:sldId xmlns:r="http://schemas.openxmlformats.org/officeDocument/2006/relationships" id="257" r:id="Rf14d538f66dc432a"/>
    <p:sldId xmlns:r="http://schemas.openxmlformats.org/officeDocument/2006/relationships" id="258" r:id="R38682e6b5cb34800"/>
    <p:sldId xmlns:r="http://schemas.openxmlformats.org/officeDocument/2006/relationships" id="259" r:id="R7e8fb0868e8b409c"/>
    <p:sldId xmlns:r="http://schemas.openxmlformats.org/officeDocument/2006/relationships" id="260" r:id="Rc1f0ca654fc44537"/>
    <p:sldId xmlns:r="http://schemas.openxmlformats.org/officeDocument/2006/relationships" id="261" r:id="Rca089fc952594c11"/>
    <p:sldId xmlns:r="http://schemas.openxmlformats.org/officeDocument/2006/relationships" id="262" r:id="Rc169bda1b4a841b6"/>
    <p:sldId xmlns:r="http://schemas.openxmlformats.org/officeDocument/2006/relationships" id="263" r:id="R7cc2cb697eb04fab"/>
    <p:sldId xmlns:r="http://schemas.openxmlformats.org/officeDocument/2006/relationships" id="264" r:id="R40ba7f8fe9cd4b9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5ff69139c14f1a" /><Relationship Type="http://schemas.openxmlformats.org/officeDocument/2006/relationships/slideMaster" Target="/ppt/slideMasters/slideMaster1.xml" Id="R2e63d01353fc498a" /><Relationship Type="http://schemas.openxmlformats.org/officeDocument/2006/relationships/notesMaster" Target="/ppt/notesMasters/notesMaster1.xml" Id="R4cbf35f5769941f1" /><Relationship Type="http://schemas.openxmlformats.org/officeDocument/2006/relationships/presProps" Target="/ppt/presProps.xml" Id="Raa9bf572121849eb" /><Relationship Type="http://schemas.openxmlformats.org/officeDocument/2006/relationships/tableStyles" Target="/ppt/tableStyles.xml" Id="R5dff58a19e77426a" /><Relationship Type="http://schemas.openxmlformats.org/officeDocument/2006/relationships/slide" Target="/ppt/slides/slide1.xml" Id="R7106c0fb892e4867" /><Relationship Type="http://schemas.openxmlformats.org/officeDocument/2006/relationships/slide" Target="/ppt/slides/slide2.xml" Id="Rf14d538f66dc432a" /><Relationship Type="http://schemas.openxmlformats.org/officeDocument/2006/relationships/slide" Target="/ppt/slides/slide3.xml" Id="R38682e6b5cb34800" /><Relationship Type="http://schemas.openxmlformats.org/officeDocument/2006/relationships/slide" Target="/ppt/slides/slide4.xml" Id="R7e8fb0868e8b409c" /><Relationship Type="http://schemas.openxmlformats.org/officeDocument/2006/relationships/slide" Target="/ppt/slides/slide5.xml" Id="Rc1f0ca654fc44537" /><Relationship Type="http://schemas.openxmlformats.org/officeDocument/2006/relationships/slide" Target="/ppt/slides/slide6.xml" Id="Rca089fc952594c11" /><Relationship Type="http://schemas.openxmlformats.org/officeDocument/2006/relationships/slide" Target="/ppt/slides/slide7.xml" Id="Rc169bda1b4a841b6" /><Relationship Type="http://schemas.openxmlformats.org/officeDocument/2006/relationships/slide" Target="/ppt/slides/slide8.xml" Id="R7cc2cb697eb04fab" /><Relationship Type="http://schemas.openxmlformats.org/officeDocument/2006/relationships/slide" Target="/ppt/slides/slide9.xml" Id="R40ba7f8fe9cd4b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56ee4bdd0a45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d10de1cbc34930" /><Relationship Type="http://schemas.openxmlformats.org/officeDocument/2006/relationships/notesMaster" Target="/ppt/notesMasters/notesMaster1.xml" Id="Re0fb13338f484b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dcdc986bbe4cac" /><Relationship Type="http://schemas.openxmlformats.org/officeDocument/2006/relationships/notesMaster" Target="/ppt/notesMasters/notesMaster1.xml" Id="Re9a5028159964e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3be32ed01e468a" /><Relationship Type="http://schemas.openxmlformats.org/officeDocument/2006/relationships/notesMaster" Target="/ppt/notesMasters/notesMaster1.xml" Id="R704070a87eee48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ec9575606741c5" /><Relationship Type="http://schemas.openxmlformats.org/officeDocument/2006/relationships/notesMaster" Target="/ppt/notesMasters/notesMaster1.xml" Id="R16de79c5e50940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4beea3f94c4755" /><Relationship Type="http://schemas.openxmlformats.org/officeDocument/2006/relationships/notesMaster" Target="/ppt/notesMasters/notesMaster1.xml" Id="R1807a1abf8ce44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a6dd4dff694918" /><Relationship Type="http://schemas.openxmlformats.org/officeDocument/2006/relationships/notesMaster" Target="/ppt/notesMasters/notesMaster1.xml" Id="R4d3c17d14a674d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729ad0159c47e5" /><Relationship Type="http://schemas.openxmlformats.org/officeDocument/2006/relationships/notesMaster" Target="/ppt/notesMasters/notesMaster1.xml" Id="R247fee832ff746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56a8b0a0c3487b" /><Relationship Type="http://schemas.openxmlformats.org/officeDocument/2006/relationships/notesMaster" Target="/ppt/notesMasters/notesMaster1.xml" Id="R80d39e8c7d034e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172c97920444e2" /><Relationship Type="http://schemas.openxmlformats.org/officeDocument/2006/relationships/notesMaster" Target="/ppt/notesMasters/notesMaster1.xml" Id="R5ab61f140cf847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current-state map supplied by Oscar. The note describing reduced inspection is source history, not a new authorization. No supplier training step appears in the source map.</a:t>
            </a:r>
          </a:p>
          <a:p xmlns:a="http://schemas.openxmlformats.org/drawingml/2006/main">
            <a:r>
              <a:t>Source: original Map A and Map B, working handoff v1 dated 16 September 2026, original supplier training draft dated 4 June 2026, and Oscar decisions dated 17 September 2026. Document identifiers ending XXX remain unassigned.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668008 and 668009 remain separate. No document retires or absorbs another. New supplier with an existing tissue part still requires site/supplier-specific qualification. Personnel turnover alone does not automatically requalify an already-qualified part.</a:t>
            </a:r>
          </a:p>
          <a:p xmlns:a="http://schemas.openxmlformats.org/drawingml/2006/main">
            <a:r>
              <a:t>Source: original Map A and Map B, working handoff v1 dated 16 September 2026, original supplier training draft dated 4 June 2026, and Oscar decisions dated 17 September 2026. Document identifiers ending XXX remain unassigned.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corporate labels retained. Applicability is determined for each part. Do not assume tissue exemption from any corporate material requirement. Verify current controlled revisions before release. PPQP means Purchased Part Qualification Process in the source handoff.</a:t>
            </a:r>
          </a:p>
          <a:p xmlns:a="http://schemas.openxmlformats.org/drawingml/2006/main">
            <a:r>
              <a:t>Source: original Map A and Map B, working handoff v1 dated 16 September 2026, original supplier training draft dated 4 June 2026, and Oscar decisions dated 17 September 2026. Document identifiers ending XXX remain unassigned.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Procedure Sections 4–6. Inspector certification follows a separate attribute-agreement route, not the harvest yield gate. Training outputs cannot be counted as unassisted certification evidence. At 30 units, 29 passes meet the threshold and 28 fail.</a:t>
            </a:r>
          </a:p>
          <a:p xmlns:a="http://schemas.openxmlformats.org/drawingml/2006/main">
            <a:r>
              <a:t>Source: original Map A and Map B, working handoff v1 dated 16 September 2026, original supplier training draft dated 4 June 2026, and Oscar decisions dated 17 September 2026. Document identifiers ending XXX remain unassigned.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failure receives review. The numeric recurrence count/window is not approved yet and must be set in Appendix A before release. Do not wait for a monthly call to contain an identified issue. A quality-approved deviation is a controlled exception, not certification or product release.</a:t>
            </a:r>
          </a:p>
          <a:p xmlns:a="http://schemas.openxmlformats.org/drawingml/2006/main">
            <a:r>
              <a:t>Source: original Map A and Map B, working handoff v1 dated 16 September 2026, original supplier training draft dated 4 June 2026, and Oscar decisions dated 17 September 2026. Document identifiers ending XXX remain unassigned.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original Map A and Map B, working handoff v1 dated 16 September 2026, original supplier training draft dated 4 June 2026, and Oscar decisions dated 17 September 2026. Document identifiers ending XXX remain unassigned.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 original Map A and Map B, working handoff v1 dated 16 September 2026, original supplier training draft dated 4 June 2026, and Oscar decisions dated 17 September 2026. Document identifiers ending XXX remain unassigned.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map reproduced without changes.</a:t>
            </a:r>
          </a:p>
          <a:p xmlns:a="http://schemas.openxmlformats.org/drawingml/2006/main">
            <a:r>
              <a:t>Source: original Map A and Map B, working handoff v1 dated 16 September 2026, original supplier training draft dated 4 June 2026, and Oscar decisions dated 17 September 2026. Document identifiers ending XXX remain unassigned.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screenshot cuts off the green notes along the top. Their missing content is not reconstructed. Its merged 668008/668009 label is superseded by Oscar’s 17 September decision to retain separate documents.</a:t>
            </a:r>
          </a:p>
          <a:p xmlns:a="http://schemas.openxmlformats.org/drawingml/2006/main">
            <a:r>
              <a:t>Source: original Map A and Map B, working handoff v1 dated 16 September 2026, original supplier training draft dated 4 June 2026, and Oscar decisions dated 17 September 2026. Document identifiers ending XXX remain unassigned.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9f7da177154a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e373627e5c44ef" /><Relationship Type="http://schemas.openxmlformats.org/officeDocument/2006/relationships/slideLayout" Target="/ppt/slideLayouts/slideLayout1.xml" Id="R051bee5f965a40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1bee5f965a40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03340159294e0a" /><Relationship Type="http://schemas.openxmlformats.org/officeDocument/2006/relationships/notesSlide" Target="/ppt/notesSlides/notesSlide1.xml" Id="R1acb4bcda80a4f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2d87a82c97436e" /><Relationship Type="http://schemas.openxmlformats.org/officeDocument/2006/relationships/notesSlide" Target="/ppt/notesSlides/notesSlide2.xml" Id="R6cdac4a7a36f43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8c797bcb6754e38" /><Relationship Type="http://schemas.openxmlformats.org/officeDocument/2006/relationships/notesSlide" Target="/ppt/notesSlides/notesSlide3.xml" Id="Rfa6f0e3473364c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93a7ed7d8241a0" /><Relationship Type="http://schemas.openxmlformats.org/officeDocument/2006/relationships/notesSlide" Target="/ppt/notesSlides/notesSlide4.xml" Id="R2930fded1a3c40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ed5551c8404572" /><Relationship Type="http://schemas.openxmlformats.org/officeDocument/2006/relationships/notesSlide" Target="/ppt/notesSlides/notesSlide5.xml" Id="R37e05f8c85fc4d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3e22c6550f428e" /><Relationship Type="http://schemas.openxmlformats.org/officeDocument/2006/relationships/notesSlide" Target="/ppt/notesSlides/notesSlide6.xml" Id="Ree8f23ed542944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6738f671e2483c" /><Relationship Type="http://schemas.openxmlformats.org/officeDocument/2006/relationships/notesSlide" Target="/ppt/notesSlides/notesSlide7.xml" Id="Rc4d3f22e12cd48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1f9a9b649ff40e2" /><Relationship Type="http://schemas.openxmlformats.org/officeDocument/2006/relationships/image" Target="/ppt/media/image.png" Id="R2e1f36cb697e44b8" /><Relationship Type="http://schemas.openxmlformats.org/officeDocument/2006/relationships/notesSlide" Target="/ppt/notesSlides/notesSlide8.xml" Id="Ra57d3b02d97041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67294c1df04a2b" /><Relationship Type="http://schemas.openxmlformats.org/officeDocument/2006/relationships/image" Target="/ppt/media/image2.png" Id="R226a01e6f43c45c5" /><Relationship Type="http://schemas.openxmlformats.org/officeDocument/2006/relationships/notesSlide" Target="/ppt/notesSlides/notesSlide9.xml" Id="Rcb70043038934d5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As-is process map">
            <a:extLst xmlns:a="http://schemas.openxmlformats.org/drawingml/2006/main">
              <a:ext uri="{FF2B5EF4-FFF2-40B4-BE49-F238E27FC236}">
                <a16:creationId xmlns:a16="http://schemas.microsoft.com/office/drawing/2014/main" id="{AB1E74CC-B566-4F61-952D-2E74BD91C743}"/>
              </a:ext>
            </a:extLst>
          </p:cNvPr>
          <p:cNvSpPr>
            <a:spLocks xmlns:a="http://schemas.openxmlformats.org/drawingml/2006/main" noGrp="1"/>
          </p:cNvSpPr>
          <p:nvPr/>
        </p:nvSpPr>
        <p:spPr>
          <a:xfrm xmlns:a="http://schemas.openxmlformats.org/drawingml/2006/main">
            <a:off x="523875" y="304800"/>
            <a:ext cx="1419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225" b="1">
                <a:solidFill>
                  <a:srgbClr val="202A34"/>
                </a:solidFill>
                <a:latin typeface="Carlito"/>
                <a:ea typeface="Carlito"/>
                <a:cs typeface="Carlito"/>
              </a:defRPr>
            </a:pPr>
            <a:r>
              <a:rPr sz="3225" b="1">
                <a:solidFill>
                  <a:srgbClr val="202A34"/>
                </a:solidFill>
                <a:latin typeface="Carlito"/>
                <a:ea typeface="Carlito"/>
                <a:cs typeface="Carlito"/>
              </a:rPr>
              <a:t>As-is process map</a:t>
            </a:r>
          </a:p>
        </p:txBody>
      </p:sp>
      <p:sp>
        <p:nvSpPr>
          <p:cNvPr id="2" name="Current Advanced Tissue Models supplier controls and informal par">
            <a:extLst xmlns:a="http://schemas.openxmlformats.org/drawingml/2006/main">
              <a:ext uri="{FF2B5EF4-FFF2-40B4-BE49-F238E27FC236}">
                <a16:creationId xmlns:a16="http://schemas.microsoft.com/office/drawing/2014/main" id="{F961F9A3-67E0-42D0-98FF-305D9AD10E7B}"/>
              </a:ext>
            </a:extLst>
          </p:cNvPr>
          <p:cNvSpPr>
            <a:spLocks xmlns:a="http://schemas.openxmlformats.org/drawingml/2006/main" noGrp="1"/>
          </p:cNvSpPr>
          <p:nvPr/>
        </p:nvSpPr>
        <p:spPr>
          <a:xfrm xmlns:a="http://schemas.openxmlformats.org/drawingml/2006/main">
            <a:off x="523875" y="962025"/>
            <a:ext cx="1419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202A34"/>
                </a:solidFill>
                <a:latin typeface="Carlito"/>
                <a:ea typeface="Carlito"/>
                <a:cs typeface="Carlito"/>
              </a:defRPr>
            </a:pPr>
            <a:r>
              <a:rPr sz="1800" b="0">
                <a:solidFill>
                  <a:srgbClr val="202A34"/>
                </a:solidFill>
                <a:latin typeface="Carlito"/>
                <a:ea typeface="Carlito"/>
                <a:cs typeface="Carlito"/>
              </a:rPr>
              <a:t>Current Advanced Tissue Models supplier controls and informal part qualification</a:t>
            </a:r>
          </a:p>
        </p:txBody>
      </p:sp>
      <p:sp>
        <p:nvSpPr>
          <p:cNvPr id="3" name="Review draft  •  17 September 2026     /     1">
            <a:extLst xmlns:a="http://schemas.openxmlformats.org/drawingml/2006/main">
              <a:ext uri="{FF2B5EF4-FFF2-40B4-BE49-F238E27FC236}">
                <a16:creationId xmlns:a16="http://schemas.microsoft.com/office/drawing/2014/main" id="{70734120-8077-4B52-A8AE-9DC8A5EDEB30}"/>
              </a:ext>
            </a:extLst>
          </p:cNvPr>
          <p:cNvSpPr>
            <a:spLocks xmlns:a="http://schemas.openxmlformats.org/drawingml/2006/main" noGrp="1"/>
          </p:cNvSpPr>
          <p:nvPr/>
        </p:nvSpPr>
        <p:spPr>
          <a:xfrm xmlns:a="http://schemas.openxmlformats.org/drawingml/2006/main">
            <a:off x="523875" y="8229600"/>
            <a:ext cx="1419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06C"/>
                </a:solidFill>
                <a:latin typeface="Carlito"/>
                <a:ea typeface="Carlito"/>
                <a:cs typeface="Carlito"/>
              </a:defRPr>
            </a:pPr>
            <a:r>
              <a:rPr sz="1275" b="0">
                <a:solidFill>
                  <a:srgbClr val="52606C"/>
                </a:solidFill>
                <a:latin typeface="Carlito"/>
                <a:ea typeface="Carlito"/>
                <a:cs typeface="Carlito"/>
              </a:rPr>
              <a:t>Review draft  •  17 September 2026     /     1</a:t>
            </a:r>
          </a:p>
        </p:txBody>
      </p:sp>
      <p:sp>
        <p:nvSpPr>
          <p:cNvPr id="4" name="New supplier, new part&#10;Existing supplier, new part&#10;New supplier, ">
            <a:extLst xmlns:a="http://schemas.openxmlformats.org/drawingml/2006/main">
              <a:ext uri="{FF2B5EF4-FFF2-40B4-BE49-F238E27FC236}">
                <a16:creationId xmlns:a16="http://schemas.microsoft.com/office/drawing/2014/main" id="{A14DC5B2-86DE-40DA-87DB-B3FFFF5A674F}"/>
              </a:ext>
            </a:extLst>
          </p:cNvPr>
          <p:cNvSpPr>
            <a:spLocks xmlns:a="http://schemas.openxmlformats.org/drawingml/2006/main" noGrp="1"/>
          </p:cNvSpPr>
          <p:nvPr/>
        </p:nvSpPr>
        <p:spPr>
          <a:xfrm xmlns:a="http://schemas.openxmlformats.org/drawingml/2006/main">
            <a:off x="571500" y="1876425"/>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02A34"/>
                </a:solidFill>
                <a:latin typeface="Carlito"/>
                <a:ea typeface="Carlito"/>
                <a:cs typeface="Carlito"/>
              </a:defRPr>
            </a:pPr>
            <a:r>
              <a:rPr sz="1875" b="0">
                <a:solidFill>
                  <a:srgbClr val="202A34"/>
                </a:solidFill>
                <a:latin typeface="Carlito"/>
                <a:ea typeface="Carlito"/>
                <a:cs typeface="Carlito"/>
              </a:rPr>
              <a:t>New supplier, new part</a:t>
            </a:r>
          </a:p>
          <a:p xmlns:a="http://schemas.openxmlformats.org/drawingml/2006/main">
            <a:pPr algn="l">
              <a:defRPr sz="1875" b="0">
                <a:solidFill>
                  <a:srgbClr val="202A34"/>
                </a:solidFill>
                <a:latin typeface="Carlito"/>
                <a:ea typeface="Carlito"/>
                <a:cs typeface="Carlito"/>
              </a:defRPr>
            </a:pPr>
            <a:r>
              <a:rPr sz="1875" b="0">
                <a:solidFill>
                  <a:srgbClr val="202A34"/>
                </a:solidFill>
                <a:latin typeface="Carlito"/>
                <a:ea typeface="Carlito"/>
                <a:cs typeface="Carlito"/>
              </a:rPr>
              <a:t>Existing supplier, new part</a:t>
            </a:r>
          </a:p>
          <a:p xmlns:a="http://schemas.openxmlformats.org/drawingml/2006/main">
            <a:pPr algn="l">
              <a:defRPr sz="1875" b="0">
                <a:solidFill>
                  <a:srgbClr val="202A34"/>
                </a:solidFill>
                <a:latin typeface="Carlito"/>
                <a:ea typeface="Carlito"/>
                <a:cs typeface="Carlito"/>
              </a:defRPr>
            </a:pPr>
            <a:r>
              <a:rPr sz="1875" b="0">
                <a:solidFill>
                  <a:srgbClr val="202A34"/>
                </a:solidFill>
                <a:latin typeface="Carlito"/>
                <a:ea typeface="Carlito"/>
                <a:cs typeface="Carlito"/>
              </a:rPr>
              <a:t>New supplier, existing part</a:t>
            </a:r>
          </a:p>
        </p:txBody>
      </p:sp>
      <p:sp>
        <p:nvSpPr>
          <p:cNvPr id="5" name="668008 SOP, SUPPLIER&#10;CONTROLS, ATM">
            <a:extLst xmlns:a="http://schemas.openxmlformats.org/drawingml/2006/main">
              <a:ext uri="{FF2B5EF4-FFF2-40B4-BE49-F238E27FC236}">
                <a16:creationId xmlns:a16="http://schemas.microsoft.com/office/drawing/2014/main" id="{A6F7C316-2C2C-40E1-BF22-3B3D135D0D49}"/>
              </a:ext>
            </a:extLst>
          </p:cNvPr>
          <p:cNvSpPr>
            <a:spLocks xmlns:a="http://schemas.openxmlformats.org/drawingml/2006/main" noGrp="1"/>
          </p:cNvSpPr>
          <p:nvPr/>
        </p:nvSpPr>
        <p:spPr>
          <a:xfrm xmlns:a="http://schemas.openxmlformats.org/drawingml/2006/main">
            <a:off x="4810125" y="1743075"/>
            <a:ext cx="3381375" cy="933450"/>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668008 SOP, SUPPLIER</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CONTROLS, ATM</a:t>
            </a:r>
          </a:p>
        </p:txBody>
      </p:sp>
      <p:sp>
        <p:nvSpPr>
          <p:cNvPr id="6" name="668009 DOP,SUPPLIER&#10;SELECTION,APPROVAL AND&#10;MONITORING,ATM">
            <a:extLst xmlns:a="http://schemas.openxmlformats.org/drawingml/2006/main">
              <a:ext uri="{FF2B5EF4-FFF2-40B4-BE49-F238E27FC236}">
                <a16:creationId xmlns:a16="http://schemas.microsoft.com/office/drawing/2014/main" id="{506E3290-B6C0-44CE-B199-749808B7DE90}"/>
              </a:ext>
            </a:extLst>
          </p:cNvPr>
          <p:cNvSpPr>
            <a:spLocks xmlns:a="http://schemas.openxmlformats.org/drawingml/2006/main" noGrp="1"/>
          </p:cNvSpPr>
          <p:nvPr/>
        </p:nvSpPr>
        <p:spPr>
          <a:xfrm xmlns:a="http://schemas.openxmlformats.org/drawingml/2006/main">
            <a:off x="3381375" y="3171825"/>
            <a:ext cx="3905250" cy="1171575"/>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668009 DOP,SUPPLIER</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SELECTION,APPROVAL AND</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MONITORING,ATM</a:t>
            </a:r>
          </a:p>
        </p:txBody>
      </p:sp>
      <p:sp>
        <p:nvSpPr>
          <p:cNvPr id="7" name="668504 WI, SUPPLIER&#10;AUDITING, ATM">
            <a:extLst xmlns:a="http://schemas.openxmlformats.org/drawingml/2006/main">
              <a:ext uri="{FF2B5EF4-FFF2-40B4-BE49-F238E27FC236}">
                <a16:creationId xmlns:a16="http://schemas.microsoft.com/office/drawing/2014/main" id="{77639FF7-BDB6-41A0-A4CD-DAC66076032D}"/>
              </a:ext>
            </a:extLst>
          </p:cNvPr>
          <p:cNvSpPr>
            <a:spLocks xmlns:a="http://schemas.openxmlformats.org/drawingml/2006/main" noGrp="1"/>
          </p:cNvSpPr>
          <p:nvPr/>
        </p:nvSpPr>
        <p:spPr>
          <a:xfrm xmlns:a="http://schemas.openxmlformats.org/drawingml/2006/main">
            <a:off x="619125" y="4810125"/>
            <a:ext cx="3333750" cy="952500"/>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668504 WI, SUPPLIER</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AUDITING, ATM</a:t>
            </a:r>
          </a:p>
        </p:txBody>
      </p:sp>
      <p:sp>
        <p:nvSpPr>
          <p:cNvPr id="8" name="668529 ATM,WI,ASL USE&#10;AND MAINTENANCE">
            <a:extLst xmlns:a="http://schemas.openxmlformats.org/drawingml/2006/main">
              <a:ext uri="{FF2B5EF4-FFF2-40B4-BE49-F238E27FC236}">
                <a16:creationId xmlns:a16="http://schemas.microsoft.com/office/drawing/2014/main" id="{3C245282-7B3E-4BB9-AAFE-7FDD6C294B4B}"/>
              </a:ext>
            </a:extLst>
          </p:cNvPr>
          <p:cNvSpPr>
            <a:spLocks xmlns:a="http://schemas.openxmlformats.org/drawingml/2006/main" noGrp="1"/>
          </p:cNvSpPr>
          <p:nvPr/>
        </p:nvSpPr>
        <p:spPr>
          <a:xfrm xmlns:a="http://schemas.openxmlformats.org/drawingml/2006/main">
            <a:off x="5476875" y="4810125"/>
            <a:ext cx="3524250" cy="952500"/>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668529 ATM,WI,ASL USE</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AND MAINTENANCE</a:t>
            </a:r>
          </a:p>
        </p:txBody>
      </p:sp>
      <p:sp>
        <p:nvSpPr>
          <p:cNvPr id="9" name="668007 SOP,PURCHASING&#10;AND PLANNING,ATM">
            <a:extLst xmlns:a="http://schemas.openxmlformats.org/drawingml/2006/main">
              <a:ext uri="{FF2B5EF4-FFF2-40B4-BE49-F238E27FC236}">
                <a16:creationId xmlns:a16="http://schemas.microsoft.com/office/drawing/2014/main" id="{B5234CD6-D019-42F4-9317-0DD2ED80D34D}"/>
              </a:ext>
            </a:extLst>
          </p:cNvPr>
          <p:cNvSpPr>
            <a:spLocks xmlns:a="http://schemas.openxmlformats.org/drawingml/2006/main" noGrp="1"/>
          </p:cNvSpPr>
          <p:nvPr/>
        </p:nvSpPr>
        <p:spPr>
          <a:xfrm xmlns:a="http://schemas.openxmlformats.org/drawingml/2006/main">
            <a:off x="10715625" y="1743075"/>
            <a:ext cx="3905250" cy="933450"/>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668007 SOP,PURCHASING</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AND PLANNING,ATM</a:t>
            </a:r>
          </a:p>
        </p:txBody>
      </p:sp>
      <p:sp>
        <p:nvSpPr>
          <p:cNvPr id="10" name="Once supplier is on ASL, informal part qualification process is d">
            <a:extLst xmlns:a="http://schemas.openxmlformats.org/drawingml/2006/main">
              <a:ext uri="{FF2B5EF4-FFF2-40B4-BE49-F238E27FC236}">
                <a16:creationId xmlns:a16="http://schemas.microsoft.com/office/drawing/2014/main" id="{2225E1C6-E5A3-415F-92B2-730639E125FC}"/>
              </a:ext>
            </a:extLst>
          </p:cNvPr>
          <p:cNvSpPr>
            <a:spLocks xmlns:a="http://schemas.openxmlformats.org/drawingml/2006/main" noGrp="1"/>
          </p:cNvSpPr>
          <p:nvPr/>
        </p:nvSpPr>
        <p:spPr>
          <a:xfrm xmlns:a="http://schemas.openxmlformats.org/drawingml/2006/main">
            <a:off x="4953000" y="6229350"/>
            <a:ext cx="5905500" cy="1666875"/>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650">
                <a:solidFill>
                  <a:srgbClr val="202A34"/>
                </a:solidFill>
                <a:latin typeface="Carlito"/>
                <a:ea typeface="Carlito"/>
                <a:cs typeface="Carlito"/>
              </a:defRPr>
            </a:pPr>
            <a:r>
              <a:rPr sz="1650">
                <a:solidFill>
                  <a:srgbClr val="202A34"/>
                </a:solidFill>
                <a:latin typeface="Carlito"/>
                <a:ea typeface="Carlito"/>
                <a:cs typeface="Carlito"/>
              </a:rPr>
              <a:t>Once supplier is on ASL, informal part qualification process is done; 1st article inspection or multiple lots inspected prior to dropping inspection reqt’s.</a:t>
            </a:r>
          </a:p>
          <a:p xmlns:a="http://schemas.openxmlformats.org/drawingml/2006/main">
            <a:r>
              <a:t/>
            </a:r>
          </a:p>
          <a:p xmlns:a="http://schemas.openxmlformats.org/drawingml/2006/main">
            <a:pPr algn="l">
              <a:defRPr sz="1650">
                <a:solidFill>
                  <a:srgbClr val="202A34"/>
                </a:solidFill>
                <a:latin typeface="Carlito"/>
                <a:ea typeface="Carlito"/>
                <a:cs typeface="Carlito"/>
              </a:defRPr>
            </a:pPr>
            <a:r>
              <a:rPr sz="1650">
                <a:solidFill>
                  <a:srgbClr val="202A34"/>
                </a:solidFill>
                <a:latin typeface="Carlito"/>
                <a:ea typeface="Carlito"/>
                <a:cs typeface="Carlito"/>
              </a:rPr>
              <a:t>Same informal process is done for new parts from existing suppliers</a:t>
            </a:r>
          </a:p>
        </p:txBody>
      </p:sp>
      <p:sp>
        <p:nvSpPr>
          <p:cNvPr id="11" name="">
            <a:extLst xmlns:a="http://schemas.openxmlformats.org/drawingml/2006/main">
              <a:ext uri="{FF2B5EF4-FFF2-40B4-BE49-F238E27FC236}">
                <a16:creationId xmlns:a16="http://schemas.microsoft.com/office/drawing/2014/main" id="{53B37649-BAAE-4E5C-BC63-2117AAE18E08}"/>
              </a:ext>
            </a:extLst>
          </p:cNvPr>
          <p:cNvSpPr>
            <a:spLocks xmlns:a="http://schemas.openxmlformats.org/drawingml/2006/main" noGrp="1"/>
          </p:cNvSpPr>
          <p:nvPr/>
        </p:nvSpPr>
        <p:spPr>
          <a:xfrm xmlns:a="http://schemas.openxmlformats.org/drawingml/2006/main">
            <a:off x="6491288" y="2671763"/>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1A1EA2D-AA02-4367-96B6-921E4C465584}"/>
              </a:ext>
            </a:extLst>
          </p:cNvPr>
          <p:cNvSpPr>
            <a:spLocks xmlns:a="http://schemas.openxmlformats.org/drawingml/2006/main" noGrp="1"/>
          </p:cNvSpPr>
          <p:nvPr/>
        </p:nvSpPr>
        <p:spPr>
          <a:xfrm xmlns:a="http://schemas.openxmlformats.org/drawingml/2006/main">
            <a:off x="6491288" y="2938463"/>
            <a:ext cx="9525" cy="9525"/>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84A6F2A-BCD1-4561-91F8-ACA29924F46D}"/>
              </a:ext>
            </a:extLst>
          </p:cNvPr>
          <p:cNvSpPr>
            <a:spLocks xmlns:a="http://schemas.openxmlformats.org/drawingml/2006/main" noGrp="1"/>
          </p:cNvSpPr>
          <p:nvPr/>
        </p:nvSpPr>
        <p:spPr>
          <a:xfrm xmlns:a="http://schemas.openxmlformats.org/drawingml/2006/main">
            <a:off x="5329238" y="2938463"/>
            <a:ext cx="9525" cy="9525"/>
          </a:xfrm>
          <a:prstGeom xmlns:a="http://schemas.openxmlformats.org/drawingml/2006/main" prst="rect">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0D16B1C-F3D7-4FE7-9A5B-D8BDD299B35B}"/>
              </a:ext>
            </a:extLst>
          </p:cNvPr>
          <p:cNvSpPr>
            <a:spLocks xmlns:a="http://schemas.openxmlformats.org/drawingml/2006/main" noGrp="1"/>
          </p:cNvSpPr>
          <p:nvPr/>
        </p:nvSpPr>
        <p:spPr>
          <a:xfrm xmlns:a="http://schemas.openxmlformats.org/drawingml/2006/main">
            <a:off x="5329238" y="31670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5" name=""/>
          <p:cNvCxnSpPr>
            <a:stCxn xmlns:a="http://schemas.openxmlformats.org/drawingml/2006/main" id="11" idx="2"/>
            <a:endCxn xmlns:a="http://schemas.openxmlformats.org/drawingml/2006/main" id="12" idx="0"/>
          </p:cNvCxnSpPr>
          <p:nvPr/>
        </p:nvCxnSpPr>
        <p:spPr>
          <a:xfrm xmlns:a="http://schemas.openxmlformats.org/drawingml/2006/main">
            <a:off x="6496051" y="2681288"/>
            <a:ext cx="0" cy="257175"/>
          </a:xfrm>
          <a:prstGeom xmlns:a="http://schemas.openxmlformats.org/drawingml/2006/main" prst="straightConnector1">
            <a:avLst/>
          </a:prstGeom>
          <a:ln xmlns:a="http://schemas.openxmlformats.org/drawingml/2006/main" w="20955">
            <a:solidFill>
              <a:srgbClr val="202A34"/>
            </a:solidFill>
            <a:prstDash val="solid"/>
          </a:ln>
        </p:spPr>
      </p:cxnSp>
      <p:cxnSp>
        <p:nvCxnSpPr>
          <p:cNvPr id="56" name=""/>
          <p:cNvCxnSpPr>
            <a:stCxn xmlns:a="http://schemas.openxmlformats.org/drawingml/2006/main" id="12" idx="1"/>
            <a:endCxn xmlns:a="http://schemas.openxmlformats.org/drawingml/2006/main" id="13" idx="3"/>
          </p:cNvCxnSpPr>
          <p:nvPr/>
        </p:nvCxnSpPr>
        <p:spPr>
          <a:xfrm xmlns:a="http://schemas.openxmlformats.org/drawingml/2006/main" flipH="1">
            <a:off x="5338763" y="2943226"/>
            <a:ext cx="1152525" cy="0"/>
          </a:xfrm>
          <a:prstGeom xmlns:a="http://schemas.openxmlformats.org/drawingml/2006/main" prst="straightConnector1">
            <a:avLst/>
          </a:prstGeom>
          <a:ln xmlns:a="http://schemas.openxmlformats.org/drawingml/2006/main" w="20955">
            <a:solidFill>
              <a:srgbClr val="202A34"/>
            </a:solidFill>
            <a:prstDash val="solid"/>
          </a:ln>
        </p:spPr>
      </p:cxnSp>
      <p:cxnSp>
        <p:nvCxnSpPr>
          <p:cNvPr id="57" name=""/>
          <p:cNvCxnSpPr>
            <a:stCxn xmlns:a="http://schemas.openxmlformats.org/drawingml/2006/main" id="13" idx="2"/>
            <a:endCxn xmlns:a="http://schemas.openxmlformats.org/drawingml/2006/main" id="14" idx="0"/>
          </p:cNvCxnSpPr>
          <p:nvPr/>
        </p:nvCxnSpPr>
        <p:spPr>
          <a:xfrm xmlns:a="http://schemas.openxmlformats.org/drawingml/2006/main">
            <a:off x="5334001" y="2947988"/>
            <a:ext cx="0" cy="219075"/>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sp>
        <p:nvSpPr>
          <p:cNvPr id="18" name="">
            <a:extLst xmlns:a="http://schemas.openxmlformats.org/drawingml/2006/main">
              <a:ext uri="{FF2B5EF4-FFF2-40B4-BE49-F238E27FC236}">
                <a16:creationId xmlns:a16="http://schemas.microsoft.com/office/drawing/2014/main" id="{1D2303CA-28E0-42B9-9764-D1D11577CEB0}"/>
              </a:ext>
            </a:extLst>
          </p:cNvPr>
          <p:cNvSpPr>
            <a:spLocks xmlns:a="http://schemas.openxmlformats.org/drawingml/2006/main" noGrp="1"/>
          </p:cNvSpPr>
          <p:nvPr/>
        </p:nvSpPr>
        <p:spPr>
          <a:xfrm xmlns:a="http://schemas.openxmlformats.org/drawingml/2006/main">
            <a:off x="5329238" y="4338638"/>
            <a:ext cx="9525" cy="9525"/>
          </a:xfrm>
          <a:prstGeom xmlns:a="http://schemas.openxmlformats.org/drawingml/2006/main" prst="rect">
            <a:avLst/>
          </a:prstGeom>
          <a:noFill xmlns:a="http://schemas.openxmlformats.org/drawingml/2006/main"/>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6C4C471-2040-48B6-AEDD-55564EFD4ECE}"/>
              </a:ext>
            </a:extLst>
          </p:cNvPr>
          <p:cNvSpPr>
            <a:spLocks xmlns:a="http://schemas.openxmlformats.org/drawingml/2006/main" noGrp="1"/>
          </p:cNvSpPr>
          <p:nvPr/>
        </p:nvSpPr>
        <p:spPr>
          <a:xfrm xmlns:a="http://schemas.openxmlformats.org/drawingml/2006/main">
            <a:off x="5329238" y="4567238"/>
            <a:ext cx="9525" cy="9525"/>
          </a:xfrm>
          <a:prstGeom xmlns:a="http://schemas.openxmlformats.org/drawingml/2006/main" prst="rect">
            <a:avLst/>
          </a:prstGeom>
          <a:noFill xmlns:a="http://schemas.openxmlformats.org/drawingml/2006/main"/>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2C218FE-88A6-4785-8BB6-EF5FA678B7AD}"/>
              </a:ext>
            </a:extLst>
          </p:cNvPr>
          <p:cNvSpPr>
            <a:spLocks xmlns:a="http://schemas.openxmlformats.org/drawingml/2006/main" noGrp="1"/>
          </p:cNvSpPr>
          <p:nvPr/>
        </p:nvSpPr>
        <p:spPr>
          <a:xfrm xmlns:a="http://schemas.openxmlformats.org/drawingml/2006/main">
            <a:off x="2281238" y="4567238"/>
            <a:ext cx="9525" cy="9525"/>
          </a:xfrm>
          <a:prstGeom xmlns:a="http://schemas.openxmlformats.org/drawingml/2006/main" prst="rect">
            <a:avLst/>
          </a:prstGeom>
          <a:noFill xmlns:a="http://schemas.openxmlformats.org/drawingml/2006/main"/>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9BB4DF6-B186-447B-8837-8B4E17F2A9CE}"/>
              </a:ext>
            </a:extLst>
          </p:cNvPr>
          <p:cNvSpPr>
            <a:spLocks xmlns:a="http://schemas.openxmlformats.org/drawingml/2006/main" noGrp="1"/>
          </p:cNvSpPr>
          <p:nvPr/>
        </p:nvSpPr>
        <p:spPr>
          <a:xfrm xmlns:a="http://schemas.openxmlformats.org/drawingml/2006/main">
            <a:off x="2281238" y="48053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2" name=""/>
          <p:cNvCxnSpPr>
            <a:stCxn xmlns:a="http://schemas.openxmlformats.org/drawingml/2006/main" id="18" idx="2"/>
            <a:endCxn xmlns:a="http://schemas.openxmlformats.org/drawingml/2006/main" id="19" idx="0"/>
          </p:cNvCxnSpPr>
          <p:nvPr/>
        </p:nvCxnSpPr>
        <p:spPr>
          <a:xfrm xmlns:a="http://schemas.openxmlformats.org/drawingml/2006/main">
            <a:off x="5334001" y="4348163"/>
            <a:ext cx="0" cy="219075"/>
          </a:xfrm>
          <a:prstGeom xmlns:a="http://schemas.openxmlformats.org/drawingml/2006/main" prst="straightConnector1">
            <a:avLst/>
          </a:prstGeom>
          <a:ln xmlns:a="http://schemas.openxmlformats.org/drawingml/2006/main" w="20955">
            <a:solidFill>
              <a:srgbClr val="202A34"/>
            </a:solidFill>
            <a:prstDash val="solid"/>
          </a:ln>
        </p:spPr>
      </p:cxnSp>
      <p:cxnSp>
        <p:nvCxnSpPr>
          <p:cNvPr id="63" name=""/>
          <p:cNvCxnSpPr>
            <a:stCxn xmlns:a="http://schemas.openxmlformats.org/drawingml/2006/main" id="19" idx="1"/>
            <a:endCxn xmlns:a="http://schemas.openxmlformats.org/drawingml/2006/main" id="20" idx="3"/>
          </p:cNvCxnSpPr>
          <p:nvPr/>
        </p:nvCxnSpPr>
        <p:spPr>
          <a:xfrm xmlns:a="http://schemas.openxmlformats.org/drawingml/2006/main" flipH="1">
            <a:off x="2290763" y="4572001"/>
            <a:ext cx="3038475" cy="0"/>
          </a:xfrm>
          <a:prstGeom xmlns:a="http://schemas.openxmlformats.org/drawingml/2006/main" prst="straightConnector1">
            <a:avLst/>
          </a:prstGeom>
          <a:ln xmlns:a="http://schemas.openxmlformats.org/drawingml/2006/main" w="20955">
            <a:solidFill>
              <a:srgbClr val="202A34"/>
            </a:solidFill>
            <a:prstDash val="solid"/>
          </a:ln>
        </p:spPr>
      </p:cxnSp>
      <p:cxnSp>
        <p:nvCxnSpPr>
          <p:cNvPr id="64" name=""/>
          <p:cNvCxnSpPr>
            <a:stCxn xmlns:a="http://schemas.openxmlformats.org/drawingml/2006/main" id="20" idx="2"/>
            <a:endCxn xmlns:a="http://schemas.openxmlformats.org/drawingml/2006/main" id="21" idx="0"/>
          </p:cNvCxnSpPr>
          <p:nvPr/>
        </p:nvCxnSpPr>
        <p:spPr>
          <a:xfrm xmlns:a="http://schemas.openxmlformats.org/drawingml/2006/main">
            <a:off x="2286001" y="4576763"/>
            <a:ext cx="0" cy="22860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sp>
        <p:nvSpPr>
          <p:cNvPr id="25" name="">
            <a:extLst xmlns:a="http://schemas.openxmlformats.org/drawingml/2006/main">
              <a:ext uri="{FF2B5EF4-FFF2-40B4-BE49-F238E27FC236}">
                <a16:creationId xmlns:a16="http://schemas.microsoft.com/office/drawing/2014/main" id="{B4230C5C-3B36-4E5C-8593-EE85F38AFD38}"/>
              </a:ext>
            </a:extLst>
          </p:cNvPr>
          <p:cNvSpPr>
            <a:spLocks xmlns:a="http://schemas.openxmlformats.org/drawingml/2006/main" noGrp="1"/>
          </p:cNvSpPr>
          <p:nvPr/>
        </p:nvSpPr>
        <p:spPr>
          <a:xfrm xmlns:a="http://schemas.openxmlformats.org/drawingml/2006/main">
            <a:off x="5329238" y="4338638"/>
            <a:ext cx="9525" cy="9525"/>
          </a:xfrm>
          <a:prstGeom xmlns:a="http://schemas.openxmlformats.org/drawingml/2006/main" prst="rect">
            <a:avLst/>
          </a:prstGeom>
          <a:noFill xmlns:a="http://schemas.openxmlformats.org/drawingml/2006/main"/>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0562CB8-6A2E-496B-8364-CBA940A79696}"/>
              </a:ext>
            </a:extLst>
          </p:cNvPr>
          <p:cNvSpPr>
            <a:spLocks xmlns:a="http://schemas.openxmlformats.org/drawingml/2006/main" noGrp="1"/>
          </p:cNvSpPr>
          <p:nvPr/>
        </p:nvSpPr>
        <p:spPr>
          <a:xfrm xmlns:a="http://schemas.openxmlformats.org/drawingml/2006/main">
            <a:off x="5329238" y="4567238"/>
            <a:ext cx="9525" cy="9525"/>
          </a:xfrm>
          <a:prstGeom xmlns:a="http://schemas.openxmlformats.org/drawingml/2006/main" prst="rect">
            <a:avLst/>
          </a:prstGeom>
          <a:noFill xmlns:a="http://schemas.openxmlformats.org/drawingml/2006/main"/>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09CF2FD-CB54-4F16-991D-A1C0328664C7}"/>
              </a:ext>
            </a:extLst>
          </p:cNvPr>
          <p:cNvSpPr>
            <a:spLocks xmlns:a="http://schemas.openxmlformats.org/drawingml/2006/main" noGrp="1"/>
          </p:cNvSpPr>
          <p:nvPr/>
        </p:nvSpPr>
        <p:spPr>
          <a:xfrm xmlns:a="http://schemas.openxmlformats.org/drawingml/2006/main">
            <a:off x="7234238" y="4567238"/>
            <a:ext cx="9525" cy="9525"/>
          </a:xfrm>
          <a:prstGeom xmlns:a="http://schemas.openxmlformats.org/drawingml/2006/main" prst="rect">
            <a:avLst/>
          </a:prstGeom>
          <a:noFill xmlns:a="http://schemas.openxmlformats.org/drawingml/2006/main"/>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7914D7F-F385-4A9B-97AD-25EB8C8AD944}"/>
              </a:ext>
            </a:extLst>
          </p:cNvPr>
          <p:cNvSpPr>
            <a:spLocks xmlns:a="http://schemas.openxmlformats.org/drawingml/2006/main" noGrp="1"/>
          </p:cNvSpPr>
          <p:nvPr/>
        </p:nvSpPr>
        <p:spPr>
          <a:xfrm xmlns:a="http://schemas.openxmlformats.org/drawingml/2006/main">
            <a:off x="7234238" y="48053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9" name=""/>
          <p:cNvCxnSpPr>
            <a:stCxn xmlns:a="http://schemas.openxmlformats.org/drawingml/2006/main" id="25" idx="2"/>
            <a:endCxn xmlns:a="http://schemas.openxmlformats.org/drawingml/2006/main" id="26" idx="0"/>
          </p:cNvCxnSpPr>
          <p:nvPr/>
        </p:nvCxnSpPr>
        <p:spPr>
          <a:xfrm xmlns:a="http://schemas.openxmlformats.org/drawingml/2006/main">
            <a:off x="5334001" y="4348163"/>
            <a:ext cx="0" cy="219075"/>
          </a:xfrm>
          <a:prstGeom xmlns:a="http://schemas.openxmlformats.org/drawingml/2006/main" prst="straightConnector1">
            <a:avLst/>
          </a:prstGeom>
          <a:ln xmlns:a="http://schemas.openxmlformats.org/drawingml/2006/main" w="20955">
            <a:solidFill>
              <a:srgbClr val="202A34"/>
            </a:solidFill>
            <a:prstDash val="solid"/>
          </a:ln>
        </p:spPr>
      </p:cxnSp>
      <p:cxnSp>
        <p:nvCxnSpPr>
          <p:cNvPr id="70" name=""/>
          <p:cNvCxnSpPr>
            <a:stCxn xmlns:a="http://schemas.openxmlformats.org/drawingml/2006/main" id="26" idx="3"/>
            <a:endCxn xmlns:a="http://schemas.openxmlformats.org/drawingml/2006/main" id="27" idx="1"/>
          </p:cNvCxnSpPr>
          <p:nvPr/>
        </p:nvCxnSpPr>
        <p:spPr>
          <a:xfrm xmlns:a="http://schemas.openxmlformats.org/drawingml/2006/main">
            <a:off x="5338763" y="4572001"/>
            <a:ext cx="1895475" cy="0"/>
          </a:xfrm>
          <a:prstGeom xmlns:a="http://schemas.openxmlformats.org/drawingml/2006/main" prst="straightConnector1">
            <a:avLst/>
          </a:prstGeom>
          <a:ln xmlns:a="http://schemas.openxmlformats.org/drawingml/2006/main" w="20955">
            <a:solidFill>
              <a:srgbClr val="202A34"/>
            </a:solidFill>
            <a:prstDash val="solid"/>
          </a:ln>
        </p:spPr>
      </p:cxnSp>
      <p:cxnSp>
        <p:nvCxnSpPr>
          <p:cNvPr id="71" name=""/>
          <p:cNvCxnSpPr>
            <a:stCxn xmlns:a="http://schemas.openxmlformats.org/drawingml/2006/main" id="27" idx="2"/>
            <a:endCxn xmlns:a="http://schemas.openxmlformats.org/drawingml/2006/main" id="28" idx="0"/>
          </p:cNvCxnSpPr>
          <p:nvPr/>
        </p:nvCxnSpPr>
        <p:spPr>
          <a:xfrm xmlns:a="http://schemas.openxmlformats.org/drawingml/2006/main">
            <a:off x="7239001" y="4576763"/>
            <a:ext cx="0" cy="22860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sp>
        <p:nvSpPr>
          <p:cNvPr id="32" name="">
            <a:extLst xmlns:a="http://schemas.openxmlformats.org/drawingml/2006/main">
              <a:ext uri="{FF2B5EF4-FFF2-40B4-BE49-F238E27FC236}">
                <a16:creationId xmlns:a16="http://schemas.microsoft.com/office/drawing/2014/main" id="{CA471C7C-59FD-4497-9FFB-09258A56F61A}"/>
              </a:ext>
            </a:extLst>
          </p:cNvPr>
          <p:cNvSpPr>
            <a:spLocks xmlns:a="http://schemas.openxmlformats.org/drawingml/2006/main" noGrp="1"/>
          </p:cNvSpPr>
          <p:nvPr/>
        </p:nvSpPr>
        <p:spPr>
          <a:xfrm xmlns:a="http://schemas.openxmlformats.org/drawingml/2006/main">
            <a:off x="7234238" y="5757863"/>
            <a:ext cx="9525" cy="9525"/>
          </a:xfrm>
          <a:prstGeom xmlns:a="http://schemas.openxmlformats.org/drawingml/2006/main" prst="rect">
            <a:avLst/>
          </a:prstGeom>
          <a:noFill xmlns:a="http://schemas.openxmlformats.org/drawingml/2006/main"/>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F41DC6C-1F43-4C5B-B58F-BE4199A0D6F4}"/>
              </a:ext>
            </a:extLst>
          </p:cNvPr>
          <p:cNvSpPr>
            <a:spLocks xmlns:a="http://schemas.openxmlformats.org/drawingml/2006/main" noGrp="1"/>
          </p:cNvSpPr>
          <p:nvPr/>
        </p:nvSpPr>
        <p:spPr>
          <a:xfrm xmlns:a="http://schemas.openxmlformats.org/drawingml/2006/main">
            <a:off x="7234238" y="5995988"/>
            <a:ext cx="9525" cy="9525"/>
          </a:xfrm>
          <a:prstGeom xmlns:a="http://schemas.openxmlformats.org/drawingml/2006/main" prst="rect">
            <a:avLst/>
          </a:prstGeom>
          <a:noFill xmlns:a="http://schemas.openxmlformats.org/drawingml/2006/main"/>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F07CA36-AB18-4956-9C7D-E7F55E3C19E9}"/>
              </a:ext>
            </a:extLst>
          </p:cNvPr>
          <p:cNvSpPr>
            <a:spLocks xmlns:a="http://schemas.openxmlformats.org/drawingml/2006/main" noGrp="1"/>
          </p:cNvSpPr>
          <p:nvPr/>
        </p:nvSpPr>
        <p:spPr>
          <a:xfrm xmlns:a="http://schemas.openxmlformats.org/drawingml/2006/main">
            <a:off x="7900988" y="5995988"/>
            <a:ext cx="9525" cy="9525"/>
          </a:xfrm>
          <a:prstGeom xmlns:a="http://schemas.openxmlformats.org/drawingml/2006/main" prst="rect">
            <a:avLst/>
          </a:prstGeom>
          <a:noFill xmlns:a="http://schemas.openxmlformats.org/drawingml/2006/main"/>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8DE5797-34F2-446A-883D-2E29A4FEB548}"/>
              </a:ext>
            </a:extLst>
          </p:cNvPr>
          <p:cNvSpPr>
            <a:spLocks xmlns:a="http://schemas.openxmlformats.org/drawingml/2006/main" noGrp="1"/>
          </p:cNvSpPr>
          <p:nvPr/>
        </p:nvSpPr>
        <p:spPr>
          <a:xfrm xmlns:a="http://schemas.openxmlformats.org/drawingml/2006/main">
            <a:off x="7900988" y="62245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6" name=""/>
          <p:cNvCxnSpPr>
            <a:stCxn xmlns:a="http://schemas.openxmlformats.org/drawingml/2006/main" id="32" idx="2"/>
            <a:endCxn xmlns:a="http://schemas.openxmlformats.org/drawingml/2006/main" id="33" idx="0"/>
          </p:cNvCxnSpPr>
          <p:nvPr/>
        </p:nvCxnSpPr>
        <p:spPr>
          <a:xfrm xmlns:a="http://schemas.openxmlformats.org/drawingml/2006/main">
            <a:off x="7239001" y="5767388"/>
            <a:ext cx="0" cy="228600"/>
          </a:xfrm>
          <a:prstGeom xmlns:a="http://schemas.openxmlformats.org/drawingml/2006/main" prst="straightConnector1">
            <a:avLst/>
          </a:prstGeom>
          <a:ln xmlns:a="http://schemas.openxmlformats.org/drawingml/2006/main" w="20955">
            <a:solidFill>
              <a:srgbClr val="202A34"/>
            </a:solidFill>
            <a:prstDash val="solid"/>
          </a:ln>
        </p:spPr>
      </p:cxnSp>
      <p:cxnSp>
        <p:nvCxnSpPr>
          <p:cNvPr id="77" name=""/>
          <p:cNvCxnSpPr>
            <a:stCxn xmlns:a="http://schemas.openxmlformats.org/drawingml/2006/main" id="33" idx="3"/>
            <a:endCxn xmlns:a="http://schemas.openxmlformats.org/drawingml/2006/main" id="34" idx="1"/>
          </p:cNvCxnSpPr>
          <p:nvPr/>
        </p:nvCxnSpPr>
        <p:spPr>
          <a:xfrm xmlns:a="http://schemas.openxmlformats.org/drawingml/2006/main">
            <a:off x="7243763" y="6000751"/>
            <a:ext cx="657225" cy="0"/>
          </a:xfrm>
          <a:prstGeom xmlns:a="http://schemas.openxmlformats.org/drawingml/2006/main" prst="straightConnector1">
            <a:avLst/>
          </a:prstGeom>
          <a:ln xmlns:a="http://schemas.openxmlformats.org/drawingml/2006/main" w="20955">
            <a:solidFill>
              <a:srgbClr val="202A34"/>
            </a:solidFill>
            <a:prstDash val="solid"/>
          </a:ln>
        </p:spPr>
      </p:cxnSp>
      <p:cxnSp>
        <p:nvCxnSpPr>
          <p:cNvPr id="78" name=""/>
          <p:cNvCxnSpPr>
            <a:stCxn xmlns:a="http://schemas.openxmlformats.org/drawingml/2006/main" id="34" idx="2"/>
            <a:endCxn xmlns:a="http://schemas.openxmlformats.org/drawingml/2006/main" id="35" idx="0"/>
          </p:cNvCxnSpPr>
          <p:nvPr/>
        </p:nvCxnSpPr>
        <p:spPr>
          <a:xfrm xmlns:a="http://schemas.openxmlformats.org/drawingml/2006/main">
            <a:off x="7905751" y="6005513"/>
            <a:ext cx="0" cy="219075"/>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cxnSp>
        <p:nvCxnSpPr>
          <p:cNvPr id="79" name=""/>
          <p:cNvCxnSpPr>
            <a:stCxn xmlns:a="http://schemas.openxmlformats.org/drawingml/2006/main" id="8" idx="3"/>
            <a:endCxn xmlns:a="http://schemas.openxmlformats.org/drawingml/2006/main" id="9" idx="2"/>
          </p:cNvCxnSpPr>
          <p:nvPr/>
        </p:nvCxnSpPr>
        <p:spPr>
          <a:xfrm xmlns:a="http://schemas.openxmlformats.org/drawingml/2006/main" flipV="1">
            <a:off x="9001125" y="2676525"/>
            <a:ext cx="3667125" cy="2609850"/>
          </a:xfrm>
          <a:prstGeom xmlns:a="http://schemas.openxmlformats.org/drawingml/2006/main" prst="bentConnector4">
            <a:avLst>
              <a:gd name="adj1" fmla="val 6234"/>
              <a:gd name="adj2" fmla="val 91241"/>
            </a:avLst>
          </a:prstGeom>
          <a:ln xmlns:a="http://schemas.openxmlformats.org/drawingml/2006/main" w="20955">
            <a:solidFill>
              <a:srgbClr val="202A34"/>
            </a:solidFill>
            <a:prstDash val="dash"/>
            <a:tailEnd type="triangle" w="med" len="med"/>
          </a:ln>
        </p:spPr>
      </p:cxnSp>
      <p:sp>
        <p:nvSpPr>
          <p:cNvPr id="40" name="Original labels retained&#10;&#10;ATM (Advanced Tissue Models)&#10;SOP (Stand">
            <a:extLst xmlns:a="http://schemas.openxmlformats.org/drawingml/2006/main">
              <a:ext uri="{FF2B5EF4-FFF2-40B4-BE49-F238E27FC236}">
                <a16:creationId xmlns:a16="http://schemas.microsoft.com/office/drawing/2014/main" id="{DC9E0A25-0766-48E0-AA66-F395C3AD04B6}"/>
              </a:ext>
            </a:extLst>
          </p:cNvPr>
          <p:cNvSpPr>
            <a:spLocks xmlns:a="http://schemas.openxmlformats.org/drawingml/2006/main" noGrp="1"/>
          </p:cNvSpPr>
          <p:nvPr/>
        </p:nvSpPr>
        <p:spPr>
          <a:xfrm xmlns:a="http://schemas.openxmlformats.org/drawingml/2006/main">
            <a:off x="11239500" y="3476625"/>
            <a:ext cx="3333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202A34"/>
                </a:solidFill>
                <a:latin typeface="Carlito"/>
                <a:ea typeface="Carlito"/>
                <a:cs typeface="Carlito"/>
              </a:defRPr>
            </a:pPr>
            <a:r>
              <a:rPr sz="1500" b="0">
                <a:solidFill>
                  <a:srgbClr val="202A34"/>
                </a:solidFill>
                <a:latin typeface="Carlito"/>
                <a:ea typeface="Carlito"/>
                <a:cs typeface="Carlito"/>
              </a:rPr>
              <a:t>Original labels retained</a:t>
            </a:r>
          </a:p>
          <a:p xmlns:a="http://schemas.openxmlformats.org/drawingml/2006/main">
            <a:r>
              <a:t/>
            </a:r>
          </a:p>
          <a:p xmlns:a="http://schemas.openxmlformats.org/drawingml/2006/main">
            <a:pPr algn="l">
              <a:defRPr sz="1500" b="0">
                <a:solidFill>
                  <a:srgbClr val="202A34"/>
                </a:solidFill>
                <a:latin typeface="Carlito"/>
                <a:ea typeface="Carlito"/>
                <a:cs typeface="Carlito"/>
              </a:defRPr>
            </a:pPr>
            <a:r>
              <a:rPr sz="1500" b="0">
                <a:solidFill>
                  <a:srgbClr val="202A34"/>
                </a:solidFill>
                <a:latin typeface="Carlito"/>
                <a:ea typeface="Carlito"/>
                <a:cs typeface="Carlito"/>
              </a:rPr>
              <a:t>ATM (Advanced Tissue Models)</a:t>
            </a:r>
          </a:p>
          <a:p xmlns:a="http://schemas.openxmlformats.org/drawingml/2006/main">
            <a:pPr algn="l">
              <a:defRPr sz="1500" b="0">
                <a:solidFill>
                  <a:srgbClr val="202A34"/>
                </a:solidFill>
                <a:latin typeface="Carlito"/>
                <a:ea typeface="Carlito"/>
                <a:cs typeface="Carlito"/>
              </a:defRPr>
            </a:pPr>
            <a:r>
              <a:rPr sz="1500" b="0">
                <a:solidFill>
                  <a:srgbClr val="202A34"/>
                </a:solidFill>
                <a:latin typeface="Carlito"/>
                <a:ea typeface="Carlito"/>
                <a:cs typeface="Carlito"/>
              </a:rPr>
              <a:t>SOP (Standard Operating Procedure)</a:t>
            </a:r>
          </a:p>
          <a:p xmlns:a="http://schemas.openxmlformats.org/drawingml/2006/main">
            <a:pPr algn="l">
              <a:defRPr sz="1500" b="0">
                <a:solidFill>
                  <a:srgbClr val="202A34"/>
                </a:solidFill>
                <a:latin typeface="Carlito"/>
                <a:ea typeface="Carlito"/>
                <a:cs typeface="Carlito"/>
              </a:defRPr>
            </a:pPr>
            <a:r>
              <a:rPr sz="1500" b="0">
                <a:solidFill>
                  <a:srgbClr val="202A34"/>
                </a:solidFill>
                <a:latin typeface="Carlito"/>
                <a:ea typeface="Carlito"/>
                <a:cs typeface="Carlito"/>
              </a:rPr>
              <a:t>DOP (Department Operating Procedure)</a:t>
            </a:r>
          </a:p>
          <a:p xmlns:a="http://schemas.openxmlformats.org/drawingml/2006/main">
            <a:pPr algn="l">
              <a:defRPr sz="1500" b="0">
                <a:solidFill>
                  <a:srgbClr val="202A34"/>
                </a:solidFill>
                <a:latin typeface="Carlito"/>
                <a:ea typeface="Carlito"/>
                <a:cs typeface="Carlito"/>
              </a:defRPr>
            </a:pPr>
            <a:r>
              <a:rPr sz="1500" b="0">
                <a:solidFill>
                  <a:srgbClr val="202A34"/>
                </a:solidFill>
                <a:latin typeface="Carlito"/>
                <a:ea typeface="Carlito"/>
                <a:cs typeface="Carlito"/>
              </a:rPr>
              <a:t>WI (Work Instruction)</a:t>
            </a:r>
          </a:p>
          <a:p xmlns:a="http://schemas.openxmlformats.org/drawingml/2006/main">
            <a:pPr algn="l">
              <a:defRPr sz="1500" b="0">
                <a:solidFill>
                  <a:srgbClr val="202A34"/>
                </a:solidFill>
                <a:latin typeface="Carlito"/>
                <a:ea typeface="Carlito"/>
                <a:cs typeface="Carlito"/>
              </a:defRPr>
            </a:pPr>
            <a:r>
              <a:rPr sz="1500" b="0">
                <a:solidFill>
                  <a:srgbClr val="202A34"/>
                </a:solidFill>
                <a:latin typeface="Carlito"/>
                <a:ea typeface="Carlito"/>
                <a:cs typeface="Carlito"/>
              </a:rPr>
              <a:t>ASL (Approved Supplier List)</a:t>
            </a:r>
          </a:p>
        </p:txBody>
      </p:sp>
    </p:spTree>
    <p:extLst>
      <p:ext uri="{BB962C8B-B14F-4D97-AF65-F5344CB8AC3E}">
        <p14:creationId xmlns:p14="http://schemas.microsoft.com/office/powerpoint/2010/main" val="15215374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To-be process map">
            <a:extLst xmlns:a="http://schemas.openxmlformats.org/drawingml/2006/main">
              <a:ext uri="{FF2B5EF4-FFF2-40B4-BE49-F238E27FC236}">
                <a16:creationId xmlns:a16="http://schemas.microsoft.com/office/drawing/2014/main" id="{5C71C140-5EF9-4698-ACAB-7716D4046610}"/>
              </a:ext>
            </a:extLst>
          </p:cNvPr>
          <p:cNvSpPr>
            <a:spLocks xmlns:a="http://schemas.openxmlformats.org/drawingml/2006/main" noGrp="1"/>
          </p:cNvSpPr>
          <p:nvPr/>
        </p:nvSpPr>
        <p:spPr>
          <a:xfrm xmlns:a="http://schemas.openxmlformats.org/drawingml/2006/main">
            <a:off x="523875" y="304800"/>
            <a:ext cx="1419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225" b="1">
                <a:solidFill>
                  <a:srgbClr val="202A34"/>
                </a:solidFill>
                <a:latin typeface="Carlito"/>
                <a:ea typeface="Carlito"/>
                <a:cs typeface="Carlito"/>
              </a:defRPr>
            </a:pPr>
            <a:r>
              <a:rPr sz="3225" b="1">
                <a:solidFill>
                  <a:srgbClr val="202A34"/>
                </a:solidFill>
                <a:latin typeface="Carlito"/>
                <a:ea typeface="Carlito"/>
                <a:cs typeface="Carlito"/>
              </a:rPr>
              <a:t>To-be process map</a:t>
            </a:r>
          </a:p>
        </p:txBody>
      </p:sp>
      <p:sp>
        <p:nvSpPr>
          <p:cNvPr id="2" name="Supplier approval precedes tissue personnel certification and com">
            <a:extLst xmlns:a="http://schemas.openxmlformats.org/drawingml/2006/main">
              <a:ext uri="{FF2B5EF4-FFF2-40B4-BE49-F238E27FC236}">
                <a16:creationId xmlns:a16="http://schemas.microsoft.com/office/drawing/2014/main" id="{C4DB7F81-4C99-459D-AAF9-5B65A3089409}"/>
              </a:ext>
            </a:extLst>
          </p:cNvPr>
          <p:cNvSpPr>
            <a:spLocks xmlns:a="http://schemas.openxmlformats.org/drawingml/2006/main" noGrp="1"/>
          </p:cNvSpPr>
          <p:nvPr/>
        </p:nvSpPr>
        <p:spPr>
          <a:xfrm xmlns:a="http://schemas.openxmlformats.org/drawingml/2006/main">
            <a:off x="523875" y="962025"/>
            <a:ext cx="1419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202A34"/>
                </a:solidFill>
                <a:latin typeface="Carlito"/>
                <a:ea typeface="Carlito"/>
                <a:cs typeface="Carlito"/>
              </a:defRPr>
            </a:pPr>
            <a:r>
              <a:rPr sz="1800" b="0">
                <a:solidFill>
                  <a:srgbClr val="202A34"/>
                </a:solidFill>
                <a:latin typeface="Carlito"/>
                <a:ea typeface="Carlito"/>
                <a:cs typeface="Carlito"/>
              </a:rPr>
              <a:t>Supplier approval precedes tissue personnel certification and component qualification</a:t>
            </a:r>
          </a:p>
        </p:txBody>
      </p:sp>
      <p:sp>
        <p:nvSpPr>
          <p:cNvPr id="3" name="Review draft  •  17 September 2026     /     2">
            <a:extLst xmlns:a="http://schemas.openxmlformats.org/drawingml/2006/main">
              <a:ext uri="{FF2B5EF4-FFF2-40B4-BE49-F238E27FC236}">
                <a16:creationId xmlns:a16="http://schemas.microsoft.com/office/drawing/2014/main" id="{C85966E3-445F-4116-9D5E-C4D12F4A348A}"/>
              </a:ext>
            </a:extLst>
          </p:cNvPr>
          <p:cNvSpPr>
            <a:spLocks xmlns:a="http://schemas.openxmlformats.org/drawingml/2006/main" noGrp="1"/>
          </p:cNvSpPr>
          <p:nvPr/>
        </p:nvSpPr>
        <p:spPr>
          <a:xfrm xmlns:a="http://schemas.openxmlformats.org/drawingml/2006/main">
            <a:off x="523875" y="8229600"/>
            <a:ext cx="1419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06C"/>
                </a:solidFill>
                <a:latin typeface="Carlito"/>
                <a:ea typeface="Carlito"/>
                <a:cs typeface="Carlito"/>
              </a:defRPr>
            </a:pPr>
            <a:r>
              <a:rPr sz="1275" b="0">
                <a:solidFill>
                  <a:srgbClr val="52606C"/>
                </a:solidFill>
                <a:latin typeface="Carlito"/>
                <a:ea typeface="Carlito"/>
                <a:cs typeface="Carlito"/>
              </a:rPr>
              <a:t>Review draft  •  17 September 2026     /     2</a:t>
            </a:r>
          </a:p>
        </p:txBody>
      </p:sp>
      <p:sp>
        <p:nvSpPr>
          <p:cNvPr id="4" name="668008&#10;Supplier Controls">
            <a:extLst xmlns:a="http://schemas.openxmlformats.org/drawingml/2006/main">
              <a:ext uri="{FF2B5EF4-FFF2-40B4-BE49-F238E27FC236}">
                <a16:creationId xmlns:a16="http://schemas.microsoft.com/office/drawing/2014/main" id="{51C00830-4804-47E1-81A3-81257B2F1219}"/>
              </a:ext>
            </a:extLst>
          </p:cNvPr>
          <p:cNvSpPr>
            <a:spLocks xmlns:a="http://schemas.openxmlformats.org/drawingml/2006/main" noGrp="1"/>
          </p:cNvSpPr>
          <p:nvPr/>
        </p:nvSpPr>
        <p:spPr>
          <a:xfrm xmlns:a="http://schemas.openxmlformats.org/drawingml/2006/main">
            <a:off x="571500" y="1781175"/>
            <a:ext cx="2667000" cy="809625"/>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668008</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Supplier Controls</a:t>
            </a:r>
          </a:p>
        </p:txBody>
      </p:sp>
      <p:sp>
        <p:nvSpPr>
          <p:cNvPr id="5" name="668009&#10;Supplier Selection, Approval&#10;and Monitoring">
            <a:extLst xmlns:a="http://schemas.openxmlformats.org/drawingml/2006/main">
              <a:ext uri="{FF2B5EF4-FFF2-40B4-BE49-F238E27FC236}">
                <a16:creationId xmlns:a16="http://schemas.microsoft.com/office/drawing/2014/main" id="{F285D656-7737-496D-923A-01DAC5F87ED4}"/>
              </a:ext>
            </a:extLst>
          </p:cNvPr>
          <p:cNvSpPr>
            <a:spLocks xmlns:a="http://schemas.openxmlformats.org/drawingml/2006/main" noGrp="1"/>
          </p:cNvSpPr>
          <p:nvPr/>
        </p:nvSpPr>
        <p:spPr>
          <a:xfrm xmlns:a="http://schemas.openxmlformats.org/drawingml/2006/main">
            <a:off x="571500" y="3095625"/>
            <a:ext cx="3143250" cy="1114425"/>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668009</a:t>
            </a:r>
          </a:p>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Supplier Selection, Approval</a:t>
            </a:r>
          </a:p>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and Monitoring</a:t>
            </a:r>
          </a:p>
        </p:txBody>
      </p:sp>
      <p:sp>
        <p:nvSpPr>
          <p:cNvPr id="6" name="668504&#10;Supplier Auditing">
            <a:extLst xmlns:a="http://schemas.openxmlformats.org/drawingml/2006/main">
              <a:ext uri="{FF2B5EF4-FFF2-40B4-BE49-F238E27FC236}">
                <a16:creationId xmlns:a16="http://schemas.microsoft.com/office/drawing/2014/main" id="{D727CAD5-D31B-4EE8-96EA-10BEA49A2E08}"/>
              </a:ext>
            </a:extLst>
          </p:cNvPr>
          <p:cNvSpPr>
            <a:spLocks xmlns:a="http://schemas.openxmlformats.org/drawingml/2006/main" noGrp="1"/>
          </p:cNvSpPr>
          <p:nvPr/>
        </p:nvSpPr>
        <p:spPr>
          <a:xfrm xmlns:a="http://schemas.openxmlformats.org/drawingml/2006/main">
            <a:off x="571500" y="4857750"/>
            <a:ext cx="2571750" cy="809625"/>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668504</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Supplier Auditing</a:t>
            </a:r>
          </a:p>
        </p:txBody>
      </p:sp>
      <p:sp>
        <p:nvSpPr>
          <p:cNvPr id="7" name="668529&#10;Supplier approval recorded&#10;in the Approved Supplier List">
            <a:extLst xmlns:a="http://schemas.openxmlformats.org/drawingml/2006/main">
              <a:ext uri="{FF2B5EF4-FFF2-40B4-BE49-F238E27FC236}">
                <a16:creationId xmlns:a16="http://schemas.microsoft.com/office/drawing/2014/main" id="{F1899772-BBC6-4E4A-BAD1-68BE35FD29E9}"/>
              </a:ext>
            </a:extLst>
          </p:cNvPr>
          <p:cNvSpPr>
            <a:spLocks xmlns:a="http://schemas.openxmlformats.org/drawingml/2006/main" noGrp="1"/>
          </p:cNvSpPr>
          <p:nvPr/>
        </p:nvSpPr>
        <p:spPr>
          <a:xfrm xmlns:a="http://schemas.openxmlformats.org/drawingml/2006/main">
            <a:off x="4333875" y="3095625"/>
            <a:ext cx="3619500" cy="1114425"/>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668529</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Supplier approval recorded</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in the Approved Supplier List</a:t>
            </a:r>
          </a:p>
        </p:txBody>
      </p:sp>
      <p:sp>
        <p:nvSpPr>
          <p:cNvPr id="8" name="NEW 668XXX&#10;Tissue Supplier Personnel&#10;Training and Certification">
            <a:extLst xmlns:a="http://schemas.openxmlformats.org/drawingml/2006/main">
              <a:ext uri="{FF2B5EF4-FFF2-40B4-BE49-F238E27FC236}">
                <a16:creationId xmlns:a16="http://schemas.microsoft.com/office/drawing/2014/main" id="{30835C6A-3ADA-400D-9B0C-E242652BCD79}"/>
              </a:ext>
            </a:extLst>
          </p:cNvPr>
          <p:cNvSpPr>
            <a:spLocks xmlns:a="http://schemas.openxmlformats.org/drawingml/2006/main" noGrp="1"/>
          </p:cNvSpPr>
          <p:nvPr/>
        </p:nvSpPr>
        <p:spPr>
          <a:xfrm xmlns:a="http://schemas.openxmlformats.org/drawingml/2006/main">
            <a:off x="8858250" y="2019300"/>
            <a:ext cx="4857750" cy="1000125"/>
          </a:xfrm>
          <a:prstGeom xmlns:a="http://schemas.openxmlformats.org/drawingml/2006/main" prst="rect">
            <a:avLst/>
          </a:prstGeom>
          <a:solidFill xmlns:a="http://schemas.openxmlformats.org/drawingml/2006/main">
            <a:srgbClr val="99D8AA"/>
          </a:solidFill>
          <a:ln xmlns:a="http://schemas.openxmlformats.org/drawingml/2006/main" w="13335">
            <a:solidFill>
              <a:srgbClr val="99D8AA"/>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NEW 668XXX</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Tissue Supplier Personnel</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Training and Certification</a:t>
            </a:r>
          </a:p>
        </p:txBody>
      </p:sp>
      <p:sp>
        <p:nvSpPr>
          <p:cNvPr id="9" name="NEW 668XXX&#10;Component Qualification&#10;Tissue and non-tissue paths">
            <a:extLst xmlns:a="http://schemas.openxmlformats.org/drawingml/2006/main">
              <a:ext uri="{FF2B5EF4-FFF2-40B4-BE49-F238E27FC236}">
                <a16:creationId xmlns:a16="http://schemas.microsoft.com/office/drawing/2014/main" id="{13CF00D4-10A1-4800-A6CF-E651ACFF0366}"/>
              </a:ext>
            </a:extLst>
          </p:cNvPr>
          <p:cNvSpPr>
            <a:spLocks xmlns:a="http://schemas.openxmlformats.org/drawingml/2006/main" noGrp="1"/>
          </p:cNvSpPr>
          <p:nvPr/>
        </p:nvSpPr>
        <p:spPr>
          <a:xfrm xmlns:a="http://schemas.openxmlformats.org/drawingml/2006/main">
            <a:off x="8858250" y="4333875"/>
            <a:ext cx="4857750" cy="1114425"/>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NEW 668XXX</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Component Qualification</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Tissue and non-tissue paths</a:t>
            </a:r>
          </a:p>
        </p:txBody>
      </p:sp>
      <p:sp>
        <p:nvSpPr>
          <p:cNvPr id="10" name="668529&#10;Qualified part and supplier-site&#10;scope recorded">
            <a:extLst xmlns:a="http://schemas.openxmlformats.org/drawingml/2006/main">
              <a:ext uri="{FF2B5EF4-FFF2-40B4-BE49-F238E27FC236}">
                <a16:creationId xmlns:a16="http://schemas.microsoft.com/office/drawing/2014/main" id="{940913CD-1803-4505-8980-BDB83FF3070E}"/>
              </a:ext>
            </a:extLst>
          </p:cNvPr>
          <p:cNvSpPr>
            <a:spLocks xmlns:a="http://schemas.openxmlformats.org/drawingml/2006/main" noGrp="1"/>
          </p:cNvSpPr>
          <p:nvPr/>
        </p:nvSpPr>
        <p:spPr>
          <a:xfrm xmlns:a="http://schemas.openxmlformats.org/drawingml/2006/main">
            <a:off x="4333875" y="6667500"/>
            <a:ext cx="3619500" cy="990600"/>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668529</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Qualified part and supplier-site</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scope recorded</a:t>
            </a:r>
          </a:p>
        </p:txBody>
      </p:sp>
      <p:sp>
        <p:nvSpPr>
          <p:cNvPr id="11" name="668007&#10;Purchasing and Planning&#10;Lead time and reorder points">
            <a:extLst xmlns:a="http://schemas.openxmlformats.org/drawingml/2006/main">
              <a:ext uri="{FF2B5EF4-FFF2-40B4-BE49-F238E27FC236}">
                <a16:creationId xmlns:a16="http://schemas.microsoft.com/office/drawing/2014/main" id="{94B41F84-ED8C-4779-A6DE-DD13E6A48370}"/>
              </a:ext>
            </a:extLst>
          </p:cNvPr>
          <p:cNvSpPr>
            <a:spLocks xmlns:a="http://schemas.openxmlformats.org/drawingml/2006/main" noGrp="1"/>
          </p:cNvSpPr>
          <p:nvPr/>
        </p:nvSpPr>
        <p:spPr>
          <a:xfrm xmlns:a="http://schemas.openxmlformats.org/drawingml/2006/main">
            <a:off x="9810750" y="6667500"/>
            <a:ext cx="3905250" cy="990600"/>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668007</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Purchasing and Planning</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Lead time and reorder points</a:t>
            </a:r>
          </a:p>
        </p:txBody>
      </p:sp>
      <p:sp>
        <p:nvSpPr>
          <p:cNvPr id="12" name="">
            <a:extLst xmlns:a="http://schemas.openxmlformats.org/drawingml/2006/main">
              <a:ext uri="{FF2B5EF4-FFF2-40B4-BE49-F238E27FC236}">
                <a16:creationId xmlns:a16="http://schemas.microsoft.com/office/drawing/2014/main" id="{19CC4924-8B08-462A-B9AC-7B64F99B9966}"/>
              </a:ext>
            </a:extLst>
          </p:cNvPr>
          <p:cNvSpPr>
            <a:spLocks xmlns:a="http://schemas.openxmlformats.org/drawingml/2006/main" noGrp="1"/>
          </p:cNvSpPr>
          <p:nvPr/>
        </p:nvSpPr>
        <p:spPr>
          <a:xfrm xmlns:a="http://schemas.openxmlformats.org/drawingml/2006/main">
            <a:off x="1900238" y="2586038"/>
            <a:ext cx="9525" cy="9525"/>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965C9A1-A717-46E6-8404-327A876E189E}"/>
              </a:ext>
            </a:extLst>
          </p:cNvPr>
          <p:cNvSpPr>
            <a:spLocks xmlns:a="http://schemas.openxmlformats.org/drawingml/2006/main" noGrp="1"/>
          </p:cNvSpPr>
          <p:nvPr/>
        </p:nvSpPr>
        <p:spPr>
          <a:xfrm xmlns:a="http://schemas.openxmlformats.org/drawingml/2006/main">
            <a:off x="1900238" y="2843213"/>
            <a:ext cx="9525" cy="9525"/>
          </a:xfrm>
          <a:prstGeom xmlns:a="http://schemas.openxmlformats.org/drawingml/2006/main" prst="rect">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1F252BC-6F53-4EE2-B9FE-B6F6218204BB}"/>
              </a:ext>
            </a:extLst>
          </p:cNvPr>
          <p:cNvSpPr>
            <a:spLocks xmlns:a="http://schemas.openxmlformats.org/drawingml/2006/main" noGrp="1"/>
          </p:cNvSpPr>
          <p:nvPr/>
        </p:nvSpPr>
        <p:spPr>
          <a:xfrm xmlns:a="http://schemas.openxmlformats.org/drawingml/2006/main">
            <a:off x="2138363" y="2843213"/>
            <a:ext cx="9525" cy="9525"/>
          </a:xfrm>
          <a:prstGeom xmlns:a="http://schemas.openxmlformats.org/drawingml/2006/main" prst="rect">
            <a:avLst/>
          </a:prstGeom>
          <a:noFill xmlns:a="http://schemas.openxmlformats.org/drawingml/2006/main"/>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F24E91C-4F6F-4BE4-9E95-E46C9E0A1C7A}"/>
              </a:ext>
            </a:extLst>
          </p:cNvPr>
          <p:cNvSpPr>
            <a:spLocks xmlns:a="http://schemas.openxmlformats.org/drawingml/2006/main" noGrp="1"/>
          </p:cNvSpPr>
          <p:nvPr/>
        </p:nvSpPr>
        <p:spPr>
          <a:xfrm xmlns:a="http://schemas.openxmlformats.org/drawingml/2006/main">
            <a:off x="2138363" y="30908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12" idx="2"/>
            <a:endCxn xmlns:a="http://schemas.openxmlformats.org/drawingml/2006/main" id="13" idx="0"/>
          </p:cNvCxnSpPr>
          <p:nvPr/>
        </p:nvCxnSpPr>
        <p:spPr>
          <a:xfrm xmlns:a="http://schemas.openxmlformats.org/drawingml/2006/main">
            <a:off x="1905001" y="2595563"/>
            <a:ext cx="0" cy="247650"/>
          </a:xfrm>
          <a:prstGeom xmlns:a="http://schemas.openxmlformats.org/drawingml/2006/main" prst="straightConnector1">
            <a:avLst/>
          </a:prstGeom>
          <a:ln xmlns:a="http://schemas.openxmlformats.org/drawingml/2006/main" w="20955">
            <a:solidFill>
              <a:srgbClr val="202A34"/>
            </a:solidFill>
            <a:prstDash val="solid"/>
          </a:ln>
        </p:spPr>
      </p:cxnSp>
      <p:cxnSp>
        <p:nvCxnSpPr>
          <p:cNvPr id="79" name=""/>
          <p:cNvCxnSpPr>
            <a:stCxn xmlns:a="http://schemas.openxmlformats.org/drawingml/2006/main" id="13" idx="3"/>
            <a:endCxn xmlns:a="http://schemas.openxmlformats.org/drawingml/2006/main" id="14" idx="1"/>
          </p:cNvCxnSpPr>
          <p:nvPr/>
        </p:nvCxnSpPr>
        <p:spPr>
          <a:xfrm xmlns:a="http://schemas.openxmlformats.org/drawingml/2006/main">
            <a:off x="1909763" y="2847976"/>
            <a:ext cx="228600" cy="0"/>
          </a:xfrm>
          <a:prstGeom xmlns:a="http://schemas.openxmlformats.org/drawingml/2006/main" prst="straightConnector1">
            <a:avLst/>
          </a:prstGeom>
          <a:ln xmlns:a="http://schemas.openxmlformats.org/drawingml/2006/main" w="20955">
            <a:solidFill>
              <a:srgbClr val="202A34"/>
            </a:solidFill>
            <a:prstDash val="solid"/>
          </a:ln>
        </p:spPr>
      </p:cxnSp>
      <p:cxnSp>
        <p:nvCxnSpPr>
          <p:cNvPr id="80" name=""/>
          <p:cNvCxnSpPr>
            <a:stCxn xmlns:a="http://schemas.openxmlformats.org/drawingml/2006/main" id="14" idx="2"/>
            <a:endCxn xmlns:a="http://schemas.openxmlformats.org/drawingml/2006/main" id="15" idx="0"/>
          </p:cNvCxnSpPr>
          <p:nvPr/>
        </p:nvCxnSpPr>
        <p:spPr>
          <a:xfrm xmlns:a="http://schemas.openxmlformats.org/drawingml/2006/main">
            <a:off x="2143126" y="2852738"/>
            <a:ext cx="0" cy="238125"/>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sp>
        <p:nvSpPr>
          <p:cNvPr id="19" name="">
            <a:extLst xmlns:a="http://schemas.openxmlformats.org/drawingml/2006/main">
              <a:ext uri="{FF2B5EF4-FFF2-40B4-BE49-F238E27FC236}">
                <a16:creationId xmlns:a16="http://schemas.microsoft.com/office/drawing/2014/main" id="{74737A9E-911B-4ACF-BB5A-2ABF44779DD6}"/>
              </a:ext>
            </a:extLst>
          </p:cNvPr>
          <p:cNvSpPr>
            <a:spLocks xmlns:a="http://schemas.openxmlformats.org/drawingml/2006/main" noGrp="1"/>
          </p:cNvSpPr>
          <p:nvPr/>
        </p:nvSpPr>
        <p:spPr>
          <a:xfrm xmlns:a="http://schemas.openxmlformats.org/drawingml/2006/main">
            <a:off x="2138363" y="4205288"/>
            <a:ext cx="9525" cy="9525"/>
          </a:xfrm>
          <a:prstGeom xmlns:a="http://schemas.openxmlformats.org/drawingml/2006/main" prst="rect">
            <a:avLst/>
          </a:prstGeom>
          <a:noFill xmlns:a="http://schemas.openxmlformats.org/drawingml/2006/main"/>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26D9F60-05FE-4FAC-9381-F8386CEF8BB3}"/>
              </a:ext>
            </a:extLst>
          </p:cNvPr>
          <p:cNvSpPr>
            <a:spLocks xmlns:a="http://schemas.openxmlformats.org/drawingml/2006/main" noGrp="1"/>
          </p:cNvSpPr>
          <p:nvPr/>
        </p:nvSpPr>
        <p:spPr>
          <a:xfrm xmlns:a="http://schemas.openxmlformats.org/drawingml/2006/main">
            <a:off x="2138363" y="4538663"/>
            <a:ext cx="9525" cy="9525"/>
          </a:xfrm>
          <a:prstGeom xmlns:a="http://schemas.openxmlformats.org/drawingml/2006/main" prst="rect">
            <a:avLst/>
          </a:prstGeom>
          <a:noFill xmlns:a="http://schemas.openxmlformats.org/drawingml/2006/main"/>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869F0C3-D1A9-440D-A3CE-07127B809352}"/>
              </a:ext>
            </a:extLst>
          </p:cNvPr>
          <p:cNvSpPr>
            <a:spLocks xmlns:a="http://schemas.openxmlformats.org/drawingml/2006/main" noGrp="1"/>
          </p:cNvSpPr>
          <p:nvPr/>
        </p:nvSpPr>
        <p:spPr>
          <a:xfrm xmlns:a="http://schemas.openxmlformats.org/drawingml/2006/main">
            <a:off x="1852613" y="4538663"/>
            <a:ext cx="9525" cy="9525"/>
          </a:xfrm>
          <a:prstGeom xmlns:a="http://schemas.openxmlformats.org/drawingml/2006/main" prst="rect">
            <a:avLst/>
          </a:prstGeom>
          <a:noFill xmlns:a="http://schemas.openxmlformats.org/drawingml/2006/main"/>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F7FD46A-94BB-404C-B9CA-A5057569662F}"/>
              </a:ext>
            </a:extLst>
          </p:cNvPr>
          <p:cNvSpPr>
            <a:spLocks xmlns:a="http://schemas.openxmlformats.org/drawingml/2006/main" noGrp="1"/>
          </p:cNvSpPr>
          <p:nvPr/>
        </p:nvSpPr>
        <p:spPr>
          <a:xfrm xmlns:a="http://schemas.openxmlformats.org/drawingml/2006/main">
            <a:off x="1852613" y="48529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5" name=""/>
          <p:cNvCxnSpPr>
            <a:stCxn xmlns:a="http://schemas.openxmlformats.org/drawingml/2006/main" id="19" idx="2"/>
            <a:endCxn xmlns:a="http://schemas.openxmlformats.org/drawingml/2006/main" id="20" idx="0"/>
          </p:cNvCxnSpPr>
          <p:nvPr/>
        </p:nvCxnSpPr>
        <p:spPr>
          <a:xfrm xmlns:a="http://schemas.openxmlformats.org/drawingml/2006/main">
            <a:off x="2143126" y="4214813"/>
            <a:ext cx="0" cy="323850"/>
          </a:xfrm>
          <a:prstGeom xmlns:a="http://schemas.openxmlformats.org/drawingml/2006/main" prst="straightConnector1">
            <a:avLst/>
          </a:prstGeom>
          <a:ln xmlns:a="http://schemas.openxmlformats.org/drawingml/2006/main" w="20955">
            <a:solidFill>
              <a:srgbClr val="202A34"/>
            </a:solidFill>
            <a:prstDash val="solid"/>
          </a:ln>
        </p:spPr>
      </p:cxnSp>
      <p:cxnSp>
        <p:nvCxnSpPr>
          <p:cNvPr id="86" name=""/>
          <p:cNvCxnSpPr>
            <a:stCxn xmlns:a="http://schemas.openxmlformats.org/drawingml/2006/main" id="20" idx="1"/>
            <a:endCxn xmlns:a="http://schemas.openxmlformats.org/drawingml/2006/main" id="21" idx="3"/>
          </p:cNvCxnSpPr>
          <p:nvPr/>
        </p:nvCxnSpPr>
        <p:spPr>
          <a:xfrm xmlns:a="http://schemas.openxmlformats.org/drawingml/2006/main" flipH="1">
            <a:off x="1862138" y="4543426"/>
            <a:ext cx="276225" cy="0"/>
          </a:xfrm>
          <a:prstGeom xmlns:a="http://schemas.openxmlformats.org/drawingml/2006/main" prst="straightConnector1">
            <a:avLst/>
          </a:prstGeom>
          <a:ln xmlns:a="http://schemas.openxmlformats.org/drawingml/2006/main" w="20955">
            <a:solidFill>
              <a:srgbClr val="202A34"/>
            </a:solidFill>
            <a:prstDash val="solid"/>
          </a:ln>
        </p:spPr>
      </p:cxnSp>
      <p:cxnSp>
        <p:nvCxnSpPr>
          <p:cNvPr id="87" name=""/>
          <p:cNvCxnSpPr>
            <a:stCxn xmlns:a="http://schemas.openxmlformats.org/drawingml/2006/main" id="21" idx="2"/>
            <a:endCxn xmlns:a="http://schemas.openxmlformats.org/drawingml/2006/main" id="22" idx="0"/>
          </p:cNvCxnSpPr>
          <p:nvPr/>
        </p:nvCxnSpPr>
        <p:spPr>
          <a:xfrm xmlns:a="http://schemas.openxmlformats.org/drawingml/2006/main">
            <a:off x="1857376" y="4548188"/>
            <a:ext cx="0" cy="30480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cxnSp>
        <p:nvCxnSpPr>
          <p:cNvPr id="88" name=""/>
          <p:cNvCxnSpPr>
            <a:stCxn xmlns:a="http://schemas.openxmlformats.org/drawingml/2006/main" id="5" idx="3"/>
            <a:endCxn xmlns:a="http://schemas.openxmlformats.org/drawingml/2006/main" id="7" idx="1"/>
          </p:cNvCxnSpPr>
          <p:nvPr/>
        </p:nvCxnSpPr>
        <p:spPr>
          <a:xfrm xmlns:a="http://schemas.openxmlformats.org/drawingml/2006/main">
            <a:off x="3714750" y="3652838"/>
            <a:ext cx="619125" cy="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sp>
        <p:nvSpPr>
          <p:cNvPr id="27" name="">
            <a:extLst xmlns:a="http://schemas.openxmlformats.org/drawingml/2006/main">
              <a:ext uri="{FF2B5EF4-FFF2-40B4-BE49-F238E27FC236}">
                <a16:creationId xmlns:a16="http://schemas.microsoft.com/office/drawing/2014/main" id="{191E8A6A-392C-4841-B6D3-B80C6C8AACE1}"/>
              </a:ext>
            </a:extLst>
          </p:cNvPr>
          <p:cNvSpPr>
            <a:spLocks xmlns:a="http://schemas.openxmlformats.org/drawingml/2006/main" noGrp="1"/>
          </p:cNvSpPr>
          <p:nvPr/>
        </p:nvSpPr>
        <p:spPr>
          <a:xfrm xmlns:a="http://schemas.openxmlformats.org/drawingml/2006/main">
            <a:off x="7948613" y="3643313"/>
            <a:ext cx="9525" cy="9525"/>
          </a:xfrm>
          <a:prstGeom xmlns:a="http://schemas.openxmlformats.org/drawingml/2006/main" prst="rect">
            <a:avLst/>
          </a:prstGeom>
          <a:noFill xmlns:a="http://schemas.openxmlformats.org/drawingml/2006/main"/>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F32DC75-8D72-446C-B1C4-98110372C07C}"/>
              </a:ext>
            </a:extLst>
          </p:cNvPr>
          <p:cNvSpPr>
            <a:spLocks xmlns:a="http://schemas.openxmlformats.org/drawingml/2006/main" noGrp="1"/>
          </p:cNvSpPr>
          <p:nvPr/>
        </p:nvSpPr>
        <p:spPr>
          <a:xfrm xmlns:a="http://schemas.openxmlformats.org/drawingml/2006/main">
            <a:off x="8348663" y="3643313"/>
            <a:ext cx="9525" cy="9525"/>
          </a:xfrm>
          <a:prstGeom xmlns:a="http://schemas.openxmlformats.org/drawingml/2006/main" prst="rect">
            <a:avLst/>
          </a:prstGeom>
          <a:noFill xmlns:a="http://schemas.openxmlformats.org/drawingml/2006/main"/>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BFEC821-2990-47E3-B4D6-DE5DC7F6FAF6}"/>
              </a:ext>
            </a:extLst>
          </p:cNvPr>
          <p:cNvSpPr>
            <a:spLocks xmlns:a="http://schemas.openxmlformats.org/drawingml/2006/main" noGrp="1"/>
          </p:cNvSpPr>
          <p:nvPr/>
        </p:nvSpPr>
        <p:spPr>
          <a:xfrm xmlns:a="http://schemas.openxmlformats.org/drawingml/2006/main">
            <a:off x="8348663" y="2509838"/>
            <a:ext cx="9525" cy="9525"/>
          </a:xfrm>
          <a:prstGeom xmlns:a="http://schemas.openxmlformats.org/drawingml/2006/main" prst="rect">
            <a:avLst/>
          </a:prstGeom>
          <a:noFill xmlns:a="http://schemas.openxmlformats.org/drawingml/2006/main"/>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D8CF71D-4BEB-4EC0-8E03-D3E87EE2CCC1}"/>
              </a:ext>
            </a:extLst>
          </p:cNvPr>
          <p:cNvSpPr>
            <a:spLocks xmlns:a="http://schemas.openxmlformats.org/drawingml/2006/main" noGrp="1"/>
          </p:cNvSpPr>
          <p:nvPr/>
        </p:nvSpPr>
        <p:spPr>
          <a:xfrm xmlns:a="http://schemas.openxmlformats.org/drawingml/2006/main">
            <a:off x="8853488" y="2509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93" name=""/>
          <p:cNvCxnSpPr>
            <a:stCxn xmlns:a="http://schemas.openxmlformats.org/drawingml/2006/main" id="27" idx="3"/>
            <a:endCxn xmlns:a="http://schemas.openxmlformats.org/drawingml/2006/main" id="28" idx="1"/>
          </p:cNvCxnSpPr>
          <p:nvPr/>
        </p:nvCxnSpPr>
        <p:spPr>
          <a:xfrm xmlns:a="http://schemas.openxmlformats.org/drawingml/2006/main">
            <a:off x="7958138" y="3648076"/>
            <a:ext cx="390525" cy="0"/>
          </a:xfrm>
          <a:prstGeom xmlns:a="http://schemas.openxmlformats.org/drawingml/2006/main" prst="straightConnector1">
            <a:avLst/>
          </a:prstGeom>
          <a:ln xmlns:a="http://schemas.openxmlformats.org/drawingml/2006/main" w="20955">
            <a:solidFill>
              <a:srgbClr val="202A34"/>
            </a:solidFill>
            <a:prstDash val="solid"/>
          </a:ln>
        </p:spPr>
      </p:cxnSp>
      <p:cxnSp>
        <p:nvCxnSpPr>
          <p:cNvPr id="94" name=""/>
          <p:cNvCxnSpPr>
            <a:stCxn xmlns:a="http://schemas.openxmlformats.org/drawingml/2006/main" id="28" idx="0"/>
            <a:endCxn xmlns:a="http://schemas.openxmlformats.org/drawingml/2006/main" id="29" idx="2"/>
          </p:cNvCxnSpPr>
          <p:nvPr/>
        </p:nvCxnSpPr>
        <p:spPr>
          <a:xfrm xmlns:a="http://schemas.openxmlformats.org/drawingml/2006/main" flipV="1">
            <a:off x="8353426" y="2519363"/>
            <a:ext cx="0" cy="1123950"/>
          </a:xfrm>
          <a:prstGeom xmlns:a="http://schemas.openxmlformats.org/drawingml/2006/main" prst="straightConnector1">
            <a:avLst/>
          </a:prstGeom>
          <a:ln xmlns:a="http://schemas.openxmlformats.org/drawingml/2006/main" w="20955">
            <a:solidFill>
              <a:srgbClr val="202A34"/>
            </a:solidFill>
            <a:prstDash val="solid"/>
          </a:ln>
        </p:spPr>
      </p:cxnSp>
      <p:cxnSp>
        <p:nvCxnSpPr>
          <p:cNvPr id="95" name=""/>
          <p:cNvCxnSpPr>
            <a:stCxn xmlns:a="http://schemas.openxmlformats.org/drawingml/2006/main" id="29" idx="3"/>
            <a:endCxn xmlns:a="http://schemas.openxmlformats.org/drawingml/2006/main" id="30" idx="1"/>
          </p:cNvCxnSpPr>
          <p:nvPr/>
        </p:nvCxnSpPr>
        <p:spPr>
          <a:xfrm xmlns:a="http://schemas.openxmlformats.org/drawingml/2006/main">
            <a:off x="8358188" y="2514601"/>
            <a:ext cx="495300" cy="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sp>
        <p:nvSpPr>
          <p:cNvPr id="34" name="">
            <a:extLst xmlns:a="http://schemas.openxmlformats.org/drawingml/2006/main">
              <a:ext uri="{FF2B5EF4-FFF2-40B4-BE49-F238E27FC236}">
                <a16:creationId xmlns:a16="http://schemas.microsoft.com/office/drawing/2014/main" id="{6422EEE8-A9F3-40ED-9AF7-3BCFA4F0929A}"/>
              </a:ext>
            </a:extLst>
          </p:cNvPr>
          <p:cNvSpPr>
            <a:spLocks xmlns:a="http://schemas.openxmlformats.org/drawingml/2006/main" noGrp="1"/>
          </p:cNvSpPr>
          <p:nvPr/>
        </p:nvSpPr>
        <p:spPr>
          <a:xfrm xmlns:a="http://schemas.openxmlformats.org/drawingml/2006/main">
            <a:off x="13711238" y="2509838"/>
            <a:ext cx="9525" cy="9525"/>
          </a:xfrm>
          <a:prstGeom xmlns:a="http://schemas.openxmlformats.org/drawingml/2006/main" prst="rect">
            <a:avLst/>
          </a:prstGeom>
          <a:noFill xmlns:a="http://schemas.openxmlformats.org/drawingml/2006/main"/>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0382676-6288-4606-841D-C75E39E41265}"/>
              </a:ext>
            </a:extLst>
          </p:cNvPr>
          <p:cNvSpPr>
            <a:spLocks xmlns:a="http://schemas.openxmlformats.org/drawingml/2006/main" noGrp="1"/>
          </p:cNvSpPr>
          <p:nvPr/>
        </p:nvSpPr>
        <p:spPr>
          <a:xfrm xmlns:a="http://schemas.openxmlformats.org/drawingml/2006/main">
            <a:off x="14425613" y="2509838"/>
            <a:ext cx="9525" cy="9525"/>
          </a:xfrm>
          <a:prstGeom xmlns:a="http://schemas.openxmlformats.org/drawingml/2006/main" prst="rect">
            <a:avLst/>
          </a:prstGeom>
          <a:noFill xmlns:a="http://schemas.openxmlformats.org/drawingml/2006/main"/>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1187DBF-0BF6-40AB-99B2-00F1A00AF9D0}"/>
              </a:ext>
            </a:extLst>
          </p:cNvPr>
          <p:cNvSpPr>
            <a:spLocks xmlns:a="http://schemas.openxmlformats.org/drawingml/2006/main" noGrp="1"/>
          </p:cNvSpPr>
          <p:nvPr/>
        </p:nvSpPr>
        <p:spPr>
          <a:xfrm xmlns:a="http://schemas.openxmlformats.org/drawingml/2006/main">
            <a:off x="14425613" y="4872038"/>
            <a:ext cx="9525" cy="9525"/>
          </a:xfrm>
          <a:prstGeom xmlns:a="http://schemas.openxmlformats.org/drawingml/2006/main" prst="rect">
            <a:avLst/>
          </a:prstGeom>
          <a:noFill xmlns:a="http://schemas.openxmlformats.org/drawingml/2006/main"/>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25FD1E8-F7A7-4EC6-99BF-FB1CE9862B13}"/>
              </a:ext>
            </a:extLst>
          </p:cNvPr>
          <p:cNvSpPr>
            <a:spLocks xmlns:a="http://schemas.openxmlformats.org/drawingml/2006/main" noGrp="1"/>
          </p:cNvSpPr>
          <p:nvPr/>
        </p:nvSpPr>
        <p:spPr>
          <a:xfrm xmlns:a="http://schemas.openxmlformats.org/drawingml/2006/main">
            <a:off x="13711238" y="48720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0" name=""/>
          <p:cNvCxnSpPr>
            <a:stCxn xmlns:a="http://schemas.openxmlformats.org/drawingml/2006/main" id="34" idx="3"/>
            <a:endCxn xmlns:a="http://schemas.openxmlformats.org/drawingml/2006/main" id="35" idx="1"/>
          </p:cNvCxnSpPr>
          <p:nvPr/>
        </p:nvCxnSpPr>
        <p:spPr>
          <a:xfrm xmlns:a="http://schemas.openxmlformats.org/drawingml/2006/main">
            <a:off x="13720763" y="2514601"/>
            <a:ext cx="704850" cy="0"/>
          </a:xfrm>
          <a:prstGeom xmlns:a="http://schemas.openxmlformats.org/drawingml/2006/main" prst="straightConnector1">
            <a:avLst/>
          </a:prstGeom>
          <a:ln xmlns:a="http://schemas.openxmlformats.org/drawingml/2006/main" w="20955">
            <a:solidFill>
              <a:srgbClr val="202A34"/>
            </a:solidFill>
            <a:prstDash val="solid"/>
          </a:ln>
        </p:spPr>
      </p:cxnSp>
      <p:cxnSp>
        <p:nvCxnSpPr>
          <p:cNvPr id="101" name=""/>
          <p:cNvCxnSpPr>
            <a:stCxn xmlns:a="http://schemas.openxmlformats.org/drawingml/2006/main" id="35" idx="2"/>
            <a:endCxn xmlns:a="http://schemas.openxmlformats.org/drawingml/2006/main" id="36" idx="0"/>
          </p:cNvCxnSpPr>
          <p:nvPr/>
        </p:nvCxnSpPr>
        <p:spPr>
          <a:xfrm xmlns:a="http://schemas.openxmlformats.org/drawingml/2006/main">
            <a:off x="14430376" y="2519363"/>
            <a:ext cx="0" cy="2352675"/>
          </a:xfrm>
          <a:prstGeom xmlns:a="http://schemas.openxmlformats.org/drawingml/2006/main" prst="straightConnector1">
            <a:avLst/>
          </a:prstGeom>
          <a:ln xmlns:a="http://schemas.openxmlformats.org/drawingml/2006/main" w="20955">
            <a:solidFill>
              <a:srgbClr val="202A34"/>
            </a:solidFill>
            <a:prstDash val="solid"/>
          </a:ln>
        </p:spPr>
      </p:cxnSp>
      <p:cxnSp>
        <p:nvCxnSpPr>
          <p:cNvPr id="102" name=""/>
          <p:cNvCxnSpPr>
            <a:stCxn xmlns:a="http://schemas.openxmlformats.org/drawingml/2006/main" id="36" idx="1"/>
            <a:endCxn xmlns:a="http://schemas.openxmlformats.org/drawingml/2006/main" id="37" idx="3"/>
          </p:cNvCxnSpPr>
          <p:nvPr/>
        </p:nvCxnSpPr>
        <p:spPr>
          <a:xfrm xmlns:a="http://schemas.openxmlformats.org/drawingml/2006/main" flipH="1">
            <a:off x="13720763" y="4876800"/>
            <a:ext cx="704850" cy="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sp>
        <p:nvSpPr>
          <p:cNvPr id="41" name="">
            <a:extLst xmlns:a="http://schemas.openxmlformats.org/drawingml/2006/main">
              <a:ext uri="{FF2B5EF4-FFF2-40B4-BE49-F238E27FC236}">
                <a16:creationId xmlns:a16="http://schemas.microsoft.com/office/drawing/2014/main" id="{03AE68F2-03C8-4891-92C6-4AC8C6461B71}"/>
              </a:ext>
            </a:extLst>
          </p:cNvPr>
          <p:cNvSpPr>
            <a:spLocks xmlns:a="http://schemas.openxmlformats.org/drawingml/2006/main" noGrp="1"/>
          </p:cNvSpPr>
          <p:nvPr/>
        </p:nvSpPr>
        <p:spPr>
          <a:xfrm xmlns:a="http://schemas.openxmlformats.org/drawingml/2006/main">
            <a:off x="7948613" y="3643313"/>
            <a:ext cx="9525" cy="9525"/>
          </a:xfrm>
          <a:prstGeom xmlns:a="http://schemas.openxmlformats.org/drawingml/2006/main" prst="rect">
            <a:avLst/>
          </a:prstGeom>
          <a:noFill xmlns:a="http://schemas.openxmlformats.org/drawingml/2006/main"/>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8E86383C-7101-41E2-A9FC-DD5821873124}"/>
              </a:ext>
            </a:extLst>
          </p:cNvPr>
          <p:cNvSpPr>
            <a:spLocks xmlns:a="http://schemas.openxmlformats.org/drawingml/2006/main" noGrp="1"/>
          </p:cNvSpPr>
          <p:nvPr/>
        </p:nvSpPr>
        <p:spPr>
          <a:xfrm xmlns:a="http://schemas.openxmlformats.org/drawingml/2006/main">
            <a:off x="8567738" y="3643313"/>
            <a:ext cx="9525" cy="9525"/>
          </a:xfrm>
          <a:prstGeom xmlns:a="http://schemas.openxmlformats.org/drawingml/2006/main" prst="rect">
            <a:avLst/>
          </a:prstGeom>
          <a:noFill xmlns:a="http://schemas.openxmlformats.org/drawingml/2006/main"/>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A5CC27A8-982D-45EB-B9DA-078E6EBA8D03}"/>
              </a:ext>
            </a:extLst>
          </p:cNvPr>
          <p:cNvSpPr>
            <a:spLocks xmlns:a="http://schemas.openxmlformats.org/drawingml/2006/main" noGrp="1"/>
          </p:cNvSpPr>
          <p:nvPr/>
        </p:nvSpPr>
        <p:spPr>
          <a:xfrm xmlns:a="http://schemas.openxmlformats.org/drawingml/2006/main">
            <a:off x="8567738" y="4872038"/>
            <a:ext cx="9525" cy="9525"/>
          </a:xfrm>
          <a:prstGeom xmlns:a="http://schemas.openxmlformats.org/drawingml/2006/main" prst="rect">
            <a:avLst/>
          </a:prstGeom>
          <a:noFill xmlns:a="http://schemas.openxmlformats.org/drawingml/2006/main"/>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9B1BFB3B-8DA4-4AFC-81E4-AC7EEC3F1447}"/>
              </a:ext>
            </a:extLst>
          </p:cNvPr>
          <p:cNvSpPr>
            <a:spLocks xmlns:a="http://schemas.openxmlformats.org/drawingml/2006/main" noGrp="1"/>
          </p:cNvSpPr>
          <p:nvPr/>
        </p:nvSpPr>
        <p:spPr>
          <a:xfrm xmlns:a="http://schemas.openxmlformats.org/drawingml/2006/main">
            <a:off x="8853488" y="48720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7" name=""/>
          <p:cNvCxnSpPr>
            <a:stCxn xmlns:a="http://schemas.openxmlformats.org/drawingml/2006/main" id="41" idx="3"/>
            <a:endCxn xmlns:a="http://schemas.openxmlformats.org/drawingml/2006/main" id="42" idx="1"/>
          </p:cNvCxnSpPr>
          <p:nvPr/>
        </p:nvCxnSpPr>
        <p:spPr>
          <a:xfrm xmlns:a="http://schemas.openxmlformats.org/drawingml/2006/main">
            <a:off x="7958138" y="3648076"/>
            <a:ext cx="609600" cy="0"/>
          </a:xfrm>
          <a:prstGeom xmlns:a="http://schemas.openxmlformats.org/drawingml/2006/main" prst="straightConnector1">
            <a:avLst/>
          </a:prstGeom>
          <a:ln xmlns:a="http://schemas.openxmlformats.org/drawingml/2006/main" w="20955">
            <a:solidFill>
              <a:srgbClr val="202A34"/>
            </a:solidFill>
            <a:prstDash val="dash"/>
          </a:ln>
        </p:spPr>
      </p:cxnSp>
      <p:cxnSp>
        <p:nvCxnSpPr>
          <p:cNvPr id="108" name=""/>
          <p:cNvCxnSpPr>
            <a:stCxn xmlns:a="http://schemas.openxmlformats.org/drawingml/2006/main" id="42" idx="2"/>
            <a:endCxn xmlns:a="http://schemas.openxmlformats.org/drawingml/2006/main" id="43" idx="0"/>
          </p:cNvCxnSpPr>
          <p:nvPr/>
        </p:nvCxnSpPr>
        <p:spPr>
          <a:xfrm xmlns:a="http://schemas.openxmlformats.org/drawingml/2006/main">
            <a:off x="8572501" y="3652838"/>
            <a:ext cx="0" cy="1219200"/>
          </a:xfrm>
          <a:prstGeom xmlns:a="http://schemas.openxmlformats.org/drawingml/2006/main" prst="straightConnector1">
            <a:avLst/>
          </a:prstGeom>
          <a:ln xmlns:a="http://schemas.openxmlformats.org/drawingml/2006/main" w="20955">
            <a:solidFill>
              <a:srgbClr val="202A34"/>
            </a:solidFill>
            <a:prstDash val="dash"/>
          </a:ln>
        </p:spPr>
      </p:cxnSp>
      <p:cxnSp>
        <p:nvCxnSpPr>
          <p:cNvPr id="109" name=""/>
          <p:cNvCxnSpPr>
            <a:stCxn xmlns:a="http://schemas.openxmlformats.org/drawingml/2006/main" id="43" idx="3"/>
            <a:endCxn xmlns:a="http://schemas.openxmlformats.org/drawingml/2006/main" id="44" idx="1"/>
          </p:cNvCxnSpPr>
          <p:nvPr/>
        </p:nvCxnSpPr>
        <p:spPr>
          <a:xfrm xmlns:a="http://schemas.openxmlformats.org/drawingml/2006/main">
            <a:off x="8577263" y="4876800"/>
            <a:ext cx="276225" cy="0"/>
          </a:xfrm>
          <a:prstGeom xmlns:a="http://schemas.openxmlformats.org/drawingml/2006/main" prst="straightConnector1">
            <a:avLst/>
          </a:prstGeom>
          <a:ln xmlns:a="http://schemas.openxmlformats.org/drawingml/2006/main" w="20955">
            <a:solidFill>
              <a:srgbClr val="202A34"/>
            </a:solidFill>
            <a:prstDash val="dash"/>
            <a:tailEnd type="triangle" w="med" len="med"/>
          </a:ln>
        </p:spPr>
      </p:cxnSp>
      <p:sp>
        <p:nvSpPr>
          <p:cNvPr id="48" name="">
            <a:extLst xmlns:a="http://schemas.openxmlformats.org/drawingml/2006/main">
              <a:ext uri="{FF2B5EF4-FFF2-40B4-BE49-F238E27FC236}">
                <a16:creationId xmlns:a16="http://schemas.microsoft.com/office/drawing/2014/main" id="{1C83EC3F-49FC-4E97-9F34-C0F3F9EA23F9}"/>
              </a:ext>
            </a:extLst>
          </p:cNvPr>
          <p:cNvSpPr>
            <a:spLocks xmlns:a="http://schemas.openxmlformats.org/drawingml/2006/main" noGrp="1"/>
          </p:cNvSpPr>
          <p:nvPr/>
        </p:nvSpPr>
        <p:spPr>
          <a:xfrm xmlns:a="http://schemas.openxmlformats.org/drawingml/2006/main">
            <a:off x="8853488" y="5138738"/>
            <a:ext cx="9525" cy="9525"/>
          </a:xfrm>
          <a:prstGeom xmlns:a="http://schemas.openxmlformats.org/drawingml/2006/main" prst="rect">
            <a:avLst/>
          </a:prstGeom>
          <a:noFill xmlns:a="http://schemas.openxmlformats.org/drawingml/2006/main"/>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936E916-48FF-4BAA-AB2C-68F24FDA44FB}"/>
              </a:ext>
            </a:extLst>
          </p:cNvPr>
          <p:cNvSpPr>
            <a:spLocks xmlns:a="http://schemas.openxmlformats.org/drawingml/2006/main" noGrp="1"/>
          </p:cNvSpPr>
          <p:nvPr/>
        </p:nvSpPr>
        <p:spPr>
          <a:xfrm xmlns:a="http://schemas.openxmlformats.org/drawingml/2006/main">
            <a:off x="8472488" y="5138738"/>
            <a:ext cx="9525" cy="9525"/>
          </a:xfrm>
          <a:prstGeom xmlns:a="http://schemas.openxmlformats.org/drawingml/2006/main" prst="rect">
            <a:avLst/>
          </a:prstGeom>
          <a:noFill xmlns:a="http://schemas.openxmlformats.org/drawingml/2006/main"/>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7B857EB1-E08F-4445-B9F7-DD94EA27FAE0}"/>
              </a:ext>
            </a:extLst>
          </p:cNvPr>
          <p:cNvSpPr>
            <a:spLocks xmlns:a="http://schemas.openxmlformats.org/drawingml/2006/main" noGrp="1"/>
          </p:cNvSpPr>
          <p:nvPr/>
        </p:nvSpPr>
        <p:spPr>
          <a:xfrm xmlns:a="http://schemas.openxmlformats.org/drawingml/2006/main">
            <a:off x="8472488" y="6262688"/>
            <a:ext cx="9525" cy="9525"/>
          </a:xfrm>
          <a:prstGeom xmlns:a="http://schemas.openxmlformats.org/drawingml/2006/main" prst="rect">
            <a:avLst/>
          </a:prstGeom>
          <a:noFill xmlns:a="http://schemas.openxmlformats.org/drawingml/2006/main"/>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8AF1D575-8AC6-44D8-9507-ADA73FF264B7}"/>
              </a:ext>
            </a:extLst>
          </p:cNvPr>
          <p:cNvSpPr>
            <a:spLocks xmlns:a="http://schemas.openxmlformats.org/drawingml/2006/main" noGrp="1"/>
          </p:cNvSpPr>
          <p:nvPr/>
        </p:nvSpPr>
        <p:spPr>
          <a:xfrm xmlns:a="http://schemas.openxmlformats.org/drawingml/2006/main">
            <a:off x="6138863" y="6262688"/>
            <a:ext cx="9525" cy="9525"/>
          </a:xfrm>
          <a:prstGeom xmlns:a="http://schemas.openxmlformats.org/drawingml/2006/main" prst="rect">
            <a:avLst/>
          </a:prstGeom>
          <a:noFill xmlns:a="http://schemas.openxmlformats.org/drawingml/2006/main"/>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7E833B69-4FC4-411A-8DAB-7B2C6C5B612B}"/>
              </a:ext>
            </a:extLst>
          </p:cNvPr>
          <p:cNvSpPr>
            <a:spLocks xmlns:a="http://schemas.openxmlformats.org/drawingml/2006/main" noGrp="1"/>
          </p:cNvSpPr>
          <p:nvPr/>
        </p:nvSpPr>
        <p:spPr>
          <a:xfrm xmlns:a="http://schemas.openxmlformats.org/drawingml/2006/main">
            <a:off x="6138863" y="66627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15" name=""/>
          <p:cNvCxnSpPr>
            <a:stCxn xmlns:a="http://schemas.openxmlformats.org/drawingml/2006/main" id="48" idx="1"/>
            <a:endCxn xmlns:a="http://schemas.openxmlformats.org/drawingml/2006/main" id="49" idx="3"/>
          </p:cNvCxnSpPr>
          <p:nvPr/>
        </p:nvCxnSpPr>
        <p:spPr>
          <a:xfrm xmlns:a="http://schemas.openxmlformats.org/drawingml/2006/main" flipH="1">
            <a:off x="8482013" y="5143501"/>
            <a:ext cx="371475" cy="0"/>
          </a:xfrm>
          <a:prstGeom xmlns:a="http://schemas.openxmlformats.org/drawingml/2006/main" prst="straightConnector1">
            <a:avLst/>
          </a:prstGeom>
          <a:ln xmlns:a="http://schemas.openxmlformats.org/drawingml/2006/main" w="20955">
            <a:solidFill>
              <a:srgbClr val="202A34"/>
            </a:solidFill>
            <a:prstDash val="solid"/>
          </a:ln>
        </p:spPr>
      </p:cxnSp>
      <p:cxnSp>
        <p:nvCxnSpPr>
          <p:cNvPr id="116" name=""/>
          <p:cNvCxnSpPr>
            <a:stCxn xmlns:a="http://schemas.openxmlformats.org/drawingml/2006/main" id="49" idx="2"/>
            <a:endCxn xmlns:a="http://schemas.openxmlformats.org/drawingml/2006/main" id="50" idx="0"/>
          </p:cNvCxnSpPr>
          <p:nvPr/>
        </p:nvCxnSpPr>
        <p:spPr>
          <a:xfrm xmlns:a="http://schemas.openxmlformats.org/drawingml/2006/main">
            <a:off x="8477251" y="5148263"/>
            <a:ext cx="0" cy="1114425"/>
          </a:xfrm>
          <a:prstGeom xmlns:a="http://schemas.openxmlformats.org/drawingml/2006/main" prst="straightConnector1">
            <a:avLst/>
          </a:prstGeom>
          <a:ln xmlns:a="http://schemas.openxmlformats.org/drawingml/2006/main" w="20955">
            <a:solidFill>
              <a:srgbClr val="202A34"/>
            </a:solidFill>
            <a:prstDash val="solid"/>
          </a:ln>
        </p:spPr>
      </p:cxnSp>
      <p:cxnSp>
        <p:nvCxnSpPr>
          <p:cNvPr id="117" name=""/>
          <p:cNvCxnSpPr>
            <a:stCxn xmlns:a="http://schemas.openxmlformats.org/drawingml/2006/main" id="50" idx="1"/>
            <a:endCxn xmlns:a="http://schemas.openxmlformats.org/drawingml/2006/main" id="51" idx="3"/>
          </p:cNvCxnSpPr>
          <p:nvPr/>
        </p:nvCxnSpPr>
        <p:spPr>
          <a:xfrm xmlns:a="http://schemas.openxmlformats.org/drawingml/2006/main" flipH="1">
            <a:off x="6148388" y="6267451"/>
            <a:ext cx="2324100" cy="0"/>
          </a:xfrm>
          <a:prstGeom xmlns:a="http://schemas.openxmlformats.org/drawingml/2006/main" prst="straightConnector1">
            <a:avLst/>
          </a:prstGeom>
          <a:ln xmlns:a="http://schemas.openxmlformats.org/drawingml/2006/main" w="20955">
            <a:solidFill>
              <a:srgbClr val="202A34"/>
            </a:solidFill>
            <a:prstDash val="solid"/>
          </a:ln>
        </p:spPr>
      </p:cxnSp>
      <p:cxnSp>
        <p:nvCxnSpPr>
          <p:cNvPr id="118" name=""/>
          <p:cNvCxnSpPr>
            <a:stCxn xmlns:a="http://schemas.openxmlformats.org/drawingml/2006/main" id="51" idx="2"/>
            <a:endCxn xmlns:a="http://schemas.openxmlformats.org/drawingml/2006/main" id="52" idx="0"/>
          </p:cNvCxnSpPr>
          <p:nvPr/>
        </p:nvCxnSpPr>
        <p:spPr>
          <a:xfrm xmlns:a="http://schemas.openxmlformats.org/drawingml/2006/main">
            <a:off x="6143626" y="6272213"/>
            <a:ext cx="0" cy="390525"/>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cxnSp>
        <p:nvCxnSpPr>
          <p:cNvPr id="119" name=""/>
          <p:cNvCxnSpPr>
            <a:stCxn xmlns:a="http://schemas.openxmlformats.org/drawingml/2006/main" id="10" idx="3"/>
            <a:endCxn xmlns:a="http://schemas.openxmlformats.org/drawingml/2006/main" id="11" idx="1"/>
          </p:cNvCxnSpPr>
          <p:nvPr/>
        </p:nvCxnSpPr>
        <p:spPr>
          <a:xfrm xmlns:a="http://schemas.openxmlformats.org/drawingml/2006/main">
            <a:off x="7953375" y="7162800"/>
            <a:ext cx="1857375" cy="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sp>
        <p:nvSpPr>
          <p:cNvPr id="58" name="Tissue">
            <a:extLst xmlns:a="http://schemas.openxmlformats.org/drawingml/2006/main">
              <a:ext uri="{FF2B5EF4-FFF2-40B4-BE49-F238E27FC236}">
                <a16:creationId xmlns:a16="http://schemas.microsoft.com/office/drawing/2014/main" id="{D0D98325-BA39-455F-B368-92904921789A}"/>
              </a:ext>
            </a:extLst>
          </p:cNvPr>
          <p:cNvSpPr>
            <a:spLocks xmlns:a="http://schemas.openxmlformats.org/drawingml/2006/main" noGrp="1"/>
          </p:cNvSpPr>
          <p:nvPr/>
        </p:nvSpPr>
        <p:spPr>
          <a:xfrm xmlns:a="http://schemas.openxmlformats.org/drawingml/2006/main">
            <a:off x="7905750" y="1905000"/>
            <a:ext cx="114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1">
                <a:solidFill>
                  <a:srgbClr val="202A34"/>
                </a:solidFill>
                <a:latin typeface="Carlito"/>
                <a:ea typeface="Carlito"/>
                <a:cs typeface="Carlito"/>
              </a:defRPr>
            </a:pPr>
            <a:r>
              <a:rPr sz="1650" b="1">
                <a:solidFill>
                  <a:srgbClr val="202A34"/>
                </a:solidFill>
                <a:latin typeface="Carlito"/>
                <a:ea typeface="Carlito"/>
                <a:cs typeface="Carlito"/>
              </a:rPr>
              <a:t>Tissue</a:t>
            </a:r>
          </a:p>
        </p:txBody>
      </p:sp>
      <p:sp>
        <p:nvSpPr>
          <p:cNvPr id="59" name="Non-tissue">
            <a:extLst xmlns:a="http://schemas.openxmlformats.org/drawingml/2006/main">
              <a:ext uri="{FF2B5EF4-FFF2-40B4-BE49-F238E27FC236}">
                <a16:creationId xmlns:a16="http://schemas.microsoft.com/office/drawing/2014/main" id="{6246A808-A6BF-4951-B0B6-CE90BB5038DF}"/>
              </a:ext>
            </a:extLst>
          </p:cNvPr>
          <p:cNvSpPr>
            <a:spLocks xmlns:a="http://schemas.openxmlformats.org/drawingml/2006/main" noGrp="1"/>
          </p:cNvSpPr>
          <p:nvPr/>
        </p:nvSpPr>
        <p:spPr>
          <a:xfrm xmlns:a="http://schemas.openxmlformats.org/drawingml/2006/main">
            <a:off x="6429375" y="4448175"/>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1">
                <a:solidFill>
                  <a:srgbClr val="202A34"/>
                </a:solidFill>
                <a:latin typeface="Carlito"/>
                <a:ea typeface="Carlito"/>
                <a:cs typeface="Carlito"/>
              </a:defRPr>
            </a:pPr>
            <a:r>
              <a:rPr sz="1650" b="1">
                <a:solidFill>
                  <a:srgbClr val="202A34"/>
                </a:solidFill>
                <a:latin typeface="Carlito"/>
                <a:ea typeface="Carlito"/>
                <a:cs typeface="Carlito"/>
              </a:rPr>
              <a:t>Non-tissue</a:t>
            </a:r>
          </a:p>
        </p:txBody>
      </p:sp>
      <p:sp>
        <p:nvSpPr>
          <p:cNvPr id="60" name="Personnel gate&#10;≥95% first-pass yield&#10;≥2 consecutive harvest days&#10;">
            <a:extLst xmlns:a="http://schemas.openxmlformats.org/drawingml/2006/main">
              <a:ext uri="{FF2B5EF4-FFF2-40B4-BE49-F238E27FC236}">
                <a16:creationId xmlns:a16="http://schemas.microsoft.com/office/drawing/2014/main" id="{5943ED42-85E8-4295-BDCB-FAF320B02795}"/>
              </a:ext>
            </a:extLst>
          </p:cNvPr>
          <p:cNvSpPr>
            <a:spLocks xmlns:a="http://schemas.openxmlformats.org/drawingml/2006/main" noGrp="1"/>
          </p:cNvSpPr>
          <p:nvPr/>
        </p:nvSpPr>
        <p:spPr>
          <a:xfrm xmlns:a="http://schemas.openxmlformats.org/drawingml/2006/main">
            <a:off x="9191625" y="3171825"/>
            <a:ext cx="5048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202A34"/>
                </a:solidFill>
                <a:latin typeface="Carlito"/>
                <a:ea typeface="Carlito"/>
                <a:cs typeface="Carlito"/>
              </a:defRPr>
            </a:pPr>
            <a:r>
              <a:rPr sz="1725" b="0">
                <a:solidFill>
                  <a:srgbClr val="202A34"/>
                </a:solidFill>
                <a:latin typeface="Carlito"/>
                <a:ea typeface="Carlito"/>
                <a:cs typeface="Carlito"/>
              </a:rPr>
              <a:t>Personnel gate</a:t>
            </a:r>
          </a:p>
          <a:p xmlns:a="http://schemas.openxmlformats.org/drawingml/2006/main">
            <a:pPr algn="l">
              <a:defRPr sz="1725" b="0">
                <a:solidFill>
                  <a:srgbClr val="202A34"/>
                </a:solidFill>
                <a:latin typeface="Carlito"/>
                <a:ea typeface="Carlito"/>
                <a:cs typeface="Carlito"/>
              </a:defRPr>
            </a:pPr>
            <a:r>
              <a:rPr sz="1725" b="0">
                <a:solidFill>
                  <a:srgbClr val="202A34"/>
                </a:solidFill>
                <a:latin typeface="Carlito"/>
                <a:ea typeface="Carlito"/>
                <a:cs typeface="Carlito"/>
              </a:rPr>
              <a:t>≥95% first-pass yield</a:t>
            </a:r>
          </a:p>
          <a:p xmlns:a="http://schemas.openxmlformats.org/drawingml/2006/main">
            <a:pPr algn="l">
              <a:defRPr sz="1725" b="0">
                <a:solidFill>
                  <a:srgbClr val="202A34"/>
                </a:solidFill>
                <a:latin typeface="Carlito"/>
                <a:ea typeface="Carlito"/>
                <a:cs typeface="Carlito"/>
              </a:defRPr>
            </a:pPr>
            <a:r>
              <a:rPr sz="1725" b="0">
                <a:solidFill>
                  <a:srgbClr val="202A34"/>
                </a:solidFill>
                <a:latin typeface="Carlito"/>
                <a:ea typeface="Carlito"/>
                <a:cs typeface="Carlito"/>
              </a:rPr>
              <a:t>≥2 consecutive harvest days</a:t>
            </a:r>
          </a:p>
          <a:p xmlns:a="http://schemas.openxmlformats.org/drawingml/2006/main">
            <a:pPr algn="l">
              <a:defRPr sz="1725" b="0">
                <a:solidFill>
                  <a:srgbClr val="202A34"/>
                </a:solidFill>
                <a:latin typeface="Carlito"/>
                <a:ea typeface="Carlito"/>
                <a:cs typeface="Carlito"/>
              </a:defRPr>
            </a:pPr>
            <a:r>
              <a:rPr sz="1725" b="0">
                <a:solidFill>
                  <a:srgbClr val="202A34"/>
                </a:solidFill>
                <a:latin typeface="Carlito"/>
                <a:ea typeface="Carlito"/>
                <a:cs typeface="Carlito"/>
              </a:rPr>
              <a:t>≥30 inspected units per person/task/family</a:t>
            </a:r>
          </a:p>
        </p:txBody>
      </p:sp>
      <p:sp>
        <p:nvSpPr>
          <p:cNvPr id="61" name="Tissue part gate&#10;Every qualification lot ≥95% first-pass yield&#10;Lo">
            <a:extLst xmlns:a="http://schemas.openxmlformats.org/drawingml/2006/main">
              <a:ext uri="{FF2B5EF4-FFF2-40B4-BE49-F238E27FC236}">
                <a16:creationId xmlns:a16="http://schemas.microsoft.com/office/drawing/2014/main" id="{EA5AC2C4-2889-4815-90DB-71EB7016548A}"/>
              </a:ext>
            </a:extLst>
          </p:cNvPr>
          <p:cNvSpPr>
            <a:spLocks xmlns:a="http://schemas.openxmlformats.org/drawingml/2006/main" noGrp="1"/>
          </p:cNvSpPr>
          <p:nvPr/>
        </p:nvSpPr>
        <p:spPr>
          <a:xfrm xmlns:a="http://schemas.openxmlformats.org/drawingml/2006/main">
            <a:off x="9001125" y="5619750"/>
            <a:ext cx="547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202A34"/>
                </a:solidFill>
                <a:latin typeface="Carlito"/>
                <a:ea typeface="Carlito"/>
                <a:cs typeface="Carlito"/>
              </a:defRPr>
            </a:pPr>
            <a:r>
              <a:rPr sz="1725" b="0">
                <a:solidFill>
                  <a:srgbClr val="202A34"/>
                </a:solidFill>
                <a:latin typeface="Carlito"/>
                <a:ea typeface="Carlito"/>
                <a:cs typeface="Carlito"/>
              </a:rPr>
              <a:t>Tissue part gate</a:t>
            </a:r>
          </a:p>
          <a:p xmlns:a="http://schemas.openxmlformats.org/drawingml/2006/main">
            <a:pPr algn="l">
              <a:defRPr sz="1725" b="0">
                <a:solidFill>
                  <a:srgbClr val="202A34"/>
                </a:solidFill>
                <a:latin typeface="Carlito"/>
                <a:ea typeface="Carlito"/>
                <a:cs typeface="Carlito"/>
              </a:defRPr>
            </a:pPr>
            <a:r>
              <a:rPr sz="1725" b="0">
                <a:solidFill>
                  <a:srgbClr val="202A34"/>
                </a:solidFill>
                <a:latin typeface="Carlito"/>
                <a:ea typeface="Carlito"/>
                <a:cs typeface="Carlito"/>
              </a:rPr>
              <a:t>Every qualification lot ≥95% first-pass yield</a:t>
            </a:r>
          </a:p>
          <a:p xmlns:a="http://schemas.openxmlformats.org/drawingml/2006/main">
            <a:pPr algn="l">
              <a:defRPr sz="1725" b="0">
                <a:solidFill>
                  <a:srgbClr val="202A34"/>
                </a:solidFill>
                <a:latin typeface="Carlito"/>
                <a:ea typeface="Carlito"/>
                <a:cs typeface="Carlito"/>
              </a:defRPr>
            </a:pPr>
            <a:r>
              <a:rPr sz="1725" b="0">
                <a:solidFill>
                  <a:srgbClr val="202A34"/>
                </a:solidFill>
                <a:latin typeface="Carlito"/>
                <a:ea typeface="Carlito"/>
                <a:cs typeface="Carlito"/>
              </a:rPr>
              <a:t>Lot count requires approval before execution</a:t>
            </a:r>
          </a:p>
        </p:txBody>
      </p:sp>
      <p:sp>
        <p:nvSpPr>
          <p:cNvPr id="62" name="All existing documents remain separate.&#10;Blue = local document   G">
            <a:extLst xmlns:a="http://schemas.openxmlformats.org/drawingml/2006/main">
              <a:ext uri="{FF2B5EF4-FFF2-40B4-BE49-F238E27FC236}">
                <a16:creationId xmlns:a16="http://schemas.microsoft.com/office/drawing/2014/main" id="{C340F4F9-1DA3-4A55-AFE4-34D9CE65F1A9}"/>
              </a:ext>
            </a:extLst>
          </p:cNvPr>
          <p:cNvSpPr>
            <a:spLocks xmlns:a="http://schemas.openxmlformats.org/drawingml/2006/main" noGrp="1"/>
          </p:cNvSpPr>
          <p:nvPr/>
        </p:nvSpPr>
        <p:spPr>
          <a:xfrm xmlns:a="http://schemas.openxmlformats.org/drawingml/2006/main">
            <a:off x="571500" y="6810375"/>
            <a:ext cx="34766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202A34"/>
                </a:solidFill>
                <a:latin typeface="Carlito"/>
                <a:ea typeface="Carlito"/>
                <a:cs typeface="Carlito"/>
              </a:defRPr>
            </a:pPr>
            <a:r>
              <a:rPr sz="1650" b="0">
                <a:solidFill>
                  <a:srgbClr val="202A34"/>
                </a:solidFill>
                <a:latin typeface="Carlito"/>
                <a:ea typeface="Carlito"/>
                <a:cs typeface="Carlito"/>
              </a:rPr>
              <a:t>All existing documents remain separate.</a:t>
            </a:r>
          </a:p>
          <a:p xmlns:a="http://schemas.openxmlformats.org/drawingml/2006/main">
            <a:pPr algn="l">
              <a:defRPr sz="1650" b="0">
                <a:solidFill>
                  <a:srgbClr val="202A34"/>
                </a:solidFill>
                <a:latin typeface="Carlito"/>
                <a:ea typeface="Carlito"/>
                <a:cs typeface="Carlito"/>
              </a:defRPr>
            </a:pPr>
            <a:r>
              <a:rPr sz="1650" b="0">
                <a:solidFill>
                  <a:srgbClr val="202A34"/>
                </a:solidFill>
                <a:latin typeface="Carlito"/>
                <a:ea typeface="Carlito"/>
                <a:cs typeface="Carlito"/>
              </a:rPr>
              <a:t>Blue = local document   Green = new training procedure</a:t>
            </a:r>
          </a:p>
        </p:txBody>
      </p:sp>
    </p:spTree>
    <p:extLst>
      <p:ext uri="{BB962C8B-B14F-4D97-AF65-F5344CB8AC3E}">
        <p14:creationId xmlns:p14="http://schemas.microsoft.com/office/powerpoint/2010/main" val="15878874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To-be qualification document map">
            <a:extLst xmlns:a="http://schemas.openxmlformats.org/drawingml/2006/main">
              <a:ext uri="{FF2B5EF4-FFF2-40B4-BE49-F238E27FC236}">
                <a16:creationId xmlns:a16="http://schemas.microsoft.com/office/drawing/2014/main" id="{54248065-CC21-42FC-95C6-4151F29A41AB}"/>
              </a:ext>
            </a:extLst>
          </p:cNvPr>
          <p:cNvSpPr>
            <a:spLocks xmlns:a="http://schemas.openxmlformats.org/drawingml/2006/main" noGrp="1"/>
          </p:cNvSpPr>
          <p:nvPr/>
        </p:nvSpPr>
        <p:spPr>
          <a:xfrm xmlns:a="http://schemas.openxmlformats.org/drawingml/2006/main">
            <a:off x="523875" y="304800"/>
            <a:ext cx="1419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225" b="1">
                <a:solidFill>
                  <a:srgbClr val="202A34"/>
                </a:solidFill>
                <a:latin typeface="Carlito"/>
                <a:ea typeface="Carlito"/>
                <a:cs typeface="Carlito"/>
              </a:defRPr>
            </a:pPr>
            <a:r>
              <a:rPr sz="3225" b="1">
                <a:solidFill>
                  <a:srgbClr val="202A34"/>
                </a:solidFill>
                <a:latin typeface="Carlito"/>
                <a:ea typeface="Carlito"/>
                <a:cs typeface="Carlito"/>
              </a:rPr>
              <a:t>To-be qualification document map</a:t>
            </a:r>
          </a:p>
        </p:txBody>
      </p:sp>
      <p:sp>
        <p:nvSpPr>
          <p:cNvPr id="2" name="Corporate references remain amber; local qualification documents ">
            <a:extLst xmlns:a="http://schemas.openxmlformats.org/drawingml/2006/main">
              <a:ext uri="{FF2B5EF4-FFF2-40B4-BE49-F238E27FC236}">
                <a16:creationId xmlns:a16="http://schemas.microsoft.com/office/drawing/2014/main" id="{14368639-EE63-41FA-B11B-9BC844A55B75}"/>
              </a:ext>
            </a:extLst>
          </p:cNvPr>
          <p:cNvSpPr>
            <a:spLocks xmlns:a="http://schemas.openxmlformats.org/drawingml/2006/main" noGrp="1"/>
          </p:cNvSpPr>
          <p:nvPr/>
        </p:nvSpPr>
        <p:spPr>
          <a:xfrm xmlns:a="http://schemas.openxmlformats.org/drawingml/2006/main">
            <a:off x="523875" y="962025"/>
            <a:ext cx="1419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202A34"/>
                </a:solidFill>
                <a:latin typeface="Carlito"/>
                <a:ea typeface="Carlito"/>
                <a:cs typeface="Carlito"/>
              </a:defRPr>
            </a:pPr>
            <a:r>
              <a:rPr sz="1800" b="0">
                <a:solidFill>
                  <a:srgbClr val="202A34"/>
                </a:solidFill>
                <a:latin typeface="Carlito"/>
                <a:ea typeface="Carlito"/>
                <a:cs typeface="Carlito"/>
              </a:rPr>
              <a:t>Corporate references remain amber; local qualification documents remain blue</a:t>
            </a:r>
          </a:p>
        </p:txBody>
      </p:sp>
      <p:sp>
        <p:nvSpPr>
          <p:cNvPr id="3" name="Review draft  •  17 September 2026     /     3">
            <a:extLst xmlns:a="http://schemas.openxmlformats.org/drawingml/2006/main">
              <a:ext uri="{FF2B5EF4-FFF2-40B4-BE49-F238E27FC236}">
                <a16:creationId xmlns:a16="http://schemas.microsoft.com/office/drawing/2014/main" id="{9044F6F5-C784-4361-8F36-FC2629ADB584}"/>
              </a:ext>
            </a:extLst>
          </p:cNvPr>
          <p:cNvSpPr>
            <a:spLocks xmlns:a="http://schemas.openxmlformats.org/drawingml/2006/main" noGrp="1"/>
          </p:cNvSpPr>
          <p:nvPr/>
        </p:nvSpPr>
        <p:spPr>
          <a:xfrm xmlns:a="http://schemas.openxmlformats.org/drawingml/2006/main">
            <a:off x="523875" y="8229600"/>
            <a:ext cx="1419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06C"/>
                </a:solidFill>
                <a:latin typeface="Carlito"/>
                <a:ea typeface="Carlito"/>
                <a:cs typeface="Carlito"/>
              </a:defRPr>
            </a:pPr>
            <a:r>
              <a:rPr sz="1275" b="0">
                <a:solidFill>
                  <a:srgbClr val="52606C"/>
                </a:solidFill>
                <a:latin typeface="Carlito"/>
                <a:ea typeface="Carlito"/>
                <a:cs typeface="Carlito"/>
              </a:rPr>
              <a:t>Review draft  •  17 September 2026     /     3</a:t>
            </a:r>
          </a:p>
        </p:txBody>
      </p:sp>
      <p:sp>
        <p:nvSpPr>
          <p:cNvPr id="4" name="668XXX SOP,COMPONENT&#10;QUALIFICATION,ATM&#10;&#10;REF: DOP,PPQP 1003684&#10;Pil">
            <a:extLst xmlns:a="http://schemas.openxmlformats.org/drawingml/2006/main">
              <a:ext uri="{FF2B5EF4-FFF2-40B4-BE49-F238E27FC236}">
                <a16:creationId xmlns:a16="http://schemas.microsoft.com/office/drawing/2014/main" id="{216C4312-520B-44CA-BB4A-BF5AFA06E528}"/>
              </a:ext>
            </a:extLst>
          </p:cNvPr>
          <p:cNvSpPr>
            <a:spLocks xmlns:a="http://schemas.openxmlformats.org/drawingml/2006/main" noGrp="1"/>
          </p:cNvSpPr>
          <p:nvPr/>
        </p:nvSpPr>
        <p:spPr>
          <a:xfrm xmlns:a="http://schemas.openxmlformats.org/drawingml/2006/main">
            <a:off x="523875" y="1714500"/>
            <a:ext cx="4238625" cy="1905000"/>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668XXX SOP,COMPONENT</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QUALIFICATION,ATM</a:t>
            </a:r>
          </a:p>
          <a:p xmlns:a="http://schemas.openxmlformats.org/drawingml/2006/main">
            <a:r>
              <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REF: DOP,PPQP 1003684</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Pilot PPQP quick reference guide</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non-prime parts</a:t>
            </a:r>
          </a:p>
        </p:txBody>
      </p:sp>
      <p:sp>
        <p:nvSpPr>
          <p:cNvPr id="5" name="668XXX FORM,COMPONENT&#10;QUALIFICATION,CHECKLIST,ATM&#10;&#10;REF: FORM,PPQP">
            <a:extLst xmlns:a="http://schemas.openxmlformats.org/drawingml/2006/main">
              <a:ext uri="{FF2B5EF4-FFF2-40B4-BE49-F238E27FC236}">
                <a16:creationId xmlns:a16="http://schemas.microsoft.com/office/drawing/2014/main" id="{324C71DD-BBC8-4DD3-AD70-6BCD01E7401B}"/>
              </a:ext>
            </a:extLst>
          </p:cNvPr>
          <p:cNvSpPr>
            <a:spLocks xmlns:a="http://schemas.openxmlformats.org/drawingml/2006/main" noGrp="1"/>
          </p:cNvSpPr>
          <p:nvPr/>
        </p:nvSpPr>
        <p:spPr>
          <a:xfrm xmlns:a="http://schemas.openxmlformats.org/drawingml/2006/main">
            <a:off x="523875" y="4438650"/>
            <a:ext cx="4238625" cy="1485900"/>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668XXX FORM,COMPONENT</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QUALIFICATION,CHECKLIST,ATM</a:t>
            </a:r>
          </a:p>
          <a:p xmlns:a="http://schemas.openxmlformats.org/drawingml/2006/main">
            <a:r>
              <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REF: FORM,PPQP CHECKLIST</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1004112</a:t>
            </a:r>
          </a:p>
        </p:txBody>
      </p:sp>
      <p:sp>
        <p:nvSpPr>
          <p:cNvPr id="6" name="668XXX WI,FAIR,ATM&#10;&#10;REF: DOP,FAIR 854197&#10;FAIR quick reference gui">
            <a:extLst xmlns:a="http://schemas.openxmlformats.org/drawingml/2006/main">
              <a:ext uri="{FF2B5EF4-FFF2-40B4-BE49-F238E27FC236}">
                <a16:creationId xmlns:a16="http://schemas.microsoft.com/office/drawing/2014/main" id="{5D26F57E-B36E-4FEE-9722-6C21B1E74A05}"/>
              </a:ext>
            </a:extLst>
          </p:cNvPr>
          <p:cNvSpPr>
            <a:spLocks xmlns:a="http://schemas.openxmlformats.org/drawingml/2006/main" noGrp="1"/>
          </p:cNvSpPr>
          <p:nvPr/>
        </p:nvSpPr>
        <p:spPr>
          <a:xfrm xmlns:a="http://schemas.openxmlformats.org/drawingml/2006/main">
            <a:off x="5410200" y="4438650"/>
            <a:ext cx="3810000" cy="1485900"/>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668XXX WI,FAIR,ATM</a:t>
            </a:r>
          </a:p>
          <a:p xmlns:a="http://schemas.openxmlformats.org/drawingml/2006/main">
            <a:r>
              <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REF: DOP,FAIR 854197</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FAIR quick reference guide</a:t>
            </a:r>
          </a:p>
        </p:txBody>
      </p:sp>
      <p:sp>
        <p:nvSpPr>
          <p:cNvPr id="7" name="668XXX FORM,FAIR,ATM&#10;REF: FORM,FAIR 800084">
            <a:extLst xmlns:a="http://schemas.openxmlformats.org/drawingml/2006/main">
              <a:ext uri="{FF2B5EF4-FFF2-40B4-BE49-F238E27FC236}">
                <a16:creationId xmlns:a16="http://schemas.microsoft.com/office/drawing/2014/main" id="{1C0944E8-ADD5-4B8B-B9AE-D0D92614F034}"/>
              </a:ext>
            </a:extLst>
          </p:cNvPr>
          <p:cNvSpPr>
            <a:spLocks xmlns:a="http://schemas.openxmlformats.org/drawingml/2006/main" noGrp="1"/>
          </p:cNvSpPr>
          <p:nvPr/>
        </p:nvSpPr>
        <p:spPr>
          <a:xfrm xmlns:a="http://schemas.openxmlformats.org/drawingml/2006/main">
            <a:off x="5410200" y="6600825"/>
            <a:ext cx="3810000" cy="828675"/>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668XXX FORM,FAIR,ATM</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REF: FORM,FAIR 800084</a:t>
            </a:r>
          </a:p>
        </p:txBody>
      </p:sp>
      <p:sp>
        <p:nvSpPr>
          <p:cNvPr id="8" name="1049262 SOP,REGULATED&#10;MATERIALS COMPLIANCE">
            <a:extLst xmlns:a="http://schemas.openxmlformats.org/drawingml/2006/main">
              <a:ext uri="{FF2B5EF4-FFF2-40B4-BE49-F238E27FC236}">
                <a16:creationId xmlns:a16="http://schemas.microsoft.com/office/drawing/2014/main" id="{E1DB6FD1-0372-40C3-82F5-8B0E2ED93186}"/>
              </a:ext>
            </a:extLst>
          </p:cNvPr>
          <p:cNvSpPr>
            <a:spLocks xmlns:a="http://schemas.openxmlformats.org/drawingml/2006/main" noGrp="1"/>
          </p:cNvSpPr>
          <p:nvPr/>
        </p:nvSpPr>
        <p:spPr>
          <a:xfrm xmlns:a="http://schemas.openxmlformats.org/drawingml/2006/main">
            <a:off x="10287000" y="1714500"/>
            <a:ext cx="4429125" cy="809625"/>
          </a:xfrm>
          <a:prstGeom xmlns:a="http://schemas.openxmlformats.org/drawingml/2006/main" prst="rect">
            <a:avLst/>
          </a:prstGeom>
          <a:solidFill xmlns:a="http://schemas.openxmlformats.org/drawingml/2006/main">
            <a:srgbClr val="FFD77D"/>
          </a:solidFill>
          <a:ln xmlns:a="http://schemas.openxmlformats.org/drawingml/2006/main" w="13335">
            <a:solidFill>
              <a:srgbClr val="FFD77D"/>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1049262 SOP,REGULATED</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MATERIALS COMPLIANCE</a:t>
            </a:r>
          </a:p>
        </p:txBody>
      </p:sp>
      <p:sp>
        <p:nvSpPr>
          <p:cNvPr id="9" name="854133 SOP,MATERIALS">
            <a:extLst xmlns:a="http://schemas.openxmlformats.org/drawingml/2006/main">
              <a:ext uri="{FF2B5EF4-FFF2-40B4-BE49-F238E27FC236}">
                <a16:creationId xmlns:a16="http://schemas.microsoft.com/office/drawing/2014/main" id="{67042038-619D-4C41-A75B-CCE397A4D11C}"/>
              </a:ext>
            </a:extLst>
          </p:cNvPr>
          <p:cNvSpPr>
            <a:spLocks xmlns:a="http://schemas.openxmlformats.org/drawingml/2006/main" noGrp="1"/>
          </p:cNvSpPr>
          <p:nvPr/>
        </p:nvSpPr>
        <p:spPr>
          <a:xfrm xmlns:a="http://schemas.openxmlformats.org/drawingml/2006/main">
            <a:off x="10287000" y="2971800"/>
            <a:ext cx="4429125" cy="685800"/>
          </a:xfrm>
          <a:prstGeom xmlns:a="http://schemas.openxmlformats.org/drawingml/2006/main" prst="rect">
            <a:avLst/>
          </a:prstGeom>
          <a:solidFill xmlns:a="http://schemas.openxmlformats.org/drawingml/2006/main">
            <a:srgbClr val="FFD77D"/>
          </a:solidFill>
          <a:ln xmlns:a="http://schemas.openxmlformats.org/drawingml/2006/main" w="13335">
            <a:solidFill>
              <a:srgbClr val="FFD77D"/>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854133 SOP,MATERIALS</a:t>
            </a:r>
          </a:p>
        </p:txBody>
      </p:sp>
      <p:sp>
        <p:nvSpPr>
          <p:cNvPr id="10" name="853313 SOP,ENVIRONMENTAL&#10;COMPLIANCE SYSTEMS (ROHS)">
            <a:extLst xmlns:a="http://schemas.openxmlformats.org/drawingml/2006/main">
              <a:ext uri="{FF2B5EF4-FFF2-40B4-BE49-F238E27FC236}">
                <a16:creationId xmlns:a16="http://schemas.microsoft.com/office/drawing/2014/main" id="{D47C7AE1-56A8-466F-9206-AFE4A3DC8B9F}"/>
              </a:ext>
            </a:extLst>
          </p:cNvPr>
          <p:cNvSpPr>
            <a:spLocks xmlns:a="http://schemas.openxmlformats.org/drawingml/2006/main" noGrp="1"/>
          </p:cNvSpPr>
          <p:nvPr/>
        </p:nvSpPr>
        <p:spPr>
          <a:xfrm xmlns:a="http://schemas.openxmlformats.org/drawingml/2006/main">
            <a:off x="10287000" y="4105275"/>
            <a:ext cx="4429125" cy="866775"/>
          </a:xfrm>
          <a:prstGeom xmlns:a="http://schemas.openxmlformats.org/drawingml/2006/main" prst="rect">
            <a:avLst/>
          </a:prstGeom>
          <a:solidFill xmlns:a="http://schemas.openxmlformats.org/drawingml/2006/main">
            <a:srgbClr val="FFD77D"/>
          </a:solidFill>
          <a:ln xmlns:a="http://schemas.openxmlformats.org/drawingml/2006/main" w="13335">
            <a:solidFill>
              <a:srgbClr val="FFD77D"/>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853313 SOP,ENVIRONMENTAL</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COMPLIANCE SYSTEMS (ROHS)</a:t>
            </a:r>
          </a:p>
        </p:txBody>
      </p:sp>
      <p:sp>
        <p:nvSpPr>
          <p:cNvPr id="11" name="1009008 WI,ROHS&#10;DOCUMENTATION FOR MATERIALS,&#10;PARTS, AND SUB-ASSEM">
            <a:extLst xmlns:a="http://schemas.openxmlformats.org/drawingml/2006/main">
              <a:ext uri="{FF2B5EF4-FFF2-40B4-BE49-F238E27FC236}">
                <a16:creationId xmlns:a16="http://schemas.microsoft.com/office/drawing/2014/main" id="{8C648F0E-CE70-4980-8FD7-C29A3C391D24}"/>
              </a:ext>
            </a:extLst>
          </p:cNvPr>
          <p:cNvSpPr>
            <a:spLocks xmlns:a="http://schemas.openxmlformats.org/drawingml/2006/main" noGrp="1"/>
          </p:cNvSpPr>
          <p:nvPr/>
        </p:nvSpPr>
        <p:spPr>
          <a:xfrm xmlns:a="http://schemas.openxmlformats.org/drawingml/2006/main">
            <a:off x="10287000" y="5543550"/>
            <a:ext cx="4429125" cy="1076325"/>
          </a:xfrm>
          <a:prstGeom xmlns:a="http://schemas.openxmlformats.org/drawingml/2006/main" prst="rect">
            <a:avLst/>
          </a:prstGeom>
          <a:solidFill xmlns:a="http://schemas.openxmlformats.org/drawingml/2006/main">
            <a:srgbClr val="FFD77D"/>
          </a:solidFill>
          <a:ln xmlns:a="http://schemas.openxmlformats.org/drawingml/2006/main" w="13335">
            <a:solidFill>
              <a:srgbClr val="FFD77D"/>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1009008 WI,ROHS</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DOCUMENTATION FOR MATERIALS,</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PARTS, AND SUB-ASSEMBLIES</a:t>
            </a:r>
          </a:p>
        </p:txBody>
      </p:sp>
      <p:cxnSp>
        <p:nvCxnSpPr>
          <p:cNvPr id="56" name=""/>
          <p:cNvCxnSpPr>
            <a:stCxn xmlns:a="http://schemas.openxmlformats.org/drawingml/2006/main" id="4" idx="2"/>
            <a:endCxn xmlns:a="http://schemas.openxmlformats.org/drawingml/2006/main" id="5" idx="0"/>
          </p:cNvCxnSpPr>
          <p:nvPr/>
        </p:nvCxnSpPr>
        <p:spPr>
          <a:xfrm xmlns:a="http://schemas.openxmlformats.org/drawingml/2006/main">
            <a:off x="2643188" y="3619500"/>
            <a:ext cx="0" cy="81915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sp>
        <p:nvSpPr>
          <p:cNvPr id="13" name="">
            <a:extLst xmlns:a="http://schemas.openxmlformats.org/drawingml/2006/main">
              <a:ext uri="{FF2B5EF4-FFF2-40B4-BE49-F238E27FC236}">
                <a16:creationId xmlns:a16="http://schemas.microsoft.com/office/drawing/2014/main" id="{0EF051EC-B1C6-445D-BFC4-FE297FEF729A}"/>
              </a:ext>
            </a:extLst>
          </p:cNvPr>
          <p:cNvSpPr>
            <a:spLocks xmlns:a="http://schemas.openxmlformats.org/drawingml/2006/main" noGrp="1"/>
          </p:cNvSpPr>
          <p:nvPr/>
        </p:nvSpPr>
        <p:spPr>
          <a:xfrm xmlns:a="http://schemas.openxmlformats.org/drawingml/2006/main">
            <a:off x="2633663" y="3614738"/>
            <a:ext cx="9525" cy="9525"/>
          </a:xfrm>
          <a:prstGeom xmlns:a="http://schemas.openxmlformats.org/drawingml/2006/main" prst="rect">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3DF8912-B8BD-4C64-9E0B-837D28D5AE34}"/>
              </a:ext>
            </a:extLst>
          </p:cNvPr>
          <p:cNvSpPr>
            <a:spLocks xmlns:a="http://schemas.openxmlformats.org/drawingml/2006/main" noGrp="1"/>
          </p:cNvSpPr>
          <p:nvPr/>
        </p:nvSpPr>
        <p:spPr>
          <a:xfrm xmlns:a="http://schemas.openxmlformats.org/drawingml/2006/main">
            <a:off x="2633663" y="4014788"/>
            <a:ext cx="9525" cy="9525"/>
          </a:xfrm>
          <a:prstGeom xmlns:a="http://schemas.openxmlformats.org/drawingml/2006/main" prst="rect">
            <a:avLst/>
          </a:prstGeom>
          <a:noFill xmlns:a="http://schemas.openxmlformats.org/drawingml/2006/main"/>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CA6AF24-58F0-4379-855C-1EB91ABACA8E}"/>
              </a:ext>
            </a:extLst>
          </p:cNvPr>
          <p:cNvSpPr>
            <a:spLocks xmlns:a="http://schemas.openxmlformats.org/drawingml/2006/main" noGrp="1"/>
          </p:cNvSpPr>
          <p:nvPr/>
        </p:nvSpPr>
        <p:spPr>
          <a:xfrm xmlns:a="http://schemas.openxmlformats.org/drawingml/2006/main">
            <a:off x="7310438" y="4014788"/>
            <a:ext cx="9525" cy="9525"/>
          </a:xfrm>
          <a:prstGeom xmlns:a="http://schemas.openxmlformats.org/drawingml/2006/main" prst="rect">
            <a:avLst/>
          </a:prstGeom>
          <a:noFill xmlns:a="http://schemas.openxmlformats.org/drawingml/2006/main"/>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8D9291D-B3D8-4B50-A7F9-7CF5BD254951}"/>
              </a:ext>
            </a:extLst>
          </p:cNvPr>
          <p:cNvSpPr>
            <a:spLocks xmlns:a="http://schemas.openxmlformats.org/drawingml/2006/main" noGrp="1"/>
          </p:cNvSpPr>
          <p:nvPr/>
        </p:nvSpPr>
        <p:spPr>
          <a:xfrm xmlns:a="http://schemas.openxmlformats.org/drawingml/2006/main">
            <a:off x="7310438" y="44338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1" name=""/>
          <p:cNvCxnSpPr>
            <a:stCxn xmlns:a="http://schemas.openxmlformats.org/drawingml/2006/main" id="13" idx="2"/>
            <a:endCxn xmlns:a="http://schemas.openxmlformats.org/drawingml/2006/main" id="14" idx="0"/>
          </p:cNvCxnSpPr>
          <p:nvPr/>
        </p:nvCxnSpPr>
        <p:spPr>
          <a:xfrm xmlns:a="http://schemas.openxmlformats.org/drawingml/2006/main">
            <a:off x="2638426" y="3624263"/>
            <a:ext cx="0" cy="390525"/>
          </a:xfrm>
          <a:prstGeom xmlns:a="http://schemas.openxmlformats.org/drawingml/2006/main" prst="straightConnector1">
            <a:avLst/>
          </a:prstGeom>
          <a:ln xmlns:a="http://schemas.openxmlformats.org/drawingml/2006/main" w="20955">
            <a:solidFill>
              <a:srgbClr val="202A34"/>
            </a:solidFill>
            <a:prstDash val="solid"/>
          </a:ln>
        </p:spPr>
      </p:cxnSp>
      <p:cxnSp>
        <p:nvCxnSpPr>
          <p:cNvPr id="62" name=""/>
          <p:cNvCxnSpPr>
            <a:stCxn xmlns:a="http://schemas.openxmlformats.org/drawingml/2006/main" id="14" idx="3"/>
            <a:endCxn xmlns:a="http://schemas.openxmlformats.org/drawingml/2006/main" id="15" idx="1"/>
          </p:cNvCxnSpPr>
          <p:nvPr/>
        </p:nvCxnSpPr>
        <p:spPr>
          <a:xfrm xmlns:a="http://schemas.openxmlformats.org/drawingml/2006/main">
            <a:off x="2643188" y="4019551"/>
            <a:ext cx="4667250" cy="0"/>
          </a:xfrm>
          <a:prstGeom xmlns:a="http://schemas.openxmlformats.org/drawingml/2006/main" prst="straightConnector1">
            <a:avLst/>
          </a:prstGeom>
          <a:ln xmlns:a="http://schemas.openxmlformats.org/drawingml/2006/main" w="20955">
            <a:solidFill>
              <a:srgbClr val="202A34"/>
            </a:solidFill>
            <a:prstDash val="solid"/>
          </a:ln>
        </p:spPr>
      </p:cxnSp>
      <p:cxnSp>
        <p:nvCxnSpPr>
          <p:cNvPr id="63" name=""/>
          <p:cNvCxnSpPr>
            <a:stCxn xmlns:a="http://schemas.openxmlformats.org/drawingml/2006/main" id="15" idx="2"/>
            <a:endCxn xmlns:a="http://schemas.openxmlformats.org/drawingml/2006/main" id="16" idx="0"/>
          </p:cNvCxnSpPr>
          <p:nvPr/>
        </p:nvCxnSpPr>
        <p:spPr>
          <a:xfrm xmlns:a="http://schemas.openxmlformats.org/drawingml/2006/main">
            <a:off x="7315201" y="4024313"/>
            <a:ext cx="0" cy="409575"/>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cxnSp>
        <p:nvCxnSpPr>
          <p:cNvPr id="64" name=""/>
          <p:cNvCxnSpPr>
            <a:stCxn xmlns:a="http://schemas.openxmlformats.org/drawingml/2006/main" id="6" idx="2"/>
            <a:endCxn xmlns:a="http://schemas.openxmlformats.org/drawingml/2006/main" id="7" idx="0"/>
          </p:cNvCxnSpPr>
          <p:nvPr/>
        </p:nvCxnSpPr>
        <p:spPr>
          <a:xfrm xmlns:a="http://schemas.openxmlformats.org/drawingml/2006/main">
            <a:off x="7315200" y="5924550"/>
            <a:ext cx="0" cy="676275"/>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cxnSp>
        <p:nvCxnSpPr>
          <p:cNvPr id="65" name=""/>
          <p:cNvCxnSpPr>
            <a:stCxn xmlns:a="http://schemas.openxmlformats.org/drawingml/2006/main" id="10" idx="2"/>
            <a:endCxn xmlns:a="http://schemas.openxmlformats.org/drawingml/2006/main" id="11" idx="0"/>
          </p:cNvCxnSpPr>
          <p:nvPr/>
        </p:nvCxnSpPr>
        <p:spPr>
          <a:xfrm xmlns:a="http://schemas.openxmlformats.org/drawingml/2006/main">
            <a:off x="12501563" y="4972050"/>
            <a:ext cx="0" cy="57150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sp>
        <p:nvSpPr>
          <p:cNvPr id="22" name="">
            <a:extLst xmlns:a="http://schemas.openxmlformats.org/drawingml/2006/main">
              <a:ext uri="{FF2B5EF4-FFF2-40B4-BE49-F238E27FC236}">
                <a16:creationId xmlns:a16="http://schemas.microsoft.com/office/drawing/2014/main" id="{ECAFD53B-BE47-490E-A450-80EAC9F20DE0}"/>
              </a:ext>
            </a:extLst>
          </p:cNvPr>
          <p:cNvSpPr>
            <a:spLocks xmlns:a="http://schemas.openxmlformats.org/drawingml/2006/main" noGrp="1"/>
          </p:cNvSpPr>
          <p:nvPr/>
        </p:nvSpPr>
        <p:spPr>
          <a:xfrm xmlns:a="http://schemas.openxmlformats.org/drawingml/2006/main">
            <a:off x="10282238" y="2109788"/>
            <a:ext cx="9525" cy="9525"/>
          </a:xfrm>
          <a:prstGeom xmlns:a="http://schemas.openxmlformats.org/drawingml/2006/main" prst="rect">
            <a:avLst/>
          </a:prstGeom>
          <a:noFill xmlns:a="http://schemas.openxmlformats.org/drawingml/2006/main"/>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9569110-9198-4B12-BD48-BC77FC764CC3}"/>
              </a:ext>
            </a:extLst>
          </p:cNvPr>
          <p:cNvSpPr>
            <a:spLocks xmlns:a="http://schemas.openxmlformats.org/drawingml/2006/main" noGrp="1"/>
          </p:cNvSpPr>
          <p:nvPr/>
        </p:nvSpPr>
        <p:spPr>
          <a:xfrm xmlns:a="http://schemas.openxmlformats.org/drawingml/2006/main">
            <a:off x="9710738" y="2109788"/>
            <a:ext cx="9525" cy="9525"/>
          </a:xfrm>
          <a:prstGeom xmlns:a="http://schemas.openxmlformats.org/drawingml/2006/main" prst="rect">
            <a:avLst/>
          </a:prstGeom>
          <a:noFill xmlns:a="http://schemas.openxmlformats.org/drawingml/2006/main"/>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8F59232-88D7-4FBB-8B45-49F8542D557A}"/>
              </a:ext>
            </a:extLst>
          </p:cNvPr>
          <p:cNvSpPr>
            <a:spLocks xmlns:a="http://schemas.openxmlformats.org/drawingml/2006/main" noGrp="1"/>
          </p:cNvSpPr>
          <p:nvPr/>
        </p:nvSpPr>
        <p:spPr>
          <a:xfrm xmlns:a="http://schemas.openxmlformats.org/drawingml/2006/main">
            <a:off x="9710738" y="2652713"/>
            <a:ext cx="9525" cy="9525"/>
          </a:xfrm>
          <a:prstGeom xmlns:a="http://schemas.openxmlformats.org/drawingml/2006/main" prst="rect">
            <a:avLst/>
          </a:prstGeom>
          <a:noFill xmlns:a="http://schemas.openxmlformats.org/drawingml/2006/main"/>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5A73D4E-DFF2-4AD1-A7F2-6E34378680AF}"/>
              </a:ext>
            </a:extLst>
          </p:cNvPr>
          <p:cNvSpPr>
            <a:spLocks xmlns:a="http://schemas.openxmlformats.org/drawingml/2006/main" noGrp="1"/>
          </p:cNvSpPr>
          <p:nvPr/>
        </p:nvSpPr>
        <p:spPr>
          <a:xfrm xmlns:a="http://schemas.openxmlformats.org/drawingml/2006/main">
            <a:off x="4757738" y="26527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0" name=""/>
          <p:cNvCxnSpPr>
            <a:stCxn xmlns:a="http://schemas.openxmlformats.org/drawingml/2006/main" id="22" idx="1"/>
            <a:endCxn xmlns:a="http://schemas.openxmlformats.org/drawingml/2006/main" id="23" idx="3"/>
          </p:cNvCxnSpPr>
          <p:nvPr/>
        </p:nvCxnSpPr>
        <p:spPr>
          <a:xfrm xmlns:a="http://schemas.openxmlformats.org/drawingml/2006/main" flipH="1">
            <a:off x="9720263" y="2114551"/>
            <a:ext cx="561975" cy="0"/>
          </a:xfrm>
          <a:prstGeom xmlns:a="http://schemas.openxmlformats.org/drawingml/2006/main" prst="straightConnector1">
            <a:avLst/>
          </a:prstGeom>
          <a:ln xmlns:a="http://schemas.openxmlformats.org/drawingml/2006/main" w="20955">
            <a:solidFill>
              <a:srgbClr val="202A34"/>
            </a:solidFill>
            <a:prstDash val="dash"/>
          </a:ln>
        </p:spPr>
      </p:cxnSp>
      <p:cxnSp>
        <p:nvCxnSpPr>
          <p:cNvPr id="71" name=""/>
          <p:cNvCxnSpPr>
            <a:stCxn xmlns:a="http://schemas.openxmlformats.org/drawingml/2006/main" id="23" idx="2"/>
            <a:endCxn xmlns:a="http://schemas.openxmlformats.org/drawingml/2006/main" id="24" idx="0"/>
          </p:cNvCxnSpPr>
          <p:nvPr/>
        </p:nvCxnSpPr>
        <p:spPr>
          <a:xfrm xmlns:a="http://schemas.openxmlformats.org/drawingml/2006/main">
            <a:off x="9715501" y="2119313"/>
            <a:ext cx="0" cy="533400"/>
          </a:xfrm>
          <a:prstGeom xmlns:a="http://schemas.openxmlformats.org/drawingml/2006/main" prst="straightConnector1">
            <a:avLst/>
          </a:prstGeom>
          <a:ln xmlns:a="http://schemas.openxmlformats.org/drawingml/2006/main" w="20955">
            <a:solidFill>
              <a:srgbClr val="202A34"/>
            </a:solidFill>
            <a:prstDash val="dash"/>
          </a:ln>
        </p:spPr>
      </p:cxnSp>
      <p:cxnSp>
        <p:nvCxnSpPr>
          <p:cNvPr id="72" name=""/>
          <p:cNvCxnSpPr>
            <a:stCxn xmlns:a="http://schemas.openxmlformats.org/drawingml/2006/main" id="24" idx="1"/>
            <a:endCxn xmlns:a="http://schemas.openxmlformats.org/drawingml/2006/main" id="25" idx="3"/>
          </p:cNvCxnSpPr>
          <p:nvPr/>
        </p:nvCxnSpPr>
        <p:spPr>
          <a:xfrm xmlns:a="http://schemas.openxmlformats.org/drawingml/2006/main" flipH="1">
            <a:off x="4767263" y="2657476"/>
            <a:ext cx="4943475" cy="0"/>
          </a:xfrm>
          <a:prstGeom xmlns:a="http://schemas.openxmlformats.org/drawingml/2006/main" prst="straightConnector1">
            <a:avLst/>
          </a:prstGeom>
          <a:ln xmlns:a="http://schemas.openxmlformats.org/drawingml/2006/main" w="20955">
            <a:solidFill>
              <a:srgbClr val="202A34"/>
            </a:solidFill>
            <a:prstDash val="dash"/>
            <a:tailEnd type="triangle" w="med" len="med"/>
          </a:ln>
        </p:spPr>
      </p:cxnSp>
      <p:sp>
        <p:nvSpPr>
          <p:cNvPr id="29" name="">
            <a:extLst xmlns:a="http://schemas.openxmlformats.org/drawingml/2006/main">
              <a:ext uri="{FF2B5EF4-FFF2-40B4-BE49-F238E27FC236}">
                <a16:creationId xmlns:a16="http://schemas.microsoft.com/office/drawing/2014/main" id="{3D4F8595-C7F5-4710-BA46-B0B7835ABB91}"/>
              </a:ext>
            </a:extLst>
          </p:cNvPr>
          <p:cNvSpPr>
            <a:spLocks xmlns:a="http://schemas.openxmlformats.org/drawingml/2006/main" noGrp="1"/>
          </p:cNvSpPr>
          <p:nvPr/>
        </p:nvSpPr>
        <p:spPr>
          <a:xfrm xmlns:a="http://schemas.openxmlformats.org/drawingml/2006/main">
            <a:off x="10282238" y="3309938"/>
            <a:ext cx="9525" cy="9525"/>
          </a:xfrm>
          <a:prstGeom xmlns:a="http://schemas.openxmlformats.org/drawingml/2006/main" prst="rect">
            <a:avLst/>
          </a:prstGeom>
          <a:noFill xmlns:a="http://schemas.openxmlformats.org/drawingml/2006/main"/>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684D6F9-CFCF-49F6-B66E-BCFC2053EFC4}"/>
              </a:ext>
            </a:extLst>
          </p:cNvPr>
          <p:cNvSpPr>
            <a:spLocks xmlns:a="http://schemas.openxmlformats.org/drawingml/2006/main" noGrp="1"/>
          </p:cNvSpPr>
          <p:nvPr/>
        </p:nvSpPr>
        <p:spPr>
          <a:xfrm xmlns:a="http://schemas.openxmlformats.org/drawingml/2006/main">
            <a:off x="9710738" y="3309938"/>
            <a:ext cx="9525" cy="9525"/>
          </a:xfrm>
          <a:prstGeom xmlns:a="http://schemas.openxmlformats.org/drawingml/2006/main" prst="rect">
            <a:avLst/>
          </a:prstGeom>
          <a:noFill xmlns:a="http://schemas.openxmlformats.org/drawingml/2006/main"/>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4F7E98F-A023-478B-B8D7-ADBE3337FD5D}"/>
              </a:ext>
            </a:extLst>
          </p:cNvPr>
          <p:cNvSpPr>
            <a:spLocks xmlns:a="http://schemas.openxmlformats.org/drawingml/2006/main" noGrp="1"/>
          </p:cNvSpPr>
          <p:nvPr/>
        </p:nvSpPr>
        <p:spPr>
          <a:xfrm xmlns:a="http://schemas.openxmlformats.org/drawingml/2006/main">
            <a:off x="9710738" y="2652713"/>
            <a:ext cx="9525" cy="9525"/>
          </a:xfrm>
          <a:prstGeom xmlns:a="http://schemas.openxmlformats.org/drawingml/2006/main" prst="rect">
            <a:avLst/>
          </a:prstGeom>
          <a:noFill xmlns:a="http://schemas.openxmlformats.org/drawingml/2006/main"/>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476CAF3-054A-47F1-9D7C-592C5450FE08}"/>
              </a:ext>
            </a:extLst>
          </p:cNvPr>
          <p:cNvSpPr>
            <a:spLocks xmlns:a="http://schemas.openxmlformats.org/drawingml/2006/main" noGrp="1"/>
          </p:cNvSpPr>
          <p:nvPr/>
        </p:nvSpPr>
        <p:spPr>
          <a:xfrm xmlns:a="http://schemas.openxmlformats.org/drawingml/2006/main">
            <a:off x="4757738" y="26527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7" name=""/>
          <p:cNvCxnSpPr>
            <a:stCxn xmlns:a="http://schemas.openxmlformats.org/drawingml/2006/main" id="29" idx="1"/>
            <a:endCxn xmlns:a="http://schemas.openxmlformats.org/drawingml/2006/main" id="30" idx="3"/>
          </p:cNvCxnSpPr>
          <p:nvPr/>
        </p:nvCxnSpPr>
        <p:spPr>
          <a:xfrm xmlns:a="http://schemas.openxmlformats.org/drawingml/2006/main" flipH="1">
            <a:off x="9720263" y="3314701"/>
            <a:ext cx="561975" cy="0"/>
          </a:xfrm>
          <a:prstGeom xmlns:a="http://schemas.openxmlformats.org/drawingml/2006/main" prst="straightConnector1">
            <a:avLst/>
          </a:prstGeom>
          <a:ln xmlns:a="http://schemas.openxmlformats.org/drawingml/2006/main" w="20955">
            <a:solidFill>
              <a:srgbClr val="202A34"/>
            </a:solidFill>
            <a:prstDash val="dash"/>
          </a:ln>
        </p:spPr>
      </p:cxnSp>
      <p:cxnSp>
        <p:nvCxnSpPr>
          <p:cNvPr id="78" name=""/>
          <p:cNvCxnSpPr>
            <a:stCxn xmlns:a="http://schemas.openxmlformats.org/drawingml/2006/main" id="30" idx="0"/>
            <a:endCxn xmlns:a="http://schemas.openxmlformats.org/drawingml/2006/main" id="31" idx="2"/>
          </p:cNvCxnSpPr>
          <p:nvPr/>
        </p:nvCxnSpPr>
        <p:spPr>
          <a:xfrm xmlns:a="http://schemas.openxmlformats.org/drawingml/2006/main" flipV="1">
            <a:off x="9715501" y="2662238"/>
            <a:ext cx="0" cy="647700"/>
          </a:xfrm>
          <a:prstGeom xmlns:a="http://schemas.openxmlformats.org/drawingml/2006/main" prst="straightConnector1">
            <a:avLst/>
          </a:prstGeom>
          <a:ln xmlns:a="http://schemas.openxmlformats.org/drawingml/2006/main" w="20955">
            <a:solidFill>
              <a:srgbClr val="202A34"/>
            </a:solidFill>
            <a:prstDash val="dash"/>
          </a:ln>
        </p:spPr>
      </p:cxnSp>
      <p:cxnSp>
        <p:nvCxnSpPr>
          <p:cNvPr id="79" name=""/>
          <p:cNvCxnSpPr>
            <a:stCxn xmlns:a="http://schemas.openxmlformats.org/drawingml/2006/main" id="31" idx="1"/>
            <a:endCxn xmlns:a="http://schemas.openxmlformats.org/drawingml/2006/main" id="32" idx="3"/>
          </p:cNvCxnSpPr>
          <p:nvPr/>
        </p:nvCxnSpPr>
        <p:spPr>
          <a:xfrm xmlns:a="http://schemas.openxmlformats.org/drawingml/2006/main" flipH="1">
            <a:off x="4767263" y="2657476"/>
            <a:ext cx="4943475" cy="0"/>
          </a:xfrm>
          <a:prstGeom xmlns:a="http://schemas.openxmlformats.org/drawingml/2006/main" prst="straightConnector1">
            <a:avLst/>
          </a:prstGeom>
          <a:ln xmlns:a="http://schemas.openxmlformats.org/drawingml/2006/main" w="20955">
            <a:solidFill>
              <a:srgbClr val="202A34"/>
            </a:solidFill>
            <a:prstDash val="dash"/>
            <a:tailEnd type="triangle" w="med" len="med"/>
          </a:ln>
        </p:spPr>
      </p:cxnSp>
      <p:sp>
        <p:nvSpPr>
          <p:cNvPr id="36" name="">
            <a:extLst xmlns:a="http://schemas.openxmlformats.org/drawingml/2006/main">
              <a:ext uri="{FF2B5EF4-FFF2-40B4-BE49-F238E27FC236}">
                <a16:creationId xmlns:a16="http://schemas.microsoft.com/office/drawing/2014/main" id="{22AE9CAB-D721-45E2-961B-DD881AC5F7BA}"/>
              </a:ext>
            </a:extLst>
          </p:cNvPr>
          <p:cNvSpPr>
            <a:spLocks xmlns:a="http://schemas.openxmlformats.org/drawingml/2006/main" noGrp="1"/>
          </p:cNvSpPr>
          <p:nvPr/>
        </p:nvSpPr>
        <p:spPr>
          <a:xfrm xmlns:a="http://schemas.openxmlformats.org/drawingml/2006/main">
            <a:off x="10282238" y="6072188"/>
            <a:ext cx="9525" cy="9525"/>
          </a:xfrm>
          <a:prstGeom xmlns:a="http://schemas.openxmlformats.org/drawingml/2006/main" prst="rect">
            <a:avLst/>
          </a:prstGeom>
          <a:noFill xmlns:a="http://schemas.openxmlformats.org/drawingml/2006/main"/>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2CAC9B8-D668-4802-976B-A3E3249E8E44}"/>
              </a:ext>
            </a:extLst>
          </p:cNvPr>
          <p:cNvSpPr>
            <a:spLocks xmlns:a="http://schemas.openxmlformats.org/drawingml/2006/main" noGrp="1"/>
          </p:cNvSpPr>
          <p:nvPr/>
        </p:nvSpPr>
        <p:spPr>
          <a:xfrm xmlns:a="http://schemas.openxmlformats.org/drawingml/2006/main">
            <a:off x="9710738" y="6072188"/>
            <a:ext cx="9525" cy="9525"/>
          </a:xfrm>
          <a:prstGeom xmlns:a="http://schemas.openxmlformats.org/drawingml/2006/main" prst="rect">
            <a:avLst/>
          </a:prstGeom>
          <a:noFill xmlns:a="http://schemas.openxmlformats.org/drawingml/2006/main"/>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F86CB2D-0146-41BE-BE51-8C209AC54AB7}"/>
              </a:ext>
            </a:extLst>
          </p:cNvPr>
          <p:cNvSpPr>
            <a:spLocks xmlns:a="http://schemas.openxmlformats.org/drawingml/2006/main" noGrp="1"/>
          </p:cNvSpPr>
          <p:nvPr/>
        </p:nvSpPr>
        <p:spPr>
          <a:xfrm xmlns:a="http://schemas.openxmlformats.org/drawingml/2006/main">
            <a:off x="9710738" y="2652713"/>
            <a:ext cx="9525" cy="9525"/>
          </a:xfrm>
          <a:prstGeom xmlns:a="http://schemas.openxmlformats.org/drawingml/2006/main" prst="rect">
            <a:avLst/>
          </a:prstGeom>
          <a:noFill xmlns:a="http://schemas.openxmlformats.org/drawingml/2006/main"/>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6F33D04-ACA3-4CB3-8CBF-854F6D88C85D}"/>
              </a:ext>
            </a:extLst>
          </p:cNvPr>
          <p:cNvSpPr>
            <a:spLocks xmlns:a="http://schemas.openxmlformats.org/drawingml/2006/main" noGrp="1"/>
          </p:cNvSpPr>
          <p:nvPr/>
        </p:nvSpPr>
        <p:spPr>
          <a:xfrm xmlns:a="http://schemas.openxmlformats.org/drawingml/2006/main">
            <a:off x="4757738" y="26527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4" name=""/>
          <p:cNvCxnSpPr>
            <a:stCxn xmlns:a="http://schemas.openxmlformats.org/drawingml/2006/main" id="36" idx="1"/>
            <a:endCxn xmlns:a="http://schemas.openxmlformats.org/drawingml/2006/main" id="37" idx="3"/>
          </p:cNvCxnSpPr>
          <p:nvPr/>
        </p:nvCxnSpPr>
        <p:spPr>
          <a:xfrm xmlns:a="http://schemas.openxmlformats.org/drawingml/2006/main" flipH="1">
            <a:off x="9720263" y="6076951"/>
            <a:ext cx="561975" cy="0"/>
          </a:xfrm>
          <a:prstGeom xmlns:a="http://schemas.openxmlformats.org/drawingml/2006/main" prst="straightConnector1">
            <a:avLst/>
          </a:prstGeom>
          <a:ln xmlns:a="http://schemas.openxmlformats.org/drawingml/2006/main" w="20955">
            <a:solidFill>
              <a:srgbClr val="202A34"/>
            </a:solidFill>
            <a:prstDash val="dash"/>
          </a:ln>
        </p:spPr>
      </p:cxnSp>
      <p:cxnSp>
        <p:nvCxnSpPr>
          <p:cNvPr id="85" name=""/>
          <p:cNvCxnSpPr>
            <a:stCxn xmlns:a="http://schemas.openxmlformats.org/drawingml/2006/main" id="37" idx="0"/>
            <a:endCxn xmlns:a="http://schemas.openxmlformats.org/drawingml/2006/main" id="38" idx="2"/>
          </p:cNvCxnSpPr>
          <p:nvPr/>
        </p:nvCxnSpPr>
        <p:spPr>
          <a:xfrm xmlns:a="http://schemas.openxmlformats.org/drawingml/2006/main" flipV="1">
            <a:off x="9715501" y="2662238"/>
            <a:ext cx="0" cy="3409950"/>
          </a:xfrm>
          <a:prstGeom xmlns:a="http://schemas.openxmlformats.org/drawingml/2006/main" prst="straightConnector1">
            <a:avLst/>
          </a:prstGeom>
          <a:ln xmlns:a="http://schemas.openxmlformats.org/drawingml/2006/main" w="20955">
            <a:solidFill>
              <a:srgbClr val="202A34"/>
            </a:solidFill>
            <a:prstDash val="dash"/>
          </a:ln>
        </p:spPr>
      </p:cxnSp>
      <p:cxnSp>
        <p:nvCxnSpPr>
          <p:cNvPr id="86" name=""/>
          <p:cNvCxnSpPr>
            <a:stCxn xmlns:a="http://schemas.openxmlformats.org/drawingml/2006/main" id="38" idx="1"/>
            <a:endCxn xmlns:a="http://schemas.openxmlformats.org/drawingml/2006/main" id="39" idx="3"/>
          </p:cNvCxnSpPr>
          <p:nvPr/>
        </p:nvCxnSpPr>
        <p:spPr>
          <a:xfrm xmlns:a="http://schemas.openxmlformats.org/drawingml/2006/main" flipH="1">
            <a:off x="4767263" y="2657476"/>
            <a:ext cx="4943475" cy="0"/>
          </a:xfrm>
          <a:prstGeom xmlns:a="http://schemas.openxmlformats.org/drawingml/2006/main" prst="straightConnector1">
            <a:avLst/>
          </a:prstGeom>
          <a:ln xmlns:a="http://schemas.openxmlformats.org/drawingml/2006/main" w="20955">
            <a:solidFill>
              <a:srgbClr val="202A34"/>
            </a:solidFill>
            <a:prstDash val="dash"/>
            <a:tailEnd type="triangle" w="med" len="med"/>
          </a:ln>
        </p:spPr>
      </p:cxnSp>
      <p:sp>
        <p:nvSpPr>
          <p:cNvPr id="43" name="Tissue checklist evidence&#10;Personnel certification plus approved&#10;q">
            <a:extLst xmlns:a="http://schemas.openxmlformats.org/drawingml/2006/main">
              <a:ext uri="{FF2B5EF4-FFF2-40B4-BE49-F238E27FC236}">
                <a16:creationId xmlns:a16="http://schemas.microsoft.com/office/drawing/2014/main" id="{90393BFC-AD7B-4F53-8BD2-AF57A6DE9C2D}"/>
              </a:ext>
            </a:extLst>
          </p:cNvPr>
          <p:cNvSpPr>
            <a:spLocks xmlns:a="http://schemas.openxmlformats.org/drawingml/2006/main" noGrp="1"/>
          </p:cNvSpPr>
          <p:nvPr/>
        </p:nvSpPr>
        <p:spPr>
          <a:xfrm xmlns:a="http://schemas.openxmlformats.org/drawingml/2006/main">
            <a:off x="523875" y="6448425"/>
            <a:ext cx="45243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02A34"/>
                </a:solidFill>
                <a:latin typeface="Carlito"/>
                <a:ea typeface="Carlito"/>
                <a:cs typeface="Carlito"/>
              </a:defRPr>
            </a:pPr>
            <a:r>
              <a:rPr sz="1875" b="0">
                <a:solidFill>
                  <a:srgbClr val="202A34"/>
                </a:solidFill>
                <a:latin typeface="Carlito"/>
                <a:ea typeface="Carlito"/>
                <a:cs typeface="Carlito"/>
              </a:rPr>
              <a:t>Tissue checklist evidence</a:t>
            </a:r>
          </a:p>
          <a:p xmlns:a="http://schemas.openxmlformats.org/drawingml/2006/main">
            <a:pPr algn="l">
              <a:defRPr sz="1875" b="0">
                <a:solidFill>
                  <a:srgbClr val="202A34"/>
                </a:solidFill>
                <a:latin typeface="Carlito"/>
                <a:ea typeface="Carlito"/>
                <a:cs typeface="Carlito"/>
              </a:defRPr>
            </a:pPr>
            <a:r>
              <a:rPr sz="1875" b="0">
                <a:solidFill>
                  <a:srgbClr val="202A34"/>
                </a:solidFill>
                <a:latin typeface="Carlito"/>
                <a:ea typeface="Carlito"/>
                <a:cs typeface="Carlito"/>
              </a:rPr>
              <a:t>Personnel certification plus approved</a:t>
            </a:r>
          </a:p>
          <a:p xmlns:a="http://schemas.openxmlformats.org/drawingml/2006/main">
            <a:pPr algn="l">
              <a:defRPr sz="1875" b="0">
                <a:solidFill>
                  <a:srgbClr val="202A34"/>
                </a:solidFill>
                <a:latin typeface="Carlito"/>
                <a:ea typeface="Carlito"/>
                <a:cs typeface="Carlito"/>
              </a:defRPr>
            </a:pPr>
            <a:r>
              <a:rPr sz="1875" b="0">
                <a:solidFill>
                  <a:srgbClr val="202A34"/>
                </a:solidFill>
                <a:latin typeface="Carlito"/>
                <a:ea typeface="Carlito"/>
                <a:cs typeface="Carlito"/>
              </a:rPr>
              <a:t>qualification lots inspected at the supplier site</a:t>
            </a:r>
          </a:p>
        </p:txBody>
      </p:sp>
      <p:sp>
        <p:nvSpPr>
          <p:cNvPr id="44" name="FAIR (First Article Inspection Report)   PPQP (Purchased Part Qua">
            <a:extLst xmlns:a="http://schemas.openxmlformats.org/drawingml/2006/main">
              <a:ext uri="{FF2B5EF4-FFF2-40B4-BE49-F238E27FC236}">
                <a16:creationId xmlns:a16="http://schemas.microsoft.com/office/drawing/2014/main" id="{112B84D3-5827-428C-B7FD-E5F927AD0080}"/>
              </a:ext>
            </a:extLst>
          </p:cNvPr>
          <p:cNvSpPr>
            <a:spLocks xmlns:a="http://schemas.openxmlformats.org/drawingml/2006/main" noGrp="1"/>
          </p:cNvSpPr>
          <p:nvPr/>
        </p:nvSpPr>
        <p:spPr>
          <a:xfrm xmlns:a="http://schemas.openxmlformats.org/drawingml/2006/main">
            <a:off x="523875" y="7629525"/>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202A34"/>
                </a:solidFill>
                <a:latin typeface="Carlito"/>
                <a:ea typeface="Carlito"/>
                <a:cs typeface="Carlito"/>
              </a:defRPr>
            </a:pPr>
            <a:r>
              <a:rPr sz="1275" b="0">
                <a:solidFill>
                  <a:srgbClr val="202A34"/>
                </a:solidFill>
                <a:latin typeface="Carlito"/>
                <a:ea typeface="Carlito"/>
                <a:cs typeface="Carlito"/>
              </a:rPr>
              <a:t>FAIR (First Article Inspection Report)   PPQP (Purchased Part Qualification Process)</a:t>
            </a:r>
          </a:p>
          <a:p xmlns:a="http://schemas.openxmlformats.org/drawingml/2006/main">
            <a:pPr algn="l">
              <a:defRPr sz="1275" b="0">
                <a:solidFill>
                  <a:srgbClr val="202A34"/>
                </a:solidFill>
                <a:latin typeface="Carlito"/>
                <a:ea typeface="Carlito"/>
                <a:cs typeface="Carlito"/>
              </a:defRPr>
            </a:pPr>
            <a:r>
              <a:rPr sz="1275" b="0">
                <a:solidFill>
                  <a:srgbClr val="202A34"/>
                </a:solidFill>
                <a:latin typeface="Carlito"/>
                <a:ea typeface="Carlito"/>
                <a:cs typeface="Carlito"/>
              </a:rPr>
              <a:t>SOP (Standard Operating Procedure)   DOP (Department Operating Procedure)   WI (Work Instruction)</a:t>
            </a:r>
          </a:p>
          <a:p xmlns:a="http://schemas.openxmlformats.org/drawingml/2006/main">
            <a:pPr algn="l">
              <a:defRPr sz="1275" b="0">
                <a:solidFill>
                  <a:srgbClr val="202A34"/>
                </a:solidFill>
                <a:latin typeface="Carlito"/>
                <a:ea typeface="Carlito"/>
                <a:cs typeface="Carlito"/>
              </a:defRPr>
            </a:pPr>
            <a:r>
              <a:rPr sz="1275" b="0">
                <a:solidFill>
                  <a:srgbClr val="202A34"/>
                </a:solidFill>
                <a:latin typeface="Carlito"/>
                <a:ea typeface="Carlito"/>
                <a:cs typeface="Carlito"/>
              </a:rPr>
              <a:t>ATM (Advanced Tissue Models)   RoHS (Restriction of Hazardous Substances)</a:t>
            </a:r>
          </a:p>
        </p:txBody>
      </p:sp>
    </p:spTree>
    <p:extLst>
      <p:ext uri="{BB962C8B-B14F-4D97-AF65-F5344CB8AC3E}">
        <p14:creationId xmlns:p14="http://schemas.microsoft.com/office/powerpoint/2010/main" val="14893006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upplier training process map">
            <a:extLst xmlns:a="http://schemas.openxmlformats.org/drawingml/2006/main">
              <a:ext uri="{FF2B5EF4-FFF2-40B4-BE49-F238E27FC236}">
                <a16:creationId xmlns:a16="http://schemas.microsoft.com/office/drawing/2014/main" id="{B4A7B40A-233E-4B06-9A95-CA1E58BBD08E}"/>
              </a:ext>
            </a:extLst>
          </p:cNvPr>
          <p:cNvSpPr>
            <a:spLocks xmlns:a="http://schemas.openxmlformats.org/drawingml/2006/main" noGrp="1"/>
          </p:cNvSpPr>
          <p:nvPr/>
        </p:nvSpPr>
        <p:spPr>
          <a:xfrm xmlns:a="http://schemas.openxmlformats.org/drawingml/2006/main">
            <a:off x="523875" y="304800"/>
            <a:ext cx="1419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225" b="1">
                <a:solidFill>
                  <a:srgbClr val="202A34"/>
                </a:solidFill>
                <a:latin typeface="Carlito"/>
                <a:ea typeface="Carlito"/>
                <a:cs typeface="Carlito"/>
              </a:defRPr>
            </a:pPr>
            <a:r>
              <a:rPr sz="3225" b="1">
                <a:solidFill>
                  <a:srgbClr val="202A34"/>
                </a:solidFill>
                <a:latin typeface="Carlito"/>
                <a:ea typeface="Carlito"/>
                <a:cs typeface="Carlito"/>
              </a:rPr>
              <a:t>Supplier training process map</a:t>
            </a:r>
          </a:p>
        </p:txBody>
      </p:sp>
      <p:sp>
        <p:nvSpPr>
          <p:cNvPr id="2" name="Harvest and build personnel follow training, monitoring, certific">
            <a:extLst xmlns:a="http://schemas.openxmlformats.org/drawingml/2006/main">
              <a:ext uri="{FF2B5EF4-FFF2-40B4-BE49-F238E27FC236}">
                <a16:creationId xmlns:a16="http://schemas.microsoft.com/office/drawing/2014/main" id="{210D0742-B52E-4F42-8F0D-5E77B33BD554}"/>
              </a:ext>
            </a:extLst>
          </p:cNvPr>
          <p:cNvSpPr>
            <a:spLocks xmlns:a="http://schemas.openxmlformats.org/drawingml/2006/main" noGrp="1"/>
          </p:cNvSpPr>
          <p:nvPr/>
        </p:nvSpPr>
        <p:spPr>
          <a:xfrm xmlns:a="http://schemas.openxmlformats.org/drawingml/2006/main">
            <a:off x="523875" y="962025"/>
            <a:ext cx="1419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202A34"/>
                </a:solidFill>
                <a:latin typeface="Carlito"/>
                <a:ea typeface="Carlito"/>
                <a:cs typeface="Carlito"/>
              </a:defRPr>
            </a:pPr>
            <a:r>
              <a:rPr sz="1800" b="0">
                <a:solidFill>
                  <a:srgbClr val="202A34"/>
                </a:solidFill>
                <a:latin typeface="Carlito"/>
                <a:ea typeface="Carlito"/>
                <a:cs typeface="Carlito"/>
              </a:rPr>
              <a:t>Harvest and build personnel follow training, monitoring, certification and the qualification handoff</a:t>
            </a:r>
          </a:p>
        </p:txBody>
      </p:sp>
      <p:sp>
        <p:nvSpPr>
          <p:cNvPr id="3" name="Review draft  •  17 September 2026     /     4">
            <a:extLst xmlns:a="http://schemas.openxmlformats.org/drawingml/2006/main">
              <a:ext uri="{FF2B5EF4-FFF2-40B4-BE49-F238E27FC236}">
                <a16:creationId xmlns:a16="http://schemas.microsoft.com/office/drawing/2014/main" id="{29F48D9D-3AD1-461D-8951-EA78F03D2586}"/>
              </a:ext>
            </a:extLst>
          </p:cNvPr>
          <p:cNvSpPr>
            <a:spLocks xmlns:a="http://schemas.openxmlformats.org/drawingml/2006/main" noGrp="1"/>
          </p:cNvSpPr>
          <p:nvPr/>
        </p:nvSpPr>
        <p:spPr>
          <a:xfrm xmlns:a="http://schemas.openxmlformats.org/drawingml/2006/main">
            <a:off x="523875" y="8229600"/>
            <a:ext cx="1419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06C"/>
                </a:solidFill>
                <a:latin typeface="Carlito"/>
                <a:ea typeface="Carlito"/>
                <a:cs typeface="Carlito"/>
              </a:defRPr>
            </a:pPr>
            <a:r>
              <a:rPr sz="1275" b="0">
                <a:solidFill>
                  <a:srgbClr val="52606C"/>
                </a:solidFill>
                <a:latin typeface="Carlito"/>
                <a:ea typeface="Carlito"/>
                <a:cs typeface="Carlito"/>
              </a:rPr>
              <a:t>Review draft  •  17 September 2026     /     4</a:t>
            </a:r>
          </a:p>
        </p:txBody>
      </p:sp>
      <p:sp>
        <p:nvSpPr>
          <p:cNvPr id="4" name="1  Prerequisites&#10;Supplier status verified&#10;Controlled instruction ">
            <a:extLst xmlns:a="http://schemas.openxmlformats.org/drawingml/2006/main">
              <a:ext uri="{FF2B5EF4-FFF2-40B4-BE49-F238E27FC236}">
                <a16:creationId xmlns:a16="http://schemas.microsoft.com/office/drawing/2014/main" id="{43F6621E-7E09-48EF-B7AB-1DFF52D8FE22}"/>
              </a:ext>
            </a:extLst>
          </p:cNvPr>
          <p:cNvSpPr>
            <a:spLocks xmlns:a="http://schemas.openxmlformats.org/drawingml/2006/main" noGrp="1"/>
          </p:cNvSpPr>
          <p:nvPr/>
        </p:nvSpPr>
        <p:spPr>
          <a:xfrm xmlns:a="http://schemas.openxmlformats.org/drawingml/2006/main">
            <a:off x="523875" y="1771650"/>
            <a:ext cx="4191000" cy="1657350"/>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650">
                <a:solidFill>
                  <a:srgbClr val="202A34"/>
                </a:solidFill>
                <a:latin typeface="Carlito"/>
                <a:ea typeface="Carlito"/>
                <a:cs typeface="Carlito"/>
              </a:defRPr>
            </a:pPr>
            <a:r>
              <a:rPr sz="1650">
                <a:solidFill>
                  <a:srgbClr val="202A34"/>
                </a:solidFill>
                <a:latin typeface="Carlito"/>
                <a:ea typeface="Carlito"/>
                <a:cs typeface="Carlito"/>
              </a:rPr>
              <a:t>1  Prerequisites</a:t>
            </a:r>
          </a:p>
          <a:p xmlns:a="http://schemas.openxmlformats.org/drawingml/2006/main">
            <a:pPr algn="l">
              <a:defRPr sz="1650">
                <a:solidFill>
                  <a:srgbClr val="202A34"/>
                </a:solidFill>
                <a:latin typeface="Carlito"/>
                <a:ea typeface="Carlito"/>
                <a:cs typeface="Carlito"/>
              </a:defRPr>
            </a:pPr>
            <a:r>
              <a:rPr sz="1650">
                <a:solidFill>
                  <a:srgbClr val="202A34"/>
                </a:solidFill>
                <a:latin typeface="Carlito"/>
                <a:ea typeface="Carlito"/>
                <a:cs typeface="Carlito"/>
              </a:rPr>
              <a:t>Supplier status verified</a:t>
            </a:r>
          </a:p>
          <a:p xmlns:a="http://schemas.openxmlformats.org/drawingml/2006/main">
            <a:pPr algn="l">
              <a:defRPr sz="1650">
                <a:solidFill>
                  <a:srgbClr val="202A34"/>
                </a:solidFill>
                <a:latin typeface="Carlito"/>
                <a:ea typeface="Carlito"/>
                <a:cs typeface="Carlito"/>
              </a:defRPr>
            </a:pPr>
            <a:r>
              <a:rPr sz="1650">
                <a:solidFill>
                  <a:srgbClr val="202A34"/>
                </a:solidFill>
                <a:latin typeface="Carlito"/>
                <a:ea typeface="Carlito"/>
                <a:cs typeface="Carlito"/>
              </a:rPr>
              <a:t>Controlled instruction and specification</a:t>
            </a:r>
          </a:p>
          <a:p xmlns:a="http://schemas.openxmlformats.org/drawingml/2006/main">
            <a:pPr algn="l">
              <a:defRPr sz="1650">
                <a:solidFill>
                  <a:srgbClr val="202A34"/>
                </a:solidFill>
                <a:latin typeface="Carlito"/>
                <a:ea typeface="Carlito"/>
                <a:cs typeface="Carlito"/>
              </a:defRPr>
            </a:pPr>
            <a:r>
              <a:rPr sz="1650">
                <a:solidFill>
                  <a:srgbClr val="202A34"/>
                </a:solidFill>
                <a:latin typeface="Carlito"/>
                <a:ea typeface="Carlito"/>
                <a:cs typeface="Carlito"/>
              </a:rPr>
              <a:t>Qualified trainer and inspector</a:t>
            </a:r>
          </a:p>
          <a:p xmlns:a="http://schemas.openxmlformats.org/drawingml/2006/main">
            <a:pPr algn="l">
              <a:defRPr sz="1650">
                <a:solidFill>
                  <a:srgbClr val="202A34"/>
                </a:solidFill>
                <a:latin typeface="Carlito"/>
                <a:ea typeface="Carlito"/>
                <a:cs typeface="Carlito"/>
              </a:defRPr>
            </a:pPr>
            <a:r>
              <a:rPr sz="1650">
                <a:solidFill>
                  <a:srgbClr val="202A34"/>
                </a:solidFill>
                <a:latin typeface="Carlito"/>
                <a:ea typeface="Carlito"/>
                <a:cs typeface="Carlito"/>
              </a:rPr>
              <a:t>Per-unit trainee attribution ready</a:t>
            </a:r>
          </a:p>
        </p:txBody>
      </p:sp>
      <p:sp>
        <p:nvSpPr>
          <p:cNvPr id="5" name="2  Training Phase&#10;Tissue expert demonstrates the task&#10;Operations ">
            <a:extLst xmlns:a="http://schemas.openxmlformats.org/drawingml/2006/main">
              <a:ext uri="{FF2B5EF4-FFF2-40B4-BE49-F238E27FC236}">
                <a16:creationId xmlns:a16="http://schemas.microsoft.com/office/drawing/2014/main" id="{7FB1780F-4570-456A-8D57-3CAD421A0FA7}"/>
              </a:ext>
            </a:extLst>
          </p:cNvPr>
          <p:cNvSpPr>
            <a:spLocks xmlns:a="http://schemas.openxmlformats.org/drawingml/2006/main" noGrp="1"/>
          </p:cNvSpPr>
          <p:nvPr/>
        </p:nvSpPr>
        <p:spPr>
          <a:xfrm xmlns:a="http://schemas.openxmlformats.org/drawingml/2006/main">
            <a:off x="5381625" y="1771650"/>
            <a:ext cx="4191000" cy="1657350"/>
          </a:xfrm>
          <a:prstGeom xmlns:a="http://schemas.openxmlformats.org/drawingml/2006/main" prst="rect">
            <a:avLst/>
          </a:prstGeom>
          <a:solidFill xmlns:a="http://schemas.openxmlformats.org/drawingml/2006/main">
            <a:srgbClr val="99D8AA"/>
          </a:solidFill>
          <a:ln xmlns:a="http://schemas.openxmlformats.org/drawingml/2006/main" w="13335">
            <a:solidFill>
              <a:srgbClr val="99D8AA"/>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2  Training Phase</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Tissue expert demonstrates the task</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Operations Supervisor supports</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Coaching and questions permitted</a:t>
            </a:r>
          </a:p>
        </p:txBody>
      </p:sp>
      <p:sp>
        <p:nvSpPr>
          <p:cNvPr id="6" name="3  Readiness sign-off&#10;Trainer and inspector agree&#10;Record task, re">
            <a:extLst xmlns:a="http://schemas.openxmlformats.org/drawingml/2006/main">
              <a:ext uri="{FF2B5EF4-FFF2-40B4-BE49-F238E27FC236}">
                <a16:creationId xmlns:a16="http://schemas.microsoft.com/office/drawing/2014/main" id="{FF49C079-DD35-4026-B072-40FAF5BBA154}"/>
              </a:ext>
            </a:extLst>
          </p:cNvPr>
          <p:cNvSpPr>
            <a:spLocks xmlns:a="http://schemas.openxmlformats.org/drawingml/2006/main" noGrp="1"/>
          </p:cNvSpPr>
          <p:nvPr/>
        </p:nvSpPr>
        <p:spPr>
          <a:xfrm xmlns:a="http://schemas.openxmlformats.org/drawingml/2006/main">
            <a:off x="10287000" y="1771650"/>
            <a:ext cx="4381500" cy="1657350"/>
          </a:xfrm>
          <a:prstGeom xmlns:a="http://schemas.openxmlformats.org/drawingml/2006/main" prst="rect">
            <a:avLst/>
          </a:prstGeom>
          <a:solidFill xmlns:a="http://schemas.openxmlformats.org/drawingml/2006/main">
            <a:srgbClr val="99D8AA"/>
          </a:solidFill>
          <a:ln xmlns:a="http://schemas.openxmlformats.org/drawingml/2006/main" w="13335">
            <a:solidFill>
              <a:srgbClr val="99D8AA"/>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3  Readiness sign-off</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Trainer and inspector agree</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Record task, revisions and date</a:t>
            </a:r>
          </a:p>
        </p:txBody>
      </p:sp>
      <p:sp>
        <p:nvSpPr>
          <p:cNvPr id="7" name="4  Monitoring Phase&#10;Trainee performs the task&#10;Inspector examines ">
            <a:extLst xmlns:a="http://schemas.openxmlformats.org/drawingml/2006/main">
              <a:ext uri="{FF2B5EF4-FFF2-40B4-BE49-F238E27FC236}">
                <a16:creationId xmlns:a16="http://schemas.microsoft.com/office/drawing/2014/main" id="{7892C004-3188-4699-BD68-9F0430B8ED8B}"/>
              </a:ext>
            </a:extLst>
          </p:cNvPr>
          <p:cNvSpPr>
            <a:spLocks xmlns:a="http://schemas.openxmlformats.org/drawingml/2006/main" noGrp="1"/>
          </p:cNvSpPr>
          <p:nvPr/>
        </p:nvSpPr>
        <p:spPr>
          <a:xfrm xmlns:a="http://schemas.openxmlformats.org/drawingml/2006/main">
            <a:off x="10287000" y="4305300"/>
            <a:ext cx="4381500" cy="1428750"/>
          </a:xfrm>
          <a:prstGeom xmlns:a="http://schemas.openxmlformats.org/drawingml/2006/main" prst="rect">
            <a:avLst/>
          </a:prstGeom>
          <a:solidFill xmlns:a="http://schemas.openxmlformats.org/drawingml/2006/main">
            <a:srgbClr val="99D8AA"/>
          </a:solidFill>
          <a:ln xmlns:a="http://schemas.openxmlformats.org/drawingml/2006/main" w="13335">
            <a:solidFill>
              <a:srgbClr val="99D8AA"/>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4  Monitoring Phase</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Trainee performs the task</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Inspector examines every unit</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Record first result and attribution</a:t>
            </a:r>
          </a:p>
        </p:txBody>
      </p:sp>
      <p:sp>
        <p:nvSpPr>
          <p:cNvPr id="8" name="5  Personnel gate&#10;≥95% first-pass yield&#10;≥2 consecutive harvest da">
            <a:extLst xmlns:a="http://schemas.openxmlformats.org/drawingml/2006/main">
              <a:ext uri="{FF2B5EF4-FFF2-40B4-BE49-F238E27FC236}">
                <a16:creationId xmlns:a16="http://schemas.microsoft.com/office/drawing/2014/main" id="{50BD7766-07EA-498F-B15C-7839D423D6C4}"/>
              </a:ext>
            </a:extLst>
          </p:cNvPr>
          <p:cNvSpPr>
            <a:spLocks xmlns:a="http://schemas.openxmlformats.org/drawingml/2006/main" noGrp="1"/>
          </p:cNvSpPr>
          <p:nvPr/>
        </p:nvSpPr>
        <p:spPr>
          <a:xfrm xmlns:a="http://schemas.openxmlformats.org/drawingml/2006/main">
            <a:off x="5381625" y="4305300"/>
            <a:ext cx="4191000" cy="1428750"/>
          </a:xfrm>
          <a:prstGeom xmlns:a="http://schemas.openxmlformats.org/drawingml/2006/main" prst="rect">
            <a:avLst/>
          </a:prstGeom>
          <a:solidFill xmlns:a="http://schemas.openxmlformats.org/drawingml/2006/main">
            <a:srgbClr val="FFFFFF"/>
          </a:solidFill>
          <a:ln xmlns:a="http://schemas.openxmlformats.org/drawingml/2006/main" w="13335">
            <a:solidFill>
              <a:srgbClr val="202A34"/>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5  Personnel gate</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≥95% first-pass yield</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≥2 consecutive harvest days</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≥30 units in the evaluation window</a:t>
            </a:r>
          </a:p>
        </p:txBody>
      </p:sp>
      <p:sp>
        <p:nvSpPr>
          <p:cNvPr id="9" name="6  Certification&#10;Supplier Engineer evaluates evidence&#10;Record on 8">
            <a:extLst xmlns:a="http://schemas.openxmlformats.org/drawingml/2006/main">
              <a:ext uri="{FF2B5EF4-FFF2-40B4-BE49-F238E27FC236}">
                <a16:creationId xmlns:a16="http://schemas.microsoft.com/office/drawing/2014/main" id="{F898ADF3-F224-4897-B87E-2FC067712C0C}"/>
              </a:ext>
            </a:extLst>
          </p:cNvPr>
          <p:cNvSpPr>
            <a:spLocks xmlns:a="http://schemas.openxmlformats.org/drawingml/2006/main" noGrp="1"/>
          </p:cNvSpPr>
          <p:nvPr/>
        </p:nvSpPr>
        <p:spPr>
          <a:xfrm xmlns:a="http://schemas.openxmlformats.org/drawingml/2006/main">
            <a:off x="523875" y="4305300"/>
            <a:ext cx="4191000" cy="1428750"/>
          </a:xfrm>
          <a:prstGeom xmlns:a="http://schemas.openxmlformats.org/drawingml/2006/main" prst="rect">
            <a:avLst/>
          </a:prstGeom>
          <a:solidFill xmlns:a="http://schemas.openxmlformats.org/drawingml/2006/main">
            <a:srgbClr val="99D8AA"/>
          </a:solidFill>
          <a:ln xmlns:a="http://schemas.openxmlformats.org/drawingml/2006/main" w="13335">
            <a:solidFill>
              <a:srgbClr val="99D8AA"/>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6  Certification</a:t>
            </a:r>
          </a:p>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Supplier Engineer evaluates evidence</a:t>
            </a:r>
          </a:p>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Record on 800082 and training log</a:t>
            </a:r>
          </a:p>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Scope: person, site, task and family</a:t>
            </a:r>
          </a:p>
        </p:txBody>
      </p:sp>
      <p:cxnSp>
        <p:nvCxnSpPr>
          <p:cNvPr id="31" name=""/>
          <p:cNvCxnSpPr>
            <a:stCxn xmlns:a="http://schemas.openxmlformats.org/drawingml/2006/main" id="4" idx="3"/>
            <a:endCxn xmlns:a="http://schemas.openxmlformats.org/drawingml/2006/main" id="5" idx="1"/>
          </p:cNvCxnSpPr>
          <p:nvPr/>
        </p:nvCxnSpPr>
        <p:spPr>
          <a:xfrm xmlns:a="http://schemas.openxmlformats.org/drawingml/2006/main">
            <a:off x="4714875" y="2600325"/>
            <a:ext cx="666750" cy="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9572625" y="2600325"/>
            <a:ext cx="714375" cy="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cxnSp>
        <p:nvCxnSpPr>
          <p:cNvPr id="33" name=""/>
          <p:cNvCxnSpPr>
            <a:stCxn xmlns:a="http://schemas.openxmlformats.org/drawingml/2006/main" id="6" idx="2"/>
            <a:endCxn xmlns:a="http://schemas.openxmlformats.org/drawingml/2006/main" id="7" idx="0"/>
          </p:cNvCxnSpPr>
          <p:nvPr/>
        </p:nvCxnSpPr>
        <p:spPr>
          <a:xfrm xmlns:a="http://schemas.openxmlformats.org/drawingml/2006/main">
            <a:off x="12477750" y="3429000"/>
            <a:ext cx="0" cy="87630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cxnSp>
        <p:nvCxnSpPr>
          <p:cNvPr id="34" name=""/>
          <p:cNvCxnSpPr>
            <a:stCxn xmlns:a="http://schemas.openxmlformats.org/drawingml/2006/main" id="7" idx="1"/>
            <a:endCxn xmlns:a="http://schemas.openxmlformats.org/drawingml/2006/main" id="8" idx="3"/>
          </p:cNvCxnSpPr>
          <p:nvPr/>
        </p:nvCxnSpPr>
        <p:spPr>
          <a:xfrm xmlns:a="http://schemas.openxmlformats.org/drawingml/2006/main" flipH="1">
            <a:off x="9572625" y="5019675"/>
            <a:ext cx="714375" cy="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cxnSp>
        <p:nvCxnSpPr>
          <p:cNvPr id="35" name=""/>
          <p:cNvCxnSpPr>
            <a:stCxn xmlns:a="http://schemas.openxmlformats.org/drawingml/2006/main" id="8" idx="1"/>
            <a:endCxn xmlns:a="http://schemas.openxmlformats.org/drawingml/2006/main" id="9" idx="3"/>
          </p:cNvCxnSpPr>
          <p:nvPr/>
        </p:nvCxnSpPr>
        <p:spPr>
          <a:xfrm xmlns:a="http://schemas.openxmlformats.org/drawingml/2006/main" flipH="1">
            <a:off x="4714875" y="5019675"/>
            <a:ext cx="666750" cy="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sp>
        <p:nvSpPr>
          <p:cNvPr id="15" name="Ready">
            <a:extLst xmlns:a="http://schemas.openxmlformats.org/drawingml/2006/main">
              <a:ext uri="{FF2B5EF4-FFF2-40B4-BE49-F238E27FC236}">
                <a16:creationId xmlns:a16="http://schemas.microsoft.com/office/drawing/2014/main" id="{2FC2C67D-7461-4721-9FD0-D4E3C7B9ED21}"/>
              </a:ext>
            </a:extLst>
          </p:cNvPr>
          <p:cNvSpPr>
            <a:spLocks xmlns:a="http://schemas.openxmlformats.org/drawingml/2006/main" noGrp="1"/>
          </p:cNvSpPr>
          <p:nvPr/>
        </p:nvSpPr>
        <p:spPr>
          <a:xfrm xmlns:a="http://schemas.openxmlformats.org/drawingml/2006/main">
            <a:off x="13239750" y="36957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1">
                <a:solidFill>
                  <a:srgbClr val="202A34"/>
                </a:solidFill>
                <a:latin typeface="Carlito"/>
                <a:ea typeface="Carlito"/>
                <a:cs typeface="Carlito"/>
              </a:defRPr>
            </a:pPr>
            <a:r>
              <a:rPr sz="1650" b="1">
                <a:solidFill>
                  <a:srgbClr val="202A34"/>
                </a:solidFill>
                <a:latin typeface="Carlito"/>
                <a:ea typeface="Carlito"/>
                <a:cs typeface="Carlito"/>
              </a:rPr>
              <a:t>Ready</a:t>
            </a:r>
          </a:p>
        </p:txBody>
      </p:sp>
      <p:sp>
        <p:nvSpPr>
          <p:cNvPr id="16" name="Pass">
            <a:extLst xmlns:a="http://schemas.openxmlformats.org/drawingml/2006/main">
              <a:ext uri="{FF2B5EF4-FFF2-40B4-BE49-F238E27FC236}">
                <a16:creationId xmlns:a16="http://schemas.microsoft.com/office/drawing/2014/main" id="{38EC63DE-49B1-4755-BB56-1A1E9E0BA43E}"/>
              </a:ext>
            </a:extLst>
          </p:cNvPr>
          <p:cNvSpPr>
            <a:spLocks xmlns:a="http://schemas.openxmlformats.org/drawingml/2006/main" noGrp="1"/>
          </p:cNvSpPr>
          <p:nvPr/>
        </p:nvSpPr>
        <p:spPr>
          <a:xfrm xmlns:a="http://schemas.openxmlformats.org/drawingml/2006/main">
            <a:off x="4829175" y="471487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1">
                <a:solidFill>
                  <a:srgbClr val="202A34"/>
                </a:solidFill>
                <a:latin typeface="Carlito"/>
                <a:ea typeface="Carlito"/>
                <a:cs typeface="Carlito"/>
              </a:defRPr>
            </a:pPr>
            <a:r>
              <a:rPr sz="1650" b="1">
                <a:solidFill>
                  <a:srgbClr val="202A34"/>
                </a:solidFill>
                <a:latin typeface="Carlito"/>
                <a:ea typeface="Carlito"/>
                <a:cs typeface="Carlito"/>
              </a:rPr>
              <a:t>Pass</a:t>
            </a:r>
          </a:p>
        </p:txBody>
      </p:sp>
      <p:sp>
        <p:nvSpPr>
          <p:cNvPr id="17" name="Gate not met or technique concern&#10;Continue only under defined mon">
            <a:extLst xmlns:a="http://schemas.openxmlformats.org/drawingml/2006/main">
              <a:ext uri="{FF2B5EF4-FFF2-40B4-BE49-F238E27FC236}">
                <a16:creationId xmlns:a16="http://schemas.microsoft.com/office/drawing/2014/main" id="{5F4DD781-A00A-4073-9777-B417FF393747}"/>
              </a:ext>
            </a:extLst>
          </p:cNvPr>
          <p:cNvSpPr>
            <a:spLocks xmlns:a="http://schemas.openxmlformats.org/drawingml/2006/main" noGrp="1"/>
          </p:cNvSpPr>
          <p:nvPr/>
        </p:nvSpPr>
        <p:spPr>
          <a:xfrm xmlns:a="http://schemas.openxmlformats.org/drawingml/2006/main">
            <a:off x="5572125" y="6534150"/>
            <a:ext cx="8763000" cy="1304925"/>
          </a:xfrm>
          <a:prstGeom xmlns:a="http://schemas.openxmlformats.org/drawingml/2006/main" prst="rect">
            <a:avLst/>
          </a:prstGeom>
          <a:solidFill xmlns:a="http://schemas.openxmlformats.org/drawingml/2006/main">
            <a:srgbClr val="EAF0F5"/>
          </a:solidFill>
          <a:ln xmlns:a="http://schemas.openxmlformats.org/drawingml/2006/main" w="13335">
            <a:solidFill>
              <a:srgbClr val="EAF0F5"/>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Gate not met or technique concern</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Continue only under defined monitoring controls</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Recurring &lt;95%: inspector shadows and retrains</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Fresh monitoring window after coached retraining</a:t>
            </a:r>
          </a:p>
        </p:txBody>
      </p:sp>
      <p:cxnSp>
        <p:nvCxnSpPr>
          <p:cNvPr id="39" name=""/>
          <p:cNvCxnSpPr>
            <a:stCxn xmlns:a="http://schemas.openxmlformats.org/drawingml/2006/main" id="8" idx="2"/>
            <a:endCxn xmlns:a="http://schemas.openxmlformats.org/drawingml/2006/main" id="17" idx="0"/>
          </p:cNvCxnSpPr>
          <p:nvPr/>
        </p:nvCxnSpPr>
        <p:spPr>
          <a:xfrm xmlns:a="http://schemas.openxmlformats.org/drawingml/2006/main">
            <a:off x="7477125" y="5734050"/>
            <a:ext cx="2476500" cy="80010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sp>
        <p:nvSpPr>
          <p:cNvPr id="19" name="No">
            <a:extLst xmlns:a="http://schemas.openxmlformats.org/drawingml/2006/main">
              <a:ext uri="{FF2B5EF4-FFF2-40B4-BE49-F238E27FC236}">
                <a16:creationId xmlns:a16="http://schemas.microsoft.com/office/drawing/2014/main" id="{C079242B-E102-4BCE-A1BE-B4DD9CC98C5C}"/>
              </a:ext>
            </a:extLst>
          </p:cNvPr>
          <p:cNvSpPr>
            <a:spLocks xmlns:a="http://schemas.openxmlformats.org/drawingml/2006/main" noGrp="1"/>
          </p:cNvSpPr>
          <p:nvPr/>
        </p:nvSpPr>
        <p:spPr>
          <a:xfrm xmlns:a="http://schemas.openxmlformats.org/drawingml/2006/main">
            <a:off x="7953375" y="6010275"/>
            <a:ext cx="76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1">
                <a:solidFill>
                  <a:srgbClr val="202A34"/>
                </a:solidFill>
                <a:latin typeface="Carlito"/>
                <a:ea typeface="Carlito"/>
                <a:cs typeface="Carlito"/>
              </a:defRPr>
            </a:pPr>
            <a:r>
              <a:rPr sz="1650" b="1">
                <a:solidFill>
                  <a:srgbClr val="202A34"/>
                </a:solidFill>
                <a:latin typeface="Carlito"/>
                <a:ea typeface="Carlito"/>
                <a:cs typeface="Carlito"/>
              </a:rPr>
              <a:t>No</a:t>
            </a:r>
          </a:p>
        </p:txBody>
      </p:sp>
      <p:sp>
        <p:nvSpPr>
          <p:cNvPr id="20" name="New supplier or tissue part&#10;Separate component qualification foll">
            <a:extLst xmlns:a="http://schemas.openxmlformats.org/drawingml/2006/main">
              <a:ext uri="{FF2B5EF4-FFF2-40B4-BE49-F238E27FC236}">
                <a16:creationId xmlns:a16="http://schemas.microsoft.com/office/drawing/2014/main" id="{50213813-C50B-486F-9CDA-A2C3B59AAF0F}"/>
              </a:ext>
            </a:extLst>
          </p:cNvPr>
          <p:cNvSpPr>
            <a:spLocks xmlns:a="http://schemas.openxmlformats.org/drawingml/2006/main" noGrp="1"/>
          </p:cNvSpPr>
          <p:nvPr/>
        </p:nvSpPr>
        <p:spPr>
          <a:xfrm xmlns:a="http://schemas.openxmlformats.org/drawingml/2006/main">
            <a:off x="523875" y="6477000"/>
            <a:ext cx="45243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202A34"/>
                </a:solidFill>
                <a:latin typeface="Carlito"/>
                <a:ea typeface="Carlito"/>
                <a:cs typeface="Carlito"/>
              </a:defRPr>
            </a:pPr>
            <a:r>
              <a:rPr sz="1725" b="0">
                <a:solidFill>
                  <a:srgbClr val="202A34"/>
                </a:solidFill>
                <a:latin typeface="Carlito"/>
                <a:ea typeface="Carlito"/>
                <a:cs typeface="Carlito"/>
              </a:rPr>
              <a:t>New supplier or tissue part</a:t>
            </a:r>
          </a:p>
          <a:p xmlns:a="http://schemas.openxmlformats.org/drawingml/2006/main">
            <a:pPr algn="l">
              <a:defRPr sz="1725" b="0">
                <a:solidFill>
                  <a:srgbClr val="202A34"/>
                </a:solidFill>
                <a:latin typeface="Carlito"/>
                <a:ea typeface="Carlito"/>
                <a:cs typeface="Carlito"/>
              </a:defRPr>
            </a:pPr>
            <a:r>
              <a:rPr sz="1725" b="0">
                <a:solidFill>
                  <a:srgbClr val="202A34"/>
                </a:solidFill>
                <a:latin typeface="Carlito"/>
                <a:ea typeface="Carlito"/>
                <a:cs typeface="Carlito"/>
              </a:rPr>
              <a:t>Separate component qualification follows.</a:t>
            </a:r>
          </a:p>
          <a:p xmlns:a="http://schemas.openxmlformats.org/drawingml/2006/main">
            <a:pPr algn="l">
              <a:defRPr sz="1725" b="0">
                <a:solidFill>
                  <a:srgbClr val="202A34"/>
                </a:solidFill>
                <a:latin typeface="Carlito"/>
                <a:ea typeface="Carlito"/>
                <a:cs typeface="Carlito"/>
              </a:defRPr>
            </a:pPr>
            <a:r>
              <a:rPr sz="1725" b="0">
                <a:solidFill>
                  <a:srgbClr val="202A34"/>
                </a:solidFill>
                <a:latin typeface="Carlito"/>
                <a:ea typeface="Carlito"/>
                <a:cs typeface="Carlito"/>
              </a:rPr>
              <a:t>Every lot ≥95%; approved lot count required.</a:t>
            </a:r>
          </a:p>
          <a:p xmlns:a="http://schemas.openxmlformats.org/drawingml/2006/main">
            <a:pPr algn="l">
              <a:defRPr sz="1725" b="0">
                <a:solidFill>
                  <a:srgbClr val="202A34"/>
                </a:solidFill>
                <a:latin typeface="Carlito"/>
                <a:ea typeface="Carlito"/>
                <a:cs typeface="Carlito"/>
              </a:defRPr>
            </a:pPr>
            <a:r>
              <a:rPr sz="1725" b="0">
                <a:solidFill>
                  <a:srgbClr val="202A34"/>
                </a:solidFill>
                <a:latin typeface="Carlito"/>
                <a:ea typeface="Carlito"/>
                <a:cs typeface="Carlito"/>
              </a:rPr>
              <a:t>Existing part with new personnel: assess whether</a:t>
            </a:r>
          </a:p>
          <a:p xmlns:a="http://schemas.openxmlformats.org/drawingml/2006/main">
            <a:pPr algn="l">
              <a:defRPr sz="1725" b="0">
                <a:solidFill>
                  <a:srgbClr val="202A34"/>
                </a:solidFill>
                <a:latin typeface="Carlito"/>
                <a:ea typeface="Carlito"/>
                <a:cs typeface="Carlito"/>
              </a:defRPr>
            </a:pPr>
            <a:r>
              <a:rPr sz="1725" b="0">
                <a:solidFill>
                  <a:srgbClr val="202A34"/>
                </a:solidFill>
                <a:latin typeface="Carlito"/>
                <a:ea typeface="Carlito"/>
                <a:cs typeface="Carlito"/>
              </a:rPr>
              <a:t>part requalification is needed.</a:t>
            </a:r>
          </a:p>
        </p:txBody>
      </p:sp>
      <p:sp>
        <p:nvSpPr>
          <p:cNvPr id="21" name="Not ready: return to Training Phase">
            <a:extLst xmlns:a="http://schemas.openxmlformats.org/drawingml/2006/main">
              <a:ext uri="{FF2B5EF4-FFF2-40B4-BE49-F238E27FC236}">
                <a16:creationId xmlns:a16="http://schemas.microsoft.com/office/drawing/2014/main" id="{C4024E66-AF09-4D14-BDB4-C7147A4E8C80}"/>
              </a:ext>
            </a:extLst>
          </p:cNvPr>
          <p:cNvSpPr>
            <a:spLocks xmlns:a="http://schemas.openxmlformats.org/drawingml/2006/main" noGrp="1"/>
          </p:cNvSpPr>
          <p:nvPr/>
        </p:nvSpPr>
        <p:spPr>
          <a:xfrm xmlns:a="http://schemas.openxmlformats.org/drawingml/2006/main">
            <a:off x="10144125" y="1390650"/>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B43D36"/>
                </a:solidFill>
                <a:latin typeface="Carlito"/>
                <a:ea typeface="Carlito"/>
                <a:cs typeface="Carlito"/>
              </a:defRPr>
            </a:pPr>
            <a:r>
              <a:rPr sz="1425" b="0">
                <a:solidFill>
                  <a:srgbClr val="B43D36"/>
                </a:solidFill>
                <a:latin typeface="Carlito"/>
                <a:ea typeface="Carlito"/>
                <a:cs typeface="Carlito"/>
              </a:rPr>
              <a:t>Not ready: return to Training Phase</a:t>
            </a:r>
          </a:p>
        </p:txBody>
      </p:sp>
    </p:spTree>
    <p:extLst>
      <p:ext uri="{BB962C8B-B14F-4D97-AF65-F5344CB8AC3E}">
        <p14:creationId xmlns:p14="http://schemas.microsoft.com/office/powerpoint/2010/main" val="5717673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urring low yield and recovery">
            <a:extLst xmlns:a="http://schemas.openxmlformats.org/drawingml/2006/main">
              <a:ext uri="{FF2B5EF4-FFF2-40B4-BE49-F238E27FC236}">
                <a16:creationId xmlns:a16="http://schemas.microsoft.com/office/drawing/2014/main" id="{AC32CD36-5119-4399-9B4B-D3A9D08DD0A5}"/>
              </a:ext>
            </a:extLst>
          </p:cNvPr>
          <p:cNvSpPr>
            <a:spLocks xmlns:a="http://schemas.openxmlformats.org/drawingml/2006/main" noGrp="1"/>
          </p:cNvSpPr>
          <p:nvPr/>
        </p:nvSpPr>
        <p:spPr>
          <a:xfrm xmlns:a="http://schemas.openxmlformats.org/drawingml/2006/main">
            <a:off x="523875" y="304800"/>
            <a:ext cx="1419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225" b="1">
                <a:solidFill>
                  <a:srgbClr val="202A34"/>
                </a:solidFill>
                <a:latin typeface="Carlito"/>
                <a:ea typeface="Carlito"/>
                <a:cs typeface="Carlito"/>
              </a:defRPr>
            </a:pPr>
            <a:r>
              <a:rPr sz="3225" b="1">
                <a:solidFill>
                  <a:srgbClr val="202A34"/>
                </a:solidFill>
                <a:latin typeface="Carlito"/>
                <a:ea typeface="Carlito"/>
                <a:cs typeface="Carlito"/>
              </a:rPr>
              <a:t>Recurring low yield and recovery</a:t>
            </a:r>
          </a:p>
        </p:txBody>
      </p:sp>
      <p:sp>
        <p:nvSpPr>
          <p:cNvPr id="2" name="The 95% threshold stays in force; recurring results below it trig">
            <a:extLst xmlns:a="http://schemas.openxmlformats.org/drawingml/2006/main">
              <a:ext uri="{FF2B5EF4-FFF2-40B4-BE49-F238E27FC236}">
                <a16:creationId xmlns:a16="http://schemas.microsoft.com/office/drawing/2014/main" id="{04C01DAB-7739-4FD4-9BAC-81A9434686B0}"/>
              </a:ext>
            </a:extLst>
          </p:cNvPr>
          <p:cNvSpPr>
            <a:spLocks xmlns:a="http://schemas.openxmlformats.org/drawingml/2006/main" noGrp="1"/>
          </p:cNvSpPr>
          <p:nvPr/>
        </p:nvSpPr>
        <p:spPr>
          <a:xfrm xmlns:a="http://schemas.openxmlformats.org/drawingml/2006/main">
            <a:off x="523875" y="962025"/>
            <a:ext cx="1419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202A34"/>
                </a:solidFill>
                <a:latin typeface="Carlito"/>
                <a:ea typeface="Carlito"/>
                <a:cs typeface="Carlito"/>
              </a:defRPr>
            </a:pPr>
            <a:r>
              <a:rPr sz="1800" b="0">
                <a:solidFill>
                  <a:srgbClr val="202A34"/>
                </a:solidFill>
                <a:latin typeface="Carlito"/>
                <a:ea typeface="Carlito"/>
                <a:cs typeface="Carlito"/>
              </a:rPr>
              <a:t>The 95% threshold stays in force; recurring results below it trigger inspector shadow training</a:t>
            </a:r>
          </a:p>
        </p:txBody>
      </p:sp>
      <p:sp>
        <p:nvSpPr>
          <p:cNvPr id="3" name="Review draft  •  17 September 2026     /     5">
            <a:extLst xmlns:a="http://schemas.openxmlformats.org/drawingml/2006/main">
              <a:ext uri="{FF2B5EF4-FFF2-40B4-BE49-F238E27FC236}">
                <a16:creationId xmlns:a16="http://schemas.microsoft.com/office/drawing/2014/main" id="{61E8D340-CB9C-41CD-94B1-25057745F8B5}"/>
              </a:ext>
            </a:extLst>
          </p:cNvPr>
          <p:cNvSpPr>
            <a:spLocks xmlns:a="http://schemas.openxmlformats.org/drawingml/2006/main" noGrp="1"/>
          </p:cNvSpPr>
          <p:nvPr/>
        </p:nvSpPr>
        <p:spPr>
          <a:xfrm xmlns:a="http://schemas.openxmlformats.org/drawingml/2006/main">
            <a:off x="523875" y="8229600"/>
            <a:ext cx="1419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06C"/>
                </a:solidFill>
                <a:latin typeface="Carlito"/>
                <a:ea typeface="Carlito"/>
                <a:cs typeface="Carlito"/>
              </a:defRPr>
            </a:pPr>
            <a:r>
              <a:rPr sz="1275" b="0">
                <a:solidFill>
                  <a:srgbClr val="52606C"/>
                </a:solidFill>
                <a:latin typeface="Carlito"/>
                <a:ea typeface="Carlito"/>
                <a:cs typeface="Carlito"/>
              </a:rPr>
              <a:t>Review draft  •  17 September 2026     /     5</a:t>
            </a:r>
          </a:p>
        </p:txBody>
      </p:sp>
      <p:sp>
        <p:nvSpPr>
          <p:cNvPr id="4" name="Yield below 95%&#10;Flag the result and segregate&#10;nonconforming outpu">
            <a:extLst xmlns:a="http://schemas.openxmlformats.org/drawingml/2006/main">
              <a:ext uri="{FF2B5EF4-FFF2-40B4-BE49-F238E27FC236}">
                <a16:creationId xmlns:a16="http://schemas.microsoft.com/office/drawing/2014/main" id="{9AF476B3-B45D-47CE-A3CC-BF3EB33201B4}"/>
              </a:ext>
            </a:extLst>
          </p:cNvPr>
          <p:cNvSpPr>
            <a:spLocks xmlns:a="http://schemas.openxmlformats.org/drawingml/2006/main" noGrp="1"/>
          </p:cNvSpPr>
          <p:nvPr/>
        </p:nvSpPr>
        <p:spPr>
          <a:xfrm xmlns:a="http://schemas.openxmlformats.org/drawingml/2006/main">
            <a:off x="523875" y="1762125"/>
            <a:ext cx="3810000" cy="1190625"/>
          </a:xfrm>
          <a:prstGeom xmlns:a="http://schemas.openxmlformats.org/drawingml/2006/main" prst="rect">
            <a:avLst/>
          </a:prstGeom>
          <a:solidFill xmlns:a="http://schemas.openxmlformats.org/drawingml/2006/main">
            <a:srgbClr val="FFFFFF"/>
          </a:solidFill>
          <a:ln xmlns:a="http://schemas.openxmlformats.org/drawingml/2006/main" w="13335">
            <a:solidFill>
              <a:srgbClr val="202A34"/>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Yield below 95%</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Flag the result and segregate</a:t>
            </a:r>
          </a:p>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nonconforming output</a:t>
            </a:r>
          </a:p>
        </p:txBody>
      </p:sp>
      <p:sp>
        <p:nvSpPr>
          <p:cNvPr id="5" name="Supplier Engineer and Quality review&#10;Use the approved recurrence ">
            <a:extLst xmlns:a="http://schemas.openxmlformats.org/drawingml/2006/main">
              <a:ext uri="{FF2B5EF4-FFF2-40B4-BE49-F238E27FC236}">
                <a16:creationId xmlns:a16="http://schemas.microsoft.com/office/drawing/2014/main" id="{4DCDE2DA-B1A0-45B8-B8BF-B06D0626C13D}"/>
              </a:ext>
            </a:extLst>
          </p:cNvPr>
          <p:cNvSpPr>
            <a:spLocks xmlns:a="http://schemas.openxmlformats.org/drawingml/2006/main" noGrp="1"/>
          </p:cNvSpPr>
          <p:nvPr/>
        </p:nvSpPr>
        <p:spPr>
          <a:xfrm xmlns:a="http://schemas.openxmlformats.org/drawingml/2006/main">
            <a:off x="5429250" y="1762125"/>
            <a:ext cx="4191000" cy="1190625"/>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Supplier Engineer and Quality review</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Use the approved recurrence rule</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Check technique, process and</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inspection consistency</a:t>
            </a:r>
          </a:p>
        </p:txBody>
      </p:sp>
      <p:sp>
        <p:nvSpPr>
          <p:cNvPr id="6" name="Recurring below 95%&#10;Inspector shadows harvesting technician&#10;Reinf">
            <a:extLst xmlns:a="http://schemas.openxmlformats.org/drawingml/2006/main">
              <a:ext uri="{FF2B5EF4-FFF2-40B4-BE49-F238E27FC236}">
                <a16:creationId xmlns:a16="http://schemas.microsoft.com/office/drawing/2014/main" id="{0ED5AB17-B56F-4E73-9E83-CE5DA368102C}"/>
              </a:ext>
            </a:extLst>
          </p:cNvPr>
          <p:cNvSpPr>
            <a:spLocks xmlns:a="http://schemas.openxmlformats.org/drawingml/2006/main" noGrp="1"/>
          </p:cNvSpPr>
          <p:nvPr/>
        </p:nvSpPr>
        <p:spPr>
          <a:xfrm xmlns:a="http://schemas.openxmlformats.org/drawingml/2006/main">
            <a:off x="10382250" y="1762125"/>
            <a:ext cx="4333875" cy="1504950"/>
          </a:xfrm>
          <a:prstGeom xmlns:a="http://schemas.openxmlformats.org/drawingml/2006/main" prst="rect">
            <a:avLst/>
          </a:prstGeom>
          <a:solidFill xmlns:a="http://schemas.openxmlformats.org/drawingml/2006/main">
            <a:srgbClr val="99D8AA"/>
          </a:solidFill>
          <a:ln xmlns:a="http://schemas.openxmlformats.org/drawingml/2006/main" w="13335">
            <a:solidFill>
              <a:srgbClr val="99D8AA"/>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Recurring below 95%</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Inspector shadows harvesting technician</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Reinforces training and inspects output</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Records defects and observed causes</a:t>
            </a:r>
          </a:p>
        </p:txBody>
      </p: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4333875" y="2357438"/>
            <a:ext cx="1095375" cy="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9620250" y="2357438"/>
            <a:ext cx="762000" cy="157163"/>
          </a:xfrm>
          <a:prstGeom xmlns:a="http://schemas.openxmlformats.org/drawingml/2006/main" prst="bentConnector3">
            <a:avLst>
              <a:gd name="adj1" fmla="val 50000"/>
            </a:avLst>
          </a:prstGeom>
          <a:ln xmlns:a="http://schemas.openxmlformats.org/drawingml/2006/main" w="20955">
            <a:solidFill>
              <a:srgbClr val="202A34"/>
            </a:solidFill>
            <a:prstDash val="solid"/>
            <a:tailEnd type="triangle" w="med" len="med"/>
          </a:ln>
        </p:spPr>
      </p:cxnSp>
      <p:sp>
        <p:nvSpPr>
          <p:cNvPr id="9" name="Technique corrected&#10;Fresh unassisted monitoring window&#10;≥95% first">
            <a:extLst xmlns:a="http://schemas.openxmlformats.org/drawingml/2006/main">
              <a:ext uri="{FF2B5EF4-FFF2-40B4-BE49-F238E27FC236}">
                <a16:creationId xmlns:a16="http://schemas.microsoft.com/office/drawing/2014/main" id="{AA2B4A69-4024-4A70-ACE0-E20680BEBBD3}"/>
              </a:ext>
            </a:extLst>
          </p:cNvPr>
          <p:cNvSpPr>
            <a:spLocks xmlns:a="http://schemas.openxmlformats.org/drawingml/2006/main" noGrp="1"/>
          </p:cNvSpPr>
          <p:nvPr/>
        </p:nvSpPr>
        <p:spPr>
          <a:xfrm xmlns:a="http://schemas.openxmlformats.org/drawingml/2006/main">
            <a:off x="10382250" y="4619625"/>
            <a:ext cx="4333875" cy="1304925"/>
          </a:xfrm>
          <a:prstGeom xmlns:a="http://schemas.openxmlformats.org/drawingml/2006/main" prst="rect">
            <a:avLst/>
          </a:prstGeom>
          <a:solidFill xmlns:a="http://schemas.openxmlformats.org/drawingml/2006/main">
            <a:srgbClr val="99D8AA"/>
          </a:solidFill>
          <a:ln xmlns:a="http://schemas.openxmlformats.org/drawingml/2006/main" w="13335">
            <a:solidFill>
              <a:srgbClr val="99D8AA"/>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Technique corrected</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Fresh unassisted monitoring window</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≥95% first-pass yield / ≥30 units</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≥2 consecutive harvest days</a:t>
            </a:r>
          </a:p>
        </p:txBody>
      </p:sp>
      <p:sp>
        <p:nvSpPr>
          <p:cNvPr id="10" name="Recovery approval&#10;Supplier Engineer reviews evidence&#10;Quality auth">
            <a:extLst xmlns:a="http://schemas.openxmlformats.org/drawingml/2006/main">
              <a:ext uri="{FF2B5EF4-FFF2-40B4-BE49-F238E27FC236}">
                <a16:creationId xmlns:a16="http://schemas.microsoft.com/office/drawing/2014/main" id="{73C658F0-77EC-4624-98E9-FF15520DE9A7}"/>
              </a:ext>
            </a:extLst>
          </p:cNvPr>
          <p:cNvSpPr>
            <a:spLocks xmlns:a="http://schemas.openxmlformats.org/drawingml/2006/main" noGrp="1"/>
          </p:cNvSpPr>
          <p:nvPr/>
        </p:nvSpPr>
        <p:spPr>
          <a:xfrm xmlns:a="http://schemas.openxmlformats.org/drawingml/2006/main">
            <a:off x="5429250" y="4619625"/>
            <a:ext cx="4191000" cy="1428750"/>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650">
                <a:solidFill>
                  <a:srgbClr val="202A34"/>
                </a:solidFill>
                <a:latin typeface="Carlito"/>
                <a:ea typeface="Carlito"/>
                <a:cs typeface="Carlito"/>
              </a:defRPr>
            </a:pPr>
            <a:r>
              <a:rPr sz="1650">
                <a:solidFill>
                  <a:srgbClr val="202A34"/>
                </a:solidFill>
                <a:latin typeface="Carlito"/>
                <a:ea typeface="Carlito"/>
                <a:cs typeface="Carlito"/>
              </a:rPr>
              <a:t>Recovery approval</a:t>
            </a:r>
          </a:p>
          <a:p xmlns:a="http://schemas.openxmlformats.org/drawingml/2006/main">
            <a:pPr algn="l">
              <a:defRPr sz="1650">
                <a:solidFill>
                  <a:srgbClr val="202A34"/>
                </a:solidFill>
                <a:latin typeface="Carlito"/>
                <a:ea typeface="Carlito"/>
                <a:cs typeface="Carlito"/>
              </a:defRPr>
            </a:pPr>
            <a:r>
              <a:rPr sz="1650">
                <a:solidFill>
                  <a:srgbClr val="202A34"/>
                </a:solidFill>
                <a:latin typeface="Carlito"/>
                <a:ea typeface="Carlito"/>
                <a:cs typeface="Carlito"/>
              </a:rPr>
              <a:t>Supplier Engineer reviews evidence</a:t>
            </a:r>
          </a:p>
          <a:p xmlns:a="http://schemas.openxmlformats.org/drawingml/2006/main">
            <a:pPr algn="l">
              <a:defRPr sz="1650">
                <a:solidFill>
                  <a:srgbClr val="202A34"/>
                </a:solidFill>
                <a:latin typeface="Carlito"/>
                <a:ea typeface="Carlito"/>
                <a:cs typeface="Carlito"/>
              </a:defRPr>
            </a:pPr>
            <a:r>
              <a:rPr sz="1650">
                <a:solidFill>
                  <a:srgbClr val="202A34"/>
                </a:solidFill>
                <a:latin typeface="Carlito"/>
                <a:ea typeface="Carlito"/>
                <a:cs typeface="Carlito"/>
              </a:rPr>
              <a:t>Quality authorizes return to routine work</a:t>
            </a:r>
          </a:p>
          <a:p xmlns:a="http://schemas.openxmlformats.org/drawingml/2006/main">
            <a:pPr algn="l">
              <a:defRPr sz="1650">
                <a:solidFill>
                  <a:srgbClr val="202A34"/>
                </a:solidFill>
                <a:latin typeface="Carlito"/>
                <a:ea typeface="Carlito"/>
                <a:cs typeface="Carlito"/>
              </a:defRPr>
            </a:pPr>
            <a:r>
              <a:rPr sz="1650">
                <a:solidFill>
                  <a:srgbClr val="202A34"/>
                </a:solidFill>
                <a:latin typeface="Carlito"/>
                <a:ea typeface="Carlito"/>
                <a:cs typeface="Carlito"/>
              </a:rPr>
              <a:t>Update status and training records</a:t>
            </a:r>
          </a:p>
        </p:txBody>
      </p:sp>
      <p:sp>
        <p:nvSpPr>
          <p:cNvPr id="11" name="Routine work and trend review&#10;Independent incoming inspection&#10;con">
            <a:extLst xmlns:a="http://schemas.openxmlformats.org/drawingml/2006/main">
              <a:ext uri="{FF2B5EF4-FFF2-40B4-BE49-F238E27FC236}">
                <a16:creationId xmlns:a16="http://schemas.microsoft.com/office/drawing/2014/main" id="{90031073-442E-4323-9AFB-74167517B26A}"/>
              </a:ext>
            </a:extLst>
          </p:cNvPr>
          <p:cNvSpPr>
            <a:spLocks xmlns:a="http://schemas.openxmlformats.org/drawingml/2006/main" noGrp="1"/>
          </p:cNvSpPr>
          <p:nvPr/>
        </p:nvSpPr>
        <p:spPr>
          <a:xfrm xmlns:a="http://schemas.openxmlformats.org/drawingml/2006/main">
            <a:off x="523875" y="4619625"/>
            <a:ext cx="3810000" cy="1304925"/>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Routine work and trend review</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Independent incoming inspection</a:t>
            </a:r>
          </a:p>
          <a:p xmlns:a="http://schemas.openxmlformats.org/drawingml/2006/main">
            <a:pPr algn="l">
              <a:defRPr sz="1800">
                <a:solidFill>
                  <a:srgbClr val="202A34"/>
                </a:solidFill>
                <a:latin typeface="Carlito"/>
                <a:ea typeface="Carlito"/>
                <a:cs typeface="Carlito"/>
              </a:defRPr>
            </a:pPr>
            <a:r>
              <a:rPr sz="1800">
                <a:solidFill>
                  <a:srgbClr val="202A34"/>
                </a:solidFill>
                <a:latin typeface="Carlito"/>
                <a:ea typeface="Carlito"/>
                <a:cs typeface="Carlito"/>
              </a:rPr>
              <a:t>continues at Advanced Tissue Models</a:t>
            </a:r>
          </a:p>
        </p:txBody>
      </p:sp>
      <p:cxnSp>
        <p:nvCxnSpPr>
          <p:cNvPr id="30" name=""/>
          <p:cNvCxnSpPr>
            <a:stCxn xmlns:a="http://schemas.openxmlformats.org/drawingml/2006/main" id="6" idx="2"/>
            <a:endCxn xmlns:a="http://schemas.openxmlformats.org/drawingml/2006/main" id="9" idx="0"/>
          </p:cNvCxnSpPr>
          <p:nvPr/>
        </p:nvCxnSpPr>
        <p:spPr>
          <a:xfrm xmlns:a="http://schemas.openxmlformats.org/drawingml/2006/main">
            <a:off x="12549188" y="3267075"/>
            <a:ext cx="0" cy="1352550"/>
          </a:xfrm>
          <a:prstGeom xmlns:a="http://schemas.openxmlformats.org/drawingml/2006/main" prst="straightConnector1">
            <a:avLst/>
          </a:prstGeom>
          <a:ln xmlns:a="http://schemas.openxmlformats.org/drawingml/2006/main" w="20955">
            <a:solidFill>
              <a:srgbClr val="202A34"/>
            </a:solidFill>
            <a:prstDash val="solid"/>
            <a:tailEnd type="triangle" w="med" len="med"/>
          </a:ln>
        </p:spPr>
      </p:cxnSp>
      <p:cxnSp>
        <p:nvCxnSpPr>
          <p:cNvPr id="31" name=""/>
          <p:cNvCxnSpPr>
            <a:stCxn xmlns:a="http://schemas.openxmlformats.org/drawingml/2006/main" id="9" idx="1"/>
            <a:endCxn xmlns:a="http://schemas.openxmlformats.org/drawingml/2006/main" id="10" idx="3"/>
          </p:cNvCxnSpPr>
          <p:nvPr/>
        </p:nvCxnSpPr>
        <p:spPr>
          <a:xfrm xmlns:a="http://schemas.openxmlformats.org/drawingml/2006/main" flipH="1">
            <a:off x="9620250" y="5272088"/>
            <a:ext cx="762000" cy="61913"/>
          </a:xfrm>
          <a:prstGeom xmlns:a="http://schemas.openxmlformats.org/drawingml/2006/main" prst="bentConnector3">
            <a:avLst>
              <a:gd name="adj1" fmla="val 50000"/>
            </a:avLst>
          </a:prstGeom>
          <a:ln xmlns:a="http://schemas.openxmlformats.org/drawingml/2006/main" w="20955">
            <a:solidFill>
              <a:srgbClr val="202A34"/>
            </a:solidFill>
            <a:prstDash val="solid"/>
            <a:tailEnd type="triangle" w="med" len="med"/>
          </a:ln>
        </p:spPr>
      </p:cxnSp>
      <p:cxnSp>
        <p:nvCxnSpPr>
          <p:cNvPr id="32" name=""/>
          <p:cNvCxnSpPr>
            <a:stCxn xmlns:a="http://schemas.openxmlformats.org/drawingml/2006/main" id="10" idx="1"/>
            <a:endCxn xmlns:a="http://schemas.openxmlformats.org/drawingml/2006/main" id="11" idx="3"/>
          </p:cNvCxnSpPr>
          <p:nvPr/>
        </p:nvCxnSpPr>
        <p:spPr>
          <a:xfrm xmlns:a="http://schemas.openxmlformats.org/drawingml/2006/main" flipH="1" flipV="1">
            <a:off x="4333875" y="5272088"/>
            <a:ext cx="1095375" cy="61913"/>
          </a:xfrm>
          <a:prstGeom xmlns:a="http://schemas.openxmlformats.org/drawingml/2006/main" prst="bentConnector3">
            <a:avLst>
              <a:gd name="adj1" fmla="val 50000"/>
            </a:avLst>
          </a:prstGeom>
          <a:ln xmlns:a="http://schemas.openxmlformats.org/drawingml/2006/main" w="20955">
            <a:solidFill>
              <a:srgbClr val="202A34"/>
            </a:solidFill>
            <a:prstDash val="solid"/>
            <a:tailEnd type="triangle" w="med" len="med"/>
          </a:ln>
        </p:spPr>
      </p:cxnSp>
      <p:sp>
        <p:nvSpPr>
          <p:cNvPr id="15" name="Gate passed">
            <a:extLst xmlns:a="http://schemas.openxmlformats.org/drawingml/2006/main">
              <a:ext uri="{FF2B5EF4-FFF2-40B4-BE49-F238E27FC236}">
                <a16:creationId xmlns:a16="http://schemas.microsoft.com/office/drawing/2014/main" id="{2C70730F-A526-4C62-BF24-8ADCB1103054}"/>
              </a:ext>
            </a:extLst>
          </p:cNvPr>
          <p:cNvSpPr>
            <a:spLocks xmlns:a="http://schemas.openxmlformats.org/drawingml/2006/main" noGrp="1"/>
          </p:cNvSpPr>
          <p:nvPr/>
        </p:nvSpPr>
        <p:spPr>
          <a:xfrm xmlns:a="http://schemas.openxmlformats.org/drawingml/2006/main">
            <a:off x="9239250" y="614362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1">
                <a:solidFill>
                  <a:srgbClr val="202A34"/>
                </a:solidFill>
                <a:latin typeface="Carlito"/>
                <a:ea typeface="Carlito"/>
                <a:cs typeface="Carlito"/>
              </a:defRPr>
            </a:pPr>
            <a:r>
              <a:rPr sz="1650" b="1">
                <a:solidFill>
                  <a:srgbClr val="202A34"/>
                </a:solidFill>
                <a:latin typeface="Carlito"/>
                <a:ea typeface="Carlito"/>
                <a:cs typeface="Carlito"/>
              </a:rPr>
              <a:t>Gate passed</a:t>
            </a:r>
          </a:p>
        </p:txBody>
      </p:sp>
      <p:sp>
        <p:nvSpPr>
          <p:cNvPr id="16" name="Gate not met: keep monitoring controls and repeat training or cor">
            <a:extLst xmlns:a="http://schemas.openxmlformats.org/drawingml/2006/main">
              <a:ext uri="{FF2B5EF4-FFF2-40B4-BE49-F238E27FC236}">
                <a16:creationId xmlns:a16="http://schemas.microsoft.com/office/drawing/2014/main" id="{BD98E077-2D9C-4C7C-9A33-7220BFE7803C}"/>
              </a:ext>
            </a:extLst>
          </p:cNvPr>
          <p:cNvSpPr>
            <a:spLocks xmlns:a="http://schemas.openxmlformats.org/drawingml/2006/main" noGrp="1"/>
          </p:cNvSpPr>
          <p:nvPr/>
        </p:nvSpPr>
        <p:spPr>
          <a:xfrm xmlns:a="http://schemas.openxmlformats.org/drawingml/2006/main">
            <a:off x="5810250" y="6667500"/>
            <a:ext cx="8905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B43D36"/>
                </a:solidFill>
                <a:latin typeface="Carlito"/>
                <a:ea typeface="Carlito"/>
                <a:cs typeface="Carlito"/>
              </a:defRPr>
            </a:pPr>
            <a:r>
              <a:rPr sz="1875" b="1">
                <a:solidFill>
                  <a:srgbClr val="B43D36"/>
                </a:solidFill>
                <a:latin typeface="Carlito"/>
                <a:ea typeface="Carlito"/>
                <a:cs typeface="Carlito"/>
              </a:rPr>
              <a:t>Gate not met: keep monitoring controls and repeat training or correct the process</a:t>
            </a:r>
          </a:p>
        </p:txBody>
      </p:sp>
      <p:sp>
        <p:nvSpPr>
          <p:cNvPr id="17" name="Process or material cause: correct the process and assess part re">
            <a:extLst xmlns:a="http://schemas.openxmlformats.org/drawingml/2006/main">
              <a:ext uri="{FF2B5EF4-FFF2-40B4-BE49-F238E27FC236}">
                <a16:creationId xmlns:a16="http://schemas.microsoft.com/office/drawing/2014/main" id="{28F652FA-812E-4B70-96B3-931587CEB413}"/>
              </a:ext>
            </a:extLst>
          </p:cNvPr>
          <p:cNvSpPr>
            <a:spLocks xmlns:a="http://schemas.openxmlformats.org/drawingml/2006/main" noGrp="1"/>
          </p:cNvSpPr>
          <p:nvPr/>
        </p:nvSpPr>
        <p:spPr>
          <a:xfrm xmlns:a="http://schemas.openxmlformats.org/drawingml/2006/main">
            <a:off x="523875" y="3286125"/>
            <a:ext cx="919162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202A34"/>
                </a:solidFill>
                <a:latin typeface="Carlito"/>
                <a:ea typeface="Carlito"/>
                <a:cs typeface="Carlito"/>
              </a:defRPr>
            </a:pPr>
            <a:r>
              <a:rPr sz="1875" b="0">
                <a:solidFill>
                  <a:srgbClr val="202A34"/>
                </a:solidFill>
                <a:latin typeface="Carlito"/>
                <a:ea typeface="Carlito"/>
                <a:cs typeface="Carlito"/>
              </a:rPr>
              <a:t>Process or material cause: correct the process and assess part requalification.</a:t>
            </a:r>
          </a:p>
          <a:p xmlns:a="http://schemas.openxmlformats.org/drawingml/2006/main">
            <a:pPr algn="l">
              <a:defRPr sz="1875" b="0">
                <a:solidFill>
                  <a:srgbClr val="202A34"/>
                </a:solidFill>
                <a:latin typeface="Carlito"/>
                <a:ea typeface="Carlito"/>
                <a:cs typeface="Carlito"/>
              </a:defRPr>
            </a:pPr>
            <a:r>
              <a:rPr sz="1875" b="0">
                <a:solidFill>
                  <a:srgbClr val="202A34"/>
                </a:solidFill>
                <a:latin typeface="Carlito"/>
                <a:ea typeface="Carlito"/>
                <a:cs typeface="Carlito"/>
              </a:rPr>
              <a:t>Supplier-site versus receipt difference: investigate handling, freezing and transport.</a:t>
            </a:r>
          </a:p>
          <a:p xmlns:a="http://schemas.openxmlformats.org/drawingml/2006/main">
            <a:pPr algn="l">
              <a:defRPr sz="1875" b="0">
                <a:solidFill>
                  <a:srgbClr val="202A34"/>
                </a:solidFill>
                <a:latin typeface="Carlito"/>
                <a:ea typeface="Carlito"/>
                <a:cs typeface="Carlito"/>
              </a:defRPr>
            </a:pPr>
            <a:r>
              <a:rPr sz="1875" b="0">
                <a:solidFill>
                  <a:srgbClr val="202A34"/>
                </a:solidFill>
                <a:latin typeface="Carlito"/>
                <a:ea typeface="Carlito"/>
                <a:cs typeface="Carlito"/>
              </a:rPr>
              <a:t>Do not assign a cause to the technician from yield alone.</a:t>
            </a:r>
          </a:p>
        </p:txBody>
      </p:sp>
      <p:sp>
        <p:nvSpPr>
          <p:cNvPr id="18" name="Exception path: Quality approves the scope, duration, added inspe">
            <a:extLst xmlns:a="http://schemas.openxmlformats.org/drawingml/2006/main">
              <a:ext uri="{FF2B5EF4-FFF2-40B4-BE49-F238E27FC236}">
                <a16:creationId xmlns:a16="http://schemas.microsoft.com/office/drawing/2014/main" id="{C8F036F3-6A52-476E-BE93-EF6CB724C9E9}"/>
              </a:ext>
            </a:extLst>
          </p:cNvPr>
          <p:cNvSpPr>
            <a:spLocks xmlns:a="http://schemas.openxmlformats.org/drawingml/2006/main" noGrp="1"/>
          </p:cNvSpPr>
          <p:nvPr/>
        </p:nvSpPr>
        <p:spPr>
          <a:xfrm xmlns:a="http://schemas.openxmlformats.org/drawingml/2006/main">
            <a:off x="523875" y="7486650"/>
            <a:ext cx="1419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202A34"/>
                </a:solidFill>
                <a:latin typeface="Carlito"/>
                <a:ea typeface="Carlito"/>
                <a:cs typeface="Carlito"/>
              </a:defRPr>
            </a:pPr>
            <a:r>
              <a:rPr sz="1725" b="0">
                <a:solidFill>
                  <a:srgbClr val="202A34"/>
                </a:solidFill>
                <a:latin typeface="Carlito"/>
                <a:ea typeface="Carlito"/>
                <a:cs typeface="Carlito"/>
              </a:rPr>
              <a:t>Exception path: Quality approves the scope, duration, added inspection and exit criteria in writing before work.</a:t>
            </a:r>
          </a:p>
          <a:p xmlns:a="http://schemas.openxmlformats.org/drawingml/2006/main">
            <a:pPr algn="l">
              <a:defRPr sz="1725" b="0">
                <a:solidFill>
                  <a:srgbClr val="202A34"/>
                </a:solidFill>
                <a:latin typeface="Carlito"/>
                <a:ea typeface="Carlito"/>
                <a:cs typeface="Carlito"/>
              </a:defRPr>
            </a:pPr>
            <a:r>
              <a:rPr sz="1725" b="0">
                <a:solidFill>
                  <a:srgbClr val="202A34"/>
                </a:solidFill>
                <a:latin typeface="Carlito"/>
                <a:ea typeface="Carlito"/>
                <a:cs typeface="Carlito"/>
              </a:rPr>
              <a:t>Expiration ends the authorization. A deviation does not certify personnel, qualify a part or release nonconforming tissue.</a:t>
            </a:r>
          </a:p>
        </p:txBody>
      </p:sp>
    </p:spTree>
    <p:extLst>
      <p:ext uri="{BB962C8B-B14F-4D97-AF65-F5344CB8AC3E}">
        <p14:creationId xmlns:p14="http://schemas.microsoft.com/office/powerpoint/2010/main" val="11777173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Entry paths and qualification boundaries">
            <a:extLst xmlns:a="http://schemas.openxmlformats.org/drawingml/2006/main">
              <a:ext uri="{FF2B5EF4-FFF2-40B4-BE49-F238E27FC236}">
                <a16:creationId xmlns:a16="http://schemas.microsoft.com/office/drawing/2014/main" id="{A3E0D28A-3F83-40DE-A967-9B1787B99FC7}"/>
              </a:ext>
            </a:extLst>
          </p:cNvPr>
          <p:cNvSpPr>
            <a:spLocks xmlns:a="http://schemas.openxmlformats.org/drawingml/2006/main" noGrp="1"/>
          </p:cNvSpPr>
          <p:nvPr/>
        </p:nvSpPr>
        <p:spPr>
          <a:xfrm xmlns:a="http://schemas.openxmlformats.org/drawingml/2006/main">
            <a:off x="523875" y="304800"/>
            <a:ext cx="1419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225" b="1">
                <a:solidFill>
                  <a:srgbClr val="202A34"/>
                </a:solidFill>
                <a:latin typeface="Carlito"/>
                <a:ea typeface="Carlito"/>
                <a:cs typeface="Carlito"/>
              </a:defRPr>
            </a:pPr>
            <a:r>
              <a:rPr sz="3225" b="1">
                <a:solidFill>
                  <a:srgbClr val="202A34"/>
                </a:solidFill>
                <a:latin typeface="Carlito"/>
                <a:ea typeface="Carlito"/>
                <a:cs typeface="Carlito"/>
              </a:rPr>
              <a:t>Entry paths and qualification boundaries</a:t>
            </a:r>
          </a:p>
        </p:txBody>
      </p:sp>
      <p:sp>
        <p:nvSpPr>
          <p:cNvPr id="2" name="Each trigger enters the appropriate stage without repeating unrel">
            <a:extLst xmlns:a="http://schemas.openxmlformats.org/drawingml/2006/main">
              <a:ext uri="{FF2B5EF4-FFF2-40B4-BE49-F238E27FC236}">
                <a16:creationId xmlns:a16="http://schemas.microsoft.com/office/drawing/2014/main" id="{EA997820-E3F4-4275-BEF3-9F657477B400}"/>
              </a:ext>
            </a:extLst>
          </p:cNvPr>
          <p:cNvSpPr>
            <a:spLocks xmlns:a="http://schemas.openxmlformats.org/drawingml/2006/main" noGrp="1"/>
          </p:cNvSpPr>
          <p:nvPr/>
        </p:nvSpPr>
        <p:spPr>
          <a:xfrm xmlns:a="http://schemas.openxmlformats.org/drawingml/2006/main">
            <a:off x="523875" y="962025"/>
            <a:ext cx="1419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202A34"/>
                </a:solidFill>
                <a:latin typeface="Carlito"/>
                <a:ea typeface="Carlito"/>
                <a:cs typeface="Carlito"/>
              </a:defRPr>
            </a:pPr>
            <a:r>
              <a:rPr sz="1800" b="0">
                <a:solidFill>
                  <a:srgbClr val="202A34"/>
                </a:solidFill>
                <a:latin typeface="Carlito"/>
                <a:ea typeface="Carlito"/>
                <a:cs typeface="Carlito"/>
              </a:rPr>
              <a:t>Each trigger enters the appropriate stage without repeating unrelated approvals</a:t>
            </a:r>
          </a:p>
        </p:txBody>
      </p:sp>
      <p:sp>
        <p:nvSpPr>
          <p:cNvPr id="3" name="Review draft  •  17 September 2026     /     6">
            <a:extLst xmlns:a="http://schemas.openxmlformats.org/drawingml/2006/main">
              <a:ext uri="{FF2B5EF4-FFF2-40B4-BE49-F238E27FC236}">
                <a16:creationId xmlns:a16="http://schemas.microsoft.com/office/drawing/2014/main" id="{599C770E-D941-4420-BA8D-3BC383E99FD4}"/>
              </a:ext>
            </a:extLst>
          </p:cNvPr>
          <p:cNvSpPr>
            <a:spLocks xmlns:a="http://schemas.openxmlformats.org/drawingml/2006/main" noGrp="1"/>
          </p:cNvSpPr>
          <p:nvPr/>
        </p:nvSpPr>
        <p:spPr>
          <a:xfrm xmlns:a="http://schemas.openxmlformats.org/drawingml/2006/main">
            <a:off x="523875" y="8229600"/>
            <a:ext cx="1419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06C"/>
                </a:solidFill>
                <a:latin typeface="Carlito"/>
                <a:ea typeface="Carlito"/>
                <a:cs typeface="Carlito"/>
              </a:defRPr>
            </a:pPr>
            <a:r>
              <a:rPr sz="1275" b="0">
                <a:solidFill>
                  <a:srgbClr val="52606C"/>
                </a:solidFill>
                <a:latin typeface="Carlito"/>
                <a:ea typeface="Carlito"/>
                <a:cs typeface="Carlito"/>
              </a:rPr>
              <a:t>Review draft  •  17 September 2026     /     6</a:t>
            </a:r>
          </a:p>
        </p:txBody>
      </p:sp>
      <p:sp>
        <p:nvSpPr>
          <p:cNvPr id="4" name="Trigger">
            <a:extLst xmlns:a="http://schemas.openxmlformats.org/drawingml/2006/main">
              <a:ext uri="{FF2B5EF4-FFF2-40B4-BE49-F238E27FC236}">
                <a16:creationId xmlns:a16="http://schemas.microsoft.com/office/drawing/2014/main" id="{4DF8C799-8127-401E-9F75-9995D6284D5C}"/>
              </a:ext>
            </a:extLst>
          </p:cNvPr>
          <p:cNvSpPr>
            <a:spLocks xmlns:a="http://schemas.openxmlformats.org/drawingml/2006/main" noGrp="1"/>
          </p:cNvSpPr>
          <p:nvPr/>
        </p:nvSpPr>
        <p:spPr>
          <a:xfrm xmlns:a="http://schemas.openxmlformats.org/drawingml/2006/main">
            <a:off x="523875" y="1828800"/>
            <a:ext cx="4191000" cy="552450"/>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Trigger</a:t>
            </a:r>
          </a:p>
        </p:txBody>
      </p:sp>
      <p:sp>
        <p:nvSpPr>
          <p:cNvPr id="5" name="Personnel route">
            <a:extLst xmlns:a="http://schemas.openxmlformats.org/drawingml/2006/main">
              <a:ext uri="{FF2B5EF4-FFF2-40B4-BE49-F238E27FC236}">
                <a16:creationId xmlns:a16="http://schemas.microsoft.com/office/drawing/2014/main" id="{9F721FCD-2E6C-4EBC-AF38-350FC7B3725D}"/>
              </a:ext>
            </a:extLst>
          </p:cNvPr>
          <p:cNvSpPr>
            <a:spLocks xmlns:a="http://schemas.openxmlformats.org/drawingml/2006/main" noGrp="1"/>
          </p:cNvSpPr>
          <p:nvPr/>
        </p:nvSpPr>
        <p:spPr>
          <a:xfrm xmlns:a="http://schemas.openxmlformats.org/drawingml/2006/main">
            <a:off x="4714875" y="1828800"/>
            <a:ext cx="5095875" cy="552450"/>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Personnel route</a:t>
            </a:r>
          </a:p>
        </p:txBody>
      </p:sp>
      <p:sp>
        <p:nvSpPr>
          <p:cNvPr id="6" name="Component qualification">
            <a:extLst xmlns:a="http://schemas.openxmlformats.org/drawingml/2006/main">
              <a:ext uri="{FF2B5EF4-FFF2-40B4-BE49-F238E27FC236}">
                <a16:creationId xmlns:a16="http://schemas.microsoft.com/office/drawing/2014/main" id="{CAFE5E6E-B5DD-49AA-BB3B-DD4FD74BC04D}"/>
              </a:ext>
            </a:extLst>
          </p:cNvPr>
          <p:cNvSpPr>
            <a:spLocks xmlns:a="http://schemas.openxmlformats.org/drawingml/2006/main" noGrp="1"/>
          </p:cNvSpPr>
          <p:nvPr/>
        </p:nvSpPr>
        <p:spPr>
          <a:xfrm xmlns:a="http://schemas.openxmlformats.org/drawingml/2006/main">
            <a:off x="9810750" y="1828800"/>
            <a:ext cx="4905375" cy="552450"/>
          </a:xfrm>
          <a:prstGeom xmlns:a="http://schemas.openxmlformats.org/drawingml/2006/main" prst="rect">
            <a:avLst/>
          </a:prstGeom>
          <a:solidFill xmlns:a="http://schemas.openxmlformats.org/drawingml/2006/main">
            <a:srgbClr val="318DFF"/>
          </a:solidFill>
          <a:ln xmlns:a="http://schemas.openxmlformats.org/drawingml/2006/main" w="13335">
            <a:solidFill>
              <a:srgbClr val="318DFF"/>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875">
                <a:solidFill>
                  <a:srgbClr val="202A34"/>
                </a:solidFill>
                <a:latin typeface="Carlito"/>
                <a:ea typeface="Carlito"/>
                <a:cs typeface="Carlito"/>
              </a:defRPr>
            </a:pPr>
            <a:r>
              <a:rPr sz="1875">
                <a:solidFill>
                  <a:srgbClr val="202A34"/>
                </a:solidFill>
                <a:latin typeface="Carlito"/>
                <a:ea typeface="Carlito"/>
                <a:cs typeface="Carlito"/>
              </a:rPr>
              <a:t>Component qualification</a:t>
            </a:r>
          </a:p>
        </p:txBody>
      </p:sp>
      <p:sp>
        <p:nvSpPr>
          <p:cNvPr id="7" name="New supplier, new or existing tissue">
            <a:extLst xmlns:a="http://schemas.openxmlformats.org/drawingml/2006/main">
              <a:ext uri="{FF2B5EF4-FFF2-40B4-BE49-F238E27FC236}">
                <a16:creationId xmlns:a16="http://schemas.microsoft.com/office/drawing/2014/main" id="{23427780-12C8-4643-AF2F-056D64411715}"/>
              </a:ext>
            </a:extLst>
          </p:cNvPr>
          <p:cNvSpPr>
            <a:spLocks xmlns:a="http://schemas.openxmlformats.org/drawingml/2006/main" noGrp="1"/>
          </p:cNvSpPr>
          <p:nvPr/>
        </p:nvSpPr>
        <p:spPr>
          <a:xfrm xmlns:a="http://schemas.openxmlformats.org/drawingml/2006/main">
            <a:off x="523875" y="2381250"/>
            <a:ext cx="4191000" cy="752475"/>
          </a:xfrm>
          <a:prstGeom xmlns:a="http://schemas.openxmlformats.org/drawingml/2006/main" prst="rect">
            <a:avLst/>
          </a:prstGeom>
          <a:solidFill xmlns:a="http://schemas.openxmlformats.org/drawingml/2006/main">
            <a:srgbClr val="EAF0F5"/>
          </a:solidFill>
          <a:ln xmlns:a="http://schemas.openxmlformats.org/drawingml/2006/main" w="13335">
            <a:solidFill>
              <a:srgbClr val="EAF0F5"/>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New supplier, new or existing tissue</a:t>
            </a:r>
          </a:p>
        </p:txBody>
      </p:sp>
      <p:sp>
        <p:nvSpPr>
          <p:cNvPr id="8" name="Full training, monitoring and certification">
            <a:extLst xmlns:a="http://schemas.openxmlformats.org/drawingml/2006/main">
              <a:ext uri="{FF2B5EF4-FFF2-40B4-BE49-F238E27FC236}">
                <a16:creationId xmlns:a16="http://schemas.microsoft.com/office/drawing/2014/main" id="{230EEBB2-0DC6-4963-9B28-7EA7365F06F0}"/>
              </a:ext>
            </a:extLst>
          </p:cNvPr>
          <p:cNvSpPr>
            <a:spLocks xmlns:a="http://schemas.openxmlformats.org/drawingml/2006/main" noGrp="1"/>
          </p:cNvSpPr>
          <p:nvPr/>
        </p:nvSpPr>
        <p:spPr>
          <a:xfrm xmlns:a="http://schemas.openxmlformats.org/drawingml/2006/main">
            <a:off x="4714875" y="2381250"/>
            <a:ext cx="5095875" cy="752475"/>
          </a:xfrm>
          <a:prstGeom xmlns:a="http://schemas.openxmlformats.org/drawingml/2006/main" prst="rect">
            <a:avLst/>
          </a:prstGeom>
          <a:solidFill xmlns:a="http://schemas.openxmlformats.org/drawingml/2006/main">
            <a:srgbClr val="EAF0F5"/>
          </a:solidFill>
          <a:ln xmlns:a="http://schemas.openxmlformats.org/drawingml/2006/main" w="13335">
            <a:solidFill>
              <a:srgbClr val="EAF0F5"/>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Full training, monitoring and certification</a:t>
            </a:r>
          </a:p>
        </p:txBody>
      </p:sp>
      <p:sp>
        <p:nvSpPr>
          <p:cNvPr id="9" name="Required for the supplier/site and part">
            <a:extLst xmlns:a="http://schemas.openxmlformats.org/drawingml/2006/main">
              <a:ext uri="{FF2B5EF4-FFF2-40B4-BE49-F238E27FC236}">
                <a16:creationId xmlns:a16="http://schemas.microsoft.com/office/drawing/2014/main" id="{216BCB5D-DEF1-42F6-9281-8A6DF7AB3C34}"/>
              </a:ext>
            </a:extLst>
          </p:cNvPr>
          <p:cNvSpPr>
            <a:spLocks xmlns:a="http://schemas.openxmlformats.org/drawingml/2006/main" noGrp="1"/>
          </p:cNvSpPr>
          <p:nvPr/>
        </p:nvSpPr>
        <p:spPr>
          <a:xfrm xmlns:a="http://schemas.openxmlformats.org/drawingml/2006/main">
            <a:off x="9810750" y="2381250"/>
            <a:ext cx="4905375" cy="752475"/>
          </a:xfrm>
          <a:prstGeom xmlns:a="http://schemas.openxmlformats.org/drawingml/2006/main" prst="rect">
            <a:avLst/>
          </a:prstGeom>
          <a:solidFill xmlns:a="http://schemas.openxmlformats.org/drawingml/2006/main">
            <a:srgbClr val="EAF0F5"/>
          </a:solidFill>
          <a:ln xmlns:a="http://schemas.openxmlformats.org/drawingml/2006/main" w="13335">
            <a:solidFill>
              <a:srgbClr val="EAF0F5"/>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Required for the supplier/site and part</a:t>
            </a:r>
          </a:p>
        </p:txBody>
      </p:sp>
      <p:sp>
        <p:nvSpPr>
          <p:cNvPr id="10" name="Existing supplier, new tissue">
            <a:extLst xmlns:a="http://schemas.openxmlformats.org/drawingml/2006/main">
              <a:ext uri="{FF2B5EF4-FFF2-40B4-BE49-F238E27FC236}">
                <a16:creationId xmlns:a16="http://schemas.microsoft.com/office/drawing/2014/main" id="{4E9360DB-31E3-42AA-846F-E8F71D6B5493}"/>
              </a:ext>
            </a:extLst>
          </p:cNvPr>
          <p:cNvSpPr>
            <a:spLocks xmlns:a="http://schemas.openxmlformats.org/drawingml/2006/main" noGrp="1"/>
          </p:cNvSpPr>
          <p:nvPr/>
        </p:nvSpPr>
        <p:spPr>
          <a:xfrm xmlns:a="http://schemas.openxmlformats.org/drawingml/2006/main">
            <a:off x="523875" y="3133725"/>
            <a:ext cx="4191000"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202A34"/>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Existing supplier, new tissue</a:t>
            </a:r>
          </a:p>
        </p:txBody>
      </p:sp>
      <p:sp>
        <p:nvSpPr>
          <p:cNvPr id="11" name="Family-specific training and certification">
            <a:extLst xmlns:a="http://schemas.openxmlformats.org/drawingml/2006/main">
              <a:ext uri="{FF2B5EF4-FFF2-40B4-BE49-F238E27FC236}">
                <a16:creationId xmlns:a16="http://schemas.microsoft.com/office/drawing/2014/main" id="{4416A272-A35A-4431-B75A-A8726E8431DA}"/>
              </a:ext>
            </a:extLst>
          </p:cNvPr>
          <p:cNvSpPr>
            <a:spLocks xmlns:a="http://schemas.openxmlformats.org/drawingml/2006/main" noGrp="1"/>
          </p:cNvSpPr>
          <p:nvPr/>
        </p:nvSpPr>
        <p:spPr>
          <a:xfrm xmlns:a="http://schemas.openxmlformats.org/drawingml/2006/main">
            <a:off x="4714875" y="3133725"/>
            <a:ext cx="5095875"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202A34"/>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Family-specific training and certification</a:t>
            </a:r>
          </a:p>
        </p:txBody>
      </p:sp>
      <p:sp>
        <p:nvSpPr>
          <p:cNvPr id="12" name="Required for the new part scope">
            <a:extLst xmlns:a="http://schemas.openxmlformats.org/drawingml/2006/main">
              <a:ext uri="{FF2B5EF4-FFF2-40B4-BE49-F238E27FC236}">
                <a16:creationId xmlns:a16="http://schemas.microsoft.com/office/drawing/2014/main" id="{5C33CE1C-0B84-4DB2-9A3C-A79B36823753}"/>
              </a:ext>
            </a:extLst>
          </p:cNvPr>
          <p:cNvSpPr>
            <a:spLocks xmlns:a="http://schemas.openxmlformats.org/drawingml/2006/main" noGrp="1"/>
          </p:cNvSpPr>
          <p:nvPr/>
        </p:nvSpPr>
        <p:spPr>
          <a:xfrm xmlns:a="http://schemas.openxmlformats.org/drawingml/2006/main">
            <a:off x="9810750" y="3133725"/>
            <a:ext cx="4905375"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202A34"/>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Required for the new part scope</a:t>
            </a:r>
          </a:p>
        </p:txBody>
      </p:sp>
      <p:sp>
        <p:nvSpPr>
          <p:cNvPr id="13" name="New or reassigned personnel, existing part">
            <a:extLst xmlns:a="http://schemas.openxmlformats.org/drawingml/2006/main">
              <a:ext uri="{FF2B5EF4-FFF2-40B4-BE49-F238E27FC236}">
                <a16:creationId xmlns:a16="http://schemas.microsoft.com/office/drawing/2014/main" id="{4009834B-310E-4FC5-9F8F-34DB235E28BA}"/>
              </a:ext>
            </a:extLst>
          </p:cNvPr>
          <p:cNvSpPr>
            <a:spLocks xmlns:a="http://schemas.openxmlformats.org/drawingml/2006/main" noGrp="1"/>
          </p:cNvSpPr>
          <p:nvPr/>
        </p:nvSpPr>
        <p:spPr>
          <a:xfrm xmlns:a="http://schemas.openxmlformats.org/drawingml/2006/main">
            <a:off x="523875" y="3886200"/>
            <a:ext cx="4191000" cy="752475"/>
          </a:xfrm>
          <a:prstGeom xmlns:a="http://schemas.openxmlformats.org/drawingml/2006/main" prst="rect">
            <a:avLst/>
          </a:prstGeom>
          <a:solidFill xmlns:a="http://schemas.openxmlformats.org/drawingml/2006/main">
            <a:srgbClr val="EAF0F5"/>
          </a:solidFill>
          <a:ln xmlns:a="http://schemas.openxmlformats.org/drawingml/2006/main" w="13335">
            <a:solidFill>
              <a:srgbClr val="EAF0F5"/>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New or reassigned personnel, existing part</a:t>
            </a:r>
          </a:p>
        </p:txBody>
      </p:sp>
      <p:sp>
        <p:nvSpPr>
          <p:cNvPr id="14" name="Train and certify the individual">
            <a:extLst xmlns:a="http://schemas.openxmlformats.org/drawingml/2006/main">
              <a:ext uri="{FF2B5EF4-FFF2-40B4-BE49-F238E27FC236}">
                <a16:creationId xmlns:a16="http://schemas.microsoft.com/office/drawing/2014/main" id="{C6DC6B77-EC42-40C4-897C-9E9955B0378E}"/>
              </a:ext>
            </a:extLst>
          </p:cNvPr>
          <p:cNvSpPr>
            <a:spLocks xmlns:a="http://schemas.openxmlformats.org/drawingml/2006/main" noGrp="1"/>
          </p:cNvSpPr>
          <p:nvPr/>
        </p:nvSpPr>
        <p:spPr>
          <a:xfrm xmlns:a="http://schemas.openxmlformats.org/drawingml/2006/main">
            <a:off x="4714875" y="3886200"/>
            <a:ext cx="5095875" cy="752475"/>
          </a:xfrm>
          <a:prstGeom xmlns:a="http://schemas.openxmlformats.org/drawingml/2006/main" prst="rect">
            <a:avLst/>
          </a:prstGeom>
          <a:solidFill xmlns:a="http://schemas.openxmlformats.org/drawingml/2006/main">
            <a:srgbClr val="EAF0F5"/>
          </a:solidFill>
          <a:ln xmlns:a="http://schemas.openxmlformats.org/drawingml/2006/main" w="13335">
            <a:solidFill>
              <a:srgbClr val="EAF0F5"/>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Train and certify the individual</a:t>
            </a:r>
          </a:p>
        </p:txBody>
      </p:sp>
      <p:sp>
        <p:nvSpPr>
          <p:cNvPr id="15" name="Assess impact; no automatic repeat">
            <a:extLst xmlns:a="http://schemas.openxmlformats.org/drawingml/2006/main">
              <a:ext uri="{FF2B5EF4-FFF2-40B4-BE49-F238E27FC236}">
                <a16:creationId xmlns:a16="http://schemas.microsoft.com/office/drawing/2014/main" id="{0D9400BB-8662-4B87-B6D0-A2271F225AAC}"/>
              </a:ext>
            </a:extLst>
          </p:cNvPr>
          <p:cNvSpPr>
            <a:spLocks xmlns:a="http://schemas.openxmlformats.org/drawingml/2006/main" noGrp="1"/>
          </p:cNvSpPr>
          <p:nvPr/>
        </p:nvSpPr>
        <p:spPr>
          <a:xfrm xmlns:a="http://schemas.openxmlformats.org/drawingml/2006/main">
            <a:off x="9810750" y="3886200"/>
            <a:ext cx="4905375" cy="752475"/>
          </a:xfrm>
          <a:prstGeom xmlns:a="http://schemas.openxmlformats.org/drawingml/2006/main" prst="rect">
            <a:avLst/>
          </a:prstGeom>
          <a:solidFill xmlns:a="http://schemas.openxmlformats.org/drawingml/2006/main">
            <a:srgbClr val="EAF0F5"/>
          </a:solidFill>
          <a:ln xmlns:a="http://schemas.openxmlformats.org/drawingml/2006/main" w="13335">
            <a:solidFill>
              <a:srgbClr val="EAF0F5"/>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Assess impact; no automatic repeat</a:t>
            </a:r>
          </a:p>
        </p:txBody>
      </p:sp>
      <p:sp>
        <p:nvSpPr>
          <p:cNvPr id="16" name="Instruction or specification revision">
            <a:extLst xmlns:a="http://schemas.openxmlformats.org/drawingml/2006/main">
              <a:ext uri="{FF2B5EF4-FFF2-40B4-BE49-F238E27FC236}">
                <a16:creationId xmlns:a16="http://schemas.microsoft.com/office/drawing/2014/main" id="{161B4281-B348-4F2F-BD1A-D2109EA30DB1}"/>
              </a:ext>
            </a:extLst>
          </p:cNvPr>
          <p:cNvSpPr>
            <a:spLocks xmlns:a="http://schemas.openxmlformats.org/drawingml/2006/main" noGrp="1"/>
          </p:cNvSpPr>
          <p:nvPr/>
        </p:nvSpPr>
        <p:spPr>
          <a:xfrm xmlns:a="http://schemas.openxmlformats.org/drawingml/2006/main">
            <a:off x="523875" y="4638675"/>
            <a:ext cx="4191000"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202A34"/>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Instruction or specification revision</a:t>
            </a:r>
          </a:p>
        </p:txBody>
      </p:sp>
      <p:sp>
        <p:nvSpPr>
          <p:cNvPr id="17" name="Training on changes; evaluate monitoring need">
            <a:extLst xmlns:a="http://schemas.openxmlformats.org/drawingml/2006/main">
              <a:ext uri="{FF2B5EF4-FFF2-40B4-BE49-F238E27FC236}">
                <a16:creationId xmlns:a16="http://schemas.microsoft.com/office/drawing/2014/main" id="{D3DE7FA6-FAB6-4F54-9537-7AA332F890C3}"/>
              </a:ext>
            </a:extLst>
          </p:cNvPr>
          <p:cNvSpPr>
            <a:spLocks xmlns:a="http://schemas.openxmlformats.org/drawingml/2006/main" noGrp="1"/>
          </p:cNvSpPr>
          <p:nvPr/>
        </p:nvSpPr>
        <p:spPr>
          <a:xfrm xmlns:a="http://schemas.openxmlformats.org/drawingml/2006/main">
            <a:off x="4714875" y="4638675"/>
            <a:ext cx="5095875"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202A34"/>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Training on changes; evaluate monitoring need</a:t>
            </a:r>
          </a:p>
        </p:txBody>
      </p:sp>
      <p:sp>
        <p:nvSpPr>
          <p:cNvPr id="18" name="Quality and Design Engineer assess impact">
            <a:extLst xmlns:a="http://schemas.openxmlformats.org/drawingml/2006/main">
              <a:ext uri="{FF2B5EF4-FFF2-40B4-BE49-F238E27FC236}">
                <a16:creationId xmlns:a16="http://schemas.microsoft.com/office/drawing/2014/main" id="{84AEA4D9-2956-4DFA-B497-643CC5C85ED9}"/>
              </a:ext>
            </a:extLst>
          </p:cNvPr>
          <p:cNvSpPr>
            <a:spLocks xmlns:a="http://schemas.openxmlformats.org/drawingml/2006/main" noGrp="1"/>
          </p:cNvSpPr>
          <p:nvPr/>
        </p:nvSpPr>
        <p:spPr>
          <a:xfrm xmlns:a="http://schemas.openxmlformats.org/drawingml/2006/main">
            <a:off x="9810750" y="4638675"/>
            <a:ext cx="4905375"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202A34"/>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Quality and Design Engineer assess impact</a:t>
            </a:r>
          </a:p>
        </p:txBody>
      </p:sp>
      <p:sp>
        <p:nvSpPr>
          <p:cNvPr id="19" name="Technique issue or recurring yield below 95%">
            <a:extLst xmlns:a="http://schemas.openxmlformats.org/drawingml/2006/main">
              <a:ext uri="{FF2B5EF4-FFF2-40B4-BE49-F238E27FC236}">
                <a16:creationId xmlns:a16="http://schemas.microsoft.com/office/drawing/2014/main" id="{52A1FA98-AA13-4D59-A06A-C421DC31BBD0}"/>
              </a:ext>
            </a:extLst>
          </p:cNvPr>
          <p:cNvSpPr>
            <a:spLocks xmlns:a="http://schemas.openxmlformats.org/drawingml/2006/main" noGrp="1"/>
          </p:cNvSpPr>
          <p:nvPr/>
        </p:nvSpPr>
        <p:spPr>
          <a:xfrm xmlns:a="http://schemas.openxmlformats.org/drawingml/2006/main">
            <a:off x="523875" y="5391150"/>
            <a:ext cx="4191000" cy="752475"/>
          </a:xfrm>
          <a:prstGeom xmlns:a="http://schemas.openxmlformats.org/drawingml/2006/main" prst="rect">
            <a:avLst/>
          </a:prstGeom>
          <a:solidFill xmlns:a="http://schemas.openxmlformats.org/drawingml/2006/main">
            <a:srgbClr val="EAF0F5"/>
          </a:solidFill>
          <a:ln xmlns:a="http://schemas.openxmlformats.org/drawingml/2006/main" w="13335">
            <a:solidFill>
              <a:srgbClr val="EAF0F5"/>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Technique issue or recurring yield below 95%</a:t>
            </a:r>
          </a:p>
        </p:txBody>
      </p:sp>
      <p:sp>
        <p:nvSpPr>
          <p:cNvPr id="20" name="Inspector shadow training, then fresh monitoring">
            <a:extLst xmlns:a="http://schemas.openxmlformats.org/drawingml/2006/main">
              <a:ext uri="{FF2B5EF4-FFF2-40B4-BE49-F238E27FC236}">
                <a16:creationId xmlns:a16="http://schemas.microsoft.com/office/drawing/2014/main" id="{AAA6EBAD-C280-4024-814D-95705188C5EB}"/>
              </a:ext>
            </a:extLst>
          </p:cNvPr>
          <p:cNvSpPr>
            <a:spLocks xmlns:a="http://schemas.openxmlformats.org/drawingml/2006/main" noGrp="1"/>
          </p:cNvSpPr>
          <p:nvPr/>
        </p:nvSpPr>
        <p:spPr>
          <a:xfrm xmlns:a="http://schemas.openxmlformats.org/drawingml/2006/main">
            <a:off x="4714875" y="5391150"/>
            <a:ext cx="5095875" cy="752475"/>
          </a:xfrm>
          <a:prstGeom xmlns:a="http://schemas.openxmlformats.org/drawingml/2006/main" prst="rect">
            <a:avLst/>
          </a:prstGeom>
          <a:solidFill xmlns:a="http://schemas.openxmlformats.org/drawingml/2006/main">
            <a:srgbClr val="EAF0F5"/>
          </a:solidFill>
          <a:ln xmlns:a="http://schemas.openxmlformats.org/drawingml/2006/main" w="13335">
            <a:solidFill>
              <a:srgbClr val="EAF0F5"/>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Inspector shadow training, then fresh monitoring</a:t>
            </a:r>
          </a:p>
        </p:txBody>
      </p:sp>
      <p:sp>
        <p:nvSpPr>
          <p:cNvPr id="21" name="Assess process or part impact">
            <a:extLst xmlns:a="http://schemas.openxmlformats.org/drawingml/2006/main">
              <a:ext uri="{FF2B5EF4-FFF2-40B4-BE49-F238E27FC236}">
                <a16:creationId xmlns:a16="http://schemas.microsoft.com/office/drawing/2014/main" id="{8034513F-15F1-4C86-88FD-F6C72B09D755}"/>
              </a:ext>
            </a:extLst>
          </p:cNvPr>
          <p:cNvSpPr>
            <a:spLocks xmlns:a="http://schemas.openxmlformats.org/drawingml/2006/main" noGrp="1"/>
          </p:cNvSpPr>
          <p:nvPr/>
        </p:nvSpPr>
        <p:spPr>
          <a:xfrm xmlns:a="http://schemas.openxmlformats.org/drawingml/2006/main">
            <a:off x="9810750" y="5391150"/>
            <a:ext cx="4905375" cy="752475"/>
          </a:xfrm>
          <a:prstGeom xmlns:a="http://schemas.openxmlformats.org/drawingml/2006/main" prst="rect">
            <a:avLst/>
          </a:prstGeom>
          <a:solidFill xmlns:a="http://schemas.openxmlformats.org/drawingml/2006/main">
            <a:srgbClr val="EAF0F5"/>
          </a:solidFill>
          <a:ln xmlns:a="http://schemas.openxmlformats.org/drawingml/2006/main" w="13335">
            <a:solidFill>
              <a:srgbClr val="EAF0F5"/>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Assess process or part impact</a:t>
            </a:r>
          </a:p>
        </p:txBody>
      </p:sp>
      <p:sp>
        <p:nvSpPr>
          <p:cNvPr id="22" name="Approved inactivity limit reached">
            <a:extLst xmlns:a="http://schemas.openxmlformats.org/drawingml/2006/main">
              <a:ext uri="{FF2B5EF4-FFF2-40B4-BE49-F238E27FC236}">
                <a16:creationId xmlns:a16="http://schemas.microsoft.com/office/drawing/2014/main" id="{C67AF94C-067E-489F-B12E-4B2EDE2C2315}"/>
              </a:ext>
            </a:extLst>
          </p:cNvPr>
          <p:cNvSpPr>
            <a:spLocks xmlns:a="http://schemas.openxmlformats.org/drawingml/2006/main" noGrp="1"/>
          </p:cNvSpPr>
          <p:nvPr/>
        </p:nvSpPr>
        <p:spPr>
          <a:xfrm xmlns:a="http://schemas.openxmlformats.org/drawingml/2006/main">
            <a:off x="523875" y="6143625"/>
            <a:ext cx="4191000"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202A34"/>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Approved inactivity limit reached</a:t>
            </a:r>
          </a:p>
        </p:txBody>
      </p:sp>
      <p:sp>
        <p:nvSpPr>
          <p:cNvPr id="23" name="Reassess competence and repeat monitoring">
            <a:extLst xmlns:a="http://schemas.openxmlformats.org/drawingml/2006/main">
              <a:ext uri="{FF2B5EF4-FFF2-40B4-BE49-F238E27FC236}">
                <a16:creationId xmlns:a16="http://schemas.microsoft.com/office/drawing/2014/main" id="{93F5C2CD-3F40-4A46-83C1-756D7C6C8B02}"/>
              </a:ext>
            </a:extLst>
          </p:cNvPr>
          <p:cNvSpPr>
            <a:spLocks xmlns:a="http://schemas.openxmlformats.org/drawingml/2006/main" noGrp="1"/>
          </p:cNvSpPr>
          <p:nvPr/>
        </p:nvSpPr>
        <p:spPr>
          <a:xfrm xmlns:a="http://schemas.openxmlformats.org/drawingml/2006/main">
            <a:off x="4714875" y="6143625"/>
            <a:ext cx="5095875"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202A34"/>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Reassess competence and repeat monitoring</a:t>
            </a:r>
          </a:p>
        </p:txBody>
      </p:sp>
      <p:sp>
        <p:nvSpPr>
          <p:cNvPr id="24" name="Assess only if other changes occurred">
            <a:extLst xmlns:a="http://schemas.openxmlformats.org/drawingml/2006/main">
              <a:ext uri="{FF2B5EF4-FFF2-40B4-BE49-F238E27FC236}">
                <a16:creationId xmlns:a16="http://schemas.microsoft.com/office/drawing/2014/main" id="{A9229C10-0C22-430B-8668-FC7B499C6B43}"/>
              </a:ext>
            </a:extLst>
          </p:cNvPr>
          <p:cNvSpPr>
            <a:spLocks xmlns:a="http://schemas.openxmlformats.org/drawingml/2006/main" noGrp="1"/>
          </p:cNvSpPr>
          <p:nvPr/>
        </p:nvSpPr>
        <p:spPr>
          <a:xfrm xmlns:a="http://schemas.openxmlformats.org/drawingml/2006/main">
            <a:off x="9810750" y="6143625"/>
            <a:ext cx="4905375"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202A34"/>
            </a:solid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l">
              <a:defRPr sz="1725">
                <a:solidFill>
                  <a:srgbClr val="202A34"/>
                </a:solidFill>
                <a:latin typeface="Carlito"/>
                <a:ea typeface="Carlito"/>
                <a:cs typeface="Carlito"/>
              </a:defRPr>
            </a:pPr>
            <a:r>
              <a:rPr sz="1725">
                <a:solidFill>
                  <a:srgbClr val="202A34"/>
                </a:solidFill>
                <a:latin typeface="Carlito"/>
                <a:ea typeface="Carlito"/>
                <a:cs typeface="Carlito"/>
              </a:rPr>
              <a:t>Assess only if other changes occurred</a:t>
            </a:r>
          </a:p>
        </p:txBody>
      </p:sp>
      <p:sp>
        <p:nvSpPr>
          <p:cNvPr id="25" name="Quality certifies inspection personnel with the Design Engineer u">
            <a:extLst xmlns:a="http://schemas.openxmlformats.org/drawingml/2006/main">
              <a:ext uri="{FF2B5EF4-FFF2-40B4-BE49-F238E27FC236}">
                <a16:creationId xmlns:a16="http://schemas.microsoft.com/office/drawing/2014/main" id="{FB2E57E3-44B1-4D75-9D80-3432EACB09AE}"/>
              </a:ext>
            </a:extLst>
          </p:cNvPr>
          <p:cNvSpPr>
            <a:spLocks xmlns:a="http://schemas.openxmlformats.org/drawingml/2006/main" noGrp="1"/>
          </p:cNvSpPr>
          <p:nvPr/>
        </p:nvSpPr>
        <p:spPr>
          <a:xfrm xmlns:a="http://schemas.openxmlformats.org/drawingml/2006/main">
            <a:off x="523875" y="7229475"/>
            <a:ext cx="1419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202A34"/>
                </a:solidFill>
                <a:latin typeface="Carlito"/>
                <a:ea typeface="Carlito"/>
                <a:cs typeface="Carlito"/>
              </a:defRPr>
            </a:pPr>
            <a:r>
              <a:rPr sz="2025" b="1">
                <a:solidFill>
                  <a:srgbClr val="202A34"/>
                </a:solidFill>
                <a:latin typeface="Carlito"/>
                <a:ea typeface="Carlito"/>
                <a:cs typeface="Carlito"/>
              </a:rPr>
              <a:t>Quality certifies inspection personnel with the Design Engineer using attribute agreement.</a:t>
            </a:r>
          </a:p>
          <a:p xmlns:a="http://schemas.openxmlformats.org/drawingml/2006/main">
            <a:pPr algn="l">
              <a:defRPr sz="2025" b="1">
                <a:solidFill>
                  <a:srgbClr val="202A34"/>
                </a:solidFill>
                <a:latin typeface="Carlito"/>
                <a:ea typeface="Carlito"/>
                <a:cs typeface="Carlito"/>
              </a:defRPr>
            </a:pPr>
            <a:r>
              <a:rPr sz="2025" b="1">
                <a:solidFill>
                  <a:srgbClr val="202A34"/>
                </a:solidFill>
                <a:latin typeface="Carlito"/>
                <a:ea typeface="Carlito"/>
                <a:cs typeface="Carlito"/>
              </a:rPr>
              <a:t>The harvest yield gate does not establish inspection accuracy.</a:t>
            </a:r>
          </a:p>
        </p:txBody>
      </p:sp>
    </p:spTree>
    <p:extLst>
      <p:ext uri="{BB962C8B-B14F-4D97-AF65-F5344CB8AC3E}">
        <p14:creationId xmlns:p14="http://schemas.microsoft.com/office/powerpoint/2010/main" val="4626572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lease decisions and remaining fields">
            <a:extLst xmlns:a="http://schemas.openxmlformats.org/drawingml/2006/main">
              <a:ext uri="{FF2B5EF4-FFF2-40B4-BE49-F238E27FC236}">
                <a16:creationId xmlns:a16="http://schemas.microsoft.com/office/drawing/2014/main" id="{4DB346DB-BE9E-4660-861E-D9623ACB430F}"/>
              </a:ext>
            </a:extLst>
          </p:cNvPr>
          <p:cNvSpPr>
            <a:spLocks xmlns:a="http://schemas.openxmlformats.org/drawingml/2006/main" noGrp="1"/>
          </p:cNvSpPr>
          <p:nvPr/>
        </p:nvSpPr>
        <p:spPr>
          <a:xfrm xmlns:a="http://schemas.openxmlformats.org/drawingml/2006/main">
            <a:off x="523875" y="304800"/>
            <a:ext cx="1419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225" b="1">
                <a:solidFill>
                  <a:srgbClr val="202A34"/>
                </a:solidFill>
                <a:latin typeface="Carlito"/>
                <a:ea typeface="Carlito"/>
                <a:cs typeface="Carlito"/>
              </a:defRPr>
            </a:pPr>
            <a:r>
              <a:rPr sz="3225" b="1">
                <a:solidFill>
                  <a:srgbClr val="202A34"/>
                </a:solidFill>
                <a:latin typeface="Carlito"/>
                <a:ea typeface="Carlito"/>
                <a:cs typeface="Carlito"/>
              </a:rPr>
              <a:t>Release decisions and remaining fields</a:t>
            </a:r>
          </a:p>
        </p:txBody>
      </p:sp>
      <p:sp>
        <p:nvSpPr>
          <p:cNvPr id="2" name="The approved decisions are incorporated; incomplete settings prev">
            <a:extLst xmlns:a="http://schemas.openxmlformats.org/drawingml/2006/main">
              <a:ext uri="{FF2B5EF4-FFF2-40B4-BE49-F238E27FC236}">
                <a16:creationId xmlns:a16="http://schemas.microsoft.com/office/drawing/2014/main" id="{CC8A5D04-A670-4C66-A136-2B3666FE5946}"/>
              </a:ext>
            </a:extLst>
          </p:cNvPr>
          <p:cNvSpPr>
            <a:spLocks xmlns:a="http://schemas.openxmlformats.org/drawingml/2006/main" noGrp="1"/>
          </p:cNvSpPr>
          <p:nvPr/>
        </p:nvSpPr>
        <p:spPr>
          <a:xfrm xmlns:a="http://schemas.openxmlformats.org/drawingml/2006/main">
            <a:off x="523875" y="962025"/>
            <a:ext cx="1419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202A34"/>
                </a:solidFill>
                <a:latin typeface="Carlito"/>
                <a:ea typeface="Carlito"/>
                <a:cs typeface="Carlito"/>
              </a:defRPr>
            </a:pPr>
            <a:r>
              <a:rPr sz="1800" b="0">
                <a:solidFill>
                  <a:srgbClr val="202A34"/>
                </a:solidFill>
                <a:latin typeface="Carlito"/>
                <a:ea typeface="Carlito"/>
                <a:cs typeface="Carlito"/>
              </a:rPr>
              <a:t>The approved decisions are incorporated; incomplete settings prevent controlled release</a:t>
            </a:r>
          </a:p>
        </p:txBody>
      </p:sp>
      <p:sp>
        <p:nvSpPr>
          <p:cNvPr id="3" name="Review draft  •  17 September 2026     /     7">
            <a:extLst xmlns:a="http://schemas.openxmlformats.org/drawingml/2006/main">
              <a:ext uri="{FF2B5EF4-FFF2-40B4-BE49-F238E27FC236}">
                <a16:creationId xmlns:a16="http://schemas.microsoft.com/office/drawing/2014/main" id="{B234F983-2884-4B93-886C-04EB0E358B53}"/>
              </a:ext>
            </a:extLst>
          </p:cNvPr>
          <p:cNvSpPr>
            <a:spLocks xmlns:a="http://schemas.openxmlformats.org/drawingml/2006/main" noGrp="1"/>
          </p:cNvSpPr>
          <p:nvPr/>
        </p:nvSpPr>
        <p:spPr>
          <a:xfrm xmlns:a="http://schemas.openxmlformats.org/drawingml/2006/main">
            <a:off x="523875" y="8229600"/>
            <a:ext cx="1419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06C"/>
                </a:solidFill>
                <a:latin typeface="Carlito"/>
                <a:ea typeface="Carlito"/>
                <a:cs typeface="Carlito"/>
              </a:defRPr>
            </a:pPr>
            <a:r>
              <a:rPr sz="1275" b="0">
                <a:solidFill>
                  <a:srgbClr val="52606C"/>
                </a:solidFill>
                <a:latin typeface="Carlito"/>
                <a:ea typeface="Carlito"/>
                <a:cs typeface="Carlito"/>
              </a:rPr>
              <a:t>Review draft  •  17 September 2026     /     7</a:t>
            </a:r>
          </a:p>
        </p:txBody>
      </p:sp>
      <p:sp>
        <p:nvSpPr>
          <p:cNvPr id="4" name="Confirmed by Oscar">
            <a:extLst xmlns:a="http://schemas.openxmlformats.org/drawingml/2006/main">
              <a:ext uri="{FF2B5EF4-FFF2-40B4-BE49-F238E27FC236}">
                <a16:creationId xmlns:a16="http://schemas.microsoft.com/office/drawing/2014/main" id="{B1125970-5871-49E1-9F91-896B69C024EF}"/>
              </a:ext>
            </a:extLst>
          </p:cNvPr>
          <p:cNvSpPr>
            <a:spLocks xmlns:a="http://schemas.openxmlformats.org/drawingml/2006/main" noGrp="1"/>
          </p:cNvSpPr>
          <p:nvPr/>
        </p:nvSpPr>
        <p:spPr>
          <a:xfrm xmlns:a="http://schemas.openxmlformats.org/drawingml/2006/main">
            <a:off x="571500" y="1828800"/>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75" b="1">
                <a:solidFill>
                  <a:srgbClr val="202A34"/>
                </a:solidFill>
                <a:latin typeface="Carlito"/>
                <a:ea typeface="Carlito"/>
                <a:cs typeface="Carlito"/>
              </a:defRPr>
            </a:pPr>
            <a:r>
              <a:rPr sz="2475" b="1">
                <a:solidFill>
                  <a:srgbClr val="202A34"/>
                </a:solidFill>
                <a:latin typeface="Carlito"/>
                <a:ea typeface="Carlito"/>
                <a:cs typeface="Carlito"/>
              </a:rPr>
              <a:t>Confirmed by Oscar</a:t>
            </a:r>
          </a:p>
        </p:txBody>
      </p:sp>
      <p:sp>
        <p:nvSpPr>
          <p:cNvPr id="5" name="30 inspected units per person, task and tissue family&#10;&#10;At least 2">
            <a:extLst xmlns:a="http://schemas.openxmlformats.org/drawingml/2006/main">
              <a:ext uri="{FF2B5EF4-FFF2-40B4-BE49-F238E27FC236}">
                <a16:creationId xmlns:a16="http://schemas.microsoft.com/office/drawing/2014/main" id="{FB982B1D-63C8-4302-A14C-0FFB0D47637A}"/>
              </a:ext>
            </a:extLst>
          </p:cNvPr>
          <p:cNvSpPr>
            <a:spLocks xmlns:a="http://schemas.openxmlformats.org/drawingml/2006/main" noGrp="1"/>
          </p:cNvSpPr>
          <p:nvPr/>
        </p:nvSpPr>
        <p:spPr>
          <a:xfrm xmlns:a="http://schemas.openxmlformats.org/drawingml/2006/main">
            <a:off x="571500" y="2514600"/>
            <a:ext cx="6429375" cy="476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202A34"/>
                </a:solidFill>
                <a:latin typeface="Carlito"/>
                <a:ea typeface="Carlito"/>
                <a:cs typeface="Carlito"/>
              </a:defRPr>
            </a:pPr>
            <a:r>
              <a:rPr sz="2025" b="0">
                <a:solidFill>
                  <a:srgbClr val="202A34"/>
                </a:solidFill>
                <a:latin typeface="Carlito"/>
                <a:ea typeface="Carlito"/>
                <a:cs typeface="Carlito"/>
              </a:rPr>
              <a:t>30 inspected units per person, task and tissue family</a:t>
            </a:r>
          </a:p>
          <a:p xmlns:a="http://schemas.openxmlformats.org/drawingml/2006/main">
            <a:r>
              <a:t/>
            </a:r>
          </a:p>
          <a:p xmlns:a="http://schemas.openxmlformats.org/drawingml/2006/main">
            <a:pPr algn="l">
              <a:defRPr sz="2025" b="0">
                <a:solidFill>
                  <a:srgbClr val="202A34"/>
                </a:solidFill>
                <a:latin typeface="Carlito"/>
                <a:ea typeface="Carlito"/>
                <a:cs typeface="Carlito"/>
              </a:defRPr>
            </a:pPr>
            <a:r>
              <a:rPr sz="2025" b="0">
                <a:solidFill>
                  <a:srgbClr val="202A34"/>
                </a:solidFill>
                <a:latin typeface="Carlito"/>
                <a:ea typeface="Carlito"/>
                <a:cs typeface="Carlito"/>
              </a:rPr>
              <a:t>At least 2 consecutive harvest days</a:t>
            </a:r>
          </a:p>
          <a:p xmlns:a="http://schemas.openxmlformats.org/drawingml/2006/main">
            <a:r>
              <a:t/>
            </a:r>
          </a:p>
          <a:p xmlns:a="http://schemas.openxmlformats.org/drawingml/2006/main">
            <a:pPr algn="l">
              <a:defRPr sz="2025" b="0">
                <a:solidFill>
                  <a:srgbClr val="202A34"/>
                </a:solidFill>
                <a:latin typeface="Carlito"/>
                <a:ea typeface="Carlito"/>
                <a:cs typeface="Carlito"/>
              </a:defRPr>
            </a:pPr>
            <a:r>
              <a:rPr sz="2025" b="0">
                <a:solidFill>
                  <a:srgbClr val="202A34"/>
                </a:solidFill>
                <a:latin typeface="Carlito"/>
                <a:ea typeface="Carlito"/>
                <a:cs typeface="Carlito"/>
              </a:rPr>
              <a:t>95% minimum first-pass yield for personnel and lots</a:t>
            </a:r>
          </a:p>
          <a:p xmlns:a="http://schemas.openxmlformats.org/drawingml/2006/main">
            <a:r>
              <a:t/>
            </a:r>
          </a:p>
          <a:p xmlns:a="http://schemas.openxmlformats.org/drawingml/2006/main">
            <a:pPr algn="l">
              <a:defRPr sz="2025" b="0">
                <a:solidFill>
                  <a:srgbClr val="202A34"/>
                </a:solidFill>
                <a:latin typeface="Carlito"/>
                <a:ea typeface="Carlito"/>
                <a:cs typeface="Carlito"/>
              </a:defRPr>
            </a:pPr>
            <a:r>
              <a:rPr sz="2025" b="0">
                <a:solidFill>
                  <a:srgbClr val="202A34"/>
                </a:solidFill>
                <a:latin typeface="Carlito"/>
                <a:ea typeface="Carlito"/>
                <a:cs typeface="Carlito"/>
              </a:rPr>
              <a:t>Recurring low yield triggers inspector shadow training</a:t>
            </a:r>
          </a:p>
          <a:p xmlns:a="http://schemas.openxmlformats.org/drawingml/2006/main">
            <a:r>
              <a:t/>
            </a:r>
          </a:p>
          <a:p xmlns:a="http://schemas.openxmlformats.org/drawingml/2006/main">
            <a:pPr algn="l">
              <a:defRPr sz="2025" b="0">
                <a:solidFill>
                  <a:srgbClr val="202A34"/>
                </a:solidFill>
                <a:latin typeface="Carlito"/>
                <a:ea typeface="Carlito"/>
                <a:cs typeface="Carlito"/>
              </a:defRPr>
            </a:pPr>
            <a:r>
              <a:rPr sz="2025" b="0">
                <a:solidFill>
                  <a:srgbClr val="202A34"/>
                </a:solidFill>
                <a:latin typeface="Carlito"/>
                <a:ea typeface="Carlito"/>
                <a:cs typeface="Carlito"/>
              </a:rPr>
              <a:t>Quality-approved deviations with explicit controls</a:t>
            </a:r>
          </a:p>
          <a:p xmlns:a="http://schemas.openxmlformats.org/drawingml/2006/main">
            <a:r>
              <a:t/>
            </a:r>
          </a:p>
          <a:p xmlns:a="http://schemas.openxmlformats.org/drawingml/2006/main">
            <a:pPr algn="l">
              <a:defRPr sz="2025" b="0">
                <a:solidFill>
                  <a:srgbClr val="202A34"/>
                </a:solidFill>
                <a:latin typeface="Carlito"/>
                <a:ea typeface="Carlito"/>
                <a:cs typeface="Carlito"/>
              </a:defRPr>
            </a:pPr>
            <a:r>
              <a:rPr sz="2025" b="0">
                <a:solidFill>
                  <a:srgbClr val="202A34"/>
                </a:solidFill>
                <a:latin typeface="Carlito"/>
                <a:ea typeface="Carlito"/>
                <a:cs typeface="Carlito"/>
              </a:rPr>
              <a:t>668008, 668009 and all other documents stay separate</a:t>
            </a:r>
          </a:p>
        </p:txBody>
      </p:sp>
      <p:sp>
        <p:nvSpPr>
          <p:cNvPr id="6" name="Required before controlled release">
            <a:extLst xmlns:a="http://schemas.openxmlformats.org/drawingml/2006/main">
              <a:ext uri="{FF2B5EF4-FFF2-40B4-BE49-F238E27FC236}">
                <a16:creationId xmlns:a16="http://schemas.microsoft.com/office/drawing/2014/main" id="{3CD8277A-5FFC-4E99-B17A-E30621186077}"/>
              </a:ext>
            </a:extLst>
          </p:cNvPr>
          <p:cNvSpPr>
            <a:spLocks xmlns:a="http://schemas.openxmlformats.org/drawingml/2006/main" noGrp="1"/>
          </p:cNvSpPr>
          <p:nvPr/>
        </p:nvSpPr>
        <p:spPr>
          <a:xfrm xmlns:a="http://schemas.openxmlformats.org/drawingml/2006/main">
            <a:off x="8001000" y="1828800"/>
            <a:ext cx="657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75" b="1">
                <a:solidFill>
                  <a:srgbClr val="202A34"/>
                </a:solidFill>
                <a:latin typeface="Carlito"/>
                <a:ea typeface="Carlito"/>
                <a:cs typeface="Carlito"/>
              </a:defRPr>
            </a:pPr>
            <a:r>
              <a:rPr sz="2475" b="1">
                <a:solidFill>
                  <a:srgbClr val="202A34"/>
                </a:solidFill>
                <a:latin typeface="Carlito"/>
                <a:ea typeface="Carlito"/>
                <a:cs typeface="Carlito"/>
              </a:rPr>
              <a:t>Required before controlled release</a:t>
            </a:r>
          </a:p>
        </p:txBody>
      </p:sp>
      <p:sp>
        <p:nvSpPr>
          <p:cNvPr id="7" name="Qualification-lot count and lot/sample definition&#10;&#10;Recurrence cou">
            <a:extLst xmlns:a="http://schemas.openxmlformats.org/drawingml/2006/main">
              <a:ext uri="{FF2B5EF4-FFF2-40B4-BE49-F238E27FC236}">
                <a16:creationId xmlns:a16="http://schemas.microsoft.com/office/drawing/2014/main" id="{7A194B73-2CE6-4B63-8D68-B9C51BFEB61E}"/>
              </a:ext>
            </a:extLst>
          </p:cNvPr>
          <p:cNvSpPr>
            <a:spLocks xmlns:a="http://schemas.openxmlformats.org/drawingml/2006/main" noGrp="1"/>
          </p:cNvSpPr>
          <p:nvPr/>
        </p:nvSpPr>
        <p:spPr>
          <a:xfrm xmlns:a="http://schemas.openxmlformats.org/drawingml/2006/main">
            <a:off x="8001000" y="2514600"/>
            <a:ext cx="6572250" cy="476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202A34"/>
                </a:solidFill>
                <a:latin typeface="Carlito"/>
                <a:ea typeface="Carlito"/>
                <a:cs typeface="Carlito"/>
              </a:defRPr>
            </a:pPr>
            <a:r>
              <a:rPr sz="2025" b="0">
                <a:solidFill>
                  <a:srgbClr val="202A34"/>
                </a:solidFill>
                <a:latin typeface="Carlito"/>
                <a:ea typeface="Carlito"/>
                <a:cs typeface="Carlito"/>
              </a:rPr>
              <a:t>Qualification-lot count and lot/sample definition</a:t>
            </a:r>
          </a:p>
          <a:p xmlns:a="http://schemas.openxmlformats.org/drawingml/2006/main">
            <a:r>
              <a:t/>
            </a:r>
          </a:p>
          <a:p xmlns:a="http://schemas.openxmlformats.org/drawingml/2006/main">
            <a:pPr algn="l">
              <a:defRPr sz="2025" b="0">
                <a:solidFill>
                  <a:srgbClr val="202A34"/>
                </a:solidFill>
                <a:latin typeface="Carlito"/>
                <a:ea typeface="Carlito"/>
                <a:cs typeface="Carlito"/>
              </a:defRPr>
            </a:pPr>
            <a:r>
              <a:rPr sz="2025" b="0">
                <a:solidFill>
                  <a:srgbClr val="202A34"/>
                </a:solidFill>
                <a:latin typeface="Carlito"/>
                <a:ea typeface="Carlito"/>
                <a:cs typeface="Carlito"/>
              </a:rPr>
              <a:t>Recurrence count and review window below 95%</a:t>
            </a:r>
          </a:p>
          <a:p xmlns:a="http://schemas.openxmlformats.org/drawingml/2006/main">
            <a:r>
              <a:t/>
            </a:r>
          </a:p>
          <a:p xmlns:a="http://schemas.openxmlformats.org/drawingml/2006/main">
            <a:pPr algn="l">
              <a:defRPr sz="2025" b="0">
                <a:solidFill>
                  <a:srgbClr val="202A34"/>
                </a:solidFill>
                <a:latin typeface="Carlito"/>
                <a:ea typeface="Carlito"/>
                <a:cs typeface="Carlito"/>
              </a:defRPr>
            </a:pPr>
            <a:r>
              <a:rPr sz="2025" b="0">
                <a:solidFill>
                  <a:srgbClr val="202A34"/>
                </a:solidFill>
                <a:latin typeface="Carlito"/>
                <a:ea typeface="Carlito"/>
                <a:cs typeface="Carlito"/>
              </a:rPr>
              <a:t>Inspector agreement criteria and reference-set design</a:t>
            </a:r>
          </a:p>
          <a:p xmlns:a="http://schemas.openxmlformats.org/drawingml/2006/main">
            <a:r>
              <a:t/>
            </a:r>
          </a:p>
          <a:p xmlns:a="http://schemas.openxmlformats.org/drawingml/2006/main">
            <a:pPr algn="l">
              <a:defRPr sz="2025" b="0">
                <a:solidFill>
                  <a:srgbClr val="202A34"/>
                </a:solidFill>
                <a:latin typeface="Carlito"/>
                <a:ea typeface="Carlito"/>
                <a:cs typeface="Carlito"/>
              </a:defRPr>
            </a:pPr>
            <a:r>
              <a:rPr sz="2025" b="0">
                <a:solidFill>
                  <a:srgbClr val="202A34"/>
                </a:solidFill>
                <a:latin typeface="Carlito"/>
                <a:ea typeface="Carlito"/>
                <a:cs typeface="Carlito"/>
              </a:rPr>
              <a:t>Confirmed acceptance specification and revisions</a:t>
            </a:r>
          </a:p>
          <a:p xmlns:a="http://schemas.openxmlformats.org/drawingml/2006/main">
            <a:r>
              <a:t/>
            </a:r>
          </a:p>
          <a:p xmlns:a="http://schemas.openxmlformats.org/drawingml/2006/main">
            <a:pPr algn="l">
              <a:defRPr sz="2025" b="0">
                <a:solidFill>
                  <a:srgbClr val="202A34"/>
                </a:solidFill>
                <a:latin typeface="Carlito"/>
                <a:ea typeface="Carlito"/>
                <a:cs typeface="Carlito"/>
              </a:defRPr>
            </a:pPr>
            <a:r>
              <a:rPr sz="2025" b="0">
                <a:solidFill>
                  <a:srgbClr val="202A34"/>
                </a:solidFill>
                <a:latin typeface="Carlito"/>
                <a:ea typeface="Carlito"/>
                <a:cs typeface="Carlito"/>
              </a:rPr>
              <a:t>Monitoring attempt limit and inactivity interval</a:t>
            </a:r>
          </a:p>
          <a:p xmlns:a="http://schemas.openxmlformats.org/drawingml/2006/main">
            <a:r>
              <a:t/>
            </a:r>
          </a:p>
          <a:p xmlns:a="http://schemas.openxmlformats.org/drawingml/2006/main">
            <a:pPr algn="l">
              <a:defRPr sz="2025" b="0">
                <a:solidFill>
                  <a:srgbClr val="202A34"/>
                </a:solidFill>
                <a:latin typeface="Carlito"/>
                <a:ea typeface="Carlito"/>
                <a:cs typeface="Carlito"/>
              </a:defRPr>
            </a:pPr>
            <a:r>
              <a:rPr sz="2025" b="0">
                <a:solidFill>
                  <a:srgbClr val="202A34"/>
                </a:solidFill>
                <a:latin typeface="Carlito"/>
                <a:ea typeface="Carlito"/>
                <a:cs typeface="Carlito"/>
              </a:rPr>
              <a:t>Approved attribution method and record repository</a:t>
            </a:r>
          </a:p>
        </p:txBody>
      </p:sp>
      <p:sp>
        <p:nvSpPr>
          <p:cNvPr id="8" name="These fields require designated stakeholder approval. Blank field">
            <a:extLst xmlns:a="http://schemas.openxmlformats.org/drawingml/2006/main">
              <a:ext uri="{FF2B5EF4-FFF2-40B4-BE49-F238E27FC236}">
                <a16:creationId xmlns:a16="http://schemas.microsoft.com/office/drawing/2014/main" id="{54FDDB8E-952C-4B72-A299-DDCFA8D2A0B2}"/>
              </a:ext>
            </a:extLst>
          </p:cNvPr>
          <p:cNvSpPr>
            <a:spLocks xmlns:a="http://schemas.openxmlformats.org/drawingml/2006/main" noGrp="1"/>
          </p:cNvSpPr>
          <p:nvPr/>
        </p:nvSpPr>
        <p:spPr>
          <a:xfrm xmlns:a="http://schemas.openxmlformats.org/drawingml/2006/main">
            <a:off x="571500" y="7486650"/>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1">
                <a:solidFill>
                  <a:srgbClr val="B43D36"/>
                </a:solidFill>
                <a:latin typeface="Carlito"/>
                <a:ea typeface="Carlito"/>
                <a:cs typeface="Carlito"/>
              </a:defRPr>
            </a:pPr>
            <a:r>
              <a:rPr sz="1950" b="1">
                <a:solidFill>
                  <a:srgbClr val="B43D36"/>
                </a:solidFill>
                <a:latin typeface="Carlito"/>
                <a:ea typeface="Carlito"/>
                <a:cs typeface="Carlito"/>
              </a:rPr>
              <a:t>These fields require designated stakeholder approval. Blank fields do not authorize qualification or shipment.</a:t>
            </a:r>
          </a:p>
        </p:txBody>
      </p:sp>
    </p:spTree>
    <p:extLst>
      <p:ext uri="{BB962C8B-B14F-4D97-AF65-F5344CB8AC3E}">
        <p14:creationId xmlns:p14="http://schemas.microsoft.com/office/powerpoint/2010/main" val="3040874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Original current-state map reference">
            <a:extLst xmlns:a="http://schemas.openxmlformats.org/drawingml/2006/main">
              <a:ext uri="{FF2B5EF4-FFF2-40B4-BE49-F238E27FC236}">
                <a16:creationId xmlns:a16="http://schemas.microsoft.com/office/drawing/2014/main" id="{29F7493C-7A2C-406B-A4ED-F9FA2BA8CF94}"/>
              </a:ext>
            </a:extLst>
          </p:cNvPr>
          <p:cNvSpPr>
            <a:spLocks xmlns:a="http://schemas.openxmlformats.org/drawingml/2006/main" noGrp="1"/>
          </p:cNvSpPr>
          <p:nvPr/>
        </p:nvSpPr>
        <p:spPr>
          <a:xfrm xmlns:a="http://schemas.openxmlformats.org/drawingml/2006/main">
            <a:off x="523875" y="304800"/>
            <a:ext cx="1419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225" b="1">
                <a:solidFill>
                  <a:srgbClr val="202A34"/>
                </a:solidFill>
                <a:latin typeface="Carlito"/>
                <a:ea typeface="Carlito"/>
                <a:cs typeface="Carlito"/>
              </a:defRPr>
            </a:pPr>
            <a:r>
              <a:rPr sz="3225" b="1">
                <a:solidFill>
                  <a:srgbClr val="202A34"/>
                </a:solidFill>
                <a:latin typeface="Carlito"/>
                <a:ea typeface="Carlito"/>
                <a:cs typeface="Carlito"/>
              </a:rPr>
              <a:t>Original current-state map reference</a:t>
            </a:r>
          </a:p>
        </p:txBody>
      </p:sp>
      <p:sp>
        <p:nvSpPr>
          <p:cNvPr id="2" name="Unaltered source image for comparison with the editable maps">
            <a:extLst xmlns:a="http://schemas.openxmlformats.org/drawingml/2006/main">
              <a:ext uri="{FF2B5EF4-FFF2-40B4-BE49-F238E27FC236}">
                <a16:creationId xmlns:a16="http://schemas.microsoft.com/office/drawing/2014/main" id="{288F5E9D-73FE-407D-9E83-739566356EA5}"/>
              </a:ext>
            </a:extLst>
          </p:cNvPr>
          <p:cNvSpPr>
            <a:spLocks xmlns:a="http://schemas.openxmlformats.org/drawingml/2006/main" noGrp="1"/>
          </p:cNvSpPr>
          <p:nvPr/>
        </p:nvSpPr>
        <p:spPr>
          <a:xfrm xmlns:a="http://schemas.openxmlformats.org/drawingml/2006/main">
            <a:off x="523875" y="962025"/>
            <a:ext cx="1419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202A34"/>
                </a:solidFill>
                <a:latin typeface="Carlito"/>
                <a:ea typeface="Carlito"/>
                <a:cs typeface="Carlito"/>
              </a:defRPr>
            </a:pPr>
            <a:r>
              <a:rPr sz="1800" b="0">
                <a:solidFill>
                  <a:srgbClr val="202A34"/>
                </a:solidFill>
                <a:latin typeface="Carlito"/>
                <a:ea typeface="Carlito"/>
                <a:cs typeface="Carlito"/>
              </a:rPr>
              <a:t>Unaltered source image for comparison with the editable maps</a:t>
            </a:r>
          </a:p>
        </p:txBody>
      </p:sp>
      <p:sp>
        <p:nvSpPr>
          <p:cNvPr id="3" name="Review draft  •  17 September 2026     /     8">
            <a:extLst xmlns:a="http://schemas.openxmlformats.org/drawingml/2006/main">
              <a:ext uri="{FF2B5EF4-FFF2-40B4-BE49-F238E27FC236}">
                <a16:creationId xmlns:a16="http://schemas.microsoft.com/office/drawing/2014/main" id="{0688512E-FFA1-4E71-8A0A-565EF8D65FEB}"/>
              </a:ext>
            </a:extLst>
          </p:cNvPr>
          <p:cNvSpPr>
            <a:spLocks xmlns:a="http://schemas.openxmlformats.org/drawingml/2006/main" noGrp="1"/>
          </p:cNvSpPr>
          <p:nvPr/>
        </p:nvSpPr>
        <p:spPr>
          <a:xfrm xmlns:a="http://schemas.openxmlformats.org/drawingml/2006/main">
            <a:off x="523875" y="8229600"/>
            <a:ext cx="1419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06C"/>
                </a:solidFill>
                <a:latin typeface="Carlito"/>
                <a:ea typeface="Carlito"/>
                <a:cs typeface="Carlito"/>
              </a:defRPr>
            </a:pPr>
            <a:r>
              <a:rPr sz="1275" b="0">
                <a:solidFill>
                  <a:srgbClr val="52606C"/>
                </a:solidFill>
                <a:latin typeface="Carlito"/>
                <a:ea typeface="Carlito"/>
                <a:cs typeface="Carlito"/>
              </a:rPr>
              <a:t>Review draft  •  17 September 2026     /     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e1f36cb697e44b8"/>
          <a:stretch xmlns:a="http://schemas.openxmlformats.org/drawingml/2006/main"/>
        </p:blipFill>
        <p:spPr>
          <a:xfrm xmlns:a="http://schemas.openxmlformats.org/drawingml/2006/main">
            <a:off x="4993454" y="1638300"/>
            <a:ext cx="5253092" cy="6429375"/>
          </a:xfrm>
          <a:prstGeom xmlns:a="http://schemas.openxmlformats.org/drawingml/2006/main" prst="rect">
            <a:avLst/>
          </a:prstGeom>
        </p:spPr>
      </p:pic>
    </p:spTree>
    <p:extLst>
      <p:ext uri="{BB962C8B-B14F-4D97-AF65-F5344CB8AC3E}">
        <p14:creationId xmlns:p14="http://schemas.microsoft.com/office/powerpoint/2010/main" val="17832089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Original proposed map reference">
            <a:extLst xmlns:a="http://schemas.openxmlformats.org/drawingml/2006/main">
              <a:ext uri="{FF2B5EF4-FFF2-40B4-BE49-F238E27FC236}">
                <a16:creationId xmlns:a16="http://schemas.microsoft.com/office/drawing/2014/main" id="{6527E08E-54A2-4D14-8A4B-D1E7CAC1678C}"/>
              </a:ext>
            </a:extLst>
          </p:cNvPr>
          <p:cNvSpPr>
            <a:spLocks xmlns:a="http://schemas.openxmlformats.org/drawingml/2006/main" noGrp="1"/>
          </p:cNvSpPr>
          <p:nvPr/>
        </p:nvSpPr>
        <p:spPr>
          <a:xfrm xmlns:a="http://schemas.openxmlformats.org/drawingml/2006/main">
            <a:off x="523875" y="304800"/>
            <a:ext cx="1419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225" b="1">
                <a:solidFill>
                  <a:srgbClr val="202A34"/>
                </a:solidFill>
                <a:latin typeface="Carlito"/>
                <a:ea typeface="Carlito"/>
                <a:cs typeface="Carlito"/>
              </a:defRPr>
            </a:pPr>
            <a:r>
              <a:rPr sz="3225" b="1">
                <a:solidFill>
                  <a:srgbClr val="202A34"/>
                </a:solidFill>
                <a:latin typeface="Carlito"/>
                <a:ea typeface="Carlito"/>
                <a:cs typeface="Carlito"/>
              </a:rPr>
              <a:t>Original proposed map reference</a:t>
            </a:r>
          </a:p>
        </p:txBody>
      </p:sp>
      <p:sp>
        <p:nvSpPr>
          <p:cNvPr id="2" name="Unaltered source image for comparison with the editable maps">
            <a:extLst xmlns:a="http://schemas.openxmlformats.org/drawingml/2006/main">
              <a:ext uri="{FF2B5EF4-FFF2-40B4-BE49-F238E27FC236}">
                <a16:creationId xmlns:a16="http://schemas.microsoft.com/office/drawing/2014/main" id="{98EC9B51-C4CD-4B97-803B-871A9555E08D}"/>
              </a:ext>
            </a:extLst>
          </p:cNvPr>
          <p:cNvSpPr>
            <a:spLocks xmlns:a="http://schemas.openxmlformats.org/drawingml/2006/main" noGrp="1"/>
          </p:cNvSpPr>
          <p:nvPr/>
        </p:nvSpPr>
        <p:spPr>
          <a:xfrm xmlns:a="http://schemas.openxmlformats.org/drawingml/2006/main">
            <a:off x="523875" y="962025"/>
            <a:ext cx="1419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202A34"/>
                </a:solidFill>
                <a:latin typeface="Carlito"/>
                <a:ea typeface="Carlito"/>
                <a:cs typeface="Carlito"/>
              </a:defRPr>
            </a:pPr>
            <a:r>
              <a:rPr sz="1800" b="0">
                <a:solidFill>
                  <a:srgbClr val="202A34"/>
                </a:solidFill>
                <a:latin typeface="Carlito"/>
                <a:ea typeface="Carlito"/>
                <a:cs typeface="Carlito"/>
              </a:rPr>
              <a:t>Unaltered source image for comparison with the editable maps</a:t>
            </a:r>
          </a:p>
        </p:txBody>
      </p:sp>
      <p:sp>
        <p:nvSpPr>
          <p:cNvPr id="3" name="Review draft  •  17 September 2026     /     9">
            <a:extLst xmlns:a="http://schemas.openxmlformats.org/drawingml/2006/main">
              <a:ext uri="{FF2B5EF4-FFF2-40B4-BE49-F238E27FC236}">
                <a16:creationId xmlns:a16="http://schemas.microsoft.com/office/drawing/2014/main" id="{9BE9DC06-9E5C-454B-A548-E042F83E04C5}"/>
              </a:ext>
            </a:extLst>
          </p:cNvPr>
          <p:cNvSpPr>
            <a:spLocks xmlns:a="http://schemas.openxmlformats.org/drawingml/2006/main" noGrp="1"/>
          </p:cNvSpPr>
          <p:nvPr/>
        </p:nvSpPr>
        <p:spPr>
          <a:xfrm xmlns:a="http://schemas.openxmlformats.org/drawingml/2006/main">
            <a:off x="523875" y="8229600"/>
            <a:ext cx="1419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06C"/>
                </a:solidFill>
                <a:latin typeface="Carlito"/>
                <a:ea typeface="Carlito"/>
                <a:cs typeface="Carlito"/>
              </a:defRPr>
            </a:pPr>
            <a:r>
              <a:rPr sz="1275" b="0">
                <a:solidFill>
                  <a:srgbClr val="52606C"/>
                </a:solidFill>
                <a:latin typeface="Carlito"/>
                <a:ea typeface="Carlito"/>
                <a:cs typeface="Carlito"/>
              </a:rPr>
              <a:t>Review draft  •  17 September 2026     /     9</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26a01e6f43c45c5"/>
          <a:stretch xmlns:a="http://schemas.openxmlformats.org/drawingml/2006/main"/>
        </p:blipFill>
        <p:spPr>
          <a:xfrm xmlns:a="http://schemas.openxmlformats.org/drawingml/2006/main">
            <a:off x="900548" y="1638300"/>
            <a:ext cx="13438904" cy="6429375"/>
          </a:xfrm>
          <a:prstGeom xmlns:a="http://schemas.openxmlformats.org/drawingml/2006/main" prst="rect">
            <a:avLst/>
          </a:prstGeom>
        </p:spPr>
      </p:pic>
    </p:spTree>
    <p:extLst>
      <p:ext uri="{BB962C8B-B14F-4D97-AF65-F5344CB8AC3E}">
        <p14:creationId xmlns:p14="http://schemas.microsoft.com/office/powerpoint/2010/main" val="19323993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2026-09-17T17:08:46.4330000Z</dcterms:created>
  <dcterms:modified xsi:type="dcterms:W3CDTF">2026-09-17T17:08:46.4340000Z</dcterms:modified>
</coreProperties>
</file>