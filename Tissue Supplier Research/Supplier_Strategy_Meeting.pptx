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986" autoAdjust="0"/>
    <p:restoredTop sz="94610"/>
  </p:normalViewPr>
  <p:slideViewPr>
    <p:cSldViewPr snapToGrid="0" snapToObjects="1">
      <p:cViewPr>
        <p:scale>
          <a:sx n="110" d="100"/>
          <a:sy n="110" d="100"/>
        </p:scale>
        <p:origin x="-86" y="-4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Small  0–300</c:v>
                </c:pt>
              </c:strCache>
            </c:strRef>
          </c:tx>
          <c:spPr>
            <a:solidFill>
              <a:srgbClr val="9C6B76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F9F-421E-BA4D-E8ECD5E145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  350–2,500</c:v>
                </c:pt>
              </c:strCache>
            </c:strRef>
          </c:tx>
          <c:spPr>
            <a:solidFill>
              <a:srgbClr val="6D2E46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8F9F-421E-BA4D-E8ECD5E145D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Med-High  2,500–5,000</c:v>
                </c:pt>
              </c:strCache>
            </c:strRef>
          </c:tx>
          <c:spPr>
            <a:solidFill>
              <a:srgbClr val="A9601F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3">
                  <c:v>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8F9F-421E-BA4D-E8ECD5E145D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 5,000+</c:v>
                </c:pt>
              </c:strCache>
            </c:strRef>
          </c:tx>
          <c:spPr>
            <a:solidFill>
              <a:srgbClr val="3D1A2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3">
                  <c:v>1</c:v>
                </c:pt>
                <c:pt idx="5">
                  <c:v>5</c:v>
                </c:pt>
                <c:pt idx="6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9F-421E-BA4D-E8ECD5E145D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 confirm</c:v>
                </c:pt>
              </c:strCache>
            </c:strRef>
          </c:tx>
          <c:spPr>
            <a:solidFill>
              <a:srgbClr val="7A7075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5</c:v>
                </c:pt>
                <c:pt idx="1">
                  <c:v>8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8F9F-421E-BA4D-E8ECD5E145D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CCD0"/>
            </a:solidFill>
          </a:ln>
        </c:spPr>
        <c:txPr>
          <a:bodyPr/>
          <a:lstStyle/>
          <a:p>
            <a:pPr>
              <a:defRPr sz="1200" b="1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6"/>
        </c:scaling>
        <c:delete val="0"/>
        <c:axPos val="l"/>
        <c:majorGridlines>
          <c:spPr>
            <a:ln>
              <a:solidFill>
                <a:srgbClr val="EDE4E6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6E6E"/>
                </a:solidFill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  <c:majorUnit val="4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2B2B2B"/>
              </a:solidFill>
              <a:latin typeface="Calibri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7071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leave with a strategy and an agreed outreach process. Pre-read is the 12-tab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decision. Lead time is the reason this is urgent. Two outcomes: strategy, and the outreach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decisions here: any further requirements, and the weighting. Also flag sow vs market hog — it decides roughly half the candidate pool.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Eastern NC: 14 plants, 10 federal/TA — the export-capable base and the aggregation cluster. Western NC: 14 plants but small and largely state-inspected, so domestic only. Iowa: 8 plants, 6 High tier. Nebraska: 1. Proximity matters because aggregation only works if plants share one crew.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may differ by tier: Model A suits small plants, Model B suits large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B already exists at these suppliers. Animal Biotech's risk is traceability to a listed origin establishment — without a named, APHIS/TRACES-listed abattoir there is no EU health certificate. The reason to call the green-lit plants is to get a real price per block so we can compare against our own fully-loaded cost (TTLC), not just what we pay at the door.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process is a straw man — the point is to agree the shape and the gates, not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7E3B53"/>
          </a:solidFill>
          <a:ln w="12700">
            <a:solidFill>
              <a:srgbClr val="7E3B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5C2439"/>
          </a:solidFill>
          <a:ln w="12700">
            <a:solidFill>
              <a:srgbClr val="5C24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SELECTION · STAKEHOLDER ALIGNMENT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a New</a:t>
            </a:r>
            <a:endParaRPr lang="en-US" sz="46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Agreeing the strategy, the requirements, and how we approach suppliers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a new tissue supplier that meets our criteria — and we need to move now, because onboarding a slaughterhouse has a long lead time.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OUT OF THIS MEETING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32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32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2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supplier are we actually buying?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Size tier · certifications · welfare culture ·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Model A or Model B · which regions ·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3) organ-direct suppliers (Smithfield BioScience,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Research Swine, Tissue Source).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47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47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14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process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47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 from Tissue Supplier LEAD to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Supplier ONBOARDED — the steps, the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and who owns each one.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46811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2 can be parked — but we should agree how we approach it before we leave.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CONFIRM REQUIREMENTS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looking for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— capacity is open. We classify, we do not exclude.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– 300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high-touch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several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6616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6616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 – 2,500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single-plant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MED-HIGH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2,500 – 5,000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+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cull-sow plants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3544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3544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 +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23544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the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2735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hogs /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75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USDA or FSIS inspected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8096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25112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44568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APHIS listed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44568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doesn’t need to be aphis certified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101584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32104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Humane culture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2104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flagging, bring to discussion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9743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2960" y="49743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Comment: Nahunta products can be international – Correction. 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any requirements beyond these — and how do we weight them?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A26769"/>
                </a:solidFill>
                <a:latin typeface="Calibri"/>
              </a:rPr>
              <a:t>3 · REVIEW REGIONS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6D2E46"/>
                </a:solidFill>
                <a:latin typeface="Cambria"/>
              </a:rPr>
              <a:t>Where the supply actually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53 named plants in our target areas — of ~138 identified in total. Sized by weekly hog volume.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737360"/>
          <a:ext cx="1106424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9028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A26769"/>
                </a:solidFill>
                <a:latin typeface="Calibri"/>
              </a:rPr>
              <a:t>EASTERN NC — WHERE OUR NAMED PLANTS SIT, BY SIZE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9494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94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Custom Quality Packers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TA-20129 · Sims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5705856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~500 / wk  ·  federal TA  ·  high-touch handling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2958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2958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958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Nahunta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P-80A · Pikeville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9584" y="5705856"/>
            <a:ext cx="2395728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 dirty="0">
                <a:solidFill>
                  <a:srgbClr val="2B2B2B"/>
                </a:solidFill>
                <a:latin typeface="Calibri"/>
              </a:rPr>
              <a:t>~500 / </a:t>
            </a:r>
            <a:r>
              <a:rPr sz="950" b="0" i="0" dirty="0" err="1">
                <a:solidFill>
                  <a:srgbClr val="2B2B2B"/>
                </a:solidFill>
                <a:latin typeface="Calibri"/>
              </a:rPr>
              <a:t>wk</a:t>
            </a:r>
            <a:r>
              <a:rPr sz="950" b="0" i="0" dirty="0">
                <a:solidFill>
                  <a:srgbClr val="2B2B2B"/>
                </a:solidFill>
                <a:latin typeface="Calibri"/>
              </a:rPr>
              <a:t>  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6422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Parks Family Meats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TA-18296A · Warsaw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5705856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400–1,000 / wk  ·  but ROASTER pigs, 10–150 lb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5256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19886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98864" y="5038344"/>
            <a:ext cx="9326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5285232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Martin's Pork Products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551383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TA-6720 · Falcon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98864" y="5705856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1,500–2,500 / wk  ·  federal TA → export-eligible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199632"/>
            <a:ext cx="1106424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 i="0" dirty="0">
                <a:solidFill>
                  <a:srgbClr val="6D2E46"/>
                </a:solidFill>
                <a:latin typeface="Calibri"/>
              </a:rPr>
              <a:t>All four Eastern NC candidates sit in MEDIUM — so the choice between them is not volume, it is the constraint on each.</a:t>
            </a:r>
            <a:r>
              <a:rPr lang="en-US" sz="1250" b="1" i="0" dirty="0">
                <a:solidFill>
                  <a:srgbClr val="6D2E46"/>
                </a:solidFill>
                <a:latin typeface="Calibri"/>
              </a:rPr>
              <a:t> Geographical weight</a:t>
            </a:r>
            <a:endParaRPr sz="1250" b="1" i="0" dirty="0">
              <a:solidFill>
                <a:srgbClr val="6D2E46"/>
              </a:solidFill>
              <a:latin typeface="Calibri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110642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6E6E6E"/>
                </a:solidFill>
                <a:latin typeface="Calibri"/>
              </a:rPr>
              <a:t>Chart counts named plants in these seven areas. 21 further named plants sit elsewhere in the Midwest / nationally, and ~64 more are grouped inside multi-plant roll-ups. Pennsylvania out of scope.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STRATEGY &amp; OPERATING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take the tissue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1865376"/>
            <a:ext cx="512064" cy="512064"/>
          </a:xfrm>
          <a:prstGeom prst="ellipse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72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harvest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technicians on their floor.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space, or pay by piece?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freshness — we control the clock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floor access + cooler space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people, our protocol, our quality call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29400" y="1865376"/>
            <a:ext cx="512064" cy="512064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29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87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87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harvest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29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crew, to our written spec.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send inspectors and trainers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moving our people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their culture and QA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on quality is indirect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55567" y="495604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5084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 This has always been dependent on the supplier. Before: Location and volume were the two first requirement gates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 A, B, or A-for-some / B-for-others?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· MODEL B — ORGAN SPECIALISTS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already do this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and suppliers that ALREADY harvest organs to a customer's written spec. With these, Model B is not a build — it exists. </a:t>
            </a:r>
            <a:r>
              <a:rPr lang="en-US" sz="1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THESE SHOULD BE APHIS Certified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GREEN-LIT — REACH OUT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755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Smithfield BioScience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Heel NC · Denison IA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verified organ programme: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valves, aorta, pericardium, peritoneum,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mucosa, pancreas. Existing EU pharma trade.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56616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2219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Midwest Research Swine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6616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Glencoe MN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Porcine-only abattoir + tissue facility.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 + 22442-2, USDA Class B/R.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ships internationally.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5683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Source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Frankfort 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EU-cleanest paperwork: ISO 13485 +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22442-2, USDA Class A, ante/post-mortem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inspection, animal-level traceability.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5256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23544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49147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Pioneer Packing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3544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Bowling Green OH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3544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Sow/boar only. Runs PRE-RIGOR whole hog —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carcass off the floor in 1–1¾ hrs. The speed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we need already exists.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39684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organ-capable but a DIRECT COMPETITOR — Sustainable Swine Resources (Perry Way WI · Banner Creek KS)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352543"/>
            <a:ext cx="5394960" cy="1987871"/>
          </a:xfrm>
          <a:prstGeom prst="roundRect">
            <a:avLst>
              <a:gd name="adj" fmla="val 4124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4672" y="4498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Animal Biotech is an export risk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04672" y="4828032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tissue is “harvested at USDA federally inspected abattoirs” — but never name which.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Cat 3 requires the ORIGIN plant to be APHIS-approved and on the EU TRACES list.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ISO 13485 / 22442, no TRACES listing, no stated export-document support.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599070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certify what you cannot trace.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44768" y="4407408"/>
            <a:ext cx="5376672" cy="1773936"/>
          </a:xfrm>
          <a:prstGeom prst="roundRect">
            <a:avLst>
              <a:gd name="adj" fmla="val 4124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92240" y="4498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TTLC analysis by blocks.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92240" y="4828032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green-lit supplier for a PRICE PER BLOCK.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it against our TTLC — total true landed cost: harvest labour, line rental, plant fee, inspector time, transport, cold chain and holding, all in.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lead to onboarded supplier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</a:t>
            </a: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process to react to — does this shape look right?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4944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4944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identified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2816352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962656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62656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62656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check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62656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· certs ·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5084064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230368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230368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50992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230368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RFQ/P + call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weekly kill,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95744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351776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98080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49808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918704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98080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+ 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98080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 audit,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harvest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363456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9619488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765792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765792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186416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765792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765792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QA spec,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cadence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4443984"/>
            <a:ext cx="11064240" cy="1316736"/>
          </a:xfrm>
          <a:prstGeom prst="roundRect">
            <a:avLst>
              <a:gd name="adj" fmla="val 6250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95528" y="4754880"/>
            <a:ext cx="948482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 Need – </a:t>
            </a:r>
            <a:r>
              <a:rPr lang="en-US" sz="120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Pelvics</a:t>
            </a:r>
            <a:endParaRPr lang="en-US" sz="1200" b="1" dirty="0">
              <a:solidFill>
                <a:srgbClr val="8C2F3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won’t be effective to send them information. Establish willingness, going in person. Team: SE, </a:t>
            </a:r>
            <a:r>
              <a:rPr lang="en-US" sz="120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</a:t>
            </a: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Ops manager : </a:t>
            </a:r>
            <a:r>
              <a:rPr lang="en-US" sz="120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Kindheart</a:t>
            </a: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story.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screening and passing criteria gate (phone call: how many pigs a week, would you be able to harvest or have us harvest organs?): In person visit -&gt; Intuitive Story -&gt; after phone call enquiries, more thorough conversation about feasibility of operations, walk areas to determine: their labor capacity to harvest organs, space for us to bring labor to harvest organs, what equipment is needed to adapt operation? , NDA, Onboarding : put together contract (they meet requirements that we need to fulfill), setting up in </a:t>
            </a:r>
            <a:r>
              <a:rPr lang="en-US" sz="1200" b="1" dirty="0" err="1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coupa</a:t>
            </a: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Traceability: Ante mortem inspections – some records. Pen carts being signed in, Veterinary inspection, USDA stamps, SIS number on stamps. Canadian Pigs – Parking lot – Contracting.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595634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lot:  revisit the supplier questionnaire.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1340</Words>
  <Application>Microsoft Office PowerPoint</Application>
  <PresentationFormat>Widescreen</PresentationFormat>
  <Paragraphs>175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Selection — Strategy &amp; Requirements</dc:title>
  <dc:subject>PptxGenJS Presentation</dc:subject>
  <dc:creator>Oscar Penny</dc:creator>
  <cp:lastModifiedBy>Oscar Penny</cp:lastModifiedBy>
  <cp:revision>9</cp:revision>
  <dcterms:created xsi:type="dcterms:W3CDTF">2026-08-06T14:33:26Z</dcterms:created>
  <dcterms:modified xsi:type="dcterms:W3CDTF">2026-08-06T16:41:02Z</dcterms:modified>
</cp:coreProperties>
</file>