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lang="en-US" sz="1400" b="0" i="0" u="none" strike="noStrike">
                <a:solidFill>
                  <a:srgbClr val="6D2E46"/>
                </a:solidFill>
                <a:latin typeface="Cambria"/>
              </a:rPr>
              <a:t>By certification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Federal / Talmadge-Aiken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5</c:v>
                </c:pt>
                <c:pt idx="2">
                  <c:v>4</c:v>
                </c:pt>
                <c:pt idx="3">
                  <c:v>7</c:v>
                </c:pt>
                <c:pt idx="4">
                  <c:v>4</c:v>
                </c:pt>
                <c:pt idx="5">
                  <c:v>8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7C-40CB-8A81-746579DC55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State-inspected only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7C-40CB-8A81-746579DC55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Custom-exempt</c:v>
                </c:pt>
              </c:strCache>
            </c:strRef>
          </c:tx>
          <c:spPr>
            <a:solidFill>
              <a:srgbClr val="C89B7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7C-40CB-8A81-746579DC55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Unconfirmed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dLbl>
              <c:idx val="5"/>
              <c:layout>
                <c:manualLayout>
                  <c:x val="-8.6314131579796564E-17"/>
                  <c:y val="-3.360215053763447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A7C-40CB-8A81-746579DC55F5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A7C-40CB-8A81-746579DC55F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lang="en-US" sz="1400" b="0" i="0" u="none" strike="noStrike">
                <a:solidFill>
                  <a:srgbClr val="6D2E46"/>
                </a:solidFill>
                <a:latin typeface="Cambria"/>
              </a:rPr>
              <a:t>By size tier (hogs / week)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(0–300)</c:v>
                </c:pt>
              </c:strCache>
            </c:strRef>
          </c:tx>
          <c:spPr>
            <a:solidFill>
              <a:srgbClr val="D9BFC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EC-45DF-BC0B-332ECDADB5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(350–2.5k)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EC-45DF-BC0B-332ECDADB5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(2.5–5k)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8EC-45DF-BC0B-332ECDADB56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(5k+)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8EC-45DF-BC0B-332ECDADB56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8EC-45DF-BC0B-332ECDADB56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  0–300</c:v>
                </c:pt>
              </c:strCache>
            </c:strRef>
          </c:tx>
          <c:spPr>
            <a:solidFill>
              <a:srgbClr val="9C6B7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 350–2,500</c:v>
                </c:pt>
              </c:strCache>
            </c:strRef>
          </c:tx>
          <c:spPr>
            <a:solidFill>
              <a:srgbClr val="6D2E4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 2,500–5,000</c:v>
                </c:pt>
              </c:strCache>
            </c:strRef>
          </c:tx>
          <c:spPr>
            <a:solidFill>
              <a:srgbClr val="A9601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3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 5,000+</c:v>
                </c:pt>
              </c:strCache>
            </c:strRef>
          </c:tx>
          <c:spPr>
            <a:solidFill>
              <a:srgbClr val="3D1A29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3">
                  <c:v>1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7A7075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CCD0"/>
            </a:solidFill>
          </a:ln>
        </c:spPr>
        <c:txPr>
          <a:bodyPr/>
          <a:lstStyle/>
          <a:p>
            <a:pPr>
              <a:defRPr sz="1200" b="1">
                <a:solidFill>
                  <a:srgbClr val="2B2B2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>
          <c:spPr>
            <a:ln>
              <a:solidFill>
                <a:srgbClr val="EDE4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E6E"/>
                </a:solidFill>
                <a:latin typeface="Calibri"/>
              </a:defRPr>
            </a:pPr>
          </a:p>
        </c:txPr>
        <c:crossAx val="-2068027336"/>
        <c:crosses val="autoZero"/>
        <c:majorUnit val="4.0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2B2B2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7071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B already exists at these suppliers. Animal Biotech's risk is traceability to a listed origin establishment — without a named, APHIS/TRACES-listed abattoir there is no EU health certificate. The reason to call the green-lit plants is to get a real price per block so we can compare against our own fully-loaded cost (TTLC), not just what we pay at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tier · certifications · welfare culture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or Model B · which regions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organ-direct suppliers (Smithfield BioScience,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Research Swine, Tissue Source).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4681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for exports only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animal-cruelty flags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 is domestic-only. Anything EU-bound must come from a federally-inspected (USDA / Talmadge-Aiken) plant — two supply chains, planned separately.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3 · REVIEW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6D2E46"/>
                </a:solidFill>
                <a:latin typeface="Cambria"/>
              </a:rPr>
              <a:t>Where the supply actually 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6000"/>
            </a:avLst>
          </a:prstGeom>
          <a:solidFill>
            <a:srgbClr val="EC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07040" y="5303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6D2E46"/>
                </a:solidFill>
                <a:latin typeface="Calibri"/>
              </a:rPr>
              <a:t>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54 plants across our target areas, sized by weekly hog volume.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37360"/>
          <a:ext cx="11064240" cy="26974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EASTERN NC — WHERE OUR NAMED PLANTS SIT, BY SIZE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494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7A7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TO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Custom Quality Packers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TA-20129 · Sims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likely Small — high-touch, one animal at a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52958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Nahunta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P-80A · Pikeville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~500 / wk  ·  state-inspected → domestic 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36422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Martin's Pork Products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TA-6720 · Falcon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200–1,500 / wk  ·  federal TA → export-eligible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19886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886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Parks Family Meats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TA-18296A · Warsaw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886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~1,750–2,000 / wk  ·  but ROASTER pigs, 10–150 lb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6D2E46"/>
                </a:solidFill>
                <a:latin typeface="Calibri"/>
              </a:rPr>
              <a:t>Three of our four Eastern NC candidates sit in MEDIUM — and 10 of Eastern NC’s 14 plants are federally inspected, the only export-eligible base.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E6E6E"/>
                </a:solidFill>
                <a:latin typeface="Calibri"/>
              </a:rPr>
              <a:t>Distinct named plants only; roll-ups excluded. 20 further plants sit elsewhere in the Midwest / nationally. Pennsylvania out of scope.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5084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· MODEL B — ORGAN SPECIALISTS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and suppliers that ALREADY harvest organs to a customer's written spec. With these, Model B is not a build — it exists.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GREEN-LIT — REACH OUT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Smithfield BioScience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Heel NC · Denison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verified organ programme: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valves, aorta, pericardium, peritoneum,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mucosa, pancreas. Existing EU pharma trade.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2219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Research Swine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Glencoe MN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Porcine-only abattoir + tissue facility.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+ 22442-2, USDA Class B/R.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ships internationally.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5683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Source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Frankfort 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EU-cleanest paperwork: ISO 13485 +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22442-2, USDA Class A, ante/post-mortem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animal-level traceability.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3544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9147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Pioneer Packing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3544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Bowling Green OH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Sow/boar only. Runs PRE-RIGOR whole hog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carcass off the floor in 1–1¾ hrs. The speed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we need already exists.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9684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organ-capable but a DIRECT COMPETITOR — Sustainable Swine Resources (Perry Way WI · Banner Creek KS)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52543"/>
            <a:ext cx="5394960" cy="1987871"/>
          </a:xfrm>
          <a:prstGeom prst="roundRect">
            <a:avLst>
              <a:gd name="adj" fmla="val 4124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498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Animal Biotech is an export risk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82803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tissue is “harvested at USDA federally inspected abattoirs” — but never name which.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Cat 3 requires the ORIGIN plant to be APHIS-approved and on the EU TRACES list.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ISO 13485 / 22442, no TRACES listing, no stated export-document support.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599070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certify what you cannot trace.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44768" y="4407408"/>
            <a:ext cx="5376672" cy="1773936"/>
          </a:xfrm>
          <a:prstGeom prst="roundRect">
            <a:avLst>
              <a:gd name="adj" fmla="val 412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92240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TTLC analysis by blocks.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green-lit supplier for a PRICE PER BLOCK.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 against our TTLC — total true landed cost: harvest labour, line rental, plant fee, inspector time, transport, cold chain and holding, all 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43984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57607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Microsoft Office PowerPoint</Application>
  <PresentationFormat>Widescreen</PresentationFormat>
  <Paragraphs>164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3</cp:revision>
  <dcterms:created xsi:type="dcterms:W3CDTF">2026-08-06T14:33:26Z</dcterms:created>
  <dcterms:modified xsi:type="dcterms:W3CDTF">2026-08-06T14:39:34Z</dcterms:modified>
</cp:coreProperties>
</file>