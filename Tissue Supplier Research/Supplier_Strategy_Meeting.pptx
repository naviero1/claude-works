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86" autoAdjust="0"/>
    <p:restoredTop sz="94610"/>
  </p:normalViewPr>
  <p:slideViewPr>
    <p:cSldViewPr snapToGrid="0" snapToObjects="1">
      <p:cViewPr>
        <p:scale>
          <a:sx n="110" d="100"/>
          <a:sy n="110" d="100"/>
        </p:scale>
        <p:origin x="-86" y="-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Small  0–300</c:v>
                </c:pt>
              </c:strCache>
            </c:strRef>
          </c:tx>
          <c:spPr>
            <a:solidFill>
              <a:srgbClr val="9C6B76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10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F9F-421E-BA4D-E8ECD5E145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 350–2,500</c:v>
                </c:pt>
              </c:strCache>
            </c:strRef>
          </c:tx>
          <c:spPr>
            <a:solidFill>
              <a:srgbClr val="6D2E46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F9F-421E-BA4D-E8ECD5E145D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 2,500–5,000</c:v>
                </c:pt>
              </c:strCache>
            </c:strRef>
          </c:tx>
          <c:spPr>
            <a:solidFill>
              <a:srgbClr val="A9601F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8F9F-421E-BA4D-E8ECD5E145D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 5,000+</c:v>
                </c:pt>
              </c:strCache>
            </c:strRef>
          </c:tx>
          <c:spPr>
            <a:solidFill>
              <a:srgbClr val="3D1A2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5</c:v>
                </c:pt>
                <c:pt idx="6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9F-421E-BA4D-E8ECD5E145D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7A707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8F9F-421E-BA4D-E8ECD5E145D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CCD0"/>
            </a:solidFill>
          </a:ln>
        </c:spPr>
        <c:txPr>
          <a:bodyPr/>
          <a:lstStyle/>
          <a:p>
            <a:pPr>
              <a:defRPr sz="1200" b="1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6"/>
        </c:scaling>
        <c:delete val="0"/>
        <c:axPos val="l"/>
        <c:majorGridlines>
          <c:spPr>
            <a:ln>
              <a:solidFill>
                <a:srgbClr val="EDE4E6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E6E"/>
                </a:solidFill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2B2B2B"/>
              </a:solidFill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7071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B already exists at these suppliers. Animal Biotech's risk is traceability to a listed origin establishment — without a named, APHIS/TRACES-listed abattoir there is no EU health certificate. The reason to call the green-lit plants is to get a real price per block so we can compare against our own fully-loaded cost (TTLC), not just what we pay at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recap. Everything on this slide came out of the meeting itself — the requirement corrections on slide 2, the per-supplier operating-model point on slide 4, the APHIS point on slide 4b, and the process notes on slide 5. Two things to land before people leave: pelvics is the first need, and nobody gets an information packet — the phone gate is a qualifying call, then we go in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Size tier · certifications · welfare culture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Model A or Model B · which regions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3) organ-direct suppliers (Smithfield BioScience,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Research Swine, Tissue Source).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4681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or FSIS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doesn’t need to be aphis certified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flagging, bring to discussion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Comment: Nahunta products can be international – Correction. 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3 · REVIEW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6D2E46"/>
                </a:solidFill>
                <a:latin typeface="Cambria"/>
              </a:rPr>
              <a:t>Where the supply actually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50 live candidates in our target areas — of 93 named plants. Sized by weekly hog volume.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37360"/>
          <a:ext cx="1106424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9028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EASTERN NC — WHERE OUR NAMED PLANTS SIT, BY SIZE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9494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Custom Quality Packers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M20129 · Sims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~500 / wk  ·  federal  ·  high-touch handling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2958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958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Nahunta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P-80A · Pikeville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4" y="5705856"/>
            <a:ext cx="2395728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 dirty="0">
                <a:solidFill>
                  <a:srgbClr val="2B2B2B"/>
                </a:solidFill>
                <a:latin typeface="Calibri"/>
              </a:rPr>
              <a:t>~500 / </a:t>
            </a:r>
            <a:r>
              <a:rPr sz="950" b="0" i="0" dirty="0" err="1">
                <a:solidFill>
                  <a:srgbClr val="2B2B2B"/>
                </a:solidFill>
                <a:latin typeface="Calibri"/>
              </a:rPr>
              <a:t>wk</a:t>
            </a:r>
            <a:r>
              <a:rPr sz="950" b="0" i="0" dirty="0">
                <a:solidFill>
                  <a:srgbClr val="2B2B2B"/>
                </a:solidFill>
                <a:latin typeface="Calibri"/>
              </a:rPr>
              <a:t>  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6422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Parks Family Meats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M18296A (T-A) · Warsaw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400–1,000 / wk  ·  market hogs AND roasters  ·  slaughter-only floor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9886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9886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Martin's Pork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TA-6720 · Falcon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886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1,500–2,500 / wk  ·  federal TA → export-eligible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99632"/>
            <a:ext cx="110642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i="0" dirty="0">
                <a:solidFill>
                  <a:srgbClr val="6D2E46"/>
                </a:solidFill>
                <a:latin typeface="Calibri"/>
              </a:rPr>
              <a:t>All four Eastern NC candidates sit in MEDIUM — so the choice between them is not volume, it is the constraint on each.</a:t>
            </a:r>
            <a:r>
              <a:rPr lang="en-US" sz="1250" b="1" i="0" dirty="0">
                <a:solidFill>
                  <a:srgbClr val="6D2E46"/>
                </a:solidFill>
                <a:latin typeface="Calibri"/>
              </a:rPr>
              <a:t> Geographical weight</a:t>
            </a:r>
            <a:endParaRPr sz="1250" b="1" i="0" dirty="0">
              <a:solidFill>
                <a:srgbClr val="6D2E46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11064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E6E6E"/>
                </a:solidFill>
                <a:latin typeface="Calibri"/>
              </a:rPr>
              <a:t>Counts LIVE candidates in these seven areas after the USDA primary-data pass: duplicates merged, species/inspection exclusions removed. 22 named plants elsewhere, 13 excluded, ~64 in roll-ups.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55567" y="495604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5084064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 This has always been dependent on the supplier. Before: Location and volume were the two first requirement gates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· MODEL B — ORGAN SPECIALISTS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that ALREADY harvest organs to a written spec — Model B exists here. 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THESE SHOULD BE APHIS Certified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GREEN-LIT — REACH OUT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Smithfield BioScience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Heel NC · Denison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verified organ programme: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valves, aorta, pericardium, peritoneum,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mucosa, pancreas. Existing EU pharma trade.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2219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Research Swine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Glencoe MN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Porcine-only abattoir + tissue facility.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+ 22442-2. AWA licence ≠ APHIS export.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ships internationally.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5683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Source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Frankfort 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EU-cleanest paperwork: ISO 13485 +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22442-2, ante/post-mortem inspection,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animal-level traceability. (Class A claim withdrawn.)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3544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9147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Pioneer Packing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3544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Bowling Green OH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Sow/boar only. Runs PRE-RIGOR whole hog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carcass off the floor in 1–1¾ hrs. The speed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we need already exists.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9684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organ-capable but a DIRECT COMPETITOR — Sustainable Swine Resources (Perry Way WI · Banner Creek KS)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52543"/>
            <a:ext cx="5394960" cy="1987871"/>
          </a:xfrm>
          <a:prstGeom prst="roundRect">
            <a:avLst>
              <a:gd name="adj" fmla="val 4124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498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Animal Biotech is an export risk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82803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tissue is “harvested at USDA federally inspected abattoirs” — but never name which.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Cat 3 requires the ORIGIN plant to be APHIS-approved and on the EU TRACES list.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ISO 13485 / 22442, no TRACES listing, no stated export-document support.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599070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certify what you cannot trace.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44768" y="4407408"/>
            <a:ext cx="5376672" cy="1773936"/>
          </a:xfrm>
          <a:prstGeom prst="roundRect">
            <a:avLst>
              <a:gd name="adj" fmla="val 412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92240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TTLC analysis by blocks.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green-lit supplier for a PRICE PER BLOCK.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 against our TTLC — total true landed cost: harvest labour, line rental, plant fee, inspector time, transport, cold chain and holding, all 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43984"/>
            <a:ext cx="11064240" cy="1517904"/>
          </a:xfrm>
          <a:prstGeom prst="roundRect">
            <a:avLst>
              <a:gd name="adj" fmla="val 6250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95528" y="4617720"/>
            <a:ext cx="10597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 Need – </a:t>
            </a:r>
            <a:r>
              <a:rPr lang="en-US" sz="105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Pelvics</a:t>
            </a:r>
            <a:endParaRPr lang="en-US" sz="1200" b="1" dirty="0">
              <a:solidFill>
                <a:srgbClr val="8C2F3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won’t be effective to send them information. Establish willingness, going in person. Team: SE, </a:t>
            </a:r>
            <a:r>
              <a:rPr lang="en-US" sz="105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</a:t>
            </a: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Ops manager : </a:t>
            </a:r>
            <a:r>
              <a:rPr lang="en-US" sz="105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Kindheart</a:t>
            </a: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story.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and passing criteria gate (phone call: how many pigs a week, would you be able to harvest or have us harvest organs?): In person visit -&gt; Intuitive Story -&gt; after phone call enquiries, more thorough conversation about feasibility of operations, walk areas to determine: their labor capacity to harvest organs, space for us to bring labor to harvest organs, what equipment is needed to adapt operation? , NDA, Onboarding : put together contract (they meet requirements that we need to fulfill), setting up in </a:t>
            </a:r>
            <a:r>
              <a:rPr lang="en-US" sz="105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coupa</a:t>
            </a: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Traceability: Ante mortem inspections – some records. Pen carts being signed in, Veterinary inspection, USDA stamps, SIS number on stamps. Canadian Pigs – Parking lot – Contracting.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614476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-1965960"/>
            <a:ext cx="4206240" cy="4206240"/>
          </a:xfrm>
          <a:prstGeom prst="ellipse">
            <a:avLst/>
          </a:prstGeom>
          <a:solidFill>
            <a:srgbClr val="7E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475720" y="5074920"/>
            <a:ext cx="2743200" cy="2743200"/>
          </a:xfrm>
          <a:prstGeom prst="ellipse">
            <a:avLst/>
          </a:prstGeom>
          <a:solidFill>
            <a:srgbClr val="5C2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26769"/>
                </a:solidFill>
                <a:latin typeface="Calibri"/>
              </a:rPr>
              <a:t>6 ·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9144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Where we landed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CE2D0"/>
                </a:solidFill>
                <a:latin typeface="Calibri"/>
              </a:rPr>
              <a:t>The decisions taken in this meeting, and the approach we agreed for reaching suppliers.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26769"/>
                </a:solidFill>
                <a:latin typeface="Calibri"/>
              </a:rPr>
              <a:t>WHAT WE AGREED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217420"/>
            <a:ext cx="146304" cy="146304"/>
          </a:xfrm>
          <a:prstGeom prst="ellipse">
            <a:avLst/>
          </a:prstGeom>
          <a:solidFill>
            <a:srgbClr val="E8C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76272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mbria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32304"/>
            <a:ext cx="5074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ECE2D0"/>
                </a:solidFill>
                <a:latin typeface="Calibri"/>
              </a:rPr>
              <a:t>USDA / FSIS inspection is the hard gate. APHIS is NOT required of a plant we harvest at — only of a direct tissue supplier. A welfare flag does not auto-exclude a plant; it comes to the group.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095244"/>
            <a:ext cx="146304" cy="146304"/>
          </a:xfrm>
          <a:prstGeom prst="ellipse">
            <a:avLst/>
          </a:prstGeom>
          <a:solidFill>
            <a:srgbClr val="E8C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054096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mbria"/>
              </a:rPr>
              <a:t>Nahunta — correction accepted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310128"/>
            <a:ext cx="5074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ECE2D0"/>
                </a:solidFill>
                <a:latin typeface="Calibri"/>
              </a:rPr>
              <a:t>Nahunta product CAN go international. APHIS treats NC state inspection as equivalent, and the model is assembled at ATM.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73068"/>
            <a:ext cx="146304" cy="146304"/>
          </a:xfrm>
          <a:prstGeom prst="ellipse">
            <a:avLst/>
          </a:prstGeom>
          <a:solidFill>
            <a:srgbClr val="E8C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931920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mbria"/>
              </a:rPr>
              <a:t>Operating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187952"/>
            <a:ext cx="5074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>
                <a:solidFill>
                  <a:srgbClr val="ECE2D0"/>
                </a:solidFill>
                <a:latin typeface="Calibri"/>
              </a:rPr>
              <a:t>A or B is decided PER SUPPLIER, not once for all — it has always depended on the plant. Location and volume stay the first two gates.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850892"/>
            <a:ext cx="146304" cy="146304"/>
          </a:xfrm>
          <a:prstGeom prst="ellipse">
            <a:avLst/>
          </a:prstGeom>
          <a:solidFill>
            <a:srgbClr val="E8C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809744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mbria"/>
              </a:rPr>
              <a:t>What we need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5047488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C47E"/>
                </a:solidFill>
                <a:latin typeface="Cambria"/>
              </a:rPr>
              <a:t>PELVICS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28800"/>
            <a:ext cx="51480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26769"/>
                </a:solidFill>
                <a:latin typeface="Calibri"/>
              </a:rPr>
              <a:t>HOW WE APPROACH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185415"/>
            <a:ext cx="274320" cy="27432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2203703"/>
            <a:ext cx="4745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mbria"/>
              </a:rPr>
              <a:t>PHONE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2459736"/>
            <a:ext cx="4745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ECE2D0"/>
                </a:solidFill>
                <a:latin typeface="Calibri"/>
              </a:rPr>
              <a:t>How many pigs a week? Would you harvest the organs, or let us harvest them?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2880359"/>
            <a:ext cx="274320" cy="27432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6" y="2898647"/>
            <a:ext cx="4745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mbria"/>
              </a:rPr>
              <a:t>GO IN PERSON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3154679"/>
            <a:ext cx="4745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ECE2D0"/>
                </a:solidFill>
                <a:latin typeface="Calibri"/>
              </a:rPr>
              <a:t>Sending information will not work — establish willingness face to face. Team: SE, MCc, Ops manager. Open with the KindHeart / Intuitive story.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3575303"/>
            <a:ext cx="274320" cy="27432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6" y="3593591"/>
            <a:ext cx="4745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mbria"/>
              </a:rPr>
              <a:t>WALK THE FLOOR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3849623"/>
            <a:ext cx="4745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ECE2D0"/>
                </a:solidFill>
                <a:latin typeface="Calibri"/>
              </a:rPr>
              <a:t>Their labour capacity to harvest · space to bring our own crew in · what equipment has to be adapted.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4270247"/>
            <a:ext cx="274320" cy="27432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4288536"/>
            <a:ext cx="4745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mbria"/>
              </a:rPr>
              <a:t>NDA, THEN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4544567"/>
            <a:ext cx="4745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ECE2D0"/>
                </a:solidFill>
                <a:latin typeface="Calibri"/>
              </a:rPr>
              <a:t>Contract written against the requirements WE have to fulfil. Set the supplier up in Coupa.</a:t>
            </a:r>
          </a:p>
        </p:txBody>
      </p:sp>
      <p:sp>
        <p:nvSpPr>
          <p:cNvPr id="33" name="Oval 32"/>
          <p:cNvSpPr/>
          <p:nvPr/>
        </p:nvSpPr>
        <p:spPr>
          <a:xfrm>
            <a:off x="6492240" y="4965191"/>
            <a:ext cx="274320" cy="27432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4576" y="4983479"/>
            <a:ext cx="4745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mbria"/>
              </a:rPr>
              <a:t>TRACEABILITY 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4576" y="5239511"/>
            <a:ext cx="4745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ECE2D0"/>
                </a:solidFill>
                <a:latin typeface="Calibri"/>
              </a:rPr>
              <a:t>Ante-mortem inspection records · pen carts signed in · veterinary inspection · USDA stamps and the SIS number on them.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989320"/>
            <a:ext cx="11091672" cy="438912"/>
          </a:xfrm>
          <a:prstGeom prst="roundRect">
            <a:avLst>
              <a:gd name="adj" fmla="val 6000"/>
            </a:avLst>
          </a:prstGeom>
          <a:solidFill>
            <a:srgbClr val="5C2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6108192"/>
            <a:ext cx="10543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D4A5A5"/>
                </a:solidFill>
                <a:latin typeface="Calibri"/>
              </a:rPr>
              <a:t>Parking lot:   Canadian pigs   ·   contracting   ·   the supplier questionnaire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Microsoft Office PowerPoint</Application>
  <PresentationFormat>Widescreen</PresentationFormat>
  <Paragraphs>175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9</cp:revision>
  <dcterms:created xsi:type="dcterms:W3CDTF">2026-08-06T14:33:26Z</dcterms:created>
  <dcterms:modified xsi:type="dcterms:W3CDTF">2026-08-06T16:41:02Z</dcterms:modified>
</cp:coreProperties>
</file>