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 algn="l">
              <a:defRPr sz="1400" b="0" i="0" u="none" strike="noStrike">
                <a:solidFill>
                  <a:srgbClr val="6D2E46"/>
                </a:solidFill>
                <a:latin typeface="Cambria"/>
              </a:defRPr>
            </a:pPr>
            <a:r>
              <a:rPr lang="en-US" sz="1400" b="0" i="0" u="none" strike="noStrike">
                <a:solidFill>
                  <a:srgbClr val="6D2E46"/>
                </a:solidFill>
                <a:latin typeface="Cambria"/>
              </a:rPr>
              <a:t>By certification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Federal / Talmadge-Aiken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</c:v>
                </c:pt>
                <c:pt idx="1">
                  <c:v>5</c:v>
                </c:pt>
                <c:pt idx="2">
                  <c:v>4</c:v>
                </c:pt>
                <c:pt idx="3">
                  <c:v>7</c:v>
                </c:pt>
                <c:pt idx="4">
                  <c:v>4</c:v>
                </c:pt>
                <c:pt idx="5">
                  <c:v>8</c:v>
                </c:pt>
                <c:pt idx="6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7C-40CB-8A81-746579DC55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State-inspected only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4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7C-40CB-8A81-746579DC55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Custom-exempt</c:v>
                </c:pt>
              </c:strCache>
            </c:strRef>
          </c:tx>
          <c:spPr>
            <a:solidFill>
              <a:srgbClr val="C89B7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7C-40CB-8A81-746579DC55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Unconfirmed</c:v>
                </c:pt>
              </c:strCache>
            </c:strRef>
          </c:tx>
          <c:spPr>
            <a:solidFill>
              <a:srgbClr val="D5CACD"/>
            </a:solidFill>
            <a:effectLst/>
          </c:spPr>
          <c:invertIfNegative val="0"/>
          <c:dLbls>
            <c:dLbl>
              <c:idx val="5"/>
              <c:layout>
                <c:manualLayout>
                  <c:x val="-8.6314131579796564E-17"/>
                  <c:y val="-3.360215053763447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A7C-40CB-8A81-746579DC55F5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1">
                  <c:v>4</c:v>
                </c:pt>
                <c:pt idx="2">
                  <c:v>1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A7C-40CB-8A81-746579DC55F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DE4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B2B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 algn="l">
              <a:defRPr sz="1400" b="0" i="0" u="none" strike="noStrike">
                <a:solidFill>
                  <a:srgbClr val="6D2E46"/>
                </a:solidFill>
                <a:latin typeface="Cambria"/>
              </a:defRPr>
            </a:pPr>
            <a:r>
              <a:rPr lang="en-US" sz="1400" b="0" i="0" u="none" strike="noStrike">
                <a:solidFill>
                  <a:srgbClr val="6D2E46"/>
                </a:solidFill>
                <a:latin typeface="Cambria"/>
              </a:rPr>
              <a:t>By size tier (hogs / week)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Small (0–300)</c:v>
                </c:pt>
              </c:strCache>
            </c:strRef>
          </c:tx>
          <c:spPr>
            <a:solidFill>
              <a:srgbClr val="D9BFC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6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8EC-45DF-BC0B-332ECDADB56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 (350–2.5k)</c:v>
                </c:pt>
              </c:strCache>
            </c:strRef>
          </c:tx>
          <c:spPr>
            <a:solidFill>
              <a:srgbClr val="A2676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8EC-45DF-BC0B-332ECDADB56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Med-High (2.5–5k)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2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8EC-45DF-BC0B-332ECDADB56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High (5k+)</c:v>
                </c:pt>
              </c:strCache>
            </c:strRef>
          </c:tx>
          <c:spPr>
            <a:solidFill>
              <a:srgbClr val="6D2E4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6</c:v>
                </c:pt>
                <c:pt idx="6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8EC-45DF-BC0B-332ECDADB56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To confirm</c:v>
                </c:pt>
              </c:strCache>
            </c:strRef>
          </c:tx>
          <c:spPr>
            <a:solidFill>
              <a:srgbClr val="D5CAC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A3A3A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6</c:v>
                </c:pt>
                <c:pt idx="1">
                  <c:v>8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8EC-45DF-BC0B-332ECDADB56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DE4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E6E6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B2B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Small  0–300</c:v>
                </c:pt>
              </c:strCache>
            </c:strRef>
          </c:tx>
          <c:spPr>
            <a:solidFill>
              <a:srgbClr val="9C6B76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6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  350–2,500</c:v>
                </c:pt>
              </c:strCache>
            </c:strRef>
          </c:tx>
          <c:spPr>
            <a:solidFill>
              <a:srgbClr val="6D2E46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Med-High  2,500–5,000</c:v>
                </c:pt>
              </c:strCache>
            </c:strRef>
          </c:tx>
          <c:spPr>
            <a:solidFill>
              <a:srgbClr val="A9601F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3">
                  <c:v>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High  5,000+</c:v>
                </c:pt>
              </c:strCache>
            </c:strRef>
          </c:tx>
          <c:spPr>
            <a:solidFill>
              <a:srgbClr val="3D1A29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3">
                  <c:v>1</c:v>
                </c:pt>
                <c:pt idx="5">
                  <c:v>6</c:v>
                </c:pt>
                <c:pt idx="6">
                  <c:v>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To confirm</c:v>
                </c:pt>
              </c:strCache>
            </c:strRef>
          </c:tx>
          <c:spPr>
            <a:solidFill>
              <a:srgbClr val="7A7075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6</c:v>
                </c:pt>
                <c:pt idx="1">
                  <c:v>8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CCD0"/>
            </a:solidFill>
          </a:ln>
        </c:spPr>
        <c:txPr>
          <a:bodyPr/>
          <a:lstStyle/>
          <a:p>
            <a:pPr>
              <a:defRPr sz="1200" b="1">
                <a:solidFill>
                  <a:srgbClr val="2B2B2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</c:scaling>
        <c:delete val="0"/>
        <c:axPos val="l"/>
        <c:majorGridlines>
          <c:spPr>
            <a:ln>
              <a:solidFill>
                <a:srgbClr val="EDE4E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6E6E"/>
                </a:solidFill>
                <a:latin typeface="Calibri"/>
              </a:defRPr>
            </a:pPr>
          </a:p>
        </c:txPr>
        <c:crossAx val="-2068027336"/>
        <c:crosses val="autoZero"/>
        <c:majorUnit val="4.0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2B2B2B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Small  0–300</c:v>
                </c:pt>
              </c:strCache>
            </c:strRef>
          </c:tx>
          <c:spPr>
            <a:solidFill>
              <a:srgbClr val="9C6B76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</c:v>
                </c:pt>
                <c:pt idx="1">
                  <c:v>6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  350–2,500</c:v>
                </c:pt>
              </c:strCache>
            </c:strRef>
          </c:tx>
          <c:spPr>
            <a:solidFill>
              <a:srgbClr val="6D2E46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Med-High  2,500–5,000</c:v>
                </c:pt>
              </c:strCache>
            </c:strRef>
          </c:tx>
          <c:spPr>
            <a:solidFill>
              <a:srgbClr val="A9601F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</c:v>
                </c:pt>
                <c:pt idx="3">
                  <c:v>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High  5,000+</c:v>
                </c:pt>
              </c:strCache>
            </c:strRef>
          </c:tx>
          <c:spPr>
            <a:solidFill>
              <a:srgbClr val="3D1A29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</c:v>
                </c:pt>
                <c:pt idx="3">
                  <c:v>1</c:v>
                </c:pt>
                <c:pt idx="5">
                  <c:v>5</c:v>
                </c:pt>
                <c:pt idx="6">
                  <c:v>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To confirm</c:v>
                </c:pt>
              </c:strCache>
            </c:strRef>
          </c:tx>
          <c:spPr>
            <a:solidFill>
              <a:srgbClr val="7A7075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Eastern NC</c:v>
                </c:pt>
                <c:pt idx="1">
                  <c:v>Western NC</c:v>
                </c:pt>
                <c:pt idx="2">
                  <c:v>SC</c:v>
                </c:pt>
                <c:pt idx="3">
                  <c:v>TN</c:v>
                </c:pt>
                <c:pt idx="4">
                  <c:v>VA</c:v>
                </c:pt>
                <c:pt idx="5">
                  <c:v>Iowa</c:v>
                </c:pt>
                <c:pt idx="6">
                  <c:v>Nebraska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5</c:v>
                </c:pt>
                <c:pt idx="1">
                  <c:v>8</c:v>
                </c:pt>
                <c:pt idx="2">
                  <c:v>3</c:v>
                </c:pt>
                <c:pt idx="3">
                  <c:v>2</c:v>
                </c:pt>
                <c:pt idx="4">
                  <c:v>2</c:v>
                </c:pt>
                <c:pt idx="5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CCD0"/>
            </a:solidFill>
          </a:ln>
        </c:spPr>
        <c:txPr>
          <a:bodyPr/>
          <a:lstStyle/>
          <a:p>
            <a:pPr>
              <a:defRPr sz="1200" b="1">
                <a:solidFill>
                  <a:srgbClr val="2B2B2B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</c:scaling>
        <c:delete val="0"/>
        <c:axPos val="l"/>
        <c:majorGridlines>
          <c:spPr>
            <a:ln>
              <a:solidFill>
                <a:srgbClr val="EDE4E6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>
                <a:solidFill>
                  <a:srgbClr val="6E6E6E"/>
                </a:solidFill>
                <a:latin typeface="Calibri"/>
              </a:defRPr>
            </a:pPr>
          </a:p>
        </c:txPr>
        <c:crossAx val="-2068027336"/>
        <c:crosses val="autoZero"/>
        <c:majorUnit val="4.0"/>
      </c:valAx>
    </c:plotArea>
    <c:legend>
      <c:legendPos val="b"/>
      <c:overlay val="0"/>
      <c:txPr>
        <a:bodyPr/>
        <a:lstStyle/>
        <a:p>
          <a:pPr>
            <a:defRPr sz="1100">
              <a:solidFill>
                <a:srgbClr val="2B2B2B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70710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leave with a strategy and an agreed outreach process. Pre-read is the 12-tab workbook.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decision. Lead time is the reason this is urgent. Two outcomes: strategy, and the outreach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decisions here: any further requirements, and the weighting. Also flag sow vs market hog — it decides roughly half the candidate pool.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Eastern NC: 14 plants, 10 federal/TA — the export-capable base and the aggregation cluster. Western NC: 14 plants but small and largely state-inspected, so domestic only. Iowa: 8 plants, 6 High tier. Nebraska: 1. Proximity matters because aggregation only works if plants share one crew.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may differ by tier: Model A suits small plants, Model B suits large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B already exists at these suppliers. Animal Biotech's risk is traceability to a listed origin establishment — without a named, APHIS/TRACES-listed abattoir there is no EU health certificate. The reason to call the green-lit plants is to get a real price per block so we can compare against our own fully-loaded cost (TTLC), not just what we pay at the door.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process is a straw man — the point is to agree the shape and the gates, not the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D2E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7E3B53"/>
          </a:solidFill>
          <a:ln w="12700">
            <a:solidFill>
              <a:srgbClr val="7E3B5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881360" y="4206240"/>
            <a:ext cx="2926080" cy="2926080"/>
          </a:xfrm>
          <a:prstGeom prst="ellipse">
            <a:avLst/>
          </a:prstGeom>
          <a:solidFill>
            <a:srgbClr val="5C2439"/>
          </a:solidFill>
          <a:ln w="12700">
            <a:solidFill>
              <a:srgbClr val="5C243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SELECTION · STAKEHOLDER ALIGNMENT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395728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Onboarding a New</a:t>
            </a:r>
            <a:endParaRPr lang="en-US" sz="4600" dirty="0"/>
          </a:p>
          <a:p>
            <a:pPr marL="0" indent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Agreeing the strategy, the requirements, and how we approach suppliers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are here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7276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a new tissue supplier that meets our criteria — and we need to move now, because onboarding a slaughterhouse has a long lead time.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WANT OUT OF THIS MEETING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5349240" cy="2395728"/>
          </a:xfrm>
          <a:prstGeom prst="roundRect">
            <a:avLst>
              <a:gd name="adj" fmla="val 305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32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32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99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strategy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32688" y="3621024"/>
            <a:ext cx="46177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kind of supplier are we actually buying?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tier · certifications · welfare culture ·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or Model B · which regions ·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organ-direct suppliers (Smithfield BioScience,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 Research Swine, Tissue Source).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2761488"/>
            <a:ext cx="5349240" cy="2395728"/>
          </a:xfrm>
          <a:prstGeom prst="roundRect">
            <a:avLst>
              <a:gd name="adj" fmla="val 305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47688" y="3072384"/>
            <a:ext cx="402336" cy="402336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47688" y="3072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214616" y="3072384"/>
            <a:ext cx="4023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process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647688" y="3621024"/>
            <a:ext cx="461772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 from Tissue Supplier LEAD to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Supplier ONBOARDED — the steps, the</a:t>
            </a:r>
            <a:endParaRPr lang="en-US" sz="13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gates, and who owns each one.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46811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2 can be parked — but we should agree how we approach it before we leave.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CONFIRM REQUIREMENTS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are looking for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1790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— capacity is open. We classify, we do not exclude.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3152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– 300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high-touch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several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38328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56616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56616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350 – 2,500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single-plant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0080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MED-HIGH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2,500 – 5,000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+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cull-sow plants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52560" y="1865376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35440" y="1993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235440" y="224942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5,000 +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235440" y="267004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the</a:t>
            </a:r>
            <a:endParaRPr lang="en-US" sz="11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48640" y="32735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hogs / week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6758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68096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USDA inspected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68096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25112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544568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APHIS listed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44568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for exports only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01584" y="4023360"/>
            <a:ext cx="3566160" cy="749808"/>
          </a:xfrm>
          <a:prstGeom prst="roundRect">
            <a:avLst>
              <a:gd name="adj" fmla="val 975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32104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Humane culture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21040" y="4389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animal-cruelty flags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974336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822960" y="49743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Nahunta is domestic-only. Anything EU-bound must come from a federally-inspected (USDA / Talmadge-Aiken) plant — two supply chains, planned separately.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  any requirements beyond these — and how do we weight them?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26769"/>
                </a:solidFill>
                <a:latin typeface="Calibri"/>
              </a:rPr>
              <a:t>3 · REVIEW REGIONS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87782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6D2E46"/>
                </a:solidFill>
                <a:latin typeface="Cambria"/>
              </a:rPr>
              <a:t>Where the supply actually 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25000"/>
            </a:avLst>
          </a:prstGeom>
          <a:solidFill>
            <a:srgbClr val="ECE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0607040" y="530352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6D2E46"/>
                </a:solidFill>
                <a:latin typeface="Calibri"/>
              </a:rPr>
              <a:t>10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53 named plants in our target areas — of ~138 identified in total. Sized by weekly hog volume.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737360"/>
          <a:ext cx="11064240" cy="269748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9028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A26769"/>
                </a:solidFill>
                <a:latin typeface="Calibri"/>
              </a:rPr>
              <a:t>EASTERN NC — WHERE OUR NAMED PLANTS SIT, BY SIZE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9494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94944" y="503834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528523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Custom Quality Packers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" y="551383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TA-20129 · Sims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570585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~500 / wk  ·  federal TA  ·  high-touch handling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8328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52958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29584" y="503834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9584" y="528523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Nahunta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551383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P-80A · Pikeville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9584" y="570585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~500 / wk  ·  state-inspected → domestic only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36422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364224" y="503834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528523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Parks Family Meats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551383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TA-18296A · Warsaw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4224" y="570585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400–1,000 / wk  ·  but ROASTER pigs, 10–150 lb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52560" y="4901184"/>
            <a:ext cx="2633472" cy="1170432"/>
          </a:xfrm>
          <a:prstGeom prst="roundRect">
            <a:avLst>
              <a:gd name="adj" fmla="val 6000"/>
            </a:avLst>
          </a:prstGeom>
          <a:solidFill>
            <a:srgbClr val="F7F0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9198864" y="5010912"/>
            <a:ext cx="932688" cy="219456"/>
          </a:xfrm>
          <a:prstGeom prst="roundRect">
            <a:avLst>
              <a:gd name="adj" fmla="val 35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98864" y="503834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8864" y="5285232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D2E46"/>
                </a:solidFill>
                <a:latin typeface="Cambria"/>
              </a:rPr>
              <a:t>Martin's Pork Products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5513832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A26769"/>
                </a:solidFill>
                <a:latin typeface="Calibri"/>
              </a:rPr>
              <a:t>TA-6720 · Falcon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98864" y="5705856"/>
            <a:ext cx="239572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B2B2B"/>
                </a:solidFill>
                <a:latin typeface="Calibri"/>
              </a:rPr>
              <a:t>1,500–2,500 / wk  ·  federal TA → export-eligible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1996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D2E46"/>
                </a:solidFill>
                <a:latin typeface="Calibri"/>
              </a:rPr>
              <a:t>All four Eastern NC candidates sit in MEDIUM — so the choice between them is not volume, it is the constraint on each.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11064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E6E6E"/>
                </a:solidFill>
                <a:latin typeface="Calibri"/>
              </a:rPr>
              <a:t>Chart counts named plants in these seven areas. 21 further named plants sit elsewhere in the Midwest / nationally, and ~64 more are grouped inside multi-plant roll-ups. Pennsylvania out of scope.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STRATEGY &amp; OPERATING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take the tissue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14400" y="1865376"/>
            <a:ext cx="512064" cy="512064"/>
          </a:xfrm>
          <a:prstGeom prst="ellipse">
            <a:avLst/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14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72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harvest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914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technicians on their floor.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 space, or pay by piece?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freshness — we control the clock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floor access + cooler space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people, our protocol, our quality call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1572768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29400" y="1865376"/>
            <a:ext cx="512064" cy="512064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29400" y="1865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287768" y="18470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87768" y="2066544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harvest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629400" y="252374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crew, to our written spec.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629400" y="2889504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send inspectors and trainers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without moving our people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 their culture and QA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on quality is indirect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956048"/>
            <a:ext cx="11064240" cy="932688"/>
          </a:xfrm>
          <a:prstGeom prst="roundRect">
            <a:avLst>
              <a:gd name="adj" fmla="val 7843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22960" y="50840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Notes: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Decide:  A, B, or A-for-some / B-for-others?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4b · MODEL B — ORGAN SPECIALISTS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can already do this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and suppliers that ALREADY harvest organs to a customer's written spec. With these, Model B is not a build — it exists.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GREEN-LIT — REACH OUT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98755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Smithfield BioScience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 Heel NC · Denison IA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verified organ programme: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valves, aorta, pericardium, peritoneum,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mucosa, pancreas. Existing EU pharma trade.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328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56616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82219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Midwest Research Swine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56616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Glencoe MN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6616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Porcine-only abattoir + tissue facility.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 + 22442-2, USDA Class B/R.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ships internationally.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792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40080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65683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Source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Frankfort IN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EU-cleanest paperwork: ISO 13485 +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22442-2, USDA Class A, ante/post-mortem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inspection, animal-level traceability.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052560" y="2139696"/>
            <a:ext cx="2633472" cy="1755648"/>
          </a:xfrm>
          <a:prstGeom prst="roundRect">
            <a:avLst>
              <a:gd name="adj" fmla="val 4167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9235440" y="2304288"/>
            <a:ext cx="182880" cy="18288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491472" y="224942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Pioneer Packing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235440" y="25603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Bowling Green OH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235440" y="2798064"/>
            <a:ext cx="23408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Sow/boar only. Runs PRE-RIGOR whole hog —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carcass off the floor in 1–1¾ hrs. The speed</a:t>
            </a:r>
            <a:endParaRPr lang="en-US" sz="1050" dirty="0"/>
          </a:p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 we need already exists.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3968496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organ-capable but a DIRECT COMPETITOR — Sustainable Swine Resources (Perry Way WI · Banner Creek KS)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352543"/>
            <a:ext cx="5394960" cy="1987871"/>
          </a:xfrm>
          <a:prstGeom prst="roundRect">
            <a:avLst>
              <a:gd name="adj" fmla="val 4124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04672" y="44988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C2F3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Animal Biotech is an export risk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04672" y="4828032"/>
            <a:ext cx="4892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say tissue is “harvested at USDA federally inspected abattoirs” — but never name which.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Cat 3 requires the ORIGIN plant to be APHIS-approved and on the EU TRACES list.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B20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published ISO 13485 / 22442, no TRACES listing, no stated export-document support.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2960" y="5990700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certify what you cannot trace.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144768" y="4407408"/>
            <a:ext cx="5376672" cy="1773936"/>
          </a:xfrm>
          <a:prstGeom prst="roundRect">
            <a:avLst>
              <a:gd name="adj" fmla="val 4124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492240" y="44988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</a:rPr>
              <a:t>TTLC analysis by blocks.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492240" y="4828032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green-lit supplier for a PRICE PER BLOCK.</a:t>
            </a: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it against our TTLC — total true landed cost: harvest labour, line rental, plant fee, inspector time, transport, cold chain and holding, all in.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lead to onboarded supplier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607040" y="457200"/>
            <a:ext cx="1005840" cy="402336"/>
          </a:xfrm>
          <a:prstGeom prst="roundRect">
            <a:avLst>
              <a:gd name="adj" fmla="val 45455"/>
            </a:avLst>
          </a:prstGeom>
          <a:solidFill>
            <a:srgbClr val="ECE2D0"/>
          </a:solidFill>
          <a:ln w="12700">
            <a:solidFill>
              <a:srgbClr val="ECE2D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607040" y="45720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536192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mock process to react to — does this shape look right?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94944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15568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94944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roster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4944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 identified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560320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2816352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962656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962656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383280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962656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 check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962656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· certs ·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enforcement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28032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5084064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230368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230368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50992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5230368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RFQ/P + call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30368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weekly kill,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access, price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095744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7351776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F7F0F1"/>
          </a:solidFill>
          <a:ln w="12700">
            <a:solidFill>
              <a:srgbClr val="F7F0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498080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49808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918704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6D2E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VALIDATE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498080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 + pilot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498080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Welfare audit,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harvest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363456" y="28712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600" dirty="0"/>
          </a:p>
        </p:txBody>
      </p:sp>
      <p:sp>
        <p:nvSpPr>
          <p:cNvPr id="35" name="Shape 33"/>
          <p:cNvSpPr/>
          <p:nvPr/>
        </p:nvSpPr>
        <p:spPr>
          <a:xfrm>
            <a:off x="9619488" y="2157984"/>
            <a:ext cx="1993392" cy="2011680"/>
          </a:xfrm>
          <a:prstGeom prst="roundRect">
            <a:avLst>
              <a:gd name="adj" fmla="val 3670"/>
            </a:avLst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9765792" y="2304288"/>
            <a:ext cx="347472" cy="347472"/>
          </a:xfrm>
          <a:prstGeom prst="ellipse">
            <a:avLst/>
          </a:prstGeom>
          <a:solidFill>
            <a:srgbClr val="6D2E46"/>
          </a:solidFill>
          <a:ln w="12700">
            <a:solidFill>
              <a:srgbClr val="6D2E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9765792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0186416" y="230428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ONBOARD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9765792" y="2761488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9765792" y="3090672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NDA, QA spec,</a:t>
            </a:r>
            <a:endParaRPr lang="en-US" sz="115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ECE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cadence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4443984"/>
            <a:ext cx="11064240" cy="1170432"/>
          </a:xfrm>
          <a:prstGeom prst="roundRect">
            <a:avLst>
              <a:gd name="adj" fmla="val 6250"/>
            </a:avLst>
          </a:prstGeom>
          <a:solidFill>
            <a:srgbClr val="F6E4E4"/>
          </a:solidFill>
          <a:ln w="12700">
            <a:solidFill>
              <a:srgbClr val="F6E4E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2296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C2F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Notes: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5760720"/>
            <a:ext cx="11064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D2E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 lot:  revisit the supplier questionnaire.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1110</Words>
  <Application>Microsoft Office PowerPoint</Application>
  <PresentationFormat>Widescreen</PresentationFormat>
  <Paragraphs>164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Selection — Strategy &amp; Requirements</dc:title>
  <dc:subject>PptxGenJS Presentation</dc:subject>
  <dc:creator>Oscar Penny</dc:creator>
  <cp:lastModifiedBy>Oscar Penny</cp:lastModifiedBy>
  <cp:revision>3</cp:revision>
  <dcterms:created xsi:type="dcterms:W3CDTF">2026-08-06T14:33:26Z</dcterms:created>
  <dcterms:modified xsi:type="dcterms:W3CDTF">2026-08-06T14:39:34Z</dcterms:modified>
</cp:coreProperties>
</file>