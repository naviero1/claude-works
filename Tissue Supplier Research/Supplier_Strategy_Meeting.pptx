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4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6D2E46"/>
                </a:solidFill>
                <a:latin typeface="Cambria"/>
              </a:rPr>
              <a:t>By certification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Federal / Talmadge-Aiken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4</c:v>
                </c:pt>
                <c:pt idx="5">
                  <c:v>8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State-inspected only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Custom-exempt</c:v>
                </c:pt>
              </c:strCache>
            </c:strRef>
          </c:tx>
          <c:spPr>
            <a:solidFill>
              <a:srgbClr val="C89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Unconfirmed</c:v>
                </c:pt>
              </c:strCache>
            </c:strRef>
          </c:tx>
          <c:spPr>
            <a:solidFill>
              <a:srgbClr val="D5CA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ED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2B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4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6D2E46"/>
                </a:solidFill>
                <a:latin typeface="Cambria"/>
              </a:rPr>
              <a:t>By size tier (hogs / week)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(0–300)</c:v>
                </c:pt>
              </c:strCache>
            </c:strRef>
          </c:tx>
          <c:spPr>
            <a:solidFill>
              <a:srgbClr val="D9BF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6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(350–2.5k)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Med-High (2.5–5k)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High (5k+)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6</c:v>
                </c:pt>
                <c:pt idx="6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 confirm</c:v>
                </c:pt>
              </c:strCache>
            </c:strRef>
          </c:tx>
          <c:spPr>
            <a:solidFill>
              <a:srgbClr val="D5CA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Eastern NC</c:v>
                  </c:pt>
                  <c:pt idx="1">
                    <c:v>Western NC</c:v>
                  </c:pt>
                  <c:pt idx="2">
                    <c:v>SC</c:v>
                  </c:pt>
                  <c:pt idx="3">
                    <c:v>TN</c:v>
                  </c:pt>
                  <c:pt idx="4">
                    <c:v>VA</c:v>
                  </c:pt>
                  <c:pt idx="5">
                    <c:v>Iowa</c:v>
                  </c:pt>
                  <c:pt idx="6">
                    <c:v>Nebraska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ED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2B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leave with a strategy and an agreed outreach process. Pre-read is the 12-tab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decision. Lead time is the reason this is urgent. Two outcomes: strategy, and the outreach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here: any further requirements, and the weighting. Also flag sow vs market hog — it decides roughly half the candidate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Eastern NC: 14 plants, 10 federal/TA — the export-capable base and the aggregation cluster. Western NC: 14 plants but small and largely state-inspected, so domestic only. Iowa: 8 plants, 6 High tier. Nebraska: 1. Proximity matters because aggregation only works if plants share one crew.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may differ by tier: Model A suits small plants, Model B suits large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B already exists at these suppliers. Animal Biotech's risk is traceability to a listed origin establishment — without a named, APHIS/TRACES-listed abattoir there is no EU health certificate. The reason to call the green-lit plants is to get a real price per block so we can compare against our own fully-loaded cost (TTLC), not just what we pay at the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is a straw man — the point is to agree the shape and the gates, not the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7E3B53"/>
          </a:solidFill>
          <a:ln w="12700">
            <a:solidFill>
              <a:srgbClr val="7E3B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5C2439"/>
          </a:solidFill>
          <a:ln w="12700">
            <a:solidFill>
              <a:srgbClr val="5C24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 · STAKEHOLDER ALIGNMENT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 New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Supplier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the strategy, the requirements, and how we approach suppliers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 ·  Company stakeholders  ·  Pre-read: Tissue Supplier 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are 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1005840" cy="402336"/>
          </a:xfrm>
          <a:prstGeom prst="roundRect">
            <a:avLst>
              <a:gd name="adj" fmla="val 4545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457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 a new tissue supplier that meets our criteria — and we need to move now, because onboarding a slaughterhouse has a long lead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OUT OF THIS MEETING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3072384"/>
            <a:ext cx="402336" cy="40233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9616" y="3072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2688" y="367588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supplier are we actually buying?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tier · certifications · welfare culture ·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or Model B · which regions.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761488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3072384"/>
            <a:ext cx="402336" cy="40233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14616" y="3072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47688" y="367588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 from Tissue Supplier LEAD to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Supplier ONBOARDED — the steps, the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and who owns each one.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 can be parked — but we should agree how we approach it before we leave.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CONFIRM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looking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1005840" cy="402336"/>
          </a:xfrm>
          <a:prstGeom prst="roundRect">
            <a:avLst>
              <a:gd name="adj" fmla="val 4545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457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— capacity is open. We classify, we do not exclude.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– 300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high-touch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several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86537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– 2,500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single-plant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6537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 – 5,000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+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cull-sow plants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86537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35440" y="2249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544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the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273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hogs / week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675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USDA inspected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096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25112" y="402336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APHIS listed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44568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exports only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01584" y="4023360"/>
            <a:ext cx="3566160" cy="749808"/>
          </a:xfrm>
          <a:prstGeom prst="roundRect">
            <a:avLst>
              <a:gd name="adj" fmla="val 9756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Humane culture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animal-cruelty flags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9743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6E4E4"/>
          </a:solidFill>
          <a:ln w="12700">
            <a:solidFill>
              <a:srgbClr val="F6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743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Nahunta is domestic-only. Anything EU-bound must come from a federally-inspected (USDA / Talmadge-Aiken) plant — two supply chains, planned separately.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any requirements beyond these — and how do we weight them?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REVIEW REGIONS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supply actually 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1005840" cy="402336"/>
          </a:xfrm>
          <a:prstGeom prst="roundRect">
            <a:avLst>
              <a:gd name="adj" fmla="val 4545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457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plants across our target areas. Certification decides whether a plant can ever serve EU work; size decides the operating model.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38528"/>
          <a:ext cx="5394960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36208" y="1938528"/>
          <a:ext cx="5376672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43153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NC holds the export-eligible plants and the real volume. Western NC is small and state-inspected. Iowa is all High tier.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8338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named plants only — roll-ups excluded to avoid double-counting. 20 further plants sit elsewhere in the Midwest / nationally. Pennsylvania out of scope.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19963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 how much weight do we give geographic proximity — and do we split domestic vs EU by region?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STRATEGY &amp;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take the tissue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1005840" cy="402336"/>
          </a:xfrm>
          <a:prstGeom prst="roundRect">
            <a:avLst>
              <a:gd name="adj" fmla="val 4545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457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65376"/>
            <a:ext cx="512064" cy="512064"/>
          </a:xfrm>
          <a:prstGeom prst="ellipse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72768" y="1847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72768" y="20665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harvest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5237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technicians on their floor.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9504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space, or pay by piece?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freshness — we control the clock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floor access + cooler space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people, our protocol, our quality call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572768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865376"/>
            <a:ext cx="512064" cy="51206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87768" y="1847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87768" y="20665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harvest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25237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crew, to our written spec.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889504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inspectors and trainers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moving our people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their culture and QA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on quality is indirect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6E4E4"/>
          </a:solidFill>
          <a:ln w="12700">
            <a:solidFill>
              <a:srgbClr val="F6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56048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lanes, not one:   DOMESTIC — Nahunta anchors it, state-inspected is fine.    EU-BOUND — federally-inspected plant, APHIS-listed, no exceptions.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90702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 A, B, or A-for-some / B-for-others?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MODEL B — ORGAN SPECIALISTS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already do this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and suppliers that ALREADY harvest organs to a customer's written spec. With these, Model B is not a build — it exists.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GREEN-LIT — REACH OUT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2633472" cy="1755648"/>
          </a:xfrm>
          <a:prstGeom prst="roundRect">
            <a:avLst>
              <a:gd name="adj" fmla="val 4167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0428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Smithfield BioScience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Heel NC · Denison 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98064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verified organ programme: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valves, aorta, pericardium, peritoneum,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mucosa, pancreas. Existing EU pharma trade.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139696"/>
            <a:ext cx="2633472" cy="1755648"/>
          </a:xfrm>
          <a:prstGeom prst="roundRect">
            <a:avLst>
              <a:gd name="adj" fmla="val 4167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30428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Midwest Research Swine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Glencoe MN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798064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Porcine-only abattoir + tissue facility.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 + 22442-2, USDA Class B/R.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ships internationally.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139696"/>
            <a:ext cx="2633472" cy="1755648"/>
          </a:xfrm>
          <a:prstGeom prst="roundRect">
            <a:avLst>
              <a:gd name="adj" fmla="val 4167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30428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Source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Frankfort 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798064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EU-cleanest paperwork: ISO 13485 +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22442-2, USDA Class A, ante/post-mortem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animal-level traceability.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2139696"/>
            <a:ext cx="2633472" cy="1755648"/>
          </a:xfrm>
          <a:prstGeom prst="roundRect">
            <a:avLst>
              <a:gd name="adj" fmla="val 4167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2304288"/>
            <a:ext cx="182880" cy="1828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Pioneer Packing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3544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Green OH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2798064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Sow/boar only. Runs PRE-RIGOR whole hog —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carcass off the floor in 1–1¾ hrs. The speed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we need already exists.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96849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organ-capable but a DIRECT COMPETITOR — Sustainable Swine Resources (Perry Way WI · Banner Creek KS). Read them; expect Model A access to be refused.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52544"/>
            <a:ext cx="5394960" cy="1773936"/>
          </a:xfrm>
          <a:prstGeom prst="roundRect">
            <a:avLst>
              <a:gd name="adj" fmla="val 4124"/>
            </a:avLst>
          </a:prstGeom>
          <a:solidFill>
            <a:srgbClr val="F6E4E4"/>
          </a:solidFill>
          <a:ln w="12700">
            <a:solidFill>
              <a:srgbClr val="F6E4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Animal Biotech is an export risk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" y="482803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tissue is “harvested at USDA federally inspected abattoirs” — but never name which.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Cat 3 requires the ORIGIN plant to be APHIS-approved and on the EU TRACES list.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ISO 13485 / 22442, no TRACES listing, no stated export-document support.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583387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certify what you cannot trace.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36208" y="4352544"/>
            <a:ext cx="5376672" cy="1773936"/>
          </a:xfrm>
          <a:prstGeom prst="roundRect">
            <a:avLst>
              <a:gd name="adj" fmla="val 412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498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ask them for — and how to judge it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482803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each green-lit supplier for a PRICE PER BLOCK, not per organ.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against our TTLC — total true landed cost: harvest labour, line rental, plant fee, inspector time, transport, cold chain and holding, all in.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price alone flatters buying. TTLC is the only fair comparison.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8521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quotes feed straight into the TCO Calculator tab.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lead to onboarded supplier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1005840" cy="402336"/>
          </a:xfrm>
          <a:prstGeom prst="roundRect">
            <a:avLst>
              <a:gd name="adj" fmla="val 45455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457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process to react to — does this shape look right?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30428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7614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309067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identified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2871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816352" y="2157984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230428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2656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62656" y="27614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62656" y="309067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· certs ·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871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084064" y="2157984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230428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50992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30368" y="27614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RFQ/P + call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309067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weekly kill,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price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95744" y="2871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351776" y="2157984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230428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18704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498080" y="27614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+ pilot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309067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audit,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harvest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63456" y="28712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9619488" y="2157984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65792" y="2304288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65792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86416" y="23042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765792" y="27614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65792" y="309067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NDA, QA spec,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cadence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43159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GATE — we only spend the next step's effort if the previous one passed.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4809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138928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anatomical spec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49808" y="5504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or market hog? It decides half the list.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25112" y="5138928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APHIS VS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26280" y="5504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a federal plant hold to carry EU work.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01584" y="5138928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7F0F1"/>
          </a:solidFill>
          <a:ln w="12700">
            <a:solidFill>
              <a:srgbClr val="F7F0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the collectors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302752" y="5504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run Model A inside other plants.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lot:  revisit the supplier questionnaire.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Tissue Supplier Selection — Strategy &amp; Requirements</dc:title>
  <dc:subject>PptxGenJS Presentation</dc:subject>
  <dc:creator>Oscar Penny</dc:creator>
  <cp:lastModifiedBy>Oscar Penny</cp:lastModifiedBy>
  <cp:revision>1</cp:revision>
  <dcterms:created xsi:type="dcterms:W3CDTF">2026-08-06T14:31:37Z</dcterms:created>
  <dcterms:modified xsi:type="dcterms:W3CDTF">2026-08-06T14:31:37Z</dcterms:modified>
</cp:coreProperties>
</file>