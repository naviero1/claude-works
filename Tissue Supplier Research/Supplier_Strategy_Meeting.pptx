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400" b="0" i="0" u="none" strike="noStrike">
                <a:solidFill>
                  <a:srgbClr val="6D2E46"/>
                </a:solidFill>
                <a:latin typeface="Cambria"/>
              </a:defRPr>
            </a:pPr>
            <a:r>
              <a:rPr sz="1400" b="0" i="0" u="none" strike="noStrike">
                <a:solidFill>
                  <a:srgbClr val="6D2E46"/>
                </a:solidFill>
                <a:latin typeface="Cambria"/>
              </a:rPr>
              <a:t>By certification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Federal / Talmadge-Aiken</c:v>
                </c:pt>
              </c:strCache>
            </c:strRef>
          </c:tx>
          <c:spPr>
            <a:solidFill>
              <a:srgbClr val="6D2E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Eastern NC</c:v>
                  </c:pt>
                  <c:pt idx="1">
                    <c:v>Western NC</c:v>
                  </c:pt>
                  <c:pt idx="2">
                    <c:v>SC</c:v>
                  </c:pt>
                  <c:pt idx="3">
                    <c:v>TN</c:v>
                  </c:pt>
                  <c:pt idx="4">
                    <c:v>VA</c:v>
                  </c:pt>
                  <c:pt idx="5">
                    <c:v>Iowa</c:v>
                  </c:pt>
                  <c:pt idx="6">
                    <c:v>Nebraska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</c:v>
                </c:pt>
                <c:pt idx="1">
                  <c:v>5</c:v>
                </c:pt>
                <c:pt idx="2">
                  <c:v>4</c:v>
                </c:pt>
                <c:pt idx="3">
                  <c:v>7</c:v>
                </c:pt>
                <c:pt idx="4">
                  <c:v>4</c:v>
                </c:pt>
                <c:pt idx="5">
                  <c:v>8</c:v>
                </c:pt>
                <c:pt idx="6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State-inspected only</c:v>
                </c:pt>
              </c:strCache>
            </c:strRef>
          </c:tx>
          <c:spPr>
            <a:solidFill>
              <a:srgbClr val="A267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Eastern NC</c:v>
                  </c:pt>
                  <c:pt idx="1">
                    <c:v>Western NC</c:v>
                  </c:pt>
                  <c:pt idx="2">
                    <c:v>SC</c:v>
                  </c:pt>
                  <c:pt idx="3">
                    <c:v>TN</c:v>
                  </c:pt>
                  <c:pt idx="4">
                    <c:v>VA</c:v>
                  </c:pt>
                  <c:pt idx="5">
                    <c:v>Iowa</c:v>
                  </c:pt>
                  <c:pt idx="6">
                    <c:v>Nebraska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4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Custom-exempt</c:v>
                </c:pt>
              </c:strCache>
            </c:strRef>
          </c:tx>
          <c:spPr>
            <a:solidFill>
              <a:srgbClr val="C89B7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Eastern NC</c:v>
                  </c:pt>
                  <c:pt idx="1">
                    <c:v>Western NC</c:v>
                  </c:pt>
                  <c:pt idx="2">
                    <c:v>SC</c:v>
                  </c:pt>
                  <c:pt idx="3">
                    <c:v>TN</c:v>
                  </c:pt>
                  <c:pt idx="4">
                    <c:v>VA</c:v>
                  </c:pt>
                  <c:pt idx="5">
                    <c:v>Iowa</c:v>
                  </c:pt>
                  <c:pt idx="6">
                    <c:v>Nebraska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Unconfirmed</c:v>
                </c:pt>
              </c:strCache>
            </c:strRef>
          </c:tx>
          <c:spPr>
            <a:solidFill>
              <a:srgbClr val="D5CAC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Eastern NC</c:v>
                  </c:pt>
                  <c:pt idx="1">
                    <c:v>Western NC</c:v>
                  </c:pt>
                  <c:pt idx="2">
                    <c:v>SC</c:v>
                  </c:pt>
                  <c:pt idx="3">
                    <c:v>TN</c:v>
                  </c:pt>
                  <c:pt idx="4">
                    <c:v>VA</c:v>
                  </c:pt>
                  <c:pt idx="5">
                    <c:v>Iowa</c:v>
                  </c:pt>
                  <c:pt idx="6">
                    <c:v>Nebraska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</c:v>
                </c:pt>
                <c:pt idx="1">
                  <c:v>4</c:v>
                </c:pt>
                <c:pt idx="2">
                  <c:v>1</c:v>
                </c:pt>
                <c:pt idx="3">
                  <c:v>0</c:v>
                </c:pt>
                <c:pt idx="4">
                  <c:v>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</c:scaling>
        <c:delete val="0"/>
        <c:axPos val="l"/>
        <c:majorGridlines>
          <c:spPr>
            <a:ln w="12700" cap="flat">
              <a:solidFill>
                <a:srgbClr val="EDE4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2B2B2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400" b="0" i="0" u="none" strike="noStrike">
                <a:solidFill>
                  <a:srgbClr val="6D2E46"/>
                </a:solidFill>
                <a:latin typeface="Cambria"/>
              </a:defRPr>
            </a:pPr>
            <a:r>
              <a:rPr sz="1400" b="0" i="0" u="none" strike="noStrike">
                <a:solidFill>
                  <a:srgbClr val="6D2E46"/>
                </a:solidFill>
                <a:latin typeface="Cambria"/>
              </a:rPr>
              <a:t>By size tier (hogs / week)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Small (0–300)</c:v>
                </c:pt>
              </c:strCache>
            </c:strRef>
          </c:tx>
          <c:spPr>
            <a:solidFill>
              <a:srgbClr val="D9BF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3A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Eastern NC</c:v>
                  </c:pt>
                  <c:pt idx="1">
                    <c:v>Western NC</c:v>
                  </c:pt>
                  <c:pt idx="2">
                    <c:v>SC</c:v>
                  </c:pt>
                  <c:pt idx="3">
                    <c:v>TN</c:v>
                  </c:pt>
                  <c:pt idx="4">
                    <c:v>VA</c:v>
                  </c:pt>
                  <c:pt idx="5">
                    <c:v>Iowa</c:v>
                  </c:pt>
                  <c:pt idx="6">
                    <c:v>Nebraska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</c:v>
                </c:pt>
                <c:pt idx="1">
                  <c:v>6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Medium (350–2.5k)</c:v>
                </c:pt>
              </c:strCache>
            </c:strRef>
          </c:tx>
          <c:spPr>
            <a:solidFill>
              <a:srgbClr val="A267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3A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Eastern NC</c:v>
                  </c:pt>
                  <c:pt idx="1">
                    <c:v>Western NC</c:v>
                  </c:pt>
                  <c:pt idx="2">
                    <c:v>SC</c:v>
                  </c:pt>
                  <c:pt idx="3">
                    <c:v>TN</c:v>
                  </c:pt>
                  <c:pt idx="4">
                    <c:v>VA</c:v>
                  </c:pt>
                  <c:pt idx="5">
                    <c:v>Iowa</c:v>
                  </c:pt>
                  <c:pt idx="6">
                    <c:v>Nebraska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Med-High (2.5–5k)</c:v>
                </c:pt>
              </c:strCache>
            </c:strRef>
          </c:tx>
          <c:spPr>
            <a:solidFill>
              <a:srgbClr val="E0A4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3A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Eastern NC</c:v>
                  </c:pt>
                  <c:pt idx="1">
                    <c:v>Western NC</c:v>
                  </c:pt>
                  <c:pt idx="2">
                    <c:v>SC</c:v>
                  </c:pt>
                  <c:pt idx="3">
                    <c:v>TN</c:v>
                  </c:pt>
                  <c:pt idx="4">
                    <c:v>VA</c:v>
                  </c:pt>
                  <c:pt idx="5">
                    <c:v>Iowa</c:v>
                  </c:pt>
                  <c:pt idx="6">
                    <c:v>Nebraska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2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High (5k+)</c:v>
                </c:pt>
              </c:strCache>
            </c:strRef>
          </c:tx>
          <c:spPr>
            <a:solidFill>
              <a:srgbClr val="6D2E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3A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Eastern NC</c:v>
                  </c:pt>
                  <c:pt idx="1">
                    <c:v>Western NC</c:v>
                  </c:pt>
                  <c:pt idx="2">
                    <c:v>SC</c:v>
                  </c:pt>
                  <c:pt idx="3">
                    <c:v>TN</c:v>
                  </c:pt>
                  <c:pt idx="4">
                    <c:v>VA</c:v>
                  </c:pt>
                  <c:pt idx="5">
                    <c:v>Iowa</c:v>
                  </c:pt>
                  <c:pt idx="6">
                    <c:v>Nebraska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0</c:v>
                </c:pt>
                <c:pt idx="5">
                  <c:v>6</c:v>
                </c:pt>
                <c:pt idx="6">
                  <c:v>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To confirm</c:v>
                </c:pt>
              </c:strCache>
            </c:strRef>
          </c:tx>
          <c:spPr>
            <a:solidFill>
              <a:srgbClr val="D5CAC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3A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Eastern NC</c:v>
                  </c:pt>
                  <c:pt idx="1">
                    <c:v>Western NC</c:v>
                  </c:pt>
                  <c:pt idx="2">
                    <c:v>SC</c:v>
                  </c:pt>
                  <c:pt idx="3">
                    <c:v>TN</c:v>
                  </c:pt>
                  <c:pt idx="4">
                    <c:v>VA</c:v>
                  </c:pt>
                  <c:pt idx="5">
                    <c:v>Iowa</c:v>
                  </c:pt>
                  <c:pt idx="6">
                    <c:v>Nebraska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6</c:v>
                </c:pt>
                <c:pt idx="1">
                  <c:v>8</c:v>
                </c:pt>
                <c:pt idx="2">
                  <c:v>3</c:v>
                </c:pt>
                <c:pt idx="3">
                  <c:v>2</c:v>
                </c:pt>
                <c:pt idx="4">
                  <c:v>2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A3A3A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</c:scaling>
        <c:delete val="0"/>
        <c:axPos val="l"/>
        <c:majorGridlines>
          <c:spPr>
            <a:ln w="12700" cap="flat">
              <a:solidFill>
                <a:srgbClr val="EDE4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2B2B2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leave with a strategy and an agreed outreach process. Pre-read is the 12-tab workbook.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decision. Lead time is the reason this is urgent. Two outcomes: strategy, and the outreach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decisions here: any further requirements, and the weighting. Also flag sow vs market hog — it decides roughly half the candidate pool.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Eastern NC: 14 plants, 10 federal/TA — the export-capable base and the aggregation cluster. Western NC: 14 plants but small and largely state-inspected, so domestic only. Iowa: 8 plants, 6 High tier. Nebraska: 1. Proximity matters because aggregation only works if plants share one crew.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may differ by tier: Model A suits small plants, Model B suits large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B already exists at these suppliers. Animal Biotech's risk is traceability to a listed origin establishment — without a named, APHIS/TRACES-listed abattoir there is no EU health certificate. The reason to call the green-lit plants is to get a real price per block so we can compare against our own fully-loaded cost (TTLC), not just what we pay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process is a straw man — the point is to agree the shape and the gates, not the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754880" cy="4754880"/>
          </a:xfrm>
          <a:prstGeom prst="ellipse">
            <a:avLst/>
          </a:prstGeom>
          <a:solidFill>
            <a:srgbClr val="7E3B53"/>
          </a:solidFill>
          <a:ln w="12700">
            <a:solidFill>
              <a:srgbClr val="7E3B5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4206240"/>
            <a:ext cx="2926080" cy="2926080"/>
          </a:xfrm>
          <a:prstGeom prst="ellipse">
            <a:avLst/>
          </a:prstGeom>
          <a:solidFill>
            <a:srgbClr val="5C2439"/>
          </a:solidFill>
          <a:ln w="12700">
            <a:solidFill>
              <a:srgbClr val="5C243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011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SELECTION · STAKEHOLDER ALIGNMENT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2395728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Onboarding a New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Supplier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Agreeing the strategy, the requirements, and how we approach suppliers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394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minutes  ·  Company stakeholders  ·  Pre-read: Tissue Supplier Study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are here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727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looking for a new tissue supplier that meets our criteria — and we need to move now, because onboarding a slaughterhouse has a long lead time.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WANT OUT OF THIS MEETING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5349240" cy="2395728"/>
          </a:xfrm>
          <a:prstGeom prst="roundRect">
            <a:avLst>
              <a:gd name="adj" fmla="val 305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2688" y="3072384"/>
            <a:ext cx="402336" cy="402336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3072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99616" y="307238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strategy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32688" y="3621024"/>
            <a:ext cx="46177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supplier are we actually buying?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tier · certifications · welfare culture ·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or Model B · which regions ·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organ-direct suppliers (Smithfield BioScience,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Midwest Research Swine, Tissue Source).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2761488"/>
            <a:ext cx="5349240" cy="2395728"/>
          </a:xfrm>
          <a:prstGeom prst="roundRect">
            <a:avLst>
              <a:gd name="adj" fmla="val 305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47688" y="3072384"/>
            <a:ext cx="402336" cy="402336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47688" y="3072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214616" y="307238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process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647688" y="3621024"/>
            <a:ext cx="46177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go from Tissue Supplier LEAD to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 Supplier ONBOARDED — the steps, the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gates, and who owns each one.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546811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2 can be parked — but we should agree how we approach it before we leave.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CONFIRM REQUIREMENTS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looking for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179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— capacity is open. We classify, we do not exclude.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3152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– 300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high-touch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several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56616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350 – 2,500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6616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single-plant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MED-HIGH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2,500 – 5,000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0080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+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cull-sow plants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5256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3544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23544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5,000 +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23544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is the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" y="32735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hogs / week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36758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NON-NEGOTIABLES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0233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USDA inspected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68096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325112" y="40233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44568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APHIS listed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544568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for exports only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01584" y="40233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2104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Humane culture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321040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animal-cruelty flags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4974336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49743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Confirmed: Nahunta is domestic-only. Anything EU-bound must come from a federally-inspected (USDA / Talmadge-Aiken) plant — two supply chains, planned separately.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" y="5852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Discuss:  any requirements beyond these — and how do we weight them?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REVIEW REGIONS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supply actually 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1790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plants across our target areas. Certification decides whether a plant can ever serve EU work; size decides the operating model.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938528"/>
          <a:ext cx="5394960" cy="34015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Chart 1" descr=""/>
          <p:cNvGraphicFramePr/>
          <p:nvPr/>
        </p:nvGraphicFramePr>
        <p:xfrm>
          <a:off x="6236208" y="1938528"/>
          <a:ext cx="5376672" cy="34015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543153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Eastern NC holds the export-eligible plants and the real volume. Western NC is small and state-inspected. Iowa is all High tier.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48640" y="583387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named plants only — roll-ups excluded to avoid double-counting. 20 further plants sit elsewhere in the Midwest / nationally. Pennsylvania out of scope.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548640" y="619963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Discuss:  how much weight do we give geographic proximity — and do we split domestic vs EU by region?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STRATEGY &amp; OPERATING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take the tissue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5349240" cy="3200400"/>
          </a:xfrm>
          <a:prstGeom prst="roundRect">
            <a:avLst>
              <a:gd name="adj" fmla="val 2286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865376"/>
            <a:ext cx="512064" cy="512064"/>
          </a:xfrm>
          <a:prstGeom prst="ellipse">
            <a:avLst/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865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72768" y="18470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72768" y="20665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harvest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252374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technicians on their floor.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889504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space, or pay by piece?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freshness — we control the clock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floor access + cooler space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people, our protocol, our quality call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1572768"/>
            <a:ext cx="5349240" cy="3200400"/>
          </a:xfrm>
          <a:prstGeom prst="roundRect">
            <a:avLst>
              <a:gd name="adj" fmla="val 228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29400" y="1865376"/>
            <a:ext cx="512064" cy="512064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29400" y="1865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287768" y="18470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287768" y="20665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harvest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629400" y="252374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crew, to our written spec.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29400" y="2889504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send inspectors and trainers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without moving our people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 their culture and QA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on quality is indirect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956048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084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Notes: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Decide:  A, B, or A-for-some / B-for-others?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4b · MODEL B — ORGAN SPECIALISTS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can already do this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and suppliers that ALREADY harvest organs to a customer's written spec. With these, Model B is not a build — it exists.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GREEN-LIT — REACH OUT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139696"/>
            <a:ext cx="2633472" cy="1755648"/>
          </a:xfrm>
          <a:prstGeom prst="roundRect">
            <a:avLst>
              <a:gd name="adj" fmla="val 4167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304288"/>
            <a:ext cx="182880" cy="1828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22494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Smithfield BioScience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 Heel NC · Denison IA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7980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verified organ programme: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valves, aorta, pericardium, peritoneum,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mucosa, pancreas. Existing EU pharma trade.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83280" y="2139696"/>
            <a:ext cx="2633472" cy="1755648"/>
          </a:xfrm>
          <a:prstGeom prst="roundRect">
            <a:avLst>
              <a:gd name="adj" fmla="val 4167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66160" y="2304288"/>
            <a:ext cx="182880" cy="1828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22192" y="22494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Midwest Research Swine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566160" y="25603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Glencoe MN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66160" y="27980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Porcine-only abattoir + tissue facility.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13485 + 22442-2, USDA Class B/R.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ships internationally.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2139696"/>
            <a:ext cx="2633472" cy="1755648"/>
          </a:xfrm>
          <a:prstGeom prst="roundRect">
            <a:avLst>
              <a:gd name="adj" fmla="val 4167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304288"/>
            <a:ext cx="182880" cy="1828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56832" y="22494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Source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0" y="25603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Frankfort IN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0" y="27980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EU-cleanest paperwork: ISO 13485 +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22442-2, USDA Class A, ante/post-mortem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inspection, animal-level traceability.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052560" y="2139696"/>
            <a:ext cx="2633472" cy="1755648"/>
          </a:xfrm>
          <a:prstGeom prst="roundRect">
            <a:avLst>
              <a:gd name="adj" fmla="val 4167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35440" y="2304288"/>
            <a:ext cx="182880" cy="1828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91472" y="22494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Pioneer Packing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235440" y="25603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Bowling Green OH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235440" y="27980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Sow/boar only. Runs PRE-RIGOR whole hog —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carcass off the floor in 1–1¾ hrs. The speed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 we need already exists.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396849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organ-capable but a DIRECT COMPETITOR — Sustainable Swine Resources (Perry Way WI · Banner Creek KS). Read them; expect Model A access to be refused.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352544"/>
            <a:ext cx="5394960" cy="1773936"/>
          </a:xfrm>
          <a:prstGeom prst="roundRect">
            <a:avLst>
              <a:gd name="adj" fmla="val 4124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4988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Animal Biotech is an export risk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04672" y="4828032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say tissue is “harvested at USDA federally inspected abattoirs” — but never name which.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Cat 3 requires the ORIGIN plant to be APHIS-approved and on the EU TRACES list.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published ISO 13485 / 22442, no TRACES listing, no stated export-document support.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04672" y="5833872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certify what you cannot trace.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236208" y="4352544"/>
            <a:ext cx="5376672" cy="1773936"/>
          </a:xfrm>
          <a:prstGeom prst="roundRect">
            <a:avLst>
              <a:gd name="adj" fmla="val 4124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92240" y="449884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ask them for — and how to judge it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492240" y="4828032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green-lit supplier for a PRICE PER BLOCK, not per organ.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it against our TTLC — total true landed cost: harvest labour, line rental, plant fee, inspector time, transport, cold chain and holding, all in.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price alone flatters buying. TTLC is the only fair comparison.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92240" y="585216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quotes feed straight into the TCO Calculator tab.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lead to onboarded supplier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3619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mock process to react to — does this shape look right?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4944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4944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94944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roster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94944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identified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560320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2816352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62656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62656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962656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 check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962656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· certs ·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28032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5084064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30368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30368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50992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QUALIFY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5230368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RFQ/P + call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30368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weekly kill,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access, price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095744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7351776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98080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0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918704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498080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+ pilot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498080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Welfare audit,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harvest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363456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35" name="Shape 33"/>
          <p:cNvSpPr/>
          <p:nvPr/>
        </p:nvSpPr>
        <p:spPr>
          <a:xfrm>
            <a:off x="9619488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765792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765792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0186416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9765792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765792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NDA, QA spec,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cadence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4443984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22960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Notes: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48640" y="5760720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 lot:  revisit the supplier questionnaire.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Tissue Supplier Selection — Strategy &amp; Requirements</dc:title>
  <dc:subject>PptxGenJS Presentation</dc:subject>
  <dc:creator>Oscar Penny</dc:creator>
  <cp:lastModifiedBy>Oscar Penny</cp:lastModifiedBy>
  <cp:revision>1</cp:revision>
  <dcterms:created xsi:type="dcterms:W3CDTF">2026-08-06T14:33:26Z</dcterms:created>
  <dcterms:modified xsi:type="dcterms:W3CDTF">2026-08-06T14:33:26Z</dcterms:modified>
</cp:coreProperties>
</file>