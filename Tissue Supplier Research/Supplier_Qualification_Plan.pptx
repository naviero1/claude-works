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Five-stage supplier qualification plan with entry gates, deliverables and exit gates. Dates as agreed 2026-09-28: calls complete Oct 29; visits Nov 2–Dec 18; pelvic pilot Dec 7–Jan 22; selection by Jan 27; onboarding Feb 2–Mar 27; reliable-product review Jun 30, 2027. Q3 milestone = Identified (Sep 30) with the workbook and shortlist memo as the deliverable.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and onboarding a tissue supplier — the plan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stages. Each one starts only when its entry gate is true, produces a deliverable, and closes on an exit gate — the evidence anyone can check.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0515600" cy="0"/>
          </a:xfrm>
          <a:prstGeom prst="line">
            <a:avLst/>
          </a:prstGeom>
          <a:noFill/>
          <a:ln w="19050">
            <a:solidFill>
              <a:srgbClr val="A2676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" y="1499616"/>
            <a:ext cx="201168" cy="201168"/>
          </a:xfrm>
          <a:prstGeom prst="ellipse">
            <a:avLst/>
          </a:prstGeom>
          <a:solidFill>
            <a:srgbClr val="6D2E4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" y="121615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C24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30, 2026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5720" y="17282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(Q3 milestone)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267712" y="1536192"/>
            <a:ext cx="128016" cy="128016"/>
          </a:xfrm>
          <a:prstGeom prst="ellipse">
            <a:avLst/>
          </a:prstGeom>
          <a:solidFill>
            <a:srgbClr val="A2676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54480" y="121615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C24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29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17282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done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822192" y="1536192"/>
            <a:ext cx="128016" cy="128016"/>
          </a:xfrm>
          <a:prstGeom prst="ellipse">
            <a:avLst/>
          </a:prstGeom>
          <a:solidFill>
            <a:srgbClr val="A2676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108960" y="121615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C24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 – Dec 18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17282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68112" y="1536192"/>
            <a:ext cx="128016" cy="128016"/>
          </a:xfrm>
          <a:prstGeom prst="ellipse">
            <a:avLst/>
          </a:prstGeom>
          <a:solidFill>
            <a:srgbClr val="A2676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121615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C24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7 – Jan 22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754880" y="17282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pelvic pilot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077456" y="1499616"/>
            <a:ext cx="201168" cy="201168"/>
          </a:xfrm>
          <a:prstGeom prst="ellipse">
            <a:avLst/>
          </a:prstGeom>
          <a:solidFill>
            <a:srgbClr val="6D2E4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0" y="121615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C24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27, 2027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17282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851392" y="1536192"/>
            <a:ext cx="128016" cy="128016"/>
          </a:xfrm>
          <a:prstGeom prst="ellipse">
            <a:avLst/>
          </a:prstGeom>
          <a:solidFill>
            <a:srgbClr val="A2676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38160" y="121615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C24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 – Mar 27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138160" y="17282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1237976" y="1499616"/>
            <a:ext cx="201168" cy="201168"/>
          </a:xfrm>
          <a:prstGeom prst="ellipse">
            <a:avLst/>
          </a:prstGeom>
          <a:solidFill>
            <a:srgbClr val="6D2E4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561320" y="121615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C24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 30, 2027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0561320" y="17282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product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2331720"/>
            <a:ext cx="2117750" cy="3794760"/>
          </a:xfrm>
          <a:prstGeom prst="roundRect">
            <a:avLst>
              <a:gd name="adj" fmla="val 3454"/>
            </a:avLst>
          </a:prstGeom>
          <a:solidFill>
            <a:srgbClr val="F6F1EA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2331720"/>
            <a:ext cx="2117750" cy="658368"/>
          </a:xfrm>
          <a:prstGeom prst="roundRect">
            <a:avLst>
              <a:gd name="adj" fmla="val 11111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2697480"/>
            <a:ext cx="2117750" cy="292608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5216" y="2478024"/>
            <a:ext cx="365760" cy="365760"/>
          </a:xfrm>
          <a:prstGeom prst="ellipse">
            <a:avLst/>
          </a:prstGeom>
          <a:solidFill>
            <a:srgbClr val="E8C47E"/>
          </a:solidFill>
          <a:ln w="12700">
            <a:solidFill>
              <a:srgbClr val="E8C47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85216" y="2478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C24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2423160"/>
            <a:ext cx="14776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IDENTIFY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24128" y="2697480"/>
            <a:ext cx="1477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C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2026 — done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85216" y="3099816"/>
            <a:ext cx="18617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WHEN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(models A / B-T, the gates, 140–220 lb, 120 mi from Durham) and USDA / NCDA primary data.</a:t>
            </a:r>
            <a:endParaRPr lang="en-US" sz="900" dirty="0"/>
          </a:p>
          <a:p>
            <a:pPr indent="0" marL="0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slaughter plant in NC / SC / VA / TN verified, scored on both operating models, bounded on volume.</a:t>
            </a:r>
            <a:endParaRPr lang="en-US" sz="900" dirty="0"/>
          </a:p>
          <a:p>
            <a:pPr indent="0" marL="0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Study workbook + one-page shortlist memo.</a:t>
            </a:r>
            <a:endParaRPr lang="en-US" sz="900" dirty="0"/>
          </a:p>
          <a:p>
            <a:pPr indent="0" marL="0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WHEN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Engineer and Purchasing Manager have each picked 3.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39542" y="2331720"/>
            <a:ext cx="2117750" cy="3794760"/>
          </a:xfrm>
          <a:prstGeom prst="roundRect">
            <a:avLst>
              <a:gd name="adj" fmla="val 3454"/>
            </a:avLst>
          </a:prstGeom>
          <a:solidFill>
            <a:srgbClr val="F6F1EA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39542" y="2331720"/>
            <a:ext cx="2117750" cy="658368"/>
          </a:xfrm>
          <a:prstGeom prst="roundRect">
            <a:avLst>
              <a:gd name="adj" fmla="val 11111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39542" y="2697480"/>
            <a:ext cx="2117750" cy="292608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67558" y="2478024"/>
            <a:ext cx="365760" cy="365760"/>
          </a:xfrm>
          <a:prstGeom prst="ellipse">
            <a:avLst/>
          </a:prstGeom>
          <a:solidFill>
            <a:srgbClr val="E8C47E"/>
          </a:solidFill>
          <a:ln w="12700">
            <a:solidFill>
              <a:srgbClr val="E8C47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867558" y="2478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C24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3306470" y="2423160"/>
            <a:ext cx="14776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QUALIFY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3306470" y="2697480"/>
            <a:ext cx="1477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C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1 → Dec 18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2867558" y="3099816"/>
            <a:ext cx="18617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WHEN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Workbook shared; weekly pick meeting held; call script in hand; caller = Purchasing Manager.</a:t>
            </a:r>
            <a:endParaRPr lang="en-US" sz="900" dirty="0"/>
          </a:p>
          <a:p>
            <a:pPr indent="0" marL="0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by Oct 29 — three questions, no business-model talk → joint go / no-go → NDA → visits Nov 2–Dec 18: floor walk, model, spec, how we pay.</a:t>
            </a:r>
            <a:endParaRPr lang="en-US" sz="900" dirty="0"/>
          </a:p>
          <a:p>
            <a:pPr indent="0" marL="0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logs, go / no-go record, signed NDAs, one visit report per plant.</a:t>
            </a:r>
            <a:endParaRPr lang="en-US" sz="900" dirty="0"/>
          </a:p>
          <a:p>
            <a:pPr indent="0" marL="0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WHEN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plant (ideally two) rated "qualified to pilot".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1885" y="2331720"/>
            <a:ext cx="2117750" cy="3794760"/>
          </a:xfrm>
          <a:prstGeom prst="roundRect">
            <a:avLst>
              <a:gd name="adj" fmla="val 3454"/>
            </a:avLst>
          </a:prstGeom>
          <a:solidFill>
            <a:srgbClr val="F6F1EA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1885" y="2331720"/>
            <a:ext cx="2117750" cy="658368"/>
          </a:xfrm>
          <a:prstGeom prst="roundRect">
            <a:avLst>
              <a:gd name="adj" fmla="val 11111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21885" y="2697480"/>
            <a:ext cx="2117750" cy="292608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49901" y="2478024"/>
            <a:ext cx="365760" cy="365760"/>
          </a:xfrm>
          <a:prstGeom prst="ellipse">
            <a:avLst/>
          </a:prstGeom>
          <a:solidFill>
            <a:srgbClr val="E8C47E"/>
          </a:solidFill>
          <a:ln w="12700">
            <a:solidFill>
              <a:srgbClr val="E8C47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149901" y="2478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C24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5588813" y="2423160"/>
            <a:ext cx="14776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5588813" y="2697480"/>
            <a:ext cx="1477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C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7 → Jan 22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5149901" y="3099816"/>
            <a:ext cx="18617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WHEN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plant; paid pilot agreement; pelvic spec signed; inspector named; cold chain arranged.</a:t>
            </a:r>
            <a:endParaRPr lang="en-US" sz="900" dirty="0"/>
          </a:p>
          <a:p>
            <a:pPr indent="0" marL="0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pelvic harvests; every block inspected for quality, size and completeness; chill and transport measured; real cost per block.</a:t>
            </a:r>
            <a:endParaRPr lang="en-US" sz="900" dirty="0"/>
          </a:p>
          <a:p>
            <a:pPr indent="0" marL="0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report per plant: yield, inspection results, cost vs. model.</a:t>
            </a:r>
            <a:endParaRPr lang="en-US" sz="900" dirty="0"/>
          </a:p>
          <a:p>
            <a:pPr indent="0" marL="0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WHEN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30 inspected units over 2 consecutive harvest days at ≥ 95 % first-pass yield.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304227" y="2331720"/>
            <a:ext cx="2117750" cy="3794760"/>
          </a:xfrm>
          <a:prstGeom prst="roundRect">
            <a:avLst>
              <a:gd name="adj" fmla="val 3454"/>
            </a:avLst>
          </a:prstGeom>
          <a:solidFill>
            <a:srgbClr val="F6F1EA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304227" y="2331720"/>
            <a:ext cx="2117750" cy="658368"/>
          </a:xfrm>
          <a:prstGeom prst="roundRect">
            <a:avLst>
              <a:gd name="adj" fmla="val 11111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304227" y="2697480"/>
            <a:ext cx="2117750" cy="292608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432243" y="2478024"/>
            <a:ext cx="365760" cy="365760"/>
          </a:xfrm>
          <a:prstGeom prst="ellipse">
            <a:avLst/>
          </a:prstGeom>
          <a:solidFill>
            <a:srgbClr val="E8C47E"/>
          </a:solidFill>
          <a:ln w="12700">
            <a:solidFill>
              <a:srgbClr val="E8C47E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432243" y="2478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C24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7871155" y="2423160"/>
            <a:ext cx="14776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7871155" y="2697480"/>
            <a:ext cx="1477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C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Jan 27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7432243" y="3099816"/>
            <a:ext cx="18617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WHEN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reports for every piloted plant; Quality sign-off; commercial terms in writing.</a:t>
            </a:r>
            <a:endParaRPr lang="en-US" sz="900" dirty="0"/>
          </a:p>
          <a:p>
            <a:pPr indent="0" marL="0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 comparison; one primary and one backup named.</a:t>
            </a:r>
            <a:endParaRPr lang="en-US" sz="900" dirty="0"/>
          </a:p>
          <a:p>
            <a:pPr indent="0" marL="0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memo — why this plant, why not the others, terms, risks.</a:t>
            </a:r>
            <a:endParaRPr lang="en-US" sz="900" dirty="0"/>
          </a:p>
          <a:p>
            <a:pPr indent="0" marL="0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WHEN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 signed by Supplier Engineering, Quality and Purchasing; approved-supplier record created.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9586570" y="2331720"/>
            <a:ext cx="2117750" cy="3794760"/>
          </a:xfrm>
          <a:prstGeom prst="roundRect">
            <a:avLst>
              <a:gd name="adj" fmla="val 3454"/>
            </a:avLst>
          </a:prstGeom>
          <a:solidFill>
            <a:srgbClr val="F6F1EA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586570" y="2331720"/>
            <a:ext cx="2117750" cy="658368"/>
          </a:xfrm>
          <a:prstGeom prst="roundRect">
            <a:avLst>
              <a:gd name="adj" fmla="val 11111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586570" y="2697480"/>
            <a:ext cx="2117750" cy="292608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714586" y="2478024"/>
            <a:ext cx="365760" cy="365760"/>
          </a:xfrm>
          <a:prstGeom prst="ellipse">
            <a:avLst/>
          </a:prstGeom>
          <a:solidFill>
            <a:srgbClr val="E8C47E"/>
          </a:solidFill>
          <a:ln w="12700">
            <a:solidFill>
              <a:srgbClr val="E8C47E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714586" y="2478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C24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63" name="Text 61"/>
          <p:cNvSpPr txBox="1"/>
          <p:nvPr/>
        </p:nvSpPr>
        <p:spPr>
          <a:xfrm>
            <a:off x="10153498" y="2423160"/>
            <a:ext cx="14776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</a:t>
            </a:r>
            <a:endParaRPr lang="en-US" sz="1500" dirty="0"/>
          </a:p>
        </p:txBody>
      </p:sp>
      <p:sp>
        <p:nvSpPr>
          <p:cNvPr id="64" name="Text 62"/>
          <p:cNvSpPr txBox="1"/>
          <p:nvPr/>
        </p:nvSpPr>
        <p:spPr>
          <a:xfrm>
            <a:off x="10153498" y="2697480"/>
            <a:ext cx="1477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C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 → Mar 27</a:t>
            </a:r>
            <a:endParaRPr lang="en-US" sz="1100" dirty="0"/>
          </a:p>
        </p:txBody>
      </p:sp>
      <p:sp>
        <p:nvSpPr>
          <p:cNvPr id="65" name="Text 63"/>
          <p:cNvSpPr txBox="1"/>
          <p:nvPr/>
        </p:nvSpPr>
        <p:spPr>
          <a:xfrm>
            <a:off x="9714586" y="3099816"/>
            <a:ext cx="18617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WHEN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selection memo; contract draft; freezers ordered; harvest days proposed; training plan if their crew harvests.</a:t>
            </a:r>
            <a:endParaRPr lang="en-US" sz="900" dirty="0"/>
          </a:p>
          <a:p>
            <a:pPr indent="0" marL="0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signed; freezers installed; crew certified if Model B-T; plant on the qualified-supplier list; first lots at full inspection.</a:t>
            </a:r>
            <a:endParaRPr lang="en-US" sz="900" dirty="0"/>
          </a:p>
          <a:p>
            <a:pPr indent="0" marL="0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Contract, cold-chain record, certification records.</a:t>
            </a:r>
            <a:endParaRPr lang="en-US" sz="900" dirty="0"/>
          </a:p>
          <a:p>
            <a:pPr indent="0" marL="0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WHEN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consecutive conforming production lots — then routine monitoring to the Jun 30 review.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only: Supplier Engineer · Purchasing Manager · Quality.   In parallel: FSIS FOIA for plant volumes (send Oct 2) · confirm the crew departure point (this week) · NDA template from legal (by Oct 23).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Supplier qualification plan</dc:title>
  <dc:subject>PptxGenJS Presentation</dc:subject>
  <dc:creator>PptxGenJS</dc:creator>
  <cp:lastModifiedBy>PptxGenJS</cp:lastModifiedBy>
  <cp:revision>1</cp:revision>
  <dcterms:created xsi:type="dcterms:W3CDTF">2026-09-28T18:21:06Z</dcterms:created>
  <dcterms:modified xsi:type="dcterms:W3CDTF">2026-09-28T18:21:06Z</dcterms:modified>
</cp:coreProperties>
</file>