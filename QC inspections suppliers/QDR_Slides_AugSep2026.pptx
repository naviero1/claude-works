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fail rate (sample)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5502378434</c:v>
                  </c:pt>
                  <c:pt idx="1">
                    <c:v>5502391862</c:v>
                  </c:pt>
                  <c:pt idx="2">
                    <c:v>5502404928</c:v>
                  </c:pt>
                  <c:pt idx="3">
                    <c:v>5502421192</c:v>
                  </c:pt>
                  <c:pt idx="4">
                    <c:v>5502428786</c:v>
                  </c:pt>
                  <c:pt idx="5">
                    <c:v>5502462845</c:v>
                  </c:pt>
                  <c:pt idx="6">
                    <c:v>5502471460</c:v>
                  </c:pt>
                  <c:pt idx="7">
                    <c:v>5502495107</c:v>
                  </c:pt>
                  <c:pt idx="8">
                    <c:v>5502512228</c:v>
                  </c:pt>
                  <c:pt idx="9">
                    <c:v>5502523269</c:v>
                  </c:pt>
                  <c:pt idx="10">
                    <c:v>5502539360</c:v>
                  </c:pt>
                  <c:pt idx="11">
                    <c:v>5502550271</c:v>
                  </c:pt>
                  <c:pt idx="12">
                    <c:v>5502512218</c:v>
                  </c:pt>
                  <c:pt idx="13">
                    <c:v>5502523283</c:v>
                  </c:pt>
                  <c:pt idx="14">
                    <c:v>5502539375</c:v>
                  </c:pt>
                  <c:pt idx="15">
                    <c:v>5502550281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0.0769</c:v>
                </c:pt>
                <c:pt idx="1">
                  <c:v>0.0175</c:v>
                </c:pt>
                <c:pt idx="2">
                  <c:v>0.0645</c:v>
                </c:pt>
                <c:pt idx="3">
                  <c:v>0.0682</c:v>
                </c:pt>
                <c:pt idx="4">
                  <c:v>0.0423</c:v>
                </c:pt>
                <c:pt idx="5">
                  <c:v>0.0769</c:v>
                </c:pt>
                <c:pt idx="6">
                  <c:v>0.0357</c:v>
                </c:pt>
                <c:pt idx="7">
                  <c:v>0.0388</c:v>
                </c:pt>
                <c:pt idx="8">
                  <c:v>0.024</c:v>
                </c:pt>
                <c:pt idx="9">
                  <c:v>0.0517</c:v>
                </c:pt>
                <c:pt idx="10">
                  <c:v>0.0667</c:v>
                </c:pt>
                <c:pt idx="11">
                  <c:v>0.0323</c:v>
                </c:pt>
                <c:pt idx="12">
                  <c:v>0.8235</c:v>
                </c:pt>
                <c:pt idx="13">
                  <c:v>0.8095</c:v>
                </c:pt>
                <c:pt idx="14">
                  <c:v>0.5556</c:v>
                </c:pt>
                <c:pt idx="15">
                  <c:v>0.8947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ATM scrap rate (full batch)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5502378434</c:v>
                  </c:pt>
                  <c:pt idx="1">
                    <c:v>5502391862</c:v>
                  </c:pt>
                  <c:pt idx="2">
                    <c:v>5502404928</c:v>
                  </c:pt>
                  <c:pt idx="3">
                    <c:v>5502421192</c:v>
                  </c:pt>
                  <c:pt idx="4">
                    <c:v>5502428786</c:v>
                  </c:pt>
                  <c:pt idx="5">
                    <c:v>5502462845</c:v>
                  </c:pt>
                  <c:pt idx="6">
                    <c:v>5502471460</c:v>
                  </c:pt>
                  <c:pt idx="7">
                    <c:v>5502495107</c:v>
                  </c:pt>
                  <c:pt idx="8">
                    <c:v>5502512228</c:v>
                  </c:pt>
                  <c:pt idx="9">
                    <c:v>5502523269</c:v>
                  </c:pt>
                  <c:pt idx="10">
                    <c:v>5502539360</c:v>
                  </c:pt>
                  <c:pt idx="11">
                    <c:v>5502550271</c:v>
                  </c:pt>
                  <c:pt idx="12">
                    <c:v>5502512218</c:v>
                  </c:pt>
                  <c:pt idx="13">
                    <c:v>5502523283</c:v>
                  </c:pt>
                  <c:pt idx="14">
                    <c:v>5502539375</c:v>
                  </c:pt>
                  <c:pt idx="15">
                    <c:v>5502550281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0.0443</c:v>
                </c:pt>
                <c:pt idx="1">
                  <c:v>0.0165</c:v>
                </c:pt>
                <c:pt idx="2">
                  <c:v>0.0634</c:v>
                </c:pt>
                <c:pt idx="3">
                  <c:v>0.0654</c:v>
                </c:pt>
                <c:pt idx="4">
                  <c:v>0.0285</c:v>
                </c:pt>
                <c:pt idx="5">
                  <c:v>0.0481</c:v>
                </c:pt>
                <c:pt idx="6">
                  <c:v>0.1124</c:v>
                </c:pt>
                <c:pt idx="7">
                  <c:v>0.0291</c:v>
                </c:pt>
                <c:pt idx="8">
                  <c:v>0.0696</c:v>
                </c:pt>
                <c:pt idx="9">
                  <c:v>0.002</c:v>
                </c:pt>
                <c:pt idx="10">
                  <c:v>0</c:v>
                </c:pt>
                <c:pt idx="11">
                  <c:v>0</c:v>
                </c:pt>
                <c:pt idx="12">
                  <c:v>0.4167</c:v>
                </c:pt>
                <c:pt idx="13">
                  <c:v>0.1724</c:v>
                </c:pt>
                <c:pt idx="14">
                  <c:v>0.375</c:v>
                </c:pt>
                <c:pt idx="15">
                  <c:v>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7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700000"/>
          <a:lstStyle/>
          <a:p>
            <a:pPr>
              <a:defRPr sz="75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issues — 22 total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Ureter damage</c:v>
                  </c:pt>
                  <c:pt idx="1">
                    <c:v>Short block / mesentery length</c:v>
                  </c:pt>
                  <c:pt idx="2">
                    <c:v>Critical-area laceration</c:v>
                  </c:pt>
                  <c:pt idx="3">
                    <c:v>Bowel damage / separation</c:v>
                  </c:pt>
                  <c:pt idx="4">
                    <c:v>Membrane damage</c:v>
                  </c:pt>
                  <c:pt idx="5">
                    <c:v>Urethra / bladder damage</c:v>
                  </c:pt>
                  <c:pt idx="6">
                    <c:v>Other / unspecified (8/12 provisional)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scrap — 63 total · 57 quality-only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1220 · Destructive Testing (eng/R&amp;D)*</c:v>
                  </c:pt>
                  <c:pt idx="1">
                    <c:v>9983 · Incorrect Dimensions</c:v>
                  </c:pt>
                  <c:pt idx="2">
                    <c:v>9973 · Out of Spec</c:v>
                  </c:pt>
                  <c:pt idx="3">
                    <c:v>9978 · Damage to Suspensory</c:v>
                  </c:pt>
                  <c:pt idx="4">
                    <c:v>9988 · Exposed Urethra</c:v>
                  </c:pt>
                  <c:pt idx="5">
                    <c:v>9994 · Line Clearance*</c:v>
                  </c:pt>
                  <c:pt idx="6">
                    <c:v>9987 · Blood Clots</c:v>
                  </c:pt>
                  <c:pt idx="7">
                    <c:v>9986 · Bladder Length</c:v>
                  </c:pt>
                  <c:pt idx="8">
                    <c:v>9972 · Laceration/Cut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12</c:v>
                </c:pt>
                <c:pt idx="8">
                  <c:v>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issues — 77 total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Other / unspecified</c:v>
                  </c:pt>
                  <c:pt idx="1">
                    <c:v>Missing anatomy (trachea)</c:v>
                  </c:pt>
                  <c:pt idx="2">
                    <c:v>Heart damage</c:v>
                  </c:pt>
                  <c:pt idx="3">
                    <c:v>Lung laceration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9</c:v>
                </c:pt>
                <c:pt idx="2">
                  <c:v>21</c:v>
                </c:pt>
                <c:pt idx="3">
                  <c:v>47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scrap — 153 total · 153 quality-only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1201 · Tech Performance</c:v>
                  </c:pt>
                  <c:pt idx="1">
                    <c:v>9973 · Out of Spec</c:v>
                  </c:pt>
                  <c:pt idx="2">
                    <c:v>7 · Others</c:v>
                  </c:pt>
                  <c:pt idx="3">
                    <c:v>9985 · Tech Damaged</c:v>
                  </c:pt>
                  <c:pt idx="4">
                    <c:v>1220 · Destructive Testing (eng/R&amp;D)*</c:v>
                  </c:pt>
                  <c:pt idx="5">
                    <c:v>9972 · Laceration/Cut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AUGUST 2026  (+ SEPTEMBER TO DATE)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Inspection and Scrap</a:t>
            </a:r>
            <a:endParaRPr lang="en-US" sz="2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51560"/>
                <a:gridCol w="868680"/>
                <a:gridCol w="822960"/>
                <a:gridCol w="1371600"/>
                <a:gridCol w="42336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@ 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Inspected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First-Pass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defect this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/ bladder damage (3)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Parks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Bowel damage / separation 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Nahunta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/ unspecified (12, provisional)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Thoracic @ Nahunta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(39)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310128"/>
            <a:ext cx="3611880" cy="1700784"/>
          </a:xfrm>
          <a:prstGeom prst="roundRect">
            <a:avLst>
              <a:gd name="adj" fmla="val 3226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3924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Martins · 666541 — 8 fails of 198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0080" y="3790188"/>
            <a:ext cx="73855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8" name="Text 5"/>
          <p:cNvSpPr/>
          <p:nvPr/>
        </p:nvSpPr>
        <p:spPr>
          <a:xfrm>
            <a:off x="1691640" y="3739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Urethra / bladder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40080" y="4119372"/>
            <a:ext cx="73855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1691640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Membrane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0080" y="4448556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9"/>
          <p:cNvSpPr/>
          <p:nvPr/>
        </p:nvSpPr>
        <p:spPr>
          <a:xfrm>
            <a:off x="1691640" y="43982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Bowel damage / separation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25.00%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88536" y="3310128"/>
            <a:ext cx="3611880" cy="1700784"/>
          </a:xfrm>
          <a:prstGeom prst="roundRect">
            <a:avLst>
              <a:gd name="adj" fmla="val 3226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25696" y="33924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Parks · 666541 — 2 fails of 46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425696" y="3790188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3"/>
          <p:cNvSpPr/>
          <p:nvPr/>
        </p:nvSpPr>
        <p:spPr>
          <a:xfrm>
            <a:off x="5477256" y="3739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Bowel damage / separation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425696" y="4119372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/>
          <p:nvPr/>
        </p:nvSpPr>
        <p:spPr>
          <a:xfrm>
            <a:off x="5477256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Critical-area laceration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074152" y="3310128"/>
            <a:ext cx="3611880" cy="1700784"/>
          </a:xfrm>
          <a:prstGeom prst="roundRect">
            <a:avLst>
              <a:gd name="adj" fmla="val 3226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11312" y="33924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 @ Nahunta · 666521 — 59 fails of 75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11312" y="3790188"/>
            <a:ext cx="960120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2" name="Text 19"/>
          <p:cNvSpPr/>
          <p:nvPr/>
        </p:nvSpPr>
        <p:spPr>
          <a:xfrm>
            <a:off x="9262872" y="3739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Lung laceration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66.10%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211312" y="4119372"/>
            <a:ext cx="516988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1"/>
          <p:cNvSpPr/>
          <p:nvPr/>
        </p:nvSpPr>
        <p:spPr>
          <a:xfrm>
            <a:off x="9262872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Heart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35.59%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02920" y="5138928"/>
            <a:ext cx="11183112" cy="1261872"/>
          </a:xfrm>
          <a:prstGeom prst="roundRect">
            <a:avLst>
              <a:gd name="adj" fmla="val 3623"/>
            </a:avLst>
          </a:prstGeom>
          <a:solidFill>
            <a:srgbClr val="E0F2F7"/>
          </a:solidFill>
          <a:ln/>
        </p:spPr>
      </p:sp>
      <p:sp>
        <p:nvSpPr>
          <p:cNvPr id="26" name="Text 23"/>
          <p:cNvSpPr/>
          <p:nvPr/>
        </p:nvSpPr>
        <p:spPr>
          <a:xfrm>
            <a:off x="685800" y="52120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13232" y="5440680"/>
            <a:ext cx="10835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Martins): 96.0% FPY on 198 — clean month; scattered singles (bowel, urethra, membrane).</a:t>
            </a:r>
            <a:endParaRPr lang="en-US" sz="84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666506 (Pelvic @ Martins): 100% FPY on 20 — no failures.</a:t>
            </a:r>
            <a:endParaRPr lang="en-US" sz="84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Parks): 95.7% FPY on 46 — strong start on the new spec after the 518 → 541 transition (8/10).</a:t>
            </a:r>
            <a:endParaRPr lang="en-US" sz="84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666521 (Thoracic @ Nahunta): 21.3% FPY on 75 across 4 visits — lung lacerations (39) and heart damage (21) persist; 8/26 rebounded to 44% (two-stage tally: SH tech passed 9/18, QC confirmed 8) after Francisco's team engagement.</a:t>
            </a:r>
            <a:endParaRPr lang="en-US" sz="84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Nahunta): 8/12 line (13/1/12) is provisional — no defect breakdown recorded; confirm.</a:t>
            </a:r>
            <a:endParaRPr lang="en-US" sz="84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to date (9/9, two-stage): SH tech passed only 2/19 and QC confirmed both — NEW failure mode: 9 missing trachea (SH harvesting tracheas for another buyer).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THROUGH 09/16/2026  ·  16 MATCHED BATCHES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at SH vs Scrap Rate at ATM by batch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188720"/>
          <a:ext cx="11183112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40480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298448"/>
                <a:gridCol w="868680"/>
                <a:gridCol w="2880360"/>
                <a:gridCol w="1188720"/>
                <a:gridCol w="603504"/>
                <a:gridCol w="1600200"/>
                <a:gridCol w="731520"/>
              </a:tblGrid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/ Lot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· Tissue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dates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I/P/F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top defects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recv / scrap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review window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→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5502378434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04-13, 04-15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/ 60 / 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(2), Other (2), Bowel damage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/ 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05-01 → 05-13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5502391862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04-20, 04-22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56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Bowel damage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 / 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05-21 → 05-21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5502404928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05-04, 05-06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/ 58 / 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(4)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 / 22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05-29 → 07-30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5502421192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05-18, 05-21, 05-27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 / 123 / 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(5), Membrane (2), Short block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 / 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06-03 → 06-18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5502428786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06-01, 06-03, 06-08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 / 68 / 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(3)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 / 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06-18 → 06-24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5502462845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06-15, 06-24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/ 60 / 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Membrane (3), Bowel (1), Urethra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/ 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06-30 → 07-09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5502471460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06-29, 07-06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/ 27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 / 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07-09 → 08-06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5502495107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07-13, 07-20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 / 99 / 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(2), Membrane (1), Other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 / 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07-30 → 08-12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5502512228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07-27, 08-03, 08-05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 / 122 / 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Membrane (2), Bowel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 / 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08-18 → 09-09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5502523269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08-10, 08-17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/ 55 / 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(2), Bowel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499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08-26 → 08-26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5502539360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28 / 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(1), Membrane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5502550271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08-31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/ 30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Membrane damage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5502512218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07-29, 08-05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/ 6 / 28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(22), Heart damage (6)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08-17 → 08-27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5502523283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08-12, 08-19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/ 8 / 34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(20), Heart damage (15)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09-01 → 09-08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 †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/ 8 / 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(8), Heart damage (2)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09-08 → 09-10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 †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/ 2 / 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anatomy (9), Lung laceration (8)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6272784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Inspected under Nahunta's new two-stage tally (SH tech screens, then QC inspects) — SH I/P/F shown is the final QC outcome; stage detail on the two-stage slide.</a:t>
            </a:r>
            <a:endParaRPr lang="en-US" sz="780" dirty="0"/>
          </a:p>
        </p:txBody>
      </p:sp>
      <p:sp>
        <p:nvSpPr>
          <p:cNvPr id="7" name="Text 3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WINDOW 08/01 – 09/16/2026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reasons for reject vs ATM reasons for reject (August – September)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issues — 22 total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645920"/>
          <a:ext cx="53949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263640" y="142646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scrap — 63 total · 57 quality-only</a:t>
            </a:r>
            <a:endParaRPr lang="en-US" sz="10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263640" y="1645920"/>
          <a:ext cx="53949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3657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02920" y="39319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issues — 77 total</a:t>
            </a:r>
            <a:endParaRPr lang="en-US" sz="100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502920" y="4151376"/>
          <a:ext cx="539496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 7"/>
          <p:cNvSpPr/>
          <p:nvPr/>
        </p:nvSpPr>
        <p:spPr>
          <a:xfrm>
            <a:off x="6263640" y="39319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scrap — 153 total · 153 quality-only</a:t>
            </a:r>
            <a:endParaRPr lang="en-US" sz="1000" dirty="0"/>
          </a:p>
        </p:txBody>
      </p:sp>
      <p:graphicFrame>
        <p:nvGraphicFramePr>
          <p:cNvPr id="13" name="Chart 3" descr=""/>
          <p:cNvGraphicFramePr/>
          <p:nvPr/>
        </p:nvGraphicFramePr>
        <p:xfrm>
          <a:off x="6263640" y="4151376"/>
          <a:ext cx="539496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planned/process withdrawal — not a harvest-quality defect.   ATM Aug–Sep scrap reflects batches harvested ~1–1.5 months earlier; thoracic ATM units are the survivors of already-failing SH lots.</a:t>
            </a:r>
            <a:endParaRPr lang="en-US" sz="850" dirty="0"/>
          </a:p>
        </p:txBody>
      </p:sp>
      <p:sp>
        <p:nvSpPr>
          <p:cNvPr id="15" name="Text 9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16" name="Text 10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FORMAT CHANGE &amp; WHAT IT SHOWS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 — New Two-Stage Tally (since 8/26)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 tally sheets now carry two stages: the slaughterhouse's own tech screens every block, then our QC tech inspects the SH-passed blocks. The Inspection Log keeps recording the FINAL QC outcome, so all cross-site comparisons are unchanged — but the stage split adds two new signals.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18311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960120"/>
                <a:gridCol w="1600200"/>
                <a:gridCol w="1691640"/>
                <a:gridCol w="1005840"/>
                <a:gridCol w="37307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Received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SH-tech pass (yield)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accept of SH-passed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FPY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 (50.0%)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9  (88.9%)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upper-vessel-damage blocks passed &amp; labeled for the usability study; rebound credited to Francisco's team.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(10.5%)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2  (100%)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Fails: 8 left-lung lacerations + 9 missing trachea (SH harvesting tracheas for another buyer); one passed unit labeled for a high head-vessel laceration.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74904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38404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4944" y="411480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SH-tech yield — blocks the slaughterhouse's own tech passed ÷ received (the sheet's "FPY for SH").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accept of SH-passed — of the SH-tech-passed blocks, how many our QC tech confirmed (the sheet's "FPY for SH Tech").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FPY — QC final pass ÷ received; this is the number in the log, dashboards and monthly tabs. Visits before 08/26 used the standard single-stage tally.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199632" y="374904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E0F2F7"/>
          </a:solidFill>
          <a:ln/>
        </p:spPr>
      </p:sp>
      <p:sp>
        <p:nvSpPr>
          <p:cNvPr id="10" name="Text 7"/>
          <p:cNvSpPr/>
          <p:nvPr/>
        </p:nvSpPr>
        <p:spPr>
          <a:xfrm>
            <a:off x="6364224" y="38404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stage split shows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91656" y="411480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SH's own screen now quantifies harvesting quality: 50% (8/26) → 10.5% (9/9) — their numbers, not just ours, make the harvesting-side case.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accepted 88.9–100% of SH-tech-passed blocks — Jordan's judgement aligns with our spec. The losses happen at harvest, not in the screening.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Watch: SH-tech yield as a leading indicator, and the missing-trachea conflict (tracheas sold to another buyer) as the newest driver.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2026-09-16T16:02:51Z</dcterms:created>
  <dcterms:modified xsi:type="dcterms:W3CDTF">2026-09-16T16:02:51Z</dcterms:modified>
</cp:coreProperties>
</file>