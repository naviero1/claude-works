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 issues — 10 (August)</c:v>
                </c:pt>
              </c:strCache>
            </c:strRef>
          </c:tx>
          <c:spPr>
            <a:solidFill>
              <a:srgbClr val="1F293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Critical-area laceration</c:v>
                  </c:pt>
                  <c:pt idx="1">
                    <c:v>Bowel damage / separation</c:v>
                  </c:pt>
                  <c:pt idx="2">
                    <c:v>Membrane damage</c:v>
                  </c:pt>
                  <c:pt idx="3">
                    <c:v>Urethra / bladder damage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4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ATM scrap — 40 units · matched batches, all quality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9978 · Damage to Suspensory</c:v>
                  </c:pt>
                  <c:pt idx="1">
                    <c:v>9988 · Exposed Urethra</c:v>
                  </c:pt>
                  <c:pt idx="2">
                    <c:v>9987 · Blood Clots</c:v>
                  </c:pt>
                  <c:pt idx="3">
                    <c:v>9986 · Bladder Length</c:v>
                  </c:pt>
                  <c:pt idx="4">
                    <c:v>9972 · Laceration/Cut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3</c:v>
                </c:pt>
                <c:pt idx="2">
                  <c:v>4</c:v>
                </c:pt>
                <c:pt idx="3">
                  <c:v>11</c:v>
                </c:pt>
                <c:pt idx="4">
                  <c:v>21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4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 issues — 51 tags on 50 QC fails (August)</c:v>
                </c:pt>
              </c:strCache>
            </c:strRef>
          </c:tx>
          <c:spPr>
            <a:solidFill>
              <a:srgbClr val="1F293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Undocumented / not itemized</c:v>
                  </c:pt>
                  <c:pt idx="1">
                    <c:v>Heart damage</c:v>
                  </c:pt>
                  <c:pt idx="2">
                    <c:v>Lung laceration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19</c:v>
                </c:pt>
                <c:pt idx="2">
                  <c:v>31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4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ATM scrap — 24 units · matched batches, all quality</c:v>
                </c:pt>
              </c:strCache>
            </c:strRef>
          </c:tx>
          <c:spPr>
            <a:solidFill>
              <a:srgbClr val="0E7490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1F293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9972 · Laceration/Cut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1F293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40" b="0" i="0" u="none" strike="noStrike">
                <a:solidFill>
                  <a:srgbClr val="1F293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  ·  AUGUST 2026  (+ SEPTEMBER TO DATE)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Inspection and Scrap</a:t>
            </a:r>
            <a:endParaRPr lang="en-US" sz="2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07008"/>
          <a:ext cx="1118311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22960"/>
                <a:gridCol w="1051560"/>
                <a:gridCol w="868680"/>
                <a:gridCol w="822960"/>
                <a:gridCol w="1371600"/>
                <a:gridCol w="423367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Tissue @ SH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#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Inspected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Pass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 Fail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First-Pass Yield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defect this month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Pelvic @ Martins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95.96%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Urethra / bladder damage (3)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Pelvic @ Martins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Pelvic @ Parks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4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Bowel damage / separation (1)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Pelvic @ Nahunta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 — pre-receipt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Pre-receipt screen — inspected prior to receipt (see note)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Thoracic @ Nahunta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666521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A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Lung laceration (31)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2999232"/>
            <a:ext cx="11155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the Pelvic @ Nahunta 8/12 line was inspected PRIOR TO RECEIVING the tissue (before the harvesting tech got it) — its 12 rejects never became received product, so it is not graded as incoming FPY. Thoracic # columns for the 8/26 two-inspection visit are our QC inspection of harvest-passed blocks.</a:t>
            </a:r>
            <a:endParaRPr lang="en-US" sz="820" dirty="0"/>
          </a:p>
        </p:txBody>
      </p:sp>
      <p:sp>
        <p:nvSpPr>
          <p:cNvPr id="6" name="Shape 3"/>
          <p:cNvSpPr/>
          <p:nvPr/>
        </p:nvSpPr>
        <p:spPr>
          <a:xfrm>
            <a:off x="502920" y="3401568"/>
            <a:ext cx="3611880" cy="1645920"/>
          </a:xfrm>
          <a:prstGeom prst="roundRect">
            <a:avLst>
              <a:gd name="adj" fmla="val 3333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48386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 @ Martins · 666541 — 8 fails of 198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40080" y="3863340"/>
            <a:ext cx="92915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9" name="Text 6"/>
          <p:cNvSpPr/>
          <p:nvPr/>
        </p:nvSpPr>
        <p:spPr>
          <a:xfrm>
            <a:off x="1691640" y="3813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Urethra / bladder damage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37.50%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40080" y="4192524"/>
            <a:ext cx="92915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1" name="Text 8"/>
          <p:cNvSpPr/>
          <p:nvPr/>
        </p:nvSpPr>
        <p:spPr>
          <a:xfrm>
            <a:off x="1691640" y="41422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Membrane damage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37.50%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40080" y="4521708"/>
            <a:ext cx="61943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3" name="Text 10"/>
          <p:cNvSpPr/>
          <p:nvPr/>
        </p:nvSpPr>
        <p:spPr>
          <a:xfrm>
            <a:off x="1691640" y="447141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Bowel damage / separation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25.00%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288536" y="3401568"/>
            <a:ext cx="3611880" cy="1645920"/>
          </a:xfrm>
          <a:prstGeom prst="roundRect">
            <a:avLst>
              <a:gd name="adj" fmla="val 3333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25696" y="348386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 @ Parks · 666541 — 2 fails of 46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425696" y="3863340"/>
            <a:ext cx="54864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7" name="Text 14"/>
          <p:cNvSpPr/>
          <p:nvPr/>
        </p:nvSpPr>
        <p:spPr>
          <a:xfrm>
            <a:off x="5477256" y="3813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Bowel damage / separation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50.00%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425696" y="4192524"/>
            <a:ext cx="54864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19" name="Text 16"/>
          <p:cNvSpPr/>
          <p:nvPr/>
        </p:nvSpPr>
        <p:spPr>
          <a:xfrm>
            <a:off x="5477256" y="41422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Critical-area laceration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50.00%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8074152" y="3401568"/>
            <a:ext cx="3611880" cy="1645920"/>
          </a:xfrm>
          <a:prstGeom prst="roundRect">
            <a:avLst>
              <a:gd name="adj" fmla="val 3333"/>
            </a:avLst>
          </a:prstGeom>
          <a:solidFill>
            <a:srgbClr val="F3F4F6"/>
          </a:solidFill>
          <a:ln w="9525">
            <a:solidFill>
              <a:srgbClr val="E5E7EB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11312" y="3483864"/>
            <a:ext cx="3337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Thoracic @ Nahunta · 666521 — 50 fails of 66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211312" y="3863340"/>
            <a:ext cx="960120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3" name="Text 20"/>
          <p:cNvSpPr/>
          <p:nvPr/>
        </p:nvSpPr>
        <p:spPr>
          <a:xfrm>
            <a:off x="9262872" y="3813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Lung laceration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62.00%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8211312" y="4192524"/>
            <a:ext cx="588461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5" name="Text 22"/>
          <p:cNvSpPr/>
          <p:nvPr/>
        </p:nvSpPr>
        <p:spPr>
          <a:xfrm>
            <a:off x="9262872" y="414223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Heart damage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38.00%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8211312" y="4521708"/>
            <a:ext cx="54864" cy="118872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27" name="Text 24"/>
          <p:cNvSpPr/>
          <p:nvPr/>
        </p:nvSpPr>
        <p:spPr>
          <a:xfrm>
            <a:off x="9262872" y="447141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Undocumented / not itemized  </a:t>
            </a:r>
            <a:pPr indent="0" marL="0">
              <a:buNone/>
            </a:pPr>
            <a:r>
              <a:rPr lang="en-US" sz="9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2.00%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02920" y="5138928"/>
            <a:ext cx="11183112" cy="1261872"/>
          </a:xfrm>
          <a:prstGeom prst="roundRect">
            <a:avLst>
              <a:gd name="adj" fmla="val 3623"/>
            </a:avLst>
          </a:prstGeom>
          <a:solidFill>
            <a:srgbClr val="E0F2F7"/>
          </a:solidFill>
          <a:ln/>
        </p:spPr>
      </p:sp>
      <p:sp>
        <p:nvSpPr>
          <p:cNvPr id="29" name="Text 26"/>
          <p:cNvSpPr/>
          <p:nvPr/>
        </p:nvSpPr>
        <p:spPr>
          <a:xfrm>
            <a:off x="685800" y="521208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13232" y="5440680"/>
            <a:ext cx="10835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➢"/>
            </a:pPr>
            <a:r>
              <a:rPr lang="en-US" sz="8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666541 (Pelvic @ Martins): 96.0% FPY on 198 — clean month; scattered singles (bowel, urethra, membrane).</a:t>
            </a:r>
            <a:endParaRPr lang="en-US" sz="820" dirty="0"/>
          </a:p>
          <a:p>
            <a:pPr marL="342900" indent="-342900">
              <a:spcAft>
                <a:spcPts val="200"/>
              </a:spcAft>
              <a:buSzPct val="100000"/>
              <a:buChar char="➢"/>
            </a:pPr>
            <a:r>
              <a:rPr lang="en-US" sz="8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666506 (Pelvic @ Martins): 100% FPY on 20 — no failures.</a:t>
            </a:r>
            <a:endParaRPr lang="en-US" sz="820" dirty="0"/>
          </a:p>
          <a:p>
            <a:pPr marL="342900" indent="-342900">
              <a:spcAft>
                <a:spcPts val="200"/>
              </a:spcAft>
              <a:buSzPct val="100000"/>
              <a:buChar char="➢"/>
            </a:pPr>
            <a:r>
              <a:rPr lang="en-US" sz="8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666541 (Pelvic @ Parks): 95.7% FPY on 46 — strong start on the new spec after the 518 → 541 transition (8/10).</a:t>
            </a:r>
            <a:endParaRPr lang="en-US" sz="820" dirty="0"/>
          </a:p>
          <a:p>
            <a:pPr marL="342900" indent="-342900">
              <a:spcAft>
                <a:spcPts val="200"/>
              </a:spcAft>
              <a:buSzPct val="100000"/>
              <a:buChar char="➢"/>
            </a:pPr>
            <a:r>
              <a:rPr lang="en-US" sz="8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666521 (Thoracic @ Nahunta): 24.2% QC FPY on 66 across 4 visits — lung lacerations (31) + heart damage (19). 8/26 two-inspection visit: our QC passed 8 of the 9 blocks Jordan passed (88.9%); it took 18 at harvest to get those 8 good ones — rebound credited to Francisco's team.</a:t>
            </a:r>
            <a:endParaRPr lang="en-US" sz="820" dirty="0"/>
          </a:p>
          <a:p>
            <a:pPr marL="342900" indent="-342900">
              <a:spcAft>
                <a:spcPts val="200"/>
              </a:spcAft>
              <a:buSzPct val="100000"/>
              <a:buChar char="➢"/>
            </a:pPr>
            <a:r>
              <a:rPr lang="en-US" sz="8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666541 (Pelvic @ Nahunta): 8/12 was a pre-receipt screen — 13 blocks inspected prior to receiving them; the 12 rejects never became received product (not graded as FPY; excluded from defect charts).</a:t>
            </a:r>
            <a:endParaRPr lang="en-US" sz="820" dirty="0"/>
          </a:p>
          <a:p>
            <a:pPr marL="342900" indent="-342900">
              <a:spcAft>
                <a:spcPts val="200"/>
              </a:spcAft>
              <a:buSzPct val="100000"/>
              <a:buChar char="➢"/>
            </a:pPr>
            <a:r>
              <a:rPr lang="en-US" sz="82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to date (9/9, two-inspection visit): our QC passed both blocks Jordan passed (2/2, 100%); it took 19 at harvest to get them — 17 rejected incl. 9 MISSING TRACHEA (tracheas harvested for another buyer).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502920" y="651052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SH_IQC_Inspections.xlsx — SH-floor IQC &amp; ATM (SAP) receipt data, extract 09/16/2026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11430000" y="65105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QDR  ·  AUGUST SH INSPECTIONS  ·  ATM = SH-INSPECTED BATCHES ONLY (POSTINGS 08/01–09/16)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02920" y="475488"/>
            <a:ext cx="11155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reasons for reject vs ATM reasons for reject (August)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02920" y="115214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PELVIC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02920" y="1426464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issues — 10 (August)</a:t>
            </a:r>
            <a:endParaRPr lang="en-US" sz="1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02920" y="1645920"/>
          <a:ext cx="53949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6263640" y="1426464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scrap — 40 units · matched batches, all quality</a:t>
            </a:r>
            <a:endParaRPr lang="en-US" sz="1000" dirty="0"/>
          </a:p>
        </p:txBody>
      </p:sp>
      <p:graphicFrame>
        <p:nvGraphicFramePr>
          <p:cNvPr id="8" name="Chart 1" descr=""/>
          <p:cNvGraphicFramePr/>
          <p:nvPr/>
        </p:nvGraphicFramePr>
        <p:xfrm>
          <a:off x="6263640" y="1645920"/>
          <a:ext cx="5394960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502920" y="3310128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charted: the Nahunta 8/12 line (12 rejects) — a pre-receipt screen, inspected prior to receiving the tissue; not incoming-QC fails and no reasons itemized.</a:t>
            </a:r>
            <a:endParaRPr lang="en-US" sz="820" dirty="0"/>
          </a:p>
        </p:txBody>
      </p:sp>
      <p:sp>
        <p:nvSpPr>
          <p:cNvPr id="10" name="Text 6"/>
          <p:cNvSpPr/>
          <p:nvPr/>
        </p:nvSpPr>
        <p:spPr>
          <a:xfrm>
            <a:off x="502920" y="36393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THORACIC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02920" y="3913632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 issues — 51 tags on 50 QC fails (August)</a:t>
            </a:r>
            <a:endParaRPr lang="en-US" sz="1000" dirty="0"/>
          </a:p>
        </p:txBody>
      </p:sp>
      <p:graphicFrame>
        <p:nvGraphicFramePr>
          <p:cNvPr id="12" name="Chart 2" descr=""/>
          <p:cNvGraphicFramePr/>
          <p:nvPr/>
        </p:nvGraphicFramePr>
        <p:xfrm>
          <a:off x="502920" y="4133088"/>
          <a:ext cx="539496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 8"/>
          <p:cNvSpPr/>
          <p:nvPr/>
        </p:nvSpPr>
        <p:spPr>
          <a:xfrm>
            <a:off x="6263640" y="3913632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scrap — 24 units · matched batches, all quality</a:t>
            </a:r>
            <a:endParaRPr lang="en-US" sz="1000" dirty="0"/>
          </a:p>
        </p:txBody>
      </p:sp>
      <p:graphicFrame>
        <p:nvGraphicFramePr>
          <p:cNvPr id="14" name="Chart 3" descr=""/>
          <p:cNvGraphicFramePr/>
          <p:nvPr/>
        </p:nvGraphicFramePr>
        <p:xfrm>
          <a:off x="6263640" y="4133088"/>
          <a:ext cx="5394960" cy="1417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5" name="Text 9"/>
          <p:cNvSpPr/>
          <p:nvPr/>
        </p:nvSpPr>
        <p:spPr>
          <a:xfrm>
            <a:off x="502920" y="5541264"/>
            <a:ext cx="11155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charted: harvest-stage rejects at Nahunta's two-inspection visits — it took 18 blocks at harvest to get 8 good ones on 8/26, and 19 to get 2 on 9/9 (17 rejected incl. 9 MISSING TRACHEA: tracheas harvested for another buyer).</a:t>
            </a:r>
            <a:endParaRPr lang="en-US" sz="820" dirty="0"/>
          </a:p>
        </p:txBody>
      </p:sp>
      <p:sp>
        <p:nvSpPr>
          <p:cNvPr id="16" name="Text 10"/>
          <p:cNvSpPr/>
          <p:nvPr/>
        </p:nvSpPr>
        <p:spPr>
          <a:xfrm>
            <a:off x="502920" y="594360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 side counts only batches that were inspected at the slaughterhouses (matched lots), postings 08/01–09/16 net of reversals. ATM scrap in this window reflects batches harvested ~1–1.5 months earlier; thoracic ATM units are the survivors of already-failing SH lots.</a:t>
            </a:r>
            <a:endParaRPr lang="en-US" sz="850" dirty="0"/>
          </a:p>
        </p:txBody>
      </p:sp>
      <p:sp>
        <p:nvSpPr>
          <p:cNvPr id="17" name="Text 11"/>
          <p:cNvSpPr/>
          <p:nvPr/>
        </p:nvSpPr>
        <p:spPr>
          <a:xfrm>
            <a:off x="502920" y="6510528"/>
            <a:ext cx="8686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SH_IQC_Inspections.xlsx — SH-floor IQC &amp; ATM (SAP) receipt data, extract 09/16/2026</a:t>
            </a:r>
            <a:endParaRPr lang="en-US" sz="850" dirty="0"/>
          </a:p>
        </p:txBody>
      </p:sp>
      <p:sp>
        <p:nvSpPr>
          <p:cNvPr id="18" name="Text 12"/>
          <p:cNvSpPr/>
          <p:nvPr/>
        </p:nvSpPr>
        <p:spPr>
          <a:xfrm>
            <a:off x="11430000" y="651052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2026-09-16T16:43:15Z</dcterms:created>
  <dcterms:modified xsi:type="dcterms:W3CDTF">2026-09-16T16:43:16Z</dcterms:modified>
</cp:coreProperties>
</file>