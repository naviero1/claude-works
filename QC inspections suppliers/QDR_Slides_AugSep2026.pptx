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 fail rate (sample)</c:v>
                </c:pt>
              </c:strCache>
            </c:strRef>
          </c:tx>
          <c:spPr>
            <a:solidFill>
              <a:srgbClr val="1F293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B728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5502378434</c:v>
                  </c:pt>
                  <c:pt idx="1">
                    <c:v>5502391862</c:v>
                  </c:pt>
                  <c:pt idx="2">
                    <c:v>5502404928</c:v>
                  </c:pt>
                  <c:pt idx="3">
                    <c:v>5502421192</c:v>
                  </c:pt>
                  <c:pt idx="4">
                    <c:v>5502428786</c:v>
                  </c:pt>
                  <c:pt idx="5">
                    <c:v>5502462845</c:v>
                  </c:pt>
                  <c:pt idx="6">
                    <c:v>5502471460</c:v>
                  </c:pt>
                  <c:pt idx="7">
                    <c:v>5502495107</c:v>
                  </c:pt>
                  <c:pt idx="8">
                    <c:v>5502512228</c:v>
                  </c:pt>
                  <c:pt idx="9">
                    <c:v>5502523269</c:v>
                  </c:pt>
                  <c:pt idx="10">
                    <c:v>5502539360</c:v>
                  </c:pt>
                  <c:pt idx="11">
                    <c:v>5502550271</c:v>
                  </c:pt>
                  <c:pt idx="12">
                    <c:v>5502512218</c:v>
                  </c:pt>
                  <c:pt idx="13">
                    <c:v>5502523283</c:v>
                  </c:pt>
                  <c:pt idx="14">
                    <c:v>5502539375</c:v>
                  </c:pt>
                  <c:pt idx="15">
                    <c:v>5502550281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0.0769</c:v>
                </c:pt>
                <c:pt idx="1">
                  <c:v>0.0175</c:v>
                </c:pt>
                <c:pt idx="2">
                  <c:v>0.0645</c:v>
                </c:pt>
                <c:pt idx="3">
                  <c:v>0.0682</c:v>
                </c:pt>
                <c:pt idx="4">
                  <c:v>0.0423</c:v>
                </c:pt>
                <c:pt idx="5">
                  <c:v>0.0769</c:v>
                </c:pt>
                <c:pt idx="6">
                  <c:v>0.0357</c:v>
                </c:pt>
                <c:pt idx="7">
                  <c:v>0.0388</c:v>
                </c:pt>
                <c:pt idx="8">
                  <c:v>0.024</c:v>
                </c:pt>
                <c:pt idx="9">
                  <c:v>0.0517</c:v>
                </c:pt>
                <c:pt idx="10">
                  <c:v>0.0667</c:v>
                </c:pt>
                <c:pt idx="11">
                  <c:v>0.0323</c:v>
                </c:pt>
                <c:pt idx="12">
                  <c:v>0.8235</c:v>
                </c:pt>
                <c:pt idx="13">
                  <c:v>0.8095</c:v>
                </c:pt>
                <c:pt idx="14">
                  <c:v>0.5556</c:v>
                </c:pt>
                <c:pt idx="15">
                  <c:v>0.8947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ATM scrap rate (full batch)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B728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5502378434</c:v>
                  </c:pt>
                  <c:pt idx="1">
                    <c:v>5502391862</c:v>
                  </c:pt>
                  <c:pt idx="2">
                    <c:v>5502404928</c:v>
                  </c:pt>
                  <c:pt idx="3">
                    <c:v>5502421192</c:v>
                  </c:pt>
                  <c:pt idx="4">
                    <c:v>5502428786</c:v>
                  </c:pt>
                  <c:pt idx="5">
                    <c:v>5502462845</c:v>
                  </c:pt>
                  <c:pt idx="6">
                    <c:v>5502471460</c:v>
                  </c:pt>
                  <c:pt idx="7">
                    <c:v>5502495107</c:v>
                  </c:pt>
                  <c:pt idx="8">
                    <c:v>5502512228</c:v>
                  </c:pt>
                  <c:pt idx="9">
                    <c:v>5502523269</c:v>
                  </c:pt>
                  <c:pt idx="10">
                    <c:v>5502539360</c:v>
                  </c:pt>
                  <c:pt idx="11">
                    <c:v>5502550271</c:v>
                  </c:pt>
                  <c:pt idx="12">
                    <c:v>5502512218</c:v>
                  </c:pt>
                  <c:pt idx="13">
                    <c:v>5502523283</c:v>
                  </c:pt>
                  <c:pt idx="14">
                    <c:v>5502539375</c:v>
                  </c:pt>
                  <c:pt idx="15">
                    <c:v>5502550281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0.0443</c:v>
                </c:pt>
                <c:pt idx="1">
                  <c:v>0.0165</c:v>
                </c:pt>
                <c:pt idx="2">
                  <c:v>0.0634</c:v>
                </c:pt>
                <c:pt idx="3">
                  <c:v>0.0654</c:v>
                </c:pt>
                <c:pt idx="4">
                  <c:v>0.0285</c:v>
                </c:pt>
                <c:pt idx="5">
                  <c:v>0.0481</c:v>
                </c:pt>
                <c:pt idx="6">
                  <c:v>0.1124</c:v>
                </c:pt>
                <c:pt idx="7">
                  <c:v>0.0291</c:v>
                </c:pt>
                <c:pt idx="8">
                  <c:v>0.0696</c:v>
                </c:pt>
                <c:pt idx="9">
                  <c:v>0.002</c:v>
                </c:pt>
                <c:pt idx="10">
                  <c:v>0</c:v>
                </c:pt>
                <c:pt idx="11">
                  <c:v>0</c:v>
                </c:pt>
                <c:pt idx="12">
                  <c:v>0.4167</c:v>
                </c:pt>
                <c:pt idx="13">
                  <c:v>0.1724</c:v>
                </c:pt>
                <c:pt idx="14">
                  <c:v>0.375</c:v>
                </c:pt>
                <c:pt idx="15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700" u="none">
                  <a:solidFill>
                    <a:srgbClr val="6B728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5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 issues — 22 total</c:v>
                </c:pt>
              </c:strCache>
            </c:strRef>
          </c:tx>
          <c:spPr>
            <a:solidFill>
              <a:srgbClr val="1F2937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Ureter damage</c:v>
                  </c:pt>
                  <c:pt idx="1">
                    <c:v>Short block / mesentery length</c:v>
                  </c:pt>
                  <c:pt idx="2">
                    <c:v>Critical-area laceration</c:v>
                  </c:pt>
                  <c:pt idx="3">
                    <c:v>Bowel damage / separation</c:v>
                  </c:pt>
                  <c:pt idx="4">
                    <c:v>Membrane damage</c:v>
                  </c:pt>
                  <c:pt idx="5">
                    <c:v>Urethra / bladder damage</c:v>
                  </c:pt>
                  <c:pt idx="6">
                    <c:v>Other / unspecified (8/12 provisional)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12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4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ATM scrap — 63 total · 57 quality-only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1220 · Destructive Testing (eng/R&amp;D)*</c:v>
                  </c:pt>
                  <c:pt idx="1">
                    <c:v>9983 · Incorrect Dimensions</c:v>
                  </c:pt>
                  <c:pt idx="2">
                    <c:v>9973 · Out of Spec</c:v>
                  </c:pt>
                  <c:pt idx="3">
                    <c:v>9978 · Damage to Suspensory</c:v>
                  </c:pt>
                  <c:pt idx="4">
                    <c:v>9988 · Exposed Urethra</c:v>
                  </c:pt>
                  <c:pt idx="5">
                    <c:v>9994 · Line Clearance*</c:v>
                  </c:pt>
                  <c:pt idx="6">
                    <c:v>9987 · Blood Clots</c:v>
                  </c:pt>
                  <c:pt idx="7">
                    <c:v>9986 · Bladder Length</c:v>
                  </c:pt>
                  <c:pt idx="8">
                    <c:v>9972 · Laceration/Cut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12</c:v>
                </c:pt>
                <c:pt idx="8">
                  <c:v>30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4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 issues — 77 total</c:v>
                </c:pt>
              </c:strCache>
            </c:strRef>
          </c:tx>
          <c:spPr>
            <a:solidFill>
              <a:srgbClr val="1F2937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Other / unspecified</c:v>
                  </c:pt>
                  <c:pt idx="1">
                    <c:v>Missing anatomy (trachea)</c:v>
                  </c:pt>
                  <c:pt idx="2">
                    <c:v>Heart damage</c:v>
                  </c:pt>
                  <c:pt idx="3">
                    <c:v>Lung laceration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9</c:v>
                </c:pt>
                <c:pt idx="2">
                  <c:v>21</c:v>
                </c:pt>
                <c:pt idx="3">
                  <c:v>47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4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ATM scrap — 153 total · 153 quality-only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1201 · Tech Performance</c:v>
                  </c:pt>
                  <c:pt idx="1">
                    <c:v>9973 · Out of Spec</c:v>
                  </c:pt>
                  <c:pt idx="2">
                    <c:v>7 · Others</c:v>
                  </c:pt>
                  <c:pt idx="3">
                    <c:v>9985 · Tech Damaged</c:v>
                  </c:pt>
                  <c:pt idx="4">
                    <c:v>1220 · Destructive Testing (eng/R&amp;D)*</c:v>
                  </c:pt>
                  <c:pt idx="5">
                    <c:v>9972 · Laceration/Cut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153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4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chart" Target="/ppt/charts/chart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  ·  AUGUST 2026  (+ SEPTEMBER TO DATE)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Inspection and Scrap</a:t>
            </a:r>
            <a:endParaRPr lang="en-US" sz="2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111831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51560"/>
                <a:gridCol w="868680"/>
                <a:gridCol w="822960"/>
                <a:gridCol w="1371600"/>
                <a:gridCol w="42336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Tissue @ 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Inspected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Pass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Fail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First-Pass Yield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defect this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 @ Martins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/ bladder damage (3)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 @ Martins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 @ Parks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Bowel damage / separation 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Pelvic @ Nahunta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/ unspecified (12, provisional)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Thoracic @ Nahunta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laceration (39)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310128"/>
            <a:ext cx="3611880" cy="1700784"/>
          </a:xfrm>
          <a:prstGeom prst="roundRect">
            <a:avLst>
              <a:gd name="adj" fmla="val 3226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39242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@ Martins · 666541 — 8 fails of 198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0080" y="3790188"/>
            <a:ext cx="73855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Text 5"/>
          <p:cNvSpPr/>
          <p:nvPr/>
        </p:nvSpPr>
        <p:spPr>
          <a:xfrm>
            <a:off x="1691640" y="37398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Urethra / bladder damage  </a:t>
            </a:r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37.50%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0080" y="4119372"/>
            <a:ext cx="73855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Text 7"/>
          <p:cNvSpPr/>
          <p:nvPr/>
        </p:nvSpPr>
        <p:spPr>
          <a:xfrm>
            <a:off x="1691640" y="40690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Membrane damage  </a:t>
            </a:r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37.50%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0080" y="4448556"/>
            <a:ext cx="54864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9"/>
          <p:cNvSpPr/>
          <p:nvPr/>
        </p:nvSpPr>
        <p:spPr>
          <a:xfrm>
            <a:off x="1691640" y="43982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Bowel damage / separation  </a:t>
            </a:r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25.00%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288536" y="3310128"/>
            <a:ext cx="3611880" cy="1700784"/>
          </a:xfrm>
          <a:prstGeom prst="roundRect">
            <a:avLst>
              <a:gd name="adj" fmla="val 3226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25696" y="339242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 @ Parks · 666541 — 2 fails of 46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425696" y="3790188"/>
            <a:ext cx="54864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Text 13"/>
          <p:cNvSpPr/>
          <p:nvPr/>
        </p:nvSpPr>
        <p:spPr>
          <a:xfrm>
            <a:off x="5477256" y="37398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Bowel damage / separation  </a:t>
            </a:r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50.00%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425696" y="4119372"/>
            <a:ext cx="54864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8" name="Text 15"/>
          <p:cNvSpPr/>
          <p:nvPr/>
        </p:nvSpPr>
        <p:spPr>
          <a:xfrm>
            <a:off x="5477256" y="40690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Critical-area laceration  </a:t>
            </a:r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50.00%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074152" y="3310128"/>
            <a:ext cx="3611880" cy="1700784"/>
          </a:xfrm>
          <a:prstGeom prst="roundRect">
            <a:avLst>
              <a:gd name="adj" fmla="val 3226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11312" y="339242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 @ Nahunta · 666521 — 59 fails of 75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211312" y="3790188"/>
            <a:ext cx="960120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2" name="Text 19"/>
          <p:cNvSpPr/>
          <p:nvPr/>
        </p:nvSpPr>
        <p:spPr>
          <a:xfrm>
            <a:off x="9262872" y="37398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Lung laceration  </a:t>
            </a:r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66.10%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211312" y="4119372"/>
            <a:ext cx="516988" cy="118872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4" name="Text 21"/>
          <p:cNvSpPr/>
          <p:nvPr/>
        </p:nvSpPr>
        <p:spPr>
          <a:xfrm>
            <a:off x="9262872" y="406908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Heart damage  </a:t>
            </a:r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35.59%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02920" y="5138928"/>
            <a:ext cx="11183112" cy="1261872"/>
          </a:xfrm>
          <a:prstGeom prst="roundRect">
            <a:avLst>
              <a:gd name="adj" fmla="val 3623"/>
            </a:avLst>
          </a:prstGeom>
          <a:solidFill>
            <a:srgbClr val="E0F2F7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" y="5212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13232" y="5440680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➢"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666541 (Pelvic @ Martins): 96.0% FPY on 198 — clean month; scattered singles (bowel, urethra, membrane).</a:t>
            </a:r>
            <a:endParaRPr lang="en-US" sz="840" dirty="0"/>
          </a:p>
          <a:p>
            <a:pPr marL="342900" indent="-342900">
              <a:spcAft>
                <a:spcPts val="200"/>
              </a:spcAft>
              <a:buSzPct val="100000"/>
              <a:buChar char="➢"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666506 (Pelvic @ Martins): 100% FPY on 20 — no failures.</a:t>
            </a:r>
            <a:endParaRPr lang="en-US" sz="840" dirty="0"/>
          </a:p>
          <a:p>
            <a:pPr marL="342900" indent="-342900">
              <a:spcAft>
                <a:spcPts val="200"/>
              </a:spcAft>
              <a:buSzPct val="100000"/>
              <a:buChar char="➢"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666541 (Pelvic @ Parks): 95.7% FPY on 46 — strong start on the new spec after the 518 → 541 transition (8/10).</a:t>
            </a:r>
            <a:endParaRPr lang="en-US" sz="840" dirty="0"/>
          </a:p>
          <a:p>
            <a:pPr marL="342900" indent="-342900">
              <a:spcAft>
                <a:spcPts val="200"/>
              </a:spcAft>
              <a:buSzPct val="100000"/>
              <a:buChar char="➢"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666521 (Thoracic @ Nahunta): 21.3% FPY on 75 across 4 visits — lung lacerations (39) and heart damage (21) persist, but 8/26 rebounded to 44% after Francisco's team engagement.</a:t>
            </a:r>
            <a:endParaRPr lang="en-US" sz="840" dirty="0"/>
          </a:p>
          <a:p>
            <a:pPr marL="342900" indent="-342900">
              <a:spcAft>
                <a:spcPts val="200"/>
              </a:spcAft>
              <a:buSzPct val="100000"/>
              <a:buChar char="➢"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666541 (Pelvic @ Nahunta): 8/12 line (13/1/12) is provisional — no defect breakdown recorded; confirm.</a:t>
            </a:r>
            <a:endParaRPr lang="en-US" sz="840" dirty="0"/>
          </a:p>
          <a:p>
            <a:pPr marL="342900" indent="-342900">
              <a:spcAft>
                <a:spcPts val="200"/>
              </a:spcAft>
              <a:buSzPct val="100000"/>
              <a:buChar char="➢"/>
            </a:pPr>
            <a:r>
              <a:rPr lang="en-US" sz="84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to date (9/9): thoracic 10.5% on 19 — NEW failure mode: 9 missing trachea (SH harvesting tracheas for another buyer).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SH_IQC_Inspections.xlsx — SH-floor IQC &amp; ATM (SAP) receipt data, extract 09/16/2026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  ·  THROUGH 09/16/2026  ·  16 MATCHED BATCHES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at SH vs Scrap Rate at ATM by batch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188720"/>
          <a:ext cx="11183112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840480"/>
          <a:ext cx="11183112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051560"/>
                <a:gridCol w="1298448"/>
                <a:gridCol w="868680"/>
                <a:gridCol w="2880360"/>
                <a:gridCol w="1188720"/>
                <a:gridCol w="603504"/>
                <a:gridCol w="1600200"/>
                <a:gridCol w="731520"/>
              </a:tblGrid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/ Lot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· Tissue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dates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I/P/F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 top defects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recv / scrap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review window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→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7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5502378434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04-13, 04-15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/ 60 / 5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(2), Other (2), Bowel damage (1)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542 / 24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05-01 → 05-13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5502391862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04-20, 04-22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/ 56 / 1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Bowel damage (1)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 / 7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05-21 → 05-21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5502404928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05-04, 05-06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 / 58 / 4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(4)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347 / 22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05-29 → 07-30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5502421192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05-18, 05-21, 05-27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 / 123 / 9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(5), Membrane (2), Short block (1)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367 / 24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06-03 → 06-18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5502428786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06-01, 06-03, 06-08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 / 68 / 3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(3)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246 / 7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06-18 → 06-24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5502462845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06-15, 06-24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/ 60 / 5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Membrane (3), Bowel (1), Urethra (1)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 / 13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06-30 → 07-09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5502471460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06-29, 07-06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/ 27 / 1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(1)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 / 30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07-09 → 08-06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5502495107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07-13, 07-20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 / 99 / 4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(2), Membrane (1), Other (1)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309 / 9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07-30 → 08-12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5502512228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07-27, 08-03, 08-05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 / 122 / 3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Membrane (2), Bowel (1)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431 / 30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08-18 → 09-09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5502523269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08-10, 08-17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 / 55 / 3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(2), Bowel (1)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 / 1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08-26 → 08-26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5502539360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/ 28 / 2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Urethra (1), Membrane (1)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/ 0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reviewed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5502550271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666541 · Pelvic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08-31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/ 30 / 1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Membrane damage (1)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622 / 0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reviewed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5502512218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666521 · Thoracic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07-29, 08-05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/ 6 / 28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laceration (22), Heart damage (6)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/ 10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41.7%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08-17 → 08-27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5502523283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666521 · Thoracic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08-12, 08-19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/ 8 / 34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laceration (20), Heart damage (15)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/ 5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09-01 → 09-08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5502539375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666521 · Thoracic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08-26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/ 8 / 10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Lung laceration (8), Heart damage (2)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/ 9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09-08 → 09-10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5502550281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666521 · Thoracic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09-09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/ 2 / 17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anatomy (9), Lung laceration (8)</a:t>
                      </a:r>
                      <a:endParaRPr lang="en-US" sz="7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/ 0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6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reviewed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6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4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SH_IQC_Inspections.xlsx — SH-floor IQC &amp; ATM (SAP) receipt data, extract 09/16/2026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  ·  WINDOW 08/01 – 09/16/2026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7548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reasons for reject vs ATM reasons for reject (August – September)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PELVIC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42646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issues — 22 total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645920"/>
          <a:ext cx="53949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263640" y="142646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scrap — 63 total · 57 quality-only</a:t>
            </a:r>
            <a:endParaRPr lang="en-US" sz="10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63640" y="1645920"/>
          <a:ext cx="53949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02920" y="3657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THORACIC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02920" y="39319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 issues — 77 total</a:t>
            </a:r>
            <a:endParaRPr lang="en-US" sz="1000" dirty="0"/>
          </a:p>
        </p:txBody>
      </p:sp>
      <p:graphicFrame>
        <p:nvGraphicFramePr>
          <p:cNvPr id="11" name="Chart 2" descr=""/>
          <p:cNvGraphicFramePr/>
          <p:nvPr/>
        </p:nvGraphicFramePr>
        <p:xfrm>
          <a:off x="502920" y="4151376"/>
          <a:ext cx="539496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 7"/>
          <p:cNvSpPr/>
          <p:nvPr/>
        </p:nvSpPr>
        <p:spPr>
          <a:xfrm>
            <a:off x="6263640" y="39319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 scrap — 153 total · 153 quality-only</a:t>
            </a:r>
            <a:endParaRPr lang="en-US" sz="1000" dirty="0"/>
          </a:p>
        </p:txBody>
      </p:sp>
      <p:graphicFrame>
        <p:nvGraphicFramePr>
          <p:cNvPr id="13" name="Chart 3" descr=""/>
          <p:cNvGraphicFramePr/>
          <p:nvPr/>
        </p:nvGraphicFramePr>
        <p:xfrm>
          <a:off x="6263640" y="4151376"/>
          <a:ext cx="539496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planned/process withdrawal — not a harvest-quality defect.   ATM Aug–Sep scrap reflects batches harvested ~1–1.5 months earlier; thoracic ATM units are the survivors of already-failing SH lots.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502920" y="651052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SH_IQC_Inspections.xlsx — SH-floor IQC &amp; ATM (SAP) receipt data, extract 09/16/2026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11430000" y="6510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2026-09-16T15:52:47Z</dcterms:created>
  <dcterms:modified xsi:type="dcterms:W3CDTF">2026-09-16T15:52:47Z</dcterms:modified>
</cp:coreProperties>
</file>