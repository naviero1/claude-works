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 fail rate (sample)</c:v>
                </c:pt>
              </c:strCache>
            </c:strRef>
          </c:tx>
          <c:spPr>
            <a:solidFill>
              <a:srgbClr val="1F293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5502378434</c:v>
                  </c:pt>
                  <c:pt idx="1">
                    <c:v>5502391862</c:v>
                  </c:pt>
                  <c:pt idx="2">
                    <c:v>5502404928</c:v>
                  </c:pt>
                  <c:pt idx="3">
                    <c:v>5502421192</c:v>
                  </c:pt>
                  <c:pt idx="4">
                    <c:v>5502428786</c:v>
                  </c:pt>
                  <c:pt idx="5">
                    <c:v>5502462845</c:v>
                  </c:pt>
                  <c:pt idx="6">
                    <c:v>5502471460</c:v>
                  </c:pt>
                  <c:pt idx="7">
                    <c:v>5502495107</c:v>
                  </c:pt>
                  <c:pt idx="8">
                    <c:v>5502512228</c:v>
                  </c:pt>
                  <c:pt idx="9">
                    <c:v>5502523269</c:v>
                  </c:pt>
                  <c:pt idx="10">
                    <c:v>5502539360</c:v>
                  </c:pt>
                  <c:pt idx="11">
                    <c:v>5502550271</c:v>
                  </c:pt>
                  <c:pt idx="12">
                    <c:v>5502512218</c:v>
                  </c:pt>
                  <c:pt idx="13">
                    <c:v>5502523283</c:v>
                  </c:pt>
                  <c:pt idx="14">
                    <c:v>5502539375</c:v>
                  </c:pt>
                  <c:pt idx="15">
                    <c:v>5502550281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0.0769</c:v>
                </c:pt>
                <c:pt idx="1">
                  <c:v>0.0175</c:v>
                </c:pt>
                <c:pt idx="2">
                  <c:v>0.0645</c:v>
                </c:pt>
                <c:pt idx="3">
                  <c:v>0.0682</c:v>
                </c:pt>
                <c:pt idx="4">
                  <c:v>0.0423</c:v>
                </c:pt>
                <c:pt idx="5">
                  <c:v>0.0769</c:v>
                </c:pt>
                <c:pt idx="6">
                  <c:v>0.0357</c:v>
                </c:pt>
                <c:pt idx="7">
                  <c:v>0.0388</c:v>
                </c:pt>
                <c:pt idx="8">
                  <c:v>0.024</c:v>
                </c:pt>
                <c:pt idx="9">
                  <c:v>0.0517</c:v>
                </c:pt>
                <c:pt idx="10">
                  <c:v>0.0667</c:v>
                </c:pt>
                <c:pt idx="11">
                  <c:v>0.0323</c:v>
                </c:pt>
                <c:pt idx="12">
                  <c:v>0.8235</c:v>
                </c:pt>
                <c:pt idx="13">
                  <c:v>0.8095</c:v>
                </c:pt>
                <c:pt idx="14">
                  <c:v>0.1111</c:v>
                </c:pt>
                <c:pt idx="1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ATM scrap rate (full batch)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5502378434</c:v>
                  </c:pt>
                  <c:pt idx="1">
                    <c:v>5502391862</c:v>
                  </c:pt>
                  <c:pt idx="2">
                    <c:v>5502404928</c:v>
                  </c:pt>
                  <c:pt idx="3">
                    <c:v>5502421192</c:v>
                  </c:pt>
                  <c:pt idx="4">
                    <c:v>5502428786</c:v>
                  </c:pt>
                  <c:pt idx="5">
                    <c:v>5502462845</c:v>
                  </c:pt>
                  <c:pt idx="6">
                    <c:v>5502471460</c:v>
                  </c:pt>
                  <c:pt idx="7">
                    <c:v>5502495107</c:v>
                  </c:pt>
                  <c:pt idx="8">
                    <c:v>5502512228</c:v>
                  </c:pt>
                  <c:pt idx="9">
                    <c:v>5502523269</c:v>
                  </c:pt>
                  <c:pt idx="10">
                    <c:v>5502539360</c:v>
                  </c:pt>
                  <c:pt idx="11">
                    <c:v>5502550271</c:v>
                  </c:pt>
                  <c:pt idx="12">
                    <c:v>5502512218</c:v>
                  </c:pt>
                  <c:pt idx="13">
                    <c:v>5502523283</c:v>
                  </c:pt>
                  <c:pt idx="14">
                    <c:v>5502539375</c:v>
                  </c:pt>
                  <c:pt idx="15">
                    <c:v>5502550281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0.0443</c:v>
                </c:pt>
                <c:pt idx="1">
                  <c:v>0.0165</c:v>
                </c:pt>
                <c:pt idx="2">
                  <c:v>0.0634</c:v>
                </c:pt>
                <c:pt idx="3">
                  <c:v>0.0654</c:v>
                </c:pt>
                <c:pt idx="4">
                  <c:v>0.0285</c:v>
                </c:pt>
                <c:pt idx="5">
                  <c:v>0.0481</c:v>
                </c:pt>
                <c:pt idx="6">
                  <c:v>0.1124</c:v>
                </c:pt>
                <c:pt idx="7">
                  <c:v>0.0291</c:v>
                </c:pt>
                <c:pt idx="8">
                  <c:v>0.0696</c:v>
                </c:pt>
                <c:pt idx="9">
                  <c:v>0.002</c:v>
                </c:pt>
                <c:pt idx="10">
                  <c:v>0</c:v>
                </c:pt>
                <c:pt idx="11">
                  <c:v>0</c:v>
                </c:pt>
                <c:pt idx="12">
                  <c:v>0.4167</c:v>
                </c:pt>
                <c:pt idx="13">
                  <c:v>0.1724</c:v>
                </c:pt>
                <c:pt idx="14">
                  <c:v>0.375</c:v>
                </c:pt>
                <c:pt idx="15">
                  <c:v>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7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2700000"/>
          <a:lstStyle/>
          <a:p>
            <a:pPr>
              <a:defRPr sz="75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1F29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 issues — 10 verified</c:v>
                </c:pt>
              </c:strCache>
            </c:strRef>
          </c:tx>
          <c:spPr>
            <a:solidFill>
              <a:srgbClr val="1F293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Critical-area laceration</c:v>
                  </c:pt>
                  <c:pt idx="1">
                    <c:v>Bowel damage / separation</c:v>
                  </c:pt>
                  <c:pt idx="2">
                    <c:v>Membrane damage</c:v>
                  </c:pt>
                  <c:pt idx="3">
                    <c:v>Urethra / bladder damage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ATM scrap — 40 units · matched batches, all quality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9978 · Damage to Suspensory</c:v>
                  </c:pt>
                  <c:pt idx="1">
                    <c:v>9988 · Exposed Urethra</c:v>
                  </c:pt>
                  <c:pt idx="2">
                    <c:v>9987 · Blood Clots</c:v>
                  </c:pt>
                  <c:pt idx="3">
                    <c:v>9986 · Bladder Length</c:v>
                  </c:pt>
                  <c:pt idx="4">
                    <c:v>9972 · Laceration/Cut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11</c:v>
                </c:pt>
                <c:pt idx="4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 issues — 51 tags on 50 QC fails</c:v>
                </c:pt>
              </c:strCache>
            </c:strRef>
          </c:tx>
          <c:spPr>
            <a:solidFill>
              <a:srgbClr val="1F293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Undocumented / not itemized</c:v>
                  </c:pt>
                  <c:pt idx="1">
                    <c:v>Heart damage</c:v>
                  </c:pt>
                  <c:pt idx="2">
                    <c:v>Lung laceration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19</c:v>
                </c:pt>
                <c:pt idx="2">
                  <c:v>31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ATM scrap — 24 units · matched batches, all quality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9972 · Laceration/Cut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chart" Target="/ppt/charts/chart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AUGUST 2026  (+ SEPTEMBER TO DATE)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Inspection and Scrap</a:t>
            </a:r>
            <a:endParaRPr lang="en-US" sz="2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07008"/>
          <a:ext cx="111831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51560"/>
                <a:gridCol w="868680"/>
                <a:gridCol w="822960"/>
                <a:gridCol w="1371600"/>
                <a:gridCol w="42336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Tissue @ 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Inspected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First-Pass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defect this 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Martins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/ bladder damage (3)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Martins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Parks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Bowel damage / separation (1)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Nahunta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 — no reasons recorded; excluded from charts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Thoracic @ Nahunta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 laceration (31)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017520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 # columns for the 8/26 two-inspection visit are our QC inspection of harvest-passed blocks (9 received at QC); harvest-tech rejects tracked separately.</a:t>
            </a:r>
            <a:endParaRPr lang="en-US" sz="820" dirty="0"/>
          </a:p>
        </p:txBody>
      </p:sp>
      <p:sp>
        <p:nvSpPr>
          <p:cNvPr id="6" name="Shape 3"/>
          <p:cNvSpPr/>
          <p:nvPr/>
        </p:nvSpPr>
        <p:spPr>
          <a:xfrm>
            <a:off x="502920" y="3310128"/>
            <a:ext cx="3611880" cy="1700784"/>
          </a:xfrm>
          <a:prstGeom prst="roundRect">
            <a:avLst>
              <a:gd name="adj" fmla="val 3226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39242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@ Martins · 666541 — 8 fails of 198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0080" y="3790188"/>
            <a:ext cx="92915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9" name="Text 6"/>
          <p:cNvSpPr/>
          <p:nvPr/>
        </p:nvSpPr>
        <p:spPr>
          <a:xfrm>
            <a:off x="1691640" y="37398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Urethra / bladder damage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37.50%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0080" y="4119372"/>
            <a:ext cx="92915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1" name="Text 8"/>
          <p:cNvSpPr/>
          <p:nvPr/>
        </p:nvSpPr>
        <p:spPr>
          <a:xfrm>
            <a:off x="1691640" y="4069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Membrane damage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37.50%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40080" y="4448556"/>
            <a:ext cx="61943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0"/>
          <p:cNvSpPr/>
          <p:nvPr/>
        </p:nvSpPr>
        <p:spPr>
          <a:xfrm>
            <a:off x="1691640" y="43982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Bowel damage / separation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25.00%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288536" y="3310128"/>
            <a:ext cx="3611880" cy="1700784"/>
          </a:xfrm>
          <a:prstGeom prst="roundRect">
            <a:avLst>
              <a:gd name="adj" fmla="val 3226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25696" y="339242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@ Parks · 666541 — 2 fails of 46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425696" y="3790188"/>
            <a:ext cx="54864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4"/>
          <p:cNvSpPr/>
          <p:nvPr/>
        </p:nvSpPr>
        <p:spPr>
          <a:xfrm>
            <a:off x="5477256" y="37398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Bowel damage / separation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50.00%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425696" y="4119372"/>
            <a:ext cx="54864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6"/>
          <p:cNvSpPr/>
          <p:nvPr/>
        </p:nvSpPr>
        <p:spPr>
          <a:xfrm>
            <a:off x="5477256" y="4069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Critical-area laceration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50.00%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8074152" y="3310128"/>
            <a:ext cx="3611880" cy="1700784"/>
          </a:xfrm>
          <a:prstGeom prst="roundRect">
            <a:avLst>
              <a:gd name="adj" fmla="val 3226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11312" y="339242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 @ Nahunta · 666521 — 50 fails of 66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11312" y="3790188"/>
            <a:ext cx="960120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3" name="Text 20"/>
          <p:cNvSpPr/>
          <p:nvPr/>
        </p:nvSpPr>
        <p:spPr>
          <a:xfrm>
            <a:off x="9262872" y="37398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Lung laceration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62.00%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211312" y="4119372"/>
            <a:ext cx="588461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4069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Heart damage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38.00%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8211312" y="4448556"/>
            <a:ext cx="54864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43982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Undocumented / not itemized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2.00%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02920" y="5138928"/>
            <a:ext cx="11183112" cy="1261872"/>
          </a:xfrm>
          <a:prstGeom prst="roundRect">
            <a:avLst>
              <a:gd name="adj" fmla="val 3623"/>
            </a:avLst>
          </a:prstGeom>
          <a:solidFill>
            <a:srgbClr val="E0F2F7"/>
          </a:solidFill>
          <a:ln/>
        </p:spPr>
      </p:sp>
      <p:sp>
        <p:nvSpPr>
          <p:cNvPr id="29" name="Text 26"/>
          <p:cNvSpPr/>
          <p:nvPr/>
        </p:nvSpPr>
        <p:spPr>
          <a:xfrm>
            <a:off x="685800" y="52120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13232" y="5440680"/>
            <a:ext cx="10835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Martins): 96.0% FPY on 198 — clean month; scattered singles (bowel, urethra, membrane).</a:t>
            </a:r>
            <a:endParaRPr lang="en-US" sz="82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666506 (Pelvic @ Martins): 100% FPY on 20 — no failures.</a:t>
            </a:r>
            <a:endParaRPr lang="en-US" sz="82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Parks): 95.7% FPY on 46 — strong start on the new spec after the 518 → 541 transition (8/10).</a:t>
            </a:r>
            <a:endParaRPr lang="en-US" sz="82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666521 (Thoracic @ Nahunta): 24.2% QC FPY on 66 across 4 visits — lung lacerations (31) + heart damage (19). 8/26 was the first two-inspection visit: Jordan rejected 9 of 18 at harvest, our QC then passed 8 of 9 (88.9%) — rebound credited to Francisco's team.</a:t>
            </a:r>
            <a:endParaRPr lang="en-US" sz="82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Nahunta): 8/12 line (13/1/12) is UNVERIFIED — no scrap reasons on the source sheet; excluded from defect charts pending confirmation with Kris.</a:t>
            </a:r>
            <a:endParaRPr lang="en-US" sz="82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to date (9/9, two-inspection visit): our QC passed both blocks Jordan passed (2/2); he rejected 17 of 19 at harvest — incl. 9 MISSING TRACHEA (tracheas harvested for another buyer).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THROUGH 09/16/2026  ·  16 MATCHED BATCHES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at SH vs Scrap Rate at ATM by batch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188720"/>
          <a:ext cx="11183112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40480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1298448"/>
                <a:gridCol w="868680"/>
                <a:gridCol w="2880360"/>
                <a:gridCol w="1188720"/>
                <a:gridCol w="603504"/>
                <a:gridCol w="1600200"/>
                <a:gridCol w="731520"/>
              </a:tblGrid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/ Lot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· Tissue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dates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I/P/F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top defects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 recv / scrap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 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 review window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→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5502378434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04-13, 04-15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/ 60 / 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(2), Blood clots (2), Bowel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 / 24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05-01 → 05-13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5502391862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04-20, 04-22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56 / 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Bowel damage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 / 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05-21 → 05-21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5502404928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05-04, 05-06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/ 58 / 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(4)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 / 22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05-29 → 07-30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5502421192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05-18, 05-21, 05-27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 / 123 / 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(5), Membrane (2), Short block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 / 24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06-03 → 06-18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5502428786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06-01, 06-03, 06-08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 / 68 / 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(3)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 / 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06-18 → 06-24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5502462845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06-15, 06-24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/ 60 / 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Membrane (3), Bowel (1), Urethra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/ 13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06-30 → 07-09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5502471460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06-29, 07-06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/ 27 / 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 / 30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07-09 → 08-06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5502495107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07-13, 07-20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 / 99 / 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(2), Membrane (1), Undocumented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 / 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07-30 → 08-12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5502512228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07-27, 08-03, 08-05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 / 122 / 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Membrane (2), Bowel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 / 30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08-18 → 09-09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5502523269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08-10, 08-17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/ 55 / 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(2), Bowel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499 / 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08-26 → 08-26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5502539360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08-24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28 / 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(1), Membrane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/ 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reviewed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5502550271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 · Pelvic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08-31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/ 30 / 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Membrane damage (1)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 / 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reviewed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5502512218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 · Thoracic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07-29, 08-05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 / 6 / 28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 laceration (22), Heart damage (6)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10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08-17 → 08-27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5502523283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 · Thoracic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08-12, 08-19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/ 8 / 34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 laceration (20), Heart damage (15)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/ 5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09-01 → 09-08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5502539375 †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 · Thoracic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08-26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8 / 1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Undocumented (1) — QC stage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09-08 → 09-10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5502550281 †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 · Thoracic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09-09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2 / 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2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at QC — harvest rejects excl.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0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6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reviewed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02920" y="6272784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Nahunta two-inspection visits (unique to Nahunta, from 08/26): the harvest tech inspects BEFORE we receive the tissue — SH I/P/F shown is OUR QC inspection of harvest-passed blocks (8/26: 9 of 18 passed to QC; 9/9: 2 of 19). Stage detail on the final slide.</a:t>
            </a:r>
            <a:endParaRPr lang="en-US" sz="780" dirty="0"/>
          </a:p>
        </p:txBody>
      </p:sp>
      <p:sp>
        <p:nvSpPr>
          <p:cNvPr id="7" name="Text 3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WINDOW 08/01 – 09/16/2026  ·  ATM = SH-INSPECTED BATCHES ONLY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reasons for reject vs ATM reasons for reject (August – September)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1521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426464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issues — 10 verified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645920"/>
          <a:ext cx="53949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263640" y="1426464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scrap — 40 units · matched batches, all quality</a:t>
            </a:r>
            <a:endParaRPr lang="en-US" sz="10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263640" y="1645920"/>
          <a:ext cx="53949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331012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the SH chart: the Nahunta 8/12 line (12 fails) — no scrap reasons recorded on the source sheet; pending confirmation with Kris.</a:t>
            </a:r>
            <a:endParaRPr lang="en-US" sz="820" dirty="0"/>
          </a:p>
        </p:txBody>
      </p:sp>
      <p:sp>
        <p:nvSpPr>
          <p:cNvPr id="10" name="Text 6"/>
          <p:cNvSpPr/>
          <p:nvPr/>
        </p:nvSpPr>
        <p:spPr>
          <a:xfrm>
            <a:off x="502920" y="36393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02920" y="3913632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issues — 51 tags on 50 QC fails</a:t>
            </a:r>
            <a:endParaRPr lang="en-US" sz="10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502920" y="4133088"/>
          <a:ext cx="539496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6263640" y="3913632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scrap — 24 units · matched batches, all quality</a:t>
            </a:r>
            <a:endParaRPr lang="en-US" sz="1000" dirty="0"/>
          </a:p>
        </p:txBody>
      </p:sp>
      <p:graphicFrame>
        <p:nvGraphicFramePr>
          <p:cNvPr id="14" name="Chart 3" descr=""/>
          <p:cNvGraphicFramePr/>
          <p:nvPr/>
        </p:nvGraphicFramePr>
        <p:xfrm>
          <a:off x="6263640" y="4133088"/>
          <a:ext cx="539496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Text 9"/>
          <p:cNvSpPr/>
          <p:nvPr/>
        </p:nvSpPr>
        <p:spPr>
          <a:xfrm>
            <a:off x="502920" y="5541264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the SH chart: harvest-stage rejects at Nahunta's two-inspection visits — Jordan rejected 9 of 18 (8/26) and 17 of 19 (9/9, incl. 9 MISSING TRACHEA: tracheas harvested for another buyer).</a:t>
            </a:r>
            <a:endParaRPr lang="en-US" sz="820" dirty="0"/>
          </a:p>
        </p:txBody>
      </p:sp>
      <p:sp>
        <p:nvSpPr>
          <p:cNvPr id="16" name="Text 10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side counts only batches that were inspected at the slaughterhouses (matched lots), postings 08/01–09/16 net of reversals. ATM scrap in this window reflects batches harvested ~1–1.5 months earlier; thoracic ATM units are the survivors of already-failing SH lots.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18" name="Text 12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UNIQUE TO NAHUNTA  ·  FORMAT &amp; LOG CONVENTION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 — Two Inspections per Visit (since 8/26)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 is the only slaughterhouse running two inspections per visit: one BEFORE we receive the tissue — the harvesting tech (Jordan) inspects and rejects blocks as he harvests — and one AFTER, when our QC tech inspects what was passed to us. The Inspection Log records our QC stage; the harvest stage is tracked as a leading indicator.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74520"/>
          <a:ext cx="1118311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43000"/>
                <a:gridCol w="1371600"/>
                <a:gridCol w="1554480"/>
                <a:gridCol w="1234440"/>
                <a:gridCol w="1417320"/>
                <a:gridCol w="34564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Harvest date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Received at harvest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by harvest tech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 to our QC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QC accept (log basis)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08-26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5502539375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 (50.0%)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9  (88.9%)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upper-vessel-damage blocks passed &amp; labeled for the usability study; rebound credited to Francisco's team.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09-09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5502550281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(89.5%)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2  (100%)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Harvest rejects: 8 left-lung lacerations + 9 missing trachea (SH harvesting tracheas for another buyer); one passed unit labeled for a high head-vessel laceration.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74904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38404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convention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4944" y="411480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1 (before we receive): the harvest tech inspects and rejects as he harvests — those rejections never reach us.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2 (after): our QC tech inspects the harvest-passed blocks. The log's # Inspected / Pass / Fail for these visits is THIS stage — harvest-stage rejects live in the notes and the stage-detail section.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before 08/26 used the standard single-stage tally, directly comparable to Martins and Parks.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199632" y="3749040"/>
            <a:ext cx="5486400" cy="2148840"/>
          </a:xfrm>
          <a:prstGeom prst="roundRect">
            <a:avLst>
              <a:gd name="adj" fmla="val 2553"/>
            </a:avLst>
          </a:prstGeom>
          <a:solidFill>
            <a:srgbClr val="E0F2F7"/>
          </a:solidFill>
          <a:ln/>
        </p:spPr>
      </p:sp>
      <p:sp>
        <p:nvSpPr>
          <p:cNvPr id="10" name="Text 7"/>
          <p:cNvSpPr/>
          <p:nvPr/>
        </p:nvSpPr>
        <p:spPr>
          <a:xfrm>
            <a:off x="6364224" y="38404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stage split shows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91656" y="411480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harvest tech's reject rate quantifies harvesting quality at the source: 9 of 18 (8/26) → 17 of 19 (9/9). Their numbers, not just ours, make the harvesting-side case.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QC accepted 88.9–100% of what Jordan passed — his judgement aligns with our spec. The losses happen at harvest, not in the screening.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Watch: harvest reject rate as the leading indicator, and the missing-trachea conflict (9 units on 9/9 — tracheas sold to another buyer) as the newest driver.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2026-09-16T16:28:01Z</dcterms:created>
  <dcterms:modified xsi:type="dcterms:W3CDTF">2026-09-16T16:28:01Z</dcterms:modified>
</cp:coreProperties>
</file>