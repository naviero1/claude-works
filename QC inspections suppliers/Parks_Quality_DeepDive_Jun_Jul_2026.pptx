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  <p:sldId id="256" r:id="rId7"/>
    <p:sldId id="257" r:id="rId8"/>
    <p:sldId id="258" r:id="rId9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First-pass yield</c:v>
                </c:pt>
              </c:strCache>
            </c:strRef>
          </c:tx>
          <c:spPr>
            <a:solidFill>
              <a:srgbClr val="0E7490"/>
            </a:solidFill>
          </c:spPr>
          <c:cat>
            <c:strRef>
              <c:f>Sheet1!$A$2:$A$7</c:f>
              <c:strCache>
                <c:ptCount val="6"/>
                <c:pt idx="0">
                  <c:v>6/02</c:v>
                </c:pt>
                <c:pt idx="1">
                  <c:v>6/16</c:v>
                </c:pt>
                <c:pt idx="2">
                  <c:v>6/22</c:v>
                </c:pt>
                <c:pt idx="3">
                  <c:v>6/25</c:v>
                </c:pt>
                <c:pt idx="4">
                  <c:v>6/29</c:v>
                </c:pt>
                <c:pt idx="5">
                  <c:v>7/13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</c:v>
                </c:pt>
                <c:pt idx="1">
                  <c:v>0.875</c:v>
                </c:pt>
                <c:pt idx="2">
                  <c:v>0.861</c:v>
                </c:pt>
                <c:pt idx="3">
                  <c:v>0.842</c:v>
                </c:pt>
                <c:pt idx="4">
                  <c:v>0.76</c:v>
                </c:pt>
                <c:pt idx="5">
                  <c:v>0.853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1F2937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F293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Parks Pelvic Blocks — June–July Quality Deep-Dive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371600" cy="502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Slaughterhouse-floor IQC (pre-freeze incoming inspection)  ·  part 666518  ·  6 visits, 6/02–7/13/2026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611880" cy="1371600"/>
          </a:xfrm>
          <a:prstGeom prst="roundRect">
            <a:avLst>
              <a:gd name="adj" fmla="val 7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611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1F2937"/>
                </a:solidFill>
                <a:latin typeface="Calibri"/>
              </a:rPr>
              <a:t>162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95728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units inspected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417320"/>
            <a:ext cx="3611880" cy="1371600"/>
          </a:xfrm>
          <a:prstGeom prst="roundRect">
            <a:avLst>
              <a:gd name="adj" fmla="val 7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9392" y="1554480"/>
            <a:ext cx="3611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15803D"/>
                </a:solidFill>
                <a:latin typeface="Calibri"/>
              </a:rPr>
              <a:t>135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9392" y="2395728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passed · 83.3%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417320"/>
            <a:ext cx="3611880" cy="1371600"/>
          </a:xfrm>
          <a:prstGeom prst="roundRect">
            <a:avLst>
              <a:gd name="adj" fmla="val 7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55864" y="1554480"/>
            <a:ext cx="3611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DC2626"/>
                </a:solidFill>
                <a:latin typeface="Calibri"/>
              </a:rPr>
              <a:t>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5864" y="2395728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scrapped · 16.7%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6265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74151"/>
                </a:solidFill>
                <a:latin typeface="Calibri"/>
              </a:rPr>
              <a:t>First-pass yield recovered into the low-80s after May's critical-mesentery event was root-caused and corrected — but a persistent ~17% scrap remains, concentrated in a few recurring defect modes (next slide).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03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First-pass yield by Parks visit — June–July 2026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02920" y="4059936"/>
          <a:ext cx="11155680" cy="22128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02920" y="643737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Pelvic_Blocks_Quality workbook · Slaughterhouse IQC tab (Parks Visits 8, 11, 13, 14, 16, 19). ATM post-freeze receipts are no longer split by supplier (batch numbers not tracked in Tableau).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What's driving the scrap — and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371600" cy="502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27 rejected units across June–July  ·  ranked by count  ·  spec 668741 Rev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Urethra / bladder lacerations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4630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C2626"/>
                </a:solidFill>
                <a:latin typeface="Calibri"/>
              </a:rPr>
              <a:t>12 · 44%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73936"/>
            <a:ext cx="3931920" cy="1371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73936"/>
            <a:ext cx="3931920" cy="1371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6263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Cuts made too close to the template edge during removal — internal anatomy exposed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0428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Short blocks — mesentery too short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3042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B45309"/>
                </a:solidFill>
                <a:latin typeface="Calibri"/>
              </a:rPr>
              <a:t>8 · 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3931920" cy="1371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15184"/>
            <a:ext cx="2680854" cy="1371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6263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Small-pig days (Tue/Wed); &lt; 7" mesentery from the bladder neck in the critical zone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4553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Bowel-cleaning bursts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1455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B45309"/>
                </a:solidFill>
                <a:latin typeface="Calibri"/>
              </a:rPr>
              <a:t>4 · 15%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56432"/>
            <a:ext cx="3931920" cy="1371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456432"/>
            <a:ext cx="1340427" cy="1371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30168"/>
            <a:ext cx="6263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Bowel blockage inflates and bursts when flushed with water during cleaning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8678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Critical-area mesentery laceration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98678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E7490"/>
                </a:solidFill>
                <a:latin typeface="Calibri"/>
              </a:rPr>
              <a:t>3 · 11%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97680"/>
            <a:ext cx="3931920" cy="1371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297680"/>
            <a:ext cx="982980" cy="1371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471416"/>
            <a:ext cx="6263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Residual of the mesentery-dividing cut — root-caused in May, largely corrected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1481328"/>
            <a:ext cx="2331720" cy="3154680"/>
          </a:xfrm>
          <a:prstGeom prst="roundRect">
            <a:avLst>
              <a:gd name="adj" fmla="val 7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ef_s2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180" y="1627632"/>
            <a:ext cx="2103120" cy="206496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32320" y="400507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Bladder / urethra laceration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261104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668741 Rev F §6.1.2 — internal exposure not allowed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55480" y="1481328"/>
            <a:ext cx="2331720" cy="3154680"/>
          </a:xfrm>
          <a:prstGeom prst="roundRect">
            <a:avLst>
              <a:gd name="adj" fmla="val 7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ref_s2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091" y="1627632"/>
            <a:ext cx="1894497" cy="22402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46919" y="400507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Critical-area laceration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19" y="4261104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668741 Rev F §6.1.4.1 — &gt; 0.5" in critical area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956048"/>
            <a:ext cx="6263640" cy="1234440"/>
          </a:xfrm>
          <a:prstGeom prst="roundRect">
            <a:avLst>
              <a:gd name="adj" fmla="val 7000"/>
            </a:avLst>
          </a:prstGeom>
          <a:solidFill>
            <a:srgbClr val="CF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074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Calibri"/>
              </a:rPr>
              <a:t>Root-cause read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367528"/>
            <a:ext cx="594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374151"/>
                </a:solidFill>
                <a:latin typeface="Calibri"/>
              </a:rPr>
              <a:t>~3 of every 4 rejects are laceration + short-block issues that trace to the harvesting cut: blades run too close to the template edge (units "looked like they'd pass until placed on the template") and small-pig days leave too little mesentery.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3737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Defect counts from the June–July Slaughterhouse IQC scrap notes. Photos are illustrative reference images (not the specific June–July units).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Root causes → what we're doing about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371600" cy="502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For alignment between Parks harvesting and ATM receiving  ·  discussion + actions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35024"/>
          <a:ext cx="11183112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3200400"/>
                <a:gridCol w="3913632"/>
                <a:gridCol w="19202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 marL="91440" marR="73152" marT="36576" marB="36576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Likely root cause</a:t>
                      </a:r>
                    </a:p>
                  </a:txBody>
                  <a:tcPr marL="91440" marR="73152" marT="36576" marB="36576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Mitigation / action</a:t>
                      </a:r>
                    </a:p>
                  </a:txBody>
                  <a:tcPr marL="91440" marR="73152" marT="36576" marB="36576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Owner · status</a:t>
                      </a:r>
                    </a:p>
                  </a:txBody>
                  <a:tcPr marL="91440" marR="73152" marT="36576" marB="36576" anchor="ctr">
                    <a:solidFill>
                      <a:srgbClr val="0E7490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Urethra / bladder</a:t>
                      </a:r>
                    </a:p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lacerations (12)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Blades run too close to the template edge during block removal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Knife-technique refresh; leave margin from the critical edge; check against the template before bagging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74151"/>
                          </a:solidFill>
                          <a:latin typeface="Calibri"/>
                        </a:rPr>
                        <a:t>Parks + SH tech</a:t>
                      </a:r>
                    </a:p>
                    <a:p>
                      <a:r>
                        <a:rPr sz="950" b="1">
                          <a:solidFill>
                            <a:srgbClr val="0E7490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Short blocks —</a:t>
                      </a:r>
                    </a:p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mesentery length (8)</a:t>
                      </a:r>
                    </a:p>
                  </a:txBody>
                  <a:tcPr marL="91440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Small-pig days (Tue/Wed) leave &lt; 7" mesentery from the bladder neck</a:t>
                      </a:r>
                    </a:p>
                  </a:txBody>
                  <a:tcPr marL="91440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Align on the bladder-neck landmark + 7" measure (blue-line guide); flag / segregate small-pig lots</a:t>
                      </a:r>
                    </a:p>
                  </a:txBody>
                  <a:tcPr marL="91440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74151"/>
                          </a:solidFill>
                          <a:latin typeface="Calibri"/>
                        </a:rPr>
                        <a:t>Parks + ATM</a:t>
                      </a:r>
                    </a:p>
                    <a:p>
                      <a:r>
                        <a:rPr sz="950" b="1">
                          <a:solidFill>
                            <a:srgbClr val="0E7490"/>
                          </a:solidFill>
                          <a:latin typeface="Calibri"/>
                        </a:rPr>
                        <a:t>Align on landmark</a:t>
                      </a:r>
                    </a:p>
                  </a:txBody>
                  <a:tcPr marL="91440" marR="73152" marT="36576" marB="36576" anchor="ctr">
                    <a:solidFill>
                      <a:srgbClr val="F9FAFB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Bowel-cleaning</a:t>
                      </a:r>
                    </a:p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bursts (4)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Blocked bowel inflates and bursts when flushed with water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Revised cleaning step for blocked bowels — relieve pressure, don't force water; inspect before cleaning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74151"/>
                          </a:solidFill>
                          <a:latin typeface="Calibri"/>
                        </a:rPr>
                        <a:t>Parks</a:t>
                      </a:r>
                    </a:p>
                    <a:p>
                      <a:r>
                        <a:rPr sz="950" b="1">
                          <a:solidFill>
                            <a:srgbClr val="0E7490"/>
                          </a:solidFill>
                          <a:latin typeface="Calibri"/>
                        </a:rPr>
                        <a:t>SOP update (open)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Critical-area</a:t>
                      </a:r>
                    </a:p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mesentery lacer. (3)</a:t>
                      </a:r>
                    </a:p>
                  </a:txBody>
                  <a:tcPr marL="91440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Residual of the mesentery-dividing cut (root-caused May)</a:t>
                      </a:r>
                    </a:p>
                  </a:txBody>
                  <a:tcPr marL="91440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Continue training + monitoring; verify each month on the SH-floor IQC</a:t>
                      </a:r>
                    </a:p>
                  </a:txBody>
                  <a:tcPr marL="91440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74151"/>
                          </a:solidFill>
                          <a:latin typeface="Calibri"/>
                        </a:rPr>
                        <a:t>Parks + ATM</a:t>
                      </a:r>
                    </a:p>
                    <a:p>
                      <a:r>
                        <a:rPr sz="950" b="1">
                          <a:solidFill>
                            <a:srgbClr val="0E7490"/>
                          </a:solidFill>
                          <a:latin typeface="Calibri"/>
                        </a:rPr>
                        <a:t>Monitoring</a:t>
                      </a:r>
                    </a:p>
                  </a:txBody>
                  <a:tcPr marL="91440" marR="73152" marT="36576" marB="36576" anchor="ctr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394960"/>
            <a:ext cx="11183112" cy="841248"/>
          </a:xfrm>
          <a:prstGeom prst="roundRect">
            <a:avLst>
              <a:gd name="adj" fmla="val 7000"/>
            </a:avLst>
          </a:prstGeom>
          <a:solidFill>
            <a:srgbClr val="CF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477256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Calibri"/>
              </a:rPr>
              <a:t>Open questions to align on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60720"/>
            <a:ext cx="10835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74151"/>
                </a:solidFill>
                <a:latin typeface="Calibri"/>
              </a:rPr>
              <a:t>①  Lock the bladder-neck landmark + 7" mesentery method so "short block" calls match between Parks and ATM.     ②  How do we handle small-pig days (Tue/Wed) — flag, segregate, or adjust the cut?     ③  Confirm old-spec 666541 units are pulled;  next Parks visit set for Aug 12.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8251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Thank you for the work driving this improvement — rejection is already down sharply from the spring.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490"/>
                </a:solidFill>
                <a:latin typeface="Calibri"/>
              </a:rPr>
              <a:t>SUPPLIER QUALITY  ·  PELVIC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4688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F2937"/>
                </a:solidFill>
                <a:latin typeface="Calibri"/>
              </a:rPr>
              <a:t>Parks Family Meats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7490"/>
                </a:solidFill>
                <a:latin typeface="Calibri"/>
              </a:rPr>
              <a:t>Supplier Calls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4160520"/>
            <a:ext cx="2194560" cy="457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159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Quality Review — Pelvic Blocks  ·  June–July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ATM Incoming Quality  ·  prepared for the Parks + ATM receiving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73952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Parks Family Meats — Supplier Calls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Follow-up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371600" cy="502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Open items from today's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83112" cy="914400"/>
          </a:xfrm>
          <a:prstGeom prst="roundRect">
            <a:avLst>
              <a:gd name="adj" fmla="val 7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09728" cy="9144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874519"/>
            <a:ext cx="365760" cy="36576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00200"/>
            <a:ext cx="9601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Did Parks receive the labels and work instructions for the 666541s?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97480"/>
            <a:ext cx="11183112" cy="914400"/>
          </a:xfrm>
          <a:prstGeom prst="roundRect">
            <a:avLst>
              <a:gd name="adj" fmla="val 7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697480"/>
            <a:ext cx="109728" cy="9144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2971800"/>
            <a:ext cx="365760" cy="36576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97480"/>
            <a:ext cx="9601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Are we missing anything else?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83112" cy="868680"/>
          </a:xfrm>
          <a:prstGeom prst="roundRect">
            <a:avLst>
              <a:gd name="adj" fmla="val 7000"/>
            </a:avLst>
          </a:prstGeom>
          <a:solidFill>
            <a:srgbClr val="CF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41648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931920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74151"/>
                </a:solidFill>
                <a:latin typeface="Calibri"/>
              </a:rPr>
              <a:t>Leaf fat — quality inspections will be performed today.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57800"/>
            <a:ext cx="1118311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1F2937"/>
                </a:solidFill>
                <a:latin typeface="Calibri"/>
              </a:rPr>
              <a:t>Thank you for working with 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