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Harvest yield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7/29</c:v>
                  </c:pt>
                  <c:pt idx="1">
                    <c:v>8/5</c:v>
                  </c:pt>
                  <c:pt idx="2">
                    <c:v>8/12</c:v>
                  </c:pt>
                  <c:pt idx="3">
                    <c:v>8/19</c:v>
                  </c:pt>
                  <c:pt idx="4">
                    <c:v>8/26 · Francisco + two-stage</c:v>
                  </c:pt>
                  <c:pt idx="5">
                    <c:v>9/9 · trachea conflict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0.3158</c:v>
                </c:pt>
                <c:pt idx="1">
                  <c:v>0</c:v>
                </c:pt>
                <c:pt idx="2">
                  <c:v>0.1538</c:v>
                </c:pt>
                <c:pt idx="3">
                  <c:v>0.2069</c:v>
                </c:pt>
                <c:pt idx="4">
                  <c:v>0.4444</c:v>
                </c:pt>
                <c:pt idx="5">
                  <c:v>0.1053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Rejects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Not itemized (8/26 harvest 9 + QC 1)</c:v>
                  </c:pt>
                  <c:pt idx="1">
                    <c:v>Missing trachea — other buyer</c:v>
                  </c:pt>
                  <c:pt idx="2">
                    <c:v>Heart damage / laceration</c:v>
                  </c:pt>
                  <c:pt idx="3">
                    <c:v>Lung laceration (right-lung perimeter)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9</c:v>
                </c:pt>
                <c:pt idx="2">
                  <c:v>21</c:v>
                </c:pt>
                <c:pt idx="3">
                  <c:v>50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TOPIC  ·  NAHUNTA  ·  666521  ·  JUL 29 – SEP 9 2026  ·  SH FLOOR + ATM RECEIPT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11480" y="420624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Thoracics @ Nahunta — what's going 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11480" y="102412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 yield by visit — usable ÷ blocks at harvest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11480" y="1261872"/>
          <a:ext cx="557784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172200" y="102412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visit, standardized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261872"/>
          <a:ext cx="5577840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896112"/>
                <a:gridCol w="713232"/>
                <a:gridCol w="749808"/>
                <a:gridCol w="685800"/>
                <a:gridCol w="868680"/>
                <a:gridCol w="777240"/>
                <a:gridCol w="658368"/>
              </a:tblGrid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harvest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 rejects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our QC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QC pass / fail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Harvest yield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QC accept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Single-stage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/ 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Single-stage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Single-stage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Single-stage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/ 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Two-stage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/ 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9/9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Two-stage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usable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11480" y="3456432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failing — reasons, all stages (tagged rejects)</a:t>
            </a:r>
            <a:endParaRPr lang="en-US" sz="10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411480" y="3675888"/>
          <a:ext cx="557784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5"/>
          <p:cNvSpPr/>
          <p:nvPr/>
        </p:nvSpPr>
        <p:spPr>
          <a:xfrm>
            <a:off x="6172200" y="3456432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receipt — every scrap unit on these batches: 9972 Laceration/Cut</a:t>
            </a:r>
            <a:endParaRPr lang="en-US" sz="10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3749040"/>
          <a:ext cx="5577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417320"/>
                <a:gridCol w="141732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 visits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Recv / scrap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 scrap 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5502512218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7/29 + 8/5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/ 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5502523283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8/12 + 8/19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/ 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5502539375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/ 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5502550281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9/9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/ 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reviewed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6"/>
          <p:cNvSpPr/>
          <p:nvPr/>
        </p:nvSpPr>
        <p:spPr>
          <a:xfrm>
            <a:off x="411480" y="5166360"/>
            <a:ext cx="5806440" cy="1463040"/>
          </a:xfrm>
          <a:prstGeom prst="roundRect">
            <a:avLst>
              <a:gd name="adj" fmla="val 3125"/>
            </a:avLst>
          </a:prstGeom>
          <a:solidFill>
            <a:srgbClr val="E0F2F7"/>
          </a:solidFill>
          <a:ln/>
        </p:spPr>
      </p:sp>
      <p:sp>
        <p:nvSpPr>
          <p:cNvPr id="13" name="Text 7"/>
          <p:cNvSpPr/>
          <p:nvPr/>
        </p:nvSpPr>
        <p:spPr>
          <a:xfrm>
            <a:off x="576072" y="52486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</a:t>
            </a:r>
            <a:endParaRPr lang="en-US" sz="1000" dirty="0"/>
          </a:p>
        </p:txBody>
      </p:sp>
      <p:sp>
        <p:nvSpPr>
          <p:cNvPr id="14" name="Text 8"/>
          <p:cNvSpPr/>
          <p:nvPr/>
        </p:nvSpPr>
        <p:spPr>
          <a:xfrm>
            <a:off x="603504" y="5468112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usable thoracics from 113 at harvest (21.2%) over six visits — a harvesting problem, not a screening one: our QC accepted 88.9–100% of what Jordan passed.</a:t>
            </a:r>
            <a:endParaRPr lang="en-US" sz="840" dirty="0"/>
          </a:p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levers proved real: Francisco's team engagement preceded the 8/26 rebound to 44.4%, and Jordan's harvest screen aligns with our spec.</a:t>
            </a:r>
            <a:endParaRPr lang="en-US" sz="840" dirty="0"/>
          </a:p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 collapse (10.5%) is mostly commercial, not technique: 9 of 17 rejects were missing trachea — tracheas go to another buyer.</a:t>
            </a:r>
            <a:endParaRPr lang="en-US" sz="840" dirty="0"/>
          </a:p>
        </p:txBody>
      </p:sp>
      <p:sp>
        <p:nvSpPr>
          <p:cNvPr id="15" name="Shape 9"/>
          <p:cNvSpPr/>
          <p:nvPr/>
        </p:nvSpPr>
        <p:spPr>
          <a:xfrm>
            <a:off x="6382512" y="5166360"/>
            <a:ext cx="5394960" cy="1463040"/>
          </a:xfrm>
          <a:prstGeom prst="roundRect">
            <a:avLst>
              <a:gd name="adj" fmla="val 3125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6547104" y="52486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/ watch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6574536" y="5468112"/>
            <a:ext cx="5074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 the trachea arrangement — it decides thoracic viability at Nahunta.</a:t>
            </a:r>
            <a:endParaRPr lang="en-US" sz="840" dirty="0"/>
          </a:p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Harvest-technique corrective with Francisco's team on lung-perimeter cuts; track Jordan's reject rate as the leading indicator.</a:t>
            </a:r>
            <a:endParaRPr lang="en-US" sz="840" dirty="0"/>
          </a:p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five-number tally every visit; ATM review of 5502550281 pending (50 received).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2026-09-16T17:14:14Z</dcterms:created>
  <dcterms:modified xsi:type="dcterms:W3CDTF">2026-09-16T17:14:14Z</dcterms:modified>
</cp:coreProperties>
</file>