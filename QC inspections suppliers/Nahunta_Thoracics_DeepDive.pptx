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Harvest yield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7/29</c:v>
                  </c:pt>
                  <c:pt idx="1">
                    <c:v>8/5</c:v>
                  </c:pt>
                  <c:pt idx="2">
                    <c:v>8/12</c:v>
                  </c:pt>
                  <c:pt idx="3">
                    <c:v>8/19</c:v>
                  </c:pt>
                  <c:pt idx="4">
                    <c:v>8/26 ①②</c:v>
                  </c:pt>
                  <c:pt idx="5">
                    <c:v>9/9 ③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0.3158</c:v>
                </c:pt>
                <c:pt idx="1">
                  <c:v>0</c:v>
                </c:pt>
                <c:pt idx="2">
                  <c:v>0.1538</c:v>
                </c:pt>
                <c:pt idx="3">
                  <c:v>0.2069</c:v>
                </c:pt>
                <c:pt idx="4">
                  <c:v>0.4444</c:v>
                </c:pt>
                <c:pt idx="5">
                  <c:v>0.1053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TOPIC  ·  NAHUNTA  ·  666521  ·  JUL 29 – SEP 9 2026  ·  SH FLOOR + ATM RECEIPT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11480" y="420624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Thoracics @ Nahunta — what's going 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yield by visit — usable ÷ blocks at harvest (the comparable series)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261872"/>
          <a:ext cx="55778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29992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Francisco's team engaged   ② two-inspection process starts (Jordan screens at harvest, our QC inspects what he passes)   ③ trachea conflict hits</a:t>
            </a:r>
            <a:endParaRPr lang="en-US" sz="760" dirty="0"/>
          </a:p>
        </p:txBody>
      </p:sp>
      <p:sp>
        <p:nvSpPr>
          <p:cNvPr id="7" name="Text 4"/>
          <p:cNvSpPr/>
          <p:nvPr/>
        </p:nvSpPr>
        <p:spPr>
          <a:xfrm>
            <a:off x="617220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visit, standardized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61872"/>
          <a:ext cx="55778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896112"/>
                <a:gridCol w="713232"/>
                <a:gridCol w="749808"/>
                <a:gridCol w="685800"/>
                <a:gridCol w="868680"/>
                <a:gridCol w="777240"/>
                <a:gridCol w="658368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harvest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rejects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our QC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pass / fail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yield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accept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usable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172200" y="305409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Single-stage = our tech inspected the whole harvest. Two-stage = QC accept is of what Jordan passed. 8/12: sheet lists 12 reasons vs 11 fails (±1).</a:t>
            </a:r>
            <a:endParaRPr lang="en-US" sz="760" dirty="0"/>
          </a:p>
        </p:txBody>
      </p:sp>
      <p:sp>
        <p:nvSpPr>
          <p:cNvPr id="10" name="Text 6"/>
          <p:cNvSpPr/>
          <p:nvPr/>
        </p:nvSpPr>
        <p:spPr>
          <a:xfrm>
            <a:off x="411480" y="3401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failing — one damage mode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11480" y="3721608"/>
            <a:ext cx="2834640" cy="14630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3337560" y="36576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laceration (right-lung perimeter)  </a:t>
            </a:r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42 QC-tagged + 8 at harvest (9/9)</a:t>
            </a:r>
            <a:endParaRPr lang="en-US" sz="860" dirty="0"/>
          </a:p>
        </p:txBody>
      </p:sp>
      <p:sp>
        <p:nvSpPr>
          <p:cNvPr id="13" name="Shape 9"/>
          <p:cNvSpPr/>
          <p:nvPr/>
        </p:nvSpPr>
        <p:spPr>
          <a:xfrm>
            <a:off x="411480" y="4032504"/>
            <a:ext cx="1190549" cy="14630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4" name="Text 10"/>
          <p:cNvSpPr/>
          <p:nvPr/>
        </p:nvSpPr>
        <p:spPr>
          <a:xfrm>
            <a:off x="3337560" y="396849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damage / laceration  </a:t>
            </a:r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21 QC-tagged</a:t>
            </a:r>
            <a:endParaRPr lang="en-US" sz="860" dirty="0"/>
          </a:p>
        </p:txBody>
      </p:sp>
      <p:sp>
        <p:nvSpPr>
          <p:cNvPr id="15" name="Shape 11"/>
          <p:cNvSpPr/>
          <p:nvPr/>
        </p:nvSpPr>
        <p:spPr>
          <a:xfrm>
            <a:off x="411480" y="4343400"/>
            <a:ext cx="510235" cy="14630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2"/>
          <p:cNvSpPr/>
          <p:nvPr/>
        </p:nvSpPr>
        <p:spPr>
          <a:xfrm>
            <a:off x="3337560" y="427939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trachea — harvested for another buyer  </a:t>
            </a:r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9 at harvest (9/9)</a:t>
            </a:r>
            <a:endParaRPr lang="en-US" sz="860" dirty="0"/>
          </a:p>
        </p:txBody>
      </p:sp>
      <p:sp>
        <p:nvSpPr>
          <p:cNvPr id="17" name="Shape 13"/>
          <p:cNvSpPr/>
          <p:nvPr/>
        </p:nvSpPr>
        <p:spPr>
          <a:xfrm>
            <a:off x="411480" y="4654296"/>
            <a:ext cx="109728" cy="14630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8" name="Text 14"/>
          <p:cNvSpPr/>
          <p:nvPr/>
        </p:nvSpPr>
        <p:spPr>
          <a:xfrm>
            <a:off x="3337560" y="459028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Undocumented (8/26 QC fail — stage split pending)  </a:t>
            </a:r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1</a:t>
            </a:r>
            <a:endParaRPr lang="en-US" sz="860" dirty="0"/>
          </a:p>
        </p:txBody>
      </p:sp>
      <p:sp>
        <p:nvSpPr>
          <p:cNvPr id="19" name="Text 15"/>
          <p:cNvSpPr/>
          <p:nvPr/>
        </p:nvSpPr>
        <p:spPr>
          <a:xfrm>
            <a:off x="411480" y="493776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Harvest-stage reject reasons for 8/26 (Jordan's 9) not itemized — requested from Kris/Jordan.</a:t>
            </a:r>
            <a:endParaRPr lang="en-US" sz="760" dirty="0"/>
          </a:p>
        </p:txBody>
      </p:sp>
      <p:sp>
        <p:nvSpPr>
          <p:cNvPr id="20" name="Text 16"/>
          <p:cNvSpPr/>
          <p:nvPr/>
        </p:nvSpPr>
        <p:spPr>
          <a:xfrm>
            <a:off x="6172200" y="3401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receipt confirms it — every scrap unit on these batches is 9972 Laceration/Cut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6576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417320"/>
                <a:gridCol w="141732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visits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Recv / scrap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scrap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 + 8/5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 + 8/19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7"/>
          <p:cNvSpPr/>
          <p:nvPr/>
        </p:nvSpPr>
        <p:spPr>
          <a:xfrm>
            <a:off x="6172200" y="482803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SH-passed survivors keep failing on the same lacerations after freeze/thaw — harvesting-side damage confirmed at both stages, ~2–4 weeks apart.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11480" y="5230368"/>
            <a:ext cx="5806440" cy="1371600"/>
          </a:xfrm>
          <a:prstGeom prst="roundRect">
            <a:avLst>
              <a:gd name="adj" fmla="val 3333"/>
            </a:avLst>
          </a:prstGeom>
          <a:solidFill>
            <a:srgbClr val="E0F2F7"/>
          </a:solidFill>
          <a:ln/>
        </p:spPr>
      </p:sp>
      <p:sp>
        <p:nvSpPr>
          <p:cNvPr id="24" name="Text 19"/>
          <p:cNvSpPr/>
          <p:nvPr/>
        </p:nvSpPr>
        <p:spPr>
          <a:xfrm>
            <a:off x="576072" y="53035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603504" y="5522976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Net: 24 usable thoracics from 113 at harvest (21.2%) over six visits — a harvesting problem, not a screening one: our QC accepted 88.9–100% of what Jordan passed.</a:t>
            </a:r>
            <a:endParaRPr lang="en-US" sz="82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levers proved real: Francisco's team engagement preceded the 8/26 rebound to 44.4%, and Jordan's harvest screen aligns with our spec.</a:t>
            </a:r>
            <a:endParaRPr lang="en-US" sz="82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collapse (10.5%) is mostly commercial, not technique: 9 of 17 rejects were missing trachea — tracheas go to another buyer.</a:t>
            </a:r>
            <a:endParaRPr lang="en-US" sz="820" dirty="0"/>
          </a:p>
        </p:txBody>
      </p:sp>
      <p:sp>
        <p:nvSpPr>
          <p:cNvPr id="26" name="Shape 21"/>
          <p:cNvSpPr/>
          <p:nvPr/>
        </p:nvSpPr>
        <p:spPr>
          <a:xfrm>
            <a:off x="6382512" y="5230368"/>
            <a:ext cx="5394960" cy="137160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547104" y="53035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/ watch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6574536" y="5522976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the trachea arrangement — it decides thoracic viability at Nahunta.</a:t>
            </a:r>
            <a:endParaRPr lang="en-US" sz="82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Harvest-technique corrective with Francisco's team on lung-perimeter cuts; track Jordan's reject rate as the leading indicator.</a:t>
            </a:r>
            <a:endParaRPr lang="en-US" sz="82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five-number tally every visit; pending data: 8/26 stage split of reasons, ATM review of 5502550281 (50 recv).</a:t>
            </a:r>
            <a:endParaRPr lang="en-US" sz="820" dirty="0"/>
          </a:p>
        </p:txBody>
      </p:sp>
      <p:sp>
        <p:nvSpPr>
          <p:cNvPr id="29" name="Text 24"/>
          <p:cNvSpPr/>
          <p:nvPr/>
        </p:nvSpPr>
        <p:spPr>
          <a:xfrm>
            <a:off x="411480" y="662025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'Nahunta Standard' tab; ATM (SAP) extract 09/16/2026, SH-inspected batches only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2026-09-16T17:10:02Z</dcterms:created>
  <dcterms:modified xsi:type="dcterms:W3CDTF">2026-09-16T17:10:02Z</dcterms:modified>
</cp:coreProperties>
</file>