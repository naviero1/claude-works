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FPY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Thoracic @ Nahunta · 666521</c:v>
                  </c:pt>
                  <c:pt idx="1">
                    <c:v>Pelvic @ Nahunta · 666541</c:v>
                  </c:pt>
                  <c:pt idx="2">
                    <c:v>Pelvic @ Parks · 666518</c:v>
                  </c:pt>
                  <c:pt idx="3">
                    <c:v>Pelvic @ Martins · 666506</c:v>
                  </c:pt>
                  <c:pt idx="4">
                    <c:v>Pelvic @ Martins · 666541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0.3158</c:v>
                </c:pt>
                <c:pt idx="1">
                  <c:v>1</c:v>
                </c:pt>
                <c:pt idx="2">
                  <c:v>0.885</c:v>
                </c:pt>
                <c:pt idx="3">
                  <c:v>0.9747</c:v>
                </c:pt>
                <c:pt idx="4">
                  <c:v>0.9627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 fail rate (sample)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5502378434</c:v>
                  </c:pt>
                  <c:pt idx="1">
                    <c:v>5502391862</c:v>
                  </c:pt>
                  <c:pt idx="2">
                    <c:v>5502404928</c:v>
                  </c:pt>
                  <c:pt idx="3">
                    <c:v>5502421192</c:v>
                  </c:pt>
                  <c:pt idx="4">
                    <c:v>5502428786</c:v>
                  </c:pt>
                  <c:pt idx="5">
                    <c:v>5502462845</c:v>
                  </c:pt>
                  <c:pt idx="6">
                    <c:v>5502471460</c:v>
                  </c:pt>
                  <c:pt idx="7">
                    <c:v>5502495107</c:v>
                  </c:pt>
                  <c:pt idx="8">
                    <c:v>5502512228</c:v>
                  </c:pt>
                  <c:pt idx="9">
                    <c:v>5502523269</c:v>
                  </c:pt>
                  <c:pt idx="10">
                    <c:v>5502512218</c:v>
                  </c:pt>
                  <c:pt idx="11">
                    <c:v>5502523283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0.07689999999999997</c:v>
                </c:pt>
                <c:pt idx="1">
                  <c:v>0.01749999999999996</c:v>
                </c:pt>
                <c:pt idx="2">
                  <c:v>0.0645</c:v>
                </c:pt>
                <c:pt idx="3">
                  <c:v>0.06820000000000004</c:v>
                </c:pt>
                <c:pt idx="4">
                  <c:v>0.042300000000000004</c:v>
                </c:pt>
                <c:pt idx="5">
                  <c:v>0.07689999999999997</c:v>
                </c:pt>
                <c:pt idx="6">
                  <c:v>0.035699999999999954</c:v>
                </c:pt>
                <c:pt idx="7">
                  <c:v>0.038799999999999946</c:v>
                </c:pt>
                <c:pt idx="8">
                  <c:v>0.02400000000000002</c:v>
                </c:pt>
                <c:pt idx="9">
                  <c:v>0.05169999999999997</c:v>
                </c:pt>
                <c:pt idx="10">
                  <c:v>0.8235</c:v>
                </c:pt>
                <c:pt idx="11">
                  <c:v>0.8095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ATM scrap rate (full batch)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5502378434</c:v>
                  </c:pt>
                  <c:pt idx="1">
                    <c:v>5502391862</c:v>
                  </c:pt>
                  <c:pt idx="2">
                    <c:v>5502404928</c:v>
                  </c:pt>
                  <c:pt idx="3">
                    <c:v>5502421192</c:v>
                  </c:pt>
                  <c:pt idx="4">
                    <c:v>5502428786</c:v>
                  </c:pt>
                  <c:pt idx="5">
                    <c:v>5502462845</c:v>
                  </c:pt>
                  <c:pt idx="6">
                    <c:v>5502471460</c:v>
                  </c:pt>
                  <c:pt idx="7">
                    <c:v>5502495107</c:v>
                  </c:pt>
                  <c:pt idx="8">
                    <c:v>5502512228</c:v>
                  </c:pt>
                  <c:pt idx="9">
                    <c:v>5502523269</c:v>
                  </c:pt>
                  <c:pt idx="10">
                    <c:v>5502512218</c:v>
                  </c:pt>
                  <c:pt idx="11">
                    <c:v>5502523283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0.0443</c:v>
                </c:pt>
                <c:pt idx="1">
                  <c:v>0.0165</c:v>
                </c:pt>
                <c:pt idx="2">
                  <c:v>0.0634</c:v>
                </c:pt>
                <c:pt idx="3">
                  <c:v>0.0654</c:v>
                </c:pt>
                <c:pt idx="4">
                  <c:v>0.0285</c:v>
                </c:pt>
                <c:pt idx="5">
                  <c:v>0.0481</c:v>
                </c:pt>
                <c:pt idx="6">
                  <c:v>0.1124</c:v>
                </c:pt>
                <c:pt idx="7">
                  <c:v>0.0291</c:v>
                </c:pt>
                <c:pt idx="8">
                  <c:v>0.0162</c:v>
                </c:pt>
                <c:pt idx="9">
                  <c:v>0</c:v>
                </c:pt>
                <c:pt idx="10">
                  <c:v>0.3333</c:v>
                </c:pt>
                <c:pt idx="11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750" u="none">
                  <a:solidFill>
                    <a:srgbClr val="6B72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 issues — 48 total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Other / unspecified</c:v>
                  </c:pt>
                  <c:pt idx="1">
                    <c:v>Ureter damage</c:v>
                  </c:pt>
                  <c:pt idx="2">
                    <c:v>Critical-area laceration</c:v>
                  </c:pt>
                  <c:pt idx="3">
                    <c:v>Bowel damage / separation</c:v>
                  </c:pt>
                  <c:pt idx="4">
                    <c:v>Membrane damage</c:v>
                  </c:pt>
                  <c:pt idx="5">
                    <c:v>Short block / mesentery length</c:v>
                  </c:pt>
                  <c:pt idx="6">
                    <c:v>Urethra / bladder damage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6</c:v>
                </c:pt>
                <c:pt idx="4">
                  <c:v>7</c:v>
                </c:pt>
                <c:pt idx="5">
                  <c:v>11</c:v>
                </c:pt>
                <c:pt idx="6">
                  <c:v>14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6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ATM scrap — 67 total · 50 quality-only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9994 · Line Clearance*</c:v>
                  </c:pt>
                  <c:pt idx="1">
                    <c:v>9995 · Received Damage</c:v>
                  </c:pt>
                  <c:pt idx="2">
                    <c:v>9973 · Out of Spec</c:v>
                  </c:pt>
                  <c:pt idx="3">
                    <c:v>9976 · Spoilage</c:v>
                  </c:pt>
                  <c:pt idx="4">
                    <c:v>9983 · Incorrect Dimensions</c:v>
                  </c:pt>
                  <c:pt idx="5">
                    <c:v>9986 · Bladder Length</c:v>
                  </c:pt>
                  <c:pt idx="6">
                    <c:v>1220 · Destructive Testing (eng/R&amp;D)*</c:v>
                  </c:pt>
                  <c:pt idx="7">
                    <c:v>9987 · Blood Clots</c:v>
                  </c:pt>
                  <c:pt idx="8">
                    <c:v>9991 · R&amp;D/Testing*</c:v>
                  </c:pt>
                  <c:pt idx="9">
                    <c:v>9988 · Exposed Urethra</c:v>
                  </c:pt>
                  <c:pt idx="10">
                    <c:v>9972 · Laceration/Cut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2</c:v>
                </c:pt>
                <c:pt idx="6">
                  <c:v>7</c:v>
                </c:pt>
                <c:pt idx="7">
                  <c:v>9</c:v>
                </c:pt>
                <c:pt idx="8">
                  <c:v>10</c:v>
                </c:pt>
                <c:pt idx="9">
                  <c:v>10</c:v>
                </c:pt>
                <c:pt idx="10">
                  <c:v>27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6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 issues — 13 total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Other / unspecified</c:v>
                  </c:pt>
                  <c:pt idx="1">
                    <c:v>Heart damage</c:v>
                  </c:pt>
                  <c:pt idx="2">
                    <c:v>Lung laceration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</c:v>
                </c:pt>
                <c:pt idx="2">
                  <c:v>11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6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ATM scrap — 68 total · 67 quality-only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9984 · Partial Qty</c:v>
                  </c:pt>
                  <c:pt idx="1">
                    <c:v>1201 · Tech Performance</c:v>
                  </c:pt>
                  <c:pt idx="2">
                    <c:v>9973 · Out of Spec</c:v>
                  </c:pt>
                  <c:pt idx="3">
                    <c:v>7 · Others</c:v>
                  </c:pt>
                  <c:pt idx="4">
                    <c:v>9985 · Tech Damaged</c:v>
                  </c:pt>
                  <c:pt idx="5">
                    <c:v>1220 · Destructive Testing (eng/R&amp;D)*</c:v>
                  </c:pt>
                  <c:pt idx="6">
                    <c:v>9972 · Laceration/Cut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67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6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chart" Target="/ppt/charts/chart6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Inspection and Scrap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· Refined tables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51560"/>
                <a:gridCol w="868680"/>
                <a:gridCol w="822960"/>
                <a:gridCol w="1371600"/>
                <a:gridCol w="42336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 @ 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Inspected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First-Pass 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defect this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Martins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/ bladder damage (3)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Martins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damage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Parks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block / mesentery length (6)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Nahunta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Thoracic @ Nahunta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(11)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337560"/>
            <a:ext cx="3611880" cy="1810512"/>
          </a:xfrm>
          <a:prstGeom prst="roundRect">
            <a:avLst>
              <a:gd name="adj" fmla="val 303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4198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Martins · 666541 — 6 fails of 161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3817620"/>
            <a:ext cx="261851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6"/>
          <p:cNvSpPr/>
          <p:nvPr/>
        </p:nvSpPr>
        <p:spPr>
          <a:xfrm>
            <a:off x="1691640" y="3767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Urethra / bladder damage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50.00%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" y="4146804"/>
            <a:ext cx="174567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8"/>
          <p:cNvSpPr/>
          <p:nvPr/>
        </p:nvSpPr>
        <p:spPr>
          <a:xfrm>
            <a:off x="1691640" y="4096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Membrane damage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33.33%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0080" y="4475988"/>
            <a:ext cx="87284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1691640" y="4425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Other / unspecified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16.67%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88536" y="3337560"/>
            <a:ext cx="3611880" cy="1810512"/>
          </a:xfrm>
          <a:prstGeom prst="roundRect">
            <a:avLst>
              <a:gd name="adj" fmla="val 303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25696" y="34198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Parks · 666518 — 13 fails of 113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425696" y="3817620"/>
            <a:ext cx="523702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4"/>
          <p:cNvSpPr/>
          <p:nvPr/>
        </p:nvSpPr>
        <p:spPr>
          <a:xfrm>
            <a:off x="5477256" y="3767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Short block / mesentery length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46.15%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25696" y="4146804"/>
            <a:ext cx="261851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6"/>
          <p:cNvSpPr/>
          <p:nvPr/>
        </p:nvSpPr>
        <p:spPr>
          <a:xfrm>
            <a:off x="5477256" y="4096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Bowel damage / separation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23.08%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25696" y="4475988"/>
            <a:ext cx="261851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8"/>
          <p:cNvSpPr/>
          <p:nvPr/>
        </p:nvSpPr>
        <p:spPr>
          <a:xfrm>
            <a:off x="5477256" y="4425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Critical-area laceration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23.08%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425696" y="4805172"/>
            <a:ext cx="87284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20"/>
          <p:cNvSpPr/>
          <p:nvPr/>
        </p:nvSpPr>
        <p:spPr>
          <a:xfrm>
            <a:off x="5477256" y="47548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Ureter damage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7.69%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074152" y="3337560"/>
            <a:ext cx="3611880" cy="1810512"/>
          </a:xfrm>
          <a:prstGeom prst="roundRect">
            <a:avLst>
              <a:gd name="adj" fmla="val 3030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11312" y="34198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@ Nahunta · 666521 — 13 fails of 19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211312" y="3817620"/>
            <a:ext cx="960120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7" name="Text 24"/>
          <p:cNvSpPr/>
          <p:nvPr/>
        </p:nvSpPr>
        <p:spPr>
          <a:xfrm>
            <a:off x="9262872" y="3767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Lung laceration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84.62%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211312" y="4146804"/>
            <a:ext cx="174567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9" name="Text 26"/>
          <p:cNvSpPr/>
          <p:nvPr/>
        </p:nvSpPr>
        <p:spPr>
          <a:xfrm>
            <a:off x="9262872" y="40965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Heart damage  </a:t>
            </a:r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15.38%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02920" y="5230368"/>
            <a:ext cx="11183112" cy="1170432"/>
          </a:xfrm>
          <a:prstGeom prst="roundRect">
            <a:avLst>
              <a:gd name="adj" fmla="val 3906"/>
            </a:avLst>
          </a:prstGeom>
          <a:solidFill>
            <a:srgbClr val="E0F2F7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5303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713232" y="5532120"/>
            <a:ext cx="10835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Martins): 96.3% FPY on 161 — recovered after June; scattered membrane/urethra singles (one 7/20 reject undocumented).</a:t>
            </a:r>
            <a:endParaRPr lang="en-US" sz="86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666506 (Pelvic @ Martins): 97.5% FPY on 79 — two membrane fails; no concerns.</a:t>
            </a:r>
            <a:endParaRPr lang="en-US" sz="86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666518 (Pelvic @ Parks): 88.5% FPY on 113 — improving: urethra/bladder cuts eliminated after the June push; short blocks (6, small-pig days) now the top issue.</a:t>
            </a:r>
            <a:endParaRPr lang="en-US" sz="86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666521 (Thoracic @ Nahunta): first thoracic visit (7/29) at 31.6% FPY — 11 right-lung lacerations + 2 heart; damage attributed to the harvesting side.</a:t>
            </a:r>
            <a:endParaRPr lang="en-US" sz="86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Nahunta): single trial block passed (1/1) / August shows a different story*</a:t>
            </a:r>
            <a:endParaRPr lang="en-US" sz="860" dirty="0"/>
          </a:p>
        </p:txBody>
      </p:sp>
      <p:sp>
        <p:nvSpPr>
          <p:cNvPr id="33" name="Text 30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Inspection and Scrap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· Chart-led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yield by tissue × slaughterhouse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81328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298448"/>
          <a:ext cx="551383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33272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 @ SH · Part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/ P / 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defect this month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Martins · 666541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 / 155 / 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/ bladder damage (3)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Martins · 666506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 / 77 /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damage (2)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Parks · 666518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 / 100 / 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block / mesentery length (6)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Nahunta · 666541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 /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Thoracic @ Nahunta · 666521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/ 6 / 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(11)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172200" y="3200400"/>
            <a:ext cx="5513832" cy="804672"/>
          </a:xfrm>
          <a:prstGeom prst="roundRect">
            <a:avLst>
              <a:gd name="adj" fmla="val 7955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09360" y="326440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Martins · 666541 — 6 fails of 161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309360" y="35021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Urethra / bladder damage 3 (50.00%)  ·  Membrane damage 2 (33.33%)  ·  Other / unspecified 1 (16.67%)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6172200" y="4114800"/>
            <a:ext cx="5513832" cy="804672"/>
          </a:xfrm>
          <a:prstGeom prst="roundRect">
            <a:avLst>
              <a:gd name="adj" fmla="val 7955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09360" y="417880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Parks · 666518 — 13 fails of 113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309360" y="44165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block / mesentery length 6 (46.15%)  ·  Bowel damage / separation 3 (23.08%)  ·  Critical-area laceration 3 (23.08%)  ·  Ureter damage 1 (7.69%)</a:t>
            </a:r>
            <a:endParaRPr lang="en-US" sz="860" dirty="0"/>
          </a:p>
        </p:txBody>
      </p:sp>
      <p:sp>
        <p:nvSpPr>
          <p:cNvPr id="14" name="Shape 10"/>
          <p:cNvSpPr/>
          <p:nvPr/>
        </p:nvSpPr>
        <p:spPr>
          <a:xfrm>
            <a:off x="6172200" y="5029200"/>
            <a:ext cx="5513832" cy="804672"/>
          </a:xfrm>
          <a:prstGeom prst="roundRect">
            <a:avLst>
              <a:gd name="adj" fmla="val 7955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09360" y="5093208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@ Nahunta · 666521 — 13 fails of 19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309360" y="533095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laceration 11 (84.62%)  ·  Heart damage 2 (15.38%)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502920" y="4443984"/>
            <a:ext cx="5394960" cy="1938528"/>
          </a:xfrm>
          <a:prstGeom prst="roundRect">
            <a:avLst>
              <a:gd name="adj" fmla="val 2358"/>
            </a:avLst>
          </a:prstGeom>
          <a:solidFill>
            <a:srgbClr val="E0F2F7"/>
          </a:solidFill>
          <a:ln/>
        </p:spPr>
      </p:sp>
      <p:sp>
        <p:nvSpPr>
          <p:cNvPr id="18" name="Text 14"/>
          <p:cNvSpPr/>
          <p:nvPr/>
        </p:nvSpPr>
        <p:spPr>
          <a:xfrm>
            <a:off x="667512" y="45171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94944" y="475488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Martins): 96.3% FPY on 161 — recovered after June; scattered membrane/urethra singles (one 7/20 reject undocumented).</a:t>
            </a:r>
            <a:endParaRPr lang="en-US" sz="820" dirty="0"/>
          </a:p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666506 (Pelvic @ Martins): 97.5% FPY on 79 — two membrane fails; no concerns.</a:t>
            </a:r>
            <a:endParaRPr lang="en-US" sz="820" dirty="0"/>
          </a:p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666518 (Pelvic @ Parks): 88.5% FPY on 113 — improving: urethra/bladder cuts eliminated after the June push; short blocks (6, small-pig days) now the top issue.</a:t>
            </a:r>
            <a:endParaRPr lang="en-US" sz="820" dirty="0"/>
          </a:p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666521 (Thoracic @ Nahunta): first thoracic visit (7/29) at 31.6% FPY — 11 right-lung lacerations + 2 heart; damage attributed to the harvesting side.</a:t>
            </a:r>
            <a:endParaRPr lang="en-US" sz="820" dirty="0"/>
          </a:p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8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Nahunta): single trial block passed (1/1) / August shows a different story*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617220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Bars: first-pass yield (pass / inspected) per combo, July 2026.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Inspection and Scrap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· KPI story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Martins · 666541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3969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 inspected · 6 fails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defect: urethra / bladder (3)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346704" y="123444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280160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46704" y="192024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Martins · 666506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46704" y="213969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inspected · 2 fails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346704" y="234086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defect: membrane damage (2)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190488" y="123444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1280160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90488" y="192024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Parks · 666518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90488" y="213969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inspected · 13 fails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6190488" y="234086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defect: short block / mesentery (6)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034272" y="123444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34272" y="1280160"/>
            <a:ext cx="2670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034272" y="1920240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@ Nahunta · 666521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034272" y="213969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inspected · 13 fails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9034272" y="234086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defect: lung laceration (11)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502920" y="276148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First-pass yield · July 2026 (Pelvic @ Nahunta trial: 1 inspected, 1 passed — 100%)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127248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2095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Martins · 666541 — 6 fails of 161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611880"/>
            <a:ext cx="249382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9" name="Text 27"/>
          <p:cNvSpPr/>
          <p:nvPr/>
        </p:nvSpPr>
        <p:spPr>
          <a:xfrm>
            <a:off x="1645920" y="35661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Urethra / bladder damage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(50.00%)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3931920"/>
            <a:ext cx="166255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0" y="38862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Membrane damage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(33.33%)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4251960"/>
            <a:ext cx="83127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3" name="Text 31"/>
          <p:cNvSpPr/>
          <p:nvPr/>
        </p:nvSpPr>
        <p:spPr>
          <a:xfrm>
            <a:off x="1645920" y="42062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/ unspecified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(16.67%)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88536" y="3127248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25696" y="32095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Parks · 666518 — 13 fails of 113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425696" y="3611880"/>
            <a:ext cx="498764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7" name="Text 35"/>
          <p:cNvSpPr/>
          <p:nvPr/>
        </p:nvSpPr>
        <p:spPr>
          <a:xfrm>
            <a:off x="5431536" y="35661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block / mesentery length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(46.15%)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25696" y="3931920"/>
            <a:ext cx="249382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9" name="Text 37"/>
          <p:cNvSpPr/>
          <p:nvPr/>
        </p:nvSpPr>
        <p:spPr>
          <a:xfrm>
            <a:off x="5431536" y="38862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Bowel damage / separation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(23.08%)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25696" y="4251960"/>
            <a:ext cx="249382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1" name="Text 39"/>
          <p:cNvSpPr/>
          <p:nvPr/>
        </p:nvSpPr>
        <p:spPr>
          <a:xfrm>
            <a:off x="5431536" y="42062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Critical-area laceration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(23.08%)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25696" y="4572000"/>
            <a:ext cx="83127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3" name="Text 41"/>
          <p:cNvSpPr/>
          <p:nvPr/>
        </p:nvSpPr>
        <p:spPr>
          <a:xfrm>
            <a:off x="5431536" y="452628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Ureter damage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(7.69%)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074152" y="3127248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11312" y="32095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@ Nahunta · 666521 — 13 fails of 19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11312" y="3611880"/>
            <a:ext cx="914400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7" name="Text 45"/>
          <p:cNvSpPr/>
          <p:nvPr/>
        </p:nvSpPr>
        <p:spPr>
          <a:xfrm>
            <a:off x="9217152" y="35661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laceration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(84.62%)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11312" y="3931920"/>
            <a:ext cx="166255" cy="1097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9" name="Text 47"/>
          <p:cNvSpPr/>
          <p:nvPr/>
        </p:nvSpPr>
        <p:spPr>
          <a:xfrm>
            <a:off x="9217152" y="38862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damage  </a:t>
            </a:r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(15.38%)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2920" y="5047488"/>
            <a:ext cx="11183112" cy="1335024"/>
          </a:xfrm>
          <a:prstGeom prst="roundRect">
            <a:avLst>
              <a:gd name="adj" fmla="val 3425"/>
            </a:avLst>
          </a:prstGeom>
          <a:solidFill>
            <a:srgbClr val="E0F2F7"/>
          </a:solidFill>
          <a:ln/>
        </p:spPr>
      </p:sp>
      <p:sp>
        <p:nvSpPr>
          <p:cNvPr id="51" name="Text 49"/>
          <p:cNvSpPr/>
          <p:nvPr/>
        </p:nvSpPr>
        <p:spPr>
          <a:xfrm>
            <a:off x="685800" y="51206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13232" y="5358384"/>
            <a:ext cx="10835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Martins): 96.3% FPY on 161 — recovered after June; scattered membrane/urethra singles (one 7/20 reject undocumented).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666506 (Pelvic @ Martins): 97.5% FPY on 79 — two membrane fails; no concerns.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666518 (Pelvic @ Parks): 88.5% FPY on 113 — improving: urethra/bladder cuts eliminated after the June push; short blocks (6, small-pig days) now the top issue.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666521 (Thoracic @ Nahunta): first thoracic visit (7/29) at 31.6% FPY — 11 right-lung lacerations + 2 heart; damage attributed to the harvesting side.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➢"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Nahunta): single trial block passed (1/1) / August shows a different story*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at SH vs Scrap Rate at ATM by batch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· Refined table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83112" cy="914400"/>
        </p:xfrm>
        <a:graphic>
          <a:graphicData uri="http://schemas.openxmlformats.org/drawingml/2006/table">
            <a:tbl>
              <a:tblPr/>
              <a:tblGrid>
                <a:gridCol w="896112"/>
                <a:gridCol w="502920"/>
                <a:gridCol w="603504"/>
                <a:gridCol w="603504"/>
                <a:gridCol w="1078992"/>
                <a:gridCol w="384048"/>
                <a:gridCol w="384048"/>
                <a:gridCol w="384048"/>
                <a:gridCol w="603504"/>
                <a:gridCol w="2286000"/>
                <a:gridCol w="457200"/>
                <a:gridCol w="457200"/>
                <a:gridCol w="566928"/>
                <a:gridCol w="1481328"/>
                <a:gridCol w="493776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Lot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site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dates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FPY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top defects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Recv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review window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→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5502378434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04-13, 04-15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92.31%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Other (2), Bowel damage (1)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4.43%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 → 05-13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5502391862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04-20, 04-22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98.25%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Bowel damage (1)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05-21 → 05-21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5502404928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05-04, 05-06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93.55%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(4)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6.34%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05-29 → 07-30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5502421192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05-18, 05-21, 05-27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93.18%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(5), Membrane (2), Short block (1)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6.54%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06-03 → 06-18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5502428786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06-01, 06-03, 06-08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95.77%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(3)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2.85%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06-18 → 06-24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5502462845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06-15, 06-24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92.31%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(3), Bowel (1), Urethra (1)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4.81%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06-30 → 07-09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5502471460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06-29, 07-06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96.43%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(1)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11.24%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07-09 → 08-06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5502495107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07-13, 07-20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96.12%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Membrane (1), Other (1)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2.91%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07-30 → 08-12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5502512228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07-27, 08-03, 08-05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97.60%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(2), Bowel (1)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08-18 → 08-19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5502523269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08-10, 08-17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94.83%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Bowel (1)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5502512218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Thoracic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Nahunta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07-29, 08-05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17.65%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(22), Heart damage (6)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33.33%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08-17 → 08-17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5502523283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Thoracic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Nahunta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08-12, 08-19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19.05%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(20), Heart damage (15)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064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rows = July batches. 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figures are floor samples; ATM figures are the full received batch. “Days →” = SH inspection to first ATM scrap review (median ≈ 17).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at SH vs Scrap Rate at ATM by batch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· Chart-led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207008"/>
          <a:ext cx="1118311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50208"/>
          <a:ext cx="1118311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1325880"/>
                <a:gridCol w="868680"/>
                <a:gridCol w="3291840"/>
                <a:gridCol w="1234440"/>
                <a:gridCol w="1691640"/>
                <a:gridCol w="758952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Lot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· Tissue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dates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I/P/F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top defects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recv / scrap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review window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→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5502378434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04-13, 04-15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/ 60 / 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Other (2), Bowel damage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 / 24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 → 05-13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5502391862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04-20, 04-22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/ 56 / 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Bowel damage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 / 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05-21 → 05-21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5502404928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05-04, 05-06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/ 58 / 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(4)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 / 22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05-29 → 07-30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5502421192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05-18, 05-21, 05-27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 / 123 / 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(5), Membrane (2), Short block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 / 24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06-03 → 06-18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5502428786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06-01, 06-03, 06-08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/ 68 / 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(3)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 / 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06-18 → 06-24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5502462845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06-15, 06-24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/ 60 / 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(3), Bowel (1), Urethra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/ 13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06-30 → 07-09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5502471460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06-29, 07-06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/ 27 / 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 / 30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07-09 → 08-06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5502495107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07-13, 07-20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/ 99 / 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Membrane (1), Other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 / 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07-30 → 08-12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5502512228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07-27, 08-03, 08-05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/ 122 / 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(2), Bowel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 / 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08-18 → 08-19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5502523269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08-10, 08-17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/ 55 / 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Bowel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 / 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5502512218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 · Thoracic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07-29, 08-05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/ 6 / 28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(22), Heart damage (6)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08-17 → 08-17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5502523283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 · Thoracic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08-12, 08-19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/ 8 / 34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(20), Heart damage (15)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at SH vs Scrap Rate at ATM by batch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· Grouped + KPIs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621024" cy="1170432"/>
          </a:xfrm>
          <a:prstGeom prst="roundRect">
            <a:avLst>
              <a:gd name="adj" fmla="val 546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81051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matched SH → ATM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pelvic (Martins) + 2 thoracic (Nahunta)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297680" y="1207008"/>
            <a:ext cx="3621024" cy="1170432"/>
          </a:xfrm>
          <a:prstGeom prst="roundRect">
            <a:avLst>
              <a:gd name="adj" fmla="val 546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261872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97680" y="181051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SH → ATM review lag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0" y="202996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10–31 days on reviewed batches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092440" y="1207008"/>
            <a:ext cx="3621024" cy="1170432"/>
          </a:xfrm>
          <a:prstGeom prst="roundRect">
            <a:avLst>
              <a:gd name="adj" fmla="val 5469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261872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1.6–11.2%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092440" y="181051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scrap on SH-passed pelvic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92440" y="202996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33.3% on thoracic 5502512218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02920" y="26060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666541 @ MARTINS — 10 batches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62072"/>
          <a:ext cx="1118311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868680"/>
                <a:gridCol w="640080"/>
                <a:gridCol w="3291840"/>
                <a:gridCol w="1188720"/>
                <a:gridCol w="640080"/>
                <a:gridCol w="1463040"/>
                <a:gridCol w="758952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Lot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dates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I/P/F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FPY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top defects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recv/scrap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window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→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5502378434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04-13, 04-15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65/60/5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Other (2), Bowel damage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 / 24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 → 05-13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5502391862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04-20, 04-22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57/56/1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98.3%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Bowel damage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 / 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05-21 → 05-21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5502404928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05-04, 05-06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62/58/4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(4)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 / 22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05-29 → 07-30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5502421192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05-18, 05-21, 05-27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132/123/9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(5), Membrane (2), Short block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 / 24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06-03 → 06-18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5502428786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06-01, 06-03, 06-08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71/68/3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(3)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 / 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06-18 → 06-24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5502462845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06-15, 06-24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65/60/5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(3), Bowel (1), Urethra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/ 13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06-30 → 07-09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5502471460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06-29, 07-06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28/27/1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 / 30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07-09 → 08-06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5502495107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07-13, 07-20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103/99/4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Membrane (1), Other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 / 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07-30 → 08-12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5502512228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07-27, 08-03, 08-05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125/122/3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(2), Bowel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 / 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08-18 → 08-19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5502523269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08-10, 08-17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58/55/3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Bowel (1)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316 / 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02920" y="53492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666521 @ NAHUNTA — 2 batches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5605272"/>
          <a:ext cx="1118311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371600"/>
                <a:gridCol w="868680"/>
                <a:gridCol w="640080"/>
                <a:gridCol w="3291840"/>
                <a:gridCol w="1188720"/>
                <a:gridCol w="640080"/>
                <a:gridCol w="1463040"/>
                <a:gridCol w="758952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Lot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dates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I/P/F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FPY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top defects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recv/scrap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window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→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5502512218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07-29, 08-05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34/6/28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(22), Heart damage (6)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8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33.3%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08-17 → 08-17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5502523283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08-12, 08-19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42/8/34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19.1%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(20), Heart damage (15)</a:t>
                      </a:r>
                      <a:endParaRPr lang="en-US" sz="7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0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reasons for reject vs ATM reasons for reject (June – July)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· Refined tables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26464"/>
          <a:ext cx="544068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713232"/>
                <a:gridCol w="658368"/>
              </a:tblGrid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issue category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/ bladder damage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29.17%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block / mesentery length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22.92%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damage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14.58%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Bowel damage / separation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Critical-area laceration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Ureter damage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6.25%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/ unspecified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SH issues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19272"/>
          <a:ext cx="544068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713232"/>
                <a:gridCol w="658368"/>
              </a:tblGrid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code · reason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9972 · Laceration/Cut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9988 · Exposed Urethra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14.93%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9991 · R&amp;D/Testing*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14.93%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9987 · Blood Clots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13.43%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 · Destructive Testing (eng/R&amp;D)*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10.45%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9986 · Bladder Length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9983 · Incorrect Dimensions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9976 · Spoilage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9973 · Out of Spec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9995 · Received Damage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9994 · Line Clearance*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ATM scrapped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quality defects only (excl. *)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263640" y="115214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</a:t>
            </a:r>
            <a:endParaRPr lang="en-US" sz="125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426464"/>
          <a:ext cx="544068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713232"/>
                <a:gridCol w="658368"/>
              </a:tblGrid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issue category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84.62%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damage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15.38%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/ unspecified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SH issues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606040"/>
          <a:ext cx="544068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713232"/>
                <a:gridCol w="658368"/>
              </a:tblGrid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code · reason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9972 · Laceration/Cut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98.53%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1220 · Destructive Testing (eng/R&amp;D)*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9985 · Tech Damaged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Others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9973 · Out of Spec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1201 · Tech Performance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9984 · Partial Qty</a:t>
                      </a:r>
                      <a:endParaRPr lang="en-US" sz="8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ATM scrapped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quality defects only (excl. *)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b="1" dirty="0">
                          <a:solidFill>
                            <a:srgbClr val="0E74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6263640" y="475488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E0F2F7"/>
          </a:solidFill>
          <a:ln/>
        </p:spPr>
      </p:sp>
      <p:sp>
        <p:nvSpPr>
          <p:cNvPr id="12" name="Text 6"/>
          <p:cNvSpPr/>
          <p:nvPr/>
        </p:nvSpPr>
        <p:spPr>
          <a:xfrm>
            <a:off x="6428232" y="48463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6428232" y="5084064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categories are floor-inspection scrap reasons; ATM reasons are SAP codes at receipt review. * = planned/process withdrawal (Destructive Testing, R&amp;D, Line Clearance) — excluded from the quality-only subtotal.</a:t>
            </a:r>
            <a:endParaRPr lang="en-US" sz="880" dirty="0"/>
          </a:p>
        </p:txBody>
      </p:sp>
      <p:sp>
        <p:nvSpPr>
          <p:cNvPr id="14" name="Text 8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reasons for reject vs ATM reasons for reject (June – July)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· Chart-led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4264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issues — 48 total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645920"/>
          <a:ext cx="53949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263640" y="14264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scrap — 67 total · 50 quality-only</a:t>
            </a:r>
            <a:endParaRPr lang="en-US" sz="10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6263640" y="1645920"/>
          <a:ext cx="53949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02920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02920" y="39319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issues — 13 total</a:t>
            </a:r>
            <a:endParaRPr lang="en-US" sz="10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502920" y="4151376"/>
          <a:ext cx="53949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6263640" y="39319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scrap — 68 total · 67 quality-only</a:t>
            </a:r>
            <a:endParaRPr lang="en-US" sz="1000" dirty="0"/>
          </a:p>
        </p:txBody>
      </p:sp>
      <p:graphicFrame>
        <p:nvGraphicFramePr>
          <p:cNvPr id="14" name="Chart 3" descr=""/>
          <p:cNvGraphicFramePr/>
          <p:nvPr/>
        </p:nvGraphicFramePr>
        <p:xfrm>
          <a:off x="6263640" y="4151376"/>
          <a:ext cx="53949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 9"/>
          <p:cNvSpPr/>
          <p:nvPr/>
        </p:nvSpPr>
        <p:spPr>
          <a:xfrm>
            <a:off x="502920" y="598932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planned/process withdrawal (Destructive Testing, R&amp;D, Line Clearance) — not a harvest-quality defect.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JULY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reasons for reject vs ATM reasons for reject (June – July)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509760" y="274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· Matched-pair callouts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11183112" cy="1481328"/>
          </a:xfrm>
          <a:prstGeom prst="roundRect">
            <a:avLst>
              <a:gd name="adj" fmla="val 432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98448"/>
            <a:ext cx="1085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609344"/>
            <a:ext cx="5362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#1: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Urethra / bladder damage — 14 (29.2%)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6587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68796" y="1609344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#1: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9972 · Laceration/Cut — 27 (40.3%)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7512" y="234086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— SH 48 issues  ·  ATM 67 scrapped (50 quality-only)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11183112" cy="1481328"/>
          </a:xfrm>
          <a:prstGeom prst="roundRect">
            <a:avLst>
              <a:gd name="adj" fmla="val 4321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2889504"/>
            <a:ext cx="1085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67512" y="3200400"/>
            <a:ext cx="5362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#1: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laceration — 11 (84.6%)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65876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68796" y="3200400"/>
            <a:ext cx="51343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#1:  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9972 · Laceration/Cut — 67 (98.5%)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7512" y="3931920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— SH 13 issues  ·  ATM 68 scrapped (67 quality-only)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4480560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— SH detail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4700016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Urethra / bladder damage 14 (29.17%)  ·  Short block / mesentery length 11 (22.92%)  ·  Membrane damage 7 (14.58%)  ·  Bowel damage / separation 6 (12.50%)  ·  Critical-area laceration 6 (12.50%)  ·  Ureter damage 3 (6.25%)  ·  Other / unspecified 1 (2.08%)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6263640" y="4480560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— ATM detail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4700016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9972 · Laceration/Cut 27 (40.30%)  ·  9988 · Exposed Urethra 10 (14.93%)  ·  9991 · R&amp;D/Testing* 10 (14.93%)  ·  9987 · Blood Clots 9 (13.43%)  ·  1220 · Destructive Testing (eng/R&amp;D)* 7 (10.45%)  ·  9986 · Bladder Length 2 (2.99%)  ·  9983 · Incorrect Dimensions 1 (1.49%)  ·  9976 · Spoilage 1 (1.49%)   —  zero this window: 9973 · Out of Spec, 9995 · Received Damage, 9994 · Line Clearance*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02920" y="5440680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— SH detail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5660136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laceration 11 (84.62%)  ·  Heart damage 2 (15.38%)   —  zero this window: Other / unspecified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263640" y="5440680"/>
            <a:ext cx="5440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— ATM detail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63640" y="5660136"/>
            <a:ext cx="544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9972 · Laceration/Cut 67 (98.53%)  ·  1220 · Destructive Testing (eng/R&amp;D)* 1 (1.47%)   —  zero this window: 9985 · Tech Damaged, 7 · Others, 9973 · Out of Spec, 1201 · Tech Performance, 9984 · Partial Qty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502920" y="626364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planned/process withdrawal — not a harvest-quality defect.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2026-08-20T17:46:19Z</dcterms:created>
  <dcterms:modified xsi:type="dcterms:W3CDTF">2026-08-20T17:46:19Z</dcterms:modified>
</cp:coreProperties>
</file>