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PVA Second-Source Supplier Qualification</a:t>
            </a:r>
          </a:p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BDD7EE"/>
                </a:solidFill>
                <a:latin typeface="Calibri"/>
              </a:rPr>
              <a:t>Status, Economics &amp;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Removing single-source dependency on SNP for our liquid PVA solution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9DC3E6"/>
                </a:solidFill>
                <a:latin typeface="Calibri"/>
              </a:rPr>
              <a:t>Oscar Penny  |  2026-06-27  |  In Progress — front-runner identified (CJB); APV in competition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Problem: Single-Source Dependency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6583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b="1" sz="1600">
                <a:solidFill>
                  <a:srgbClr val="1F4E78"/>
                </a:solidFill>
                <a:latin typeface="Calibri"/>
              </a:rPr>
              <a:t>• SNP is our only supplier </a:t>
            </a:r>
            <a:r>
              <a:rPr sz="1600">
                <a:solidFill>
                  <a:srgbClr val="595959"/>
                </a:solidFill>
                <a:latin typeface="Calibri"/>
              </a:rPr>
              <a:t>of liquid PVA today. A disruption (capacity, quality, continuity) stops supply with no qualified backup.</a:t>
            </a:r>
          </a:p>
          <a:p>
            <a:pPr algn="l">
              <a:spcAft>
                <a:spcPts val="1400"/>
              </a:spcAft>
            </a:pPr>
            <a:r>
              <a:rPr b="1" sz="1600">
                <a:solidFill>
                  <a:srgbClr val="1F4E78"/>
                </a:solidFill>
                <a:latin typeface="Calibri"/>
              </a:rPr>
              <a:t>• It's a 'bottleneck' item </a:t>
            </a:r>
            <a:r>
              <a:rPr sz="1600">
                <a:solidFill>
                  <a:srgbClr val="595959"/>
                </a:solidFill>
                <a:latin typeface="Calibri"/>
              </a:rPr>
              <a:t>— low annual spend, but high supply risk. Manage as RISK, not cost.</a:t>
            </a:r>
          </a:p>
          <a:p>
            <a:pPr algn="l">
              <a:spcAft>
                <a:spcPts val="1400"/>
              </a:spcAft>
            </a:pPr>
            <a:r>
              <a:rPr b="1" sz="1600">
                <a:solidFill>
                  <a:srgbClr val="1F4E78"/>
                </a:solidFill>
                <a:latin typeface="Calibri"/>
              </a:rPr>
              <a:t>• No inventory buffer </a:t>
            </a:r>
            <a:r>
              <a:rPr sz="1600">
                <a:solidFill>
                  <a:srgbClr val="595959"/>
                </a:solidFill>
                <a:latin typeface="Calibri"/>
              </a:rPr>
              <a:t>— 18-day shelf life means it's made fresh to order; nothing on the shelf absorbs a gap.</a:t>
            </a:r>
          </a:p>
          <a:p>
            <a:pPr algn="l">
              <a:spcAft>
                <a:spcPts val="1400"/>
              </a:spcAft>
            </a:pPr>
            <a:r>
              <a:rPr b="1" sz="1600">
                <a:solidFill>
                  <a:srgbClr val="1F4E78"/>
                </a:solidFill>
                <a:latin typeface="Calibri"/>
              </a:rPr>
              <a:t>• Objective </a:t>
            </a:r>
            <a:r>
              <a:rPr sz="1600">
                <a:solidFill>
                  <a:srgbClr val="595959"/>
                </a:solidFill>
                <a:latin typeface="Calibri"/>
              </a:rPr>
              <a:t>— qualify a backup toll blender able to make the solution to spec, in 55-gal drums, as a lower-volume second source.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1371600"/>
            <a:ext cx="4206240" cy="420624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645920"/>
            <a:ext cx="374903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F4E78"/>
                </a:solidFill>
                <a:latin typeface="Calibri"/>
              </a:rPr>
              <a:t>Why now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•  Sole-source = unmanaged continuity risk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•  Post-2020 norm: dual-source critical inputs (McKinsey: ~78%)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•  A qualified 2nd source is cheap insurance vs. a line-down event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Product — and the One Hard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The product </a:t>
            </a:r>
            <a:r>
              <a:rPr sz="1500">
                <a:solidFill>
                  <a:srgbClr val="595959"/>
                </a:solidFill>
                <a:latin typeface="Calibri"/>
              </a:rPr>
              <a:t>— aqueous, super-hydrolyzed high-MW PVA solution (Selvol S-1551F-D class) + a little NaCl &amp; pigment, 10–12% solids.</a:t>
            </a:r>
          </a:p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Defining step </a:t>
            </a:r>
            <a:r>
              <a:rPr sz="1500">
                <a:solidFill>
                  <a:srgbClr val="595959"/>
                </a:solidFill>
                <a:latin typeface="Calibri"/>
              </a:rPr>
              <a:t>— a high-temperature dissolution cook, confirmed by our bench process and the resin makers.</a:t>
            </a:r>
          </a:p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Acceptance </a:t>
            </a:r>
            <a:r>
              <a:rPr sz="1500">
                <a:solidFill>
                  <a:srgbClr val="595959"/>
                </a:solidFill>
                <a:latin typeface="Calibri"/>
              </a:rPr>
              <a:t>— solids 10–12%; Brookfield spindle #3 / 10 RPM / 25 °C; CoC per shipment.</a:t>
            </a:r>
          </a:p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Open spec </a:t>
            </a:r>
            <a:r>
              <a:rPr sz="1500">
                <a:solidFill>
                  <a:srgbClr val="595959"/>
                </a:solidFill>
                <a:latin typeface="Calibri"/>
              </a:rPr>
              <a:t>— viscosity target/tolerance, to be set from SNP CoA history.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371600"/>
            <a:ext cx="4846320" cy="292608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160020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Calibri"/>
              </a:rPr>
              <a:t>THE GATE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4E78"/>
                </a:solidFill>
                <a:latin typeface="Calibri"/>
              </a:rPr>
              <a:t>Hold a full batch at 90–95 °C (194–203 °F) for 30–45 min under agitation.</a:t>
            </a:r>
          </a:p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595959"/>
                </a:solidFill>
                <a:latin typeface="Calibri"/>
              </a:rPr>
              <a:t>This single requirement separates viable suppliers from the rest.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4480560"/>
            <a:ext cx="4846320" cy="15544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461772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F4E78"/>
                </a:solidFill>
                <a:latin typeface="Calibri"/>
              </a:rPr>
              <a:t>Also required: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Jacketed 316L tank · agitation w/o fisheyes · cool to ≤40 °C · 200-micron filter · drum fill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Demand &amp;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2651760" cy="164592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2468879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4E78"/>
                </a:solidFill>
                <a:latin typeface="Calibri"/>
              </a:rPr>
              <a:t>1,300 lb/wk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Total demand (~2.9 drums/wk)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188720"/>
            <a:ext cx="2651760" cy="164592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325880"/>
            <a:ext cx="2468879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4E78"/>
                </a:solidFill>
                <a:latin typeface="Calibri"/>
              </a:rPr>
              <a:t>~150 / yr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Drums per year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2651760" cy="164592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1325880"/>
            <a:ext cx="2468879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4E78"/>
                </a:solidFill>
                <a:latin typeface="Calibri"/>
              </a:rPr>
              <a:t>$50,700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Baseline all-SNP / yr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1188720"/>
            <a:ext cx="2560320" cy="164592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325880"/>
            <a:ext cx="2377439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4E78"/>
                </a:solidFill>
                <a:latin typeface="Calibri"/>
              </a:rPr>
              <a:t>$0.75 / lb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SNP price ($337.50/drum)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163824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DECIDED PLAN — 1 drum/week to the second source (~35% of volume)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49039"/>
            <a:ext cx="3566160" cy="15544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86200"/>
            <a:ext cx="338327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376E37"/>
                </a:solidFill>
                <a:latin typeface="Calibri"/>
              </a:rPr>
              <a:t>52 drums/yr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To 2nd source (34.6%) ≈ $26,325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749039"/>
            <a:ext cx="3566160" cy="15544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3886200"/>
            <a:ext cx="338327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4E78"/>
                </a:solidFill>
                <a:latin typeface="Calibri"/>
              </a:rPr>
              <a:t>~98 drums/yr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SNP retained ≈ $33,150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3749039"/>
            <a:ext cx="3566160" cy="15544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3886200"/>
            <a:ext cx="338327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9C7706"/>
                </a:solidFill>
                <a:latin typeface="Calibri"/>
              </a:rPr>
              <a:t>+$8,800/yr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Redundancy premium (+17%)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5321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The premium is the cost of insurance against single-source failure. A ~35% allocation (vs. 20–25%) keeps the 2nd source genuinely practiced given the short shelf life — trade-off: more volume pulled from SNP. (Price = +50% small-batch assumption until a real quote lands.)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Supplier Screening — US Field to Shortlist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595959"/>
                </a:solidFill>
                <a:latin typeface="Calibri"/>
              </a:rPr>
              <a:t>Two filters: (1) can hold the 90–95 °C cook  →  (2) right-sized for ~1 drum/wk under 18-day shelf life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658368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37943"/>
            <a:ext cx="6400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4E78"/>
                </a:solidFill>
                <a:latin typeface="Calibri"/>
              </a:rPr>
              <a:t>CJB Applied Technologies — Valdosta, GA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0" y="1783080"/>
            <a:ext cx="329184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837943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Front-runner (interviewed 06/26)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07040" y="1783080"/>
            <a:ext cx="1005840" cy="566928"/>
          </a:xfrm>
          <a:prstGeom prst="rect">
            <a:avLst/>
          </a:prstGeom>
          <a:solidFill>
            <a:srgbClr val="376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0" y="1837943"/>
            <a:ext cx="10058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441448"/>
            <a:ext cx="658368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496312"/>
            <a:ext cx="6400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4E78"/>
                </a:solidFill>
                <a:latin typeface="Calibri"/>
              </a:rPr>
              <a:t>APV Engineered Coatings — Akron, OH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2441448"/>
            <a:ext cx="329184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0" y="2496312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Engaged — pricing requested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07040" y="2441448"/>
            <a:ext cx="1005840" cy="566928"/>
          </a:xfrm>
          <a:prstGeom prst="rect">
            <a:avLst/>
          </a:prstGeom>
          <a:solidFill>
            <a:srgbClr val="9C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2496312"/>
            <a:ext cx="10058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Re-confirm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99815"/>
            <a:ext cx="658368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154679"/>
            <a:ext cx="6400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4E78"/>
                </a:solidFill>
                <a:latin typeface="Calibri"/>
              </a:rPr>
              <a:t>Piedmont Chemical / Columbus (CCI)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0" y="3099815"/>
            <a:ext cx="329184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0" y="3154679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Held in reserve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07040" y="3099815"/>
            <a:ext cx="1005840" cy="56692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07040" y="3154679"/>
            <a:ext cx="10058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Yes / confirm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58183"/>
            <a:ext cx="658368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813047"/>
            <a:ext cx="6400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4E78"/>
                </a:solidFill>
                <a:latin typeface="Calibri"/>
              </a:rPr>
              <a:t>CORECHEM — Knoxville, TN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23760" y="3758183"/>
            <a:ext cx="329184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3813047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Reserve — 250-gal min vs shelf life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07040" y="3758183"/>
            <a:ext cx="1005840" cy="566928"/>
          </a:xfrm>
          <a:prstGeom prst="rect">
            <a:avLst/>
          </a:prstGeom>
          <a:solidFill>
            <a:srgbClr val="9C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0" y="3813047"/>
            <a:ext cx="10058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Confirm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416551"/>
            <a:ext cx="658368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471415"/>
            <a:ext cx="6400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4E78"/>
                </a:solidFill>
                <a:latin typeface="Calibri"/>
              </a:rPr>
              <a:t>ArroChem — Mt. Holly, NC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3760" y="4416551"/>
            <a:ext cx="329184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0" y="4471415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ELIMINATED — 85 °C ceiling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07040" y="4416551"/>
            <a:ext cx="1005840" cy="56692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07040" y="4471415"/>
            <a:ext cx="10058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NO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074919"/>
            <a:ext cx="658368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129783"/>
            <a:ext cx="6400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4E78"/>
                </a:solidFill>
                <a:latin typeface="Calibri"/>
              </a:rPr>
              <a:t>ILC Dover — Frederica, DE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3760" y="5074919"/>
            <a:ext cx="329184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0" y="5129783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ELIMINATED — wrong category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07040" y="5074919"/>
            <a:ext cx="1005840" cy="56692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07040" y="5129783"/>
            <a:ext cx="10058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NO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9436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Dropped (too large / MOQ): Goulston, 3V Sigma, Royal (220-gal MOQ), Columbia. Resin producers (Sekisui/Kuraray) won't sell direct at this volume.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Why We Are Advancing APV and CJB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4E78"/>
                </a:solidFill>
                <a:latin typeface="Calibri"/>
              </a:rPr>
              <a:t>They are the only two that clear ALL three conditions that matter for this account: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3566160" cy="11430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338327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4E78"/>
                </a:solidFill>
                <a:latin typeface="Calibri"/>
              </a:rPr>
              <a:t>Capability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Can hold the 90–95 °C cook (the disqualifier for others)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691640"/>
            <a:ext cx="3566160" cy="11430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338327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4E78"/>
                </a:solidFill>
                <a:latin typeface="Calibri"/>
              </a:rPr>
              <a:t>Batch fit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Small batches — right-sized for ~1 drum/wk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1691640"/>
            <a:ext cx="3566160" cy="11430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38327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4E78"/>
                </a:solidFill>
                <a:latin typeface="Calibri"/>
              </a:rPr>
              <a:t>Willingness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Genuinely want a low-volume account others decline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08960"/>
            <a:ext cx="5440680" cy="329184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24612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376E37"/>
                </a:solidFill>
                <a:latin typeface="Calibri"/>
              </a:rPr>
              <a:t>CJB — FRONT-RUNNER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Gate CLEARED in interview: 90–95 °C for 45 min–1 hr, jacketed 316L, no fisheyes, cools ≤40 °C, prior HMW-PVA experience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40-gal min / will do a single drum; lab-batch for qual; 3–4 day lead (or overnight)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Bonus: ex-Lonza (Proxel) formulator on staff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Open: NDA on process (McC); firm pricing not yet quoted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108960"/>
            <a:ext cx="5440680" cy="329184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324612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2E75B6"/>
                </a:solidFill>
                <a:latin typeface="Calibri"/>
              </a:rPr>
              <a:t>APV — STRONG SECOND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Engaged &amp; interested; very small batches (from 5 gal)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Pigment-dispersion specialty (useful for our colorants); ISO 9001 / EPA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Asked for pricing early — sizing the account economics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Open: re-confirm 90–95 °C hold; send pricing envelope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Why Keep Both Warm — Low-Volume Leverage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b="1" sz="1600">
                <a:solidFill>
                  <a:srgbClr val="1F4E78"/>
                </a:solidFill>
                <a:latin typeface="Calibri"/>
              </a:rPr>
              <a:t>• We are a small, low-attractiveness account </a:t>
            </a:r>
            <a:r>
              <a:rPr sz="1600">
                <a:solidFill>
                  <a:srgbClr val="595959"/>
                </a:solidFill>
                <a:latin typeface="Calibri"/>
              </a:rPr>
              <a:t>(Kraljic 'bottleneck'; likely a 'nuisance' account to a blender). Our structural negotiating leverage is weak.</a:t>
            </a:r>
          </a:p>
          <a:p>
            <a:pPr algn="l">
              <a:spcAft>
                <a:spcPts val="1400"/>
              </a:spcAft>
            </a:pPr>
            <a:r>
              <a:rPr b="1" sz="1600">
                <a:solidFill>
                  <a:srgbClr val="1F4E78"/>
                </a:solidFill>
                <a:latin typeface="Calibri"/>
              </a:rPr>
              <a:t>• Two qualified, interested suppliers is the single best lever </a:t>
            </a:r>
            <a:r>
              <a:rPr sz="1600">
                <a:solidFill>
                  <a:srgbClr val="595959"/>
                </a:solidFill>
                <a:latin typeface="Calibri"/>
              </a:rPr>
              <a:t>we have — it disciplines pricing and protects continuity without overplaying a volume we don't have.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657600"/>
            <a:ext cx="11064240" cy="4114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How we play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0624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b="1" sz="1400">
                <a:solidFill>
                  <a:srgbClr val="1F4E78"/>
                </a:solidFill>
                <a:latin typeface="Calibri"/>
              </a:rPr>
              <a:t>• Sell the relationship, not the volume </a:t>
            </a:r>
            <a:r>
              <a:rPr sz="1400">
                <a:solidFill>
                  <a:srgbClr val="595959"/>
                </a:solidFill>
                <a:latin typeface="Calibri"/>
              </a:rPr>
              <a:t>— qualified, recurring, blue-chip, low-touch, room to grow.</a:t>
            </a:r>
          </a:p>
          <a:p>
            <a:pPr algn="l">
              <a:spcAft>
                <a:spcPts val="900"/>
              </a:spcAft>
            </a:pPr>
            <a:r>
              <a:rPr b="1" sz="1400">
                <a:solidFill>
                  <a:srgbClr val="1F4E78"/>
                </a:solidFill>
                <a:latin typeface="Calibri"/>
              </a:rPr>
              <a:t>• Quote per drum as a recurring rotation </a:t>
            </a:r>
            <a:r>
              <a:rPr sz="1400">
                <a:solidFill>
                  <a:srgbClr val="595959"/>
                </a:solidFill>
                <a:latin typeface="Calibri"/>
              </a:rPr>
              <a:t>— avoid the small-annual-number anchor that triggers nuisance pricing.</a:t>
            </a:r>
          </a:p>
          <a:p>
            <a:pPr algn="l">
              <a:spcAft>
                <a:spcPts val="900"/>
              </a:spcAft>
            </a:pPr>
            <a:r>
              <a:rPr b="1" sz="1400">
                <a:solidFill>
                  <a:srgbClr val="1F4E78"/>
                </a:solidFill>
                <a:latin typeface="Calibri"/>
              </a:rPr>
              <a:t>• Use the Intuitive name for credibility </a:t>
            </a:r>
            <a:r>
              <a:rPr sz="1400">
                <a:solidFill>
                  <a:srgbClr val="595959"/>
                </a:solidFill>
                <a:latin typeface="Calibri"/>
              </a:rPr>
              <a:t>— but set volume expectations at the division level so quotes stay realistic.</a:t>
            </a:r>
          </a:p>
          <a:p>
            <a:pPr algn="l">
              <a:spcAft>
                <a:spcPts val="900"/>
              </a:spcAft>
            </a:pPr>
            <a:r>
              <a:rPr b="1" sz="1400">
                <a:solidFill>
                  <a:srgbClr val="1F4E78"/>
                </a:solidFill>
                <a:latin typeface="Calibri"/>
              </a:rPr>
              <a:t>• Advance CJB as front-runner; keep APV in genuine competition </a:t>
            </a:r>
            <a:r>
              <a:rPr sz="1400">
                <a:solidFill>
                  <a:srgbClr val="595959"/>
                </a:solidFill>
                <a:latin typeface="Calibri"/>
              </a:rPr>
              <a:t>— not as a courtesy.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Quality &amp; Regulatory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FDA QMSR in force (2026-02-02) </a:t>
            </a:r>
            <a:r>
              <a:rPr sz="1500">
                <a:solidFill>
                  <a:srgbClr val="595959"/>
                </a:solidFill>
                <a:latin typeface="Calibri"/>
              </a:rPr>
              <a:t>— incorporates ISO 13485:2016 by reference. Supplier controls follow ISO 13485 §7.4 (Purchasing), not the legacy 21 CFR 820.50.</a:t>
            </a:r>
          </a:p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Qualification </a:t>
            </a:r>
            <a:r>
              <a:rPr sz="1500">
                <a:solidFill>
                  <a:srgbClr val="595959"/>
                </a:solidFill>
                <a:latin typeface="Calibri"/>
              </a:rPr>
              <a:t>— risk-proportionate supplier evaluation, monitoring, re-evaluation (§7.4.1); build on GHTF/SG3/N17 methodology with a Carter's 10 Cs scorecard.</a:t>
            </a:r>
          </a:p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Supplier Quality Agreement </a:t>
            </a:r>
            <a:r>
              <a:rPr sz="1500">
                <a:solidFill>
                  <a:srgbClr val="595959"/>
                </a:solidFill>
                <a:latin typeface="Calibri"/>
              </a:rPr>
              <a:t>— specs/acceptance, advance change-notification, right-to-audit. Connects to CJB's NDA-on-process step.</a:t>
            </a:r>
          </a:p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Classification </a:t>
            </a:r>
            <a:r>
              <a:rPr sz="1500">
                <a:solidFill>
                  <a:srgbClr val="595959"/>
                </a:solidFill>
                <a:latin typeface="Calibri"/>
              </a:rPr>
              <a:t>— confirm before invoking ICH Q7 (applies only if API / drug-GMP).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Open Items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640080" cy="6400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1371600"/>
            <a:ext cx="6949440" cy="6400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1435608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4E78"/>
                </a:solidFill>
                <a:latin typeface="Calibri"/>
              </a:rPr>
              <a:t>Pull SNP CoA history → finalize viscosity &amp; pH targets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1371600"/>
            <a:ext cx="3291840" cy="640080"/>
          </a:xfrm>
          <a:prstGeom prst="rect">
            <a:avLst/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435608"/>
            <a:ext cx="3200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Highest leverage — gates any firm quote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21408"/>
            <a:ext cx="640080" cy="6400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231136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2121408"/>
            <a:ext cx="6949440" cy="6400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2185415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4E78"/>
                </a:solidFill>
                <a:latin typeface="Calibri"/>
              </a:rPr>
              <a:t>CJB NDA on process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2121408"/>
            <a:ext cx="3291840" cy="640080"/>
          </a:xfrm>
          <a:prstGeom prst="rect">
            <a:avLst/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185415"/>
            <a:ext cx="3200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In work — McC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871215"/>
            <a:ext cx="640080" cy="6400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980944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2871215"/>
            <a:ext cx="6949440" cy="6400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2935223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4E78"/>
                </a:solidFill>
                <a:latin typeface="Calibri"/>
              </a:rPr>
              <a:t>Send CJB full spec + RFQ (Option A &amp; B, per-drum)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2871215"/>
            <a:ext cx="3291840" cy="640080"/>
          </a:xfrm>
          <a:prstGeom prst="rect">
            <a:avLst/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2935223"/>
            <a:ext cx="3200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After NDA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621023"/>
            <a:ext cx="640080" cy="6400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730751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621023"/>
            <a:ext cx="6949440" cy="6400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3685031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4E78"/>
                </a:solidFill>
                <a:latin typeface="Calibri"/>
              </a:rPr>
              <a:t>Re-confirm APV 90–95 °C; send pricing benchmark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40" y="3621023"/>
            <a:ext cx="3291840" cy="640080"/>
          </a:xfrm>
          <a:prstGeom prst="rect">
            <a:avLst/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3685031"/>
            <a:ext cx="3200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Open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370831"/>
            <a:ext cx="640080" cy="6400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480559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80160" y="4370831"/>
            <a:ext cx="6949440" cy="6400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7320" y="4434840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4E78"/>
                </a:solidFill>
                <a:latin typeface="Calibri"/>
              </a:rPr>
              <a:t>Execute Supplier Quality Agreement with selected source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21040" y="4370831"/>
            <a:ext cx="3291840" cy="640080"/>
          </a:xfrm>
          <a:prstGeom prst="rect">
            <a:avLst/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4434840"/>
            <a:ext cx="3200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After award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120640"/>
            <a:ext cx="640080" cy="6400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230368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5120640"/>
            <a:ext cx="6949440" cy="6400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17320" y="5184648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4E78"/>
                </a:solidFill>
                <a:latin typeface="Calibri"/>
              </a:rPr>
              <a:t>Keep Piedmont / Columbus in reserve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1040" y="5120640"/>
            <a:ext cx="3291840" cy="640080"/>
          </a:xfrm>
          <a:prstGeom prst="rect">
            <a:avLst/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0" y="5184648"/>
            <a:ext cx="3200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Standby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Detail in PVA_Second_Source_Report.docx and PVA_Second_Source_Pricing_Model.xlsx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Advance CJB as front-runner — hard gate cleared, ideal small-batch fit, fast lead time.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Keep APV in active competition — capable, interested, and our pricing leverage.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Award the second source ~1 drum/week (~35%) at a ~$8.8k/yr redundancy premium.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Unblock the two gating items: SNP CoA viscosity target, and the CJB NDA.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