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PVA Second-Source Supplier Qualification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BDD7EE"/>
                </a:solidFill>
                <a:latin typeface="Calibri"/>
              </a:rPr>
              <a:t>Status, Economics &amp;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Removing single-source dependency on SNP for our liquid PVA solution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Calibri"/>
              </a:rPr>
              <a:t>Oscar Penny  |  2026-06-27  |  In Progress — CJB &amp; APV engaged; this deck shows the COST of a second source across scenarios (nothing decided)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Problem: Single-Source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b="1" sz="1600">
                <a:solidFill>
                  <a:srgbClr val="1F4E78"/>
                </a:solidFill>
                <a:latin typeface="Calibri"/>
              </a:rPr>
              <a:t>• SNP is our only supplier </a:t>
            </a:r>
            <a:r>
              <a:rPr sz="1600">
                <a:solidFill>
                  <a:srgbClr val="595959"/>
                </a:solidFill>
                <a:latin typeface="Calibri"/>
              </a:rPr>
              <a:t>of liquid PVA today. A disruption (capacity, quality, continuity) stops supply with no qualified backup.</a:t>
            </a:r>
          </a:p>
          <a:p>
            <a:pPr algn="l">
              <a:spcAft>
                <a:spcPts val="1400"/>
              </a:spcAft>
            </a:pPr>
            <a:r>
              <a:rPr b="1" sz="1600">
                <a:solidFill>
                  <a:srgbClr val="1F4E78"/>
                </a:solidFill>
                <a:latin typeface="Calibri"/>
              </a:rPr>
              <a:t>• It's a 'bottleneck' item </a:t>
            </a:r>
            <a:r>
              <a:rPr sz="1600">
                <a:solidFill>
                  <a:srgbClr val="595959"/>
                </a:solidFill>
                <a:latin typeface="Calibri"/>
              </a:rPr>
              <a:t>— low annual spend, but high supply risk. Manage as RISK, not cost.</a:t>
            </a:r>
          </a:p>
          <a:p>
            <a:pPr algn="l">
              <a:spcAft>
                <a:spcPts val="1400"/>
              </a:spcAft>
            </a:pPr>
            <a:r>
              <a:rPr b="1" sz="1600">
                <a:solidFill>
                  <a:srgbClr val="1F4E78"/>
                </a:solidFill>
                <a:latin typeface="Calibri"/>
              </a:rPr>
              <a:t>• No inventory buffer </a:t>
            </a:r>
            <a:r>
              <a:rPr sz="1600">
                <a:solidFill>
                  <a:srgbClr val="595959"/>
                </a:solidFill>
                <a:latin typeface="Calibri"/>
              </a:rPr>
              <a:t>— 18-day shelf life means it's made fresh to order; nothing on the shelf absorbs a gap.</a:t>
            </a:r>
          </a:p>
          <a:p>
            <a:pPr algn="l">
              <a:spcAft>
                <a:spcPts val="1400"/>
              </a:spcAft>
            </a:pPr>
            <a:r>
              <a:rPr b="1" sz="1600">
                <a:solidFill>
                  <a:srgbClr val="1F4E78"/>
                </a:solidFill>
                <a:latin typeface="Calibri"/>
              </a:rPr>
              <a:t>• Objective </a:t>
            </a:r>
            <a:r>
              <a:rPr sz="1600">
                <a:solidFill>
                  <a:srgbClr val="595959"/>
                </a:solidFill>
                <a:latin typeface="Calibri"/>
              </a:rPr>
              <a:t>— qualify a backup toll blender able to make the solution to spec, in 55-gal drums, as a lower-volume second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371600"/>
            <a:ext cx="4206240" cy="42062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459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4E78"/>
                </a:solidFill>
                <a:latin typeface="Calibri"/>
              </a:rPr>
              <a:t>Why now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•  Sole-source = unmanaged continuity risk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•  Post-2020 norm: dual-source critical inputs (McKinsey: ~78%)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•  A qualified 2nd source is cheap insurance vs. a line-down event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Product — and the One Hard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The product </a:t>
            </a:r>
            <a:r>
              <a:rPr sz="1500">
                <a:solidFill>
                  <a:srgbClr val="595959"/>
                </a:solidFill>
                <a:latin typeface="Calibri"/>
              </a:rPr>
              <a:t>— aqueous, super-hydrolyzed high-MW PVA solution (Selvol S-1551F-D class) + a little NaCl &amp; pigment, 10–12% solids.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Defining step </a:t>
            </a:r>
            <a:r>
              <a:rPr sz="1500">
                <a:solidFill>
                  <a:srgbClr val="595959"/>
                </a:solidFill>
                <a:latin typeface="Calibri"/>
              </a:rPr>
              <a:t>— a high-temperature dissolution cook, confirmed by our bench process and the resin makers.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Acceptance </a:t>
            </a:r>
            <a:r>
              <a:rPr sz="1500">
                <a:solidFill>
                  <a:srgbClr val="595959"/>
                </a:solidFill>
                <a:latin typeface="Calibri"/>
              </a:rPr>
              <a:t>— solids 10–12%; Brookfield spindle #3 / 10 RPM / 25 °C; CoC per shipment.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Open spec </a:t>
            </a:r>
            <a:r>
              <a:rPr sz="1500">
                <a:solidFill>
                  <a:srgbClr val="595959"/>
                </a:solidFill>
                <a:latin typeface="Calibri"/>
              </a:rPr>
              <a:t>— viscosity target/tolerance, to be set from SNP CoA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4846320" cy="2926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THE GATE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4E78"/>
                </a:solidFill>
                <a:latin typeface="Calibri"/>
              </a:rPr>
              <a:t>Hold a full batch at 90–95 °C (194–203 °F) for 30–45 min under agitation.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This single requirement separates viable suppliers from the 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4480560"/>
            <a:ext cx="4846320" cy="1554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4617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4E78"/>
                </a:solidFill>
                <a:latin typeface="Calibri"/>
              </a:rPr>
              <a:t>Also required: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Jacketed 316L tank · agitation w/o fisheyes · cool to ≤40 °C · 200-micron filter · drum fill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Cost of Keeping a Second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2651760" cy="13716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4688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4E78"/>
                </a:solidFill>
                <a:latin typeface="Calibri"/>
              </a:rPr>
              <a:t>1,300 lb/wk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Total demand (~2.9 drums/wk)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43000"/>
            <a:ext cx="2651760" cy="13716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24688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4E78"/>
                </a:solidFill>
                <a:latin typeface="Calibri"/>
              </a:rPr>
              <a:t>~150 / yr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Drums per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2651760" cy="13716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280160"/>
            <a:ext cx="24688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4E78"/>
                </a:solidFill>
                <a:latin typeface="Calibri"/>
              </a:rPr>
              <a:t>$50,700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Baseline all-SNP / 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143000"/>
            <a:ext cx="2560320" cy="13716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280160"/>
            <a:ext cx="237743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4E78"/>
                </a:solidFill>
                <a:latin typeface="Calibri"/>
              </a:rPr>
              <a:t>$0.75 / lb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SNP $337.50/drum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4E78"/>
                </a:solidFill>
                <a:latin typeface="Calibri"/>
              </a:rPr>
              <a:t>Annual PREMIUM over the all-SNP baseline (the cost of redundancy) — selected scenarios: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089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560320"/>
                <a:gridCol w="2560320"/>
                <a:gridCol w="256032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Allocation to 2nd source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2nd +50% / SNP holds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2nd +50% / SNP +10%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2nd +100% / SNP +20%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20%  (~0.6 drum/wk)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$5,070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$9,126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$18,252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35%  (~1 drum/wk)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$8,872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$12,168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$24,336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50%  (~1.4 drum/wk)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$12,675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$15,210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4E78"/>
                          </a:solidFill>
                          <a:latin typeface="Calibri"/>
                        </a:rPr>
                        <a:t>$30,420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257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At price parity with SNP holding, the cost is ~$0 (ideal, unlikely). KEY: an SNP price increase hits the LARGER retained volume — it can cost more than the 2nd-source premium itself. Range across scenarios ~$2.5k–$30k/yr. Nothing decided; full interactive matrix in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Pricing Strategy — What to Propose to APV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b="1" sz="1300">
                <a:solidFill>
                  <a:srgbClr val="1F4E78"/>
                </a:solidFill>
                <a:latin typeface="Calibri"/>
              </a:rPr>
              <a:t>• Benchmark </a:t>
            </a:r>
            <a:r>
              <a:rPr sz="1300">
                <a:solidFill>
                  <a:srgbClr val="595959"/>
                </a:solidFill>
                <a:latin typeface="Calibri"/>
              </a:rPr>
              <a:t>— SNP (incumbent) = $0.75/lb = $337.50/drum.</a:t>
            </a:r>
          </a:p>
          <a:p>
            <a:pPr algn="l">
              <a:spcAft>
                <a:spcPts val="900"/>
              </a:spcAft>
            </a:pPr>
            <a:r>
              <a:rPr b="1" sz="1300">
                <a:solidFill>
                  <a:srgbClr val="1F4E78"/>
                </a:solidFill>
                <a:latin typeface="Calibri"/>
              </a:rPr>
              <a:t>• A premium is fair </a:t>
            </a:r>
            <a:r>
              <a:rPr sz="1300">
                <a:solidFill>
                  <a:srgbClr val="595959"/>
                </a:solidFill>
                <a:latin typeface="Calibri"/>
              </a:rPr>
              <a:t>— APV is a mid-size coatings house; a single 55-gal drum is a small batch. Their cost floor alone is ~$0.80–1.15/lb.</a:t>
            </a:r>
          </a:p>
          <a:p>
            <a:pPr algn="l">
              <a:spcAft>
                <a:spcPts val="900"/>
              </a:spcAft>
            </a:pPr>
            <a:r>
              <a:rPr b="1" sz="1300">
                <a:solidFill>
                  <a:srgbClr val="1F4E78"/>
                </a:solidFill>
                <a:latin typeface="Calibri"/>
              </a:rPr>
              <a:t>• Don't expect parity </a:t>
            </a:r>
            <a:r>
              <a:rPr sz="1300">
                <a:solidFill>
                  <a:srgbClr val="595959"/>
                </a:solidFill>
                <a:latin typeface="Calibri"/>
              </a:rPr>
              <a:t>— SNP is cheap because PVA is its core. Price APV to a realistic small-batch premium.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143000"/>
            <a:ext cx="5120640" cy="2377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298448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4E78"/>
                </a:solidFill>
                <a:latin typeface="Calibri"/>
              </a:rPr>
              <a:t>Frame for business retention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Present as a recurring rotation, not a one-off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~1 drum/wk = ~52 drums/yr ≈ 23,400 lb ≈ ~$23–26k/yr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Lever: batch 2 drums/run (110 gal) = their batch sweet spot → holds price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4E78"/>
                </a:solidFill>
                <a:latin typeface="Calibri"/>
              </a:rPr>
              <a:t>The proposal — anchor low, settle in band, hold a walk-away: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0690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1188720"/>
                <a:gridCol w="68580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$ / lb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$ / drum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vs SNP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$0.75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$338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SNP benchmark (state 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4E78"/>
                          </a:solidFill>
                          <a:latin typeface="Calibri"/>
                        </a:rPr>
                        <a:t>$1.00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4E78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4E78"/>
                          </a:solidFill>
                          <a:latin typeface="Calibri"/>
                        </a:rPr>
                        <a:t>+33%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4E78"/>
                          </a:solidFill>
                          <a:latin typeface="Calibri"/>
                        </a:rPr>
                        <a:t>OPENING ANCHOR — Option A (base)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$1.10–1.25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$495–560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+47–67%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Settle band — Option B (compounded) at 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$1.50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$675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+100%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F4E78"/>
                          </a:solidFill>
                          <a:latin typeface="Calibri"/>
                        </a:rPr>
                        <a:t>Walk-away ceiling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Order Cadence — Driven by the 18-Day Shelf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Made fresh, no stockpiling </a:t>
            </a:r>
            <a:r>
              <a:rPr sz="1500">
                <a:solidFill>
                  <a:srgbClr val="595959"/>
                </a:solidFill>
                <a:latin typeface="Calibri"/>
              </a:rPr>
              <a:t>— 18-day shelf life (~2.5 weeks). You can hold at most ~2 drums of 2nd-source supply before the oldest ages out.</a:t>
            </a:r>
          </a:p>
          <a:p>
            <a:pPr algn="l">
              <a:spcAft>
                <a:spcPts val="10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Same split </a:t>
            </a:r>
            <a:r>
              <a:rPr sz="1500">
                <a:solidFill>
                  <a:srgbClr val="595959"/>
                </a:solidFill>
                <a:latin typeface="Calibri"/>
              </a:rPr>
              <a:t>— ~1 drum/week to the 2nd source (~35% of total), unchanged.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3566160" cy="315468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76E37"/>
                </a:solidFill>
                <a:latin typeface="Calibri"/>
              </a:rPr>
              <a:t>Weekly — 1 drum / wk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Simplest, freshest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Used well within shelf life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Small batch for APV → higher $/lb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788920"/>
            <a:ext cx="3566160" cy="315468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297180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Calibri"/>
              </a:rPr>
              <a:t>Biweekly — 2 drums / 2 wks  (RECOMMENDED)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110 gal hits APV's batch sweet spot → better price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2 weeks supply &lt; 18-day shelf life → safe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Best balance of price + freshness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788920"/>
            <a:ext cx="3566160" cy="31546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297180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3+ drums / batch — AVOID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3+ weeks supply &gt; 18-day shelf life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Oldest drum ages out → waste / risk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•  Don't let APV batch larger just to cut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Rule of thumb: order at least every 2 weeks, max ~2 drums per batch. The biweekly 2-drum cadence gives APV an efficient batch (supports the lower price) while staying inside the 18-day shelf life.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Supplier Screening — US Field to Shortlist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Calibri"/>
              </a:rPr>
              <a:t>Two filters: (1) can hold the 90–95 °C cook  →  (2) right-sized for ~1 drum/wk under 18-day shelf life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658368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37943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E78"/>
                </a:solidFill>
                <a:latin typeface="Calibri"/>
              </a:rPr>
              <a:t>CJB Applied Technologies — Valdosta, GA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783080"/>
            <a:ext cx="329184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837943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Front-runner (interviewed 06/26)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1783080"/>
            <a:ext cx="1005840" cy="566928"/>
          </a:xfrm>
          <a:prstGeom prst="rect">
            <a:avLst/>
          </a:prstGeom>
          <a:solidFill>
            <a:srgbClr val="376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1837943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41448"/>
            <a:ext cx="658368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96312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E78"/>
                </a:solidFill>
                <a:latin typeface="Calibri"/>
              </a:rPr>
              <a:t>APV Engineered Coatings — Akron, OH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441448"/>
            <a:ext cx="329184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496312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Engaged — pricing requested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2441448"/>
            <a:ext cx="1005840" cy="566928"/>
          </a:xfrm>
          <a:prstGeom prst="rect">
            <a:avLst/>
          </a:prstGeom>
          <a:solidFill>
            <a:srgbClr val="9C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2496312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Re-confirm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99815"/>
            <a:ext cx="658368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54679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E78"/>
                </a:solidFill>
                <a:latin typeface="Calibri"/>
              </a:rPr>
              <a:t>Piedmont Chemical / Columbus (CCI)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099815"/>
            <a:ext cx="329184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154679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Held in reserve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3099815"/>
            <a:ext cx="1005840" cy="566928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3154679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Yes / confirm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58183"/>
            <a:ext cx="658368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13047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E78"/>
                </a:solidFill>
                <a:latin typeface="Calibri"/>
              </a:rPr>
              <a:t>CORECHEM — Knoxville, TN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3758183"/>
            <a:ext cx="329184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813047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Reserve — 250-gal min vs shelf life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07040" y="3758183"/>
            <a:ext cx="1005840" cy="566928"/>
          </a:xfrm>
          <a:prstGeom prst="rect">
            <a:avLst/>
          </a:prstGeom>
          <a:solidFill>
            <a:srgbClr val="9C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3813047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16551"/>
            <a:ext cx="658368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71415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E78"/>
                </a:solidFill>
                <a:latin typeface="Calibri"/>
              </a:rPr>
              <a:t>ArroChem — Mt. Holly, NC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4416551"/>
            <a:ext cx="329184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471415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ELIMINATED — 85 °C ceiling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4416551"/>
            <a:ext cx="1005840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4471415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74919"/>
            <a:ext cx="658368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129783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E78"/>
                </a:solidFill>
                <a:latin typeface="Calibri"/>
              </a:rPr>
              <a:t>ILC Dover — Frederica, 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5074919"/>
            <a:ext cx="3291840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5129783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ELIMINATED — wrong category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5074919"/>
            <a:ext cx="1005840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5129783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Dropped (too large / MOQ): Goulston, 3V Sigma, Royal (220-gal MOQ), Columbia. Resin producers (Sekisui/Kuraray) won't sell direct at this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We Are Advancing APV and CJB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4E78"/>
                </a:solidFill>
                <a:latin typeface="Calibri"/>
              </a:rPr>
              <a:t>They are the only two that clear ALL three conditions that matter for this account: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1143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383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4E78"/>
                </a:solidFill>
                <a:latin typeface="Calibri"/>
              </a:rPr>
              <a:t>Capability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Can hold the 90–95 °C cook (the disqualifier for others)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91640"/>
            <a:ext cx="3566160" cy="1143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383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4E78"/>
                </a:solidFill>
                <a:latin typeface="Calibri"/>
              </a:rPr>
              <a:t>Batch fit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Small batches — right-sized for ~1 drum/wk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91640"/>
            <a:ext cx="3566160" cy="1143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383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4E78"/>
                </a:solidFill>
                <a:latin typeface="Calibri"/>
              </a:rPr>
              <a:t>Willingness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Genuinely want a low-volume account others decline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5440680" cy="329184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76E37"/>
                </a:solidFill>
                <a:latin typeface="Calibri"/>
              </a:rPr>
              <a:t>CJB — FRONT-RUNNER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Gate CLEARED in interview: 90–95 °C for 45 min–1 hr, jacketed 316L, no fisheyes, cools ≤40 °C, prior HMW-PVA experience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40-gal min / will do a single drum; lab-batch for qual; 3–4 day lead (or overnight)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Bonus: ex-Lonza (Proxel) formulator on staff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Open: NDA on process (McC); firm pricing not yet quoted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108960"/>
            <a:ext cx="5440680" cy="32918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E75B6"/>
                </a:solidFill>
                <a:latin typeface="Calibri"/>
              </a:rPr>
              <a:t>APV — STRONG SECOND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Engaged &amp; interested; very small batches (from 5 gal)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Pigment-dispersion specialty (useful for our colorants); ISO 9001 / EPA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Asked for pricing early — sizing the account economics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 Open: re-confirm 90–95 °C hold; send pricing envelope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Keep Both Warm — Low-Volume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b="1" sz="1600">
                <a:solidFill>
                  <a:srgbClr val="1F4E78"/>
                </a:solidFill>
                <a:latin typeface="Calibri"/>
              </a:rPr>
              <a:t>• We are a small, low-attractiveness account </a:t>
            </a:r>
            <a:r>
              <a:rPr sz="1600">
                <a:solidFill>
                  <a:srgbClr val="595959"/>
                </a:solidFill>
                <a:latin typeface="Calibri"/>
              </a:rPr>
              <a:t>(Kraljic 'bottleneck'; likely a 'nuisance' account to a blender). Our structural negotiating leverage is weak.</a:t>
            </a:r>
          </a:p>
          <a:p>
            <a:pPr algn="l">
              <a:spcAft>
                <a:spcPts val="1400"/>
              </a:spcAft>
            </a:pPr>
            <a:r>
              <a:rPr b="1" sz="1600">
                <a:solidFill>
                  <a:srgbClr val="1F4E78"/>
                </a:solidFill>
                <a:latin typeface="Calibri"/>
              </a:rPr>
              <a:t>• Two qualified, interested suppliers is the single best lever </a:t>
            </a:r>
            <a:r>
              <a:rPr sz="1600">
                <a:solidFill>
                  <a:srgbClr val="595959"/>
                </a:solidFill>
                <a:latin typeface="Calibri"/>
              </a:rPr>
              <a:t>we have — it disciplines pricing and protects continuity without overplaying a volume we don't have.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1106424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How we play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b="1" sz="1400">
                <a:solidFill>
                  <a:srgbClr val="1F4E78"/>
                </a:solidFill>
                <a:latin typeface="Calibri"/>
              </a:rPr>
              <a:t>• Sell the relationship, not the volume </a:t>
            </a:r>
            <a:r>
              <a:rPr sz="1400">
                <a:solidFill>
                  <a:srgbClr val="595959"/>
                </a:solidFill>
                <a:latin typeface="Calibri"/>
              </a:rPr>
              <a:t>— qualified, recurring, blue-chip, low-touch, room to grow.</a:t>
            </a:r>
          </a:p>
          <a:p>
            <a:pPr algn="l">
              <a:spcAft>
                <a:spcPts val="900"/>
              </a:spcAft>
            </a:pPr>
            <a:r>
              <a:rPr b="1" sz="1400">
                <a:solidFill>
                  <a:srgbClr val="1F4E78"/>
                </a:solidFill>
                <a:latin typeface="Calibri"/>
              </a:rPr>
              <a:t>• Quote per drum as a recurring rotation </a:t>
            </a:r>
            <a:r>
              <a:rPr sz="1400">
                <a:solidFill>
                  <a:srgbClr val="595959"/>
                </a:solidFill>
                <a:latin typeface="Calibri"/>
              </a:rPr>
              <a:t>— avoid the small-annual-number anchor that triggers nuisance pricing.</a:t>
            </a:r>
          </a:p>
          <a:p>
            <a:pPr algn="l">
              <a:spcAft>
                <a:spcPts val="900"/>
              </a:spcAft>
            </a:pPr>
            <a:r>
              <a:rPr b="1" sz="1400">
                <a:solidFill>
                  <a:srgbClr val="1F4E78"/>
                </a:solidFill>
                <a:latin typeface="Calibri"/>
              </a:rPr>
              <a:t>• Use the Intuitive name for credibility </a:t>
            </a:r>
            <a:r>
              <a:rPr sz="1400">
                <a:solidFill>
                  <a:srgbClr val="595959"/>
                </a:solidFill>
                <a:latin typeface="Calibri"/>
              </a:rPr>
              <a:t>— but set volume expectations at the division level so quotes stay realistic.</a:t>
            </a:r>
          </a:p>
          <a:p>
            <a:pPr algn="l">
              <a:spcAft>
                <a:spcPts val="900"/>
              </a:spcAft>
            </a:pPr>
            <a:r>
              <a:rPr b="1" sz="1400">
                <a:solidFill>
                  <a:srgbClr val="1F4E78"/>
                </a:solidFill>
                <a:latin typeface="Calibri"/>
              </a:rPr>
              <a:t>• Advance CJB as front-runner; keep APV in genuine competition </a:t>
            </a:r>
            <a:r>
              <a:rPr sz="1400">
                <a:solidFill>
                  <a:srgbClr val="595959"/>
                </a:solidFill>
                <a:latin typeface="Calibri"/>
              </a:rPr>
              <a:t>— not as a courtesy.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Quality &amp; Regulatory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FDA QMSR in force (2026-02-02) </a:t>
            </a:r>
            <a:r>
              <a:rPr sz="1500">
                <a:solidFill>
                  <a:srgbClr val="595959"/>
                </a:solidFill>
                <a:latin typeface="Calibri"/>
              </a:rPr>
              <a:t>— incorporates ISO 13485:2016 by reference. Supplier controls follow ISO 13485 §7.4 (Purchasing), not the legacy 21 CFR 820.50.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Qualification </a:t>
            </a:r>
            <a:r>
              <a:rPr sz="1500">
                <a:solidFill>
                  <a:srgbClr val="595959"/>
                </a:solidFill>
                <a:latin typeface="Calibri"/>
              </a:rPr>
              <a:t>— risk-proportionate supplier evaluation, monitoring, re-evaluation (§7.4.1); build on GHTF/SG3/N17 methodology with a Carter's 10 Cs scorecard.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Supplier Quality Agreement </a:t>
            </a:r>
            <a:r>
              <a:rPr sz="1500">
                <a:solidFill>
                  <a:srgbClr val="595959"/>
                </a:solidFill>
                <a:latin typeface="Calibri"/>
              </a:rPr>
              <a:t>— specs/acceptance, advance change-notification, right-to-audit. Connects to CJB's NDA-on-process step.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1F4E78"/>
                </a:solidFill>
                <a:latin typeface="Calibri"/>
              </a:rPr>
              <a:t>• Classification </a:t>
            </a:r>
            <a:r>
              <a:rPr sz="1500">
                <a:solidFill>
                  <a:srgbClr val="595959"/>
                </a:solidFill>
                <a:latin typeface="Calibri"/>
              </a:rPr>
              <a:t>— confirm before invoking ICH Q7 (applies only if API / drug-GMP).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Open Items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09728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BDD7EE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371600"/>
            <a:ext cx="6949440" cy="6400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435608"/>
            <a:ext cx="6766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4E78"/>
                </a:solidFill>
                <a:latin typeface="Calibri"/>
              </a:rPr>
              <a:t>Pull SNP CoA history → finalize viscosity &amp; pH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371600"/>
            <a:ext cx="3291840" cy="64008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35608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Highest leverage — gates any firm quote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21408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3113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121408"/>
            <a:ext cx="6949440" cy="6400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185415"/>
            <a:ext cx="6766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4E78"/>
                </a:solidFill>
                <a:latin typeface="Calibri"/>
              </a:rPr>
              <a:t>CJB NDA on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21408"/>
            <a:ext cx="3291840" cy="64008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85415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In work — McC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80944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2871215"/>
            <a:ext cx="6949440" cy="6400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2935223"/>
            <a:ext cx="6766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4E78"/>
                </a:solidFill>
                <a:latin typeface="Calibri"/>
              </a:rPr>
              <a:t>Send CJB full spec + RFQ (Option A &amp; B, per-drum)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871215"/>
            <a:ext cx="3291840" cy="64008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935223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After NDA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21023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30751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3621023"/>
            <a:ext cx="6949440" cy="6400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3685031"/>
            <a:ext cx="6766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4E78"/>
                </a:solidFill>
                <a:latin typeface="Calibri"/>
              </a:rPr>
              <a:t>Re-confirm APV 90–95 °C; send pricing benchmark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621023"/>
            <a:ext cx="3291840" cy="64008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685031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Open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0831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8055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4370831"/>
            <a:ext cx="6949440" cy="6400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4434840"/>
            <a:ext cx="6766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4E78"/>
                </a:solidFill>
                <a:latin typeface="Calibri"/>
              </a:rPr>
              <a:t>Execute Supplier Quality Agreement with selected 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4370831"/>
            <a:ext cx="3291840" cy="64008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After award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2303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5120640"/>
            <a:ext cx="6949440" cy="6400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184648"/>
            <a:ext cx="6766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4E78"/>
                </a:solidFill>
                <a:latin typeface="Calibri"/>
              </a:rPr>
              <a:t>Keep Piedmont / Columbus in reserve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120640"/>
            <a:ext cx="3291840" cy="64008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5184648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Standby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Detail in PVA_Second_Source_Report.docx and PVA_Second_Source_Pricing_Model.xlsx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a Second Source Costs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If SNP holds price: redundancy is modest — ~$5–13k/yr depending on split &amp; 2nd-source premium (≈$0 at parity).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If SNP raises price on the reduced volume: cost can roughly double — that surcharge, on the larger retained volume, is often the bigger driver.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Range across plausible scenarios: ~$2.5k to ~$30k/yr.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Nothing decided — CJB &amp; APV both viable; scenarios stay ready to update as quotes (and any SNP re-price) arrive.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