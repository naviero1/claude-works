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572000"/>
            <a:ext cx="12191695" cy="54864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106984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PVA Second-Source Supplier Qualification</a:t>
            </a:r>
          </a:p>
          <a:p>
            <a:pPr algn="l">
              <a:spcAft>
                <a:spcPts val="400"/>
              </a:spcAft>
            </a:pPr>
            <a:r>
              <a:rPr sz="2200" b="0" i="0">
                <a:solidFill>
                  <a:srgbClr val="BDD7EE"/>
                </a:solidFill>
                <a:latin typeface="Calibri"/>
              </a:rPr>
              <a:t>Status, Economics &amp; Recommendation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75488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Removing single-source dependency on SNP for our liquid PVA solution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9DC3E6"/>
                </a:solidFill>
                <a:latin typeface="Calibri"/>
              </a:rPr>
              <a:t>Oscar Penny  |  2026-06-27  |  In Progress — CJB &amp; APV engaged; this deck shows the COST of a second source across scenarios (nothing decided)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The Problem: Single-Source Dependency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109728"/>
            <a:ext cx="8229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BDD7EE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6583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b="1" sz="1600">
                <a:solidFill>
                  <a:srgbClr val="1F4E78"/>
                </a:solidFill>
                <a:latin typeface="Calibri"/>
              </a:rPr>
              <a:t>• SNP is our only supplier </a:t>
            </a:r>
            <a:r>
              <a:rPr sz="1600">
                <a:solidFill>
                  <a:srgbClr val="595959"/>
                </a:solidFill>
                <a:latin typeface="Calibri"/>
              </a:rPr>
              <a:t>of liquid PVA today. A disruption (capacity, quality, continuity) stops supply with no qualified backup.</a:t>
            </a:r>
          </a:p>
          <a:p>
            <a:pPr algn="l">
              <a:spcAft>
                <a:spcPts val="1400"/>
              </a:spcAft>
            </a:pPr>
            <a:r>
              <a:rPr b="1" sz="1600">
                <a:solidFill>
                  <a:srgbClr val="1F4E78"/>
                </a:solidFill>
                <a:latin typeface="Calibri"/>
              </a:rPr>
              <a:t>• It's a 'bottleneck' item </a:t>
            </a:r>
            <a:r>
              <a:rPr sz="1600">
                <a:solidFill>
                  <a:srgbClr val="595959"/>
                </a:solidFill>
                <a:latin typeface="Calibri"/>
              </a:rPr>
              <a:t>— low annual spend, but high supply risk. Manage as RISK, not cost.</a:t>
            </a:r>
          </a:p>
          <a:p>
            <a:pPr algn="l">
              <a:spcAft>
                <a:spcPts val="1400"/>
              </a:spcAft>
            </a:pPr>
            <a:r>
              <a:rPr b="1" sz="1600">
                <a:solidFill>
                  <a:srgbClr val="1F4E78"/>
                </a:solidFill>
                <a:latin typeface="Calibri"/>
              </a:rPr>
              <a:t>• No inventory buffer </a:t>
            </a:r>
            <a:r>
              <a:rPr sz="1600">
                <a:solidFill>
                  <a:srgbClr val="595959"/>
                </a:solidFill>
                <a:latin typeface="Calibri"/>
              </a:rPr>
              <a:t>— 18-day shelf life means it's made fresh to order; nothing on the shelf absorbs a gap.</a:t>
            </a:r>
          </a:p>
          <a:p>
            <a:pPr algn="l">
              <a:spcAft>
                <a:spcPts val="1400"/>
              </a:spcAft>
            </a:pPr>
            <a:r>
              <a:rPr b="1" sz="1600">
                <a:solidFill>
                  <a:srgbClr val="1F4E78"/>
                </a:solidFill>
                <a:latin typeface="Calibri"/>
              </a:rPr>
              <a:t>• Objective </a:t>
            </a:r>
            <a:r>
              <a:rPr sz="1600">
                <a:solidFill>
                  <a:srgbClr val="595959"/>
                </a:solidFill>
                <a:latin typeface="Calibri"/>
              </a:rPr>
              <a:t>— qualify a backup toll blender able to make the solution to spec, in 55-gal drums, as a lower-volume second source.</a:t>
            </a:r>
          </a:p>
        </p:txBody>
      </p:sp>
      <p:sp>
        <p:nvSpPr>
          <p:cNvPr id="6" name="Rectangle 5"/>
          <p:cNvSpPr/>
          <p:nvPr/>
        </p:nvSpPr>
        <p:spPr>
          <a:xfrm>
            <a:off x="7406640" y="1371600"/>
            <a:ext cx="4206240" cy="4206240"/>
          </a:xfrm>
          <a:prstGeom prst="rect">
            <a:avLst/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35240" y="1645920"/>
            <a:ext cx="3749039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 i="0">
                <a:solidFill>
                  <a:srgbClr val="1F4E78"/>
                </a:solidFill>
                <a:latin typeface="Calibri"/>
              </a:rPr>
              <a:t>Why now</a:t>
            </a:r>
          </a:p>
          <a:p>
            <a:pPr algn="l">
              <a:spcAft>
                <a:spcPts val="1000"/>
              </a:spcAft>
            </a:pPr>
            <a:r>
              <a:rPr sz="1300" b="0" i="0">
                <a:solidFill>
                  <a:srgbClr val="595959"/>
                </a:solidFill>
                <a:latin typeface="Calibri"/>
              </a:rPr>
              <a:t>•  Sole-source = unmanaged continuity risk</a:t>
            </a:r>
          </a:p>
          <a:p>
            <a:pPr algn="l">
              <a:spcAft>
                <a:spcPts val="1000"/>
              </a:spcAft>
            </a:pPr>
            <a:r>
              <a:rPr sz="1300" b="0" i="0">
                <a:solidFill>
                  <a:srgbClr val="595959"/>
                </a:solidFill>
                <a:latin typeface="Calibri"/>
              </a:rPr>
              <a:t>•  Post-2020 norm: dual-source critical inputs (McKinsey: ~78%)</a:t>
            </a:r>
          </a:p>
          <a:p>
            <a:pPr algn="l">
              <a:spcAft>
                <a:spcPts val="1000"/>
              </a:spcAft>
            </a:pPr>
            <a:r>
              <a:rPr sz="1300" b="0" i="0">
                <a:solidFill>
                  <a:srgbClr val="595959"/>
                </a:solidFill>
                <a:latin typeface="Calibri"/>
              </a:rPr>
              <a:t>•  A qualified 2nd source is cheap insurance vs. a line-down event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The Product — and the One Hard Gate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109728"/>
            <a:ext cx="8229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BDD7EE"/>
                </a:solidFill>
                <a:latin typeface="Calibri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60350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b="1" sz="1500">
                <a:solidFill>
                  <a:srgbClr val="1F4E78"/>
                </a:solidFill>
                <a:latin typeface="Calibri"/>
              </a:rPr>
              <a:t>• The product </a:t>
            </a:r>
            <a:r>
              <a:rPr sz="1500">
                <a:solidFill>
                  <a:srgbClr val="595959"/>
                </a:solidFill>
                <a:latin typeface="Calibri"/>
              </a:rPr>
              <a:t>— aqueous, super-hydrolyzed high-MW PVA solution (Selvol S-1551F-D class) + a little NaCl &amp; pigment, 10–12% solids.</a:t>
            </a:r>
          </a:p>
          <a:p>
            <a:pPr algn="l">
              <a:spcAft>
                <a:spcPts val="1200"/>
              </a:spcAft>
            </a:pPr>
            <a:r>
              <a:rPr b="1" sz="1500">
                <a:solidFill>
                  <a:srgbClr val="1F4E78"/>
                </a:solidFill>
                <a:latin typeface="Calibri"/>
              </a:rPr>
              <a:t>• Defining step </a:t>
            </a:r>
            <a:r>
              <a:rPr sz="1500">
                <a:solidFill>
                  <a:srgbClr val="595959"/>
                </a:solidFill>
                <a:latin typeface="Calibri"/>
              </a:rPr>
              <a:t>— a high-temperature dissolution cook, confirmed by our bench process and the resin makers.</a:t>
            </a:r>
          </a:p>
          <a:p>
            <a:pPr algn="l">
              <a:spcAft>
                <a:spcPts val="1200"/>
              </a:spcAft>
            </a:pPr>
            <a:r>
              <a:rPr b="1" sz="1500">
                <a:solidFill>
                  <a:srgbClr val="1F4E78"/>
                </a:solidFill>
                <a:latin typeface="Calibri"/>
              </a:rPr>
              <a:t>• Acceptance </a:t>
            </a:r>
            <a:r>
              <a:rPr sz="1500">
                <a:solidFill>
                  <a:srgbClr val="595959"/>
                </a:solidFill>
                <a:latin typeface="Calibri"/>
              </a:rPr>
              <a:t>— solids 10–12%; Brookfield spindle #3 / 10 RPM / 25 °C; CoC per shipment.</a:t>
            </a:r>
          </a:p>
          <a:p>
            <a:pPr algn="l">
              <a:spcAft>
                <a:spcPts val="1200"/>
              </a:spcAft>
            </a:pPr>
            <a:r>
              <a:rPr b="1" sz="1500">
                <a:solidFill>
                  <a:srgbClr val="1F4E78"/>
                </a:solidFill>
                <a:latin typeface="Calibri"/>
              </a:rPr>
              <a:t>• Open spec </a:t>
            </a:r>
            <a:r>
              <a:rPr sz="1500">
                <a:solidFill>
                  <a:srgbClr val="595959"/>
                </a:solidFill>
                <a:latin typeface="Calibri"/>
              </a:rPr>
              <a:t>— viscosity target/tolerance, to be set from SNP CoA history.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0" y="1371600"/>
            <a:ext cx="4846320" cy="2926080"/>
          </a:xfrm>
          <a:prstGeom prst="rect">
            <a:avLst/>
          </a:prstGeom>
          <a:solidFill>
            <a:srgbClr val="FC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0" y="1600200"/>
            <a:ext cx="43891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C00000"/>
                </a:solidFill>
                <a:latin typeface="Calibri"/>
              </a:rPr>
              <a:t>THE GATE</a:t>
            </a:r>
          </a:p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F4E78"/>
                </a:solidFill>
                <a:latin typeface="Calibri"/>
              </a:rPr>
              <a:t>Hold a full batch at 90–95 °C (194–203 °F) for 30–45 min under agitation.</a:t>
            </a:r>
          </a:p>
          <a:p>
            <a:pPr algn="l">
              <a:spcAft>
                <a:spcPts val="400"/>
              </a:spcAft>
            </a:pPr>
            <a:r>
              <a:rPr sz="1300" b="0" i="1">
                <a:solidFill>
                  <a:srgbClr val="595959"/>
                </a:solidFill>
                <a:latin typeface="Calibri"/>
              </a:rPr>
              <a:t>This single requirement separates viable suppliers from the rest.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0" y="4480560"/>
            <a:ext cx="4846320" cy="1554480"/>
          </a:xfrm>
          <a:prstGeom prst="rect">
            <a:avLst/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0" y="4617720"/>
            <a:ext cx="4389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1F4E78"/>
                </a:solidFill>
                <a:latin typeface="Calibri"/>
              </a:rPr>
              <a:t>Also required: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595959"/>
                </a:solidFill>
                <a:latin typeface="Calibri"/>
              </a:rPr>
              <a:t>Jacketed 316L tank · agitation w/o fisheyes · cool to ≤40 °C · 200-micron filter · drum fill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The Cost of Keeping a Second Source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109728"/>
            <a:ext cx="8229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BDD7EE"/>
                </a:solidFill>
                <a:latin typeface="Calibri"/>
              </a:rPr>
              <a:t>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43000"/>
            <a:ext cx="2651760" cy="1371600"/>
          </a:xfrm>
          <a:prstGeom prst="rect">
            <a:avLst/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0"/>
            <a:ext cx="2468879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2400" b="1" i="0">
                <a:solidFill>
                  <a:srgbClr val="1F4E78"/>
                </a:solidFill>
                <a:latin typeface="Calibri"/>
              </a:rPr>
              <a:t>1,300 lb/wk</a:t>
            </a:r>
          </a:p>
          <a:p>
            <a:pPr algn="ctr">
              <a:spcAft>
                <a:spcPts val="400"/>
              </a:spcAft>
            </a:pPr>
            <a:r>
              <a:rPr sz="1100" b="0" i="0">
                <a:solidFill>
                  <a:srgbClr val="595959"/>
                </a:solidFill>
                <a:latin typeface="Calibri"/>
              </a:rPr>
              <a:t>Total demand (~2.9 drums/wk)</a:t>
            </a:r>
          </a:p>
        </p:txBody>
      </p:sp>
      <p:sp>
        <p:nvSpPr>
          <p:cNvPr id="7" name="Rectangle 6"/>
          <p:cNvSpPr/>
          <p:nvPr/>
        </p:nvSpPr>
        <p:spPr>
          <a:xfrm>
            <a:off x="3383280" y="1143000"/>
            <a:ext cx="2651760" cy="1371600"/>
          </a:xfrm>
          <a:prstGeom prst="rect">
            <a:avLst/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0" y="1280160"/>
            <a:ext cx="2468879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2400" b="1" i="0">
                <a:solidFill>
                  <a:srgbClr val="1F4E78"/>
                </a:solidFill>
                <a:latin typeface="Calibri"/>
              </a:rPr>
              <a:t>~150 / yr</a:t>
            </a:r>
          </a:p>
          <a:p>
            <a:pPr algn="ctr">
              <a:spcAft>
                <a:spcPts val="400"/>
              </a:spcAft>
            </a:pPr>
            <a:r>
              <a:rPr sz="1100" b="0" i="0">
                <a:solidFill>
                  <a:srgbClr val="595959"/>
                </a:solidFill>
                <a:latin typeface="Calibri"/>
              </a:rPr>
              <a:t>Drums per year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143000"/>
            <a:ext cx="2651760" cy="1371600"/>
          </a:xfrm>
          <a:prstGeom prst="rect">
            <a:avLst/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59" y="1280160"/>
            <a:ext cx="2468879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2400" b="1" i="0">
                <a:solidFill>
                  <a:srgbClr val="1F4E78"/>
                </a:solidFill>
                <a:latin typeface="Calibri"/>
              </a:rPr>
              <a:t>$50,700</a:t>
            </a:r>
          </a:p>
          <a:p>
            <a:pPr algn="ctr">
              <a:spcAft>
                <a:spcPts val="400"/>
              </a:spcAft>
            </a:pPr>
            <a:r>
              <a:rPr sz="1100" b="0" i="0">
                <a:solidFill>
                  <a:srgbClr val="595959"/>
                </a:solidFill>
                <a:latin typeface="Calibri"/>
              </a:rPr>
              <a:t>Baseline all-SNP / yr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052560" y="1143000"/>
            <a:ext cx="2560320" cy="1371600"/>
          </a:xfrm>
          <a:prstGeom prst="rect">
            <a:avLst/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0" y="1280160"/>
            <a:ext cx="2377439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2400" b="1" i="0">
                <a:solidFill>
                  <a:srgbClr val="1F4E78"/>
                </a:solidFill>
                <a:latin typeface="Calibri"/>
              </a:rPr>
              <a:t>$0.75 / lb</a:t>
            </a:r>
          </a:p>
          <a:p>
            <a:pPr algn="ctr">
              <a:spcAft>
                <a:spcPts val="400"/>
              </a:spcAft>
            </a:pPr>
            <a:r>
              <a:rPr sz="1100" b="0" i="0">
                <a:solidFill>
                  <a:srgbClr val="595959"/>
                </a:solidFill>
                <a:latin typeface="Calibri"/>
              </a:rPr>
              <a:t>SNP $337.50/drum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69748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F4E78"/>
                </a:solidFill>
                <a:latin typeface="Calibri"/>
              </a:rPr>
              <a:t>Annual PREMIUM over the all-SNP baseline (the cost of redundancy) — selected scenarios: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48640" y="3108960"/>
          <a:ext cx="1106424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83280"/>
                <a:gridCol w="2560320"/>
                <a:gridCol w="2560320"/>
                <a:gridCol w="2560320"/>
              </a:tblGrid>
              <a:tr h="51816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Allocation to 2nd source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2nd +50% / SNP holds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2nd +50% / SNP +10%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2nd +100% / SNP +20%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F4E78"/>
                          </a:solidFill>
                          <a:latin typeface="Calibri"/>
                        </a:rPr>
                        <a:t>20%  (~0.6 drum/wk)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4E78"/>
                          </a:solidFill>
                          <a:latin typeface="Calibri"/>
                        </a:rPr>
                        <a:t>$5,070</a:t>
                      </a:r>
                    </a:p>
                  </a:txBody>
                  <a:tcPr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4E78"/>
                          </a:solidFill>
                          <a:latin typeface="Calibri"/>
                        </a:rPr>
                        <a:t>$9,126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4E78"/>
                          </a:solidFill>
                          <a:latin typeface="Calibri"/>
                        </a:rPr>
                        <a:t>$18,252</a:t>
                      </a:r>
                    </a:p>
                  </a:txBody>
                  <a:tcPr>
                    <a:solidFill>
                      <a:srgbClr val="FCE4D6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F4E78"/>
                          </a:solidFill>
                          <a:latin typeface="Calibri"/>
                        </a:rPr>
                        <a:t>35%  (~1 drum/wk — CAP)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4E78"/>
                          </a:solidFill>
                          <a:latin typeface="Calibri"/>
                        </a:rPr>
                        <a:t>$8,872</a:t>
                      </a:r>
                    </a:p>
                  </a:txBody>
                  <a:tcPr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4E78"/>
                          </a:solidFill>
                          <a:latin typeface="Calibri"/>
                        </a:rPr>
                        <a:t>$12,168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4E78"/>
                          </a:solidFill>
                          <a:latin typeface="Calibri"/>
                        </a:rPr>
                        <a:t>$24,336</a:t>
                      </a:r>
                    </a:p>
                  </a:txBody>
                  <a:tcPr>
                    <a:solidFill>
                      <a:srgbClr val="FCE4D6"/>
                    </a:solidFill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548640" y="525780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1">
                <a:solidFill>
                  <a:srgbClr val="595959"/>
                </a:solidFill>
                <a:latin typeface="Calibri"/>
              </a:rPr>
              <a:t>Capped at 1 drum/week (~35%). At parity with SNP holding, cost ≈ $0 (ideal, unlikely). KEY: an SNP price increase hits the LARGER retained volume — it can cost more than the 2nd-source premium itself. Range at the cap ≈ $0–$24k/yr. Nothing decided; full matrix in the model.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Pricing Strategy — What to Propose to APV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109728"/>
            <a:ext cx="8229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BDD7EE"/>
                </a:solidFill>
                <a:latin typeface="Calibri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43000"/>
            <a:ext cx="57607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b="1" sz="1250">
                <a:solidFill>
                  <a:srgbClr val="1F4E78"/>
                </a:solidFill>
                <a:latin typeface="Calibri"/>
              </a:rPr>
              <a:t>• Benchmark </a:t>
            </a:r>
            <a:r>
              <a:rPr sz="1250">
                <a:solidFill>
                  <a:srgbClr val="595959"/>
                </a:solidFill>
                <a:latin typeface="Calibri"/>
              </a:rPr>
              <a:t>— SNP (incumbent) = $0.75/lb = $337.50/drum.</a:t>
            </a:r>
          </a:p>
          <a:p>
            <a:pPr algn="l">
              <a:spcAft>
                <a:spcPts val="900"/>
              </a:spcAft>
            </a:pPr>
            <a:r>
              <a:rPr b="1" sz="1250">
                <a:solidFill>
                  <a:srgbClr val="1F4E78"/>
                </a:solidFill>
                <a:latin typeface="Calibri"/>
              </a:rPr>
              <a:t>• A premium is fair </a:t>
            </a:r>
            <a:r>
              <a:rPr sz="1250">
                <a:solidFill>
                  <a:srgbClr val="595959"/>
                </a:solidFill>
                <a:latin typeface="Calibri"/>
              </a:rPr>
              <a:t>— capped at 1 drum/wk, APV runs single 55-gal batches. They do small batches (from 5 gal), so it's workable — but small batches carry a premium; cost floor ~$0.80–1.15/lb.</a:t>
            </a:r>
          </a:p>
          <a:p>
            <a:pPr algn="l">
              <a:spcAft>
                <a:spcPts val="900"/>
              </a:spcAft>
            </a:pPr>
            <a:r>
              <a:rPr b="1" sz="1250">
                <a:solidFill>
                  <a:srgbClr val="1F4E78"/>
                </a:solidFill>
                <a:latin typeface="Calibri"/>
              </a:rPr>
              <a:t>• Don't expect parity </a:t>
            </a:r>
            <a:r>
              <a:rPr sz="1250">
                <a:solidFill>
                  <a:srgbClr val="595959"/>
                </a:solidFill>
                <a:latin typeface="Calibri"/>
              </a:rPr>
              <a:t>— SNP is cheap because PVA is its core. Price APV to a realistic small-batch premium.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92240" y="1143000"/>
            <a:ext cx="5120640" cy="2377440"/>
          </a:xfrm>
          <a:prstGeom prst="rect">
            <a:avLst/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20840" y="1298448"/>
            <a:ext cx="46634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1" i="0">
                <a:solidFill>
                  <a:srgbClr val="1F4E78"/>
                </a:solidFill>
                <a:latin typeface="Calibri"/>
              </a:rPr>
              <a:t>Frame for business retention</a:t>
            </a:r>
          </a:p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595959"/>
                </a:solidFill>
                <a:latin typeface="Calibri"/>
              </a:rPr>
              <a:t>•  Present as a recurring rotation, not a one-off</a:t>
            </a:r>
          </a:p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595959"/>
                </a:solidFill>
                <a:latin typeface="Calibri"/>
              </a:rPr>
              <a:t>•  ~1 drum/wk = ~52 drums/yr ≈ 23,400 lb ≈ ~$23–26k/yr</a:t>
            </a:r>
          </a:p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595959"/>
                </a:solidFill>
                <a:latin typeface="Calibri"/>
              </a:rPr>
              <a:t>•  Lever: steady, predictable weekly PO — easy to plan; worth more to a small shop than volume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65760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F4E78"/>
                </a:solidFill>
                <a:latin typeface="Calibri"/>
              </a:rPr>
              <a:t>The proposal — anchor low, settle in band, hold a walk-away: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4069080"/>
          <a:ext cx="1106424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1463040"/>
                <a:gridCol w="1188720"/>
                <a:gridCol w="6858000"/>
              </a:tblGrid>
              <a:tr h="438912"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$ / lb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$ / drum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vs SNP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Role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/>
                      <a:r>
                        <a:rPr sz="1250">
                          <a:solidFill>
                            <a:srgbClr val="1F4E78"/>
                          </a:solidFill>
                          <a:latin typeface="Calibri"/>
                        </a:rPr>
                        <a:t>$0.75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>
                          <a:solidFill>
                            <a:srgbClr val="1F4E78"/>
                          </a:solidFill>
                          <a:latin typeface="Calibri"/>
                        </a:rPr>
                        <a:t>$338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>
                          <a:solidFill>
                            <a:srgbClr val="1F4E78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1F4E78"/>
                          </a:solidFill>
                          <a:latin typeface="Calibri"/>
                        </a:rPr>
                        <a:t>SNP benchmark (state it)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1F4E78"/>
                          </a:solidFill>
                          <a:latin typeface="Calibri"/>
                        </a:rPr>
                        <a:t>$1.00</a:t>
                      </a:r>
                    </a:p>
                  </a:txBody>
                  <a:tcPr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1F4E78"/>
                          </a:solidFill>
                          <a:latin typeface="Calibri"/>
                        </a:rPr>
                        <a:t>$450</a:t>
                      </a:r>
                    </a:p>
                  </a:txBody>
                  <a:tcPr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1F4E78"/>
                          </a:solidFill>
                          <a:latin typeface="Calibri"/>
                        </a:rPr>
                        <a:t>+33%</a:t>
                      </a:r>
                    </a:p>
                  </a:txBody>
                  <a:tcPr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1F4E78"/>
                          </a:solidFill>
                          <a:latin typeface="Calibri"/>
                        </a:rPr>
                        <a:t>OPENING ANCHOR — Option A (base)</a:t>
                      </a:r>
                    </a:p>
                  </a:txBody>
                  <a:tcPr>
                    <a:solidFill>
                      <a:srgbClr val="E2EFD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/>
                      <a:r>
                        <a:rPr sz="1250">
                          <a:solidFill>
                            <a:srgbClr val="1F4E78"/>
                          </a:solidFill>
                          <a:latin typeface="Calibri"/>
                        </a:rPr>
                        <a:t>$1.10–1.25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>
                          <a:solidFill>
                            <a:srgbClr val="1F4E78"/>
                          </a:solidFill>
                          <a:latin typeface="Calibri"/>
                        </a:rPr>
                        <a:t>$495–560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>
                          <a:solidFill>
                            <a:srgbClr val="1F4E78"/>
                          </a:solidFill>
                          <a:latin typeface="Calibri"/>
                        </a:rPr>
                        <a:t>+47–67%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1F4E78"/>
                          </a:solidFill>
                          <a:latin typeface="Calibri"/>
                        </a:rPr>
                        <a:t>Settle band — Option B (compounded) at top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/>
                      <a:r>
                        <a:rPr sz="1250">
                          <a:solidFill>
                            <a:srgbClr val="1F4E78"/>
                          </a:solidFill>
                          <a:latin typeface="Calibri"/>
                        </a:rPr>
                        <a:t>$1.50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>
                          <a:solidFill>
                            <a:srgbClr val="1F4E78"/>
                          </a:solidFill>
                          <a:latin typeface="Calibri"/>
                        </a:rPr>
                        <a:t>$675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>
                          <a:solidFill>
                            <a:srgbClr val="1F4E78"/>
                          </a:solidFill>
                          <a:latin typeface="Calibri"/>
                        </a:rPr>
                        <a:t>+100%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1F4E78"/>
                          </a:solidFill>
                          <a:latin typeface="Calibri"/>
                        </a:rPr>
                        <a:t>Walk-away ceiling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Order Cadence — 1 Drum/Week Within the 18-Day Shelf Life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109728"/>
            <a:ext cx="8229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BDD7EE"/>
                </a:solidFill>
                <a:latin typeface="Calibri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43000"/>
            <a:ext cx="110642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b="1" sz="1500">
                <a:solidFill>
                  <a:srgbClr val="1F4E78"/>
                </a:solidFill>
                <a:latin typeface="Calibri"/>
              </a:rPr>
              <a:t>• Hard cap </a:t>
            </a:r>
            <a:r>
              <a:rPr sz="1500">
                <a:solidFill>
                  <a:srgbClr val="595959"/>
                </a:solidFill>
                <a:latin typeface="Calibri"/>
              </a:rPr>
              <a:t>— no more than 1 drum/week to this supplier (~35% of total). Made fresh; the 18-day shelf life (~2.5 wks) easily covers a weekly drum.</a:t>
            </a:r>
          </a:p>
          <a:p>
            <a:pPr algn="l">
              <a:spcAft>
                <a:spcPts val="1000"/>
              </a:spcAft>
            </a:pPr>
            <a:r>
              <a:rPr b="1" sz="1500">
                <a:solidFill>
                  <a:srgbClr val="1F4E78"/>
                </a:solidFill>
                <a:latin typeface="Calibri"/>
              </a:rPr>
              <a:t>• APV does small batches (from 5 gal) </a:t>
            </a:r>
            <a:r>
              <a:rPr sz="1500">
                <a:solidFill>
                  <a:srgbClr val="595959"/>
                </a:solidFill>
                <a:latin typeface="Calibri"/>
              </a:rPr>
              <a:t>— so a single 55-gal weekly batch is workable.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788920"/>
            <a:ext cx="3566160" cy="3154680"/>
          </a:xfrm>
          <a:prstGeom prst="rect">
            <a:avLst/>
          </a:prstGeom>
          <a:solidFill>
            <a:srgbClr val="E2E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2971800"/>
            <a:ext cx="3200400" cy="2880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376E37"/>
                </a:solidFill>
                <a:latin typeface="Calibri"/>
              </a:rPr>
              <a:t>Weekly — 1 drum/wk  (RECOMMENDED)</a:t>
            </a:r>
          </a:p>
          <a:p>
            <a:pPr algn="l">
              <a:spcAft>
                <a:spcPts val="700"/>
              </a:spcAft>
            </a:pPr>
            <a:r>
              <a:rPr sz="1250" b="0" i="0">
                <a:solidFill>
                  <a:srgbClr val="595959"/>
                </a:solidFill>
                <a:latin typeface="Calibri"/>
              </a:rPr>
              <a:t>•  Matches the 1-drum/wk cap</a:t>
            </a:r>
          </a:p>
          <a:p>
            <a:pPr algn="l">
              <a:spcAft>
                <a:spcPts val="700"/>
              </a:spcAft>
            </a:pPr>
            <a:r>
              <a:rPr sz="1250" b="0" i="0">
                <a:solidFill>
                  <a:srgbClr val="595959"/>
                </a:solidFill>
                <a:latin typeface="Calibri"/>
              </a:rPr>
              <a:t>•  Freshest; well within shelf life</a:t>
            </a:r>
          </a:p>
          <a:p>
            <a:pPr algn="l">
              <a:spcAft>
                <a:spcPts val="700"/>
              </a:spcAft>
            </a:pPr>
            <a:r>
              <a:rPr sz="1250" b="0" i="0">
                <a:solidFill>
                  <a:srgbClr val="595959"/>
                </a:solidFill>
                <a:latin typeface="Calibri"/>
              </a:rPr>
              <a:t>•  APV does small batches → single drum OK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80" y="2788920"/>
            <a:ext cx="3566160" cy="3154680"/>
          </a:xfrm>
          <a:prstGeom prst="rect">
            <a:avLst/>
          </a:prstGeom>
          <a:solidFill>
            <a:srgbClr val="DD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98848" y="2971800"/>
            <a:ext cx="3200400" cy="2880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2E75B6"/>
                </a:solidFill>
                <a:latin typeface="Calibri"/>
              </a:rPr>
              <a:t>Biweekly — 2 drums/2 wks  (optional)</a:t>
            </a:r>
          </a:p>
          <a:p>
            <a:pPr algn="l">
              <a:spcAft>
                <a:spcPts val="700"/>
              </a:spcAft>
            </a:pPr>
            <a:r>
              <a:rPr sz="1250" b="0" i="0">
                <a:solidFill>
                  <a:srgbClr val="595959"/>
                </a:solidFill>
                <a:latin typeface="Calibri"/>
              </a:rPr>
              <a:t>•  Still ~1/wk average &amp; within shelf life</a:t>
            </a:r>
          </a:p>
          <a:p>
            <a:pPr algn="l">
              <a:spcAft>
                <a:spcPts val="700"/>
              </a:spcAft>
            </a:pPr>
            <a:r>
              <a:rPr sz="1250" b="0" i="0">
                <a:solidFill>
                  <a:srgbClr val="595959"/>
                </a:solidFill>
                <a:latin typeface="Calibri"/>
              </a:rPr>
              <a:t>•  Means holding 2 drums at once</a:t>
            </a:r>
          </a:p>
          <a:p>
            <a:pPr algn="l">
              <a:spcAft>
                <a:spcPts val="700"/>
              </a:spcAft>
            </a:pPr>
            <a:r>
              <a:rPr sz="1250" b="0" i="0">
                <a:solidFill>
                  <a:srgbClr val="595959"/>
                </a:solidFill>
                <a:latin typeface="Calibri"/>
              </a:rPr>
              <a:t>•  Marginally fewer setups — minor price help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6720" y="2788920"/>
            <a:ext cx="3566160" cy="3154680"/>
          </a:xfrm>
          <a:prstGeom prst="rect">
            <a:avLst/>
          </a:prstGeom>
          <a:solidFill>
            <a:srgbClr val="FC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47888" y="2971800"/>
            <a:ext cx="3200400" cy="2880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C00000"/>
                </a:solidFill>
                <a:latin typeface="Calibri"/>
              </a:rPr>
              <a:t>3+ drums/batch — AVOID</a:t>
            </a:r>
          </a:p>
          <a:p>
            <a:pPr algn="l">
              <a:spcAft>
                <a:spcPts val="700"/>
              </a:spcAft>
            </a:pPr>
            <a:r>
              <a:rPr sz="1250" b="0" i="0">
                <a:solidFill>
                  <a:srgbClr val="595959"/>
                </a:solidFill>
                <a:latin typeface="Calibri"/>
              </a:rPr>
              <a:t>•  Exceeds the 1-drum/wk cap</a:t>
            </a:r>
          </a:p>
          <a:p>
            <a:pPr algn="l">
              <a:spcAft>
                <a:spcPts val="700"/>
              </a:spcAft>
            </a:pPr>
            <a:r>
              <a:rPr sz="1250" b="0" i="0">
                <a:solidFill>
                  <a:srgbClr val="595959"/>
                </a:solidFill>
                <a:latin typeface="Calibri"/>
              </a:rPr>
              <a:t>•  3+ wks supply &gt; 18-day shelf life</a:t>
            </a:r>
          </a:p>
          <a:p>
            <a:pPr algn="l">
              <a:spcAft>
                <a:spcPts val="700"/>
              </a:spcAft>
            </a:pPr>
            <a:r>
              <a:rPr sz="1250" b="0" i="0">
                <a:solidFill>
                  <a:srgbClr val="595959"/>
                </a:solidFill>
                <a:latin typeface="Calibri"/>
              </a:rPr>
              <a:t>•  Oldest drum ages out → waste / risk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1">
                <a:solidFill>
                  <a:srgbClr val="595959"/>
                </a:solidFill>
                <a:latin typeface="Calibri"/>
              </a:rPr>
              <a:t>Operating model: weekly single-drum delivery. The 1-drum/week cap rules out larger batches; APV's small-batch capability (from 5 gal) makes weekly drums workable, and the 18-day shelf life comfortably covers them.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Supplier Screening — US Field to Shortlist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109728"/>
            <a:ext cx="8229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BDD7EE"/>
                </a:solidFill>
                <a:latin typeface="Calibri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97280"/>
            <a:ext cx="110642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1">
                <a:solidFill>
                  <a:srgbClr val="595959"/>
                </a:solidFill>
                <a:latin typeface="Calibri"/>
              </a:rPr>
              <a:t>Two filters: (1) can hold the 90–95 °C cook  →  (2) right-sized for ~1 drum/wk under 18-day shelf life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783080"/>
            <a:ext cx="6583680" cy="566928"/>
          </a:xfrm>
          <a:prstGeom prst="rect">
            <a:avLst/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837943"/>
            <a:ext cx="640080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F4E78"/>
                </a:solidFill>
                <a:latin typeface="Calibri"/>
              </a:rPr>
              <a:t>CJB Applied Technologies — Valdosta, GA</a:t>
            </a:r>
          </a:p>
        </p:txBody>
      </p:sp>
      <p:sp>
        <p:nvSpPr>
          <p:cNvPr id="8" name="Rectangle 7"/>
          <p:cNvSpPr/>
          <p:nvPr/>
        </p:nvSpPr>
        <p:spPr>
          <a:xfrm>
            <a:off x="7223760" y="1783080"/>
            <a:ext cx="3291840" cy="566928"/>
          </a:xfrm>
          <a:prstGeom prst="rect">
            <a:avLst/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0" y="1837943"/>
            <a:ext cx="320040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595959"/>
                </a:solidFill>
                <a:latin typeface="Calibri"/>
              </a:rPr>
              <a:t>Front-runner (interviewed 06/26)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607040" y="1783080"/>
            <a:ext cx="1005840" cy="566928"/>
          </a:xfrm>
          <a:prstGeom prst="rect">
            <a:avLst/>
          </a:prstGeom>
          <a:solidFill>
            <a:srgbClr val="376E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607040" y="1837943"/>
            <a:ext cx="100584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YES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441448"/>
            <a:ext cx="6583680" cy="566928"/>
          </a:xfrm>
          <a:prstGeom prst="rect">
            <a:avLst/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2496312"/>
            <a:ext cx="640080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F4E78"/>
                </a:solidFill>
                <a:latin typeface="Calibri"/>
              </a:rPr>
              <a:t>APV Engineered Coatings — Akron, OH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223760" y="2441448"/>
            <a:ext cx="3291840" cy="566928"/>
          </a:xfrm>
          <a:prstGeom prst="rect">
            <a:avLst/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0" y="2496312"/>
            <a:ext cx="320040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595959"/>
                </a:solidFill>
                <a:latin typeface="Calibri"/>
              </a:rPr>
              <a:t>Engaged — pricing requested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607040" y="2441448"/>
            <a:ext cx="1005840" cy="566928"/>
          </a:xfrm>
          <a:prstGeom prst="rect">
            <a:avLst/>
          </a:prstGeom>
          <a:solidFill>
            <a:srgbClr val="9C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07040" y="2496312"/>
            <a:ext cx="100584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Re-confirm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3099815"/>
            <a:ext cx="6583680" cy="566928"/>
          </a:xfrm>
          <a:prstGeom prst="rect">
            <a:avLst/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154679"/>
            <a:ext cx="640080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F4E78"/>
                </a:solidFill>
                <a:latin typeface="Calibri"/>
              </a:rPr>
              <a:t>Piedmont Chemical / Columbus (CCI)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223760" y="3099815"/>
            <a:ext cx="3291840" cy="566928"/>
          </a:xfrm>
          <a:prstGeom prst="rect">
            <a:avLst/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0" y="3154679"/>
            <a:ext cx="320040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595959"/>
                </a:solidFill>
                <a:latin typeface="Calibri"/>
              </a:rPr>
              <a:t>Held in reserve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607040" y="3099815"/>
            <a:ext cx="1005840" cy="566928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607040" y="3154679"/>
            <a:ext cx="100584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Yes / confirm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3758183"/>
            <a:ext cx="6583680" cy="566928"/>
          </a:xfrm>
          <a:prstGeom prst="rect">
            <a:avLst/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3813047"/>
            <a:ext cx="640080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F4E78"/>
                </a:solidFill>
                <a:latin typeface="Calibri"/>
              </a:rPr>
              <a:t>CORECHEM — Knoxville, TN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223760" y="3758183"/>
            <a:ext cx="3291840" cy="566928"/>
          </a:xfrm>
          <a:prstGeom prst="rect">
            <a:avLst/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0" y="3813047"/>
            <a:ext cx="320040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595959"/>
                </a:solidFill>
                <a:latin typeface="Calibri"/>
              </a:rPr>
              <a:t>Reserve — 250-gal min vs shelf life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607040" y="3758183"/>
            <a:ext cx="1005840" cy="566928"/>
          </a:xfrm>
          <a:prstGeom prst="rect">
            <a:avLst/>
          </a:prstGeom>
          <a:solidFill>
            <a:srgbClr val="9C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607040" y="3813047"/>
            <a:ext cx="100584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Confirm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4416551"/>
            <a:ext cx="6583680" cy="566928"/>
          </a:xfrm>
          <a:prstGeom prst="rect">
            <a:avLst/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4471415"/>
            <a:ext cx="640080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F4E78"/>
                </a:solidFill>
                <a:latin typeface="Calibri"/>
              </a:rPr>
              <a:t>ArroChem — Mt. Holly, NC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223760" y="4416551"/>
            <a:ext cx="3291840" cy="566928"/>
          </a:xfrm>
          <a:prstGeom prst="rect">
            <a:avLst/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315200" y="4471415"/>
            <a:ext cx="320040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595959"/>
                </a:solidFill>
                <a:latin typeface="Calibri"/>
              </a:rPr>
              <a:t>ELIMINATED — 85 °C ceiling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607040" y="4416551"/>
            <a:ext cx="1005840" cy="56692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607040" y="4471415"/>
            <a:ext cx="100584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NO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48640" y="5074919"/>
            <a:ext cx="6583680" cy="566928"/>
          </a:xfrm>
          <a:prstGeom prst="rect">
            <a:avLst/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85800" y="5129783"/>
            <a:ext cx="640080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F4E78"/>
                </a:solidFill>
                <a:latin typeface="Calibri"/>
              </a:rPr>
              <a:t>ILC Dover — Frederica, DE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223760" y="5074919"/>
            <a:ext cx="3291840" cy="566928"/>
          </a:xfrm>
          <a:prstGeom prst="rect">
            <a:avLst/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315200" y="5129783"/>
            <a:ext cx="320040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595959"/>
                </a:solidFill>
                <a:latin typeface="Calibri"/>
              </a:rPr>
              <a:t>ELIMINATED — wrong category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607040" y="5074919"/>
            <a:ext cx="1005840" cy="56692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607040" y="5129783"/>
            <a:ext cx="100584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NO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48640" y="594360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1">
                <a:solidFill>
                  <a:srgbClr val="595959"/>
                </a:solidFill>
                <a:latin typeface="Calibri"/>
              </a:rPr>
              <a:t>Dropped (too large / MOQ): Goulston, 3V Sigma, Royal (220-gal MOQ), Columbia. Resin producers (Sekisui/Kuraray) won't sell direct at this volume.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Why We Are Advancing APV and CJB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109728"/>
            <a:ext cx="8229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BDD7EE"/>
                </a:solidFill>
                <a:latin typeface="Calibri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1F4E78"/>
                </a:solidFill>
                <a:latin typeface="Calibri"/>
              </a:rPr>
              <a:t>They are the only two that clear ALL three conditions that matter for this account: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91640"/>
            <a:ext cx="3566160" cy="1143000"/>
          </a:xfrm>
          <a:prstGeom prst="rect">
            <a:avLst/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828800"/>
            <a:ext cx="3383279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2400" b="1" i="0">
                <a:solidFill>
                  <a:srgbClr val="1F4E78"/>
                </a:solidFill>
                <a:latin typeface="Calibri"/>
              </a:rPr>
              <a:t>Capability</a:t>
            </a:r>
          </a:p>
          <a:p>
            <a:pPr algn="ctr">
              <a:spcAft>
                <a:spcPts val="400"/>
              </a:spcAft>
            </a:pPr>
            <a:r>
              <a:rPr sz="1100" b="0" i="0">
                <a:solidFill>
                  <a:srgbClr val="595959"/>
                </a:solidFill>
                <a:latin typeface="Calibri"/>
              </a:rPr>
              <a:t>Can hold the 90–95 °C cook (the disqualifier for others)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80" y="1691640"/>
            <a:ext cx="3566160" cy="1143000"/>
          </a:xfrm>
          <a:prstGeom prst="rect">
            <a:avLst/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0" y="1828800"/>
            <a:ext cx="3383279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2400" b="1" i="0">
                <a:solidFill>
                  <a:srgbClr val="1F4E78"/>
                </a:solidFill>
                <a:latin typeface="Calibri"/>
              </a:rPr>
              <a:t>Batch fit</a:t>
            </a:r>
          </a:p>
          <a:p>
            <a:pPr algn="ctr">
              <a:spcAft>
                <a:spcPts val="400"/>
              </a:spcAft>
            </a:pPr>
            <a:r>
              <a:rPr sz="1100" b="0" i="0">
                <a:solidFill>
                  <a:srgbClr val="595959"/>
                </a:solidFill>
                <a:latin typeface="Calibri"/>
              </a:rPr>
              <a:t>Small batches — right-sized for ~1 drum/wk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6720" y="1691640"/>
            <a:ext cx="3566160" cy="1143000"/>
          </a:xfrm>
          <a:prstGeom prst="rect">
            <a:avLst/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38160" y="1828800"/>
            <a:ext cx="3383279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2400" b="1" i="0">
                <a:solidFill>
                  <a:srgbClr val="1F4E78"/>
                </a:solidFill>
                <a:latin typeface="Calibri"/>
              </a:rPr>
              <a:t>Willingness</a:t>
            </a:r>
          </a:p>
          <a:p>
            <a:pPr algn="ctr">
              <a:spcAft>
                <a:spcPts val="400"/>
              </a:spcAft>
            </a:pPr>
            <a:r>
              <a:rPr sz="1100" b="0" i="0">
                <a:solidFill>
                  <a:srgbClr val="595959"/>
                </a:solidFill>
                <a:latin typeface="Calibri"/>
              </a:rPr>
              <a:t>Genuinely want a low-volume account others decline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108960"/>
            <a:ext cx="5440680" cy="3291840"/>
          </a:xfrm>
          <a:prstGeom prst="rect">
            <a:avLst/>
          </a:prstGeom>
          <a:solidFill>
            <a:srgbClr val="E2E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3246120"/>
            <a:ext cx="51206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1" i="0">
                <a:solidFill>
                  <a:srgbClr val="376E37"/>
                </a:solidFill>
                <a:latin typeface="Calibri"/>
              </a:rPr>
              <a:t>CJB — FRONT-RUNNER</a:t>
            </a:r>
          </a:p>
          <a:p>
            <a:pPr algn="l">
              <a:spcAft>
                <a:spcPts val="700"/>
              </a:spcAft>
            </a:pPr>
            <a:r>
              <a:rPr sz="1200" b="0" i="0">
                <a:solidFill>
                  <a:srgbClr val="595959"/>
                </a:solidFill>
                <a:latin typeface="Calibri"/>
              </a:rPr>
              <a:t>•  Gate CLEARED in interview: 90–95 °C for 45 min–1 hr, jacketed 316L, no fisheyes, cools ≤40 °C, prior HMW-PVA experience</a:t>
            </a:r>
          </a:p>
          <a:p>
            <a:pPr algn="l">
              <a:spcAft>
                <a:spcPts val="700"/>
              </a:spcAft>
            </a:pPr>
            <a:r>
              <a:rPr sz="1200" b="0" i="0">
                <a:solidFill>
                  <a:srgbClr val="595959"/>
                </a:solidFill>
                <a:latin typeface="Calibri"/>
              </a:rPr>
              <a:t>•  40-gal min / will do a single drum; lab-batch for qual; 3–4 day lead (or overnight)</a:t>
            </a:r>
          </a:p>
          <a:p>
            <a:pPr algn="l">
              <a:spcAft>
                <a:spcPts val="700"/>
              </a:spcAft>
            </a:pPr>
            <a:r>
              <a:rPr sz="1200" b="0" i="0">
                <a:solidFill>
                  <a:srgbClr val="595959"/>
                </a:solidFill>
                <a:latin typeface="Calibri"/>
              </a:rPr>
              <a:t>•  Bonus: ex-Lonza (Proxel) formulator on staff</a:t>
            </a:r>
          </a:p>
          <a:p>
            <a:pPr algn="l">
              <a:spcAft>
                <a:spcPts val="700"/>
              </a:spcAft>
            </a:pPr>
            <a:r>
              <a:rPr sz="1200" b="0" i="0">
                <a:solidFill>
                  <a:srgbClr val="595959"/>
                </a:solidFill>
                <a:latin typeface="Calibri"/>
              </a:rPr>
              <a:t>•  Open: NDA on process (McC); firm pricing not yet quoted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72200" y="3108960"/>
            <a:ext cx="5440680" cy="3291840"/>
          </a:xfrm>
          <a:prstGeom prst="rect">
            <a:avLst/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55080" y="3246120"/>
            <a:ext cx="51206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1" i="0">
                <a:solidFill>
                  <a:srgbClr val="2E75B6"/>
                </a:solidFill>
                <a:latin typeface="Calibri"/>
              </a:rPr>
              <a:t>APV — STRONG SECOND</a:t>
            </a:r>
          </a:p>
          <a:p>
            <a:pPr algn="l">
              <a:spcAft>
                <a:spcPts val="700"/>
              </a:spcAft>
            </a:pPr>
            <a:r>
              <a:rPr sz="1200" b="0" i="0">
                <a:solidFill>
                  <a:srgbClr val="595959"/>
                </a:solidFill>
                <a:latin typeface="Calibri"/>
              </a:rPr>
              <a:t>•  Engaged &amp; interested; very small batches (from 5 gal)</a:t>
            </a:r>
          </a:p>
          <a:p>
            <a:pPr algn="l">
              <a:spcAft>
                <a:spcPts val="700"/>
              </a:spcAft>
            </a:pPr>
            <a:r>
              <a:rPr sz="1200" b="0" i="0">
                <a:solidFill>
                  <a:srgbClr val="595959"/>
                </a:solidFill>
                <a:latin typeface="Calibri"/>
              </a:rPr>
              <a:t>•  Pigment-dispersion specialty (useful for our colorants); ISO 9001 / EPA</a:t>
            </a:r>
          </a:p>
          <a:p>
            <a:pPr algn="l">
              <a:spcAft>
                <a:spcPts val="700"/>
              </a:spcAft>
            </a:pPr>
            <a:r>
              <a:rPr sz="1200" b="0" i="0">
                <a:solidFill>
                  <a:srgbClr val="595959"/>
                </a:solidFill>
                <a:latin typeface="Calibri"/>
              </a:rPr>
              <a:t>•  Asked for pricing early — sizing the account economics</a:t>
            </a:r>
          </a:p>
          <a:p>
            <a:pPr algn="l">
              <a:spcAft>
                <a:spcPts val="700"/>
              </a:spcAft>
            </a:pPr>
            <a:r>
              <a:rPr sz="1200" b="0" i="0">
                <a:solidFill>
                  <a:srgbClr val="595959"/>
                </a:solidFill>
                <a:latin typeface="Calibri"/>
              </a:rPr>
              <a:t>•  Open: re-confirm 90–95 °C hold; send pricing envelope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Why Keep Both Warm — Low-Volume Leverage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109728"/>
            <a:ext cx="8229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BDD7EE"/>
                </a:solidFill>
                <a:latin typeface="Calibri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b="1" sz="1600">
                <a:solidFill>
                  <a:srgbClr val="1F4E78"/>
                </a:solidFill>
                <a:latin typeface="Calibri"/>
              </a:rPr>
              <a:t>• We are a small, low-attractiveness account </a:t>
            </a:r>
            <a:r>
              <a:rPr sz="1600">
                <a:solidFill>
                  <a:srgbClr val="595959"/>
                </a:solidFill>
                <a:latin typeface="Calibri"/>
              </a:rPr>
              <a:t>(Kraljic 'bottleneck'; likely a 'nuisance' account to a blender). Our structural negotiating leverage is weak.</a:t>
            </a:r>
          </a:p>
          <a:p>
            <a:pPr algn="l">
              <a:spcAft>
                <a:spcPts val="1400"/>
              </a:spcAft>
            </a:pPr>
            <a:r>
              <a:rPr b="1" sz="1600">
                <a:solidFill>
                  <a:srgbClr val="1F4E78"/>
                </a:solidFill>
                <a:latin typeface="Calibri"/>
              </a:rPr>
              <a:t>• Two qualified, interested suppliers is the single best lever </a:t>
            </a:r>
            <a:r>
              <a:rPr sz="1600">
                <a:solidFill>
                  <a:srgbClr val="595959"/>
                </a:solidFill>
                <a:latin typeface="Calibri"/>
              </a:rPr>
              <a:t>we have — it disciplines pricing and protects continuity without overplaying a volume we don't have.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3657600"/>
            <a:ext cx="11064240" cy="41148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370332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How we play 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206240"/>
            <a:ext cx="110642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b="1" sz="1400">
                <a:solidFill>
                  <a:srgbClr val="1F4E78"/>
                </a:solidFill>
                <a:latin typeface="Calibri"/>
              </a:rPr>
              <a:t>• Sell the relationship, not the volume </a:t>
            </a:r>
            <a:r>
              <a:rPr sz="1400">
                <a:solidFill>
                  <a:srgbClr val="595959"/>
                </a:solidFill>
                <a:latin typeface="Calibri"/>
              </a:rPr>
              <a:t>— qualified, recurring, blue-chip, low-touch, room to grow.</a:t>
            </a:r>
          </a:p>
          <a:p>
            <a:pPr algn="l">
              <a:spcAft>
                <a:spcPts val="900"/>
              </a:spcAft>
            </a:pPr>
            <a:r>
              <a:rPr b="1" sz="1400">
                <a:solidFill>
                  <a:srgbClr val="1F4E78"/>
                </a:solidFill>
                <a:latin typeface="Calibri"/>
              </a:rPr>
              <a:t>• Quote per drum as a recurring rotation </a:t>
            </a:r>
            <a:r>
              <a:rPr sz="1400">
                <a:solidFill>
                  <a:srgbClr val="595959"/>
                </a:solidFill>
                <a:latin typeface="Calibri"/>
              </a:rPr>
              <a:t>— avoid the small-annual-number anchor that triggers nuisance pricing.</a:t>
            </a:r>
          </a:p>
          <a:p>
            <a:pPr algn="l">
              <a:spcAft>
                <a:spcPts val="900"/>
              </a:spcAft>
            </a:pPr>
            <a:r>
              <a:rPr b="1" sz="1400">
                <a:solidFill>
                  <a:srgbClr val="1F4E78"/>
                </a:solidFill>
                <a:latin typeface="Calibri"/>
              </a:rPr>
              <a:t>• Use the Intuitive name for credibility </a:t>
            </a:r>
            <a:r>
              <a:rPr sz="1400">
                <a:solidFill>
                  <a:srgbClr val="595959"/>
                </a:solidFill>
                <a:latin typeface="Calibri"/>
              </a:rPr>
              <a:t>— but set volume expectations at the division level so quotes stay realistic.</a:t>
            </a:r>
          </a:p>
          <a:p>
            <a:pPr algn="l">
              <a:spcAft>
                <a:spcPts val="900"/>
              </a:spcAft>
            </a:pPr>
            <a:r>
              <a:rPr b="1" sz="1400">
                <a:solidFill>
                  <a:srgbClr val="1F4E78"/>
                </a:solidFill>
                <a:latin typeface="Calibri"/>
              </a:rPr>
              <a:t>• Advance CJB as front-runner; keep APV in genuine competition </a:t>
            </a:r>
            <a:r>
              <a:rPr sz="1400">
                <a:solidFill>
                  <a:srgbClr val="595959"/>
                </a:solidFill>
                <a:latin typeface="Calibri"/>
              </a:rPr>
              <a:t>— not as a courtesy.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Quality &amp; Regulatory 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109728"/>
            <a:ext cx="8229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BDD7EE"/>
                </a:solidFill>
                <a:latin typeface="Calibri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110642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b="1" sz="1500">
                <a:solidFill>
                  <a:srgbClr val="1F4E78"/>
                </a:solidFill>
                <a:latin typeface="Calibri"/>
              </a:rPr>
              <a:t>• FDA QMSR in force (2026-02-02) </a:t>
            </a:r>
            <a:r>
              <a:rPr sz="1500">
                <a:solidFill>
                  <a:srgbClr val="595959"/>
                </a:solidFill>
                <a:latin typeface="Calibri"/>
              </a:rPr>
              <a:t>— incorporates ISO 13485:2016 by reference. Supplier controls follow ISO 13485 §7.4 (Purchasing), not the legacy 21 CFR 820.50.</a:t>
            </a:r>
          </a:p>
          <a:p>
            <a:pPr algn="l">
              <a:spcAft>
                <a:spcPts val="1200"/>
              </a:spcAft>
            </a:pPr>
            <a:r>
              <a:rPr b="1" sz="1500">
                <a:solidFill>
                  <a:srgbClr val="1F4E78"/>
                </a:solidFill>
                <a:latin typeface="Calibri"/>
              </a:rPr>
              <a:t>• Qualification </a:t>
            </a:r>
            <a:r>
              <a:rPr sz="1500">
                <a:solidFill>
                  <a:srgbClr val="595959"/>
                </a:solidFill>
                <a:latin typeface="Calibri"/>
              </a:rPr>
              <a:t>— risk-proportionate supplier evaluation, monitoring, re-evaluation (§7.4.1); build on GHTF/SG3/N17 methodology with a Carter's 10 Cs scorecard.</a:t>
            </a:r>
          </a:p>
          <a:p>
            <a:pPr algn="l">
              <a:spcAft>
                <a:spcPts val="1200"/>
              </a:spcAft>
            </a:pPr>
            <a:r>
              <a:rPr b="1" sz="1500">
                <a:solidFill>
                  <a:srgbClr val="1F4E78"/>
                </a:solidFill>
                <a:latin typeface="Calibri"/>
              </a:rPr>
              <a:t>• Supplier Quality Agreement </a:t>
            </a:r>
            <a:r>
              <a:rPr sz="1500">
                <a:solidFill>
                  <a:srgbClr val="595959"/>
                </a:solidFill>
                <a:latin typeface="Calibri"/>
              </a:rPr>
              <a:t>— specs/acceptance, advance change-notification, right-to-audit. Connects to CJB's NDA-on-process step.</a:t>
            </a:r>
          </a:p>
          <a:p>
            <a:pPr algn="l">
              <a:spcAft>
                <a:spcPts val="1200"/>
              </a:spcAft>
            </a:pPr>
            <a:r>
              <a:rPr b="1" sz="1500">
                <a:solidFill>
                  <a:srgbClr val="1F4E78"/>
                </a:solidFill>
                <a:latin typeface="Calibri"/>
              </a:rPr>
              <a:t>• Classification </a:t>
            </a:r>
            <a:r>
              <a:rPr sz="1500">
                <a:solidFill>
                  <a:srgbClr val="595959"/>
                </a:solidFill>
                <a:latin typeface="Calibri"/>
              </a:rPr>
              <a:t>— confirm before invoking ICH Q7 (applies only if API / drug-GMP).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Open Items &amp; 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109728"/>
            <a:ext cx="8229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BDD7EE"/>
                </a:solidFill>
                <a:latin typeface="Calibri"/>
              </a:rPr>
              <a:t>10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71600"/>
            <a:ext cx="640080" cy="6400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481328"/>
            <a:ext cx="6400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1280160" y="1371600"/>
            <a:ext cx="6949440" cy="640080"/>
          </a:xfrm>
          <a:prstGeom prst="rect">
            <a:avLst/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17320" y="1435608"/>
            <a:ext cx="676656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 i="0">
                <a:solidFill>
                  <a:srgbClr val="1F4E78"/>
                </a:solidFill>
                <a:latin typeface="Calibri"/>
              </a:rPr>
              <a:t>Pull SNP CoA history → finalize viscosity &amp; pH targets</a:t>
            </a:r>
          </a:p>
        </p:txBody>
      </p:sp>
      <p:sp>
        <p:nvSpPr>
          <p:cNvPr id="9" name="Rectangle 8"/>
          <p:cNvSpPr/>
          <p:nvPr/>
        </p:nvSpPr>
        <p:spPr>
          <a:xfrm>
            <a:off x="8321040" y="1371600"/>
            <a:ext cx="3291840" cy="640080"/>
          </a:xfrm>
          <a:prstGeom prst="rect">
            <a:avLst/>
          </a:prstGeom>
          <a:solidFill>
            <a:srgbClr val="DD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0" y="1435608"/>
            <a:ext cx="320040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595959"/>
                </a:solidFill>
                <a:latin typeface="Calibri"/>
              </a:rPr>
              <a:t>Highest leverage — gates any firm quote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121408"/>
            <a:ext cx="640080" cy="6400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2231136"/>
            <a:ext cx="6400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280160" y="2121408"/>
            <a:ext cx="6949440" cy="640080"/>
          </a:xfrm>
          <a:prstGeom prst="rect">
            <a:avLst/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17320" y="2185415"/>
            <a:ext cx="676656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 i="0">
                <a:solidFill>
                  <a:srgbClr val="1F4E78"/>
                </a:solidFill>
                <a:latin typeface="Calibri"/>
              </a:rPr>
              <a:t>CJB NDA on process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21040" y="2121408"/>
            <a:ext cx="3291840" cy="640080"/>
          </a:xfrm>
          <a:prstGeom prst="rect">
            <a:avLst/>
          </a:prstGeom>
          <a:solidFill>
            <a:srgbClr val="DD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0" y="2185415"/>
            <a:ext cx="320040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595959"/>
                </a:solidFill>
                <a:latin typeface="Calibri"/>
              </a:rPr>
              <a:t>In work — McC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2871215"/>
            <a:ext cx="640080" cy="6400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2980944"/>
            <a:ext cx="6400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280160" y="2871215"/>
            <a:ext cx="6949440" cy="640080"/>
          </a:xfrm>
          <a:prstGeom prst="rect">
            <a:avLst/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17320" y="2935223"/>
            <a:ext cx="676656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 i="0">
                <a:solidFill>
                  <a:srgbClr val="1F4E78"/>
                </a:solidFill>
                <a:latin typeface="Calibri"/>
              </a:rPr>
              <a:t>Send CJB full spec + RFQ (Option A &amp; B, per-drum)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321040" y="2871215"/>
            <a:ext cx="3291840" cy="640080"/>
          </a:xfrm>
          <a:prstGeom prst="rect">
            <a:avLst/>
          </a:prstGeom>
          <a:solidFill>
            <a:srgbClr val="DD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12480" y="2935223"/>
            <a:ext cx="320040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595959"/>
                </a:solidFill>
                <a:latin typeface="Calibri"/>
              </a:rPr>
              <a:t>After NDA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3621023"/>
            <a:ext cx="640080" cy="6400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3730751"/>
            <a:ext cx="6400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280160" y="3621023"/>
            <a:ext cx="6949440" cy="640080"/>
          </a:xfrm>
          <a:prstGeom prst="rect">
            <a:avLst/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17320" y="3685031"/>
            <a:ext cx="676656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 i="0">
                <a:solidFill>
                  <a:srgbClr val="1F4E78"/>
                </a:solidFill>
                <a:latin typeface="Calibri"/>
              </a:rPr>
              <a:t>Re-confirm APV 90–95 °C; send pricing benchmark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321040" y="3621023"/>
            <a:ext cx="3291840" cy="640080"/>
          </a:xfrm>
          <a:prstGeom prst="rect">
            <a:avLst/>
          </a:prstGeom>
          <a:solidFill>
            <a:srgbClr val="DD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12480" y="3685031"/>
            <a:ext cx="320040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595959"/>
                </a:solidFill>
                <a:latin typeface="Calibri"/>
              </a:rPr>
              <a:t>Open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4370831"/>
            <a:ext cx="640080" cy="6400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8640" y="4480559"/>
            <a:ext cx="6400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280160" y="4370831"/>
            <a:ext cx="6949440" cy="640080"/>
          </a:xfrm>
          <a:prstGeom prst="rect">
            <a:avLst/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417320" y="4434840"/>
            <a:ext cx="676656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 i="0">
                <a:solidFill>
                  <a:srgbClr val="1F4E78"/>
                </a:solidFill>
                <a:latin typeface="Calibri"/>
              </a:rPr>
              <a:t>Execute Supplier Quality Agreement with selected source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321040" y="4370831"/>
            <a:ext cx="3291840" cy="640080"/>
          </a:xfrm>
          <a:prstGeom prst="rect">
            <a:avLst/>
          </a:prstGeom>
          <a:solidFill>
            <a:srgbClr val="DD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12480" y="4434840"/>
            <a:ext cx="320040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595959"/>
                </a:solidFill>
                <a:latin typeface="Calibri"/>
              </a:rPr>
              <a:t>After award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8640" y="5120640"/>
            <a:ext cx="640080" cy="6400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5230368"/>
            <a:ext cx="6400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280160" y="5120640"/>
            <a:ext cx="6949440" cy="640080"/>
          </a:xfrm>
          <a:prstGeom prst="rect">
            <a:avLst/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417320" y="5184648"/>
            <a:ext cx="676656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 i="0">
                <a:solidFill>
                  <a:srgbClr val="1F4E78"/>
                </a:solidFill>
                <a:latin typeface="Calibri"/>
              </a:rPr>
              <a:t>Keep Piedmont / Columbus in reserve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321040" y="5120640"/>
            <a:ext cx="3291840" cy="640080"/>
          </a:xfrm>
          <a:prstGeom prst="rect">
            <a:avLst/>
          </a:prstGeom>
          <a:solidFill>
            <a:srgbClr val="DD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412480" y="5184648"/>
            <a:ext cx="320040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595959"/>
                </a:solidFill>
                <a:latin typeface="Calibri"/>
              </a:rPr>
              <a:t>Standby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8640" y="635508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1">
                <a:solidFill>
                  <a:srgbClr val="595959"/>
                </a:solidFill>
                <a:latin typeface="Calibri"/>
              </a:rPr>
              <a:t>Detail in PVA_Second_Source_Report.docx and PVA_Second_Source_Pricing_Model.xlsx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54864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69848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 i="0">
                <a:solidFill>
                  <a:srgbClr val="FFFFFF"/>
                </a:solidFill>
                <a:latin typeface="Calibri"/>
              </a:rPr>
              <a:t>What a Second Source Costs —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926080"/>
            <a:ext cx="106984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Capped at 1 drum/week (~35%): if SNP holds price, redundancy ≈ $6–12k/yr at the proposed $1.00–1.25/lb band (≈$0 at parity).</a:t>
            </a:r>
          </a:p>
          <a:p>
            <a:pPr algn="l">
              <a:spcAft>
                <a:spcPts val="14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If SNP raises price on the reduced volume: that surcharge — on the larger retained volume — is often the bigger driver.</a:t>
            </a:r>
          </a:p>
          <a:p>
            <a:pPr algn="l">
              <a:spcAft>
                <a:spcPts val="14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Range at the cap: ~$0 to ~$24k/yr (worst case = top price + SNP also raising).</a:t>
            </a:r>
          </a:p>
          <a:p>
            <a:pPr algn="l">
              <a:spcAft>
                <a:spcPts val="14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Nothing decided — CJB &amp; APV both viable; scenarios stay ready to update as quotes (and any SNP re-price) arrive.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