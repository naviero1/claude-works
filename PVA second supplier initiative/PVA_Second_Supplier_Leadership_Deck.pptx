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supply-risk item, one decision. Four parts: was a second supplier even feasible; what it costs; what running two would look like day to day, including what we owe the candidate; and the decision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Two things limited the field. First, temperature: this PVA only dissolves with a 30 to 45 minute hold at 90 to 95 degrees C, and most toll blenders cannot get there - ArroChem, ILC Dover and Columbus Chemical all failed on that alone. Second, expertise: getting through the gate is not the same as making the product. Brenntag's trial came back with viscosity too high to read; PCI's first batch was more than double our target until we found the solids root cause. Then cost and fit: the one quote through the gate was eleven times SNP, and everyone viable needs at least a drum a week. The point: SNP is not just cheap - it is one of very few shops that can make this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one - where every number comes from, because you will be asked. The material floor is 16 to 20 cents a pound - resin at market price times 11 percent solids. SNP's 75 cents is a real quote. The market range - 85 cents, a dollar forty, two fifty-five - is built bottom-up from resin, labor, QC and freight, with the high end anchored by a retail comparable. PCI's 2.50 to 5 dollars is our forecast, not their number. CJB's 8.42 is real, and it is an outlier. Why does a new supplier cost more? Because conversion cost is fixed per batch, and spread over one drum that alone is one to two dollars a pound. Why is SNP cheap? Specialization: it is their product line, and they have tank sizes that fit our batch - so the fixed cost per pound stays 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two - what it means for us. Each bar is the extra we pay per year at one drum a week. PCI at 2.50 to 5 dollars: 41 to 99 thousand a year - roughly today's entire PVA bill again, every year, growing with volume. Five years: 242 to 588 thousand. There is no smaller version of this, because a drum a week is the least any supplier will take. And if SNP re-prices the volume it keeps, add a few thousand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three - the upside case, because it changes everything. Everything so far assumed a non-specialist price. But the market base is a dollar forty, so a capable shop at one to two-fifty is plausible. At a dollar to a dollar fifty the premium is 6 to 18 thousand a year and it pays off against almost any outage - that is the July plan, as described. At two dollars it is borderline. At two-fifty it needs a big outage cost. So the opportunity cost of not looking is real: we could be leaving cheap insurance on the table, plus a live price reference on SNP. And finding out is free - an RFQ to PCI on the spec we have already agreed, about two weeks.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an 18 to 30 day shelf life nothing is stockpiled - every drum is made to order from both suppliers. That means one harmonized spec and one viscometer method, an incoming test on every lot from both, lot traceability so we can see hydrogel performance by source, two cleaning procedures, two quality agreements. It is manageable, but it is a permanent discipline. And one thing it needs that we do not yet have: a written ramp plan for PCI. Without that, the second source cannot actually cover an outage - two-thirds of our volume still stops.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PCI question - because it is a fair one. They have put months of unpaid engineering into a small account. If we deem them capable and then do not buy, the realistic outcomes are that they decline to re-engage, deprioritize us, or demand paid development and a commitment next time. That is a real soft cost of Option B that the spreadsheet does not show. The honest way to handle it: decide before the next round of free experiments; if we lean B, be transparent about the triggers and pay for the work done - about the same 15 thousand any second source would cost to qualify; if we lean A, commit to the drum a week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A costs about 70 thousand a year at the mid price and buys recovery in weeks - if the ramp plan is real. B costs almost nothing and leaves us exposed for months if SNP fails. A pays off only if a six-month outage would cost us more than about 700 thousand at a 10 percent annual risk, or 1.4 million at 5 percent. My recommendation, in order: first, price discovery - get PCI's real number, it is free and it decides this; at or below a dollar fifty we go to A, at two-fifty and above we stay B unless the outage cost is large, and in between the outage number decides. Second, either way, strengthen SNP now. Third, if it is B, settle with PCI honestly. Three asks: the outage-cost number from Finance and Ops; the go-ahead to get PCI's price now; and approval to formalize SNP.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sources, suppliers by full name, and acronyms. The model is in the workbook; every input is editable, including the supplier minimum.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2560320"/>
          </a:xfrm>
          <a:prstGeom prst="rect">
            <a:avLst/>
          </a:prstGeom>
          <a:noFill/>
        </p:spPr>
        <p:txBody>
          <a:bodyPr wrap="square">
            <a:spAutoFit/>
          </a:bodyPr>
          <a:lstStyle/>
          <a:p>
            <a:pPr algn="l">
              <a:spcAft>
                <a:spcPts val="400"/>
              </a:spcAft>
            </a:pPr>
            <a:r>
              <a:rPr sz="4200" b="1" i="0">
                <a:solidFill>
                  <a:srgbClr val="FFFFFF"/>
                </a:solidFill>
                <a:latin typeface="Calibri"/>
              </a:rPr>
              <a:t>Liquid PVA: One Supplier or Two?</a:t>
            </a:r>
          </a:p>
          <a:p>
            <a:pPr algn="l">
              <a:spcAft>
                <a:spcPts val="400"/>
              </a:spcAft>
            </a:pPr>
            <a:r>
              <a:rPr sz="2200" b="0" i="0">
                <a:solidFill>
                  <a:srgbClr val="BDD7EE"/>
                </a:solidFill>
                <a:latin typeface="Calibri"/>
              </a:rPr>
              <a:t>Feasibility  ·  Cost  ·  Logistics  ·  Decision</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40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22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Feasibility: two things limited the field — temperature, then expertise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FEASIBILITY</a:t>
            </a:r>
          </a:p>
        </p:txBody>
      </p:sp>
      <p:sp>
        <p:nvSpPr>
          <p:cNvPr id="5" name="Rectangle 4"/>
          <p:cNvSpPr/>
          <p:nvPr/>
        </p:nvSpPr>
        <p:spPr>
          <a:xfrm>
            <a:off x="548640" y="1097280"/>
            <a:ext cx="2651760"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207007"/>
            <a:ext cx="2432304" cy="969264"/>
          </a:xfrm>
          <a:prstGeom prst="rect">
            <a:avLst/>
          </a:prstGeom>
          <a:noFill/>
        </p:spPr>
        <p:txBody>
          <a:bodyPr wrap="square" anchor="ctr">
            <a:spAutoFit/>
          </a:bodyPr>
          <a:lstStyle/>
          <a:p>
            <a:pPr algn="ctr">
              <a:spcAft>
                <a:spcPts val="200"/>
              </a:spcAft>
            </a:pPr>
            <a:r>
              <a:rPr sz="2400" b="1" i="0">
                <a:solidFill>
                  <a:srgbClr val="1F3864"/>
                </a:solidFill>
                <a:latin typeface="Calibri"/>
              </a:rPr>
              <a:t>94</a:t>
            </a:r>
          </a:p>
          <a:p>
            <a:pPr algn="ctr">
              <a:spcAft>
                <a:spcPts val="400"/>
              </a:spcAft>
            </a:pPr>
            <a:r>
              <a:rPr sz="1050" b="0" i="0">
                <a:solidFill>
                  <a:srgbClr val="595959"/>
                </a:solidFill>
                <a:latin typeface="Calibri"/>
              </a:rPr>
              <a:t>US suppliers screened</a:t>
            </a:r>
          </a:p>
        </p:txBody>
      </p:sp>
      <p:sp>
        <p:nvSpPr>
          <p:cNvPr id="7" name="Rectangle 6"/>
          <p:cNvSpPr/>
          <p:nvPr/>
        </p:nvSpPr>
        <p:spPr>
          <a:xfrm>
            <a:off x="3383280" y="1097280"/>
            <a:ext cx="265176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207007"/>
            <a:ext cx="2432304" cy="969264"/>
          </a:xfrm>
          <a:prstGeom prst="rect">
            <a:avLst/>
          </a:prstGeom>
          <a:noFill/>
        </p:spPr>
        <p:txBody>
          <a:bodyPr wrap="square" anchor="ctr">
            <a:spAutoFit/>
          </a:bodyPr>
          <a:lstStyle/>
          <a:p>
            <a:pPr algn="ctr">
              <a:spcAft>
                <a:spcPts val="200"/>
              </a:spcAft>
            </a:pPr>
            <a:r>
              <a:rPr sz="2400" b="1" i="0">
                <a:solidFill>
                  <a:srgbClr val="9C5A0C"/>
                </a:solidFill>
                <a:latin typeface="Calibri"/>
              </a:rPr>
              <a:t>~10</a:t>
            </a:r>
          </a:p>
          <a:p>
            <a:pPr algn="ctr">
              <a:spcAft>
                <a:spcPts val="400"/>
              </a:spcAft>
            </a:pPr>
            <a:r>
              <a:rPr sz="1050" b="0" i="0">
                <a:solidFill>
                  <a:srgbClr val="595959"/>
                </a:solidFill>
                <a:latin typeface="Calibri"/>
              </a:rPr>
              <a:t>could hold 90–95 °C</a:t>
            </a:r>
          </a:p>
        </p:txBody>
      </p:sp>
      <p:sp>
        <p:nvSpPr>
          <p:cNvPr id="9" name="Rectangle 8"/>
          <p:cNvSpPr/>
          <p:nvPr/>
        </p:nvSpPr>
        <p:spPr>
          <a:xfrm>
            <a:off x="6217920" y="1097280"/>
            <a:ext cx="2651760" cy="1188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207007"/>
            <a:ext cx="2432304" cy="969264"/>
          </a:xfrm>
          <a:prstGeom prst="rect">
            <a:avLst/>
          </a:prstGeom>
          <a:noFill/>
        </p:spPr>
        <p:txBody>
          <a:bodyPr wrap="square" anchor="ctr">
            <a:spAutoFit/>
          </a:bodyPr>
          <a:lstStyle/>
          <a:p>
            <a:pPr algn="ctr">
              <a:spcAft>
                <a:spcPts val="200"/>
              </a:spcAft>
            </a:pPr>
            <a:r>
              <a:rPr sz="2400" b="1" i="0">
                <a:solidFill>
                  <a:srgbClr val="2E7D46"/>
                </a:solidFill>
                <a:latin typeface="Calibri"/>
              </a:rPr>
              <a:t>1</a:t>
            </a:r>
          </a:p>
          <a:p>
            <a:pPr algn="ctr">
              <a:spcAft>
                <a:spcPts val="400"/>
              </a:spcAft>
            </a:pPr>
            <a:r>
              <a:rPr sz="1050" b="0" i="0">
                <a:solidFill>
                  <a:srgbClr val="595959"/>
                </a:solidFill>
                <a:latin typeface="Calibri"/>
              </a:rPr>
              <a:t>proved the expertise (PCI Manufacturing)</a:t>
            </a:r>
          </a:p>
        </p:txBody>
      </p:sp>
      <p:sp>
        <p:nvSpPr>
          <p:cNvPr id="11" name="Rectangle 10"/>
          <p:cNvSpPr/>
          <p:nvPr/>
        </p:nvSpPr>
        <p:spPr>
          <a:xfrm>
            <a:off x="9052560" y="1097280"/>
            <a:ext cx="2560320" cy="11887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62288" y="1207007"/>
            <a:ext cx="2340863" cy="969264"/>
          </a:xfrm>
          <a:prstGeom prst="rect">
            <a:avLst/>
          </a:prstGeom>
          <a:noFill/>
        </p:spPr>
        <p:txBody>
          <a:bodyPr wrap="square" anchor="ctr">
            <a:spAutoFit/>
          </a:bodyPr>
          <a:lstStyle/>
          <a:p>
            <a:pPr algn="ctr">
              <a:spcAft>
                <a:spcPts val="200"/>
              </a:spcAft>
            </a:pPr>
            <a:r>
              <a:rPr sz="2400" b="1" i="0">
                <a:solidFill>
                  <a:srgbClr val="B23A2E"/>
                </a:solidFill>
                <a:latin typeface="Calibri"/>
              </a:rPr>
              <a:t>~6 months</a:t>
            </a:r>
          </a:p>
          <a:p>
            <a:pPr algn="ctr">
              <a:spcAft>
                <a:spcPts val="400"/>
              </a:spcAft>
            </a:pPr>
            <a:r>
              <a:rPr sz="1050" b="0" i="0">
                <a:solidFill>
                  <a:srgbClr val="595959"/>
                </a:solidFill>
                <a:latin typeface="Calibri"/>
              </a:rPr>
              <a:t>to get there</a:t>
            </a:r>
          </a:p>
        </p:txBody>
      </p:sp>
      <p:sp>
        <p:nvSpPr>
          <p:cNvPr id="13" name="Rectangle 12"/>
          <p:cNvSpPr/>
          <p:nvPr/>
        </p:nvSpPr>
        <p:spPr>
          <a:xfrm>
            <a:off x="548640" y="2514600"/>
            <a:ext cx="3611880" cy="329184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51760"/>
            <a:ext cx="3246120" cy="3017520"/>
          </a:xfrm>
          <a:prstGeom prst="rect">
            <a:avLst/>
          </a:prstGeom>
          <a:noFill/>
        </p:spPr>
        <p:txBody>
          <a:bodyPr wrap="square">
            <a:spAutoFit/>
          </a:bodyPr>
          <a:lstStyle/>
          <a:p>
            <a:pPr algn="l">
              <a:spcAft>
                <a:spcPts val="700"/>
              </a:spcAft>
            </a:pPr>
            <a:r>
              <a:rPr sz="1400" b="1" i="0">
                <a:solidFill>
                  <a:srgbClr val="B23A2E"/>
                </a:solidFill>
                <a:latin typeface="Calibri"/>
              </a:rPr>
              <a:t>Limit 1 — Temperature</a:t>
            </a:r>
          </a:p>
          <a:p>
            <a:pPr algn="l">
              <a:spcAft>
                <a:spcPts val="600"/>
              </a:spcAft>
            </a:pPr>
            <a:r>
              <a:rPr sz="1150" b="0" i="0">
                <a:solidFill>
                  <a:srgbClr val="595959"/>
                </a:solidFill>
                <a:latin typeface="Calibri"/>
              </a:rPr>
              <a:t>•  Super-hydrolyzed, high-molecular-weight PVA only dissolves with a 30–45 min hold at 90–95 °C</a:t>
            </a:r>
          </a:p>
          <a:p>
            <a:pPr algn="l">
              <a:spcAft>
                <a:spcPts val="600"/>
              </a:spcAft>
            </a:pPr>
            <a:r>
              <a:rPr sz="1150" b="0" i="0">
                <a:solidFill>
                  <a:srgbClr val="595959"/>
                </a:solidFill>
                <a:latin typeface="Calibri"/>
              </a:rPr>
              <a:t>•  Most toll blenders top out lower. ArroChem Inc. (85 °C ceiling), ILC Dover and Columbus Chemical Industries all failed here</a:t>
            </a:r>
          </a:p>
          <a:p>
            <a:pPr algn="l">
              <a:spcAft>
                <a:spcPts val="600"/>
              </a:spcAft>
            </a:pPr>
            <a:r>
              <a:rPr sz="1150" b="0" i="0">
                <a:solidFill>
                  <a:srgbClr val="595959"/>
                </a:solidFill>
                <a:latin typeface="Calibri"/>
              </a:rPr>
              <a:t>•  This single gate removed most of the 94</a:t>
            </a:r>
          </a:p>
        </p:txBody>
      </p:sp>
      <p:sp>
        <p:nvSpPr>
          <p:cNvPr id="15" name="Rectangle 14"/>
          <p:cNvSpPr/>
          <p:nvPr/>
        </p:nvSpPr>
        <p:spPr>
          <a:xfrm>
            <a:off x="4297680" y="2514600"/>
            <a:ext cx="3611880" cy="3291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51760"/>
            <a:ext cx="3246120" cy="3017520"/>
          </a:xfrm>
          <a:prstGeom prst="rect">
            <a:avLst/>
          </a:prstGeom>
          <a:noFill/>
        </p:spPr>
        <p:txBody>
          <a:bodyPr wrap="square">
            <a:spAutoFit/>
          </a:bodyPr>
          <a:lstStyle/>
          <a:p>
            <a:pPr algn="l">
              <a:spcAft>
                <a:spcPts val="700"/>
              </a:spcAft>
            </a:pPr>
            <a:r>
              <a:rPr sz="1400" b="1" i="0">
                <a:solidFill>
                  <a:srgbClr val="9C5A0C"/>
                </a:solidFill>
                <a:latin typeface="Calibri"/>
              </a:rPr>
              <a:t>Limit 2 — Expertise</a:t>
            </a:r>
          </a:p>
          <a:p>
            <a:pPr algn="l">
              <a:spcAft>
                <a:spcPts val="600"/>
              </a:spcAft>
            </a:pPr>
            <a:r>
              <a:rPr sz="1150" b="0" i="0">
                <a:solidFill>
                  <a:srgbClr val="595959"/>
                </a:solidFill>
                <a:latin typeface="Calibri"/>
              </a:rPr>
              <a:t>•  Getting through the gate is not the same as making the product: no fisheyes, no gels, viscosity on target</a:t>
            </a:r>
          </a:p>
          <a:p>
            <a:pPr algn="l">
              <a:spcAft>
                <a:spcPts val="600"/>
              </a:spcAft>
            </a:pPr>
            <a:r>
              <a:rPr sz="1150" b="0" i="0">
                <a:solidFill>
                  <a:srgbClr val="595959"/>
                </a:solidFill>
                <a:latin typeface="Calibri"/>
              </a:rPr>
              <a:t>•  Brenntag's trial: viscosity 'too high to read'. PCI Manufacturing's first batch: 2,420 cP vs ~1,000 target — fixed only after finding the solids root cause</a:t>
            </a:r>
          </a:p>
          <a:p>
            <a:pPr algn="l">
              <a:spcAft>
                <a:spcPts val="600"/>
              </a:spcAft>
            </a:pPr>
            <a:r>
              <a:rPr sz="1150" b="0" i="0">
                <a:solidFill>
                  <a:srgbClr val="595959"/>
                </a:solidFill>
                <a:latin typeface="Calibri"/>
              </a:rPr>
              <a:t>•  Handful of shops in the US have done this before</a:t>
            </a:r>
          </a:p>
        </p:txBody>
      </p:sp>
      <p:sp>
        <p:nvSpPr>
          <p:cNvPr id="17" name="Rectangle 16"/>
          <p:cNvSpPr/>
          <p:nvPr/>
        </p:nvSpPr>
        <p:spPr>
          <a:xfrm>
            <a:off x="8046720" y="2514600"/>
            <a:ext cx="3566160" cy="3291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651760"/>
            <a:ext cx="3200400" cy="3017520"/>
          </a:xfrm>
          <a:prstGeom prst="rect">
            <a:avLst/>
          </a:prstGeom>
          <a:noFill/>
        </p:spPr>
        <p:txBody>
          <a:bodyPr wrap="square">
            <a:spAutoFit/>
          </a:bodyPr>
          <a:lstStyle/>
          <a:p>
            <a:pPr algn="l">
              <a:spcAft>
                <a:spcPts val="700"/>
              </a:spcAft>
            </a:pPr>
            <a:r>
              <a:rPr sz="1400" b="1" i="0">
                <a:solidFill>
                  <a:srgbClr val="1F3864"/>
                </a:solidFill>
                <a:latin typeface="Calibri"/>
              </a:rPr>
              <a:t>Then — cost &amp; fit</a:t>
            </a:r>
          </a:p>
          <a:p>
            <a:pPr algn="l">
              <a:spcAft>
                <a:spcPts val="600"/>
              </a:spcAft>
            </a:pPr>
            <a:r>
              <a:rPr sz="1150" b="0" i="0">
                <a:solidFill>
                  <a:srgbClr val="595959"/>
                </a:solidFill>
                <a:latin typeface="Calibri"/>
              </a:rPr>
              <a:t>•  The one toll quote through the gate (CJB Applied Technologies): ~11× SNP Inc.</a:t>
            </a:r>
          </a:p>
          <a:p>
            <a:pPr algn="l">
              <a:spcAft>
                <a:spcPts val="600"/>
              </a:spcAft>
            </a:pPr>
            <a:r>
              <a:rPr sz="1150" b="0" i="0">
                <a:solidFill>
                  <a:srgbClr val="595959"/>
                </a:solidFill>
                <a:latin typeface="Calibri"/>
              </a:rPr>
              <a:t>•  18-day shelf life ⇒ small batches; suppliers with 220–250 gal minimums (Royal Chemical, CORECHEM) overshoot it</a:t>
            </a:r>
          </a:p>
          <a:p>
            <a:pPr algn="l">
              <a:spcAft>
                <a:spcPts val="600"/>
              </a:spcAft>
            </a:pPr>
            <a:r>
              <a:rPr sz="1150" b="0" i="0">
                <a:solidFill>
                  <a:srgbClr val="595959"/>
                </a:solidFill>
                <a:latin typeface="Calibri"/>
              </a:rPr>
              <a:t>•  Every viable supplier needs ≥1 drum/week to engage</a:t>
            </a:r>
          </a:p>
        </p:txBody>
      </p:sp>
      <p:sp>
        <p:nvSpPr>
          <p:cNvPr id="19" name="Rectangle 1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SNP Inc. is not just cheap — it is one of very few shops that can make this at all, and it does so as its core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(1 of 3): where every price on the table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graphicFrame>
        <p:nvGraphicFramePr>
          <p:cNvPr id="5" name="Table 4"/>
          <p:cNvGraphicFramePr>
            <a:graphicFrameLocks noGrp="1"/>
          </p:cNvGraphicFramePr>
          <p:nvPr/>
        </p:nvGraphicFramePr>
        <p:xfrm>
          <a:off x="548640" y="1097280"/>
          <a:ext cx="11064240" cy="3246120"/>
        </p:xfrm>
        <a:graphic>
          <a:graphicData uri="http://schemas.openxmlformats.org/drawingml/2006/table">
            <a:tbl>
              <a:tblPr firstRow="1" bandRow="1">
                <a:tableStyleId>{5C22544A-7EE6-4342-B048-85BDC9FD1C3A}</a:tableStyleId>
              </a:tblPr>
              <a:tblGrid>
                <a:gridCol w="1554480"/>
                <a:gridCol w="2651760"/>
                <a:gridCol w="6858000"/>
              </a:tblGrid>
              <a:tr h="541020">
                <a:tc>
                  <a:txBody>
                    <a:bodyPr/>
                    <a:lstStyle/>
                    <a:p>
                      <a:pPr algn="l"/>
                      <a:r>
                        <a:rPr sz="1100" b="1">
                          <a:solidFill>
                            <a:srgbClr val="FFFFFF"/>
                          </a:solidFill>
                          <a:latin typeface="Calibri"/>
                        </a:rPr>
                        <a:t>$/lb finished</a:t>
                      </a:r>
                    </a:p>
                  </a:txBody>
                  <a:tcPr>
                    <a:solidFill>
                      <a:srgbClr val="1F3864"/>
                    </a:solidFill>
                  </a:tcPr>
                </a:tc>
                <a:tc>
                  <a:txBody>
                    <a:bodyPr/>
                    <a:lstStyle/>
                    <a:p>
                      <a:pPr algn="ctr"/>
                      <a:r>
                        <a:rPr sz="1100" b="1">
                          <a:solidFill>
                            <a:srgbClr val="FFFFFF"/>
                          </a:solidFill>
                          <a:latin typeface="Calibri"/>
                        </a:rPr>
                        <a:t>Source</a:t>
                      </a:r>
                    </a:p>
                  </a:txBody>
                  <a:tcPr>
                    <a:solidFill>
                      <a:srgbClr val="1F3864"/>
                    </a:solidFill>
                  </a:tcPr>
                </a:tc>
                <a:tc>
                  <a:txBody>
                    <a:bodyPr/>
                    <a:lstStyle/>
                    <a:p>
                      <a:pPr algn="ctr"/>
                      <a:r>
                        <a:rPr sz="1100" b="1">
                          <a:solidFill>
                            <a:srgbClr val="FFFFFF"/>
                          </a:solidFill>
                          <a:latin typeface="Calibri"/>
                        </a:rPr>
                        <a:t>How it is built — and why</a:t>
                      </a:r>
                    </a:p>
                  </a:txBody>
                  <a:tcPr>
                    <a:solidFill>
                      <a:srgbClr val="1F3864"/>
                    </a:solidFill>
                  </a:tcPr>
                </a:tc>
              </a:tr>
              <a:tr h="541020">
                <a:tc>
                  <a:txBody>
                    <a:bodyPr/>
                    <a:lstStyle/>
                    <a:p>
                      <a:pPr algn="l"/>
                      <a:r>
                        <a:rPr sz="1100" b="1">
                          <a:solidFill>
                            <a:srgbClr val="1F3864"/>
                          </a:solidFill>
                          <a:latin typeface="Calibri"/>
                        </a:rPr>
                        <a:t>$0.16–0.20</a:t>
                      </a:r>
                    </a:p>
                  </a:txBody>
                  <a:tcPr>
                    <a:solidFill>
                      <a:srgbClr val="FFFFFF"/>
                    </a:solidFill>
                  </a:tcPr>
                </a:tc>
                <a:tc>
                  <a:txBody>
                    <a:bodyPr/>
                    <a:lstStyle/>
                    <a:p>
                      <a:pPr algn="ctr"/>
                      <a:r>
                        <a:rPr sz="1100">
                          <a:solidFill>
                            <a:srgbClr val="1F3864"/>
                          </a:solidFill>
                          <a:latin typeface="Calibri"/>
                        </a:rPr>
                        <a:t>Material floor</a:t>
                      </a:r>
                    </a:p>
                  </a:txBody>
                  <a:tcPr>
                    <a:solidFill>
                      <a:srgbClr val="FFFFFF"/>
                    </a:solidFill>
                  </a:tcPr>
                </a:tc>
                <a:tc>
                  <a:txBody>
                    <a:bodyPr/>
                    <a:lstStyle/>
                    <a:p>
                      <a:pPr algn="ctr"/>
                      <a:r>
                        <a:rPr sz="1100">
                          <a:solidFill>
                            <a:srgbClr val="1F3864"/>
                          </a:solidFill>
                          <a:latin typeface="Calibri"/>
                        </a:rPr>
                        <a:t>Raw PVA resin $1.26–1.60/lb (ChemAnalyst / IMARC, N. America 2026) × 11% solids. Everything above this is conversion, freight and margin.</a:t>
                      </a:r>
                    </a:p>
                  </a:txBody>
                  <a:tcPr>
                    <a:solidFill>
                      <a:srgbClr val="FFFFFF"/>
                    </a:solidFill>
                  </a:tcPr>
                </a:tc>
              </a:tr>
              <a:tr h="541020">
                <a:tc>
                  <a:txBody>
                    <a:bodyPr/>
                    <a:lstStyle/>
                    <a:p>
                      <a:pPr algn="l"/>
                      <a:r>
                        <a:rPr sz="1100" b="1">
                          <a:solidFill>
                            <a:srgbClr val="1F3864"/>
                          </a:solidFill>
                          <a:latin typeface="Calibri"/>
                        </a:rPr>
                        <a:t>$0.75</a:t>
                      </a:r>
                    </a:p>
                  </a:txBody>
                  <a:tcPr>
                    <a:solidFill>
                      <a:srgbClr val="FFFFFF"/>
                    </a:solidFill>
                  </a:tcPr>
                </a:tc>
                <a:tc>
                  <a:txBody>
                    <a:bodyPr/>
                    <a:lstStyle/>
                    <a:p>
                      <a:pPr algn="ctr"/>
                      <a:r>
                        <a:rPr sz="1100">
                          <a:solidFill>
                            <a:srgbClr val="1F3864"/>
                          </a:solidFill>
                          <a:latin typeface="Calibri"/>
                        </a:rPr>
                        <a:t>SNP Inc. — real quote</a:t>
                      </a:r>
                    </a:p>
                  </a:txBody>
                  <a:tcPr>
                    <a:solidFill>
                      <a:srgbClr val="E2EFDA"/>
                    </a:solidFill>
                  </a:tcPr>
                </a:tc>
                <a:tc>
                  <a:txBody>
                    <a:bodyPr/>
                    <a:lstStyle/>
                    <a:p>
                      <a:pPr algn="ctr"/>
                      <a:r>
                        <a:rPr sz="1100">
                          <a:solidFill>
                            <a:srgbClr val="1F3864"/>
                          </a:solidFill>
                          <a:latin typeface="Calibri"/>
                        </a:rPr>
                        <a:t>Estimate 012726-1, delivered all-in. Below market because PVA cooking is their core product and their tanks are right-sized to our batch.</a:t>
                      </a:r>
                    </a:p>
                  </a:txBody>
                  <a:tcPr>
                    <a:solidFill>
                      <a:srgbClr val="FFFFFF"/>
                    </a:solidFill>
                  </a:tcPr>
                </a:tc>
              </a:tr>
              <a:tr h="541020">
                <a:tc>
                  <a:txBody>
                    <a:bodyPr/>
                    <a:lstStyle/>
                    <a:p>
                      <a:pPr algn="l"/>
                      <a:r>
                        <a:rPr sz="1100" b="1">
                          <a:solidFill>
                            <a:srgbClr val="1F3864"/>
                          </a:solidFill>
                          <a:latin typeface="Calibri"/>
                        </a:rPr>
                        <a:t>$0.85 / $1.40 / $2.55</a:t>
                      </a:r>
                    </a:p>
                  </a:txBody>
                  <a:tcPr>
                    <a:solidFill>
                      <a:srgbClr val="FFFFFF"/>
                    </a:solidFill>
                  </a:tcPr>
                </a:tc>
                <a:tc>
                  <a:txBody>
                    <a:bodyPr/>
                    <a:lstStyle/>
                    <a:p>
                      <a:pPr algn="ctr"/>
                      <a:r>
                        <a:rPr sz="1100">
                          <a:solidFill>
                            <a:srgbClr val="1F3864"/>
                          </a:solidFill>
                          <a:latin typeface="Calibri"/>
                        </a:rPr>
                        <a:t>Market low / base / high (triangulated)</a:t>
                      </a:r>
                    </a:p>
                  </a:txBody>
                  <a:tcPr>
                    <a:solidFill>
                      <a:srgbClr val="FFFFFF"/>
                    </a:solidFill>
                  </a:tcPr>
                </a:tc>
                <a:tc>
                  <a:txBody>
                    <a:bodyPr/>
                    <a:lstStyle/>
                    <a:p>
                      <a:pPr algn="ctr"/>
                      <a:r>
                        <a:rPr sz="1100">
                          <a:solidFill>
                            <a:srgbClr val="1F3864"/>
                          </a:solidFill>
                          <a:latin typeface="Calibri"/>
                        </a:rPr>
                        <a:t>Resin floor + loaded labor (~$40/hr, 25% margin) + QC + 1-drum freight ($0.22–0.55/lb). High case anchored by a retail comp (~$2.03/lb bulk PVA solution).</a:t>
                      </a:r>
                    </a:p>
                  </a:txBody>
                  <a:tcPr>
                    <a:solidFill>
                      <a:srgbClr val="FFFFFF"/>
                    </a:solidFill>
                  </a:tcPr>
                </a:tc>
              </a:tr>
              <a:tr h="541020">
                <a:tc>
                  <a:txBody>
                    <a:bodyPr/>
                    <a:lstStyle/>
                    <a:p>
                      <a:pPr algn="l"/>
                      <a:r>
                        <a:rPr sz="1100" b="1">
                          <a:solidFill>
                            <a:srgbClr val="1F3864"/>
                          </a:solidFill>
                          <a:latin typeface="Calibri"/>
                        </a:rPr>
                        <a:t>$2.50 – $5.00</a:t>
                      </a:r>
                    </a:p>
                  </a:txBody>
                  <a:tcPr>
                    <a:solidFill>
                      <a:srgbClr val="FFFFFF"/>
                    </a:solidFill>
                  </a:tcPr>
                </a:tc>
                <a:tc>
                  <a:txBody>
                    <a:bodyPr/>
                    <a:lstStyle/>
                    <a:p>
                      <a:pPr algn="ctr"/>
                      <a:r>
                        <a:rPr sz="1100">
                          <a:solidFill>
                            <a:srgbClr val="1F3864"/>
                          </a:solidFill>
                          <a:latin typeface="Calibri"/>
                        </a:rPr>
                        <a:t>PCI Manufacturing — our forecast</a:t>
                      </a:r>
                    </a:p>
                  </a:txBody>
                  <a:tcPr>
                    <a:solidFill>
                      <a:srgbClr val="FFF2CC"/>
                    </a:solidFill>
                  </a:tcPr>
                </a:tc>
                <a:tc>
                  <a:txBody>
                    <a:bodyPr/>
                    <a:lstStyle/>
                    <a:p>
                      <a:pPr algn="ctr"/>
                      <a:r>
                        <a:rPr sz="1100">
                          <a:solidFill>
                            <a:srgbClr val="1F3864"/>
                          </a:solidFill>
                          <a:latin typeface="Calibri"/>
                        </a:rPr>
                        <a:t>Not yet quoted. Range reflects a capable but non-specialist shop pricing a small, unfamiliar, high-temperature batch — with risk built in.</a:t>
                      </a:r>
                    </a:p>
                  </a:txBody>
                  <a:tcPr>
                    <a:solidFill>
                      <a:srgbClr val="FFFFFF"/>
                    </a:solidFill>
                  </a:tcPr>
                </a:tc>
              </a:tr>
              <a:tr h="541020">
                <a:tc>
                  <a:txBody>
                    <a:bodyPr/>
                    <a:lstStyle/>
                    <a:p>
                      <a:pPr algn="l"/>
                      <a:r>
                        <a:rPr sz="1100" b="1">
                          <a:solidFill>
                            <a:srgbClr val="1F3864"/>
                          </a:solidFill>
                          <a:latin typeface="Calibri"/>
                        </a:rPr>
                        <a:t>$8.42</a:t>
                      </a:r>
                    </a:p>
                  </a:txBody>
                  <a:tcPr>
                    <a:solidFill>
                      <a:srgbClr val="FFFFFF"/>
                    </a:solidFill>
                  </a:tcPr>
                </a:tc>
                <a:tc>
                  <a:txBody>
                    <a:bodyPr/>
                    <a:lstStyle/>
                    <a:p>
                      <a:pPr algn="ctr"/>
                      <a:r>
                        <a:rPr sz="1100">
                          <a:solidFill>
                            <a:srgbClr val="1F3864"/>
                          </a:solidFill>
                          <a:latin typeface="Calibri"/>
                        </a:rPr>
                        <a:t>CJB Applied Technologies — real quote</a:t>
                      </a:r>
                    </a:p>
                  </a:txBody>
                  <a:tcPr>
                    <a:solidFill>
                      <a:srgbClr val="FCE4D6"/>
                    </a:solidFill>
                  </a:tcPr>
                </a:tc>
                <a:tc>
                  <a:txBody>
                    <a:bodyPr/>
                    <a:lstStyle/>
                    <a:p>
                      <a:pPr algn="ctr"/>
                      <a:r>
                        <a:rPr sz="1100">
                          <a:solidFill>
                            <a:srgbClr val="1F3864"/>
                          </a:solidFill>
                          <a:latin typeface="Calibri"/>
                        </a:rPr>
                        <a:t>$8.00–8.50/lb toll EXCLUDING materials (+~$75/drum resin). ~50× the material floor, ~11× SNP: an outlier, shown for scale.</a:t>
                      </a:r>
                    </a:p>
                  </a:txBody>
                  <a:tcPr>
                    <a:solidFill>
                      <a:srgbClr val="FFFFFF"/>
                    </a:solidFill>
                  </a:tcPr>
                </a:tc>
              </a:tr>
            </a:tbl>
          </a:graphicData>
        </a:graphic>
      </p:graphicFrame>
      <p:sp>
        <p:nvSpPr>
          <p:cNvPr id="6" name="Rectangle 5"/>
          <p:cNvSpPr/>
          <p:nvPr/>
        </p:nvSpPr>
        <p:spPr>
          <a:xfrm>
            <a:off x="548640" y="4480560"/>
            <a:ext cx="54406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17720"/>
            <a:ext cx="5074920" cy="1097280"/>
          </a:xfrm>
          <a:prstGeom prst="rect">
            <a:avLst/>
          </a:prstGeom>
          <a:noFill/>
        </p:spPr>
        <p:txBody>
          <a:bodyPr wrap="square">
            <a:spAutoFit/>
          </a:bodyPr>
          <a:lstStyle/>
          <a:p>
            <a:pPr algn="l">
              <a:spcAft>
                <a:spcPts val="700"/>
              </a:spcAft>
            </a:pPr>
            <a:r>
              <a:rPr sz="1400" b="1" i="0">
                <a:solidFill>
                  <a:srgbClr val="1F3864"/>
                </a:solidFill>
                <a:latin typeface="Calibri"/>
              </a:rPr>
              <a:t>Why a new supplier carries a premium at our volume</a:t>
            </a:r>
          </a:p>
          <a:p>
            <a:pPr algn="l">
              <a:spcAft>
                <a:spcPts val="600"/>
              </a:spcAft>
            </a:pPr>
            <a:r>
              <a:rPr sz="1050" b="0" i="0">
                <a:solidFill>
                  <a:srgbClr val="595959"/>
                </a:solidFill>
                <a:latin typeface="Calibri"/>
              </a:rPr>
              <a:t>•  Conversion cost is mostly FIXED per batch — setup, heat-up, hold, cleaning, QC, paperwork (~$400–900/batch). Spread over one 450-lb drum that alone is $0.90–2.00/lb.</a:t>
            </a:r>
          </a:p>
          <a:p>
            <a:pPr algn="l">
              <a:spcAft>
                <a:spcPts val="600"/>
              </a:spcAft>
            </a:pPr>
            <a:r>
              <a:rPr sz="1050" b="0" i="0">
                <a:solidFill>
                  <a:srgbClr val="595959"/>
                </a:solidFill>
                <a:latin typeface="Calibri"/>
              </a:rPr>
              <a:t>•  Add one-drum freight and a 'learning our product' risk margin, and $2.50–5.00 is what a good shop will ask.</a:t>
            </a:r>
          </a:p>
        </p:txBody>
      </p:sp>
      <p:sp>
        <p:nvSpPr>
          <p:cNvPr id="8" name="Rectangle 7"/>
          <p:cNvSpPr/>
          <p:nvPr/>
        </p:nvSpPr>
        <p:spPr>
          <a:xfrm>
            <a:off x="6172200" y="4480560"/>
            <a:ext cx="54406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617720"/>
            <a:ext cx="5074920" cy="1097280"/>
          </a:xfrm>
          <a:prstGeom prst="rect">
            <a:avLst/>
          </a:prstGeom>
          <a:noFill/>
        </p:spPr>
        <p:txBody>
          <a:bodyPr wrap="square">
            <a:spAutoFit/>
          </a:bodyPr>
          <a:lstStyle/>
          <a:p>
            <a:pPr algn="l">
              <a:spcAft>
                <a:spcPts val="700"/>
              </a:spcAft>
            </a:pPr>
            <a:r>
              <a:rPr sz="1400" b="1" i="0">
                <a:solidFill>
                  <a:srgbClr val="2E7D46"/>
                </a:solidFill>
                <a:latin typeface="Calibri"/>
              </a:rPr>
              <a:t>Why SNP Inc. is cheap — specialization</a:t>
            </a:r>
          </a:p>
          <a:p>
            <a:pPr algn="l">
              <a:spcAft>
                <a:spcPts val="600"/>
              </a:spcAft>
            </a:pPr>
            <a:r>
              <a:rPr sz="1050" b="0" i="0">
                <a:solidFill>
                  <a:srgbClr val="595959"/>
                </a:solidFill>
                <a:latin typeface="Calibri"/>
              </a:rPr>
              <a:t>•  PVA solution is their product line, not a side job: process dialed-in, no learning premium.</a:t>
            </a:r>
          </a:p>
          <a:p>
            <a:pPr algn="l">
              <a:spcAft>
                <a:spcPts val="600"/>
              </a:spcAft>
            </a:pPr>
            <a:r>
              <a:rPr sz="1050" b="0" i="0">
                <a:solidFill>
                  <a:srgbClr val="595959"/>
                </a:solidFill>
                <a:latin typeface="Calibri"/>
              </a:rPr>
              <a:t>•  Multiple tank sizes let them right-size each batch to our order — the fixed cost per pound stays low. A generalist runs our drum in whatever tank is free.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$0.75/lb is a specialist's price. Every credible second source will sit at $2.50–5.00 — not because they are greedy, but because of batch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(2 of 3): what each option costs us, per year and over five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emium_by_price.png"/>
          <p:cNvPicPr>
            <a:picLocks noChangeAspect="1"/>
          </p:cNvPicPr>
          <p:nvPr/>
        </p:nvPicPr>
        <p:blipFill>
          <a:blip r:embed="rId2"/>
          <a:stretch>
            <a:fillRect/>
          </a:stretch>
        </p:blipFill>
        <p:spPr>
          <a:xfrm>
            <a:off x="548640" y="1051560"/>
            <a:ext cx="6949440" cy="3285190"/>
          </a:xfrm>
          <a:prstGeom prst="rect">
            <a:avLst/>
          </a:prstGeom>
        </p:spPr>
      </p:pic>
      <p:sp>
        <p:nvSpPr>
          <p:cNvPr id="6" name="Rectangle 5"/>
          <p:cNvSpPr/>
          <p:nvPr/>
        </p:nvSpPr>
        <p:spPr>
          <a:xfrm>
            <a:off x="7726679" y="1051560"/>
            <a:ext cx="38862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82127" y="1170432"/>
            <a:ext cx="3611880" cy="4572000"/>
          </a:xfrm>
          <a:prstGeom prst="rect">
            <a:avLst/>
          </a:prstGeom>
          <a:noFill/>
        </p:spPr>
        <p:txBody>
          <a:bodyPr wrap="square">
            <a:spAutoFit/>
          </a:bodyPr>
          <a:lstStyle/>
          <a:p>
            <a:pPr algn="l">
              <a:spcAft>
                <a:spcPts val="600"/>
              </a:spcAft>
            </a:pPr>
            <a:r>
              <a:rPr sz="1300" b="1" i="0">
                <a:solidFill>
                  <a:srgbClr val="1F3864"/>
                </a:solidFill>
                <a:latin typeface="Calibri"/>
              </a:rPr>
              <a:t>Options at one drum/week to PCI (~1/3)</a:t>
            </a:r>
          </a:p>
        </p:txBody>
      </p:sp>
      <p:graphicFrame>
        <p:nvGraphicFramePr>
          <p:cNvPr id="8" name="Table 7"/>
          <p:cNvGraphicFramePr>
            <a:graphicFrameLocks noGrp="1"/>
          </p:cNvGraphicFramePr>
          <p:nvPr/>
        </p:nvGraphicFramePr>
        <p:xfrm>
          <a:off x="7882127" y="1600200"/>
          <a:ext cx="3611880" cy="2103120"/>
        </p:xfrm>
        <a:graphic>
          <a:graphicData uri="http://schemas.openxmlformats.org/drawingml/2006/table">
            <a:tbl>
              <a:tblPr firstRow="1" bandRow="1">
                <a:tableStyleId>{5C22544A-7EE6-4342-B048-85BDC9FD1C3A}</a:tableStyleId>
              </a:tblPr>
              <a:tblGrid>
                <a:gridCol w="1600200"/>
                <a:gridCol w="960120"/>
                <a:gridCol w="1051560"/>
              </a:tblGrid>
              <a:tr h="350520">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Per year</a:t>
                      </a:r>
                    </a:p>
                  </a:txBody>
                  <a:tcPr>
                    <a:solidFill>
                      <a:srgbClr val="1F3864"/>
                    </a:solidFill>
                  </a:tcPr>
                </a:tc>
                <a:tc>
                  <a:txBody>
                    <a:bodyPr/>
                    <a:lstStyle/>
                    <a:p>
                      <a:pPr algn="ctr"/>
                      <a:r>
                        <a:rPr sz="1050" b="1">
                          <a:solidFill>
                            <a:srgbClr val="FFFFFF"/>
                          </a:solidFill>
                          <a:latin typeface="Calibri"/>
                        </a:rPr>
                        <a:t>5 years*</a:t>
                      </a:r>
                    </a:p>
                  </a:txBody>
                  <a:tcPr>
                    <a:solidFill>
                      <a:srgbClr val="1F3864"/>
                    </a:solidFill>
                  </a:tcPr>
                </a:tc>
              </a:tr>
              <a:tr h="350520">
                <a:tc>
                  <a:txBody>
                    <a:bodyPr/>
                    <a:lstStyle/>
                    <a:p>
                      <a:pPr algn="l"/>
                      <a:r>
                        <a:rPr sz="1050" b="1">
                          <a:solidFill>
                            <a:srgbClr val="1F3864"/>
                          </a:solidFill>
                          <a:latin typeface="Calibri"/>
                        </a:rPr>
                        <a:t>All-SNP (today)</a:t>
                      </a:r>
                    </a:p>
                  </a:txBody>
                  <a:tcPr>
                    <a:solidFill>
                      <a:srgbClr val="FFFFFF"/>
                    </a:solidFill>
                  </a:tcPr>
                </a:tc>
                <a:tc>
                  <a:txBody>
                    <a:bodyPr/>
                    <a:lstStyle/>
                    <a:p>
                      <a:pPr algn="ctr"/>
                      <a:r>
                        <a:rPr sz="1050">
                          <a:solidFill>
                            <a:srgbClr val="1F3864"/>
                          </a:solidFill>
                          <a:latin typeface="Calibri"/>
                        </a:rPr>
                        <a:t>$50.7k</a:t>
                      </a:r>
                    </a:p>
                  </a:txBody>
                  <a:tcPr>
                    <a:solidFill>
                      <a:srgbClr val="FFFFFF"/>
                    </a:solidFill>
                  </a:tcPr>
                </a:tc>
                <a:tc>
                  <a:txBody>
                    <a:bodyPr/>
                    <a:lstStyle/>
                    <a:p>
                      <a:pPr algn="ctr"/>
                      <a:r>
                        <a:rPr sz="1050">
                          <a:solidFill>
                            <a:srgbClr val="1F3864"/>
                          </a:solidFill>
                          <a:latin typeface="Calibri"/>
                        </a:rPr>
                        <a:t>—</a:t>
                      </a:r>
                    </a:p>
                  </a:txBody>
                  <a:tcPr>
                    <a:solidFill>
                      <a:srgbClr val="FFFFFF"/>
                    </a:solidFill>
                  </a:tcPr>
                </a:tc>
              </a:tr>
              <a:tr h="350520">
                <a:tc>
                  <a:txBody>
                    <a:bodyPr/>
                    <a:lstStyle/>
                    <a:p>
                      <a:pPr algn="l"/>
                      <a:r>
                        <a:rPr sz="1050" b="1">
                          <a:solidFill>
                            <a:srgbClr val="1F3864"/>
                          </a:solidFill>
                          <a:latin typeface="Calibri"/>
                        </a:rPr>
                        <a:t>A @ $2.50</a:t>
                      </a:r>
                    </a:p>
                  </a:txBody>
                  <a:tcPr>
                    <a:solidFill>
                      <a:srgbClr val="FFFFFF"/>
                    </a:solidFill>
                  </a:tcPr>
                </a:tc>
                <a:tc>
                  <a:txBody>
                    <a:bodyPr/>
                    <a:lstStyle/>
                    <a:p>
                      <a:pPr algn="ctr"/>
                      <a:r>
                        <a:rPr sz="1050">
                          <a:solidFill>
                            <a:srgbClr val="1F3864"/>
                          </a:solidFill>
                          <a:latin typeface="Calibri"/>
                        </a:rPr>
                        <a:t>+$41k</a:t>
                      </a:r>
                    </a:p>
                  </a:txBody>
                  <a:tcPr>
                    <a:solidFill>
                      <a:srgbClr val="FFFFFF"/>
                    </a:solidFill>
                  </a:tcPr>
                </a:tc>
                <a:tc>
                  <a:txBody>
                    <a:bodyPr/>
                    <a:lstStyle/>
                    <a:p>
                      <a:pPr algn="ctr"/>
                      <a:r>
                        <a:rPr sz="1050">
                          <a:solidFill>
                            <a:srgbClr val="1F3864"/>
                          </a:solidFill>
                          <a:latin typeface="Calibri"/>
                        </a:rPr>
                        <a:t>+$242k</a:t>
                      </a:r>
                    </a:p>
                  </a:txBody>
                  <a:tcPr>
                    <a:solidFill>
                      <a:srgbClr val="FFFFFF"/>
                    </a:solidFill>
                  </a:tcPr>
                </a:tc>
              </a:tr>
              <a:tr h="350520">
                <a:tc>
                  <a:txBody>
                    <a:bodyPr/>
                    <a:lstStyle/>
                    <a:p>
                      <a:pPr algn="l"/>
                      <a:r>
                        <a:rPr sz="1050" b="1">
                          <a:solidFill>
                            <a:srgbClr val="1F3864"/>
                          </a:solidFill>
                          <a:latin typeface="Calibri"/>
                        </a:rPr>
                        <a:t>A @ $3.75 (mid)</a:t>
                      </a:r>
                    </a:p>
                  </a:txBody>
                  <a:tcPr>
                    <a:solidFill>
                      <a:srgbClr val="FFF2CC"/>
                    </a:solidFill>
                  </a:tcPr>
                </a:tc>
                <a:tc>
                  <a:txBody>
                    <a:bodyPr/>
                    <a:lstStyle/>
                    <a:p>
                      <a:pPr algn="ctr"/>
                      <a:r>
                        <a:rPr sz="1050">
                          <a:solidFill>
                            <a:srgbClr val="1F3864"/>
                          </a:solidFill>
                          <a:latin typeface="Calibri"/>
                        </a:rPr>
                        <a:t>+$70k</a:t>
                      </a:r>
                    </a:p>
                  </a:txBody>
                  <a:tcPr>
                    <a:solidFill>
                      <a:srgbClr val="FFF2CC"/>
                    </a:solidFill>
                  </a:tcPr>
                </a:tc>
                <a:tc>
                  <a:txBody>
                    <a:bodyPr/>
                    <a:lstStyle/>
                    <a:p>
                      <a:pPr algn="ctr"/>
                      <a:r>
                        <a:rPr sz="1050">
                          <a:solidFill>
                            <a:srgbClr val="1F3864"/>
                          </a:solidFill>
                          <a:latin typeface="Calibri"/>
                        </a:rPr>
                        <a:t>+$415k</a:t>
                      </a:r>
                    </a:p>
                  </a:txBody>
                  <a:tcPr>
                    <a:solidFill>
                      <a:srgbClr val="FFF2CC"/>
                    </a:solidFill>
                  </a:tcPr>
                </a:tc>
              </a:tr>
              <a:tr h="350520">
                <a:tc>
                  <a:txBody>
                    <a:bodyPr/>
                    <a:lstStyle/>
                    <a:p>
                      <a:pPr algn="l"/>
                      <a:r>
                        <a:rPr sz="1050" b="1">
                          <a:solidFill>
                            <a:srgbClr val="1F3864"/>
                          </a:solidFill>
                          <a:latin typeface="Calibri"/>
                        </a:rPr>
                        <a:t>A @ $5.00</a:t>
                      </a:r>
                    </a:p>
                  </a:txBody>
                  <a:tcPr>
                    <a:solidFill>
                      <a:srgbClr val="FFFFFF"/>
                    </a:solidFill>
                  </a:tcPr>
                </a:tc>
                <a:tc>
                  <a:txBody>
                    <a:bodyPr/>
                    <a:lstStyle/>
                    <a:p>
                      <a:pPr algn="ctr"/>
                      <a:r>
                        <a:rPr sz="1050">
                          <a:solidFill>
                            <a:srgbClr val="1F3864"/>
                          </a:solidFill>
                          <a:latin typeface="Calibri"/>
                        </a:rPr>
                        <a:t>+$99k</a:t>
                      </a:r>
                    </a:p>
                  </a:txBody>
                  <a:tcPr>
                    <a:solidFill>
                      <a:srgbClr val="FFFFFF"/>
                    </a:solidFill>
                  </a:tcPr>
                </a:tc>
                <a:tc>
                  <a:txBody>
                    <a:bodyPr/>
                    <a:lstStyle/>
                    <a:p>
                      <a:pPr algn="ctr"/>
                      <a:r>
                        <a:rPr sz="1050">
                          <a:solidFill>
                            <a:srgbClr val="1F3864"/>
                          </a:solidFill>
                          <a:latin typeface="Calibri"/>
                        </a:rPr>
                        <a:t>+$588k</a:t>
                      </a:r>
                    </a:p>
                  </a:txBody>
                  <a:tcPr>
                    <a:solidFill>
                      <a:srgbClr val="FFFFFF"/>
                    </a:solidFill>
                  </a:tcPr>
                </a:tc>
              </a:tr>
              <a:tr h="350520">
                <a:tc>
                  <a:txBody>
                    <a:bodyPr/>
                    <a:lstStyle/>
                    <a:p>
                      <a:pPr algn="l"/>
                      <a:r>
                        <a:rPr sz="1050" b="1">
                          <a:solidFill>
                            <a:srgbClr val="1F3864"/>
                          </a:solidFill>
                          <a:latin typeface="Calibri"/>
                        </a:rPr>
                        <a:t>CJB, for scale</a:t>
                      </a:r>
                    </a:p>
                  </a:txBody>
                  <a:tcPr>
                    <a:solidFill>
                      <a:srgbClr val="FCE4D6"/>
                    </a:solidFill>
                  </a:tcPr>
                </a:tc>
                <a:tc>
                  <a:txBody>
                    <a:bodyPr/>
                    <a:lstStyle/>
                    <a:p>
                      <a:pPr algn="ctr"/>
                      <a:r>
                        <a:rPr sz="1050">
                          <a:solidFill>
                            <a:srgbClr val="1F3864"/>
                          </a:solidFill>
                          <a:latin typeface="Calibri"/>
                        </a:rPr>
                        <a:t>+$179k</a:t>
                      </a:r>
                    </a:p>
                  </a:txBody>
                  <a:tcPr>
                    <a:solidFill>
                      <a:srgbClr val="FCE4D6"/>
                    </a:solidFill>
                  </a:tcPr>
                </a:tc>
                <a:tc>
                  <a:txBody>
                    <a:bodyPr/>
                    <a:lstStyle/>
                    <a:p>
                      <a:pPr algn="ctr"/>
                      <a:r>
                        <a:rPr sz="1050">
                          <a:solidFill>
                            <a:srgbClr val="1F3864"/>
                          </a:solidFill>
                          <a:latin typeface="Calibri"/>
                        </a:rPr>
                        <a:t>—</a:t>
                      </a:r>
                    </a:p>
                  </a:txBody>
                  <a:tcPr>
                    <a:solidFill>
                      <a:srgbClr val="FCE4D6"/>
                    </a:solidFill>
                  </a:tcPr>
                </a:tc>
              </a:tr>
            </a:tbl>
          </a:graphicData>
        </a:graphic>
      </p:graphicFrame>
      <p:sp>
        <p:nvSpPr>
          <p:cNvPr id="9" name="TextBox 8"/>
          <p:cNvSpPr txBox="1"/>
          <p:nvPr/>
        </p:nvSpPr>
        <p:spPr>
          <a:xfrm>
            <a:off x="7882127" y="3794760"/>
            <a:ext cx="3611880" cy="1920240"/>
          </a:xfrm>
          <a:prstGeom prst="rect">
            <a:avLst/>
          </a:prstGeom>
          <a:noFill/>
        </p:spPr>
        <p:txBody>
          <a:bodyPr wrap="square">
            <a:spAutoFit/>
          </a:bodyPr>
          <a:lstStyle/>
          <a:p>
            <a:pPr algn="l">
              <a:spcAft>
                <a:spcPts val="600"/>
              </a:spcAft>
            </a:pPr>
            <a:r>
              <a:rPr sz="950" b="0" i="1">
                <a:solidFill>
                  <a:srgbClr val="595959"/>
                </a:solidFill>
                <a:latin typeface="Calibri"/>
              </a:rPr>
              <a:t>*volume +10%/yr; plus ~$15k one-time qualification</a:t>
            </a:r>
          </a:p>
          <a:p>
            <a:pPr algn="l">
              <a:spcAft>
                <a:spcPts val="600"/>
              </a:spcAft>
            </a:pPr>
            <a:r>
              <a:rPr sz="1100" b="1" i="0">
                <a:solidFill>
                  <a:srgbClr val="1F3864"/>
                </a:solidFill>
                <a:latin typeface="Calibri"/>
              </a:rPr>
              <a:t>There is no smaller version: 1 drum/week is the least any supplier will take. July's '$6–12k' assumed a price and a share that don't exist.</a:t>
            </a:r>
          </a:p>
          <a:p>
            <a:pPr algn="l">
              <a:spcAft>
                <a:spcPts val="400"/>
              </a:spcAft>
            </a:pPr>
            <a:r>
              <a:rPr sz="1050" b="0" i="0">
                <a:solidFill>
                  <a:srgbClr val="595959"/>
                </a:solidFill>
                <a:latin typeface="Calibri"/>
              </a:rPr>
              <a:t>If SNP Inc. re-prices the ~2/3 it keeps (+10–20%): add $3–7k/yr.</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A second source costs 80–195% of today's entire PVA spend, every year, growing with volume. That is the price of the insurance.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(3 of 3): what if the price comes in below $2.50?</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sp>
        <p:nvSpPr>
          <p:cNvPr id="5" name="TextBox 4"/>
          <p:cNvSpPr txBox="1"/>
          <p:nvPr/>
        </p:nvSpPr>
        <p:spPr>
          <a:xfrm>
            <a:off x="548640" y="1051560"/>
            <a:ext cx="11064240" cy="640080"/>
          </a:xfrm>
          <a:prstGeom prst="rect">
            <a:avLst/>
          </a:prstGeom>
          <a:noFill/>
        </p:spPr>
        <p:txBody>
          <a:bodyPr wrap="square">
            <a:spAutoFit/>
          </a:bodyPr>
          <a:lstStyle/>
          <a:p>
            <a:pPr algn="l">
              <a:spcAft>
                <a:spcPts val="400"/>
              </a:spcAft>
            </a:pPr>
            <a:r>
              <a:rPr sz="1350" b="1" i="0">
                <a:solidFill>
                  <a:srgbClr val="1F3864"/>
                </a:solidFill>
                <a:latin typeface="Calibri"/>
              </a:rPr>
              <a:t>Everything so far assumes a non-specialist price. The market base is $1.40/lb — so a capable shop at $1.00–2.50 is plausible, not wishful. If one exists, the picture changes completely.</a:t>
            </a:r>
          </a:p>
        </p:txBody>
      </p:sp>
      <p:graphicFrame>
        <p:nvGraphicFramePr>
          <p:cNvPr id="6" name="Table 5"/>
          <p:cNvGraphicFramePr>
            <a:graphicFrameLocks noGrp="1"/>
          </p:cNvGraphicFramePr>
          <p:nvPr/>
        </p:nvGraphicFramePr>
        <p:xfrm>
          <a:off x="548640" y="1783080"/>
          <a:ext cx="11064239" cy="2880360"/>
        </p:xfrm>
        <a:graphic>
          <a:graphicData uri="http://schemas.openxmlformats.org/drawingml/2006/table">
            <a:tbl>
              <a:tblPr firstRow="1" bandRow="1">
                <a:tableStyleId>{5C22544A-7EE6-4342-B048-85BDC9FD1C3A}</a:tableStyleId>
              </a:tblPr>
              <a:tblGrid>
                <a:gridCol w="1645920"/>
                <a:gridCol w="1463040"/>
                <a:gridCol w="1463040"/>
                <a:gridCol w="2743200"/>
                <a:gridCol w="3749039"/>
              </a:tblGrid>
              <a:tr h="411480">
                <a:tc>
                  <a:txBody>
                    <a:bodyPr/>
                    <a:lstStyle/>
                    <a:p>
                      <a:pPr algn="l"/>
                      <a:r>
                        <a:rPr sz="1050" b="1">
                          <a:solidFill>
                            <a:srgbClr val="FFFFFF"/>
                          </a:solidFill>
                          <a:latin typeface="Calibri"/>
                        </a:rPr>
                        <a:t>Price / lb</a:t>
                      </a:r>
                    </a:p>
                  </a:txBody>
                  <a:tcPr>
                    <a:solidFill>
                      <a:srgbClr val="1F3864"/>
                    </a:solidFill>
                  </a:tcPr>
                </a:tc>
                <a:tc>
                  <a:txBody>
                    <a:bodyPr/>
                    <a:lstStyle/>
                    <a:p>
                      <a:pPr algn="ctr"/>
                      <a:r>
                        <a:rPr sz="1050" b="1">
                          <a:solidFill>
                            <a:srgbClr val="FFFFFF"/>
                          </a:solidFill>
                          <a:latin typeface="Calibri"/>
                        </a:rPr>
                        <a:t>Premium per year</a:t>
                      </a:r>
                    </a:p>
                  </a:txBody>
                  <a:tcPr>
                    <a:solidFill>
                      <a:srgbClr val="1F3864"/>
                    </a:solidFill>
                  </a:tcPr>
                </a:tc>
                <a:tc>
                  <a:txBody>
                    <a:bodyPr/>
                    <a:lstStyle/>
                    <a:p>
                      <a:pPr algn="ctr"/>
                      <a:r>
                        <a:rPr sz="1050" b="1">
                          <a:solidFill>
                            <a:srgbClr val="FFFFFF"/>
                          </a:solidFill>
                          <a:latin typeface="Calibri"/>
                        </a:rPr>
                        <a:t>5-year premium</a:t>
                      </a:r>
                    </a:p>
                  </a:txBody>
                  <a:tcPr>
                    <a:solidFill>
                      <a:srgbClr val="1F3864"/>
                    </a:solidFill>
                  </a:tcPr>
                </a:tc>
                <a:tc>
                  <a:txBody>
                    <a:bodyPr/>
                    <a:lstStyle/>
                    <a:p>
                      <a:pPr algn="ctr"/>
                      <a:r>
                        <a:rPr sz="1050" b="1">
                          <a:solidFill>
                            <a:srgbClr val="FFFFFF"/>
                          </a:solidFill>
                          <a:latin typeface="Calibri"/>
                        </a:rPr>
                        <a:t>Outage cost that justifies it (5% / 10% per yr)</a:t>
                      </a:r>
                    </a:p>
                  </a:txBody>
                  <a:tcPr>
                    <a:solidFill>
                      <a:srgbClr val="1F3864"/>
                    </a:solidFill>
                  </a:tcPr>
                </a:tc>
                <a:tc>
                  <a:txBody>
                    <a:bodyPr/>
                    <a:lstStyle/>
                    <a:p>
                      <a:pPr algn="l"/>
                      <a:r>
                        <a:rPr sz="1050" b="1">
                          <a:solidFill>
                            <a:srgbClr val="FFFFFF"/>
                          </a:solidFill>
                          <a:latin typeface="Calibri"/>
                        </a:rPr>
                        <a:t>What it would mean</a:t>
                      </a:r>
                    </a:p>
                  </a:txBody>
                  <a:tcPr>
                    <a:solidFill>
                      <a:srgbClr val="1F3864"/>
                    </a:solidFill>
                  </a:tcPr>
                </a:tc>
              </a:tr>
              <a:tr h="411480">
                <a:tc>
                  <a:txBody>
                    <a:bodyPr/>
                    <a:lstStyle/>
                    <a:p>
                      <a:pPr algn="l"/>
                      <a:r>
                        <a:rPr sz="1050" b="1">
                          <a:solidFill>
                            <a:srgbClr val="1F3864"/>
                          </a:solidFill>
                          <a:latin typeface="Calibri"/>
                        </a:rPr>
                        <a:t>$1.00</a:t>
                      </a:r>
                    </a:p>
                  </a:txBody>
                  <a:tcPr>
                    <a:solidFill>
                      <a:srgbClr val="FFFFFF"/>
                    </a:solidFill>
                  </a:tcPr>
                </a:tc>
                <a:tc>
                  <a:txBody>
                    <a:bodyPr/>
                    <a:lstStyle/>
                    <a:p>
                      <a:pPr algn="ctr"/>
                      <a:r>
                        <a:rPr sz="1050">
                          <a:solidFill>
                            <a:srgbClr val="1F3864"/>
                          </a:solidFill>
                          <a:latin typeface="Calibri"/>
                        </a:rPr>
                        <a:t>+$6k</a:t>
                      </a:r>
                    </a:p>
                  </a:txBody>
                  <a:tcPr>
                    <a:solidFill>
                      <a:srgbClr val="E2EFDA"/>
                    </a:solidFill>
                  </a:tcPr>
                </a:tc>
                <a:tc>
                  <a:txBody>
                    <a:bodyPr/>
                    <a:lstStyle/>
                    <a:p>
                      <a:pPr algn="ctr"/>
                      <a:r>
                        <a:rPr sz="1050">
                          <a:solidFill>
                            <a:srgbClr val="1F3864"/>
                          </a:solidFill>
                          <a:latin typeface="Calibri"/>
                        </a:rPr>
                        <a:t>+$35k</a:t>
                      </a:r>
                    </a:p>
                  </a:txBody>
                  <a:tcPr>
                    <a:solidFill>
                      <a:srgbClr val="E2EFDA"/>
                    </a:solidFill>
                  </a:tcPr>
                </a:tc>
                <a:tc>
                  <a:txBody>
                    <a:bodyPr/>
                    <a:lstStyle/>
                    <a:p>
                      <a:pPr algn="ctr"/>
                      <a:r>
                        <a:rPr sz="1050">
                          <a:solidFill>
                            <a:srgbClr val="1F3864"/>
                          </a:solidFill>
                          <a:latin typeface="Calibri"/>
                        </a:rPr>
                        <a:t>~$120k / ~$60k</a:t>
                      </a:r>
                    </a:p>
                  </a:txBody>
                  <a:tcPr>
                    <a:solidFill>
                      <a:srgbClr val="FFFFFF"/>
                    </a:solidFill>
                  </a:tcPr>
                </a:tc>
                <a:tc>
                  <a:txBody>
                    <a:bodyPr/>
                    <a:lstStyle/>
                    <a:p>
                      <a:pPr algn="l"/>
                      <a:r>
                        <a:rPr sz="1050">
                          <a:solidFill>
                            <a:srgbClr val="1F3864"/>
                          </a:solidFill>
                          <a:latin typeface="Calibri"/>
                        </a:rPr>
                        <a:t>The July plan, as described. Clear yes — insurance cheaper than almost any outage.</a:t>
                      </a:r>
                    </a:p>
                  </a:txBody>
                  <a:tcPr>
                    <a:solidFill>
                      <a:srgbClr val="E2EFDA"/>
                    </a:solidFill>
                  </a:tcPr>
                </a:tc>
              </a:tr>
              <a:tr h="411480">
                <a:tc>
                  <a:txBody>
                    <a:bodyPr/>
                    <a:lstStyle/>
                    <a:p>
                      <a:pPr algn="l"/>
                      <a:r>
                        <a:rPr sz="1050" b="1">
                          <a:solidFill>
                            <a:srgbClr val="1F3864"/>
                          </a:solidFill>
                          <a:latin typeface="Calibri"/>
                        </a:rPr>
                        <a:t>$1.25</a:t>
                      </a:r>
                    </a:p>
                  </a:txBody>
                  <a:tcPr>
                    <a:solidFill>
                      <a:srgbClr val="FFFFFF"/>
                    </a:solidFill>
                  </a:tcPr>
                </a:tc>
                <a:tc>
                  <a:txBody>
                    <a:bodyPr/>
                    <a:lstStyle/>
                    <a:p>
                      <a:pPr algn="ctr"/>
                      <a:r>
                        <a:rPr sz="1050">
                          <a:solidFill>
                            <a:srgbClr val="1F3864"/>
                          </a:solidFill>
                          <a:latin typeface="Calibri"/>
                        </a:rPr>
                        <a:t>+$12k</a:t>
                      </a:r>
                    </a:p>
                  </a:txBody>
                  <a:tcPr>
                    <a:solidFill>
                      <a:srgbClr val="E2EFDA"/>
                    </a:solidFill>
                  </a:tcPr>
                </a:tc>
                <a:tc>
                  <a:txBody>
                    <a:bodyPr/>
                    <a:lstStyle/>
                    <a:p>
                      <a:pPr algn="ctr"/>
                      <a:r>
                        <a:rPr sz="1050">
                          <a:solidFill>
                            <a:srgbClr val="1F3864"/>
                          </a:solidFill>
                          <a:latin typeface="Calibri"/>
                        </a:rPr>
                        <a:t>+$69k</a:t>
                      </a:r>
                    </a:p>
                  </a:txBody>
                  <a:tcPr>
                    <a:solidFill>
                      <a:srgbClr val="E2EFDA"/>
                    </a:solidFill>
                  </a:tcPr>
                </a:tc>
                <a:tc>
                  <a:txBody>
                    <a:bodyPr/>
                    <a:lstStyle/>
                    <a:p>
                      <a:pPr algn="ctr"/>
                      <a:r>
                        <a:rPr sz="1050">
                          <a:solidFill>
                            <a:srgbClr val="1F3864"/>
                          </a:solidFill>
                          <a:latin typeface="Calibri"/>
                        </a:rPr>
                        <a:t>~$235k / ~$120k</a:t>
                      </a:r>
                    </a:p>
                  </a:txBody>
                  <a:tcPr>
                    <a:solidFill>
                      <a:srgbClr val="FFFFFF"/>
                    </a:solidFill>
                  </a:tcPr>
                </a:tc>
                <a:tc>
                  <a:txBody>
                    <a:bodyPr/>
                    <a:lstStyle/>
                    <a:p>
                      <a:pPr algn="l"/>
                      <a:r>
                        <a:rPr sz="1050">
                          <a:solidFill>
                            <a:srgbClr val="1F3864"/>
                          </a:solidFill>
                          <a:latin typeface="Calibri"/>
                        </a:rPr>
                        <a:t>Clear yes.</a:t>
                      </a:r>
                    </a:p>
                  </a:txBody>
                  <a:tcPr>
                    <a:solidFill>
                      <a:srgbClr val="E2EFDA"/>
                    </a:solidFill>
                  </a:tcPr>
                </a:tc>
              </a:tr>
              <a:tr h="411480">
                <a:tc>
                  <a:txBody>
                    <a:bodyPr/>
                    <a:lstStyle/>
                    <a:p>
                      <a:pPr algn="l"/>
                      <a:r>
                        <a:rPr sz="1050" b="1">
                          <a:solidFill>
                            <a:srgbClr val="1F3864"/>
                          </a:solidFill>
                          <a:latin typeface="Calibri"/>
                        </a:rPr>
                        <a:t>$1.40  (market base)</a:t>
                      </a:r>
                    </a:p>
                  </a:txBody>
                  <a:tcPr>
                    <a:solidFill>
                      <a:srgbClr val="FFFFFF"/>
                    </a:solidFill>
                  </a:tcPr>
                </a:tc>
                <a:tc>
                  <a:txBody>
                    <a:bodyPr/>
                    <a:lstStyle/>
                    <a:p>
                      <a:pPr algn="ctr"/>
                      <a:r>
                        <a:rPr sz="1050">
                          <a:solidFill>
                            <a:srgbClr val="1F3864"/>
                          </a:solidFill>
                          <a:latin typeface="Calibri"/>
                        </a:rPr>
                        <a:t>+$15k</a:t>
                      </a:r>
                    </a:p>
                  </a:txBody>
                  <a:tcPr>
                    <a:solidFill>
                      <a:srgbClr val="E2EFDA"/>
                    </a:solidFill>
                  </a:tcPr>
                </a:tc>
                <a:tc>
                  <a:txBody>
                    <a:bodyPr/>
                    <a:lstStyle/>
                    <a:p>
                      <a:pPr algn="ctr"/>
                      <a:r>
                        <a:rPr sz="1050">
                          <a:solidFill>
                            <a:srgbClr val="1F3864"/>
                          </a:solidFill>
                          <a:latin typeface="Calibri"/>
                        </a:rPr>
                        <a:t>+$90k</a:t>
                      </a:r>
                    </a:p>
                  </a:txBody>
                  <a:tcPr>
                    <a:solidFill>
                      <a:srgbClr val="E2EFDA"/>
                    </a:solidFill>
                  </a:tcPr>
                </a:tc>
                <a:tc>
                  <a:txBody>
                    <a:bodyPr/>
                    <a:lstStyle/>
                    <a:p>
                      <a:pPr algn="ctr"/>
                      <a:r>
                        <a:rPr sz="1050">
                          <a:solidFill>
                            <a:srgbClr val="1F3864"/>
                          </a:solidFill>
                          <a:latin typeface="Calibri"/>
                        </a:rPr>
                        <a:t>~$305k / ~$150k</a:t>
                      </a:r>
                    </a:p>
                  </a:txBody>
                  <a:tcPr>
                    <a:solidFill>
                      <a:srgbClr val="FFFFFF"/>
                    </a:solidFill>
                  </a:tcPr>
                </a:tc>
                <a:tc>
                  <a:txBody>
                    <a:bodyPr/>
                    <a:lstStyle/>
                    <a:p>
                      <a:pPr algn="l"/>
                      <a:r>
                        <a:rPr sz="1050">
                          <a:solidFill>
                            <a:srgbClr val="1F3864"/>
                          </a:solidFill>
                          <a:latin typeface="Calibri"/>
                        </a:rPr>
                        <a:t>Likely yes — the premium is a rounding error against a product line.</a:t>
                      </a:r>
                    </a:p>
                  </a:txBody>
                  <a:tcPr>
                    <a:solidFill>
                      <a:srgbClr val="E2EFDA"/>
                    </a:solidFill>
                  </a:tcPr>
                </a:tc>
              </a:tr>
              <a:tr h="411480">
                <a:tc>
                  <a:txBody>
                    <a:bodyPr/>
                    <a:lstStyle/>
                    <a:p>
                      <a:pPr algn="l"/>
                      <a:r>
                        <a:rPr sz="1050" b="1">
                          <a:solidFill>
                            <a:srgbClr val="1F3864"/>
                          </a:solidFill>
                          <a:latin typeface="Calibri"/>
                        </a:rPr>
                        <a:t>$1.50</a:t>
                      </a:r>
                    </a:p>
                  </a:txBody>
                  <a:tcPr>
                    <a:solidFill>
                      <a:srgbClr val="FFFFFF"/>
                    </a:solidFill>
                  </a:tcPr>
                </a:tc>
                <a:tc>
                  <a:txBody>
                    <a:bodyPr/>
                    <a:lstStyle/>
                    <a:p>
                      <a:pPr algn="ctr"/>
                      <a:r>
                        <a:rPr sz="1050">
                          <a:solidFill>
                            <a:srgbClr val="1F3864"/>
                          </a:solidFill>
                          <a:latin typeface="Calibri"/>
                        </a:rPr>
                        <a:t>+$18k</a:t>
                      </a:r>
                    </a:p>
                  </a:txBody>
                  <a:tcPr>
                    <a:solidFill>
                      <a:srgbClr val="E2EFDA"/>
                    </a:solidFill>
                  </a:tcPr>
                </a:tc>
                <a:tc>
                  <a:txBody>
                    <a:bodyPr/>
                    <a:lstStyle/>
                    <a:p>
                      <a:pPr algn="ctr"/>
                      <a:r>
                        <a:rPr sz="1050">
                          <a:solidFill>
                            <a:srgbClr val="1F3864"/>
                          </a:solidFill>
                          <a:latin typeface="Calibri"/>
                        </a:rPr>
                        <a:t>+$104k</a:t>
                      </a:r>
                    </a:p>
                  </a:txBody>
                  <a:tcPr>
                    <a:solidFill>
                      <a:srgbClr val="E2EFDA"/>
                    </a:solidFill>
                  </a:tcPr>
                </a:tc>
                <a:tc>
                  <a:txBody>
                    <a:bodyPr/>
                    <a:lstStyle/>
                    <a:p>
                      <a:pPr algn="ctr"/>
                      <a:r>
                        <a:rPr sz="1050">
                          <a:solidFill>
                            <a:srgbClr val="1F3864"/>
                          </a:solidFill>
                          <a:latin typeface="Calibri"/>
                        </a:rPr>
                        <a:t>~$350k / ~$175k</a:t>
                      </a:r>
                    </a:p>
                  </a:txBody>
                  <a:tcPr>
                    <a:solidFill>
                      <a:srgbClr val="FFFFFF"/>
                    </a:solidFill>
                  </a:tcPr>
                </a:tc>
                <a:tc>
                  <a:txBody>
                    <a:bodyPr/>
                    <a:lstStyle/>
                    <a:p>
                      <a:pPr algn="l"/>
                      <a:r>
                        <a:rPr sz="1050">
                          <a:solidFill>
                            <a:srgbClr val="1F3864"/>
                          </a:solidFill>
                          <a:latin typeface="Calibri"/>
                        </a:rPr>
                        <a:t>Likely yes. This is the trigger already in the plan.</a:t>
                      </a:r>
                    </a:p>
                  </a:txBody>
                  <a:tcPr>
                    <a:solidFill>
                      <a:srgbClr val="E2EFDA"/>
                    </a:solidFill>
                  </a:tcPr>
                </a:tc>
              </a:tr>
              <a:tr h="411480">
                <a:tc>
                  <a:txBody>
                    <a:bodyPr/>
                    <a:lstStyle/>
                    <a:p>
                      <a:pPr algn="l"/>
                      <a:r>
                        <a:rPr sz="1050" b="1">
                          <a:solidFill>
                            <a:srgbClr val="1F3864"/>
                          </a:solidFill>
                          <a:latin typeface="Calibri"/>
                        </a:rPr>
                        <a:t>$2.00</a:t>
                      </a:r>
                    </a:p>
                  </a:txBody>
                  <a:tcPr>
                    <a:solidFill>
                      <a:srgbClr val="FFFFFF"/>
                    </a:solidFill>
                  </a:tcPr>
                </a:tc>
                <a:tc>
                  <a:txBody>
                    <a:bodyPr/>
                    <a:lstStyle/>
                    <a:p>
                      <a:pPr algn="ctr"/>
                      <a:r>
                        <a:rPr sz="1050">
                          <a:solidFill>
                            <a:srgbClr val="1F3864"/>
                          </a:solidFill>
                          <a:latin typeface="Calibri"/>
                        </a:rPr>
                        <a:t>+$29k</a:t>
                      </a:r>
                    </a:p>
                  </a:txBody>
                  <a:tcPr>
                    <a:solidFill>
                      <a:srgbClr val="FFF2CC"/>
                    </a:solidFill>
                  </a:tcPr>
                </a:tc>
                <a:tc>
                  <a:txBody>
                    <a:bodyPr/>
                    <a:lstStyle/>
                    <a:p>
                      <a:pPr algn="ctr"/>
                      <a:r>
                        <a:rPr sz="1050">
                          <a:solidFill>
                            <a:srgbClr val="1F3864"/>
                          </a:solidFill>
                          <a:latin typeface="Calibri"/>
                        </a:rPr>
                        <a:t>+$173k</a:t>
                      </a:r>
                    </a:p>
                  </a:txBody>
                  <a:tcPr>
                    <a:solidFill>
                      <a:srgbClr val="FFF2CC"/>
                    </a:solidFill>
                  </a:tcPr>
                </a:tc>
                <a:tc>
                  <a:txBody>
                    <a:bodyPr/>
                    <a:lstStyle/>
                    <a:p>
                      <a:pPr algn="ctr"/>
                      <a:r>
                        <a:rPr sz="1050">
                          <a:solidFill>
                            <a:srgbClr val="1F3864"/>
                          </a:solidFill>
                          <a:latin typeface="Calibri"/>
                        </a:rPr>
                        <a:t>~$585k / ~$295k</a:t>
                      </a:r>
                    </a:p>
                  </a:txBody>
                  <a:tcPr>
                    <a:solidFill>
                      <a:srgbClr val="FFFFFF"/>
                    </a:solidFill>
                  </a:tcPr>
                </a:tc>
                <a:tc>
                  <a:txBody>
                    <a:bodyPr/>
                    <a:lstStyle/>
                    <a:p>
                      <a:pPr algn="l"/>
                      <a:r>
                        <a:rPr sz="1050">
                          <a:solidFill>
                            <a:srgbClr val="1F3864"/>
                          </a:solidFill>
                          <a:latin typeface="Calibri"/>
                        </a:rPr>
                        <a:t>Borderline — the outage-cost number decides.</a:t>
                      </a:r>
                    </a:p>
                  </a:txBody>
                  <a:tcPr>
                    <a:solidFill>
                      <a:srgbClr val="FFF2CC"/>
                    </a:solidFill>
                  </a:tcPr>
                </a:tc>
              </a:tr>
              <a:tr h="411480">
                <a:tc>
                  <a:txBody>
                    <a:bodyPr/>
                    <a:lstStyle/>
                    <a:p>
                      <a:pPr algn="l"/>
                      <a:r>
                        <a:rPr sz="1050" b="1">
                          <a:solidFill>
                            <a:srgbClr val="1F3864"/>
                          </a:solidFill>
                          <a:latin typeface="Calibri"/>
                        </a:rPr>
                        <a:t>$2.50</a:t>
                      </a:r>
                    </a:p>
                  </a:txBody>
                  <a:tcPr>
                    <a:solidFill>
                      <a:srgbClr val="FFFFFF"/>
                    </a:solidFill>
                  </a:tcPr>
                </a:tc>
                <a:tc>
                  <a:txBody>
                    <a:bodyPr/>
                    <a:lstStyle/>
                    <a:p>
                      <a:pPr algn="ctr"/>
                      <a:r>
                        <a:rPr sz="1050">
                          <a:solidFill>
                            <a:srgbClr val="1F3864"/>
                          </a:solidFill>
                          <a:latin typeface="Calibri"/>
                        </a:rPr>
                        <a:t>+$41k</a:t>
                      </a:r>
                    </a:p>
                  </a:txBody>
                  <a:tcPr>
                    <a:solidFill>
                      <a:srgbClr val="FCE4D6"/>
                    </a:solidFill>
                  </a:tcPr>
                </a:tc>
                <a:tc>
                  <a:txBody>
                    <a:bodyPr/>
                    <a:lstStyle/>
                    <a:p>
                      <a:pPr algn="ctr"/>
                      <a:r>
                        <a:rPr sz="1050">
                          <a:solidFill>
                            <a:srgbClr val="1F3864"/>
                          </a:solidFill>
                          <a:latin typeface="Calibri"/>
                        </a:rPr>
                        <a:t>+$242k</a:t>
                      </a:r>
                    </a:p>
                  </a:txBody>
                  <a:tcPr>
                    <a:solidFill>
                      <a:srgbClr val="FCE4D6"/>
                    </a:solidFill>
                  </a:tcPr>
                </a:tc>
                <a:tc>
                  <a:txBody>
                    <a:bodyPr/>
                    <a:lstStyle/>
                    <a:p>
                      <a:pPr algn="ctr"/>
                      <a:r>
                        <a:rPr sz="1050">
                          <a:solidFill>
                            <a:srgbClr val="1F3864"/>
                          </a:solidFill>
                          <a:latin typeface="Calibri"/>
                        </a:rPr>
                        <a:t>~$820k / ~$410k</a:t>
                      </a:r>
                    </a:p>
                  </a:txBody>
                  <a:tcPr>
                    <a:solidFill>
                      <a:srgbClr val="FFFFFF"/>
                    </a:solidFill>
                  </a:tcPr>
                </a:tc>
                <a:tc>
                  <a:txBody>
                    <a:bodyPr/>
                    <a:lstStyle/>
                    <a:p>
                      <a:pPr algn="l"/>
                      <a:r>
                        <a:rPr sz="1050">
                          <a:solidFill>
                            <a:srgbClr val="1F3864"/>
                          </a:solidFill>
                          <a:latin typeface="Calibri"/>
                        </a:rPr>
                        <a:t>Needs a large outage cost to justify (today's base case).</a:t>
                      </a:r>
                    </a:p>
                  </a:txBody>
                  <a:tcPr>
                    <a:solidFill>
                      <a:srgbClr val="FCE4D6"/>
                    </a:solidFill>
                  </a:tcPr>
                </a:tc>
              </a:tr>
            </a:tbl>
          </a:graphicData>
        </a:graphic>
      </p:graphicFrame>
      <p:sp>
        <p:nvSpPr>
          <p:cNvPr id="7" name="Rectangle 6"/>
          <p:cNvSpPr/>
          <p:nvPr/>
        </p:nvSpPr>
        <p:spPr>
          <a:xfrm>
            <a:off x="548640" y="4800600"/>
            <a:ext cx="5440680" cy="1097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37760"/>
            <a:ext cx="5074920" cy="822959"/>
          </a:xfrm>
          <a:prstGeom prst="rect">
            <a:avLst/>
          </a:prstGeom>
          <a:noFill/>
        </p:spPr>
        <p:txBody>
          <a:bodyPr wrap="square">
            <a:spAutoFit/>
          </a:bodyPr>
          <a:lstStyle/>
          <a:p>
            <a:pPr algn="l">
              <a:spcAft>
                <a:spcPts val="700"/>
              </a:spcAft>
            </a:pPr>
            <a:r>
              <a:rPr sz="1400" b="1" i="0">
                <a:solidFill>
                  <a:srgbClr val="B23A2E"/>
                </a:solidFill>
                <a:latin typeface="Calibri"/>
              </a:rPr>
              <a:t>The opportunity cost of not looking</a:t>
            </a:r>
          </a:p>
          <a:p>
            <a:pPr algn="l">
              <a:spcAft>
                <a:spcPts val="600"/>
              </a:spcAft>
            </a:pPr>
            <a:r>
              <a:rPr sz="1100" b="0" i="0">
                <a:solidFill>
                  <a:srgbClr val="595959"/>
                </a:solidFill>
                <a:latin typeface="Calibri"/>
              </a:rPr>
              <a:t>•  If a $1–1.50/lb source exists and we stop, we forgo insurance that costs less than one bad week — and a live price reference that alone would discipline SNP Inc.'s pricing.</a:t>
            </a:r>
          </a:p>
        </p:txBody>
      </p:sp>
      <p:sp>
        <p:nvSpPr>
          <p:cNvPr id="9" name="Rectangle 8"/>
          <p:cNvSpPr/>
          <p:nvPr/>
        </p:nvSpPr>
        <p:spPr>
          <a:xfrm>
            <a:off x="6172200" y="4800600"/>
            <a:ext cx="5440680" cy="10972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4937760"/>
            <a:ext cx="5074920" cy="822959"/>
          </a:xfrm>
          <a:prstGeom prst="rect">
            <a:avLst/>
          </a:prstGeom>
          <a:noFill/>
        </p:spPr>
        <p:txBody>
          <a:bodyPr wrap="square">
            <a:spAutoFit/>
          </a:bodyPr>
          <a:lstStyle/>
          <a:p>
            <a:pPr algn="l">
              <a:spcAft>
                <a:spcPts val="700"/>
              </a:spcAft>
            </a:pPr>
            <a:r>
              <a:rPr sz="1400" b="1" i="0">
                <a:solidFill>
                  <a:srgbClr val="2E7D46"/>
                </a:solidFill>
                <a:latin typeface="Calibri"/>
              </a:rPr>
              <a:t>How we find out — cheaply</a:t>
            </a:r>
          </a:p>
          <a:p>
            <a:pPr algn="l">
              <a:spcAft>
                <a:spcPts val="600"/>
              </a:spcAft>
            </a:pPr>
            <a:r>
              <a:rPr sz="1100" b="0" i="0">
                <a:solidFill>
                  <a:srgbClr val="595959"/>
                </a:solidFill>
                <a:latin typeface="Calibri"/>
              </a:rPr>
              <a:t>•  Issue the RFQ to PCI Manufacturing against the agreed spec (11% solids, 900–1,100 cP) now. A real number in ~2 weeks, at no cost, decides which side of the table we are on.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Below ~$1.50/lb this is an easy yes; above ~$2.50 it needs a big outage cost. Price discovery is the cheapest decision we can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Logistics: what two suppliers look like under an 18–30 day shelf life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Rectangle 4"/>
          <p:cNvSpPr/>
          <p:nvPr/>
        </p:nvSpPr>
        <p:spPr>
          <a:xfrm>
            <a:off x="54864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rhythm</a:t>
            </a:r>
          </a:p>
          <a:p>
            <a:pPr algn="l">
              <a:spcAft>
                <a:spcPts val="600"/>
              </a:spcAft>
            </a:pPr>
            <a:r>
              <a:rPr sz="1150" b="0" i="0">
                <a:solidFill>
                  <a:srgbClr val="595959"/>
                </a:solidFill>
                <a:latin typeface="Calibri"/>
              </a:rPr>
              <a:t>•  Every drum is made to order — an 18–30 day shelf life means no safety stock, from either supplier</a:t>
            </a:r>
          </a:p>
          <a:p>
            <a:pPr algn="l">
              <a:spcAft>
                <a:spcPts val="600"/>
              </a:spcAft>
            </a:pPr>
            <a:r>
              <a:rPr sz="1150" b="0" i="0">
                <a:solidFill>
                  <a:srgbClr val="595959"/>
                </a:solidFill>
                <a:latin typeface="Calibri"/>
              </a:rPr>
              <a:t>•  PCI Manufacturing: 1 drum/week (its minimum). SNP Inc.: ~2 drums/week. Each drum consumed within ~2 weeks of receipt, first-in-first-out by production date</a:t>
            </a:r>
          </a:p>
          <a:p>
            <a:pPr algn="l">
              <a:spcAft>
                <a:spcPts val="600"/>
              </a:spcAft>
            </a:pPr>
            <a:r>
              <a:rPr sz="1150" b="0" i="0">
                <a:solidFill>
                  <a:srgbClr val="595959"/>
                </a:solidFill>
                <a:latin typeface="Calibri"/>
              </a:rPr>
              <a:t>•  Two lead times, two ship lanes (Durham NC vs St. Louis MO), two order calendars to keep in phase</a:t>
            </a:r>
          </a:p>
        </p:txBody>
      </p:sp>
      <p:sp>
        <p:nvSpPr>
          <p:cNvPr id="7" name="Rectangle 6"/>
          <p:cNvSpPr/>
          <p:nvPr/>
        </p:nvSpPr>
        <p:spPr>
          <a:xfrm>
            <a:off x="617220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control we would need — and how</a:t>
            </a:r>
          </a:p>
          <a:p>
            <a:pPr algn="l">
              <a:spcAft>
                <a:spcPts val="600"/>
              </a:spcAft>
            </a:pPr>
            <a:r>
              <a:rPr sz="1150" b="0" i="0">
                <a:solidFill>
                  <a:srgbClr val="595959"/>
                </a:solidFill>
                <a:latin typeface="Calibri"/>
              </a:rPr>
              <a:t>•  One harmonized spec for both: 11% solids, 900–1,100 cP fresh, pH target — and ONE viscometer method, or the numbers cannot be compared</a:t>
            </a:r>
          </a:p>
          <a:p>
            <a:pPr algn="l">
              <a:spcAft>
                <a:spcPts val="600"/>
              </a:spcAft>
            </a:pPr>
            <a:r>
              <a:rPr sz="1150" b="0" i="0">
                <a:solidFill>
                  <a:srgbClr val="595959"/>
                </a:solidFill>
                <a:latin typeface="Calibri"/>
              </a:rPr>
              <a:t>•  Incoming test on every lot (viscosity, solids, pH) against a Certificate of Analysis (CoA) from each supplier; lot traceability to source so hydrogel performance can be tracked by supplier</a:t>
            </a:r>
          </a:p>
          <a:p>
            <a:pPr algn="l">
              <a:spcAft>
                <a:spcPts val="600"/>
              </a:spcAft>
            </a:pPr>
            <a:r>
              <a:rPr sz="1150" b="0" i="0">
                <a:solidFill>
                  <a:srgbClr val="595959"/>
                </a:solidFill>
                <a:latin typeface="Calibri"/>
              </a:rPr>
              <a:t>•  Two cleaning procedures (PCI's residual-film issue is open), two Supplier Quality Agreements with change-notification and audit rights, quarterly scorecards</a:t>
            </a:r>
          </a:p>
        </p:txBody>
      </p:sp>
      <p:sp>
        <p:nvSpPr>
          <p:cNvPr id="9" name="Rectangle 8"/>
          <p:cNvSpPr/>
          <p:nvPr/>
        </p:nvSpPr>
        <p:spPr>
          <a:xfrm>
            <a:off x="548640" y="361188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74904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What it costs to run</a:t>
            </a:r>
          </a:p>
          <a:p>
            <a:pPr algn="l">
              <a:spcAft>
                <a:spcPts val="600"/>
              </a:spcAft>
            </a:pPr>
            <a:r>
              <a:rPr sz="1150" b="0" i="0">
                <a:solidFill>
                  <a:srgbClr val="595959"/>
                </a:solidFill>
                <a:latin typeface="Calibri"/>
              </a:rPr>
              <a:t>•  A standing overhead: ~1 extra incoming-QC lot per week, dual documentation, two relationships, annual re-check of each</a:t>
            </a:r>
          </a:p>
          <a:p>
            <a:pPr algn="l">
              <a:spcAft>
                <a:spcPts val="600"/>
              </a:spcAft>
            </a:pPr>
            <a:r>
              <a:rPr sz="1150" b="0" i="0">
                <a:solidFill>
                  <a:srgbClr val="595959"/>
                </a:solidFill>
                <a:latin typeface="Calibri"/>
              </a:rPr>
              <a:t>•  A written ramp plan for PCI Manufacturing (1 → 3 drums/week) — without it, the second source cannot actually cover an SNP Inc. outage</a:t>
            </a:r>
          </a:p>
          <a:p>
            <a:pPr algn="l">
              <a:spcAft>
                <a:spcPts val="600"/>
              </a:spcAft>
            </a:pPr>
            <a:r>
              <a:rPr sz="1150" b="0" i="0">
                <a:solidFill>
                  <a:srgbClr val="595959"/>
                </a:solidFill>
                <a:latin typeface="Calibri"/>
              </a:rPr>
              <a:t>•  If PCI's shelf-life study shows 30 days rather than 18, cadence loosens slightly; it does not create a buffer</a:t>
            </a:r>
          </a:p>
        </p:txBody>
      </p:sp>
      <p:sp>
        <p:nvSpPr>
          <p:cNvPr id="11" name="Rectangle 10"/>
          <p:cNvSpPr/>
          <p:nvPr/>
        </p:nvSpPr>
        <p:spPr>
          <a:xfrm>
            <a:off x="6172200" y="361188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4904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What it buys</a:t>
            </a:r>
          </a:p>
          <a:p>
            <a:pPr algn="l">
              <a:spcAft>
                <a:spcPts val="600"/>
              </a:spcAft>
            </a:pPr>
            <a:r>
              <a:rPr sz="1150" b="0" i="0">
                <a:solidFill>
                  <a:srgbClr val="595959"/>
                </a:solidFill>
                <a:latin typeface="Calibri"/>
              </a:rPr>
              <a:t>•  Recovery in weeks, not months, if SNP Inc. fails — provided the ramp plan is real</a:t>
            </a:r>
          </a:p>
          <a:p>
            <a:pPr algn="l">
              <a:spcAft>
                <a:spcPts val="600"/>
              </a:spcAft>
            </a:pPr>
            <a:r>
              <a:rPr sz="1150" b="0" i="0">
                <a:solidFill>
                  <a:srgbClr val="595959"/>
                </a:solidFill>
                <a:latin typeface="Calibri"/>
              </a:rPr>
              <a:t>•  A live price reference and a second set of process knowledge</a:t>
            </a:r>
          </a:p>
          <a:p>
            <a:pPr algn="l">
              <a:spcAft>
                <a:spcPts val="600"/>
              </a:spcAft>
            </a:pPr>
            <a:r>
              <a:rPr sz="1150" b="0" i="0">
                <a:solidFill>
                  <a:srgbClr val="595959"/>
                </a:solidFill>
                <a:latin typeface="Calibri"/>
              </a:rPr>
              <a:t>•  It does NOT remove the exposure: ~2/3 of volume still stops until the ramp completes</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Running two suppliers is manageable — but it is a permanent operating discipline, not a one-time qualification.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The PCI question: if we deem them capable and then don't buy, what happens?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1097280"/>
            <a:ext cx="6035040" cy="4572000"/>
          </a:xfrm>
          <a:prstGeom prst="rect">
            <a:avLst/>
          </a:prstGeom>
          <a:noFill/>
        </p:spPr>
        <p:txBody>
          <a:bodyPr wrap="square">
            <a:spAutoFit/>
          </a:bodyPr>
          <a:lstStyle/>
          <a:p>
            <a:pPr>
              <a:spcAft>
                <a:spcPts val="900"/>
              </a:spcAft>
            </a:pPr>
            <a:r>
              <a:rPr b="1" sz="1250">
                <a:solidFill>
                  <a:srgbClr val="1F3864"/>
                </a:solidFill>
                <a:latin typeface="Calibri"/>
              </a:rPr>
              <a:t>•  What PCI Manufacturing has already invested — unpaid. </a:t>
            </a:r>
            <a:r>
              <a:rPr sz="1250">
                <a:solidFill>
                  <a:srgbClr val="595959"/>
                </a:solidFill>
                <a:latin typeface="Calibri"/>
              </a:rPr>
              <a:t>Two lab batches, a dilution study, viscosity-method work, a revised process; shelf-life and hydrogel studies queued. Months of engineering time on a ~$25–50k/yr account.</a:t>
            </a:r>
          </a:p>
          <a:p>
            <a:pPr>
              <a:spcAft>
                <a:spcPts val="900"/>
              </a:spcAft>
            </a:pPr>
            <a:r>
              <a:rPr b="1" sz="1250">
                <a:solidFill>
                  <a:srgbClr val="1F3864"/>
                </a:solidFill>
                <a:latin typeface="Calibri"/>
              </a:rPr>
              <a:t>•  Yes, walking away carries a real risk. </a:t>
            </a:r>
            <a:r>
              <a:rPr sz="1250">
                <a:solidFill>
                  <a:srgbClr val="595959"/>
                </a:solidFill>
                <a:latin typeface="Calibri"/>
              </a:rPr>
              <a:t>Small and mid-size shops remember. The realistic outcomes: they decline to re-engage, deprioritize us behind paying customers, or require paid development and a volume commitment next time. Our 'cold-start' plan would lose its most valuable part — a willing, proven supplier.</a:t>
            </a:r>
          </a:p>
          <a:p>
            <a:pPr>
              <a:spcAft>
                <a:spcPts val="900"/>
              </a:spcAft>
            </a:pPr>
            <a:r>
              <a:rPr b="1" sz="1250">
                <a:solidFill>
                  <a:srgbClr val="1F3864"/>
                </a:solidFill>
                <a:latin typeface="Calibri"/>
              </a:rPr>
              <a:t>•  It is also a soft cost that Option B does not show. </a:t>
            </a:r>
            <a:r>
              <a:rPr sz="1250">
                <a:solidFill>
                  <a:srgbClr val="595959"/>
                </a:solidFill>
                <a:latin typeface="Calibri"/>
              </a:rPr>
              <a:t>Choosing B is not free: it spends goodwill we may need in a crisis. That belongs on the ledger next to the $41–99k/yr.</a:t>
            </a:r>
          </a:p>
          <a:p>
            <a:pPr>
              <a:spcAft>
                <a:spcPts val="900"/>
              </a:spcAft>
            </a:pPr>
            <a:r>
              <a:rPr b="1" sz="1250">
                <a:solidFill>
                  <a:srgbClr val="1F3864"/>
                </a:solidFill>
                <a:latin typeface="Calibri"/>
              </a:rPr>
              <a:t>•  How to handle it honestly. </a:t>
            </a:r>
            <a:r>
              <a:rPr sz="1250">
                <a:solidFill>
                  <a:srgbClr val="595959"/>
                </a:solidFill>
                <a:latin typeface="Calibri"/>
              </a:rPr>
              <a:t>Decide BEFORE asking them to run the shelf-life and hydrogel studies. If we lean B: be transparent about the volume reality and the triggers, and offer to pay for the qualification work done (~$15k — the same money any second source would cost to qualify). If we lean A: commit to the drum a week now, not after another round of free experiments.</a:t>
            </a:r>
          </a:p>
        </p:txBody>
      </p:sp>
      <p:sp>
        <p:nvSpPr>
          <p:cNvPr id="6" name="Rectangle 5"/>
          <p:cNvSpPr/>
          <p:nvPr/>
        </p:nvSpPr>
        <p:spPr>
          <a:xfrm>
            <a:off x="6858000" y="1097280"/>
            <a:ext cx="4754880" cy="457200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389120"/>
          </a:xfrm>
          <a:prstGeom prst="rect">
            <a:avLst/>
          </a:prstGeom>
          <a:noFill/>
        </p:spPr>
        <p:txBody>
          <a:bodyPr wrap="square">
            <a:spAutoFit/>
          </a:bodyPr>
          <a:lstStyle/>
          <a:p>
            <a:pPr algn="l">
              <a:spcAft>
                <a:spcPts val="800"/>
              </a:spcAft>
            </a:pPr>
            <a:r>
              <a:rPr sz="1350" b="1" i="0">
                <a:solidFill>
                  <a:srgbClr val="1F3864"/>
                </a:solidFill>
                <a:latin typeface="Calibri"/>
              </a:rPr>
              <a:t>Three ways to leave the door open</a:t>
            </a:r>
          </a:p>
          <a:p>
            <a:pPr>
              <a:spcAft>
                <a:spcPts val="900"/>
              </a:spcAft>
            </a:pPr>
            <a:r>
              <a:rPr b="1" sz="1200">
                <a:solidFill>
                  <a:srgbClr val="1F3864"/>
                </a:solidFill>
                <a:latin typeface="Calibri"/>
              </a:rPr>
              <a:t>Pay for the work  </a:t>
            </a:r>
            <a:r>
              <a:rPr sz="1150">
                <a:solidFill>
                  <a:srgbClr val="595959"/>
                </a:solidFill>
                <a:latin typeface="Calibri"/>
              </a:rPr>
              <a:t>— Fund the qualification already done. Converts 'free experiments' into a paid development engagement they can justify internally.</a:t>
            </a:r>
          </a:p>
          <a:p>
            <a:pPr>
              <a:spcAft>
                <a:spcPts val="900"/>
              </a:spcAft>
            </a:pPr>
            <a:r>
              <a:rPr b="1" sz="1200">
                <a:solidFill>
                  <a:srgbClr val="1F3864"/>
                </a:solidFill>
                <a:latin typeface="Calibri"/>
              </a:rPr>
              <a:t>Be explicit about the triggers  </a:t>
            </a:r>
            <a:r>
              <a:rPr sz="1150">
                <a:solidFill>
                  <a:srgbClr val="595959"/>
                </a:solidFill>
                <a:latin typeface="Calibri"/>
              </a:rPr>
              <a:t>— Tell them when we would switch (outage-cost threshold, an SNP Inc. risk signal, their price at ≤ ~$1.50/lb). A defined path is a relationship; silence is not.</a:t>
            </a:r>
          </a:p>
          <a:p>
            <a:pPr>
              <a:spcAft>
                <a:spcPts val="900"/>
              </a:spcAft>
            </a:pPr>
            <a:r>
              <a:rPr b="1" sz="1200">
                <a:solidFill>
                  <a:srgbClr val="1F3864"/>
                </a:solidFill>
                <a:latin typeface="Calibri"/>
              </a:rPr>
              <a:t>Keep the file warm, not the orders  </a:t>
            </a:r>
            <a:r>
              <a:rPr sz="1150">
                <a:solidFill>
                  <a:srgbClr val="595959"/>
                </a:solidFill>
                <a:latin typeface="Calibri"/>
              </a:rPr>
              <a:t>— Approved-source documentation, agreed spec, their test record — refreshed annually with a call, so a restart is months, not a year.</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If the answer is 'not now', we owe PCI Manufacturing a candid conversation and a cheque — before the next round of experiments, not 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Decision: A or B — and the one number that settles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DECISION</a:t>
            </a:r>
          </a:p>
        </p:txBody>
      </p:sp>
      <p:graphicFrame>
        <p:nvGraphicFramePr>
          <p:cNvPr id="5" name="Table 4"/>
          <p:cNvGraphicFramePr>
            <a:graphicFrameLocks noGrp="1"/>
          </p:cNvGraphicFramePr>
          <p:nvPr/>
        </p:nvGraphicFramePr>
        <p:xfrm>
          <a:off x="548640" y="1097280"/>
          <a:ext cx="11064240" cy="2926080"/>
        </p:xfrm>
        <a:graphic>
          <a:graphicData uri="http://schemas.openxmlformats.org/drawingml/2006/table">
            <a:tbl>
              <a:tblPr firstRow="1" bandRow="1">
                <a:tableStyleId>{5C22544A-7EE6-4342-B048-85BDC9FD1C3A}</a:tableStyleId>
              </a:tblPr>
              <a:tblGrid>
                <a:gridCol w="2103120"/>
                <a:gridCol w="4480560"/>
                <a:gridCol w="4480560"/>
              </a:tblGrid>
              <a:tr h="418011">
                <a:tc>
                  <a:txBody>
                    <a:bodyPr/>
                    <a:lstStyle/>
                    <a:p>
                      <a:pPr algn="l"/>
                      <a:r>
                        <a:rPr sz="1100" b="1">
                          <a:solidFill>
                            <a:srgbClr val="FFFFFF"/>
                          </a:solidFill>
                          <a:latin typeface="Calibri"/>
                        </a:rPr>
                        <a:t/>
                      </a:r>
                    </a:p>
                  </a:txBody>
                  <a:tcPr>
                    <a:solidFill>
                      <a:srgbClr val="1F3864"/>
                    </a:solidFill>
                  </a:tcPr>
                </a:tc>
                <a:tc>
                  <a:txBody>
                    <a:bodyPr/>
                    <a:lstStyle/>
                    <a:p>
                      <a:pPr algn="ctr"/>
                      <a:r>
                        <a:rPr sz="1100" b="1">
                          <a:solidFill>
                            <a:srgbClr val="FFFFFF"/>
                          </a:solidFill>
                          <a:latin typeface="Calibri"/>
                        </a:rPr>
                        <a:t>A · Second source (PCI Manufacturing, 1 drum/wk)</a:t>
                      </a:r>
                    </a:p>
                  </a:txBody>
                  <a:tcPr>
                    <a:solidFill>
                      <a:srgbClr val="1F3864"/>
                    </a:solidFill>
                  </a:tcPr>
                </a:tc>
                <a:tc>
                  <a:txBody>
                    <a:bodyPr/>
                    <a:lstStyle/>
                    <a:p>
                      <a:pPr algn="ctr"/>
                      <a:r>
                        <a:rPr sz="1100" b="1">
                          <a:solidFill>
                            <a:srgbClr val="FFFFFF"/>
                          </a:solidFill>
                          <a:latin typeface="Calibri"/>
                        </a:rPr>
                        <a:t>B · Single source (SNP Inc.), strengthened</a:t>
                      </a:r>
                    </a:p>
                  </a:txBody>
                  <a:tcPr>
                    <a:solidFill>
                      <a:srgbClr val="1F3864"/>
                    </a:solidFill>
                  </a:tcPr>
                </a:tc>
              </a:tr>
              <a:tr h="418011">
                <a:tc>
                  <a:txBody>
                    <a:bodyPr/>
                    <a:lstStyle/>
                    <a:p>
                      <a:pPr algn="l"/>
                      <a:r>
                        <a:rPr sz="1100" b="1">
                          <a:solidFill>
                            <a:srgbClr val="1F3864"/>
                          </a:solidFill>
                          <a:latin typeface="Calibri"/>
                        </a:rPr>
                        <a:t>Annual premium</a:t>
                      </a:r>
                    </a:p>
                  </a:txBody>
                  <a:tcPr>
                    <a:solidFill>
                      <a:srgbClr val="FFFFFF"/>
                    </a:solidFill>
                  </a:tcPr>
                </a:tc>
                <a:tc>
                  <a:txBody>
                    <a:bodyPr/>
                    <a:lstStyle/>
                    <a:p>
                      <a:pPr algn="ctr"/>
                      <a:r>
                        <a:rPr sz="1100">
                          <a:solidFill>
                            <a:srgbClr val="1F3864"/>
                          </a:solidFill>
                          <a:latin typeface="Calibri"/>
                        </a:rPr>
                        <a:t>+$70k mid  ($41–99k)</a:t>
                      </a:r>
                    </a:p>
                  </a:txBody>
                  <a:tcPr>
                    <a:solidFill>
                      <a:srgbClr val="FCE4D6"/>
                    </a:solidFill>
                  </a:tcPr>
                </a:tc>
                <a:tc>
                  <a:txBody>
                    <a:bodyPr/>
                    <a:lstStyle/>
                    <a:p>
                      <a:pPr algn="ctr"/>
                      <a:r>
                        <a:rPr sz="1100">
                          <a:solidFill>
                            <a:srgbClr val="1F3864"/>
                          </a:solidFill>
                          <a:latin typeface="Calibri"/>
                        </a:rPr>
                        <a:t>~$0 + a few $k continuity spend</a:t>
                      </a:r>
                    </a:p>
                  </a:txBody>
                  <a:tcPr>
                    <a:solidFill>
                      <a:srgbClr val="E2EFDA"/>
                    </a:solidFill>
                  </a:tcPr>
                </a:tc>
              </a:tr>
              <a:tr h="418011">
                <a:tc>
                  <a:txBody>
                    <a:bodyPr/>
                    <a:lstStyle/>
                    <a:p>
                      <a:pPr algn="l"/>
                      <a:r>
                        <a:rPr sz="1100" b="1">
                          <a:solidFill>
                            <a:srgbClr val="1F3864"/>
                          </a:solidFill>
                          <a:latin typeface="Calibri"/>
                        </a:rPr>
                        <a:t>5-year premium</a:t>
                      </a:r>
                    </a:p>
                  </a:txBody>
                  <a:tcPr>
                    <a:solidFill>
                      <a:srgbClr val="FFFFFF"/>
                    </a:solidFill>
                  </a:tcPr>
                </a:tc>
                <a:tc>
                  <a:txBody>
                    <a:bodyPr/>
                    <a:lstStyle/>
                    <a:p>
                      <a:pPr algn="ctr"/>
                      <a:r>
                        <a:rPr sz="1100">
                          <a:solidFill>
                            <a:srgbClr val="1F3864"/>
                          </a:solidFill>
                          <a:latin typeface="Calibri"/>
                        </a:rPr>
                        <a:t>~$415k  ($242–588k)</a:t>
                      </a:r>
                    </a:p>
                  </a:txBody>
                  <a:tcPr>
                    <a:solidFill>
                      <a:srgbClr val="FCE4D6"/>
                    </a:solidFill>
                  </a:tcPr>
                </a:tc>
                <a:tc>
                  <a:txBody>
                    <a:bodyPr/>
                    <a:lstStyle/>
                    <a:p>
                      <a:pPr algn="ctr"/>
                      <a:r>
                        <a:rPr sz="1100">
                          <a:solidFill>
                            <a:srgbClr val="1F3864"/>
                          </a:solidFill>
                          <a:latin typeface="Calibri"/>
                        </a:rPr>
                        <a:t>~$0</a:t>
                      </a:r>
                    </a:p>
                  </a:txBody>
                  <a:tcPr>
                    <a:solidFill>
                      <a:srgbClr val="E2EFDA"/>
                    </a:solidFill>
                  </a:tcPr>
                </a:tc>
              </a:tr>
              <a:tr h="418011">
                <a:tc>
                  <a:txBody>
                    <a:bodyPr/>
                    <a:lstStyle/>
                    <a:p>
                      <a:pPr algn="l"/>
                      <a:r>
                        <a:rPr sz="1100" b="1">
                          <a:solidFill>
                            <a:srgbClr val="1F3864"/>
                          </a:solidFill>
                          <a:latin typeface="Calibri"/>
                        </a:rPr>
                        <a:t>Exposure if SNP Inc. fails</a:t>
                      </a:r>
                    </a:p>
                  </a:txBody>
                  <a:tcPr>
                    <a:solidFill>
                      <a:srgbClr val="FFFFFF"/>
                    </a:solidFill>
                  </a:tcPr>
                </a:tc>
                <a:tc>
                  <a:txBody>
                    <a:bodyPr/>
                    <a:lstStyle/>
                    <a:p>
                      <a:pPr algn="ctr"/>
                      <a:r>
                        <a:rPr sz="1100">
                          <a:solidFill>
                            <a:srgbClr val="1F3864"/>
                          </a:solidFill>
                          <a:latin typeface="Calibri"/>
                        </a:rPr>
                        <a:t>~2/3 of volume until PCI ramps</a:t>
                      </a:r>
                    </a:p>
                  </a:txBody>
                  <a:tcPr>
                    <a:solidFill>
                      <a:srgbClr val="FCE4D6"/>
                    </a:solidFill>
                  </a:tcPr>
                </a:tc>
                <a:tc>
                  <a:txBody>
                    <a:bodyPr/>
                    <a:lstStyle/>
                    <a:p>
                      <a:pPr algn="ctr"/>
                      <a:r>
                        <a:rPr sz="1100">
                          <a:solidFill>
                            <a:srgbClr val="1F3864"/>
                          </a:solidFill>
                          <a:latin typeface="Calibri"/>
                        </a:rPr>
                        <a:t>100%</a:t>
                      </a:r>
                    </a:p>
                  </a:txBody>
                  <a:tcPr>
                    <a:solidFill>
                      <a:srgbClr val="E2EFDA"/>
                    </a:solidFill>
                  </a:tcPr>
                </a:tc>
              </a:tr>
              <a:tr h="418011">
                <a:tc>
                  <a:txBody>
                    <a:bodyPr/>
                    <a:lstStyle/>
                    <a:p>
                      <a:pPr algn="l"/>
                      <a:r>
                        <a:rPr sz="1100" b="1">
                          <a:solidFill>
                            <a:srgbClr val="1F3864"/>
                          </a:solidFill>
                          <a:latin typeface="Calibri"/>
                        </a:rPr>
                        <a:t>Time to recover</a:t>
                      </a:r>
                    </a:p>
                  </a:txBody>
                  <a:tcPr>
                    <a:solidFill>
                      <a:srgbClr val="FFFFFF"/>
                    </a:solidFill>
                  </a:tcPr>
                </a:tc>
                <a:tc>
                  <a:txBody>
                    <a:bodyPr/>
                    <a:lstStyle/>
                    <a:p>
                      <a:pPr algn="ctr"/>
                      <a:r>
                        <a:rPr sz="1100">
                          <a:solidFill>
                            <a:srgbClr val="1F3864"/>
                          </a:solidFill>
                          <a:latin typeface="Calibri"/>
                        </a:rPr>
                        <a:t>weeks (with a ramp plan)</a:t>
                      </a:r>
                    </a:p>
                  </a:txBody>
                  <a:tcPr>
                    <a:solidFill>
                      <a:srgbClr val="FCE4D6"/>
                    </a:solidFill>
                  </a:tcPr>
                </a:tc>
                <a:tc>
                  <a:txBody>
                    <a:bodyPr/>
                    <a:lstStyle/>
                    <a:p>
                      <a:pPr algn="ctr"/>
                      <a:r>
                        <a:rPr sz="1100">
                          <a:solidFill>
                            <a:srgbClr val="1F3864"/>
                          </a:solidFill>
                          <a:latin typeface="Calibri"/>
                        </a:rPr>
                        <a:t>6–12 months; 3–4 with the cold-start kit current</a:t>
                      </a:r>
                    </a:p>
                  </a:txBody>
                  <a:tcPr>
                    <a:solidFill>
                      <a:srgbClr val="E2EFDA"/>
                    </a:solidFill>
                  </a:tcPr>
                </a:tc>
              </a:tr>
              <a:tr h="418011">
                <a:tc>
                  <a:txBody>
                    <a:bodyPr/>
                    <a:lstStyle/>
                    <a:p>
                      <a:pPr algn="l"/>
                      <a:r>
                        <a:rPr sz="1100" b="1">
                          <a:solidFill>
                            <a:srgbClr val="1F3864"/>
                          </a:solidFill>
                          <a:latin typeface="Calibri"/>
                        </a:rPr>
                        <a:t>Relationship</a:t>
                      </a:r>
                    </a:p>
                  </a:txBody>
                  <a:tcPr>
                    <a:solidFill>
                      <a:srgbClr val="FFFFFF"/>
                    </a:solidFill>
                  </a:tcPr>
                </a:tc>
                <a:tc>
                  <a:txBody>
                    <a:bodyPr/>
                    <a:lstStyle/>
                    <a:p>
                      <a:pPr algn="ctr"/>
                      <a:r>
                        <a:rPr sz="1100">
                          <a:solidFill>
                            <a:srgbClr val="1F3864"/>
                          </a:solidFill>
                          <a:latin typeface="Calibri"/>
                        </a:rPr>
                        <a:t>Takes a third of SNP Inc.'s line; PCI engaged</a:t>
                      </a:r>
                    </a:p>
                  </a:txBody>
                  <a:tcPr>
                    <a:solidFill>
                      <a:srgbClr val="FCE4D6"/>
                    </a:solidFill>
                  </a:tcPr>
                </a:tc>
                <a:tc>
                  <a:txBody>
                    <a:bodyPr/>
                    <a:lstStyle/>
                    <a:p>
                      <a:pPr algn="ctr"/>
                      <a:r>
                        <a:rPr sz="1100">
                          <a:solidFill>
                            <a:srgbClr val="1F3864"/>
                          </a:solidFill>
                          <a:latin typeface="Calibri"/>
                        </a:rPr>
                        <a:t>Deeper SNP partnership; PCI door kept open (paid)</a:t>
                      </a:r>
                    </a:p>
                  </a:txBody>
                  <a:tcPr>
                    <a:solidFill>
                      <a:srgbClr val="E2EFDA"/>
                    </a:solidFill>
                  </a:tcPr>
                </a:tc>
              </a:tr>
              <a:tr h="418014">
                <a:tc>
                  <a:txBody>
                    <a:bodyPr/>
                    <a:lstStyle/>
                    <a:p>
                      <a:pPr algn="l"/>
                      <a:r>
                        <a:rPr sz="1100" b="1">
                          <a:solidFill>
                            <a:srgbClr val="1F3864"/>
                          </a:solidFill>
                          <a:latin typeface="Calibri"/>
                        </a:rPr>
                        <a:t>Pays off when…</a:t>
                      </a:r>
                    </a:p>
                  </a:txBody>
                  <a:tcPr>
                    <a:solidFill>
                      <a:srgbClr val="FFFFFF"/>
                    </a:solidFill>
                  </a:tcPr>
                </a:tc>
                <a:tc>
                  <a:txBody>
                    <a:bodyPr/>
                    <a:lstStyle/>
                    <a:p>
                      <a:pPr algn="ctr"/>
                      <a:r>
                        <a:rPr sz="1100">
                          <a:solidFill>
                            <a:srgbClr val="1F3864"/>
                          </a:solidFill>
                          <a:latin typeface="Calibri"/>
                        </a:rPr>
                        <a:t>6-month outage cost &gt; ~$700k (10%/yr risk) or ~$1.4M (5%)</a:t>
                      </a:r>
                    </a:p>
                  </a:txBody>
                  <a:tcPr>
                    <a:solidFill>
                      <a:srgbClr val="FCE4D6"/>
                    </a:solidFill>
                  </a:tcPr>
                </a:tc>
                <a:tc>
                  <a:txBody>
                    <a:bodyPr/>
                    <a:lstStyle/>
                    <a:p>
                      <a:pPr algn="ctr"/>
                      <a:r>
                        <a:rPr sz="1100">
                          <a:solidFill>
                            <a:srgbClr val="1F3864"/>
                          </a:solidFill>
                          <a:latin typeface="Calibri"/>
                        </a:rPr>
                        <a:t>outage cost below that, and SNP Inc. stays healthy and engaged</a:t>
                      </a:r>
                    </a:p>
                  </a:txBody>
                  <a:tcPr>
                    <a:solidFill>
                      <a:srgbClr val="E2EFDA"/>
                    </a:solidFill>
                  </a:tcPr>
                </a:tc>
              </a:tr>
            </a:tbl>
          </a:graphicData>
        </a:graphic>
      </p:graphicFrame>
      <p:sp>
        <p:nvSpPr>
          <p:cNvPr id="6" name="Rectangle 5"/>
          <p:cNvSpPr/>
          <p:nvPr/>
        </p:nvSpPr>
        <p:spPr>
          <a:xfrm>
            <a:off x="548640" y="4160520"/>
            <a:ext cx="5440680" cy="16916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97680"/>
            <a:ext cx="5074920" cy="1417320"/>
          </a:xfrm>
          <a:prstGeom prst="rect">
            <a:avLst/>
          </a:prstGeom>
          <a:noFill/>
        </p:spPr>
        <p:txBody>
          <a:bodyPr wrap="square">
            <a:spAutoFit/>
          </a:bodyPr>
          <a:lstStyle/>
          <a:p>
            <a:pPr algn="l">
              <a:spcAft>
                <a:spcPts val="700"/>
              </a:spcAft>
            </a:pPr>
            <a:r>
              <a:rPr sz="1400" b="1" i="0">
                <a:solidFill>
                  <a:srgbClr val="2E7D46"/>
                </a:solidFill>
                <a:latin typeface="Calibri"/>
              </a:rPr>
              <a:t>Recommendation — in this order</a:t>
            </a:r>
          </a:p>
          <a:p>
            <a:pPr algn="l">
              <a:spcAft>
                <a:spcPts val="600"/>
              </a:spcAft>
            </a:pPr>
            <a:r>
              <a:rPr sz="1000" b="0" i="0">
                <a:solidFill>
                  <a:srgbClr val="595959"/>
                </a:solidFill>
                <a:latin typeface="Calibri"/>
              </a:rPr>
              <a:t>•  1. Price discovery first: RFQ to PCI Manufacturing on the agreed spec (~2 weeks, no cost). ≤ $1.50/lb → A; ≥ $2.50 → B unless the outage cost is large; between → the outage number decides.</a:t>
            </a:r>
          </a:p>
          <a:p>
            <a:pPr algn="l">
              <a:spcAft>
                <a:spcPts val="600"/>
              </a:spcAft>
            </a:pPr>
            <a:r>
              <a:rPr sz="1000" b="0" i="0">
                <a:solidFill>
                  <a:srgbClr val="595959"/>
                </a:solidFill>
                <a:latin typeface="Calibri"/>
              </a:rPr>
              <a:t>•  2. Either way, strengthen SNP Inc. now: forecast, hydrogel program, continuity terms, shelf-stable RESIN on consignment, annual financial check.</a:t>
            </a:r>
          </a:p>
          <a:p>
            <a:pPr algn="l">
              <a:spcAft>
                <a:spcPts val="600"/>
              </a:spcAft>
            </a:pPr>
            <a:r>
              <a:rPr sz="1000" b="0" i="0">
                <a:solidFill>
                  <a:srgbClr val="595959"/>
                </a:solidFill>
                <a:latin typeface="Calibri"/>
              </a:rPr>
              <a:t>•  3. If B: settle with PCI Manufacturing honestly — pay for the work, state the triggers.</a:t>
            </a:r>
          </a:p>
        </p:txBody>
      </p:sp>
      <p:sp>
        <p:nvSpPr>
          <p:cNvPr id="8" name="Rectangle 7"/>
          <p:cNvSpPr/>
          <p:nvPr/>
        </p:nvSpPr>
        <p:spPr>
          <a:xfrm>
            <a:off x="6172200" y="4160520"/>
            <a:ext cx="5440680" cy="16916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297680"/>
            <a:ext cx="5074920" cy="1417320"/>
          </a:xfrm>
          <a:prstGeom prst="rect">
            <a:avLst/>
          </a:prstGeom>
          <a:noFill/>
        </p:spPr>
        <p:txBody>
          <a:bodyPr wrap="square">
            <a:spAutoFit/>
          </a:bodyPr>
          <a:lstStyle/>
          <a:p>
            <a:pPr algn="l">
              <a:spcAft>
                <a:spcPts val="700"/>
              </a:spcAft>
            </a:pPr>
            <a:r>
              <a:rPr sz="1400" b="1" i="0">
                <a:solidFill>
                  <a:srgbClr val="9C5A0C"/>
                </a:solidFill>
                <a:latin typeface="Calibri"/>
              </a:rPr>
              <a:t>Switch to A the moment any trigger fires</a:t>
            </a:r>
          </a:p>
          <a:p>
            <a:pPr algn="l">
              <a:spcAft>
                <a:spcPts val="600"/>
              </a:spcAft>
            </a:pPr>
            <a:r>
              <a:rPr sz="1050" b="0" i="0">
                <a:solidFill>
                  <a:srgbClr val="595959"/>
                </a:solidFill>
                <a:latin typeface="Calibri"/>
              </a:rPr>
              <a:t>•  Finance's outage estimate clears the break-even  ·  an SNP Inc. risk signal (finances, key person, missed lot, odd price move)</a:t>
            </a:r>
          </a:p>
          <a:p>
            <a:pPr algn="l">
              <a:spcAft>
                <a:spcPts val="600"/>
              </a:spcAft>
            </a:pPr>
            <a:r>
              <a:rPr sz="1050" b="0" i="0">
                <a:solidFill>
                  <a:srgbClr val="595959"/>
                </a:solidFill>
                <a:latin typeface="Calibri"/>
              </a:rPr>
              <a:t>•  PCI Manufacturing quotes ≤ ~$1.50/lb (premium falls to ~$18k)  ·  a new hydrogel line makes PVA strategic  ·  SNP Inc. declines the partnership</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The ask: (1) the cost of a 6-month PVA outage, from Finance/Ops; (2) go-ahead to get PCI's real price now; (3) approval to formalize SNP Inc. — then A or B by the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Appendix: assumptions, sources, suppliers, acronyms</a:t>
            </a:r>
          </a:p>
        </p:txBody>
      </p:sp>
      <p:graphicFrame>
        <p:nvGraphicFramePr>
          <p:cNvPr id="4" name="Table 3"/>
          <p:cNvGraphicFramePr>
            <a:graphicFrameLocks noGrp="1"/>
          </p:cNvGraphicFramePr>
          <p:nvPr/>
        </p:nvGraphicFramePr>
        <p:xfrm>
          <a:off x="548640" y="1051560"/>
          <a:ext cx="6309360" cy="3566160"/>
        </p:xfrm>
        <a:graphic>
          <a:graphicData uri="http://schemas.openxmlformats.org/drawingml/2006/table">
            <a:tbl>
              <a:tblPr firstRow="1" bandRow="1">
                <a:tableStyleId>{5C22544A-7EE6-4342-B048-85BDC9FD1C3A}</a:tableStyleId>
              </a:tblPr>
              <a:tblGrid>
                <a:gridCol w="1828800"/>
                <a:gridCol w="2468880"/>
                <a:gridCol w="2011680"/>
              </a:tblGrid>
              <a:tr h="356616">
                <a:tc>
                  <a:txBody>
                    <a:bodyPr/>
                    <a:lstStyle/>
                    <a:p>
                      <a:pPr algn="l"/>
                      <a:r>
                        <a:rPr sz="950" b="1">
                          <a:solidFill>
                            <a:srgbClr val="FFFFFF"/>
                          </a:solidFill>
                          <a:latin typeface="Calibri"/>
                        </a:rPr>
                        <a:t>Assumption</a:t>
                      </a:r>
                    </a:p>
                  </a:txBody>
                  <a:tcPr>
                    <a:solidFill>
                      <a:srgbClr val="1F3864"/>
                    </a:solidFill>
                  </a:tcPr>
                </a:tc>
                <a:tc>
                  <a:txBody>
                    <a:bodyPr/>
                    <a:lstStyle/>
                    <a:p>
                      <a:pPr algn="ctr"/>
                      <a:r>
                        <a:rPr sz="950" b="1">
                          <a:solidFill>
                            <a:srgbClr val="FFFFFF"/>
                          </a:solidFill>
                          <a:latin typeface="Calibri"/>
                        </a:rPr>
                        <a:t>Value</a:t>
                      </a:r>
                    </a:p>
                  </a:txBody>
                  <a:tcPr>
                    <a:solidFill>
                      <a:srgbClr val="1F3864"/>
                    </a:solidFill>
                  </a:tcPr>
                </a:tc>
                <a:tc>
                  <a:txBody>
                    <a:bodyPr/>
                    <a:lstStyle/>
                    <a:p>
                      <a:pPr algn="ctr"/>
                      <a:r>
                        <a:rPr sz="950" b="1">
                          <a:solidFill>
                            <a:srgbClr val="FFFFFF"/>
                          </a:solidFill>
                          <a:latin typeface="Calibri"/>
                        </a:rPr>
                        <a:t>Basis</a:t>
                      </a:r>
                    </a:p>
                  </a:txBody>
                  <a:tcPr>
                    <a:solidFill>
                      <a:srgbClr val="1F3864"/>
                    </a:solidFill>
                  </a:tcPr>
                </a:tc>
              </a:tr>
              <a:tr h="356616">
                <a:tc>
                  <a:txBody>
                    <a:bodyPr/>
                    <a:lstStyle/>
                    <a:p>
                      <a:pPr algn="l"/>
                      <a:r>
                        <a:rPr sz="950" b="1">
                          <a:solidFill>
                            <a:srgbClr val="1F3864"/>
                          </a:solidFill>
                          <a:latin typeface="Calibri"/>
                        </a:rPr>
                        <a:t>Demand today</a:t>
                      </a:r>
                    </a:p>
                  </a:txBody>
                  <a:tcPr>
                    <a:solidFill>
                      <a:srgbClr val="FFFFFF"/>
                    </a:solidFill>
                  </a:tcPr>
                </a:tc>
                <a:tc>
                  <a:txBody>
                    <a:bodyPr/>
                    <a:lstStyle/>
                    <a:p>
                      <a:pPr algn="ctr"/>
                      <a:r>
                        <a:rPr sz="950">
                          <a:solidFill>
                            <a:srgbClr val="1F3864"/>
                          </a:solidFill>
                          <a:latin typeface="Calibri"/>
                        </a:rPr>
                        <a:t>1,300 lb/wk ≈ 150 drums/yr</a:t>
                      </a:r>
                    </a:p>
                  </a:txBody>
                  <a:tcPr>
                    <a:solidFill>
                      <a:srgbClr val="FFFFFF"/>
                    </a:solidFill>
                  </a:tcPr>
                </a:tc>
                <a:tc>
                  <a:txBody>
                    <a:bodyPr/>
                    <a:lstStyle/>
                    <a:p>
                      <a:pPr algn="ctr"/>
                      <a:r>
                        <a:rPr sz="950">
                          <a:solidFill>
                            <a:srgbClr val="1F3864"/>
                          </a:solidFill>
                          <a:latin typeface="Calibri"/>
                        </a:rPr>
                        <a:t>Confirmed 2026-06-26</a:t>
                      </a:r>
                    </a:p>
                  </a:txBody>
                  <a:tcPr>
                    <a:solidFill>
                      <a:srgbClr val="FFFFFF"/>
                    </a:solidFill>
                  </a:tcPr>
                </a:tc>
              </a:tr>
              <a:tr h="356616">
                <a:tc>
                  <a:txBody>
                    <a:bodyPr/>
                    <a:lstStyle/>
                    <a:p>
                      <a:pPr algn="l"/>
                      <a:r>
                        <a:rPr sz="950" b="1">
                          <a:solidFill>
                            <a:srgbClr val="1F3864"/>
                          </a:solidFill>
                          <a:latin typeface="Calibri"/>
                        </a:rPr>
                        <a:t>SNP Inc. price</a:t>
                      </a:r>
                    </a:p>
                  </a:txBody>
                  <a:tcPr>
                    <a:solidFill>
                      <a:srgbClr val="FFFFFF"/>
                    </a:solidFill>
                  </a:tcPr>
                </a:tc>
                <a:tc>
                  <a:txBody>
                    <a:bodyPr/>
                    <a:lstStyle/>
                    <a:p>
                      <a:pPr algn="ctr"/>
                      <a:r>
                        <a:rPr sz="950">
                          <a:solidFill>
                            <a:srgbClr val="1F3864"/>
                          </a:solidFill>
                          <a:latin typeface="Calibri"/>
                        </a:rPr>
                        <a:t>$0.75/lb delivered = $337.50/drum</a:t>
                      </a:r>
                    </a:p>
                  </a:txBody>
                  <a:tcPr>
                    <a:solidFill>
                      <a:srgbClr val="FFFFFF"/>
                    </a:solidFill>
                  </a:tcPr>
                </a:tc>
                <a:tc>
                  <a:txBody>
                    <a:bodyPr/>
                    <a:lstStyle/>
                    <a:p>
                      <a:pPr algn="ctr"/>
                      <a:r>
                        <a:rPr sz="950">
                          <a:solidFill>
                            <a:srgbClr val="1F3864"/>
                          </a:solidFill>
                          <a:latin typeface="Calibri"/>
                        </a:rPr>
                        <a:t>SNP Estimate 012726-1</a:t>
                      </a:r>
                    </a:p>
                  </a:txBody>
                  <a:tcPr>
                    <a:solidFill>
                      <a:srgbClr val="FFFFFF"/>
                    </a:solidFill>
                  </a:tcPr>
                </a:tc>
              </a:tr>
              <a:tr h="356616">
                <a:tc>
                  <a:txBody>
                    <a:bodyPr/>
                    <a:lstStyle/>
                    <a:p>
                      <a:pPr algn="l"/>
                      <a:r>
                        <a:rPr sz="950" b="1">
                          <a:solidFill>
                            <a:srgbClr val="1F3864"/>
                          </a:solidFill>
                          <a:latin typeface="Calibri"/>
                        </a:rPr>
                        <a:t>PCI Manufacturing price</a:t>
                      </a:r>
                    </a:p>
                  </a:txBody>
                  <a:tcPr>
                    <a:solidFill>
                      <a:srgbClr val="FFFFFF"/>
                    </a:solidFill>
                  </a:tcPr>
                </a:tc>
                <a:tc>
                  <a:txBody>
                    <a:bodyPr/>
                    <a:lstStyle/>
                    <a:p>
                      <a:pPr algn="ctr"/>
                      <a:r>
                        <a:rPr sz="950">
                          <a:solidFill>
                            <a:srgbClr val="1F3864"/>
                          </a:solidFill>
                          <a:latin typeface="Calibri"/>
                        </a:rPr>
                        <a:t>$2.50 / $3.75 / $5.00 per lb</a:t>
                      </a:r>
                    </a:p>
                  </a:txBody>
                  <a:tcPr>
                    <a:solidFill>
                      <a:srgbClr val="FFFFFF"/>
                    </a:solidFill>
                  </a:tcPr>
                </a:tc>
                <a:tc>
                  <a:txBody>
                    <a:bodyPr/>
                    <a:lstStyle/>
                    <a:p>
                      <a:pPr algn="ctr"/>
                      <a:r>
                        <a:rPr sz="950">
                          <a:solidFill>
                            <a:srgbClr val="1F3864"/>
                          </a:solidFill>
                          <a:latin typeface="Calibri"/>
                        </a:rPr>
                        <a:t>Leadership range; not yet quoted</a:t>
                      </a:r>
                    </a:p>
                  </a:txBody>
                  <a:tcPr>
                    <a:solidFill>
                      <a:srgbClr val="FFFFFF"/>
                    </a:solidFill>
                  </a:tcPr>
                </a:tc>
              </a:tr>
              <a:tr h="356616">
                <a:tc>
                  <a:txBody>
                    <a:bodyPr/>
                    <a:lstStyle/>
                    <a:p>
                      <a:pPr algn="l"/>
                      <a:r>
                        <a:rPr sz="950" b="1">
                          <a:solidFill>
                            <a:srgbClr val="1F3864"/>
                          </a:solidFill>
                          <a:latin typeface="Calibri"/>
                        </a:rPr>
                        <a:t>Supplier minimum</a:t>
                      </a:r>
                    </a:p>
                  </a:txBody>
                  <a:tcPr>
                    <a:solidFill>
                      <a:srgbClr val="FFFFFF"/>
                    </a:solidFill>
                  </a:tcPr>
                </a:tc>
                <a:tc>
                  <a:txBody>
                    <a:bodyPr/>
                    <a:lstStyle/>
                    <a:p>
                      <a:pPr algn="ctr"/>
                      <a:r>
                        <a:rPr sz="950">
                          <a:solidFill>
                            <a:srgbClr val="1F3864"/>
                          </a:solidFill>
                          <a:latin typeface="Calibri"/>
                        </a:rPr>
                        <a:t>1 drum/week (52/yr ≈ 35% today)</a:t>
                      </a:r>
                    </a:p>
                  </a:txBody>
                  <a:tcPr>
                    <a:solidFill>
                      <a:srgbClr val="FFFFFF"/>
                    </a:solidFill>
                  </a:tcPr>
                </a:tc>
                <a:tc>
                  <a:txBody>
                    <a:bodyPr/>
                    <a:lstStyle/>
                    <a:p>
                      <a:pPr algn="ctr"/>
                      <a:r>
                        <a:rPr sz="950">
                          <a:solidFill>
                            <a:srgbClr val="1F3864"/>
                          </a:solidFill>
                          <a:latin typeface="Calibri"/>
                        </a:rPr>
                        <a:t>Supplier condition</a:t>
                      </a:r>
                    </a:p>
                  </a:txBody>
                  <a:tcPr>
                    <a:solidFill>
                      <a:srgbClr val="FFFFFF"/>
                    </a:solidFill>
                  </a:tcPr>
                </a:tc>
              </a:tr>
              <a:tr h="356616">
                <a:tc>
                  <a:txBody>
                    <a:bodyPr/>
                    <a:lstStyle/>
                    <a:p>
                      <a:pPr algn="l"/>
                      <a:r>
                        <a:rPr sz="950" b="1">
                          <a:solidFill>
                            <a:srgbClr val="1F3864"/>
                          </a:solidFill>
                          <a:latin typeface="Calibri"/>
                        </a:rPr>
                        <a:t>Volume growth</a:t>
                      </a:r>
                    </a:p>
                  </a:txBody>
                  <a:tcPr>
                    <a:solidFill>
                      <a:srgbClr val="FFFFFF"/>
                    </a:solidFill>
                  </a:tcPr>
                </a:tc>
                <a:tc>
                  <a:txBody>
                    <a:bodyPr/>
                    <a:lstStyle/>
                    <a:p>
                      <a:pPr algn="ctr"/>
                      <a:r>
                        <a:rPr sz="950">
                          <a:solidFill>
                            <a:srgbClr val="1F3864"/>
                          </a:solidFill>
                          <a:latin typeface="Calibri"/>
                        </a:rPr>
                        <a:t>+10%/yr</a:t>
                      </a:r>
                    </a:p>
                  </a:txBody>
                  <a:tcPr>
                    <a:solidFill>
                      <a:srgbClr val="FFFFFF"/>
                    </a:solidFill>
                  </a:tcPr>
                </a:tc>
                <a:tc>
                  <a:txBody>
                    <a:bodyPr/>
                    <a:lstStyle/>
                    <a:p>
                      <a:pPr algn="ctr"/>
                      <a:r>
                        <a:rPr sz="950">
                          <a:solidFill>
                            <a:srgbClr val="1F3864"/>
                          </a:solidFill>
                          <a:latin typeface="Calibri"/>
                        </a:rPr>
                        <a:t>Leadership assumption</a:t>
                      </a:r>
                    </a:p>
                  </a:txBody>
                  <a:tcPr>
                    <a:solidFill>
                      <a:srgbClr val="FFFFFF"/>
                    </a:solidFill>
                  </a:tcPr>
                </a:tc>
              </a:tr>
              <a:tr h="356616">
                <a:tc>
                  <a:txBody>
                    <a:bodyPr/>
                    <a:lstStyle/>
                    <a:p>
                      <a:pPr algn="l"/>
                      <a:r>
                        <a:rPr sz="950" b="1">
                          <a:solidFill>
                            <a:srgbClr val="1F3864"/>
                          </a:solidFill>
                          <a:latin typeface="Calibri"/>
                        </a:rPr>
                        <a:t>Market reference</a:t>
                      </a:r>
                    </a:p>
                  </a:txBody>
                  <a:tcPr>
                    <a:solidFill>
                      <a:srgbClr val="FFFFFF"/>
                    </a:solidFill>
                  </a:tcPr>
                </a:tc>
                <a:tc>
                  <a:txBody>
                    <a:bodyPr/>
                    <a:lstStyle/>
                    <a:p>
                      <a:pPr algn="ctr"/>
                      <a:r>
                        <a:rPr sz="950">
                          <a:solidFill>
                            <a:srgbClr val="1F3864"/>
                          </a:solidFill>
                          <a:latin typeface="Calibri"/>
                        </a:rPr>
                        <a:t>$0.85 / $1.40 / $2.55 per lb</a:t>
                      </a:r>
                    </a:p>
                  </a:txBody>
                  <a:tcPr>
                    <a:solidFill>
                      <a:srgbClr val="FFFFFF"/>
                    </a:solidFill>
                  </a:tcPr>
                </a:tc>
                <a:tc>
                  <a:txBody>
                    <a:bodyPr/>
                    <a:lstStyle/>
                    <a:p>
                      <a:pPr algn="ctr"/>
                      <a:r>
                        <a:rPr sz="950">
                          <a:solidFill>
                            <a:srgbClr val="1F3864"/>
                          </a:solidFill>
                          <a:latin typeface="Calibri"/>
                        </a:rPr>
                        <a:t>Resin floor + labor build-up + retail ceiling</a:t>
                      </a:r>
                    </a:p>
                  </a:txBody>
                  <a:tcPr>
                    <a:solidFill>
                      <a:srgbClr val="FFFFFF"/>
                    </a:solidFill>
                  </a:tcPr>
                </a:tc>
              </a:tr>
              <a:tr h="356616">
                <a:tc>
                  <a:txBody>
                    <a:bodyPr/>
                    <a:lstStyle/>
                    <a:p>
                      <a:pPr algn="l"/>
                      <a:r>
                        <a:rPr sz="950" b="1">
                          <a:solidFill>
                            <a:srgbClr val="1F3864"/>
                          </a:solidFill>
                          <a:latin typeface="Calibri"/>
                        </a:rPr>
                        <a:t>CJB quote</a:t>
                      </a:r>
                    </a:p>
                  </a:txBody>
                  <a:tcPr>
                    <a:solidFill>
                      <a:srgbClr val="FFFFFF"/>
                    </a:solidFill>
                  </a:tcPr>
                </a:tc>
                <a:tc>
                  <a:txBody>
                    <a:bodyPr/>
                    <a:lstStyle/>
                    <a:p>
                      <a:pPr algn="ctr"/>
                      <a:r>
                        <a:rPr sz="950">
                          <a:solidFill>
                            <a:srgbClr val="1F3864"/>
                          </a:solidFill>
                          <a:latin typeface="Calibri"/>
                        </a:rPr>
                        <a:t>$8.00–8.50/lb toll excl. materials ≈ $8.42 landed</a:t>
                      </a:r>
                    </a:p>
                  </a:txBody>
                  <a:tcPr>
                    <a:solidFill>
                      <a:srgbClr val="FFFFFF"/>
                    </a:solidFill>
                  </a:tcPr>
                </a:tc>
                <a:tc>
                  <a:txBody>
                    <a:bodyPr/>
                    <a:lstStyle/>
                    <a:p>
                      <a:pPr algn="ctr"/>
                      <a:r>
                        <a:rPr sz="950">
                          <a:solidFill>
                            <a:srgbClr val="1F3864"/>
                          </a:solidFill>
                          <a:latin typeface="Calibri"/>
                        </a:rPr>
                        <a:t>CJB email 'RE: mix test'</a:t>
                      </a:r>
                    </a:p>
                  </a:txBody>
                  <a:tcPr>
                    <a:solidFill>
                      <a:srgbClr val="FFFFFF"/>
                    </a:solidFill>
                  </a:tcPr>
                </a:tc>
              </a:tr>
              <a:tr h="356616">
                <a:tc>
                  <a:txBody>
                    <a:bodyPr/>
                    <a:lstStyle/>
                    <a:p>
                      <a:pPr algn="l"/>
                      <a:r>
                        <a:rPr sz="950" b="1">
                          <a:solidFill>
                            <a:srgbClr val="1F3864"/>
                          </a:solidFill>
                          <a:latin typeface="Calibri"/>
                        </a:rPr>
                        <a:t>Qualification cost</a:t>
                      </a:r>
                    </a:p>
                  </a:txBody>
                  <a:tcPr>
                    <a:solidFill>
                      <a:srgbClr val="FFFFFF"/>
                    </a:solidFill>
                  </a:tcPr>
                </a:tc>
                <a:tc>
                  <a:txBody>
                    <a:bodyPr/>
                    <a:lstStyle/>
                    <a:p>
                      <a:pPr algn="ctr"/>
                      <a:r>
                        <a:rPr sz="950">
                          <a:solidFill>
                            <a:srgbClr val="1F3864"/>
                          </a:solidFill>
                          <a:latin typeface="Calibri"/>
                        </a:rPr>
                        <a:t>~$15k one-time</a:t>
                      </a:r>
                    </a:p>
                  </a:txBody>
                  <a:tcPr>
                    <a:solidFill>
                      <a:srgbClr val="FFFFFF"/>
                    </a:solidFill>
                  </a:tcPr>
                </a:tc>
                <a:tc>
                  <a:txBody>
                    <a:bodyPr/>
                    <a:lstStyle/>
                    <a:p>
                      <a:pPr algn="ctr"/>
                      <a:r>
                        <a:rPr sz="950">
                          <a:solidFill>
                            <a:srgbClr val="1F3864"/>
                          </a:solidFill>
                          <a:latin typeface="Calibri"/>
                        </a:rPr>
                        <a:t>PLACEHOLDER — confirm</a:t>
                      </a:r>
                    </a:p>
                  </a:txBody>
                  <a:tcPr>
                    <a:solidFill>
                      <a:srgbClr val="FFFFFF"/>
                    </a:solidFill>
                  </a:tcPr>
                </a:tc>
              </a:tr>
              <a:tr h="356616">
                <a:tc>
                  <a:txBody>
                    <a:bodyPr/>
                    <a:lstStyle/>
                    <a:p>
                      <a:pPr algn="l"/>
                      <a:r>
                        <a:rPr sz="950" b="1">
                          <a:solidFill>
                            <a:srgbClr val="1F3864"/>
                          </a:solidFill>
                          <a:latin typeface="Calibri"/>
                        </a:rPr>
                        <a:t>Outage cost</a:t>
                      </a:r>
                    </a:p>
                  </a:txBody>
                  <a:tcPr>
                    <a:solidFill>
                      <a:srgbClr val="FFFFFF"/>
                    </a:solidFill>
                  </a:tcPr>
                </a:tc>
                <a:tc>
                  <a:txBody>
                    <a:bodyPr/>
                    <a:lstStyle/>
                    <a:p>
                      <a:pPr algn="ctr"/>
                      <a:r>
                        <a:rPr sz="950">
                          <a:solidFill>
                            <a:srgbClr val="1F3864"/>
                          </a:solidFill>
                          <a:latin typeface="Calibri"/>
                        </a:rPr>
                        <a:t>not yet estimated</a:t>
                      </a:r>
                    </a:p>
                  </a:txBody>
                  <a:tcPr>
                    <a:solidFill>
                      <a:srgbClr val="FFFFFF"/>
                    </a:solidFill>
                  </a:tcPr>
                </a:tc>
                <a:tc>
                  <a:txBody>
                    <a:bodyPr/>
                    <a:lstStyle/>
                    <a:p>
                      <a:pPr algn="ctr"/>
                      <a:r>
                        <a:rPr sz="95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4709160"/>
            <a:ext cx="6309360" cy="1280160"/>
          </a:xfrm>
          <a:prstGeom prst="rect">
            <a:avLst/>
          </a:prstGeom>
          <a:noFill/>
        </p:spPr>
        <p:txBody>
          <a:bodyPr wrap="square">
            <a:spAutoFit/>
          </a:bodyPr>
          <a:lstStyle/>
          <a:p>
            <a:pPr algn="l">
              <a:spcAft>
                <a:spcPts val="300"/>
              </a:spcAft>
            </a:pPr>
            <a:r>
              <a:rPr sz="1100" b="1" i="0">
                <a:solidFill>
                  <a:srgbClr val="1F3864"/>
                </a:solidFill>
                <a:latin typeface="Calibri"/>
              </a:rPr>
              <a:t>Frameworks behind the analysis</a:t>
            </a:r>
          </a:p>
          <a:p>
            <a:pPr algn="l">
              <a:spcAft>
                <a:spcPts val="400"/>
              </a:spcAft>
            </a:pPr>
            <a:r>
              <a:rPr sz="950" b="0" i="0">
                <a:solidFill>
                  <a:srgbClr val="595959"/>
                </a:solidFill>
                <a:latin typeface="Calibri"/>
              </a:rPr>
              <a:t>Kraljic portfolio model (HBR 1983): low-spend/high-risk 'bottleneck' items → secure supply. Simchi-Levi, Time-to-Recover vs Time-to-Survive (HBR 2014): exposure = recovery time beyond survival time. Tomlin (Management Science 2006): for rare, long disruptions a prepared contingency can beat continuous dual-sourcing. FDA QMSR / ISO 13485 §7.4 and GHTF/SG3/N17: supplier controls proportionate to risk — a documented sole-source risk assessment and contingency plan, not a mandated second supplier.</a:t>
            </a:r>
          </a:p>
        </p:txBody>
      </p:sp>
      <p:sp>
        <p:nvSpPr>
          <p:cNvPr id="6" name="Rectangle 5"/>
          <p:cNvSpPr/>
          <p:nvPr/>
        </p:nvSpPr>
        <p:spPr>
          <a:xfrm>
            <a:off x="7086600" y="1051560"/>
            <a:ext cx="4526280" cy="49377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48463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candidate in testing</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a:t>
            </a:r>
            <a:r>
              <a:rPr sz="950">
                <a:solidFill>
                  <a:srgbClr val="595959"/>
                </a:solidFill>
                <a:latin typeface="Calibri"/>
              </a:rPr>
              <a:t>— Harvard Business Review</a:t>
            </a:r>
          </a:p>
        </p:txBody>
      </p:sp>
      <p:sp>
        <p:nvSpPr>
          <p:cNvPr id="8" name="TextBox 7"/>
          <p:cNvSpPr txBox="1"/>
          <p:nvPr/>
        </p:nvSpPr>
        <p:spPr>
          <a:xfrm>
            <a:off x="548640" y="6035040"/>
            <a:ext cx="11064240" cy="457200"/>
          </a:xfrm>
          <a:prstGeom prst="rect">
            <a:avLst/>
          </a:prstGeom>
          <a:noFill/>
        </p:spPr>
        <p:txBody>
          <a:bodyPr wrap="square">
            <a:spAutoFit/>
          </a:bodyPr>
          <a:lstStyle/>
          <a:p>
            <a:pPr algn="l">
              <a:spcAft>
                <a:spcPts val="400"/>
              </a:spcAft>
            </a:pPr>
            <a:r>
              <a:rPr sz="950" b="0" i="1">
                <a:solidFill>
                  <a:srgbClr val="595959"/>
                </a:solidFill>
                <a:latin typeface="Calibri"/>
              </a:rPr>
              <a:t>Full model: PVA_Second_Supplier_Leadership_Model.xlsx — every input editable, including the supplier minimum.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