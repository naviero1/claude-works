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150 drums a year in every bar - a drum is 450 pounds of PVA; SNP at 75 cents a pound keeps whatever the second source does not take. Green alone is today: 50.7 thousand. The three blues are Option 3: one, two or three five-drum batches a year at 3.50 - plus 6, 12 or 19 thousand. Dark amber is a one-third second source at PCI's batch price: 50 drums, ten batches, 112.6 thousand total, plus 61.9 - 122 percent of today's bill. Light amber is one drum a week at the 6-dollar below-batch price: 52 drums, 35 percent,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about 94 US suppliers and reached out to ArroChem, Piedmont and ILC Dover with one hard gate - hold 90 to 95 degrees. May: ArroChem and ILC Dover failed that gate. June 26: CJB cleared it and became the front-runner; APV confirmed heat; we confirmed demand at about three drums a week - 150 a year. July: Columbus Chemical reached out to us,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the viscosity root cause - elevated solids - and a locked spec.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a total PVA bill of 131 to 161 thousand in the first twelve months, 116 to 121 a year after; recovery in weeks only if PCI confirms the ramp in writing. Option 3: one or two blocks a year, when we choose - 80 to 125 thousand total in year one, 60 to 75 after; SNP sees one or two pre-announced pauses or none; restart in weeks to a few months. Option 2: the whole year on SNP, PCI a quoted option - 64 to 83 thousand total in year one, 54 to 63 after; today's material bill alone is 50.7;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Costs exclude the fifteen thousand of internal hours already spent.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against protection. Left to right is the total PVA bill for each option in its first twelve months - material at both suppliers, internal hours and supplier payments; today's material-only bill of 50.7 thousand is the grey line; bottom to top is how long we would be without PVA if SNP stopped tomorrow. Each box is the range of one option. Green, Option 2, 64 to 83 thousand, is the cheapest and the least protected: a cold start of three to six months, and longer as the file goes stale. Blue, Option 3, 80 to 125 thousand, sits in the middle: a practiced supplier restarts in weeks to a few months, about fifty thousand a year less than Option 1. Amber, Option 1, 131 to 161 thousand,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The instruments, in rising order of commitment: pay a development fee for the qualification work already done; sign a master agreement with price, spec and terms but no volume commitment, if PCI accepts one; place one production-scale order; a readiness fee, which is rare at our scale; and a planned re-check, because an idle supplier goes stale after about a year - the Production Part Approval Process rule of thumb is twelve months. Option 3 is the last two made routine.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decide now. Our next conversation with SNP is where the strategy becomes real - continuity terms, forecast sharing, resin consignment, capacity headroom, succession. The posture has to match the decision: we cannot ask for a deeper partnership and, in the same period, plan to move a third of their core line without telling them - announcing it afterwards would undo the partnership conversation. If the answer is Option 1, bring a package, not a cut: a three-year commitment on about a hundred drums a year growing ten percent - back to today's absolute volume by about year five - a level cadence, forecast sharing, a joint hydrogel roadmap; reason given, a quality-system continuity requirement. If it is Option 2 or 3, that is the partnership conversation: our continuity file includes a qualified alternate cooker and, under Option 3, a verification lot or two a year - the supplier is not named and the quote is not shown - the same continuity discipline we are asking SNP to document. Give first, then ask. Decide first; use the conversation to execute, not to discover.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 Option 3 at one batch a year, with Option 2's partnership terms and the existing triggers. Decide now; place the first batch order once SNP has been told a continuity verification lot will run; go into the SNP conversation as a partner and settle the items on the previous slide; tell PCI the triggers candidly; a second batch a year if an SNP risk signal appears. Switch to Option 1 if Finance's estimate of the loss a second source would avoid clears about 620 thousand at a ten percent yearly risk or 1.24 million at five - counting full avoidance only with PCI's written ramp commitment - or if SNP shows a risk signal, or PCI's price falls toward a dollar fifty, or SNP declines the terms. Before the first order, confirm with PCI in writing: the 3.50 batch price carries no volume commitment and how long it holds; batch lead time; delivered and all-in with freeze-protected freight; a crisis ramp to about three batches a month in the same kettle; which resin producer they use; and a split-sample viscometer cross-check. Three asks: the strategy call before the SNP conversation, Option 3 recommended; Finance's avoided-loss number by a date, with Option 1 re-tested against it at the next quarterly review; and under Option 3 about 8 thousand cash per PCI batch, 5 to 10 thousand to formalize SNP, and 15 to 40 thousand of internal hours - 31 to 70 thousand all-in in the first twelve months.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(450 lb of PVA each) from SNP Inc. (Durham, NC) to make our hydrogels. Sole-sourced today. Volumes on these slides are in drums and percent of demand.</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150 drums a year in every bar (1 drum = 450 lb of PVA); SNP Inc. at $0.75/lb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150 drums × $337.50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(3% / 7% / 10% of demand) at $3.50/lb: +$6.2k / +$12.4k / +$18.6k</a:t>
            </a:r>
          </a:p>
          <a:p>
            <a:pPr>
              <a:spcAft>
                <a:spcPts val="500"/>
              </a:spcAft>
            </a:pPr>
            <a:r>
              <a:rPr b="1" sz="1050">
                <a:solidFill>
                  <a:srgbClr val="1F3864"/>
                </a:solidFill>
                <a:latin typeface="Calibri"/>
              </a:rPr>
              <a:t>PCI $3.50  </a:t>
            </a:r>
            <a:r>
              <a:rPr sz="1000">
                <a:solidFill>
                  <a:srgbClr val="595959"/>
                </a:solidFill>
                <a:latin typeface="Calibri"/>
              </a:rPr>
              <a:t>— one-third = 50 drums (10 batches, 33%) at $3.50/lb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(35%,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 50 drums,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~94 US suppliers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85 °C ceiling; ILC Dover also the wrong kind of company</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Demand confirmed: ~3 drums a 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Reached out to us, then told us directly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Viscosity root cause found</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Elevated solids from water loss. Spec locked: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48640" y="3246120"/>
            <a:ext cx="3611880" cy="260604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364991"/>
            <a:ext cx="3246120" cy="2368296"/>
          </a:xfrm>
          <a:prstGeom prst="rect">
            <a:avLst/>
          </a:prstGeom>
          <a:noFill/>
        </p:spPr>
        <p:txBody>
          <a:bodyPr wrap="square">
            <a:spAutoFit/>
          </a:bodyPr>
          <a:lstStyle/>
          <a:p>
            <a:pPr algn="l">
              <a:spcAft>
                <a:spcPts val="600"/>
              </a:spcAft>
            </a:pPr>
            <a:r>
              <a:rPr sz="1350" b="1" i="0">
                <a:solidFill>
                  <a:srgbClr val="2E7D46"/>
                </a:solidFill>
                <a:latin typeface="Calibri"/>
              </a:rPr>
              <a:t>Proven — and worth</a:t>
            </a:r>
          </a:p>
          <a:p>
            <a:pPr algn="l">
              <a:spcAft>
                <a:spcPts val="500"/>
              </a:spcAft>
            </a:pPr>
            <a:r>
              <a:rPr sz="1050" b="0" i="0">
                <a:solidFill>
                  <a:srgbClr val="595959"/>
                </a:solidFill>
                <a:latin typeface="Calibri"/>
              </a:rPr>
              <a:t>•  The cook, the viscosity control, the spec — met on PCI's instrument</a:t>
            </a:r>
          </a:p>
          <a:p>
            <a:pPr algn="l">
              <a:spcAft>
                <a:spcPts val="500"/>
              </a:spcAft>
            </a:pPr>
            <a:r>
              <a:rPr sz="1050" b="0" i="0">
                <a:solidFill>
                  <a:srgbClr val="595959"/>
                </a:solidFill>
                <a:latin typeface="Calibri"/>
              </a:rPr>
              <a:t>•  A qualified-capable, quoted alternative exists: cold start 6–12 months → ~3–6 (2–3 if re-checked yearly)</a:t>
            </a:r>
          </a:p>
          <a:p>
            <a:pPr algn="l">
              <a:spcAft>
                <a:spcPts val="500"/>
              </a:spcAft>
            </a:pPr>
            <a:r>
              <a:rPr sz="1050" b="0" i="0">
                <a:solidFill>
                  <a:srgbClr val="595959"/>
                </a:solidFill>
                <a:latin typeface="Calibri"/>
              </a:rPr>
              <a:t>•  Not yet proven at scale: production rate; hydrogel performance on 100% PCI material</a:t>
            </a:r>
          </a:p>
        </p:txBody>
      </p:sp>
      <p:sp>
        <p:nvSpPr>
          <p:cNvPr id="35" name="Rectangle 34"/>
          <p:cNvSpPr/>
          <p:nvPr/>
        </p:nvSpPr>
        <p:spPr>
          <a:xfrm>
            <a:off x="4297680" y="3246120"/>
            <a:ext cx="3611880" cy="26060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80560" y="3364991"/>
            <a:ext cx="3246120" cy="2368296"/>
          </a:xfrm>
          <a:prstGeom prst="rect">
            <a:avLst/>
          </a:prstGeom>
          <a:noFill/>
        </p:spPr>
        <p:txBody>
          <a:bodyPr wrap="square">
            <a:spAutoFit/>
          </a:bodyPr>
          <a:lstStyle/>
          <a:p>
            <a:pPr algn="l">
              <a:spcAft>
                <a:spcPts val="600"/>
              </a:spcAft>
            </a:pPr>
            <a:r>
              <a:rPr sz="1350" b="1" i="0">
                <a:solidFill>
                  <a:srgbClr val="9C5A0C"/>
                </a:solidFill>
                <a:latin typeface="Calibri"/>
              </a:rPr>
              <a:t>What it cost — who paid</a:t>
            </a:r>
          </a:p>
          <a:p>
            <a:pPr algn="l">
              <a:spcAft>
                <a:spcPts val="500"/>
              </a:spcAft>
            </a:pPr>
            <a:r>
              <a:rPr sz="1050" b="0" i="0">
                <a:solidFill>
                  <a:srgbClr val="595959"/>
                </a:solidFill>
                <a:latin typeface="Calibri"/>
              </a:rPr>
              <a:t>•  PCI: months of unpaid engineering for an account worth ~$79k/yr to them at one-third</a:t>
            </a:r>
          </a:p>
          <a:p>
            <a:pPr algn="l">
              <a:spcAft>
                <a:spcPts val="500"/>
              </a:spcAft>
            </a:pPr>
            <a:r>
              <a:rPr sz="1050" b="0" i="0">
                <a:solidFill>
                  <a:srgbClr val="595959"/>
                </a:solidFill>
                <a:latin typeface="Calibri"/>
              </a:rPr>
              <a:t>•  Us: ~10 months since Brenntag — ~$15k of internal hours, sunk, excluded from the options</a:t>
            </a:r>
          </a:p>
          <a:p>
            <a:pPr algn="l">
              <a:spcAft>
                <a:spcPts val="500"/>
              </a:spcAft>
            </a:pPr>
            <a:r>
              <a:rPr sz="1050" b="0" i="0">
                <a:solidFill>
                  <a:srgbClr val="595959"/>
                </a:solidFill>
                <a:latin typeface="Calibri"/>
              </a:rPr>
              <a:t>•  Still queued at PCI's expense: the shelf-life study and the hydrogel comparison</a:t>
            </a:r>
          </a:p>
        </p:txBody>
      </p:sp>
      <p:sp>
        <p:nvSpPr>
          <p:cNvPr id="37" name="Rectangle 36"/>
          <p:cNvSpPr/>
          <p:nvPr/>
        </p:nvSpPr>
        <p:spPr>
          <a:xfrm>
            <a:off x="8046720" y="3246120"/>
            <a:ext cx="3566160" cy="260604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3364991"/>
            <a:ext cx="3200400" cy="2368296"/>
          </a:xfrm>
          <a:prstGeom prst="rect">
            <a:avLst/>
          </a:prstGeom>
          <a:noFill/>
        </p:spPr>
        <p:txBody>
          <a:bodyPr wrap="square">
            <a:spAutoFit/>
          </a:bodyPr>
          <a:lstStyle/>
          <a:p>
            <a:pPr algn="l">
              <a:spcAft>
                <a:spcPts val="600"/>
              </a:spcAft>
            </a:pPr>
            <a:r>
              <a:rPr sz="1350" b="1" i="0">
                <a:solidFill>
                  <a:srgbClr val="1F3864"/>
                </a:solidFill>
                <a:latin typeface="Calibri"/>
              </a:rPr>
              <a:t>Use it · walk away · the middle</a:t>
            </a:r>
          </a:p>
          <a:p>
            <a:pPr algn="l">
              <a:spcAft>
                <a:spcPts val="500"/>
              </a:spcAft>
            </a:pPr>
            <a:r>
              <a:rPr sz="1050" b="0" i="0">
                <a:solidFill>
                  <a:srgbClr val="595959"/>
                </a:solidFill>
                <a:latin typeface="Calibri"/>
              </a:rPr>
              <a:t>•  Use it: +$62k/yr at one-third, a permanent two-stream discipline, and the signal to SNP Inc.</a:t>
            </a:r>
          </a:p>
          <a:p>
            <a:pPr algn="l">
              <a:spcAft>
                <a:spcPts val="500"/>
              </a:spcAft>
            </a:pPr>
            <a:r>
              <a:rPr sz="1050" b="0" i="0">
                <a:solidFill>
                  <a:srgbClr val="595959"/>
                </a:solidFill>
                <a:latin typeface="Calibri"/>
              </a:rPr>
              <a:t>•  Walk away: goodwill — cost = extra months of a cold start × outage cost × probability</a:t>
            </a:r>
          </a:p>
          <a:p>
            <a:pPr algn="l">
              <a:spcAft>
                <a:spcPts val="500"/>
              </a:spcAft>
            </a:pPr>
            <a:r>
              <a:rPr sz="1050" b="0" i="0">
                <a:solidFill>
                  <a:srgbClr val="595959"/>
                </a:solidFill>
                <a:latin typeface="Calibri"/>
              </a:rPr>
              <a:t>•  The middle (Option 3): 1–2 batches of 5 drums a year, $7.9k each — a paid, practiced supplier</a:t>
            </a:r>
          </a:p>
        </p:txBody>
      </p:sp>
      <p:sp>
        <p:nvSpPr>
          <p:cNvPr id="39" name="Rectangle 38"/>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nine suppliers, one shop that can make it — and now a real price. Whether we buy is a separate decision, with a real price on both sides.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3017520" y="987552"/>
            <a:ext cx="6035040" cy="274320"/>
          </a:xfrm>
          <a:prstGeom prst="rect">
            <a:avLst/>
          </a:prstGeom>
          <a:noFill/>
        </p:spPr>
        <p:txBody>
          <a:bodyPr wrap="square">
            <a:spAutoFit/>
          </a:bodyPr>
          <a:lstStyle/>
          <a:p>
            <a:pPr algn="l">
              <a:spcAft>
                <a:spcPts val="0"/>
              </a:spcAft>
            </a:pPr>
            <a:r>
              <a:rPr sz="100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37744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3017520" y="1490472"/>
            <a:ext cx="60350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017520"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99923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1758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18213"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59992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1827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18906"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0061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1897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19599"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0131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1966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20292"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0200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2035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020985"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0269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2105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621678"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0339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82174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22372"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20408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42243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823065"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80477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2313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423758" y="1490472"/>
            <a:ext cx="200065"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40547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62382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1307592"/>
            <a:ext cx="2468880" cy="1371600"/>
          </a:xfrm>
          <a:prstGeom prst="rect">
            <a:avLst/>
          </a:prstGeom>
          <a:noFill/>
        </p:spPr>
        <p:txBody>
          <a:bodyPr wrap="square">
            <a:spAutoFit/>
          </a:bodyPr>
          <a:lstStyle/>
          <a:p>
            <a:pPr>
              <a:spcAft>
                <a:spcPts val="200"/>
              </a:spcAft>
            </a:pPr>
            <a:r>
              <a:rPr sz="850">
                <a:solidFill>
                  <a:srgbClr val="595959"/>
                </a:solidFill>
                <a:latin typeface="Calibri"/>
              </a:rPr>
              <a:t>Total, first 12 months  </a:t>
            </a:r>
            <a:r>
              <a:rPr sz="900" b="1">
                <a:solidFill>
                  <a:srgbClr val="1F3864"/>
                </a:solidFill>
                <a:latin typeface="Calibri"/>
              </a:rPr>
              <a:t>$131–161k</a:t>
            </a:r>
          </a:p>
          <a:p>
            <a:pPr>
              <a:spcAft>
                <a:spcPts val="200"/>
              </a:spcAft>
            </a:pPr>
            <a:r>
              <a:rPr sz="850">
                <a:solidFill>
                  <a:srgbClr val="595959"/>
                </a:solidFill>
                <a:latin typeface="Calibri"/>
              </a:rPr>
              <a:t>Each year after  </a:t>
            </a:r>
            <a:r>
              <a:rPr sz="900" b="0">
                <a:solidFill>
                  <a:srgbClr val="1F3864"/>
                </a:solidFill>
                <a:latin typeface="Calibri"/>
              </a:rPr>
              <a:t>$116–121k</a:t>
            </a:r>
          </a:p>
          <a:p>
            <a:pPr>
              <a:spcAft>
                <a:spcPts val="200"/>
              </a:spcAft>
            </a:pPr>
            <a:r>
              <a:rPr sz="850">
                <a:solidFill>
                  <a:srgbClr val="595959"/>
                </a:solidFill>
                <a:latin typeface="Calibri"/>
              </a:rPr>
              <a:t>Volume to PCI a year  </a:t>
            </a:r>
            <a:r>
              <a:rPr sz="900" b="0">
                <a:solidFill>
                  <a:srgbClr val="1F3864"/>
                </a:solidFill>
                <a:latin typeface="Calibri"/>
              </a:rPr>
              <a:t>50 drums (33% of demand)</a:t>
            </a:r>
          </a:p>
          <a:p>
            <a:pPr>
              <a:spcAft>
                <a:spcPts val="200"/>
              </a:spcAft>
            </a:pPr>
            <a:r>
              <a:rPr sz="850">
                <a:solidFill>
                  <a:srgbClr val="595959"/>
                </a:solidFill>
                <a:latin typeface="Calibri"/>
              </a:rPr>
              <a:t>SNP Inc. sees  </a:t>
            </a:r>
            <a:r>
              <a:rPr sz="900" b="0">
                <a:solidFill>
                  <a:srgbClr val="1F3864"/>
                </a:solidFill>
                <a:latin typeface="Calibri"/>
              </a:rPr>
              <a:t>10 pauses of ~12 days, or a level cadence with a rolling stock</a:t>
            </a:r>
          </a:p>
          <a:p>
            <a:pPr>
              <a:spcAft>
                <a:spcPts val="200"/>
              </a:spcAft>
            </a:pPr>
            <a:r>
              <a:rPr sz="850">
                <a:solidFill>
                  <a:srgbClr val="595959"/>
                </a:solidFill>
                <a:latin typeface="Calibri"/>
              </a:rPr>
              <a:t>If SNP fails, restart in  </a:t>
            </a:r>
            <a:r>
              <a:rPr sz="900" b="0">
                <a:solidFill>
                  <a:srgbClr val="1F3864"/>
                </a:solidFill>
                <a:latin typeface="Calibri"/>
              </a:rPr>
              <a:t>weeks — if PCI's ramp is confirmed in writing</a:t>
            </a:r>
          </a:p>
        </p:txBody>
      </p:sp>
      <p:sp>
        <p:nvSpPr>
          <p:cNvPr id="39" name="TextBox 38"/>
          <p:cNvSpPr txBox="1"/>
          <p:nvPr/>
        </p:nvSpPr>
        <p:spPr>
          <a:xfrm>
            <a:off x="548640" y="2788920"/>
            <a:ext cx="237744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1–2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3017520" y="2953512"/>
            <a:ext cx="60350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001642" y="2953512"/>
            <a:ext cx="200065"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983354"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201708"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977826" y="2953512"/>
            <a:ext cx="200065"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959538"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177892"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189720" y="2770632"/>
            <a:ext cx="2468880" cy="1371600"/>
          </a:xfrm>
          <a:prstGeom prst="rect">
            <a:avLst/>
          </a:prstGeom>
          <a:noFill/>
        </p:spPr>
        <p:txBody>
          <a:bodyPr wrap="square">
            <a:spAutoFit/>
          </a:bodyPr>
          <a:lstStyle/>
          <a:p>
            <a:pPr>
              <a:spcAft>
                <a:spcPts val="200"/>
              </a:spcAft>
            </a:pPr>
            <a:r>
              <a:rPr sz="850">
                <a:solidFill>
                  <a:srgbClr val="595959"/>
                </a:solidFill>
                <a:latin typeface="Calibri"/>
              </a:rPr>
              <a:t>Total, first 12 months  </a:t>
            </a:r>
            <a:r>
              <a:rPr sz="900" b="1">
                <a:solidFill>
                  <a:srgbClr val="1F3864"/>
                </a:solidFill>
                <a:latin typeface="Calibri"/>
              </a:rPr>
              <a:t>$80–125k</a:t>
            </a:r>
          </a:p>
          <a:p>
            <a:pPr>
              <a:spcAft>
                <a:spcPts val="200"/>
              </a:spcAft>
            </a:pPr>
            <a:r>
              <a:rPr sz="850">
                <a:solidFill>
                  <a:srgbClr val="595959"/>
                </a:solidFill>
                <a:latin typeface="Calibri"/>
              </a:rPr>
              <a:t>Each year after  </a:t>
            </a:r>
            <a:r>
              <a:rPr sz="900" b="0">
                <a:solidFill>
                  <a:srgbClr val="1F3864"/>
                </a:solidFill>
                <a:latin typeface="Calibri"/>
              </a:rPr>
              <a:t>$60–75k</a:t>
            </a:r>
          </a:p>
          <a:p>
            <a:pPr>
              <a:spcAft>
                <a:spcPts val="200"/>
              </a:spcAft>
            </a:pPr>
            <a:r>
              <a:rPr sz="850">
                <a:solidFill>
                  <a:srgbClr val="595959"/>
                </a:solidFill>
                <a:latin typeface="Calibri"/>
              </a:rPr>
              <a:t>Volume to PCI a year  </a:t>
            </a:r>
            <a:r>
              <a:rPr sz="900" b="0">
                <a:solidFill>
                  <a:srgbClr val="1F3864"/>
                </a:solidFill>
                <a:latin typeface="Calibri"/>
              </a:rPr>
              <a:t>5–10 drums (3–7% of demand)</a:t>
            </a:r>
          </a:p>
          <a:p>
            <a:pPr>
              <a:spcAft>
                <a:spcPts val="200"/>
              </a:spcAft>
            </a:pPr>
            <a:r>
              <a:rPr sz="850">
                <a:solidFill>
                  <a:srgbClr val="595959"/>
                </a:solidFill>
                <a:latin typeface="Calibri"/>
              </a:rPr>
              <a:t>SNP Inc. sees  </a:t>
            </a:r>
            <a:r>
              <a:rPr sz="900" b="0">
                <a:solidFill>
                  <a:srgbClr val="1F3864"/>
                </a:solidFill>
                <a:latin typeface="Calibri"/>
              </a:rPr>
              <a:t>1–2 pre-announced pauses, or none</a:t>
            </a:r>
          </a:p>
          <a:p>
            <a:pPr>
              <a:spcAft>
                <a:spcPts val="200"/>
              </a:spcAft>
            </a:pPr>
            <a:r>
              <a:rPr sz="850">
                <a:solidFill>
                  <a:srgbClr val="595959"/>
                </a:solidFill>
                <a:latin typeface="Calibri"/>
              </a:rPr>
              <a:t>If SNP fails, restart in  </a:t>
            </a:r>
            <a:r>
              <a:rPr sz="900" b="0">
                <a:solidFill>
                  <a:srgbClr val="1F3864"/>
                </a:solidFill>
                <a:latin typeface="Calibri"/>
              </a:rPr>
              <a:t>weeks to a few months</a:t>
            </a:r>
          </a:p>
        </p:txBody>
      </p:sp>
      <p:sp>
        <p:nvSpPr>
          <p:cNvPr id="48" name="TextBox 47"/>
          <p:cNvSpPr txBox="1"/>
          <p:nvPr/>
        </p:nvSpPr>
        <p:spPr>
          <a:xfrm>
            <a:off x="548640" y="4251960"/>
            <a:ext cx="237744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49" name="Rectangle 48"/>
          <p:cNvSpPr/>
          <p:nvPr/>
        </p:nvSpPr>
        <p:spPr>
          <a:xfrm>
            <a:off x="3017520" y="4416552"/>
            <a:ext cx="60350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7432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1" name="TextBox 50"/>
          <p:cNvSpPr txBox="1"/>
          <p:nvPr/>
        </p:nvSpPr>
        <p:spPr>
          <a:xfrm>
            <a:off x="4247826"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2" name="TextBox 51"/>
          <p:cNvSpPr txBox="1"/>
          <p:nvPr/>
        </p:nvSpPr>
        <p:spPr>
          <a:xfrm>
            <a:off x="5752452"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3" name="TextBox 52"/>
          <p:cNvSpPr txBox="1"/>
          <p:nvPr/>
        </p:nvSpPr>
        <p:spPr>
          <a:xfrm>
            <a:off x="7273613"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4" name="TextBox 53"/>
          <p:cNvSpPr txBox="1"/>
          <p:nvPr/>
        </p:nvSpPr>
        <p:spPr>
          <a:xfrm>
            <a:off x="877823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5" name="TextBox 54"/>
          <p:cNvSpPr txBox="1"/>
          <p:nvPr/>
        </p:nvSpPr>
        <p:spPr>
          <a:xfrm>
            <a:off x="9189720" y="4233672"/>
            <a:ext cx="2468880" cy="1371600"/>
          </a:xfrm>
          <a:prstGeom prst="rect">
            <a:avLst/>
          </a:prstGeom>
          <a:noFill/>
        </p:spPr>
        <p:txBody>
          <a:bodyPr wrap="square">
            <a:spAutoFit/>
          </a:bodyPr>
          <a:lstStyle/>
          <a:p>
            <a:pPr>
              <a:spcAft>
                <a:spcPts val="200"/>
              </a:spcAft>
            </a:pPr>
            <a:r>
              <a:rPr sz="850">
                <a:solidFill>
                  <a:srgbClr val="595959"/>
                </a:solidFill>
                <a:latin typeface="Calibri"/>
              </a:rPr>
              <a:t>Total, first 12 months  </a:t>
            </a:r>
            <a:r>
              <a:rPr sz="900" b="1">
                <a:solidFill>
                  <a:srgbClr val="1F3864"/>
                </a:solidFill>
                <a:latin typeface="Calibri"/>
              </a:rPr>
              <a:t>$64–83k</a:t>
            </a:r>
          </a:p>
          <a:p>
            <a:pPr>
              <a:spcAft>
                <a:spcPts val="200"/>
              </a:spcAft>
            </a:pPr>
            <a:r>
              <a:rPr sz="850">
                <a:solidFill>
                  <a:srgbClr val="595959"/>
                </a:solidFill>
                <a:latin typeface="Calibri"/>
              </a:rPr>
              <a:t>Each year after  </a:t>
            </a:r>
            <a:r>
              <a:rPr sz="900" b="0">
                <a:solidFill>
                  <a:srgbClr val="1F3864"/>
                </a:solidFill>
                <a:latin typeface="Calibri"/>
              </a:rPr>
              <a:t>$54–63k</a:t>
            </a:r>
          </a:p>
          <a:p>
            <a:pPr>
              <a:spcAft>
                <a:spcPts val="200"/>
              </a:spcAft>
            </a:pPr>
            <a:r>
              <a:rPr sz="850">
                <a:solidFill>
                  <a:srgbClr val="595959"/>
                </a:solidFill>
                <a:latin typeface="Calibri"/>
              </a:rPr>
              <a:t>Volume to PCI a year  </a:t>
            </a:r>
            <a:r>
              <a:rPr sz="900" b="0">
                <a:solidFill>
                  <a:srgbClr val="1F3864"/>
                </a:solidFill>
                <a:latin typeface="Calibri"/>
              </a:rPr>
              <a:t>none</a:t>
            </a:r>
          </a:p>
          <a:p>
            <a:pPr>
              <a:spcAft>
                <a:spcPts val="200"/>
              </a:spcAft>
            </a:pPr>
            <a:r>
              <a:rPr sz="850">
                <a:solidFill>
                  <a:srgbClr val="595959"/>
                </a:solidFill>
                <a:latin typeface="Calibri"/>
              </a:rPr>
              <a:t>SNP Inc. sees  </a:t>
            </a:r>
            <a:r>
              <a:rPr sz="900" b="0">
                <a:solidFill>
                  <a:srgbClr val="1F3864"/>
                </a:solidFill>
                <a:latin typeface="Calibri"/>
              </a:rPr>
              <a:t>a strengthened partner</a:t>
            </a:r>
          </a:p>
          <a:p>
            <a:pPr>
              <a:spcAft>
                <a:spcPts val="200"/>
              </a:spcAft>
            </a:pPr>
            <a:r>
              <a:rPr sz="850">
                <a:solidFill>
                  <a:srgbClr val="595959"/>
                </a:solidFill>
                <a:latin typeface="Calibri"/>
              </a:rPr>
              <a:t>If SNP fails, restart in  </a:t>
            </a:r>
            <a:r>
              <a:rPr sz="900" b="0">
                <a:solidFill>
                  <a:srgbClr val="1F3864"/>
                </a:solidFill>
                <a:latin typeface="Calibri"/>
              </a:rPr>
              <a:t>~3–6 months; a cold start decays after ~12 idle</a:t>
            </a:r>
          </a:p>
        </p:txBody>
      </p:sp>
      <p:sp>
        <p:nvSpPr>
          <p:cNvPr id="56" name="TextBox 55"/>
          <p:cNvSpPr txBox="1"/>
          <p:nvPr/>
        </p:nvSpPr>
        <p:spPr>
          <a:xfrm>
            <a:off x="548640" y="5623560"/>
            <a:ext cx="11064240" cy="320040"/>
          </a:xfrm>
          <a:prstGeom prst="rect">
            <a:avLst/>
          </a:prstGeom>
          <a:noFill/>
        </p:spPr>
        <p:txBody>
          <a:bodyPr wrap="square">
            <a:spAutoFit/>
          </a:bodyPr>
          <a:lstStyle/>
          <a:p>
            <a:pPr algn="l">
              <a:spcAft>
                <a:spcPts val="0"/>
              </a:spcAft>
            </a:pPr>
            <a:r>
              <a:rPr sz="900" b="0" i="0">
                <a:solidFill>
                  <a:srgbClr val="595959"/>
                </a:solidFill>
                <a:latin typeface="Calibri"/>
              </a:rPr>
              <a:t>Demand: 150 drums a year (1 drum = 450 lb of PVA), ~3 drums a week. Block rotation: PCI drums land ~4 days old and expire on day 18, so a 5-drum batch is used at full rate in one ~12-day block. Totals = material at both suppliers + internal hours + supplier payments (today's material bill alone is $50.7k; ~$15k already spent is excluded).</a:t>
            </a:r>
          </a:p>
        </p:txBody>
      </p:sp>
      <p:sp>
        <p:nvSpPr>
          <p:cNvPr id="57" name="Rectangle 56"/>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a total PVA bill of ~$60–75k a year, with one or two pre-announced pauses for SNP Inc. — Option 1 runs ~$116–121k a year and changes SNP's year.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Left to right  </a:t>
            </a:r>
            <a:r>
              <a:rPr sz="1000">
                <a:solidFill>
                  <a:srgbClr val="595959"/>
                </a:solidFill>
                <a:latin typeface="Calibri"/>
              </a:rPr>
              <a:t>— the total PVA cost in the first 12 months: material at both suppliers, internal hours to finish qualification, payments to suppliers. Today's material bill alone is $50.7k (grey line); ~$15k already spent is excluded</a:t>
            </a:r>
          </a:p>
          <a:p>
            <a:pPr>
              <a:spcAft>
                <a:spcPts val="600"/>
              </a:spcAft>
            </a:pPr>
            <a:r>
              <a:rPr b="1" sz="1050">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b="1" sz="1050">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b="1" sz="1050">
                <a:solidFill>
                  <a:srgbClr val="1F3864"/>
                </a:solidFill>
                <a:latin typeface="Calibri"/>
              </a:rPr>
              <a:t>Option 2, green  </a:t>
            </a:r>
            <a:r>
              <a:rPr sz="1000">
                <a:solidFill>
                  <a:srgbClr val="595959"/>
                </a:solidFill>
                <a:latin typeface="Calibri"/>
              </a:rPr>
              <a:t>— $64–83k; least protected — a cold start of ~3–6 months, longer as the file goes stale</a:t>
            </a:r>
          </a:p>
          <a:p>
            <a:pPr>
              <a:spcAft>
                <a:spcPts val="600"/>
              </a:spcAft>
            </a:pPr>
            <a:r>
              <a:rPr b="1" sz="1050">
                <a:solidFill>
                  <a:srgbClr val="1F3864"/>
                </a:solidFill>
                <a:latin typeface="Calibri"/>
              </a:rPr>
              <a:t>Option 3, blue  </a:t>
            </a:r>
            <a:r>
              <a:rPr sz="1000">
                <a:solidFill>
                  <a:srgbClr val="595959"/>
                </a:solidFill>
                <a:latin typeface="Calibri"/>
              </a:rPr>
              <a:t>— $80–125k; a practiced supplier restarts in weeks to a few months — about $50k a year less than Option 1</a:t>
            </a:r>
          </a:p>
          <a:p>
            <a:pPr>
              <a:spcAft>
                <a:spcPts val="600"/>
              </a:spcAft>
            </a:pPr>
            <a:r>
              <a:rPr b="1" sz="1050">
                <a:solidFill>
                  <a:srgbClr val="1F3864"/>
                </a:solidFill>
                <a:latin typeface="Calibri"/>
              </a:rPr>
              <a:t>Option 1, amber  </a:t>
            </a:r>
            <a:r>
              <a:rPr sz="1000">
                <a:solidFill>
                  <a:srgbClr val="595959"/>
                </a:solidFill>
                <a:latin typeface="Calibri"/>
              </a:rPr>
              <a:t>— $131–161k; most protected — weeks, if PCI's ramp is confirmed in writing — and ~$116–121k every year after</a:t>
            </a:r>
          </a:p>
          <a:p>
            <a:pPr>
              <a:spcAft>
                <a:spcPts val="600"/>
              </a:spcAft>
            </a:pPr>
            <a:r>
              <a:rPr b="1" sz="1050">
                <a:solidFill>
                  <a:srgbClr val="1F3864"/>
                </a:solidFill>
                <a:latin typeface="Calibri"/>
              </a:rPr>
              <a:t>Not shown  </a:t>
            </a:r>
            <a:r>
              <a:rPr sz="1000">
                <a:solidFill>
                  <a:srgbClr val="595959"/>
                </a:solidFill>
                <a:latin typeface="Calibri"/>
              </a:rPr>
              <a:t>— what SNP Inc. experiences: 10 pauses a year under Option 1, 1–2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~$50k a year less. Option 1 pays every year for weeks of extra speed — worth it only if the outage would cost far more.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how it is done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502920"/>
          </a:xfrm>
          <a:prstGeom prst="rect">
            <a:avLst/>
          </a:prstGeom>
          <a:noFill/>
        </p:spPr>
        <p:txBody>
          <a:bodyPr wrap="square">
            <a:spAutoFit/>
          </a:bodyPr>
          <a:lstStyle/>
          <a:p>
            <a:pPr algn="l">
              <a:spcAft>
                <a:spcPts val="400"/>
              </a:spcAft>
            </a:pPr>
            <a:r>
              <a:rPr sz="1200" b="1" i="0">
                <a:solidFill>
                  <a:srgbClr val="1F3864"/>
                </a:solidFill>
                <a:latin typeface="Calibri"/>
              </a:rPr>
              <a:t>Routine in medical devices, pharma and aerospace. What spoils the relationship is not the 'no' — it is silence and unpaid work. Five instruments, rising commitment; Option 3 is instruments 3 and 5 made routine.</a:t>
            </a:r>
          </a:p>
        </p:txBody>
      </p:sp>
      <p:graphicFrame>
        <p:nvGraphicFramePr>
          <p:cNvPr id="6" name="Table 5"/>
          <p:cNvGraphicFramePr>
            <a:graphicFrameLocks noGrp="1"/>
          </p:cNvGraphicFramePr>
          <p:nvPr/>
        </p:nvGraphicFramePr>
        <p:xfrm>
          <a:off x="548640" y="1600200"/>
          <a:ext cx="11064240" cy="3246120"/>
        </p:xfrm>
        <a:graphic>
          <a:graphicData uri="http://schemas.openxmlformats.org/drawingml/2006/table">
            <a:tbl>
              <a:tblPr firstRow="1" bandRow="1">
                <a:tableStyleId>{5C22544A-7EE6-4342-B048-85BDC9FD1C3A}</a:tableStyleId>
              </a:tblPr>
              <a:tblGrid>
                <a:gridCol w="2651760"/>
                <a:gridCol w="3657600"/>
                <a:gridCol w="2011680"/>
                <a:gridCol w="2743200"/>
              </a:tblGrid>
              <a:tr h="541020">
                <a:tc>
                  <a:txBody>
                    <a:bodyPr/>
                    <a:lstStyle/>
                    <a:p>
                      <a:pPr algn="l"/>
                      <a:r>
                        <a:rPr sz="960" b="1">
                          <a:solidFill>
                            <a:srgbClr val="FFFFFF"/>
                          </a:solidFill>
                          <a:latin typeface="Calibri"/>
                        </a:rPr>
                        <a:t>Instrument</a:t>
                      </a:r>
                    </a:p>
                  </a:txBody>
                  <a:tcPr>
                    <a:solidFill>
                      <a:srgbClr val="1F3864"/>
                    </a:solidFill>
                  </a:tcPr>
                </a:tc>
                <a:tc>
                  <a:txBody>
                    <a:bodyPr/>
                    <a:lstStyle/>
                    <a:p>
                      <a:pPr algn="ctr"/>
                      <a:r>
                        <a:rPr sz="960" b="1">
                          <a:solidFill>
                            <a:srgbClr val="FFFFFF"/>
                          </a:solidFill>
                          <a:latin typeface="Calibri"/>
                        </a:rPr>
                        <a:t>What it is</a:t>
                      </a:r>
                    </a:p>
                  </a:txBody>
                  <a:tcPr>
                    <a:solidFill>
                      <a:srgbClr val="1F3864"/>
                    </a:solidFill>
                  </a:tcPr>
                </a:tc>
                <a:tc>
                  <a:txBody>
                    <a:bodyPr/>
                    <a:lstStyle/>
                    <a:p>
                      <a:pPr algn="ctr"/>
                      <a:r>
                        <a:rPr sz="960" b="1">
                          <a:solidFill>
                            <a:srgbClr val="FFFFFF"/>
                          </a:solidFill>
                          <a:latin typeface="Calibri"/>
                        </a:rPr>
                        <a:t>Cost here</a:t>
                      </a:r>
                    </a:p>
                  </a:txBody>
                  <a:tcPr>
                    <a:solidFill>
                      <a:srgbClr val="1F3864"/>
                    </a:solidFill>
                  </a:tcPr>
                </a:tc>
                <a:tc>
                  <a:txBody>
                    <a:bodyPr/>
                    <a:lstStyle/>
                    <a:p>
                      <a:pPr algn="l"/>
                      <a:r>
                        <a:rPr sz="960" b="1">
                          <a:solidFill>
                            <a:srgbClr val="FFFFFF"/>
                          </a:solidFill>
                          <a:latin typeface="Calibri"/>
                        </a:rPr>
                        <a:t>What it does for the relationship</a:t>
                      </a:r>
                    </a:p>
                  </a:txBody>
                  <a:tcPr>
                    <a:solidFill>
                      <a:srgbClr val="1F3864"/>
                    </a:solidFill>
                  </a:tcPr>
                </a:tc>
              </a:tr>
              <a:tr h="541020">
                <a:tc>
                  <a:txBody>
                    <a:bodyPr/>
                    <a:lstStyle/>
                    <a:p>
                      <a:pPr algn="l"/>
                      <a:r>
                        <a:rPr sz="960" b="1">
                          <a:solidFill>
                            <a:srgbClr val="1F3864"/>
                          </a:solidFill>
                          <a:latin typeface="Calibri"/>
                        </a:rPr>
                        <a:t>1 · Pay for the qualification (NRE — non-recurring engineering)</a:t>
                      </a:r>
                    </a:p>
                  </a:txBody>
                  <a:tcPr>
                    <a:solidFill>
                      <a:srgbClr val="FFFFFF"/>
                    </a:solidFill>
                  </a:tcPr>
                </a:tc>
                <a:tc>
                  <a:txBody>
                    <a:bodyPr/>
                    <a:lstStyle/>
                    <a:p>
                      <a:pPr algn="ctr"/>
                      <a:r>
                        <a:rPr sz="960">
                          <a:solidFill>
                            <a:srgbClr val="1F3864"/>
                          </a:solidFill>
                          <a:latin typeface="Calibri"/>
                        </a:rPr>
                        <a:t>Fund the lots, testing and documentation already done</a:t>
                      </a:r>
                    </a:p>
                  </a:txBody>
                  <a:tcPr>
                    <a:solidFill>
                      <a:srgbClr val="FFFFFF"/>
                    </a:solidFill>
                  </a:tcPr>
                </a:tc>
                <a:tc>
                  <a:txBody>
                    <a:bodyPr/>
                    <a:lstStyle/>
                    <a:p>
                      <a:pPr algn="ctr"/>
                      <a:r>
                        <a:rPr sz="960">
                          <a:solidFill>
                            <a:srgbClr val="1F3864"/>
                          </a:solidFill>
                          <a:latin typeface="Calibri"/>
                        </a:rPr>
                        <a:t>Development fee, ~$5–10k placeholder — PCI to invoice</a:t>
                      </a:r>
                    </a:p>
                  </a:txBody>
                  <a:tcPr>
                    <a:solidFill>
                      <a:srgbClr val="FFFFFF"/>
                    </a:solidFill>
                  </a:tcPr>
                </a:tc>
                <a:tc>
                  <a:txBody>
                    <a:bodyPr/>
                    <a:lstStyle/>
                    <a:p>
                      <a:pPr algn="l"/>
                      <a:r>
                        <a:rPr sz="960">
                          <a:solidFill>
                            <a:srgbClr val="1F3864"/>
                          </a:solidFill>
                          <a:latin typeface="Calibri"/>
                        </a:rPr>
                        <a:t>Free experiments become a paid engagement; an approved-source file</a:t>
                      </a:r>
                    </a:p>
                  </a:txBody>
                  <a:tcPr>
                    <a:solidFill>
                      <a:srgbClr val="FFFFFF"/>
                    </a:solidFill>
                  </a:tcPr>
                </a:tc>
              </a:tr>
              <a:tr h="541020">
                <a:tc>
                  <a:txBody>
                    <a:bodyPr/>
                    <a:lstStyle/>
                    <a:p>
                      <a:pPr algn="l"/>
                      <a:r>
                        <a:rPr sz="960" b="1">
                          <a:solidFill>
                            <a:srgbClr val="1F3864"/>
                          </a:solidFill>
                          <a:latin typeface="Calibri"/>
                        </a:rPr>
                        <a:t>2 · Master agreement, no volume commitment</a:t>
                      </a:r>
                    </a:p>
                  </a:txBody>
                  <a:tcPr>
                    <a:solidFill>
                      <a:srgbClr val="FFFFFF"/>
                    </a:solidFill>
                  </a:tcPr>
                </a:tc>
                <a:tc>
                  <a:txBody>
                    <a:bodyPr/>
                    <a:lstStyle/>
                    <a:p>
                      <a:pPr algn="ctr"/>
                      <a:r>
                        <a:rPr sz="960">
                          <a:solidFill>
                            <a:srgbClr val="1F3864"/>
                          </a:solidFill>
                          <a:latin typeface="Calibri"/>
                        </a:rPr>
                        <a:t>Price ($3.50, resin-indexed), spec, lead time, quality and change terms; 12–24 months; zero minimum — if PCI accepts</a:t>
                      </a:r>
                    </a:p>
                  </a:txBody>
                  <a:tcPr>
                    <a:solidFill>
                      <a:srgbClr val="FFFFFF"/>
                    </a:solidFill>
                  </a:tcPr>
                </a:tc>
                <a:tc>
                  <a:txBody>
                    <a:bodyPr/>
                    <a:lstStyle/>
                    <a:p>
                      <a:pPr algn="ctr"/>
                      <a:r>
                        <a:rPr sz="960">
                          <a:solidFill>
                            <a:srgbClr val="1F3864"/>
                          </a:solidFill>
                          <a:latin typeface="Calibri"/>
                        </a:rPr>
                        <a:t>Legal time</a:t>
                      </a:r>
                    </a:p>
                  </a:txBody>
                  <a:tcPr>
                    <a:solidFill>
                      <a:srgbClr val="FFFFFF"/>
                    </a:solidFill>
                  </a:tcPr>
                </a:tc>
                <a:tc>
                  <a:txBody>
                    <a:bodyPr/>
                    <a:lstStyle/>
                    <a:p>
                      <a:pPr algn="l"/>
                      <a:r>
                        <a:rPr sz="960">
                          <a:solidFill>
                            <a:srgbClr val="1F3864"/>
                          </a:solidFill>
                          <a:latin typeface="Calibri"/>
                        </a:rPr>
                        <a:t>Formal approved-second-source status; a callable option at a known price</a:t>
                      </a:r>
                    </a:p>
                  </a:txBody>
                  <a:tcPr>
                    <a:solidFill>
                      <a:srgbClr val="FFFFFF"/>
                    </a:solidFill>
                  </a:tcPr>
                </a:tc>
              </a:tr>
              <a:tr h="541020">
                <a:tc>
                  <a:txBody>
                    <a:bodyPr/>
                    <a:lstStyle/>
                    <a:p>
                      <a:pPr algn="l"/>
                      <a:r>
                        <a:rPr sz="960" b="1">
                          <a:solidFill>
                            <a:srgbClr val="1F3864"/>
                          </a:solidFill>
                          <a:latin typeface="Calibri"/>
                        </a:rPr>
                        <a:t>3 · One production-scale order (Option 3, step one)</a:t>
                      </a:r>
                    </a:p>
                  </a:txBody>
                  <a:tcPr>
                    <a:solidFill>
                      <a:srgbClr val="FFFFFF"/>
                    </a:solidFill>
                  </a:tcPr>
                </a:tc>
                <a:tc>
                  <a:txBody>
                    <a:bodyPr/>
                    <a:lstStyle/>
                    <a:p>
                      <a:pPr algn="ctr"/>
                      <a:r>
                        <a:rPr sz="960">
                          <a:solidFill>
                            <a:srgbClr val="1F3864"/>
                          </a:solidFill>
                          <a:latin typeface="Calibri"/>
                        </a:rPr>
                        <a:t>One paid 5-drum batch: proves production scale, completes the file; ramp stays a written commitment to obtain</a:t>
                      </a:r>
                    </a:p>
                  </a:txBody>
                  <a:tcPr>
                    <a:solidFill>
                      <a:srgbClr val="E2EFDA"/>
                    </a:solidFill>
                  </a:tcPr>
                </a:tc>
                <a:tc>
                  <a:txBody>
                    <a:bodyPr/>
                    <a:lstStyle/>
                    <a:p>
                      <a:pPr algn="ctr"/>
                      <a:r>
                        <a:rPr sz="960">
                          <a:solidFill>
                            <a:srgbClr val="1F3864"/>
                          </a:solidFill>
                          <a:latin typeface="Calibri"/>
                        </a:rPr>
                        <a:t>$7.9k gross (~$6.2k over SNP)</a:t>
                      </a:r>
                    </a:p>
                  </a:txBody>
                  <a:tcPr>
                    <a:solidFill>
                      <a:srgbClr val="E2EFDA"/>
                    </a:solidFill>
                  </a:tcPr>
                </a:tc>
                <a:tc>
                  <a:txBody>
                    <a:bodyPr/>
                    <a:lstStyle/>
                    <a:p>
                      <a:pPr algn="l"/>
                      <a:r>
                        <a:rPr sz="960">
                          <a:solidFill>
                            <a:srgbClr val="1F3864"/>
                          </a:solidFill>
                          <a:latin typeface="Calibri"/>
                        </a:rPr>
                        <a:t>Strongest form — they have shipped to us</a:t>
                      </a:r>
                    </a:p>
                  </a:txBody>
                  <a:tcPr>
                    <a:solidFill>
                      <a:srgbClr val="E2EFDA"/>
                    </a:solidFill>
                  </a:tcPr>
                </a:tc>
              </a:tr>
              <a:tr h="541020">
                <a:tc>
                  <a:txBody>
                    <a:bodyPr/>
                    <a:lstStyle/>
                    <a:p>
                      <a:pPr algn="l"/>
                      <a:r>
                        <a:rPr sz="960" b="1">
                          <a:solidFill>
                            <a:srgbClr val="1F3864"/>
                          </a:solidFill>
                          <a:latin typeface="Calibri"/>
                        </a:rPr>
                        <a:t>4 · Readiness / capacity-reservation fee</a:t>
                      </a:r>
                    </a:p>
                  </a:txBody>
                  <a:tcPr>
                    <a:solidFill>
                      <a:srgbClr val="FFFFFF"/>
                    </a:solidFill>
                  </a:tcPr>
                </a:tc>
                <a:tc>
                  <a:txBody>
                    <a:bodyPr/>
                    <a:lstStyle/>
                    <a:p>
                      <a:pPr algn="ctr"/>
                      <a:r>
                        <a:rPr sz="960">
                          <a:solidFill>
                            <a:srgbClr val="1F3864"/>
                          </a:solidFill>
                          <a:latin typeface="Calibri"/>
                        </a:rPr>
                        <a:t>A fee for the right to call volume at a set price with a committed ramp (pharma: ~20% of batch value; multi-million minimums)</a:t>
                      </a:r>
                    </a:p>
                  </a:txBody>
                  <a:tcPr>
                    <a:solidFill>
                      <a:srgbClr val="FFFFFF"/>
                    </a:solidFill>
                  </a:tcPr>
                </a:tc>
                <a:tc>
                  <a:txBody>
                    <a:bodyPr/>
                    <a:lstStyle/>
                    <a:p>
                      <a:pPr algn="ctr"/>
                      <a:r>
                        <a:rPr sz="960">
                          <a:solidFill>
                            <a:srgbClr val="1F3864"/>
                          </a:solidFill>
                          <a:latin typeface="Calibri"/>
                        </a:rPr>
                        <a:t>Token retainer at most</a:t>
                      </a:r>
                    </a:p>
                  </a:txBody>
                  <a:tcPr>
                    <a:solidFill>
                      <a:srgbClr val="FFFFFF"/>
                    </a:solidFill>
                  </a:tcPr>
                </a:tc>
                <a:tc>
                  <a:txBody>
                    <a:bodyPr/>
                    <a:lstStyle/>
                    <a:p>
                      <a:pPr algn="l"/>
                      <a:r>
                        <a:rPr sz="960">
                          <a:solidFill>
                            <a:srgbClr val="1F3864"/>
                          </a:solidFill>
                          <a:latin typeface="Calibri"/>
                        </a:rPr>
                        <a:t>Rarely worth it at our scale</a:t>
                      </a:r>
                    </a:p>
                  </a:txBody>
                  <a:tcPr>
                    <a:solidFill>
                      <a:srgbClr val="FFFFFF"/>
                    </a:solidFill>
                  </a:tcPr>
                </a:tc>
              </a:tr>
              <a:tr h="541020">
                <a:tc>
                  <a:txBody>
                    <a:bodyPr/>
                    <a:lstStyle/>
                    <a:p>
                      <a:pPr algn="l"/>
                      <a:r>
                        <a:rPr sz="960" b="1">
                          <a:solidFill>
                            <a:srgbClr val="1F3864"/>
                          </a:solidFill>
                          <a:latin typeface="Calibri"/>
                        </a:rPr>
                        <a:t>5 · Planned re-check (Option 3's cadence)</a:t>
                      </a:r>
                    </a:p>
                  </a:txBody>
                  <a:tcPr>
                    <a:solidFill>
                      <a:srgbClr val="FFFFFF"/>
                    </a:solidFill>
                  </a:tcPr>
                </a:tc>
                <a:tc>
                  <a:txBody>
                    <a:bodyPr/>
                    <a:lstStyle/>
                    <a:p>
                      <a:pPr algn="ctr"/>
                      <a:r>
                        <a:rPr sz="960">
                          <a:solidFill>
                            <a:srgbClr val="1F3864"/>
                          </a:solidFill>
                          <a:latin typeface="Calibri"/>
                        </a:rPr>
                        <a:t>Idle suppliers go stale: Production Part Approval Process (PPAP) re-approval after 12 months idle; ~18 months = 'new supplier'; ISO 13485 §7.4.1</a:t>
                      </a:r>
                    </a:p>
                  </a:txBody>
                  <a:tcPr>
                    <a:solidFill>
                      <a:srgbClr val="E2EFDA"/>
                    </a:solidFill>
                  </a:tcPr>
                </a:tc>
                <a:tc>
                  <a:txBody>
                    <a:bodyPr/>
                    <a:lstStyle/>
                    <a:p>
                      <a:pPr algn="ctr"/>
                      <a:r>
                        <a:rPr sz="960">
                          <a:solidFill>
                            <a:srgbClr val="1F3864"/>
                          </a:solidFill>
                          <a:latin typeface="Calibri"/>
                        </a:rPr>
                        <a:t>1–2 batches/yr ≈ $7.9–15.8k gross — if PCI accepts</a:t>
                      </a:r>
                    </a:p>
                  </a:txBody>
                  <a:tcPr>
                    <a:solidFill>
                      <a:srgbClr val="E2EFDA"/>
                    </a:solidFill>
                  </a:tcPr>
                </a:tc>
                <a:tc>
                  <a:txBody>
                    <a:bodyPr/>
                    <a:lstStyle/>
                    <a:p>
                      <a:pPr algn="l"/>
                      <a:r>
                        <a:rPr sz="960">
                          <a:solidFill>
                            <a:srgbClr val="1F3864"/>
                          </a:solidFill>
                          <a:latin typeface="Calibri"/>
                        </a:rPr>
                        <a:t>Keeps the option honest and the supplier practiced</a:t>
                      </a:r>
                    </a:p>
                  </a:txBody>
                  <a:tcPr>
                    <a:solidFill>
                      <a:srgbClr val="E2EFDA"/>
                    </a:solidFill>
                  </a:tcPr>
                </a:tc>
              </a:tr>
            </a:tbl>
          </a:graphicData>
        </a:graphic>
      </p:graphicFrame>
      <p:sp>
        <p:nvSpPr>
          <p:cNvPr id="7" name="Rectangle 6"/>
          <p:cNvSpPr/>
          <p:nvPr/>
        </p:nvSpPr>
        <p:spPr>
          <a:xfrm>
            <a:off x="548640" y="5029200"/>
            <a:ext cx="11064240"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148072"/>
            <a:ext cx="10698480" cy="63093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1050" b="0" i="0">
                <a:solidFill>
                  <a:srgbClr val="595959"/>
                </a:solidFill>
                <a:latin typeface="Calibri"/>
              </a:rPr>
              <a:t>•  Tell PCI the volume reality and the exact triggers · pay promptly · share the test results · a quarterly touchpoint · a reference. Suppliers allocate goodwill on trust, long-term orientation and growth prospects — not on current volume (Pulles, Schiele et al. 2016).</a:t>
            </a:r>
          </a:p>
        </p:txBody>
      </p:sp>
      <p:sp>
        <p:nvSpPr>
          <p:cNvPr id="9" name="Rectangle 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Barely using a qualified supplier is normal. Pay for the work, sign the terms, state the triggers, order a batch or two a year — and the door stays open.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Why decide now</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97280"/>
            <a:ext cx="6035040" cy="4663440"/>
          </a:xfrm>
          <a:prstGeom prst="rect">
            <a:avLst/>
          </a:prstGeom>
          <a:noFill/>
        </p:spPr>
        <p:txBody>
          <a:bodyPr wrap="square">
            <a:spAutoFit/>
          </a:bodyPr>
          <a:lstStyle/>
          <a:p>
            <a:pPr>
              <a:spcAft>
                <a:spcPts val="900"/>
              </a:spcAft>
            </a:pPr>
            <a:r>
              <a:rPr b="1" sz="1200">
                <a:solidFill>
                  <a:srgbClr val="1F3864"/>
                </a:solidFill>
                <a:latin typeface="Calibri"/>
              </a:rPr>
              <a:t>•  Our next conversation with SNP Inc. is where the strategy becomes real. </a:t>
            </a:r>
            <a:r>
              <a:rPr sz="1200">
                <a:solidFill>
                  <a:srgbClr val="595959"/>
                </a:solidFill>
                <a:latin typeface="Calibri"/>
              </a:rPr>
              <a:t>Continuity terms, forecast sharing, resin consignment, a resin-indexed price, capacity headroom, succession — settled in conversation, not by email.</a:t>
            </a:r>
          </a:p>
          <a:p>
            <a:pPr>
              <a:spcAft>
                <a:spcPts val="900"/>
              </a:spcAft>
            </a:pPr>
            <a:r>
              <a:rPr b="1" sz="1200">
                <a:solidFill>
                  <a:srgbClr val="1F3864"/>
                </a:solidFill>
                <a:latin typeface="Calibri"/>
              </a:rPr>
              <a:t>•  The posture has to match the decision. </a:t>
            </a:r>
            <a:r>
              <a:rPr sz="1200">
                <a:solidFill>
                  <a:srgbClr val="595959"/>
                </a:solidFill>
                <a:latin typeface="Calibri"/>
              </a:rPr>
              <a:t>We cannot ask for a deeper partnership and, in the same period, plan to move a third of their core line without telling them. Announcing it afterwards would undo the partnership conversation.</a:t>
            </a:r>
          </a:p>
          <a:p>
            <a:pPr>
              <a:spcAft>
                <a:spcPts val="900"/>
              </a:spcAft>
            </a:pPr>
            <a:r>
              <a:rPr b="1" sz="1200">
                <a:solidFill>
                  <a:srgbClr val="1F3864"/>
                </a:solidFill>
                <a:latin typeface="Calibri"/>
              </a:rPr>
              <a:t>•  If Option 1: </a:t>
            </a:r>
            <a:r>
              <a:rPr sz="1200">
                <a:solidFill>
                  <a:srgbClr val="595959"/>
                </a:solidFill>
                <a:latin typeface="Calibri"/>
              </a:rPr>
              <a:t>bring a package, not a cut — a 3-year commitment on ~100 drums/yr growing 10%/yr, a level cadence, forecast sharing, a joint hydrogel roadmap. Reason given: a quality-system continuity requirement.</a:t>
            </a:r>
          </a:p>
          <a:p>
            <a:pPr>
              <a:spcAft>
                <a:spcPts val="900"/>
              </a:spcAft>
            </a:pPr>
            <a:r>
              <a:rPr b="1" sz="1200">
                <a:solidFill>
                  <a:srgbClr val="1F3864"/>
                </a:solidFill>
                <a:latin typeface="Calibri"/>
              </a:rPr>
              <a:t>•  If Option 2 or 3: </a:t>
            </a:r>
            <a:r>
              <a:rPr sz="1200">
                <a:solidFill>
                  <a:srgbClr val="595959"/>
                </a:solidFill>
                <a:latin typeface="Calibri"/>
              </a:rPr>
              <a:t>that is the partnership conversation. Our continuity file (ISO 13485 clause 7.4 / GHTF N17) includes a qualified alternate cooker and, under Option 3, a verification lot or two a year. The supplier is not named; the quote is not shown.</a:t>
            </a:r>
          </a:p>
        </p:txBody>
      </p:sp>
      <p:sp>
        <p:nvSpPr>
          <p:cNvPr id="6" name="Rectangle 5"/>
          <p:cNvSpPr/>
          <p:nvPr/>
        </p:nvSpPr>
        <p:spPr>
          <a:xfrm>
            <a:off x="6858000" y="1097280"/>
            <a:ext cx="4754880" cy="466344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188720"/>
            <a:ext cx="4389120" cy="4526280"/>
          </a:xfrm>
          <a:prstGeom prst="rect">
            <a:avLst/>
          </a:prstGeom>
          <a:noFill/>
        </p:spPr>
        <p:txBody>
          <a:bodyPr wrap="square">
            <a:spAutoFit/>
          </a:bodyPr>
          <a:lstStyle/>
          <a:p>
            <a:pPr algn="l">
              <a:spcAft>
                <a:spcPts val="500"/>
              </a:spcAft>
            </a:pPr>
            <a:r>
              <a:rPr sz="1300" b="1" i="0">
                <a:solidFill>
                  <a:srgbClr val="1F3864"/>
                </a:solidFill>
                <a:latin typeface="Calibri"/>
              </a:rPr>
              <a:t>To settle with SNP Inc. under Option 2 / 3</a:t>
            </a:r>
          </a:p>
          <a:p>
            <a:pPr algn="l">
              <a:spcAft>
                <a:spcPts val="500"/>
              </a:spcAft>
            </a:pPr>
            <a:r>
              <a:rPr sz="1050" b="0" i="0">
                <a:solidFill>
                  <a:srgbClr val="595959"/>
                </a:solidFill>
                <a:latin typeface="Calibri"/>
              </a:rPr>
              <a:t>•  Give first: rolling 12-month forecast, refreshed monthly; the hydrogel program as a written joint roadmap; a multi-year commitment</a:t>
            </a:r>
          </a:p>
          <a:p>
            <a:pPr algn="l">
              <a:spcAft>
                <a:spcPts val="500"/>
              </a:spcAft>
            </a:pPr>
            <a:r>
              <a:rPr sz="1050" b="0" i="0">
                <a:solidFill>
                  <a:srgbClr val="595959"/>
                </a:solidFill>
                <a:latin typeface="Calibri"/>
              </a:rPr>
              <a:t>•  Then ask, as Supplier Quality Agreement (SQA) clauses: second line/site plan, key-person cover, advance change notice, right to audit</a:t>
            </a:r>
          </a:p>
          <a:p>
            <a:pPr algn="l">
              <a:spcAft>
                <a:spcPts val="500"/>
              </a:spcAft>
            </a:pPr>
            <a:r>
              <a:rPr sz="1050" b="0" i="0">
                <a:solidFill>
                  <a:srgbClr val="595959"/>
                </a:solidFill>
                <a:latin typeface="Calibri"/>
              </a:rPr>
              <a:t>•  12–26 weeks of dry PVA resin on consignment (shelf-stable; ~$2–6k tied up)</a:t>
            </a:r>
          </a:p>
          <a:p>
            <a:pPr algn="l">
              <a:spcAft>
                <a:spcPts val="500"/>
              </a:spcAft>
            </a:pPr>
            <a:r>
              <a:rPr sz="1050" b="0" i="0">
                <a:solidFill>
                  <a:srgbClr val="595959"/>
                </a:solidFill>
                <a:latin typeface="Calibri"/>
              </a:rPr>
              <a:t>•  Capacity headroom at Year-5 volume (~99k lb/yr, ~1,900 lb/week)</a:t>
            </a:r>
          </a:p>
          <a:p>
            <a:pPr algn="l">
              <a:spcAft>
                <a:spcPts val="500"/>
              </a:spcAft>
            </a:pPr>
            <a:r>
              <a:rPr sz="1050" b="0" i="0">
                <a:solidFill>
                  <a:srgbClr val="595959"/>
                </a:solidFill>
                <a:latin typeface="Calibri"/>
              </a:rPr>
              <a:t>•  Business continuity: ownership, financial resilience — under mutual non-disclosure agreement (NDA)</a:t>
            </a:r>
          </a:p>
          <a:p>
            <a:pPr algn="l">
              <a:spcAft>
                <a:spcPts val="500"/>
              </a:spcAft>
            </a:pPr>
            <a:r>
              <a:rPr sz="1050" b="0" i="0">
                <a:solidFill>
                  <a:srgbClr val="595959"/>
                </a:solidFill>
                <a:latin typeface="Calibri"/>
              </a:rPr>
              <a:t>•  A shelf-life study: cheap if the limiter is viscosity build; a formulation change if it is microbial — unknown today</a:t>
            </a:r>
          </a:p>
        </p:txBody>
      </p:sp>
      <p:sp>
        <p:nvSpPr>
          <p:cNvPr id="8" name="Rectangle 7"/>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first; then use the SNP Inc. conversation to execute it — not to discover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Recommendation &amp; asks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6 · DECISION</a:t>
            </a:r>
          </a:p>
        </p:txBody>
      </p:sp>
      <p:sp>
        <p:nvSpPr>
          <p:cNvPr id="5" name="Rectangle 4"/>
          <p:cNvSpPr/>
          <p:nvPr/>
        </p:nvSpPr>
        <p:spPr>
          <a:xfrm>
            <a:off x="548640" y="1097280"/>
            <a:ext cx="5440680" cy="28803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16152"/>
            <a:ext cx="5074920" cy="2642615"/>
          </a:xfrm>
          <a:prstGeom prst="rect">
            <a:avLst/>
          </a:prstGeom>
          <a:noFill/>
        </p:spPr>
        <p:txBody>
          <a:bodyPr wrap="square">
            <a:spAutoFit/>
          </a:bodyPr>
          <a:lstStyle/>
          <a:p>
            <a:pPr algn="l">
              <a:spcAft>
                <a:spcPts val="600"/>
              </a:spcAft>
            </a:pPr>
            <a:r>
              <a:rPr sz="1350" b="1" i="0">
                <a:solidFill>
                  <a:srgbClr val="2E7D46"/>
                </a:solidFill>
                <a:latin typeface="Calibri"/>
              </a:rPr>
              <a:t>Recommendation: Option 3 at one batch a year, with Option 2's partnership terms</a:t>
            </a:r>
          </a:p>
          <a:p>
            <a:pPr algn="l">
              <a:spcAft>
                <a:spcPts val="500"/>
              </a:spcAft>
            </a:pPr>
            <a:r>
              <a:rPr sz="1100" b="0" i="0">
                <a:solidFill>
                  <a:srgbClr val="595959"/>
                </a:solidFill>
                <a:latin typeface="Calibri"/>
              </a:rPr>
              <a:t>•  Decide now; order the first 5-drum batch from PCI Manufacturing ($7.9k) once SNP Inc. has been told a continuity verification lot will run</a:t>
            </a:r>
          </a:p>
          <a:p>
            <a:pPr algn="l">
              <a:spcAft>
                <a:spcPts val="500"/>
              </a:spcAft>
            </a:pPr>
            <a:r>
              <a:rPr sz="1100" b="0" i="0">
                <a:solidFill>
                  <a:srgbClr val="595959"/>
                </a:solidFill>
                <a:latin typeface="Calibri"/>
              </a:rPr>
              <a:t>•  Go into the SNP Inc. conversation as a partner: continuity terms, forecast, resin consignment, capacity headroom, succession, shelf-life study</a:t>
            </a:r>
          </a:p>
          <a:p>
            <a:pPr algn="l">
              <a:spcAft>
                <a:spcPts val="500"/>
              </a:spcAft>
            </a:pPr>
            <a:r>
              <a:rPr sz="1100" b="0" i="0">
                <a:solidFill>
                  <a:srgbClr val="595959"/>
                </a:solidFill>
                <a:latin typeface="Calibri"/>
              </a:rPr>
              <a:t>•  Tell PCI the triggers candidly; one batch a year keeps the qualification current — two if an SNP Inc. risk signal appears</a:t>
            </a:r>
          </a:p>
        </p:txBody>
      </p:sp>
      <p:sp>
        <p:nvSpPr>
          <p:cNvPr id="7" name="Rectangle 6"/>
          <p:cNvSpPr/>
          <p:nvPr/>
        </p:nvSpPr>
        <p:spPr>
          <a:xfrm>
            <a:off x="6172200" y="1097280"/>
            <a:ext cx="5440680" cy="288036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216152"/>
            <a:ext cx="5074920" cy="2642615"/>
          </a:xfrm>
          <a:prstGeom prst="rect">
            <a:avLst/>
          </a:prstGeom>
          <a:noFill/>
        </p:spPr>
        <p:txBody>
          <a:bodyPr wrap="square">
            <a:spAutoFit/>
          </a:bodyPr>
          <a:lstStyle/>
          <a:p>
            <a:pPr algn="l">
              <a:spcAft>
                <a:spcPts val="600"/>
              </a:spcAft>
            </a:pPr>
            <a:r>
              <a:rPr sz="1350" b="1" i="0">
                <a:solidFill>
                  <a:srgbClr val="9C5A0C"/>
                </a:solidFill>
                <a:latin typeface="Calibri"/>
              </a:rPr>
              <a:t>Go to Option 1 (one-third, 10 batches/yr) if any trigger fires</a:t>
            </a:r>
          </a:p>
          <a:p>
            <a:pPr algn="l">
              <a:spcAft>
                <a:spcPts val="500"/>
              </a:spcAft>
            </a:pPr>
            <a:r>
              <a:rPr sz="1050" b="0" i="0">
                <a:solidFill>
                  <a:srgbClr val="595959"/>
                </a:solidFill>
                <a:latin typeface="Calibri"/>
              </a:rPr>
              <a:t>•  Finance's estimate of the loss a second source would AVOID in a 6-month SNP Inc. outage exceeds ~$620k (10%/yr risk) or ~$1.24M (5%) — full avoidance only with PCI's written ramp; at ~1/3 coverage the bar is ~$1.9M / ~$3.7M</a:t>
            </a:r>
          </a:p>
          <a:p>
            <a:pPr algn="l">
              <a:spcAft>
                <a:spcPts val="500"/>
              </a:spcAft>
            </a:pPr>
            <a:r>
              <a:rPr sz="1050" b="0" i="0">
                <a:solidFill>
                  <a:srgbClr val="595959"/>
                </a:solidFill>
                <a:latin typeface="Calibri"/>
              </a:rPr>
              <a:t>•  An SNP Inc. risk signal: capacity short of Year-5 volume, succession or financial stress, a missed lot, an unexplained price move</a:t>
            </a:r>
          </a:p>
          <a:p>
            <a:pPr algn="l">
              <a:spcAft>
                <a:spcPts val="500"/>
              </a:spcAft>
            </a:pPr>
            <a:r>
              <a:rPr sz="1050" b="0" i="0">
                <a:solidFill>
                  <a:srgbClr val="595959"/>
                </a:solidFill>
                <a:latin typeface="Calibri"/>
              </a:rPr>
              <a:t>•  PCI's price falls toward ~$1.50/lb (premium ≈ $17k/yr), a new hydrogel line makes PVA strategic, or SNP Inc. declines the terms</a:t>
            </a:r>
          </a:p>
        </p:txBody>
      </p:sp>
      <p:sp>
        <p:nvSpPr>
          <p:cNvPr id="9" name="Rectangle 8"/>
          <p:cNvSpPr/>
          <p:nvPr/>
        </p:nvSpPr>
        <p:spPr>
          <a:xfrm>
            <a:off x="548640" y="4114800"/>
            <a:ext cx="11064240" cy="17373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187952"/>
            <a:ext cx="10698480" cy="1627632"/>
          </a:xfrm>
          <a:prstGeom prst="rect">
            <a:avLst/>
          </a:prstGeom>
          <a:noFill/>
        </p:spPr>
        <p:txBody>
          <a:bodyPr wrap="square">
            <a:spAutoFit/>
          </a:bodyPr>
          <a:lstStyle/>
          <a:p>
            <a:pPr algn="l">
              <a:spcAft>
                <a:spcPts val="400"/>
              </a:spcAft>
            </a:pPr>
            <a:r>
              <a:rPr sz="1300" b="1" i="0">
                <a:solidFill>
                  <a:srgbClr val="1F3864"/>
                </a:solidFill>
                <a:latin typeface="Calibri"/>
              </a:rPr>
              <a:t>What we need from leadership</a:t>
            </a:r>
          </a:p>
          <a:p>
            <a:pPr algn="l">
              <a:spcAft>
                <a:spcPts val="400"/>
              </a:spcAft>
            </a:pPr>
            <a:r>
              <a:rPr sz="1100" b="0" i="0">
                <a:solidFill>
                  <a:srgbClr val="595959"/>
                </a:solidFill>
                <a:latin typeface="Calibri"/>
              </a:rPr>
              <a:t>1.  The strategy call — Option 1, 2 or 3 — before our next conversation with SNP Inc.; Option 3 recommended as the reversible step</a:t>
            </a:r>
          </a:p>
          <a:p>
            <a:pPr algn="l">
              <a:spcAft>
                <a:spcPts val="400"/>
              </a:spcAft>
            </a:pPr>
            <a:r>
              <a:rPr sz="1100" b="0" i="0">
                <a:solidFill>
                  <a:srgbClr val="595959"/>
                </a:solidFill>
                <a:latin typeface="Calibri"/>
              </a:rPr>
              <a:t>2.  Finance, by [date]: the loss a second source would avoid in a 6-month PVA outage, per hydrogel stock-keeping unit (SKU) — revenue, contribution margin, deferrable vs lost (fallback: more or less than $1M? $3M?)</a:t>
            </a:r>
          </a:p>
          <a:p>
            <a:pPr algn="l">
              <a:spcAft>
                <a:spcPts val="400"/>
              </a:spcAft>
            </a:pPr>
            <a:r>
              <a:rPr sz="1100" b="0" i="0">
                <a:solidFill>
                  <a:srgbClr val="595959"/>
                </a:solidFill>
                <a:latin typeface="Calibri"/>
              </a:rPr>
              <a:t>3.  Under Option 3: ~$8k cash per PCI batch (one now, up to two a year), ~$5–10k to formalize SNP Inc., ~$15–40k of internal hours to finish qualification — first 12 months ≈ $31–70k all-in</a:t>
            </a:r>
          </a:p>
        </p:txBody>
      </p:sp>
      <p:sp>
        <p:nvSpPr>
          <p:cNvPr id="11" name="Rectangle 10"/>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Keep the supplier alive for ~$8k a batch, strengthen the source we depend on, and commit ~$62k/yr only when the evidence says so.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743200"/>
        </p:xfrm>
        <a:graphic>
          <a:graphicData uri="http://schemas.openxmlformats.org/drawingml/2006/table">
            <a:tbl>
              <a:tblPr firstRow="1" bandRow="1">
                <a:tableStyleId>{5C22544A-7EE6-4342-B048-85BDC9FD1C3A}</a:tableStyleId>
              </a:tblPr>
              <a:tblGrid>
                <a:gridCol w="1554480"/>
                <a:gridCol w="2743200"/>
                <a:gridCol w="2011680"/>
              </a:tblGrid>
              <a:tr h="274320">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74320">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150 drums/yr (1 drum = 450 lb) = 1,300 lb/wk = 67,600 lb/yr;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74320">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74320">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74320">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74320">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1–2 batches/yr = 5–10 drums = 3–7% of demand; +$6.2–12.4k/yr</a:t>
                      </a:r>
                    </a:p>
                  </a:txBody>
                  <a:tcPr>
                    <a:solidFill>
                      <a:srgbClr val="FFFFFF"/>
                    </a:solidFill>
                  </a:tcPr>
                </a:tc>
                <a:tc>
                  <a:txBody>
                    <a:bodyPr/>
                    <a:lstStyle/>
                    <a:p>
                      <a:pPr algn="ctr"/>
                      <a:r>
                        <a:rPr sz="800">
                          <a:solidFill>
                            <a:srgbClr val="1F3864"/>
                          </a:solidFill>
                          <a:latin typeface="Calibri"/>
                        </a:rPr>
                        <a:t>$7.9k gross per batch ($3.50/lb × 2,250 lb)</a:t>
                      </a:r>
                    </a:p>
                  </a:txBody>
                  <a:tcPr>
                    <a:solidFill>
                      <a:srgbClr val="FFFFFF"/>
                    </a:solidFill>
                  </a:tcPr>
                </a:tc>
              </a:tr>
              <a:tr h="274320">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74320">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74320">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to date (sunk); ~$15–40k to production release; PCI fee ~$5–10k</a:t>
                      </a:r>
                    </a:p>
                  </a:txBody>
                  <a:tcPr>
                    <a:solidFill>
                      <a:srgbClr val="FFFFFF"/>
                    </a:solidFill>
                  </a:tcPr>
                </a:tc>
                <a:tc>
                  <a:txBody>
                    <a:bodyPr/>
                    <a:lstStyle/>
                    <a:p>
                      <a:pPr algn="ctr"/>
                      <a:r>
                        <a:rPr sz="800">
                          <a:solidFill>
                            <a:srgbClr val="1F3864"/>
                          </a:solidFill>
                          <a:latin typeface="Calibri"/>
                        </a:rPr>
                        <a:t>Memo §2.3; placeholders</a:t>
                      </a:r>
                    </a:p>
                  </a:txBody>
                  <a:tcPr>
                    <a:solidFill>
                      <a:srgbClr val="FFFFFF"/>
                    </a:solidFill>
                  </a:tcPr>
                </a:tc>
              </a:tr>
              <a:tr h="274320">
                <a:tc>
                  <a:txBody>
                    <a:bodyPr/>
                    <a:lstStyle/>
                    <a:p>
                      <a:pPr algn="l"/>
                      <a:r>
                        <a:rPr sz="800" b="1">
                          <a:solidFill>
                            <a:srgbClr val="1F3864"/>
                          </a:solidFill>
                          <a:latin typeface="Calibri"/>
                        </a:rPr>
                        <a:t>Outage risk / avoided loss</a:t>
                      </a:r>
                    </a:p>
                  </a:txBody>
                  <a:tcPr>
                    <a:solidFill>
                      <a:srgbClr val="FFFFFF"/>
                    </a:solidFill>
                  </a:tcPr>
                </a:tc>
                <a:tc>
                  <a:txBody>
                    <a:bodyPr/>
                    <a:lstStyle/>
                    <a:p>
                      <a:pPr algn="ctr"/>
                      <a:r>
                        <a:rPr sz="800">
                          <a:solidFill>
                            <a:srgbClr val="1F3864"/>
                          </a:solidFill>
                          <a:latin typeface="Calibri"/>
                        </a:rPr>
                        <a:t>2–5%/yr planning band (10% upper case); avoided loss not estimated</a:t>
                      </a:r>
                    </a:p>
                  </a:txBody>
                  <a:tcPr>
                    <a:solidFill>
                      <a:srgbClr val="FFFFFF"/>
                    </a:solidFill>
                  </a:tcPr>
                </a:tc>
                <a:tc>
                  <a:txBody>
                    <a:bodyPr/>
                    <a:lstStyle/>
                    <a:p>
                      <a:pPr algn="ctr"/>
                      <a:r>
                        <a:rPr sz="800">
                          <a:solidFill>
                            <a:srgbClr val="1F3864"/>
                          </a:solidFill>
                          <a:latin typeface="Calibri"/>
                        </a:rPr>
                        <a:t>Memo §5.2; NEEDED from Finance</a:t>
                      </a:r>
                    </a:p>
                  </a:txBody>
                  <a:tcPr>
                    <a:solidFill>
                      <a:srgbClr val="FFFFFF"/>
                    </a:solidFill>
                  </a:tcPr>
                </a:tc>
              </a:tr>
            </a:tbl>
          </a:graphicData>
        </a:graphic>
      </p:graphicFrame>
      <p:sp>
        <p:nvSpPr>
          <p:cNvPr id="5" name="TextBox 4"/>
          <p:cNvSpPr txBox="1"/>
          <p:nvPr/>
        </p:nvSpPr>
        <p:spPr>
          <a:xfrm>
            <a:off x="548640" y="4572000"/>
            <a:ext cx="6309360" cy="16459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6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QMSR / ISO 13485 §7.4 / GHTF N17: controls proportionate to risk — no second source required.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85 °C ceiling</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could not hold temperature</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reserve</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CoA  </a:t>
            </a:r>
            <a:r>
              <a:rPr sz="900">
                <a:solidFill>
                  <a:srgbClr val="595959"/>
                </a:solidFill>
                <a:latin typeface="Calibri"/>
              </a:rPr>
              <a:t>— Certificate of Analysis</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NRE  </a:t>
            </a:r>
            <a:r>
              <a:rPr sz="900">
                <a:solidFill>
                  <a:srgbClr val="595959"/>
                </a:solidFill>
                <a:latin typeface="Calibri"/>
              </a:rPr>
              <a:t>— non-recurring engineering</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PPAP  </a:t>
            </a:r>
            <a:r>
              <a:rPr sz="900">
                <a:solidFill>
                  <a:srgbClr val="595959"/>
                </a:solidFill>
                <a:latin typeface="Calibri"/>
              </a:rPr>
              <a:t>— Production Part Approval Process</a:t>
            </a:r>
          </a:p>
          <a:p>
            <a:pPr>
              <a:spcAft>
                <a:spcPts val="100"/>
              </a:spcAft>
            </a:pPr>
            <a:r>
              <a:rPr b="1" sz="900">
                <a:solidFill>
                  <a:srgbClr val="1F3864"/>
                </a:solidFill>
                <a:latin typeface="Calibri"/>
              </a:rPr>
              <a:t>SKU  </a:t>
            </a:r>
            <a:r>
              <a:rPr sz="900">
                <a:solidFill>
                  <a:srgbClr val="595959"/>
                </a:solidFill>
                <a:latin typeface="Calibri"/>
              </a:rPr>
              <a:t>— stock-keeping unit</a:t>
            </a:r>
          </a:p>
          <a:p>
            <a:pPr>
              <a:spcAft>
                <a:spcPts val="100"/>
              </a:spcAft>
            </a:pPr>
            <a:r>
              <a:rPr b="1" sz="900">
                <a:solidFill>
                  <a:srgbClr val="1F3864"/>
                </a:solidFill>
                <a:latin typeface="Calibri"/>
              </a:rPr>
              <a:t>CPO  </a:t>
            </a:r>
            <a:r>
              <a:rPr sz="900">
                <a:solidFill>
                  <a:srgbClr val="595959"/>
                </a:solidFill>
                <a:latin typeface="Calibri"/>
              </a:rPr>
              <a:t>— Chief Procurement Officer</a:t>
            </a:r>
          </a:p>
          <a:p>
            <a:pPr>
              <a:spcAft>
                <a:spcPts val="100"/>
              </a:spcAft>
            </a:pPr>
            <a:r>
              <a:rPr b="1" sz="900">
                <a:solidFill>
                  <a:srgbClr val="1F3864"/>
                </a:solidFill>
                <a:latin typeface="Calibri"/>
              </a:rPr>
              <a:t>QMSR  </a:t>
            </a:r>
            <a:r>
              <a:rPr sz="900">
                <a:solidFill>
                  <a:srgbClr val="595959"/>
                </a:solidFill>
                <a:latin typeface="Calibri"/>
              </a:rPr>
              <a:t>— FDA Quality Management System Regulation</a:t>
            </a:r>
          </a:p>
          <a:p>
            <a:pPr>
              <a:spcAft>
                <a:spcPts val="100"/>
              </a:spcAft>
            </a:pPr>
            <a:r>
              <a:rPr b="1" sz="900">
                <a:solidFill>
                  <a:srgbClr val="1F3864"/>
                </a:solidFill>
                <a:latin typeface="Calibri"/>
              </a:rPr>
              <a:t>ISO  </a:t>
            </a:r>
            <a:r>
              <a:rPr sz="900">
                <a:solidFill>
                  <a:srgbClr val="595959"/>
                </a:solidFill>
                <a:latin typeface="Calibri"/>
              </a:rPr>
              <a:t>— International Organization for Standardization</a:t>
            </a:r>
          </a:p>
          <a:p>
            <a:pPr>
              <a:spcAft>
                <a:spcPts val="100"/>
              </a:spcAft>
            </a:pPr>
            <a:r>
              <a:rPr b="1" sz="900">
                <a:solidFill>
                  <a:srgbClr val="1F3864"/>
                </a:solidFill>
                <a:latin typeface="Calibri"/>
              </a:rPr>
              <a:t>GHTF  </a:t>
            </a:r>
            <a:r>
              <a:rPr sz="900">
                <a:solidFill>
                  <a:srgbClr val="595959"/>
                </a:solidFill>
                <a:latin typeface="Calibri"/>
              </a:rPr>
              <a:t>— Global Harmonization Task Force</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