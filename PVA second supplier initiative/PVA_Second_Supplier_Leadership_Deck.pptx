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67,600 pounds a year in every bar - 150 drums; SNP at 75 cents keeps whatever the second source does not take. Green alone is today: 50.7 thousand. The three blues are Option 3: one, two or three five-drum batches a year at 3.50 - plus 6, 12 or 19 thousand. Dark amber is a one-third second source at PCI's batch price: 22,500 pounds, 50 drums, 112.6 thousand total, plus 61.9 - 122 percent of today's bill. Light amber is one drum a week at the 6-dollar below-batch price: 52 drums, 23,400 pounds,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and ILC Dover failed that gate. June 26: CJB cleared it and became the front-runner; APV confirmed heat; we confirmed demand at 1,300 pounds a week. July: Columbus Chemical told us they cannot hold the temperature.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the viscosity root cause - elevated solids - and a locked spec.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The shelf-life clock starts at manufacture. PCI cooks on day zero, the five drums land around day four, we run on them at full rate through about day sixteen, and they expire on day eighteen - about two days of slack. Then three and a half weeks on SNP, repeat every five weeks; ten batches in year one, about fifteen by year five. We cannot run PCI alongside SNP at a third of rate: a batch would last thirty-six days; even at two-thirds it takes eighteen. A validated twenty-one-day life gives block rotation real margin; a thirty-day life still needs PCI at about half of rate. For SNP: a third less volume, and a choice of cadence - a twelve-day pause every cycle, or a steady two drums a week if we carry about three drums of rolling stock and use them first; the shelf-life study decides. What SNP reads is the signal, not the dollars. For us: one spec, one viscometer method, freeze-protected freight, five drums on site, a written failover with SNP's lead time, PCI's residual-film issue closed before any production batch, two quality agreements. What it buys - recovery in weeks - only if PCI confirms in writing that they can ramp.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The chart shows the first twelve months all-in and each year after, as ranges; the table says what each buys and what each supplier sees. Option 1, a second supplier at a third of volume: 62 thousand a year of premium plus a few thousand of quality overhead, plus 15 to 40 thousand of internal hours to reach production release - about 80 to 110 thousand in year one; a practiced second source, but strain with SNP at the wrong moment. Option 2, strengthen SNP only, no volume moved: a development fee to PCI, a few thousand to formalize SNP, 3 to 12 thousand a year - 13 to 32 thousand in year one; deeper partnership, but SNP failure still means months. Option 3, keep-alive: Option 2's partnership plus one or two five-drum batches a year from PCI, 7,900 dollars each gross, 6,200 of premium each - 31 to 70 thousand in year one at one batch, 39 to 78 at two, of which 13 to 26 thousand is cash to suppliers. Everything Option 2 buys plus production scale proven and a qualification that never goes stale; SNP sees one or two pre-announced twelve-day pauses, or none if we carry a small rolling stock. The economic advantage of Option 3: the 3.50 batch price has no volume string attached - nothing in the quote or any contract ties it to a yearly volume - so we can order a batch when we choose; we should get that in writing, and if PCI ever attaches a minimum, Option 3 collapses to Option 2. Internal hours already spent - about 15 thousand - are sunk and excluded everywhere. Option 3 at one batch a year is my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The instruments, in rising order of commitment: pay a development fee for the qualification work already done; sign a master agreement with price, spec and terms but no volume commitment, if PCI accepts one; place one production-scale order; a readiness fee, which is rare at our scale; and a planned re-check, because an idle supplier goes stale after about a year - the Production Part Approval Process rule of thumb is twelve months. Option 3 is the last two made routine.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quality-system 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Option 3 at one batch a year, with Option 2's partnership terms and the existing triggers. Decide now; place the first batch order once SNP has been told a continuity verification lot will run; go into the SNP conversation as a partner and settle the items on the previous slide; tell PCI the triggers candidly; a second batch a year if an SNP risk signal appears. Switch to Option 1 if Finance's estimate of the loss a second source would avoid clears about 620 thousand at a ten percent yearly risk or 1.24 million at five - counting full avoidance only with PCI's written ramp commitment - or if SNP shows a risk signal, or PCI's price falls toward a dollar fifty, or SNP declines the terms. Before the first order, confirm with PCI in writing: the 3.50 batch price carries no volume commitment and how long it holds; batch lead time; delivered and all-in with freeze-protected freight; a crisis ramp to about three batches a month in the same kettle; which resin producer they use; and a split-sample viscometer cross-check. Three asks: the strategy call before the SNP conversation, Option 3 recommended; Finance's avoided-loss number by a date, with Option 1 re-tested against it at the next quarterly review; and under Option 3 about 8 thousand cash per PCI batch, 5 to 10 thousand to formalize SNP, and 15 to 40 thousand of internal hours - 31 to 70 thousand all-in in the first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67,600 lb = 150 drums in every bar; SNP Inc. at $0.75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67,600 × $0.75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at $3.50 (2,250 / 4,500 / 6,750 lb): +$6.2k / +$12.4k / +$18.6k</a:t>
            </a:r>
          </a:p>
          <a:p>
            <a:pPr>
              <a:spcAft>
                <a:spcPts val="500"/>
              </a:spcAft>
            </a:pPr>
            <a:r>
              <a:rPr b="1" sz="1050">
                <a:solidFill>
                  <a:srgbClr val="1F3864"/>
                </a:solidFill>
                <a:latin typeface="Calibri"/>
              </a:rPr>
              <a:t>PCI $3.50  </a:t>
            </a:r>
            <a:r>
              <a:rPr sz="1000">
                <a:solidFill>
                  <a:srgbClr val="595959"/>
                </a:solidFill>
                <a:latin typeface="Calibri"/>
              </a:rPr>
              <a:t>— one-third = 22,500 lb (50 drums, 10 batches) × $3.50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 23,400 lb,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85 °C ceiling; ILC Dover also the wrong kind of company</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Demand confirmed: 1,300 lb/week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Eliminated. July review assumed $1.00–1.25/lb</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Viscosity root cause found</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Elevated solids from water loss. Spec locked: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control,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1–2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What 5-drum batches mean operationally</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987552"/>
            <a:ext cx="11064240" cy="365760"/>
          </a:xfrm>
          <a:prstGeom prst="rect">
            <a:avLst/>
          </a:prstGeom>
          <a:noFill/>
        </p:spPr>
        <p:txBody>
          <a:bodyPr wrap="square">
            <a:spAutoFit/>
          </a:bodyPr>
          <a:lstStyle/>
          <a:p>
            <a:pPr algn="l">
              <a:spcAft>
                <a:spcPts val="400"/>
              </a:spcAft>
            </a:pPr>
            <a:r>
              <a:rPr sz="1250" b="1" i="0">
                <a:solidFill>
                  <a:srgbClr val="1F3864"/>
                </a:solidFill>
                <a:latin typeface="Calibri"/>
              </a:rPr>
              <a:t>Block rotation at one-third: one 5-drum batch every ~5 weeks. The 18-day shelf life is counted from manufacture.</a:t>
            </a:r>
          </a:p>
        </p:txBody>
      </p:sp>
      <p:sp>
        <p:nvSpPr>
          <p:cNvPr id="6" name="TextBox 5"/>
          <p:cNvSpPr txBox="1"/>
          <p:nvPr/>
        </p:nvSpPr>
        <p:spPr>
          <a:xfrm>
            <a:off x="548640" y="13898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PCI batch clock</a:t>
            </a:r>
          </a:p>
        </p:txBody>
      </p:sp>
      <p:sp>
        <p:nvSpPr>
          <p:cNvPr id="7" name="Rectangle 6"/>
          <p:cNvSpPr/>
          <p:nvPr/>
        </p:nvSpPr>
        <p:spPr>
          <a:xfrm>
            <a:off x="2331720" y="1417320"/>
            <a:ext cx="1031240" cy="365760"/>
          </a:xfrm>
          <a:prstGeom prst="rect">
            <a:avLst/>
          </a:prstGeom>
          <a:solidFill>
            <a:srgbClr val="D6DCE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31720" y="1417320"/>
            <a:ext cx="1031240" cy="365760"/>
          </a:xfrm>
          <a:prstGeom prst="rect">
            <a:avLst/>
          </a:prstGeom>
          <a:noFill/>
        </p:spPr>
        <p:txBody>
          <a:bodyPr wrap="square" anchor="ctr">
            <a:spAutoFit/>
          </a:bodyPr>
          <a:lstStyle/>
          <a:p>
            <a:pPr algn="ctr">
              <a:spcAft>
                <a:spcPts val="0"/>
              </a:spcAft>
            </a:pPr>
            <a:r>
              <a:rPr sz="850" b="1" i="0">
                <a:solidFill>
                  <a:srgbClr val="1F3864"/>
                </a:solidFill>
                <a:latin typeface="Calibri"/>
              </a:rPr>
              <a:t>cook → ship ~4 d</a:t>
            </a:r>
          </a:p>
        </p:txBody>
      </p:sp>
      <p:sp>
        <p:nvSpPr>
          <p:cNvPr id="9" name="Rectangle 8"/>
          <p:cNvSpPr/>
          <p:nvPr/>
        </p:nvSpPr>
        <p:spPr>
          <a:xfrm>
            <a:off x="3362960" y="14173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2960" y="14173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12.1 days used at full rate</a:t>
            </a:r>
          </a:p>
        </p:txBody>
      </p:sp>
      <p:sp>
        <p:nvSpPr>
          <p:cNvPr id="11" name="Rectangle 10"/>
          <p:cNvSpPr/>
          <p:nvPr/>
        </p:nvSpPr>
        <p:spPr>
          <a:xfrm>
            <a:off x="6482461" y="1417320"/>
            <a:ext cx="489838" cy="365760"/>
          </a:xfrm>
          <a:prstGeom prst="rect">
            <a:avLst/>
          </a:prstGeom>
          <a:solidFill>
            <a:srgbClr val="FFF2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2461" y="1417320"/>
            <a:ext cx="489838" cy="365760"/>
          </a:xfrm>
          <a:prstGeom prst="rect">
            <a:avLst/>
          </a:prstGeom>
          <a:noFill/>
        </p:spPr>
        <p:txBody>
          <a:bodyPr wrap="square" anchor="ctr">
            <a:spAutoFit/>
          </a:bodyPr>
          <a:lstStyle/>
          <a:p>
            <a:pPr algn="ctr">
              <a:spcAft>
                <a:spcPts val="0"/>
              </a:spcAft>
            </a:pPr>
            <a:r>
              <a:rPr sz="850" b="1" i="0">
                <a:solidFill>
                  <a:srgbClr val="9C5A0C"/>
                </a:solidFill>
                <a:latin typeface="Calibri"/>
              </a:rPr>
              <a:t>slack ~2 d</a:t>
            </a:r>
          </a:p>
        </p:txBody>
      </p:sp>
      <p:sp>
        <p:nvSpPr>
          <p:cNvPr id="13" name="Rectangle 12"/>
          <p:cNvSpPr/>
          <p:nvPr/>
        </p:nvSpPr>
        <p:spPr>
          <a:xfrm>
            <a:off x="6972300" y="1417320"/>
            <a:ext cx="4640580" cy="365760"/>
          </a:xfrm>
          <a:prstGeom prst="rect">
            <a:avLst/>
          </a:prstGeom>
          <a:solidFill>
            <a:srgbClr val="F6F8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4" y="1371600"/>
            <a:ext cx="27432" cy="457200"/>
          </a:xfrm>
          <a:prstGeom prst="rect">
            <a:avLst/>
          </a:prstGeom>
          <a:solidFill>
            <a:srgbClr val="B2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9340" y="1810512"/>
            <a:ext cx="1645920" cy="228600"/>
          </a:xfrm>
          <a:prstGeom prst="rect">
            <a:avLst/>
          </a:prstGeom>
          <a:noFill/>
        </p:spPr>
        <p:txBody>
          <a:bodyPr wrap="square">
            <a:spAutoFit/>
          </a:bodyPr>
          <a:lstStyle/>
          <a:p>
            <a:pPr algn="ctr">
              <a:spcAft>
                <a:spcPts val="0"/>
              </a:spcAft>
            </a:pPr>
            <a:r>
              <a:rPr sz="850" b="1" i="0">
                <a:solidFill>
                  <a:srgbClr val="B23A2E"/>
                </a:solidFill>
                <a:latin typeface="Calibri"/>
              </a:rPr>
              <a:t>expiry — day 18</a:t>
            </a:r>
          </a:p>
        </p:txBody>
      </p:sp>
      <p:sp>
        <p:nvSpPr>
          <p:cNvPr id="16" name="TextBox 15"/>
          <p:cNvSpPr txBox="1"/>
          <p:nvPr/>
        </p:nvSpPr>
        <p:spPr>
          <a:xfrm>
            <a:off x="548640" y="2075688"/>
            <a:ext cx="1737360" cy="420624"/>
          </a:xfrm>
          <a:prstGeom prst="rect">
            <a:avLst/>
          </a:prstGeom>
          <a:noFill/>
        </p:spPr>
        <p:txBody>
          <a:bodyPr wrap="square" anchor="ctr">
            <a:spAutoFit/>
          </a:bodyPr>
          <a:lstStyle/>
          <a:p>
            <a:pPr algn="l">
              <a:spcAft>
                <a:spcPts val="0"/>
              </a:spcAft>
            </a:pPr>
            <a:r>
              <a:rPr sz="950" b="1" i="0">
                <a:solidFill>
                  <a:srgbClr val="1F3864"/>
                </a:solidFill>
                <a:latin typeface="Calibri"/>
              </a:rPr>
              <a:t>What the line runs on</a:t>
            </a:r>
          </a:p>
        </p:txBody>
      </p:sp>
      <p:sp>
        <p:nvSpPr>
          <p:cNvPr id="17" name="Rectangle 16"/>
          <p:cNvSpPr/>
          <p:nvPr/>
        </p:nvSpPr>
        <p:spPr>
          <a:xfrm>
            <a:off x="2331720" y="2103120"/>
            <a:ext cx="1031240"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331720" y="2103120"/>
            <a:ext cx="1031240"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a:t>
            </a:r>
          </a:p>
        </p:txBody>
      </p:sp>
      <p:sp>
        <p:nvSpPr>
          <p:cNvPr id="19" name="Rectangle 18"/>
          <p:cNvSpPr/>
          <p:nvPr/>
        </p:nvSpPr>
        <p:spPr>
          <a:xfrm>
            <a:off x="3362960" y="2103120"/>
            <a:ext cx="3119501" cy="365760"/>
          </a:xfrm>
          <a:prstGeom prst="rect">
            <a:avLst/>
          </a:prstGeom>
          <a:solidFill>
            <a:srgbClr val="1F3864"/>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62960" y="2103120"/>
            <a:ext cx="3119501" cy="365760"/>
          </a:xfrm>
          <a:prstGeom prst="rect">
            <a:avLst/>
          </a:prstGeom>
          <a:noFill/>
        </p:spPr>
        <p:txBody>
          <a:bodyPr wrap="square" anchor="ctr">
            <a:spAutoFit/>
          </a:bodyPr>
          <a:lstStyle/>
          <a:p>
            <a:pPr algn="ctr">
              <a:spcAft>
                <a:spcPts val="0"/>
              </a:spcAft>
            </a:pPr>
            <a:r>
              <a:rPr sz="850" b="1" i="0">
                <a:solidFill>
                  <a:srgbClr val="FFFFFF"/>
                </a:solidFill>
                <a:latin typeface="Calibri"/>
              </a:rPr>
              <a:t>PCI material — 5 drums</a:t>
            </a:r>
          </a:p>
        </p:txBody>
      </p:sp>
      <p:sp>
        <p:nvSpPr>
          <p:cNvPr id="21" name="Rectangle 20"/>
          <p:cNvSpPr/>
          <p:nvPr/>
        </p:nvSpPr>
        <p:spPr>
          <a:xfrm>
            <a:off x="6482461" y="2103120"/>
            <a:ext cx="5130419" cy="365760"/>
          </a:xfrm>
          <a:prstGeom prst="rect">
            <a:avLst/>
          </a:prstGeom>
          <a:solidFill>
            <a:srgbClr val="2E7D4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82461" y="2103120"/>
            <a:ext cx="5130419" cy="365760"/>
          </a:xfrm>
          <a:prstGeom prst="rect">
            <a:avLst/>
          </a:prstGeom>
          <a:noFill/>
        </p:spPr>
        <p:txBody>
          <a:bodyPr wrap="square" anchor="ctr">
            <a:spAutoFit/>
          </a:bodyPr>
          <a:lstStyle/>
          <a:p>
            <a:pPr algn="ctr">
              <a:spcAft>
                <a:spcPts val="0"/>
              </a:spcAft>
            </a:pPr>
            <a:r>
              <a:rPr sz="850" b="1" i="0">
                <a:solidFill>
                  <a:srgbClr val="FFFFFF"/>
                </a:solidFill>
                <a:latin typeface="Calibri"/>
              </a:rPr>
              <a:t>SNP Inc. material — ~10 drums  →  repeat every ~5 weeks</a:t>
            </a:r>
          </a:p>
        </p:txBody>
      </p:sp>
      <p:sp>
        <p:nvSpPr>
          <p:cNvPr id="23" name="TextBox 22"/>
          <p:cNvSpPr txBox="1"/>
          <p:nvPr/>
        </p:nvSpPr>
        <p:spPr>
          <a:xfrm>
            <a:off x="196596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0</a:t>
            </a:r>
          </a:p>
        </p:txBody>
      </p:sp>
      <p:sp>
        <p:nvSpPr>
          <p:cNvPr id="24" name="TextBox 23"/>
          <p:cNvSpPr txBox="1"/>
          <p:nvPr/>
        </p:nvSpPr>
        <p:spPr>
          <a:xfrm>
            <a:off x="2997200"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4</a:t>
            </a:r>
          </a:p>
        </p:txBody>
      </p:sp>
      <p:sp>
        <p:nvSpPr>
          <p:cNvPr id="25" name="TextBox 24"/>
          <p:cNvSpPr txBox="1"/>
          <p:nvPr/>
        </p:nvSpPr>
        <p:spPr>
          <a:xfrm>
            <a:off x="60909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16</a:t>
            </a:r>
          </a:p>
        </p:txBody>
      </p:sp>
      <p:sp>
        <p:nvSpPr>
          <p:cNvPr id="26" name="TextBox 25"/>
          <p:cNvSpPr txBox="1"/>
          <p:nvPr/>
        </p:nvSpPr>
        <p:spPr>
          <a:xfrm>
            <a:off x="11247119" y="2487168"/>
            <a:ext cx="731520" cy="201168"/>
          </a:xfrm>
          <a:prstGeom prst="rect">
            <a:avLst/>
          </a:prstGeom>
          <a:noFill/>
        </p:spPr>
        <p:txBody>
          <a:bodyPr wrap="square">
            <a:spAutoFit/>
          </a:bodyPr>
          <a:lstStyle/>
          <a:p>
            <a:pPr algn="ctr">
              <a:spcAft>
                <a:spcPts val="0"/>
              </a:spcAft>
            </a:pPr>
            <a:r>
              <a:rPr sz="800" b="0" i="0">
                <a:solidFill>
                  <a:srgbClr val="595959"/>
                </a:solidFill>
                <a:latin typeface="Calibri"/>
              </a:rPr>
              <a:t>day 36</a:t>
            </a:r>
          </a:p>
        </p:txBody>
      </p:sp>
      <p:sp>
        <p:nvSpPr>
          <p:cNvPr id="27" name="TextBox 26"/>
          <p:cNvSpPr txBox="1"/>
          <p:nvPr/>
        </p:nvSpPr>
        <p:spPr>
          <a:xfrm>
            <a:off x="548640" y="2743200"/>
            <a:ext cx="11064240" cy="457200"/>
          </a:xfrm>
          <a:prstGeom prst="rect">
            <a:avLst/>
          </a:prstGeom>
          <a:noFill/>
        </p:spPr>
        <p:txBody>
          <a:bodyPr wrap="square">
            <a:spAutoFit/>
          </a:bodyPr>
          <a:lstStyle/>
          <a:p>
            <a:pPr algn="l">
              <a:spcAft>
                <a:spcPts val="400"/>
              </a:spcAft>
            </a:pPr>
            <a:r>
              <a:rPr sz="1050" b="1" i="0">
                <a:solidFill>
                  <a:srgbClr val="1F3864"/>
                </a:solidFill>
                <a:latin typeface="Calibri"/>
              </a:rPr>
              <a:t>Why not blend PCI at one-third alongside SNP Inc.? A batch would last 36 days — twice the life. Even at two-thirds: 18.2 days. A validated 21-day life gives block rotation margin; a 30-day life still needs PCI at ~half of rate.</a:t>
            </a:r>
          </a:p>
        </p:txBody>
      </p:sp>
      <p:sp>
        <p:nvSpPr>
          <p:cNvPr id="28" name="Rectangle 27"/>
          <p:cNvSpPr/>
          <p:nvPr/>
        </p:nvSpPr>
        <p:spPr>
          <a:xfrm>
            <a:off x="548640" y="3291840"/>
            <a:ext cx="3611880" cy="25603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410712"/>
            <a:ext cx="3246120" cy="2322576"/>
          </a:xfrm>
          <a:prstGeom prst="rect">
            <a:avLst/>
          </a:prstGeom>
          <a:noFill/>
        </p:spPr>
        <p:txBody>
          <a:bodyPr wrap="square">
            <a:spAutoFit/>
          </a:bodyPr>
          <a:lstStyle/>
          <a:p>
            <a:pPr algn="l">
              <a:spcAft>
                <a:spcPts val="600"/>
              </a:spcAft>
            </a:pPr>
            <a:r>
              <a:rPr sz="1350" b="1" i="0">
                <a:solidFill>
                  <a:srgbClr val="B23A2E"/>
                </a:solidFill>
                <a:latin typeface="Calibri"/>
              </a:rPr>
              <a:t>What SNP Inc. experiences</a:t>
            </a:r>
          </a:p>
          <a:p>
            <a:pPr algn="l">
              <a:spcAft>
                <a:spcPts val="500"/>
              </a:spcAft>
            </a:pPr>
            <a:r>
              <a:rPr sz="1000" b="0" i="0">
                <a:solidFill>
                  <a:srgbClr val="595959"/>
                </a:solidFill>
                <a:latin typeface="Calibri"/>
              </a:rPr>
              <a:t>•  A third less volume ($50.7k → $33.8k/yr)</a:t>
            </a:r>
          </a:p>
          <a:p>
            <a:pPr algn="l">
              <a:spcAft>
                <a:spcPts val="500"/>
              </a:spcAft>
            </a:pPr>
            <a:r>
              <a:rPr sz="1000" b="0" i="0">
                <a:solidFill>
                  <a:srgbClr val="595959"/>
                </a:solidFill>
                <a:latin typeface="Calibri"/>
              </a:rPr>
              <a:t>•  Cadence is a choice: a ~12-day pause every ~5 weeks — or a steady ~2 drums/week if we hold ~3 drums of rolling stock (strict first-in-first-out)</a:t>
            </a:r>
          </a:p>
          <a:p>
            <a:pPr algn="l">
              <a:spcAft>
                <a:spcPts val="500"/>
              </a:spcAft>
            </a:pPr>
            <a:r>
              <a:rPr sz="1000" b="0" i="0">
                <a:solidFill>
                  <a:srgbClr val="595959"/>
                </a:solidFill>
                <a:latin typeface="Calibri"/>
              </a:rPr>
              <a:t>•  They read the signal, not the dollars: a third of their core line moved right after we asked for partnership</a:t>
            </a:r>
          </a:p>
        </p:txBody>
      </p:sp>
      <p:sp>
        <p:nvSpPr>
          <p:cNvPr id="30" name="Rectangle 29"/>
          <p:cNvSpPr/>
          <p:nvPr/>
        </p:nvSpPr>
        <p:spPr>
          <a:xfrm>
            <a:off x="4297680" y="3291840"/>
            <a:ext cx="3611880" cy="25603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3410712"/>
            <a:ext cx="3246120" cy="2322576"/>
          </a:xfrm>
          <a:prstGeom prst="rect">
            <a:avLst/>
          </a:prstGeom>
          <a:noFill/>
        </p:spPr>
        <p:txBody>
          <a:bodyPr wrap="square">
            <a:spAutoFit/>
          </a:bodyPr>
          <a:lstStyle/>
          <a:p>
            <a:pPr algn="l">
              <a:spcAft>
                <a:spcPts val="600"/>
              </a:spcAft>
            </a:pPr>
            <a:r>
              <a:rPr sz="1350" b="1" i="0">
                <a:solidFill>
                  <a:srgbClr val="9C5A0C"/>
                </a:solidFill>
                <a:latin typeface="Calibri"/>
              </a:rPr>
              <a:t>What we would run</a:t>
            </a:r>
          </a:p>
          <a:p>
            <a:pPr algn="l">
              <a:spcAft>
                <a:spcPts val="500"/>
              </a:spcAft>
            </a:pPr>
            <a:r>
              <a:rPr sz="1000" b="0" i="0">
                <a:solidFill>
                  <a:srgbClr val="595959"/>
                </a:solidFill>
                <a:latin typeface="Calibri"/>
              </a:rPr>
              <a:t>•  One spec, one viscometer method; incoming test on every lot; traceability by source</a:t>
            </a:r>
          </a:p>
          <a:p>
            <a:pPr algn="l">
              <a:spcAft>
                <a:spcPts val="500"/>
              </a:spcAft>
            </a:pPr>
            <a:r>
              <a:rPr sz="1000" b="0" i="0">
                <a:solidFill>
                  <a:srgbClr val="595959"/>
                </a:solidFill>
                <a:latin typeface="Calibri"/>
              </a:rPr>
              <a:t>•  Freeze-protected freight; five drums on site; strict first-in-first-out</a:t>
            </a:r>
          </a:p>
          <a:p>
            <a:pPr algn="l">
              <a:spcAft>
                <a:spcPts val="500"/>
              </a:spcAft>
            </a:pPr>
            <a:r>
              <a:rPr sz="1000" b="0" i="0">
                <a:solidFill>
                  <a:srgbClr val="595959"/>
                </a:solidFill>
                <a:latin typeface="Calibri"/>
              </a:rPr>
              <a:t>•  Failover in writing: SNP Inc. lead time + a standing cover order — a rejected PCI lot is line-down for that lead time</a:t>
            </a:r>
          </a:p>
          <a:p>
            <a:pPr algn="l">
              <a:spcAft>
                <a:spcPts val="500"/>
              </a:spcAft>
            </a:pPr>
            <a:r>
              <a:rPr sz="1000" b="0" i="0">
                <a:solidFill>
                  <a:srgbClr val="595959"/>
                </a:solidFill>
                <a:latin typeface="Calibri"/>
              </a:rPr>
              <a:t>•  PCI's residual-film issue closed before any production batch; two Supplier Quality Agreements (SQA)</a:t>
            </a:r>
          </a:p>
        </p:txBody>
      </p:sp>
      <p:sp>
        <p:nvSpPr>
          <p:cNvPr id="32" name="Rectangle 31"/>
          <p:cNvSpPr/>
          <p:nvPr/>
        </p:nvSpPr>
        <p:spPr>
          <a:xfrm>
            <a:off x="8046720" y="3291840"/>
            <a:ext cx="3566160" cy="25603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0" y="3410712"/>
            <a:ext cx="3200400" cy="2322576"/>
          </a:xfrm>
          <a:prstGeom prst="rect">
            <a:avLst/>
          </a:prstGeom>
          <a:noFill/>
        </p:spPr>
        <p:txBody>
          <a:bodyPr wrap="square">
            <a:spAutoFit/>
          </a:bodyPr>
          <a:lstStyle/>
          <a:p>
            <a:pPr algn="l">
              <a:spcAft>
                <a:spcPts val="600"/>
              </a:spcAft>
            </a:pPr>
            <a:r>
              <a:rPr sz="1350" b="1" i="0">
                <a:solidFill>
                  <a:srgbClr val="2E7D46"/>
                </a:solidFill>
                <a:latin typeface="Calibri"/>
              </a:rPr>
              <a:t>What it buys</a:t>
            </a:r>
          </a:p>
          <a:p>
            <a:pPr algn="l">
              <a:spcAft>
                <a:spcPts val="500"/>
              </a:spcAft>
            </a:pPr>
            <a:r>
              <a:rPr sz="1000" b="0" i="0">
                <a:solidFill>
                  <a:srgbClr val="595959"/>
                </a:solidFill>
                <a:latin typeface="Calibri"/>
              </a:rPr>
              <a:t>•  Recovery in weeks — only if PCI confirms in writing a ramp to ~3 batches a month</a:t>
            </a:r>
          </a:p>
          <a:p>
            <a:pPr algn="l">
              <a:spcAft>
                <a:spcPts val="500"/>
              </a:spcAft>
            </a:pPr>
            <a:r>
              <a:rPr sz="1000" b="0" i="0">
                <a:solidFill>
                  <a:srgbClr val="595959"/>
                </a:solidFill>
                <a:latin typeface="Calibri"/>
              </a:rPr>
              <a:t>•  Until then, ~2/3 of volume still stops in an outage</a:t>
            </a:r>
          </a:p>
          <a:p>
            <a:pPr algn="l">
              <a:spcAft>
                <a:spcPts val="500"/>
              </a:spcAft>
            </a:pPr>
            <a:r>
              <a:rPr sz="1000" b="0" i="0">
                <a:solidFill>
                  <a:srgbClr val="595959"/>
                </a:solidFill>
                <a:latin typeface="Calibri"/>
              </a:rPr>
              <a:t>•  If PCI cooks the same producer's resin as SNP: it hedges the cook, not the resin — buffer dry resin either way</a:t>
            </a:r>
          </a:p>
        </p:txBody>
      </p:sp>
      <p:sp>
        <p:nvSpPr>
          <p:cNvPr id="34" name="Rectangle 3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Two suppliers is workable as a permanent discipline; SNP Inc.'s cadence can stay level if we carry a few drums of margin — the shelf-life study decides.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pic>
        <p:nvPicPr>
          <p:cNvPr id="5" name="Picture 4" descr="chart_options_year1.png"/>
          <p:cNvPicPr>
            <a:picLocks noChangeAspect="1"/>
          </p:cNvPicPr>
          <p:nvPr/>
        </p:nvPicPr>
        <p:blipFill>
          <a:blip r:embed="rId2"/>
          <a:stretch>
            <a:fillRect/>
          </a:stretch>
        </p:blipFill>
        <p:spPr>
          <a:xfrm>
            <a:off x="548640" y="987552"/>
            <a:ext cx="11064240" cy="1844040"/>
          </a:xfrm>
          <a:prstGeom prst="rect">
            <a:avLst/>
          </a:prstGeom>
        </p:spPr>
      </p:pic>
      <p:graphicFrame>
        <p:nvGraphicFramePr>
          <p:cNvPr id="6" name="Table 5"/>
          <p:cNvGraphicFramePr>
            <a:graphicFrameLocks noGrp="1"/>
          </p:cNvGraphicFramePr>
          <p:nvPr/>
        </p:nvGraphicFramePr>
        <p:xfrm>
          <a:off x="548640" y="2834640"/>
          <a:ext cx="11064240" cy="3017520"/>
        </p:xfrm>
        <a:graphic>
          <a:graphicData uri="http://schemas.openxmlformats.org/drawingml/2006/table">
            <a:tbl>
              <a:tblPr firstRow="1" bandRow="1">
                <a:tableStyleId>{5C22544A-7EE6-4342-B048-85BDC9FD1C3A}</a:tableStyleId>
              </a:tblPr>
              <a:tblGrid>
                <a:gridCol w="1234440"/>
                <a:gridCol w="3063240"/>
                <a:gridCol w="3246120"/>
                <a:gridCol w="3520440"/>
              </a:tblGrid>
              <a:tr h="377190">
                <a:tc>
                  <a:txBody>
                    <a:bodyPr/>
                    <a:lstStyle/>
                    <a:p>
                      <a:pPr algn="l"/>
                      <a:r>
                        <a:rPr sz="900" b="1">
                          <a:solidFill>
                            <a:srgbClr val="FFFFFF"/>
                          </a:solidFill>
                          <a:latin typeface="Calibri"/>
                        </a:rPr>
                        <a:t/>
                      </a:r>
                    </a:p>
                  </a:txBody>
                  <a:tcPr>
                    <a:solidFill>
                      <a:srgbClr val="1F3864"/>
                    </a:solidFill>
                  </a:tcPr>
                </a:tc>
                <a:tc>
                  <a:txBody>
                    <a:bodyPr/>
                    <a:lstStyle/>
                    <a:p>
                      <a:pPr algn="ctr"/>
                      <a:r>
                        <a:rPr sz="900" b="1">
                          <a:solidFill>
                            <a:srgbClr val="FFFFFF"/>
                          </a:solidFill>
                          <a:latin typeface="Calibri"/>
                        </a:rPr>
                        <a:t>Option 1 · Second supplier at one-third</a:t>
                      </a:r>
                    </a:p>
                  </a:txBody>
                  <a:tcPr>
                    <a:solidFill>
                      <a:srgbClr val="1F3864"/>
                    </a:solidFill>
                  </a:tcPr>
                </a:tc>
                <a:tc>
                  <a:txBody>
                    <a:bodyPr/>
                    <a:lstStyle/>
                    <a:p>
                      <a:pPr algn="ctr"/>
                      <a:r>
                        <a:rPr sz="900" b="1">
                          <a:solidFill>
                            <a:srgbClr val="FFFFFF"/>
                          </a:solidFill>
                          <a:latin typeface="Calibri"/>
                        </a:rPr>
                        <a:t>Option 2 · Strengthen SNP Inc. only — no volume moved</a:t>
                      </a:r>
                    </a:p>
                  </a:txBody>
                  <a:tcPr>
                    <a:solidFill>
                      <a:srgbClr val="1F3864"/>
                    </a:solidFill>
                  </a:tcPr>
                </a:tc>
                <a:tc>
                  <a:txBody>
                    <a:bodyPr/>
                    <a:lstStyle/>
                    <a:p>
                      <a:pPr algn="l"/>
                      <a:r>
                        <a:rPr sz="900" b="1">
                          <a:solidFill>
                            <a:srgbClr val="FFFFFF"/>
                          </a:solidFill>
                          <a:latin typeface="Calibri"/>
                        </a:rPr>
                        <a:t>Option 3 · Keep-alive: 1–2 batches of 5 drums a year</a:t>
                      </a:r>
                    </a:p>
                  </a:txBody>
                  <a:tcPr>
                    <a:solidFill>
                      <a:srgbClr val="1F3864"/>
                    </a:solidFill>
                  </a:tcPr>
                </a:tc>
              </a:tr>
              <a:tr h="377190">
                <a:tc>
                  <a:txBody>
                    <a:bodyPr/>
                    <a:lstStyle/>
                    <a:p>
                      <a:pPr algn="l"/>
                      <a:r>
                        <a:rPr sz="900" b="1">
                          <a:solidFill>
                            <a:srgbClr val="1F3864"/>
                          </a:solidFill>
                          <a:latin typeface="Calibri"/>
                        </a:rPr>
                        <a:t>What it is</a:t>
                      </a:r>
                    </a:p>
                  </a:txBody>
                  <a:tcPr>
                    <a:solidFill>
                      <a:srgbClr val="FFFFFF"/>
                    </a:solidFill>
                  </a:tcPr>
                </a:tc>
                <a:tc>
                  <a:txBody>
                    <a:bodyPr/>
                    <a:lstStyle/>
                    <a:p>
                      <a:pPr algn="ctr"/>
                      <a:r>
                        <a:rPr sz="900">
                          <a:solidFill>
                            <a:srgbClr val="1F3864"/>
                          </a:solidFill>
                          <a:latin typeface="Calibri"/>
                        </a:rPr>
                        <a:t>10 PCI batches/yr; SNP Inc. keeps ~2/3</a:t>
                      </a:r>
                    </a:p>
                  </a:txBody>
                  <a:tcPr>
                    <a:solidFill>
                      <a:srgbClr val="FCE4D6"/>
                    </a:solidFill>
                  </a:tcPr>
                </a:tc>
                <a:tc>
                  <a:txBody>
                    <a:bodyPr/>
                    <a:lstStyle/>
                    <a:p>
                      <a:pPr algn="ctr"/>
                      <a:r>
                        <a:rPr sz="900">
                          <a:solidFill>
                            <a:srgbClr val="1F3864"/>
                          </a:solidFill>
                          <a:latin typeface="Calibri"/>
                        </a:rPr>
                        <a:t>SNP Inc. sole source with partnership terms; PCI a quoted option; pay a development fee</a:t>
                      </a:r>
                    </a:p>
                  </a:txBody>
                  <a:tcPr>
                    <a:solidFill>
                      <a:srgbClr val="E2EFDA"/>
                    </a:solidFill>
                  </a:tcPr>
                </a:tc>
                <a:tc>
                  <a:txBody>
                    <a:bodyPr/>
                    <a:lstStyle/>
                    <a:p>
                      <a:pPr algn="l"/>
                      <a:r>
                        <a:rPr sz="900">
                          <a:solidFill>
                            <a:srgbClr val="1F3864"/>
                          </a:solidFill>
                          <a:latin typeface="Calibri"/>
                        </a:rPr>
                        <a:t>Option 2, plus 1–2 PCI batches a year — the minimum that keeps a qualified supplier alive</a:t>
                      </a:r>
                    </a:p>
                  </a:txBody>
                  <a:tcPr>
                    <a:solidFill>
                      <a:srgbClr val="FFF2CC"/>
                    </a:solidFill>
                  </a:tcPr>
                </a:tc>
              </a:tr>
              <a:tr h="377190">
                <a:tc>
                  <a:txBody>
                    <a:bodyPr/>
                    <a:lstStyle/>
                    <a:p>
                      <a:pPr algn="l"/>
                      <a:r>
                        <a:rPr sz="900" b="1">
                          <a:solidFill>
                            <a:srgbClr val="1F3864"/>
                          </a:solidFill>
                          <a:latin typeface="Calibri"/>
                        </a:rPr>
                        <a:t>Recurring</a:t>
                      </a:r>
                    </a:p>
                  </a:txBody>
                  <a:tcPr>
                    <a:solidFill>
                      <a:srgbClr val="FFFFFF"/>
                    </a:solidFill>
                  </a:tcPr>
                </a:tc>
                <a:tc>
                  <a:txBody>
                    <a:bodyPr/>
                    <a:lstStyle/>
                    <a:p>
                      <a:pPr algn="ctr"/>
                      <a:r>
                        <a:rPr sz="900">
                          <a:solidFill>
                            <a:srgbClr val="1F3864"/>
                          </a:solidFill>
                          <a:latin typeface="Calibri"/>
                        </a:rPr>
                        <a:t>+$62k/yr premium + ~$3–8k quality overhead (~$378k / 5 yrs)</a:t>
                      </a:r>
                    </a:p>
                  </a:txBody>
                  <a:tcPr>
                    <a:solidFill>
                      <a:srgbClr val="FCE4D6"/>
                    </a:solidFill>
                  </a:tcPr>
                </a:tc>
                <a:tc>
                  <a:txBody>
                    <a:bodyPr/>
                    <a:lstStyle/>
                    <a:p>
                      <a:pPr algn="ctr"/>
                      <a:r>
                        <a:rPr sz="900">
                          <a:solidFill>
                            <a:srgbClr val="1F3864"/>
                          </a:solidFill>
                          <a:latin typeface="Calibri"/>
                        </a:rPr>
                        <a:t>~$3–12k/yr</a:t>
                      </a:r>
                    </a:p>
                  </a:txBody>
                  <a:tcPr>
                    <a:solidFill>
                      <a:srgbClr val="E2EFDA"/>
                    </a:solidFill>
                  </a:tcPr>
                </a:tc>
                <a:tc>
                  <a:txBody>
                    <a:bodyPr/>
                    <a:lstStyle/>
                    <a:p>
                      <a:pPr algn="l"/>
                      <a:r>
                        <a:rPr sz="900">
                          <a:solidFill>
                            <a:srgbClr val="1F3864"/>
                          </a:solidFill>
                          <a:latin typeface="Calibri"/>
                        </a:rPr>
                        <a:t>+$6.2k/yr per batch ($7.9k gross) + Option 2's ~$3–12k</a:t>
                      </a:r>
                    </a:p>
                  </a:txBody>
                  <a:tcPr>
                    <a:solidFill>
                      <a:srgbClr val="FFF2CC"/>
                    </a:solidFill>
                  </a:tcPr>
                </a:tc>
              </a:tr>
              <a:tr h="377190">
                <a:tc>
                  <a:txBody>
                    <a:bodyPr/>
                    <a:lstStyle/>
                    <a:p>
                      <a:pPr algn="l"/>
                      <a:r>
                        <a:rPr sz="900" b="1">
                          <a:solidFill>
                            <a:srgbClr val="1F3864"/>
                          </a:solidFill>
                          <a:latin typeface="Calibri"/>
                        </a:rPr>
                        <a:t>One-time</a:t>
                      </a:r>
                    </a:p>
                  </a:txBody>
                  <a:tcPr>
                    <a:solidFill>
                      <a:srgbClr val="FFFFFF"/>
                    </a:solidFill>
                  </a:tcPr>
                </a:tc>
                <a:tc>
                  <a:txBody>
                    <a:bodyPr/>
                    <a:lstStyle/>
                    <a:p>
                      <a:pPr algn="ctr"/>
                      <a:r>
                        <a:rPr sz="900">
                          <a:solidFill>
                            <a:srgbClr val="1F3864"/>
                          </a:solidFill>
                          <a:latin typeface="Calibri"/>
                        </a:rPr>
                        <a:t>~$15–40k internal hours to production release</a:t>
                      </a:r>
                    </a:p>
                  </a:txBody>
                  <a:tcPr>
                    <a:solidFill>
                      <a:srgbClr val="FCE4D6"/>
                    </a:solidFill>
                  </a:tcPr>
                </a:tc>
                <a:tc>
                  <a:txBody>
                    <a:bodyPr/>
                    <a:lstStyle/>
                    <a:p>
                      <a:pPr algn="ctr"/>
                      <a:r>
                        <a:rPr sz="900">
                          <a:solidFill>
                            <a:srgbClr val="1F3864"/>
                          </a:solidFill>
                          <a:latin typeface="Calibri"/>
                        </a:rPr>
                        <a:t>~$5–10k PCI fee + ~$5–10k SNP terms</a:t>
                      </a:r>
                    </a:p>
                  </a:txBody>
                  <a:tcPr>
                    <a:solidFill>
                      <a:srgbClr val="E2EFDA"/>
                    </a:solidFill>
                  </a:tcPr>
                </a:tc>
                <a:tc>
                  <a:txBody>
                    <a:bodyPr/>
                    <a:lstStyle/>
                    <a:p>
                      <a:pPr algn="l"/>
                      <a:r>
                        <a:rPr sz="900">
                          <a:solidFill>
                            <a:srgbClr val="1F3864"/>
                          </a:solidFill>
                          <a:latin typeface="Calibri"/>
                        </a:rPr>
                        <a:t>~$15–40k internal hours + ~$5–10k SNP terms (the batches are PCI's payment)</a:t>
                      </a:r>
                    </a:p>
                  </a:txBody>
                  <a:tcPr>
                    <a:solidFill>
                      <a:srgbClr val="FFF2CC"/>
                    </a:solidFill>
                  </a:tcPr>
                </a:tc>
              </a:tr>
              <a:tr h="377190">
                <a:tc>
                  <a:txBody>
                    <a:bodyPr/>
                    <a:lstStyle/>
                    <a:p>
                      <a:pPr algn="l"/>
                      <a:r>
                        <a:rPr sz="900" b="1">
                          <a:solidFill>
                            <a:srgbClr val="1F3864"/>
                          </a:solidFill>
                          <a:latin typeface="Calibri"/>
                        </a:rPr>
                        <a:t>What it buys</a:t>
                      </a:r>
                    </a:p>
                  </a:txBody>
                  <a:tcPr>
                    <a:solidFill>
                      <a:srgbClr val="FFFFFF"/>
                    </a:solidFill>
                  </a:tcPr>
                </a:tc>
                <a:tc>
                  <a:txBody>
                    <a:bodyPr/>
                    <a:lstStyle/>
                    <a:p>
                      <a:pPr algn="ctr"/>
                      <a:r>
                        <a:rPr sz="900">
                          <a:solidFill>
                            <a:srgbClr val="1F3864"/>
                          </a:solidFill>
                          <a:latin typeface="Calibri"/>
                        </a:rPr>
                        <a:t>A practiced second source; weeks to recover if the ramp is confirmed</a:t>
                      </a:r>
                    </a:p>
                  </a:txBody>
                  <a:tcPr>
                    <a:solidFill>
                      <a:srgbClr val="FCE4D6"/>
                    </a:solidFill>
                  </a:tcPr>
                </a:tc>
                <a:tc>
                  <a:txBody>
                    <a:bodyPr/>
                    <a:lstStyle/>
                    <a:p>
                      <a:pPr algn="ctr"/>
                      <a:r>
                        <a:rPr sz="900">
                          <a:solidFill>
                            <a:srgbClr val="1F3864"/>
                          </a:solidFill>
                          <a:latin typeface="Calibri"/>
                        </a:rPr>
                        <a:t>Deeper partnership; cold start ~3–6 months (decays after ~12 idle)</a:t>
                      </a:r>
                    </a:p>
                  </a:txBody>
                  <a:tcPr>
                    <a:solidFill>
                      <a:srgbClr val="E2EFDA"/>
                    </a:solidFill>
                  </a:tcPr>
                </a:tc>
                <a:tc>
                  <a:txBody>
                    <a:bodyPr/>
                    <a:lstStyle/>
                    <a:p>
                      <a:pPr algn="l"/>
                      <a:r>
                        <a:rPr sz="900">
                          <a:solidFill>
                            <a:srgbClr val="1F3864"/>
                          </a:solidFill>
                          <a:latin typeface="Calibri"/>
                        </a:rPr>
                        <a:t>Option 2 + production scale proven, a qualification that never goes stale, and a batch price with no volume string attached; restart weeks to months</a:t>
                      </a:r>
                    </a:p>
                  </a:txBody>
                  <a:tcPr>
                    <a:solidFill>
                      <a:srgbClr val="FFF2CC"/>
                    </a:solidFill>
                  </a:tcPr>
                </a:tc>
              </a:tr>
              <a:tr h="377190">
                <a:tc>
                  <a:txBody>
                    <a:bodyPr/>
                    <a:lstStyle/>
                    <a:p>
                      <a:pPr algn="l"/>
                      <a:r>
                        <a:rPr sz="900" b="1">
                          <a:solidFill>
                            <a:srgbClr val="1F3864"/>
                          </a:solidFill>
                          <a:latin typeface="Calibri"/>
                        </a:rPr>
                        <a:t>SNP Inc. sees</a:t>
                      </a:r>
                    </a:p>
                  </a:txBody>
                  <a:tcPr>
                    <a:solidFill>
                      <a:srgbClr val="FFFFFF"/>
                    </a:solidFill>
                  </a:tcPr>
                </a:tc>
                <a:tc>
                  <a:txBody>
                    <a:bodyPr/>
                    <a:lstStyle/>
                    <a:p>
                      <a:pPr algn="ctr"/>
                      <a:r>
                        <a:rPr sz="900">
                          <a:solidFill>
                            <a:srgbClr val="1F3864"/>
                          </a:solidFill>
                          <a:latin typeface="Calibri"/>
                        </a:rPr>
                        <a:t>A third less volume; strain at the wrong moment</a:t>
                      </a:r>
                    </a:p>
                  </a:txBody>
                  <a:tcPr>
                    <a:solidFill>
                      <a:srgbClr val="FCE4D6"/>
                    </a:solidFill>
                  </a:tcPr>
                </a:tc>
                <a:tc>
                  <a:txBody>
                    <a:bodyPr/>
                    <a:lstStyle/>
                    <a:p>
                      <a:pPr algn="ctr"/>
                      <a:r>
                        <a:rPr sz="900">
                          <a:solidFill>
                            <a:srgbClr val="1F3864"/>
                          </a:solidFill>
                          <a:latin typeface="Calibri"/>
                        </a:rPr>
                        <a:t>A strengthened partner</a:t>
                      </a:r>
                    </a:p>
                  </a:txBody>
                  <a:tcPr>
                    <a:solidFill>
                      <a:srgbClr val="E2EFDA"/>
                    </a:solidFill>
                  </a:tcPr>
                </a:tc>
                <a:tc>
                  <a:txBody>
                    <a:bodyPr/>
                    <a:lstStyle/>
                    <a:p>
                      <a:pPr algn="l"/>
                      <a:r>
                        <a:rPr sz="900">
                          <a:solidFill>
                            <a:srgbClr val="1F3864"/>
                          </a:solidFill>
                          <a:latin typeface="Calibri"/>
                        </a:rPr>
                        <a:t>1–2 pre-announced 12-day pauses a year (3–7%) — or none, with a rolling stock</a:t>
                      </a:r>
                    </a:p>
                  </a:txBody>
                  <a:tcPr>
                    <a:solidFill>
                      <a:srgbClr val="FFF2CC"/>
                    </a:solidFill>
                  </a:tcPr>
                </a:tc>
              </a:tr>
              <a:tr h="377190">
                <a:tc>
                  <a:txBody>
                    <a:bodyPr/>
                    <a:lstStyle/>
                    <a:p>
                      <a:pPr algn="l"/>
                      <a:r>
                        <a:rPr sz="900" b="1">
                          <a:solidFill>
                            <a:srgbClr val="1F3864"/>
                          </a:solidFill>
                          <a:latin typeface="Calibri"/>
                        </a:rPr>
                        <a:t>PCI sees</a:t>
                      </a:r>
                    </a:p>
                  </a:txBody>
                  <a:tcPr>
                    <a:solidFill>
                      <a:srgbClr val="FFFFFF"/>
                    </a:solidFill>
                  </a:tcPr>
                </a:tc>
                <a:tc>
                  <a:txBody>
                    <a:bodyPr/>
                    <a:lstStyle/>
                    <a:p>
                      <a:pPr algn="ctr"/>
                      <a:r>
                        <a:rPr sz="900">
                          <a:solidFill>
                            <a:srgbClr val="1F3864"/>
                          </a:solidFill>
                          <a:latin typeface="Calibri"/>
                        </a:rPr>
                        <a:t>A customer</a:t>
                      </a:r>
                    </a:p>
                  </a:txBody>
                  <a:tcPr>
                    <a:solidFill>
                      <a:srgbClr val="FCE4D6"/>
                    </a:solidFill>
                  </a:tcPr>
                </a:tc>
                <a:tc>
                  <a:txBody>
                    <a:bodyPr/>
                    <a:lstStyle/>
                    <a:p>
                      <a:pPr algn="ctr"/>
                      <a:r>
                        <a:rPr sz="900">
                          <a:solidFill>
                            <a:srgbClr val="1F3864"/>
                          </a:solidFill>
                          <a:latin typeface="Calibri"/>
                        </a:rPr>
                        <a:t>Goodwill at risk unless settled candidly</a:t>
                      </a:r>
                    </a:p>
                  </a:txBody>
                  <a:tcPr>
                    <a:solidFill>
                      <a:srgbClr val="E2EFDA"/>
                    </a:solidFill>
                  </a:tcPr>
                </a:tc>
                <a:tc>
                  <a:txBody>
                    <a:bodyPr/>
                    <a:lstStyle/>
                    <a:p>
                      <a:pPr algn="l"/>
                      <a:r>
                        <a:rPr sz="900">
                          <a:solidFill>
                            <a:srgbClr val="1F3864"/>
                          </a:solidFill>
                          <a:latin typeface="Calibri"/>
                        </a:rPr>
                        <a:t>A customer — small, but real, every year</a:t>
                      </a:r>
                    </a:p>
                  </a:txBody>
                  <a:tcPr>
                    <a:solidFill>
                      <a:srgbClr val="FFF2CC"/>
                    </a:solidFill>
                  </a:tcPr>
                </a:tc>
              </a:tr>
              <a:tr h="377190">
                <a:tc>
                  <a:txBody>
                    <a:bodyPr/>
                    <a:lstStyle/>
                    <a:p>
                      <a:pPr algn="l"/>
                      <a:r>
                        <a:rPr sz="900" b="1">
                          <a:solidFill>
                            <a:srgbClr val="1F3864"/>
                          </a:solidFill>
                          <a:latin typeface="Calibri"/>
                        </a:rPr>
                        <a:t>Residual risk</a:t>
                      </a:r>
                    </a:p>
                  </a:txBody>
                  <a:tcPr>
                    <a:solidFill>
                      <a:srgbClr val="FFFFFF"/>
                    </a:solidFill>
                  </a:tcPr>
                </a:tc>
                <a:tc>
                  <a:txBody>
                    <a:bodyPr/>
                    <a:lstStyle/>
                    <a:p>
                      <a:pPr algn="ctr"/>
                      <a:r>
                        <a:rPr sz="900">
                          <a:solidFill>
                            <a:srgbClr val="1F3864"/>
                          </a:solidFill>
                          <a:latin typeface="Calibri"/>
                        </a:rPr>
                        <a:t>~2/3 exposed until ramp; SNP re-price; two-stream quality load</a:t>
                      </a:r>
                    </a:p>
                  </a:txBody>
                  <a:tcPr>
                    <a:solidFill>
                      <a:srgbClr val="FCE4D6"/>
                    </a:solidFill>
                  </a:tcPr>
                </a:tc>
                <a:tc>
                  <a:txBody>
                    <a:bodyPr/>
                    <a:lstStyle/>
                    <a:p>
                      <a:pPr algn="ctr"/>
                      <a:r>
                        <a:rPr sz="900">
                          <a:solidFill>
                            <a:srgbClr val="1F3864"/>
                          </a:solidFill>
                          <a:latin typeface="Calibri"/>
                        </a:rPr>
                        <a:t>SNP failure = months</a:t>
                      </a:r>
                    </a:p>
                  </a:txBody>
                  <a:tcPr>
                    <a:solidFill>
                      <a:srgbClr val="E2EFDA"/>
                    </a:solidFill>
                  </a:tcPr>
                </a:tc>
                <a:tc>
                  <a:txBody>
                    <a:bodyPr/>
                    <a:lstStyle/>
                    <a:p>
                      <a:pPr algn="l"/>
                      <a:r>
                        <a:rPr sz="900">
                          <a:solidFill>
                            <a:srgbClr val="1F3864"/>
                          </a:solidFill>
                          <a:latin typeface="Calibri"/>
                        </a:rPr>
                        <a:t>No volume term on the $3.50 price so far — get it in writing; ~93–97% exposed until PCI ramps</a:t>
                      </a:r>
                    </a:p>
                  </a:txBody>
                  <a:tcPr>
                    <a:solidFill>
                      <a:srgbClr val="FFF2CC"/>
                    </a:solidFill>
                  </a:tcPr>
                </a:tc>
              </a:tr>
            </a:tbl>
          </a:graphicData>
        </a:graphic>
      </p:graphicFrame>
      <p:sp>
        <p:nvSpPr>
          <p:cNvPr id="7" name="Rectangle 6"/>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~$8–16k a year gross — with one or two pre-announced 12-day pauses for SNP Inc., or none with a small rolling stock.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how it is done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502920"/>
          </a:xfrm>
          <a:prstGeom prst="rect">
            <a:avLst/>
          </a:prstGeom>
          <a:noFill/>
        </p:spPr>
        <p:txBody>
          <a:bodyPr wrap="square">
            <a:spAutoFit/>
          </a:bodyPr>
          <a:lstStyle/>
          <a:p>
            <a:pPr algn="l">
              <a:spcAft>
                <a:spcPts val="400"/>
              </a:spcAft>
            </a:pPr>
            <a:r>
              <a:rPr sz="1200" b="1" i="0">
                <a:solidFill>
                  <a:srgbClr val="1F3864"/>
                </a:solidFill>
                <a:latin typeface="Calibri"/>
              </a:rPr>
              <a:t>Routine in medical devices, pharma and aerospace. What spoils the relationship is not the 'no' — it is silence and unpaid work. Five instruments, rising commitment; Option 3 is instruments 3 and 5 made routine.</a:t>
            </a:r>
          </a:p>
        </p:txBody>
      </p:sp>
      <p:graphicFrame>
        <p:nvGraphicFramePr>
          <p:cNvPr id="6" name="Table 5"/>
          <p:cNvGraphicFramePr>
            <a:graphicFrameLocks noGrp="1"/>
          </p:cNvGraphicFramePr>
          <p:nvPr/>
        </p:nvGraphicFramePr>
        <p:xfrm>
          <a:off x="548640" y="1600200"/>
          <a:ext cx="11064240" cy="3246120"/>
        </p:xfrm>
        <a:graphic>
          <a:graphicData uri="http://schemas.openxmlformats.org/drawingml/2006/table">
            <a:tbl>
              <a:tblPr firstRow="1" bandRow="1">
                <a:tableStyleId>{5C22544A-7EE6-4342-B048-85BDC9FD1C3A}</a:tableStyleId>
              </a:tblPr>
              <a:tblGrid>
                <a:gridCol w="2651760"/>
                <a:gridCol w="3657600"/>
                <a:gridCol w="2011680"/>
                <a:gridCol w="2743200"/>
              </a:tblGrid>
              <a:tr h="541020">
                <a:tc>
                  <a:txBody>
                    <a:bodyPr/>
                    <a:lstStyle/>
                    <a:p>
                      <a:pPr algn="l"/>
                      <a:r>
                        <a:rPr sz="960" b="1">
                          <a:solidFill>
                            <a:srgbClr val="FFFFFF"/>
                          </a:solidFill>
                          <a:latin typeface="Calibri"/>
                        </a:rPr>
                        <a:t>Instrument</a:t>
                      </a:r>
                    </a:p>
                  </a:txBody>
                  <a:tcPr>
                    <a:solidFill>
                      <a:srgbClr val="1F3864"/>
                    </a:solidFill>
                  </a:tcPr>
                </a:tc>
                <a:tc>
                  <a:txBody>
                    <a:bodyPr/>
                    <a:lstStyle/>
                    <a:p>
                      <a:pPr algn="ctr"/>
                      <a:r>
                        <a:rPr sz="960" b="1">
                          <a:solidFill>
                            <a:srgbClr val="FFFFFF"/>
                          </a:solidFill>
                          <a:latin typeface="Calibri"/>
                        </a:rPr>
                        <a:t>What it is</a:t>
                      </a:r>
                    </a:p>
                  </a:txBody>
                  <a:tcPr>
                    <a:solidFill>
                      <a:srgbClr val="1F3864"/>
                    </a:solidFill>
                  </a:tcPr>
                </a:tc>
                <a:tc>
                  <a:txBody>
                    <a:bodyPr/>
                    <a:lstStyle/>
                    <a:p>
                      <a:pPr algn="ctr"/>
                      <a:r>
                        <a:rPr sz="960" b="1">
                          <a:solidFill>
                            <a:srgbClr val="FFFFFF"/>
                          </a:solidFill>
                          <a:latin typeface="Calibri"/>
                        </a:rPr>
                        <a:t>Cost here</a:t>
                      </a:r>
                    </a:p>
                  </a:txBody>
                  <a:tcPr>
                    <a:solidFill>
                      <a:srgbClr val="1F3864"/>
                    </a:solidFill>
                  </a:tcPr>
                </a:tc>
                <a:tc>
                  <a:txBody>
                    <a:bodyPr/>
                    <a:lstStyle/>
                    <a:p>
                      <a:pPr algn="l"/>
                      <a:r>
                        <a:rPr sz="960" b="1">
                          <a:solidFill>
                            <a:srgbClr val="FFFFFF"/>
                          </a:solidFill>
                          <a:latin typeface="Calibri"/>
                        </a:rPr>
                        <a:t>What it does for the relationship</a:t>
                      </a:r>
                    </a:p>
                  </a:txBody>
                  <a:tcPr>
                    <a:solidFill>
                      <a:srgbClr val="1F3864"/>
                    </a:solidFill>
                  </a:tcPr>
                </a:tc>
              </a:tr>
              <a:tr h="541020">
                <a:tc>
                  <a:txBody>
                    <a:bodyPr/>
                    <a:lstStyle/>
                    <a:p>
                      <a:pPr algn="l"/>
                      <a:r>
                        <a:rPr sz="960" b="1">
                          <a:solidFill>
                            <a:srgbClr val="1F3864"/>
                          </a:solidFill>
                          <a:latin typeface="Calibri"/>
                        </a:rPr>
                        <a:t>1 · Pay for the qualification (NRE — non-recurring engineering)</a:t>
                      </a:r>
                    </a:p>
                  </a:txBody>
                  <a:tcPr>
                    <a:solidFill>
                      <a:srgbClr val="FFFFFF"/>
                    </a:solidFill>
                  </a:tcPr>
                </a:tc>
                <a:tc>
                  <a:txBody>
                    <a:bodyPr/>
                    <a:lstStyle/>
                    <a:p>
                      <a:pPr algn="ctr"/>
                      <a:r>
                        <a:rPr sz="960">
                          <a:solidFill>
                            <a:srgbClr val="1F3864"/>
                          </a:solidFill>
                          <a:latin typeface="Calibri"/>
                        </a:rPr>
                        <a:t>Fund the lots, testing and documentation already done</a:t>
                      </a:r>
                    </a:p>
                  </a:txBody>
                  <a:tcPr>
                    <a:solidFill>
                      <a:srgbClr val="FFFFFF"/>
                    </a:solidFill>
                  </a:tcPr>
                </a:tc>
                <a:tc>
                  <a:txBody>
                    <a:bodyPr/>
                    <a:lstStyle/>
                    <a:p>
                      <a:pPr algn="ctr"/>
                      <a:r>
                        <a:rPr sz="960">
                          <a:solidFill>
                            <a:srgbClr val="1F3864"/>
                          </a:solidFill>
                          <a:latin typeface="Calibri"/>
                        </a:rPr>
                        <a:t>Development fee, ~$5–10k placeholder — PCI to invoice</a:t>
                      </a:r>
                    </a:p>
                  </a:txBody>
                  <a:tcPr>
                    <a:solidFill>
                      <a:srgbClr val="FFFFFF"/>
                    </a:solidFill>
                  </a:tcPr>
                </a:tc>
                <a:tc>
                  <a:txBody>
                    <a:bodyPr/>
                    <a:lstStyle/>
                    <a:p>
                      <a:pPr algn="l"/>
                      <a:r>
                        <a:rPr sz="960">
                          <a:solidFill>
                            <a:srgbClr val="1F3864"/>
                          </a:solidFill>
                          <a:latin typeface="Calibri"/>
                        </a:rPr>
                        <a:t>Free experiments become a paid engagement; an approved-source file</a:t>
                      </a:r>
                    </a:p>
                  </a:txBody>
                  <a:tcPr>
                    <a:solidFill>
                      <a:srgbClr val="FFFFFF"/>
                    </a:solidFill>
                  </a:tcPr>
                </a:tc>
              </a:tr>
              <a:tr h="541020">
                <a:tc>
                  <a:txBody>
                    <a:bodyPr/>
                    <a:lstStyle/>
                    <a:p>
                      <a:pPr algn="l"/>
                      <a:r>
                        <a:rPr sz="960" b="1">
                          <a:solidFill>
                            <a:srgbClr val="1F3864"/>
                          </a:solidFill>
                          <a:latin typeface="Calibri"/>
                        </a:rPr>
                        <a:t>2 · Master agreement, no volume commitment</a:t>
                      </a:r>
                    </a:p>
                  </a:txBody>
                  <a:tcPr>
                    <a:solidFill>
                      <a:srgbClr val="FFFFFF"/>
                    </a:solidFill>
                  </a:tcPr>
                </a:tc>
                <a:tc>
                  <a:txBody>
                    <a:bodyPr/>
                    <a:lstStyle/>
                    <a:p>
                      <a:pPr algn="ctr"/>
                      <a:r>
                        <a:rPr sz="960">
                          <a:solidFill>
                            <a:srgbClr val="1F3864"/>
                          </a:solidFill>
                          <a:latin typeface="Calibri"/>
                        </a:rPr>
                        <a:t>Price ($3.50, resin-indexed), spec, lead time, quality and change terms; 12–24 months; zero minimum — if PCI accepts</a:t>
                      </a:r>
                    </a:p>
                  </a:txBody>
                  <a:tcPr>
                    <a:solidFill>
                      <a:srgbClr val="FFFFFF"/>
                    </a:solidFill>
                  </a:tcPr>
                </a:tc>
                <a:tc>
                  <a:txBody>
                    <a:bodyPr/>
                    <a:lstStyle/>
                    <a:p>
                      <a:pPr algn="ctr"/>
                      <a:r>
                        <a:rPr sz="960">
                          <a:solidFill>
                            <a:srgbClr val="1F3864"/>
                          </a:solidFill>
                          <a:latin typeface="Calibri"/>
                        </a:rPr>
                        <a:t>Legal time</a:t>
                      </a:r>
                    </a:p>
                  </a:txBody>
                  <a:tcPr>
                    <a:solidFill>
                      <a:srgbClr val="FFFFFF"/>
                    </a:solidFill>
                  </a:tcPr>
                </a:tc>
                <a:tc>
                  <a:txBody>
                    <a:bodyPr/>
                    <a:lstStyle/>
                    <a:p>
                      <a:pPr algn="l"/>
                      <a:r>
                        <a:rPr sz="960">
                          <a:solidFill>
                            <a:srgbClr val="1F3864"/>
                          </a:solidFill>
                          <a:latin typeface="Calibri"/>
                        </a:rPr>
                        <a:t>Formal approved-second-source status; a callable option at a known price</a:t>
                      </a:r>
                    </a:p>
                  </a:txBody>
                  <a:tcPr>
                    <a:solidFill>
                      <a:srgbClr val="FFFFFF"/>
                    </a:solidFill>
                  </a:tcPr>
                </a:tc>
              </a:tr>
              <a:tr h="541020">
                <a:tc>
                  <a:txBody>
                    <a:bodyPr/>
                    <a:lstStyle/>
                    <a:p>
                      <a:pPr algn="l"/>
                      <a:r>
                        <a:rPr sz="960" b="1">
                          <a:solidFill>
                            <a:srgbClr val="1F3864"/>
                          </a:solidFill>
                          <a:latin typeface="Calibri"/>
                        </a:rPr>
                        <a:t>3 · One production-scale order (Option 3, step one)</a:t>
                      </a:r>
                    </a:p>
                  </a:txBody>
                  <a:tcPr>
                    <a:solidFill>
                      <a:srgbClr val="FFFFFF"/>
                    </a:solidFill>
                  </a:tcPr>
                </a:tc>
                <a:tc>
                  <a:txBody>
                    <a:bodyPr/>
                    <a:lstStyle/>
                    <a:p>
                      <a:pPr algn="ctr"/>
                      <a:r>
                        <a:rPr sz="960">
                          <a:solidFill>
                            <a:srgbClr val="1F3864"/>
                          </a:solidFill>
                          <a:latin typeface="Calibri"/>
                        </a:rPr>
                        <a:t>One paid 5-drum batch: proves production scale, completes the file; ramp stays a written commitment to obtain</a:t>
                      </a:r>
                    </a:p>
                  </a:txBody>
                  <a:tcPr>
                    <a:solidFill>
                      <a:srgbClr val="E2EFDA"/>
                    </a:solidFill>
                  </a:tcPr>
                </a:tc>
                <a:tc>
                  <a:txBody>
                    <a:bodyPr/>
                    <a:lstStyle/>
                    <a:p>
                      <a:pPr algn="ctr"/>
                      <a:r>
                        <a:rPr sz="960">
                          <a:solidFill>
                            <a:srgbClr val="1F3864"/>
                          </a:solidFill>
                          <a:latin typeface="Calibri"/>
                        </a:rPr>
                        <a:t>$7.9k gross (~$6.2k over SNP)</a:t>
                      </a:r>
                    </a:p>
                  </a:txBody>
                  <a:tcPr>
                    <a:solidFill>
                      <a:srgbClr val="E2EFDA"/>
                    </a:solidFill>
                  </a:tcPr>
                </a:tc>
                <a:tc>
                  <a:txBody>
                    <a:bodyPr/>
                    <a:lstStyle/>
                    <a:p>
                      <a:pPr algn="l"/>
                      <a:r>
                        <a:rPr sz="960">
                          <a:solidFill>
                            <a:srgbClr val="1F3864"/>
                          </a:solidFill>
                          <a:latin typeface="Calibri"/>
                        </a:rPr>
                        <a:t>Strongest form — they have shipped to us</a:t>
                      </a:r>
                    </a:p>
                  </a:txBody>
                  <a:tcPr>
                    <a:solidFill>
                      <a:srgbClr val="E2EFDA"/>
                    </a:solidFill>
                  </a:tcPr>
                </a:tc>
              </a:tr>
              <a:tr h="541020">
                <a:tc>
                  <a:txBody>
                    <a:bodyPr/>
                    <a:lstStyle/>
                    <a:p>
                      <a:pPr algn="l"/>
                      <a:r>
                        <a:rPr sz="960" b="1">
                          <a:solidFill>
                            <a:srgbClr val="1F3864"/>
                          </a:solidFill>
                          <a:latin typeface="Calibri"/>
                        </a:rPr>
                        <a:t>4 · Readiness / capacity-reservation fee</a:t>
                      </a:r>
                    </a:p>
                  </a:txBody>
                  <a:tcPr>
                    <a:solidFill>
                      <a:srgbClr val="FFFFFF"/>
                    </a:solidFill>
                  </a:tcPr>
                </a:tc>
                <a:tc>
                  <a:txBody>
                    <a:bodyPr/>
                    <a:lstStyle/>
                    <a:p>
                      <a:pPr algn="ctr"/>
                      <a:r>
                        <a:rPr sz="960">
                          <a:solidFill>
                            <a:srgbClr val="1F3864"/>
                          </a:solidFill>
                          <a:latin typeface="Calibri"/>
                        </a:rPr>
                        <a:t>A fee for the right to call volume at a set price with a committed ramp (pharma: ~20% of batch value; multi-million minimums)</a:t>
                      </a:r>
                    </a:p>
                  </a:txBody>
                  <a:tcPr>
                    <a:solidFill>
                      <a:srgbClr val="FFFFFF"/>
                    </a:solidFill>
                  </a:tcPr>
                </a:tc>
                <a:tc>
                  <a:txBody>
                    <a:bodyPr/>
                    <a:lstStyle/>
                    <a:p>
                      <a:pPr algn="ctr"/>
                      <a:r>
                        <a:rPr sz="960">
                          <a:solidFill>
                            <a:srgbClr val="1F3864"/>
                          </a:solidFill>
                          <a:latin typeface="Calibri"/>
                        </a:rPr>
                        <a:t>Token retainer at most</a:t>
                      </a:r>
                    </a:p>
                  </a:txBody>
                  <a:tcPr>
                    <a:solidFill>
                      <a:srgbClr val="FFFFFF"/>
                    </a:solidFill>
                  </a:tcPr>
                </a:tc>
                <a:tc>
                  <a:txBody>
                    <a:bodyPr/>
                    <a:lstStyle/>
                    <a:p>
                      <a:pPr algn="l"/>
                      <a:r>
                        <a:rPr sz="960">
                          <a:solidFill>
                            <a:srgbClr val="1F3864"/>
                          </a:solidFill>
                          <a:latin typeface="Calibri"/>
                        </a:rPr>
                        <a:t>Rarely worth it at our scale</a:t>
                      </a:r>
                    </a:p>
                  </a:txBody>
                  <a:tcPr>
                    <a:solidFill>
                      <a:srgbClr val="FFFFFF"/>
                    </a:solidFill>
                  </a:tcPr>
                </a:tc>
              </a:tr>
              <a:tr h="541020">
                <a:tc>
                  <a:txBody>
                    <a:bodyPr/>
                    <a:lstStyle/>
                    <a:p>
                      <a:pPr algn="l"/>
                      <a:r>
                        <a:rPr sz="960" b="1">
                          <a:solidFill>
                            <a:srgbClr val="1F3864"/>
                          </a:solidFill>
                          <a:latin typeface="Calibri"/>
                        </a:rPr>
                        <a:t>5 · Planned re-check (Option 3's cadence)</a:t>
                      </a:r>
                    </a:p>
                  </a:txBody>
                  <a:tcPr>
                    <a:solidFill>
                      <a:srgbClr val="FFFFFF"/>
                    </a:solidFill>
                  </a:tcPr>
                </a:tc>
                <a:tc>
                  <a:txBody>
                    <a:bodyPr/>
                    <a:lstStyle/>
                    <a:p>
                      <a:pPr algn="ctr"/>
                      <a:r>
                        <a:rPr sz="960">
                          <a:solidFill>
                            <a:srgbClr val="1F3864"/>
                          </a:solidFill>
                          <a:latin typeface="Calibri"/>
                        </a:rPr>
                        <a:t>Idle suppliers go stale: Production Part Approval Process (PPAP) re-approval after 12 months idle; ~18 months = 'new supplier'; ISO 13485 §7.4.1</a:t>
                      </a:r>
                    </a:p>
                  </a:txBody>
                  <a:tcPr>
                    <a:solidFill>
                      <a:srgbClr val="E2EFDA"/>
                    </a:solidFill>
                  </a:tcPr>
                </a:tc>
                <a:tc>
                  <a:txBody>
                    <a:bodyPr/>
                    <a:lstStyle/>
                    <a:p>
                      <a:pPr algn="ctr"/>
                      <a:r>
                        <a:rPr sz="960">
                          <a:solidFill>
                            <a:srgbClr val="1F3864"/>
                          </a:solidFill>
                          <a:latin typeface="Calibri"/>
                        </a:rPr>
                        <a:t>1–2 batches/yr ≈ $7.9–15.8k gross — if PCI accepts</a:t>
                      </a:r>
                    </a:p>
                  </a:txBody>
                  <a:tcPr>
                    <a:solidFill>
                      <a:srgbClr val="E2EFDA"/>
                    </a:solidFill>
                  </a:tcPr>
                </a:tc>
                <a:tc>
                  <a:txBody>
                    <a:bodyPr/>
                    <a:lstStyle/>
                    <a:p>
                      <a:pPr algn="l"/>
                      <a:r>
                        <a:rPr sz="960">
                          <a:solidFill>
                            <a:srgbClr val="1F3864"/>
                          </a:solidFill>
                          <a:latin typeface="Calibri"/>
                        </a:rPr>
                        <a:t>Keeps the option honest and the supplier practiced</a:t>
                      </a:r>
                    </a:p>
                  </a:txBody>
                  <a:tcPr>
                    <a:solidFill>
                      <a:srgbClr val="E2EFDA"/>
                    </a:solidFill>
                  </a:tcPr>
                </a:tc>
              </a:tr>
            </a:tbl>
          </a:graphicData>
        </a:graphic>
      </p:graphicFrame>
      <p:sp>
        <p:nvSpPr>
          <p:cNvPr id="7" name="Rectangle 6"/>
          <p:cNvSpPr/>
          <p:nvPr/>
        </p:nvSpPr>
        <p:spPr>
          <a:xfrm>
            <a:off x="548640" y="5029200"/>
            <a:ext cx="11064240"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148072"/>
            <a:ext cx="10698480" cy="63093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1050" b="0" i="0">
                <a:solidFill>
                  <a:srgbClr val="595959"/>
                </a:solidFill>
                <a:latin typeface="Calibri"/>
              </a:rPr>
              <a:t>•  Tell PCI the volume reality and the exact triggers · pay promptly · share the test results · a quarterly touchpoint · a reference. Suppliers allocate goodwill on trust, long-term orientation and growth prospects — not on current volume (Pulles, Schiele et al. 2016).</a:t>
            </a:r>
          </a:p>
        </p:txBody>
      </p:sp>
      <p:sp>
        <p:nvSpPr>
          <p:cNvPr id="9" name="Rectangle 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Barely using a qualified supplier is normal. Pay for the work, sign the terms, state the triggers, order a batch or two a year — and the door stays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quality-system 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continuity file (ISO 13485 clause 7.4 / GHTF N17)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Recommendation &amp; asks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6 · DECISION</a:t>
            </a:r>
          </a:p>
        </p:txBody>
      </p:sp>
      <p:sp>
        <p:nvSpPr>
          <p:cNvPr id="5" name="Rectangle 4"/>
          <p:cNvSpPr/>
          <p:nvPr/>
        </p:nvSpPr>
        <p:spPr>
          <a:xfrm>
            <a:off x="548640" y="1097280"/>
            <a:ext cx="5440680" cy="28803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16152"/>
            <a:ext cx="5074920" cy="2642615"/>
          </a:xfrm>
          <a:prstGeom prst="rect">
            <a:avLst/>
          </a:prstGeom>
          <a:noFill/>
        </p:spPr>
        <p:txBody>
          <a:bodyPr wrap="square">
            <a:spAutoFit/>
          </a:bodyPr>
          <a:lstStyle/>
          <a:p>
            <a:pPr algn="l">
              <a:spcAft>
                <a:spcPts val="600"/>
              </a:spcAft>
            </a:pPr>
            <a:r>
              <a:rPr sz="1350" b="1" i="0">
                <a:solidFill>
                  <a:srgbClr val="2E7D46"/>
                </a:solidFill>
                <a:latin typeface="Calibri"/>
              </a:rPr>
              <a:t>Recommendation: Option 3 at one batch a year, with Option 2's partnership terms</a:t>
            </a:r>
          </a:p>
          <a:p>
            <a:pPr algn="l">
              <a:spcAft>
                <a:spcPts val="500"/>
              </a:spcAft>
            </a:pPr>
            <a:r>
              <a:rPr sz="1100" b="0" i="0">
                <a:solidFill>
                  <a:srgbClr val="595959"/>
                </a:solidFill>
                <a:latin typeface="Calibri"/>
              </a:rPr>
              <a:t>•  Decide now; order the first 5-drum batch from PCI Manufacturing ($7.9k) once SNP Inc. has been told a continuity verification lot will run</a:t>
            </a:r>
          </a:p>
          <a:p>
            <a:pPr algn="l">
              <a:spcAft>
                <a:spcPts val="500"/>
              </a:spcAft>
            </a:pPr>
            <a:r>
              <a:rPr sz="1100" b="0" i="0">
                <a:solidFill>
                  <a:srgbClr val="595959"/>
                </a:solidFill>
                <a:latin typeface="Calibri"/>
              </a:rPr>
              <a:t>•  Go into the SNP Inc. conversation as a partner: continuity terms, forecast, resin consignment, capacity headroom, succession, shelf-life study</a:t>
            </a:r>
          </a:p>
          <a:p>
            <a:pPr algn="l">
              <a:spcAft>
                <a:spcPts val="500"/>
              </a:spcAft>
            </a:pPr>
            <a:r>
              <a:rPr sz="1100" b="0" i="0">
                <a:solidFill>
                  <a:srgbClr val="595959"/>
                </a:solidFill>
                <a:latin typeface="Calibri"/>
              </a:rPr>
              <a:t>•  Tell PCI the triggers candidly; one batch a year keeps the qualification current — two if an SNP Inc. risk signal appears</a:t>
            </a:r>
          </a:p>
        </p:txBody>
      </p:sp>
      <p:sp>
        <p:nvSpPr>
          <p:cNvPr id="7" name="Rectangle 6"/>
          <p:cNvSpPr/>
          <p:nvPr/>
        </p:nvSpPr>
        <p:spPr>
          <a:xfrm>
            <a:off x="6172200" y="1097280"/>
            <a:ext cx="5440680" cy="28803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16152"/>
            <a:ext cx="5074920" cy="2642615"/>
          </a:xfrm>
          <a:prstGeom prst="rect">
            <a:avLst/>
          </a:prstGeom>
          <a:noFill/>
        </p:spPr>
        <p:txBody>
          <a:bodyPr wrap="square">
            <a:spAutoFit/>
          </a:bodyPr>
          <a:lstStyle/>
          <a:p>
            <a:pPr algn="l">
              <a:spcAft>
                <a:spcPts val="600"/>
              </a:spcAft>
            </a:pPr>
            <a:r>
              <a:rPr sz="1350" b="1" i="0">
                <a:solidFill>
                  <a:srgbClr val="9C5A0C"/>
                </a:solidFill>
                <a:latin typeface="Calibri"/>
              </a:rPr>
              <a:t>Go to Option 1 (one-third, 10 batches/yr) if any trigger fires</a:t>
            </a:r>
          </a:p>
          <a:p>
            <a:pPr algn="l">
              <a:spcAft>
                <a:spcPts val="500"/>
              </a:spcAft>
            </a:pPr>
            <a:r>
              <a:rPr sz="1050" b="0" i="0">
                <a:solidFill>
                  <a:srgbClr val="595959"/>
                </a:solidFill>
                <a:latin typeface="Calibri"/>
              </a:rPr>
              <a:t>•  Finance's estimate of the loss a second source would AVOID in a 6-month SNP Inc. outage exceeds ~$620k (10%/yr risk) or ~$1.24M (5%) — full avoidance only with PCI's written ramp; at ~1/3 coverage the bar is ~$1.9M / ~$3.7M</a:t>
            </a:r>
          </a:p>
          <a:p>
            <a:pPr algn="l">
              <a:spcAft>
                <a:spcPts val="500"/>
              </a:spcAft>
            </a:pPr>
            <a:r>
              <a:rPr sz="1050" b="0" i="0">
                <a:solidFill>
                  <a:srgbClr val="595959"/>
                </a:solidFill>
                <a:latin typeface="Calibri"/>
              </a:rPr>
              <a:t>•  An SNP Inc. risk signal: capacity short of Year-5 volume, succession or financial stress, a missed lot, an unexplained price move</a:t>
            </a:r>
          </a:p>
          <a:p>
            <a:pPr algn="l">
              <a:spcAft>
                <a:spcPts val="500"/>
              </a:spcAft>
            </a:pPr>
            <a:r>
              <a:rPr sz="1050" b="0" i="0">
                <a:solidFill>
                  <a:srgbClr val="595959"/>
                </a:solidFill>
                <a:latin typeface="Calibri"/>
              </a:rPr>
              <a:t>•  PCI's price falls toward ~$1.50/lb (premium ≈ $17k/yr), a new hydrogel line makes PVA strategic, or SNP Inc. declines the terms</a:t>
            </a:r>
          </a:p>
        </p:txBody>
      </p:sp>
      <p:sp>
        <p:nvSpPr>
          <p:cNvPr id="9" name="Rectangle 8"/>
          <p:cNvSpPr/>
          <p:nvPr/>
        </p:nvSpPr>
        <p:spPr>
          <a:xfrm>
            <a:off x="548640" y="4114800"/>
            <a:ext cx="11064240" cy="173736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187952"/>
            <a:ext cx="10698480" cy="1627632"/>
          </a:xfrm>
          <a:prstGeom prst="rect">
            <a:avLst/>
          </a:prstGeom>
          <a:noFill/>
        </p:spPr>
        <p:txBody>
          <a:bodyPr wrap="square">
            <a:spAutoFit/>
          </a:bodyPr>
          <a:lstStyle/>
          <a:p>
            <a:pPr algn="l">
              <a:spcAft>
                <a:spcPts val="400"/>
              </a:spcAft>
            </a:pPr>
            <a:r>
              <a:rPr sz="1300" b="1" i="0">
                <a:solidFill>
                  <a:srgbClr val="1F3864"/>
                </a:solidFill>
                <a:latin typeface="Calibri"/>
              </a:rPr>
              <a:t>What we need from leadership</a:t>
            </a:r>
          </a:p>
          <a:p>
            <a:pPr algn="l">
              <a:spcAft>
                <a:spcPts val="400"/>
              </a:spcAft>
            </a:pPr>
            <a:r>
              <a:rPr sz="1100" b="0" i="0">
                <a:solidFill>
                  <a:srgbClr val="595959"/>
                </a:solidFill>
                <a:latin typeface="Calibri"/>
              </a:rPr>
              <a:t>1.  The strategy call — Option 1, 2 or 3 — before our next conversation with SNP Inc.; Option 3 recommended as the reversible step</a:t>
            </a:r>
          </a:p>
          <a:p>
            <a:pPr algn="l">
              <a:spcAft>
                <a:spcPts val="400"/>
              </a:spcAft>
            </a:pPr>
            <a:r>
              <a:rPr sz="1100" b="0" i="0">
                <a:solidFill>
                  <a:srgbClr val="595959"/>
                </a:solidFill>
                <a:latin typeface="Calibri"/>
              </a:rPr>
              <a:t>2.  Finance, by [date]: the loss a second source would avoid in a 6-month PVA outage, per hydrogel stock-keeping unit (SKU) — revenue, contribution margin, deferrable vs lost (fallback: more or less than $1M? $3M?)</a:t>
            </a:r>
          </a:p>
          <a:p>
            <a:pPr algn="l">
              <a:spcAft>
                <a:spcPts val="400"/>
              </a:spcAft>
            </a:pPr>
            <a:r>
              <a:rPr sz="1100" b="0" i="0">
                <a:solidFill>
                  <a:srgbClr val="595959"/>
                </a:solidFill>
                <a:latin typeface="Calibri"/>
              </a:rPr>
              <a:t>3.  Under Option 3: ~$8k cash per PCI batch (one now, up to two a year), ~$5–10k to formalize SNP Inc., ~$15–40k of internal hours to finish qualification — first 12 months ≈ $31–70k all-in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Keep the supplier alive for ~$8k a batch, strengthen the source we depend on, and commit ~$62k/yr only when the evidence says so.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1,300 lb/wk = 67,600 lb ≈ 150 drums/yr;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3.3–6.7%; +$6.2–12.4k/yr</a:t>
                      </a:r>
                    </a:p>
                  </a:txBody>
                  <a:tcPr>
                    <a:solidFill>
                      <a:srgbClr val="FFFFFF"/>
                    </a:solidFill>
                  </a:tcPr>
                </a:tc>
                <a:tc>
                  <a:txBody>
                    <a:bodyPr/>
                    <a:lstStyle/>
                    <a:p>
                      <a:pPr algn="ctr"/>
                      <a:r>
                        <a:rPr sz="800">
                          <a:solidFill>
                            <a:srgbClr val="1F3864"/>
                          </a:solidFill>
                          <a:latin typeface="Calibri"/>
                        </a:rPr>
                        <a:t>$7.9k gross per batch</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QMSR / ISO 13485 §7.4 / GHTF N17: controls proportionate to risk — no second source required.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85 °C ceiling</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could not hold temperature</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reserve</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QMSR  </a:t>
            </a:r>
            <a:r>
              <a:rPr sz="900">
                <a:solidFill>
                  <a:srgbClr val="595959"/>
                </a:solidFill>
                <a:latin typeface="Calibri"/>
              </a:rPr>
              <a:t>— FDA Quality Management System Regulation</a:t>
            </a:r>
          </a:p>
          <a:p>
            <a:pPr>
              <a:spcAft>
                <a:spcPts val="100"/>
              </a:spcAft>
            </a:pPr>
            <a:r>
              <a:rPr b="1" sz="900">
                <a:solidFill>
                  <a:srgbClr val="1F3864"/>
                </a:solidFill>
                <a:latin typeface="Calibri"/>
              </a:rPr>
              <a:t>ISO  </a:t>
            </a:r>
            <a:r>
              <a:rPr sz="900">
                <a:solidFill>
                  <a:srgbClr val="595959"/>
                </a:solidFill>
                <a:latin typeface="Calibri"/>
              </a:rPr>
              <a:t>— International Organization for Standardization</a:t>
            </a:r>
          </a:p>
          <a:p>
            <a:pPr>
              <a:spcAft>
                <a:spcPts val="100"/>
              </a:spcAft>
            </a:pPr>
            <a:r>
              <a:rPr b="1" sz="900">
                <a:solidFill>
                  <a:srgbClr val="1F3864"/>
                </a:solidFill>
                <a:latin typeface="Calibri"/>
              </a:rPr>
              <a:t>GHTF  </a:t>
            </a:r>
            <a:r>
              <a:rPr sz="900">
                <a:solidFill>
                  <a:srgbClr val="595959"/>
                </a:solidFill>
                <a:latin typeface="Calibri"/>
              </a:rPr>
              <a:t>— Global Harmonization Task Force</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