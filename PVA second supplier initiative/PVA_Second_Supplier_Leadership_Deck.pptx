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That is the normal behaviour of this market - small lots carry packaging, handling and margin. SNP, green, sells us about three drums a week at 75 cents - on or below the curve,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four to six times above the curve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conversation, in order. One: why we are here - growth, a sole source we depend on, and the intent to run it as a partnership; they should hear investment, not audit. Two: our business, shown - volume history, the forecast of 150 drums this year growing ten percent a year, our delivery record, what the product does for our mission. Three: what we bring - a rolling twelve-month forecast refreshed monthly, a level weekly cadence through a blanket order, and the hydrogel program as a written joint roadmap. Four: growing together - their other hydrogel lines, sodium alginate and guar gum, for our other projects, if R&amp;D has a use. Five: running it as partners - resin supply and a consignment buffer, capacity for year-five volume, cover for the people who run the PVA cook, advance notice of changes, a shelf-life study together; continuity agreed as a shared discipline. Six: a resin-indexed price formula instead of ad hoc increases. Seven: close with a quarterly business review, named contacts and an updated quality agreement. Before we walk in we decide five things: the strategy, which sets the posture - under Option 3 we say a continuity verification lot runs once a year and we do not name the supplier; how much forecast we share and whether a multi-year commitment is on the table; the give - blanket order and payment terms; which projects could use the other hydrogels; and whether we fund the resin buffer and the shelf-life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from a 1-gallon jug to 150 drums, on a log scale</a:t>
            </a:r>
          </a:p>
          <a:p>
            <a:pPr>
              <a:spcAft>
                <a:spcPts val="500"/>
              </a:spcAft>
            </a:pPr>
            <a:r>
              <a:rPr b="1" sz="1050">
                <a:solidFill>
                  <a:srgbClr val="1F3864"/>
                </a:solidFill>
                <a:latin typeface="Calibri"/>
              </a:rPr>
              <a:t>Grey points  </a:t>
            </a:r>
            <a:r>
              <a:rPr sz="950">
                <a:solidFill>
                  <a:srgbClr val="595959"/>
                </a:solidFill>
                <a:latin typeface="Calibri"/>
              </a:rPr>
              <a:t>— verified market prices of pre-mixed PVA solution at each pack size (composites-grade in the US; ton-scale offers offshore, before freight)</a:t>
            </a:r>
          </a:p>
          <a:p>
            <a:pPr>
              <a:spcAft>
                <a:spcPts val="500"/>
              </a:spcAft>
            </a:pPr>
            <a:r>
              <a:rPr b="1" sz="1050">
                <a:solidFill>
                  <a:srgbClr val="1F3864"/>
                </a:solidFill>
                <a:latin typeface="Calibri"/>
              </a:rPr>
              <a:t>Navy line  </a:t>
            </a:r>
            <a:r>
              <a:rPr sz="950">
                <a:solidFill>
                  <a:srgbClr val="595959"/>
                </a:solidFill>
                <a:latin typeface="Calibri"/>
              </a:rPr>
              <a:t>— the market curve fitted through them: price falls ~18% for every doubling of the lot. At SNP's lot size the market would charge ~$0.99; at a 5-drum batch ~$0.85</a:t>
            </a:r>
          </a:p>
          <a:p>
            <a:pPr>
              <a:spcAft>
                <a:spcPts val="500"/>
              </a:spcAft>
            </a:pPr>
            <a:r>
              <a:rPr b="1" sz="1050">
                <a:solidFill>
                  <a:srgbClr val="1F3864"/>
                </a:solidFill>
                <a:latin typeface="Calibri"/>
              </a:rPr>
              <a:t>SNP Inc., green  </a:t>
            </a:r>
            <a:r>
              <a:rPr sz="950">
                <a:solidFill>
                  <a:srgbClr val="595959"/>
                </a:solidFill>
                <a:latin typeface="Calibri"/>
              </a:rPr>
              <a:t>— $0.75 at ~3 drums a week — on or below the curve even though the market points are not delivered and not medical-grade</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~${pc('snp_at_drum')} at one drum, ~${pc('snp_at_5gal')}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and $6.00 below it — 4× and 6× the curve at those quantities: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$8.42 at a 40-gallon minimum, off the curve entirely; APV ≥$3 is an estimate from our call, never confirmed</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everywhere in this market — except at SNP Inc., who sells us drum lots at a bulk price. Every other supplier charges what its lot size implies, or more.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rare</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926080" y="987552"/>
            <a:ext cx="5760720" cy="274320"/>
          </a:xfrm>
          <a:prstGeom prst="rect">
            <a:avLst/>
          </a:prstGeom>
          <a:noFill/>
        </p:spPr>
        <p:txBody>
          <a:bodyPr wrap="square">
            <a:spAutoFit/>
          </a:bodyPr>
          <a:lstStyle/>
          <a:p>
            <a:pPr algn="l">
              <a:spcAft>
                <a:spcPts val="0"/>
              </a:spcAft>
            </a:pPr>
            <a:r>
              <a:rPr sz="95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926080" y="149047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92608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11098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8126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629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6617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3645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0181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136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9163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335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7654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682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853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3173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70201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8372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8691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5719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890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210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1238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9409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729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756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4928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524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2275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0446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076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128016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100 + PCI 50 (33%)</a:t>
            </a:r>
          </a:p>
          <a:p>
            <a:pPr>
              <a:spcAft>
                <a:spcPts val="100"/>
              </a:spcAft>
            </a:pPr>
            <a:r>
              <a:rPr sz="800">
                <a:solidFill>
                  <a:srgbClr val="595959"/>
                </a:solidFill>
                <a:latin typeface="Calibri"/>
              </a:rPr>
              <a:t>Money a year  </a:t>
            </a:r>
            <a:r>
              <a:rPr sz="850" b="1">
                <a:solidFill>
                  <a:srgbClr val="1F3864"/>
                </a:solidFill>
                <a:latin typeface="Calibri"/>
              </a:rPr>
              <a:t>$112.6k = SNP $33.8k + PCI $78.8k</a:t>
            </a:r>
          </a:p>
          <a:p>
            <a:pPr>
              <a:spcAft>
                <a:spcPts val="100"/>
              </a:spcAft>
            </a:pPr>
            <a:r>
              <a:rPr sz="800">
                <a:solidFill>
                  <a:srgbClr val="595959"/>
                </a:solidFill>
                <a:latin typeface="Calibri"/>
              </a:rPr>
              <a:t>SNP Inc. sees  </a:t>
            </a:r>
            <a:r>
              <a:rPr sz="850" b="0">
                <a:solidFill>
                  <a:srgbClr val="1F3864"/>
                </a:solidFill>
                <a:latin typeface="Calibri"/>
              </a:rPr>
              <a:t>10 pauses of ~12 days, or level with a rolling stock</a:t>
            </a:r>
          </a:p>
          <a:p>
            <a:pPr>
              <a:spcAft>
                <a:spcPts val="100"/>
              </a:spcAft>
            </a:pPr>
            <a:r>
              <a:rPr sz="800">
                <a:solidFill>
                  <a:srgbClr val="595959"/>
                </a:solidFill>
                <a:latin typeface="Calibri"/>
              </a:rPr>
              <a:t>If SNP fails, restart in  </a:t>
            </a:r>
            <a:r>
              <a:rPr sz="850" b="0">
                <a:solidFill>
                  <a:srgbClr val="1F3864"/>
                </a:solidFill>
                <a:latin typeface="Calibri"/>
              </a:rPr>
              <a:t>weeks,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926080" y="295351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072211"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539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257120"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29613"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11325"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01452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87014"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568726"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192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41080" y="274320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145/140/135 + PCI 5/10/15 (1/2/3 batches)</a:t>
            </a:r>
          </a:p>
          <a:p>
            <a:pPr>
              <a:spcAft>
                <a:spcPts val="100"/>
              </a:spcAft>
            </a:pPr>
            <a:r>
              <a:rPr sz="800">
                <a:solidFill>
                  <a:srgbClr val="595959"/>
                </a:solidFill>
                <a:latin typeface="Calibri"/>
              </a:rPr>
              <a:t>Money a year  </a:t>
            </a:r>
            <a:r>
              <a:rPr sz="850" b="1">
                <a:solidFill>
                  <a:srgbClr val="1F3864"/>
                </a:solidFill>
                <a:latin typeface="Calibri"/>
              </a:rPr>
              <a:t>$56.9k / $63.1k / $69.3k = SNP $49.0k/$47.3k/$45.6k + PCI $7.9k/$15.8k/$23.6k</a:t>
            </a:r>
          </a:p>
          <a:p>
            <a:pPr>
              <a:spcAft>
                <a:spcPts val="100"/>
              </a:spcAft>
            </a:pPr>
            <a:r>
              <a:rPr sz="800">
                <a:solidFill>
                  <a:srgbClr val="595959"/>
                </a:solidFill>
                <a:latin typeface="Calibri"/>
              </a:rPr>
              <a:t>SNP Inc. sees  </a:t>
            </a:r>
            <a:r>
              <a:rPr sz="850" b="0">
                <a:solidFill>
                  <a:srgbClr val="1F3864"/>
                </a:solidFill>
                <a:latin typeface="Calibri"/>
              </a:rPr>
              <a:t>1–3 pre-announced pauses, or none</a:t>
            </a:r>
          </a:p>
          <a:p>
            <a:pPr>
              <a:spcAft>
                <a:spcPts val="100"/>
              </a:spcAft>
            </a:pPr>
            <a:r>
              <a:rPr sz="800">
                <a:solidFill>
                  <a:srgbClr val="595959"/>
                </a:solidFill>
                <a:latin typeface="Calibri"/>
              </a:rPr>
              <a:t>If SNP fails, restart in  </a:t>
            </a:r>
            <a:r>
              <a:rPr sz="850" b="0">
                <a:solidFill>
                  <a:srgbClr val="1F3864"/>
                </a:solidFill>
                <a:latin typeface="Calibri"/>
              </a:rPr>
              <a:t>weeks to a few months</a:t>
            </a:r>
          </a:p>
        </p:txBody>
      </p:sp>
      <p:sp>
        <p:nvSpPr>
          <p:cNvPr id="51" name="TextBox 50"/>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926080" y="441655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6517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404239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4330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8389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82296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641080" y="420624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150</a:t>
            </a:r>
          </a:p>
          <a:p>
            <a:pPr>
              <a:spcAft>
                <a:spcPts val="100"/>
              </a:spcAft>
            </a:pPr>
            <a:r>
              <a:rPr sz="800">
                <a:solidFill>
                  <a:srgbClr val="595959"/>
                </a:solidFill>
                <a:latin typeface="Calibri"/>
              </a:rPr>
              <a:t>Money a year  </a:t>
            </a:r>
            <a:r>
              <a:rPr sz="850" b="1">
                <a:solidFill>
                  <a:srgbClr val="1F3864"/>
                </a:solidFill>
                <a:latin typeface="Calibri"/>
              </a:rPr>
              <a:t>$50.7k = SNP $50.7k — what we pay today</a:t>
            </a:r>
          </a:p>
          <a:p>
            <a:pPr>
              <a:spcAft>
                <a:spcPts val="100"/>
              </a:spcAft>
            </a:pPr>
            <a:r>
              <a:rPr sz="800">
                <a:solidFill>
                  <a:srgbClr val="595959"/>
                </a:solidFill>
                <a:latin typeface="Calibri"/>
              </a:rPr>
              <a:t>SNP Inc. sees  </a:t>
            </a:r>
            <a:r>
              <a:rPr sz="850" b="0">
                <a:solidFill>
                  <a:srgbClr val="1F3864"/>
                </a:solidFill>
                <a:latin typeface="Calibri"/>
              </a:rPr>
              <a:t>a strengthened partner</a:t>
            </a:r>
          </a:p>
          <a:p>
            <a:pPr>
              <a:spcAft>
                <a:spcPts val="100"/>
              </a:spcAft>
            </a:pPr>
            <a:r>
              <a:rPr sz="800">
                <a:solidFill>
                  <a:srgbClr val="595959"/>
                </a:solidFill>
                <a:latin typeface="Calibri"/>
              </a:rPr>
              <a:t>If SNP fails, restart in  </a:t>
            </a:r>
            <a:r>
              <a:rPr sz="85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conversation — outline,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The meeting, in order — what we say, and what we want out of each part</a:t>
            </a:r>
          </a:p>
        </p:txBody>
      </p:sp>
      <p:sp>
        <p:nvSpPr>
          <p:cNvPr id="6" name="TextBox 5"/>
          <p:cNvSpPr txBox="1"/>
          <p:nvPr/>
        </p:nvSpPr>
        <p:spPr>
          <a:xfrm>
            <a:off x="548640" y="1325880"/>
            <a:ext cx="6949440" cy="4572000"/>
          </a:xfrm>
          <a:prstGeom prst="rect">
            <a:avLst/>
          </a:prstGeom>
          <a:noFill/>
        </p:spPr>
        <p:txBody>
          <a:bodyPr wrap="square">
            <a:spAutoFit/>
          </a:bodyPr>
          <a:lstStyle/>
          <a:p>
            <a:pPr>
              <a:spcAft>
                <a:spcPts val="900"/>
              </a:spcAft>
            </a:pPr>
            <a:r>
              <a:rPr b="1" sz="1200">
                <a:solidFill>
                  <a:srgbClr val="1F3864"/>
                </a:solidFill>
                <a:latin typeface="Calibri"/>
              </a:rPr>
              <a:t>1  Why we are here   </a:t>
            </a:r>
            <a:r>
              <a:rPr sz="1100">
                <a:solidFill>
                  <a:srgbClr val="595959"/>
                </a:solidFill>
                <a:latin typeface="Calibri"/>
              </a:rPr>
              <a:t>Years of growth, a sole source we depend on, and the intent to run it as a partnership.  </a:t>
            </a:r>
            <a:r>
              <a:rPr sz="1100" b="1">
                <a:solidFill>
                  <a:srgbClr val="2E7D46"/>
                </a:solidFill>
                <a:latin typeface="Calibri"/>
              </a:rPr>
              <a:t>→ They hear investment, not audit</a:t>
            </a:r>
          </a:p>
          <a:p>
            <a:pPr>
              <a:spcAft>
                <a:spcPts val="900"/>
              </a:spcAft>
            </a:pPr>
            <a:r>
              <a:rPr b="1" sz="1200">
                <a:solidFill>
                  <a:srgbClr val="1F3864"/>
                </a:solidFill>
                <a:latin typeface="Calibri"/>
              </a:rPr>
              <a:t>2  Our business, shown   </a:t>
            </a:r>
            <a:r>
              <a:rPr sz="1100">
                <a:solidFill>
                  <a:srgbClr val="595959"/>
                </a:solidFill>
                <a:latin typeface="Calibri"/>
              </a:rPr>
              <a:t>Volume history, the forecast (150 drums this year, +10%/yr), our delivery record, what the product does for our mission.  </a:t>
            </a:r>
            <a:r>
              <a:rPr sz="1100" b="1">
                <a:solidFill>
                  <a:srgbClr val="2E7D46"/>
                </a:solidFill>
                <a:latin typeface="Calibri"/>
              </a:rPr>
              <a:t>→ A growing account worth planning for</a:t>
            </a:r>
          </a:p>
          <a:p>
            <a:pPr>
              <a:spcAft>
                <a:spcPts val="900"/>
              </a:spcAft>
            </a:pPr>
            <a:r>
              <a:rPr b="1" sz="1200">
                <a:solidFill>
                  <a:srgbClr val="1F3864"/>
                </a:solidFill>
                <a:latin typeface="Calibri"/>
              </a:rPr>
              <a:t>3  What we bring   </a:t>
            </a:r>
            <a:r>
              <a:rPr sz="1100">
                <a:solidFill>
                  <a:srgbClr val="595959"/>
                </a:solidFill>
                <a:latin typeface="Calibri"/>
              </a:rPr>
              <a:t>Rolling 12-month forecast refreshed monthly; a level weekly cadence through a blanket order; the hydrogel program as a written joint roadmap.  </a:t>
            </a:r>
            <a:r>
              <a:rPr sz="1100" b="1">
                <a:solidFill>
                  <a:srgbClr val="2E7D46"/>
                </a:solidFill>
                <a:latin typeface="Calibri"/>
              </a:rPr>
              <a:t>→ Predictability for their kettle and resin buys</a:t>
            </a:r>
          </a:p>
          <a:p>
            <a:pPr>
              <a:spcAft>
                <a:spcPts val="900"/>
              </a:spcAft>
            </a:pPr>
            <a:r>
              <a:rPr b="1" sz="1200">
                <a:solidFill>
                  <a:srgbClr val="1F3864"/>
                </a:solidFill>
                <a:latin typeface="Calibri"/>
              </a:rPr>
              <a:t>4  Growing together   </a:t>
            </a:r>
            <a:r>
              <a:rPr sz="1100">
                <a:solidFill>
                  <a:srgbClr val="595959"/>
                </a:solidFill>
                <a:latin typeface="Calibri"/>
              </a:rPr>
              <a:t>Their other hydrogel lines — sodium alginate, guar gum — for our other projects.  </a:t>
            </a:r>
            <a:r>
              <a:rPr sz="1100" b="1">
                <a:solidFill>
                  <a:srgbClr val="2E7D46"/>
                </a:solidFill>
                <a:latin typeface="Calibri"/>
              </a:rPr>
              <a:t>→ A second and third line, if R&amp;D has a use</a:t>
            </a:r>
          </a:p>
          <a:p>
            <a:pPr>
              <a:spcAft>
                <a:spcPts val="900"/>
              </a:spcAft>
            </a:pPr>
            <a:r>
              <a:rPr b="1" sz="1200">
                <a:solidFill>
                  <a:srgbClr val="1F3864"/>
                </a:solidFill>
                <a:latin typeface="Calibri"/>
              </a:rPr>
              <a:t>5  Running it as partners   </a:t>
            </a:r>
            <a:r>
              <a:rPr sz="1100">
                <a:solidFill>
                  <a:srgbClr val="595959"/>
                </a:solidFill>
                <a:latin typeface="Calibri"/>
              </a:rPr>
              <a:t>Resin supply and a consignment buffer; capacity for Year-5 volume; cover for the people who run the PVA cook; advance notice of changes; a shelf-life study together.  </a:t>
            </a:r>
            <a:r>
              <a:rPr sz="1100" b="1">
                <a:solidFill>
                  <a:srgbClr val="2E7D46"/>
                </a:solidFill>
                <a:latin typeface="Calibri"/>
              </a:rPr>
              <a:t>→ Continuity agreed as a shared discipline, not a demand</a:t>
            </a:r>
          </a:p>
          <a:p>
            <a:pPr>
              <a:spcAft>
                <a:spcPts val="900"/>
              </a:spcAft>
            </a:pPr>
            <a:r>
              <a:rPr b="1" sz="1200">
                <a:solidFill>
                  <a:srgbClr val="1F3864"/>
                </a:solidFill>
                <a:latin typeface="Calibri"/>
              </a:rPr>
              <a:t>6  Price   </a:t>
            </a:r>
            <a:r>
              <a:rPr sz="1100">
                <a:solidFill>
                  <a:srgbClr val="595959"/>
                </a:solidFill>
                <a:latin typeface="Calibri"/>
              </a:rPr>
              <a:t>A resin-indexed formula in place of ad hoc increases.  </a:t>
            </a:r>
            <a:r>
              <a:rPr sz="1100" b="1">
                <a:solidFill>
                  <a:srgbClr val="2E7D46"/>
                </a:solidFill>
                <a:latin typeface="Calibri"/>
              </a:rPr>
              <a:t>→ Predictability for both sides</a:t>
            </a:r>
          </a:p>
          <a:p>
            <a:pPr>
              <a:spcAft>
                <a:spcPts val="900"/>
              </a:spcAft>
            </a:pPr>
            <a:r>
              <a:rPr b="1" sz="1200">
                <a:solidFill>
                  <a:srgbClr val="1F3864"/>
                </a:solidFill>
                <a:latin typeface="Calibri"/>
              </a:rPr>
              <a:t>7  Close   </a:t>
            </a:r>
            <a:r>
              <a:rPr sz="1100">
                <a:solidFill>
                  <a:srgbClr val="595959"/>
                </a:solidFill>
                <a:latin typeface="Calibri"/>
              </a:rPr>
              <a:t>Quarterly business review, named contacts, an updated Supplier Quality Agreement (SQA).  </a:t>
            </a:r>
            <a:r>
              <a:rPr sz="1100" b="1">
                <a:solidFill>
                  <a:srgbClr val="2E7D46"/>
                </a:solidFill>
                <a:latin typeface="Calibri"/>
              </a:rPr>
              <a:t>→ A cadence that keeps it alive</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Decide before we walk in</a:t>
            </a:r>
          </a:p>
          <a:p>
            <a:pPr>
              <a:spcAft>
                <a:spcPts val="700"/>
              </a:spcAft>
            </a:pPr>
            <a:r>
              <a:rPr b="1" sz="1050">
                <a:solidFill>
                  <a:srgbClr val="1F3864"/>
                </a:solidFill>
                <a:latin typeface="Calibri"/>
              </a:rPr>
              <a:t>The strategy — Option 1, 2 or 3  </a:t>
            </a:r>
            <a:r>
              <a:rPr sz="1000">
                <a:solidFill>
                  <a:srgbClr val="595959"/>
                </a:solidFill>
                <a:latin typeface="Calibri"/>
              </a:rPr>
              <a:t>— sets the whole posture. Under Option 3 we say a continuity verification lot runs once a year; the supplier is not named. (Leadership)</a:t>
            </a:r>
          </a:p>
          <a:p>
            <a:pPr>
              <a:spcAft>
                <a:spcPts val="700"/>
              </a:spcAft>
            </a:pPr>
            <a:r>
              <a:rPr b="1" sz="1050">
                <a:solidFill>
                  <a:srgbClr val="1F3864"/>
                </a:solidFill>
                <a:latin typeface="Calibri"/>
              </a:rPr>
              <a:t>How much forecast, what commitment  </a:t>
            </a:r>
            <a:r>
              <a:rPr sz="1000">
                <a:solidFill>
                  <a:srgbClr val="595959"/>
                </a:solidFill>
                <a:latin typeface="Calibri"/>
              </a:rPr>
              <a:t>— 12-month rolling and a 3-year outlook; whether a multi-year commitment or letter of intent is on the table. (Leadership, Legal)</a:t>
            </a:r>
          </a:p>
          <a:p>
            <a:pPr>
              <a:spcAft>
                <a:spcPts val="700"/>
              </a:spcAft>
            </a:pPr>
            <a:r>
              <a:rPr b="1" sz="1050">
                <a:solidFill>
                  <a:srgbClr val="1F3864"/>
                </a:solidFill>
                <a:latin typeface="Calibri"/>
              </a:rPr>
              <a:t>The give  </a:t>
            </a:r>
            <a:r>
              <a:rPr sz="1000">
                <a:solidFill>
                  <a:srgbClr val="595959"/>
                </a:solidFill>
                <a:latin typeface="Calibri"/>
              </a:rPr>
              <a:t>— blanket order — yes or no; payment terms as a lever — yes or no. (Finance, Supply Chain)</a:t>
            </a:r>
          </a:p>
          <a:p>
            <a:pPr>
              <a:spcAft>
                <a:spcPts val="700"/>
              </a:spcAft>
            </a:pPr>
            <a:r>
              <a:rPr b="1" sz="1050">
                <a:solidFill>
                  <a:srgbClr val="1F3864"/>
                </a:solidFill>
                <a:latin typeface="Calibri"/>
              </a:rPr>
              <a:t>The other hydrogels  </a:t>
            </a:r>
            <a:r>
              <a:rPr sz="1000">
                <a:solidFill>
                  <a:srgbClr val="595959"/>
                </a:solidFill>
                <a:latin typeface="Calibri"/>
              </a:rPr>
              <a:t>— which projects could use alginate or guar, at what solids. (R&amp;D, before the meeting)</a:t>
            </a:r>
          </a:p>
          <a:p>
            <a:pPr>
              <a:spcAft>
                <a:spcPts val="700"/>
              </a:spcAft>
            </a:pPr>
            <a:r>
              <a:rPr b="1" sz="1050">
                <a:solidFill>
                  <a:srgbClr val="1F3864"/>
                </a:solidFill>
                <a:latin typeface="Calibri"/>
              </a:rPr>
              <a:t>Continuity money  </a:t>
            </a:r>
            <a:r>
              <a:rPr sz="1000">
                <a:solidFill>
                  <a:srgbClr val="595959"/>
                </a:solidFill>
                <a:latin typeface="Calibri"/>
              </a:rPr>
              <a:t>— fund the resin buffer (~$2–6k tied up) and the shelf-life study — or not.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the give before the meeting; the meeting is where we execute the partnership, not where we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