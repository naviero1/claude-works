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on the liquid PVA decision. Since last time, two things happened: PCI Manufacturing's production experiment met our spec, and they gave us a real price. Today I want to show the cost side by side, be honest about what the experiment cost and is worth, walk through what running two suppliers would actually look like, and then put three strategy propositions in front of you - because we need to choose one before our next conversation with SNP.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outline. Feasibility is settled, cost is now real, logistics are specific, then strategy, timing and the decision. Each slide establishes one 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changed. First, the capability question is closed: PCI hit 11 percent solids and the viscosity window after we found the solids root cause together. Second, the price question is closed: 3.50 a pound for a five-drum batch, and 6 dollars for anything smaller - so there is no small version; it is a third of demand in five-drum batches, or nothing. Third, the batch size is the new fact: five drums is twelve days of our full demand, and with an eighteen-day shelf life those drums have to be used at full rate as soon as they land. A few things to confirm with PCI: whether 3.50 is delivered and all-in, how long the quote is valid, whether they will accept about ten batches a year on a five-week rhythm, whether they could ramp to three batches a month in a crisis, and which resin producer they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per pound, side by side. Green is SNP's real quote at 75 cents - a specialist's price. Navy and red are PCI's real numbers: 3.50 for a batch, 6 for anything smaller. Red on the far right is CJB, for scale. Grey bars are our market references, built from the resin floor plus labor plus freight, with a retail comparable at the top. Amber is the July assumption - it is superseded. The point: PCI's real number landed right on the mid-case of the range we modelled. The market work was right; the July number was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cost side by side. Today: 50.7 thousand, all SNP. PCI at a third in five-drum batches: 112.6 thousand, so plus 62 thousand a year - 122 percent of today's whole bill. PCI at one drum a week at the below-batch price: 173.6 thousand - the small-order version is the expensive one. Five years at ten percent growth: about 378 thousand of premium. Break-even: the second source pays only if a six-month SNP outage would cost us more than about 620 thousand at a ten percent annual risk, or 1.24 million at five percent. I still need that outage number from Finance.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What it proved: the cook, the viscosity control, the spec. What it is worth: even if we never order, a cold start is now two to three months instead of six to twelve, because the spec, the process and a willing supplier are known. What it cost: PCI put months of unpaid engineering into a fifty-thousand-dollar account; we put six months of sourcing and lab time in. The standing price of using it is 62 thousand a year plus a permanent operating discipline plus what it does to SNP. The price of walking away is goodwill. And there is a middle: one five-drum production batch, about 7,900 dollars, finishes the qualification at scale, pays PCI with a real order, and is invisible to SNP's year.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Logistics. With five-drum batches and an eighteen-day shelf life, we cannot blend PCI at a one-third rate - a batch consumed at two-thirds rate takes eighteen days, over the limit. So it is block rotation: twelve days on PCI material at full rate, then about three and a half weeks on SNP, repeat every five weeks. For SNP that means losing a third of volume and getting the rest in lumps with a twelve-day gap - worse for a small specialist than a steady reduced share. For us: one spec, one viscometer method, incoming test on every lot, five drums on site at once, strict first-in-first-out, two cleaning procedures, two quality agreements. What it buys - recovery in weeks - only if PCI confirms in writing that they can ramp. And a validated thirty-day shelf life would soften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strategy propositions. A: commit a third now - 62 thousand a year, a practiced second source, but lumpy demand to SNP and relationship strain at the wrong moment. B: single source, strengthened - a few thousand a year, deeper partnership, PCI kept as a dated option and paid for the work done; SNP failure still means months. B-plus: one production batch now, about 8 thousand, then B - everything B buys plus proven rate and hydrogel performance on pure PCI material, a supplier paid with a real order, and SNP untouched. B-plus is my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decide now. Our next face-to-face with SNP is where the strategy becomes real - continuity terms, forecast sharing, resin consignment, capacity headroom, succession. The posture has to match the decision: we cannot deepen the partnership while quietly planning to move a third of their core line, and telling them after a warm visit reads as bait-and-switch. If the answer is A, the volume conversation belongs in that meeting, face to face, with a steady-cadence proposal. If it is B or B-plus, that is the partnership meeting: continuity planning framed as a quality-system requirement, PCI not named, the quote not waved. Decide first; use the meeting to execute, not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B-plus with the existing triggers. Order one production batch from PCI now; go into the SNP conversation as a partner and settle the six items on the previous slide; tell PCI the triggers candidly. Switch to A if Finance's outage number clears the break-even, if SNP shows a risk signal - capacity, succession, finances, a missed lot - if PCI's price falls toward a dollar fifty, or if SNP declines the terms. Three asks: the outage-cost number, per hydrogel SKU; the strategy call before the SNP conversation; and approval to formalize SNP plus about 8 thousand for one PCI batch.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Assumptions, suppliers by full name, acronyms, and the fact-checked frameworks. The workbook holds every number: the Supplier Quotes tab, PCI Quote Scenarios, and the PCI Experiment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34840"/>
            <a:ext cx="12191695" cy="54864"/>
          </a:xfrm>
          <a:prstGeom prst="rect">
            <a:avLst/>
          </a:prstGeom>
          <a:solidFill>
            <a:srgbClr val="4E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2651760"/>
          </a:xfrm>
          <a:prstGeom prst="rect">
            <a:avLst/>
          </a:prstGeom>
          <a:noFill/>
        </p:spPr>
        <p:txBody>
          <a:bodyPr wrap="square">
            <a:spAutoFit/>
          </a:bodyPr>
          <a:lstStyle/>
          <a:p>
            <a:pPr algn="l">
              <a:spcAft>
                <a:spcPts val="400"/>
              </a:spcAft>
            </a:pPr>
            <a:r>
              <a:rPr sz="4000" b="1" i="0">
                <a:solidFill>
                  <a:srgbClr val="FFFFFF"/>
                </a:solidFill>
                <a:latin typeface="Calibri"/>
              </a:rPr>
              <a:t>Liquid PVA: One Supplier or Two?</a:t>
            </a:r>
          </a:p>
          <a:p>
            <a:pPr algn="l">
              <a:spcAft>
                <a:spcPts val="400"/>
              </a:spcAft>
            </a:pPr>
            <a:r>
              <a:rPr sz="2000" b="0" i="0">
                <a:solidFill>
                  <a:srgbClr val="BDD7EE"/>
                </a:solidFill>
                <a:latin typeface="Calibri"/>
              </a:rPr>
              <a:t>Update: PCI Manufacturing has proven it can make our product — and told us what it costs</a:t>
            </a:r>
          </a:p>
        </p:txBody>
      </p:sp>
      <p:sp>
        <p:nvSpPr>
          <p:cNvPr id="5" name="TextBox 4"/>
          <p:cNvSpPr txBox="1"/>
          <p:nvPr/>
        </p:nvSpPr>
        <p:spPr>
          <a:xfrm>
            <a:off x="731520" y="4663440"/>
            <a:ext cx="10698480" cy="1463040"/>
          </a:xfrm>
          <a:prstGeom prst="rect">
            <a:avLst/>
          </a:prstGeom>
          <a:noFill/>
        </p:spPr>
        <p:txBody>
          <a:bodyPr wrap="square">
            <a:spAutoFit/>
          </a:bodyPr>
          <a:lstStyle/>
          <a:p>
            <a:pPr algn="l">
              <a:spcAft>
                <a:spcPts val="400"/>
              </a:spcAft>
            </a:pPr>
            <a:r>
              <a:rPr sz="1350" b="0" i="0">
                <a:solidFill>
                  <a:srgbClr val="FFFFFF"/>
                </a:solidFill>
                <a:latin typeface="Calibri"/>
              </a:rPr>
              <a:t>PVA = polyvinyl alcohol — the liquid we buy in 55-gallon drums from SNP Inc. (Durham, NC) to make our hydrogels. Sole-sourced today.</a:t>
            </a:r>
          </a:p>
          <a:p>
            <a:pPr algn="l">
              <a:spcAft>
                <a:spcPts val="400"/>
              </a:spcAft>
            </a:pPr>
            <a:r>
              <a:rPr sz="1200" b="0" i="0">
                <a:solidFill>
                  <a:srgbClr val="9DC3E6"/>
                </a:solidFill>
                <a:latin typeface="Calibri"/>
              </a:rPr>
              <a:t>Oscar Penny  ·  Supply Chain  ·  28 September 2026  ·  Decision requested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Outline — what each slide establishes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OUTLINE</a:t>
            </a:r>
          </a:p>
        </p:txBody>
      </p:sp>
      <p:graphicFrame>
        <p:nvGraphicFramePr>
          <p:cNvPr id="5" name="Table 4"/>
          <p:cNvGraphicFramePr>
            <a:graphicFrameLocks noGrp="1"/>
          </p:cNvGraphicFramePr>
          <p:nvPr/>
        </p:nvGraphicFramePr>
        <p:xfrm>
          <a:off x="548640" y="1097280"/>
          <a:ext cx="11064240" cy="4754880"/>
        </p:xfrm>
        <a:graphic>
          <a:graphicData uri="http://schemas.openxmlformats.org/drawingml/2006/table">
            <a:tbl>
              <a:tblPr firstRow="1" bandRow="1">
                <a:tableStyleId>{5C22544A-7EE6-4342-B048-85BDC9FD1C3A}</a:tableStyleId>
              </a:tblPr>
              <a:tblGrid>
                <a:gridCol w="457200"/>
                <a:gridCol w="2743200"/>
                <a:gridCol w="7863840"/>
              </a:tblGrid>
              <a:tr h="475488">
                <a:tc>
                  <a:txBody>
                    <a:bodyPr/>
                    <a:lstStyle/>
                    <a:p>
                      <a:pPr algn="l"/>
                      <a:r>
                        <a:rPr sz="1050" b="1">
                          <a:solidFill>
                            <a:srgbClr val="FFFFFF"/>
                          </a:solidFill>
                          <a:latin typeface="Calibri"/>
                        </a:rPr>
                        <a:t>#</a:t>
                      </a:r>
                    </a:p>
                  </a:txBody>
                  <a:tcPr>
                    <a:solidFill>
                      <a:srgbClr val="1F3864"/>
                    </a:solidFill>
                  </a:tcPr>
                </a:tc>
                <a:tc>
                  <a:txBody>
                    <a:bodyPr/>
                    <a:lstStyle/>
                    <a:p>
                      <a:pPr algn="ctr"/>
                      <a:r>
                        <a:rPr sz="1050" b="1">
                          <a:solidFill>
                            <a:srgbClr val="FFFFFF"/>
                          </a:solidFill>
                          <a:latin typeface="Calibri"/>
                        </a:rPr>
                        <a:t>Slide</a:t>
                      </a:r>
                    </a:p>
                  </a:txBody>
                  <a:tcPr>
                    <a:solidFill>
                      <a:srgbClr val="1F3864"/>
                    </a:solidFill>
                  </a:tcPr>
                </a:tc>
                <a:tc>
                  <a:txBody>
                    <a:bodyPr/>
                    <a:lstStyle/>
                    <a:p>
                      <a:pPr algn="ctr"/>
                      <a:r>
                        <a:rPr sz="1050" b="1">
                          <a:solidFill>
                            <a:srgbClr val="FFFFFF"/>
                          </a:solidFill>
                          <a:latin typeface="Calibri"/>
                        </a:rPr>
                        <a:t>What it establishes</a:t>
                      </a:r>
                    </a:p>
                  </a:txBody>
                  <a:tcPr>
                    <a:solidFill>
                      <a:srgbClr val="1F3864"/>
                    </a:solidFill>
                  </a:tcPr>
                </a:tc>
              </a:tr>
              <a:tr h="475488">
                <a:tc>
                  <a:txBody>
                    <a:bodyPr/>
                    <a:lstStyle/>
                    <a:p>
                      <a:pPr algn="l"/>
                      <a:r>
                        <a:rPr sz="1050" b="1">
                          <a:solidFill>
                            <a:srgbClr val="1F3864"/>
                          </a:solidFill>
                          <a:latin typeface="Calibri"/>
                        </a:rPr>
                        <a:t>3</a:t>
                      </a:r>
                    </a:p>
                  </a:txBody>
                  <a:tcPr>
                    <a:solidFill>
                      <a:srgbClr val="FFFFFF"/>
                    </a:solidFill>
                  </a:tcPr>
                </a:tc>
                <a:tc>
                  <a:txBody>
                    <a:bodyPr/>
                    <a:lstStyle/>
                    <a:p>
                      <a:pPr algn="ctr"/>
                      <a:r>
                        <a:rPr sz="1050">
                          <a:solidFill>
                            <a:srgbClr val="1F3864"/>
                          </a:solidFill>
                          <a:latin typeface="Calibri"/>
                        </a:rPr>
                        <a:t>What changed</a:t>
                      </a:r>
                    </a:p>
                  </a:txBody>
                  <a:tcPr>
                    <a:solidFill>
                      <a:srgbClr val="FFFFFF"/>
                    </a:solidFill>
                  </a:tcPr>
                </a:tc>
                <a:tc>
                  <a:txBody>
                    <a:bodyPr/>
                    <a:lstStyle/>
                    <a:p>
                      <a:pPr algn="ctr"/>
                      <a:r>
                        <a:rPr sz="1050">
                          <a:solidFill>
                            <a:srgbClr val="1F3864"/>
                          </a:solidFill>
                          <a:latin typeface="Calibri"/>
                        </a:rPr>
                        <a:t>PCI Manufacturing's experiment succeeded; their real quote is $3.50/lb at 5-drum batches ($6.00 below a batch); a decision is due before our next SNP Inc. conversation</a:t>
                      </a:r>
                    </a:p>
                  </a:txBody>
                  <a:tcPr>
                    <a:solidFill>
                      <a:srgbClr val="FFFFFF"/>
                    </a:solidFill>
                  </a:tcPr>
                </a:tc>
              </a:tr>
              <a:tr h="475488">
                <a:tc>
                  <a:txBody>
                    <a:bodyPr/>
                    <a:lstStyle/>
                    <a:p>
                      <a:pPr algn="l"/>
                      <a:r>
                        <a:rPr sz="1050" b="1">
                          <a:solidFill>
                            <a:srgbClr val="1F3864"/>
                          </a:solidFill>
                          <a:latin typeface="Calibri"/>
                        </a:rPr>
                        <a:t>4</a:t>
                      </a:r>
                    </a:p>
                  </a:txBody>
                  <a:tcPr>
                    <a:solidFill>
                      <a:srgbClr val="FFFFFF"/>
                    </a:solidFill>
                  </a:tcPr>
                </a:tc>
                <a:tc>
                  <a:txBody>
                    <a:bodyPr/>
                    <a:lstStyle/>
                    <a:p>
                      <a:pPr algn="ctr"/>
                      <a:r>
                        <a:rPr sz="1050">
                          <a:solidFill>
                            <a:srgbClr val="1F3864"/>
                          </a:solidFill>
                          <a:latin typeface="Calibri"/>
                        </a:rPr>
                        <a:t>Price per pound, side by side</a:t>
                      </a:r>
                    </a:p>
                  </a:txBody>
                  <a:tcPr>
                    <a:solidFill>
                      <a:srgbClr val="FFFFFF"/>
                    </a:solidFill>
                  </a:tcPr>
                </a:tc>
                <a:tc>
                  <a:txBody>
                    <a:bodyPr/>
                    <a:lstStyle/>
                    <a:p>
                      <a:pPr algn="ctr"/>
                      <a:r>
                        <a:rPr sz="1050">
                          <a:solidFill>
                            <a:srgbClr val="1F3864"/>
                          </a:solidFill>
                          <a:latin typeface="Calibri"/>
                        </a:rPr>
                        <a:t>Every $/lb on the table and where it comes from — real quotes (SNP, PCI, CJB) vs market references vs the superseded July assumption</a:t>
                      </a:r>
                    </a:p>
                  </a:txBody>
                  <a:tcPr>
                    <a:solidFill>
                      <a:srgbClr val="FFFFFF"/>
                    </a:solidFill>
                  </a:tcPr>
                </a:tc>
              </a:tr>
              <a:tr h="475488">
                <a:tc>
                  <a:txBody>
                    <a:bodyPr/>
                    <a:lstStyle/>
                    <a:p>
                      <a:pPr algn="l"/>
                      <a:r>
                        <a:rPr sz="1050" b="1">
                          <a:solidFill>
                            <a:srgbClr val="1F3864"/>
                          </a:solidFill>
                          <a:latin typeface="Calibri"/>
                        </a:rPr>
                        <a:t>5</a:t>
                      </a:r>
                    </a:p>
                  </a:txBody>
                  <a:tcPr>
                    <a:solidFill>
                      <a:srgbClr val="FFFFFF"/>
                    </a:solidFill>
                  </a:tcPr>
                </a:tc>
                <a:tc>
                  <a:txBody>
                    <a:bodyPr/>
                    <a:lstStyle/>
                    <a:p>
                      <a:pPr algn="ctr"/>
                      <a:r>
                        <a:rPr sz="1050">
                          <a:solidFill>
                            <a:srgbClr val="1F3864"/>
                          </a:solidFill>
                          <a:latin typeface="Calibri"/>
                        </a:rPr>
                        <a:t>Annual cost, side by side</a:t>
                      </a:r>
                    </a:p>
                  </a:txBody>
                  <a:tcPr>
                    <a:solidFill>
                      <a:srgbClr val="FFFFFF"/>
                    </a:solidFill>
                  </a:tcPr>
                </a:tc>
                <a:tc>
                  <a:txBody>
                    <a:bodyPr/>
                    <a:lstStyle/>
                    <a:p>
                      <a:pPr algn="ctr"/>
                      <a:r>
                        <a:rPr sz="1050">
                          <a:solidFill>
                            <a:srgbClr val="1F3864"/>
                          </a:solidFill>
                          <a:latin typeface="Calibri"/>
                        </a:rPr>
                        <a:t>What each option adds to today's $50.7k: +$62k/yr for PCI at one-third; +$123k at the below-batch price; five-year and break-even</a:t>
                      </a:r>
                    </a:p>
                  </a:txBody>
                  <a:tcPr>
                    <a:solidFill>
                      <a:srgbClr val="FFFFFF"/>
                    </a:solidFill>
                  </a:tcPr>
                </a:tc>
              </a:tr>
              <a:tr h="475488">
                <a:tc>
                  <a:txBody>
                    <a:bodyPr/>
                    <a:lstStyle/>
                    <a:p>
                      <a:pPr algn="l"/>
                      <a:r>
                        <a:rPr sz="1050" b="1">
                          <a:solidFill>
                            <a:srgbClr val="1F3864"/>
                          </a:solidFill>
                          <a:latin typeface="Calibri"/>
                        </a:rPr>
                        <a:t>6</a:t>
                      </a:r>
                    </a:p>
                  </a:txBody>
                  <a:tcPr>
                    <a:solidFill>
                      <a:srgbClr val="FFFFFF"/>
                    </a:solidFill>
                  </a:tcPr>
                </a:tc>
                <a:tc>
                  <a:txBody>
                    <a:bodyPr/>
                    <a:lstStyle/>
                    <a:p>
                      <a:pPr algn="ctr"/>
                      <a:r>
                        <a:rPr sz="1050">
                          <a:solidFill>
                            <a:srgbClr val="1F3864"/>
                          </a:solidFill>
                          <a:latin typeface="Calibri"/>
                        </a:rPr>
                        <a:t>The PCI experiment — a success, at what cost</a:t>
                      </a:r>
                    </a:p>
                  </a:txBody>
                  <a:tcPr>
                    <a:solidFill>
                      <a:srgbClr val="FFFFFF"/>
                    </a:solidFill>
                  </a:tcPr>
                </a:tc>
                <a:tc>
                  <a:txBody>
                    <a:bodyPr/>
                    <a:lstStyle/>
                    <a:p>
                      <a:pPr algn="ctr"/>
                      <a:r>
                        <a:rPr sz="1050">
                          <a:solidFill>
                            <a:srgbClr val="1F3864"/>
                          </a:solidFill>
                          <a:latin typeface="Calibri"/>
                        </a:rPr>
                        <a:t>What was proven, what PCI invested, what that knowledge is worth, and the standing price of using it vs. the price of walking away</a:t>
                      </a:r>
                    </a:p>
                  </a:txBody>
                  <a:tcPr>
                    <a:solidFill>
                      <a:srgbClr val="FFFFFF"/>
                    </a:solidFill>
                  </a:tcPr>
                </a:tc>
              </a:tr>
              <a:tr h="475488">
                <a:tc>
                  <a:txBody>
                    <a:bodyPr/>
                    <a:lstStyle/>
                    <a:p>
                      <a:pPr algn="l"/>
                      <a:r>
                        <a:rPr sz="1050" b="1">
                          <a:solidFill>
                            <a:srgbClr val="1F3864"/>
                          </a:solidFill>
                          <a:latin typeface="Calibri"/>
                        </a:rPr>
                        <a:t>7</a:t>
                      </a:r>
                    </a:p>
                  </a:txBody>
                  <a:tcPr>
                    <a:solidFill>
                      <a:srgbClr val="FFFFFF"/>
                    </a:solidFill>
                  </a:tcPr>
                </a:tc>
                <a:tc>
                  <a:txBody>
                    <a:bodyPr/>
                    <a:lstStyle/>
                    <a:p>
                      <a:pPr algn="ctr"/>
                      <a:r>
                        <a:rPr sz="1050">
                          <a:solidFill>
                            <a:srgbClr val="1F3864"/>
                          </a:solidFill>
                          <a:latin typeface="Calibri"/>
                        </a:rPr>
                        <a:t>What 5-drum batches mean operationally</a:t>
                      </a:r>
                    </a:p>
                  </a:txBody>
                  <a:tcPr>
                    <a:solidFill>
                      <a:srgbClr val="FFFFFF"/>
                    </a:solidFill>
                  </a:tcPr>
                </a:tc>
                <a:tc>
                  <a:txBody>
                    <a:bodyPr/>
                    <a:lstStyle/>
                    <a:p>
                      <a:pPr algn="ctr"/>
                      <a:r>
                        <a:rPr sz="1050">
                          <a:solidFill>
                            <a:srgbClr val="1F3864"/>
                          </a:solidFill>
                          <a:latin typeface="Calibri"/>
                        </a:rPr>
                        <a:t>Block rotation under an 18-day shelf life: 12 days on 100% PCI material, then SNP; lumpy demand to SNP; the control needed; the 30-day shelf-life lever</a:t>
                      </a:r>
                    </a:p>
                  </a:txBody>
                  <a:tcPr>
                    <a:solidFill>
                      <a:srgbClr val="FFFFFF"/>
                    </a:solidFill>
                  </a:tcPr>
                </a:tc>
              </a:tr>
              <a:tr h="475488">
                <a:tc>
                  <a:txBody>
                    <a:bodyPr/>
                    <a:lstStyle/>
                    <a:p>
                      <a:pPr algn="l"/>
                      <a:r>
                        <a:rPr sz="1050" b="1">
                          <a:solidFill>
                            <a:srgbClr val="1F3864"/>
                          </a:solidFill>
                          <a:latin typeface="Calibri"/>
                        </a:rPr>
                        <a:t>8</a:t>
                      </a:r>
                    </a:p>
                  </a:txBody>
                  <a:tcPr>
                    <a:solidFill>
                      <a:srgbClr val="FFFFFF"/>
                    </a:solidFill>
                  </a:tcPr>
                </a:tc>
                <a:tc>
                  <a:txBody>
                    <a:bodyPr/>
                    <a:lstStyle/>
                    <a:p>
                      <a:pPr algn="ctr"/>
                      <a:r>
                        <a:rPr sz="1050">
                          <a:solidFill>
                            <a:srgbClr val="1F3864"/>
                          </a:solidFill>
                          <a:latin typeface="Calibri"/>
                        </a:rPr>
                        <a:t>Strategy propositions</a:t>
                      </a:r>
                    </a:p>
                  </a:txBody>
                  <a:tcPr>
                    <a:solidFill>
                      <a:srgbClr val="FFFFFF"/>
                    </a:solidFill>
                  </a:tcPr>
                </a:tc>
                <a:tc>
                  <a:txBody>
                    <a:bodyPr/>
                    <a:lstStyle/>
                    <a:p>
                      <a:pPr algn="ctr"/>
                      <a:r>
                        <a:rPr sz="1050">
                          <a:solidFill>
                            <a:srgbClr val="1F3864"/>
                          </a:solidFill>
                          <a:latin typeface="Calibri"/>
                        </a:rPr>
                        <a:t>A: commit one-third now · B: strengthen SNP Inc., keep PCI as a dated option · B-plus: one production batch, then B — cost, what each buys, effect on both suppliers</a:t>
                      </a:r>
                    </a:p>
                  </a:txBody>
                  <a:tcPr>
                    <a:solidFill>
                      <a:srgbClr val="FFFFFF"/>
                    </a:solidFill>
                  </a:tcPr>
                </a:tc>
              </a:tr>
              <a:tr h="475488">
                <a:tc>
                  <a:txBody>
                    <a:bodyPr/>
                    <a:lstStyle/>
                    <a:p>
                      <a:pPr algn="l"/>
                      <a:r>
                        <a:rPr sz="1050" b="1">
                          <a:solidFill>
                            <a:srgbClr val="1F3864"/>
                          </a:solidFill>
                          <a:latin typeface="Calibri"/>
                        </a:rPr>
                        <a:t>9</a:t>
                      </a:r>
                    </a:p>
                  </a:txBody>
                  <a:tcPr>
                    <a:solidFill>
                      <a:srgbClr val="FFFFFF"/>
                    </a:solidFill>
                  </a:tcPr>
                </a:tc>
                <a:tc>
                  <a:txBody>
                    <a:bodyPr/>
                    <a:lstStyle/>
                    <a:p>
                      <a:pPr algn="ctr"/>
                      <a:r>
                        <a:rPr sz="1050">
                          <a:solidFill>
                            <a:srgbClr val="1F3864"/>
                          </a:solidFill>
                          <a:latin typeface="Calibri"/>
                        </a:rPr>
                        <a:t>Why decide now</a:t>
                      </a:r>
                    </a:p>
                  </a:txBody>
                  <a:tcPr>
                    <a:solidFill>
                      <a:srgbClr val="FFFFFF"/>
                    </a:solidFill>
                  </a:tcPr>
                </a:tc>
                <a:tc>
                  <a:txBody>
                    <a:bodyPr/>
                    <a:lstStyle/>
                    <a:p>
                      <a:pPr algn="ctr"/>
                      <a:r>
                        <a:rPr sz="1050">
                          <a:solidFill>
                            <a:srgbClr val="1F3864"/>
                          </a:solidFill>
                          <a:latin typeface="Calibri"/>
                        </a:rPr>
                        <a:t>The posture for our next SNP Inc. conversation must match the decision; what to settle in that conversation under each option; what not to do</a:t>
                      </a:r>
                    </a:p>
                  </a:txBody>
                  <a:tcPr>
                    <a:solidFill>
                      <a:srgbClr val="FFFFFF"/>
                    </a:solidFill>
                  </a:tcPr>
                </a:tc>
              </a:tr>
              <a:tr h="475488">
                <a:tc>
                  <a:txBody>
                    <a:bodyPr/>
                    <a:lstStyle/>
                    <a:p>
                      <a:pPr algn="l"/>
                      <a:r>
                        <a:rPr sz="1050" b="1">
                          <a:solidFill>
                            <a:srgbClr val="1F3864"/>
                          </a:solidFill>
                          <a:latin typeface="Calibri"/>
                        </a:rPr>
                        <a:t>10</a:t>
                      </a:r>
                    </a:p>
                  </a:txBody>
                  <a:tcPr>
                    <a:solidFill>
                      <a:srgbClr val="FFFFFF"/>
                    </a:solidFill>
                  </a:tcPr>
                </a:tc>
                <a:tc>
                  <a:txBody>
                    <a:bodyPr/>
                    <a:lstStyle/>
                    <a:p>
                      <a:pPr algn="ctr"/>
                      <a:r>
                        <a:rPr sz="1050">
                          <a:solidFill>
                            <a:srgbClr val="1F3864"/>
                          </a:solidFill>
                          <a:latin typeface="Calibri"/>
                        </a:rPr>
                        <a:t>Recommendation &amp; asks</a:t>
                      </a:r>
                    </a:p>
                  </a:txBody>
                  <a:tcPr>
                    <a:solidFill>
                      <a:srgbClr val="FFFFFF"/>
                    </a:solidFill>
                  </a:tcPr>
                </a:tc>
                <a:tc>
                  <a:txBody>
                    <a:bodyPr/>
                    <a:lstStyle/>
                    <a:p>
                      <a:pPr algn="ctr"/>
                      <a:r>
                        <a:rPr sz="1050">
                          <a:solidFill>
                            <a:srgbClr val="1F3864"/>
                          </a:solidFill>
                          <a:latin typeface="Calibri"/>
                        </a:rPr>
                        <a:t>B-plus with the existing triggers unless Finance's outage cost clears the break-even; the three things we need from leadership</a:t>
                      </a:r>
                    </a:p>
                  </a:txBody>
                  <a:tcPr>
                    <a:solidFill>
                      <a:srgbClr val="FFFFFF"/>
                    </a:solidFill>
                  </a:tcPr>
                </a:tc>
              </a:tr>
              <a:tr h="475488">
                <a:tc>
                  <a:txBody>
                    <a:bodyPr/>
                    <a:lstStyle/>
                    <a:p>
                      <a:pPr algn="l"/>
                      <a:r>
                        <a:rPr sz="1050" b="1">
                          <a:solidFill>
                            <a:srgbClr val="1F3864"/>
                          </a:solidFill>
                          <a:latin typeface="Calibri"/>
                        </a:rPr>
                        <a:t>11</a:t>
                      </a:r>
                    </a:p>
                  </a:txBody>
                  <a:tcPr>
                    <a:solidFill>
                      <a:srgbClr val="FFFFFF"/>
                    </a:solidFill>
                  </a:tcPr>
                </a:tc>
                <a:tc>
                  <a:txBody>
                    <a:bodyPr/>
                    <a:lstStyle/>
                    <a:p>
                      <a:pPr algn="ctr"/>
                      <a:r>
                        <a:rPr sz="1050">
                          <a:solidFill>
                            <a:srgbClr val="1F3864"/>
                          </a:solidFill>
                          <a:latin typeface="Calibri"/>
                        </a:rPr>
                        <a:t>Appendix</a:t>
                      </a:r>
                    </a:p>
                  </a:txBody>
                  <a:tcPr>
                    <a:solidFill>
                      <a:srgbClr val="FFFFFF"/>
                    </a:solidFill>
                  </a:tcPr>
                </a:tc>
                <a:tc>
                  <a:txBody>
                    <a:bodyPr/>
                    <a:lstStyle/>
                    <a:p>
                      <a:pPr algn="ctr"/>
                      <a:r>
                        <a:rPr sz="1050">
                          <a:solidFill>
                            <a:srgbClr val="1F3864"/>
                          </a:solidFill>
                          <a:latin typeface="Calibri"/>
                        </a:rPr>
                        <a:t>Assumptions, suppliers by full name, acronyms, frameworks (fact-checked)</a:t>
                      </a:r>
                    </a:p>
                  </a:txBody>
                  <a:tcPr>
                    <a:solidFill>
                      <a:srgbClr val="FFFFFF"/>
                    </a:solidFill>
                  </a:tcPr>
                </a:tc>
              </a:tr>
            </a:tbl>
          </a:graphicData>
        </a:graphic>
      </p:graphicFrame>
      <p:sp>
        <p:nvSpPr>
          <p:cNvPr id="6" name="Rectangle 5"/>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Sequence: feasibility is settled → cost is now real → logistics are specific → strategy → timing → decision.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What changed: the experiment worked, and we have a real price</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1 · WHAT CHANGED</a:t>
            </a:r>
          </a:p>
        </p:txBody>
      </p:sp>
      <p:sp>
        <p:nvSpPr>
          <p:cNvPr id="5" name="Rectangle 4"/>
          <p:cNvSpPr/>
          <p:nvPr/>
        </p:nvSpPr>
        <p:spPr>
          <a:xfrm>
            <a:off x="548640" y="1097280"/>
            <a:ext cx="3611880" cy="132588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188720"/>
            <a:ext cx="3392424" cy="1143000"/>
          </a:xfrm>
          <a:prstGeom prst="rect">
            <a:avLst/>
          </a:prstGeom>
          <a:noFill/>
        </p:spPr>
        <p:txBody>
          <a:bodyPr wrap="square" anchor="ctr">
            <a:spAutoFit/>
          </a:bodyPr>
          <a:lstStyle/>
          <a:p>
            <a:pPr algn="ctr">
              <a:spcAft>
                <a:spcPts val="200"/>
              </a:spcAft>
            </a:pPr>
            <a:r>
              <a:rPr sz="2200" b="1" i="0">
                <a:solidFill>
                  <a:srgbClr val="2E7D46"/>
                </a:solidFill>
                <a:latin typeface="Calibri"/>
              </a:rPr>
              <a:t>Spec met</a:t>
            </a:r>
          </a:p>
          <a:p>
            <a:pPr algn="ctr">
              <a:spcAft>
                <a:spcPts val="400"/>
              </a:spcAft>
            </a:pPr>
            <a:r>
              <a:rPr sz="1050" b="0" i="0">
                <a:solidFill>
                  <a:srgbClr val="595959"/>
                </a:solidFill>
                <a:latin typeface="Calibri"/>
              </a:rPr>
              <a:t>PCI Manufacturing's production experiment hit 11% solids / 900–1,100 cP</a:t>
            </a:r>
          </a:p>
        </p:txBody>
      </p:sp>
      <p:sp>
        <p:nvSpPr>
          <p:cNvPr id="7" name="Rectangle 6"/>
          <p:cNvSpPr/>
          <p:nvPr/>
        </p:nvSpPr>
        <p:spPr>
          <a:xfrm>
            <a:off x="4297680" y="1097280"/>
            <a:ext cx="3611880" cy="13258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07408" y="1188720"/>
            <a:ext cx="3392424" cy="1143000"/>
          </a:xfrm>
          <a:prstGeom prst="rect">
            <a:avLst/>
          </a:prstGeom>
          <a:noFill/>
        </p:spPr>
        <p:txBody>
          <a:bodyPr wrap="square" anchor="ctr">
            <a:spAutoFit/>
          </a:bodyPr>
          <a:lstStyle/>
          <a:p>
            <a:pPr algn="ctr">
              <a:spcAft>
                <a:spcPts val="200"/>
              </a:spcAft>
            </a:pPr>
            <a:r>
              <a:rPr sz="2200" b="1" i="0">
                <a:solidFill>
                  <a:srgbClr val="1F3864"/>
                </a:solidFill>
                <a:latin typeface="Calibri"/>
              </a:rPr>
              <a:t>$3.50 / lb</a:t>
            </a:r>
          </a:p>
          <a:p>
            <a:pPr algn="ctr">
              <a:spcAft>
                <a:spcPts val="400"/>
              </a:spcAft>
            </a:pPr>
            <a:r>
              <a:rPr sz="1050" b="0" i="0">
                <a:solidFill>
                  <a:srgbClr val="595959"/>
                </a:solidFill>
                <a:latin typeface="Calibri"/>
              </a:rPr>
              <a:t>real quote — one batch of 5 drums (2,250 lb); $6.00/lb for anything smaller</a:t>
            </a:r>
          </a:p>
        </p:txBody>
      </p:sp>
      <p:sp>
        <p:nvSpPr>
          <p:cNvPr id="9" name="Rectangle 8"/>
          <p:cNvSpPr/>
          <p:nvPr/>
        </p:nvSpPr>
        <p:spPr>
          <a:xfrm>
            <a:off x="8046720" y="1097280"/>
            <a:ext cx="3566160" cy="132588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188720"/>
            <a:ext cx="3346704" cy="1143000"/>
          </a:xfrm>
          <a:prstGeom prst="rect">
            <a:avLst/>
          </a:prstGeom>
          <a:noFill/>
        </p:spPr>
        <p:txBody>
          <a:bodyPr wrap="square" anchor="ctr">
            <a:spAutoFit/>
          </a:bodyPr>
          <a:lstStyle/>
          <a:p>
            <a:pPr algn="ctr">
              <a:spcAft>
                <a:spcPts val="200"/>
              </a:spcAft>
            </a:pPr>
            <a:r>
              <a:rPr sz="2200" b="1" i="0">
                <a:solidFill>
                  <a:srgbClr val="9C5A0C"/>
                </a:solidFill>
                <a:latin typeface="Calibri"/>
              </a:rPr>
              <a:t>Decide now</a:t>
            </a:r>
          </a:p>
          <a:p>
            <a:pPr algn="ctr">
              <a:spcAft>
                <a:spcPts val="400"/>
              </a:spcAft>
            </a:pPr>
            <a:r>
              <a:rPr sz="1050" b="0" i="0">
                <a:solidFill>
                  <a:srgbClr val="595959"/>
                </a:solidFill>
                <a:latin typeface="Calibri"/>
              </a:rPr>
              <a:t>before our next SNP Inc. conversation — the posture must match the decision</a:t>
            </a:r>
          </a:p>
        </p:txBody>
      </p:sp>
      <p:sp>
        <p:nvSpPr>
          <p:cNvPr id="11" name="TextBox 10"/>
          <p:cNvSpPr txBox="1"/>
          <p:nvPr/>
        </p:nvSpPr>
        <p:spPr>
          <a:xfrm>
            <a:off x="548640" y="2651760"/>
            <a:ext cx="11064240" cy="3200400"/>
          </a:xfrm>
          <a:prstGeom prst="rect">
            <a:avLst/>
          </a:prstGeom>
          <a:noFill/>
        </p:spPr>
        <p:txBody>
          <a:bodyPr wrap="square">
            <a:spAutoFit/>
          </a:bodyPr>
          <a:lstStyle/>
          <a:p>
            <a:pPr>
              <a:spcAft>
                <a:spcPts val="800"/>
              </a:spcAft>
            </a:pPr>
            <a:r>
              <a:rPr b="1" sz="1250">
                <a:solidFill>
                  <a:srgbClr val="1F3864"/>
                </a:solidFill>
                <a:latin typeface="Calibri"/>
              </a:rPr>
              <a:t>•  The capability question is closed. </a:t>
            </a:r>
            <a:r>
              <a:rPr sz="1250">
                <a:solidFill>
                  <a:srgbClr val="595959"/>
                </a:solidFill>
                <a:latin typeface="Calibri"/>
              </a:rPr>
              <a:t>Six months and 94 suppliers produced one shop that can hold the 90–95 °C cook and make the product to spec: PCI Manufacturing (St. Louis, MO; CMS Manufacturing group). Viscosity root cause found, spec agreed, batch met it.</a:t>
            </a:r>
          </a:p>
          <a:p>
            <a:pPr>
              <a:spcAft>
                <a:spcPts val="800"/>
              </a:spcAft>
            </a:pPr>
            <a:r>
              <a:rPr b="1" sz="1250">
                <a:solidFill>
                  <a:srgbClr val="1F3864"/>
                </a:solidFill>
                <a:latin typeface="Calibri"/>
              </a:rPr>
              <a:t>•  The price question is closed too. </a:t>
            </a:r>
            <a:r>
              <a:rPr sz="1250">
                <a:solidFill>
                  <a:srgbClr val="595959"/>
                </a:solidFill>
                <a:latin typeface="Calibri"/>
              </a:rPr>
              <a:t>$3.50/lb sits exactly where the forecast mid-case was ($3.75), so the economics we showed last week hold. The $6.00 below-batch price removes any small-volume version: it is one-third of demand in 5-drum batches, or nothing.</a:t>
            </a:r>
          </a:p>
          <a:p>
            <a:pPr>
              <a:spcAft>
                <a:spcPts val="800"/>
              </a:spcAft>
            </a:pPr>
            <a:r>
              <a:rPr b="1" sz="1250">
                <a:solidFill>
                  <a:srgbClr val="1F3864"/>
                </a:solidFill>
                <a:latin typeface="Calibri"/>
              </a:rPr>
              <a:t>•  The batch size is the new fact. </a:t>
            </a:r>
            <a:r>
              <a:rPr sz="1250">
                <a:solidFill>
                  <a:srgbClr val="595959"/>
                </a:solidFill>
                <a:latin typeface="Calibri"/>
              </a:rPr>
              <a:t>5 drums = 12 days of full demand. With an 18-day shelf life the drums must be used at full rate on receipt — which shapes the logistics (slide 7) and what SNP Inc. would experience.</a:t>
            </a:r>
          </a:p>
          <a:p>
            <a:pPr>
              <a:spcAft>
                <a:spcPts val="800"/>
              </a:spcAft>
            </a:pPr>
            <a:r>
              <a:rPr b="1" sz="1250">
                <a:solidFill>
                  <a:srgbClr val="1F3864"/>
                </a:solidFill>
                <a:latin typeface="Calibri"/>
              </a:rPr>
              <a:t>•  Still to confirm with PCI: </a:t>
            </a:r>
            <a:r>
              <a:rPr sz="1250">
                <a:solidFill>
                  <a:srgbClr val="595959"/>
                </a:solidFill>
                <a:latin typeface="Calibri"/>
              </a:rPr>
              <a:t>delivered and all-in (materials, drum, freight)? quote validity? ~10 batches a year on a ~5-week rhythm? crisis ramp to ~3 batches a month? which resin producer they use (sub-tier overlap with SNP)?</a:t>
            </a:r>
          </a:p>
        </p:txBody>
      </p:sp>
      <p:sp>
        <p:nvSpPr>
          <p:cNvPr id="12" name="Rectangle 11"/>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We now know it can be done and what it costs. The open question is strategy — and it has a deadline.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Price per pound, side by side — and where each number comes from</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2 · COST</a:t>
            </a:r>
          </a:p>
        </p:txBody>
      </p:sp>
      <p:pic>
        <p:nvPicPr>
          <p:cNvPr id="5" name="Picture 4" descr="chart_price_side_by_side.png"/>
          <p:cNvPicPr>
            <a:picLocks noChangeAspect="1"/>
          </p:cNvPicPr>
          <p:nvPr/>
        </p:nvPicPr>
        <p:blipFill>
          <a:blip r:embed="rId2"/>
          <a:stretch>
            <a:fillRect/>
          </a:stretch>
        </p:blipFill>
        <p:spPr>
          <a:xfrm>
            <a:off x="548640" y="1051560"/>
            <a:ext cx="7406640" cy="3501321"/>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Provenance</a:t>
            </a:r>
          </a:p>
          <a:p>
            <a:pPr>
              <a:spcAft>
                <a:spcPts val="600"/>
              </a:spcAft>
            </a:pPr>
            <a:r>
              <a:rPr b="1" sz="1050">
                <a:solidFill>
                  <a:srgbClr val="1F3864"/>
                </a:solidFill>
                <a:latin typeface="Calibri"/>
              </a:rPr>
              <a:t>SNP Inc. $0.75  </a:t>
            </a:r>
            <a:r>
              <a:rPr sz="1000">
                <a:solidFill>
                  <a:srgbClr val="595959"/>
                </a:solidFill>
                <a:latin typeface="Calibri"/>
              </a:rPr>
              <a:t>— real quote (Estimate 012726-1), delivered all-in; a specialist's price</a:t>
            </a:r>
          </a:p>
          <a:p>
            <a:pPr>
              <a:spcAft>
                <a:spcPts val="600"/>
              </a:spcAft>
            </a:pPr>
            <a:r>
              <a:rPr b="1" sz="1050">
                <a:solidFill>
                  <a:srgbClr val="1F3864"/>
                </a:solidFill>
                <a:latin typeface="Calibri"/>
              </a:rPr>
              <a:t>PCI $3.50 / $6.00  </a:t>
            </a:r>
            <a:r>
              <a:rPr sz="1000">
                <a:solidFill>
                  <a:srgbClr val="595959"/>
                </a:solidFill>
                <a:latin typeface="Calibri"/>
              </a:rPr>
              <a:t>— real quote, 28 Sept: one 5-drum batch / anything smaller</a:t>
            </a:r>
          </a:p>
          <a:p>
            <a:pPr>
              <a:spcAft>
                <a:spcPts val="600"/>
              </a:spcAft>
            </a:pPr>
            <a:r>
              <a:rPr b="1" sz="1050">
                <a:solidFill>
                  <a:srgbClr val="1F3864"/>
                </a:solidFill>
                <a:latin typeface="Calibri"/>
              </a:rPr>
              <a:t>CJB $8.42  </a:t>
            </a:r>
            <a:r>
              <a:rPr sz="1000">
                <a:solidFill>
                  <a:srgbClr val="595959"/>
                </a:solidFill>
                <a:latin typeface="Calibri"/>
              </a:rPr>
              <a:t>— real quote: $8.00–8.50 toll excluding materials, + resin; eliminated</a:t>
            </a:r>
          </a:p>
          <a:p>
            <a:pPr>
              <a:spcAft>
                <a:spcPts val="600"/>
              </a:spcAft>
            </a:pPr>
            <a:r>
              <a:rPr b="1" sz="1050">
                <a:solidFill>
                  <a:srgbClr val="1F3864"/>
                </a:solidFill>
                <a:latin typeface="Calibri"/>
              </a:rPr>
              <a:t>Market $0.85 / $1.40 / $2.55  </a:t>
            </a:r>
            <a:r>
              <a:rPr sz="1000">
                <a:solidFill>
                  <a:srgbClr val="595959"/>
                </a:solidFill>
                <a:latin typeface="Calibri"/>
              </a:rPr>
              <a:t>— triangulated: resin floor + labor + freight; retail comp at the top</a:t>
            </a:r>
          </a:p>
          <a:p>
            <a:pPr>
              <a:spcAft>
                <a:spcPts val="600"/>
              </a:spcAft>
            </a:pPr>
            <a:r>
              <a:rPr b="1" sz="1050">
                <a:solidFill>
                  <a:srgbClr val="1F3864"/>
                </a:solidFill>
                <a:latin typeface="Calibri"/>
              </a:rPr>
              <a:t>Material floor $0.18  </a:t>
            </a:r>
            <a:r>
              <a:rPr sz="1000">
                <a:solidFill>
                  <a:srgbClr val="595959"/>
                </a:solidFill>
                <a:latin typeface="Calibri"/>
              </a:rPr>
              <a:t>— resin $1.26–1.60/lb × 11% solids</a:t>
            </a:r>
          </a:p>
          <a:p>
            <a:pPr>
              <a:spcAft>
                <a:spcPts val="600"/>
              </a:spcAft>
            </a:pPr>
            <a:r>
              <a:rPr b="1" sz="1050">
                <a:solidFill>
                  <a:srgbClr val="1F3864"/>
                </a:solidFill>
                <a:latin typeface="Calibri"/>
              </a:rPr>
              <a:t>July $1.00–1.25  </a:t>
            </a:r>
            <a:r>
              <a:rPr sz="1000">
                <a:solidFill>
                  <a:srgbClr val="595959"/>
                </a:solidFill>
                <a:latin typeface="Calibri"/>
              </a:rPr>
              <a:t>— assumption in the KPI deck — superseded</a:t>
            </a:r>
          </a:p>
          <a:p>
            <a:pPr algn="l">
              <a:spcBef>
                <a:spcPts val="400"/>
              </a:spcBef>
              <a:spcAft>
                <a:spcPts val="400"/>
              </a:spcAft>
            </a:pPr>
            <a:r>
              <a:rPr sz="1000" b="1" i="0">
                <a:solidFill>
                  <a:srgbClr val="1F3864"/>
                </a:solidFill>
                <a:latin typeface="Calibri"/>
              </a:rPr>
              <a:t>Why PCI is 4–5× SNP: batch-fixed conversion cost spread over few pounds, 1-drum-scale freight, and a non-specialist pricing in risk. SNP's tanks are right-sized to our order and PVA cooking is their core line.</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PCI's real number landed on the forecast mid-case. The market range was right; the July assumption was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Annual cost, side by side — what each option adds to today's $50.7k</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2 · COST</a:t>
            </a:r>
          </a:p>
        </p:txBody>
      </p:sp>
      <p:pic>
        <p:nvPicPr>
          <p:cNvPr id="5" name="Picture 4" descr="chart_annual_side_by_side.png"/>
          <p:cNvPicPr>
            <a:picLocks noChangeAspect="1"/>
          </p:cNvPicPr>
          <p:nvPr/>
        </p:nvPicPr>
        <p:blipFill>
          <a:blip r:embed="rId2"/>
          <a:stretch>
            <a:fillRect/>
          </a:stretch>
        </p:blipFill>
        <p:spPr>
          <a:xfrm>
            <a:off x="548640" y="1051560"/>
            <a:ext cx="7406640" cy="3501321"/>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Reading the chart</a:t>
            </a:r>
          </a:p>
          <a:p>
            <a:pPr>
              <a:spcAft>
                <a:spcPts val="600"/>
              </a:spcAft>
            </a:pPr>
            <a:r>
              <a:rPr b="1" sz="1050">
                <a:solidFill>
                  <a:srgbClr val="1F3864"/>
                </a:solidFill>
                <a:latin typeface="Calibri"/>
              </a:rPr>
              <a:t>A at $3.50 (1/3, 10 batches/yr)  </a:t>
            </a:r>
            <a:r>
              <a:rPr sz="1000">
                <a:solidFill>
                  <a:srgbClr val="595959"/>
                </a:solidFill>
                <a:latin typeface="Calibri"/>
              </a:rPr>
              <a:t>— $112.6k total → +$61.9k/yr, 122% of today's spend</a:t>
            </a:r>
          </a:p>
          <a:p>
            <a:pPr>
              <a:spcAft>
                <a:spcPts val="600"/>
              </a:spcAft>
            </a:pPr>
            <a:r>
              <a:rPr b="1" sz="1050">
                <a:solidFill>
                  <a:srgbClr val="1F3864"/>
                </a:solidFill>
                <a:latin typeface="Calibri"/>
              </a:rPr>
              <a:t>A at $6.00 (1 drum/week)  </a:t>
            </a:r>
            <a:r>
              <a:rPr sz="1000">
                <a:solidFill>
                  <a:srgbClr val="595959"/>
                </a:solidFill>
                <a:latin typeface="Calibri"/>
              </a:rPr>
              <a:t>— $173.6k → +$123k/yr — the small-order version is the expensive one</a:t>
            </a:r>
          </a:p>
          <a:p>
            <a:pPr>
              <a:spcAft>
                <a:spcPts val="600"/>
              </a:spcAft>
            </a:pPr>
            <a:r>
              <a:rPr b="1" sz="1050">
                <a:solidFill>
                  <a:srgbClr val="1F3864"/>
                </a:solidFill>
                <a:latin typeface="Calibri"/>
              </a:rPr>
              <a:t>Five years (+10%/yr volume)  </a:t>
            </a:r>
            <a:r>
              <a:rPr sz="1000">
                <a:solidFill>
                  <a:srgbClr val="595959"/>
                </a:solidFill>
                <a:latin typeface="Calibri"/>
              </a:rPr>
              <a:t>— ~$378k premium at $3.50 (undiscounted)</a:t>
            </a:r>
          </a:p>
          <a:p>
            <a:pPr>
              <a:spcAft>
                <a:spcPts val="600"/>
              </a:spcAft>
            </a:pPr>
            <a:r>
              <a:rPr b="1" sz="1050">
                <a:solidFill>
                  <a:srgbClr val="1F3864"/>
                </a:solidFill>
                <a:latin typeface="Calibri"/>
              </a:rPr>
              <a:t>One-time  </a:t>
            </a:r>
            <a:r>
              <a:rPr sz="1000">
                <a:solidFill>
                  <a:srgbClr val="595959"/>
                </a:solidFill>
                <a:latin typeface="Calibri"/>
              </a:rPr>
              <a:t>— ~$15k qualification placeholder — largely already spent in engineering hours</a:t>
            </a:r>
          </a:p>
          <a:p>
            <a:pPr>
              <a:spcAft>
                <a:spcPts val="600"/>
              </a:spcAft>
            </a:pPr>
            <a:r>
              <a:rPr b="1" sz="1050">
                <a:solidFill>
                  <a:srgbClr val="1F3864"/>
                </a:solidFill>
                <a:latin typeface="Calibri"/>
              </a:rPr>
              <a:t>Break-even  </a:t>
            </a:r>
            <a:r>
              <a:rPr sz="1000">
                <a:solidFill>
                  <a:srgbClr val="595959"/>
                </a:solidFill>
                <a:latin typeface="Calibri"/>
              </a:rPr>
              <a:t>— pays only if a 6-month SNP Inc. outage costs &gt; ~$620k (10%/yr risk) or ~$1.24M (5%)</a:t>
            </a:r>
          </a:p>
          <a:p>
            <a:pPr>
              <a:spcAft>
                <a:spcPts val="600"/>
              </a:spcAft>
            </a:pPr>
            <a:r>
              <a:rPr b="1" sz="1050">
                <a:solidFill>
                  <a:srgbClr val="1F3864"/>
                </a:solidFill>
                <a:latin typeface="Calibri"/>
              </a:rPr>
              <a:t>Not shown  </a:t>
            </a:r>
            <a:r>
              <a:rPr sz="1000">
                <a:solidFill>
                  <a:srgbClr val="595959"/>
                </a:solidFill>
                <a:latin typeface="Calibri"/>
              </a:rPr>
              <a:t>— if SNP Inc. re-prices the ~2/3 it keeps (+10–20%): add $3–7k/yr</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A second source at PCI's price roughly doubles the PVA bill every year. That is the real cost of the insurance — no longer a forecast.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The PCI experiment: a success — at what cost?</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3 · PCI</a:t>
            </a:r>
          </a:p>
        </p:txBody>
      </p:sp>
      <p:sp>
        <p:nvSpPr>
          <p:cNvPr id="5" name="Rectangle 4"/>
          <p:cNvSpPr/>
          <p:nvPr/>
        </p:nvSpPr>
        <p:spPr>
          <a:xfrm>
            <a:off x="548640" y="1097280"/>
            <a:ext cx="5440680" cy="233172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16152"/>
            <a:ext cx="5074920" cy="2093976"/>
          </a:xfrm>
          <a:prstGeom prst="rect">
            <a:avLst/>
          </a:prstGeom>
          <a:noFill/>
        </p:spPr>
        <p:txBody>
          <a:bodyPr wrap="square">
            <a:spAutoFit/>
          </a:bodyPr>
          <a:lstStyle/>
          <a:p>
            <a:pPr algn="l">
              <a:spcAft>
                <a:spcPts val="600"/>
              </a:spcAft>
            </a:pPr>
            <a:r>
              <a:rPr sz="1350" b="1" i="0">
                <a:solidFill>
                  <a:srgbClr val="2E7D46"/>
                </a:solidFill>
                <a:latin typeface="Calibri"/>
              </a:rPr>
              <a:t>What was proven, and what it is worth</a:t>
            </a:r>
          </a:p>
          <a:p>
            <a:pPr algn="l">
              <a:spcAft>
                <a:spcPts val="500"/>
              </a:spcAft>
            </a:pPr>
            <a:r>
              <a:rPr sz="1100" b="0" i="0">
                <a:solidFill>
                  <a:srgbClr val="595959"/>
                </a:solidFill>
                <a:latin typeface="Calibri"/>
              </a:rPr>
              <a:t>•  Capability: the 90–95 °C cook, no fisheyes, viscosity on target after the solids root cause was found; spec (11% / 900–1,100 cP) agreed and met</a:t>
            </a:r>
          </a:p>
          <a:p>
            <a:pPr algn="l">
              <a:spcAft>
                <a:spcPts val="500"/>
              </a:spcAft>
            </a:pPr>
            <a:r>
              <a:rPr sz="1100" b="0" i="0">
                <a:solidFill>
                  <a:srgbClr val="595959"/>
                </a:solidFill>
                <a:latin typeface="Calibri"/>
              </a:rPr>
              <a:t>•  A qualified-capable, quoted alternative now exists. Even if we never order, a cold start drops from 6–12 months to roughly 2–3: the spec, the process and a willing supplier are known</a:t>
            </a:r>
          </a:p>
          <a:p>
            <a:pPr algn="l">
              <a:spcAft>
                <a:spcPts val="500"/>
              </a:spcAft>
            </a:pPr>
            <a:r>
              <a:rPr sz="1100" b="0" i="0">
                <a:solidFill>
                  <a:srgbClr val="595959"/>
                </a:solidFill>
                <a:latin typeface="Calibri"/>
              </a:rPr>
              <a:t>•  The one thing not yet proven at scale: hydrogel performance on 100% PCI material, and rate production</a:t>
            </a:r>
          </a:p>
        </p:txBody>
      </p:sp>
      <p:sp>
        <p:nvSpPr>
          <p:cNvPr id="7" name="Rectangle 6"/>
          <p:cNvSpPr/>
          <p:nvPr/>
        </p:nvSpPr>
        <p:spPr>
          <a:xfrm>
            <a:off x="6172200" y="1097280"/>
            <a:ext cx="5440680" cy="23317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16152"/>
            <a:ext cx="5074920" cy="2093976"/>
          </a:xfrm>
          <a:prstGeom prst="rect">
            <a:avLst/>
          </a:prstGeom>
          <a:noFill/>
        </p:spPr>
        <p:txBody>
          <a:bodyPr wrap="square">
            <a:spAutoFit/>
          </a:bodyPr>
          <a:lstStyle/>
          <a:p>
            <a:pPr algn="l">
              <a:spcAft>
                <a:spcPts val="600"/>
              </a:spcAft>
            </a:pPr>
            <a:r>
              <a:rPr sz="1350" b="1" i="0">
                <a:solidFill>
                  <a:srgbClr val="9C5A0C"/>
                </a:solidFill>
                <a:latin typeface="Calibri"/>
              </a:rPr>
              <a:t>What it cost — and who paid</a:t>
            </a:r>
          </a:p>
          <a:p>
            <a:pPr algn="l">
              <a:spcAft>
                <a:spcPts val="500"/>
              </a:spcAft>
            </a:pPr>
            <a:r>
              <a:rPr sz="1100" b="0" i="0">
                <a:solidFill>
                  <a:srgbClr val="595959"/>
                </a:solidFill>
                <a:latin typeface="Calibri"/>
              </a:rPr>
              <a:t>•  PCI Manufacturing: two-plus lab batches, a dilution study, method alignment, a revised process — months of unpaid engineering on a ~$50k/yr account</a:t>
            </a:r>
          </a:p>
          <a:p>
            <a:pPr algn="l">
              <a:spcAft>
                <a:spcPts val="500"/>
              </a:spcAft>
            </a:pPr>
            <a:r>
              <a:rPr sz="1100" b="0" i="0">
                <a:solidFill>
                  <a:srgbClr val="595959"/>
                </a:solidFill>
                <a:latin typeface="Calibri"/>
              </a:rPr>
              <a:t>•  Us: ~6 months of sourcing and lab time (the $15k qualification placeholder is largely this)</a:t>
            </a:r>
          </a:p>
          <a:p>
            <a:pPr algn="l">
              <a:spcAft>
                <a:spcPts val="500"/>
              </a:spcAft>
            </a:pPr>
            <a:r>
              <a:rPr sz="1100" b="0" i="0">
                <a:solidFill>
                  <a:srgbClr val="595959"/>
                </a:solidFill>
                <a:latin typeface="Calibri"/>
              </a:rPr>
              <a:t>•  Still queued at PCI's expense unless we decide: the shelf-life study and the hydrogel comparison</a:t>
            </a:r>
          </a:p>
        </p:txBody>
      </p:sp>
      <p:sp>
        <p:nvSpPr>
          <p:cNvPr id="9" name="Rectangle 8"/>
          <p:cNvSpPr/>
          <p:nvPr/>
        </p:nvSpPr>
        <p:spPr>
          <a:xfrm>
            <a:off x="548640" y="3566160"/>
            <a:ext cx="5440680" cy="2240280"/>
          </a:xfrm>
          <a:prstGeom prst="rect">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685032"/>
            <a:ext cx="5074920" cy="2002536"/>
          </a:xfrm>
          <a:prstGeom prst="rect">
            <a:avLst/>
          </a:prstGeom>
          <a:noFill/>
        </p:spPr>
        <p:txBody>
          <a:bodyPr wrap="square">
            <a:spAutoFit/>
          </a:bodyPr>
          <a:lstStyle/>
          <a:p>
            <a:pPr algn="l">
              <a:spcAft>
                <a:spcPts val="600"/>
              </a:spcAft>
            </a:pPr>
            <a:r>
              <a:rPr sz="1350" b="1" i="0">
                <a:solidFill>
                  <a:srgbClr val="B23A2E"/>
                </a:solidFill>
                <a:latin typeface="Calibri"/>
              </a:rPr>
              <a:t>The standing price of using it</a:t>
            </a:r>
          </a:p>
          <a:p>
            <a:pPr algn="l">
              <a:spcAft>
                <a:spcPts val="500"/>
              </a:spcAft>
            </a:pPr>
            <a:r>
              <a:rPr sz="1100" b="0" i="0">
                <a:solidFill>
                  <a:srgbClr val="595959"/>
                </a:solidFill>
                <a:latin typeface="Calibri"/>
              </a:rPr>
              <a:t>•  +$62k/yr at one-third, growing with volume (~$378k over five years)</a:t>
            </a:r>
          </a:p>
          <a:p>
            <a:pPr algn="l">
              <a:spcAft>
                <a:spcPts val="500"/>
              </a:spcAft>
            </a:pPr>
            <a:r>
              <a:rPr sz="1100" b="0" i="0">
                <a:solidFill>
                  <a:srgbClr val="595959"/>
                </a:solidFill>
                <a:latin typeface="Calibri"/>
              </a:rPr>
              <a:t>•  Plus a permanent operating discipline: two specs, two Certificate-of-Analysis (CoA) streams, block rotation, two relationships</a:t>
            </a:r>
          </a:p>
          <a:p>
            <a:pPr algn="l">
              <a:spcAft>
                <a:spcPts val="500"/>
              </a:spcAft>
            </a:pPr>
            <a:r>
              <a:rPr sz="1100" b="0" i="0">
                <a:solidFill>
                  <a:srgbClr val="595959"/>
                </a:solidFill>
                <a:latin typeface="Calibri"/>
              </a:rPr>
              <a:t>•  Plus what it does to SNP Inc.: a third less volume, delivered in lumps</a:t>
            </a:r>
          </a:p>
        </p:txBody>
      </p:sp>
      <p:sp>
        <p:nvSpPr>
          <p:cNvPr id="11" name="Rectangle 10"/>
          <p:cNvSpPr/>
          <p:nvPr/>
        </p:nvSpPr>
        <p:spPr>
          <a:xfrm>
            <a:off x="6172200" y="3566160"/>
            <a:ext cx="5440680" cy="22402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685032"/>
            <a:ext cx="5074920" cy="2002536"/>
          </a:xfrm>
          <a:prstGeom prst="rect">
            <a:avLst/>
          </a:prstGeom>
          <a:noFill/>
        </p:spPr>
        <p:txBody>
          <a:bodyPr wrap="square">
            <a:spAutoFit/>
          </a:bodyPr>
          <a:lstStyle/>
          <a:p>
            <a:pPr algn="l">
              <a:spcAft>
                <a:spcPts val="600"/>
              </a:spcAft>
            </a:pPr>
            <a:r>
              <a:rPr sz="1350" b="1" i="0">
                <a:solidFill>
                  <a:srgbClr val="1F3864"/>
                </a:solidFill>
                <a:latin typeface="Calibri"/>
              </a:rPr>
              <a:t>The price of walking away — and a middle</a:t>
            </a:r>
          </a:p>
          <a:p>
            <a:pPr algn="l">
              <a:spcAft>
                <a:spcPts val="500"/>
              </a:spcAft>
            </a:pPr>
            <a:r>
              <a:rPr sz="1100" b="0" i="0">
                <a:solidFill>
                  <a:srgbClr val="595959"/>
                </a:solidFill>
                <a:latin typeface="Calibri"/>
              </a:rPr>
              <a:t>•  Goodwill: a supplier that did months of free work and got nothing may not re-engage, or will require paid development and commitments next time</a:t>
            </a:r>
          </a:p>
          <a:p>
            <a:pPr algn="l">
              <a:spcAft>
                <a:spcPts val="500"/>
              </a:spcAft>
            </a:pPr>
            <a:r>
              <a:rPr sz="1100" b="0" i="0">
                <a:solidFill>
                  <a:srgbClr val="595959"/>
                </a:solidFill>
                <a:latin typeface="Calibri"/>
              </a:rPr>
              <a:t>•  Middle: buy ONE 5-drum production batch (~$7.9k; ~$6.2k premium; ~3% of annual volume). It finishes the qualification at scale, pays PCI with a real order, and is invisible to SNP Inc.'s year</a:t>
            </a:r>
          </a:p>
          <a:p>
            <a:pPr algn="l">
              <a:spcAft>
                <a:spcPts val="500"/>
              </a:spcAft>
            </a:pPr>
            <a:r>
              <a:rPr sz="1100" b="0" i="0">
                <a:solidFill>
                  <a:srgbClr val="595959"/>
                </a:solidFill>
                <a:latin typeface="Calibri"/>
              </a:rPr>
              <a:t>•  Either way: be candid, and stop consuming free experiments once decided</a:t>
            </a:r>
          </a:p>
        </p:txBody>
      </p:sp>
      <p:sp>
        <p:nvSpPr>
          <p:cNvPr id="13" name="Rectangle 12"/>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The experiment bought us certainty. Whether we buy the product is a separate decision — and it now has a real price on both 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What 5-drum batches mean operationally</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4 · LOGISTICS</a:t>
            </a:r>
          </a:p>
        </p:txBody>
      </p:sp>
      <p:sp>
        <p:nvSpPr>
          <p:cNvPr id="5" name="Rectangle 4"/>
          <p:cNvSpPr/>
          <p:nvPr/>
        </p:nvSpPr>
        <p:spPr>
          <a:xfrm>
            <a:off x="548640" y="1097280"/>
            <a:ext cx="11064240" cy="14173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10698480" cy="1280160"/>
          </a:xfrm>
          <a:prstGeom prst="rect">
            <a:avLst/>
          </a:prstGeom>
          <a:noFill/>
        </p:spPr>
        <p:txBody>
          <a:bodyPr wrap="square">
            <a:spAutoFit/>
          </a:bodyPr>
          <a:lstStyle/>
          <a:p>
            <a:pPr algn="l">
              <a:spcAft>
                <a:spcPts val="400"/>
              </a:spcAft>
            </a:pPr>
            <a:r>
              <a:rPr sz="1300" b="1" i="0">
                <a:solidFill>
                  <a:srgbClr val="1F3864"/>
                </a:solidFill>
                <a:latin typeface="Calibri"/>
              </a:rPr>
              <a:t>Block rotation, every ~5 weeks (at one-third of demand, 18-day shelf life)</a:t>
            </a:r>
          </a:p>
          <a:p>
            <a:pPr algn="l">
              <a:spcAft>
                <a:spcPts val="300"/>
              </a:spcAft>
            </a:pPr>
            <a:r>
              <a:rPr sz="1150" b="0" i="0">
                <a:solidFill>
                  <a:srgbClr val="595959"/>
                </a:solidFill>
                <a:latin typeface="Calibri"/>
              </a:rPr>
              <a:t>Days 1–12: all production on PCI material (5 drums = 2,250 lb = 12 days at full rate — must be consumed before day 18)   →   Days 13–36: all production on SNP Inc. material (~10 drums)   →   repeat. 10 PCI batches a year.</a:t>
            </a:r>
          </a:p>
          <a:p>
            <a:pPr algn="l">
              <a:spcAft>
                <a:spcPts val="400"/>
              </a:spcAft>
            </a:pPr>
            <a:r>
              <a:rPr sz="1100" b="1" i="0">
                <a:solidFill>
                  <a:srgbClr val="1F3864"/>
                </a:solidFill>
                <a:latin typeface="Calibri"/>
              </a:rPr>
              <a:t>Why not blend at a one-third rate? A batch consumed at two-thirds rate takes 18.2 days — over the shelf life. A validated 30-day life would allow it, and would let SNP Inc. keep supplying at a reduced rate during a PCI batch instead of pausing.</a:t>
            </a:r>
          </a:p>
        </p:txBody>
      </p:sp>
      <p:sp>
        <p:nvSpPr>
          <p:cNvPr id="7" name="Rectangle 6"/>
          <p:cNvSpPr/>
          <p:nvPr/>
        </p:nvSpPr>
        <p:spPr>
          <a:xfrm>
            <a:off x="548640" y="2651760"/>
            <a:ext cx="3611880" cy="3200400"/>
          </a:xfrm>
          <a:prstGeom prst="rect">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770632"/>
            <a:ext cx="3246120" cy="2962656"/>
          </a:xfrm>
          <a:prstGeom prst="rect">
            <a:avLst/>
          </a:prstGeom>
          <a:noFill/>
        </p:spPr>
        <p:txBody>
          <a:bodyPr wrap="square">
            <a:spAutoFit/>
          </a:bodyPr>
          <a:lstStyle/>
          <a:p>
            <a:pPr algn="l">
              <a:spcAft>
                <a:spcPts val="600"/>
              </a:spcAft>
            </a:pPr>
            <a:r>
              <a:rPr sz="1350" b="1" i="0">
                <a:solidFill>
                  <a:srgbClr val="B23A2E"/>
                </a:solidFill>
                <a:latin typeface="Calibri"/>
              </a:rPr>
              <a:t>What it does to SNP Inc.</a:t>
            </a:r>
          </a:p>
          <a:p>
            <a:pPr algn="l">
              <a:spcAft>
                <a:spcPts val="500"/>
              </a:spcAft>
            </a:pPr>
            <a:r>
              <a:rPr sz="1050" b="0" i="0">
                <a:solidFill>
                  <a:srgbClr val="595959"/>
                </a:solidFill>
                <a:latin typeface="Calibri"/>
              </a:rPr>
              <a:t>•  Loses a third of volume ($50.7k → $33.8k) — and gets it in lumps: a ~12-day gap every ~5 weeks</a:t>
            </a:r>
          </a:p>
          <a:p>
            <a:pPr algn="l">
              <a:spcAft>
                <a:spcPts val="500"/>
              </a:spcAft>
            </a:pPr>
            <a:r>
              <a:rPr sz="1050" b="0" i="0">
                <a:solidFill>
                  <a:srgbClr val="595959"/>
                </a:solidFill>
                <a:latin typeface="Calibri"/>
              </a:rPr>
              <a:t>•  Lumpy demand is worse for a small specialist than a steady reduced share: idle kettle time, harder resin planning</a:t>
            </a:r>
          </a:p>
          <a:p>
            <a:pPr algn="l">
              <a:spcAft>
                <a:spcPts val="500"/>
              </a:spcAft>
            </a:pPr>
            <a:r>
              <a:rPr sz="1050" b="0" i="0">
                <a:solidFill>
                  <a:srgbClr val="595959"/>
                </a:solidFill>
                <a:latin typeface="Calibri"/>
              </a:rPr>
              <a:t>•  Our account falls below ~1% of their revenue at the moment we want first call on capacity and innovation</a:t>
            </a:r>
          </a:p>
        </p:txBody>
      </p:sp>
      <p:sp>
        <p:nvSpPr>
          <p:cNvPr id="9" name="Rectangle 8"/>
          <p:cNvSpPr/>
          <p:nvPr/>
        </p:nvSpPr>
        <p:spPr>
          <a:xfrm>
            <a:off x="4297680" y="2651760"/>
            <a:ext cx="3611880" cy="320040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770632"/>
            <a:ext cx="3246120" cy="2962656"/>
          </a:xfrm>
          <a:prstGeom prst="rect">
            <a:avLst/>
          </a:prstGeom>
          <a:noFill/>
        </p:spPr>
        <p:txBody>
          <a:bodyPr wrap="square">
            <a:spAutoFit/>
          </a:bodyPr>
          <a:lstStyle/>
          <a:p>
            <a:pPr algn="l">
              <a:spcAft>
                <a:spcPts val="600"/>
              </a:spcAft>
            </a:pPr>
            <a:r>
              <a:rPr sz="1350" b="1" i="0">
                <a:solidFill>
                  <a:srgbClr val="9C5A0C"/>
                </a:solidFill>
                <a:latin typeface="Calibri"/>
              </a:rPr>
              <a:t>What we would have to run</a:t>
            </a:r>
          </a:p>
          <a:p>
            <a:pPr algn="l">
              <a:spcAft>
                <a:spcPts val="500"/>
              </a:spcAft>
            </a:pPr>
            <a:r>
              <a:rPr sz="1050" b="0" i="0">
                <a:solidFill>
                  <a:srgbClr val="595959"/>
                </a:solidFill>
                <a:latin typeface="Calibri"/>
              </a:rPr>
              <a:t>•  One harmonized spec and ONE viscometer method; incoming test on every lot from both; lot traceability by source; hydrogel performance tracked by supplier</a:t>
            </a:r>
          </a:p>
          <a:p>
            <a:pPr algn="l">
              <a:spcAft>
                <a:spcPts val="500"/>
              </a:spcAft>
            </a:pPr>
            <a:r>
              <a:rPr sz="1050" b="0" i="0">
                <a:solidFill>
                  <a:srgbClr val="595959"/>
                </a:solidFill>
                <a:latin typeface="Calibri"/>
              </a:rPr>
              <a:t>•  Five drums on site at once: storage, temperature, strict first-in-first-out inside 12 days</a:t>
            </a:r>
          </a:p>
          <a:p>
            <a:pPr algn="l">
              <a:spcAft>
                <a:spcPts val="500"/>
              </a:spcAft>
            </a:pPr>
            <a:r>
              <a:rPr sz="1050" b="0" i="0">
                <a:solidFill>
                  <a:srgbClr val="595959"/>
                </a:solidFill>
                <a:latin typeface="Calibri"/>
              </a:rPr>
              <a:t>•  Two cleaning procedures (PCI's residual-film issue is open); two Supplier Quality Agreements; R&amp;D and Quality time for equivalence and CAPA across two streams</a:t>
            </a:r>
          </a:p>
        </p:txBody>
      </p:sp>
      <p:sp>
        <p:nvSpPr>
          <p:cNvPr id="11" name="Rectangle 10"/>
          <p:cNvSpPr/>
          <p:nvPr/>
        </p:nvSpPr>
        <p:spPr>
          <a:xfrm>
            <a:off x="8046720" y="2651760"/>
            <a:ext cx="3566160" cy="3200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770632"/>
            <a:ext cx="3200400" cy="2962656"/>
          </a:xfrm>
          <a:prstGeom prst="rect">
            <a:avLst/>
          </a:prstGeom>
          <a:noFill/>
        </p:spPr>
        <p:txBody>
          <a:bodyPr wrap="square">
            <a:spAutoFit/>
          </a:bodyPr>
          <a:lstStyle/>
          <a:p>
            <a:pPr algn="l">
              <a:spcAft>
                <a:spcPts val="600"/>
              </a:spcAft>
            </a:pPr>
            <a:r>
              <a:rPr sz="1350" b="1" i="0">
                <a:solidFill>
                  <a:srgbClr val="2E7D46"/>
                </a:solidFill>
                <a:latin typeface="Calibri"/>
              </a:rPr>
              <a:t>What it buys — if the ramp is real</a:t>
            </a:r>
          </a:p>
          <a:p>
            <a:pPr algn="l">
              <a:spcAft>
                <a:spcPts val="500"/>
              </a:spcAft>
            </a:pPr>
            <a:r>
              <a:rPr sz="1050" b="0" i="0">
                <a:solidFill>
                  <a:srgbClr val="595959"/>
                </a:solidFill>
                <a:latin typeface="Calibri"/>
              </a:rPr>
              <a:t>•  Recovery in weeks if SNP Inc. fails — provided PCI confirms in writing it can go from 1 batch every 5 weeks to ~3 a month</a:t>
            </a:r>
          </a:p>
          <a:p>
            <a:pPr algn="l">
              <a:spcAft>
                <a:spcPts val="500"/>
              </a:spcAft>
            </a:pPr>
            <a:r>
              <a:rPr sz="1050" b="0" i="0">
                <a:solidFill>
                  <a:srgbClr val="595959"/>
                </a:solidFill>
                <a:latin typeface="Calibri"/>
              </a:rPr>
              <a:t>•  Until then, ~2/3 of volume still stops in an outage</a:t>
            </a:r>
          </a:p>
          <a:p>
            <a:pPr algn="l">
              <a:spcAft>
                <a:spcPts val="500"/>
              </a:spcAft>
            </a:pPr>
            <a:r>
              <a:rPr sz="1050" b="0" i="0">
                <a:solidFill>
                  <a:srgbClr val="595959"/>
                </a:solidFill>
                <a:latin typeface="Calibri"/>
              </a:rPr>
              <a:t>•  Sub-tier check: if PCI cooks the same producer's resin as SNP, a second cooker hedges cooking, not resin — buffer the shelf-stable resin either way</a:t>
            </a:r>
          </a:p>
        </p:txBody>
      </p:sp>
      <p:sp>
        <p:nvSpPr>
          <p:cNvPr id="13" name="Rectangle 12"/>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Two suppliers is workable — as a permanent discipline, with lumpy demand to SNP Inc. unless we validate a longer shelf life.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Strategy propositions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5 · STRATEGY</a:t>
            </a:r>
          </a:p>
        </p:txBody>
      </p:sp>
      <p:graphicFrame>
        <p:nvGraphicFramePr>
          <p:cNvPr id="5" name="Table 4"/>
          <p:cNvGraphicFramePr>
            <a:graphicFrameLocks noGrp="1"/>
          </p:cNvGraphicFramePr>
          <p:nvPr/>
        </p:nvGraphicFramePr>
        <p:xfrm>
          <a:off x="548640" y="1097280"/>
          <a:ext cx="11064240" cy="4663440"/>
        </p:xfrm>
        <a:graphic>
          <a:graphicData uri="http://schemas.openxmlformats.org/drawingml/2006/table">
            <a:tbl>
              <a:tblPr firstRow="1" bandRow="1">
                <a:tableStyleId>{5C22544A-7EE6-4342-B048-85BDC9FD1C3A}</a:tableStyleId>
              </a:tblPr>
              <a:tblGrid>
                <a:gridCol w="1463040"/>
                <a:gridCol w="3108960"/>
                <a:gridCol w="3246120"/>
                <a:gridCol w="3246120"/>
              </a:tblGrid>
              <a:tr h="666205">
                <a:tc>
                  <a:txBody>
                    <a:bodyPr/>
                    <a:lstStyle/>
                    <a:p>
                      <a:pPr algn="l"/>
                      <a:r>
                        <a:rPr sz="980" b="1">
                          <a:solidFill>
                            <a:srgbClr val="FFFFFF"/>
                          </a:solidFill>
                          <a:latin typeface="Calibri"/>
                        </a:rPr>
                        <a:t/>
                      </a:r>
                    </a:p>
                  </a:txBody>
                  <a:tcPr>
                    <a:solidFill>
                      <a:srgbClr val="1F3864"/>
                    </a:solidFill>
                  </a:tcPr>
                </a:tc>
                <a:tc>
                  <a:txBody>
                    <a:bodyPr/>
                    <a:lstStyle/>
                    <a:p>
                      <a:pPr algn="ctr"/>
                      <a:r>
                        <a:rPr sz="980" b="1">
                          <a:solidFill>
                            <a:srgbClr val="FFFFFF"/>
                          </a:solidFill>
                          <a:latin typeface="Calibri"/>
                        </a:rPr>
                        <a:t>A · Commit one-third now</a:t>
                      </a:r>
                    </a:p>
                  </a:txBody>
                  <a:tcPr>
                    <a:solidFill>
                      <a:srgbClr val="1F3864"/>
                    </a:solidFill>
                  </a:tcPr>
                </a:tc>
                <a:tc>
                  <a:txBody>
                    <a:bodyPr/>
                    <a:lstStyle/>
                    <a:p>
                      <a:pPr algn="ctr"/>
                      <a:r>
                        <a:rPr sz="980" b="1">
                          <a:solidFill>
                            <a:srgbClr val="FFFFFF"/>
                          </a:solidFill>
                          <a:latin typeface="Calibri"/>
                        </a:rPr>
                        <a:t>B · Single source, strengthened</a:t>
                      </a:r>
                    </a:p>
                  </a:txBody>
                  <a:tcPr>
                    <a:solidFill>
                      <a:srgbClr val="1F3864"/>
                    </a:solidFill>
                  </a:tcPr>
                </a:tc>
                <a:tc>
                  <a:txBody>
                    <a:bodyPr/>
                    <a:lstStyle/>
                    <a:p>
                      <a:pPr algn="l"/>
                      <a:r>
                        <a:rPr sz="980" b="1">
                          <a:solidFill>
                            <a:srgbClr val="FFFFFF"/>
                          </a:solidFill>
                          <a:latin typeface="Calibri"/>
                        </a:rPr>
                        <a:t>B-plus · One batch, then B</a:t>
                      </a:r>
                    </a:p>
                  </a:txBody>
                  <a:tcPr>
                    <a:solidFill>
                      <a:srgbClr val="1F3864"/>
                    </a:solidFill>
                  </a:tcPr>
                </a:tc>
              </a:tr>
              <a:tr h="666205">
                <a:tc>
                  <a:txBody>
                    <a:bodyPr/>
                    <a:lstStyle/>
                    <a:p>
                      <a:pPr algn="l"/>
                      <a:r>
                        <a:rPr sz="980" b="1">
                          <a:solidFill>
                            <a:srgbClr val="1F3864"/>
                          </a:solidFill>
                          <a:latin typeface="Calibri"/>
                        </a:rPr>
                        <a:t>What it is</a:t>
                      </a:r>
                    </a:p>
                  </a:txBody>
                  <a:tcPr>
                    <a:solidFill>
                      <a:srgbClr val="FFFFFF"/>
                    </a:solidFill>
                  </a:tcPr>
                </a:tc>
                <a:tc>
                  <a:txBody>
                    <a:bodyPr/>
                    <a:lstStyle/>
                    <a:p>
                      <a:pPr algn="ctr"/>
                      <a:r>
                        <a:rPr sz="980">
                          <a:solidFill>
                            <a:srgbClr val="1F3864"/>
                          </a:solidFill>
                          <a:latin typeface="Calibri"/>
                        </a:rPr>
                        <a:t>10 PCI batches/yr in block rotation; SNP Inc. keeps ~2/3</a:t>
                      </a:r>
                    </a:p>
                  </a:txBody>
                  <a:tcPr>
                    <a:solidFill>
                      <a:srgbClr val="FCE4D6"/>
                    </a:solidFill>
                  </a:tcPr>
                </a:tc>
                <a:tc>
                  <a:txBody>
                    <a:bodyPr/>
                    <a:lstStyle/>
                    <a:p>
                      <a:pPr algn="ctr"/>
                      <a:r>
                        <a:rPr sz="980">
                          <a:solidFill>
                            <a:srgbClr val="1F3864"/>
                          </a:solidFill>
                          <a:latin typeface="Calibri"/>
                        </a:rPr>
                        <a:t>SNP Inc. sole source with continuity terms, forecast sharing, resin buffer, financial check; PCI kept as a dated, quoted option; pay for the work done</a:t>
                      </a:r>
                    </a:p>
                  </a:txBody>
                  <a:tcPr>
                    <a:solidFill>
                      <a:srgbClr val="E2EFDA"/>
                    </a:solidFill>
                  </a:tcPr>
                </a:tc>
                <a:tc>
                  <a:txBody>
                    <a:bodyPr/>
                    <a:lstStyle/>
                    <a:p>
                      <a:pPr algn="l"/>
                      <a:r>
                        <a:rPr sz="980">
                          <a:solidFill>
                            <a:srgbClr val="1F3864"/>
                          </a:solidFill>
                          <a:latin typeface="Calibri"/>
                        </a:rPr>
                        <a:t>Buy one 5-drum production batch now to finish qualification at scale, then run B with a fully qualified alternative on file</a:t>
                      </a:r>
                    </a:p>
                  </a:txBody>
                  <a:tcPr>
                    <a:solidFill>
                      <a:srgbClr val="FFF2CC"/>
                    </a:solidFill>
                  </a:tcPr>
                </a:tc>
              </a:tr>
              <a:tr h="666205">
                <a:tc>
                  <a:txBody>
                    <a:bodyPr/>
                    <a:lstStyle/>
                    <a:p>
                      <a:pPr algn="l"/>
                      <a:r>
                        <a:rPr sz="980" b="1">
                          <a:solidFill>
                            <a:srgbClr val="1F3864"/>
                          </a:solidFill>
                          <a:latin typeface="Calibri"/>
                        </a:rPr>
                        <a:t>Cost</a:t>
                      </a:r>
                    </a:p>
                  </a:txBody>
                  <a:tcPr>
                    <a:solidFill>
                      <a:srgbClr val="FFFFFF"/>
                    </a:solidFill>
                  </a:tcPr>
                </a:tc>
                <a:tc>
                  <a:txBody>
                    <a:bodyPr/>
                    <a:lstStyle/>
                    <a:p>
                      <a:pPr algn="ctr"/>
                      <a:r>
                        <a:rPr sz="980">
                          <a:solidFill>
                            <a:srgbClr val="1F3864"/>
                          </a:solidFill>
                          <a:latin typeface="Calibri"/>
                        </a:rPr>
                        <a:t>+$62k/yr, ~$378k / 5 yrs, + ~$15k one-time</a:t>
                      </a:r>
                    </a:p>
                  </a:txBody>
                  <a:tcPr>
                    <a:solidFill>
                      <a:srgbClr val="FCE4D6"/>
                    </a:solidFill>
                  </a:tcPr>
                </a:tc>
                <a:tc>
                  <a:txBody>
                    <a:bodyPr/>
                    <a:lstStyle/>
                    <a:p>
                      <a:pPr algn="ctr"/>
                      <a:r>
                        <a:rPr sz="980">
                          <a:solidFill>
                            <a:srgbClr val="1F3864"/>
                          </a:solidFill>
                          <a:latin typeface="Calibri"/>
                        </a:rPr>
                        <a:t>~$3–12k/yr + ~$5–10k one-time; ~$15k settlement with PCI</a:t>
                      </a:r>
                    </a:p>
                  </a:txBody>
                  <a:tcPr>
                    <a:solidFill>
                      <a:srgbClr val="E2EFDA"/>
                    </a:solidFill>
                  </a:tcPr>
                </a:tc>
                <a:tc>
                  <a:txBody>
                    <a:bodyPr/>
                    <a:lstStyle/>
                    <a:p>
                      <a:pPr algn="l"/>
                      <a:r>
                        <a:rPr sz="980">
                          <a:solidFill>
                            <a:srgbClr val="1F3864"/>
                          </a:solidFill>
                          <a:latin typeface="Calibri"/>
                        </a:rPr>
                        <a:t>~$7.9k once (+$6.2k premium) + B's costs</a:t>
                      </a:r>
                    </a:p>
                  </a:txBody>
                  <a:tcPr>
                    <a:solidFill>
                      <a:srgbClr val="FFF2CC"/>
                    </a:solidFill>
                  </a:tcPr>
                </a:tc>
              </a:tr>
              <a:tr h="666205">
                <a:tc>
                  <a:txBody>
                    <a:bodyPr/>
                    <a:lstStyle/>
                    <a:p>
                      <a:pPr algn="l"/>
                      <a:r>
                        <a:rPr sz="980" b="1">
                          <a:solidFill>
                            <a:srgbClr val="1F3864"/>
                          </a:solidFill>
                          <a:latin typeface="Calibri"/>
                        </a:rPr>
                        <a:t>What it buys</a:t>
                      </a:r>
                    </a:p>
                  </a:txBody>
                  <a:tcPr>
                    <a:solidFill>
                      <a:srgbClr val="FFFFFF"/>
                    </a:solidFill>
                  </a:tcPr>
                </a:tc>
                <a:tc>
                  <a:txBody>
                    <a:bodyPr/>
                    <a:lstStyle/>
                    <a:p>
                      <a:pPr algn="ctr"/>
                      <a:r>
                        <a:rPr sz="980">
                          <a:solidFill>
                            <a:srgbClr val="1F3864"/>
                          </a:solidFill>
                          <a:latin typeface="Calibri"/>
                        </a:rPr>
                        <a:t>A practiced second source; recovery in weeks if the ramp is confirmed</a:t>
                      </a:r>
                    </a:p>
                  </a:txBody>
                  <a:tcPr>
                    <a:solidFill>
                      <a:srgbClr val="FCE4D6"/>
                    </a:solidFill>
                  </a:tcPr>
                </a:tc>
                <a:tc>
                  <a:txBody>
                    <a:bodyPr/>
                    <a:lstStyle/>
                    <a:p>
                      <a:pPr algn="ctr"/>
                      <a:r>
                        <a:rPr sz="980">
                          <a:solidFill>
                            <a:srgbClr val="1F3864"/>
                          </a:solidFill>
                          <a:latin typeface="Calibri"/>
                        </a:rPr>
                        <a:t>Deeper partnership; documented continuity; cold start ~2–3 months given what we now know</a:t>
                      </a:r>
                    </a:p>
                  </a:txBody>
                  <a:tcPr>
                    <a:solidFill>
                      <a:srgbClr val="E2EFDA"/>
                    </a:solidFill>
                  </a:tcPr>
                </a:tc>
                <a:tc>
                  <a:txBody>
                    <a:bodyPr/>
                    <a:lstStyle/>
                    <a:p>
                      <a:pPr algn="l"/>
                      <a:r>
                        <a:rPr sz="980">
                          <a:solidFill>
                            <a:srgbClr val="1F3864"/>
                          </a:solidFill>
                          <a:latin typeface="Calibri"/>
                        </a:rPr>
                        <a:t>Everything B buys, plus proven rate and hydrogel performance on 100% PCI material, and a supplier paid with a real order</a:t>
                      </a:r>
                    </a:p>
                  </a:txBody>
                  <a:tcPr>
                    <a:solidFill>
                      <a:srgbClr val="FFF2CC"/>
                    </a:solidFill>
                  </a:tcPr>
                </a:tc>
              </a:tr>
              <a:tr h="666205">
                <a:tc>
                  <a:txBody>
                    <a:bodyPr/>
                    <a:lstStyle/>
                    <a:p>
                      <a:pPr algn="l"/>
                      <a:r>
                        <a:rPr sz="980" b="1">
                          <a:solidFill>
                            <a:srgbClr val="1F3864"/>
                          </a:solidFill>
                          <a:latin typeface="Calibri"/>
                        </a:rPr>
                        <a:t>Effect on SNP Inc.</a:t>
                      </a:r>
                    </a:p>
                  </a:txBody>
                  <a:tcPr>
                    <a:solidFill>
                      <a:srgbClr val="FFFFFF"/>
                    </a:solidFill>
                  </a:tcPr>
                </a:tc>
                <a:tc>
                  <a:txBody>
                    <a:bodyPr/>
                    <a:lstStyle/>
                    <a:p>
                      <a:pPr algn="ctr"/>
                      <a:r>
                        <a:rPr sz="980">
                          <a:solidFill>
                            <a:srgbClr val="1F3864"/>
                          </a:solidFill>
                          <a:latin typeface="Calibri"/>
                        </a:rPr>
                        <a:t>−1/3 volume, lumpy; relationship strain at the wrong moment</a:t>
                      </a:r>
                    </a:p>
                  </a:txBody>
                  <a:tcPr>
                    <a:solidFill>
                      <a:srgbClr val="FCE4D6"/>
                    </a:solidFill>
                  </a:tcPr>
                </a:tc>
                <a:tc>
                  <a:txBody>
                    <a:bodyPr/>
                    <a:lstStyle/>
                    <a:p>
                      <a:pPr algn="ctr"/>
                      <a:r>
                        <a:rPr sz="980">
                          <a:solidFill>
                            <a:srgbClr val="1F3864"/>
                          </a:solidFill>
                          <a:latin typeface="Calibri"/>
                        </a:rPr>
                        <a:t>Strengthened; capacity headroom and succession tested</a:t>
                      </a:r>
                    </a:p>
                  </a:txBody>
                  <a:tcPr>
                    <a:solidFill>
                      <a:srgbClr val="E2EFDA"/>
                    </a:solidFill>
                  </a:tcPr>
                </a:tc>
                <a:tc>
                  <a:txBody>
                    <a:bodyPr/>
                    <a:lstStyle/>
                    <a:p>
                      <a:pPr algn="l"/>
                      <a:r>
                        <a:rPr sz="980">
                          <a:solidFill>
                            <a:srgbClr val="1F3864"/>
                          </a:solidFill>
                          <a:latin typeface="Calibri"/>
                        </a:rPr>
                        <a:t>Unchanged (one batch ≈ 3% of a year)</a:t>
                      </a:r>
                    </a:p>
                  </a:txBody>
                  <a:tcPr>
                    <a:solidFill>
                      <a:srgbClr val="FFF2CC"/>
                    </a:solidFill>
                  </a:tcPr>
                </a:tc>
              </a:tr>
              <a:tr h="666205">
                <a:tc>
                  <a:txBody>
                    <a:bodyPr/>
                    <a:lstStyle/>
                    <a:p>
                      <a:pPr algn="l"/>
                      <a:r>
                        <a:rPr sz="980" b="1">
                          <a:solidFill>
                            <a:srgbClr val="1F3864"/>
                          </a:solidFill>
                          <a:latin typeface="Calibri"/>
                        </a:rPr>
                        <a:t>Effect on PCI</a:t>
                      </a:r>
                    </a:p>
                  </a:txBody>
                  <a:tcPr>
                    <a:solidFill>
                      <a:srgbClr val="FFFFFF"/>
                    </a:solidFill>
                  </a:tcPr>
                </a:tc>
                <a:tc>
                  <a:txBody>
                    <a:bodyPr/>
                    <a:lstStyle/>
                    <a:p>
                      <a:pPr algn="ctr"/>
                      <a:r>
                        <a:rPr sz="980">
                          <a:solidFill>
                            <a:srgbClr val="1F3864"/>
                          </a:solidFill>
                          <a:latin typeface="Calibri"/>
                        </a:rPr>
                        <a:t>Engaged and paid</a:t>
                      </a:r>
                    </a:p>
                  </a:txBody>
                  <a:tcPr>
                    <a:solidFill>
                      <a:srgbClr val="FCE4D6"/>
                    </a:solidFill>
                  </a:tcPr>
                </a:tc>
                <a:tc>
                  <a:txBody>
                    <a:bodyPr/>
                    <a:lstStyle/>
                    <a:p>
                      <a:pPr algn="ctr"/>
                      <a:r>
                        <a:rPr sz="980">
                          <a:solidFill>
                            <a:srgbClr val="1F3864"/>
                          </a:solidFill>
                          <a:latin typeface="Calibri"/>
                        </a:rPr>
                        <a:t>Goodwill at risk unless settled candidly</a:t>
                      </a:r>
                    </a:p>
                  </a:txBody>
                  <a:tcPr>
                    <a:solidFill>
                      <a:srgbClr val="E2EFDA"/>
                    </a:solidFill>
                  </a:tcPr>
                </a:tc>
                <a:tc>
                  <a:txBody>
                    <a:bodyPr/>
                    <a:lstStyle/>
                    <a:p>
                      <a:pPr algn="l"/>
                      <a:r>
                        <a:rPr sz="980">
                          <a:solidFill>
                            <a:srgbClr val="1F3864"/>
                          </a:solidFill>
                          <a:latin typeface="Calibri"/>
                        </a:rPr>
                        <a:t>Paid, qualified, and told the triggers honestly</a:t>
                      </a:r>
                    </a:p>
                  </a:txBody>
                  <a:tcPr>
                    <a:solidFill>
                      <a:srgbClr val="FFF2CC"/>
                    </a:solidFill>
                  </a:tcPr>
                </a:tc>
              </a:tr>
              <a:tr h="666210">
                <a:tc>
                  <a:txBody>
                    <a:bodyPr/>
                    <a:lstStyle/>
                    <a:p>
                      <a:pPr algn="l"/>
                      <a:r>
                        <a:rPr sz="980" b="1">
                          <a:solidFill>
                            <a:srgbClr val="1F3864"/>
                          </a:solidFill>
                          <a:latin typeface="Calibri"/>
                        </a:rPr>
                        <a:t>Residual risk</a:t>
                      </a:r>
                    </a:p>
                  </a:txBody>
                  <a:tcPr>
                    <a:solidFill>
                      <a:srgbClr val="FFFFFF"/>
                    </a:solidFill>
                  </a:tcPr>
                </a:tc>
                <a:tc>
                  <a:txBody>
                    <a:bodyPr/>
                    <a:lstStyle/>
                    <a:p>
                      <a:pPr algn="ctr"/>
                      <a:r>
                        <a:rPr sz="980">
                          <a:solidFill>
                            <a:srgbClr val="1F3864"/>
                          </a:solidFill>
                          <a:latin typeface="Calibri"/>
                        </a:rPr>
                        <a:t>~2/3 exposed until ramp; SNP re-price; two-stream quality load</a:t>
                      </a:r>
                    </a:p>
                  </a:txBody>
                  <a:tcPr>
                    <a:solidFill>
                      <a:srgbClr val="FCE4D6"/>
                    </a:solidFill>
                  </a:tcPr>
                </a:tc>
                <a:tc>
                  <a:txBody>
                    <a:bodyPr/>
                    <a:lstStyle/>
                    <a:p>
                      <a:pPr algn="ctr"/>
                      <a:r>
                        <a:rPr sz="980">
                          <a:solidFill>
                            <a:srgbClr val="1F3864"/>
                          </a:solidFill>
                          <a:latin typeface="Calibri"/>
                        </a:rPr>
                        <a:t>SNP failure still means months, not weeks</a:t>
                      </a:r>
                    </a:p>
                  </a:txBody>
                  <a:tcPr>
                    <a:solidFill>
                      <a:srgbClr val="E2EFDA"/>
                    </a:solidFill>
                  </a:tcPr>
                </a:tc>
                <a:tc>
                  <a:txBody>
                    <a:bodyPr/>
                    <a:lstStyle/>
                    <a:p>
                      <a:pPr algn="l"/>
                      <a:r>
                        <a:rPr sz="980">
                          <a:solidFill>
                            <a:srgbClr val="1F3864"/>
                          </a:solidFill>
                          <a:latin typeface="Calibri"/>
                        </a:rPr>
                        <a:t>Same as B, with a shorter restart</a:t>
                      </a:r>
                    </a:p>
                  </a:txBody>
                  <a:tcPr>
                    <a:solidFill>
                      <a:srgbClr val="FFF2CC"/>
                    </a:solidFill>
                  </a:tcPr>
                </a:tc>
              </a:tr>
            </a:tbl>
          </a:graphicData>
        </a:graphic>
      </p:graphicFrame>
      <p:sp>
        <p:nvSpPr>
          <p:cNvPr id="6" name="Rectangle 5"/>
          <p:cNvSpPr/>
          <p:nvPr/>
        </p:nvSpPr>
        <p:spPr>
          <a:xfrm>
            <a:off x="548640" y="5989320"/>
            <a:ext cx="1106424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B-plus converts six months of experiments into a standing, paid-for option for ~$8k — without touching SNP Inc.'s volume.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Why decide now</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6 · TIMING</a:t>
            </a:r>
          </a:p>
        </p:txBody>
      </p:sp>
      <p:sp>
        <p:nvSpPr>
          <p:cNvPr id="5" name="TextBox 4"/>
          <p:cNvSpPr txBox="1"/>
          <p:nvPr/>
        </p:nvSpPr>
        <p:spPr>
          <a:xfrm>
            <a:off x="548640" y="1097280"/>
            <a:ext cx="6035040" cy="4663440"/>
          </a:xfrm>
          <a:prstGeom prst="rect">
            <a:avLst/>
          </a:prstGeom>
          <a:noFill/>
        </p:spPr>
        <p:txBody>
          <a:bodyPr wrap="square">
            <a:spAutoFit/>
          </a:bodyPr>
          <a:lstStyle/>
          <a:p>
            <a:pPr>
              <a:spcAft>
                <a:spcPts val="900"/>
              </a:spcAft>
            </a:pPr>
            <a:r>
              <a:rPr b="1" sz="1250">
                <a:solidFill>
                  <a:srgbClr val="1F3864"/>
                </a:solidFill>
                <a:latin typeface="Calibri"/>
              </a:rPr>
              <a:t>•  The next face-to-face with SNP Inc. is where the strategy becomes real. </a:t>
            </a:r>
            <a:r>
              <a:rPr sz="1250">
                <a:solidFill>
                  <a:srgbClr val="595959"/>
                </a:solidFill>
                <a:latin typeface="Calibri"/>
              </a:rPr>
              <a:t>Continuity terms, forecast sharing, resin consignment, a resin-indexed price formula, capacity headroom for +10%/yr, succession and financial health — these get settled in a room, not by email.</a:t>
            </a:r>
          </a:p>
          <a:p>
            <a:pPr>
              <a:spcAft>
                <a:spcPts val="900"/>
              </a:spcAft>
            </a:pPr>
            <a:r>
              <a:rPr b="1" sz="1250">
                <a:solidFill>
                  <a:srgbClr val="1F3864"/>
                </a:solidFill>
                <a:latin typeface="Calibri"/>
              </a:rPr>
              <a:t>•  The posture has to match the decision. </a:t>
            </a:r>
            <a:r>
              <a:rPr sz="1250">
                <a:solidFill>
                  <a:srgbClr val="595959"/>
                </a:solidFill>
                <a:latin typeface="Calibri"/>
              </a:rPr>
              <a:t>We cannot deepen the partnership and quietly plan to move a third of their core line at the same time. And telling them after a warm visit reads as bait-and-switch.</a:t>
            </a:r>
          </a:p>
          <a:p>
            <a:pPr>
              <a:spcAft>
                <a:spcPts val="900"/>
              </a:spcAft>
            </a:pPr>
            <a:r>
              <a:rPr b="1" sz="1250">
                <a:solidFill>
                  <a:srgbClr val="1F3864"/>
                </a:solidFill>
                <a:latin typeface="Calibri"/>
              </a:rPr>
              <a:t>•  If the answer is A: </a:t>
            </a:r>
            <a:r>
              <a:rPr sz="1250">
                <a:solidFill>
                  <a:srgbClr val="595959"/>
                </a:solidFill>
                <a:latin typeface="Calibri"/>
              </a:rPr>
              <a:t>the volume conversation belongs in that meeting, face-to-face, with a steady-cadence proposal — not discovered later from the order pattern.</a:t>
            </a:r>
          </a:p>
          <a:p>
            <a:pPr>
              <a:spcAft>
                <a:spcPts val="900"/>
              </a:spcAft>
            </a:pPr>
            <a:r>
              <a:rPr b="1" sz="1250">
                <a:solidFill>
                  <a:srgbClr val="1F3864"/>
                </a:solidFill>
                <a:latin typeface="Calibri"/>
              </a:rPr>
              <a:t>•  If the answer is B or B-plus: </a:t>
            </a:r>
            <a:r>
              <a:rPr sz="1250">
                <a:solidFill>
                  <a:srgbClr val="595959"/>
                </a:solidFill>
                <a:latin typeface="Calibri"/>
              </a:rPr>
              <a:t>the meeting is the partnership meeting. Continuity planning is presented as a quality-system requirement, not a loss of confidence. PCI is not named; the quote is not waved. 'We have benchmarked the market' is fair context.</a:t>
            </a:r>
          </a:p>
        </p:txBody>
      </p:sp>
      <p:sp>
        <p:nvSpPr>
          <p:cNvPr id="6" name="Rectangle 5"/>
          <p:cNvSpPr/>
          <p:nvPr/>
        </p:nvSpPr>
        <p:spPr>
          <a:xfrm>
            <a:off x="6858000" y="1097280"/>
            <a:ext cx="4754880" cy="466344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234440"/>
            <a:ext cx="4389120" cy="4480560"/>
          </a:xfrm>
          <a:prstGeom prst="rect">
            <a:avLst/>
          </a:prstGeom>
          <a:noFill/>
        </p:spPr>
        <p:txBody>
          <a:bodyPr wrap="square">
            <a:spAutoFit/>
          </a:bodyPr>
          <a:lstStyle/>
          <a:p>
            <a:pPr algn="l">
              <a:spcAft>
                <a:spcPts val="600"/>
              </a:spcAft>
            </a:pPr>
            <a:r>
              <a:rPr sz="1300" b="1" i="0">
                <a:solidFill>
                  <a:srgbClr val="1F3864"/>
                </a:solidFill>
                <a:latin typeface="Calibri"/>
              </a:rPr>
              <a:t>To settle with SNP Inc. under B / B-plus</a:t>
            </a:r>
          </a:p>
          <a:p>
            <a:pPr algn="l">
              <a:spcAft>
                <a:spcPts val="600"/>
              </a:spcAft>
            </a:pPr>
            <a:r>
              <a:rPr sz="1100" b="0" i="0">
                <a:solidFill>
                  <a:srgbClr val="595959"/>
                </a:solidFill>
                <a:latin typeface="Calibri"/>
              </a:rPr>
              <a:t>•  Rolling 12-month forecast, refreshed monthly; the hydrogel program as a written joint roadmap</a:t>
            </a:r>
          </a:p>
          <a:p>
            <a:pPr algn="l">
              <a:spcAft>
                <a:spcPts val="600"/>
              </a:spcAft>
            </a:pPr>
            <a:r>
              <a:rPr sz="1100" b="0" i="0">
                <a:solidFill>
                  <a:srgbClr val="595959"/>
                </a:solidFill>
                <a:latin typeface="Calibri"/>
              </a:rPr>
              <a:t>•  Continuity terms in the Supplier Quality Agreement: second line/site plan, key-person cover, advance change notice, right to audit</a:t>
            </a:r>
          </a:p>
          <a:p>
            <a:pPr algn="l">
              <a:spcAft>
                <a:spcPts val="600"/>
              </a:spcAft>
            </a:pPr>
            <a:r>
              <a:rPr sz="1100" b="0" i="0">
                <a:solidFill>
                  <a:srgbClr val="595959"/>
                </a:solidFill>
                <a:latin typeface="Calibri"/>
              </a:rPr>
              <a:t>•  8–12 weeks of dry PVA resin on consignment (shelf-stable; ~$2.5–6k tied up)</a:t>
            </a:r>
          </a:p>
          <a:p>
            <a:pPr algn="l">
              <a:spcAft>
                <a:spcPts val="600"/>
              </a:spcAft>
            </a:pPr>
            <a:r>
              <a:rPr sz="1100" b="0" i="0">
                <a:solidFill>
                  <a:srgbClr val="595959"/>
                </a:solidFill>
                <a:latin typeface="Calibri"/>
              </a:rPr>
              <a:t>•  Their capacity headroom at year-5 volume (~99k lb) — the unasked question</a:t>
            </a:r>
          </a:p>
          <a:p>
            <a:pPr algn="l">
              <a:spcAft>
                <a:spcPts val="600"/>
              </a:spcAft>
            </a:pPr>
            <a:r>
              <a:rPr sz="1100" b="0" i="0">
                <a:solidFill>
                  <a:srgbClr val="595959"/>
                </a:solidFill>
                <a:latin typeface="Calibri"/>
              </a:rPr>
              <a:t>•  Owner/succession and financial health — the risk that gives no warning</a:t>
            </a:r>
          </a:p>
          <a:p>
            <a:pPr algn="l">
              <a:spcAft>
                <a:spcPts val="600"/>
              </a:spcAft>
            </a:pPr>
            <a:r>
              <a:rPr sz="1100" b="0" i="0">
                <a:solidFill>
                  <a:srgbClr val="595959"/>
                </a:solidFill>
                <a:latin typeface="Calibri"/>
              </a:rPr>
              <a:t>•  A 30–45-day shelf-life study — the cheapest way to lengthen our time-to-survive</a:t>
            </a:r>
          </a:p>
        </p:txBody>
      </p:sp>
      <p:sp>
        <p:nvSpPr>
          <p:cNvPr id="8" name="Rectangle 7"/>
          <p:cNvSpPr/>
          <p:nvPr/>
        </p:nvSpPr>
        <p:spPr>
          <a:xfrm>
            <a:off x="548640" y="5989320"/>
            <a:ext cx="11064240" cy="566928"/>
          </a:xfrm>
          <a:prstGeom prst="rect">
            <a:avLst/>
          </a:prstGeom>
          <a:solidFill>
            <a:srgbClr val="9C5A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Decide the strategy first; then use the SNP Inc. conversation to execute it — not to discover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Recommendation &amp; asks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7 · DECISION</a:t>
            </a:r>
          </a:p>
        </p:txBody>
      </p:sp>
      <p:sp>
        <p:nvSpPr>
          <p:cNvPr id="5" name="Rectangle 4"/>
          <p:cNvSpPr/>
          <p:nvPr/>
        </p:nvSpPr>
        <p:spPr>
          <a:xfrm>
            <a:off x="548640" y="1097280"/>
            <a:ext cx="5440680" cy="288036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16152"/>
            <a:ext cx="5074920" cy="2642615"/>
          </a:xfrm>
          <a:prstGeom prst="rect">
            <a:avLst/>
          </a:prstGeom>
          <a:noFill/>
        </p:spPr>
        <p:txBody>
          <a:bodyPr wrap="square">
            <a:spAutoFit/>
          </a:bodyPr>
          <a:lstStyle/>
          <a:p>
            <a:pPr algn="l">
              <a:spcAft>
                <a:spcPts val="600"/>
              </a:spcAft>
            </a:pPr>
            <a:r>
              <a:rPr sz="1350" b="1" i="0">
                <a:solidFill>
                  <a:srgbClr val="2E7D46"/>
                </a:solidFill>
                <a:latin typeface="Calibri"/>
              </a:rPr>
              <a:t>Recommendation: B-plus, with the existing triggers</a:t>
            </a:r>
          </a:p>
          <a:p>
            <a:pPr algn="l">
              <a:spcAft>
                <a:spcPts val="500"/>
              </a:spcAft>
            </a:pPr>
            <a:r>
              <a:rPr sz="1100" b="0" i="0">
                <a:solidFill>
                  <a:srgbClr val="595959"/>
                </a:solidFill>
                <a:latin typeface="Calibri"/>
              </a:rPr>
              <a:t>•  Order one 5-drum production batch from PCI Manufacturing now (~$7.9k): proves rate and hydrogel performance at scale, pays for the work, keeps the door open</a:t>
            </a:r>
          </a:p>
          <a:p>
            <a:pPr algn="l">
              <a:spcAft>
                <a:spcPts val="500"/>
              </a:spcAft>
            </a:pPr>
            <a:r>
              <a:rPr sz="1100" b="0" i="0">
                <a:solidFill>
                  <a:srgbClr val="595959"/>
                </a:solidFill>
                <a:latin typeface="Calibri"/>
              </a:rPr>
              <a:t>•  Go into the SNP Inc. conversation as a partner: continuity terms, forecast, resin consignment, capacity headroom, succession, shelf-life study</a:t>
            </a:r>
          </a:p>
          <a:p>
            <a:pPr algn="l">
              <a:spcAft>
                <a:spcPts val="500"/>
              </a:spcAft>
            </a:pPr>
            <a:r>
              <a:rPr sz="1100" b="0" i="0">
                <a:solidFill>
                  <a:srgbClr val="595959"/>
                </a:solidFill>
                <a:latin typeface="Calibri"/>
              </a:rPr>
              <a:t>•  Tell PCI the triggers candidly; refresh the cold-start kit annually</a:t>
            </a:r>
          </a:p>
        </p:txBody>
      </p:sp>
      <p:sp>
        <p:nvSpPr>
          <p:cNvPr id="7" name="Rectangle 6"/>
          <p:cNvSpPr/>
          <p:nvPr/>
        </p:nvSpPr>
        <p:spPr>
          <a:xfrm>
            <a:off x="6172200" y="1097280"/>
            <a:ext cx="5440680" cy="288036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16152"/>
            <a:ext cx="5074920" cy="2642615"/>
          </a:xfrm>
          <a:prstGeom prst="rect">
            <a:avLst/>
          </a:prstGeom>
          <a:noFill/>
        </p:spPr>
        <p:txBody>
          <a:bodyPr wrap="square">
            <a:spAutoFit/>
          </a:bodyPr>
          <a:lstStyle/>
          <a:p>
            <a:pPr algn="l">
              <a:spcAft>
                <a:spcPts val="600"/>
              </a:spcAft>
            </a:pPr>
            <a:r>
              <a:rPr sz="1350" b="1" i="0">
                <a:solidFill>
                  <a:srgbClr val="9C5A0C"/>
                </a:solidFill>
                <a:latin typeface="Calibri"/>
              </a:rPr>
              <a:t>Go to A (one-third, 10 batches/yr) if any trigger fires</a:t>
            </a:r>
          </a:p>
          <a:p>
            <a:pPr algn="l">
              <a:spcAft>
                <a:spcPts val="500"/>
              </a:spcAft>
            </a:pPr>
            <a:r>
              <a:rPr sz="1100" b="0" i="0">
                <a:solidFill>
                  <a:srgbClr val="595959"/>
                </a:solidFill>
                <a:latin typeface="Calibri"/>
              </a:rPr>
              <a:t>•  Finance's outage estimate exceeds ~$620k (10%/yr risk) or ~$1.24M (5%)</a:t>
            </a:r>
          </a:p>
          <a:p>
            <a:pPr algn="l">
              <a:spcAft>
                <a:spcPts val="500"/>
              </a:spcAft>
            </a:pPr>
            <a:r>
              <a:rPr sz="1100" b="0" i="0">
                <a:solidFill>
                  <a:srgbClr val="595959"/>
                </a:solidFill>
                <a:latin typeface="Calibri"/>
              </a:rPr>
              <a:t>•  An SNP Inc. risk signal: capacity headroom short of year-5 volume, succession or financial stress, a missed lot, an unexplained price move</a:t>
            </a:r>
          </a:p>
          <a:p>
            <a:pPr algn="l">
              <a:spcAft>
                <a:spcPts val="500"/>
              </a:spcAft>
            </a:pPr>
            <a:r>
              <a:rPr sz="1100" b="0" i="0">
                <a:solidFill>
                  <a:srgbClr val="595959"/>
                </a:solidFill>
                <a:latin typeface="Calibri"/>
              </a:rPr>
              <a:t>•  PCI's price falls toward ~$1.50/lb, or a new hydrogel line makes PVA strategic, or SNP Inc. declines the partnership terms</a:t>
            </a:r>
          </a:p>
        </p:txBody>
      </p:sp>
      <p:sp>
        <p:nvSpPr>
          <p:cNvPr id="9" name="Rectangle 8"/>
          <p:cNvSpPr/>
          <p:nvPr/>
        </p:nvSpPr>
        <p:spPr>
          <a:xfrm>
            <a:off x="548640" y="4114800"/>
            <a:ext cx="11064240" cy="1691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206240"/>
            <a:ext cx="10698480" cy="1554480"/>
          </a:xfrm>
          <a:prstGeom prst="rect">
            <a:avLst/>
          </a:prstGeom>
          <a:noFill/>
        </p:spPr>
        <p:txBody>
          <a:bodyPr wrap="square">
            <a:spAutoFit/>
          </a:bodyPr>
          <a:lstStyle/>
          <a:p>
            <a:pPr algn="l">
              <a:spcAft>
                <a:spcPts val="500"/>
              </a:spcAft>
            </a:pPr>
            <a:r>
              <a:rPr sz="1300" b="1" i="0">
                <a:solidFill>
                  <a:srgbClr val="1F3864"/>
                </a:solidFill>
                <a:latin typeface="Calibri"/>
              </a:rPr>
              <a:t>What we need from leadership</a:t>
            </a:r>
          </a:p>
          <a:p>
            <a:pPr algn="l">
              <a:spcAft>
                <a:spcPts val="500"/>
              </a:spcAft>
            </a:pPr>
            <a:r>
              <a:rPr sz="1150" b="0" i="0">
                <a:solidFill>
                  <a:srgbClr val="595959"/>
                </a:solidFill>
                <a:latin typeface="Calibri"/>
              </a:rPr>
              <a:t>1.  The cost of a 6-month PVA outage — per hydrogel SKU: trailing revenue, contribution margin, deferrable vs lost demand (fallback: more or less than $1M? than $3M?)</a:t>
            </a:r>
          </a:p>
          <a:p>
            <a:pPr algn="l">
              <a:spcAft>
                <a:spcPts val="500"/>
              </a:spcAft>
            </a:pPr>
            <a:r>
              <a:rPr sz="1150" b="0" i="0">
                <a:solidFill>
                  <a:srgbClr val="595959"/>
                </a:solidFill>
                <a:latin typeface="Calibri"/>
              </a:rPr>
              <a:t>2.  The strategy call — A, B or B-plus — before the next SNP Inc. conversation</a:t>
            </a:r>
          </a:p>
          <a:p>
            <a:pPr algn="l">
              <a:spcAft>
                <a:spcPts val="500"/>
              </a:spcAft>
            </a:pPr>
            <a:r>
              <a:rPr sz="1150" b="0" i="0">
                <a:solidFill>
                  <a:srgbClr val="595959"/>
                </a:solidFill>
                <a:latin typeface="Calibri"/>
              </a:rPr>
              <a:t>3.  Approval to formalize SNP Inc. (continuity terms, forecast sharing, resin consignment) and, under B-plus, ~$8k for one PCI production batch</a:t>
            </a:r>
          </a:p>
        </p:txBody>
      </p:sp>
      <p:sp>
        <p:nvSpPr>
          <p:cNvPr id="11" name="Rectangle 10"/>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Keep the option alive for ~$8k, strengthen the source we depend on, and commit ~$62k/yr only when the evidence says 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Appendix: assumptions, suppliers, acronyms, frameworks</a:t>
            </a:r>
          </a:p>
        </p:txBody>
      </p:sp>
      <p:graphicFrame>
        <p:nvGraphicFramePr>
          <p:cNvPr id="4" name="Table 3"/>
          <p:cNvGraphicFramePr>
            <a:graphicFrameLocks noGrp="1"/>
          </p:cNvGraphicFramePr>
          <p:nvPr/>
        </p:nvGraphicFramePr>
        <p:xfrm>
          <a:off x="548640" y="1051560"/>
          <a:ext cx="6309360" cy="2834640"/>
        </p:xfrm>
        <a:graphic>
          <a:graphicData uri="http://schemas.openxmlformats.org/drawingml/2006/table">
            <a:tbl>
              <a:tblPr firstRow="1" bandRow="1">
                <a:tableStyleId>{5C22544A-7EE6-4342-B048-85BDC9FD1C3A}</a:tableStyleId>
              </a:tblPr>
              <a:tblGrid>
                <a:gridCol w="1828800"/>
                <a:gridCol w="2468880"/>
                <a:gridCol w="2011680"/>
              </a:tblGrid>
              <a:tr h="314960">
                <a:tc>
                  <a:txBody>
                    <a:bodyPr/>
                    <a:lstStyle/>
                    <a:p>
                      <a:pPr algn="l"/>
                      <a:r>
                        <a:rPr sz="900" b="1">
                          <a:solidFill>
                            <a:srgbClr val="FFFFFF"/>
                          </a:solidFill>
                          <a:latin typeface="Calibri"/>
                        </a:rPr>
                        <a:t>Assumption</a:t>
                      </a:r>
                    </a:p>
                  </a:txBody>
                  <a:tcPr>
                    <a:solidFill>
                      <a:srgbClr val="1F3864"/>
                    </a:solidFill>
                  </a:tcPr>
                </a:tc>
                <a:tc>
                  <a:txBody>
                    <a:bodyPr/>
                    <a:lstStyle/>
                    <a:p>
                      <a:pPr algn="ctr"/>
                      <a:r>
                        <a:rPr sz="900" b="1">
                          <a:solidFill>
                            <a:srgbClr val="FFFFFF"/>
                          </a:solidFill>
                          <a:latin typeface="Calibri"/>
                        </a:rPr>
                        <a:t>Value</a:t>
                      </a:r>
                    </a:p>
                  </a:txBody>
                  <a:tcPr>
                    <a:solidFill>
                      <a:srgbClr val="1F3864"/>
                    </a:solidFill>
                  </a:tcPr>
                </a:tc>
                <a:tc>
                  <a:txBody>
                    <a:bodyPr/>
                    <a:lstStyle/>
                    <a:p>
                      <a:pPr algn="ctr"/>
                      <a:r>
                        <a:rPr sz="900" b="1">
                          <a:solidFill>
                            <a:srgbClr val="FFFFFF"/>
                          </a:solidFill>
                          <a:latin typeface="Calibri"/>
                        </a:rPr>
                        <a:t>Basis</a:t>
                      </a:r>
                    </a:p>
                  </a:txBody>
                  <a:tcPr>
                    <a:solidFill>
                      <a:srgbClr val="1F3864"/>
                    </a:solidFill>
                  </a:tcPr>
                </a:tc>
              </a:tr>
              <a:tr h="314960">
                <a:tc>
                  <a:txBody>
                    <a:bodyPr/>
                    <a:lstStyle/>
                    <a:p>
                      <a:pPr algn="l"/>
                      <a:r>
                        <a:rPr sz="900" b="1">
                          <a:solidFill>
                            <a:srgbClr val="1F3864"/>
                          </a:solidFill>
                          <a:latin typeface="Calibri"/>
                        </a:rPr>
                        <a:t>Demand today</a:t>
                      </a:r>
                    </a:p>
                  </a:txBody>
                  <a:tcPr>
                    <a:solidFill>
                      <a:srgbClr val="FFFFFF"/>
                    </a:solidFill>
                  </a:tcPr>
                </a:tc>
                <a:tc>
                  <a:txBody>
                    <a:bodyPr/>
                    <a:lstStyle/>
                    <a:p>
                      <a:pPr algn="ctr"/>
                      <a:r>
                        <a:rPr sz="900">
                          <a:solidFill>
                            <a:srgbClr val="1F3864"/>
                          </a:solidFill>
                          <a:latin typeface="Calibri"/>
                        </a:rPr>
                        <a:t>1,300 lb/wk ≈ 150 drums/yr; +10%/yr</a:t>
                      </a:r>
                    </a:p>
                  </a:txBody>
                  <a:tcPr>
                    <a:solidFill>
                      <a:srgbClr val="FFFFFF"/>
                    </a:solidFill>
                  </a:tcPr>
                </a:tc>
                <a:tc>
                  <a:txBody>
                    <a:bodyPr/>
                    <a:lstStyle/>
                    <a:p>
                      <a:pPr algn="ctr"/>
                      <a:r>
                        <a:rPr sz="900">
                          <a:solidFill>
                            <a:srgbClr val="1F3864"/>
                          </a:solidFill>
                          <a:latin typeface="Calibri"/>
                        </a:rPr>
                        <a:t>Confirmed 2026-06-26; leadership growth assumption</a:t>
                      </a:r>
                    </a:p>
                  </a:txBody>
                  <a:tcPr>
                    <a:solidFill>
                      <a:srgbClr val="FFFFFF"/>
                    </a:solidFill>
                  </a:tcPr>
                </a:tc>
              </a:tr>
              <a:tr h="314960">
                <a:tc>
                  <a:txBody>
                    <a:bodyPr/>
                    <a:lstStyle/>
                    <a:p>
                      <a:pPr algn="l"/>
                      <a:r>
                        <a:rPr sz="900" b="1">
                          <a:solidFill>
                            <a:srgbClr val="1F3864"/>
                          </a:solidFill>
                          <a:latin typeface="Calibri"/>
                        </a:rPr>
                        <a:t>SNP Inc. price</a:t>
                      </a:r>
                    </a:p>
                  </a:txBody>
                  <a:tcPr>
                    <a:solidFill>
                      <a:srgbClr val="FFFFFF"/>
                    </a:solidFill>
                  </a:tcPr>
                </a:tc>
                <a:tc>
                  <a:txBody>
                    <a:bodyPr/>
                    <a:lstStyle/>
                    <a:p>
                      <a:pPr algn="ctr"/>
                      <a:r>
                        <a:rPr sz="900">
                          <a:solidFill>
                            <a:srgbClr val="1F3864"/>
                          </a:solidFill>
                          <a:latin typeface="Calibri"/>
                        </a:rPr>
                        <a:t>$0.75/lb delivered = $337.50/drum</a:t>
                      </a:r>
                    </a:p>
                  </a:txBody>
                  <a:tcPr>
                    <a:solidFill>
                      <a:srgbClr val="FFFFFF"/>
                    </a:solidFill>
                  </a:tcPr>
                </a:tc>
                <a:tc>
                  <a:txBody>
                    <a:bodyPr/>
                    <a:lstStyle/>
                    <a:p>
                      <a:pPr algn="ctr"/>
                      <a:r>
                        <a:rPr sz="900">
                          <a:solidFill>
                            <a:srgbClr val="1F3864"/>
                          </a:solidFill>
                          <a:latin typeface="Calibri"/>
                        </a:rPr>
                        <a:t>SNP Estimate 012726-1</a:t>
                      </a:r>
                    </a:p>
                  </a:txBody>
                  <a:tcPr>
                    <a:solidFill>
                      <a:srgbClr val="FFFFFF"/>
                    </a:solidFill>
                  </a:tcPr>
                </a:tc>
              </a:tr>
              <a:tr h="314960">
                <a:tc>
                  <a:txBody>
                    <a:bodyPr/>
                    <a:lstStyle/>
                    <a:p>
                      <a:pPr algn="l"/>
                      <a:r>
                        <a:rPr sz="900" b="1">
                          <a:solidFill>
                            <a:srgbClr val="1F3864"/>
                          </a:solidFill>
                          <a:latin typeface="Calibri"/>
                        </a:rPr>
                        <a:t>PCI Manufacturing price</a:t>
                      </a:r>
                    </a:p>
                  </a:txBody>
                  <a:tcPr>
                    <a:solidFill>
                      <a:srgbClr val="FFFFFF"/>
                    </a:solidFill>
                  </a:tcPr>
                </a:tc>
                <a:tc>
                  <a:txBody>
                    <a:bodyPr/>
                    <a:lstStyle/>
                    <a:p>
                      <a:pPr algn="ctr"/>
                      <a:r>
                        <a:rPr sz="900">
                          <a:solidFill>
                            <a:srgbClr val="1F3864"/>
                          </a:solidFill>
                          <a:latin typeface="Calibri"/>
                        </a:rPr>
                        <a:t>$3.50/lb per 5-drum batch; $6.00/lb below a batch</a:t>
                      </a:r>
                    </a:p>
                  </a:txBody>
                  <a:tcPr>
                    <a:solidFill>
                      <a:srgbClr val="FFFFFF"/>
                    </a:solidFill>
                  </a:tcPr>
                </a:tc>
                <a:tc>
                  <a:txBody>
                    <a:bodyPr/>
                    <a:lstStyle/>
                    <a:p>
                      <a:pPr algn="ctr"/>
                      <a:r>
                        <a:rPr sz="900">
                          <a:solidFill>
                            <a:srgbClr val="1F3864"/>
                          </a:solidFill>
                          <a:latin typeface="Calibri"/>
                        </a:rPr>
                        <a:t>Quote 2026-09-28 — confirm delivered/all-in, validity</a:t>
                      </a:r>
                    </a:p>
                  </a:txBody>
                  <a:tcPr>
                    <a:solidFill>
                      <a:srgbClr val="FFFFFF"/>
                    </a:solidFill>
                  </a:tcPr>
                </a:tc>
              </a:tr>
              <a:tr h="314960">
                <a:tc>
                  <a:txBody>
                    <a:bodyPr/>
                    <a:lstStyle/>
                    <a:p>
                      <a:pPr algn="l"/>
                      <a:r>
                        <a:rPr sz="900" b="1">
                          <a:solidFill>
                            <a:srgbClr val="1F3864"/>
                          </a:solidFill>
                          <a:latin typeface="Calibri"/>
                        </a:rPr>
                        <a:t>Second-source share</a:t>
                      </a:r>
                    </a:p>
                  </a:txBody>
                  <a:tcPr>
                    <a:solidFill>
                      <a:srgbClr val="FFFFFF"/>
                    </a:solidFill>
                  </a:tcPr>
                </a:tc>
                <a:tc>
                  <a:txBody>
                    <a:bodyPr/>
                    <a:lstStyle/>
                    <a:p>
                      <a:pPr algn="ctr"/>
                      <a:r>
                        <a:rPr sz="900">
                          <a:solidFill>
                            <a:srgbClr val="1F3864"/>
                          </a:solidFill>
                          <a:latin typeface="Calibri"/>
                        </a:rPr>
                        <a:t>1/3 = 50 drums/yr = 10 batches of 5</a:t>
                      </a:r>
                    </a:p>
                  </a:txBody>
                  <a:tcPr>
                    <a:solidFill>
                      <a:srgbClr val="FFFFFF"/>
                    </a:solidFill>
                  </a:tcPr>
                </a:tc>
                <a:tc>
                  <a:txBody>
                    <a:bodyPr/>
                    <a:lstStyle/>
                    <a:p>
                      <a:pPr algn="ctr"/>
                      <a:r>
                        <a:rPr sz="900">
                          <a:solidFill>
                            <a:srgbClr val="1F3864"/>
                          </a:solidFill>
                          <a:latin typeface="Calibri"/>
                        </a:rPr>
                        <a:t>Block rotation, ~5-week cycle</a:t>
                      </a:r>
                    </a:p>
                  </a:txBody>
                  <a:tcPr>
                    <a:solidFill>
                      <a:srgbClr val="FFFFFF"/>
                    </a:solidFill>
                  </a:tcPr>
                </a:tc>
              </a:tr>
              <a:tr h="314960">
                <a:tc>
                  <a:txBody>
                    <a:bodyPr/>
                    <a:lstStyle/>
                    <a:p>
                      <a:pPr algn="l"/>
                      <a:r>
                        <a:rPr sz="900" b="1">
                          <a:solidFill>
                            <a:srgbClr val="1F3864"/>
                          </a:solidFill>
                          <a:latin typeface="Calibri"/>
                        </a:rPr>
                        <a:t>Market reference</a:t>
                      </a:r>
                    </a:p>
                  </a:txBody>
                  <a:tcPr>
                    <a:solidFill>
                      <a:srgbClr val="FFFFFF"/>
                    </a:solidFill>
                  </a:tcPr>
                </a:tc>
                <a:tc>
                  <a:txBody>
                    <a:bodyPr/>
                    <a:lstStyle/>
                    <a:p>
                      <a:pPr algn="ctr"/>
                      <a:r>
                        <a:rPr sz="900">
                          <a:solidFill>
                            <a:srgbClr val="1F3864"/>
                          </a:solidFill>
                          <a:latin typeface="Calibri"/>
                        </a:rPr>
                        <a:t>$0.85 / $1.40 / $2.55 per lb</a:t>
                      </a:r>
                    </a:p>
                  </a:txBody>
                  <a:tcPr>
                    <a:solidFill>
                      <a:srgbClr val="FFFFFF"/>
                    </a:solidFill>
                  </a:tcPr>
                </a:tc>
                <a:tc>
                  <a:txBody>
                    <a:bodyPr/>
                    <a:lstStyle/>
                    <a:p>
                      <a:pPr algn="ctr"/>
                      <a:r>
                        <a:rPr sz="900">
                          <a:solidFill>
                            <a:srgbClr val="1F3864"/>
                          </a:solidFill>
                          <a:latin typeface="Calibri"/>
                        </a:rPr>
                        <a:t>Resin floor + labor build-up + retail ceiling</a:t>
                      </a:r>
                    </a:p>
                  </a:txBody>
                  <a:tcPr>
                    <a:solidFill>
                      <a:srgbClr val="FFFFFF"/>
                    </a:solidFill>
                  </a:tcPr>
                </a:tc>
              </a:tr>
              <a:tr h="314960">
                <a:tc>
                  <a:txBody>
                    <a:bodyPr/>
                    <a:lstStyle/>
                    <a:p>
                      <a:pPr algn="l"/>
                      <a:r>
                        <a:rPr sz="900" b="1">
                          <a:solidFill>
                            <a:srgbClr val="1F3864"/>
                          </a:solidFill>
                          <a:latin typeface="Calibri"/>
                        </a:rPr>
                        <a:t>CJB quote</a:t>
                      </a:r>
                    </a:p>
                  </a:txBody>
                  <a:tcPr>
                    <a:solidFill>
                      <a:srgbClr val="FFFFFF"/>
                    </a:solidFill>
                  </a:tcPr>
                </a:tc>
                <a:tc>
                  <a:txBody>
                    <a:bodyPr/>
                    <a:lstStyle/>
                    <a:p>
                      <a:pPr algn="ctr"/>
                      <a:r>
                        <a:rPr sz="900">
                          <a:solidFill>
                            <a:srgbClr val="1F3864"/>
                          </a:solidFill>
                          <a:latin typeface="Calibri"/>
                        </a:rPr>
                        <a:t>$8.00–8.50/lb toll excl. materials ≈ $8.42 landed</a:t>
                      </a:r>
                    </a:p>
                  </a:txBody>
                  <a:tcPr>
                    <a:solidFill>
                      <a:srgbClr val="FFFFFF"/>
                    </a:solidFill>
                  </a:tcPr>
                </a:tc>
                <a:tc>
                  <a:txBody>
                    <a:bodyPr/>
                    <a:lstStyle/>
                    <a:p>
                      <a:pPr algn="ctr"/>
                      <a:r>
                        <a:rPr sz="900">
                          <a:solidFill>
                            <a:srgbClr val="1F3864"/>
                          </a:solidFill>
                          <a:latin typeface="Calibri"/>
                        </a:rPr>
                        <a:t>CJB email 'RE: mix test'</a:t>
                      </a:r>
                    </a:p>
                  </a:txBody>
                  <a:tcPr>
                    <a:solidFill>
                      <a:srgbClr val="FFFFFF"/>
                    </a:solidFill>
                  </a:tcPr>
                </a:tc>
              </a:tr>
              <a:tr h="314960">
                <a:tc>
                  <a:txBody>
                    <a:bodyPr/>
                    <a:lstStyle/>
                    <a:p>
                      <a:pPr algn="l"/>
                      <a:r>
                        <a:rPr sz="900" b="1">
                          <a:solidFill>
                            <a:srgbClr val="1F3864"/>
                          </a:solidFill>
                          <a:latin typeface="Calibri"/>
                        </a:rPr>
                        <a:t>Qualification cost</a:t>
                      </a:r>
                    </a:p>
                  </a:txBody>
                  <a:tcPr>
                    <a:solidFill>
                      <a:srgbClr val="FFFFFF"/>
                    </a:solidFill>
                  </a:tcPr>
                </a:tc>
                <a:tc>
                  <a:txBody>
                    <a:bodyPr/>
                    <a:lstStyle/>
                    <a:p>
                      <a:pPr algn="ctr"/>
                      <a:r>
                        <a:rPr sz="900">
                          <a:solidFill>
                            <a:srgbClr val="1F3864"/>
                          </a:solidFill>
                          <a:latin typeface="Calibri"/>
                        </a:rPr>
                        <a:t>~$15k one-time (placeholder)</a:t>
                      </a:r>
                    </a:p>
                  </a:txBody>
                  <a:tcPr>
                    <a:solidFill>
                      <a:srgbClr val="FFFFFF"/>
                    </a:solidFill>
                  </a:tcPr>
                </a:tc>
                <a:tc>
                  <a:txBody>
                    <a:bodyPr/>
                    <a:lstStyle/>
                    <a:p>
                      <a:pPr algn="ctr"/>
                      <a:r>
                        <a:rPr sz="900">
                          <a:solidFill>
                            <a:srgbClr val="1F3864"/>
                          </a:solidFill>
                          <a:latin typeface="Calibri"/>
                        </a:rPr>
                        <a:t>Largely engineering hours already spent</a:t>
                      </a:r>
                    </a:p>
                  </a:txBody>
                  <a:tcPr>
                    <a:solidFill>
                      <a:srgbClr val="FFFFFF"/>
                    </a:solidFill>
                  </a:tcPr>
                </a:tc>
              </a:tr>
              <a:tr h="314960">
                <a:tc>
                  <a:txBody>
                    <a:bodyPr/>
                    <a:lstStyle/>
                    <a:p>
                      <a:pPr algn="l"/>
                      <a:r>
                        <a:rPr sz="900" b="1">
                          <a:solidFill>
                            <a:srgbClr val="1F3864"/>
                          </a:solidFill>
                          <a:latin typeface="Calibri"/>
                        </a:rPr>
                        <a:t>Outage cost</a:t>
                      </a:r>
                    </a:p>
                  </a:txBody>
                  <a:tcPr>
                    <a:solidFill>
                      <a:srgbClr val="FFFFFF"/>
                    </a:solidFill>
                  </a:tcPr>
                </a:tc>
                <a:tc>
                  <a:txBody>
                    <a:bodyPr/>
                    <a:lstStyle/>
                    <a:p>
                      <a:pPr algn="ctr"/>
                      <a:r>
                        <a:rPr sz="900">
                          <a:solidFill>
                            <a:srgbClr val="1F3864"/>
                          </a:solidFill>
                          <a:latin typeface="Calibri"/>
                        </a:rPr>
                        <a:t>not yet estimated</a:t>
                      </a:r>
                    </a:p>
                  </a:txBody>
                  <a:tcPr>
                    <a:solidFill>
                      <a:srgbClr val="FFFFFF"/>
                    </a:solidFill>
                  </a:tcPr>
                </a:tc>
                <a:tc>
                  <a:txBody>
                    <a:bodyPr/>
                    <a:lstStyle/>
                    <a:p>
                      <a:pPr algn="ctr"/>
                      <a:r>
                        <a:rPr sz="900">
                          <a:solidFill>
                            <a:srgbClr val="1F3864"/>
                          </a:solidFill>
                          <a:latin typeface="Calibri"/>
                        </a:rPr>
                        <a:t>NEEDED from Finance / Ops</a:t>
                      </a:r>
                    </a:p>
                  </a:txBody>
                  <a:tcPr>
                    <a:solidFill>
                      <a:srgbClr val="FFFFFF"/>
                    </a:solidFill>
                  </a:tcPr>
                </a:tc>
              </a:tr>
            </a:tbl>
          </a:graphicData>
        </a:graphic>
      </p:graphicFrame>
      <p:sp>
        <p:nvSpPr>
          <p:cNvPr id="5" name="TextBox 4"/>
          <p:cNvSpPr txBox="1"/>
          <p:nvPr/>
        </p:nvSpPr>
        <p:spPr>
          <a:xfrm>
            <a:off x="548640" y="3977639"/>
            <a:ext cx="6309360" cy="2240280"/>
          </a:xfrm>
          <a:prstGeom prst="rect">
            <a:avLst/>
          </a:prstGeom>
          <a:noFill/>
        </p:spPr>
        <p:txBody>
          <a:bodyPr wrap="square">
            <a:spAutoFit/>
          </a:bodyPr>
          <a:lstStyle/>
          <a:p>
            <a:pPr algn="l">
              <a:spcAft>
                <a:spcPts val="300"/>
              </a:spcAft>
            </a:pPr>
            <a:r>
              <a:rPr sz="1100" b="1" i="0">
                <a:solidFill>
                  <a:srgbClr val="1F3864"/>
                </a:solidFill>
                <a:latin typeface="Calibri"/>
              </a:rPr>
              <a:t>Frameworks (independently fact-checked)</a:t>
            </a:r>
          </a:p>
          <a:p>
            <a:pPr algn="l">
              <a:spcAft>
                <a:spcPts val="400"/>
              </a:spcAft>
            </a:pPr>
            <a:r>
              <a:rPr sz="850" b="0" i="0">
                <a:solidFill>
                  <a:srgbClr val="595959"/>
                </a:solidFill>
                <a:latin typeface="Calibri"/>
              </a:rPr>
              <a:t>Kraljic (HBR 1983), bottleneck items: 'Volume insurance (at cost premium if necessary). Control of vendors. Security of inventories. Backup plans' — pay for a backup when the premium is proportionate. Gelderman &amp; van Weele (2003): 'hold' vs 'move' — move only when economically worthwhile. Simchi-Levi et al. (Interfaces 2015): disruption impact is uncorrelated with spend. Sheffi &amp; Rice (MIT SMR 2005): single sourcing is legitimate only with a deep, managed relationship. Tomlin (2006); Chopra &amp; Sodhi (2014): assuming zero disruption probability is the expensive mistake. Pulles, Schiele et al. (2016): preferential treatment follows attractiveness, not volume. Deloitte CPO 2025: 'active alternative sources' rated most effective (74%). QMSR / ISO 13485 §7.4 / GHTF N17: controls proportionate to risk — no second source required. Six research lenses; four refuted claims excluded; memo in the repo.</a:t>
            </a:r>
          </a:p>
        </p:txBody>
      </p:sp>
      <p:sp>
        <p:nvSpPr>
          <p:cNvPr id="6" name="Rectangle 5"/>
          <p:cNvSpPr/>
          <p:nvPr/>
        </p:nvSpPr>
        <p:spPr>
          <a:xfrm>
            <a:off x="7086600" y="1051560"/>
            <a:ext cx="4526280" cy="516636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115568"/>
            <a:ext cx="4297680" cy="5074920"/>
          </a:xfrm>
          <a:prstGeom prst="rect">
            <a:avLst/>
          </a:prstGeom>
          <a:noFill/>
        </p:spPr>
        <p:txBody>
          <a:bodyPr wrap="square">
            <a:spAutoFit/>
          </a:bodyPr>
          <a:lstStyle/>
          <a:p>
            <a:pPr algn="l">
              <a:spcAft>
                <a:spcPts val="300"/>
              </a:spcAft>
            </a:pPr>
            <a:r>
              <a:rPr sz="1200" b="1" i="0">
                <a:solidFill>
                  <a:srgbClr val="1F3864"/>
                </a:solidFill>
                <a:latin typeface="Calibri"/>
              </a:rPr>
              <a:t>Suppliers named</a:t>
            </a:r>
          </a:p>
          <a:p>
            <a:pPr>
              <a:spcAft>
                <a:spcPts val="200"/>
              </a:spcAft>
            </a:pPr>
            <a:r>
              <a:rPr b="1" sz="950">
                <a:solidFill>
                  <a:srgbClr val="1F3864"/>
                </a:solidFill>
                <a:latin typeface="Calibri"/>
              </a:rPr>
              <a:t>SNP Inc.  </a:t>
            </a:r>
            <a:r>
              <a:rPr sz="950">
                <a:solidFill>
                  <a:srgbClr val="595959"/>
                </a:solidFill>
                <a:latin typeface="Calibri"/>
              </a:rPr>
              <a:t>— Durham, NC — incumbent, sole source</a:t>
            </a:r>
          </a:p>
          <a:p>
            <a:pPr>
              <a:spcAft>
                <a:spcPts val="200"/>
              </a:spcAft>
            </a:pPr>
            <a:r>
              <a:rPr b="1" sz="950">
                <a:solidFill>
                  <a:srgbClr val="1F3864"/>
                </a:solidFill>
                <a:latin typeface="Calibri"/>
              </a:rPr>
              <a:t>PCI Manufacturing  </a:t>
            </a:r>
            <a:r>
              <a:rPr sz="950">
                <a:solidFill>
                  <a:srgbClr val="595959"/>
                </a:solidFill>
                <a:latin typeface="Calibri"/>
              </a:rPr>
              <a:t>— St. Louis, MO — CMS Manufacturing group; qualified-capable, quoted</a:t>
            </a:r>
          </a:p>
          <a:p>
            <a:pPr>
              <a:spcAft>
                <a:spcPts val="200"/>
              </a:spcAft>
            </a:pPr>
            <a:r>
              <a:rPr b="1" sz="950">
                <a:solidFill>
                  <a:srgbClr val="1F3864"/>
                </a:solidFill>
                <a:latin typeface="Calibri"/>
              </a:rPr>
              <a:t>CJB Applied Technologies  </a:t>
            </a:r>
            <a:r>
              <a:rPr sz="950">
                <a:solidFill>
                  <a:srgbClr val="595959"/>
                </a:solidFill>
                <a:latin typeface="Calibri"/>
              </a:rPr>
              <a:t>— Valdosta, GA — quoted ~11×; eliminated</a:t>
            </a:r>
          </a:p>
          <a:p>
            <a:pPr>
              <a:spcAft>
                <a:spcPts val="200"/>
              </a:spcAft>
            </a:pPr>
            <a:r>
              <a:rPr b="1" sz="950">
                <a:solidFill>
                  <a:srgbClr val="1F3864"/>
                </a:solidFill>
                <a:latin typeface="Calibri"/>
              </a:rPr>
              <a:t>ArroChem Inc.  </a:t>
            </a:r>
            <a:r>
              <a:rPr sz="950">
                <a:solidFill>
                  <a:srgbClr val="595959"/>
                </a:solidFill>
                <a:latin typeface="Calibri"/>
              </a:rPr>
              <a:t>— Mount Holly, NC — 85 °C ceiling</a:t>
            </a:r>
          </a:p>
          <a:p>
            <a:pPr>
              <a:spcAft>
                <a:spcPts val="200"/>
              </a:spcAft>
            </a:pPr>
            <a:r>
              <a:rPr b="1" sz="950">
                <a:solidFill>
                  <a:srgbClr val="1F3864"/>
                </a:solidFill>
                <a:latin typeface="Calibri"/>
              </a:rPr>
              <a:t>ILC Dover  </a:t>
            </a:r>
            <a:r>
              <a:rPr sz="950">
                <a:solidFill>
                  <a:srgbClr val="595959"/>
                </a:solidFill>
                <a:latin typeface="Calibri"/>
              </a:rPr>
              <a:t>— Frederica, DE — could not hold temperature</a:t>
            </a:r>
          </a:p>
          <a:p>
            <a:pPr>
              <a:spcAft>
                <a:spcPts val="200"/>
              </a:spcAft>
            </a:pPr>
            <a:r>
              <a:rPr b="1" sz="950">
                <a:solidFill>
                  <a:srgbClr val="1F3864"/>
                </a:solidFill>
                <a:latin typeface="Calibri"/>
              </a:rPr>
              <a:t>Columbus Chemical Industries  </a:t>
            </a:r>
            <a:r>
              <a:rPr sz="950">
                <a:solidFill>
                  <a:srgbClr val="595959"/>
                </a:solidFill>
                <a:latin typeface="Calibri"/>
              </a:rPr>
              <a:t>— Columbus, WI — could not hold temperature</a:t>
            </a:r>
          </a:p>
          <a:p>
            <a:pPr>
              <a:spcAft>
                <a:spcPts val="200"/>
              </a:spcAft>
            </a:pPr>
            <a:r>
              <a:rPr b="1" sz="950">
                <a:solidFill>
                  <a:srgbClr val="1F3864"/>
                </a:solidFill>
                <a:latin typeface="Calibri"/>
              </a:rPr>
              <a:t>Brenntag  </a:t>
            </a:r>
            <a:r>
              <a:rPr sz="950">
                <a:solidFill>
                  <a:srgbClr val="595959"/>
                </a:solidFill>
                <a:latin typeface="Calibri"/>
              </a:rPr>
              <a:t>— distributor — trial viscosity unreadable</a:t>
            </a:r>
          </a:p>
          <a:p>
            <a:pPr>
              <a:spcAft>
                <a:spcPts val="200"/>
              </a:spcAft>
            </a:pPr>
            <a:r>
              <a:rPr b="1" sz="950">
                <a:solidFill>
                  <a:srgbClr val="1F3864"/>
                </a:solidFill>
                <a:latin typeface="Calibri"/>
              </a:rPr>
              <a:t>Piedmont Chemical Industries  </a:t>
            </a:r>
            <a:r>
              <a:rPr sz="950">
                <a:solidFill>
                  <a:srgbClr val="595959"/>
                </a:solidFill>
                <a:latin typeface="Calibri"/>
              </a:rPr>
              <a:t>— High Point, NC — reserve</a:t>
            </a:r>
          </a:p>
          <a:p>
            <a:pPr>
              <a:spcAft>
                <a:spcPts val="200"/>
              </a:spcAft>
            </a:pPr>
            <a:r>
              <a:rPr b="1" sz="950">
                <a:solidFill>
                  <a:srgbClr val="1F3864"/>
                </a:solidFill>
                <a:latin typeface="Calibri"/>
              </a:rPr>
              <a:t>APV Engineered Coatings  </a:t>
            </a:r>
            <a:r>
              <a:rPr sz="950">
                <a:solidFill>
                  <a:srgbClr val="595959"/>
                </a:solidFill>
                <a:latin typeface="Calibri"/>
              </a:rPr>
              <a:t>— Akron, OH — reserve</a:t>
            </a:r>
          </a:p>
          <a:p>
            <a:pPr algn="l">
              <a:spcBef>
                <a:spcPts val="600"/>
              </a:spcBef>
              <a:spcAft>
                <a:spcPts val="300"/>
              </a:spcAft>
            </a:pPr>
            <a:r>
              <a:rPr sz="1200" b="1" i="0">
                <a:solidFill>
                  <a:srgbClr val="1F3864"/>
                </a:solidFill>
                <a:latin typeface="Calibri"/>
              </a:rPr>
              <a:t>Acronyms</a:t>
            </a:r>
          </a:p>
          <a:p>
            <a:pPr>
              <a:spcAft>
                <a:spcPts val="200"/>
              </a:spcAft>
            </a:pPr>
            <a:r>
              <a:rPr b="1" sz="950">
                <a:solidFill>
                  <a:srgbClr val="1F3864"/>
                </a:solidFill>
                <a:latin typeface="Calibri"/>
              </a:rPr>
              <a:t>PVA  </a:t>
            </a:r>
            <a:r>
              <a:rPr sz="950">
                <a:solidFill>
                  <a:srgbClr val="595959"/>
                </a:solidFill>
                <a:latin typeface="Calibri"/>
              </a:rPr>
              <a:t>— polyvinyl alcohol</a:t>
            </a:r>
          </a:p>
          <a:p>
            <a:pPr>
              <a:spcAft>
                <a:spcPts val="200"/>
              </a:spcAft>
            </a:pPr>
            <a:r>
              <a:rPr b="1" sz="950">
                <a:solidFill>
                  <a:srgbClr val="1F3864"/>
                </a:solidFill>
                <a:latin typeface="Calibri"/>
              </a:rPr>
              <a:t>cP  </a:t>
            </a:r>
            <a:r>
              <a:rPr sz="950">
                <a:solidFill>
                  <a:srgbClr val="595959"/>
                </a:solidFill>
                <a:latin typeface="Calibri"/>
              </a:rPr>
              <a:t>— centipoise — viscosity unit</a:t>
            </a:r>
          </a:p>
          <a:p>
            <a:pPr>
              <a:spcAft>
                <a:spcPts val="200"/>
              </a:spcAft>
            </a:pPr>
            <a:r>
              <a:rPr b="1" sz="950">
                <a:solidFill>
                  <a:srgbClr val="1F3864"/>
                </a:solidFill>
                <a:latin typeface="Calibri"/>
              </a:rPr>
              <a:t>CoA  </a:t>
            </a:r>
            <a:r>
              <a:rPr sz="950">
                <a:solidFill>
                  <a:srgbClr val="595959"/>
                </a:solidFill>
                <a:latin typeface="Calibri"/>
              </a:rPr>
              <a:t>— Certificate of Analysis</a:t>
            </a:r>
          </a:p>
          <a:p>
            <a:pPr>
              <a:spcAft>
                <a:spcPts val="200"/>
              </a:spcAft>
            </a:pPr>
            <a:r>
              <a:rPr b="1" sz="950">
                <a:solidFill>
                  <a:srgbClr val="1F3864"/>
                </a:solidFill>
                <a:latin typeface="Calibri"/>
              </a:rPr>
              <a:t>SQA  </a:t>
            </a:r>
            <a:r>
              <a:rPr sz="950">
                <a:solidFill>
                  <a:srgbClr val="595959"/>
                </a:solidFill>
                <a:latin typeface="Calibri"/>
              </a:rPr>
              <a:t>— Supplier Quality Agreement</a:t>
            </a:r>
          </a:p>
          <a:p>
            <a:pPr>
              <a:spcAft>
                <a:spcPts val="200"/>
              </a:spcAft>
            </a:pPr>
            <a:r>
              <a:rPr b="1" sz="950">
                <a:solidFill>
                  <a:srgbClr val="1F3864"/>
                </a:solidFill>
                <a:latin typeface="Calibri"/>
              </a:rPr>
              <a:t>CAPA  </a:t>
            </a:r>
            <a:r>
              <a:rPr sz="950">
                <a:solidFill>
                  <a:srgbClr val="595959"/>
                </a:solidFill>
                <a:latin typeface="Calibri"/>
              </a:rPr>
              <a:t>— corrective and preventive action</a:t>
            </a:r>
          </a:p>
          <a:p>
            <a:pPr>
              <a:spcAft>
                <a:spcPts val="200"/>
              </a:spcAft>
            </a:pPr>
            <a:r>
              <a:rPr b="1" sz="950">
                <a:solidFill>
                  <a:srgbClr val="1F3864"/>
                </a:solidFill>
                <a:latin typeface="Calibri"/>
              </a:rPr>
              <a:t>QMSR  </a:t>
            </a:r>
            <a:r>
              <a:rPr sz="950">
                <a:solidFill>
                  <a:srgbClr val="595959"/>
                </a:solidFill>
                <a:latin typeface="Calibri"/>
              </a:rPr>
              <a:t>— FDA Quality Management System Regulation</a:t>
            </a:r>
          </a:p>
          <a:p>
            <a:pPr>
              <a:spcAft>
                <a:spcPts val="200"/>
              </a:spcAft>
            </a:pPr>
            <a:r>
              <a:rPr b="1" sz="950">
                <a:solidFill>
                  <a:srgbClr val="1F3864"/>
                </a:solidFill>
                <a:latin typeface="Calibri"/>
              </a:rPr>
              <a:t>GHTF  </a:t>
            </a:r>
            <a:r>
              <a:rPr sz="950">
                <a:solidFill>
                  <a:srgbClr val="595959"/>
                </a:solidFill>
                <a:latin typeface="Calibri"/>
              </a:rPr>
              <a:t>— Global Harmonization Task Force</a:t>
            </a:r>
          </a:p>
          <a:p>
            <a:pPr>
              <a:spcAft>
                <a:spcPts val="200"/>
              </a:spcAft>
            </a:pPr>
            <a:r>
              <a:rPr b="1" sz="950">
                <a:solidFill>
                  <a:srgbClr val="1F3864"/>
                </a:solidFill>
                <a:latin typeface="Calibri"/>
              </a:rPr>
              <a:t>HBR / MIT SMR  </a:t>
            </a:r>
            <a:r>
              <a:rPr sz="950">
                <a:solidFill>
                  <a:srgbClr val="595959"/>
                </a:solidFill>
                <a:latin typeface="Calibri"/>
              </a:rPr>
              <a:t>— Harvard Business Review / MIT Sloan Management Review</a:t>
            </a:r>
          </a:p>
        </p:txBody>
      </p:sp>
      <p:sp>
        <p:nvSpPr>
          <p:cNvPr id="8" name="TextBox 7"/>
          <p:cNvSpPr txBox="1"/>
          <p:nvPr/>
        </p:nvSpPr>
        <p:spPr>
          <a:xfrm>
            <a:off x="548640" y="6263640"/>
            <a:ext cx="6400800" cy="411480"/>
          </a:xfrm>
          <a:prstGeom prst="rect">
            <a:avLst/>
          </a:prstGeom>
          <a:noFill/>
        </p:spPr>
        <p:txBody>
          <a:bodyPr wrap="square">
            <a:spAutoFit/>
          </a:bodyPr>
          <a:lstStyle/>
          <a:p>
            <a:pPr algn="l">
              <a:spcAft>
                <a:spcPts val="400"/>
              </a:spcAft>
            </a:pPr>
            <a:r>
              <a:rPr sz="900" b="0" i="1">
                <a:solidFill>
                  <a:srgbClr val="595959"/>
                </a:solidFill>
                <a:latin typeface="Calibri"/>
              </a:rPr>
              <a:t>Workbook: PVA_Second_Supplier_Leadership_Model.xlsx — tabs 'Supplier Quotes', 'PCI Quote Scenarios', 'PCI Experiment' hold the compiled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