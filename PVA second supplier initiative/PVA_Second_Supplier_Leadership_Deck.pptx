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supply-continuity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brought on target within the test,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1–3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926080" y="987552"/>
            <a:ext cx="5760720" cy="274320"/>
          </a:xfrm>
          <a:prstGeom prst="rect">
            <a:avLst/>
          </a:prstGeom>
          <a:noFill/>
        </p:spPr>
        <p:txBody>
          <a:bodyPr wrap="square">
            <a:spAutoFit/>
          </a:bodyPr>
          <a:lstStyle/>
          <a:p>
            <a:pPr algn="l">
              <a:spcAft>
                <a:spcPts val="0"/>
              </a:spcAft>
            </a:pPr>
            <a:r>
              <a:rPr sz="95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37744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926080" y="149047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92608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0779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11098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8126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629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6617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3645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0181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2136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9163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335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7654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682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853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3173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70201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8372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8691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5719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3890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4210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81238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9409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729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756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4928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5524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2275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0446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076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41080" y="128016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100 + PCI 50 (33%)</a:t>
            </a:r>
          </a:p>
          <a:p>
            <a:pPr>
              <a:spcAft>
                <a:spcPts val="100"/>
              </a:spcAft>
            </a:pPr>
            <a:r>
              <a:rPr sz="800">
                <a:solidFill>
                  <a:srgbClr val="595959"/>
                </a:solidFill>
                <a:latin typeface="Calibri"/>
              </a:rPr>
              <a:t>Money a year  </a:t>
            </a:r>
            <a:r>
              <a:rPr sz="850" b="1">
                <a:solidFill>
                  <a:srgbClr val="1F3864"/>
                </a:solidFill>
                <a:latin typeface="Calibri"/>
              </a:rPr>
              <a:t>$112.6k = SNP $33.8k + PCI $78.8k</a:t>
            </a:r>
          </a:p>
          <a:p>
            <a:pPr>
              <a:spcAft>
                <a:spcPts val="100"/>
              </a:spcAft>
            </a:pPr>
            <a:r>
              <a:rPr sz="800">
                <a:solidFill>
                  <a:srgbClr val="595959"/>
                </a:solidFill>
                <a:latin typeface="Calibri"/>
              </a:rPr>
              <a:t>SNP Inc. sees  </a:t>
            </a:r>
            <a:r>
              <a:rPr sz="850" b="0">
                <a:solidFill>
                  <a:srgbClr val="1F3864"/>
                </a:solidFill>
                <a:latin typeface="Calibri"/>
              </a:rPr>
              <a:t>10 pauses of ~12 days, or level with a rolling stock</a:t>
            </a:r>
          </a:p>
          <a:p>
            <a:pPr>
              <a:spcAft>
                <a:spcPts val="100"/>
              </a:spcAft>
            </a:pPr>
            <a:r>
              <a:rPr sz="800">
                <a:solidFill>
                  <a:srgbClr val="595959"/>
                </a:solidFill>
                <a:latin typeface="Calibri"/>
              </a:rPr>
              <a:t>If SNP fails, restart in  </a:t>
            </a:r>
            <a:r>
              <a:rPr sz="850" b="0">
                <a:solidFill>
                  <a:srgbClr val="1F3864"/>
                </a:solidFill>
                <a:latin typeface="Calibri"/>
              </a:rPr>
              <a:t>weeks, if PCI's ramp is confirmed in writing</a:t>
            </a:r>
          </a:p>
        </p:txBody>
      </p:sp>
      <p:sp>
        <p:nvSpPr>
          <p:cNvPr id="39" name="TextBox 38"/>
          <p:cNvSpPr txBox="1"/>
          <p:nvPr/>
        </p:nvSpPr>
        <p:spPr>
          <a:xfrm>
            <a:off x="548640" y="2788920"/>
            <a:ext cx="237744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926080" y="295351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072211"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0539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257120"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29613"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811325"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014522"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87014"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568726"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1924"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641080" y="274320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145/140/135 + PCI 5/10/15 (1/2/3 batches)</a:t>
            </a:r>
          </a:p>
          <a:p>
            <a:pPr>
              <a:spcAft>
                <a:spcPts val="100"/>
              </a:spcAft>
            </a:pPr>
            <a:r>
              <a:rPr sz="800">
                <a:solidFill>
                  <a:srgbClr val="595959"/>
                </a:solidFill>
                <a:latin typeface="Calibri"/>
              </a:rPr>
              <a:t>Money a year  </a:t>
            </a:r>
            <a:r>
              <a:rPr sz="850" b="1">
                <a:solidFill>
                  <a:srgbClr val="1F3864"/>
                </a:solidFill>
                <a:latin typeface="Calibri"/>
              </a:rPr>
              <a:t>$56.9k / $63.1k / $69.3k = SNP $49.0k/$47.3k/$45.6k + PCI $7.9k/$15.8k/$23.6k</a:t>
            </a:r>
          </a:p>
          <a:p>
            <a:pPr>
              <a:spcAft>
                <a:spcPts val="100"/>
              </a:spcAft>
            </a:pPr>
            <a:r>
              <a:rPr sz="800">
                <a:solidFill>
                  <a:srgbClr val="595959"/>
                </a:solidFill>
                <a:latin typeface="Calibri"/>
              </a:rPr>
              <a:t>SNP Inc. sees  </a:t>
            </a:r>
            <a:r>
              <a:rPr sz="850" b="0">
                <a:solidFill>
                  <a:srgbClr val="1F3864"/>
                </a:solidFill>
                <a:latin typeface="Calibri"/>
              </a:rPr>
              <a:t>1–3 pre-announced pauses, or none</a:t>
            </a:r>
          </a:p>
          <a:p>
            <a:pPr>
              <a:spcAft>
                <a:spcPts val="100"/>
              </a:spcAft>
            </a:pPr>
            <a:r>
              <a:rPr sz="800">
                <a:solidFill>
                  <a:srgbClr val="595959"/>
                </a:solidFill>
                <a:latin typeface="Calibri"/>
              </a:rPr>
              <a:t>If SNP fails, restart in  </a:t>
            </a:r>
            <a:r>
              <a:rPr sz="850" b="0">
                <a:solidFill>
                  <a:srgbClr val="1F3864"/>
                </a:solidFill>
                <a:latin typeface="Calibri"/>
              </a:rPr>
              <a:t>weeks to a few months</a:t>
            </a:r>
          </a:p>
        </p:txBody>
      </p:sp>
      <p:sp>
        <p:nvSpPr>
          <p:cNvPr id="51" name="TextBox 50"/>
          <p:cNvSpPr txBox="1"/>
          <p:nvPr/>
        </p:nvSpPr>
        <p:spPr>
          <a:xfrm>
            <a:off x="548640" y="4251960"/>
            <a:ext cx="237744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926080" y="441655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6517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404239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43303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8389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82296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641080" y="420624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150</a:t>
            </a:r>
          </a:p>
          <a:p>
            <a:pPr>
              <a:spcAft>
                <a:spcPts val="100"/>
              </a:spcAft>
            </a:pPr>
            <a:r>
              <a:rPr sz="800">
                <a:solidFill>
                  <a:srgbClr val="595959"/>
                </a:solidFill>
                <a:latin typeface="Calibri"/>
              </a:rPr>
              <a:t>Money a year  </a:t>
            </a:r>
            <a:r>
              <a:rPr sz="850" b="1">
                <a:solidFill>
                  <a:srgbClr val="1F3864"/>
                </a:solidFill>
                <a:latin typeface="Calibri"/>
              </a:rPr>
              <a:t>$50.7k = SNP $50.7k — what we pay today</a:t>
            </a:r>
          </a:p>
          <a:p>
            <a:pPr>
              <a:spcAft>
                <a:spcPts val="100"/>
              </a:spcAft>
            </a:pPr>
            <a:r>
              <a:rPr sz="800">
                <a:solidFill>
                  <a:srgbClr val="595959"/>
                </a:solidFill>
                <a:latin typeface="Calibri"/>
              </a:rPr>
              <a:t>SNP Inc. sees  </a:t>
            </a:r>
            <a:r>
              <a:rPr sz="850" b="0">
                <a:solidFill>
                  <a:srgbClr val="1F3864"/>
                </a:solidFill>
                <a:latin typeface="Calibri"/>
              </a:rPr>
              <a:t>a strengthened partner</a:t>
            </a:r>
          </a:p>
          <a:p>
            <a:pPr>
              <a:spcAft>
                <a:spcPts val="100"/>
              </a:spcAft>
            </a:pPr>
            <a:r>
              <a:rPr sz="800">
                <a:solidFill>
                  <a:srgbClr val="595959"/>
                </a:solidFill>
                <a:latin typeface="Calibri"/>
              </a:rPr>
              <a:t>If SNP fails, restart in  </a:t>
            </a:r>
            <a:r>
              <a:rPr sz="85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supply-continuity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supply-continuity file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663440"/>
            <a:ext cx="6309360" cy="155448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