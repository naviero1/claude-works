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Drums a year  </a:t>
            </a:r>
            <a:r>
              <a:rPr sz="900" b="1">
                <a:solidFill>
                  <a:srgbClr val="1F3864"/>
                </a:solidFill>
                <a:latin typeface="Calibri"/>
              </a:rPr>
              <a:t>150 = SNP Inc. 100 + PCI 50 (33%)</a:t>
            </a:r>
          </a:p>
          <a:p>
            <a:pPr>
              <a:spcAft>
                <a:spcPts val="200"/>
              </a:spcAft>
            </a:pPr>
            <a:r>
              <a:rPr sz="850">
                <a:solidFill>
                  <a:srgbClr val="595959"/>
                </a:solidFill>
                <a:latin typeface="Calibri"/>
              </a:rPr>
              <a:t>Money a year  </a:t>
            </a:r>
            <a:r>
              <a:rPr sz="900" b="0">
                <a:solidFill>
                  <a:srgbClr val="1F3864"/>
                </a:solidFill>
                <a:latin typeface="Calibri"/>
              </a:rPr>
              <a:t>$112.6k = SNP Inc.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759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2393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5766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59047"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4075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911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060498"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4221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6056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Drums a year  </a:t>
            </a:r>
            <a:r>
              <a:rPr sz="900" b="1">
                <a:solidFill>
                  <a:srgbClr val="1F3864"/>
                </a:solidFill>
                <a:latin typeface="Calibri"/>
              </a:rPr>
              <a:t>150 = SNP Inc. 145 / 140 / 135 + PCI 5 / 10 / 15 (1, 2 or 3 batches)</a:t>
            </a:r>
          </a:p>
          <a:p>
            <a:pPr>
              <a:spcAft>
                <a:spcPts val="200"/>
              </a:spcAft>
            </a:pPr>
            <a:r>
              <a:rPr sz="850">
                <a:solidFill>
                  <a:srgbClr val="595959"/>
                </a:solidFill>
                <a:latin typeface="Calibri"/>
              </a:rPr>
              <a:t>Money a year  </a:t>
            </a:r>
            <a:r>
              <a:rPr sz="900" b="0">
                <a:solidFill>
                  <a:srgbClr val="1F3864"/>
                </a:solidFill>
                <a:latin typeface="Calibri"/>
              </a:rPr>
              <a:t>$56.9k / $63.1k / $69.3k = SNP Inc. $49.0k / $47.3k / $45.6k +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Drums a year  </a:t>
            </a:r>
            <a:r>
              <a:rPr sz="900" b="1">
                <a:solidFill>
                  <a:srgbClr val="1F3864"/>
                </a:solidFill>
                <a:latin typeface="Calibri"/>
              </a:rPr>
              <a:t>150 = SNP Inc. 150</a:t>
            </a:r>
          </a:p>
          <a:p>
            <a:pPr>
              <a:spcAft>
                <a:spcPts val="200"/>
              </a:spcAft>
            </a:pPr>
            <a:r>
              <a:rPr sz="850">
                <a:solidFill>
                  <a:srgbClr val="595959"/>
                </a:solidFill>
                <a:latin typeface="Calibri"/>
              </a:rPr>
              <a:t>Money a year  </a:t>
            </a:r>
            <a:r>
              <a:rPr sz="900" b="0">
                <a:solidFill>
                  <a:srgbClr val="1F3864"/>
                </a:solidFill>
                <a:latin typeface="Calibri"/>
              </a:rPr>
              <a:t>$50.7k = SNP Inc.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9" name="TextBox 58"/>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Purchases at today's volume: SNP Inc. $0.75/lb ($337.50 a drum), PCI $3.50/lb ($1,575 a drum); all grow ~10%/yr with volume. Not included: internal hours to finish PCI's qualification (Options 1 and 3, ~$15–40k once).</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