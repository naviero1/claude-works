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am asking for a decision on one supply-risk item: liquid PVA. About 12 minutes: what changed since July, what a second supplier truly costs, the alternative, and a recommendation with clear triggers.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first. A full second source would cost 80-190% of today's PVA spend - far more than the ~$6-12k we estimated in July. The reason is price: realistic $2.50-5.00/lb versus the $1.00-1.25 we assumed. My recommendation: strengthen SNP AND keep PCI as a warm backup, escalating to a full split only on defined triggers. The one number I need from you is what a six-month outage would cost the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risk itself has not changed. Sole source; 18-day shelf life, so about two and a half weeks of survival if SNP stops. Recovery - qualifying a replacement - has taken us six months. When recovery time exceeds survival time, that is the definition of exposure. In procurement terms this is a bottleneck item: small spend, critical input. The textbook answer is to secure supply, not chase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94 suppliers screened. Most cannot hold the 90-95 C cook; most of the rest have batch minimums that overshoot an 18-day shelf life. The one toll quote we got was about 11 times SNP. PCI is promising - viscosity root cause found, spec agreed - but not yet qualified. The lesson: from zero, an SNP failure means 6-12 months of exposure at crisis prices. THAT is what a second source insures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bar is the extra we would pay per year if a second source takes a third of volume at that price. The drums are bought either way; the premium is the decision number. PCI at $2.50-5.00 means +$39k to +$96k a year. Green is what we described in July. Red is the CJB quote, for scale. Not on the chart: if SNP re-prices the two-thirds it keeps, add $3-7k.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Volume grows about 10% a year, so the premium compounds: $240k to $585k over five years for a full split, versus about $62k for a warm backup. Any second source also carries a one-time qualification cost - roughly $15k as a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be honest about what the money buys and does not. It buys a practiced supplier and price discipline. It does NOT buy full protection - two-thirds of our volume still stops unless PCI can ramp, and we have not confirmed they can. And it sends SNP a signal at exactly the moment we are asking them to co-develop new hydrogels with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B: keep SNP but manage the dependency deliberately. Share the forecast; make the hydrogel co-development a standing program; write continuity terms into the quality agreement; and the lever people miss - buffer the RESIN, not the solution. Dry PVA resin is shelf-stable for years; the solution is not. Total cost: a few thousand dollars and some engineering time. Residual risk: a true SNP failure still means months of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C: finish PCI's qualification, then keep them warm at about 5% - one drum every seven weeks. Roughly $10k a year. It turns six months of sunk effort into a standing option. Two failure modes to manage: 5% may be too little for PCI to care, so we need an explicit readiness understanding; and we must confirm in writing that they can ramp.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test leadership can apply: the premium is worth paying only if it is less than the probability of an outage times the loss the backup would avoid. Mid case, a full split at $68k a year: at a 5% annual risk the outage must cost more than $1.35M to justify it; at 10%, about $680k. The warm backup clears the bar at $200k and $100k. I do not have the outage cost - that is the input I need from Finance and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 by side. B and C are not alternatives to each other - together they are the balanced answer at our current volume. A full split is right only if the outage cost is well over half a million dollars, or if SNP shows real fragility.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recommendation. Do now: formalize the SNP partnership, put resin on consignment, finish PCI, start the 5% trickle, keep the cold-start kit current. Escalate to a full split on any of these triggers: an outage-cost number above the threshold, an SNP risk signal, PCI pricing at or below $1.50, volume growth or a new hydrogel line, or SNP declining the partnership.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asks. The first is the one that matters: with the outage-cost number, I can restate this whole recommendation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record, the frameworks and evidence: Kraljic on bottleneck items; Simchi-Levi's time-to-recover versus time-to-survive; Tomlin on when a contingent backup beats continuous dual-sourcing; McKinsey's surveys showing dual-sourcing surged after 2020 and then cooled as the cost became visible; customer-attractiveness research on earning preferred-customer status; and what FDA and ISO actually require of a sole source - controls proportionate to risk, not two suppliers.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Assumptions, sources, and acronyms for reference. The full model is in the workbook; every input is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34840"/>
            <a:ext cx="12191695" cy="54864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Liquid PVA: One Supplier or Two?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BDD7EE"/>
                </a:solidFill>
                <a:latin typeface="Calibri"/>
              </a:rPr>
              <a:t>What a second source really costs, what the alternative looks like, and whether our volume justifies it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634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PVA = polyvinyl alcohol, the liquid we buy in 55-gallon drums to make our hydrogels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DC3E6"/>
                </a:solidFill>
                <a:latin typeface="Calibri"/>
              </a:rPr>
              <a:t>Oscar Penny  ·  Supply Chain  ·  22 September 2026  ·  Decision requested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decision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Should we carry a second supplier for liquid PVA now — or stay with SNP and invest in making that single source resilient?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2651760" cy="13716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075688"/>
            <a:ext cx="243230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Calibri"/>
              </a:rPr>
              <a:t>$50.7k/yr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Today's entire PVA spend (SNP, $0.75/lb)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965960"/>
            <a:ext cx="2651760" cy="13716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2075688"/>
            <a:ext cx="243230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B23A2E"/>
                </a:solidFill>
                <a:latin typeface="Calibri"/>
              </a:rPr>
              <a:t>+$39–96k/yr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A 2nd supplier at 1/3 of volume, $2.50–5.00/lb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65960"/>
            <a:ext cx="2651760" cy="13716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7648" y="2075688"/>
            <a:ext cx="243230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B23A2E"/>
                </a:solidFill>
                <a:latin typeface="Calibri"/>
              </a:rPr>
              <a:t>$240–585k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5-year cumulative premium (volume +10%/yr)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1965960"/>
            <a:ext cx="2560320" cy="13716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2075688"/>
            <a:ext cx="2340863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2E7D46"/>
                </a:solidFill>
                <a:latin typeface="Calibri"/>
              </a:rPr>
              <a:t>~$6–14k/yr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A 'warm' backup at 5% instead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118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The honest headline: </a:t>
            </a:r>
            <a:r>
              <a:rPr sz="1400">
                <a:solidFill>
                  <a:srgbClr val="595959"/>
                </a:solidFill>
                <a:latin typeface="Calibri"/>
              </a:rPr>
              <a:t>a full second source would cost 80–190% of what we spend on PVA today — 4–8× the '$6–12k' insurance we described in July, because realistic pricing is $2.50–5.00/lb, not $1.00–1.25.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What we learned the hard way: </a:t>
            </a:r>
            <a:r>
              <a:rPr sz="1400">
                <a:solidFill>
                  <a:srgbClr val="595959"/>
                </a:solidFill>
                <a:latin typeface="Calibri"/>
              </a:rPr>
              <a:t>six months and 94 suppliers to get one candidate (PCI) close to qualified. That is our real time-to-recover if SNP ever fails — and it is the strongest argument for NOT starting from zero.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Recommendation: </a:t>
            </a:r>
            <a:r>
              <a:rPr sz="1400">
                <a:solidFill>
                  <a:srgbClr val="595959"/>
                </a:solidFill>
                <a:latin typeface="Calibri"/>
              </a:rPr>
              <a:t>strengthen SNP now (forecast sharing, joint hydrogel development, continuity terms) AND finish qualifying PCI as a warm backup at ~5% — keeping the option alive for ~$10k/yr. Move to a full split only when defined triggers are hit.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Ask today: approve the SNP partnership steps, the warm-backup budget, and give us one number — what a 6-month PVA outage would cost the business.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we're here: a small spend with an outsized failure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Single point of failure. </a:t>
            </a:r>
            <a:r>
              <a:rPr sz="1400">
                <a:solidFill>
                  <a:srgbClr val="595959"/>
                </a:solidFill>
                <a:latin typeface="Calibri"/>
              </a:rPr>
              <a:t>Liquid PVA (P/N 666438) is sole-sourced from SNP, a ~$4M specialist for whom PVA cooking is the core product.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No buffer is possible. </a:t>
            </a:r>
            <a:r>
              <a:rPr sz="1400">
                <a:solidFill>
                  <a:srgbClr val="595959"/>
                </a:solidFill>
                <a:latin typeface="Calibri"/>
              </a:rPr>
              <a:t>18-day shelf life means every drum is made fresh. If SNP stops, we have roughly 2½ weeks of material — our 'time-to-survive'.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Recovery is slow. </a:t>
            </a:r>
            <a:r>
              <a:rPr sz="1400">
                <a:solidFill>
                  <a:srgbClr val="595959"/>
                </a:solidFill>
                <a:latin typeface="Calibri"/>
              </a:rPr>
              <a:t>Qualifying a replacement from zero has taken us ~6 months and counting — our 'time-to-recover'. When recovery time exceeds survival time, the exposure is real.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Small money, critical input. </a:t>
            </a:r>
            <a:r>
              <a:rPr sz="1400">
                <a:solidFill>
                  <a:srgbClr val="595959"/>
                </a:solidFill>
                <a:latin typeface="Calibri"/>
              </a:rPr>
              <a:t>$50.7k/yr is a rounding error in spend, but it gates a product line. In procurement terms this is a 'bottleneck' item: low spend, high supply risk — the category where the textbook answer is to secure supply, not to chase price.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143000"/>
            <a:ext cx="4754880" cy="4206240"/>
          </a:xfrm>
          <a:prstGeom prst="rect">
            <a:avLst/>
          </a:prstGeom>
          <a:solidFill>
            <a:srgbClr val="F6F8FB"/>
          </a:solidFill>
          <a:ln w="9525">
            <a:solidFill>
              <a:srgbClr val="4E7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280160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What we told you in July — and what changed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July: 'qualify a capped ~35% second source as low-cost insurance, ~$6–12k/yr' — priced at $1.00–1.25/lb.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Since then: the first toll blender that got through our technical gate quoted ~11× SNP. The candidate now in testing (PCI) will realistically land at $2.50–5.00/lb.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Same plan, real prices: +$39–96k/yr, not $6–12k. We owe you the corrected picture before you decide.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The risk is unchanged. The price of insuring it turned out to be much higher than we first estimated.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six months of searching taught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2651760" cy="123444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252728"/>
            <a:ext cx="2432304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Calibri"/>
              </a:rPr>
              <a:t>94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US suppliers screened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43000"/>
            <a:ext cx="2651760" cy="12344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3008" y="1252728"/>
            <a:ext cx="2432304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9C5A0C"/>
                </a:solidFill>
                <a:latin typeface="Calibri"/>
              </a:rPr>
              <a:t>~6 mo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to get one candidate close to qualified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43000"/>
            <a:ext cx="2651760" cy="123444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252728"/>
            <a:ext cx="2432304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B23A2E"/>
                </a:solidFill>
                <a:latin typeface="Calibri"/>
              </a:rPr>
              <a:t>~11×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one toll quote we got vs SNP (CJB)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143000"/>
            <a:ext cx="2560320" cy="12344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252728"/>
            <a:ext cx="2340863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2E7D46"/>
                </a:solidFill>
                <a:latin typeface="Calibri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credible candidate today (PCI)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Most suppliers cannot make this product. </a:t>
            </a:r>
            <a:r>
              <a:rPr sz="1400">
                <a:solidFill>
                  <a:srgbClr val="595959"/>
                </a:solidFill>
                <a:latin typeface="Calibri"/>
              </a:rPr>
              <a:t>The 90–95 °C dissolution cook eliminated the majority; batch minimums that overshoot an 18-day shelf life eliminated most of the rest.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The market price for this work is not $0.75/lb. </a:t>
            </a:r>
            <a:r>
              <a:rPr sz="1400">
                <a:solidFill>
                  <a:srgbClr val="595959"/>
                </a:solidFill>
                <a:latin typeface="Calibri"/>
              </a:rPr>
              <a:t>Triangulated market range: $0.85 low / $1.40 base / $2.55 high per lb. SNP is cheap because this is their core competence. Any second source is a premium supplier by definition.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PCI is promising but not yet there. </a:t>
            </a:r>
            <a:r>
              <a:rPr sz="1400">
                <a:solidFill>
                  <a:srgbClr val="595959"/>
                </a:solidFill>
                <a:latin typeface="Calibri"/>
              </a:rPr>
              <a:t>Viscosity root cause found (solids content), spec agreed (11% solids, 900–1,100 cP), new batch in work. Still open: shelf-life study, hydrogel performance, cleaning.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F3864"/>
                </a:solidFill>
                <a:latin typeface="Calibri"/>
              </a:rPr>
              <a:t>•  The real lesson: </a:t>
            </a:r>
            <a:r>
              <a:rPr sz="1400">
                <a:solidFill>
                  <a:srgbClr val="595959"/>
                </a:solidFill>
                <a:latin typeface="Calibri"/>
              </a:rPr>
              <a:t>if SNP failed tomorrow with no preparation, we would be looking at 6–12 months of exposure and crisis-priced material. That number — not the price per pound — is what a second source is insurance against.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We now own the spec, the RFQ package, and a screened longlist. Even without a second supplier, our recovery time is already shorter than it was in March.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a second supplier really costs — per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4 / 13</a:t>
            </a:r>
          </a:p>
        </p:txBody>
      </p:sp>
      <p:pic>
        <p:nvPicPr>
          <p:cNvPr id="5" name="Picture 4" descr="chart_premium_b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7680960" cy="3630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051560"/>
            <a:ext cx="3154680" cy="4754880"/>
          </a:xfrm>
          <a:prstGeom prst="rect">
            <a:avLst/>
          </a:prstGeom>
          <a:solidFill>
            <a:srgbClr val="F6F8FB"/>
          </a:solidFill>
          <a:ln w="9525">
            <a:solidFill>
              <a:srgbClr val="4E7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188720"/>
            <a:ext cx="2834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How to read this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Each bar = the EXTRA we pay per year if a second source takes 1/3 of volume at that price. The drums are bought either way; the premium is the decision number.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PCI range ($2.50–5.00): +$39k to +$96k/yr — i.e., 80–190% of today's whole PVA bill.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Green bar = what we described in July. Red bar = the CJB quote, shown for scale.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Not shown: if SNP re-prices the 2/3 it keeps (+10–20%), add another $3–7k/yr.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At realistic prices, a one-third second source roughly doubles what we spend on PVA. That is the cost of the insurance.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five-year view: the premium grows with our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5 / 13</a:t>
            </a:r>
          </a:p>
        </p:txBody>
      </p:sp>
      <p:pic>
        <p:nvPicPr>
          <p:cNvPr id="5" name="Picture 4" descr="chart_five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7680960" cy="3630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051560"/>
            <a:ext cx="3154680" cy="4754880"/>
          </a:xfrm>
          <a:prstGeom prst="rect">
            <a:avLst/>
          </a:prstGeom>
          <a:solidFill>
            <a:srgbClr val="F6F8FB"/>
          </a:solidFill>
          <a:ln w="9525">
            <a:solidFill>
              <a:srgbClr val="4E7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188720"/>
            <a:ext cx="2834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Why it compounds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The premium is share × price gap × pounds. Volume grows ~10%/yr, so the premium does too.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Five-year cost of a 1/3 split: $240k (at $2.50) to $585k (at $5.00). Mid case ~$413k.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E7D46"/>
                </a:solidFill>
                <a:latin typeface="Calibri"/>
              </a:rPr>
              <a:t>A 5% 'warm' backup over the same period: ~$62k.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Plus a one-time qualification cost (~$15k placeholder: engineering time, samples, hydrogel tests, quality agreement) for ANY second source, warm or active.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Over five years the difference between a full split and a warm backup is roughly $180–520k.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that money buys — and what it doesn't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6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5440680" cy="46634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2E7D46"/>
                </a:solidFill>
                <a:latin typeface="Calibri"/>
              </a:rPr>
              <a:t>What a 1/3 second source BUYS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A qualified, practiced supplier — recovery in weeks, not months, if SNP fails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Price discipline on SNP (a credible alternative at the table)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A defensible supplier-control story for auditors (though not required — see appendix)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Two sets of production knowledge on a product only a handful of shops can make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Real-world hydrogel performance data from a second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143000"/>
            <a:ext cx="5440680" cy="466344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B23A2E"/>
                </a:solidFill>
                <a:latin typeface="Calibri"/>
              </a:rPr>
              <a:t>What it DOESN'T buy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Full protection: 2/3 of volume still stops if SNP fails, until PCI can ramp (unknown capacity)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A better price: every pound moved to PCI costs 3–7× more; SNP may re-price the volume it keeps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Simplicity: two specs, two Certificates of Analysis (CoA), two cleaning procedures, two relationships to manage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Goodwill: taking a third of a small partner's core product line is a signal SNP will read — at the moment we are asking them to co-develop new hydrogels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Certainty on cost: PCI is not yet quoted; $2.50–5.00 is our forecast, not their number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Dual-sourcing reduces the worst case — it does not eliminate it, and it changes the relationship we most depend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alternative: one supplier, done deliberately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Keep SNP as sole source, but convert an informal dependency into a managed partnership with a written continuity plan.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1920240"/>
                <a:gridCol w="2926080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Lever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means in practice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Cost / effort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Risk it reduces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Share our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Rolling 12-month volume + growth plan; quarterly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Low — a meeting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Capacity surprises; gives SNP reason to invest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Co-develop new hydrogels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Already scheduled — make it a standing joint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Low — engineering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Lock-in works both ways; makes us their most interesting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Continuity terms in a Supplier Quality Agreement (SQA)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Second line/site plan, key-person cover, advance change notice, right to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Low–medium — legal +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Silent process changes; single-line outages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Buffer the RESIN, not the 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Dry PVA resin is shelf-stable for years; hold 8–12 weeks at SNP (consignment) or with 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Low — ~$2–3k tied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Raw-material shortages; the most common upstream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Process escrow + bench-cook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SNP's recipe/process on file; our lab can cook small batches in a crisis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Low — documentation + a lab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Total knowledge loss; buys weeks in an emergency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Financial-health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Annual review of a ~$4M private supplier's viability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Sudden business failure — the one risk that gives no 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Keep the cold-start kit 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Spec, RFQ package, screened longlist maintained annually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Cuts recovery from 6–12 months toward 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Total cost of Option B: a few thousand dollars and some engineering time — versus $39–96k/yr. Residual risk: a true SNP failure still means months of exposure.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middle path: finish PCI, then keep it warm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6035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50">
                <a:solidFill>
                  <a:srgbClr val="1F3864"/>
                </a:solidFill>
                <a:latin typeface="Calibri"/>
              </a:rPr>
              <a:t>•  The idea. </a:t>
            </a:r>
            <a:r>
              <a:rPr sz="1350">
                <a:solidFill>
                  <a:srgbClr val="595959"/>
                </a:solidFill>
                <a:latin typeface="Calibri"/>
              </a:rPr>
              <a:t>Complete PCI's qualification (we are most of the way there), then give them a small, steady trickle — about 5% of volume, one drum every ~7 weeks — so the process, people and paperwork stay current.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1F3864"/>
                </a:solidFill>
                <a:latin typeface="Calibri"/>
              </a:rPr>
              <a:t>•  What it costs. </a:t>
            </a:r>
            <a:r>
              <a:rPr sz="1350">
                <a:solidFill>
                  <a:srgbClr val="595959"/>
                </a:solidFill>
                <a:latin typeface="Calibri"/>
              </a:rPr>
              <a:t>~$6–14k/yr at $2.50–5.00/lb, plus the one-time qualification. Five-year total ~$62k at the mid price.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1F3864"/>
                </a:solidFill>
                <a:latin typeface="Calibri"/>
              </a:rPr>
              <a:t>•  What it buys. </a:t>
            </a:r>
            <a:r>
              <a:rPr sz="1350">
                <a:solidFill>
                  <a:srgbClr val="595959"/>
                </a:solidFill>
                <a:latin typeface="Calibri"/>
              </a:rPr>
              <a:t>Recovery in weeks instead of months if SNP fails; a real quote on file; leverage without taking a third of SNP's business; the six months already invested becomes a standing option instead of a sunk cost.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1F3864"/>
                </a:solidFill>
                <a:latin typeface="Calibri"/>
              </a:rPr>
              <a:t>•  Where it can fail. </a:t>
            </a:r>
            <a:r>
              <a:rPr sz="1350">
                <a:solidFill>
                  <a:srgbClr val="595959"/>
                </a:solidFill>
                <a:latin typeface="Calibri"/>
              </a:rPr>
              <a:t>5% may be too little for PCI to care — this needs an explicit 'readiness' understanding, not just orders. Capacity to ramp from 5% to 100% in a crisis must be confirmed in writing. And a dormant supplier drifts: annual re-check batch required.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143000"/>
            <a:ext cx="4754880" cy="4389120"/>
          </a:xfrm>
          <a:prstGeom prst="rect">
            <a:avLst/>
          </a:prstGeom>
          <a:solidFill>
            <a:srgbClr val="F6F8FB"/>
          </a:solidFill>
          <a:ln w="9525">
            <a:solidFill>
              <a:srgbClr val="4E7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128016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Option C by the numbers (mid price $3.75)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Share to PCI:  </a:t>
            </a:r>
            <a:r>
              <a:rPr sz="1200">
                <a:solidFill>
                  <a:srgbClr val="595959"/>
                </a:solidFill>
                <a:latin typeface="Calibri"/>
              </a:rPr>
              <a:t>~5%  (~8 drums/yr)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Annual premium:  </a:t>
            </a:r>
            <a:r>
              <a:rPr sz="1200">
                <a:solidFill>
                  <a:srgbClr val="595959"/>
                </a:solidFill>
                <a:latin typeface="Calibri"/>
              </a:rPr>
              <a:t>~$10k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5-year premium:  </a:t>
            </a:r>
            <a:r>
              <a:rPr sz="1200">
                <a:solidFill>
                  <a:srgbClr val="595959"/>
                </a:solidFill>
                <a:latin typeface="Calibri"/>
              </a:rPr>
              <a:t>~$62k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One-time qualification:  </a:t>
            </a:r>
            <a:r>
              <a:rPr sz="1200">
                <a:solidFill>
                  <a:srgbClr val="595959"/>
                </a:solidFill>
                <a:latin typeface="Calibri"/>
              </a:rPr>
              <a:t>~$15k (placeholder)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Volume exposed if SNP fails:  </a:t>
            </a:r>
            <a:r>
              <a:rPr sz="1200">
                <a:solidFill>
                  <a:srgbClr val="595959"/>
                </a:solidFill>
                <a:latin typeface="Calibri"/>
              </a:rPr>
              <a:t>95% — until PCI ramps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Time to recover:  </a:t>
            </a:r>
            <a:r>
              <a:rPr sz="1200">
                <a:solidFill>
                  <a:srgbClr val="595959"/>
                </a:solidFill>
                <a:latin typeface="Calibri"/>
              </a:rPr>
              <a:t>weeks–months (re-activate), not 6–12 months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For roughly a fifth of the cost of a full split, we keep the option to switch — which is the thing we actually need.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Does the volume justify it? The break-even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9 / 13</a:t>
            </a:r>
          </a:p>
        </p:txBody>
      </p:sp>
      <p:pic>
        <p:nvPicPr>
          <p:cNvPr id="5" name="Picture 4" descr="chart_breake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7680960" cy="3630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051560"/>
            <a:ext cx="3154680" cy="4754880"/>
          </a:xfrm>
          <a:prstGeom prst="rect">
            <a:avLst/>
          </a:prstGeom>
          <a:solidFill>
            <a:srgbClr val="F6F8FB"/>
          </a:solidFill>
          <a:ln w="9525">
            <a:solidFill>
              <a:srgbClr val="4E7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188720"/>
            <a:ext cx="2834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The test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Insurance pays when: annual premium ≤ (probability of an SNP outage in a year) × (loss the backup would avoid).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Mid case, 1/3 split ($68k/yr): at a 5%-a-year outage risk, the avoided loss must exceed ~$1.35M; at 10%, ~$680k.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E7D46"/>
                </a:solidFill>
                <a:latin typeface="Calibri"/>
              </a:rPr>
              <a:t>Warm backup ($10k/yr): at 5%, ~$200k; at 10%, ~$100k — a far easier bar to clear.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Calibri"/>
              </a:rPr>
              <a:t>The number we don't have: what a 6-month PVA outage costs us (lost revenue, expedite, line-down). That single figure decides this.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At today's volume, a full split only pays if an SNP failure would cost us well over half a million dollars. A warm backup pays at a fraction of that.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 options,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10 /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 · Dual-source now (1/3 to PCI)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· Single source + strengthen SNP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 · Warm backup (finish PCI, ~5%)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Calibri"/>
                        </a:rPr>
                        <a:t>Annual premium (mid $3.75)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+$68k  (range $39–96k)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~$0  (+ small continuity spend)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~$10k  (range $6–14k)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Calibri"/>
                        </a:rPr>
                        <a:t>5-year premium (+10%/yr)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~$413k  ($240–585k)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~$0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~$62k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Calibri"/>
                        </a:rPr>
                        <a:t>One-time qualification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~$15k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none (document only)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~$15k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Calibri"/>
                        </a:rPr>
                        <a:t>Volume exposed if SNP fails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2/3 until PCI ramps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95% until PCI ramps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Calibri"/>
                        </a:rPr>
                        <a:t>Time to recover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6–12 months (3–4 with cold-start kit)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weeks–months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Calibri"/>
                        </a:rPr>
                        <a:t>Signal to SNP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We took a third of their line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Deeper partnership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Minor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Calibri"/>
                        </a:rPr>
                        <a:t>Compliance posture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Defensible if risk + plan documented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Calibri"/>
                        </a:rPr>
                        <a:t>Best when…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outage cost &gt; ~$700k–1.4M and we can't fix SNP's fragility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SNP is healthy, engaged, and we can document the plan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3864"/>
                          </a:solidFill>
                          <a:latin typeface="Calibri"/>
                        </a:rPr>
                        <a:t>we want the option without paying full price for it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 and C are not alternatives to each other — together they are the balanced answer at our current 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Recommendation: B + C now; A when the triggers say 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11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5440680" cy="46634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2E7D46"/>
                </a:solidFill>
                <a:latin typeface="Calibri"/>
              </a:rPr>
              <a:t>Do now (next 90 days)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Formalize the SNP partnership: share the forecast, make the hydrogel co-development a standing program, add continuity terms to a Supplier Quality Agreement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Put 8–12 weeks of dry PVA resin on consignment at SNP (or with us) — resin is shelf-stable; the solution is not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Finish PCI qualification (shelf-life, hydrogel, cleaning) and lock a written per-drum price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Start the 5% warm trickle with an explicit readiness understanding and a confirmed ramp plan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Keep the cold-start kit (spec, RFQ, longlist) current — annual refresh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143000"/>
            <a:ext cx="5440680" cy="46634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9C5A0C"/>
                </a:solidFill>
                <a:latin typeface="Calibri"/>
              </a:rPr>
              <a:t>Move to a full split (A) if any of these hit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Finance puts the cost of a 6-month PVA outage above ~$700k (10% risk) or ~$1.4M (5% risk)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A credible SNP risk signal: financial stress, key-person loss, capacity strain, a missed lot, or an unexplained price move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PCI's real price comes in at or below ~$1.50/lb — the premium then drops to ~$17k/yr and the calculus flips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Volume growth or a new hydrogel line makes PVA a larger, more strategic spend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SNP declines the partnership or continuity terms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We keep the option, strengthen the source we depend on, and spend ~$10k/yr instead of ~$68k — with clear triggers to escalate.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640080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9903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234440"/>
            <a:ext cx="6675120" cy="77724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1325880"/>
            <a:ext cx="649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 number: what does a 6-month liquid-PVA outage cost the business?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234440"/>
            <a:ext cx="3566160" cy="7772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325880"/>
            <a:ext cx="3383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Finance + Ops · this is the input that makes the break-even rigorous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30552"/>
            <a:ext cx="640080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9514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130552"/>
            <a:ext cx="6675120" cy="77724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2221992"/>
            <a:ext cx="649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Approval to formalize the SNP partnership (forecast sharing, continuity terms in the SQA)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30552"/>
            <a:ext cx="3566160" cy="7772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221992"/>
            <a:ext cx="3383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Leadership · signals intent to SNP; legal/quality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26664"/>
            <a:ext cx="640080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912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3026664"/>
            <a:ext cx="6675120" cy="77724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3118104"/>
            <a:ext cx="649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Budget for the warm backup: ~$15k one-time + ~$10k/yr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026664"/>
            <a:ext cx="3566160" cy="7772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118104"/>
            <a:ext cx="3383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Leadership · small, reversible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922776"/>
            <a:ext cx="640080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08736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922776"/>
            <a:ext cx="6675120" cy="77724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4014215"/>
            <a:ext cx="649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Confirm the volume outlook (+10%/yr) and any new hydrogel lines in plan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3922776"/>
            <a:ext cx="3566160" cy="7772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014215"/>
            <a:ext cx="3383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Product/R&amp;D · drives both the premium and the strategic weight of PVA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818888"/>
            <a:ext cx="640080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98347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80160" y="4818888"/>
            <a:ext cx="6675120" cy="77724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4910327"/>
            <a:ext cx="649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Agreement on the escalation triggers on the previous slide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4818888"/>
            <a:ext cx="3566160" cy="7772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910327"/>
            <a:ext cx="3383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Leadership · so we don't re-litigate this each quarter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89320"/>
            <a:ext cx="110642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06247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With #1 in hand, we can restate the recommendation in one line: the premium is, or is not, cheaper than the expected loss.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Appendix · What the evidence says about dual vs single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•  Bottleneck items call for securing supply, not splitting it. </a:t>
            </a:r>
            <a:r>
              <a:rPr sz="1200">
                <a:solidFill>
                  <a:srgbClr val="595959"/>
                </a:solidFill>
                <a:latin typeface="Calibri"/>
              </a:rPr>
              <a:t>Kraljic's portfolio model classifies low-spend/high-risk items as 'bottleneck'; the prescribed strategies are volume insurance, vendor control, contingency planning and security of supply — a second source is one tool among several. (Kraljic, Harvard Business Review, 1983)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•  Exposure = recovery time vs survival time. </a:t>
            </a:r>
            <a:r>
              <a:rPr sz="1200">
                <a:solidFill>
                  <a:srgbClr val="595959"/>
                </a:solidFill>
                <a:latin typeface="Calibri"/>
              </a:rPr>
              <a:t>Simchi-Levi's Time-to-Recover / Time-to-Survive model (MIT; Harvard Business Review 2014, Ford case) quantifies risk as the gap between how long we can run without a supplier and how long it takes to replace them — here ~2.5 weeks vs 6–12 months.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•  Mitigation vs contingency depends on disruption profile. </a:t>
            </a:r>
            <a:r>
              <a:rPr sz="1200">
                <a:solidFill>
                  <a:srgbClr val="595959"/>
                </a:solidFill>
                <a:latin typeface="Calibri"/>
              </a:rPr>
              <a:t>Tomlin (Management Science, 2006) shows that for rare, long disruptions a contingent backup is often preferable to carrying a dual source continuously — the theoretical basis for the 'warm backup' option.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•  Dual-sourcing surged after 2020, then cooled on cost. </a:t>
            </a:r>
            <a:r>
              <a:rPr sz="1200">
                <a:solidFill>
                  <a:srgbClr val="595959"/>
                </a:solidFill>
                <a:latin typeface="Calibri"/>
              </a:rPr>
              <a:t>McKinsey's supply-chain surveys reported the majority of companies pursued dual-sourcing for critical inputs in 2021–22; later surveys show many scaling resilience investments back as the cost became visible. Resilience is bought, not free.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•  Being a preferred customer is a risk lever. </a:t>
            </a:r>
            <a:r>
              <a:rPr sz="1200">
                <a:solidFill>
                  <a:srgbClr val="595959"/>
                </a:solidFill>
                <a:latin typeface="Calibri"/>
              </a:rPr>
              <a:t>Customer-attractiveness research (Schiele et al.) shows suppliers allocate capacity, innovation and attention to customers they value — forecast sharing and joint development are the documented ways to earn that status.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F3864"/>
                </a:solidFill>
                <a:latin typeface="Calibri"/>
              </a:rPr>
              <a:t>•  Regulators require controlled, risk-proportionate suppliers — not two of them. </a:t>
            </a:r>
            <a:r>
              <a:rPr sz="1200">
                <a:solidFill>
                  <a:srgbClr val="595959"/>
                </a:solidFill>
                <a:latin typeface="Calibri"/>
              </a:rPr>
              <a:t>FDA's QMSR (21 CFR 820, incorporating ISO 13485:2016 clause 7.4) and GHTF/SG3/N17 require supplier evaluation and controls proportionate to risk; a documented risk assessment and contingency plan is the expectation for a sole 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  <a:latin typeface="Calibri"/>
              </a:rPr>
              <a:t>Sources listed on the next page. Claims were fact-checked independently; see the accompanying research memo for the verification record.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Appendix · Assumptions, sources and acronyms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67665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651760"/>
                <a:gridCol w="210312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Demand 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1,300 lb/week ≈ 150 drums/yr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Confirmed 2026-06-26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SNP price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$0.75/lb delivered, $337.50/drum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SNP Estimate 012726-1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PCI price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$2.50 low · $3.75 mid · $5.00 high per lb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Leadership range; PCI not yet quoted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Share to second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1/3 (Option A) · 5% (Option 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Leadership assumption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Volume growth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+10% per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Leadership assumption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Market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$0.85 / $1.40 / $2.55 per lb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Resin floor + labor build-up + retail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CJB 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$8.00–8.50/lb toll excl. materials ≈ $8.42/lb landed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CJB email 'RE: mix test'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Qualification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~$15k one-time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PLACEHOLDER — to confirm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Outage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not yet estimated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F3864"/>
                          </a:solidFill>
                          <a:latin typeface="Calibri"/>
                        </a:rPr>
                        <a:t>NEEDED from Finance/Ops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543800" y="1097280"/>
            <a:ext cx="4069080" cy="5120640"/>
          </a:xfrm>
          <a:prstGeom prst="rect">
            <a:avLst/>
          </a:prstGeom>
          <a:solidFill>
            <a:srgbClr val="F6F8FB"/>
          </a:solidFill>
          <a:ln w="9525">
            <a:solidFill>
              <a:srgbClr val="4E7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1188720"/>
            <a:ext cx="384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Acronyms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PVA  </a:t>
            </a:r>
            <a:r>
              <a:rPr sz="1050">
                <a:solidFill>
                  <a:srgbClr val="595959"/>
                </a:solidFill>
                <a:latin typeface="Calibri"/>
              </a:rPr>
              <a:t>— polyvinyl alcohol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SNP  </a:t>
            </a:r>
            <a:r>
              <a:rPr sz="1050">
                <a:solidFill>
                  <a:srgbClr val="595959"/>
                </a:solidFill>
                <a:latin typeface="Calibri"/>
              </a:rPr>
              <a:t>— our incumbent PVA supplier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PCI  </a:t>
            </a:r>
            <a:r>
              <a:rPr sz="1050">
                <a:solidFill>
                  <a:srgbClr val="595959"/>
                </a:solidFill>
                <a:latin typeface="Calibri"/>
              </a:rPr>
              <a:t>— candidate second supplier (in testing)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CJB  </a:t>
            </a:r>
            <a:r>
              <a:rPr sz="1050">
                <a:solidFill>
                  <a:srgbClr val="595959"/>
                </a:solidFill>
                <a:latin typeface="Calibri"/>
              </a:rPr>
              <a:t>— toll blender that quoted ~11× SNP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cP  </a:t>
            </a:r>
            <a:r>
              <a:rPr sz="1050">
                <a:solidFill>
                  <a:srgbClr val="595959"/>
                </a:solidFill>
                <a:latin typeface="Calibri"/>
              </a:rPr>
              <a:t>— centipoise — viscosity unit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CoA  </a:t>
            </a:r>
            <a:r>
              <a:rPr sz="1050">
                <a:solidFill>
                  <a:srgbClr val="595959"/>
                </a:solidFill>
                <a:latin typeface="Calibri"/>
              </a:rPr>
              <a:t>— Certificate of Analysis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SQA  </a:t>
            </a:r>
            <a:r>
              <a:rPr sz="1050">
                <a:solidFill>
                  <a:srgbClr val="595959"/>
                </a:solidFill>
                <a:latin typeface="Calibri"/>
              </a:rPr>
              <a:t>— Supplier Quality Agreement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RFQ  </a:t>
            </a:r>
            <a:r>
              <a:rPr sz="1050">
                <a:solidFill>
                  <a:srgbClr val="595959"/>
                </a:solidFill>
                <a:latin typeface="Calibri"/>
              </a:rPr>
              <a:t>— Request for Quotation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TTS / TTR  </a:t>
            </a:r>
            <a:r>
              <a:rPr sz="1050">
                <a:solidFill>
                  <a:srgbClr val="595959"/>
                </a:solidFill>
                <a:latin typeface="Calibri"/>
              </a:rPr>
              <a:t>— Time-to-Survive / Time-to-Recover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QMSR  </a:t>
            </a:r>
            <a:r>
              <a:rPr sz="1050">
                <a:solidFill>
                  <a:srgbClr val="595959"/>
                </a:solidFill>
                <a:latin typeface="Calibri"/>
              </a:rPr>
              <a:t>— FDA Quality Management System Regulation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ISO 13485  </a:t>
            </a:r>
            <a:r>
              <a:rPr sz="1050">
                <a:solidFill>
                  <a:srgbClr val="595959"/>
                </a:solidFill>
                <a:latin typeface="Calibri"/>
              </a:rPr>
              <a:t>— medical-device quality standard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F3864"/>
                </a:solidFill>
                <a:latin typeface="Calibri"/>
              </a:rPr>
              <a:t>GHTF  </a:t>
            </a:r>
            <a:r>
              <a:rPr sz="1050">
                <a:solidFill>
                  <a:srgbClr val="595959"/>
                </a:solidFill>
                <a:latin typeface="Calibri"/>
              </a:rPr>
              <a:t>— Global Harmonization Task Force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  <a:latin typeface="Calibri"/>
              </a:rPr>
              <a:t>Full model: PVA_Second_Supplier_Leadership_Model.xlsx (all inputs editable). Research memo with verified sources accompanies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