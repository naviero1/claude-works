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The band is where eighty percent of the verified points fall around that trend; beyond twenty gallons, where no US vendor publishes a price, its top follows the flattening seen in vendors' own volume ladders. SNP, green, sells us about three drums a week at 75 cents - in the bottom of that band, and delivered, to our spec,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conversation, in order. One: why we are here - growth, a sole source we depend on, and the intent to run it as a partnership; they should hear investment, not audit. Two: our business, shown - volume history, the forecast of 150 drums this year growing ten percent a year, our delivery record, what the product does for our mission. Three: what we bring - a rolling twelve-month forecast refreshed monthly, a level weekly cadence through a blanket order, and the hydrogel program as a written joint roadmap. Four: growing together - their other hydrogel lines, sodium alginate and guar gum, for our other projects, if R&amp;D has a use. Five: running it as partners - resin supply and a consignment buffer, capacity for year-five volume, cover for the people who run the PVA cook, advance notice of changes, a shelf-life study together; continuity agreed as a shared discipline. Six: a resin-indexed price formula instead of ad hoc increases. Seven: close with a quarterly business review, named contacts and an updated quality agreement. Before we walk in we decide five things: the strategy, which sets the posture - under Option 3 we say a continuity verification lot runs once a year and we do not name the supplier; how much forecast we share and whether a multi-year commitment is on the table; the give - blanket order and payment terms; which projects could use the other hydrogels; and whether we fund the resin buffer and the shelf-life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1-gallon jug to 150 drums, log scale</a:t>
            </a:r>
          </a:p>
          <a:p>
            <a:pPr>
              <a:spcAft>
                <a:spcPts val="500"/>
              </a:spcAft>
            </a:pPr>
            <a:r>
              <a:rPr b="1" sz="1050">
                <a:solidFill>
                  <a:srgbClr val="1F3864"/>
                </a:solidFill>
                <a:latin typeface="Calibri"/>
              </a:rPr>
              <a:t>Grey points  </a:t>
            </a:r>
            <a:r>
              <a:rPr sz="950">
                <a:solidFill>
                  <a:srgbClr val="595959"/>
                </a:solidFill>
                <a:latin typeface="Calibri"/>
              </a:rPr>
              <a:t>— verified prices of pre-mixed PVA solution by pack size: US composites grade up to 20 gal; ton-scale offshore offers before freight</a:t>
            </a:r>
          </a:p>
          <a:p>
            <a:pPr>
              <a:spcAft>
                <a:spcPts val="500"/>
              </a:spcAft>
            </a:pPr>
            <a:r>
              <a:rPr b="1" sz="1050">
                <a:solidFill>
                  <a:srgbClr val="1F3864"/>
                </a:solidFill>
                <a:latin typeface="Calibri"/>
              </a:rPr>
              <a:t>Navy line and band  </a:t>
            </a:r>
            <a:r>
              <a:rPr sz="950">
                <a:solidFill>
                  <a:srgbClr val="595959"/>
                </a:solidFill>
                <a:latin typeface="Calibri"/>
              </a:rPr>
              <a:t>— the trend: ~18% lower per doubling of the lot. The band is where 80% of the verified points fall around it; beyond 20 gal, where no US vendor publishes a price, its top follows the flattening in vendors' own ladders. One drum $0.83–3.53; SNP's lot $0.60–3.09; a 5-drum batch $0.51–2.91</a:t>
            </a:r>
          </a:p>
          <a:p>
            <a:pPr>
              <a:spcAft>
                <a:spcPts val="500"/>
              </a:spcAft>
            </a:pPr>
            <a:r>
              <a:rPr b="1" sz="1050">
                <a:solidFill>
                  <a:srgbClr val="1F3864"/>
                </a:solidFill>
                <a:latin typeface="Calibri"/>
              </a:rPr>
              <a:t>SNP Inc., green  </a:t>
            </a:r>
            <a:r>
              <a:rPr sz="950">
                <a:solidFill>
                  <a:srgbClr val="595959"/>
                </a:solidFill>
                <a:latin typeface="Calibri"/>
              </a:rPr>
              <a:t>— $0.75 at ~3 drums a week — in the bottom of the band, and delivered, to our spec, medical-grade controls: the cheapest end of the market for a better product</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$6.00 below it — above the band: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CJB $8.42 at a 40-gal minimum sits far above the band; APV ≥$3 (estimate from our call, never confirmed) sits at the band's top</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across this market. SNP Inc. sells us drum lots at the bottom of the band, delivered to our spec; every other supplier that can make it charges the top of the band,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rare</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conversation — outline,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The meeting, in order — what we say, and what we want out of each part</a:t>
            </a:r>
          </a:p>
        </p:txBody>
      </p:sp>
      <p:sp>
        <p:nvSpPr>
          <p:cNvPr id="6" name="TextBox 5"/>
          <p:cNvSpPr txBox="1"/>
          <p:nvPr/>
        </p:nvSpPr>
        <p:spPr>
          <a:xfrm>
            <a:off x="548640" y="1325880"/>
            <a:ext cx="6949440" cy="4572000"/>
          </a:xfrm>
          <a:prstGeom prst="rect">
            <a:avLst/>
          </a:prstGeom>
          <a:noFill/>
        </p:spPr>
        <p:txBody>
          <a:bodyPr wrap="square">
            <a:spAutoFit/>
          </a:bodyPr>
          <a:lstStyle/>
          <a:p>
            <a:pPr>
              <a:spcAft>
                <a:spcPts val="900"/>
              </a:spcAft>
            </a:pPr>
            <a:r>
              <a:rPr b="1" sz="1200">
                <a:solidFill>
                  <a:srgbClr val="1F3864"/>
                </a:solidFill>
                <a:latin typeface="Calibri"/>
              </a:rPr>
              <a:t>1  Why we are here   </a:t>
            </a:r>
            <a:r>
              <a:rPr sz="1100">
                <a:solidFill>
                  <a:srgbClr val="595959"/>
                </a:solidFill>
                <a:latin typeface="Calibri"/>
              </a:rPr>
              <a:t>Years of growth, a sole source we depend on, and the intent to run it as a partnership.  </a:t>
            </a:r>
            <a:r>
              <a:rPr sz="1100" b="1">
                <a:solidFill>
                  <a:srgbClr val="2E7D46"/>
                </a:solidFill>
                <a:latin typeface="Calibri"/>
              </a:rPr>
              <a:t>→ They hear investment, not audit</a:t>
            </a:r>
          </a:p>
          <a:p>
            <a:pPr>
              <a:spcAft>
                <a:spcPts val="900"/>
              </a:spcAft>
            </a:pPr>
            <a:r>
              <a:rPr b="1" sz="1200">
                <a:solidFill>
                  <a:srgbClr val="1F3864"/>
                </a:solidFill>
                <a:latin typeface="Calibri"/>
              </a:rPr>
              <a:t>2  Our business, shown   </a:t>
            </a:r>
            <a:r>
              <a:rPr sz="1100">
                <a:solidFill>
                  <a:srgbClr val="595959"/>
                </a:solidFill>
                <a:latin typeface="Calibri"/>
              </a:rPr>
              <a:t>Volume history, the forecast (150 drums this year, +10%/yr), our delivery record, what the product does for our mission.  </a:t>
            </a:r>
            <a:r>
              <a:rPr sz="1100" b="1">
                <a:solidFill>
                  <a:srgbClr val="2E7D46"/>
                </a:solidFill>
                <a:latin typeface="Calibri"/>
              </a:rPr>
              <a:t>→ A growing account worth planning for</a:t>
            </a:r>
          </a:p>
          <a:p>
            <a:pPr>
              <a:spcAft>
                <a:spcPts val="900"/>
              </a:spcAft>
            </a:pPr>
            <a:r>
              <a:rPr b="1" sz="1200">
                <a:solidFill>
                  <a:srgbClr val="1F3864"/>
                </a:solidFill>
                <a:latin typeface="Calibri"/>
              </a:rPr>
              <a:t>3  What we bring   </a:t>
            </a:r>
            <a:r>
              <a:rPr sz="1100">
                <a:solidFill>
                  <a:srgbClr val="595959"/>
                </a:solidFill>
                <a:latin typeface="Calibri"/>
              </a:rPr>
              <a:t>Rolling 12-month forecast refreshed monthly; a level weekly cadence through a blanket order; the hydrogel program as a written joint roadmap.  </a:t>
            </a:r>
            <a:r>
              <a:rPr sz="1100" b="1">
                <a:solidFill>
                  <a:srgbClr val="2E7D46"/>
                </a:solidFill>
                <a:latin typeface="Calibri"/>
              </a:rPr>
              <a:t>→ Predictability for their kettle and resin buys</a:t>
            </a:r>
          </a:p>
          <a:p>
            <a:pPr>
              <a:spcAft>
                <a:spcPts val="900"/>
              </a:spcAft>
            </a:pPr>
            <a:r>
              <a:rPr b="1" sz="1200">
                <a:solidFill>
                  <a:srgbClr val="1F3864"/>
                </a:solidFill>
                <a:latin typeface="Calibri"/>
              </a:rPr>
              <a:t>4  Growing together   </a:t>
            </a:r>
            <a:r>
              <a:rPr sz="1100">
                <a:solidFill>
                  <a:srgbClr val="595959"/>
                </a:solidFill>
                <a:latin typeface="Calibri"/>
              </a:rPr>
              <a:t>Their other hydrogel lines — sodium alginate, guar gum — for our other projects.  </a:t>
            </a:r>
            <a:r>
              <a:rPr sz="1100" b="1">
                <a:solidFill>
                  <a:srgbClr val="2E7D46"/>
                </a:solidFill>
                <a:latin typeface="Calibri"/>
              </a:rPr>
              <a:t>→ A second and third line, if R&amp;D has a use</a:t>
            </a:r>
          </a:p>
          <a:p>
            <a:pPr>
              <a:spcAft>
                <a:spcPts val="900"/>
              </a:spcAft>
            </a:pPr>
            <a:r>
              <a:rPr b="1" sz="1200">
                <a:solidFill>
                  <a:srgbClr val="1F3864"/>
                </a:solidFill>
                <a:latin typeface="Calibri"/>
              </a:rPr>
              <a:t>5  Running it as partners   </a:t>
            </a:r>
            <a:r>
              <a:rPr sz="1100">
                <a:solidFill>
                  <a:srgbClr val="595959"/>
                </a:solidFill>
                <a:latin typeface="Calibri"/>
              </a:rPr>
              <a:t>Resin supply and a consignment buffer; capacity for Year-5 volume; cover for the people who run the PVA cook; advance notice of changes; a shelf-life study together.  </a:t>
            </a:r>
            <a:r>
              <a:rPr sz="1100" b="1">
                <a:solidFill>
                  <a:srgbClr val="2E7D46"/>
                </a:solidFill>
                <a:latin typeface="Calibri"/>
              </a:rPr>
              <a:t>→ Continuity agreed as a shared discipline, not a demand</a:t>
            </a:r>
          </a:p>
          <a:p>
            <a:pPr>
              <a:spcAft>
                <a:spcPts val="900"/>
              </a:spcAft>
            </a:pPr>
            <a:r>
              <a:rPr b="1" sz="1200">
                <a:solidFill>
                  <a:srgbClr val="1F3864"/>
                </a:solidFill>
                <a:latin typeface="Calibri"/>
              </a:rPr>
              <a:t>6  Price   </a:t>
            </a:r>
            <a:r>
              <a:rPr sz="1100">
                <a:solidFill>
                  <a:srgbClr val="595959"/>
                </a:solidFill>
                <a:latin typeface="Calibri"/>
              </a:rPr>
              <a:t>A resin-indexed formula in place of ad hoc increases.  </a:t>
            </a:r>
            <a:r>
              <a:rPr sz="1100" b="1">
                <a:solidFill>
                  <a:srgbClr val="2E7D46"/>
                </a:solidFill>
                <a:latin typeface="Calibri"/>
              </a:rPr>
              <a:t>→ Predictability for both sides</a:t>
            </a:r>
          </a:p>
          <a:p>
            <a:pPr>
              <a:spcAft>
                <a:spcPts val="900"/>
              </a:spcAft>
            </a:pPr>
            <a:r>
              <a:rPr b="1" sz="1200">
                <a:solidFill>
                  <a:srgbClr val="1F3864"/>
                </a:solidFill>
                <a:latin typeface="Calibri"/>
              </a:rPr>
              <a:t>7  Close   </a:t>
            </a:r>
            <a:r>
              <a:rPr sz="1100">
                <a:solidFill>
                  <a:srgbClr val="595959"/>
                </a:solidFill>
                <a:latin typeface="Calibri"/>
              </a:rPr>
              <a:t>Quarterly business review, named contacts, an updated Supplier Quality Agreement (SQA).  </a:t>
            </a:r>
            <a:r>
              <a:rPr sz="1100" b="1">
                <a:solidFill>
                  <a:srgbClr val="2E7D46"/>
                </a:solidFill>
                <a:latin typeface="Calibri"/>
              </a:rPr>
              <a:t>→ A cadence that keeps it alive</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Decide before we walk in</a:t>
            </a:r>
          </a:p>
          <a:p>
            <a:pPr>
              <a:spcAft>
                <a:spcPts val="700"/>
              </a:spcAft>
            </a:pPr>
            <a:r>
              <a:rPr b="1" sz="1050">
                <a:solidFill>
                  <a:srgbClr val="1F3864"/>
                </a:solidFill>
                <a:latin typeface="Calibri"/>
              </a:rPr>
              <a:t>The strategy — Option 1, 2 or 3  </a:t>
            </a:r>
            <a:r>
              <a:rPr sz="1000">
                <a:solidFill>
                  <a:srgbClr val="595959"/>
                </a:solidFill>
                <a:latin typeface="Calibri"/>
              </a:rPr>
              <a:t>— sets the whole posture. Under Option 3 we say a continuity verification lot runs once a year; the supplier is not named. (Leadership)</a:t>
            </a:r>
          </a:p>
          <a:p>
            <a:pPr>
              <a:spcAft>
                <a:spcPts val="700"/>
              </a:spcAft>
            </a:pPr>
            <a:r>
              <a:rPr b="1" sz="1050">
                <a:solidFill>
                  <a:srgbClr val="1F3864"/>
                </a:solidFill>
                <a:latin typeface="Calibri"/>
              </a:rPr>
              <a:t>How much forecast, what commitment  </a:t>
            </a:r>
            <a:r>
              <a:rPr sz="1000">
                <a:solidFill>
                  <a:srgbClr val="595959"/>
                </a:solidFill>
                <a:latin typeface="Calibri"/>
              </a:rPr>
              <a:t>— 12-month rolling and a 3-year outlook; whether a multi-year commitment or letter of intent is on the table. (Leadership, Legal)</a:t>
            </a:r>
          </a:p>
          <a:p>
            <a:pPr>
              <a:spcAft>
                <a:spcPts val="700"/>
              </a:spcAft>
            </a:pPr>
            <a:r>
              <a:rPr b="1" sz="1050">
                <a:solidFill>
                  <a:srgbClr val="1F3864"/>
                </a:solidFill>
                <a:latin typeface="Calibri"/>
              </a:rPr>
              <a:t>The give  </a:t>
            </a:r>
            <a:r>
              <a:rPr sz="1000">
                <a:solidFill>
                  <a:srgbClr val="595959"/>
                </a:solidFill>
                <a:latin typeface="Calibri"/>
              </a:rPr>
              <a:t>— blanket order — yes or no; payment terms as a lever — yes or no. (Finance, Supply Chain)</a:t>
            </a:r>
          </a:p>
          <a:p>
            <a:pPr>
              <a:spcAft>
                <a:spcPts val="700"/>
              </a:spcAft>
            </a:pPr>
            <a:r>
              <a:rPr b="1" sz="1050">
                <a:solidFill>
                  <a:srgbClr val="1F3864"/>
                </a:solidFill>
                <a:latin typeface="Calibri"/>
              </a:rPr>
              <a:t>The other hydrogels  </a:t>
            </a:r>
            <a:r>
              <a:rPr sz="1000">
                <a:solidFill>
                  <a:srgbClr val="595959"/>
                </a:solidFill>
                <a:latin typeface="Calibri"/>
              </a:rPr>
              <a:t>— which projects could use alginate or guar, at what solids. (R&amp;D, before the meeting)</a:t>
            </a:r>
          </a:p>
          <a:p>
            <a:pPr>
              <a:spcAft>
                <a:spcPts val="700"/>
              </a:spcAft>
            </a:pPr>
            <a:r>
              <a:rPr b="1" sz="1050">
                <a:solidFill>
                  <a:srgbClr val="1F3864"/>
                </a:solidFill>
                <a:latin typeface="Calibri"/>
              </a:rPr>
              <a:t>Continuity money  </a:t>
            </a:r>
            <a:r>
              <a:rPr sz="1000">
                <a:solidFill>
                  <a:srgbClr val="595959"/>
                </a:solidFill>
                <a:latin typeface="Calibri"/>
              </a:rPr>
              <a:t>— fund the resin buffer (~$2–6k tied up) and the shelf-life study — or not.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the give before the meeting; the meeting is where we execute the partnership, not where we discover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