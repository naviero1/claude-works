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about three drums a week - 150 a year. July: Columbus Chemical reached out to us,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80 to 110 thousand in the first twelve months, 65 to 70 a year after; recovery in weeks only if PCI confirms the ramp in writing. Option 3: one or two blocks a year, when we choose - 31 to 78 thousand in year one, 9 to 24 after; SNP sees one or two pre-announced pauses or none; restart in weeks to a few months. Option 2: the whole year on SNP, PCI a quoted option - 13 to 32 thousand in year one, 3 to 12 after;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Costs exclude the fifteen thousand of internal hours already spent.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costs in its first twelve months, all-in; bottom to top is how long we would be without PVA if SNP stopped tomorrow. Each box is the range of one option. Green, Option 2, is the cheapest and the least protected: a cold start of three to six months, and longer as the file goes stale. Blue, Option 3, sits in the middle: a practiced supplier restarts in weeks to a few months for a third of Option 1's cost. Amber, Option 1,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~3 drums a 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Reached out to us, then told us directly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3017520" y="987552"/>
            <a:ext cx="6035040" cy="274320"/>
          </a:xfrm>
          <a:prstGeom prst="rect">
            <a:avLst/>
          </a:prstGeom>
          <a:noFill/>
        </p:spPr>
        <p:txBody>
          <a:bodyPr wrap="square">
            <a:spAutoFit/>
          </a:bodyPr>
          <a:lstStyle/>
          <a:p>
            <a:pPr algn="l">
              <a:spcAft>
                <a:spcPts val="0"/>
              </a:spcAft>
            </a:pPr>
            <a:r>
              <a:rPr sz="10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3017520" y="149047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017520"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992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1758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8213"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992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82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18906"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061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1897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19599"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0131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196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2029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020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2035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2098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269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2105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2167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0339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2174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2237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040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2243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2306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0477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2313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2375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0547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238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1307592"/>
            <a:ext cx="2468880" cy="1371600"/>
          </a:xfrm>
          <a:prstGeom prst="rect">
            <a:avLst/>
          </a:prstGeom>
          <a:noFill/>
        </p:spPr>
        <p:txBody>
          <a:bodyPr wrap="square">
            <a:spAutoFit/>
          </a:bodyPr>
          <a:lstStyle/>
          <a:p>
            <a:pPr>
              <a:spcAft>
                <a:spcPts val="200"/>
              </a:spcAft>
            </a:pPr>
            <a:r>
              <a:rPr sz="850">
                <a:solidFill>
                  <a:srgbClr val="595959"/>
                </a:solidFill>
                <a:latin typeface="Calibri"/>
              </a:rPr>
              <a:t>First 12 months, all-in  </a:t>
            </a:r>
            <a:r>
              <a:rPr sz="900" b="1">
                <a:solidFill>
                  <a:srgbClr val="1F3864"/>
                </a:solidFill>
                <a:latin typeface="Calibri"/>
              </a:rPr>
              <a:t>$80–110k</a:t>
            </a:r>
          </a:p>
          <a:p>
            <a:pPr>
              <a:spcAft>
                <a:spcPts val="200"/>
              </a:spcAft>
            </a:pPr>
            <a:r>
              <a:rPr sz="850">
                <a:solidFill>
                  <a:srgbClr val="595959"/>
                </a:solidFill>
                <a:latin typeface="Calibri"/>
              </a:rPr>
              <a:t>Each year after  </a:t>
            </a:r>
            <a:r>
              <a:rPr sz="900" b="0">
                <a:solidFill>
                  <a:srgbClr val="1F3864"/>
                </a:solidFill>
                <a:latin typeface="Calibri"/>
              </a:rPr>
              <a:t>$65–70k</a:t>
            </a:r>
          </a:p>
          <a:p>
            <a:pPr>
              <a:spcAft>
                <a:spcPts val="200"/>
              </a:spcAft>
            </a:pPr>
            <a:r>
              <a:rPr sz="850">
                <a:solidFill>
                  <a:srgbClr val="595959"/>
                </a:solidFill>
                <a:latin typeface="Calibri"/>
              </a:rPr>
              <a:t>Volume to PCI a year  </a:t>
            </a:r>
            <a:r>
              <a:rPr sz="900" b="0">
                <a:solidFill>
                  <a:srgbClr val="1F3864"/>
                </a:solidFill>
                <a:latin typeface="Calibri"/>
              </a:rPr>
              <a:t>50 drums (33% of demand)</a:t>
            </a:r>
          </a:p>
          <a:p>
            <a:pPr>
              <a:spcAft>
                <a:spcPts val="200"/>
              </a:spcAft>
            </a:pPr>
            <a:r>
              <a:rPr sz="850">
                <a:solidFill>
                  <a:srgbClr val="595959"/>
                </a:solidFill>
                <a:latin typeface="Calibri"/>
              </a:rPr>
              <a:t>SNP Inc. sees  </a:t>
            </a:r>
            <a:r>
              <a:rPr sz="900" b="0">
                <a:solidFill>
                  <a:srgbClr val="1F3864"/>
                </a:solidFill>
                <a:latin typeface="Calibri"/>
              </a:rPr>
              <a:t>10 pauses of ~12 days, or a level cadence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1–2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3017520" y="295351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01642"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8335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0170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77826"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953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7789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20" y="2770632"/>
            <a:ext cx="2468880" cy="1371600"/>
          </a:xfrm>
          <a:prstGeom prst="rect">
            <a:avLst/>
          </a:prstGeom>
          <a:noFill/>
        </p:spPr>
        <p:txBody>
          <a:bodyPr wrap="square">
            <a:spAutoFit/>
          </a:bodyPr>
          <a:lstStyle/>
          <a:p>
            <a:pPr>
              <a:spcAft>
                <a:spcPts val="200"/>
              </a:spcAft>
            </a:pPr>
            <a:r>
              <a:rPr sz="850">
                <a:solidFill>
                  <a:srgbClr val="595959"/>
                </a:solidFill>
                <a:latin typeface="Calibri"/>
              </a:rPr>
              <a:t>First 12 months, all-in  </a:t>
            </a:r>
            <a:r>
              <a:rPr sz="900" b="1">
                <a:solidFill>
                  <a:srgbClr val="1F3864"/>
                </a:solidFill>
                <a:latin typeface="Calibri"/>
              </a:rPr>
              <a:t>$31–78k</a:t>
            </a:r>
          </a:p>
          <a:p>
            <a:pPr>
              <a:spcAft>
                <a:spcPts val="200"/>
              </a:spcAft>
            </a:pPr>
            <a:r>
              <a:rPr sz="850">
                <a:solidFill>
                  <a:srgbClr val="595959"/>
                </a:solidFill>
                <a:latin typeface="Calibri"/>
              </a:rPr>
              <a:t>Each year after  </a:t>
            </a:r>
            <a:r>
              <a:rPr sz="900" b="0">
                <a:solidFill>
                  <a:srgbClr val="1F3864"/>
                </a:solidFill>
                <a:latin typeface="Calibri"/>
              </a:rPr>
              <a:t>$9–24k</a:t>
            </a:r>
          </a:p>
          <a:p>
            <a:pPr>
              <a:spcAft>
                <a:spcPts val="200"/>
              </a:spcAft>
            </a:pPr>
            <a:r>
              <a:rPr sz="850">
                <a:solidFill>
                  <a:srgbClr val="595959"/>
                </a:solidFill>
                <a:latin typeface="Calibri"/>
              </a:rPr>
              <a:t>Volume to PCI a year  </a:t>
            </a:r>
            <a:r>
              <a:rPr sz="900" b="0">
                <a:solidFill>
                  <a:srgbClr val="1F3864"/>
                </a:solidFill>
                <a:latin typeface="Calibri"/>
              </a:rPr>
              <a:t>5–10 drums (3–7% of demand)</a:t>
            </a:r>
          </a:p>
          <a:p>
            <a:pPr>
              <a:spcAft>
                <a:spcPts val="200"/>
              </a:spcAft>
            </a:pPr>
            <a:r>
              <a:rPr sz="850">
                <a:solidFill>
                  <a:srgbClr val="595959"/>
                </a:solidFill>
                <a:latin typeface="Calibri"/>
              </a:rPr>
              <a:t>SNP Inc. sees  </a:t>
            </a:r>
            <a:r>
              <a:rPr sz="900" b="0">
                <a:solidFill>
                  <a:srgbClr val="1F3864"/>
                </a:solidFill>
                <a:latin typeface="Calibri"/>
              </a:rPr>
              <a:t>1–2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48" name="TextBox 47"/>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49" name="Rectangle 48"/>
          <p:cNvSpPr/>
          <p:nvPr/>
        </p:nvSpPr>
        <p:spPr>
          <a:xfrm>
            <a:off x="3017520" y="441655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432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1" name="TextBox 50"/>
          <p:cNvSpPr txBox="1"/>
          <p:nvPr/>
        </p:nvSpPr>
        <p:spPr>
          <a:xfrm>
            <a:off x="4247826"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2" name="TextBox 51"/>
          <p:cNvSpPr txBox="1"/>
          <p:nvPr/>
        </p:nvSpPr>
        <p:spPr>
          <a:xfrm>
            <a:off x="5752452"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3" name="TextBox 52"/>
          <p:cNvSpPr txBox="1"/>
          <p:nvPr/>
        </p:nvSpPr>
        <p:spPr>
          <a:xfrm>
            <a:off x="7273613"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4" name="TextBox 53"/>
          <p:cNvSpPr txBox="1"/>
          <p:nvPr/>
        </p:nvSpPr>
        <p:spPr>
          <a:xfrm>
            <a:off x="87782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5" name="TextBox 54"/>
          <p:cNvSpPr txBox="1"/>
          <p:nvPr/>
        </p:nvSpPr>
        <p:spPr>
          <a:xfrm>
            <a:off x="9189720" y="4233672"/>
            <a:ext cx="2468880" cy="1371600"/>
          </a:xfrm>
          <a:prstGeom prst="rect">
            <a:avLst/>
          </a:prstGeom>
          <a:noFill/>
        </p:spPr>
        <p:txBody>
          <a:bodyPr wrap="square">
            <a:spAutoFit/>
          </a:bodyPr>
          <a:lstStyle/>
          <a:p>
            <a:pPr>
              <a:spcAft>
                <a:spcPts val="200"/>
              </a:spcAft>
            </a:pPr>
            <a:r>
              <a:rPr sz="850">
                <a:solidFill>
                  <a:srgbClr val="595959"/>
                </a:solidFill>
                <a:latin typeface="Calibri"/>
              </a:rPr>
              <a:t>First 12 months, all-in  </a:t>
            </a:r>
            <a:r>
              <a:rPr sz="900" b="1">
                <a:solidFill>
                  <a:srgbClr val="1F3864"/>
                </a:solidFill>
                <a:latin typeface="Calibri"/>
              </a:rPr>
              <a:t>$13–32k</a:t>
            </a:r>
          </a:p>
          <a:p>
            <a:pPr>
              <a:spcAft>
                <a:spcPts val="200"/>
              </a:spcAft>
            </a:pPr>
            <a:r>
              <a:rPr sz="850">
                <a:solidFill>
                  <a:srgbClr val="595959"/>
                </a:solidFill>
                <a:latin typeface="Calibri"/>
              </a:rPr>
              <a:t>Each year after  </a:t>
            </a:r>
            <a:r>
              <a:rPr sz="900" b="0">
                <a:solidFill>
                  <a:srgbClr val="1F3864"/>
                </a:solidFill>
                <a:latin typeface="Calibri"/>
              </a:rPr>
              <a:t>$3–12k</a:t>
            </a:r>
          </a:p>
          <a:p>
            <a:pPr>
              <a:spcAft>
                <a:spcPts val="200"/>
              </a:spcAft>
            </a:pPr>
            <a:r>
              <a:rPr sz="850">
                <a:solidFill>
                  <a:srgbClr val="595959"/>
                </a:solidFill>
                <a:latin typeface="Calibri"/>
              </a:rPr>
              <a:t>Volume to PCI a year  </a:t>
            </a:r>
            <a:r>
              <a:rPr sz="900" b="0">
                <a:solidFill>
                  <a:srgbClr val="1F3864"/>
                </a:solidFill>
                <a:latin typeface="Calibri"/>
              </a:rPr>
              <a:t>none</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a cold start decays after ~12 idle</a:t>
            </a:r>
          </a:p>
        </p:txBody>
      </p:sp>
      <p:sp>
        <p:nvSpPr>
          <p:cNvPr id="56" name="TextBox 55"/>
          <p:cNvSpPr txBox="1"/>
          <p:nvPr/>
        </p:nvSpPr>
        <p:spPr>
          <a:xfrm>
            <a:off x="548640" y="5623560"/>
            <a:ext cx="11064240" cy="320040"/>
          </a:xfrm>
          <a:prstGeom prst="rect">
            <a:avLst/>
          </a:prstGeom>
          <a:noFill/>
        </p:spPr>
        <p:txBody>
          <a:bodyPr wrap="square">
            <a:spAutoFit/>
          </a:bodyPr>
          <a:lstStyle/>
          <a:p>
            <a:pPr algn="l">
              <a:spcAft>
                <a:spcPts val="0"/>
              </a:spcAft>
            </a:pPr>
            <a:r>
              <a:rPr sz="900" b="0" i="0">
                <a:solidFill>
                  <a:srgbClr val="595959"/>
                </a:solidFill>
                <a:latin typeface="Calibri"/>
              </a:rPr>
              <a:t>Demand: 150 drums a year (1 drum = 450 lb of PVA), ~3 drums a week. Block rotation: PCI drums land ~4 days old and expire on day 18, so a 5-drum batch is used at full rate in one ~12-day block. Costs exclude ~$15k of internal hours already spent.</a:t>
            </a:r>
          </a:p>
        </p:txBody>
      </p:sp>
      <p:sp>
        <p:nvSpPr>
          <p:cNvPr id="57" name="Rectangle 5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~$8–16k a year gross, with one or two pre-announced pauses for SNP Inc. — Option 1 costs ~$62k a year more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what the option costs in its first 12 months, all-in: internal hours to finish qualification, payments to suppliers, and the material premium (excludes ~$15k already spent)</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cheapest;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the middle: a practiced supplier restarts in weeks to a few months, for a fraction of Option 1's cost</a:t>
            </a:r>
          </a:p>
          <a:p>
            <a:pPr>
              <a:spcAft>
                <a:spcPts val="600"/>
              </a:spcAft>
            </a:pPr>
            <a:r>
              <a:rPr b="1" sz="1050">
                <a:solidFill>
                  <a:srgbClr val="1F3864"/>
                </a:solidFill>
                <a:latin typeface="Calibri"/>
              </a:rPr>
              <a:t>Option 1, amber  </a:t>
            </a:r>
            <a:r>
              <a:rPr sz="1000">
                <a:solidFill>
                  <a:srgbClr val="595959"/>
                </a:solidFill>
                <a:latin typeface="Calibri"/>
              </a:rPr>
              <a:t>— most protected — weeks, if PCI's ramp is confirmed in writing — and most expensive, every year</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1–2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a third of its cost.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