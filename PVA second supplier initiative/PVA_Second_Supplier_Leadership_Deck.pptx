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67,600 pounds a year in every bar - 150 drums; SNP at 75 cents keeps whatever the second source does not take. Green alone is today: 50.7 thousand. The three blues are Option 3: one, two or three five-drum batches a year at 3.50 - plus 6, 12 or 19 thousand. Dark amber is a one-third second source at PCI's batch price: 22,500 pounds, 50 drums, 112.6 thousand total, plus 61.9 - 122 percent of today's bill. Light amber is one drum a week at the 6-dollar below-batch price: 52 drums, 23,400 pounds,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reached out to us,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80 to 110 thousand in the first twelve months, 65 to 70 a year after; recovery in weeks only if PCI confirms the ramp in writing. Option 3: one or two blocks a year, when we choose - 31 to 78 thousand in year one, 9 to 24 after; SNP sees one or two pre-announced pauses or none; restart in weeks to a few months. Option 2: the whole year on SNP, PCI a quoted option - 13 to 32 thousand in year one, 3 to 12 after;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Costs exclude the fifteen thousand of internal hours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costs in its first twelve months, all-in; bottom to top is how long we would be without PVA if SNP stopped tomorrow. Each box is the range of one option. Green, Option 2, is the cheapest and the least protected: a cold start of three to six months, and longer as the file goes stale. Blue, Option 3, sits in the middle: a practiced supplier restarts in weeks to a few months for a third of Option 1's cost. Amber, Option 1,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in every bar; SNP Inc. at $0.75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at $3.50 (2,250 / 4,500 / 6,750 lb): +$6.2k / +$12.4k / +$18.6k</a:t>
            </a:r>
          </a:p>
          <a:p>
            <a:pPr>
              <a:spcAft>
                <a:spcPts val="500"/>
              </a:spcAft>
            </a:pPr>
            <a:r>
              <a:rPr b="1" sz="1050">
                <a:solidFill>
                  <a:srgbClr val="1F3864"/>
                </a:solidFill>
                <a:latin typeface="Calibri"/>
              </a:rPr>
              <a:t>PCI $3.50  </a:t>
            </a:r>
            <a:r>
              <a:rPr sz="1000">
                <a:solidFill>
                  <a:srgbClr val="595959"/>
                </a:solidFill>
                <a:latin typeface="Calibri"/>
              </a:rPr>
              <a:t>— one-third = 22,500 lb (50 drums, 10 batches) × $3.50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 23,400 lb,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Reached out to us, then told us directly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First 12 months, all-in  </a:t>
            </a:r>
            <a:r>
              <a:rPr sz="900" b="1">
                <a:solidFill>
                  <a:srgbClr val="1F3864"/>
                </a:solidFill>
                <a:latin typeface="Calibri"/>
              </a:rPr>
              <a:t>$80–110k</a:t>
            </a:r>
          </a:p>
          <a:p>
            <a:pPr>
              <a:spcAft>
                <a:spcPts val="200"/>
              </a:spcAft>
            </a:pPr>
            <a:r>
              <a:rPr sz="850">
                <a:solidFill>
                  <a:srgbClr val="595959"/>
                </a:solidFill>
                <a:latin typeface="Calibri"/>
              </a:rPr>
              <a:t>Each year after  </a:t>
            </a:r>
            <a:r>
              <a:rPr sz="900" b="0">
                <a:solidFill>
                  <a:srgbClr val="1F3864"/>
                </a:solidFill>
                <a:latin typeface="Calibri"/>
              </a:rPr>
              <a:t>$65–70k</a:t>
            </a:r>
          </a:p>
          <a:p>
            <a:pPr>
              <a:spcAft>
                <a:spcPts val="200"/>
              </a:spcAft>
            </a:pPr>
            <a:r>
              <a:rPr sz="850">
                <a:solidFill>
                  <a:srgbClr val="595959"/>
                </a:solidFill>
                <a:latin typeface="Calibri"/>
              </a:rPr>
              <a:t>Volume to PCI a year  </a:t>
            </a:r>
            <a:r>
              <a:rPr sz="900" b="0">
                <a:solidFill>
                  <a:srgbClr val="1F3864"/>
                </a:solidFill>
                <a:latin typeface="Calibri"/>
              </a:rPr>
              <a:t>22,500 lb · 50 drums (33%)</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1–2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01642"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8335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017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7782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953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7789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First 12 months, all-in  </a:t>
            </a:r>
            <a:r>
              <a:rPr sz="900" b="1">
                <a:solidFill>
                  <a:srgbClr val="1F3864"/>
                </a:solidFill>
                <a:latin typeface="Calibri"/>
              </a:rPr>
              <a:t>$31–78k</a:t>
            </a:r>
          </a:p>
          <a:p>
            <a:pPr>
              <a:spcAft>
                <a:spcPts val="200"/>
              </a:spcAft>
            </a:pPr>
            <a:r>
              <a:rPr sz="850">
                <a:solidFill>
                  <a:srgbClr val="595959"/>
                </a:solidFill>
                <a:latin typeface="Calibri"/>
              </a:rPr>
              <a:t>Each year after  </a:t>
            </a:r>
            <a:r>
              <a:rPr sz="900" b="0">
                <a:solidFill>
                  <a:srgbClr val="1F3864"/>
                </a:solidFill>
                <a:latin typeface="Calibri"/>
              </a:rPr>
              <a:t>$9–24k</a:t>
            </a:r>
          </a:p>
          <a:p>
            <a:pPr>
              <a:spcAft>
                <a:spcPts val="200"/>
              </a:spcAft>
            </a:pPr>
            <a:r>
              <a:rPr sz="850">
                <a:solidFill>
                  <a:srgbClr val="595959"/>
                </a:solidFill>
                <a:latin typeface="Calibri"/>
              </a:rPr>
              <a:t>Volume to PCI a year  </a:t>
            </a:r>
            <a:r>
              <a:rPr sz="900" b="0">
                <a:solidFill>
                  <a:srgbClr val="1F3864"/>
                </a:solidFill>
                <a:latin typeface="Calibri"/>
              </a:rPr>
              <a:t>2,250–4,500 lb · 5–10 drums (3–7%)</a:t>
            </a:r>
          </a:p>
          <a:p>
            <a:pPr>
              <a:spcAft>
                <a:spcPts val="200"/>
              </a:spcAft>
            </a:pPr>
            <a:r>
              <a:rPr sz="850">
                <a:solidFill>
                  <a:srgbClr val="595959"/>
                </a:solidFill>
                <a:latin typeface="Calibri"/>
              </a:rPr>
              <a:t>SNP Inc. sees  </a:t>
            </a:r>
            <a:r>
              <a:rPr sz="900" b="0">
                <a:solidFill>
                  <a:srgbClr val="1F3864"/>
                </a:solidFill>
                <a:latin typeface="Calibri"/>
              </a:rPr>
              <a:t>1–2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48" name="TextBox 47"/>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49" name="Rectangle 48"/>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1" name="TextBox 50"/>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2" name="TextBox 51"/>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3" name="TextBox 52"/>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4" name="TextBox 53"/>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5" name="TextBox 54"/>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First 12 months, all-in  </a:t>
            </a:r>
            <a:r>
              <a:rPr sz="900" b="1">
                <a:solidFill>
                  <a:srgbClr val="1F3864"/>
                </a:solidFill>
                <a:latin typeface="Calibri"/>
              </a:rPr>
              <a:t>$13–32k</a:t>
            </a:r>
          </a:p>
          <a:p>
            <a:pPr>
              <a:spcAft>
                <a:spcPts val="200"/>
              </a:spcAft>
            </a:pPr>
            <a:r>
              <a:rPr sz="850">
                <a:solidFill>
                  <a:srgbClr val="595959"/>
                </a:solidFill>
                <a:latin typeface="Calibri"/>
              </a:rPr>
              <a:t>Each year after  </a:t>
            </a:r>
            <a:r>
              <a:rPr sz="900" b="0">
                <a:solidFill>
                  <a:srgbClr val="1F3864"/>
                </a:solidFill>
                <a:latin typeface="Calibri"/>
              </a:rPr>
              <a:t>$3–12k</a:t>
            </a:r>
          </a:p>
          <a:p>
            <a:pPr>
              <a:spcAft>
                <a:spcPts val="200"/>
              </a:spcAft>
            </a:pPr>
            <a:r>
              <a:rPr sz="850">
                <a:solidFill>
                  <a:srgbClr val="595959"/>
                </a:solidFill>
                <a:latin typeface="Calibri"/>
              </a:rPr>
              <a:t>Volume to PCI a year  </a:t>
            </a:r>
            <a:r>
              <a:rPr sz="900" b="0">
                <a:solidFill>
                  <a:srgbClr val="1F3864"/>
                </a:solidFill>
                <a:latin typeface="Calibri"/>
              </a:rPr>
              <a:t>none</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6" name="TextBox 55"/>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Block rotation: PCI drums land ~4 days old and expire on day 18, so a 5-drum batch is used at full rate in one ~12-day block. Costs exclude ~$15k of internal hours already spent; ranges cover internal hours, supplier payments and material premium.</a:t>
            </a:r>
          </a:p>
        </p:txBody>
      </p:sp>
      <p:sp>
        <p:nvSpPr>
          <p:cNvPr id="57" name="Rectangle 5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with one or two pre-announced pauses for SNP Inc. — Option 1 costs ~$62k a year more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what the option costs in its first 12 months, all-in: internal hours to finish qualification, payments to suppliers, and the material premium (excludes ~$15k already spent)</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cheapest;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the middle: a practiced supplier restarts in weeks to a few months, for a fraction of Option 1's cost</a:t>
            </a:r>
          </a:p>
          <a:p>
            <a:pPr>
              <a:spcAft>
                <a:spcPts val="600"/>
              </a:spcAft>
            </a:pPr>
            <a:r>
              <a:rPr b="1" sz="1050">
                <a:solidFill>
                  <a:srgbClr val="1F3864"/>
                </a:solidFill>
                <a:latin typeface="Calibri"/>
              </a:rPr>
              <a:t>Option 1, amber  </a:t>
            </a:r>
            <a:r>
              <a:rPr sz="1000">
                <a:solidFill>
                  <a:srgbClr val="595959"/>
                </a:solidFill>
                <a:latin typeface="Calibri"/>
              </a:rPr>
              <a:t>— most protected — weeks, if PCI's ramp is confirmed in writing — and most expensive, every year</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a third of its cost.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