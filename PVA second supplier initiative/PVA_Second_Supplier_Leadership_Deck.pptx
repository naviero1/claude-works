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outline. Feasibility is settled, cost is real, logistics are specific, then options, timing and the decision. Each slide establishes one 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Capability is closed: PCI hit 11 percent solids and the viscosity window on their instrument after we found the solids root cause together; a split-sample cross-check on our viscometer is still open. Price is closed: 3.50 a pound for a five-drum batch, 6 dollars for anything smaller - whole batches or nothing. 3.50 is within 7 percent of our September mid-case but well above the competitive market, for the reasons on the next slide. Batch size is the new fact: five drums is twelve days of our full demand, and with an eighteen-day life counted from manufacture those drums are used at full rate as soon as they land. To confirm with PCI, first: the 3.50 batch price carries no volume commitment so far - nothing in the quote or any contract ties it to an annual volume - and that is the economic core of Option 3, so we put it in writing together with how long the quote holds; then lead time, delivered and all-in, the crisis ramp, and which resin producer they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apples to apples. The same 67,600 pounds a year in every bar - 150 drums - and the second source takes exactly one third in every option: 22,500 pounds, 50 drums, ten batches of five. SNP's part is identical everywhere: 45,100 pounds at 75 cents, 33.8 thousand. Only the second source's price changes. At PCI's 3.50 batch price: 78.8 thousand for that third, 112.6 total, plus 61.9 thousand a year - 122 percent of today's bill. At the 6-dollar below-batch price: 168.8 total, plus 118. CJB, for scale: 223 total. Option 3 is not a bar because it is a different quantity - one or two batches a year, plus 6 to 12 thousand - it is on slide 8 with the one-time costs.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1,300 pounds a week. July: Columbus Chemical told us they cannot hold the temperature.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The shelf-life clock starts at manufacture. PCI cooks on day zero, the five drums land around day four, we run on them at full rate through about day sixteen, and they expire on day eighteen - about two days of slack. Then three and a half weeks on SNP, repeat every five weeks; ten batches in year one, about fifteen by year five. We cannot run PCI alongside SNP at a third of rate: a batch would last thirty-six days; even at two-thirds it takes eighteen. A validated twenty-one-day life gives block rotation real margin; a thirty-day life still needs PCI at about half of rate. For SNP: a third less volume, and a choice of cadence - a twelve-day pause every cycle, or a steady two drums a week if we carry about three drums of rolling stock and use them first; the shelf-life study decides. What SNP reads is the signal, not the dollars. For us: one spec, one viscometer method, freeze-protected freight, five drums on site, a written failover with SNP's lead time, PCI's residual-film issue closed before any production batch, two quality agreements. What it buys - recovery in weeks - only if PCI confirms in writing that they can ramp.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The chart shows the first twelve months all-in and each year after, as ranges; the table says what each buys and what each supplier sees. Option 1, a second supplier at a third of volume: 62 thousand a year of premium plus a few thousand of quality overhead, plus 15 to 40 thousand of internal hours to reach production release - about 80 to 110 thousand in year one; a practiced second source, but strain with SNP at the wrong moment. Option 2, strengthen SNP only, no volume moved: a development fee to PCI, a few thousand to formalize SNP, 3 to 12 thousand a year - 13 to 32 thousand in year one; deeper partnership, but SNP failure still means months. Option 3, keep-alive: Option 2's partnership plus one or two five-drum batches a year from PCI, 7,900 dollars each gross, 6,200 of premium each - 31 to 70 thousand in year one at one batch, 39 to 78 at two, of which 13 to 26 thousand is cash to suppliers. Everything Option 2 buys plus production scale proven and a qualification that never goes stale; SNP sees one or two pre-announced twelve-day pauses, or none if we carry a small rolling stock. The economic advantage of Option 3: the 3.50 batch price has no volume string attached - nothing in the quote or any contract ties it to a yearly volume - so we can order a batch when we choose; we should get that in writing, and if PCI ever attaches a minimum, Option 3 collapses to Option 2. Internal hours already spent - about 15 thousand - are sunk and excluded everywhere. Option 3 at one batch a year is my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Outline — what each slide establishes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OUTLINE</a:t>
            </a:r>
          </a:p>
        </p:txBody>
      </p:sp>
      <p:graphicFrame>
        <p:nvGraphicFramePr>
          <p:cNvPr id="5" name="Table 4"/>
          <p:cNvGraphicFramePr>
            <a:graphicFrameLocks noGrp="1"/>
          </p:cNvGraphicFramePr>
          <p:nvPr/>
        </p:nvGraphicFramePr>
        <p:xfrm>
          <a:off x="548640" y="1097280"/>
          <a:ext cx="11064240" cy="4800600"/>
        </p:xfrm>
        <a:graphic>
          <a:graphicData uri="http://schemas.openxmlformats.org/drawingml/2006/table">
            <a:tbl>
              <a:tblPr firstRow="1" bandRow="1">
                <a:tableStyleId>{5C22544A-7EE6-4342-B048-85BDC9FD1C3A}</a:tableStyleId>
              </a:tblPr>
              <a:tblGrid>
                <a:gridCol w="457200"/>
                <a:gridCol w="2743200"/>
                <a:gridCol w="7863840"/>
              </a:tblGrid>
              <a:tr h="436418">
                <a:tc>
                  <a:txBody>
                    <a:bodyPr/>
                    <a:lstStyle/>
                    <a:p>
                      <a:pPr algn="l"/>
                      <a:r>
                        <a:rPr sz="1000" b="1">
                          <a:solidFill>
                            <a:srgbClr val="FFFFFF"/>
                          </a:solidFill>
                          <a:latin typeface="Calibri"/>
                        </a:rPr>
                        <a:t>#</a:t>
                      </a:r>
                    </a:p>
                  </a:txBody>
                  <a:tcPr>
                    <a:solidFill>
                      <a:srgbClr val="1F3864"/>
                    </a:solidFill>
                  </a:tcPr>
                </a:tc>
                <a:tc>
                  <a:txBody>
                    <a:bodyPr/>
                    <a:lstStyle/>
                    <a:p>
                      <a:pPr algn="ctr"/>
                      <a:r>
                        <a:rPr sz="1000" b="1">
                          <a:solidFill>
                            <a:srgbClr val="FFFFFF"/>
                          </a:solidFill>
                          <a:latin typeface="Calibri"/>
                        </a:rPr>
                        <a:t>Slide</a:t>
                      </a:r>
                    </a:p>
                  </a:txBody>
                  <a:tcPr>
                    <a:solidFill>
                      <a:srgbClr val="1F3864"/>
                    </a:solidFill>
                  </a:tcPr>
                </a:tc>
                <a:tc>
                  <a:txBody>
                    <a:bodyPr/>
                    <a:lstStyle/>
                    <a:p>
                      <a:pPr algn="ctr"/>
                      <a:r>
                        <a:rPr sz="1000" b="1">
                          <a:solidFill>
                            <a:srgbClr val="FFFFFF"/>
                          </a:solidFill>
                          <a:latin typeface="Calibri"/>
                        </a:rPr>
                        <a:t>What it establishes</a:t>
                      </a:r>
                    </a:p>
                  </a:txBody>
                  <a:tcPr>
                    <a:solidFill>
                      <a:srgbClr val="1F3864"/>
                    </a:solidFill>
                  </a:tcPr>
                </a:tc>
              </a:tr>
              <a:tr h="436418">
                <a:tc>
                  <a:txBody>
                    <a:bodyPr/>
                    <a:lstStyle/>
                    <a:p>
                      <a:pPr algn="l"/>
                      <a:r>
                        <a:rPr sz="1000" b="1">
                          <a:solidFill>
                            <a:srgbClr val="1F3864"/>
                          </a:solidFill>
                          <a:latin typeface="Calibri"/>
                        </a:rPr>
                        <a:t>3</a:t>
                      </a:r>
                    </a:p>
                  </a:txBody>
                  <a:tcPr>
                    <a:solidFill>
                      <a:srgbClr val="FFFFFF"/>
                    </a:solidFill>
                  </a:tcPr>
                </a:tc>
                <a:tc>
                  <a:txBody>
                    <a:bodyPr/>
                    <a:lstStyle/>
                    <a:p>
                      <a:pPr algn="ctr"/>
                      <a:r>
                        <a:rPr sz="1000">
                          <a:solidFill>
                            <a:srgbClr val="1F3864"/>
                          </a:solidFill>
                          <a:latin typeface="Calibri"/>
                        </a:rPr>
                        <a:t>What changed</a:t>
                      </a:r>
                    </a:p>
                  </a:txBody>
                  <a:tcPr>
                    <a:solidFill>
                      <a:srgbClr val="FFFFFF"/>
                    </a:solidFill>
                  </a:tcPr>
                </a:tc>
                <a:tc>
                  <a:txBody>
                    <a:bodyPr/>
                    <a:lstStyle/>
                    <a:p>
                      <a:pPr algn="ctr"/>
                      <a:r>
                        <a:rPr sz="1000">
                          <a:solidFill>
                            <a:srgbClr val="1F3864"/>
                          </a:solidFill>
                          <a:latin typeface="Calibri"/>
                        </a:rPr>
                        <a:t>PCI Manufacturing's experiment succeeded; the real quote is $3.50/lb at 5-drum batches ($6.00 below a batch); a decision is due before our next SNP Inc. conversation</a:t>
                      </a:r>
                    </a:p>
                  </a:txBody>
                  <a:tcPr>
                    <a:solidFill>
                      <a:srgbClr val="FFFFFF"/>
                    </a:solidFill>
                  </a:tcPr>
                </a:tc>
              </a:tr>
              <a:tr h="436418">
                <a:tc>
                  <a:txBody>
                    <a:bodyPr/>
                    <a:lstStyle/>
                    <a:p>
                      <a:pPr algn="l"/>
                      <a:r>
                        <a:rPr sz="1000" b="1">
                          <a:solidFill>
                            <a:srgbClr val="1F3864"/>
                          </a:solidFill>
                          <a:latin typeface="Calibri"/>
                        </a:rPr>
                        <a:t>4</a:t>
                      </a:r>
                    </a:p>
                  </a:txBody>
                  <a:tcPr>
                    <a:solidFill>
                      <a:srgbClr val="FFFFFF"/>
                    </a:solidFill>
                  </a:tcPr>
                </a:tc>
                <a:tc>
                  <a:txBody>
                    <a:bodyPr/>
                    <a:lstStyle/>
                    <a:p>
                      <a:pPr algn="ctr"/>
                      <a:r>
                        <a:rPr sz="1000">
                          <a:solidFill>
                            <a:srgbClr val="1F3864"/>
                          </a:solidFill>
                          <a:latin typeface="Calibri"/>
                        </a:rPr>
                        <a:t>Price per pound, side by side</a:t>
                      </a:r>
                    </a:p>
                  </a:txBody>
                  <a:tcPr>
                    <a:solidFill>
                      <a:srgbClr val="FFFFFF"/>
                    </a:solidFill>
                  </a:tcPr>
                </a:tc>
                <a:tc>
                  <a:txBody>
                    <a:bodyPr/>
                    <a:lstStyle/>
                    <a:p>
                      <a:pPr algn="ctr"/>
                      <a:r>
                        <a:rPr sz="1000">
                          <a:solidFill>
                            <a:srgbClr val="1F3864"/>
                          </a:solidFill>
                          <a:latin typeface="Calibri"/>
                        </a:rPr>
                        <a:t>What comparable pre-mixed PVA solution sells for at high, competitive and low quantity (market study), then the four real quotes: SNP, PCI per batch, PCI below batch, CJB</a:t>
                      </a:r>
                    </a:p>
                  </a:txBody>
                  <a:tcPr>
                    <a:solidFill>
                      <a:srgbClr val="FFFFFF"/>
                    </a:solidFill>
                  </a:tcPr>
                </a:tc>
              </a:tr>
              <a:tr h="436418">
                <a:tc>
                  <a:txBody>
                    <a:bodyPr/>
                    <a:lstStyle/>
                    <a:p>
                      <a:pPr algn="l"/>
                      <a:r>
                        <a:rPr sz="1000" b="1">
                          <a:solidFill>
                            <a:srgbClr val="1F3864"/>
                          </a:solidFill>
                          <a:latin typeface="Calibri"/>
                        </a:rPr>
                        <a:t>5</a:t>
                      </a:r>
                    </a:p>
                  </a:txBody>
                  <a:tcPr>
                    <a:solidFill>
                      <a:srgbClr val="FFFFFF"/>
                    </a:solidFill>
                  </a:tcPr>
                </a:tc>
                <a:tc>
                  <a:txBody>
                    <a:bodyPr/>
                    <a:lstStyle/>
                    <a:p>
                      <a:pPr algn="ctr"/>
                      <a:r>
                        <a:rPr sz="1000">
                          <a:solidFill>
                            <a:srgbClr val="1F3864"/>
                          </a:solidFill>
                          <a:latin typeface="Calibri"/>
                        </a:rPr>
                        <a:t>Annual cost, side by side</a:t>
                      </a:r>
                    </a:p>
                  </a:txBody>
                  <a:tcPr>
                    <a:solidFill>
                      <a:srgbClr val="FFFFFF"/>
                    </a:solidFill>
                  </a:tcPr>
                </a:tc>
                <a:tc>
                  <a:txBody>
                    <a:bodyPr/>
                    <a:lstStyle/>
                    <a:p>
                      <a:pPr algn="ctr"/>
                      <a:r>
                        <a:rPr sz="1000">
                          <a:solidFill>
                            <a:srgbClr val="1F3864"/>
                          </a:solidFill>
                          <a:latin typeface="Calibri"/>
                        </a:rPr>
                        <a:t>Same 67,600 lb/yr and the same one-third second source in every bar: +$62k/yr at PCI's batch price, +$118k below batch size, CJB for scale</a:t>
                      </a:r>
                    </a:p>
                  </a:txBody>
                  <a:tcPr>
                    <a:solidFill>
                      <a:srgbClr val="FFFFFF"/>
                    </a:solidFill>
                  </a:tcPr>
                </a:tc>
              </a:tr>
              <a:tr h="436418">
                <a:tc>
                  <a:txBody>
                    <a:bodyPr/>
                    <a:lstStyle/>
                    <a:p>
                      <a:pPr algn="l"/>
                      <a:r>
                        <a:rPr sz="1000" b="1">
                          <a:solidFill>
                            <a:srgbClr val="1F3864"/>
                          </a:solidFill>
                          <a:latin typeface="Calibri"/>
                        </a:rPr>
                        <a:t>6</a:t>
                      </a:r>
                    </a:p>
                  </a:txBody>
                  <a:tcPr>
                    <a:solidFill>
                      <a:srgbClr val="FFFFFF"/>
                    </a:solidFill>
                  </a:tcPr>
                </a:tc>
                <a:tc>
                  <a:txBody>
                    <a:bodyPr/>
                    <a:lstStyle/>
                    <a:p>
                      <a:pPr algn="ctr"/>
                      <a:r>
                        <a:rPr sz="1000">
                          <a:solidFill>
                            <a:srgbClr val="1F3864"/>
                          </a:solidFill>
                          <a:latin typeface="Calibri"/>
                        </a:rPr>
                        <a:t>How we got here</a:t>
                      </a:r>
                    </a:p>
                  </a:txBody>
                  <a:tcPr>
                    <a:solidFill>
                      <a:srgbClr val="FFFFFF"/>
                    </a:solidFill>
                  </a:tcPr>
                </a:tc>
                <a:tc>
                  <a:txBody>
                    <a:bodyPr/>
                    <a:lstStyle/>
                    <a:p>
                      <a:pPr algn="ctr"/>
                      <a:r>
                        <a:rPr sz="1000">
                          <a:solidFill>
                            <a:srgbClr val="1F3864"/>
                          </a:solidFill>
                          <a:latin typeface="Calibri"/>
                        </a:rPr>
                        <a:t>Nov 2025 → Sep 2026 as a series of events: Brenntag never met viscosity; heat-gate failures; CJB cleared the gate, then priced out (trial declined); PCI: batches, root cause, spec met, quote — and what it cost</a:t>
                      </a:r>
                    </a:p>
                  </a:txBody>
                  <a:tcPr>
                    <a:solidFill>
                      <a:srgbClr val="FFFFFF"/>
                    </a:solidFill>
                  </a:tcPr>
                </a:tc>
              </a:tr>
              <a:tr h="436418">
                <a:tc>
                  <a:txBody>
                    <a:bodyPr/>
                    <a:lstStyle/>
                    <a:p>
                      <a:pPr algn="l"/>
                      <a:r>
                        <a:rPr sz="1000" b="1">
                          <a:solidFill>
                            <a:srgbClr val="1F3864"/>
                          </a:solidFill>
                          <a:latin typeface="Calibri"/>
                        </a:rPr>
                        <a:t>7</a:t>
                      </a:r>
                    </a:p>
                  </a:txBody>
                  <a:tcPr>
                    <a:solidFill>
                      <a:srgbClr val="FFFFFF"/>
                    </a:solidFill>
                  </a:tcPr>
                </a:tc>
                <a:tc>
                  <a:txBody>
                    <a:bodyPr/>
                    <a:lstStyle/>
                    <a:p>
                      <a:pPr algn="ctr"/>
                      <a:r>
                        <a:rPr sz="1000">
                          <a:solidFill>
                            <a:srgbClr val="1F3864"/>
                          </a:solidFill>
                          <a:latin typeface="Calibri"/>
                        </a:rPr>
                        <a:t>What 5-drum batches mean operationally</a:t>
                      </a:r>
                    </a:p>
                  </a:txBody>
                  <a:tcPr>
                    <a:solidFill>
                      <a:srgbClr val="FFFFFF"/>
                    </a:solidFill>
                  </a:tcPr>
                </a:tc>
                <a:tc>
                  <a:txBody>
                    <a:bodyPr/>
                    <a:lstStyle/>
                    <a:p>
                      <a:pPr algn="ctr"/>
                      <a:r>
                        <a:rPr sz="1000">
                          <a:solidFill>
                            <a:srgbClr val="1F3864"/>
                          </a:solidFill>
                          <a:latin typeface="Calibri"/>
                        </a:rPr>
                        <a:t>Block rotation under an 18-day shelf life; two cadence choices for SNP Inc.; the controls; what a longer validated life would change</a:t>
                      </a:r>
                    </a:p>
                  </a:txBody>
                  <a:tcPr>
                    <a:solidFill>
                      <a:srgbClr val="FFFFFF"/>
                    </a:solidFill>
                  </a:tcPr>
                </a:tc>
              </a:tr>
              <a:tr h="436418">
                <a:tc>
                  <a:txBody>
                    <a:bodyPr/>
                    <a:lstStyle/>
                    <a:p>
                      <a:pPr algn="l"/>
                      <a:r>
                        <a:rPr sz="1000" b="1">
                          <a:solidFill>
                            <a:srgbClr val="1F3864"/>
                          </a:solidFill>
                          <a:latin typeface="Calibri"/>
                        </a:rPr>
                        <a:t>8</a:t>
                      </a:r>
                    </a:p>
                  </a:txBody>
                  <a:tcPr>
                    <a:solidFill>
                      <a:srgbClr val="FFFFFF"/>
                    </a:solidFill>
                  </a:tcPr>
                </a:tc>
                <a:tc>
                  <a:txBody>
                    <a:bodyPr/>
                    <a:lstStyle/>
                    <a:p>
                      <a:pPr algn="ctr"/>
                      <a:r>
                        <a:rPr sz="1000">
                          <a:solidFill>
                            <a:srgbClr val="1F3864"/>
                          </a:solidFill>
                          <a:latin typeface="Calibri"/>
                        </a:rPr>
                        <a:t>Three options</a:t>
                      </a:r>
                    </a:p>
                  </a:txBody>
                  <a:tcPr>
                    <a:solidFill>
                      <a:srgbClr val="FFFFFF"/>
                    </a:solidFill>
                  </a:tcPr>
                </a:tc>
                <a:tc>
                  <a:txBody>
                    <a:bodyPr/>
                    <a:lstStyle/>
                    <a:p>
                      <a:pPr algn="ctr"/>
                      <a:r>
                        <a:rPr sz="1000">
                          <a:solidFill>
                            <a:srgbClr val="1F3864"/>
                          </a:solidFill>
                          <a:latin typeface="Calibri"/>
                        </a:rPr>
                        <a:t>1 · second supplier at one-third  ·  2 · strengthen SNP Inc. only, no volume moved  ·  3 · keep-alive: 1–2 batches of 5 drums a year — cost, what each buys, what each supplier sees</a:t>
                      </a:r>
                    </a:p>
                  </a:txBody>
                  <a:tcPr>
                    <a:solidFill>
                      <a:srgbClr val="FFFFFF"/>
                    </a:solidFill>
                  </a:tcPr>
                </a:tc>
              </a:tr>
              <a:tr h="436418">
                <a:tc>
                  <a:txBody>
                    <a:bodyPr/>
                    <a:lstStyle/>
                    <a:p>
                      <a:pPr algn="l"/>
                      <a:r>
                        <a:rPr sz="1000" b="1">
                          <a:solidFill>
                            <a:srgbClr val="1F3864"/>
                          </a:solidFill>
                          <a:latin typeface="Calibri"/>
                        </a:rPr>
                        <a:t>9</a:t>
                      </a:r>
                    </a:p>
                  </a:txBody>
                  <a:tcPr>
                    <a:solidFill>
                      <a:srgbClr val="FFFFFF"/>
                    </a:solidFill>
                  </a:tcPr>
                </a:tc>
                <a:tc>
                  <a:txBody>
                    <a:bodyPr/>
                    <a:lstStyle/>
                    <a:p>
                      <a:pPr algn="ctr"/>
                      <a:r>
                        <a:rPr sz="1000">
                          <a:solidFill>
                            <a:srgbClr val="1F3864"/>
                          </a:solidFill>
                          <a:latin typeface="Calibri"/>
                        </a:rPr>
                        <a:t>Keeping a qualified supplier you barely use</a:t>
                      </a:r>
                    </a:p>
                  </a:txBody>
                  <a:tcPr>
                    <a:solidFill>
                      <a:srgbClr val="FFFFFF"/>
                    </a:solidFill>
                  </a:tcPr>
                </a:tc>
                <a:tc>
                  <a:txBody>
                    <a:bodyPr/>
                    <a:lstStyle/>
                    <a:p>
                      <a:pPr algn="ctr"/>
                      <a:r>
                        <a:rPr sz="1000">
                          <a:solidFill>
                            <a:srgbClr val="1F3864"/>
                          </a:solidFill>
                          <a:latin typeface="Calibri"/>
                        </a:rPr>
                        <a:t>Five instruments buyers use (Option 3 is the last two made routine) and the conduct that keeps the relationship intact</a:t>
                      </a:r>
                    </a:p>
                  </a:txBody>
                  <a:tcPr>
                    <a:solidFill>
                      <a:srgbClr val="FFFFFF"/>
                    </a:solidFill>
                  </a:tcPr>
                </a:tc>
              </a:tr>
              <a:tr h="436418">
                <a:tc>
                  <a:txBody>
                    <a:bodyPr/>
                    <a:lstStyle/>
                    <a:p>
                      <a:pPr algn="l"/>
                      <a:r>
                        <a:rPr sz="1000" b="1">
                          <a:solidFill>
                            <a:srgbClr val="1F3864"/>
                          </a:solidFill>
                          <a:latin typeface="Calibri"/>
                        </a:rPr>
                        <a:t>10</a:t>
                      </a:r>
                    </a:p>
                  </a:txBody>
                  <a:tcPr>
                    <a:solidFill>
                      <a:srgbClr val="FFFFFF"/>
                    </a:solidFill>
                  </a:tcPr>
                </a:tc>
                <a:tc>
                  <a:txBody>
                    <a:bodyPr/>
                    <a:lstStyle/>
                    <a:p>
                      <a:pPr algn="ctr"/>
                      <a:r>
                        <a:rPr sz="1000">
                          <a:solidFill>
                            <a:srgbClr val="1F3864"/>
                          </a:solidFill>
                          <a:latin typeface="Calibri"/>
                        </a:rPr>
                        <a:t>Why decide now</a:t>
                      </a:r>
                    </a:p>
                  </a:txBody>
                  <a:tcPr>
                    <a:solidFill>
                      <a:srgbClr val="FFFFFF"/>
                    </a:solidFill>
                  </a:tcPr>
                </a:tc>
                <a:tc>
                  <a:txBody>
                    <a:bodyPr/>
                    <a:lstStyle/>
                    <a:p>
                      <a:pPr algn="ctr"/>
                      <a:r>
                        <a:rPr sz="1000">
                          <a:solidFill>
                            <a:srgbClr val="1F3864"/>
                          </a:solidFill>
                          <a:latin typeface="Calibri"/>
                        </a:rPr>
                        <a:t>The posture for our next SNP Inc. conversation must match the decision; what to settle in it; what not to do</a:t>
                      </a:r>
                    </a:p>
                  </a:txBody>
                  <a:tcPr>
                    <a:solidFill>
                      <a:srgbClr val="FFFFFF"/>
                    </a:solidFill>
                  </a:tcPr>
                </a:tc>
              </a:tr>
              <a:tr h="436418">
                <a:tc>
                  <a:txBody>
                    <a:bodyPr/>
                    <a:lstStyle/>
                    <a:p>
                      <a:pPr algn="l"/>
                      <a:r>
                        <a:rPr sz="1000" b="1">
                          <a:solidFill>
                            <a:srgbClr val="1F3864"/>
                          </a:solidFill>
                          <a:latin typeface="Calibri"/>
                        </a:rPr>
                        <a:t>11</a:t>
                      </a:r>
                    </a:p>
                  </a:txBody>
                  <a:tcPr>
                    <a:solidFill>
                      <a:srgbClr val="FFFFFF"/>
                    </a:solidFill>
                  </a:tcPr>
                </a:tc>
                <a:tc>
                  <a:txBody>
                    <a:bodyPr/>
                    <a:lstStyle/>
                    <a:p>
                      <a:pPr algn="ctr"/>
                      <a:r>
                        <a:rPr sz="1000">
                          <a:solidFill>
                            <a:srgbClr val="1F3864"/>
                          </a:solidFill>
                          <a:latin typeface="Calibri"/>
                        </a:rPr>
                        <a:t>Recommendation &amp; asks</a:t>
                      </a:r>
                    </a:p>
                  </a:txBody>
                  <a:tcPr>
                    <a:solidFill>
                      <a:srgbClr val="FFFFFF"/>
                    </a:solidFill>
                  </a:tcPr>
                </a:tc>
                <a:tc>
                  <a:txBody>
                    <a:bodyPr/>
                    <a:lstStyle/>
                    <a:p>
                      <a:pPr algn="ctr"/>
                      <a:r>
                        <a:rPr sz="1000">
                          <a:solidFill>
                            <a:srgbClr val="1F3864"/>
                          </a:solidFill>
                          <a:latin typeface="Calibri"/>
                        </a:rPr>
                        <a:t>Option 3 at one batch a year with Option 2's partnership terms; Option 1 only if Finance's avoided-loss estimate clears the break-even; three asks with amounts</a:t>
                      </a:r>
                    </a:p>
                  </a:txBody>
                  <a:tcPr>
                    <a:solidFill>
                      <a:srgbClr val="FFFFFF"/>
                    </a:solidFill>
                  </a:tcPr>
                </a:tc>
              </a:tr>
              <a:tr h="436420">
                <a:tc>
                  <a:txBody>
                    <a:bodyPr/>
                    <a:lstStyle/>
                    <a:p>
                      <a:pPr algn="l"/>
                      <a:r>
                        <a:rPr sz="1000" b="1">
                          <a:solidFill>
                            <a:srgbClr val="1F3864"/>
                          </a:solidFill>
                          <a:latin typeface="Calibri"/>
                        </a:rPr>
                        <a:t>12</a:t>
                      </a:r>
                    </a:p>
                  </a:txBody>
                  <a:tcPr>
                    <a:solidFill>
                      <a:srgbClr val="FFFFFF"/>
                    </a:solidFill>
                  </a:tcPr>
                </a:tc>
                <a:tc>
                  <a:txBody>
                    <a:bodyPr/>
                    <a:lstStyle/>
                    <a:p>
                      <a:pPr algn="ctr"/>
                      <a:r>
                        <a:rPr sz="1000">
                          <a:solidFill>
                            <a:srgbClr val="1F3864"/>
                          </a:solidFill>
                          <a:latin typeface="Calibri"/>
                        </a:rPr>
                        <a:t>Appendix</a:t>
                      </a:r>
                    </a:p>
                  </a:txBody>
                  <a:tcPr>
                    <a:solidFill>
                      <a:srgbClr val="FFFFFF"/>
                    </a:solidFill>
                  </a:tcPr>
                </a:tc>
                <a:tc>
                  <a:txBody>
                    <a:bodyPr/>
                    <a:lstStyle/>
                    <a:p>
                      <a:pPr algn="ctr"/>
                      <a:r>
                        <a:rPr sz="1000">
                          <a:solidFill>
                            <a:srgbClr val="1F3864"/>
                          </a:solidFill>
                          <a:latin typeface="Calibri"/>
                        </a:rPr>
                        <a:t>Assumptions, suppliers by full name, acronyms, frameworks (fact-checked)</a:t>
                      </a:r>
                    </a:p>
                  </a:txBody>
                  <a:tcPr>
                    <a:solidFill>
                      <a:srgbClr val="FFFFFF"/>
                    </a:solidFill>
                  </a:tcPr>
                </a:tc>
              </a:tr>
            </a:tbl>
          </a:graphicData>
        </a:graphic>
      </p:graphicFrame>
      <p:sp>
        <p:nvSpPr>
          <p:cNvPr id="6" name="Rectangle 5"/>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Sequence: feasibility is settled → cost is real → logistics are specific → options → timing → decision.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changed: the experiment worked, and we have a real price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WHAT CHANGED</a:t>
            </a:r>
          </a:p>
        </p:txBody>
      </p:sp>
      <p:sp>
        <p:nvSpPr>
          <p:cNvPr id="5" name="Rectangle 4"/>
          <p:cNvSpPr/>
          <p:nvPr/>
        </p:nvSpPr>
        <p:spPr>
          <a:xfrm>
            <a:off x="548640" y="1097280"/>
            <a:ext cx="3611880" cy="13716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188720"/>
            <a:ext cx="3392424" cy="1188720"/>
          </a:xfrm>
          <a:prstGeom prst="rect">
            <a:avLst/>
          </a:prstGeom>
          <a:noFill/>
        </p:spPr>
        <p:txBody>
          <a:bodyPr wrap="square" anchor="ctr">
            <a:spAutoFit/>
          </a:bodyPr>
          <a:lstStyle/>
          <a:p>
            <a:pPr algn="ctr">
              <a:spcAft>
                <a:spcPts val="200"/>
              </a:spcAft>
            </a:pPr>
            <a:r>
              <a:rPr sz="2200" b="1" i="0">
                <a:solidFill>
                  <a:srgbClr val="2E7D46"/>
                </a:solidFill>
                <a:latin typeface="Calibri"/>
              </a:rPr>
              <a:t>Spec met</a:t>
            </a:r>
          </a:p>
          <a:p>
            <a:pPr algn="ctr">
              <a:spcAft>
                <a:spcPts val="400"/>
              </a:spcAft>
            </a:pPr>
            <a:r>
              <a:rPr sz="1050" b="0" i="0">
                <a:solidFill>
                  <a:srgbClr val="595959"/>
                </a:solidFill>
                <a:latin typeface="Calibri"/>
              </a:rPr>
              <a:t>11% solids · 900–1,100 centipoise (cP), on PCI's instrument</a:t>
            </a:r>
          </a:p>
        </p:txBody>
      </p:sp>
      <p:sp>
        <p:nvSpPr>
          <p:cNvPr id="7" name="Rectangle 6"/>
          <p:cNvSpPr/>
          <p:nvPr/>
        </p:nvSpPr>
        <p:spPr>
          <a:xfrm>
            <a:off x="4297680" y="1097280"/>
            <a:ext cx="3611880" cy="13716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7408" y="1188720"/>
            <a:ext cx="3392424" cy="1188720"/>
          </a:xfrm>
          <a:prstGeom prst="rect">
            <a:avLst/>
          </a:prstGeom>
          <a:noFill/>
        </p:spPr>
        <p:txBody>
          <a:bodyPr wrap="square" anchor="ctr">
            <a:spAutoFit/>
          </a:bodyPr>
          <a:lstStyle/>
          <a:p>
            <a:pPr algn="ctr">
              <a:spcAft>
                <a:spcPts val="200"/>
              </a:spcAft>
            </a:pPr>
            <a:r>
              <a:rPr sz="2200" b="1" i="0">
                <a:solidFill>
                  <a:srgbClr val="1F3864"/>
                </a:solidFill>
                <a:latin typeface="Calibri"/>
              </a:rPr>
              <a:t>$3.50 / lb</a:t>
            </a:r>
          </a:p>
          <a:p>
            <a:pPr algn="ctr">
              <a:spcAft>
                <a:spcPts val="400"/>
              </a:spcAft>
            </a:pPr>
            <a:r>
              <a:rPr sz="1050" b="0" i="0">
                <a:solidFill>
                  <a:srgbClr val="595959"/>
                </a:solidFill>
                <a:latin typeface="Calibri"/>
              </a:rPr>
              <a:t>one batch of 5 drums (2,250 lb) · $6.00/lb for anything smaller</a:t>
            </a:r>
          </a:p>
        </p:txBody>
      </p:sp>
      <p:sp>
        <p:nvSpPr>
          <p:cNvPr id="9" name="Rectangle 8"/>
          <p:cNvSpPr/>
          <p:nvPr/>
        </p:nvSpPr>
        <p:spPr>
          <a:xfrm>
            <a:off x="8046720" y="1097280"/>
            <a:ext cx="3566160" cy="13716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188720"/>
            <a:ext cx="3346704" cy="1188720"/>
          </a:xfrm>
          <a:prstGeom prst="rect">
            <a:avLst/>
          </a:prstGeom>
          <a:noFill/>
        </p:spPr>
        <p:txBody>
          <a:bodyPr wrap="square" anchor="ctr">
            <a:spAutoFit/>
          </a:bodyPr>
          <a:lstStyle/>
          <a:p>
            <a:pPr algn="ctr">
              <a:spcAft>
                <a:spcPts val="200"/>
              </a:spcAft>
            </a:pPr>
            <a:r>
              <a:rPr sz="2200" b="1" i="0">
                <a:solidFill>
                  <a:srgbClr val="9C5A0C"/>
                </a:solidFill>
                <a:latin typeface="Calibri"/>
              </a:rPr>
              <a:t>Decide now</a:t>
            </a:r>
          </a:p>
          <a:p>
            <a:pPr algn="ctr">
              <a:spcAft>
                <a:spcPts val="400"/>
              </a:spcAft>
            </a:pPr>
            <a:r>
              <a:rPr sz="1050" b="0" i="0">
                <a:solidFill>
                  <a:srgbClr val="595959"/>
                </a:solidFill>
                <a:latin typeface="Calibri"/>
              </a:rPr>
              <a:t>before our next SNP Inc. conversation — the posture must match the decision</a:t>
            </a:r>
          </a:p>
        </p:txBody>
      </p:sp>
      <p:sp>
        <p:nvSpPr>
          <p:cNvPr id="11" name="TextBox 10"/>
          <p:cNvSpPr txBox="1"/>
          <p:nvPr/>
        </p:nvSpPr>
        <p:spPr>
          <a:xfrm>
            <a:off x="548640" y="2697480"/>
            <a:ext cx="6766560" cy="3154680"/>
          </a:xfrm>
          <a:prstGeom prst="rect">
            <a:avLst/>
          </a:prstGeom>
          <a:noFill/>
        </p:spPr>
        <p:txBody>
          <a:bodyPr wrap="square">
            <a:spAutoFit/>
          </a:bodyPr>
          <a:lstStyle/>
          <a:p>
            <a:pPr>
              <a:spcAft>
                <a:spcPts val="900"/>
              </a:spcAft>
            </a:pPr>
            <a:r>
              <a:rPr b="1" sz="1250">
                <a:solidFill>
                  <a:srgbClr val="1F3864"/>
                </a:solidFill>
                <a:latin typeface="Calibri"/>
              </a:rPr>
              <a:t>•  Capability: closed. </a:t>
            </a:r>
            <a:r>
              <a:rPr sz="1250">
                <a:solidFill>
                  <a:srgbClr val="595959"/>
                </a:solidFill>
                <a:latin typeface="Calibri"/>
              </a:rPr>
              <a:t>Ten months and ~94 suppliers produced one shop that holds the 90–95 °C cook and makes the product to spec: PCI Manufacturing (St. Louis, MO).</a:t>
            </a:r>
          </a:p>
          <a:p>
            <a:pPr>
              <a:spcAft>
                <a:spcPts val="900"/>
              </a:spcAft>
            </a:pPr>
            <a:r>
              <a:rPr b="1" sz="1250">
                <a:solidFill>
                  <a:srgbClr val="1F3864"/>
                </a:solidFill>
                <a:latin typeface="Calibri"/>
              </a:rPr>
              <a:t>•  Price: closed. </a:t>
            </a:r>
            <a:r>
              <a:rPr sz="1250">
                <a:solidFill>
                  <a:srgbClr val="595959"/>
                </a:solidFill>
                <a:latin typeface="Calibri"/>
              </a:rPr>
              <a:t>$3.50 is within 7% of our September mid-case ($3.75) and well above the competitive market (slide 4). Below a 5-drum batch it is $6.00 — whole batches, or nothing.</a:t>
            </a:r>
          </a:p>
          <a:p>
            <a:pPr>
              <a:spcAft>
                <a:spcPts val="900"/>
              </a:spcAft>
            </a:pPr>
            <a:r>
              <a:rPr b="1" sz="1250">
                <a:solidFill>
                  <a:srgbClr val="1F3864"/>
                </a:solidFill>
                <a:latin typeface="Calibri"/>
              </a:rPr>
              <a:t>•  Batch size is the new fact. </a:t>
            </a:r>
            <a:r>
              <a:rPr sz="1250">
                <a:solidFill>
                  <a:srgbClr val="595959"/>
                </a:solidFill>
                <a:latin typeface="Calibri"/>
              </a:rPr>
              <a:t>5 drums = 12 days of full demand. With an 18-day life counted from manufacture, drums are used at full rate on receipt (slide 7).</a:t>
            </a:r>
          </a:p>
        </p:txBody>
      </p:sp>
      <p:sp>
        <p:nvSpPr>
          <p:cNvPr id="12" name="Rectangle 11"/>
          <p:cNvSpPr/>
          <p:nvPr/>
        </p:nvSpPr>
        <p:spPr>
          <a:xfrm>
            <a:off x="7543800" y="2697480"/>
            <a:ext cx="4069080" cy="31546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2788920"/>
            <a:ext cx="3794760" cy="3017520"/>
          </a:xfrm>
          <a:prstGeom prst="rect">
            <a:avLst/>
          </a:prstGeom>
          <a:noFill/>
        </p:spPr>
        <p:txBody>
          <a:bodyPr wrap="square">
            <a:spAutoFit/>
          </a:bodyPr>
          <a:lstStyle/>
          <a:p>
            <a:pPr algn="l">
              <a:spcAft>
                <a:spcPts val="500"/>
              </a:spcAft>
            </a:pPr>
            <a:r>
              <a:rPr sz="1250" b="1" i="0">
                <a:solidFill>
                  <a:srgbClr val="1F3864"/>
                </a:solidFill>
                <a:latin typeface="Calibri"/>
              </a:rPr>
              <a:t>Still to confirm with PCI</a:t>
            </a:r>
          </a:p>
          <a:p>
            <a:pPr algn="l">
              <a:spcAft>
                <a:spcPts val="400"/>
              </a:spcAft>
            </a:pPr>
            <a:r>
              <a:rPr sz="1050" b="0" i="0">
                <a:solidFill>
                  <a:srgbClr val="595959"/>
                </a:solidFill>
                <a:latin typeface="Calibri"/>
              </a:rPr>
              <a:t>•  The $3.50 batch price carries no volume commitment so far — put that in writing, with how long the quote holds</a:t>
            </a:r>
          </a:p>
          <a:p>
            <a:pPr algn="l">
              <a:spcAft>
                <a:spcPts val="400"/>
              </a:spcAft>
            </a:pPr>
            <a:r>
              <a:rPr sz="1050" b="0" i="0">
                <a:solidFill>
                  <a:srgbClr val="595959"/>
                </a:solidFill>
                <a:latin typeface="Calibri"/>
              </a:rPr>
              <a:t>•  Batch lead time; delivered and all-in (drum, freeze-protected freight)?</a:t>
            </a:r>
          </a:p>
          <a:p>
            <a:pPr algn="l">
              <a:spcAft>
                <a:spcPts val="400"/>
              </a:spcAft>
            </a:pPr>
            <a:r>
              <a:rPr sz="1050" b="0" i="0">
                <a:solidFill>
                  <a:srgbClr val="595959"/>
                </a:solidFill>
                <a:latin typeface="Calibri"/>
              </a:rPr>
              <a:t>•  ~10 batches/yr on a ~5-week rhythm — or 1–2 a year: both fine for them?</a:t>
            </a:r>
          </a:p>
          <a:p>
            <a:pPr algn="l">
              <a:spcAft>
                <a:spcPts val="400"/>
              </a:spcAft>
            </a:pPr>
            <a:r>
              <a:rPr sz="1050" b="0" i="0">
                <a:solidFill>
                  <a:srgbClr val="595959"/>
                </a:solidFill>
                <a:latin typeface="Calibri"/>
              </a:rPr>
              <a:t>•  Crisis ramp to ~3 batches a month, same kettle?</a:t>
            </a:r>
          </a:p>
          <a:p>
            <a:pPr algn="l">
              <a:spcAft>
                <a:spcPts val="400"/>
              </a:spcAft>
            </a:pPr>
            <a:r>
              <a:rPr sz="1050" b="0" i="0">
                <a:solidFill>
                  <a:srgbClr val="595959"/>
                </a:solidFill>
                <a:latin typeface="Calibri"/>
              </a:rPr>
              <a:t>•  Which resin producer (overlap with SNP)?</a:t>
            </a:r>
          </a:p>
          <a:p>
            <a:pPr algn="l">
              <a:spcAft>
                <a:spcPts val="400"/>
              </a:spcAft>
            </a:pPr>
            <a:r>
              <a:rPr sz="1050" b="0" i="0">
                <a:solidFill>
                  <a:srgbClr val="595959"/>
                </a:solidFill>
                <a:latin typeface="Calibri"/>
              </a:rPr>
              <a:t>•  Split-sample viscometer cross-check before any production batch</a:t>
            </a:r>
          </a:p>
        </p:txBody>
      </p:sp>
      <p:sp>
        <p:nvSpPr>
          <p:cNvPr id="14" name="Rectangle 1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We know it can be done and what it costs. The open question is strategy — and it has a deadline.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annual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67,600 lb = 150 drums — identical in every bar</a:t>
            </a:r>
          </a:p>
          <a:p>
            <a:pPr>
              <a:spcAft>
                <a:spcPts val="500"/>
              </a:spcAft>
            </a:pPr>
            <a:r>
              <a:rPr b="1" sz="1050">
                <a:solidFill>
                  <a:srgbClr val="1F3864"/>
                </a:solidFill>
                <a:latin typeface="Calibri"/>
              </a:rPr>
              <a:t>Split  </a:t>
            </a:r>
            <a:r>
              <a:rPr sz="1000">
                <a:solidFill>
                  <a:srgbClr val="595959"/>
                </a:solidFill>
                <a:latin typeface="Calibri"/>
              </a:rPr>
              <a:t>— second source takes one-third = 22,500 lb (50 drums, 10 batches); SNP Inc. keeps 45,100 lb × $0.75 = $33.8k in every option</a:t>
            </a:r>
          </a:p>
          <a:p>
            <a:pPr>
              <a:spcAft>
                <a:spcPts val="500"/>
              </a:spcAft>
            </a:pPr>
            <a:r>
              <a:rPr b="1" sz="1050">
                <a:solidFill>
                  <a:srgbClr val="1F3864"/>
                </a:solidFill>
                <a:latin typeface="Calibri"/>
              </a:rPr>
              <a:t>All-SNP  </a:t>
            </a:r>
            <a:r>
              <a:rPr sz="1000">
                <a:solidFill>
                  <a:srgbClr val="595959"/>
                </a:solidFill>
                <a:latin typeface="Calibri"/>
              </a:rPr>
              <a:t>— 67,600 × $0.75 = $50.7k</a:t>
            </a:r>
          </a:p>
          <a:p>
            <a:pPr>
              <a:spcAft>
                <a:spcPts val="500"/>
              </a:spcAft>
            </a:pPr>
            <a:r>
              <a:rPr b="1" sz="1050">
                <a:solidFill>
                  <a:srgbClr val="1F3864"/>
                </a:solidFill>
                <a:latin typeface="Calibri"/>
              </a:rPr>
              <a:t>PCI $3.50  </a:t>
            </a:r>
            <a:r>
              <a:rPr sz="1000">
                <a:solidFill>
                  <a:srgbClr val="595959"/>
                </a:solidFill>
                <a:latin typeface="Calibri"/>
              </a:rPr>
              <a:t>— 22,500 × $3.50 = $78.8k → $112.6k; +$61.9k (122%)</a:t>
            </a:r>
          </a:p>
          <a:p>
            <a:pPr>
              <a:spcAft>
                <a:spcPts val="500"/>
              </a:spcAft>
            </a:pPr>
            <a:r>
              <a:rPr b="1" sz="1050">
                <a:solidFill>
                  <a:srgbClr val="1F3864"/>
                </a:solidFill>
                <a:latin typeface="Calibri"/>
              </a:rPr>
              <a:t>PCI $6.00  </a:t>
            </a:r>
            <a:r>
              <a:rPr sz="1000">
                <a:solidFill>
                  <a:srgbClr val="595959"/>
                </a:solidFill>
                <a:latin typeface="Calibri"/>
              </a:rPr>
              <a:t>— same third, ordered below batch size → $168.8k; +$118.1k (233%)</a:t>
            </a:r>
          </a:p>
          <a:p>
            <a:pPr>
              <a:spcAft>
                <a:spcPts val="500"/>
              </a:spcAft>
            </a:pPr>
            <a:r>
              <a:rPr b="1" sz="1050">
                <a:solidFill>
                  <a:srgbClr val="1F3864"/>
                </a:solidFill>
                <a:latin typeface="Calibri"/>
              </a:rPr>
              <a:t>CJB $8.42  </a:t>
            </a:r>
            <a:r>
              <a:rPr sz="1000">
                <a:solidFill>
                  <a:srgbClr val="595959"/>
                </a:solidFill>
                <a:latin typeface="Calibri"/>
              </a:rPr>
              <a:t>— same third,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SNP Inc.'s part never changes; only the second source's price does</a:t>
            </a:r>
          </a:p>
          <a:p>
            <a:pPr>
              <a:spcAft>
                <a:spcPts val="500"/>
              </a:spcAft>
            </a:pPr>
            <a:r>
              <a:rPr b="1" sz="1050">
                <a:solidFill>
                  <a:srgbClr val="1F3864"/>
                </a:solidFill>
                <a:latin typeface="Calibri"/>
              </a:rPr>
              <a:t>Not in the chart  </a:t>
            </a:r>
            <a:r>
              <a:rPr sz="1000">
                <a:solidFill>
                  <a:srgbClr val="595959"/>
                </a:solidFill>
                <a:latin typeface="Calibri"/>
              </a:rPr>
              <a:t>— Option 3 (1–2 batches/yr, +$6–12k) is a different quantity — slide 8; internal hours and one-time costs — slide 8</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Same demand, same one-third split in every option — only the second source's price changes. At PCI's $3.50 the PVA bill more than doubles (2.2×), every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1,300 lb/week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Eliminated. July review assumed $1.00–1.25/lb</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5-drum batches mean operationally</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LOGISTICS</a:t>
            </a:r>
          </a:p>
        </p:txBody>
      </p:sp>
      <p:sp>
        <p:nvSpPr>
          <p:cNvPr id="5" name="TextBox 4"/>
          <p:cNvSpPr txBox="1"/>
          <p:nvPr/>
        </p:nvSpPr>
        <p:spPr>
          <a:xfrm>
            <a:off x="548640" y="987552"/>
            <a:ext cx="11064240" cy="365760"/>
          </a:xfrm>
          <a:prstGeom prst="rect">
            <a:avLst/>
          </a:prstGeom>
          <a:noFill/>
        </p:spPr>
        <p:txBody>
          <a:bodyPr wrap="square">
            <a:spAutoFit/>
          </a:bodyPr>
          <a:lstStyle/>
          <a:p>
            <a:pPr algn="l">
              <a:spcAft>
                <a:spcPts val="400"/>
              </a:spcAft>
            </a:pPr>
            <a:r>
              <a:rPr sz="1250" b="1" i="0">
                <a:solidFill>
                  <a:srgbClr val="1F3864"/>
                </a:solidFill>
                <a:latin typeface="Calibri"/>
              </a:rPr>
              <a:t>Block rotation at one-third: one 5-drum batch every ~5 weeks. The 18-day shelf life is counted from manufacture.</a:t>
            </a:r>
          </a:p>
        </p:txBody>
      </p:sp>
      <p:sp>
        <p:nvSpPr>
          <p:cNvPr id="6" name="TextBox 5"/>
          <p:cNvSpPr txBox="1"/>
          <p:nvPr/>
        </p:nvSpPr>
        <p:spPr>
          <a:xfrm>
            <a:off x="548640" y="13898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PCI batch clock</a:t>
            </a:r>
          </a:p>
        </p:txBody>
      </p:sp>
      <p:sp>
        <p:nvSpPr>
          <p:cNvPr id="7" name="Rectangle 6"/>
          <p:cNvSpPr/>
          <p:nvPr/>
        </p:nvSpPr>
        <p:spPr>
          <a:xfrm>
            <a:off x="2331720" y="1417320"/>
            <a:ext cx="1031240" cy="365760"/>
          </a:xfrm>
          <a:prstGeom prst="rect">
            <a:avLst/>
          </a:prstGeom>
          <a:solidFill>
            <a:srgbClr val="D6DCE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31720" y="1417320"/>
            <a:ext cx="1031240" cy="365760"/>
          </a:xfrm>
          <a:prstGeom prst="rect">
            <a:avLst/>
          </a:prstGeom>
          <a:noFill/>
        </p:spPr>
        <p:txBody>
          <a:bodyPr wrap="square" anchor="ctr">
            <a:spAutoFit/>
          </a:bodyPr>
          <a:lstStyle/>
          <a:p>
            <a:pPr algn="ctr">
              <a:spcAft>
                <a:spcPts val="0"/>
              </a:spcAft>
            </a:pPr>
            <a:r>
              <a:rPr sz="850" b="1" i="0">
                <a:solidFill>
                  <a:srgbClr val="1F3864"/>
                </a:solidFill>
                <a:latin typeface="Calibri"/>
              </a:rPr>
              <a:t>cook → ship ~4 d</a:t>
            </a:r>
          </a:p>
        </p:txBody>
      </p:sp>
      <p:sp>
        <p:nvSpPr>
          <p:cNvPr id="9" name="Rectangle 8"/>
          <p:cNvSpPr/>
          <p:nvPr/>
        </p:nvSpPr>
        <p:spPr>
          <a:xfrm>
            <a:off x="3362960" y="14173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2960" y="14173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12.1 days used at full rate</a:t>
            </a:r>
          </a:p>
        </p:txBody>
      </p:sp>
      <p:sp>
        <p:nvSpPr>
          <p:cNvPr id="11" name="Rectangle 10"/>
          <p:cNvSpPr/>
          <p:nvPr/>
        </p:nvSpPr>
        <p:spPr>
          <a:xfrm>
            <a:off x="6482461" y="1417320"/>
            <a:ext cx="489838" cy="36576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2461" y="1417320"/>
            <a:ext cx="489838" cy="365760"/>
          </a:xfrm>
          <a:prstGeom prst="rect">
            <a:avLst/>
          </a:prstGeom>
          <a:noFill/>
        </p:spPr>
        <p:txBody>
          <a:bodyPr wrap="square" anchor="ctr">
            <a:spAutoFit/>
          </a:bodyPr>
          <a:lstStyle/>
          <a:p>
            <a:pPr algn="ctr">
              <a:spcAft>
                <a:spcPts val="0"/>
              </a:spcAft>
            </a:pPr>
            <a:r>
              <a:rPr sz="850" b="1" i="0">
                <a:solidFill>
                  <a:srgbClr val="9C5A0C"/>
                </a:solidFill>
                <a:latin typeface="Calibri"/>
              </a:rPr>
              <a:t>slack ~2 d</a:t>
            </a:r>
          </a:p>
        </p:txBody>
      </p:sp>
      <p:sp>
        <p:nvSpPr>
          <p:cNvPr id="13" name="Rectangle 12"/>
          <p:cNvSpPr/>
          <p:nvPr/>
        </p:nvSpPr>
        <p:spPr>
          <a:xfrm>
            <a:off x="6972300" y="1417320"/>
            <a:ext cx="4640580" cy="365760"/>
          </a:xfrm>
          <a:prstGeom prst="rect">
            <a:avLst/>
          </a:prstGeom>
          <a:solidFill>
            <a:srgbClr val="F6F8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4" y="1371600"/>
            <a:ext cx="27432"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9340" y="1810512"/>
            <a:ext cx="1645920" cy="228600"/>
          </a:xfrm>
          <a:prstGeom prst="rect">
            <a:avLst/>
          </a:prstGeom>
          <a:noFill/>
        </p:spPr>
        <p:txBody>
          <a:bodyPr wrap="square">
            <a:spAutoFit/>
          </a:bodyPr>
          <a:lstStyle/>
          <a:p>
            <a:pPr algn="ctr">
              <a:spcAft>
                <a:spcPts val="0"/>
              </a:spcAft>
            </a:pPr>
            <a:r>
              <a:rPr sz="850" b="1" i="0">
                <a:solidFill>
                  <a:srgbClr val="B23A2E"/>
                </a:solidFill>
                <a:latin typeface="Calibri"/>
              </a:rPr>
              <a:t>expiry — day 18</a:t>
            </a:r>
          </a:p>
        </p:txBody>
      </p:sp>
      <p:sp>
        <p:nvSpPr>
          <p:cNvPr id="16" name="TextBox 15"/>
          <p:cNvSpPr txBox="1"/>
          <p:nvPr/>
        </p:nvSpPr>
        <p:spPr>
          <a:xfrm>
            <a:off x="548640" y="20756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What the line runs on</a:t>
            </a:r>
          </a:p>
        </p:txBody>
      </p:sp>
      <p:sp>
        <p:nvSpPr>
          <p:cNvPr id="17" name="Rectangle 16"/>
          <p:cNvSpPr/>
          <p:nvPr/>
        </p:nvSpPr>
        <p:spPr>
          <a:xfrm>
            <a:off x="2331720" y="2103120"/>
            <a:ext cx="1031240"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2103120"/>
            <a:ext cx="1031240"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a:t>
            </a:r>
          </a:p>
        </p:txBody>
      </p:sp>
      <p:sp>
        <p:nvSpPr>
          <p:cNvPr id="19" name="Rectangle 18"/>
          <p:cNvSpPr/>
          <p:nvPr/>
        </p:nvSpPr>
        <p:spPr>
          <a:xfrm>
            <a:off x="3362960" y="21031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2960" y="21031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PCI material — 5 drums</a:t>
            </a:r>
          </a:p>
        </p:txBody>
      </p:sp>
      <p:sp>
        <p:nvSpPr>
          <p:cNvPr id="21" name="Rectangle 20"/>
          <p:cNvSpPr/>
          <p:nvPr/>
        </p:nvSpPr>
        <p:spPr>
          <a:xfrm>
            <a:off x="6482461" y="2103120"/>
            <a:ext cx="5130419"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2461" y="2103120"/>
            <a:ext cx="5130419"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 material — ~10 drums  →  repeat every ~5 weeks</a:t>
            </a:r>
          </a:p>
        </p:txBody>
      </p:sp>
      <p:sp>
        <p:nvSpPr>
          <p:cNvPr id="23" name="TextBox 22"/>
          <p:cNvSpPr txBox="1"/>
          <p:nvPr/>
        </p:nvSpPr>
        <p:spPr>
          <a:xfrm>
            <a:off x="196596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0</a:t>
            </a:r>
          </a:p>
        </p:txBody>
      </p:sp>
      <p:sp>
        <p:nvSpPr>
          <p:cNvPr id="24" name="TextBox 23"/>
          <p:cNvSpPr txBox="1"/>
          <p:nvPr/>
        </p:nvSpPr>
        <p:spPr>
          <a:xfrm>
            <a:off x="299720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4</a:t>
            </a:r>
          </a:p>
        </p:txBody>
      </p:sp>
      <p:sp>
        <p:nvSpPr>
          <p:cNvPr id="25" name="TextBox 24"/>
          <p:cNvSpPr txBox="1"/>
          <p:nvPr/>
        </p:nvSpPr>
        <p:spPr>
          <a:xfrm>
            <a:off x="60909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16</a:t>
            </a:r>
          </a:p>
        </p:txBody>
      </p:sp>
      <p:sp>
        <p:nvSpPr>
          <p:cNvPr id="26" name="TextBox 25"/>
          <p:cNvSpPr txBox="1"/>
          <p:nvPr/>
        </p:nvSpPr>
        <p:spPr>
          <a:xfrm>
            <a:off x="112471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36</a:t>
            </a:r>
          </a:p>
        </p:txBody>
      </p:sp>
      <p:sp>
        <p:nvSpPr>
          <p:cNvPr id="27" name="TextBox 26"/>
          <p:cNvSpPr txBox="1"/>
          <p:nvPr/>
        </p:nvSpPr>
        <p:spPr>
          <a:xfrm>
            <a:off x="548640" y="2743200"/>
            <a:ext cx="11064240" cy="457200"/>
          </a:xfrm>
          <a:prstGeom prst="rect">
            <a:avLst/>
          </a:prstGeom>
          <a:noFill/>
        </p:spPr>
        <p:txBody>
          <a:bodyPr wrap="square">
            <a:spAutoFit/>
          </a:bodyPr>
          <a:lstStyle/>
          <a:p>
            <a:pPr algn="l">
              <a:spcAft>
                <a:spcPts val="400"/>
              </a:spcAft>
            </a:pPr>
            <a:r>
              <a:rPr sz="1050" b="1" i="0">
                <a:solidFill>
                  <a:srgbClr val="1F3864"/>
                </a:solidFill>
                <a:latin typeface="Calibri"/>
              </a:rPr>
              <a:t>Why not blend PCI at one-third alongside SNP Inc.? A batch would last 36 days — twice the life. Even at two-thirds: 18.2 days. A validated 21-day life gives block rotation margin; a 30-day life still needs PCI at ~half of rate.</a:t>
            </a:r>
          </a:p>
        </p:txBody>
      </p:sp>
      <p:sp>
        <p:nvSpPr>
          <p:cNvPr id="28" name="Rectangle 27"/>
          <p:cNvSpPr/>
          <p:nvPr/>
        </p:nvSpPr>
        <p:spPr>
          <a:xfrm>
            <a:off x="548640" y="3291840"/>
            <a:ext cx="3611880" cy="25603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410712"/>
            <a:ext cx="3246120" cy="2322576"/>
          </a:xfrm>
          <a:prstGeom prst="rect">
            <a:avLst/>
          </a:prstGeom>
          <a:noFill/>
        </p:spPr>
        <p:txBody>
          <a:bodyPr wrap="square">
            <a:spAutoFit/>
          </a:bodyPr>
          <a:lstStyle/>
          <a:p>
            <a:pPr algn="l">
              <a:spcAft>
                <a:spcPts val="600"/>
              </a:spcAft>
            </a:pPr>
            <a:r>
              <a:rPr sz="1350" b="1" i="0">
                <a:solidFill>
                  <a:srgbClr val="B23A2E"/>
                </a:solidFill>
                <a:latin typeface="Calibri"/>
              </a:rPr>
              <a:t>What SNP Inc. experiences</a:t>
            </a:r>
          </a:p>
          <a:p>
            <a:pPr algn="l">
              <a:spcAft>
                <a:spcPts val="500"/>
              </a:spcAft>
            </a:pPr>
            <a:r>
              <a:rPr sz="1000" b="0" i="0">
                <a:solidFill>
                  <a:srgbClr val="595959"/>
                </a:solidFill>
                <a:latin typeface="Calibri"/>
              </a:rPr>
              <a:t>•  A third less volume ($50.7k → $33.8k/yr)</a:t>
            </a:r>
          </a:p>
          <a:p>
            <a:pPr algn="l">
              <a:spcAft>
                <a:spcPts val="500"/>
              </a:spcAft>
            </a:pPr>
            <a:r>
              <a:rPr sz="1000" b="0" i="0">
                <a:solidFill>
                  <a:srgbClr val="595959"/>
                </a:solidFill>
                <a:latin typeface="Calibri"/>
              </a:rPr>
              <a:t>•  Cadence is a choice: a ~12-day pause every ~5 weeks — or a steady ~2 drums/week if we hold ~3 drums of rolling stock (strict first-in-first-out)</a:t>
            </a:r>
          </a:p>
          <a:p>
            <a:pPr algn="l">
              <a:spcAft>
                <a:spcPts val="500"/>
              </a:spcAft>
            </a:pPr>
            <a:r>
              <a:rPr sz="1000" b="0" i="0">
                <a:solidFill>
                  <a:srgbClr val="595959"/>
                </a:solidFill>
                <a:latin typeface="Calibri"/>
              </a:rPr>
              <a:t>•  They read the signal, not the dollars: a third of their core line moved right after we asked for partnership</a:t>
            </a:r>
          </a:p>
        </p:txBody>
      </p:sp>
      <p:sp>
        <p:nvSpPr>
          <p:cNvPr id="30" name="Rectangle 29"/>
          <p:cNvSpPr/>
          <p:nvPr/>
        </p:nvSpPr>
        <p:spPr>
          <a:xfrm>
            <a:off x="4297680" y="3291840"/>
            <a:ext cx="3611880" cy="25603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3410712"/>
            <a:ext cx="3246120" cy="2322576"/>
          </a:xfrm>
          <a:prstGeom prst="rect">
            <a:avLst/>
          </a:prstGeom>
          <a:noFill/>
        </p:spPr>
        <p:txBody>
          <a:bodyPr wrap="square">
            <a:spAutoFit/>
          </a:bodyPr>
          <a:lstStyle/>
          <a:p>
            <a:pPr algn="l">
              <a:spcAft>
                <a:spcPts val="600"/>
              </a:spcAft>
            </a:pPr>
            <a:r>
              <a:rPr sz="1350" b="1" i="0">
                <a:solidFill>
                  <a:srgbClr val="9C5A0C"/>
                </a:solidFill>
                <a:latin typeface="Calibri"/>
              </a:rPr>
              <a:t>What we would run</a:t>
            </a:r>
          </a:p>
          <a:p>
            <a:pPr algn="l">
              <a:spcAft>
                <a:spcPts val="500"/>
              </a:spcAft>
            </a:pPr>
            <a:r>
              <a:rPr sz="1000" b="0" i="0">
                <a:solidFill>
                  <a:srgbClr val="595959"/>
                </a:solidFill>
                <a:latin typeface="Calibri"/>
              </a:rPr>
              <a:t>•  One spec, one viscometer method; incoming test on every lot; traceability by source</a:t>
            </a:r>
          </a:p>
          <a:p>
            <a:pPr algn="l">
              <a:spcAft>
                <a:spcPts val="500"/>
              </a:spcAft>
            </a:pPr>
            <a:r>
              <a:rPr sz="1000" b="0" i="0">
                <a:solidFill>
                  <a:srgbClr val="595959"/>
                </a:solidFill>
                <a:latin typeface="Calibri"/>
              </a:rPr>
              <a:t>•  Freeze-protected freight; five drums on site; strict first-in-first-out</a:t>
            </a:r>
          </a:p>
          <a:p>
            <a:pPr algn="l">
              <a:spcAft>
                <a:spcPts val="500"/>
              </a:spcAft>
            </a:pPr>
            <a:r>
              <a:rPr sz="1000" b="0" i="0">
                <a:solidFill>
                  <a:srgbClr val="595959"/>
                </a:solidFill>
                <a:latin typeface="Calibri"/>
              </a:rPr>
              <a:t>•  Failover in writing: SNP Inc. lead time + a standing cover order — a rejected PCI lot is line-down for that lead time</a:t>
            </a:r>
          </a:p>
          <a:p>
            <a:pPr algn="l">
              <a:spcAft>
                <a:spcPts val="500"/>
              </a:spcAft>
            </a:pPr>
            <a:r>
              <a:rPr sz="1000" b="0" i="0">
                <a:solidFill>
                  <a:srgbClr val="595959"/>
                </a:solidFill>
                <a:latin typeface="Calibri"/>
              </a:rPr>
              <a:t>•  PCI's residual-film issue closed before any production batch; two Supplier Quality Agreements (SQA)</a:t>
            </a:r>
          </a:p>
        </p:txBody>
      </p:sp>
      <p:sp>
        <p:nvSpPr>
          <p:cNvPr id="32" name="Rectangle 31"/>
          <p:cNvSpPr/>
          <p:nvPr/>
        </p:nvSpPr>
        <p:spPr>
          <a:xfrm>
            <a:off x="8046720" y="3291840"/>
            <a:ext cx="3566160" cy="25603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410712"/>
            <a:ext cx="3200400" cy="2322576"/>
          </a:xfrm>
          <a:prstGeom prst="rect">
            <a:avLst/>
          </a:prstGeom>
          <a:noFill/>
        </p:spPr>
        <p:txBody>
          <a:bodyPr wrap="square">
            <a:spAutoFit/>
          </a:bodyPr>
          <a:lstStyle/>
          <a:p>
            <a:pPr algn="l">
              <a:spcAft>
                <a:spcPts val="600"/>
              </a:spcAft>
            </a:pPr>
            <a:r>
              <a:rPr sz="1350" b="1" i="0">
                <a:solidFill>
                  <a:srgbClr val="2E7D46"/>
                </a:solidFill>
                <a:latin typeface="Calibri"/>
              </a:rPr>
              <a:t>What it buys</a:t>
            </a:r>
          </a:p>
          <a:p>
            <a:pPr algn="l">
              <a:spcAft>
                <a:spcPts val="500"/>
              </a:spcAft>
            </a:pPr>
            <a:r>
              <a:rPr sz="1000" b="0" i="0">
                <a:solidFill>
                  <a:srgbClr val="595959"/>
                </a:solidFill>
                <a:latin typeface="Calibri"/>
              </a:rPr>
              <a:t>•  Recovery in weeks — only if PCI confirms in writing a ramp to ~3 batches a month</a:t>
            </a:r>
          </a:p>
          <a:p>
            <a:pPr algn="l">
              <a:spcAft>
                <a:spcPts val="500"/>
              </a:spcAft>
            </a:pPr>
            <a:r>
              <a:rPr sz="1000" b="0" i="0">
                <a:solidFill>
                  <a:srgbClr val="595959"/>
                </a:solidFill>
                <a:latin typeface="Calibri"/>
              </a:rPr>
              <a:t>•  Until then, ~2/3 of volume still stops in an outage</a:t>
            </a:r>
          </a:p>
          <a:p>
            <a:pPr algn="l">
              <a:spcAft>
                <a:spcPts val="500"/>
              </a:spcAft>
            </a:pPr>
            <a:r>
              <a:rPr sz="1000" b="0" i="0">
                <a:solidFill>
                  <a:srgbClr val="595959"/>
                </a:solidFill>
                <a:latin typeface="Calibri"/>
              </a:rPr>
              <a:t>•  If PCI cooks the same producer's resin as SNP: it hedges the cook, not the resin — buffer dry resin either way</a:t>
            </a:r>
          </a:p>
        </p:txBody>
      </p:sp>
      <p:sp>
        <p:nvSpPr>
          <p:cNvPr id="34" name="Rectangle 3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Two suppliers is workable as a permanent discipline; SNP Inc.'s cadence can stay level if we carry a few drums of margin — the shelf-life study decides.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STRATEGY</a:t>
            </a:r>
          </a:p>
        </p:txBody>
      </p:sp>
      <p:pic>
        <p:nvPicPr>
          <p:cNvPr id="5" name="Picture 4" descr="chart_options_year1.png"/>
          <p:cNvPicPr>
            <a:picLocks noChangeAspect="1"/>
          </p:cNvPicPr>
          <p:nvPr/>
        </p:nvPicPr>
        <p:blipFill>
          <a:blip r:embed="rId2"/>
          <a:stretch>
            <a:fillRect/>
          </a:stretch>
        </p:blipFill>
        <p:spPr>
          <a:xfrm>
            <a:off x="548640" y="987552"/>
            <a:ext cx="11064240" cy="1844040"/>
          </a:xfrm>
          <a:prstGeom prst="rect">
            <a:avLst/>
          </a:prstGeom>
        </p:spPr>
      </p:pic>
      <p:graphicFrame>
        <p:nvGraphicFramePr>
          <p:cNvPr id="6" name="Table 5"/>
          <p:cNvGraphicFramePr>
            <a:graphicFrameLocks noGrp="1"/>
          </p:cNvGraphicFramePr>
          <p:nvPr/>
        </p:nvGraphicFramePr>
        <p:xfrm>
          <a:off x="548640" y="2834640"/>
          <a:ext cx="11064240" cy="3017520"/>
        </p:xfrm>
        <a:graphic>
          <a:graphicData uri="http://schemas.openxmlformats.org/drawingml/2006/table">
            <a:tbl>
              <a:tblPr firstRow="1" bandRow="1">
                <a:tableStyleId>{5C22544A-7EE6-4342-B048-85BDC9FD1C3A}</a:tableStyleId>
              </a:tblPr>
              <a:tblGrid>
                <a:gridCol w="1234440"/>
                <a:gridCol w="3063240"/>
                <a:gridCol w="3246120"/>
                <a:gridCol w="3520440"/>
              </a:tblGrid>
              <a:tr h="377190">
                <a:tc>
                  <a:txBody>
                    <a:bodyPr/>
                    <a:lstStyle/>
                    <a:p>
                      <a:pPr algn="l"/>
                      <a:r>
                        <a:rPr sz="900" b="1">
                          <a:solidFill>
                            <a:srgbClr val="FFFFFF"/>
                          </a:solidFill>
                          <a:latin typeface="Calibri"/>
                        </a:rPr>
                        <a:t/>
                      </a:r>
                    </a:p>
                  </a:txBody>
                  <a:tcPr>
                    <a:solidFill>
                      <a:srgbClr val="1F3864"/>
                    </a:solidFill>
                  </a:tcPr>
                </a:tc>
                <a:tc>
                  <a:txBody>
                    <a:bodyPr/>
                    <a:lstStyle/>
                    <a:p>
                      <a:pPr algn="ctr"/>
                      <a:r>
                        <a:rPr sz="900" b="1">
                          <a:solidFill>
                            <a:srgbClr val="FFFFFF"/>
                          </a:solidFill>
                          <a:latin typeface="Calibri"/>
                        </a:rPr>
                        <a:t>Option 1 · Second supplier at one-third</a:t>
                      </a:r>
                    </a:p>
                  </a:txBody>
                  <a:tcPr>
                    <a:solidFill>
                      <a:srgbClr val="1F3864"/>
                    </a:solidFill>
                  </a:tcPr>
                </a:tc>
                <a:tc>
                  <a:txBody>
                    <a:bodyPr/>
                    <a:lstStyle/>
                    <a:p>
                      <a:pPr algn="ctr"/>
                      <a:r>
                        <a:rPr sz="900" b="1">
                          <a:solidFill>
                            <a:srgbClr val="FFFFFF"/>
                          </a:solidFill>
                          <a:latin typeface="Calibri"/>
                        </a:rPr>
                        <a:t>Option 2 · Strengthen SNP Inc. only — no volume moved</a:t>
                      </a:r>
                    </a:p>
                  </a:txBody>
                  <a:tcPr>
                    <a:solidFill>
                      <a:srgbClr val="1F3864"/>
                    </a:solidFill>
                  </a:tcPr>
                </a:tc>
                <a:tc>
                  <a:txBody>
                    <a:bodyPr/>
                    <a:lstStyle/>
                    <a:p>
                      <a:pPr algn="l"/>
                      <a:r>
                        <a:rPr sz="900" b="1">
                          <a:solidFill>
                            <a:srgbClr val="FFFFFF"/>
                          </a:solidFill>
                          <a:latin typeface="Calibri"/>
                        </a:rPr>
                        <a:t>Option 3 · Keep-alive: 1–2 batches of 5 drums a year</a:t>
                      </a:r>
                    </a:p>
                  </a:txBody>
                  <a:tcPr>
                    <a:solidFill>
                      <a:srgbClr val="1F3864"/>
                    </a:solidFill>
                  </a:tcPr>
                </a:tc>
              </a:tr>
              <a:tr h="377190">
                <a:tc>
                  <a:txBody>
                    <a:bodyPr/>
                    <a:lstStyle/>
                    <a:p>
                      <a:pPr algn="l"/>
                      <a:r>
                        <a:rPr sz="900" b="1">
                          <a:solidFill>
                            <a:srgbClr val="1F3864"/>
                          </a:solidFill>
                          <a:latin typeface="Calibri"/>
                        </a:rPr>
                        <a:t>What it is</a:t>
                      </a:r>
                    </a:p>
                  </a:txBody>
                  <a:tcPr>
                    <a:solidFill>
                      <a:srgbClr val="FFFFFF"/>
                    </a:solidFill>
                  </a:tcPr>
                </a:tc>
                <a:tc>
                  <a:txBody>
                    <a:bodyPr/>
                    <a:lstStyle/>
                    <a:p>
                      <a:pPr algn="ctr"/>
                      <a:r>
                        <a:rPr sz="900">
                          <a:solidFill>
                            <a:srgbClr val="1F3864"/>
                          </a:solidFill>
                          <a:latin typeface="Calibri"/>
                        </a:rPr>
                        <a:t>10 PCI batches/yr; SNP Inc. keeps ~2/3</a:t>
                      </a:r>
                    </a:p>
                  </a:txBody>
                  <a:tcPr>
                    <a:solidFill>
                      <a:srgbClr val="FCE4D6"/>
                    </a:solidFill>
                  </a:tcPr>
                </a:tc>
                <a:tc>
                  <a:txBody>
                    <a:bodyPr/>
                    <a:lstStyle/>
                    <a:p>
                      <a:pPr algn="ctr"/>
                      <a:r>
                        <a:rPr sz="900">
                          <a:solidFill>
                            <a:srgbClr val="1F3864"/>
                          </a:solidFill>
                          <a:latin typeface="Calibri"/>
                        </a:rPr>
                        <a:t>SNP Inc. sole source with partnership terms; PCI a quoted option; pay a development fee</a:t>
                      </a:r>
                    </a:p>
                  </a:txBody>
                  <a:tcPr>
                    <a:solidFill>
                      <a:srgbClr val="E2EFDA"/>
                    </a:solidFill>
                  </a:tcPr>
                </a:tc>
                <a:tc>
                  <a:txBody>
                    <a:bodyPr/>
                    <a:lstStyle/>
                    <a:p>
                      <a:pPr algn="l"/>
                      <a:r>
                        <a:rPr sz="900">
                          <a:solidFill>
                            <a:srgbClr val="1F3864"/>
                          </a:solidFill>
                          <a:latin typeface="Calibri"/>
                        </a:rPr>
                        <a:t>Option 2, plus 1–2 PCI batches a year — the minimum that keeps a qualified supplier alive</a:t>
                      </a:r>
                    </a:p>
                  </a:txBody>
                  <a:tcPr>
                    <a:solidFill>
                      <a:srgbClr val="FFF2CC"/>
                    </a:solidFill>
                  </a:tcPr>
                </a:tc>
              </a:tr>
              <a:tr h="377190">
                <a:tc>
                  <a:txBody>
                    <a:bodyPr/>
                    <a:lstStyle/>
                    <a:p>
                      <a:pPr algn="l"/>
                      <a:r>
                        <a:rPr sz="900" b="1">
                          <a:solidFill>
                            <a:srgbClr val="1F3864"/>
                          </a:solidFill>
                          <a:latin typeface="Calibri"/>
                        </a:rPr>
                        <a:t>Recurring</a:t>
                      </a:r>
                    </a:p>
                  </a:txBody>
                  <a:tcPr>
                    <a:solidFill>
                      <a:srgbClr val="FFFFFF"/>
                    </a:solidFill>
                  </a:tcPr>
                </a:tc>
                <a:tc>
                  <a:txBody>
                    <a:bodyPr/>
                    <a:lstStyle/>
                    <a:p>
                      <a:pPr algn="ctr"/>
                      <a:r>
                        <a:rPr sz="900">
                          <a:solidFill>
                            <a:srgbClr val="1F3864"/>
                          </a:solidFill>
                          <a:latin typeface="Calibri"/>
                        </a:rPr>
                        <a:t>+$62k/yr premium + ~$3–8k quality overhead (~$378k / 5 yrs)</a:t>
                      </a:r>
                    </a:p>
                  </a:txBody>
                  <a:tcPr>
                    <a:solidFill>
                      <a:srgbClr val="FCE4D6"/>
                    </a:solidFill>
                  </a:tcPr>
                </a:tc>
                <a:tc>
                  <a:txBody>
                    <a:bodyPr/>
                    <a:lstStyle/>
                    <a:p>
                      <a:pPr algn="ctr"/>
                      <a:r>
                        <a:rPr sz="900">
                          <a:solidFill>
                            <a:srgbClr val="1F3864"/>
                          </a:solidFill>
                          <a:latin typeface="Calibri"/>
                        </a:rPr>
                        <a:t>~$3–12k/yr</a:t>
                      </a:r>
                    </a:p>
                  </a:txBody>
                  <a:tcPr>
                    <a:solidFill>
                      <a:srgbClr val="E2EFDA"/>
                    </a:solidFill>
                  </a:tcPr>
                </a:tc>
                <a:tc>
                  <a:txBody>
                    <a:bodyPr/>
                    <a:lstStyle/>
                    <a:p>
                      <a:pPr algn="l"/>
                      <a:r>
                        <a:rPr sz="900">
                          <a:solidFill>
                            <a:srgbClr val="1F3864"/>
                          </a:solidFill>
                          <a:latin typeface="Calibri"/>
                        </a:rPr>
                        <a:t>+$6.2k/yr per batch ($7.9k gross) + Option 2's ~$3–12k</a:t>
                      </a:r>
                    </a:p>
                  </a:txBody>
                  <a:tcPr>
                    <a:solidFill>
                      <a:srgbClr val="FFF2CC"/>
                    </a:solidFill>
                  </a:tcPr>
                </a:tc>
              </a:tr>
              <a:tr h="377190">
                <a:tc>
                  <a:txBody>
                    <a:bodyPr/>
                    <a:lstStyle/>
                    <a:p>
                      <a:pPr algn="l"/>
                      <a:r>
                        <a:rPr sz="900" b="1">
                          <a:solidFill>
                            <a:srgbClr val="1F3864"/>
                          </a:solidFill>
                          <a:latin typeface="Calibri"/>
                        </a:rPr>
                        <a:t>One-time</a:t>
                      </a:r>
                    </a:p>
                  </a:txBody>
                  <a:tcPr>
                    <a:solidFill>
                      <a:srgbClr val="FFFFFF"/>
                    </a:solidFill>
                  </a:tcPr>
                </a:tc>
                <a:tc>
                  <a:txBody>
                    <a:bodyPr/>
                    <a:lstStyle/>
                    <a:p>
                      <a:pPr algn="ctr"/>
                      <a:r>
                        <a:rPr sz="900">
                          <a:solidFill>
                            <a:srgbClr val="1F3864"/>
                          </a:solidFill>
                          <a:latin typeface="Calibri"/>
                        </a:rPr>
                        <a:t>~$15–40k internal hours to production release</a:t>
                      </a:r>
                    </a:p>
                  </a:txBody>
                  <a:tcPr>
                    <a:solidFill>
                      <a:srgbClr val="FCE4D6"/>
                    </a:solidFill>
                  </a:tcPr>
                </a:tc>
                <a:tc>
                  <a:txBody>
                    <a:bodyPr/>
                    <a:lstStyle/>
                    <a:p>
                      <a:pPr algn="ctr"/>
                      <a:r>
                        <a:rPr sz="900">
                          <a:solidFill>
                            <a:srgbClr val="1F3864"/>
                          </a:solidFill>
                          <a:latin typeface="Calibri"/>
                        </a:rPr>
                        <a:t>~$5–10k PCI fee + ~$5–10k SNP terms</a:t>
                      </a:r>
                    </a:p>
                  </a:txBody>
                  <a:tcPr>
                    <a:solidFill>
                      <a:srgbClr val="E2EFDA"/>
                    </a:solidFill>
                  </a:tcPr>
                </a:tc>
                <a:tc>
                  <a:txBody>
                    <a:bodyPr/>
                    <a:lstStyle/>
                    <a:p>
                      <a:pPr algn="l"/>
                      <a:r>
                        <a:rPr sz="900">
                          <a:solidFill>
                            <a:srgbClr val="1F3864"/>
                          </a:solidFill>
                          <a:latin typeface="Calibri"/>
                        </a:rPr>
                        <a:t>~$15–40k internal hours + ~$5–10k SNP terms (the batches are PCI's payment)</a:t>
                      </a:r>
                    </a:p>
                  </a:txBody>
                  <a:tcPr>
                    <a:solidFill>
                      <a:srgbClr val="FFF2CC"/>
                    </a:solidFill>
                  </a:tcPr>
                </a:tc>
              </a:tr>
              <a:tr h="377190">
                <a:tc>
                  <a:txBody>
                    <a:bodyPr/>
                    <a:lstStyle/>
                    <a:p>
                      <a:pPr algn="l"/>
                      <a:r>
                        <a:rPr sz="900" b="1">
                          <a:solidFill>
                            <a:srgbClr val="1F3864"/>
                          </a:solidFill>
                          <a:latin typeface="Calibri"/>
                        </a:rPr>
                        <a:t>What it buys</a:t>
                      </a:r>
                    </a:p>
                  </a:txBody>
                  <a:tcPr>
                    <a:solidFill>
                      <a:srgbClr val="FFFFFF"/>
                    </a:solidFill>
                  </a:tcPr>
                </a:tc>
                <a:tc>
                  <a:txBody>
                    <a:bodyPr/>
                    <a:lstStyle/>
                    <a:p>
                      <a:pPr algn="ctr"/>
                      <a:r>
                        <a:rPr sz="900">
                          <a:solidFill>
                            <a:srgbClr val="1F3864"/>
                          </a:solidFill>
                          <a:latin typeface="Calibri"/>
                        </a:rPr>
                        <a:t>A practiced second source; weeks to recover if the ramp is confirmed</a:t>
                      </a:r>
                    </a:p>
                  </a:txBody>
                  <a:tcPr>
                    <a:solidFill>
                      <a:srgbClr val="FCE4D6"/>
                    </a:solidFill>
                  </a:tcPr>
                </a:tc>
                <a:tc>
                  <a:txBody>
                    <a:bodyPr/>
                    <a:lstStyle/>
                    <a:p>
                      <a:pPr algn="ctr"/>
                      <a:r>
                        <a:rPr sz="900">
                          <a:solidFill>
                            <a:srgbClr val="1F3864"/>
                          </a:solidFill>
                          <a:latin typeface="Calibri"/>
                        </a:rPr>
                        <a:t>Deeper partnership; cold start ~3–6 months (decays after ~12 idle)</a:t>
                      </a:r>
                    </a:p>
                  </a:txBody>
                  <a:tcPr>
                    <a:solidFill>
                      <a:srgbClr val="E2EFDA"/>
                    </a:solidFill>
                  </a:tcPr>
                </a:tc>
                <a:tc>
                  <a:txBody>
                    <a:bodyPr/>
                    <a:lstStyle/>
                    <a:p>
                      <a:pPr algn="l"/>
                      <a:r>
                        <a:rPr sz="900">
                          <a:solidFill>
                            <a:srgbClr val="1F3864"/>
                          </a:solidFill>
                          <a:latin typeface="Calibri"/>
                        </a:rPr>
                        <a:t>Option 2 + production scale proven, a qualification that never goes stale, and a batch price with no volume string attached; restart weeks to months</a:t>
                      </a:r>
                    </a:p>
                  </a:txBody>
                  <a:tcPr>
                    <a:solidFill>
                      <a:srgbClr val="FFF2CC"/>
                    </a:solidFill>
                  </a:tcPr>
                </a:tc>
              </a:tr>
              <a:tr h="377190">
                <a:tc>
                  <a:txBody>
                    <a:bodyPr/>
                    <a:lstStyle/>
                    <a:p>
                      <a:pPr algn="l"/>
                      <a:r>
                        <a:rPr sz="900" b="1">
                          <a:solidFill>
                            <a:srgbClr val="1F3864"/>
                          </a:solidFill>
                          <a:latin typeface="Calibri"/>
                        </a:rPr>
                        <a:t>SNP Inc. sees</a:t>
                      </a:r>
                    </a:p>
                  </a:txBody>
                  <a:tcPr>
                    <a:solidFill>
                      <a:srgbClr val="FFFFFF"/>
                    </a:solidFill>
                  </a:tcPr>
                </a:tc>
                <a:tc>
                  <a:txBody>
                    <a:bodyPr/>
                    <a:lstStyle/>
                    <a:p>
                      <a:pPr algn="ctr"/>
                      <a:r>
                        <a:rPr sz="900">
                          <a:solidFill>
                            <a:srgbClr val="1F3864"/>
                          </a:solidFill>
                          <a:latin typeface="Calibri"/>
                        </a:rPr>
                        <a:t>A third less volume; strain at the wrong moment</a:t>
                      </a:r>
                    </a:p>
                  </a:txBody>
                  <a:tcPr>
                    <a:solidFill>
                      <a:srgbClr val="FCE4D6"/>
                    </a:solidFill>
                  </a:tcPr>
                </a:tc>
                <a:tc>
                  <a:txBody>
                    <a:bodyPr/>
                    <a:lstStyle/>
                    <a:p>
                      <a:pPr algn="ctr"/>
                      <a:r>
                        <a:rPr sz="900">
                          <a:solidFill>
                            <a:srgbClr val="1F3864"/>
                          </a:solidFill>
                          <a:latin typeface="Calibri"/>
                        </a:rPr>
                        <a:t>A strengthened partner</a:t>
                      </a:r>
                    </a:p>
                  </a:txBody>
                  <a:tcPr>
                    <a:solidFill>
                      <a:srgbClr val="E2EFDA"/>
                    </a:solidFill>
                  </a:tcPr>
                </a:tc>
                <a:tc>
                  <a:txBody>
                    <a:bodyPr/>
                    <a:lstStyle/>
                    <a:p>
                      <a:pPr algn="l"/>
                      <a:r>
                        <a:rPr sz="900">
                          <a:solidFill>
                            <a:srgbClr val="1F3864"/>
                          </a:solidFill>
                          <a:latin typeface="Calibri"/>
                        </a:rPr>
                        <a:t>1–2 pre-announced 12-day pauses a year (3–7%) — or none, with a rolling stock</a:t>
                      </a:r>
                    </a:p>
                  </a:txBody>
                  <a:tcPr>
                    <a:solidFill>
                      <a:srgbClr val="FFF2CC"/>
                    </a:solidFill>
                  </a:tcPr>
                </a:tc>
              </a:tr>
              <a:tr h="377190">
                <a:tc>
                  <a:txBody>
                    <a:bodyPr/>
                    <a:lstStyle/>
                    <a:p>
                      <a:pPr algn="l"/>
                      <a:r>
                        <a:rPr sz="900" b="1">
                          <a:solidFill>
                            <a:srgbClr val="1F3864"/>
                          </a:solidFill>
                          <a:latin typeface="Calibri"/>
                        </a:rPr>
                        <a:t>PCI sees</a:t>
                      </a:r>
                    </a:p>
                  </a:txBody>
                  <a:tcPr>
                    <a:solidFill>
                      <a:srgbClr val="FFFFFF"/>
                    </a:solidFill>
                  </a:tcPr>
                </a:tc>
                <a:tc>
                  <a:txBody>
                    <a:bodyPr/>
                    <a:lstStyle/>
                    <a:p>
                      <a:pPr algn="ctr"/>
                      <a:r>
                        <a:rPr sz="900">
                          <a:solidFill>
                            <a:srgbClr val="1F3864"/>
                          </a:solidFill>
                          <a:latin typeface="Calibri"/>
                        </a:rPr>
                        <a:t>A customer</a:t>
                      </a:r>
                    </a:p>
                  </a:txBody>
                  <a:tcPr>
                    <a:solidFill>
                      <a:srgbClr val="FCE4D6"/>
                    </a:solidFill>
                  </a:tcPr>
                </a:tc>
                <a:tc>
                  <a:txBody>
                    <a:bodyPr/>
                    <a:lstStyle/>
                    <a:p>
                      <a:pPr algn="ctr"/>
                      <a:r>
                        <a:rPr sz="900">
                          <a:solidFill>
                            <a:srgbClr val="1F3864"/>
                          </a:solidFill>
                          <a:latin typeface="Calibri"/>
                        </a:rPr>
                        <a:t>Goodwill at risk unless settled candidly</a:t>
                      </a:r>
                    </a:p>
                  </a:txBody>
                  <a:tcPr>
                    <a:solidFill>
                      <a:srgbClr val="E2EFDA"/>
                    </a:solidFill>
                  </a:tcPr>
                </a:tc>
                <a:tc>
                  <a:txBody>
                    <a:bodyPr/>
                    <a:lstStyle/>
                    <a:p>
                      <a:pPr algn="l"/>
                      <a:r>
                        <a:rPr sz="900">
                          <a:solidFill>
                            <a:srgbClr val="1F3864"/>
                          </a:solidFill>
                          <a:latin typeface="Calibri"/>
                        </a:rPr>
                        <a:t>A customer — small, but real, every year</a:t>
                      </a:r>
                    </a:p>
                  </a:txBody>
                  <a:tcPr>
                    <a:solidFill>
                      <a:srgbClr val="FFF2CC"/>
                    </a:solidFill>
                  </a:tcPr>
                </a:tc>
              </a:tr>
              <a:tr h="377190">
                <a:tc>
                  <a:txBody>
                    <a:bodyPr/>
                    <a:lstStyle/>
                    <a:p>
                      <a:pPr algn="l"/>
                      <a:r>
                        <a:rPr sz="900" b="1">
                          <a:solidFill>
                            <a:srgbClr val="1F3864"/>
                          </a:solidFill>
                          <a:latin typeface="Calibri"/>
                        </a:rPr>
                        <a:t>Residual risk</a:t>
                      </a:r>
                    </a:p>
                  </a:txBody>
                  <a:tcPr>
                    <a:solidFill>
                      <a:srgbClr val="FFFFFF"/>
                    </a:solidFill>
                  </a:tcPr>
                </a:tc>
                <a:tc>
                  <a:txBody>
                    <a:bodyPr/>
                    <a:lstStyle/>
                    <a:p>
                      <a:pPr algn="ctr"/>
                      <a:r>
                        <a:rPr sz="900">
                          <a:solidFill>
                            <a:srgbClr val="1F3864"/>
                          </a:solidFill>
                          <a:latin typeface="Calibri"/>
                        </a:rPr>
                        <a:t>~2/3 exposed until ramp; SNP re-price; two-stream quality load</a:t>
                      </a:r>
                    </a:p>
                  </a:txBody>
                  <a:tcPr>
                    <a:solidFill>
                      <a:srgbClr val="FCE4D6"/>
                    </a:solidFill>
                  </a:tcPr>
                </a:tc>
                <a:tc>
                  <a:txBody>
                    <a:bodyPr/>
                    <a:lstStyle/>
                    <a:p>
                      <a:pPr algn="ctr"/>
                      <a:r>
                        <a:rPr sz="900">
                          <a:solidFill>
                            <a:srgbClr val="1F3864"/>
                          </a:solidFill>
                          <a:latin typeface="Calibri"/>
                        </a:rPr>
                        <a:t>SNP failure = months</a:t>
                      </a:r>
                    </a:p>
                  </a:txBody>
                  <a:tcPr>
                    <a:solidFill>
                      <a:srgbClr val="E2EFDA"/>
                    </a:solidFill>
                  </a:tcPr>
                </a:tc>
                <a:tc>
                  <a:txBody>
                    <a:bodyPr/>
                    <a:lstStyle/>
                    <a:p>
                      <a:pPr algn="l"/>
                      <a:r>
                        <a:rPr sz="900">
                          <a:solidFill>
                            <a:srgbClr val="1F3864"/>
                          </a:solidFill>
                          <a:latin typeface="Calibri"/>
                        </a:rPr>
                        <a:t>No volume term on the $3.50 price so far — get it in writing; ~93–97% exposed until PCI ramps</a:t>
                      </a:r>
                    </a:p>
                  </a:txBody>
                  <a:tcPr>
                    <a:solidFill>
                      <a:srgbClr val="FFF2CC"/>
                    </a:solidFill>
                  </a:tcPr>
                </a:tc>
              </a:tr>
            </a:tbl>
          </a:graphicData>
        </a:graphic>
      </p:graphicFrame>
      <p:sp>
        <p:nvSpPr>
          <p:cNvPr id="7" name="Rectangle 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 with one or two pre-announced 12-day pauses for SNP Inc., or none with a small rolling stock.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7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1,300 lb/wk = 67,600 lb ≈ 150 drums/yr;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3.3–6.7%; +$6.2–12.4k/yr</a:t>
                      </a:r>
                    </a:p>
                  </a:txBody>
                  <a:tcPr>
                    <a:solidFill>
                      <a:srgbClr val="FFFFFF"/>
                    </a:solidFill>
                  </a:tcPr>
                </a:tc>
                <a:tc>
                  <a:txBody>
                    <a:bodyPr/>
                    <a:lstStyle/>
                    <a:p>
                      <a:pPr algn="ctr"/>
                      <a:r>
                        <a:rPr sz="800">
                          <a:solidFill>
                            <a:srgbClr val="1F3864"/>
                          </a:solidFill>
                          <a:latin typeface="Calibri"/>
                        </a:rPr>
                        <a:t>$7.9k gross per batch</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