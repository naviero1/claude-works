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against quantity per order. The grey points are the verified market prices of pre-mixed PVA solution at every pack size we found - one-gallon jugs, cases, pails, a twenty-gallon lot, and ton-scale offers offshore before freight. The navy line is the curve fitted through them: price falls about eighteen percent every time the lot doubles where we have US data, up to twenty gallons. Beyond that no US vendor publishes a price, so the market is drawn as a band: the fitted trend at the bottom, the flattening seen in vendors' own volume ladders at the top - roughly a dollar to two dollars at a drum. SNP, green, sells us about three drums a week at 75 cents - at or below the bottom of that band, even though the market points are neither delivered nor medical-grade. The green dashed line is the same slope drawn through SNP's price: it is what to expect if we ever bought smaller lots from them - about a dollar at one drum, about two dollars at five gallons. It is a regression from the market's behaviour, not a quote from SNP. PCI, in amber, sits above the top of the band at its quantities - the batch-fixed cost and drum freight of a non-specialist. CJB is off the curve entirely; APV's three dollars is an estimate from our call, never confirmed. The message: price follows lot size everywhere in this market, except at SNP.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fifteen to twenty serious candidates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PVA purchases of 112.6 thousand a year, growing with volume; recovery in weeks only if PCI confirms the ramp in writing. Option 3: one or two blocks a year, when we choose - 56.9 thousand with one batch, 63.1 with two, 69.3 with three - SNP keeps 145, 140 or 135 drums; SNP sees one or two pre-announced pauses or none; restart in weeks to a few months. Option 2: the whole year on SNP, PCI a quoted option - 50.7 thousand, what we pay today;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Purchases only: internal hours to finish PCI's qualification - fifteen to forty thousand once, under Options 1 and 3 - are not in these numbers.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what each option means in PVA purchases for a year - SNP at 75 cents plus PCI at 3.50; today's 50.7 thousand is the grey line; bottom to top is how long we would be without PVA if SNP stopped tomorrow. Each box is the range of one option. Green, Option 2, 50.7 thousand, is the cheapest and the least protected: a cold start of three to six months, and longer as the file goes stale. Blue, Option 3, 57 to 69 thousand for one to three batches, sits in the middle: a practiced supplier restarts in weeks to a few months, about fifty thousand a year less than Option 1. Amber, Option 1, 112.6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Three instruments, weighted. First and essential: place a real order - one five-drum batch, one to three times a year; it is the only thing that pays PCI with revenue and proves production scale, and it is Option 3. Second and essential: sign terms with no volume commitment - the 3.50 batch price, spec, lead time, change notification, twelve to twenty-four months, zero minimum; it locks the economic core of Option 3 in writing and costs only legal time. Third, only under Option 2: pay a development fee for the work already done, to repair the goodwill if we order nothing; under Option 3 the first batch is the payment. Capacity-reservation fees and formal re-approval programs are pharma-scale practices that do not apply to us.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SNP conversation, in order. One: why we are here - growth, a sole source we depend on, and the intent to run it as a partnership; they should hear investment, not audit. Two: our business, shown - volume history, the forecast of 150 drums this year growing ten percent a year, our delivery record, what the product does for our mission. Three: what we bring - a rolling twelve-month forecast refreshed monthly, a level weekly cadence through a blanket order, and the hydrogel program as a written joint roadmap. Four: growing together - their other hydrogel lines, sodium alginate and guar gum, for our other projects, if R&amp;D has a use. Five: running it as partners - resin supply and a consignment buffer, capacity for year-five volume, cover for the people who run the PVA cook, advance notice of changes, a shelf-life study together; continuity agreed as a shared discipline. Six: a resin-indexed price formula instead of ad hoc increases. Seven: close with a quarterly business review, named contacts and an updated quality agreement. Before we walk in we decide five things: the strategy, which sets the posture - under Option 3 we say a continuity verification lot runs once a year and we do not name the supplier; how much forecast we share and whether a multi-year commitment is on the table; the give - blanket order and payment terms; which projects could use the other hydrogels; and whether we fund the resin buffer and the shelf-life 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lb of PVA vs. quantity per order — the curve, and where each supplier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vs_volume.png"/>
          <p:cNvPicPr>
            <a:picLocks noChangeAspect="1"/>
          </p:cNvPicPr>
          <p:nvPr/>
        </p:nvPicPr>
        <p:blipFill>
          <a:blip r:embed="rId2"/>
          <a:stretch>
            <a:fillRect/>
          </a:stretch>
        </p:blipFill>
        <p:spPr>
          <a:xfrm>
            <a:off x="548640" y="1051560"/>
            <a:ext cx="7406640" cy="4787219"/>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500"/>
              </a:spcAft>
            </a:pPr>
            <a:r>
              <a:rPr b="1" sz="1050">
                <a:solidFill>
                  <a:srgbClr val="1F3864"/>
                </a:solidFill>
                <a:latin typeface="Calibri"/>
              </a:rPr>
              <a:t>Left to right  </a:t>
            </a:r>
            <a:r>
              <a:rPr sz="950">
                <a:solidFill>
                  <a:srgbClr val="595959"/>
                </a:solidFill>
                <a:latin typeface="Calibri"/>
              </a:rPr>
              <a:t>— quantity per order, 1-gallon jug to 150 drums, log scale</a:t>
            </a:r>
          </a:p>
          <a:p>
            <a:pPr>
              <a:spcAft>
                <a:spcPts val="500"/>
              </a:spcAft>
            </a:pPr>
            <a:r>
              <a:rPr b="1" sz="1050">
                <a:solidFill>
                  <a:srgbClr val="1F3864"/>
                </a:solidFill>
                <a:latin typeface="Calibri"/>
              </a:rPr>
              <a:t>Grey points  </a:t>
            </a:r>
            <a:r>
              <a:rPr sz="950">
                <a:solidFill>
                  <a:srgbClr val="595959"/>
                </a:solidFill>
                <a:latin typeface="Calibri"/>
              </a:rPr>
              <a:t>— verified prices of pre-mixed PVA solution by pack size: US composites grade up to 20 gal; ton-scale offshore offers before freight</a:t>
            </a:r>
          </a:p>
          <a:p>
            <a:pPr>
              <a:spcAft>
                <a:spcPts val="500"/>
              </a:spcAft>
            </a:pPr>
            <a:r>
              <a:rPr b="1" sz="1050">
                <a:solidFill>
                  <a:srgbClr val="1F3864"/>
                </a:solidFill>
                <a:latin typeface="Calibri"/>
              </a:rPr>
              <a:t>Navy line and band  </a:t>
            </a:r>
            <a:r>
              <a:rPr sz="950">
                <a:solidFill>
                  <a:srgbClr val="595959"/>
                </a:solidFill>
                <a:latin typeface="Calibri"/>
              </a:rPr>
              <a:t>— solid where US data exists: ~18% lower per doubling of the lot. Beyond 20 gal no US vendor publishes a price, so the market is a band from that trend up to the flattening in vendors' own ladders: one drum $1.37–2.06, SNP's lot $0.99–1.81, a 5-drum batch $0.85–1.70</a:t>
            </a:r>
          </a:p>
          <a:p>
            <a:pPr>
              <a:spcAft>
                <a:spcPts val="500"/>
              </a:spcAft>
            </a:pPr>
            <a:r>
              <a:rPr b="1" sz="1050">
                <a:solidFill>
                  <a:srgbClr val="1F3864"/>
                </a:solidFill>
                <a:latin typeface="Calibri"/>
              </a:rPr>
              <a:t>SNP Inc., green  </a:t>
            </a:r>
            <a:r>
              <a:rPr sz="950">
                <a:solidFill>
                  <a:srgbClr val="595959"/>
                </a:solidFill>
                <a:latin typeface="Calibri"/>
              </a:rPr>
              <a:t>— $0.75 at ~3 drums a week — at or below the bottom of the band, delivered and to our spec</a:t>
            </a:r>
          </a:p>
          <a:p>
            <a:pPr>
              <a:spcAft>
                <a:spcPts val="500"/>
              </a:spcAft>
            </a:pPr>
            <a:r>
              <a:rPr b="1" sz="1050">
                <a:solidFill>
                  <a:srgbClr val="1F3864"/>
                </a:solidFill>
                <a:latin typeface="Calibri"/>
              </a:rPr>
              <a:t>Green dashed  </a:t>
            </a:r>
            <a:r>
              <a:rPr sz="950">
                <a:solidFill>
                  <a:srgbClr val="595959"/>
                </a:solidFill>
                <a:latin typeface="Calibri"/>
              </a:rPr>
              <a:t>— the same slope through SNP's price: if we ever bought smaller lots from SNP, expect ~$1.04 at one drum, ~$2.08 at 5 gallons — a regression, not a quote</a:t>
            </a:r>
          </a:p>
          <a:p>
            <a:pPr>
              <a:spcAft>
                <a:spcPts val="500"/>
              </a:spcAft>
            </a:pPr>
            <a:r>
              <a:rPr b="1" sz="1050">
                <a:solidFill>
                  <a:srgbClr val="1F3864"/>
                </a:solidFill>
                <a:latin typeface="Calibri"/>
              </a:rPr>
              <a:t>PCI, ambers  </a:t>
            </a:r>
            <a:r>
              <a:rPr sz="950">
                <a:solidFill>
                  <a:srgbClr val="595959"/>
                </a:solidFill>
                <a:latin typeface="Calibri"/>
              </a:rPr>
              <a:t>— $3.50 at a 5-drum batch, $6.00 below it — above the band: batch-fixed cost and drum freight priced in</a:t>
            </a:r>
          </a:p>
          <a:p>
            <a:pPr>
              <a:spcAft>
                <a:spcPts val="500"/>
              </a:spcAft>
            </a:pPr>
            <a:r>
              <a:rPr b="1" sz="1050">
                <a:solidFill>
                  <a:srgbClr val="1F3864"/>
                </a:solidFill>
                <a:latin typeface="Calibri"/>
              </a:rPr>
              <a:t>CJB, red · APV, hollow  </a:t>
            </a:r>
            <a:r>
              <a:rPr sz="950">
                <a:solidFill>
                  <a:srgbClr val="595959"/>
                </a:solidFill>
                <a:latin typeface="Calibri"/>
              </a:rPr>
              <a:t>— $8.42 at a 40-gal minimum, off the chart's logic; APV ≥$3 is an estimate from our call, never confirmed</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Price follows lot size everywhere in this market — except at SNP Inc., who sells us drum lots at a bulk price. Every other supplier charges what its lot size implies, or more.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~15–20 serious candidates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right kind of company,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calls $1.50/lb too cheap — likely ≥$3/lb, unconfirmed. Demand: ~3 drums/week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Right kind of company; reached out to us, then said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85216" y="3246120"/>
            <a:ext cx="2139696"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 y="3264408"/>
            <a:ext cx="777240" cy="832103"/>
          </a:xfrm>
          <a:prstGeom prst="rect">
            <a:avLst/>
          </a:prstGeom>
          <a:noFill/>
        </p:spPr>
        <p:txBody>
          <a:bodyPr wrap="square" anchor="ctr">
            <a:spAutoFit/>
          </a:bodyPr>
          <a:lstStyle/>
          <a:p>
            <a:pPr algn="ctr">
              <a:spcAft>
                <a:spcPts val="0"/>
              </a:spcAft>
            </a:pPr>
            <a:r>
              <a:rPr sz="1800" b="1" i="0">
                <a:solidFill>
                  <a:srgbClr val="1F3864"/>
                </a:solidFill>
                <a:latin typeface="Calibri"/>
              </a:rPr>
              <a:t>~15–20</a:t>
            </a:r>
          </a:p>
        </p:txBody>
      </p:sp>
      <p:sp>
        <p:nvSpPr>
          <p:cNvPr id="35" name="TextBox 34"/>
          <p:cNvSpPr txBox="1"/>
          <p:nvPr/>
        </p:nvSpPr>
        <p:spPr>
          <a:xfrm>
            <a:off x="1371600" y="3264408"/>
            <a:ext cx="1298448" cy="832103"/>
          </a:xfrm>
          <a:prstGeom prst="rect">
            <a:avLst/>
          </a:prstGeom>
          <a:noFill/>
        </p:spPr>
        <p:txBody>
          <a:bodyPr wrap="square" anchor="ctr">
            <a:spAutoFit/>
          </a:bodyPr>
          <a:lstStyle/>
          <a:p>
            <a:pPr algn="l">
              <a:spcAft>
                <a:spcPts val="0"/>
              </a:spcAft>
            </a:pPr>
            <a:r>
              <a:rPr sz="900" b="0" i="0">
                <a:solidFill>
                  <a:srgbClr val="1F3864"/>
                </a:solidFill>
                <a:latin typeface="Calibri"/>
              </a:rPr>
              <a:t>serious candidates screened</a:t>
            </a:r>
          </a:p>
        </p:txBody>
      </p:sp>
      <p:sp>
        <p:nvSpPr>
          <p:cNvPr id="36" name="Rectangle 35"/>
          <p:cNvSpPr/>
          <p:nvPr/>
        </p:nvSpPr>
        <p:spPr>
          <a:xfrm>
            <a:off x="2798064" y="3282696"/>
            <a:ext cx="2139696" cy="79552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34640" y="3300984"/>
            <a:ext cx="777240" cy="758952"/>
          </a:xfrm>
          <a:prstGeom prst="rect">
            <a:avLst/>
          </a:prstGeom>
          <a:noFill/>
        </p:spPr>
        <p:txBody>
          <a:bodyPr wrap="square" anchor="ctr">
            <a:spAutoFit/>
          </a:bodyPr>
          <a:lstStyle/>
          <a:p>
            <a:pPr algn="ctr">
              <a:spcAft>
                <a:spcPts val="0"/>
              </a:spcAft>
            </a:pPr>
            <a:r>
              <a:rPr sz="1800" b="1" i="0">
                <a:solidFill>
                  <a:srgbClr val="1F3864"/>
                </a:solidFill>
                <a:latin typeface="Calibri"/>
              </a:rPr>
              <a:t>7</a:t>
            </a:r>
          </a:p>
        </p:txBody>
      </p:sp>
      <p:sp>
        <p:nvSpPr>
          <p:cNvPr id="38" name="TextBox 37"/>
          <p:cNvSpPr txBox="1"/>
          <p:nvPr/>
        </p:nvSpPr>
        <p:spPr>
          <a:xfrm>
            <a:off x="3584448" y="3300984"/>
            <a:ext cx="1298448" cy="758952"/>
          </a:xfrm>
          <a:prstGeom prst="rect">
            <a:avLst/>
          </a:prstGeom>
          <a:noFill/>
        </p:spPr>
        <p:txBody>
          <a:bodyPr wrap="square" anchor="ctr">
            <a:spAutoFit/>
          </a:bodyPr>
          <a:lstStyle/>
          <a:p>
            <a:pPr algn="l">
              <a:spcAft>
                <a:spcPts val="0"/>
              </a:spcAft>
            </a:pPr>
            <a:r>
              <a:rPr sz="900" b="0" i="0">
                <a:solidFill>
                  <a:srgbClr val="1F3864"/>
                </a:solidFill>
                <a:latin typeface="Calibri"/>
              </a:rPr>
              <a:t>engaged in tests or calls</a:t>
            </a:r>
          </a:p>
        </p:txBody>
      </p:sp>
      <p:sp>
        <p:nvSpPr>
          <p:cNvPr id="39" name="Rectangle 38"/>
          <p:cNvSpPr/>
          <p:nvPr/>
        </p:nvSpPr>
        <p:spPr>
          <a:xfrm>
            <a:off x="5010912" y="3319272"/>
            <a:ext cx="2139696" cy="722375"/>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47488" y="3337560"/>
            <a:ext cx="777240" cy="685799"/>
          </a:xfrm>
          <a:prstGeom prst="rect">
            <a:avLst/>
          </a:prstGeom>
          <a:noFill/>
        </p:spPr>
        <p:txBody>
          <a:bodyPr wrap="square" anchor="ctr">
            <a:spAutoFit/>
          </a:bodyPr>
          <a:lstStyle/>
          <a:p>
            <a:pPr algn="ctr">
              <a:spcAft>
                <a:spcPts val="0"/>
              </a:spcAft>
            </a:pPr>
            <a:r>
              <a:rPr sz="1800" b="1" i="0">
                <a:solidFill>
                  <a:srgbClr val="B23A2E"/>
                </a:solidFill>
                <a:latin typeface="Calibri"/>
              </a:rPr>
              <a:t>4</a:t>
            </a:r>
          </a:p>
        </p:txBody>
      </p:sp>
      <p:sp>
        <p:nvSpPr>
          <p:cNvPr id="41" name="TextBox 40"/>
          <p:cNvSpPr txBox="1"/>
          <p:nvPr/>
        </p:nvSpPr>
        <p:spPr>
          <a:xfrm>
            <a:off x="5797296" y="3337560"/>
            <a:ext cx="1298448" cy="685799"/>
          </a:xfrm>
          <a:prstGeom prst="rect">
            <a:avLst/>
          </a:prstGeom>
          <a:noFill/>
        </p:spPr>
        <p:txBody>
          <a:bodyPr wrap="square" anchor="ctr">
            <a:spAutoFit/>
          </a:bodyPr>
          <a:lstStyle/>
          <a:p>
            <a:pPr algn="l">
              <a:spcAft>
                <a:spcPts val="0"/>
              </a:spcAft>
            </a:pPr>
            <a:r>
              <a:rPr sz="900" b="0" i="0">
                <a:solidFill>
                  <a:srgbClr val="1F3864"/>
                </a:solidFill>
                <a:latin typeface="Calibri"/>
              </a:rPr>
              <a:t>could not make it — heat or viscosity (Brenntag, ArroChem, ILC Dover, Columbus)</a:t>
            </a:r>
          </a:p>
        </p:txBody>
      </p:sp>
      <p:sp>
        <p:nvSpPr>
          <p:cNvPr id="42" name="Rectangle 41"/>
          <p:cNvSpPr/>
          <p:nvPr/>
        </p:nvSpPr>
        <p:spPr>
          <a:xfrm>
            <a:off x="7223759" y="3355848"/>
            <a:ext cx="2139696" cy="649224"/>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60336" y="3374136"/>
            <a:ext cx="777240" cy="612647"/>
          </a:xfrm>
          <a:prstGeom prst="rect">
            <a:avLst/>
          </a:prstGeom>
          <a:noFill/>
        </p:spPr>
        <p:txBody>
          <a:bodyPr wrap="square" anchor="ctr">
            <a:spAutoFit/>
          </a:bodyPr>
          <a:lstStyle/>
          <a:p>
            <a:pPr algn="ctr">
              <a:spcAft>
                <a:spcPts val="0"/>
              </a:spcAft>
            </a:pPr>
            <a:r>
              <a:rPr sz="1800" b="1" i="0">
                <a:solidFill>
                  <a:srgbClr val="9C5A0C"/>
                </a:solidFill>
                <a:latin typeface="Calibri"/>
              </a:rPr>
              <a:t>2</a:t>
            </a:r>
          </a:p>
        </p:txBody>
      </p:sp>
      <p:sp>
        <p:nvSpPr>
          <p:cNvPr id="44" name="TextBox 43"/>
          <p:cNvSpPr txBox="1"/>
          <p:nvPr/>
        </p:nvSpPr>
        <p:spPr>
          <a:xfrm>
            <a:off x="8010144" y="3374136"/>
            <a:ext cx="1298448" cy="612647"/>
          </a:xfrm>
          <a:prstGeom prst="rect">
            <a:avLst/>
          </a:prstGeom>
          <a:noFill/>
        </p:spPr>
        <p:txBody>
          <a:bodyPr wrap="square" anchor="ctr">
            <a:spAutoFit/>
          </a:bodyPr>
          <a:lstStyle/>
          <a:p>
            <a:pPr algn="l">
              <a:spcAft>
                <a:spcPts val="0"/>
              </a:spcAft>
            </a:pPr>
            <a:r>
              <a:rPr sz="900" b="0" i="0">
                <a:solidFill>
                  <a:srgbClr val="1F3864"/>
                </a:solidFill>
                <a:latin typeface="Calibri"/>
              </a:rPr>
              <a:t>could, but priced out or never quoted (CJB $8.42; APV ≥$3, est.)</a:t>
            </a:r>
          </a:p>
        </p:txBody>
      </p:sp>
      <p:sp>
        <p:nvSpPr>
          <p:cNvPr id="45" name="Rectangle 44"/>
          <p:cNvSpPr/>
          <p:nvPr/>
        </p:nvSpPr>
        <p:spPr>
          <a:xfrm>
            <a:off x="9436607" y="3392424"/>
            <a:ext cx="2139696" cy="576071"/>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73184" y="3410712"/>
            <a:ext cx="777240" cy="539495"/>
          </a:xfrm>
          <a:prstGeom prst="rect">
            <a:avLst/>
          </a:prstGeom>
          <a:noFill/>
        </p:spPr>
        <p:txBody>
          <a:bodyPr wrap="square" anchor="ctr">
            <a:spAutoFit/>
          </a:bodyPr>
          <a:lstStyle/>
          <a:p>
            <a:pPr algn="ctr">
              <a:spcAft>
                <a:spcPts val="0"/>
              </a:spcAft>
            </a:pPr>
            <a:r>
              <a:rPr sz="1800" b="1" i="0">
                <a:solidFill>
                  <a:srgbClr val="2E7D46"/>
                </a:solidFill>
                <a:latin typeface="Calibri"/>
              </a:rPr>
              <a:t>1</a:t>
            </a:r>
          </a:p>
        </p:txBody>
      </p:sp>
      <p:sp>
        <p:nvSpPr>
          <p:cNvPr id="47" name="TextBox 46"/>
          <p:cNvSpPr txBox="1"/>
          <p:nvPr/>
        </p:nvSpPr>
        <p:spPr>
          <a:xfrm>
            <a:off x="10222992" y="3410712"/>
            <a:ext cx="1298448" cy="539495"/>
          </a:xfrm>
          <a:prstGeom prst="rect">
            <a:avLst/>
          </a:prstGeom>
          <a:noFill/>
        </p:spPr>
        <p:txBody>
          <a:bodyPr wrap="square" anchor="ctr">
            <a:spAutoFit/>
          </a:bodyPr>
          <a:lstStyle/>
          <a:p>
            <a:pPr algn="l">
              <a:spcAft>
                <a:spcPts val="0"/>
              </a:spcAft>
            </a:pPr>
            <a:r>
              <a:rPr sz="900" b="1" i="0">
                <a:solidFill>
                  <a:srgbClr val="1F3864"/>
                </a:solidFill>
                <a:latin typeface="Calibri"/>
              </a:rPr>
              <a:t>can make it: PCI Manufacturing, $3.50/lb</a:t>
            </a:r>
          </a:p>
        </p:txBody>
      </p:sp>
      <p:sp>
        <p:nvSpPr>
          <p:cNvPr id="48" name="Rectangle 47"/>
          <p:cNvSpPr/>
          <p:nvPr/>
        </p:nvSpPr>
        <p:spPr>
          <a:xfrm>
            <a:off x="548640" y="4251960"/>
            <a:ext cx="3611880" cy="160020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1520" y="4370832"/>
            <a:ext cx="3246120" cy="1362456"/>
          </a:xfrm>
          <a:prstGeom prst="rect">
            <a:avLst/>
          </a:prstGeom>
          <a:noFill/>
        </p:spPr>
        <p:txBody>
          <a:bodyPr wrap="square">
            <a:spAutoFit/>
          </a:bodyPr>
          <a:lstStyle/>
          <a:p>
            <a:pPr algn="l">
              <a:spcAft>
                <a:spcPts val="600"/>
              </a:spcAft>
            </a:pPr>
            <a:r>
              <a:rPr sz="1350" b="1" i="0">
                <a:solidFill>
                  <a:srgbClr val="1F3864"/>
                </a:solidFill>
                <a:latin typeface="Calibri"/>
              </a:rPr>
              <a:t>Capability is rare</a:t>
            </a:r>
          </a:p>
          <a:p>
            <a:pPr algn="l">
              <a:spcAft>
                <a:spcPts val="500"/>
              </a:spcAft>
            </a:pPr>
            <a:r>
              <a:rPr sz="1000" b="0" i="0">
                <a:solidFill>
                  <a:srgbClr val="595959"/>
                </a:solidFill>
                <a:latin typeface="Calibri"/>
              </a:rPr>
              <a:t>•  The 90–95 °C dissolution cook at 55-gallon scale eliminated most of the market. One shop passed in ten months; the rest failed on heat, on viscosity, or on price</a:t>
            </a:r>
          </a:p>
        </p:txBody>
      </p:sp>
      <p:sp>
        <p:nvSpPr>
          <p:cNvPr id="50" name="Rectangle 49"/>
          <p:cNvSpPr/>
          <p:nvPr/>
        </p:nvSpPr>
        <p:spPr>
          <a:xfrm>
            <a:off x="4297680" y="4251960"/>
            <a:ext cx="3611880" cy="160020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480560" y="4370832"/>
            <a:ext cx="3246120" cy="1362456"/>
          </a:xfrm>
          <a:prstGeom prst="rect">
            <a:avLst/>
          </a:prstGeom>
          <a:noFill/>
        </p:spPr>
        <p:txBody>
          <a:bodyPr wrap="square">
            <a:spAutoFit/>
          </a:bodyPr>
          <a:lstStyle/>
          <a:p>
            <a:pPr algn="l">
              <a:spcAft>
                <a:spcPts val="600"/>
              </a:spcAft>
            </a:pPr>
            <a:r>
              <a:rPr sz="1350" b="1" i="0">
                <a:solidFill>
                  <a:srgbClr val="9C5A0C"/>
                </a:solidFill>
                <a:latin typeface="Calibri"/>
              </a:rPr>
              <a:t>Capability is expensive</a:t>
            </a:r>
          </a:p>
          <a:p>
            <a:pPr algn="l">
              <a:spcAft>
                <a:spcPts val="500"/>
              </a:spcAft>
            </a:pPr>
            <a:r>
              <a:rPr sz="1000" b="0" i="0">
                <a:solidFill>
                  <a:srgbClr val="595959"/>
                </a:solidFill>
                <a:latin typeface="Calibri"/>
              </a:rPr>
              <a:t>•  Everyone who can do it charges 4× to 11× SNP: PCI $3.50, APV ≥$3 (est.), CJB $8.42 — against $0.75. Small batches, drum freight and risk are priced in</a:t>
            </a:r>
          </a:p>
        </p:txBody>
      </p:sp>
      <p:sp>
        <p:nvSpPr>
          <p:cNvPr id="52" name="Rectangle 51"/>
          <p:cNvSpPr/>
          <p:nvPr/>
        </p:nvSpPr>
        <p:spPr>
          <a:xfrm>
            <a:off x="8046720" y="4251960"/>
            <a:ext cx="3566160" cy="16002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29600" y="4370832"/>
            <a:ext cx="3200400" cy="1362456"/>
          </a:xfrm>
          <a:prstGeom prst="rect">
            <a:avLst/>
          </a:prstGeom>
          <a:noFill/>
        </p:spPr>
        <p:txBody>
          <a:bodyPr wrap="square">
            <a:spAutoFit/>
          </a:bodyPr>
          <a:lstStyle/>
          <a:p>
            <a:pPr algn="l">
              <a:spcAft>
                <a:spcPts val="600"/>
              </a:spcAft>
            </a:pPr>
            <a:r>
              <a:rPr sz="1350" b="1" i="0">
                <a:solidFill>
                  <a:srgbClr val="2E7D46"/>
                </a:solidFill>
                <a:latin typeface="Calibri"/>
              </a:rPr>
              <a:t>SNP Inc. is an outlier, not a benchmark</a:t>
            </a:r>
          </a:p>
          <a:p>
            <a:pPr algn="l">
              <a:spcAft>
                <a:spcPts val="500"/>
              </a:spcAft>
            </a:pPr>
            <a:r>
              <a:rPr sz="1000" b="0" i="0">
                <a:solidFill>
                  <a:srgbClr val="595959"/>
                </a:solidFill>
                <a:latin typeface="Calibri"/>
              </a:rPr>
              <a:t>•  A specialist, close by, right-sized tanks, PVA as its core line, and a price below the whole US market. We cannot replicate that price; we can only protect it</a:t>
            </a:r>
          </a:p>
        </p:txBody>
      </p:sp>
      <p:sp>
        <p:nvSpPr>
          <p:cNvPr id="54" name="Rectangle 53"/>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seven suppliers engaged, one shop that can make it — at 4.7× SNP's price. SNP Inc. is an outlier we cannot replicate, only protect.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2834640" y="987552"/>
            <a:ext cx="5394960" cy="274320"/>
          </a:xfrm>
          <a:prstGeom prst="rect">
            <a:avLst/>
          </a:prstGeom>
          <a:noFill/>
        </p:spPr>
        <p:txBody>
          <a:bodyPr wrap="square">
            <a:spAutoFit/>
          </a:bodyPr>
          <a:lstStyle/>
          <a:p>
            <a:pPr algn="l">
              <a:spcAft>
                <a:spcPts val="0"/>
              </a:spcAft>
            </a:pPr>
            <a:r>
              <a:rPr sz="90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24028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2834640" y="149047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83464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81635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0742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5342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513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620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7220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5391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4498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098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269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6376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976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9147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8254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2854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1025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0132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732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2903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010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6610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4781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63888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98488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6659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15766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503664"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8537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67644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125272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100 + PCI 50 (33%)</a:t>
            </a:r>
          </a:p>
          <a:p>
            <a:pPr>
              <a:spcAft>
                <a:spcPts val="200"/>
              </a:spcAft>
            </a:pPr>
            <a:r>
              <a:rPr sz="850">
                <a:solidFill>
                  <a:srgbClr val="595959"/>
                </a:solidFill>
                <a:latin typeface="Calibri"/>
              </a:rPr>
              <a:t>Money a year  </a:t>
            </a:r>
            <a:r>
              <a:rPr sz="1100" b="1">
                <a:solidFill>
                  <a:srgbClr val="1F3864"/>
                </a:solidFill>
                <a:latin typeface="Calibri"/>
              </a:rPr>
              <a:t>$112.6k = SNP $33.8k + PCI $78.8k</a:t>
            </a:r>
          </a:p>
          <a:p>
            <a:pPr>
              <a:spcAft>
                <a:spcPts val="200"/>
              </a:spcAft>
            </a:pPr>
            <a:r>
              <a:rPr sz="850">
                <a:solidFill>
                  <a:srgbClr val="595959"/>
                </a:solidFill>
                <a:latin typeface="Calibri"/>
              </a:rPr>
              <a:t>SNP Inc. sees  </a:t>
            </a:r>
            <a:r>
              <a:rPr sz="900" b="0">
                <a:solidFill>
                  <a:srgbClr val="1F3864"/>
                </a:solidFill>
                <a:latin typeface="Calibri"/>
              </a:rPr>
              <a:t>10 pauses of ~12 days, or level with a rolling stock</a:t>
            </a:r>
          </a:p>
          <a:p>
            <a:pPr>
              <a:spcAft>
                <a:spcPts val="200"/>
              </a:spcAft>
            </a:pPr>
            <a:r>
              <a:rPr sz="850">
                <a:solidFill>
                  <a:srgbClr val="595959"/>
                </a:solidFill>
                <a:latin typeface="Calibri"/>
              </a:rPr>
              <a:t>If SNP fails, restart in  </a:t>
            </a:r>
            <a:r>
              <a:rPr sz="900" b="0">
                <a:solidFill>
                  <a:srgbClr val="1F3864"/>
                </a:solidFill>
                <a:latin typeface="Calibri"/>
              </a:rPr>
              <a:t>weeks, if PCI's ramp is confirmed in writing</a:t>
            </a:r>
          </a:p>
        </p:txBody>
      </p:sp>
      <p:sp>
        <p:nvSpPr>
          <p:cNvPr id="39" name="TextBox 38"/>
          <p:cNvSpPr txBox="1"/>
          <p:nvPr/>
        </p:nvSpPr>
        <p:spPr>
          <a:xfrm>
            <a:off x="548640" y="2788920"/>
            <a:ext cx="224028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1–3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2834640" y="295351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905615"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887327"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07839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547777"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52948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72056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189939"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17165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362723"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29600" y="271576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145 / 140 / 135 + PCI 5 / 10 / 15</a:t>
            </a:r>
          </a:p>
          <a:p>
            <a:pPr>
              <a:spcAft>
                <a:spcPts val="200"/>
              </a:spcAft>
            </a:pPr>
            <a:r>
              <a:rPr sz="850">
                <a:solidFill>
                  <a:srgbClr val="595959"/>
                </a:solidFill>
                <a:latin typeface="Calibri"/>
              </a:rPr>
              <a:t>Money a year  </a:t>
            </a:r>
            <a:r>
              <a:rPr sz="1100" b="1">
                <a:solidFill>
                  <a:srgbClr val="1F3864"/>
                </a:solidFill>
                <a:latin typeface="Calibri"/>
              </a:rPr>
              <a:t>$56.9k / $63.1k / $69.3k (PCI $7.9k / $15.8k / $23.6k)</a:t>
            </a:r>
          </a:p>
          <a:p>
            <a:pPr>
              <a:spcAft>
                <a:spcPts val="200"/>
              </a:spcAft>
            </a:pPr>
            <a:r>
              <a:rPr sz="850">
                <a:solidFill>
                  <a:srgbClr val="595959"/>
                </a:solidFill>
                <a:latin typeface="Calibri"/>
              </a:rPr>
              <a:t>SNP Inc. sees  </a:t>
            </a:r>
            <a:r>
              <a:rPr sz="900" b="0">
                <a:solidFill>
                  <a:srgbClr val="1F3864"/>
                </a:solidFill>
                <a:latin typeface="Calibri"/>
              </a:rPr>
              <a:t>1–3 pre-announced pauses, or none</a:t>
            </a:r>
          </a:p>
          <a:p>
            <a:pPr>
              <a:spcAft>
                <a:spcPts val="200"/>
              </a:spcAft>
            </a:pPr>
            <a:r>
              <a:rPr sz="850">
                <a:solidFill>
                  <a:srgbClr val="595959"/>
                </a:solidFill>
                <a:latin typeface="Calibri"/>
              </a:rPr>
              <a:t>If SNP fails, restart in  </a:t>
            </a:r>
            <a:r>
              <a:rPr sz="900" b="0">
                <a:solidFill>
                  <a:srgbClr val="1F3864"/>
                </a:solidFill>
                <a:latin typeface="Calibri"/>
              </a:rPr>
              <a:t>weeks to a few months</a:t>
            </a:r>
          </a:p>
        </p:txBody>
      </p:sp>
      <p:sp>
        <p:nvSpPr>
          <p:cNvPr id="51" name="TextBox 50"/>
          <p:cNvSpPr txBox="1"/>
          <p:nvPr/>
        </p:nvSpPr>
        <p:spPr>
          <a:xfrm>
            <a:off x="548640" y="4251960"/>
            <a:ext cx="224028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52" name="Rectangle 51"/>
          <p:cNvSpPr/>
          <p:nvPr/>
        </p:nvSpPr>
        <p:spPr>
          <a:xfrm>
            <a:off x="2834640" y="441655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5603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4" name="TextBox 53"/>
          <p:cNvSpPr txBox="1"/>
          <p:nvPr/>
        </p:nvSpPr>
        <p:spPr>
          <a:xfrm>
            <a:off x="385977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5" name="TextBox 54"/>
          <p:cNvSpPr txBox="1"/>
          <p:nvPr/>
        </p:nvSpPr>
        <p:spPr>
          <a:xfrm>
            <a:off x="51592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6" name="TextBox 55"/>
          <p:cNvSpPr txBox="1"/>
          <p:nvPr/>
        </p:nvSpPr>
        <p:spPr>
          <a:xfrm>
            <a:off x="647294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7" name="TextBox 56"/>
          <p:cNvSpPr txBox="1"/>
          <p:nvPr/>
        </p:nvSpPr>
        <p:spPr>
          <a:xfrm>
            <a:off x="77724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8" name="TextBox 57"/>
          <p:cNvSpPr txBox="1"/>
          <p:nvPr/>
        </p:nvSpPr>
        <p:spPr>
          <a:xfrm>
            <a:off x="8229600" y="417880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150</a:t>
            </a:r>
          </a:p>
          <a:p>
            <a:pPr>
              <a:spcAft>
                <a:spcPts val="200"/>
              </a:spcAft>
            </a:pPr>
            <a:r>
              <a:rPr sz="850">
                <a:solidFill>
                  <a:srgbClr val="595959"/>
                </a:solidFill>
                <a:latin typeface="Calibri"/>
              </a:rPr>
              <a:t>Money a year  </a:t>
            </a:r>
            <a:r>
              <a:rPr sz="1100" b="1">
                <a:solidFill>
                  <a:srgbClr val="1F3864"/>
                </a:solidFill>
                <a:latin typeface="Calibri"/>
              </a:rPr>
              <a:t>$50.7k = SNP $50.7k — what we pay today</a:t>
            </a:r>
          </a:p>
          <a:p>
            <a:pPr>
              <a:spcAft>
                <a:spcPts val="200"/>
              </a:spcAft>
            </a:pPr>
            <a:r>
              <a:rPr sz="850">
                <a:solidFill>
                  <a:srgbClr val="595959"/>
                </a:solidFill>
                <a:latin typeface="Calibri"/>
              </a:rPr>
              <a:t>SNP Inc. sees  </a:t>
            </a:r>
            <a:r>
              <a:rPr sz="900" b="0">
                <a:solidFill>
                  <a:srgbClr val="1F3864"/>
                </a:solidFill>
                <a:latin typeface="Calibri"/>
              </a:rPr>
              <a:t>a strengthened partner</a:t>
            </a:r>
          </a:p>
          <a:p>
            <a:pPr>
              <a:spcAft>
                <a:spcPts val="200"/>
              </a:spcAft>
            </a:pPr>
            <a:r>
              <a:rPr sz="850">
                <a:solidFill>
                  <a:srgbClr val="595959"/>
                </a:solidFill>
                <a:latin typeface="Calibri"/>
              </a:rPr>
              <a:t>If SNP fails, restart in  </a:t>
            </a:r>
            <a:r>
              <a:rPr sz="900" b="0">
                <a:solidFill>
                  <a:srgbClr val="1F3864"/>
                </a:solidFill>
                <a:latin typeface="Calibri"/>
              </a:rPr>
              <a:t>~3–6 months; decays after ~12 months idle</a:t>
            </a:r>
          </a:p>
        </p:txBody>
      </p:sp>
      <p:sp>
        <p:nvSpPr>
          <p:cNvPr id="59" name="TextBox 58"/>
          <p:cNvSpPr txBox="1"/>
          <p:nvPr/>
        </p:nvSpPr>
        <p:spPr>
          <a:xfrm>
            <a:off x="548640" y="5486400"/>
            <a:ext cx="11064240" cy="457200"/>
          </a:xfrm>
          <a:prstGeom prst="rect">
            <a:avLst/>
          </a:prstGeom>
          <a:noFill/>
        </p:spPr>
        <p:txBody>
          <a:bodyPr wrap="square">
            <a:spAutoFit/>
          </a:bodyPr>
          <a:lstStyle/>
          <a:p>
            <a:pPr algn="l">
              <a:spcAft>
                <a:spcPts val="0"/>
              </a:spcAft>
            </a:pPr>
            <a:r>
              <a:rPr sz="850" b="0" i="0">
                <a:solidFill>
                  <a:srgbClr val="595959"/>
                </a:solidFill>
                <a:latin typeface="Calibri"/>
              </a:rPr>
              <a:t>Demand: 150 drums a year (1 drum = 450 lb of PVA), ~3 a week. A 5-drum PCI batch is used in one ~12-day block (drums land ~4 days old, expire on day 18). Purchases at today's volume: SNP $337.50 a drum, PCI $1,575 a drum; all grow ~10%/yr. Internal hours to finish PCI's qualification (~$15–40k once) are not included.</a:t>
            </a:r>
          </a:p>
        </p:txBody>
      </p:sp>
      <p:sp>
        <p:nvSpPr>
          <p:cNvPr id="60" name="Rectangle 59"/>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$6–19k a year on top of today's $50.7k, with one to three pre-announced pauses for SNP Inc. — Option 1 more than doubles the bill and changes SNP's year.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PVA purchases in a year: SNP Inc. at $0.75/lb plus PCI at $3.50/lb. Today is $50.7k (grey line). Internal hours to finish PCI's qualification are not included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$50.7k, what we pay today;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$56.9–69.3k (1–3 batches); a practiced supplier restarts in weeks to a few months — $43–56k a year less than Option 1</a:t>
            </a:r>
          </a:p>
          <a:p>
            <a:pPr>
              <a:spcAft>
                <a:spcPts val="600"/>
              </a:spcAft>
            </a:pPr>
            <a:r>
              <a:rPr b="1" sz="1050">
                <a:solidFill>
                  <a:srgbClr val="1F3864"/>
                </a:solidFill>
                <a:latin typeface="Calibri"/>
              </a:rPr>
              <a:t>Option 1, amber  </a:t>
            </a:r>
            <a:r>
              <a:rPr sz="1000">
                <a:solidFill>
                  <a:srgbClr val="595959"/>
                </a:solidFill>
                <a:latin typeface="Calibri"/>
              </a:rPr>
              <a:t>— $112.6k; most protected — weeks, if PCI's ramp is confirmed in writing — and the same every year, growing with volume</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1–3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three instruments, weighted</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640080"/>
          </a:xfrm>
          <a:prstGeom prst="rect">
            <a:avLst/>
          </a:prstGeom>
          <a:noFill/>
        </p:spPr>
        <p:txBody>
          <a:bodyPr wrap="square">
            <a:spAutoFit/>
          </a:bodyPr>
          <a:lstStyle/>
          <a:p>
            <a:pPr algn="l">
              <a:spcAft>
                <a:spcPts val="0"/>
              </a:spcAft>
            </a:pPr>
            <a:r>
              <a:rPr sz="1250" b="1" i="0">
                <a:solidFill>
                  <a:srgbClr val="1F3864"/>
                </a:solidFill>
                <a:latin typeface="Calibri"/>
              </a:rPr>
              <a:t>A supplier stays ready without steady volume if it gets a real order now and then, signed terms, and payment for its work. Routine in medical devices, pharma and aerospace; what spoils the relationship is not the 'no' — it is silence and unpaid work.</a:t>
            </a:r>
          </a:p>
        </p:txBody>
      </p:sp>
      <p:sp>
        <p:nvSpPr>
          <p:cNvPr id="6" name="Rectangle 5"/>
          <p:cNvSpPr/>
          <p:nvPr/>
        </p:nvSpPr>
        <p:spPr>
          <a:xfrm>
            <a:off x="548640" y="1828800"/>
            <a:ext cx="41148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28800"/>
            <a:ext cx="41148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1</a:t>
            </a:r>
          </a:p>
        </p:txBody>
      </p:sp>
      <p:sp>
        <p:nvSpPr>
          <p:cNvPr id="9" name="TextBox 8"/>
          <p:cNvSpPr txBox="1"/>
          <p:nvPr/>
        </p:nvSpPr>
        <p:spPr>
          <a:xfrm>
            <a:off x="1188719" y="2011680"/>
            <a:ext cx="3337560" cy="320040"/>
          </a:xfrm>
          <a:prstGeom prst="rect">
            <a:avLst/>
          </a:prstGeom>
          <a:noFill/>
        </p:spPr>
        <p:txBody>
          <a:bodyPr wrap="square">
            <a:spAutoFit/>
          </a:bodyPr>
          <a:lstStyle/>
          <a:p>
            <a:pPr algn="l">
              <a:spcAft>
                <a:spcPts val="0"/>
              </a:spcAft>
            </a:pPr>
            <a:r>
              <a:rPr sz="950" b="1" i="0">
                <a:solidFill>
                  <a:srgbClr val="2F6DB5"/>
                </a:solidFill>
                <a:latin typeface="Calibri"/>
              </a:rPr>
              <a:t>ESSENTIAL — this is Option 3</a:t>
            </a:r>
          </a:p>
        </p:txBody>
      </p:sp>
      <p:sp>
        <p:nvSpPr>
          <p:cNvPr id="10" name="TextBox 9"/>
          <p:cNvSpPr txBox="1"/>
          <p:nvPr/>
        </p:nvSpPr>
        <p:spPr>
          <a:xfrm>
            <a:off x="1188719" y="2286000"/>
            <a:ext cx="3337560" cy="640080"/>
          </a:xfrm>
          <a:prstGeom prst="rect">
            <a:avLst/>
          </a:prstGeom>
          <a:noFill/>
        </p:spPr>
        <p:txBody>
          <a:bodyPr wrap="square">
            <a:spAutoFit/>
          </a:bodyPr>
          <a:lstStyle/>
          <a:p>
            <a:pPr algn="l">
              <a:spcAft>
                <a:spcPts val="0"/>
              </a:spcAft>
            </a:pPr>
            <a:r>
              <a:rPr sz="1400" b="1" i="0">
                <a:solidFill>
                  <a:srgbClr val="1F3864"/>
                </a:solidFill>
                <a:latin typeface="Calibri"/>
              </a:rPr>
              <a:t>Place a real order</a:t>
            </a:r>
          </a:p>
        </p:txBody>
      </p:sp>
      <p:sp>
        <p:nvSpPr>
          <p:cNvPr id="11" name="TextBox 10"/>
          <p:cNvSpPr txBox="1"/>
          <p:nvPr/>
        </p:nvSpPr>
        <p:spPr>
          <a:xfrm>
            <a:off x="685800" y="2971800"/>
            <a:ext cx="3840480" cy="1371600"/>
          </a:xfrm>
          <a:prstGeom prst="rect">
            <a:avLst/>
          </a:prstGeom>
          <a:noFill/>
        </p:spPr>
        <p:txBody>
          <a:bodyPr wrap="square">
            <a:spAutoFit/>
          </a:bodyPr>
          <a:lstStyle/>
          <a:p>
            <a:pPr algn="l">
              <a:spcAft>
                <a:spcPts val="0"/>
              </a:spcAft>
            </a:pPr>
            <a:r>
              <a:rPr sz="1050" b="0" i="0">
                <a:solidFill>
                  <a:srgbClr val="595959"/>
                </a:solidFill>
                <a:latin typeface="Calibri"/>
              </a:rPr>
              <a:t>One 5-drum batch, repeated 1–3 times a year. The only instrument that pays PCI with revenue and proves production scale; without it the other two are paperwork.</a:t>
            </a:r>
          </a:p>
        </p:txBody>
      </p:sp>
      <p:sp>
        <p:nvSpPr>
          <p:cNvPr id="12" name="TextBox 11"/>
          <p:cNvSpPr txBox="1"/>
          <p:nvPr/>
        </p:nvSpPr>
        <p:spPr>
          <a:xfrm>
            <a:off x="685800" y="4206240"/>
            <a:ext cx="3840480" cy="731520"/>
          </a:xfrm>
          <a:prstGeom prst="rect">
            <a:avLst/>
          </a:prstGeom>
          <a:noFill/>
        </p:spPr>
        <p:txBody>
          <a:bodyPr wrap="square">
            <a:spAutoFit/>
          </a:bodyPr>
          <a:lstStyle/>
          <a:p>
            <a:pPr algn="l">
              <a:spcAft>
                <a:spcPts val="300"/>
              </a:spcAft>
            </a:pPr>
            <a:r>
              <a:rPr sz="1000" b="1" i="0">
                <a:solidFill>
                  <a:srgbClr val="1F3864"/>
                </a:solidFill>
                <a:latin typeface="Calibri"/>
              </a:rPr>
              <a:t>Our cost: $7.9k per batch</a:t>
            </a:r>
          </a:p>
          <a:p>
            <a:pPr algn="l">
              <a:spcAft>
                <a:spcPts val="0"/>
              </a:spcAft>
            </a:pPr>
            <a:r>
              <a:rPr sz="1000" b="0" i="0">
                <a:solidFill>
                  <a:srgbClr val="595959"/>
                </a:solidFill>
                <a:latin typeface="Calibri"/>
              </a:rPr>
              <a:t>PCI gets: A customer, not an experiment</a:t>
            </a:r>
          </a:p>
        </p:txBody>
      </p:sp>
      <p:sp>
        <p:nvSpPr>
          <p:cNvPr id="13" name="Rectangle 12"/>
          <p:cNvSpPr/>
          <p:nvPr/>
        </p:nvSpPr>
        <p:spPr>
          <a:xfrm>
            <a:off x="4800600" y="1828800"/>
            <a:ext cx="36576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00600" y="1828800"/>
            <a:ext cx="36576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2</a:t>
            </a:r>
          </a:p>
        </p:txBody>
      </p:sp>
      <p:sp>
        <p:nvSpPr>
          <p:cNvPr id="16" name="TextBox 15"/>
          <p:cNvSpPr txBox="1"/>
          <p:nvPr/>
        </p:nvSpPr>
        <p:spPr>
          <a:xfrm>
            <a:off x="5440680" y="2011680"/>
            <a:ext cx="2880360" cy="320040"/>
          </a:xfrm>
          <a:prstGeom prst="rect">
            <a:avLst/>
          </a:prstGeom>
          <a:noFill/>
        </p:spPr>
        <p:txBody>
          <a:bodyPr wrap="square">
            <a:spAutoFit/>
          </a:bodyPr>
          <a:lstStyle/>
          <a:p>
            <a:pPr algn="l">
              <a:spcAft>
                <a:spcPts val="0"/>
              </a:spcAft>
            </a:pPr>
            <a:r>
              <a:rPr sz="950" b="1" i="0">
                <a:solidFill>
                  <a:srgbClr val="2F6DB5"/>
                </a:solidFill>
                <a:latin typeface="Calibri"/>
              </a:rPr>
              <a:t>ESSENTIAL — costs almost nothing</a:t>
            </a:r>
          </a:p>
        </p:txBody>
      </p:sp>
      <p:sp>
        <p:nvSpPr>
          <p:cNvPr id="17" name="TextBox 16"/>
          <p:cNvSpPr txBox="1"/>
          <p:nvPr/>
        </p:nvSpPr>
        <p:spPr>
          <a:xfrm>
            <a:off x="5440680" y="2286000"/>
            <a:ext cx="2880360" cy="640080"/>
          </a:xfrm>
          <a:prstGeom prst="rect">
            <a:avLst/>
          </a:prstGeom>
          <a:noFill/>
        </p:spPr>
        <p:txBody>
          <a:bodyPr wrap="square">
            <a:spAutoFit/>
          </a:bodyPr>
          <a:lstStyle/>
          <a:p>
            <a:pPr algn="l">
              <a:spcAft>
                <a:spcPts val="0"/>
              </a:spcAft>
            </a:pPr>
            <a:r>
              <a:rPr sz="1400" b="1" i="0">
                <a:solidFill>
                  <a:srgbClr val="1F3864"/>
                </a:solidFill>
                <a:latin typeface="Calibri"/>
              </a:rPr>
              <a:t>Sign terms with no volume commitment</a:t>
            </a:r>
          </a:p>
        </p:txBody>
      </p:sp>
      <p:sp>
        <p:nvSpPr>
          <p:cNvPr id="18" name="TextBox 17"/>
          <p:cNvSpPr txBox="1"/>
          <p:nvPr/>
        </p:nvSpPr>
        <p:spPr>
          <a:xfrm>
            <a:off x="4937760" y="2971800"/>
            <a:ext cx="3383280" cy="1371600"/>
          </a:xfrm>
          <a:prstGeom prst="rect">
            <a:avLst/>
          </a:prstGeom>
          <a:noFill/>
        </p:spPr>
        <p:txBody>
          <a:bodyPr wrap="square">
            <a:spAutoFit/>
          </a:bodyPr>
          <a:lstStyle/>
          <a:p>
            <a:pPr algn="l">
              <a:spcAft>
                <a:spcPts val="0"/>
              </a:spcAft>
            </a:pPr>
            <a:r>
              <a:rPr sz="1050" b="0" i="0">
                <a:solidFill>
                  <a:srgbClr val="595959"/>
                </a:solidFill>
                <a:latin typeface="Calibri"/>
              </a:rPr>
              <a:t>$3.50/lb, spec, lead time, quality and change-notification terms, valid 12–24 months, zero minimum. Locks the economic core of Option 3 in writing: the batch price with no volume string.</a:t>
            </a:r>
          </a:p>
        </p:txBody>
      </p:sp>
      <p:sp>
        <p:nvSpPr>
          <p:cNvPr id="19" name="TextBox 18"/>
          <p:cNvSpPr txBox="1"/>
          <p:nvPr/>
        </p:nvSpPr>
        <p:spPr>
          <a:xfrm>
            <a:off x="4937760" y="4206240"/>
            <a:ext cx="3383280" cy="731520"/>
          </a:xfrm>
          <a:prstGeom prst="rect">
            <a:avLst/>
          </a:prstGeom>
          <a:noFill/>
        </p:spPr>
        <p:txBody>
          <a:bodyPr wrap="square">
            <a:spAutoFit/>
          </a:bodyPr>
          <a:lstStyle/>
          <a:p>
            <a:pPr algn="l">
              <a:spcAft>
                <a:spcPts val="300"/>
              </a:spcAft>
            </a:pPr>
            <a:r>
              <a:rPr sz="1000" b="1" i="0">
                <a:solidFill>
                  <a:srgbClr val="1F3864"/>
                </a:solidFill>
                <a:latin typeface="Calibri"/>
              </a:rPr>
              <a:t>Our cost: Legal time</a:t>
            </a:r>
          </a:p>
          <a:p>
            <a:pPr algn="l">
              <a:spcAft>
                <a:spcPts val="0"/>
              </a:spcAft>
            </a:pPr>
            <a:r>
              <a:rPr sz="1000" b="0" i="0">
                <a:solidFill>
                  <a:srgbClr val="595959"/>
                </a:solidFill>
                <a:latin typeface="Calibri"/>
              </a:rPr>
              <a:t>PCI gets: 'Approved second source' status they can show</a:t>
            </a:r>
          </a:p>
        </p:txBody>
      </p:sp>
      <p:sp>
        <p:nvSpPr>
          <p:cNvPr id="20" name="Rectangle 19"/>
          <p:cNvSpPr/>
          <p:nvPr/>
        </p:nvSpPr>
        <p:spPr>
          <a:xfrm>
            <a:off x="8595360" y="1828800"/>
            <a:ext cx="3017520" cy="3154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5360" y="1828800"/>
            <a:ext cx="3017520" cy="82296"/>
          </a:xfrm>
          <a:prstGeom prst="rect">
            <a:avLst/>
          </a:prstGeom>
          <a:solidFill>
            <a:srgbClr val="8E9B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20" y="1993392"/>
            <a:ext cx="548640" cy="640080"/>
          </a:xfrm>
          <a:prstGeom prst="rect">
            <a:avLst/>
          </a:prstGeom>
          <a:noFill/>
        </p:spPr>
        <p:txBody>
          <a:bodyPr wrap="square">
            <a:spAutoFit/>
          </a:bodyPr>
          <a:lstStyle/>
          <a:p>
            <a:pPr algn="l">
              <a:spcAft>
                <a:spcPts val="0"/>
              </a:spcAft>
            </a:pPr>
            <a:r>
              <a:rPr sz="2600" b="1" i="0">
                <a:solidFill>
                  <a:srgbClr val="8E9BA7"/>
                </a:solidFill>
                <a:latin typeface="Calibri"/>
              </a:rPr>
              <a:t>3</a:t>
            </a:r>
          </a:p>
        </p:txBody>
      </p:sp>
      <p:sp>
        <p:nvSpPr>
          <p:cNvPr id="23" name="TextBox 22"/>
          <p:cNvSpPr txBox="1"/>
          <p:nvPr/>
        </p:nvSpPr>
        <p:spPr>
          <a:xfrm>
            <a:off x="9235440" y="2011680"/>
            <a:ext cx="2240279" cy="320040"/>
          </a:xfrm>
          <a:prstGeom prst="rect">
            <a:avLst/>
          </a:prstGeom>
          <a:noFill/>
        </p:spPr>
        <p:txBody>
          <a:bodyPr wrap="square">
            <a:spAutoFit/>
          </a:bodyPr>
          <a:lstStyle/>
          <a:p>
            <a:pPr algn="l">
              <a:spcAft>
                <a:spcPts val="0"/>
              </a:spcAft>
            </a:pPr>
            <a:r>
              <a:rPr sz="950" b="1" i="0">
                <a:solidFill>
                  <a:srgbClr val="8E9BA7"/>
                </a:solidFill>
                <a:latin typeface="Calibri"/>
              </a:rPr>
              <a:t>ONLY UNDER OPTION 2</a:t>
            </a:r>
          </a:p>
        </p:txBody>
      </p:sp>
      <p:sp>
        <p:nvSpPr>
          <p:cNvPr id="24" name="TextBox 23"/>
          <p:cNvSpPr txBox="1"/>
          <p:nvPr/>
        </p:nvSpPr>
        <p:spPr>
          <a:xfrm>
            <a:off x="9235440" y="2286000"/>
            <a:ext cx="2240279" cy="640080"/>
          </a:xfrm>
          <a:prstGeom prst="rect">
            <a:avLst/>
          </a:prstGeom>
          <a:noFill/>
        </p:spPr>
        <p:txBody>
          <a:bodyPr wrap="square">
            <a:spAutoFit/>
          </a:bodyPr>
          <a:lstStyle/>
          <a:p>
            <a:pPr algn="l">
              <a:spcAft>
                <a:spcPts val="0"/>
              </a:spcAft>
            </a:pPr>
            <a:r>
              <a:rPr sz="1400" b="1" i="0">
                <a:solidFill>
                  <a:srgbClr val="1F3864"/>
                </a:solidFill>
                <a:latin typeface="Calibri"/>
              </a:rPr>
              <a:t>Pay for the work already done</a:t>
            </a:r>
          </a:p>
        </p:txBody>
      </p:sp>
      <p:sp>
        <p:nvSpPr>
          <p:cNvPr id="25" name="TextBox 24"/>
          <p:cNvSpPr txBox="1"/>
          <p:nvPr/>
        </p:nvSpPr>
        <p:spPr>
          <a:xfrm>
            <a:off x="8732520" y="2971800"/>
            <a:ext cx="2743200" cy="1371600"/>
          </a:xfrm>
          <a:prstGeom prst="rect">
            <a:avLst/>
          </a:prstGeom>
          <a:noFill/>
        </p:spPr>
        <p:txBody>
          <a:bodyPr wrap="square">
            <a:spAutoFit/>
          </a:bodyPr>
          <a:lstStyle/>
          <a:p>
            <a:pPr algn="l">
              <a:spcAft>
                <a:spcPts val="0"/>
              </a:spcAft>
            </a:pPr>
            <a:r>
              <a:rPr sz="1050" b="0" i="0">
                <a:solidFill>
                  <a:srgbClr val="595959"/>
                </a:solidFill>
                <a:latin typeface="Calibri"/>
              </a:rPr>
              <a:t>A development fee for the lab batches, studies and paperwork PCI did for free. Repairs the goodwill if we place no order. Under Option 3 the first batch is the payment, so this drops away.</a:t>
            </a:r>
          </a:p>
        </p:txBody>
      </p:sp>
      <p:sp>
        <p:nvSpPr>
          <p:cNvPr id="26" name="TextBox 25"/>
          <p:cNvSpPr txBox="1"/>
          <p:nvPr/>
        </p:nvSpPr>
        <p:spPr>
          <a:xfrm>
            <a:off x="8732520" y="4206240"/>
            <a:ext cx="2743200" cy="731520"/>
          </a:xfrm>
          <a:prstGeom prst="rect">
            <a:avLst/>
          </a:prstGeom>
          <a:noFill/>
        </p:spPr>
        <p:txBody>
          <a:bodyPr wrap="square">
            <a:spAutoFit/>
          </a:bodyPr>
          <a:lstStyle/>
          <a:p>
            <a:pPr algn="l">
              <a:spcAft>
                <a:spcPts val="300"/>
              </a:spcAft>
            </a:pPr>
            <a:r>
              <a:rPr sz="1000" b="1" i="0">
                <a:solidFill>
                  <a:srgbClr val="1F3864"/>
                </a:solidFill>
                <a:latin typeface="Calibri"/>
              </a:rPr>
              <a:t>Our cost: ~$5–10k once, if at all</a:t>
            </a:r>
          </a:p>
          <a:p>
            <a:pPr algn="l">
              <a:spcAft>
                <a:spcPts val="0"/>
              </a:spcAft>
            </a:pPr>
            <a:r>
              <a:rPr sz="1000" b="0" i="0">
                <a:solidFill>
                  <a:srgbClr val="595959"/>
                </a:solidFill>
                <a:latin typeface="Calibri"/>
              </a:rPr>
              <a:t>PCI gets: Paid for its effort</a:t>
            </a:r>
          </a:p>
        </p:txBody>
      </p:sp>
      <p:sp>
        <p:nvSpPr>
          <p:cNvPr id="27" name="Rectangle 26"/>
          <p:cNvSpPr/>
          <p:nvPr/>
        </p:nvSpPr>
        <p:spPr>
          <a:xfrm>
            <a:off x="548640" y="5120640"/>
            <a:ext cx="11064240" cy="77724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5239512"/>
            <a:ext cx="10698480" cy="53949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950" b="0" i="0">
                <a:solidFill>
                  <a:srgbClr val="595959"/>
                </a:solidFill>
                <a:latin typeface="Calibri"/>
              </a:rPr>
              <a:t>•  Tell PCI the volume reality and the exact triggers · pay promptly · share the test results · a quarterly touchpoint. Suppliers allocate goodwill on trust and growth prospects, not on current volume (Pulles, Schiele et al. 2016).</a:t>
            </a:r>
          </a:p>
        </p:txBody>
      </p:sp>
      <p:sp>
        <p:nvSpPr>
          <p:cNvPr id="29" name="Rectangle 2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Order a batch or two a year and put the terms in writing — that is what keeps the door open. A fee for the work done is the fallback if we order nothing.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The SNP Inc. conversation — outline, and what we decide before it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05840"/>
            <a:ext cx="6949440" cy="320040"/>
          </a:xfrm>
          <a:prstGeom prst="rect">
            <a:avLst/>
          </a:prstGeom>
          <a:noFill/>
        </p:spPr>
        <p:txBody>
          <a:bodyPr wrap="square">
            <a:spAutoFit/>
          </a:bodyPr>
          <a:lstStyle/>
          <a:p>
            <a:pPr algn="l">
              <a:spcAft>
                <a:spcPts val="0"/>
              </a:spcAft>
            </a:pPr>
            <a:r>
              <a:rPr sz="1200" b="1" i="0">
                <a:solidFill>
                  <a:srgbClr val="1F3864"/>
                </a:solidFill>
                <a:latin typeface="Calibri"/>
              </a:rPr>
              <a:t>The meeting, in order — what we say, and what we want out of each part</a:t>
            </a:r>
          </a:p>
        </p:txBody>
      </p:sp>
      <p:sp>
        <p:nvSpPr>
          <p:cNvPr id="6" name="TextBox 5"/>
          <p:cNvSpPr txBox="1"/>
          <p:nvPr/>
        </p:nvSpPr>
        <p:spPr>
          <a:xfrm>
            <a:off x="548640" y="1325880"/>
            <a:ext cx="6949440" cy="4572000"/>
          </a:xfrm>
          <a:prstGeom prst="rect">
            <a:avLst/>
          </a:prstGeom>
          <a:noFill/>
        </p:spPr>
        <p:txBody>
          <a:bodyPr wrap="square">
            <a:spAutoFit/>
          </a:bodyPr>
          <a:lstStyle/>
          <a:p>
            <a:pPr>
              <a:spcAft>
                <a:spcPts val="900"/>
              </a:spcAft>
            </a:pPr>
            <a:r>
              <a:rPr b="1" sz="1200">
                <a:solidFill>
                  <a:srgbClr val="1F3864"/>
                </a:solidFill>
                <a:latin typeface="Calibri"/>
              </a:rPr>
              <a:t>1  Why we are here   </a:t>
            </a:r>
            <a:r>
              <a:rPr sz="1100">
                <a:solidFill>
                  <a:srgbClr val="595959"/>
                </a:solidFill>
                <a:latin typeface="Calibri"/>
              </a:rPr>
              <a:t>Years of growth, a sole source we depend on, and the intent to run it as a partnership.  </a:t>
            </a:r>
            <a:r>
              <a:rPr sz="1100" b="1">
                <a:solidFill>
                  <a:srgbClr val="2E7D46"/>
                </a:solidFill>
                <a:latin typeface="Calibri"/>
              </a:rPr>
              <a:t>→ They hear investment, not audit</a:t>
            </a:r>
          </a:p>
          <a:p>
            <a:pPr>
              <a:spcAft>
                <a:spcPts val="900"/>
              </a:spcAft>
            </a:pPr>
            <a:r>
              <a:rPr b="1" sz="1200">
                <a:solidFill>
                  <a:srgbClr val="1F3864"/>
                </a:solidFill>
                <a:latin typeface="Calibri"/>
              </a:rPr>
              <a:t>2  Our business, shown   </a:t>
            </a:r>
            <a:r>
              <a:rPr sz="1100">
                <a:solidFill>
                  <a:srgbClr val="595959"/>
                </a:solidFill>
                <a:latin typeface="Calibri"/>
              </a:rPr>
              <a:t>Volume history, the forecast (150 drums this year, +10%/yr), our delivery record, what the product does for our mission.  </a:t>
            </a:r>
            <a:r>
              <a:rPr sz="1100" b="1">
                <a:solidFill>
                  <a:srgbClr val="2E7D46"/>
                </a:solidFill>
                <a:latin typeface="Calibri"/>
              </a:rPr>
              <a:t>→ A growing account worth planning for</a:t>
            </a:r>
          </a:p>
          <a:p>
            <a:pPr>
              <a:spcAft>
                <a:spcPts val="900"/>
              </a:spcAft>
            </a:pPr>
            <a:r>
              <a:rPr b="1" sz="1200">
                <a:solidFill>
                  <a:srgbClr val="1F3864"/>
                </a:solidFill>
                <a:latin typeface="Calibri"/>
              </a:rPr>
              <a:t>3  What we bring   </a:t>
            </a:r>
            <a:r>
              <a:rPr sz="1100">
                <a:solidFill>
                  <a:srgbClr val="595959"/>
                </a:solidFill>
                <a:latin typeface="Calibri"/>
              </a:rPr>
              <a:t>Rolling 12-month forecast refreshed monthly; a level weekly cadence through a blanket order; the hydrogel program as a written joint roadmap.  </a:t>
            </a:r>
            <a:r>
              <a:rPr sz="1100" b="1">
                <a:solidFill>
                  <a:srgbClr val="2E7D46"/>
                </a:solidFill>
                <a:latin typeface="Calibri"/>
              </a:rPr>
              <a:t>→ Predictability for their kettle and resin buys</a:t>
            </a:r>
          </a:p>
          <a:p>
            <a:pPr>
              <a:spcAft>
                <a:spcPts val="900"/>
              </a:spcAft>
            </a:pPr>
            <a:r>
              <a:rPr b="1" sz="1200">
                <a:solidFill>
                  <a:srgbClr val="1F3864"/>
                </a:solidFill>
                <a:latin typeface="Calibri"/>
              </a:rPr>
              <a:t>4  Growing together   </a:t>
            </a:r>
            <a:r>
              <a:rPr sz="1100">
                <a:solidFill>
                  <a:srgbClr val="595959"/>
                </a:solidFill>
                <a:latin typeface="Calibri"/>
              </a:rPr>
              <a:t>Their other hydrogel lines — sodium alginate, guar gum — for our other projects.  </a:t>
            </a:r>
            <a:r>
              <a:rPr sz="1100" b="1">
                <a:solidFill>
                  <a:srgbClr val="2E7D46"/>
                </a:solidFill>
                <a:latin typeface="Calibri"/>
              </a:rPr>
              <a:t>→ A second and third line, if R&amp;D has a use</a:t>
            </a:r>
          </a:p>
          <a:p>
            <a:pPr>
              <a:spcAft>
                <a:spcPts val="900"/>
              </a:spcAft>
            </a:pPr>
            <a:r>
              <a:rPr b="1" sz="1200">
                <a:solidFill>
                  <a:srgbClr val="1F3864"/>
                </a:solidFill>
                <a:latin typeface="Calibri"/>
              </a:rPr>
              <a:t>5  Running it as partners   </a:t>
            </a:r>
            <a:r>
              <a:rPr sz="1100">
                <a:solidFill>
                  <a:srgbClr val="595959"/>
                </a:solidFill>
                <a:latin typeface="Calibri"/>
              </a:rPr>
              <a:t>Resin supply and a consignment buffer; capacity for Year-5 volume; cover for the people who run the PVA cook; advance notice of changes; a shelf-life study together.  </a:t>
            </a:r>
            <a:r>
              <a:rPr sz="1100" b="1">
                <a:solidFill>
                  <a:srgbClr val="2E7D46"/>
                </a:solidFill>
                <a:latin typeface="Calibri"/>
              </a:rPr>
              <a:t>→ Continuity agreed as a shared discipline, not a demand</a:t>
            </a:r>
          </a:p>
          <a:p>
            <a:pPr>
              <a:spcAft>
                <a:spcPts val="900"/>
              </a:spcAft>
            </a:pPr>
            <a:r>
              <a:rPr b="1" sz="1200">
                <a:solidFill>
                  <a:srgbClr val="1F3864"/>
                </a:solidFill>
                <a:latin typeface="Calibri"/>
              </a:rPr>
              <a:t>6  Price   </a:t>
            </a:r>
            <a:r>
              <a:rPr sz="1100">
                <a:solidFill>
                  <a:srgbClr val="595959"/>
                </a:solidFill>
                <a:latin typeface="Calibri"/>
              </a:rPr>
              <a:t>A resin-indexed formula in place of ad hoc increases.  </a:t>
            </a:r>
            <a:r>
              <a:rPr sz="1100" b="1">
                <a:solidFill>
                  <a:srgbClr val="2E7D46"/>
                </a:solidFill>
                <a:latin typeface="Calibri"/>
              </a:rPr>
              <a:t>→ Predictability for both sides</a:t>
            </a:r>
          </a:p>
          <a:p>
            <a:pPr>
              <a:spcAft>
                <a:spcPts val="900"/>
              </a:spcAft>
            </a:pPr>
            <a:r>
              <a:rPr b="1" sz="1200">
                <a:solidFill>
                  <a:srgbClr val="1F3864"/>
                </a:solidFill>
                <a:latin typeface="Calibri"/>
              </a:rPr>
              <a:t>7  Close   </a:t>
            </a:r>
            <a:r>
              <a:rPr sz="1100">
                <a:solidFill>
                  <a:srgbClr val="595959"/>
                </a:solidFill>
                <a:latin typeface="Calibri"/>
              </a:rPr>
              <a:t>Quarterly business review, named contacts, an updated Supplier Quality Agreement (SQA).  </a:t>
            </a:r>
            <a:r>
              <a:rPr sz="1100" b="1">
                <a:solidFill>
                  <a:srgbClr val="2E7D46"/>
                </a:solidFill>
                <a:latin typeface="Calibri"/>
              </a:rPr>
              <a:t>→ A cadence that keeps it alive</a:t>
            </a:r>
          </a:p>
        </p:txBody>
      </p:sp>
      <p:sp>
        <p:nvSpPr>
          <p:cNvPr id="7" name="Rectangle 6"/>
          <p:cNvSpPr/>
          <p:nvPr/>
        </p:nvSpPr>
        <p:spPr>
          <a:xfrm>
            <a:off x="7726679" y="1005840"/>
            <a:ext cx="3886200" cy="484632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1097280"/>
            <a:ext cx="3611880" cy="4663440"/>
          </a:xfrm>
          <a:prstGeom prst="rect">
            <a:avLst/>
          </a:prstGeom>
          <a:noFill/>
        </p:spPr>
        <p:txBody>
          <a:bodyPr wrap="square">
            <a:spAutoFit/>
          </a:bodyPr>
          <a:lstStyle/>
          <a:p>
            <a:pPr algn="l">
              <a:spcAft>
                <a:spcPts val="600"/>
              </a:spcAft>
            </a:pPr>
            <a:r>
              <a:rPr sz="1300" b="1" i="0">
                <a:solidFill>
                  <a:srgbClr val="1F3864"/>
                </a:solidFill>
                <a:latin typeface="Calibri"/>
              </a:rPr>
              <a:t>Decide before we walk in</a:t>
            </a:r>
          </a:p>
          <a:p>
            <a:pPr>
              <a:spcAft>
                <a:spcPts val="700"/>
              </a:spcAft>
            </a:pPr>
            <a:r>
              <a:rPr b="1" sz="1050">
                <a:solidFill>
                  <a:srgbClr val="1F3864"/>
                </a:solidFill>
                <a:latin typeface="Calibri"/>
              </a:rPr>
              <a:t>The strategy — Option 1, 2 or 3  </a:t>
            </a:r>
            <a:r>
              <a:rPr sz="1000">
                <a:solidFill>
                  <a:srgbClr val="595959"/>
                </a:solidFill>
                <a:latin typeface="Calibri"/>
              </a:rPr>
              <a:t>— sets the whole posture. Under Option 3 we say a continuity verification lot runs once a year; the supplier is not named. (Leadership)</a:t>
            </a:r>
          </a:p>
          <a:p>
            <a:pPr>
              <a:spcAft>
                <a:spcPts val="700"/>
              </a:spcAft>
            </a:pPr>
            <a:r>
              <a:rPr b="1" sz="1050">
                <a:solidFill>
                  <a:srgbClr val="1F3864"/>
                </a:solidFill>
                <a:latin typeface="Calibri"/>
              </a:rPr>
              <a:t>How much forecast, what commitment  </a:t>
            </a:r>
            <a:r>
              <a:rPr sz="1000">
                <a:solidFill>
                  <a:srgbClr val="595959"/>
                </a:solidFill>
                <a:latin typeface="Calibri"/>
              </a:rPr>
              <a:t>— 12-month rolling and a 3-year outlook; whether a multi-year commitment or letter of intent is on the table. (Leadership, Legal)</a:t>
            </a:r>
          </a:p>
          <a:p>
            <a:pPr>
              <a:spcAft>
                <a:spcPts val="700"/>
              </a:spcAft>
            </a:pPr>
            <a:r>
              <a:rPr b="1" sz="1050">
                <a:solidFill>
                  <a:srgbClr val="1F3864"/>
                </a:solidFill>
                <a:latin typeface="Calibri"/>
              </a:rPr>
              <a:t>The give  </a:t>
            </a:r>
            <a:r>
              <a:rPr sz="1000">
                <a:solidFill>
                  <a:srgbClr val="595959"/>
                </a:solidFill>
                <a:latin typeface="Calibri"/>
              </a:rPr>
              <a:t>— blanket order — yes or no; payment terms as a lever — yes or no. (Finance, Supply Chain)</a:t>
            </a:r>
          </a:p>
          <a:p>
            <a:pPr>
              <a:spcAft>
                <a:spcPts val="700"/>
              </a:spcAft>
            </a:pPr>
            <a:r>
              <a:rPr b="1" sz="1050">
                <a:solidFill>
                  <a:srgbClr val="1F3864"/>
                </a:solidFill>
                <a:latin typeface="Calibri"/>
              </a:rPr>
              <a:t>The other hydrogels  </a:t>
            </a:r>
            <a:r>
              <a:rPr sz="1000">
                <a:solidFill>
                  <a:srgbClr val="595959"/>
                </a:solidFill>
                <a:latin typeface="Calibri"/>
              </a:rPr>
              <a:t>— which projects could use alginate or guar, at what solids. (R&amp;D, before the meeting)</a:t>
            </a:r>
          </a:p>
          <a:p>
            <a:pPr>
              <a:spcAft>
                <a:spcPts val="700"/>
              </a:spcAft>
            </a:pPr>
            <a:r>
              <a:rPr b="1" sz="1050">
                <a:solidFill>
                  <a:srgbClr val="1F3864"/>
                </a:solidFill>
                <a:latin typeface="Calibri"/>
              </a:rPr>
              <a:t>Continuity money  </a:t>
            </a:r>
            <a:r>
              <a:rPr sz="1000">
                <a:solidFill>
                  <a:srgbClr val="595959"/>
                </a:solidFill>
                <a:latin typeface="Calibri"/>
              </a:rPr>
              <a:t>— fund the resin buffer (~$2–6k tied up) and the shelf-life study — or not. (Supply Chain)</a:t>
            </a:r>
          </a:p>
        </p:txBody>
      </p:sp>
      <p:sp>
        <p:nvSpPr>
          <p:cNvPr id="9" name="Rectangle 8"/>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and the give before the meeting; the meeting is where we execute the partnership, not where we discover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926080"/>
        </p:xfrm>
        <a:graphic>
          <a:graphicData uri="http://schemas.openxmlformats.org/drawingml/2006/table">
            <a:tbl>
              <a:tblPr firstRow="1" bandRow="1">
                <a:tableStyleId>{5C22544A-7EE6-4342-B048-85BDC9FD1C3A}</a:tableStyleId>
              </a:tblPr>
              <a:tblGrid>
                <a:gridCol w="1554480"/>
                <a:gridCol w="2743200"/>
                <a:gridCol w="2011680"/>
              </a:tblGrid>
              <a:tr h="266007">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66007">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66007">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66007">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66007">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66007">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1–3 batches/yr = 5–15 drums = 3–10% of demand; +$6.2–18.6k/yr</a:t>
                      </a:r>
                    </a:p>
                  </a:txBody>
                  <a:tcPr>
                    <a:solidFill>
                      <a:srgbClr val="FFFFFF"/>
                    </a:solidFill>
                  </a:tcPr>
                </a:tc>
                <a:tc>
                  <a:txBody>
                    <a:bodyPr/>
                    <a:lstStyle/>
                    <a:p>
                      <a:pPr algn="ctr"/>
                      <a:r>
                        <a:rPr sz="800">
                          <a:solidFill>
                            <a:srgbClr val="1F3864"/>
                          </a:solidFill>
                          <a:latin typeface="Calibri"/>
                        </a:rPr>
                        <a:t>$7.9k per batch ($3.50/lb × 2,250 lb); no volume term on the price so far</a:t>
                      </a:r>
                    </a:p>
                  </a:txBody>
                  <a:tcPr>
                    <a:solidFill>
                      <a:srgbClr val="FFFFFF"/>
                    </a:solidFill>
                  </a:tcPr>
                </a:tc>
              </a:tr>
              <a:tr h="266007">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66007">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66007">
                <a:tc>
                  <a:txBody>
                    <a:bodyPr/>
                    <a:lstStyle/>
                    <a:p>
                      <a:pPr algn="l"/>
                      <a:r>
                        <a:rPr sz="800" b="1">
                          <a:solidFill>
                            <a:srgbClr val="1F3864"/>
                          </a:solidFill>
                          <a:latin typeface="Calibri"/>
                        </a:rPr>
                        <a:t>APV estimate</a:t>
                      </a:r>
                    </a:p>
                  </a:txBody>
                  <a:tcPr>
                    <a:solidFill>
                      <a:srgbClr val="FFFFFF"/>
                    </a:solidFill>
                  </a:tcPr>
                </a:tc>
                <a:tc>
                  <a:txBody>
                    <a:bodyPr/>
                    <a:lstStyle/>
                    <a:p>
                      <a:pPr algn="ctr"/>
                      <a:r>
                        <a:rPr sz="800">
                          <a:solidFill>
                            <a:srgbClr val="1F3864"/>
                          </a:solidFill>
                          <a:latin typeface="Calibri"/>
                        </a:rPr>
                        <a:t>≥ $3.00/lb — never confirmed</a:t>
                      </a:r>
                    </a:p>
                  </a:txBody>
                  <a:tcPr>
                    <a:solidFill>
                      <a:srgbClr val="FFFFFF"/>
                    </a:solidFill>
                  </a:tcPr>
                </a:tc>
                <a:tc>
                  <a:txBody>
                    <a:bodyPr/>
                    <a:lstStyle/>
                    <a:p>
                      <a:pPr algn="ctr"/>
                      <a:r>
                        <a:rPr sz="800">
                          <a:solidFill>
                            <a:srgbClr val="1F3864"/>
                          </a:solidFill>
                          <a:latin typeface="Calibri"/>
                        </a:rPr>
                        <a:t>Called $1.50/lb too cheap for our volume on our call</a:t>
                      </a:r>
                    </a:p>
                  </a:txBody>
                  <a:tcPr>
                    <a:solidFill>
                      <a:srgbClr val="FFFFFF"/>
                    </a:solidFill>
                  </a:tcPr>
                </a:tc>
              </a:tr>
              <a:tr h="266007">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of internal hours to date (sunk); ~$15–40k more to production release</a:t>
                      </a:r>
                    </a:p>
                  </a:txBody>
                  <a:tcPr>
                    <a:solidFill>
                      <a:srgbClr val="FFFFFF"/>
                    </a:solidFill>
                  </a:tcPr>
                </a:tc>
                <a:tc>
                  <a:txBody>
                    <a:bodyPr/>
                    <a:lstStyle/>
                    <a:p>
                      <a:pPr algn="ctr"/>
                      <a:r>
                        <a:rPr sz="800">
                          <a:solidFill>
                            <a:srgbClr val="1F3864"/>
                          </a:solidFill>
                          <a:latin typeface="Calibri"/>
                        </a:rPr>
                        <a:t>Placeholders; not in the purchase totals</a:t>
                      </a:r>
                    </a:p>
                  </a:txBody>
                  <a:tcPr>
                    <a:solidFill>
                      <a:srgbClr val="FFFFFF"/>
                    </a:solidFill>
                  </a:tcPr>
                </a:tc>
              </a:tr>
              <a:tr h="266010">
                <a:tc>
                  <a:txBody>
                    <a:bodyPr/>
                    <a:lstStyle/>
                    <a:p>
                      <a:pPr algn="l"/>
                      <a:r>
                        <a:rPr sz="800" b="1">
                          <a:solidFill>
                            <a:srgbClr val="1F3864"/>
                          </a:solidFill>
                          <a:latin typeface="Calibri"/>
                        </a:rPr>
                        <a:t>Restart time if SNP fails</a:t>
                      </a:r>
                    </a:p>
                  </a:txBody>
                  <a:tcPr>
                    <a:solidFill>
                      <a:srgbClr val="FFFFFF"/>
                    </a:solidFill>
                  </a:tcPr>
                </a:tc>
                <a:tc>
                  <a:txBody>
                    <a:bodyPr/>
                    <a:lstStyle/>
                    <a:p>
                      <a:pPr algn="ctr"/>
                      <a:r>
                        <a:rPr sz="800">
                          <a:solidFill>
                            <a:srgbClr val="1F3864"/>
                          </a:solidFill>
                          <a:latin typeface="Calibri"/>
                        </a:rPr>
                        <a:t>Option 1 weeks (if ramp confirmed); Option 3 weeks to months; Option 2 ~3–6 months</a:t>
                      </a:r>
                    </a:p>
                  </a:txBody>
                  <a:tcPr>
                    <a:solidFill>
                      <a:srgbClr val="FFFFFF"/>
                    </a:solidFill>
                  </a:tcPr>
                </a:tc>
                <a:tc>
                  <a:txBody>
                    <a:bodyPr/>
                    <a:lstStyle/>
                    <a:p>
                      <a:pPr algn="ctr"/>
                      <a:r>
                        <a:rPr sz="800">
                          <a:solidFill>
                            <a:srgbClr val="1F3864"/>
                          </a:solidFill>
                          <a:latin typeface="Calibri"/>
                        </a:rPr>
                        <a:t>Estimates; a cold start decays after ~12 months idle</a:t>
                      </a:r>
                    </a:p>
                  </a:txBody>
                  <a:tcPr>
                    <a:solidFill>
                      <a:srgbClr val="FFFFFF"/>
                    </a:solidFill>
                  </a:tcPr>
                </a:tc>
              </a:tr>
            </a:tbl>
          </a:graphicData>
        </a:graphic>
      </p:graphicFrame>
      <p:sp>
        <p:nvSpPr>
          <p:cNvPr id="5" name="TextBox 4"/>
          <p:cNvSpPr txBox="1"/>
          <p:nvPr/>
        </p:nvSpPr>
        <p:spPr>
          <a:xfrm>
            <a:off x="548640" y="4846320"/>
            <a:ext cx="6309360" cy="14173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3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No standard or regulation we work under requires a second source; controls are proportionate to risk.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CPO  </a:t>
            </a:r>
            <a:r>
              <a:rPr sz="900">
                <a:solidFill>
                  <a:srgbClr val="595959"/>
                </a:solidFill>
                <a:latin typeface="Calibri"/>
              </a:rPr>
              <a:t>— Chief Procurement Officer (Deloitte survey)</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