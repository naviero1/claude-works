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fifteen to twenty serious candidates and reached out to ArroChem, Piedmont and ILC Dover with one hard gate - hold 90 to 95 degrees. May: ArroChem - the right kind of company - could not get past 90 degrees, and ILC Dover could not reach it either. June 26: CJB cleared it and became the front-runner; APV confirmed heat but, on our call, called a dollar fifty a pound too cheap for our volume - so we estimate APV at three dollars or more, never confirmed; we confirmed demand at about three drums a week - 150 a year. July: Columbus Chemical, also the right kind of company, reached out to us and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PCI's test results - the viscosity was brought on target within the test by adjusting solids and water - and the spec was agreed.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against quantity per order. The grey points are the verified market prices of pre-mixed PVA solution at every pack size we found - one-gallon jugs, cases, pails, a twenty-gallon lot, and ton-scale offers offshore before freight. The navy line is the curve fitted through them: price falls about eighteen percent every time the lot doubles where we have US data, up to twenty gallons. The band is where eighty percent of the verified points fall around that trend; beyond twenty gallons, where no US vendor publishes a price, its top follows the flattening seen in vendors' own volume ladders, and its floor is SNP's 75 cents - no US-delivered lot has been seen cheaper; the offshore ton offers are before freight and duty. SNP, green, sells us about three drums a week at 75 cents - the floor of that band, and delivered, to our spec, even though the market points are neither delivered nor medical-grade. The green dashed line is the same slope drawn through SNP's price: it is what to expect if we ever bought smaller lots from them - about a dollar at one drum, about two dollars at five gallons. It is a regression from the market's behaviour, not a quote from SNP. PCI, in amber, sits above the top of the band at its quantities - the batch-fixed cost and drum freight of a non-specialist. CJB is off the curve entirely; APV's three dollars is an estimate from our call, never confirmed. The message: price follows lot size everywhere in this market, except at SNP.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cost per pound across the board. This is the average price we pay per pound over all 150 drums a year when some drums come from PCI at 3.50 and the rest from SNP at 75 cents. Today: 75 cents, 337.50 a drum, 50.7 thousand a year. One PCI batch a year: about 84 cents a pound, 12 percent more, 379 a drum, 56.9 thousand a year. Two batches: 93 cents, 24 percent more. Three: about a dollar two, 37 percent more. It steps evenly because each five-drum batch replaces 2,250 pounds of SNP material at a 2.75 premium - about 6,200 dollars a year, or roughly nine cents on every pound we buy. For scale, Option 1 - a third from PCI - would be about a dollar sixty-seven a pound, more than double today. Not included: the internal hours to finish PCI's qualification, and volume growth, which moves every bar up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PVA purchases of 112.6 thousand a year, growing with volume; recovery in weeks only if PCI confirms the ramp in writing. Option 3: one or two blocks a year, when we choose - 56.9 thousand with one batch, 63.1 with two, 69.3 with three - SNP keeps 145, 140 or 135 drums; SNP sees one or two pre-announced pauses or none; restart in weeks to a few months. Option 2: the whole year on SNP, PCI a quoted option - 50.7 thousand, what we pay today;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Purchases only: internal hours to finish PCI's qualification - fifteen to forty thousand once, under Options 1 and 3 - are not in these numbers.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what each option means in PVA purchases for a year - SNP at 75 cents plus PCI at 3.50; today's 50.7 thousand is the grey line; bottom to top is how long we would be without PVA if SNP stopped tomorrow. Each box is the range of one option. Green, Option 2, 50.7 thousand, is the cheapest and the least protected: a cold start of three to six months, and longer as the file goes stale. Blue, Option 3, 57 to 69 thousand for one to three batches, sits in the middle: a practiced supplier restarts in weeks to a few months, about fifty thousand a year less than Option 1. Amber, Option 1, 112.6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Three instruments, weighted. First and essential: place a real order - one five-drum batch, one to three times a year; it is the only thing that pays PCI with revenue and proves production scale, and it is Option 3. Second and essential: sign terms with no volume commitment - the 3.50 batch price, spec, lead time, change notification, twelve to twenty-four months, zero minimum; it locks the economic core of Option 3 in writing and costs only legal time. Third, only under Option 2: pay a development fee for the work already done, to repair the goodwill if we order nothing; under Option 3 the first batch is the payment. Capacity-reservation fees and formal re-approval programs are pharma-scale practices that do not apply to us.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SNP visit on Tuesday the sixth of October, tentative agenda. One: in the conference room, growth - years of it - and how we could grow the relationship: projects, partnership; and what the synthetics room does, which is where we freeze their PVA into our plates. They should hear investment, not audit. Two: walk them through the synthetics room and show them the synthetic plate we make with their PVA - a supplier rarely sees what its material becomes. Three: back in the conference room, let SNP talk about their other synthetics, and have our R&amp;D talk about projects, what they see in the future, and how we could partner more - possibilities, not commitments. Four: forecasts - what we would share and how that helps their orders and planning; we want agreement on what we share and how often. Still pending: aligning with R&amp;D on what they present, and with Purchasing on what we bring. Before the sixth we fill in five decisions: the strategy, which sets the posture - and under Option 3 whether we mention a continuity verification lot yet; what R&amp;D presents; what Purchasing brings; how much forecast we share; and whether we only listen about their other synthetics or ask for samples and data.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Dual Supplier Discussion</a:t>
            </a:r>
          </a:p>
          <a:p>
            <a:pPr algn="l">
              <a:spcAft>
                <a:spcPts val="400"/>
              </a:spcAft>
            </a:pPr>
            <a:r>
              <a:rPr sz="2000" b="0" i="0">
                <a:solidFill>
                  <a:srgbClr val="BDD7EE"/>
                </a:solidFill>
                <a:latin typeface="Calibri"/>
              </a:rPr>
              <a:t>Update: PCI Manufacturing has proven it can make our product — and told us what it costs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HOW WE GOT HERE</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~15–20 serious candidates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right kind of company, could not get past 90 °C. ILC Dover could not reach it either</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but calls $1.50/lb too cheap — likely ≥$3/lb, unconfirmed. Demand: ~3 drums/week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Right kind of company; reached out to us, then said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capable but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 tank (110 gal),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PCI test results</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Viscosity brought on target within the test (solids / water adjustment). Spec agreed: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85216" y="3246120"/>
            <a:ext cx="2139696"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 y="3264408"/>
            <a:ext cx="777240" cy="832103"/>
          </a:xfrm>
          <a:prstGeom prst="rect">
            <a:avLst/>
          </a:prstGeom>
          <a:noFill/>
        </p:spPr>
        <p:txBody>
          <a:bodyPr wrap="square" anchor="ctr">
            <a:spAutoFit/>
          </a:bodyPr>
          <a:lstStyle/>
          <a:p>
            <a:pPr algn="ctr">
              <a:spcAft>
                <a:spcPts val="0"/>
              </a:spcAft>
            </a:pPr>
            <a:r>
              <a:rPr sz="1800" b="1" i="0">
                <a:solidFill>
                  <a:srgbClr val="1F3864"/>
                </a:solidFill>
                <a:latin typeface="Calibri"/>
              </a:rPr>
              <a:t>~15–20</a:t>
            </a:r>
          </a:p>
        </p:txBody>
      </p:sp>
      <p:sp>
        <p:nvSpPr>
          <p:cNvPr id="35" name="TextBox 34"/>
          <p:cNvSpPr txBox="1"/>
          <p:nvPr/>
        </p:nvSpPr>
        <p:spPr>
          <a:xfrm>
            <a:off x="1371600" y="3264408"/>
            <a:ext cx="1298448" cy="832103"/>
          </a:xfrm>
          <a:prstGeom prst="rect">
            <a:avLst/>
          </a:prstGeom>
          <a:noFill/>
        </p:spPr>
        <p:txBody>
          <a:bodyPr wrap="square" anchor="ctr">
            <a:spAutoFit/>
          </a:bodyPr>
          <a:lstStyle/>
          <a:p>
            <a:pPr algn="l">
              <a:spcAft>
                <a:spcPts val="0"/>
              </a:spcAft>
            </a:pPr>
            <a:r>
              <a:rPr sz="900" b="0" i="0">
                <a:solidFill>
                  <a:srgbClr val="1F3864"/>
                </a:solidFill>
                <a:latin typeface="Calibri"/>
              </a:rPr>
              <a:t>serious candidates screened</a:t>
            </a:r>
          </a:p>
        </p:txBody>
      </p:sp>
      <p:sp>
        <p:nvSpPr>
          <p:cNvPr id="36" name="Rectangle 35"/>
          <p:cNvSpPr/>
          <p:nvPr/>
        </p:nvSpPr>
        <p:spPr>
          <a:xfrm>
            <a:off x="2798064" y="3282696"/>
            <a:ext cx="2139696" cy="79552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34640" y="3300984"/>
            <a:ext cx="777240" cy="758952"/>
          </a:xfrm>
          <a:prstGeom prst="rect">
            <a:avLst/>
          </a:prstGeom>
          <a:noFill/>
        </p:spPr>
        <p:txBody>
          <a:bodyPr wrap="square" anchor="ctr">
            <a:spAutoFit/>
          </a:bodyPr>
          <a:lstStyle/>
          <a:p>
            <a:pPr algn="ctr">
              <a:spcAft>
                <a:spcPts val="0"/>
              </a:spcAft>
            </a:pPr>
            <a:r>
              <a:rPr sz="1800" b="1" i="0">
                <a:solidFill>
                  <a:srgbClr val="1F3864"/>
                </a:solidFill>
                <a:latin typeface="Calibri"/>
              </a:rPr>
              <a:t>7</a:t>
            </a:r>
          </a:p>
        </p:txBody>
      </p:sp>
      <p:sp>
        <p:nvSpPr>
          <p:cNvPr id="38" name="TextBox 37"/>
          <p:cNvSpPr txBox="1"/>
          <p:nvPr/>
        </p:nvSpPr>
        <p:spPr>
          <a:xfrm>
            <a:off x="3584448" y="3300984"/>
            <a:ext cx="1298448" cy="758952"/>
          </a:xfrm>
          <a:prstGeom prst="rect">
            <a:avLst/>
          </a:prstGeom>
          <a:noFill/>
        </p:spPr>
        <p:txBody>
          <a:bodyPr wrap="square" anchor="ctr">
            <a:spAutoFit/>
          </a:bodyPr>
          <a:lstStyle/>
          <a:p>
            <a:pPr algn="l">
              <a:spcAft>
                <a:spcPts val="0"/>
              </a:spcAft>
            </a:pPr>
            <a:r>
              <a:rPr sz="900" b="0" i="0">
                <a:solidFill>
                  <a:srgbClr val="1F3864"/>
                </a:solidFill>
                <a:latin typeface="Calibri"/>
              </a:rPr>
              <a:t>engaged in tests or calls</a:t>
            </a:r>
          </a:p>
        </p:txBody>
      </p:sp>
      <p:sp>
        <p:nvSpPr>
          <p:cNvPr id="39" name="Rectangle 38"/>
          <p:cNvSpPr/>
          <p:nvPr/>
        </p:nvSpPr>
        <p:spPr>
          <a:xfrm>
            <a:off x="5010912" y="3319272"/>
            <a:ext cx="2139696" cy="722375"/>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47488" y="3337560"/>
            <a:ext cx="777240" cy="685799"/>
          </a:xfrm>
          <a:prstGeom prst="rect">
            <a:avLst/>
          </a:prstGeom>
          <a:noFill/>
        </p:spPr>
        <p:txBody>
          <a:bodyPr wrap="square" anchor="ctr">
            <a:spAutoFit/>
          </a:bodyPr>
          <a:lstStyle/>
          <a:p>
            <a:pPr algn="ctr">
              <a:spcAft>
                <a:spcPts val="0"/>
              </a:spcAft>
            </a:pPr>
            <a:r>
              <a:rPr sz="1800" b="1" i="0">
                <a:solidFill>
                  <a:srgbClr val="B23A2E"/>
                </a:solidFill>
                <a:latin typeface="Calibri"/>
              </a:rPr>
              <a:t>4</a:t>
            </a:r>
          </a:p>
        </p:txBody>
      </p:sp>
      <p:sp>
        <p:nvSpPr>
          <p:cNvPr id="41" name="TextBox 40"/>
          <p:cNvSpPr txBox="1"/>
          <p:nvPr/>
        </p:nvSpPr>
        <p:spPr>
          <a:xfrm>
            <a:off x="5797296" y="3337560"/>
            <a:ext cx="1298448" cy="685799"/>
          </a:xfrm>
          <a:prstGeom prst="rect">
            <a:avLst/>
          </a:prstGeom>
          <a:noFill/>
        </p:spPr>
        <p:txBody>
          <a:bodyPr wrap="square" anchor="ctr">
            <a:spAutoFit/>
          </a:bodyPr>
          <a:lstStyle/>
          <a:p>
            <a:pPr algn="l">
              <a:spcAft>
                <a:spcPts val="0"/>
              </a:spcAft>
            </a:pPr>
            <a:r>
              <a:rPr sz="900" b="0" i="0">
                <a:solidFill>
                  <a:srgbClr val="1F3864"/>
                </a:solidFill>
                <a:latin typeface="Calibri"/>
              </a:rPr>
              <a:t>could not make it — heat or viscosity (Brenntag, ArroChem, ILC Dover, Columbus)</a:t>
            </a:r>
          </a:p>
        </p:txBody>
      </p:sp>
      <p:sp>
        <p:nvSpPr>
          <p:cNvPr id="42" name="Rectangle 41"/>
          <p:cNvSpPr/>
          <p:nvPr/>
        </p:nvSpPr>
        <p:spPr>
          <a:xfrm>
            <a:off x="7223759" y="3355848"/>
            <a:ext cx="2139696" cy="649224"/>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60336" y="3374136"/>
            <a:ext cx="777240" cy="612647"/>
          </a:xfrm>
          <a:prstGeom prst="rect">
            <a:avLst/>
          </a:prstGeom>
          <a:noFill/>
        </p:spPr>
        <p:txBody>
          <a:bodyPr wrap="square" anchor="ctr">
            <a:spAutoFit/>
          </a:bodyPr>
          <a:lstStyle/>
          <a:p>
            <a:pPr algn="ctr">
              <a:spcAft>
                <a:spcPts val="0"/>
              </a:spcAft>
            </a:pPr>
            <a:r>
              <a:rPr sz="1800" b="1" i="0">
                <a:solidFill>
                  <a:srgbClr val="9C5A0C"/>
                </a:solidFill>
                <a:latin typeface="Calibri"/>
              </a:rPr>
              <a:t>2</a:t>
            </a:r>
          </a:p>
        </p:txBody>
      </p:sp>
      <p:sp>
        <p:nvSpPr>
          <p:cNvPr id="44" name="TextBox 43"/>
          <p:cNvSpPr txBox="1"/>
          <p:nvPr/>
        </p:nvSpPr>
        <p:spPr>
          <a:xfrm>
            <a:off x="8010144" y="3374136"/>
            <a:ext cx="1298448" cy="612647"/>
          </a:xfrm>
          <a:prstGeom prst="rect">
            <a:avLst/>
          </a:prstGeom>
          <a:noFill/>
        </p:spPr>
        <p:txBody>
          <a:bodyPr wrap="square" anchor="ctr">
            <a:spAutoFit/>
          </a:bodyPr>
          <a:lstStyle/>
          <a:p>
            <a:pPr algn="l">
              <a:spcAft>
                <a:spcPts val="0"/>
              </a:spcAft>
            </a:pPr>
            <a:r>
              <a:rPr sz="900" b="0" i="0">
                <a:solidFill>
                  <a:srgbClr val="1F3864"/>
                </a:solidFill>
                <a:latin typeface="Calibri"/>
              </a:rPr>
              <a:t>could, but priced out or never quoted (CJB $8.42; APV ≥$3, est.)</a:t>
            </a:r>
          </a:p>
        </p:txBody>
      </p:sp>
      <p:sp>
        <p:nvSpPr>
          <p:cNvPr id="45" name="Rectangle 44"/>
          <p:cNvSpPr/>
          <p:nvPr/>
        </p:nvSpPr>
        <p:spPr>
          <a:xfrm>
            <a:off x="9436607" y="3392424"/>
            <a:ext cx="2139696" cy="576071"/>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73184" y="3410712"/>
            <a:ext cx="777240" cy="539495"/>
          </a:xfrm>
          <a:prstGeom prst="rect">
            <a:avLst/>
          </a:prstGeom>
          <a:noFill/>
        </p:spPr>
        <p:txBody>
          <a:bodyPr wrap="square" anchor="ctr">
            <a:spAutoFit/>
          </a:bodyPr>
          <a:lstStyle/>
          <a:p>
            <a:pPr algn="ctr">
              <a:spcAft>
                <a:spcPts val="0"/>
              </a:spcAft>
            </a:pPr>
            <a:r>
              <a:rPr sz="1800" b="1" i="0">
                <a:solidFill>
                  <a:srgbClr val="2E7D46"/>
                </a:solidFill>
                <a:latin typeface="Calibri"/>
              </a:rPr>
              <a:t>1</a:t>
            </a:r>
          </a:p>
        </p:txBody>
      </p:sp>
      <p:sp>
        <p:nvSpPr>
          <p:cNvPr id="47" name="TextBox 46"/>
          <p:cNvSpPr txBox="1"/>
          <p:nvPr/>
        </p:nvSpPr>
        <p:spPr>
          <a:xfrm>
            <a:off x="10222992" y="3410712"/>
            <a:ext cx="1298448" cy="539495"/>
          </a:xfrm>
          <a:prstGeom prst="rect">
            <a:avLst/>
          </a:prstGeom>
          <a:noFill/>
        </p:spPr>
        <p:txBody>
          <a:bodyPr wrap="square" anchor="ctr">
            <a:spAutoFit/>
          </a:bodyPr>
          <a:lstStyle/>
          <a:p>
            <a:pPr algn="l">
              <a:spcAft>
                <a:spcPts val="0"/>
              </a:spcAft>
            </a:pPr>
            <a:r>
              <a:rPr sz="900" b="1" i="0">
                <a:solidFill>
                  <a:srgbClr val="1F3864"/>
                </a:solidFill>
                <a:latin typeface="Calibri"/>
              </a:rPr>
              <a:t>can make it: PCI Manufacturing, $3.50/lb</a:t>
            </a:r>
          </a:p>
        </p:txBody>
      </p:sp>
      <p:sp>
        <p:nvSpPr>
          <p:cNvPr id="48" name="Rectangle 47"/>
          <p:cNvSpPr/>
          <p:nvPr/>
        </p:nvSpPr>
        <p:spPr>
          <a:xfrm>
            <a:off x="548640" y="4251960"/>
            <a:ext cx="3611880" cy="160020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1520" y="4370832"/>
            <a:ext cx="3246120" cy="1362456"/>
          </a:xfrm>
          <a:prstGeom prst="rect">
            <a:avLst/>
          </a:prstGeom>
          <a:noFill/>
        </p:spPr>
        <p:txBody>
          <a:bodyPr wrap="square">
            <a:spAutoFit/>
          </a:bodyPr>
          <a:lstStyle/>
          <a:p>
            <a:pPr algn="l">
              <a:spcAft>
                <a:spcPts val="600"/>
              </a:spcAft>
            </a:pPr>
            <a:r>
              <a:rPr sz="1350" b="1" i="0">
                <a:solidFill>
                  <a:srgbClr val="1F3864"/>
                </a:solidFill>
                <a:latin typeface="Calibri"/>
              </a:rPr>
              <a:t>Capability is not common</a:t>
            </a:r>
          </a:p>
          <a:p>
            <a:pPr algn="l">
              <a:spcAft>
                <a:spcPts val="500"/>
              </a:spcAft>
            </a:pPr>
            <a:r>
              <a:rPr sz="1000" b="0" i="0">
                <a:solidFill>
                  <a:srgbClr val="595959"/>
                </a:solidFill>
                <a:latin typeface="Calibri"/>
              </a:rPr>
              <a:t>•  The 90–95 °C dissolution cook at 55-gallon scale eliminated most of the market. One shop passed in ten months; the rest failed on heat, on viscosity, or on price</a:t>
            </a:r>
          </a:p>
        </p:txBody>
      </p:sp>
      <p:sp>
        <p:nvSpPr>
          <p:cNvPr id="50" name="Rectangle 49"/>
          <p:cNvSpPr/>
          <p:nvPr/>
        </p:nvSpPr>
        <p:spPr>
          <a:xfrm>
            <a:off x="4297680" y="4251960"/>
            <a:ext cx="3611880" cy="160020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480560" y="4370832"/>
            <a:ext cx="3246120" cy="1362456"/>
          </a:xfrm>
          <a:prstGeom prst="rect">
            <a:avLst/>
          </a:prstGeom>
          <a:noFill/>
        </p:spPr>
        <p:txBody>
          <a:bodyPr wrap="square">
            <a:spAutoFit/>
          </a:bodyPr>
          <a:lstStyle/>
          <a:p>
            <a:pPr algn="l">
              <a:spcAft>
                <a:spcPts val="600"/>
              </a:spcAft>
            </a:pPr>
            <a:r>
              <a:rPr sz="1350" b="1" i="0">
                <a:solidFill>
                  <a:srgbClr val="9C5A0C"/>
                </a:solidFill>
                <a:latin typeface="Calibri"/>
              </a:rPr>
              <a:t>Capability is expensive</a:t>
            </a:r>
          </a:p>
          <a:p>
            <a:pPr algn="l">
              <a:spcAft>
                <a:spcPts val="500"/>
              </a:spcAft>
            </a:pPr>
            <a:r>
              <a:rPr sz="1000" b="0" i="0">
                <a:solidFill>
                  <a:srgbClr val="595959"/>
                </a:solidFill>
                <a:latin typeface="Calibri"/>
              </a:rPr>
              <a:t>•  Everyone who can do it charges 4× to 11× SNP: PCI $3.50, APV ≥$3 (est.), CJB $8.42 — against $0.75. Small batches, drum freight and risk are priced in</a:t>
            </a:r>
          </a:p>
        </p:txBody>
      </p:sp>
      <p:sp>
        <p:nvSpPr>
          <p:cNvPr id="52" name="Rectangle 51"/>
          <p:cNvSpPr/>
          <p:nvPr/>
        </p:nvSpPr>
        <p:spPr>
          <a:xfrm>
            <a:off x="8046720" y="4251960"/>
            <a:ext cx="3566160" cy="16002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29600" y="4370832"/>
            <a:ext cx="3200400" cy="1362456"/>
          </a:xfrm>
          <a:prstGeom prst="rect">
            <a:avLst/>
          </a:prstGeom>
          <a:noFill/>
        </p:spPr>
        <p:txBody>
          <a:bodyPr wrap="square">
            <a:spAutoFit/>
          </a:bodyPr>
          <a:lstStyle/>
          <a:p>
            <a:pPr algn="l">
              <a:spcAft>
                <a:spcPts val="600"/>
              </a:spcAft>
            </a:pPr>
            <a:r>
              <a:rPr sz="1350" b="1" i="0">
                <a:solidFill>
                  <a:srgbClr val="2E7D46"/>
                </a:solidFill>
                <a:latin typeface="Calibri"/>
              </a:rPr>
              <a:t>SNP Inc. is an outlier, not a benchmark</a:t>
            </a:r>
          </a:p>
          <a:p>
            <a:pPr algn="l">
              <a:spcAft>
                <a:spcPts val="500"/>
              </a:spcAft>
            </a:pPr>
            <a:r>
              <a:rPr sz="1000" b="0" i="0">
                <a:solidFill>
                  <a:srgbClr val="595959"/>
                </a:solidFill>
                <a:latin typeface="Calibri"/>
              </a:rPr>
              <a:t>•  A specialist, close by, right-sized tanks, PVA as its core line, and a price below the whole US market. We cannot replicate that price; we can only protect it</a:t>
            </a:r>
          </a:p>
        </p:txBody>
      </p:sp>
      <p:sp>
        <p:nvSpPr>
          <p:cNvPr id="54" name="Rectangle 53"/>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seven suppliers engaged, one shop that can make it — at 4.7× SNP's price. SNP Inc. is an outlier we cannot replicate, only protect.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lb of PVA vs. quantity per order — the curve, and where each supplier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pic>
        <p:nvPicPr>
          <p:cNvPr id="5" name="Picture 4" descr="chart_price_vs_volume.png"/>
          <p:cNvPicPr>
            <a:picLocks noChangeAspect="1"/>
          </p:cNvPicPr>
          <p:nvPr/>
        </p:nvPicPr>
        <p:blipFill>
          <a:blip r:embed="rId2"/>
          <a:stretch>
            <a:fillRect/>
          </a:stretch>
        </p:blipFill>
        <p:spPr>
          <a:xfrm>
            <a:off x="548640" y="1051560"/>
            <a:ext cx="7406640" cy="4787219"/>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500"/>
              </a:spcAft>
            </a:pPr>
            <a:r>
              <a:rPr b="1" sz="1050">
                <a:solidFill>
                  <a:srgbClr val="1F3864"/>
                </a:solidFill>
                <a:latin typeface="Calibri"/>
              </a:rPr>
              <a:t>Left to right  </a:t>
            </a:r>
            <a:r>
              <a:rPr sz="950">
                <a:solidFill>
                  <a:srgbClr val="595959"/>
                </a:solidFill>
                <a:latin typeface="Calibri"/>
              </a:rPr>
              <a:t>— quantity per order, 1-gallon jug to 150 drums, log scale</a:t>
            </a:r>
          </a:p>
          <a:p>
            <a:pPr>
              <a:spcAft>
                <a:spcPts val="500"/>
              </a:spcAft>
            </a:pPr>
            <a:r>
              <a:rPr b="1" sz="1050">
                <a:solidFill>
                  <a:srgbClr val="1F3864"/>
                </a:solidFill>
                <a:latin typeface="Calibri"/>
              </a:rPr>
              <a:t>Grey points  </a:t>
            </a:r>
            <a:r>
              <a:rPr sz="950">
                <a:solidFill>
                  <a:srgbClr val="595959"/>
                </a:solidFill>
                <a:latin typeface="Calibri"/>
              </a:rPr>
              <a:t>— verified prices of pre-mixed PVA solution by pack size (US up to 20 gal; offshore ton offers before freight)</a:t>
            </a:r>
          </a:p>
          <a:p>
            <a:pPr>
              <a:spcAft>
                <a:spcPts val="500"/>
              </a:spcAft>
            </a:pPr>
            <a:r>
              <a:rPr b="1" sz="1050">
                <a:solidFill>
                  <a:srgbClr val="1F3864"/>
                </a:solidFill>
                <a:latin typeface="Calibri"/>
              </a:rPr>
              <a:t>Navy line and band  </a:t>
            </a:r>
            <a:r>
              <a:rPr sz="950">
                <a:solidFill>
                  <a:srgbClr val="595959"/>
                </a:solidFill>
                <a:latin typeface="Calibri"/>
              </a:rPr>
              <a:t>— trend ~18% lower per doubling of the lot; the band is where 80% of the points fall. Beyond 20 gal its top follows the flattening in vendors' ladders; its floor is SNP's $0.75 — no US-delivered lot has been seen cheaper. One drum $0.83–3.53; SNP's lot $0.75–3.09; 5-drum batch $0.75–2.91</a:t>
            </a:r>
          </a:p>
          <a:p>
            <a:pPr>
              <a:spcAft>
                <a:spcPts val="500"/>
              </a:spcAft>
            </a:pPr>
            <a:r>
              <a:rPr b="1" sz="1050">
                <a:solidFill>
                  <a:srgbClr val="1F3864"/>
                </a:solidFill>
                <a:latin typeface="Calibri"/>
              </a:rPr>
              <a:t>SNP Inc., green  </a:t>
            </a:r>
            <a:r>
              <a:rPr sz="950">
                <a:solidFill>
                  <a:srgbClr val="595959"/>
                </a:solidFill>
                <a:latin typeface="Calibri"/>
              </a:rPr>
              <a:t>— $0.75 at ~3 drums a week — the floor of the band, delivered and to our spec</a:t>
            </a:r>
          </a:p>
          <a:p>
            <a:pPr>
              <a:spcAft>
                <a:spcPts val="500"/>
              </a:spcAft>
            </a:pPr>
            <a:r>
              <a:rPr b="1" sz="1050">
                <a:solidFill>
                  <a:srgbClr val="1F3864"/>
                </a:solidFill>
                <a:latin typeface="Calibri"/>
              </a:rPr>
              <a:t>Green dashed  </a:t>
            </a:r>
            <a:r>
              <a:rPr sz="950">
                <a:solidFill>
                  <a:srgbClr val="595959"/>
                </a:solidFill>
                <a:latin typeface="Calibri"/>
              </a:rPr>
              <a:t>— the same slope through SNP's price: if we ever bought smaller lots from SNP, expect ~$1.04 at one drum, ~$2.08 at 5 gallons — a regression, not a quote</a:t>
            </a:r>
          </a:p>
          <a:p>
            <a:pPr>
              <a:spcAft>
                <a:spcPts val="500"/>
              </a:spcAft>
            </a:pPr>
            <a:r>
              <a:rPr b="1" sz="1050">
                <a:solidFill>
                  <a:srgbClr val="1F3864"/>
                </a:solidFill>
                <a:latin typeface="Calibri"/>
              </a:rPr>
              <a:t>PCI, ambers  </a:t>
            </a:r>
            <a:r>
              <a:rPr sz="950">
                <a:solidFill>
                  <a:srgbClr val="595959"/>
                </a:solidFill>
                <a:latin typeface="Calibri"/>
              </a:rPr>
              <a:t>— $3.50 at a 5-drum batch, $6.00 below it — above the band: batch-fixed cost and drum freight priced in</a:t>
            </a:r>
          </a:p>
          <a:p>
            <a:pPr>
              <a:spcAft>
                <a:spcPts val="500"/>
              </a:spcAft>
            </a:pPr>
            <a:r>
              <a:rPr b="1" sz="1050">
                <a:solidFill>
                  <a:srgbClr val="1F3864"/>
                </a:solidFill>
                <a:latin typeface="Calibri"/>
              </a:rPr>
              <a:t>CJB, red · APV, hollow  </a:t>
            </a:r>
            <a:r>
              <a:rPr sz="950">
                <a:solidFill>
                  <a:srgbClr val="595959"/>
                </a:solidFill>
                <a:latin typeface="Calibri"/>
              </a:rPr>
              <a:t>— CJB $8.42 far above the band; APV ≥$3 (estimate, never confirmed) at its top</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Price follows lot size across this market. SNP Inc. is its floor — drum lots at $0.75, delivered to our spec; every other supplier that can make it charges the top of the band, or more.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Our cost per lb of PVA, across the board — with one, two or three PCI batches a year</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pic>
        <p:nvPicPr>
          <p:cNvPr id="5" name="Picture 4" descr="chart_blended_cost.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500"/>
              </a:spcAft>
            </a:pPr>
            <a:r>
              <a:rPr b="1" sz="1050">
                <a:solidFill>
                  <a:srgbClr val="1F3864"/>
                </a:solidFill>
                <a:latin typeface="Calibri"/>
              </a:rPr>
              <a:t>What it is  </a:t>
            </a:r>
            <a:r>
              <a:rPr sz="950">
                <a:solidFill>
                  <a:srgbClr val="595959"/>
                </a:solidFill>
                <a:latin typeface="Calibri"/>
              </a:rPr>
              <a:t>— the average price we pay per lb across all 150 drums a year, when some drums come from PCI at $3.50 and the rest from SNP Inc. at $0.75</a:t>
            </a:r>
          </a:p>
          <a:p>
            <a:pPr>
              <a:spcAft>
                <a:spcPts val="500"/>
              </a:spcAft>
            </a:pPr>
            <a:r>
              <a:rPr b="1" sz="1050">
                <a:solidFill>
                  <a:srgbClr val="1F3864"/>
                </a:solidFill>
                <a:latin typeface="Calibri"/>
              </a:rPr>
              <a:t>Today  </a:t>
            </a:r>
            <a:r>
              <a:rPr sz="950">
                <a:solidFill>
                  <a:srgbClr val="595959"/>
                </a:solidFill>
                <a:latin typeface="Calibri"/>
              </a:rPr>
              <a:t>— $0.750/lb · $338 a drum · $50.7k a year</a:t>
            </a:r>
          </a:p>
          <a:p>
            <a:pPr>
              <a:spcAft>
                <a:spcPts val="500"/>
              </a:spcAft>
            </a:pPr>
            <a:r>
              <a:rPr b="1" sz="1050">
                <a:solidFill>
                  <a:srgbClr val="1F3864"/>
                </a:solidFill>
                <a:latin typeface="Calibri"/>
              </a:rPr>
              <a:t>1 batch a year  </a:t>
            </a:r>
            <a:r>
              <a:rPr sz="950">
                <a:solidFill>
                  <a:srgbClr val="595959"/>
                </a:solidFill>
                <a:latin typeface="Calibri"/>
              </a:rPr>
              <a:t>— $0.842/lb (+12%) · $379 a drum · $56.9k a year</a:t>
            </a:r>
          </a:p>
          <a:p>
            <a:pPr>
              <a:spcAft>
                <a:spcPts val="500"/>
              </a:spcAft>
            </a:pPr>
            <a:r>
              <a:rPr b="1" sz="1050">
                <a:solidFill>
                  <a:srgbClr val="1F3864"/>
                </a:solidFill>
                <a:latin typeface="Calibri"/>
              </a:rPr>
              <a:t>2 batches  </a:t>
            </a:r>
            <a:r>
              <a:rPr sz="950">
                <a:solidFill>
                  <a:srgbClr val="595959"/>
                </a:solidFill>
                <a:latin typeface="Calibri"/>
              </a:rPr>
              <a:t>— $0.933/lb (+24%) · $420 a drum · $63.1k a year</a:t>
            </a:r>
          </a:p>
          <a:p>
            <a:pPr>
              <a:spcAft>
                <a:spcPts val="500"/>
              </a:spcAft>
            </a:pPr>
            <a:r>
              <a:rPr b="1" sz="1050">
                <a:solidFill>
                  <a:srgbClr val="1F3864"/>
                </a:solidFill>
                <a:latin typeface="Calibri"/>
              </a:rPr>
              <a:t>3 batches  </a:t>
            </a:r>
            <a:r>
              <a:rPr sz="950">
                <a:solidFill>
                  <a:srgbClr val="595959"/>
                </a:solidFill>
                <a:latin typeface="Calibri"/>
              </a:rPr>
              <a:t>— $1.025/lb (+37%) · $461 a drum · $69.3k a year</a:t>
            </a:r>
          </a:p>
          <a:p>
            <a:pPr>
              <a:spcAft>
                <a:spcPts val="500"/>
              </a:spcAft>
            </a:pPr>
            <a:r>
              <a:rPr b="1" sz="1050">
                <a:solidFill>
                  <a:srgbClr val="1F3864"/>
                </a:solidFill>
                <a:latin typeface="Calibri"/>
              </a:rPr>
              <a:t>Why it steps evenly  </a:t>
            </a:r>
            <a:r>
              <a:rPr sz="950">
                <a:solidFill>
                  <a:srgbClr val="595959"/>
                </a:solidFill>
                <a:latin typeface="Calibri"/>
              </a:rPr>
              <a:t>— each 5-drum batch replaces 2,250 lb of SNP material at a $2.75/lb premium: +$6.2k a year, or about 9 cents on every lb we buy</a:t>
            </a:r>
          </a:p>
          <a:p>
            <a:pPr>
              <a:spcAft>
                <a:spcPts val="500"/>
              </a:spcAft>
            </a:pPr>
            <a:r>
              <a:rPr b="1" sz="1050">
                <a:solidFill>
                  <a:srgbClr val="1F3864"/>
                </a:solidFill>
                <a:latin typeface="Calibri"/>
              </a:rPr>
              <a:t>For scale  </a:t>
            </a:r>
            <a:r>
              <a:rPr sz="950">
                <a:solidFill>
                  <a:srgbClr val="595959"/>
                </a:solidFill>
                <a:latin typeface="Calibri"/>
              </a:rPr>
              <a:t>— Option 1, one-third from PCI, would be $1.665/lb — more than double today</a:t>
            </a:r>
          </a:p>
          <a:p>
            <a:pPr>
              <a:spcAft>
                <a:spcPts val="500"/>
              </a:spcAft>
            </a:pPr>
            <a:r>
              <a:rPr b="1" sz="1050">
                <a:solidFill>
                  <a:srgbClr val="1F3864"/>
                </a:solidFill>
                <a:latin typeface="Calibri"/>
              </a:rPr>
              <a:t>Not included  </a:t>
            </a:r>
            <a:r>
              <a:rPr sz="950">
                <a:solidFill>
                  <a:srgbClr val="595959"/>
                </a:solidFill>
                <a:latin typeface="Calibri"/>
              </a:rPr>
              <a:t>— internal hours to finish PCI's qualification (~$15–40k once); volume growth of ~10%/yr moves every bar up the same way</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One PCI batch a year takes our PVA from $0.75 to $0.84 a lb; three take it to $1.02. Option 1 would take it to $1.67.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2834640" y="987552"/>
            <a:ext cx="5394960" cy="274320"/>
          </a:xfrm>
          <a:prstGeom prst="rect">
            <a:avLst/>
          </a:prstGeom>
          <a:noFill/>
        </p:spPr>
        <p:txBody>
          <a:bodyPr wrap="square">
            <a:spAutoFit/>
          </a:bodyPr>
          <a:lstStyle/>
          <a:p>
            <a:pPr algn="l">
              <a:spcAft>
                <a:spcPts val="0"/>
              </a:spcAft>
            </a:pPr>
            <a:r>
              <a:rPr sz="90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24028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2834640" y="149047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83464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81635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0742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5342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513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620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7220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5391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4498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098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269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6376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976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9147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8254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2854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1025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0132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4732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2903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010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6610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4781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63888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98488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6659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15766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503664"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8537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67644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125272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100 + PCI 50 (33%)</a:t>
            </a:r>
          </a:p>
          <a:p>
            <a:pPr>
              <a:spcAft>
                <a:spcPts val="200"/>
              </a:spcAft>
            </a:pPr>
            <a:r>
              <a:rPr sz="850">
                <a:solidFill>
                  <a:srgbClr val="595959"/>
                </a:solidFill>
                <a:latin typeface="Calibri"/>
              </a:rPr>
              <a:t>Money a year  </a:t>
            </a:r>
            <a:r>
              <a:rPr sz="1100" b="1">
                <a:solidFill>
                  <a:srgbClr val="1F3864"/>
                </a:solidFill>
                <a:latin typeface="Calibri"/>
              </a:rPr>
              <a:t>$112.6k = SNP $33.8k + PCI $78.8k</a:t>
            </a:r>
          </a:p>
          <a:p>
            <a:pPr>
              <a:spcAft>
                <a:spcPts val="200"/>
              </a:spcAft>
            </a:pPr>
            <a:r>
              <a:rPr sz="850">
                <a:solidFill>
                  <a:srgbClr val="595959"/>
                </a:solidFill>
                <a:latin typeface="Calibri"/>
              </a:rPr>
              <a:t>SNP Inc. sees  </a:t>
            </a:r>
            <a:r>
              <a:rPr sz="900" b="0">
                <a:solidFill>
                  <a:srgbClr val="1F3864"/>
                </a:solidFill>
                <a:latin typeface="Calibri"/>
              </a:rPr>
              <a:t>10 pauses of ~12 days, or level with a rolling stock</a:t>
            </a:r>
          </a:p>
          <a:p>
            <a:pPr>
              <a:spcAft>
                <a:spcPts val="200"/>
              </a:spcAft>
            </a:pPr>
            <a:r>
              <a:rPr sz="850">
                <a:solidFill>
                  <a:srgbClr val="595959"/>
                </a:solidFill>
                <a:latin typeface="Calibri"/>
              </a:rPr>
              <a:t>If SNP fails, restart in  </a:t>
            </a:r>
            <a:r>
              <a:rPr sz="900" b="0">
                <a:solidFill>
                  <a:srgbClr val="1F3864"/>
                </a:solidFill>
                <a:latin typeface="Calibri"/>
              </a:rPr>
              <a:t>weeks, if PCI's ramp is confirmed in writing</a:t>
            </a:r>
          </a:p>
        </p:txBody>
      </p:sp>
      <p:sp>
        <p:nvSpPr>
          <p:cNvPr id="39" name="TextBox 38"/>
          <p:cNvSpPr txBox="1"/>
          <p:nvPr/>
        </p:nvSpPr>
        <p:spPr>
          <a:xfrm>
            <a:off x="548640" y="2788920"/>
            <a:ext cx="224028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1–3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2834640" y="295351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905615"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887327"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07839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547777"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52948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72056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189939"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17165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362723"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29600" y="271576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145 / 140 / 135 + PCI 5 / 10 / 15</a:t>
            </a:r>
          </a:p>
          <a:p>
            <a:pPr>
              <a:spcAft>
                <a:spcPts val="200"/>
              </a:spcAft>
            </a:pPr>
            <a:r>
              <a:rPr sz="850">
                <a:solidFill>
                  <a:srgbClr val="595959"/>
                </a:solidFill>
                <a:latin typeface="Calibri"/>
              </a:rPr>
              <a:t>Money a year  </a:t>
            </a:r>
            <a:r>
              <a:rPr sz="1100" b="1">
                <a:solidFill>
                  <a:srgbClr val="1F3864"/>
                </a:solidFill>
                <a:latin typeface="Calibri"/>
              </a:rPr>
              <a:t>$56.9k / $63.1k / $69.3k (PCI $7.9k / $15.8k / $23.6k)</a:t>
            </a:r>
          </a:p>
          <a:p>
            <a:pPr>
              <a:spcAft>
                <a:spcPts val="200"/>
              </a:spcAft>
            </a:pPr>
            <a:r>
              <a:rPr sz="850">
                <a:solidFill>
                  <a:srgbClr val="595959"/>
                </a:solidFill>
                <a:latin typeface="Calibri"/>
              </a:rPr>
              <a:t>SNP Inc. sees  </a:t>
            </a:r>
            <a:r>
              <a:rPr sz="900" b="0">
                <a:solidFill>
                  <a:srgbClr val="1F3864"/>
                </a:solidFill>
                <a:latin typeface="Calibri"/>
              </a:rPr>
              <a:t>1–3 pre-announced pauses, or none</a:t>
            </a:r>
          </a:p>
          <a:p>
            <a:pPr>
              <a:spcAft>
                <a:spcPts val="200"/>
              </a:spcAft>
            </a:pPr>
            <a:r>
              <a:rPr sz="850">
                <a:solidFill>
                  <a:srgbClr val="595959"/>
                </a:solidFill>
                <a:latin typeface="Calibri"/>
              </a:rPr>
              <a:t>If SNP fails, restart in  </a:t>
            </a:r>
            <a:r>
              <a:rPr sz="900" b="0">
                <a:solidFill>
                  <a:srgbClr val="1F3864"/>
                </a:solidFill>
                <a:latin typeface="Calibri"/>
              </a:rPr>
              <a:t>weeks to a few months</a:t>
            </a:r>
          </a:p>
        </p:txBody>
      </p:sp>
      <p:sp>
        <p:nvSpPr>
          <p:cNvPr id="51" name="TextBox 50"/>
          <p:cNvSpPr txBox="1"/>
          <p:nvPr/>
        </p:nvSpPr>
        <p:spPr>
          <a:xfrm>
            <a:off x="548640" y="4251960"/>
            <a:ext cx="224028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52" name="Rectangle 51"/>
          <p:cNvSpPr/>
          <p:nvPr/>
        </p:nvSpPr>
        <p:spPr>
          <a:xfrm>
            <a:off x="2834640" y="441655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5603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4" name="TextBox 53"/>
          <p:cNvSpPr txBox="1"/>
          <p:nvPr/>
        </p:nvSpPr>
        <p:spPr>
          <a:xfrm>
            <a:off x="385977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5" name="TextBox 54"/>
          <p:cNvSpPr txBox="1"/>
          <p:nvPr/>
        </p:nvSpPr>
        <p:spPr>
          <a:xfrm>
            <a:off x="51592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6" name="TextBox 55"/>
          <p:cNvSpPr txBox="1"/>
          <p:nvPr/>
        </p:nvSpPr>
        <p:spPr>
          <a:xfrm>
            <a:off x="647294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7" name="TextBox 56"/>
          <p:cNvSpPr txBox="1"/>
          <p:nvPr/>
        </p:nvSpPr>
        <p:spPr>
          <a:xfrm>
            <a:off x="77724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8" name="TextBox 57"/>
          <p:cNvSpPr txBox="1"/>
          <p:nvPr/>
        </p:nvSpPr>
        <p:spPr>
          <a:xfrm>
            <a:off x="8229600" y="417880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150</a:t>
            </a:r>
          </a:p>
          <a:p>
            <a:pPr>
              <a:spcAft>
                <a:spcPts val="200"/>
              </a:spcAft>
            </a:pPr>
            <a:r>
              <a:rPr sz="850">
                <a:solidFill>
                  <a:srgbClr val="595959"/>
                </a:solidFill>
                <a:latin typeface="Calibri"/>
              </a:rPr>
              <a:t>Money a year  </a:t>
            </a:r>
            <a:r>
              <a:rPr sz="1100" b="1">
                <a:solidFill>
                  <a:srgbClr val="1F3864"/>
                </a:solidFill>
                <a:latin typeface="Calibri"/>
              </a:rPr>
              <a:t>$50.7k = SNP $50.7k — what we pay today</a:t>
            </a:r>
          </a:p>
          <a:p>
            <a:pPr>
              <a:spcAft>
                <a:spcPts val="200"/>
              </a:spcAft>
            </a:pPr>
            <a:r>
              <a:rPr sz="850">
                <a:solidFill>
                  <a:srgbClr val="595959"/>
                </a:solidFill>
                <a:latin typeface="Calibri"/>
              </a:rPr>
              <a:t>SNP Inc. sees  </a:t>
            </a:r>
            <a:r>
              <a:rPr sz="900" b="0">
                <a:solidFill>
                  <a:srgbClr val="1F3864"/>
                </a:solidFill>
                <a:latin typeface="Calibri"/>
              </a:rPr>
              <a:t>a strengthened partner</a:t>
            </a:r>
          </a:p>
          <a:p>
            <a:pPr>
              <a:spcAft>
                <a:spcPts val="200"/>
              </a:spcAft>
            </a:pPr>
            <a:r>
              <a:rPr sz="850">
                <a:solidFill>
                  <a:srgbClr val="595959"/>
                </a:solidFill>
                <a:latin typeface="Calibri"/>
              </a:rPr>
              <a:t>If SNP fails, restart in  </a:t>
            </a:r>
            <a:r>
              <a:rPr sz="900" b="0">
                <a:solidFill>
                  <a:srgbClr val="1F3864"/>
                </a:solidFill>
                <a:latin typeface="Calibri"/>
              </a:rPr>
              <a:t>~3–6 months; decays after ~12 months idle</a:t>
            </a:r>
          </a:p>
        </p:txBody>
      </p:sp>
      <p:sp>
        <p:nvSpPr>
          <p:cNvPr id="59" name="TextBox 58"/>
          <p:cNvSpPr txBox="1"/>
          <p:nvPr/>
        </p:nvSpPr>
        <p:spPr>
          <a:xfrm>
            <a:off x="548640" y="5486400"/>
            <a:ext cx="11064240" cy="457200"/>
          </a:xfrm>
          <a:prstGeom prst="rect">
            <a:avLst/>
          </a:prstGeom>
          <a:noFill/>
        </p:spPr>
        <p:txBody>
          <a:bodyPr wrap="square">
            <a:spAutoFit/>
          </a:bodyPr>
          <a:lstStyle/>
          <a:p>
            <a:pPr algn="l">
              <a:spcAft>
                <a:spcPts val="0"/>
              </a:spcAft>
            </a:pPr>
            <a:r>
              <a:rPr sz="850" b="0" i="0">
                <a:solidFill>
                  <a:srgbClr val="595959"/>
                </a:solidFill>
                <a:latin typeface="Calibri"/>
              </a:rPr>
              <a:t>Demand: 150 drums a year (1 drum = 450 lb of PVA), ~3 a week. A 5-drum PCI batch is used in one ~12-day block (drums land ~4 days old, expire on day 18). Purchases at today's volume: SNP $337.50 a drum, PCI $1,575 a drum; all grow ~10%/yr. Internal hours to finish PCI's qualification (~$15–40k once) are not included.</a:t>
            </a:r>
          </a:p>
        </p:txBody>
      </p:sp>
      <p:sp>
        <p:nvSpPr>
          <p:cNvPr id="60" name="Rectangle 59"/>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$6–19k a year on top of today's $50.7k, with one to three pre-announced pauses for SNP Inc. — Option 1 more than doubles the bill and changes SNP's year.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PVA purchases in a year: SNP Inc. at $0.75/lb plus PCI at $3.50/lb. Today is $50.7k (grey line). Internal hours to finish PCI's qualification are not included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$50.7k, what we pay today;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$56.9–69.3k (1–3 batches); a practiced supplier restarts in weeks to a few months — $43–56k a year less than Option 1</a:t>
            </a:r>
          </a:p>
          <a:p>
            <a:pPr>
              <a:spcAft>
                <a:spcPts val="600"/>
              </a:spcAft>
            </a:pPr>
            <a:r>
              <a:rPr b="1" sz="1050">
                <a:solidFill>
                  <a:srgbClr val="1F3864"/>
                </a:solidFill>
                <a:latin typeface="Calibri"/>
              </a:rPr>
              <a:t>Option 1, amber  </a:t>
            </a:r>
            <a:r>
              <a:rPr sz="1000">
                <a:solidFill>
                  <a:srgbClr val="595959"/>
                </a:solidFill>
                <a:latin typeface="Calibri"/>
              </a:rPr>
              <a:t>— $112.6k; most protected — weeks, if PCI's ramp is confirmed in writing — and the same every year, growing with volume</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1–3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three instruments, weighted</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640080"/>
          </a:xfrm>
          <a:prstGeom prst="rect">
            <a:avLst/>
          </a:prstGeom>
          <a:noFill/>
        </p:spPr>
        <p:txBody>
          <a:bodyPr wrap="square">
            <a:spAutoFit/>
          </a:bodyPr>
          <a:lstStyle/>
          <a:p>
            <a:pPr algn="l">
              <a:spcAft>
                <a:spcPts val="0"/>
              </a:spcAft>
            </a:pPr>
            <a:r>
              <a:rPr sz="1250" b="1" i="0">
                <a:solidFill>
                  <a:srgbClr val="1F3864"/>
                </a:solidFill>
                <a:latin typeface="Calibri"/>
              </a:rPr>
              <a:t>A supplier stays ready without steady volume if it gets a real order now and then, signed terms, and payment for its work. Routine in medical devices, pharma and aerospace; what spoils the relationship is not the 'no' — it is silence and unpaid work.</a:t>
            </a:r>
          </a:p>
        </p:txBody>
      </p:sp>
      <p:sp>
        <p:nvSpPr>
          <p:cNvPr id="6" name="Rectangle 5"/>
          <p:cNvSpPr/>
          <p:nvPr/>
        </p:nvSpPr>
        <p:spPr>
          <a:xfrm>
            <a:off x="548640" y="1828800"/>
            <a:ext cx="41148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28800"/>
            <a:ext cx="41148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1</a:t>
            </a:r>
          </a:p>
        </p:txBody>
      </p:sp>
      <p:sp>
        <p:nvSpPr>
          <p:cNvPr id="9" name="TextBox 8"/>
          <p:cNvSpPr txBox="1"/>
          <p:nvPr/>
        </p:nvSpPr>
        <p:spPr>
          <a:xfrm>
            <a:off x="1188719" y="2011680"/>
            <a:ext cx="3337560" cy="320040"/>
          </a:xfrm>
          <a:prstGeom prst="rect">
            <a:avLst/>
          </a:prstGeom>
          <a:noFill/>
        </p:spPr>
        <p:txBody>
          <a:bodyPr wrap="square">
            <a:spAutoFit/>
          </a:bodyPr>
          <a:lstStyle/>
          <a:p>
            <a:pPr algn="l">
              <a:spcAft>
                <a:spcPts val="0"/>
              </a:spcAft>
            </a:pPr>
            <a:r>
              <a:rPr sz="950" b="1" i="0">
                <a:solidFill>
                  <a:srgbClr val="2F6DB5"/>
                </a:solidFill>
                <a:latin typeface="Calibri"/>
              </a:rPr>
              <a:t>ESSENTIAL — this is Option 3</a:t>
            </a:r>
          </a:p>
        </p:txBody>
      </p:sp>
      <p:sp>
        <p:nvSpPr>
          <p:cNvPr id="10" name="TextBox 9"/>
          <p:cNvSpPr txBox="1"/>
          <p:nvPr/>
        </p:nvSpPr>
        <p:spPr>
          <a:xfrm>
            <a:off x="1188719" y="2286000"/>
            <a:ext cx="3337560" cy="640080"/>
          </a:xfrm>
          <a:prstGeom prst="rect">
            <a:avLst/>
          </a:prstGeom>
          <a:noFill/>
        </p:spPr>
        <p:txBody>
          <a:bodyPr wrap="square">
            <a:spAutoFit/>
          </a:bodyPr>
          <a:lstStyle/>
          <a:p>
            <a:pPr algn="l">
              <a:spcAft>
                <a:spcPts val="0"/>
              </a:spcAft>
            </a:pPr>
            <a:r>
              <a:rPr sz="1400" b="1" i="0">
                <a:solidFill>
                  <a:srgbClr val="1F3864"/>
                </a:solidFill>
                <a:latin typeface="Calibri"/>
              </a:rPr>
              <a:t>Place a real order</a:t>
            </a:r>
          </a:p>
        </p:txBody>
      </p:sp>
      <p:sp>
        <p:nvSpPr>
          <p:cNvPr id="11" name="TextBox 10"/>
          <p:cNvSpPr txBox="1"/>
          <p:nvPr/>
        </p:nvSpPr>
        <p:spPr>
          <a:xfrm>
            <a:off x="685800" y="2971800"/>
            <a:ext cx="3840480" cy="1371600"/>
          </a:xfrm>
          <a:prstGeom prst="rect">
            <a:avLst/>
          </a:prstGeom>
          <a:noFill/>
        </p:spPr>
        <p:txBody>
          <a:bodyPr wrap="square">
            <a:spAutoFit/>
          </a:bodyPr>
          <a:lstStyle/>
          <a:p>
            <a:pPr algn="l">
              <a:spcAft>
                <a:spcPts val="0"/>
              </a:spcAft>
            </a:pPr>
            <a:r>
              <a:rPr sz="1050" b="0" i="0">
                <a:solidFill>
                  <a:srgbClr val="595959"/>
                </a:solidFill>
                <a:latin typeface="Calibri"/>
              </a:rPr>
              <a:t>One 5-drum batch, repeated 1–3 times a year. The only instrument that pays PCI with revenue and proves production scale; without it the other two are paperwork.</a:t>
            </a:r>
          </a:p>
        </p:txBody>
      </p:sp>
      <p:sp>
        <p:nvSpPr>
          <p:cNvPr id="12" name="TextBox 11"/>
          <p:cNvSpPr txBox="1"/>
          <p:nvPr/>
        </p:nvSpPr>
        <p:spPr>
          <a:xfrm>
            <a:off x="685800" y="4206240"/>
            <a:ext cx="3840480" cy="731520"/>
          </a:xfrm>
          <a:prstGeom prst="rect">
            <a:avLst/>
          </a:prstGeom>
          <a:noFill/>
        </p:spPr>
        <p:txBody>
          <a:bodyPr wrap="square">
            <a:spAutoFit/>
          </a:bodyPr>
          <a:lstStyle/>
          <a:p>
            <a:pPr algn="l">
              <a:spcAft>
                <a:spcPts val="300"/>
              </a:spcAft>
            </a:pPr>
            <a:r>
              <a:rPr sz="1000" b="1" i="0">
                <a:solidFill>
                  <a:srgbClr val="1F3864"/>
                </a:solidFill>
                <a:latin typeface="Calibri"/>
              </a:rPr>
              <a:t>Our cost: $7.9k per batch</a:t>
            </a:r>
          </a:p>
          <a:p>
            <a:pPr algn="l">
              <a:spcAft>
                <a:spcPts val="0"/>
              </a:spcAft>
            </a:pPr>
            <a:r>
              <a:rPr sz="1000" b="0" i="0">
                <a:solidFill>
                  <a:srgbClr val="595959"/>
                </a:solidFill>
                <a:latin typeface="Calibri"/>
              </a:rPr>
              <a:t>PCI gets: A customer, not an experiment</a:t>
            </a:r>
          </a:p>
        </p:txBody>
      </p:sp>
      <p:sp>
        <p:nvSpPr>
          <p:cNvPr id="13" name="Rectangle 12"/>
          <p:cNvSpPr/>
          <p:nvPr/>
        </p:nvSpPr>
        <p:spPr>
          <a:xfrm>
            <a:off x="4800600" y="1828800"/>
            <a:ext cx="36576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00600" y="1828800"/>
            <a:ext cx="36576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2</a:t>
            </a:r>
          </a:p>
        </p:txBody>
      </p:sp>
      <p:sp>
        <p:nvSpPr>
          <p:cNvPr id="16" name="TextBox 15"/>
          <p:cNvSpPr txBox="1"/>
          <p:nvPr/>
        </p:nvSpPr>
        <p:spPr>
          <a:xfrm>
            <a:off x="5440680" y="2011680"/>
            <a:ext cx="2880360" cy="320040"/>
          </a:xfrm>
          <a:prstGeom prst="rect">
            <a:avLst/>
          </a:prstGeom>
          <a:noFill/>
        </p:spPr>
        <p:txBody>
          <a:bodyPr wrap="square">
            <a:spAutoFit/>
          </a:bodyPr>
          <a:lstStyle/>
          <a:p>
            <a:pPr algn="l">
              <a:spcAft>
                <a:spcPts val="0"/>
              </a:spcAft>
            </a:pPr>
            <a:r>
              <a:rPr sz="950" b="1" i="0">
                <a:solidFill>
                  <a:srgbClr val="2F6DB5"/>
                </a:solidFill>
                <a:latin typeface="Calibri"/>
              </a:rPr>
              <a:t>ESSENTIAL — costs almost nothing</a:t>
            </a:r>
          </a:p>
        </p:txBody>
      </p:sp>
      <p:sp>
        <p:nvSpPr>
          <p:cNvPr id="17" name="TextBox 16"/>
          <p:cNvSpPr txBox="1"/>
          <p:nvPr/>
        </p:nvSpPr>
        <p:spPr>
          <a:xfrm>
            <a:off x="5440680" y="2286000"/>
            <a:ext cx="2880360" cy="640080"/>
          </a:xfrm>
          <a:prstGeom prst="rect">
            <a:avLst/>
          </a:prstGeom>
          <a:noFill/>
        </p:spPr>
        <p:txBody>
          <a:bodyPr wrap="square">
            <a:spAutoFit/>
          </a:bodyPr>
          <a:lstStyle/>
          <a:p>
            <a:pPr algn="l">
              <a:spcAft>
                <a:spcPts val="0"/>
              </a:spcAft>
            </a:pPr>
            <a:r>
              <a:rPr sz="1400" b="1" i="0">
                <a:solidFill>
                  <a:srgbClr val="1F3864"/>
                </a:solidFill>
                <a:latin typeface="Calibri"/>
              </a:rPr>
              <a:t>Sign terms with no volume commitment</a:t>
            </a:r>
          </a:p>
        </p:txBody>
      </p:sp>
      <p:sp>
        <p:nvSpPr>
          <p:cNvPr id="18" name="TextBox 17"/>
          <p:cNvSpPr txBox="1"/>
          <p:nvPr/>
        </p:nvSpPr>
        <p:spPr>
          <a:xfrm>
            <a:off x="4937760" y="2971800"/>
            <a:ext cx="3383280" cy="1371600"/>
          </a:xfrm>
          <a:prstGeom prst="rect">
            <a:avLst/>
          </a:prstGeom>
          <a:noFill/>
        </p:spPr>
        <p:txBody>
          <a:bodyPr wrap="square">
            <a:spAutoFit/>
          </a:bodyPr>
          <a:lstStyle/>
          <a:p>
            <a:pPr algn="l">
              <a:spcAft>
                <a:spcPts val="0"/>
              </a:spcAft>
            </a:pPr>
            <a:r>
              <a:rPr sz="1050" b="0" i="0">
                <a:solidFill>
                  <a:srgbClr val="595959"/>
                </a:solidFill>
                <a:latin typeface="Calibri"/>
              </a:rPr>
              <a:t>$3.50/lb, spec, lead time, quality and change-notification terms, valid 12–24 months, zero minimum. Locks the economic core of Option 3 in writing: the batch price with no volume string.</a:t>
            </a:r>
          </a:p>
        </p:txBody>
      </p:sp>
      <p:sp>
        <p:nvSpPr>
          <p:cNvPr id="19" name="TextBox 18"/>
          <p:cNvSpPr txBox="1"/>
          <p:nvPr/>
        </p:nvSpPr>
        <p:spPr>
          <a:xfrm>
            <a:off x="4937760" y="4206240"/>
            <a:ext cx="3383280" cy="731520"/>
          </a:xfrm>
          <a:prstGeom prst="rect">
            <a:avLst/>
          </a:prstGeom>
          <a:noFill/>
        </p:spPr>
        <p:txBody>
          <a:bodyPr wrap="square">
            <a:spAutoFit/>
          </a:bodyPr>
          <a:lstStyle/>
          <a:p>
            <a:pPr algn="l">
              <a:spcAft>
                <a:spcPts val="300"/>
              </a:spcAft>
            </a:pPr>
            <a:r>
              <a:rPr sz="1000" b="1" i="0">
                <a:solidFill>
                  <a:srgbClr val="1F3864"/>
                </a:solidFill>
                <a:latin typeface="Calibri"/>
              </a:rPr>
              <a:t>Our cost: Legal time</a:t>
            </a:r>
          </a:p>
          <a:p>
            <a:pPr algn="l">
              <a:spcAft>
                <a:spcPts val="0"/>
              </a:spcAft>
            </a:pPr>
            <a:r>
              <a:rPr sz="1000" b="0" i="0">
                <a:solidFill>
                  <a:srgbClr val="595959"/>
                </a:solidFill>
                <a:latin typeface="Calibri"/>
              </a:rPr>
              <a:t>PCI gets: 'Approved second source' status they can show</a:t>
            </a:r>
          </a:p>
        </p:txBody>
      </p:sp>
      <p:sp>
        <p:nvSpPr>
          <p:cNvPr id="20" name="Rectangle 19"/>
          <p:cNvSpPr/>
          <p:nvPr/>
        </p:nvSpPr>
        <p:spPr>
          <a:xfrm>
            <a:off x="8595360" y="1828800"/>
            <a:ext cx="3017520" cy="3154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5360" y="1828800"/>
            <a:ext cx="3017520" cy="82296"/>
          </a:xfrm>
          <a:prstGeom prst="rect">
            <a:avLst/>
          </a:prstGeom>
          <a:solidFill>
            <a:srgbClr val="8E9B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520" y="1993392"/>
            <a:ext cx="548640" cy="640080"/>
          </a:xfrm>
          <a:prstGeom prst="rect">
            <a:avLst/>
          </a:prstGeom>
          <a:noFill/>
        </p:spPr>
        <p:txBody>
          <a:bodyPr wrap="square">
            <a:spAutoFit/>
          </a:bodyPr>
          <a:lstStyle/>
          <a:p>
            <a:pPr algn="l">
              <a:spcAft>
                <a:spcPts val="0"/>
              </a:spcAft>
            </a:pPr>
            <a:r>
              <a:rPr sz="2600" b="1" i="0">
                <a:solidFill>
                  <a:srgbClr val="8E9BA7"/>
                </a:solidFill>
                <a:latin typeface="Calibri"/>
              </a:rPr>
              <a:t>3</a:t>
            </a:r>
          </a:p>
        </p:txBody>
      </p:sp>
      <p:sp>
        <p:nvSpPr>
          <p:cNvPr id="23" name="TextBox 22"/>
          <p:cNvSpPr txBox="1"/>
          <p:nvPr/>
        </p:nvSpPr>
        <p:spPr>
          <a:xfrm>
            <a:off x="9235440" y="2011680"/>
            <a:ext cx="2240279" cy="320040"/>
          </a:xfrm>
          <a:prstGeom prst="rect">
            <a:avLst/>
          </a:prstGeom>
          <a:noFill/>
        </p:spPr>
        <p:txBody>
          <a:bodyPr wrap="square">
            <a:spAutoFit/>
          </a:bodyPr>
          <a:lstStyle/>
          <a:p>
            <a:pPr algn="l">
              <a:spcAft>
                <a:spcPts val="0"/>
              </a:spcAft>
            </a:pPr>
            <a:r>
              <a:rPr sz="950" b="1" i="0">
                <a:solidFill>
                  <a:srgbClr val="8E9BA7"/>
                </a:solidFill>
                <a:latin typeface="Calibri"/>
              </a:rPr>
              <a:t>ONLY UNDER OPTION 2</a:t>
            </a:r>
          </a:p>
        </p:txBody>
      </p:sp>
      <p:sp>
        <p:nvSpPr>
          <p:cNvPr id="24" name="TextBox 23"/>
          <p:cNvSpPr txBox="1"/>
          <p:nvPr/>
        </p:nvSpPr>
        <p:spPr>
          <a:xfrm>
            <a:off x="9235440" y="2286000"/>
            <a:ext cx="2240279" cy="640080"/>
          </a:xfrm>
          <a:prstGeom prst="rect">
            <a:avLst/>
          </a:prstGeom>
          <a:noFill/>
        </p:spPr>
        <p:txBody>
          <a:bodyPr wrap="square">
            <a:spAutoFit/>
          </a:bodyPr>
          <a:lstStyle/>
          <a:p>
            <a:pPr algn="l">
              <a:spcAft>
                <a:spcPts val="0"/>
              </a:spcAft>
            </a:pPr>
            <a:r>
              <a:rPr sz="1400" b="1" i="0">
                <a:solidFill>
                  <a:srgbClr val="1F3864"/>
                </a:solidFill>
                <a:latin typeface="Calibri"/>
              </a:rPr>
              <a:t>Pay for the work already done</a:t>
            </a:r>
          </a:p>
        </p:txBody>
      </p:sp>
      <p:sp>
        <p:nvSpPr>
          <p:cNvPr id="25" name="TextBox 24"/>
          <p:cNvSpPr txBox="1"/>
          <p:nvPr/>
        </p:nvSpPr>
        <p:spPr>
          <a:xfrm>
            <a:off x="8732520" y="2971800"/>
            <a:ext cx="2743200" cy="1371600"/>
          </a:xfrm>
          <a:prstGeom prst="rect">
            <a:avLst/>
          </a:prstGeom>
          <a:noFill/>
        </p:spPr>
        <p:txBody>
          <a:bodyPr wrap="square">
            <a:spAutoFit/>
          </a:bodyPr>
          <a:lstStyle/>
          <a:p>
            <a:pPr algn="l">
              <a:spcAft>
                <a:spcPts val="0"/>
              </a:spcAft>
            </a:pPr>
            <a:r>
              <a:rPr sz="1050" b="0" i="0">
                <a:solidFill>
                  <a:srgbClr val="595959"/>
                </a:solidFill>
                <a:latin typeface="Calibri"/>
              </a:rPr>
              <a:t>A development fee for the lab batches, studies and paperwork PCI did for free. Repairs the goodwill if we place no order. Under Option 3 the first batch is the payment, so this drops away.</a:t>
            </a:r>
          </a:p>
        </p:txBody>
      </p:sp>
      <p:sp>
        <p:nvSpPr>
          <p:cNvPr id="26" name="TextBox 25"/>
          <p:cNvSpPr txBox="1"/>
          <p:nvPr/>
        </p:nvSpPr>
        <p:spPr>
          <a:xfrm>
            <a:off x="8732520" y="4206240"/>
            <a:ext cx="2743200" cy="731520"/>
          </a:xfrm>
          <a:prstGeom prst="rect">
            <a:avLst/>
          </a:prstGeom>
          <a:noFill/>
        </p:spPr>
        <p:txBody>
          <a:bodyPr wrap="square">
            <a:spAutoFit/>
          </a:bodyPr>
          <a:lstStyle/>
          <a:p>
            <a:pPr algn="l">
              <a:spcAft>
                <a:spcPts val="300"/>
              </a:spcAft>
            </a:pPr>
            <a:r>
              <a:rPr sz="1000" b="1" i="0">
                <a:solidFill>
                  <a:srgbClr val="1F3864"/>
                </a:solidFill>
                <a:latin typeface="Calibri"/>
              </a:rPr>
              <a:t>Our cost: ~$5–10k once, if at all</a:t>
            </a:r>
          </a:p>
          <a:p>
            <a:pPr algn="l">
              <a:spcAft>
                <a:spcPts val="0"/>
              </a:spcAft>
            </a:pPr>
            <a:r>
              <a:rPr sz="1000" b="0" i="0">
                <a:solidFill>
                  <a:srgbClr val="595959"/>
                </a:solidFill>
                <a:latin typeface="Calibri"/>
              </a:rPr>
              <a:t>PCI gets: Paid for its effort</a:t>
            </a:r>
          </a:p>
        </p:txBody>
      </p:sp>
      <p:sp>
        <p:nvSpPr>
          <p:cNvPr id="27" name="Rectangle 26"/>
          <p:cNvSpPr/>
          <p:nvPr/>
        </p:nvSpPr>
        <p:spPr>
          <a:xfrm>
            <a:off x="548640" y="5120640"/>
            <a:ext cx="11064240" cy="77724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5239512"/>
            <a:ext cx="10698480" cy="53949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950" b="0" i="0">
                <a:solidFill>
                  <a:srgbClr val="595959"/>
                </a:solidFill>
                <a:latin typeface="Calibri"/>
              </a:rPr>
              <a:t>•  Tell PCI the volume reality and the exact triggers · pay promptly · share the test results · a quarterly touchpoint. Suppliers allocate goodwill on trust and growth prospects, not on current volume (Pulles, Schiele et al. 2016).</a:t>
            </a:r>
          </a:p>
        </p:txBody>
      </p:sp>
      <p:sp>
        <p:nvSpPr>
          <p:cNvPr id="29" name="Rectangle 2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Order a batch or two a year and put the terms in writing — that is what keeps the door open. A fee for the work done is the fallback if we order nothing.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The SNP Inc. visit, Tuesday 6 October — agenda, and what we decide before it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05840"/>
            <a:ext cx="6949440" cy="320040"/>
          </a:xfrm>
          <a:prstGeom prst="rect">
            <a:avLst/>
          </a:prstGeom>
          <a:noFill/>
        </p:spPr>
        <p:txBody>
          <a:bodyPr wrap="square">
            <a:spAutoFit/>
          </a:bodyPr>
          <a:lstStyle/>
          <a:p>
            <a:pPr algn="l">
              <a:spcAft>
                <a:spcPts val="0"/>
              </a:spcAft>
            </a:pPr>
            <a:r>
              <a:rPr sz="1200" b="1" i="0">
                <a:solidFill>
                  <a:srgbClr val="1F3864"/>
                </a:solidFill>
                <a:latin typeface="Calibri"/>
              </a:rPr>
              <a:t>Tentative agenda — what we do, and what we want out of each part</a:t>
            </a:r>
          </a:p>
        </p:txBody>
      </p:sp>
      <p:sp>
        <p:nvSpPr>
          <p:cNvPr id="6" name="TextBox 5"/>
          <p:cNvSpPr txBox="1"/>
          <p:nvPr/>
        </p:nvSpPr>
        <p:spPr>
          <a:xfrm>
            <a:off x="548640" y="1371600"/>
            <a:ext cx="6949440" cy="4480560"/>
          </a:xfrm>
          <a:prstGeom prst="rect">
            <a:avLst/>
          </a:prstGeom>
          <a:noFill/>
        </p:spPr>
        <p:txBody>
          <a:bodyPr wrap="square">
            <a:spAutoFit/>
          </a:bodyPr>
          <a:lstStyle/>
          <a:p>
            <a:pPr>
              <a:spcAft>
                <a:spcPts val="1200"/>
              </a:spcAft>
            </a:pPr>
            <a:r>
              <a:rPr b="1" sz="1250">
                <a:solidFill>
                  <a:srgbClr val="1F3864"/>
                </a:solidFill>
                <a:latin typeface="Calibri"/>
              </a:rPr>
              <a:t>1  Growth, and the synthetics room   </a:t>
            </a:r>
            <a:r>
              <a:rPr sz="1100">
                <a:solidFill>
                  <a:srgbClr val="595959"/>
                </a:solidFill>
                <a:latin typeface="Calibri"/>
              </a:rPr>
              <a:t>Years of growth. How could we grow the relationship? Projects, partnership. What the synthetics room does — it is where we freeze their PVA into our plates.  </a:t>
            </a:r>
            <a:r>
              <a:rPr sz="1100" b="1">
                <a:solidFill>
                  <a:srgbClr val="2E7D46"/>
                </a:solidFill>
                <a:latin typeface="Calibri"/>
              </a:rPr>
              <a:t>→ They hear investment, not audit</a:t>
            </a:r>
          </a:p>
          <a:p>
            <a:pPr>
              <a:spcAft>
                <a:spcPts val="1200"/>
              </a:spcAft>
            </a:pPr>
            <a:r>
              <a:rPr b="1" sz="1250">
                <a:solidFill>
                  <a:srgbClr val="1F3864"/>
                </a:solidFill>
                <a:latin typeface="Calibri"/>
              </a:rPr>
              <a:t>2  Walkthrough of the synthetics room   </a:t>
            </a:r>
            <a:r>
              <a:rPr sz="1100">
                <a:solidFill>
                  <a:srgbClr val="595959"/>
                </a:solidFill>
                <a:latin typeface="Calibri"/>
              </a:rPr>
              <a:t>Show the synthetic plate we make with their PVA, and where it goes from there.  </a:t>
            </a:r>
            <a:r>
              <a:rPr sz="1100" b="1">
                <a:solidFill>
                  <a:srgbClr val="2E7D46"/>
                </a:solidFill>
                <a:latin typeface="Calibri"/>
              </a:rPr>
              <a:t>→ They see the end product their material becomes</a:t>
            </a:r>
          </a:p>
          <a:p>
            <a:pPr>
              <a:spcAft>
                <a:spcPts val="1200"/>
              </a:spcAft>
            </a:pPr>
            <a:r>
              <a:rPr b="1" sz="1250">
                <a:solidFill>
                  <a:srgbClr val="1F3864"/>
                </a:solidFill>
                <a:latin typeface="Calibri"/>
              </a:rPr>
              <a:t>3  Back in the conference room   </a:t>
            </a:r>
            <a:r>
              <a:rPr sz="1100">
                <a:solidFill>
                  <a:srgbClr val="595959"/>
                </a:solidFill>
                <a:latin typeface="Calibri"/>
              </a:rPr>
              <a:t>SNP talks about their other synthetics. Our R&amp;D talks about projects, what they see in the future, how we could partner more — possibilities, not commitments.  </a:t>
            </a:r>
            <a:r>
              <a:rPr sz="1100" b="1">
                <a:solidFill>
                  <a:srgbClr val="2E7D46"/>
                </a:solidFill>
                <a:latin typeface="Calibri"/>
              </a:rPr>
              <a:t>→ We learn what else they can make; they hear where we are going</a:t>
            </a:r>
          </a:p>
          <a:p>
            <a:pPr>
              <a:spcAft>
                <a:spcPts val="1200"/>
              </a:spcAft>
            </a:pPr>
            <a:r>
              <a:rPr b="1" sz="1250">
                <a:solidFill>
                  <a:srgbClr val="1F3864"/>
                </a:solidFill>
                <a:latin typeface="Calibri"/>
              </a:rPr>
              <a:t>4  Forecasts   </a:t>
            </a:r>
            <a:r>
              <a:rPr sz="1100">
                <a:solidFill>
                  <a:srgbClr val="595959"/>
                </a:solidFill>
                <a:latin typeface="Calibri"/>
              </a:rPr>
              <a:t>Sharing our forecast, and how that would help their orders and planning.  </a:t>
            </a:r>
            <a:r>
              <a:rPr sz="1100" b="1">
                <a:solidFill>
                  <a:srgbClr val="2E7D46"/>
                </a:solidFill>
                <a:latin typeface="Calibri"/>
              </a:rPr>
              <a:t>→ Agreement on what we share, and how often</a:t>
            </a:r>
          </a:p>
          <a:p>
            <a:r>
              <a:rPr sz="1050" i="1">
                <a:solidFill>
                  <a:srgbClr val="9C5A0C"/>
                </a:solidFill>
                <a:latin typeface="Calibri"/>
              </a:rPr>
              <a:t>Pending: align with R&amp;D on what they present · align with Purchasing on what we bring and say</a:t>
            </a:r>
          </a:p>
        </p:txBody>
      </p:sp>
      <p:sp>
        <p:nvSpPr>
          <p:cNvPr id="7" name="Rectangle 6"/>
          <p:cNvSpPr/>
          <p:nvPr/>
        </p:nvSpPr>
        <p:spPr>
          <a:xfrm>
            <a:off x="7726679" y="1005840"/>
            <a:ext cx="3886200" cy="484632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1097280"/>
            <a:ext cx="3611880" cy="4663440"/>
          </a:xfrm>
          <a:prstGeom prst="rect">
            <a:avLst/>
          </a:prstGeom>
          <a:noFill/>
        </p:spPr>
        <p:txBody>
          <a:bodyPr wrap="square">
            <a:spAutoFit/>
          </a:bodyPr>
          <a:lstStyle/>
          <a:p>
            <a:pPr algn="l">
              <a:spcAft>
                <a:spcPts val="600"/>
              </a:spcAft>
            </a:pPr>
            <a:r>
              <a:rPr sz="1300" b="1" i="0">
                <a:solidFill>
                  <a:srgbClr val="1F3864"/>
                </a:solidFill>
                <a:latin typeface="Calibri"/>
              </a:rPr>
              <a:t>Decisions to fill in before 6 October</a:t>
            </a:r>
          </a:p>
          <a:p>
            <a:pPr>
              <a:spcAft>
                <a:spcPts val="700"/>
              </a:spcAft>
            </a:pPr>
            <a:r>
              <a:rPr b="1" sz="1050">
                <a:solidFill>
                  <a:srgbClr val="1F3864"/>
                </a:solidFill>
                <a:latin typeface="Calibri"/>
              </a:rPr>
              <a:t>The strategy — Option 1, 2 or 3  </a:t>
            </a:r>
            <a:r>
              <a:rPr sz="1000">
                <a:solidFill>
                  <a:srgbClr val="595959"/>
                </a:solidFill>
                <a:latin typeface="Calibri"/>
              </a:rPr>
              <a:t>— sets the posture for the whole visit. Under Option 3: do we mention a continuity verification lot, or not yet? — ________ (Leadership)</a:t>
            </a:r>
          </a:p>
          <a:p>
            <a:pPr>
              <a:spcAft>
                <a:spcPts val="700"/>
              </a:spcAft>
            </a:pPr>
            <a:r>
              <a:rPr b="1" sz="1050">
                <a:solidFill>
                  <a:srgbClr val="1F3864"/>
                </a:solidFill>
                <a:latin typeface="Calibri"/>
              </a:rPr>
              <a:t>What R&amp;D presents  </a:t>
            </a:r>
            <a:r>
              <a:rPr sz="1000">
                <a:solidFill>
                  <a:srgbClr val="595959"/>
                </a:solidFill>
                <a:latin typeface="Calibri"/>
              </a:rPr>
              <a:t>— which projects, how far into the future, what we are willing to show — ________ (R&amp;D)</a:t>
            </a:r>
          </a:p>
          <a:p>
            <a:pPr>
              <a:spcAft>
                <a:spcPts val="700"/>
              </a:spcAft>
            </a:pPr>
            <a:r>
              <a:rPr b="1" sz="1050">
                <a:solidFill>
                  <a:srgbClr val="1F3864"/>
                </a:solidFill>
                <a:latin typeface="Calibri"/>
              </a:rPr>
              <a:t>What Purchasing brings  </a:t>
            </a:r>
            <a:r>
              <a:rPr sz="1000">
                <a:solidFill>
                  <a:srgbClr val="595959"/>
                </a:solidFill>
                <a:latin typeface="Calibri"/>
              </a:rPr>
              <a:t>— forecast format and refresh cadence; blanket order or not; anything on terms — ________ (Purchasing)</a:t>
            </a:r>
          </a:p>
          <a:p>
            <a:pPr>
              <a:spcAft>
                <a:spcPts val="700"/>
              </a:spcAft>
            </a:pPr>
            <a:r>
              <a:rPr b="1" sz="1050">
                <a:solidFill>
                  <a:srgbClr val="1F3864"/>
                </a:solidFill>
                <a:latin typeface="Calibri"/>
              </a:rPr>
              <a:t>How much forecast we share  </a:t>
            </a:r>
            <a:r>
              <a:rPr sz="1000">
                <a:solidFill>
                  <a:srgbClr val="595959"/>
                </a:solidFill>
                <a:latin typeface="Calibri"/>
              </a:rPr>
              <a:t>— 12-month rolling; a 3-year outlook or not — ________ (Leadership)</a:t>
            </a:r>
          </a:p>
          <a:p>
            <a:pPr>
              <a:spcAft>
                <a:spcPts val="700"/>
              </a:spcAft>
            </a:pPr>
            <a:r>
              <a:rPr b="1" sz="1050">
                <a:solidFill>
                  <a:srgbClr val="1F3864"/>
                </a:solidFill>
                <a:latin typeface="Calibri"/>
              </a:rPr>
              <a:t>Their other synthetics  </a:t>
            </a:r>
            <a:r>
              <a:rPr sz="1000">
                <a:solidFill>
                  <a:srgbClr val="595959"/>
                </a:solidFill>
                <a:latin typeface="Calibri"/>
              </a:rPr>
              <a:t>— listen only, or ask for samples and data — ________ (R&amp;D, Supply Chain)</a:t>
            </a:r>
          </a:p>
        </p:txBody>
      </p:sp>
      <p:sp>
        <p:nvSpPr>
          <p:cNvPr id="9" name="Rectangle 8"/>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and what R&amp;D and Purchasing bring before 6 October; the visit is where we grow the relationship, not where we discover our own position.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926080"/>
        </p:xfrm>
        <a:graphic>
          <a:graphicData uri="http://schemas.openxmlformats.org/drawingml/2006/table">
            <a:tbl>
              <a:tblPr firstRow="1" bandRow="1">
                <a:tableStyleId>{5C22544A-7EE6-4342-B048-85BDC9FD1C3A}</a:tableStyleId>
              </a:tblPr>
              <a:tblGrid>
                <a:gridCol w="1554480"/>
                <a:gridCol w="2743200"/>
                <a:gridCol w="2011680"/>
              </a:tblGrid>
              <a:tr h="266007">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66007">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66007">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66007">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66007">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66007">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1–3 batches/yr = 5–15 drums = 3–10% of demand; +$6.2–18.6k/yr</a:t>
                      </a:r>
                    </a:p>
                  </a:txBody>
                  <a:tcPr>
                    <a:solidFill>
                      <a:srgbClr val="FFFFFF"/>
                    </a:solidFill>
                  </a:tcPr>
                </a:tc>
                <a:tc>
                  <a:txBody>
                    <a:bodyPr/>
                    <a:lstStyle/>
                    <a:p>
                      <a:pPr algn="ctr"/>
                      <a:r>
                        <a:rPr sz="800">
                          <a:solidFill>
                            <a:srgbClr val="1F3864"/>
                          </a:solidFill>
                          <a:latin typeface="Calibri"/>
                        </a:rPr>
                        <a:t>$7.9k per batch ($3.50/lb × 2,250 lb); no volume term on the price so far</a:t>
                      </a:r>
                    </a:p>
                  </a:txBody>
                  <a:tcPr>
                    <a:solidFill>
                      <a:srgbClr val="FFFFFF"/>
                    </a:solidFill>
                  </a:tcPr>
                </a:tc>
              </a:tr>
              <a:tr h="266007">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66007">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66007">
                <a:tc>
                  <a:txBody>
                    <a:bodyPr/>
                    <a:lstStyle/>
                    <a:p>
                      <a:pPr algn="l"/>
                      <a:r>
                        <a:rPr sz="800" b="1">
                          <a:solidFill>
                            <a:srgbClr val="1F3864"/>
                          </a:solidFill>
                          <a:latin typeface="Calibri"/>
                        </a:rPr>
                        <a:t>APV estimate</a:t>
                      </a:r>
                    </a:p>
                  </a:txBody>
                  <a:tcPr>
                    <a:solidFill>
                      <a:srgbClr val="FFFFFF"/>
                    </a:solidFill>
                  </a:tcPr>
                </a:tc>
                <a:tc>
                  <a:txBody>
                    <a:bodyPr/>
                    <a:lstStyle/>
                    <a:p>
                      <a:pPr algn="ctr"/>
                      <a:r>
                        <a:rPr sz="800">
                          <a:solidFill>
                            <a:srgbClr val="1F3864"/>
                          </a:solidFill>
                          <a:latin typeface="Calibri"/>
                        </a:rPr>
                        <a:t>≥ $3.00/lb — never confirmed</a:t>
                      </a:r>
                    </a:p>
                  </a:txBody>
                  <a:tcPr>
                    <a:solidFill>
                      <a:srgbClr val="FFFFFF"/>
                    </a:solidFill>
                  </a:tcPr>
                </a:tc>
                <a:tc>
                  <a:txBody>
                    <a:bodyPr/>
                    <a:lstStyle/>
                    <a:p>
                      <a:pPr algn="ctr"/>
                      <a:r>
                        <a:rPr sz="800">
                          <a:solidFill>
                            <a:srgbClr val="1F3864"/>
                          </a:solidFill>
                          <a:latin typeface="Calibri"/>
                        </a:rPr>
                        <a:t>Called $1.50/lb too cheap for our volume on our call</a:t>
                      </a:r>
                    </a:p>
                  </a:txBody>
                  <a:tcPr>
                    <a:solidFill>
                      <a:srgbClr val="FFFFFF"/>
                    </a:solidFill>
                  </a:tcPr>
                </a:tc>
              </a:tr>
              <a:tr h="266007">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of internal hours to date (sunk); ~$15–40k more to production release</a:t>
                      </a:r>
                    </a:p>
                  </a:txBody>
                  <a:tcPr>
                    <a:solidFill>
                      <a:srgbClr val="FFFFFF"/>
                    </a:solidFill>
                  </a:tcPr>
                </a:tc>
                <a:tc>
                  <a:txBody>
                    <a:bodyPr/>
                    <a:lstStyle/>
                    <a:p>
                      <a:pPr algn="ctr"/>
                      <a:r>
                        <a:rPr sz="800">
                          <a:solidFill>
                            <a:srgbClr val="1F3864"/>
                          </a:solidFill>
                          <a:latin typeface="Calibri"/>
                        </a:rPr>
                        <a:t>Placeholders; not in the purchase totals</a:t>
                      </a:r>
                    </a:p>
                  </a:txBody>
                  <a:tcPr>
                    <a:solidFill>
                      <a:srgbClr val="FFFFFF"/>
                    </a:solidFill>
                  </a:tcPr>
                </a:tc>
              </a:tr>
              <a:tr h="266010">
                <a:tc>
                  <a:txBody>
                    <a:bodyPr/>
                    <a:lstStyle/>
                    <a:p>
                      <a:pPr algn="l"/>
                      <a:r>
                        <a:rPr sz="800" b="1">
                          <a:solidFill>
                            <a:srgbClr val="1F3864"/>
                          </a:solidFill>
                          <a:latin typeface="Calibri"/>
                        </a:rPr>
                        <a:t>Restart time if SNP fails</a:t>
                      </a:r>
                    </a:p>
                  </a:txBody>
                  <a:tcPr>
                    <a:solidFill>
                      <a:srgbClr val="FFFFFF"/>
                    </a:solidFill>
                  </a:tcPr>
                </a:tc>
                <a:tc>
                  <a:txBody>
                    <a:bodyPr/>
                    <a:lstStyle/>
                    <a:p>
                      <a:pPr algn="ctr"/>
                      <a:r>
                        <a:rPr sz="800">
                          <a:solidFill>
                            <a:srgbClr val="1F3864"/>
                          </a:solidFill>
                          <a:latin typeface="Calibri"/>
                        </a:rPr>
                        <a:t>Option 1 weeks (if ramp confirmed); Option 3 weeks to months; Option 2 ~3–6 months</a:t>
                      </a:r>
                    </a:p>
                  </a:txBody>
                  <a:tcPr>
                    <a:solidFill>
                      <a:srgbClr val="FFFFFF"/>
                    </a:solidFill>
                  </a:tcPr>
                </a:tc>
                <a:tc>
                  <a:txBody>
                    <a:bodyPr/>
                    <a:lstStyle/>
                    <a:p>
                      <a:pPr algn="ctr"/>
                      <a:r>
                        <a:rPr sz="800">
                          <a:solidFill>
                            <a:srgbClr val="1F3864"/>
                          </a:solidFill>
                          <a:latin typeface="Calibri"/>
                        </a:rPr>
                        <a:t>Estimates; a cold start decays after ~12 months idle</a:t>
                      </a:r>
                    </a:p>
                  </a:txBody>
                  <a:tcPr>
                    <a:solidFill>
                      <a:srgbClr val="FFFFFF"/>
                    </a:solidFill>
                  </a:tcPr>
                </a:tc>
              </a:tr>
            </a:tbl>
          </a:graphicData>
        </a:graphic>
      </p:graphicFrame>
      <p:sp>
        <p:nvSpPr>
          <p:cNvPr id="5" name="TextBox 4"/>
          <p:cNvSpPr txBox="1"/>
          <p:nvPr/>
        </p:nvSpPr>
        <p:spPr>
          <a:xfrm>
            <a:off x="548640" y="4846320"/>
            <a:ext cx="6309360" cy="14173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3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No standard or regulation we work under requires a second source; controls are proportionate to risk.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right kind of company; could not get past 90 °C</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right kind of company; could not hold 90–95 °C; never quoted</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heat confirmed; called $1.50/lb too cheap, likely ≥$3/lb (unconfirmed)</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CPO  </a:t>
            </a:r>
            <a:r>
              <a:rPr sz="900">
                <a:solidFill>
                  <a:srgbClr val="595959"/>
                </a:solidFill>
                <a:latin typeface="Calibri"/>
              </a:rPr>
              <a:t>— Chief Procurement Officer (Deloitte survey)</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