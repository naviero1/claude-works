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and ILC Dover failed that gate. June 26: CJB cleared it and became the front-runner; APV confirmed heat; we confirmed demand at about three drums a week - 150 a year. July: Columbus Chemical reached out to us,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the viscosity root cause - elevated solids - and a locked spec.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a total PVA bill of 131 to 161 thousand in the first twelve months, 116 to 121 a year after; recovery in weeks only if PCI confirms the ramp in writing. Option 3: one or two blocks a year, when we choose - 80 to 125 thousand total in year one, 60 to 75 after; SNP sees one or two pre-announced pauses or none; restart in weeks to a few months. Option 2: the whole year on SNP, PCI a quoted option - 64 to 83 thousand total in year one, 54 to 63 after; today's material bill alone is 50.7;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Costs exclude the fifteen thousand of internal hours already spent.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the total PVA bill for each option in its first twelve months - material at both suppliers, internal hours and supplier payments; today's material-only bill of 50.7 thousand is the grey line; bottom to top is how long we would be without PVA if SNP stopped tomorrow. Each box is the range of one option. Green, Option 2, 64 to 83 thousand, is the cheapest and the least protected: a cold start of three to six months, and longer as the file goes stale. Blue, Option 3, 80 to 125 thousand, sits in the middle: a practiced supplier restarts in weeks to a few months, about fifty thousand a year less than Option 1. Amber, Option 1, 131 to 161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85 °C ceiling; ILC Dover also the wrong kind of company</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Demand confirmed: ~3 drums a 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Reached out to us, then told us directly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Viscosity root cause found</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Elevated solids from water loss. Spec locked: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control,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3017520" y="987552"/>
            <a:ext cx="6035040" cy="274320"/>
          </a:xfrm>
          <a:prstGeom prst="rect">
            <a:avLst/>
          </a:prstGeom>
          <a:noFill/>
        </p:spPr>
        <p:txBody>
          <a:bodyPr wrap="square">
            <a:spAutoFit/>
          </a:bodyPr>
          <a:lstStyle/>
          <a:p>
            <a:pPr algn="l">
              <a:spcAft>
                <a:spcPts val="0"/>
              </a:spcAft>
            </a:pPr>
            <a:r>
              <a:rPr sz="10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3017520" y="149047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017520"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992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1758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8213"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9992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182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18906"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061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1897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19599"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0131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196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2029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020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2035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2098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269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2105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2167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0339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2174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2237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040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2243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82306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0477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2313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2375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0547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238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1307592"/>
            <a:ext cx="2468880" cy="1371600"/>
          </a:xfrm>
          <a:prstGeom prst="rect">
            <a:avLst/>
          </a:prstGeom>
          <a:noFill/>
        </p:spPr>
        <p:txBody>
          <a:bodyPr wrap="square">
            <a:spAutoFit/>
          </a:bodyPr>
          <a:lstStyle/>
          <a:p>
            <a:pPr>
              <a:spcAft>
                <a:spcPts val="200"/>
              </a:spcAft>
            </a:pPr>
            <a:r>
              <a:rPr sz="850">
                <a:solidFill>
                  <a:srgbClr val="595959"/>
                </a:solidFill>
                <a:latin typeface="Calibri"/>
              </a:rPr>
              <a:t>Total PVA cost, first 12 months  </a:t>
            </a:r>
            <a:r>
              <a:rPr sz="900" b="1">
                <a:solidFill>
                  <a:srgbClr val="1F3864"/>
                </a:solidFill>
                <a:latin typeface="Calibri"/>
              </a:rPr>
              <a:t>$131–161k</a:t>
            </a:r>
          </a:p>
          <a:p>
            <a:pPr>
              <a:spcAft>
                <a:spcPts val="200"/>
              </a:spcAft>
            </a:pPr>
            <a:r>
              <a:rPr sz="850">
                <a:solidFill>
                  <a:srgbClr val="595959"/>
                </a:solidFill>
                <a:latin typeface="Calibri"/>
              </a:rPr>
              <a:t>Each year after  </a:t>
            </a:r>
            <a:r>
              <a:rPr sz="900" b="0">
                <a:solidFill>
                  <a:srgbClr val="1F3864"/>
                </a:solidFill>
                <a:latin typeface="Calibri"/>
              </a:rPr>
              <a:t>$116–121k</a:t>
            </a:r>
          </a:p>
          <a:p>
            <a:pPr>
              <a:spcAft>
                <a:spcPts val="200"/>
              </a:spcAft>
            </a:pPr>
            <a:r>
              <a:rPr sz="850">
                <a:solidFill>
                  <a:srgbClr val="595959"/>
                </a:solidFill>
                <a:latin typeface="Calibri"/>
              </a:rPr>
              <a:t>Volume to PCI a year  </a:t>
            </a:r>
            <a:r>
              <a:rPr sz="900" b="0">
                <a:solidFill>
                  <a:srgbClr val="1F3864"/>
                </a:solidFill>
                <a:latin typeface="Calibri"/>
              </a:rPr>
              <a:t>50 drums (33% of demand)</a:t>
            </a:r>
          </a:p>
          <a:p>
            <a:pPr>
              <a:spcAft>
                <a:spcPts val="200"/>
              </a:spcAft>
            </a:pPr>
            <a:r>
              <a:rPr sz="850">
                <a:solidFill>
                  <a:srgbClr val="595959"/>
                </a:solidFill>
                <a:latin typeface="Calibri"/>
              </a:rPr>
              <a:t>SNP Inc. sees  </a:t>
            </a:r>
            <a:r>
              <a:rPr sz="900" b="0">
                <a:solidFill>
                  <a:srgbClr val="1F3864"/>
                </a:solidFill>
                <a:latin typeface="Calibri"/>
              </a:rPr>
              <a:t>10 pauses of ~12 days, or a level cadence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1–2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3017520" y="295351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01642"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98335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20170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977826"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5953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7789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20" y="2770632"/>
            <a:ext cx="2468880" cy="1371600"/>
          </a:xfrm>
          <a:prstGeom prst="rect">
            <a:avLst/>
          </a:prstGeom>
          <a:noFill/>
        </p:spPr>
        <p:txBody>
          <a:bodyPr wrap="square">
            <a:spAutoFit/>
          </a:bodyPr>
          <a:lstStyle/>
          <a:p>
            <a:pPr>
              <a:spcAft>
                <a:spcPts val="200"/>
              </a:spcAft>
            </a:pPr>
            <a:r>
              <a:rPr sz="850">
                <a:solidFill>
                  <a:srgbClr val="595959"/>
                </a:solidFill>
                <a:latin typeface="Calibri"/>
              </a:rPr>
              <a:t>Total PVA cost, first 12 months  </a:t>
            </a:r>
            <a:r>
              <a:rPr sz="900" b="1">
                <a:solidFill>
                  <a:srgbClr val="1F3864"/>
                </a:solidFill>
                <a:latin typeface="Calibri"/>
              </a:rPr>
              <a:t>$80–125k</a:t>
            </a:r>
          </a:p>
          <a:p>
            <a:pPr>
              <a:spcAft>
                <a:spcPts val="200"/>
              </a:spcAft>
            </a:pPr>
            <a:r>
              <a:rPr sz="850">
                <a:solidFill>
                  <a:srgbClr val="595959"/>
                </a:solidFill>
                <a:latin typeface="Calibri"/>
              </a:rPr>
              <a:t>Each year after  </a:t>
            </a:r>
            <a:r>
              <a:rPr sz="900" b="0">
                <a:solidFill>
                  <a:srgbClr val="1F3864"/>
                </a:solidFill>
                <a:latin typeface="Calibri"/>
              </a:rPr>
              <a:t>$60–75k</a:t>
            </a:r>
          </a:p>
          <a:p>
            <a:pPr>
              <a:spcAft>
                <a:spcPts val="200"/>
              </a:spcAft>
            </a:pPr>
            <a:r>
              <a:rPr sz="850">
                <a:solidFill>
                  <a:srgbClr val="595959"/>
                </a:solidFill>
                <a:latin typeface="Calibri"/>
              </a:rPr>
              <a:t>Volume to PCI a year  </a:t>
            </a:r>
            <a:r>
              <a:rPr sz="900" b="0">
                <a:solidFill>
                  <a:srgbClr val="1F3864"/>
                </a:solidFill>
                <a:latin typeface="Calibri"/>
              </a:rPr>
              <a:t>5–10 drums (3–7% of demand)</a:t>
            </a:r>
          </a:p>
          <a:p>
            <a:pPr>
              <a:spcAft>
                <a:spcPts val="200"/>
              </a:spcAft>
            </a:pPr>
            <a:r>
              <a:rPr sz="850">
                <a:solidFill>
                  <a:srgbClr val="595959"/>
                </a:solidFill>
                <a:latin typeface="Calibri"/>
              </a:rPr>
              <a:t>SNP Inc. sees  </a:t>
            </a:r>
            <a:r>
              <a:rPr sz="900" b="0">
                <a:solidFill>
                  <a:srgbClr val="1F3864"/>
                </a:solidFill>
                <a:latin typeface="Calibri"/>
              </a:rPr>
              <a:t>1–2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48" name="TextBox 47"/>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49" name="Rectangle 48"/>
          <p:cNvSpPr/>
          <p:nvPr/>
        </p:nvSpPr>
        <p:spPr>
          <a:xfrm>
            <a:off x="3017520" y="441655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432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1" name="TextBox 50"/>
          <p:cNvSpPr txBox="1"/>
          <p:nvPr/>
        </p:nvSpPr>
        <p:spPr>
          <a:xfrm>
            <a:off x="4247826"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2" name="TextBox 51"/>
          <p:cNvSpPr txBox="1"/>
          <p:nvPr/>
        </p:nvSpPr>
        <p:spPr>
          <a:xfrm>
            <a:off x="5752452"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3" name="TextBox 52"/>
          <p:cNvSpPr txBox="1"/>
          <p:nvPr/>
        </p:nvSpPr>
        <p:spPr>
          <a:xfrm>
            <a:off x="7273613"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4" name="TextBox 53"/>
          <p:cNvSpPr txBox="1"/>
          <p:nvPr/>
        </p:nvSpPr>
        <p:spPr>
          <a:xfrm>
            <a:off x="87782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5" name="TextBox 54"/>
          <p:cNvSpPr txBox="1"/>
          <p:nvPr/>
        </p:nvSpPr>
        <p:spPr>
          <a:xfrm>
            <a:off x="9189720" y="4233672"/>
            <a:ext cx="2468880" cy="1371600"/>
          </a:xfrm>
          <a:prstGeom prst="rect">
            <a:avLst/>
          </a:prstGeom>
          <a:noFill/>
        </p:spPr>
        <p:txBody>
          <a:bodyPr wrap="square">
            <a:spAutoFit/>
          </a:bodyPr>
          <a:lstStyle/>
          <a:p>
            <a:pPr>
              <a:spcAft>
                <a:spcPts val="200"/>
              </a:spcAft>
            </a:pPr>
            <a:r>
              <a:rPr sz="850">
                <a:solidFill>
                  <a:srgbClr val="595959"/>
                </a:solidFill>
                <a:latin typeface="Calibri"/>
              </a:rPr>
              <a:t>Total PVA cost, first 12 months  </a:t>
            </a:r>
            <a:r>
              <a:rPr sz="900" b="1">
                <a:solidFill>
                  <a:srgbClr val="1F3864"/>
                </a:solidFill>
                <a:latin typeface="Calibri"/>
              </a:rPr>
              <a:t>$64–83k</a:t>
            </a:r>
          </a:p>
          <a:p>
            <a:pPr>
              <a:spcAft>
                <a:spcPts val="200"/>
              </a:spcAft>
            </a:pPr>
            <a:r>
              <a:rPr sz="850">
                <a:solidFill>
                  <a:srgbClr val="595959"/>
                </a:solidFill>
                <a:latin typeface="Calibri"/>
              </a:rPr>
              <a:t>Each year after  </a:t>
            </a:r>
            <a:r>
              <a:rPr sz="900" b="0">
                <a:solidFill>
                  <a:srgbClr val="1F3864"/>
                </a:solidFill>
                <a:latin typeface="Calibri"/>
              </a:rPr>
              <a:t>$54–63k</a:t>
            </a:r>
          </a:p>
          <a:p>
            <a:pPr>
              <a:spcAft>
                <a:spcPts val="200"/>
              </a:spcAft>
            </a:pPr>
            <a:r>
              <a:rPr sz="850">
                <a:solidFill>
                  <a:srgbClr val="595959"/>
                </a:solidFill>
                <a:latin typeface="Calibri"/>
              </a:rPr>
              <a:t>Volume to PCI a year  </a:t>
            </a:r>
            <a:r>
              <a:rPr sz="900" b="0">
                <a:solidFill>
                  <a:srgbClr val="1F3864"/>
                </a:solidFill>
                <a:latin typeface="Calibri"/>
              </a:rPr>
              <a:t>none</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a cold start decays after ~12 idle</a:t>
            </a:r>
          </a:p>
        </p:txBody>
      </p:sp>
      <p:sp>
        <p:nvSpPr>
          <p:cNvPr id="56" name="TextBox 55"/>
          <p:cNvSpPr txBox="1"/>
          <p:nvPr/>
        </p:nvSpPr>
        <p:spPr>
          <a:xfrm>
            <a:off x="548640" y="5623560"/>
            <a:ext cx="11064240" cy="320040"/>
          </a:xfrm>
          <a:prstGeom prst="rect">
            <a:avLst/>
          </a:prstGeom>
          <a:noFill/>
        </p:spPr>
        <p:txBody>
          <a:bodyPr wrap="square">
            <a:spAutoFit/>
          </a:bodyPr>
          <a:lstStyle/>
          <a:p>
            <a:pPr algn="l">
              <a:spcAft>
                <a:spcPts val="0"/>
              </a:spcAft>
            </a:pPr>
            <a:r>
              <a:rPr sz="900" b="0" i="0">
                <a:solidFill>
                  <a:srgbClr val="595959"/>
                </a:solidFill>
                <a:latin typeface="Calibri"/>
              </a:rPr>
              <a:t>Demand: 150 drums a year (1 drum = 450 lb of PVA), ~3 drums a week. Block rotation: PCI drums land ~4 days old and expire on day 18, so a 5-drum batch is used at full rate in one ~12-day block. Totals = material at both suppliers + internal hours + supplier payments (today's material bill alone is $50.7k; ~$15k already spent is excluded).</a:t>
            </a:r>
          </a:p>
        </p:txBody>
      </p:sp>
      <p:sp>
        <p:nvSpPr>
          <p:cNvPr id="57" name="Rectangle 5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a total PVA bill of ~$60–75k a year, with one or two pre-announced pauses for SNP Inc. — Option 1 runs ~$116–121k a year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the total PVA cost in the first 12 months: material at both suppliers, internal hours to finish qualification, payments to suppliers. Today's material bill alone is $50.7k (grey line); ~$15k already spent is excluded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$64–83k;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$80–125k; a practiced supplier restarts in weeks to a few months — about $50k a year less than Option 1</a:t>
            </a:r>
          </a:p>
          <a:p>
            <a:pPr>
              <a:spcAft>
                <a:spcPts val="600"/>
              </a:spcAft>
            </a:pPr>
            <a:r>
              <a:rPr b="1" sz="1050">
                <a:solidFill>
                  <a:srgbClr val="1F3864"/>
                </a:solidFill>
                <a:latin typeface="Calibri"/>
              </a:rPr>
              <a:t>Option 1, amber  </a:t>
            </a:r>
            <a:r>
              <a:rPr sz="1000">
                <a:solidFill>
                  <a:srgbClr val="595959"/>
                </a:solidFill>
                <a:latin typeface="Calibri"/>
              </a:rPr>
              <a:t>— $131–161k; most protected — weeks, if PCI's ramp is confirmed in writing — and ~$116–121k every year after</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1–2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3–7% of demand; +$6.2–12.4k/yr</a:t>
                      </a:r>
                    </a:p>
                  </a:txBody>
                  <a:tcPr>
                    <a:solidFill>
                      <a:srgbClr val="FFFFFF"/>
                    </a:solidFill>
                  </a:tcPr>
                </a:tc>
                <a:tc>
                  <a:txBody>
                    <a:bodyPr/>
                    <a:lstStyle/>
                    <a:p>
                      <a:pPr algn="ctr"/>
                      <a:r>
                        <a:rPr sz="800">
                          <a:solidFill>
                            <a:srgbClr val="1F3864"/>
                          </a:solidFill>
                          <a:latin typeface="Calibri"/>
                        </a:rPr>
                        <a:t>$7.9k gross per batch ($3.50/lb × 2,250 lb)</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85 °C ceiling</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could not hold temperature</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reserve</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