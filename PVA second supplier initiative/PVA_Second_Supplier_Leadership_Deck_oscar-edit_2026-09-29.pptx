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8" d="100"/>
          <a:sy n="88" d="100"/>
        </p:scale>
        <p:origin x="420" y="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00215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and its floor is SNP's 75 cents - no US-delivered lot has been seen cheaper; the offshore ton offers are before freight and duty. SNP, green, sells us about three drums a week at 75 cents - the floor of that band, and delivered, to our spec,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SNP visit on Tuesday the sixth of October, tentative agenda. One: in the conference room, growth - years of it - and how we could grow the relationship: projects, partnership; and what the synthetics room does, which is where we freeze their PVA into our plates. They should hear investment, not audit. Two: walk them through the synthetics room and show them the synthetic plate we make with their PVA - a supplier rarely sees what its material becomes. Three: back in the conference room, let SNP talk about their other synthetics, and have our R&amp;D talk about projects, what they see in the future, and how we could partner more - possibilities, not commitments. Four: forecasts - what we would share and how that helps their orders and planning; we want agreement on what we share and how often. Still pending: aligning with R&amp;D on what they present, and with Purchasing on what we bring. Before the sixth we fill in five decisions: the strategy, which sets the posture - and under Option 3 whether we mention a continuity verification lot yet; what R&amp;D presents; what Purchasing brings; how much forecast we share; and whether we only listen about their other synthetics or ask for samples and data.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Dual Supplier Discussion</a:t>
            </a:r>
          </a:p>
          <a:p>
            <a:pPr algn="l">
              <a:spcAft>
                <a:spcPts val="400"/>
              </a:spcAft>
            </a:pPr>
            <a:r>
              <a:rPr sz="2000" b="0" i="0">
                <a:solidFill>
                  <a:srgbClr val="BDD7EE"/>
                </a:solidFill>
                <a:latin typeface="Calibri"/>
              </a:rPr>
              <a:t>Update: PCI Manufacturing has proven it can make our product — and told us what it costs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HOW WE GOT HERE</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13727" y="1280713"/>
            <a:ext cx="1192783" cy="520655"/>
          </a:xfrm>
          <a:prstGeom prst="rect">
            <a:avLst/>
          </a:prstGeom>
          <a:noFill/>
        </p:spPr>
        <p:txBody>
          <a:bodyPr wrap="square" anchor="b">
            <a:spAutoFit/>
          </a:bodyPr>
          <a:lstStyle/>
          <a:p>
            <a:pPr algn="ctr">
              <a:spcAft>
                <a:spcPts val="100"/>
              </a:spcAft>
            </a:pPr>
            <a:r>
              <a:rPr sz="900" b="1" i="0" dirty="0">
                <a:solidFill>
                  <a:srgbClr val="B23A2E"/>
                </a:solidFill>
                <a:latin typeface="Calibri"/>
              </a:rPr>
              <a:t>4 Aug 2026</a:t>
            </a:r>
          </a:p>
          <a:p>
            <a:pPr algn="ctr">
              <a:spcAft>
                <a:spcPts val="0"/>
              </a:spcAft>
            </a:pPr>
            <a:r>
              <a:rPr sz="900" b="1" i="0" dirty="0">
                <a:solidFill>
                  <a:srgbClr val="1F3864"/>
                </a:solidFill>
                <a:latin typeface="Calibri"/>
              </a:rPr>
              <a:t>CJB </a:t>
            </a:r>
            <a:r>
              <a:rPr lang="en-US" sz="900" b="1" i="0" dirty="0">
                <a:solidFill>
                  <a:srgbClr val="1F3864"/>
                </a:solidFill>
                <a:latin typeface="Calibri"/>
              </a:rPr>
              <a:t>capable but </a:t>
            </a:r>
            <a:r>
              <a:rPr sz="900" b="1" i="0" dirty="0">
                <a:solidFill>
                  <a:srgbClr val="1F3864"/>
                </a:solidFill>
                <a:latin typeface="Calibri"/>
              </a:rPr>
              <a:t>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584775"/>
          </a:xfrm>
          <a:prstGeom prst="rect">
            <a:avLst/>
          </a:prstGeom>
          <a:noFill/>
        </p:spPr>
        <p:txBody>
          <a:bodyPr wrap="square">
            <a:spAutoFit/>
          </a:bodyPr>
          <a:lstStyle/>
          <a:p>
            <a:pPr algn="ctr">
              <a:spcAft>
                <a:spcPts val="400"/>
              </a:spcAft>
            </a:pPr>
            <a:r>
              <a:rPr sz="800" b="0" i="0" dirty="0">
                <a:solidFill>
                  <a:srgbClr val="595959"/>
                </a:solidFill>
                <a:latin typeface="Calibri"/>
              </a:rPr>
              <a:t>Two-plus batch</a:t>
            </a:r>
            <a:r>
              <a:rPr lang="en-US" sz="800" b="0" i="0" dirty="0">
                <a:solidFill>
                  <a:srgbClr val="595959"/>
                </a:solidFill>
                <a:latin typeface="Calibri"/>
              </a:rPr>
              <a:t> tank (110 gal)</a:t>
            </a:r>
            <a:r>
              <a:rPr sz="800" b="0" i="0" dirty="0">
                <a:solidFill>
                  <a:srgbClr val="595959"/>
                </a:solidFill>
                <a:latin typeface="Calibri"/>
              </a:rPr>
              <a:t>,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not common</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side_by_side.png"/>
          <p:cNvPicPr>
            <a:picLocks noChangeAspect="1"/>
          </p:cNvPicPr>
          <p:nvPr/>
        </p:nvPicPr>
        <p:blipFill>
          <a:blip r:embed="rId3"/>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sz="1050" b="1">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sz="1050" b="1">
                <a:solidFill>
                  <a:srgbClr val="1F3864"/>
                </a:solidFill>
                <a:latin typeface="Calibri"/>
              </a:rPr>
              <a:t>Market, low quantity $4.55  </a:t>
            </a:r>
            <a:r>
              <a:rPr sz="1000">
                <a:solidFill>
                  <a:srgbClr val="595959"/>
                </a:solidFill>
                <a:latin typeface="Calibri"/>
              </a:rPr>
              <a:t>— small packs; range 3.19-5.87, n=32</a:t>
            </a:r>
          </a:p>
          <a:p>
            <a:pPr>
              <a:spcAft>
                <a:spcPts val="600"/>
              </a:spcAft>
            </a:pPr>
            <a:r>
              <a:rPr sz="1050" b="1">
                <a:solidFill>
                  <a:srgbClr val="1F3864"/>
                </a:solidFill>
                <a:latin typeface="Calibri"/>
              </a:rPr>
              <a:t>Market, high quantity $1.01  </a:t>
            </a:r>
            <a:r>
              <a:rPr sz="1000">
                <a:solidFill>
                  <a:srgbClr val="595959"/>
                </a:solidFill>
                <a:latin typeface="Calibri"/>
              </a:rPr>
              <a:t>— totes / bulk; range 0.28-1.04, n=5</a:t>
            </a:r>
          </a:p>
          <a:p>
            <a:pPr>
              <a:spcAft>
                <a:spcPts val="600"/>
              </a:spcAft>
            </a:pPr>
            <a:r>
              <a:rPr sz="1050" b="1">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sz="1050" b="1">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sz="1050" b="1">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vs_volume.png"/>
          <p:cNvPicPr>
            <a:picLocks noChangeAspect="1"/>
          </p:cNvPicPr>
          <p:nvPr/>
        </p:nvPicPr>
        <p:blipFill>
          <a:blip r:embed="rId3"/>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sz="1050" b="1">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sz="1050" b="1">
                <a:solidFill>
                  <a:srgbClr val="1F3864"/>
                </a:solidFill>
                <a:latin typeface="Calibri"/>
              </a:rPr>
              <a:t>Grey points  </a:t>
            </a:r>
            <a:r>
              <a:rPr sz="950">
                <a:solidFill>
                  <a:srgbClr val="595959"/>
                </a:solidFill>
                <a:latin typeface="Calibri"/>
              </a:rPr>
              <a:t>— verified prices of pre-mixed PVA solution by pack size (US up to 20 gal; offshore ton offers before freight)</a:t>
            </a:r>
          </a:p>
          <a:p>
            <a:pPr>
              <a:spcAft>
                <a:spcPts val="500"/>
              </a:spcAft>
            </a:pPr>
            <a:r>
              <a:rPr sz="1050" b="1">
                <a:solidFill>
                  <a:srgbClr val="1F3864"/>
                </a:solidFill>
                <a:latin typeface="Calibri"/>
              </a:rPr>
              <a:t>Navy line and band  </a:t>
            </a:r>
            <a:r>
              <a:rPr sz="950">
                <a:solidFill>
                  <a:srgbClr val="595959"/>
                </a:solidFill>
                <a:latin typeface="Calibri"/>
              </a:rPr>
              <a:t>— trend ~18% lower per doubling of the lot; the band is where 80% of the points fall. Beyond 20 gal its top follows the flattening in vendors' ladders; its floor is SNP's $0.75 — no US-delivered lot has been seen cheaper. One drum $0.83–3.53; SNP's lot $0.75–3.09; 5-drum batch $0.75–2.91</a:t>
            </a:r>
          </a:p>
          <a:p>
            <a:pPr>
              <a:spcAft>
                <a:spcPts val="500"/>
              </a:spcAft>
            </a:pPr>
            <a:r>
              <a:rPr sz="1050" b="1">
                <a:solidFill>
                  <a:srgbClr val="1F3864"/>
                </a:solidFill>
                <a:latin typeface="Calibri"/>
              </a:rPr>
              <a:t>SNP Inc., green  </a:t>
            </a:r>
            <a:r>
              <a:rPr sz="950">
                <a:solidFill>
                  <a:srgbClr val="595959"/>
                </a:solidFill>
                <a:latin typeface="Calibri"/>
              </a:rPr>
              <a:t>— $0.75 at ~3 drums a week — the floor of the band, delivered and to our spec</a:t>
            </a:r>
          </a:p>
          <a:p>
            <a:pPr>
              <a:spcAft>
                <a:spcPts val="500"/>
              </a:spcAft>
            </a:pPr>
            <a:r>
              <a:rPr sz="1050" b="1">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sz="1050" b="1">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sz="1050" b="1">
                <a:solidFill>
                  <a:srgbClr val="1F3864"/>
                </a:solidFill>
                <a:latin typeface="Calibri"/>
              </a:rPr>
              <a:t>CJB, red · APV, hollow  </a:t>
            </a:r>
            <a:r>
              <a:rPr sz="950">
                <a:solidFill>
                  <a:srgbClr val="595959"/>
                </a:solidFill>
                <a:latin typeface="Calibri"/>
              </a:rPr>
              <a:t>— CJB $8.42 far above the band; APV ≥$3 (estimate, never confirmed) at its top</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across this market. SNP Inc. is its floor — drum lots at $0.75, delivered to our spec; every other supplier that can make it charges the top of the band, or more.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annual_side_by_side.png"/>
          <p:cNvPicPr>
            <a:picLocks noChangeAspect="1"/>
          </p:cNvPicPr>
          <p:nvPr/>
        </p:nvPicPr>
        <p:blipFill>
          <a:blip r:embed="rId3"/>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sz="1050" b="1">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sz="1050" b="1">
                <a:solidFill>
                  <a:srgbClr val="1F3864"/>
                </a:solidFill>
                <a:latin typeface="Calibri"/>
              </a:rPr>
              <a:t>All-SNP  </a:t>
            </a:r>
            <a:r>
              <a:rPr sz="1000">
                <a:solidFill>
                  <a:srgbClr val="595959"/>
                </a:solidFill>
                <a:latin typeface="Calibri"/>
              </a:rPr>
              <a:t>— 150 drums × $337.50 = $50.7k</a:t>
            </a:r>
          </a:p>
          <a:p>
            <a:pPr>
              <a:spcAft>
                <a:spcPts val="500"/>
              </a:spcAft>
            </a:pPr>
            <a:r>
              <a:rPr sz="1050" b="1">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sz="1050" b="1">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sz="1050" b="1">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sz="1050" b="1">
                <a:solidFill>
                  <a:srgbClr val="1F3864"/>
                </a:solidFill>
                <a:latin typeface="Calibri"/>
              </a:rPr>
              <a:t>CJB $8.42  </a:t>
            </a:r>
            <a:r>
              <a:rPr sz="1000">
                <a:solidFill>
                  <a:srgbClr val="595959"/>
                </a:solidFill>
                <a:latin typeface="Calibri"/>
              </a:rPr>
              <a:t>— one-third = 50 drums, for scale → $223.3k; +$172.6k (340%)</a:t>
            </a:r>
          </a:p>
          <a:p>
            <a:pPr>
              <a:spcAft>
                <a:spcPts val="500"/>
              </a:spcAft>
            </a:pPr>
            <a:r>
              <a:rPr sz="1050" b="1">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sz="1050" b="1">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3"/>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sz="1050" b="1">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sz="1050" b="1">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sz="1050" b="1">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sz="1050" b="1">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sz="1050" b="1">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sz="1050" b="1">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sz="1050" b="1">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visit, Tuesday 6 October — agenda,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Tentative agenda — what we do, and what we want out of each part</a:t>
            </a:r>
          </a:p>
        </p:txBody>
      </p:sp>
      <p:sp>
        <p:nvSpPr>
          <p:cNvPr id="6" name="TextBox 5"/>
          <p:cNvSpPr txBox="1"/>
          <p:nvPr/>
        </p:nvSpPr>
        <p:spPr>
          <a:xfrm>
            <a:off x="548640" y="1371600"/>
            <a:ext cx="6949440" cy="4480560"/>
          </a:xfrm>
          <a:prstGeom prst="rect">
            <a:avLst/>
          </a:prstGeom>
          <a:noFill/>
        </p:spPr>
        <p:txBody>
          <a:bodyPr wrap="square">
            <a:spAutoFit/>
          </a:bodyPr>
          <a:lstStyle/>
          <a:p>
            <a:pPr>
              <a:spcAft>
                <a:spcPts val="1200"/>
              </a:spcAft>
            </a:pPr>
            <a:r>
              <a:rPr sz="1250" b="1">
                <a:solidFill>
                  <a:srgbClr val="1F3864"/>
                </a:solidFill>
                <a:latin typeface="Calibri"/>
              </a:rPr>
              <a:t>1  Growth, and the synthetics room   </a:t>
            </a:r>
            <a:r>
              <a:rPr sz="1100">
                <a:solidFill>
                  <a:srgbClr val="595959"/>
                </a:solidFill>
                <a:latin typeface="Calibri"/>
              </a:rPr>
              <a:t>Years of growth. How could we grow the relationship? Projects, partnership. What the synthetics room does — it is where we freeze their PVA into our plates.  </a:t>
            </a:r>
            <a:r>
              <a:rPr sz="1100" b="1">
                <a:solidFill>
                  <a:srgbClr val="2E7D46"/>
                </a:solidFill>
                <a:latin typeface="Calibri"/>
              </a:rPr>
              <a:t>→ They hear investment, not audit</a:t>
            </a:r>
          </a:p>
          <a:p>
            <a:pPr>
              <a:spcAft>
                <a:spcPts val="1200"/>
              </a:spcAft>
            </a:pPr>
            <a:r>
              <a:rPr sz="1250" b="1">
                <a:solidFill>
                  <a:srgbClr val="1F3864"/>
                </a:solidFill>
                <a:latin typeface="Calibri"/>
              </a:rPr>
              <a:t>2  Walkthrough of the synthetics room   </a:t>
            </a:r>
            <a:r>
              <a:rPr sz="1100">
                <a:solidFill>
                  <a:srgbClr val="595959"/>
                </a:solidFill>
                <a:latin typeface="Calibri"/>
              </a:rPr>
              <a:t>Show the synthetic plate we make with their PVA, and where it goes from there.  </a:t>
            </a:r>
            <a:r>
              <a:rPr sz="1100" b="1">
                <a:solidFill>
                  <a:srgbClr val="2E7D46"/>
                </a:solidFill>
                <a:latin typeface="Calibri"/>
              </a:rPr>
              <a:t>→ They see the end product their material becomes</a:t>
            </a:r>
          </a:p>
          <a:p>
            <a:pPr>
              <a:spcAft>
                <a:spcPts val="1200"/>
              </a:spcAft>
            </a:pPr>
            <a:r>
              <a:rPr sz="1250" b="1">
                <a:solidFill>
                  <a:srgbClr val="1F3864"/>
                </a:solidFill>
                <a:latin typeface="Calibri"/>
              </a:rPr>
              <a:t>3  Back in the conference room   </a:t>
            </a:r>
            <a:r>
              <a:rPr sz="1100">
                <a:solidFill>
                  <a:srgbClr val="595959"/>
                </a:solidFill>
                <a:latin typeface="Calibri"/>
              </a:rPr>
              <a:t>SNP talks about their other synthetics. Our R&amp;D talks about projects, what they see in the future, how we could partner more — possibilities, not commitments.  </a:t>
            </a:r>
            <a:r>
              <a:rPr sz="1100" b="1">
                <a:solidFill>
                  <a:srgbClr val="2E7D46"/>
                </a:solidFill>
                <a:latin typeface="Calibri"/>
              </a:rPr>
              <a:t>→ We learn what else they can make; they hear where we are going</a:t>
            </a:r>
          </a:p>
          <a:p>
            <a:pPr>
              <a:spcAft>
                <a:spcPts val="1200"/>
              </a:spcAft>
            </a:pPr>
            <a:r>
              <a:rPr sz="1250" b="1">
                <a:solidFill>
                  <a:srgbClr val="1F3864"/>
                </a:solidFill>
                <a:latin typeface="Calibri"/>
              </a:rPr>
              <a:t>4  Forecasts   </a:t>
            </a:r>
            <a:r>
              <a:rPr sz="1100">
                <a:solidFill>
                  <a:srgbClr val="595959"/>
                </a:solidFill>
                <a:latin typeface="Calibri"/>
              </a:rPr>
              <a:t>Sharing our forecast, and how that would help their orders and planning.  </a:t>
            </a:r>
            <a:r>
              <a:rPr sz="1100" b="1">
                <a:solidFill>
                  <a:srgbClr val="2E7D46"/>
                </a:solidFill>
                <a:latin typeface="Calibri"/>
              </a:rPr>
              <a:t>→ Agreement on what we share, and how often</a:t>
            </a:r>
          </a:p>
          <a:p>
            <a:r>
              <a:rPr sz="1050" i="1">
                <a:solidFill>
                  <a:srgbClr val="9C5A0C"/>
                </a:solidFill>
                <a:latin typeface="Calibri"/>
              </a:rPr>
              <a:t>Pending: align with R&amp;D on what they present · align with Purchasing on what we bring and say</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Decisions to fill in before 6 October</a:t>
            </a:r>
          </a:p>
          <a:p>
            <a:pPr>
              <a:spcAft>
                <a:spcPts val="700"/>
              </a:spcAft>
            </a:pPr>
            <a:r>
              <a:rPr sz="1050" b="1">
                <a:solidFill>
                  <a:srgbClr val="1F3864"/>
                </a:solidFill>
                <a:latin typeface="Calibri"/>
              </a:rPr>
              <a:t>The strategy — Option 1, 2 or 3  </a:t>
            </a:r>
            <a:r>
              <a:rPr sz="1000">
                <a:solidFill>
                  <a:srgbClr val="595959"/>
                </a:solidFill>
                <a:latin typeface="Calibri"/>
              </a:rPr>
              <a:t>— sets the posture for the whole visit. Under Option 3: do we mention a continuity verification lot, or not yet? — ________ (Leadership)</a:t>
            </a:r>
          </a:p>
          <a:p>
            <a:pPr>
              <a:spcAft>
                <a:spcPts val="700"/>
              </a:spcAft>
            </a:pPr>
            <a:r>
              <a:rPr sz="1050" b="1">
                <a:solidFill>
                  <a:srgbClr val="1F3864"/>
                </a:solidFill>
                <a:latin typeface="Calibri"/>
              </a:rPr>
              <a:t>What R&amp;D presents  </a:t>
            </a:r>
            <a:r>
              <a:rPr sz="1000">
                <a:solidFill>
                  <a:srgbClr val="595959"/>
                </a:solidFill>
                <a:latin typeface="Calibri"/>
              </a:rPr>
              <a:t>— which projects, how far into the future, what we are willing to show — ________ (R&amp;D)</a:t>
            </a:r>
          </a:p>
          <a:p>
            <a:pPr>
              <a:spcAft>
                <a:spcPts val="700"/>
              </a:spcAft>
            </a:pPr>
            <a:r>
              <a:rPr sz="1050" b="1">
                <a:solidFill>
                  <a:srgbClr val="1F3864"/>
                </a:solidFill>
                <a:latin typeface="Calibri"/>
              </a:rPr>
              <a:t>What Purchasing brings  </a:t>
            </a:r>
            <a:r>
              <a:rPr sz="1000">
                <a:solidFill>
                  <a:srgbClr val="595959"/>
                </a:solidFill>
                <a:latin typeface="Calibri"/>
              </a:rPr>
              <a:t>— forecast format and refresh cadence; blanket order or not; anything on terms — ________ (Purchasing)</a:t>
            </a:r>
          </a:p>
          <a:p>
            <a:pPr>
              <a:spcAft>
                <a:spcPts val="700"/>
              </a:spcAft>
            </a:pPr>
            <a:r>
              <a:rPr sz="1050" b="1">
                <a:solidFill>
                  <a:srgbClr val="1F3864"/>
                </a:solidFill>
                <a:latin typeface="Calibri"/>
              </a:rPr>
              <a:t>How much forecast we share  </a:t>
            </a:r>
            <a:r>
              <a:rPr sz="1000">
                <a:solidFill>
                  <a:srgbClr val="595959"/>
                </a:solidFill>
                <a:latin typeface="Calibri"/>
              </a:rPr>
              <a:t>— 12-month rolling; a 3-year outlook or not — ________ (Leadership)</a:t>
            </a:r>
          </a:p>
          <a:p>
            <a:pPr>
              <a:spcAft>
                <a:spcPts val="700"/>
              </a:spcAft>
            </a:pPr>
            <a:r>
              <a:rPr sz="1050" b="1">
                <a:solidFill>
                  <a:srgbClr val="1F3864"/>
                </a:solidFill>
                <a:latin typeface="Calibri"/>
              </a:rPr>
              <a:t>Their other synthetics  </a:t>
            </a:r>
            <a:r>
              <a:rPr sz="1000">
                <a:solidFill>
                  <a:srgbClr val="595959"/>
                </a:solidFill>
                <a:latin typeface="Calibri"/>
              </a:rPr>
              <a:t>— listen only, or ask for samples and data — ________ (R&amp;D,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what R&amp;D and Purchasing bring before 6 October; the visit is where we grow the relationship, not where we discover our own position.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3480261"/>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extLst>
                  <a:ext uri="{0D108BD9-81ED-4DB2-BD59-A6C34878D82A}">
                    <a16:rowId xmlns:a16="http://schemas.microsoft.com/office/drawing/2014/main" val="10000"/>
                  </a:ext>
                </a:extLst>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extLst>
                  <a:ext uri="{0D108BD9-81ED-4DB2-BD59-A6C34878D82A}">
                    <a16:rowId xmlns:a16="http://schemas.microsoft.com/office/drawing/2014/main" val="10001"/>
                  </a:ext>
                </a:extLst>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extLst>
                  <a:ext uri="{0D108BD9-81ED-4DB2-BD59-A6C34878D82A}">
                    <a16:rowId xmlns:a16="http://schemas.microsoft.com/office/drawing/2014/main" val="10002"/>
                  </a:ext>
                </a:extLst>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extLst>
                  <a:ext uri="{0D108BD9-81ED-4DB2-BD59-A6C34878D82A}">
                    <a16:rowId xmlns:a16="http://schemas.microsoft.com/office/drawing/2014/main" val="10003"/>
                  </a:ext>
                </a:extLst>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extLst>
                  <a:ext uri="{0D108BD9-81ED-4DB2-BD59-A6C34878D82A}">
                    <a16:rowId xmlns:a16="http://schemas.microsoft.com/office/drawing/2014/main" val="10004"/>
                  </a:ext>
                </a:extLst>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extLst>
                  <a:ext uri="{0D108BD9-81ED-4DB2-BD59-A6C34878D82A}">
                    <a16:rowId xmlns:a16="http://schemas.microsoft.com/office/drawing/2014/main" val="10005"/>
                  </a:ext>
                </a:extLst>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extLst>
                  <a:ext uri="{0D108BD9-81ED-4DB2-BD59-A6C34878D82A}">
                    <a16:rowId xmlns:a16="http://schemas.microsoft.com/office/drawing/2014/main" val="10006"/>
                  </a:ext>
                </a:extLst>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extLst>
                  <a:ext uri="{0D108BD9-81ED-4DB2-BD59-A6C34878D82A}">
                    <a16:rowId xmlns:a16="http://schemas.microsoft.com/office/drawing/2014/main" val="10007"/>
                  </a:ext>
                </a:extLst>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extLst>
                  <a:ext uri="{0D108BD9-81ED-4DB2-BD59-A6C34878D82A}">
                    <a16:rowId xmlns:a16="http://schemas.microsoft.com/office/drawing/2014/main" val="10008"/>
                  </a:ext>
                </a:extLst>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extLst>
                  <a:ext uri="{0D108BD9-81ED-4DB2-BD59-A6C34878D82A}">
                    <a16:rowId xmlns:a16="http://schemas.microsoft.com/office/drawing/2014/main" val="10009"/>
                  </a:ext>
                </a:extLst>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extLst>
                  <a:ext uri="{0D108BD9-81ED-4DB2-BD59-A6C34878D82A}">
                    <a16:rowId xmlns:a16="http://schemas.microsoft.com/office/drawing/2014/main" val="10010"/>
                  </a:ext>
                </a:extLst>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sz="900" b="1">
                <a:solidFill>
                  <a:srgbClr val="1F3864"/>
                </a:solidFill>
                <a:latin typeface="Calibri"/>
              </a:rPr>
              <a:t>SNP Inc.  </a:t>
            </a:r>
            <a:r>
              <a:rPr sz="900">
                <a:solidFill>
                  <a:srgbClr val="595959"/>
                </a:solidFill>
                <a:latin typeface="Calibri"/>
              </a:rPr>
              <a:t>— Durham, NC — incumbent, sole source</a:t>
            </a:r>
          </a:p>
          <a:p>
            <a:pPr>
              <a:spcAft>
                <a:spcPts val="100"/>
              </a:spcAft>
            </a:pPr>
            <a:r>
              <a:rPr sz="900" b="1">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sz="900" b="1">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sz="900" b="1">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sz="900" b="1">
                <a:solidFill>
                  <a:srgbClr val="1F3864"/>
                </a:solidFill>
                <a:latin typeface="Calibri"/>
              </a:rPr>
              <a:t>ILC Dover  </a:t>
            </a:r>
            <a:r>
              <a:rPr sz="900">
                <a:solidFill>
                  <a:srgbClr val="595959"/>
                </a:solidFill>
                <a:latin typeface="Calibri"/>
              </a:rPr>
              <a:t>— Frederica, DE — could not hold temperature</a:t>
            </a:r>
          </a:p>
          <a:p>
            <a:pPr>
              <a:spcAft>
                <a:spcPts val="100"/>
              </a:spcAft>
            </a:pPr>
            <a:r>
              <a:rPr sz="900" b="1">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sz="900" b="1">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sz="900" b="1">
                <a:solidFill>
                  <a:srgbClr val="1F3864"/>
                </a:solidFill>
                <a:latin typeface="Calibri"/>
              </a:rPr>
              <a:t>Piedmont Chemical Industries  </a:t>
            </a:r>
            <a:r>
              <a:rPr sz="900">
                <a:solidFill>
                  <a:srgbClr val="595959"/>
                </a:solidFill>
                <a:latin typeface="Calibri"/>
              </a:rPr>
              <a:t>— High Point, NC — reserve</a:t>
            </a:r>
          </a:p>
          <a:p>
            <a:pPr>
              <a:spcAft>
                <a:spcPts val="100"/>
              </a:spcAft>
            </a:pPr>
            <a:r>
              <a:rPr sz="900" b="1">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sz="900" b="1">
                <a:solidFill>
                  <a:srgbClr val="1F3864"/>
                </a:solidFill>
                <a:latin typeface="Calibri"/>
              </a:rPr>
              <a:t>PVA  </a:t>
            </a:r>
            <a:r>
              <a:rPr sz="900">
                <a:solidFill>
                  <a:srgbClr val="595959"/>
                </a:solidFill>
                <a:latin typeface="Calibri"/>
              </a:rPr>
              <a:t>— polyvinyl alcohol</a:t>
            </a:r>
          </a:p>
          <a:p>
            <a:pPr>
              <a:spcAft>
                <a:spcPts val="100"/>
              </a:spcAft>
            </a:pPr>
            <a:r>
              <a:rPr sz="900" b="1">
                <a:solidFill>
                  <a:srgbClr val="1F3864"/>
                </a:solidFill>
                <a:latin typeface="Calibri"/>
              </a:rPr>
              <a:t>cP  </a:t>
            </a:r>
            <a:r>
              <a:rPr sz="900">
                <a:solidFill>
                  <a:srgbClr val="595959"/>
                </a:solidFill>
                <a:latin typeface="Calibri"/>
              </a:rPr>
              <a:t>— centipoise — viscosity unit</a:t>
            </a:r>
          </a:p>
          <a:p>
            <a:pPr>
              <a:spcAft>
                <a:spcPts val="100"/>
              </a:spcAft>
            </a:pPr>
            <a:r>
              <a:rPr sz="900" b="1">
                <a:solidFill>
                  <a:srgbClr val="1F3864"/>
                </a:solidFill>
                <a:latin typeface="Calibri"/>
              </a:rPr>
              <a:t>SQA  </a:t>
            </a:r>
            <a:r>
              <a:rPr sz="900">
                <a:solidFill>
                  <a:srgbClr val="595959"/>
                </a:solidFill>
                <a:latin typeface="Calibri"/>
              </a:rPr>
              <a:t>— Supplier Quality Agreement</a:t>
            </a:r>
          </a:p>
          <a:p>
            <a:pPr>
              <a:spcAft>
                <a:spcPts val="100"/>
              </a:spcAft>
            </a:pPr>
            <a:r>
              <a:rPr sz="900" b="1">
                <a:solidFill>
                  <a:srgbClr val="1F3864"/>
                </a:solidFill>
                <a:latin typeface="Calibri"/>
              </a:rPr>
              <a:t>NDA  </a:t>
            </a:r>
            <a:r>
              <a:rPr sz="900">
                <a:solidFill>
                  <a:srgbClr val="595959"/>
                </a:solidFill>
                <a:latin typeface="Calibri"/>
              </a:rPr>
              <a:t>— non-disclosure agreement</a:t>
            </a:r>
          </a:p>
          <a:p>
            <a:pPr>
              <a:spcAft>
                <a:spcPts val="100"/>
              </a:spcAft>
            </a:pPr>
            <a:r>
              <a:rPr sz="900" b="1">
                <a:solidFill>
                  <a:srgbClr val="1F3864"/>
                </a:solidFill>
                <a:latin typeface="Calibri"/>
              </a:rPr>
              <a:t>CPO  </a:t>
            </a:r>
            <a:r>
              <a:rPr sz="900">
                <a:solidFill>
                  <a:srgbClr val="595959"/>
                </a:solidFill>
                <a:latin typeface="Calibri"/>
              </a:rPr>
              <a:t>— Chief Procurement Officer (Deloitte survey)</a:t>
            </a:r>
          </a:p>
          <a:p>
            <a:pPr>
              <a:spcAft>
                <a:spcPts val="100"/>
              </a:spcAft>
            </a:pPr>
            <a:r>
              <a:rPr sz="900" b="1">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5547</Words>
  <Application>Microsoft Office PowerPoint</Application>
  <PresentationFormat>Widescreen</PresentationFormat>
  <Paragraphs>227</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Oscar Penny</cp:lastModifiedBy>
  <cp:revision>2</cp:revision>
  <dcterms:created xsi:type="dcterms:W3CDTF">2013-01-27T09:14:16Z</dcterms:created>
  <dcterms:modified xsi:type="dcterms:W3CDTF">2026-09-29T15:01:13Z</dcterms:modified>
  <cp:category/>
</cp:coreProperties>
</file>