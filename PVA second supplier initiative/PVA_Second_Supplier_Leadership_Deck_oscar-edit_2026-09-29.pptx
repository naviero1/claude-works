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60" r:id="rId3"/>
    <p:sldId id="257" r:id="rId4"/>
    <p:sldId id="258" r:id="rId5"/>
    <p:sldId id="259"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88" d="100"/>
          <a:sy n="88" d="100"/>
        </p:scale>
        <p:origin x="420" y="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919609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Update on the liquid PVA decision. Since last time, two things happened: PCI Manufacturing's experiment met our spec, and they gave us a real price. Today: the cost side by side, how we got here and what the experiment cost, what running two suppliers would look like, then three options - because we need to choose one before our next conversation with SNP.</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How we got here, as a series of events. November last year: Brenntag, a distributor, tried our formula - the viscosity came out above range, unreadable on their viscometer; they stalled and we never received a quote; in March they sent us a resin sample instead. March to April: we screened fifteen to twenty serious candidates and reached out to ArroChem, Piedmont and ILC Dover with one hard gate - hold 90 to 95 degrees. May: ArroChem - the right kind of company - could not get past 90 degrees, and ILC Dover could not reach it either. June 26: CJB cleared it and became the front-runner; APV confirmed heat but, on our call, called a dollar fifty a pound too cheap for our volume - so we estimate APV at three dollars or more, never confirmed; we confirmed demand at about three drums a week - 150 a year. July: Columbus Chemical, also the right kind of company, reached out to us and then told us directly they cannot hold the temperature - eliminated, never quoted. August 4: CJB's quote came in at 8 to 8.50 a pound for toll processing alone - eleven times SNP - and their trial would have cost 6,400 dollars; we declined, so we never corroborated whether they could actually make it. August to September: PCI Manufacturing ran two-plus lab batches and a dilution study, unpaid. September 22: PCI's test results - the viscosity was brought on target within the test by adjusting solids and water - and the spec was agreed. September 28: spec met, and a real quote of 3.50 a pound per five-drum batch. What it is worth: a cold start is now months, not a year. What it cost: PCI's unpaid engineering, and about 15 thousand of our own hours, sunk. Using it costs 62 thousand a year plus a permanent discipline; walking away costs goodwill; the middle is one or two batches a year.</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Price per pound, side by side. Colors: greys are the market, green is SNP, the two ambers are PCI - dark for the batch price, light for below batch - and red is CJB. The three bars on the left are the market: what comparable pre-mixed PVA solution sells for today at high quantity - totes and bulk - at competitive quantity - drum scale, the one that matters - and at low quantity - small packs; ranges and counts are in the workbook's Market Study tab. Green is SNP's real quote at 75 cents, below the competitive market: a specialist's price. Navy and red are PCI's real numbers: 3.50 for a batch, 6 for anything smaller. Red on the far right is CJB, for scale. Why is a non-specialist so far above the market? Batch-fixed conversion cost spread over few pounds, drum-scale freight, and risk priced in. SNP's tanks are right-sized to our order and this is their core line.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Price per pound against quantity per order. The grey points are the verified market prices of pre-mixed PVA solution at every pack size we found - one-gallon jugs, cases, pails, a twenty-gallon lot, and ton-scale offers offshore before freight. The navy line is the curve fitted through them: price falls about eighteen percent every time the lot doubles where we have US data, up to twenty gallons. The band is where eighty percent of the verified points fall around that trend; beyond twenty gallons, where no US vendor publishes a price, its top follows the flattening seen in vendors' own volume ladders, and its floor is SNP's 75 cents - no US-delivered lot has been seen cheaper; the offshore ton offers are before freight and duty. SNP, green, sells us about three drums a week at 75 cents - the floor of that band, and delivered, to our spec, even though the market points are neither delivered nor medical-grade. The green dashed line is the same slope drawn through SNP's price: it is what to expect if we ever bought smaller lots from them - about a dollar at one drum, about two dollars at five gallons. It is a regression from the market's behaviour, not a quote from SNP. PCI, in amber, sits above the top of the band at its quantities - the batch-fixed cost and drum freight of a non-specialist. CJB is off the curve entirely; APV's three dollars is an estimate from our call, never confirmed. The message: price follows lot size everywhere in this market, except at SNP.</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Annual cost side by side. The same 150 drums a year in every bar - a drum is 450 pounds of PVA; SNP at 75 cents a pound keeps whatever the second source does not take. Green alone is today: 50.7 thousand. The three blues are Option 3: one, two or three five-drum batches a year at 3.50 - plus 6, 12 or 19 thousand. Dark amber is a one-third second source at PCI's batch price: 50 drums, ten batches, 112.6 thousand total, plus 61.9 - 122 percent of today's bill. Light amber is one drum a week at the 6-dollar below-batch price: 52 drums, 35 percent, almost a third - 173.6 thousand, plus 122.9; the small-order version is the expensive one. Red is CJB at one third, for scale: 223 thousand. Internal hours and one-time costs are on the options slide.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Three options on one page: what each costs, how the year runs, what each supplier sees. The strips are the year, week by week: green is SNP material, colored blocks are PCI batches - each five-drum batch is about twelve days at full rate, because the drums land about four days old and the eighteen-day life is counted from manufacture, so a batch is used in one block. Option 1: ten blocks a year, one every five weeks - SNP sees ten pauses, or a level cadence if we carry about three drums of rolling stock; PVA purchases of 112.6 thousand a year, growing with volume; recovery in weeks only if PCI confirms the ramp in writing. Option 3: one or two blocks a year, when we choose - 56.9 thousand with one batch, 63.1 with two, 69.3 with three - SNP keeps 145, 140 or 135 drums; SNP sees one or two pre-announced pauses or none; restart in weeks to a few months. Option 2: the whole year on SNP, PCI a quoted option - 50.7 thousand, what we pay today; if SNP fails, three to six months, and a cold start decays after a year idle. Why not run PCI alongside SNP at a third of rate instead of blocks? A batch would last thirty-six days - twice the life; even at two-thirds it takes eighteen. A validated twenty-one-day life gives margin; a thirty-day life still needs PCI at about half of rate. For us, two suppliers means one spec and one viscometer method, freeze-protected freight, a written failover with SNP's lead time, PCI's residual-film issue closed before any production batch, and two quality agreements. Purchases only: internal hours to finish PCI's qualification - fifteen to forty thousand once, under Options 1 and 3 - are not in these numbers.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Cost against protection. Left to right is what each option means in PVA purchases for a year - SNP at 75 cents plus PCI at 3.50; today's 50.7 thousand is the grey line; bottom to top is how long we would be without PVA if SNP stopped tomorrow. Each box is the range of one option. Green, Option 2, 50.7 thousand, is the cheapest and the least protected: a cold start of three to six months, and longer as the file goes stale. Blue, Option 3, 57 to 69 thousand for one to three batches, sits in the middle: a practiced supplier restarts in weeks to a few months, about fifty thousand a year less than Option 1. Amber, Option 1, 112.6 thousand, is the most protected - weeks, if PCI confirms the ramp in writing - and the most expensive, every year. The chart does not show what SNP experiences: ten pauses a year under Option 1, one or two under Option 3, none under Option 2. The question for Finance is whether the extra weeks of speed under Option 1 are worth about 62 thousand a year.</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How companies keep a qualified supplier they barely use - because you will be asked whether Option 3 is realistic. It is routine in medical devices, pharma and aerospace. What spoils the relationship is silence and unpaid work, not the 'no'. Three instruments, weighted. First and essential: place a real order - one five-drum batch, one to three times a year; it is the only thing that pays PCI with revenue and proves production scale, and it is Option 3. Second and essential: sign terms with no volume commitment - the 3.50 batch price, spec, lead time, change notification, twelve to twenty-four months, zero minimum; it locks the economic core of Option 3 in writing and costs only legal time. Third, only under Option 2: pay a development fee for the work already done, to repair the goodwill if we order nothing; under Option 3 the first batch is the payment. Capacity-reservation fees and formal re-approval programs are pharma-scale practices that do not apply to us. And the conduct: tell PCI the triggers, pay promptly, share results, keep a quarterly touchpoint. The research is clear that suppliers allocate goodwill on trust and growth prospects, not current volume.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SNP conversation, in order. One: why we are here - growth, a sole source we depend on, and the intent to run it as a partnership; they should hear investment, not audit. Two: our business, shown - volume history, the forecast of 150 drums this year growing ten percent a year, our delivery record, what the product does for our mission. Three: what we bring - a rolling twelve-month forecast refreshed monthly, a level weekly cadence through a blanket order, and the hydrogel program as a written joint roadmap. Four: growing together - their other hydrogel lines, sodium alginate and guar gum, for our other projects, if R&amp;D has a use. Five: running it as partners - resin supply and a consignment buffer, capacity for year-five volume, cover for the people who run the PVA cook, advance notice of changes, a shelf-life study together; continuity agreed as a shared discipline. Six: a resin-indexed price formula instead of ad hoc increases. Seven: close with a quarterly business review, named contacts and an updated quality agreement. Before we walk in we decide five things: the strategy, which sets the posture - under Option 3 we say a continuity verification lot runs once a year and we do not name the supplier; how much forecast we share and whether a multi-year commitment is on the table; the give - blanket order and payment terms; which projects could use the other hydrogels; and whether we fund the resin buffer and the shelf-life study.</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Assumptions, suppliers by full name, acronyms, and the fact-checked frameworks. The workbook's Summary tab holds every slide figure as a formula; Supplier Quotes, Market Study, PCI Quote Scenarios and the PCI Experiment record hold the compiled data.</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4434840"/>
            <a:ext cx="12191695" cy="54864"/>
          </a:xfrm>
          <a:prstGeom prst="rect">
            <a:avLst/>
          </a:prstGeom>
          <a:solidFill>
            <a:srgbClr val="4E7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371600"/>
            <a:ext cx="10698480" cy="707886"/>
          </a:xfrm>
          <a:prstGeom prst="rect">
            <a:avLst/>
          </a:prstGeom>
          <a:noFill/>
        </p:spPr>
        <p:txBody>
          <a:bodyPr wrap="square">
            <a:spAutoFit/>
          </a:bodyPr>
          <a:lstStyle/>
          <a:p>
            <a:pPr algn="l">
              <a:spcAft>
                <a:spcPts val="400"/>
              </a:spcAft>
            </a:pPr>
            <a:r>
              <a:rPr sz="4000" b="1" i="0" dirty="0">
                <a:solidFill>
                  <a:srgbClr val="FFFFFF"/>
                </a:solidFill>
                <a:latin typeface="Calibri"/>
              </a:rPr>
              <a:t>Liquid PVA: </a:t>
            </a:r>
            <a:r>
              <a:rPr lang="en-US" sz="4000" b="1" i="0" dirty="0">
                <a:solidFill>
                  <a:srgbClr val="FFFFFF"/>
                </a:solidFill>
                <a:latin typeface="Calibri"/>
              </a:rPr>
              <a:t>Dual Supplier Discussion</a:t>
            </a:r>
            <a:endParaRPr sz="4000" b="1" i="0" dirty="0">
              <a:solidFill>
                <a:srgbClr val="FFFFFF"/>
              </a:solidFill>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28016"/>
            <a:ext cx="9692640" cy="731520"/>
          </a:xfrm>
          <a:prstGeom prst="rect">
            <a:avLst/>
          </a:prstGeom>
          <a:noFill/>
        </p:spPr>
        <p:txBody>
          <a:bodyPr wrap="square">
            <a:spAutoFit/>
          </a:bodyPr>
          <a:lstStyle/>
          <a:p>
            <a:pPr algn="l">
              <a:spcAft>
                <a:spcPts val="400"/>
              </a:spcAft>
            </a:pPr>
            <a:r>
              <a:rPr sz="2500" b="1" i="0">
                <a:solidFill>
                  <a:srgbClr val="FFFFFF"/>
                </a:solidFill>
                <a:latin typeface="Calibri"/>
              </a:rPr>
              <a:t>How we got here — a series of events, and what the PCI experiment cost</a:t>
            </a:r>
          </a:p>
        </p:txBody>
      </p:sp>
      <p:sp>
        <p:nvSpPr>
          <p:cNvPr id="4" name="TextBox 3"/>
          <p:cNvSpPr txBox="1"/>
          <p:nvPr/>
        </p:nvSpPr>
        <p:spPr>
          <a:xfrm>
            <a:off x="9966960" y="274320"/>
            <a:ext cx="2011680" cy="457200"/>
          </a:xfrm>
          <a:prstGeom prst="rect">
            <a:avLst/>
          </a:prstGeom>
          <a:noFill/>
        </p:spPr>
        <p:txBody>
          <a:bodyPr wrap="square">
            <a:spAutoFit/>
          </a:bodyPr>
          <a:lstStyle/>
          <a:p>
            <a:pPr algn="r">
              <a:spcAft>
                <a:spcPts val="400"/>
              </a:spcAft>
            </a:pPr>
            <a:r>
              <a:rPr sz="1100" b="0" i="0">
                <a:solidFill>
                  <a:srgbClr val="BDD7EE"/>
                </a:solidFill>
                <a:latin typeface="Calibri"/>
              </a:rPr>
              <a:t>2 · PCI</a:t>
            </a:r>
          </a:p>
        </p:txBody>
      </p:sp>
      <p:sp>
        <p:nvSpPr>
          <p:cNvPr id="5" name="Rectangle 4"/>
          <p:cNvSpPr/>
          <p:nvPr/>
        </p:nvSpPr>
        <p:spPr>
          <a:xfrm>
            <a:off x="548640" y="1874520"/>
            <a:ext cx="11064240" cy="36576"/>
          </a:xfrm>
          <a:prstGeom prst="rect">
            <a:avLst/>
          </a:prstGeom>
          <a:solidFill>
            <a:srgbClr val="4E7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071879" y="1801368"/>
            <a:ext cx="182880" cy="182880"/>
          </a:xfrm>
          <a:prstGeom prst="ellipse">
            <a:avLst/>
          </a:prstGeom>
          <a:solidFill>
            <a:srgbClr val="B23A2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66928" y="1024128"/>
            <a:ext cx="1192783" cy="777240"/>
          </a:xfrm>
          <a:prstGeom prst="rect">
            <a:avLst/>
          </a:prstGeom>
          <a:noFill/>
        </p:spPr>
        <p:txBody>
          <a:bodyPr wrap="square" anchor="b">
            <a:spAutoFit/>
          </a:bodyPr>
          <a:lstStyle/>
          <a:p>
            <a:pPr algn="ctr">
              <a:spcAft>
                <a:spcPts val="100"/>
              </a:spcAft>
            </a:pPr>
            <a:r>
              <a:rPr sz="900" b="1" i="0">
                <a:solidFill>
                  <a:srgbClr val="B23A2E"/>
                </a:solidFill>
                <a:latin typeface="Calibri"/>
              </a:rPr>
              <a:t>Nov 2025</a:t>
            </a:r>
          </a:p>
          <a:p>
            <a:pPr algn="ctr">
              <a:spcAft>
                <a:spcPts val="0"/>
              </a:spcAft>
            </a:pPr>
            <a:r>
              <a:rPr sz="900" b="1" i="0">
                <a:solidFill>
                  <a:srgbClr val="1F3864"/>
                </a:solidFill>
                <a:latin typeface="Calibri"/>
              </a:rPr>
              <a:t>Brenntag never meets viscosity</a:t>
            </a:r>
          </a:p>
        </p:txBody>
      </p:sp>
      <p:sp>
        <p:nvSpPr>
          <p:cNvPr id="8" name="TextBox 7"/>
          <p:cNvSpPr txBox="1"/>
          <p:nvPr/>
        </p:nvSpPr>
        <p:spPr>
          <a:xfrm>
            <a:off x="566928" y="2011680"/>
            <a:ext cx="1192783" cy="1005840"/>
          </a:xfrm>
          <a:prstGeom prst="rect">
            <a:avLst/>
          </a:prstGeom>
          <a:noFill/>
        </p:spPr>
        <p:txBody>
          <a:bodyPr wrap="square">
            <a:spAutoFit/>
          </a:bodyPr>
          <a:lstStyle/>
          <a:p>
            <a:pPr algn="ctr">
              <a:spcAft>
                <a:spcPts val="400"/>
              </a:spcAft>
            </a:pPr>
            <a:r>
              <a:rPr sz="800" b="0" i="0">
                <a:solidFill>
                  <a:srgbClr val="595959"/>
                </a:solidFill>
                <a:latin typeface="Calibri"/>
              </a:rPr>
              <a:t>Above range, unreadable on their viscometer. They stalled — no quote ever received. Mar 2026: a resin sample instead</a:t>
            </a:r>
          </a:p>
        </p:txBody>
      </p:sp>
      <p:sp>
        <p:nvSpPr>
          <p:cNvPr id="9" name="Oval 8"/>
          <p:cNvSpPr/>
          <p:nvPr/>
        </p:nvSpPr>
        <p:spPr>
          <a:xfrm>
            <a:off x="2301240" y="1801368"/>
            <a:ext cx="182880" cy="182880"/>
          </a:xfrm>
          <a:prstGeom prst="ellipse">
            <a:avLst/>
          </a:prstGeom>
          <a:solidFill>
            <a:srgbClr val="1F386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796288" y="1024128"/>
            <a:ext cx="1192783" cy="777240"/>
          </a:xfrm>
          <a:prstGeom prst="rect">
            <a:avLst/>
          </a:prstGeom>
          <a:noFill/>
        </p:spPr>
        <p:txBody>
          <a:bodyPr wrap="square" anchor="b">
            <a:spAutoFit/>
          </a:bodyPr>
          <a:lstStyle/>
          <a:p>
            <a:pPr algn="ctr">
              <a:spcAft>
                <a:spcPts val="100"/>
              </a:spcAft>
            </a:pPr>
            <a:r>
              <a:rPr sz="900" b="1" i="0">
                <a:solidFill>
                  <a:srgbClr val="1F3864"/>
                </a:solidFill>
                <a:latin typeface="Calibri"/>
              </a:rPr>
              <a:t>Mar–Apr 2026</a:t>
            </a:r>
          </a:p>
          <a:p>
            <a:pPr algn="ctr">
              <a:spcAft>
                <a:spcPts val="0"/>
              </a:spcAft>
            </a:pPr>
            <a:r>
              <a:rPr sz="900" b="1" i="0">
                <a:solidFill>
                  <a:srgbClr val="1F3864"/>
                </a:solidFill>
                <a:latin typeface="Calibri"/>
              </a:rPr>
              <a:t>~15–20 serious candidates screened</a:t>
            </a:r>
          </a:p>
        </p:txBody>
      </p:sp>
      <p:sp>
        <p:nvSpPr>
          <p:cNvPr id="11" name="TextBox 10"/>
          <p:cNvSpPr txBox="1"/>
          <p:nvPr/>
        </p:nvSpPr>
        <p:spPr>
          <a:xfrm>
            <a:off x="1796288" y="2011680"/>
            <a:ext cx="1192783" cy="1005840"/>
          </a:xfrm>
          <a:prstGeom prst="rect">
            <a:avLst/>
          </a:prstGeom>
          <a:noFill/>
        </p:spPr>
        <p:txBody>
          <a:bodyPr wrap="square">
            <a:spAutoFit/>
          </a:bodyPr>
          <a:lstStyle/>
          <a:p>
            <a:pPr algn="ctr">
              <a:spcAft>
                <a:spcPts val="400"/>
              </a:spcAft>
            </a:pPr>
            <a:r>
              <a:rPr sz="800" b="0" i="0">
                <a:solidFill>
                  <a:srgbClr val="595959"/>
                </a:solidFill>
                <a:latin typeface="Calibri"/>
              </a:rPr>
              <a:t>ArroChem Inc., Piedmont Chemical Industries, ILC Dover approached. One gate: hold 90–95 °C</a:t>
            </a:r>
          </a:p>
        </p:txBody>
      </p:sp>
      <p:sp>
        <p:nvSpPr>
          <p:cNvPr id="12" name="Oval 11"/>
          <p:cNvSpPr/>
          <p:nvPr/>
        </p:nvSpPr>
        <p:spPr>
          <a:xfrm>
            <a:off x="3530599" y="1801368"/>
            <a:ext cx="182880" cy="182880"/>
          </a:xfrm>
          <a:prstGeom prst="ellipse">
            <a:avLst/>
          </a:prstGeom>
          <a:solidFill>
            <a:srgbClr val="B23A2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025648" y="1024128"/>
            <a:ext cx="1192783" cy="777240"/>
          </a:xfrm>
          <a:prstGeom prst="rect">
            <a:avLst/>
          </a:prstGeom>
          <a:noFill/>
        </p:spPr>
        <p:txBody>
          <a:bodyPr wrap="square" anchor="b">
            <a:spAutoFit/>
          </a:bodyPr>
          <a:lstStyle/>
          <a:p>
            <a:pPr algn="ctr">
              <a:spcAft>
                <a:spcPts val="100"/>
              </a:spcAft>
            </a:pPr>
            <a:r>
              <a:rPr sz="900" b="1" i="0">
                <a:solidFill>
                  <a:srgbClr val="B23A2E"/>
                </a:solidFill>
                <a:latin typeface="Calibri"/>
              </a:rPr>
              <a:t>May 2026</a:t>
            </a:r>
          </a:p>
          <a:p>
            <a:pPr algn="ctr">
              <a:spcAft>
                <a:spcPts val="0"/>
              </a:spcAft>
            </a:pPr>
            <a:r>
              <a:rPr sz="900" b="1" i="0">
                <a:solidFill>
                  <a:srgbClr val="1F3864"/>
                </a:solidFill>
                <a:latin typeface="Calibri"/>
              </a:rPr>
              <a:t>ArroChem, ILC Dover fail the heat gate</a:t>
            </a:r>
          </a:p>
        </p:txBody>
      </p:sp>
      <p:sp>
        <p:nvSpPr>
          <p:cNvPr id="14" name="TextBox 13"/>
          <p:cNvSpPr txBox="1"/>
          <p:nvPr/>
        </p:nvSpPr>
        <p:spPr>
          <a:xfrm>
            <a:off x="3025648" y="2011680"/>
            <a:ext cx="1192783" cy="1005840"/>
          </a:xfrm>
          <a:prstGeom prst="rect">
            <a:avLst/>
          </a:prstGeom>
          <a:noFill/>
        </p:spPr>
        <p:txBody>
          <a:bodyPr wrap="square">
            <a:spAutoFit/>
          </a:bodyPr>
          <a:lstStyle/>
          <a:p>
            <a:pPr algn="ctr">
              <a:spcAft>
                <a:spcPts val="400"/>
              </a:spcAft>
            </a:pPr>
            <a:r>
              <a:rPr sz="800" b="0" i="0">
                <a:solidFill>
                  <a:srgbClr val="595959"/>
                </a:solidFill>
                <a:latin typeface="Calibri"/>
              </a:rPr>
              <a:t>ArroChem: right kind of company, could not get past 90 °C. ILC Dover could not reach it either</a:t>
            </a:r>
          </a:p>
        </p:txBody>
      </p:sp>
      <p:sp>
        <p:nvSpPr>
          <p:cNvPr id="15" name="Oval 14"/>
          <p:cNvSpPr/>
          <p:nvPr/>
        </p:nvSpPr>
        <p:spPr>
          <a:xfrm>
            <a:off x="4759959" y="1801368"/>
            <a:ext cx="182880" cy="182880"/>
          </a:xfrm>
          <a:prstGeom prst="ellipse">
            <a:avLst/>
          </a:prstGeom>
          <a:solidFill>
            <a:srgbClr val="2E7D46"/>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255007" y="1024128"/>
            <a:ext cx="1192783" cy="777240"/>
          </a:xfrm>
          <a:prstGeom prst="rect">
            <a:avLst/>
          </a:prstGeom>
          <a:noFill/>
        </p:spPr>
        <p:txBody>
          <a:bodyPr wrap="square" anchor="b">
            <a:spAutoFit/>
          </a:bodyPr>
          <a:lstStyle/>
          <a:p>
            <a:pPr algn="ctr">
              <a:spcAft>
                <a:spcPts val="100"/>
              </a:spcAft>
            </a:pPr>
            <a:r>
              <a:rPr sz="900" b="1" i="0">
                <a:solidFill>
                  <a:srgbClr val="2E7D46"/>
                </a:solidFill>
                <a:latin typeface="Calibri"/>
              </a:rPr>
              <a:t>26 Jun 2026</a:t>
            </a:r>
          </a:p>
          <a:p>
            <a:pPr algn="ctr">
              <a:spcAft>
                <a:spcPts val="0"/>
              </a:spcAft>
            </a:pPr>
            <a:r>
              <a:rPr sz="900" b="1" i="0">
                <a:solidFill>
                  <a:srgbClr val="1F3864"/>
                </a:solidFill>
                <a:latin typeface="Calibri"/>
              </a:rPr>
              <a:t>CJB Applied Technologies clears the gate</a:t>
            </a:r>
          </a:p>
        </p:txBody>
      </p:sp>
      <p:sp>
        <p:nvSpPr>
          <p:cNvPr id="17" name="TextBox 16"/>
          <p:cNvSpPr txBox="1"/>
          <p:nvPr/>
        </p:nvSpPr>
        <p:spPr>
          <a:xfrm>
            <a:off x="4255007" y="2011680"/>
            <a:ext cx="1192783" cy="1005840"/>
          </a:xfrm>
          <a:prstGeom prst="rect">
            <a:avLst/>
          </a:prstGeom>
          <a:noFill/>
        </p:spPr>
        <p:txBody>
          <a:bodyPr wrap="square">
            <a:spAutoFit/>
          </a:bodyPr>
          <a:lstStyle/>
          <a:p>
            <a:pPr algn="ctr">
              <a:spcAft>
                <a:spcPts val="400"/>
              </a:spcAft>
            </a:pPr>
            <a:r>
              <a:rPr sz="800" b="0" i="0">
                <a:solidFill>
                  <a:srgbClr val="595959"/>
                </a:solidFill>
                <a:latin typeface="Calibri"/>
              </a:rPr>
              <a:t>Front-runner. APV Engineered Coatings confirms heat but calls $1.50/lb too cheap — likely ≥$3/lb, unconfirmed. Demand: ~3 drums/week</a:t>
            </a:r>
          </a:p>
        </p:txBody>
      </p:sp>
      <p:sp>
        <p:nvSpPr>
          <p:cNvPr id="18" name="Oval 17"/>
          <p:cNvSpPr/>
          <p:nvPr/>
        </p:nvSpPr>
        <p:spPr>
          <a:xfrm>
            <a:off x="5989320" y="1801368"/>
            <a:ext cx="182880" cy="182880"/>
          </a:xfrm>
          <a:prstGeom prst="ellipse">
            <a:avLst/>
          </a:prstGeom>
          <a:solidFill>
            <a:srgbClr val="B23A2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484367" y="1024128"/>
            <a:ext cx="1192783" cy="777240"/>
          </a:xfrm>
          <a:prstGeom prst="rect">
            <a:avLst/>
          </a:prstGeom>
          <a:noFill/>
        </p:spPr>
        <p:txBody>
          <a:bodyPr wrap="square" anchor="b">
            <a:spAutoFit/>
          </a:bodyPr>
          <a:lstStyle/>
          <a:p>
            <a:pPr algn="ctr">
              <a:spcAft>
                <a:spcPts val="100"/>
              </a:spcAft>
            </a:pPr>
            <a:r>
              <a:rPr sz="900" b="1" i="0">
                <a:solidFill>
                  <a:srgbClr val="B23A2E"/>
                </a:solidFill>
                <a:latin typeface="Calibri"/>
              </a:rPr>
              <a:t>Jul 2026</a:t>
            </a:r>
          </a:p>
          <a:p>
            <a:pPr algn="ctr">
              <a:spcAft>
                <a:spcPts val="0"/>
              </a:spcAft>
            </a:pPr>
            <a:r>
              <a:rPr sz="900" b="1" i="0">
                <a:solidFill>
                  <a:srgbClr val="1F3864"/>
                </a:solidFill>
                <a:latin typeface="Calibri"/>
              </a:rPr>
              <a:t>Columbus Chemical Industries cannot hold temperature</a:t>
            </a:r>
          </a:p>
        </p:txBody>
      </p:sp>
      <p:sp>
        <p:nvSpPr>
          <p:cNvPr id="20" name="TextBox 19"/>
          <p:cNvSpPr txBox="1"/>
          <p:nvPr/>
        </p:nvSpPr>
        <p:spPr>
          <a:xfrm>
            <a:off x="5484367" y="2011680"/>
            <a:ext cx="1192783" cy="1005840"/>
          </a:xfrm>
          <a:prstGeom prst="rect">
            <a:avLst/>
          </a:prstGeom>
          <a:noFill/>
        </p:spPr>
        <p:txBody>
          <a:bodyPr wrap="square">
            <a:spAutoFit/>
          </a:bodyPr>
          <a:lstStyle/>
          <a:p>
            <a:pPr algn="ctr">
              <a:spcAft>
                <a:spcPts val="400"/>
              </a:spcAft>
            </a:pPr>
            <a:r>
              <a:rPr sz="800" b="0" i="0">
                <a:solidFill>
                  <a:srgbClr val="595959"/>
                </a:solidFill>
                <a:latin typeface="Calibri"/>
              </a:rPr>
              <a:t>Right kind of company; reached out to us, then said they cannot hold 90–95 °C. Eliminated; never quoted</a:t>
            </a:r>
          </a:p>
        </p:txBody>
      </p:sp>
      <p:sp>
        <p:nvSpPr>
          <p:cNvPr id="21" name="Oval 20"/>
          <p:cNvSpPr/>
          <p:nvPr/>
        </p:nvSpPr>
        <p:spPr>
          <a:xfrm>
            <a:off x="7218679" y="1801368"/>
            <a:ext cx="182880" cy="182880"/>
          </a:xfrm>
          <a:prstGeom prst="ellipse">
            <a:avLst/>
          </a:prstGeom>
          <a:solidFill>
            <a:srgbClr val="B23A2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713727" y="1024128"/>
            <a:ext cx="1192783" cy="777240"/>
          </a:xfrm>
          <a:prstGeom prst="rect">
            <a:avLst/>
          </a:prstGeom>
          <a:noFill/>
        </p:spPr>
        <p:txBody>
          <a:bodyPr wrap="square" anchor="b">
            <a:spAutoFit/>
          </a:bodyPr>
          <a:lstStyle/>
          <a:p>
            <a:pPr algn="ctr">
              <a:spcAft>
                <a:spcPts val="100"/>
              </a:spcAft>
            </a:pPr>
            <a:r>
              <a:rPr sz="900" b="1" i="0">
                <a:solidFill>
                  <a:srgbClr val="B23A2E"/>
                </a:solidFill>
                <a:latin typeface="Calibri"/>
              </a:rPr>
              <a:t>4 Aug 2026</a:t>
            </a:r>
          </a:p>
          <a:p>
            <a:pPr algn="ctr">
              <a:spcAft>
                <a:spcPts val="0"/>
              </a:spcAft>
            </a:pPr>
            <a:r>
              <a:rPr sz="900" b="1" i="0">
                <a:solidFill>
                  <a:srgbClr val="1F3864"/>
                </a:solidFill>
                <a:latin typeface="Calibri"/>
              </a:rPr>
              <a:t>CJB priced out</a:t>
            </a:r>
          </a:p>
        </p:txBody>
      </p:sp>
      <p:sp>
        <p:nvSpPr>
          <p:cNvPr id="23" name="TextBox 22"/>
          <p:cNvSpPr txBox="1"/>
          <p:nvPr/>
        </p:nvSpPr>
        <p:spPr>
          <a:xfrm>
            <a:off x="6713727" y="2011680"/>
            <a:ext cx="1192783" cy="1005840"/>
          </a:xfrm>
          <a:prstGeom prst="rect">
            <a:avLst/>
          </a:prstGeom>
          <a:noFill/>
        </p:spPr>
        <p:txBody>
          <a:bodyPr wrap="square">
            <a:spAutoFit/>
          </a:bodyPr>
          <a:lstStyle/>
          <a:p>
            <a:pPr algn="ctr">
              <a:spcAft>
                <a:spcPts val="400"/>
              </a:spcAft>
            </a:pPr>
            <a:r>
              <a:rPr sz="800" b="0" i="0">
                <a:solidFill>
                  <a:srgbClr val="595959"/>
                </a:solidFill>
                <a:latin typeface="Calibri"/>
              </a:rPr>
              <a:t>$8.00–8.50/lb toll excl. materials (~11× SNP). Their $6,400 trial declined — capability never corroborated</a:t>
            </a:r>
          </a:p>
        </p:txBody>
      </p:sp>
      <p:sp>
        <p:nvSpPr>
          <p:cNvPr id="24" name="Oval 23"/>
          <p:cNvSpPr/>
          <p:nvPr/>
        </p:nvSpPr>
        <p:spPr>
          <a:xfrm>
            <a:off x="8448040" y="1801368"/>
            <a:ext cx="182880" cy="182880"/>
          </a:xfrm>
          <a:prstGeom prst="ellipse">
            <a:avLst/>
          </a:prstGeom>
          <a:solidFill>
            <a:srgbClr val="9C5A0C"/>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943087" y="1024128"/>
            <a:ext cx="1192783" cy="777240"/>
          </a:xfrm>
          <a:prstGeom prst="rect">
            <a:avLst/>
          </a:prstGeom>
          <a:noFill/>
        </p:spPr>
        <p:txBody>
          <a:bodyPr wrap="square" anchor="b">
            <a:spAutoFit/>
          </a:bodyPr>
          <a:lstStyle/>
          <a:p>
            <a:pPr algn="ctr">
              <a:spcAft>
                <a:spcPts val="100"/>
              </a:spcAft>
            </a:pPr>
            <a:r>
              <a:rPr sz="900" b="1" i="0">
                <a:solidFill>
                  <a:srgbClr val="9C5A0C"/>
                </a:solidFill>
                <a:latin typeface="Calibri"/>
              </a:rPr>
              <a:t>Aug–Sep 2026</a:t>
            </a:r>
          </a:p>
          <a:p>
            <a:pPr algn="ctr">
              <a:spcAft>
                <a:spcPts val="0"/>
              </a:spcAft>
            </a:pPr>
            <a:r>
              <a:rPr sz="900" b="1" i="0">
                <a:solidFill>
                  <a:srgbClr val="1F3864"/>
                </a:solidFill>
                <a:latin typeface="Calibri"/>
              </a:rPr>
              <a:t>PCI Manufacturing lab batches</a:t>
            </a:r>
          </a:p>
        </p:txBody>
      </p:sp>
      <p:sp>
        <p:nvSpPr>
          <p:cNvPr id="26" name="TextBox 25"/>
          <p:cNvSpPr txBox="1"/>
          <p:nvPr/>
        </p:nvSpPr>
        <p:spPr>
          <a:xfrm>
            <a:off x="7943087" y="2011680"/>
            <a:ext cx="1192783" cy="1005840"/>
          </a:xfrm>
          <a:prstGeom prst="rect">
            <a:avLst/>
          </a:prstGeom>
          <a:noFill/>
        </p:spPr>
        <p:txBody>
          <a:bodyPr wrap="square">
            <a:spAutoFit/>
          </a:bodyPr>
          <a:lstStyle/>
          <a:p>
            <a:pPr algn="ctr">
              <a:spcAft>
                <a:spcPts val="400"/>
              </a:spcAft>
            </a:pPr>
            <a:r>
              <a:rPr sz="800" b="0" i="0">
                <a:solidFill>
                  <a:srgbClr val="595959"/>
                </a:solidFill>
                <a:latin typeface="Calibri"/>
              </a:rPr>
              <a:t>Two-plus batches, a dilution study, method work — unpaid</a:t>
            </a:r>
          </a:p>
        </p:txBody>
      </p:sp>
      <p:sp>
        <p:nvSpPr>
          <p:cNvPr id="27" name="Oval 26"/>
          <p:cNvSpPr/>
          <p:nvPr/>
        </p:nvSpPr>
        <p:spPr>
          <a:xfrm>
            <a:off x="9677399" y="1801368"/>
            <a:ext cx="182880" cy="182880"/>
          </a:xfrm>
          <a:prstGeom prst="ellipse">
            <a:avLst/>
          </a:prstGeom>
          <a:solidFill>
            <a:srgbClr val="2E7D46"/>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172447" y="1024128"/>
            <a:ext cx="1192783" cy="777240"/>
          </a:xfrm>
          <a:prstGeom prst="rect">
            <a:avLst/>
          </a:prstGeom>
          <a:noFill/>
        </p:spPr>
        <p:txBody>
          <a:bodyPr wrap="square" anchor="b">
            <a:spAutoFit/>
          </a:bodyPr>
          <a:lstStyle/>
          <a:p>
            <a:pPr algn="ctr">
              <a:spcAft>
                <a:spcPts val="100"/>
              </a:spcAft>
            </a:pPr>
            <a:r>
              <a:rPr sz="900" b="1" i="0">
                <a:solidFill>
                  <a:srgbClr val="2E7D46"/>
                </a:solidFill>
                <a:latin typeface="Calibri"/>
              </a:rPr>
              <a:t>22 Sep 2026</a:t>
            </a:r>
          </a:p>
          <a:p>
            <a:pPr algn="ctr">
              <a:spcAft>
                <a:spcPts val="0"/>
              </a:spcAft>
            </a:pPr>
            <a:r>
              <a:rPr sz="900" b="1" i="0">
                <a:solidFill>
                  <a:srgbClr val="1F3864"/>
                </a:solidFill>
                <a:latin typeface="Calibri"/>
              </a:rPr>
              <a:t>PCI test results</a:t>
            </a:r>
          </a:p>
        </p:txBody>
      </p:sp>
      <p:sp>
        <p:nvSpPr>
          <p:cNvPr id="29" name="TextBox 28"/>
          <p:cNvSpPr txBox="1"/>
          <p:nvPr/>
        </p:nvSpPr>
        <p:spPr>
          <a:xfrm>
            <a:off x="9172447" y="2011680"/>
            <a:ext cx="1192783" cy="1005840"/>
          </a:xfrm>
          <a:prstGeom prst="rect">
            <a:avLst/>
          </a:prstGeom>
          <a:noFill/>
        </p:spPr>
        <p:txBody>
          <a:bodyPr wrap="square">
            <a:spAutoFit/>
          </a:bodyPr>
          <a:lstStyle/>
          <a:p>
            <a:pPr algn="ctr">
              <a:spcAft>
                <a:spcPts val="400"/>
              </a:spcAft>
            </a:pPr>
            <a:r>
              <a:rPr sz="800" b="0" i="0">
                <a:solidFill>
                  <a:srgbClr val="595959"/>
                </a:solidFill>
                <a:latin typeface="Calibri"/>
              </a:rPr>
              <a:t>Viscosity brought on target within the test (solids / water adjustment). Spec agreed: 11% / 900–1,100 cP</a:t>
            </a:r>
          </a:p>
        </p:txBody>
      </p:sp>
      <p:sp>
        <p:nvSpPr>
          <p:cNvPr id="30" name="Oval 29"/>
          <p:cNvSpPr/>
          <p:nvPr/>
        </p:nvSpPr>
        <p:spPr>
          <a:xfrm>
            <a:off x="10906760" y="1801368"/>
            <a:ext cx="182880" cy="182880"/>
          </a:xfrm>
          <a:prstGeom prst="ellipse">
            <a:avLst/>
          </a:prstGeom>
          <a:solidFill>
            <a:srgbClr val="2E7D46"/>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0401807" y="1024128"/>
            <a:ext cx="1192783" cy="777240"/>
          </a:xfrm>
          <a:prstGeom prst="rect">
            <a:avLst/>
          </a:prstGeom>
          <a:noFill/>
        </p:spPr>
        <p:txBody>
          <a:bodyPr wrap="square" anchor="b">
            <a:spAutoFit/>
          </a:bodyPr>
          <a:lstStyle/>
          <a:p>
            <a:pPr algn="ctr">
              <a:spcAft>
                <a:spcPts val="100"/>
              </a:spcAft>
            </a:pPr>
            <a:r>
              <a:rPr sz="900" b="1" i="0">
                <a:solidFill>
                  <a:srgbClr val="2E7D46"/>
                </a:solidFill>
                <a:latin typeface="Calibri"/>
              </a:rPr>
              <a:t>28 Sep 2026</a:t>
            </a:r>
          </a:p>
          <a:p>
            <a:pPr algn="ctr">
              <a:spcAft>
                <a:spcPts val="0"/>
              </a:spcAft>
            </a:pPr>
            <a:r>
              <a:rPr sz="900" b="1" i="0">
                <a:solidFill>
                  <a:srgbClr val="1F3864"/>
                </a:solidFill>
                <a:latin typeface="Calibri"/>
              </a:rPr>
              <a:t>Spec met — real quote</a:t>
            </a:r>
          </a:p>
        </p:txBody>
      </p:sp>
      <p:sp>
        <p:nvSpPr>
          <p:cNvPr id="32" name="TextBox 31"/>
          <p:cNvSpPr txBox="1"/>
          <p:nvPr/>
        </p:nvSpPr>
        <p:spPr>
          <a:xfrm>
            <a:off x="10401807" y="2011680"/>
            <a:ext cx="1192783" cy="1005840"/>
          </a:xfrm>
          <a:prstGeom prst="rect">
            <a:avLst/>
          </a:prstGeom>
          <a:noFill/>
        </p:spPr>
        <p:txBody>
          <a:bodyPr wrap="square">
            <a:spAutoFit/>
          </a:bodyPr>
          <a:lstStyle/>
          <a:p>
            <a:pPr algn="ctr">
              <a:spcAft>
                <a:spcPts val="400"/>
              </a:spcAft>
            </a:pPr>
            <a:r>
              <a:rPr sz="800" b="0" i="0">
                <a:solidFill>
                  <a:srgbClr val="595959"/>
                </a:solidFill>
                <a:latin typeface="Calibri"/>
              </a:rPr>
              <a:t>$3.50/lb per 5-drum batch; $6.00 below a batch</a:t>
            </a:r>
          </a:p>
        </p:txBody>
      </p:sp>
      <p:sp>
        <p:nvSpPr>
          <p:cNvPr id="33" name="Rectangle 32"/>
          <p:cNvSpPr/>
          <p:nvPr/>
        </p:nvSpPr>
        <p:spPr>
          <a:xfrm>
            <a:off x="585216" y="3246120"/>
            <a:ext cx="2139696" cy="868680"/>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21792" y="3264408"/>
            <a:ext cx="777240" cy="832103"/>
          </a:xfrm>
          <a:prstGeom prst="rect">
            <a:avLst/>
          </a:prstGeom>
          <a:noFill/>
        </p:spPr>
        <p:txBody>
          <a:bodyPr wrap="square" anchor="ctr">
            <a:spAutoFit/>
          </a:bodyPr>
          <a:lstStyle/>
          <a:p>
            <a:pPr algn="ctr">
              <a:spcAft>
                <a:spcPts val="0"/>
              </a:spcAft>
            </a:pPr>
            <a:r>
              <a:rPr sz="1800" b="1" i="0">
                <a:solidFill>
                  <a:srgbClr val="1F3864"/>
                </a:solidFill>
                <a:latin typeface="Calibri"/>
              </a:rPr>
              <a:t>~15–20</a:t>
            </a:r>
          </a:p>
        </p:txBody>
      </p:sp>
      <p:sp>
        <p:nvSpPr>
          <p:cNvPr id="35" name="TextBox 34"/>
          <p:cNvSpPr txBox="1"/>
          <p:nvPr/>
        </p:nvSpPr>
        <p:spPr>
          <a:xfrm>
            <a:off x="1371600" y="3264408"/>
            <a:ext cx="1298448" cy="832103"/>
          </a:xfrm>
          <a:prstGeom prst="rect">
            <a:avLst/>
          </a:prstGeom>
          <a:noFill/>
        </p:spPr>
        <p:txBody>
          <a:bodyPr wrap="square" anchor="ctr">
            <a:spAutoFit/>
          </a:bodyPr>
          <a:lstStyle/>
          <a:p>
            <a:pPr algn="l">
              <a:spcAft>
                <a:spcPts val="0"/>
              </a:spcAft>
            </a:pPr>
            <a:r>
              <a:rPr sz="900" b="0" i="0">
                <a:solidFill>
                  <a:srgbClr val="1F3864"/>
                </a:solidFill>
                <a:latin typeface="Calibri"/>
              </a:rPr>
              <a:t>serious candidates screened</a:t>
            </a:r>
          </a:p>
        </p:txBody>
      </p:sp>
      <p:sp>
        <p:nvSpPr>
          <p:cNvPr id="36" name="Rectangle 35"/>
          <p:cNvSpPr/>
          <p:nvPr/>
        </p:nvSpPr>
        <p:spPr>
          <a:xfrm>
            <a:off x="2798064" y="3282696"/>
            <a:ext cx="2139696" cy="795528"/>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834640" y="3300984"/>
            <a:ext cx="777240" cy="758952"/>
          </a:xfrm>
          <a:prstGeom prst="rect">
            <a:avLst/>
          </a:prstGeom>
          <a:noFill/>
        </p:spPr>
        <p:txBody>
          <a:bodyPr wrap="square" anchor="ctr">
            <a:spAutoFit/>
          </a:bodyPr>
          <a:lstStyle/>
          <a:p>
            <a:pPr algn="ctr">
              <a:spcAft>
                <a:spcPts val="0"/>
              </a:spcAft>
            </a:pPr>
            <a:r>
              <a:rPr sz="1800" b="1" i="0">
                <a:solidFill>
                  <a:srgbClr val="1F3864"/>
                </a:solidFill>
                <a:latin typeface="Calibri"/>
              </a:rPr>
              <a:t>7</a:t>
            </a:r>
          </a:p>
        </p:txBody>
      </p:sp>
      <p:sp>
        <p:nvSpPr>
          <p:cNvPr id="38" name="TextBox 37"/>
          <p:cNvSpPr txBox="1"/>
          <p:nvPr/>
        </p:nvSpPr>
        <p:spPr>
          <a:xfrm>
            <a:off x="3584448" y="3300984"/>
            <a:ext cx="1298448" cy="758952"/>
          </a:xfrm>
          <a:prstGeom prst="rect">
            <a:avLst/>
          </a:prstGeom>
          <a:noFill/>
        </p:spPr>
        <p:txBody>
          <a:bodyPr wrap="square" anchor="ctr">
            <a:spAutoFit/>
          </a:bodyPr>
          <a:lstStyle/>
          <a:p>
            <a:pPr algn="l">
              <a:spcAft>
                <a:spcPts val="0"/>
              </a:spcAft>
            </a:pPr>
            <a:r>
              <a:rPr sz="900" b="0" i="0">
                <a:solidFill>
                  <a:srgbClr val="1F3864"/>
                </a:solidFill>
                <a:latin typeface="Calibri"/>
              </a:rPr>
              <a:t>engaged in tests or calls</a:t>
            </a:r>
          </a:p>
        </p:txBody>
      </p:sp>
      <p:sp>
        <p:nvSpPr>
          <p:cNvPr id="39" name="Rectangle 38"/>
          <p:cNvSpPr/>
          <p:nvPr/>
        </p:nvSpPr>
        <p:spPr>
          <a:xfrm>
            <a:off x="5010912" y="3319272"/>
            <a:ext cx="2139696" cy="722375"/>
          </a:xfrm>
          <a:prstGeom prst="rect">
            <a:avLst/>
          </a:prstGeom>
          <a:solidFill>
            <a:srgbClr val="FCE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5047488" y="3337560"/>
            <a:ext cx="777240" cy="685799"/>
          </a:xfrm>
          <a:prstGeom prst="rect">
            <a:avLst/>
          </a:prstGeom>
          <a:noFill/>
        </p:spPr>
        <p:txBody>
          <a:bodyPr wrap="square" anchor="ctr">
            <a:spAutoFit/>
          </a:bodyPr>
          <a:lstStyle/>
          <a:p>
            <a:pPr algn="ctr">
              <a:spcAft>
                <a:spcPts val="0"/>
              </a:spcAft>
            </a:pPr>
            <a:r>
              <a:rPr sz="1800" b="1" i="0">
                <a:solidFill>
                  <a:srgbClr val="B23A2E"/>
                </a:solidFill>
                <a:latin typeface="Calibri"/>
              </a:rPr>
              <a:t>4</a:t>
            </a:r>
          </a:p>
        </p:txBody>
      </p:sp>
      <p:sp>
        <p:nvSpPr>
          <p:cNvPr id="41" name="TextBox 40"/>
          <p:cNvSpPr txBox="1"/>
          <p:nvPr/>
        </p:nvSpPr>
        <p:spPr>
          <a:xfrm>
            <a:off x="5797296" y="3337560"/>
            <a:ext cx="1298448" cy="685799"/>
          </a:xfrm>
          <a:prstGeom prst="rect">
            <a:avLst/>
          </a:prstGeom>
          <a:noFill/>
        </p:spPr>
        <p:txBody>
          <a:bodyPr wrap="square" anchor="ctr">
            <a:spAutoFit/>
          </a:bodyPr>
          <a:lstStyle/>
          <a:p>
            <a:pPr algn="l">
              <a:spcAft>
                <a:spcPts val="0"/>
              </a:spcAft>
            </a:pPr>
            <a:r>
              <a:rPr sz="900" b="0" i="0">
                <a:solidFill>
                  <a:srgbClr val="1F3864"/>
                </a:solidFill>
                <a:latin typeface="Calibri"/>
              </a:rPr>
              <a:t>could not make it — heat or viscosity (Brenntag, ArroChem, ILC Dover, Columbus)</a:t>
            </a:r>
          </a:p>
        </p:txBody>
      </p:sp>
      <p:sp>
        <p:nvSpPr>
          <p:cNvPr id="42" name="Rectangle 41"/>
          <p:cNvSpPr/>
          <p:nvPr/>
        </p:nvSpPr>
        <p:spPr>
          <a:xfrm>
            <a:off x="7223759" y="3355848"/>
            <a:ext cx="2139696" cy="649224"/>
          </a:xfrm>
          <a:prstGeom prst="rect">
            <a:avLst/>
          </a:prstGeom>
          <a:solidFill>
            <a:srgbClr val="FFF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7260336" y="3374136"/>
            <a:ext cx="777240" cy="612647"/>
          </a:xfrm>
          <a:prstGeom prst="rect">
            <a:avLst/>
          </a:prstGeom>
          <a:noFill/>
        </p:spPr>
        <p:txBody>
          <a:bodyPr wrap="square" anchor="ctr">
            <a:spAutoFit/>
          </a:bodyPr>
          <a:lstStyle/>
          <a:p>
            <a:pPr algn="ctr">
              <a:spcAft>
                <a:spcPts val="0"/>
              </a:spcAft>
            </a:pPr>
            <a:r>
              <a:rPr sz="1800" b="1" i="0">
                <a:solidFill>
                  <a:srgbClr val="9C5A0C"/>
                </a:solidFill>
                <a:latin typeface="Calibri"/>
              </a:rPr>
              <a:t>2</a:t>
            </a:r>
          </a:p>
        </p:txBody>
      </p:sp>
      <p:sp>
        <p:nvSpPr>
          <p:cNvPr id="44" name="TextBox 43"/>
          <p:cNvSpPr txBox="1"/>
          <p:nvPr/>
        </p:nvSpPr>
        <p:spPr>
          <a:xfrm>
            <a:off x="8010144" y="3374136"/>
            <a:ext cx="1298448" cy="612647"/>
          </a:xfrm>
          <a:prstGeom prst="rect">
            <a:avLst/>
          </a:prstGeom>
          <a:noFill/>
        </p:spPr>
        <p:txBody>
          <a:bodyPr wrap="square" anchor="ctr">
            <a:spAutoFit/>
          </a:bodyPr>
          <a:lstStyle/>
          <a:p>
            <a:pPr algn="l">
              <a:spcAft>
                <a:spcPts val="0"/>
              </a:spcAft>
            </a:pPr>
            <a:r>
              <a:rPr sz="900" b="0" i="0">
                <a:solidFill>
                  <a:srgbClr val="1F3864"/>
                </a:solidFill>
                <a:latin typeface="Calibri"/>
              </a:rPr>
              <a:t>could, but priced out or never quoted (CJB $8.42; APV ≥$3, est.)</a:t>
            </a:r>
          </a:p>
        </p:txBody>
      </p:sp>
      <p:sp>
        <p:nvSpPr>
          <p:cNvPr id="45" name="Rectangle 44"/>
          <p:cNvSpPr/>
          <p:nvPr/>
        </p:nvSpPr>
        <p:spPr>
          <a:xfrm>
            <a:off x="9436607" y="3392424"/>
            <a:ext cx="2139696" cy="576071"/>
          </a:xfrm>
          <a:prstGeom prst="rect">
            <a:avLst/>
          </a:prstGeom>
          <a:solidFill>
            <a:srgbClr val="E2E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9473184" y="3410712"/>
            <a:ext cx="777240" cy="539495"/>
          </a:xfrm>
          <a:prstGeom prst="rect">
            <a:avLst/>
          </a:prstGeom>
          <a:noFill/>
        </p:spPr>
        <p:txBody>
          <a:bodyPr wrap="square" anchor="ctr">
            <a:spAutoFit/>
          </a:bodyPr>
          <a:lstStyle/>
          <a:p>
            <a:pPr algn="ctr">
              <a:spcAft>
                <a:spcPts val="0"/>
              </a:spcAft>
            </a:pPr>
            <a:r>
              <a:rPr sz="1800" b="1" i="0">
                <a:solidFill>
                  <a:srgbClr val="2E7D46"/>
                </a:solidFill>
                <a:latin typeface="Calibri"/>
              </a:rPr>
              <a:t>1</a:t>
            </a:r>
          </a:p>
        </p:txBody>
      </p:sp>
      <p:sp>
        <p:nvSpPr>
          <p:cNvPr id="47" name="TextBox 46"/>
          <p:cNvSpPr txBox="1"/>
          <p:nvPr/>
        </p:nvSpPr>
        <p:spPr>
          <a:xfrm>
            <a:off x="10222992" y="3410712"/>
            <a:ext cx="1298448" cy="539495"/>
          </a:xfrm>
          <a:prstGeom prst="rect">
            <a:avLst/>
          </a:prstGeom>
          <a:noFill/>
        </p:spPr>
        <p:txBody>
          <a:bodyPr wrap="square" anchor="ctr">
            <a:spAutoFit/>
          </a:bodyPr>
          <a:lstStyle/>
          <a:p>
            <a:pPr algn="l">
              <a:spcAft>
                <a:spcPts val="0"/>
              </a:spcAft>
            </a:pPr>
            <a:r>
              <a:rPr sz="900" b="1" i="0">
                <a:solidFill>
                  <a:srgbClr val="1F3864"/>
                </a:solidFill>
                <a:latin typeface="Calibri"/>
              </a:rPr>
              <a:t>can make it: PCI Manufacturing, $3.50/lb</a:t>
            </a:r>
          </a:p>
        </p:txBody>
      </p:sp>
      <p:sp>
        <p:nvSpPr>
          <p:cNvPr id="48" name="Rectangle 47"/>
          <p:cNvSpPr/>
          <p:nvPr/>
        </p:nvSpPr>
        <p:spPr>
          <a:xfrm>
            <a:off x="548640" y="4251960"/>
            <a:ext cx="3611880" cy="1600200"/>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731520" y="4370832"/>
            <a:ext cx="3246120" cy="838691"/>
          </a:xfrm>
          <a:prstGeom prst="rect">
            <a:avLst/>
          </a:prstGeom>
          <a:noFill/>
        </p:spPr>
        <p:txBody>
          <a:bodyPr wrap="square">
            <a:spAutoFit/>
          </a:bodyPr>
          <a:lstStyle/>
          <a:p>
            <a:pPr algn="l">
              <a:spcAft>
                <a:spcPts val="600"/>
              </a:spcAft>
            </a:pPr>
            <a:r>
              <a:rPr sz="1350" b="1" i="0" dirty="0">
                <a:solidFill>
                  <a:srgbClr val="1F3864"/>
                </a:solidFill>
                <a:latin typeface="Calibri"/>
              </a:rPr>
              <a:t>Capability </a:t>
            </a:r>
            <a:r>
              <a:rPr lang="en-US" sz="1350" b="1" i="0" dirty="0">
                <a:solidFill>
                  <a:srgbClr val="1F3864"/>
                </a:solidFill>
                <a:latin typeface="Calibri"/>
              </a:rPr>
              <a:t>is not common</a:t>
            </a:r>
            <a:endParaRPr sz="1350" b="1" i="0" dirty="0">
              <a:solidFill>
                <a:srgbClr val="1F3864"/>
              </a:solidFill>
              <a:latin typeface="Calibri"/>
            </a:endParaRPr>
          </a:p>
          <a:p>
            <a:pPr algn="l">
              <a:spcAft>
                <a:spcPts val="500"/>
              </a:spcAft>
            </a:pPr>
            <a:r>
              <a:rPr sz="1000" b="0" i="0" dirty="0">
                <a:solidFill>
                  <a:srgbClr val="595959"/>
                </a:solidFill>
                <a:latin typeface="Calibri"/>
              </a:rPr>
              <a:t>•  The 90–95 °C dissolution cook at 55-gallon scale eliminated most of the market. One shop passed in ten months; the rest failed on heat, on viscosity, or on price</a:t>
            </a:r>
          </a:p>
        </p:txBody>
      </p:sp>
      <p:sp>
        <p:nvSpPr>
          <p:cNvPr id="50" name="Rectangle 49"/>
          <p:cNvSpPr/>
          <p:nvPr/>
        </p:nvSpPr>
        <p:spPr>
          <a:xfrm>
            <a:off x="4297680" y="4251960"/>
            <a:ext cx="3611880" cy="1600200"/>
          </a:xfrm>
          <a:prstGeom prst="rect">
            <a:avLst/>
          </a:prstGeom>
          <a:solidFill>
            <a:srgbClr val="FFF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4480560" y="4370832"/>
            <a:ext cx="3246120" cy="1362456"/>
          </a:xfrm>
          <a:prstGeom prst="rect">
            <a:avLst/>
          </a:prstGeom>
          <a:noFill/>
        </p:spPr>
        <p:txBody>
          <a:bodyPr wrap="square">
            <a:spAutoFit/>
          </a:bodyPr>
          <a:lstStyle/>
          <a:p>
            <a:pPr algn="l">
              <a:spcAft>
                <a:spcPts val="600"/>
              </a:spcAft>
            </a:pPr>
            <a:r>
              <a:rPr sz="1350" b="1" i="0">
                <a:solidFill>
                  <a:srgbClr val="9C5A0C"/>
                </a:solidFill>
                <a:latin typeface="Calibri"/>
              </a:rPr>
              <a:t>Capability is expensive</a:t>
            </a:r>
          </a:p>
          <a:p>
            <a:pPr algn="l">
              <a:spcAft>
                <a:spcPts val="500"/>
              </a:spcAft>
            </a:pPr>
            <a:r>
              <a:rPr sz="1000" b="0" i="0">
                <a:solidFill>
                  <a:srgbClr val="595959"/>
                </a:solidFill>
                <a:latin typeface="Calibri"/>
              </a:rPr>
              <a:t>•  Everyone who can do it charges 4× to 11× SNP: PCI $3.50, APV ≥$3 (est.), CJB $8.42 — against $0.75. Small batches, drum freight and risk are priced in</a:t>
            </a:r>
          </a:p>
        </p:txBody>
      </p:sp>
      <p:sp>
        <p:nvSpPr>
          <p:cNvPr id="52" name="Rectangle 51"/>
          <p:cNvSpPr/>
          <p:nvPr/>
        </p:nvSpPr>
        <p:spPr>
          <a:xfrm>
            <a:off x="8046720" y="4251960"/>
            <a:ext cx="3566160" cy="1600200"/>
          </a:xfrm>
          <a:prstGeom prst="rect">
            <a:avLst/>
          </a:prstGeom>
          <a:solidFill>
            <a:srgbClr val="E2E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8229600" y="4370832"/>
            <a:ext cx="3200400" cy="1362456"/>
          </a:xfrm>
          <a:prstGeom prst="rect">
            <a:avLst/>
          </a:prstGeom>
          <a:noFill/>
        </p:spPr>
        <p:txBody>
          <a:bodyPr wrap="square">
            <a:spAutoFit/>
          </a:bodyPr>
          <a:lstStyle/>
          <a:p>
            <a:pPr algn="l">
              <a:spcAft>
                <a:spcPts val="600"/>
              </a:spcAft>
            </a:pPr>
            <a:r>
              <a:rPr sz="1350" b="1" i="0">
                <a:solidFill>
                  <a:srgbClr val="2E7D46"/>
                </a:solidFill>
                <a:latin typeface="Calibri"/>
              </a:rPr>
              <a:t>SNP Inc. is an outlier, not a benchmark</a:t>
            </a:r>
          </a:p>
          <a:p>
            <a:pPr algn="l">
              <a:spcAft>
                <a:spcPts val="500"/>
              </a:spcAft>
            </a:pPr>
            <a:r>
              <a:rPr sz="1000" b="0" i="0">
                <a:solidFill>
                  <a:srgbClr val="595959"/>
                </a:solidFill>
                <a:latin typeface="Calibri"/>
              </a:rPr>
              <a:t>•  A specialist, close by, right-sized tanks, PVA as its core line, and a price below the whole US market. We cannot replicate that price; we can only protect it</a:t>
            </a:r>
          </a:p>
        </p:txBody>
      </p:sp>
      <p:sp>
        <p:nvSpPr>
          <p:cNvPr id="54" name="Rectangle 53"/>
          <p:cNvSpPr/>
          <p:nvPr/>
        </p:nvSpPr>
        <p:spPr>
          <a:xfrm>
            <a:off x="548640" y="5989320"/>
            <a:ext cx="11064240" cy="56692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731520" y="6062472"/>
            <a:ext cx="10698480" cy="457200"/>
          </a:xfrm>
          <a:prstGeom prst="rect">
            <a:avLst/>
          </a:prstGeom>
          <a:noFill/>
        </p:spPr>
        <p:txBody>
          <a:bodyPr wrap="square" anchor="ctr">
            <a:spAutoFit/>
          </a:bodyPr>
          <a:lstStyle/>
          <a:p>
            <a:pPr algn="l">
              <a:spcAft>
                <a:spcPts val="400"/>
              </a:spcAft>
            </a:pPr>
            <a:r>
              <a:rPr sz="1350" b="1" i="0">
                <a:solidFill>
                  <a:srgbClr val="FFFFFF"/>
                </a:solidFill>
                <a:latin typeface="Calibri"/>
              </a:rPr>
              <a:t>Ten months, seven suppliers engaged, one shop that can make it — at 4.7× SNP's price. SNP Inc. is an outlier we cannot replicate, only protect.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28016"/>
            <a:ext cx="9692640" cy="731520"/>
          </a:xfrm>
          <a:prstGeom prst="rect">
            <a:avLst/>
          </a:prstGeom>
          <a:noFill/>
        </p:spPr>
        <p:txBody>
          <a:bodyPr wrap="square">
            <a:spAutoFit/>
          </a:bodyPr>
          <a:lstStyle/>
          <a:p>
            <a:pPr algn="l">
              <a:spcAft>
                <a:spcPts val="400"/>
              </a:spcAft>
            </a:pPr>
            <a:r>
              <a:rPr sz="2500" b="1" i="0">
                <a:solidFill>
                  <a:srgbClr val="FFFFFF"/>
                </a:solidFill>
                <a:latin typeface="Calibri"/>
              </a:rPr>
              <a:t>Price per pound, side by side — and where each number comes from</a:t>
            </a:r>
          </a:p>
        </p:txBody>
      </p:sp>
      <p:sp>
        <p:nvSpPr>
          <p:cNvPr id="4" name="TextBox 3"/>
          <p:cNvSpPr txBox="1"/>
          <p:nvPr/>
        </p:nvSpPr>
        <p:spPr>
          <a:xfrm>
            <a:off x="9966960" y="274320"/>
            <a:ext cx="2011680" cy="457200"/>
          </a:xfrm>
          <a:prstGeom prst="rect">
            <a:avLst/>
          </a:prstGeom>
          <a:noFill/>
        </p:spPr>
        <p:txBody>
          <a:bodyPr wrap="square">
            <a:spAutoFit/>
          </a:bodyPr>
          <a:lstStyle/>
          <a:p>
            <a:pPr algn="r">
              <a:spcAft>
                <a:spcPts val="400"/>
              </a:spcAft>
            </a:pPr>
            <a:r>
              <a:rPr sz="1100" b="0" i="0">
                <a:solidFill>
                  <a:srgbClr val="BDD7EE"/>
                </a:solidFill>
                <a:latin typeface="Calibri"/>
              </a:rPr>
              <a:t>1 · COST</a:t>
            </a:r>
          </a:p>
        </p:txBody>
      </p:sp>
      <p:pic>
        <p:nvPicPr>
          <p:cNvPr id="5" name="Picture 4" descr="chart_price_side_by_side.png"/>
          <p:cNvPicPr>
            <a:picLocks noChangeAspect="1"/>
          </p:cNvPicPr>
          <p:nvPr/>
        </p:nvPicPr>
        <p:blipFill>
          <a:blip r:embed="rId3"/>
          <a:stretch>
            <a:fillRect/>
          </a:stretch>
        </p:blipFill>
        <p:spPr>
          <a:xfrm>
            <a:off x="548640" y="1051560"/>
            <a:ext cx="7406640" cy="3635987"/>
          </a:xfrm>
          <a:prstGeom prst="rect">
            <a:avLst/>
          </a:prstGeom>
        </p:spPr>
      </p:pic>
      <p:sp>
        <p:nvSpPr>
          <p:cNvPr id="6" name="Rectangle 5"/>
          <p:cNvSpPr/>
          <p:nvPr/>
        </p:nvSpPr>
        <p:spPr>
          <a:xfrm>
            <a:off x="8183879" y="1051560"/>
            <a:ext cx="3429000" cy="4754880"/>
          </a:xfrm>
          <a:prstGeom prst="rect">
            <a:avLst/>
          </a:prstGeom>
          <a:solidFill>
            <a:srgbClr val="F6F8FB"/>
          </a:solidFill>
          <a:ln w="9525">
            <a:solidFill>
              <a:srgbClr val="4E79A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321040" y="1143000"/>
            <a:ext cx="3200400" cy="4617720"/>
          </a:xfrm>
          <a:prstGeom prst="rect">
            <a:avLst/>
          </a:prstGeom>
          <a:noFill/>
        </p:spPr>
        <p:txBody>
          <a:bodyPr wrap="square">
            <a:spAutoFit/>
          </a:bodyPr>
          <a:lstStyle/>
          <a:p>
            <a:pPr algn="l">
              <a:spcAft>
                <a:spcPts val="500"/>
              </a:spcAft>
            </a:pPr>
            <a:r>
              <a:rPr sz="1300" b="1" i="0">
                <a:solidFill>
                  <a:srgbClr val="1F3864"/>
                </a:solidFill>
                <a:latin typeface="Calibri"/>
              </a:rPr>
              <a:t>Where each number comes from</a:t>
            </a:r>
          </a:p>
          <a:p>
            <a:pPr>
              <a:spcAft>
                <a:spcPts val="600"/>
              </a:spcAft>
            </a:pPr>
            <a:r>
              <a:rPr sz="1050" b="1">
                <a:solidFill>
                  <a:srgbClr val="1F3864"/>
                </a:solidFill>
                <a:latin typeface="Calibri"/>
              </a:rPr>
              <a:t>Market, competitive quantity $2.32  </a:t>
            </a:r>
            <a:r>
              <a:rPr sz="1000">
                <a:solidFill>
                  <a:srgbClr val="595959"/>
                </a:solidFill>
                <a:latin typeface="Calibri"/>
              </a:rPr>
              <a:t>— comparable pre-mixed PVA solution at drum scale; range 2.20-5.03, n=7</a:t>
            </a:r>
          </a:p>
          <a:p>
            <a:pPr>
              <a:spcAft>
                <a:spcPts val="600"/>
              </a:spcAft>
            </a:pPr>
            <a:r>
              <a:rPr sz="1050" b="1">
                <a:solidFill>
                  <a:srgbClr val="1F3864"/>
                </a:solidFill>
                <a:latin typeface="Calibri"/>
              </a:rPr>
              <a:t>Market, low quantity $4.55  </a:t>
            </a:r>
            <a:r>
              <a:rPr sz="1000">
                <a:solidFill>
                  <a:srgbClr val="595959"/>
                </a:solidFill>
                <a:latin typeface="Calibri"/>
              </a:rPr>
              <a:t>— small packs; range 3.19-5.87, n=32</a:t>
            </a:r>
          </a:p>
          <a:p>
            <a:pPr>
              <a:spcAft>
                <a:spcPts val="600"/>
              </a:spcAft>
            </a:pPr>
            <a:r>
              <a:rPr sz="1050" b="1">
                <a:solidFill>
                  <a:srgbClr val="1F3864"/>
                </a:solidFill>
                <a:latin typeface="Calibri"/>
              </a:rPr>
              <a:t>Market, high quantity $1.01  </a:t>
            </a:r>
            <a:r>
              <a:rPr sz="1000">
                <a:solidFill>
                  <a:srgbClr val="595959"/>
                </a:solidFill>
                <a:latin typeface="Calibri"/>
              </a:rPr>
              <a:t>— totes / bulk; range 0.28-1.04, n=5</a:t>
            </a:r>
          </a:p>
          <a:p>
            <a:pPr>
              <a:spcAft>
                <a:spcPts val="600"/>
              </a:spcAft>
            </a:pPr>
            <a:r>
              <a:rPr sz="1050" b="1">
                <a:solidFill>
                  <a:srgbClr val="1F3864"/>
                </a:solidFill>
                <a:latin typeface="Calibri"/>
              </a:rPr>
              <a:t>SNP Inc. $0.75  </a:t>
            </a:r>
            <a:r>
              <a:rPr sz="1000">
                <a:solidFill>
                  <a:srgbClr val="595959"/>
                </a:solidFill>
                <a:latin typeface="Calibri"/>
              </a:rPr>
              <a:t>— real quote, delivered all-in — a specialist's price</a:t>
            </a:r>
          </a:p>
          <a:p>
            <a:pPr>
              <a:spcAft>
                <a:spcPts val="600"/>
              </a:spcAft>
            </a:pPr>
            <a:r>
              <a:rPr sz="1050" b="1">
                <a:solidFill>
                  <a:srgbClr val="1F3864"/>
                </a:solidFill>
                <a:latin typeface="Calibri"/>
              </a:rPr>
              <a:t>PCI $3.50 / $6.00  </a:t>
            </a:r>
            <a:r>
              <a:rPr sz="1000">
                <a:solidFill>
                  <a:srgbClr val="595959"/>
                </a:solidFill>
                <a:latin typeface="Calibri"/>
              </a:rPr>
              <a:t>— real quote, 28 Sept: one 5-drum batch / anything smaller</a:t>
            </a:r>
          </a:p>
          <a:p>
            <a:pPr>
              <a:spcAft>
                <a:spcPts val="600"/>
              </a:spcAft>
            </a:pPr>
            <a:r>
              <a:rPr sz="1050" b="1">
                <a:solidFill>
                  <a:srgbClr val="1F3864"/>
                </a:solidFill>
                <a:latin typeface="Calibri"/>
              </a:rPr>
              <a:t>CJB $8.42  </a:t>
            </a:r>
            <a:r>
              <a:rPr sz="1000">
                <a:solidFill>
                  <a:srgbClr val="595959"/>
                </a:solidFill>
                <a:latin typeface="Calibri"/>
              </a:rPr>
              <a:t>— real quote: $8.00–8.50 toll excluding materials, plus resin</a:t>
            </a:r>
          </a:p>
          <a:p>
            <a:pPr algn="l">
              <a:spcBef>
                <a:spcPts val="400"/>
              </a:spcBef>
              <a:spcAft>
                <a:spcPts val="400"/>
              </a:spcAft>
            </a:pPr>
            <a:r>
              <a:rPr sz="1000" b="1" i="0">
                <a:solidFill>
                  <a:srgbClr val="1F3864"/>
                </a:solidFill>
                <a:latin typeface="Calibri"/>
              </a:rPr>
              <a:t>Why a non-specialist sits far above the market: batch-fixed conversion cost over few pounds, drum-scale freight, risk priced in. SNP Inc.'s tanks are right-sized to our order and PVA is their core line.</a:t>
            </a:r>
          </a:p>
        </p:txBody>
      </p:sp>
      <p:sp>
        <p:nvSpPr>
          <p:cNvPr id="8" name="Rectangle 7"/>
          <p:cNvSpPr/>
          <p:nvPr/>
        </p:nvSpPr>
        <p:spPr>
          <a:xfrm>
            <a:off x="548640" y="5989320"/>
            <a:ext cx="11064240" cy="56692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20" y="6062472"/>
            <a:ext cx="10698480" cy="457200"/>
          </a:xfrm>
          <a:prstGeom prst="rect">
            <a:avLst/>
          </a:prstGeom>
          <a:noFill/>
        </p:spPr>
        <p:txBody>
          <a:bodyPr wrap="square" anchor="ctr">
            <a:spAutoFit/>
          </a:bodyPr>
          <a:lstStyle/>
          <a:p>
            <a:pPr algn="l">
              <a:spcAft>
                <a:spcPts val="400"/>
              </a:spcAft>
            </a:pPr>
            <a:r>
              <a:rPr sz="1350" b="1" i="0">
                <a:solidFill>
                  <a:srgbClr val="FFFFFF"/>
                </a:solidFill>
                <a:latin typeface="Calibri"/>
              </a:rPr>
              <a:t>At competitive quantity the market sells comparable PVA solution around $2.32/lb. SNP Inc. is below it; PCI is well above it; CJB is off the scale.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28016"/>
            <a:ext cx="9692640" cy="731520"/>
          </a:xfrm>
          <a:prstGeom prst="rect">
            <a:avLst/>
          </a:prstGeom>
          <a:noFill/>
        </p:spPr>
        <p:txBody>
          <a:bodyPr wrap="square">
            <a:spAutoFit/>
          </a:bodyPr>
          <a:lstStyle/>
          <a:p>
            <a:pPr algn="l">
              <a:spcAft>
                <a:spcPts val="400"/>
              </a:spcAft>
            </a:pPr>
            <a:r>
              <a:rPr sz="2500" b="1" i="0">
                <a:solidFill>
                  <a:srgbClr val="FFFFFF"/>
                </a:solidFill>
                <a:latin typeface="Calibri"/>
              </a:rPr>
              <a:t>Price per lb of PVA vs. quantity per order — the curve, and where each supplier sits</a:t>
            </a:r>
          </a:p>
        </p:txBody>
      </p:sp>
      <p:sp>
        <p:nvSpPr>
          <p:cNvPr id="4" name="TextBox 3"/>
          <p:cNvSpPr txBox="1"/>
          <p:nvPr/>
        </p:nvSpPr>
        <p:spPr>
          <a:xfrm>
            <a:off x="9966960" y="274320"/>
            <a:ext cx="2011680" cy="457200"/>
          </a:xfrm>
          <a:prstGeom prst="rect">
            <a:avLst/>
          </a:prstGeom>
          <a:noFill/>
        </p:spPr>
        <p:txBody>
          <a:bodyPr wrap="square">
            <a:spAutoFit/>
          </a:bodyPr>
          <a:lstStyle/>
          <a:p>
            <a:pPr algn="r">
              <a:spcAft>
                <a:spcPts val="400"/>
              </a:spcAft>
            </a:pPr>
            <a:r>
              <a:rPr sz="1100" b="0" i="0">
                <a:solidFill>
                  <a:srgbClr val="BDD7EE"/>
                </a:solidFill>
                <a:latin typeface="Calibri"/>
              </a:rPr>
              <a:t>1 · COST</a:t>
            </a:r>
          </a:p>
        </p:txBody>
      </p:sp>
      <p:pic>
        <p:nvPicPr>
          <p:cNvPr id="5" name="Picture 4" descr="chart_price_vs_volume.png"/>
          <p:cNvPicPr>
            <a:picLocks noChangeAspect="1"/>
          </p:cNvPicPr>
          <p:nvPr/>
        </p:nvPicPr>
        <p:blipFill>
          <a:blip r:embed="rId3"/>
          <a:stretch>
            <a:fillRect/>
          </a:stretch>
        </p:blipFill>
        <p:spPr>
          <a:xfrm>
            <a:off x="548640" y="1051560"/>
            <a:ext cx="7406640" cy="4787219"/>
          </a:xfrm>
          <a:prstGeom prst="rect">
            <a:avLst/>
          </a:prstGeom>
        </p:spPr>
      </p:pic>
      <p:sp>
        <p:nvSpPr>
          <p:cNvPr id="6" name="Rectangle 5"/>
          <p:cNvSpPr/>
          <p:nvPr/>
        </p:nvSpPr>
        <p:spPr>
          <a:xfrm>
            <a:off x="8183879" y="1051560"/>
            <a:ext cx="3429000" cy="4754880"/>
          </a:xfrm>
          <a:prstGeom prst="rect">
            <a:avLst/>
          </a:prstGeom>
          <a:solidFill>
            <a:srgbClr val="F6F8FB"/>
          </a:solidFill>
          <a:ln w="9525">
            <a:solidFill>
              <a:srgbClr val="4E79A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321040" y="1143000"/>
            <a:ext cx="3200400" cy="4617720"/>
          </a:xfrm>
          <a:prstGeom prst="rect">
            <a:avLst/>
          </a:prstGeom>
          <a:noFill/>
        </p:spPr>
        <p:txBody>
          <a:bodyPr wrap="square">
            <a:spAutoFit/>
          </a:bodyPr>
          <a:lstStyle/>
          <a:p>
            <a:pPr algn="l">
              <a:spcAft>
                <a:spcPts val="500"/>
              </a:spcAft>
            </a:pPr>
            <a:r>
              <a:rPr sz="1300" b="1" i="0">
                <a:solidFill>
                  <a:srgbClr val="1F3864"/>
                </a:solidFill>
                <a:latin typeface="Calibri"/>
              </a:rPr>
              <a:t>Reading the chart</a:t>
            </a:r>
          </a:p>
          <a:p>
            <a:pPr>
              <a:spcAft>
                <a:spcPts val="500"/>
              </a:spcAft>
            </a:pPr>
            <a:r>
              <a:rPr sz="1050" b="1">
                <a:solidFill>
                  <a:srgbClr val="1F3864"/>
                </a:solidFill>
                <a:latin typeface="Calibri"/>
              </a:rPr>
              <a:t>Left to right  </a:t>
            </a:r>
            <a:r>
              <a:rPr sz="950">
                <a:solidFill>
                  <a:srgbClr val="595959"/>
                </a:solidFill>
                <a:latin typeface="Calibri"/>
              </a:rPr>
              <a:t>— quantity per order, 1-gallon jug to 150 drums, log scale</a:t>
            </a:r>
          </a:p>
          <a:p>
            <a:pPr>
              <a:spcAft>
                <a:spcPts val="500"/>
              </a:spcAft>
            </a:pPr>
            <a:r>
              <a:rPr sz="1050" b="1">
                <a:solidFill>
                  <a:srgbClr val="1F3864"/>
                </a:solidFill>
                <a:latin typeface="Calibri"/>
              </a:rPr>
              <a:t>Grey points  </a:t>
            </a:r>
            <a:r>
              <a:rPr sz="950">
                <a:solidFill>
                  <a:srgbClr val="595959"/>
                </a:solidFill>
                <a:latin typeface="Calibri"/>
              </a:rPr>
              <a:t>— verified prices of pre-mixed PVA solution by pack size: US composites grade up to 20 gal; ton-scale offshore offers before freight</a:t>
            </a:r>
          </a:p>
          <a:p>
            <a:pPr>
              <a:spcAft>
                <a:spcPts val="500"/>
              </a:spcAft>
            </a:pPr>
            <a:r>
              <a:rPr sz="1050" b="1">
                <a:solidFill>
                  <a:srgbClr val="1F3864"/>
                </a:solidFill>
                <a:latin typeface="Calibri"/>
              </a:rPr>
              <a:t>Navy line and band  </a:t>
            </a:r>
            <a:r>
              <a:rPr sz="950">
                <a:solidFill>
                  <a:srgbClr val="595959"/>
                </a:solidFill>
                <a:latin typeface="Calibri"/>
              </a:rPr>
              <a:t>— the trend: ~18% lower per doubling of the lot. The band is where 80% of the verified points fall around it; beyond 20 gal its top follows the flattening in vendors' ladders, and its floor is SNP's $0.75 — no US-delivered lot has been seen cheaper (offshore ton offers are before freight and duty). One drum $0.83–3.53; SNP's lot $0.75–3.09; a 5-drum batch $0.75–2.91</a:t>
            </a:r>
          </a:p>
          <a:p>
            <a:pPr>
              <a:spcAft>
                <a:spcPts val="500"/>
              </a:spcAft>
            </a:pPr>
            <a:r>
              <a:rPr sz="1050" b="1">
                <a:solidFill>
                  <a:srgbClr val="1F3864"/>
                </a:solidFill>
                <a:latin typeface="Calibri"/>
              </a:rPr>
              <a:t>SNP Inc., green  </a:t>
            </a:r>
            <a:r>
              <a:rPr sz="950">
                <a:solidFill>
                  <a:srgbClr val="595959"/>
                </a:solidFill>
                <a:latin typeface="Calibri"/>
              </a:rPr>
              <a:t>— $0.75 at ~3 drums a week — the floor of the band, and delivered, to our spec: the cheapest price in the market for a better product</a:t>
            </a:r>
          </a:p>
          <a:p>
            <a:pPr>
              <a:spcAft>
                <a:spcPts val="500"/>
              </a:spcAft>
            </a:pPr>
            <a:r>
              <a:rPr sz="1050" b="1">
                <a:solidFill>
                  <a:srgbClr val="1F3864"/>
                </a:solidFill>
                <a:latin typeface="Calibri"/>
              </a:rPr>
              <a:t>Green dashed  </a:t>
            </a:r>
            <a:r>
              <a:rPr sz="950">
                <a:solidFill>
                  <a:srgbClr val="595959"/>
                </a:solidFill>
                <a:latin typeface="Calibri"/>
              </a:rPr>
              <a:t>— the same slope through SNP's price: if we ever bought smaller lots from SNP, expect ~$1.04 at one drum, ~$2.08 at 5 gallons — a regression, not a quote</a:t>
            </a:r>
          </a:p>
          <a:p>
            <a:pPr>
              <a:spcAft>
                <a:spcPts val="500"/>
              </a:spcAft>
            </a:pPr>
            <a:r>
              <a:rPr sz="1050" b="1">
                <a:solidFill>
                  <a:srgbClr val="1F3864"/>
                </a:solidFill>
                <a:latin typeface="Calibri"/>
              </a:rPr>
              <a:t>PCI, ambers  </a:t>
            </a:r>
            <a:r>
              <a:rPr sz="950">
                <a:solidFill>
                  <a:srgbClr val="595959"/>
                </a:solidFill>
                <a:latin typeface="Calibri"/>
              </a:rPr>
              <a:t>— $3.50 at a 5-drum batch, $6.00 below it — above the band: batch-fixed cost and drum freight priced in</a:t>
            </a:r>
          </a:p>
          <a:p>
            <a:pPr>
              <a:spcAft>
                <a:spcPts val="500"/>
              </a:spcAft>
            </a:pPr>
            <a:r>
              <a:rPr sz="1050" b="1">
                <a:solidFill>
                  <a:srgbClr val="1F3864"/>
                </a:solidFill>
                <a:latin typeface="Calibri"/>
              </a:rPr>
              <a:t>CJB, red · APV, hollow  </a:t>
            </a:r>
            <a:r>
              <a:rPr sz="950">
                <a:solidFill>
                  <a:srgbClr val="595959"/>
                </a:solidFill>
                <a:latin typeface="Calibri"/>
              </a:rPr>
              <a:t>— CJB $8.42 at a 40-gal minimum sits far above the band; APV ≥$3 (estimate from our call, never confirmed) sits at the band's top</a:t>
            </a:r>
          </a:p>
        </p:txBody>
      </p:sp>
      <p:sp>
        <p:nvSpPr>
          <p:cNvPr id="8" name="Rectangle 7"/>
          <p:cNvSpPr/>
          <p:nvPr/>
        </p:nvSpPr>
        <p:spPr>
          <a:xfrm>
            <a:off x="548640" y="5989320"/>
            <a:ext cx="11064240" cy="56692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20" y="6062472"/>
            <a:ext cx="10698480" cy="457200"/>
          </a:xfrm>
          <a:prstGeom prst="rect">
            <a:avLst/>
          </a:prstGeom>
          <a:noFill/>
        </p:spPr>
        <p:txBody>
          <a:bodyPr wrap="square" anchor="ctr">
            <a:spAutoFit/>
          </a:bodyPr>
          <a:lstStyle/>
          <a:p>
            <a:pPr algn="l">
              <a:spcAft>
                <a:spcPts val="400"/>
              </a:spcAft>
            </a:pPr>
            <a:r>
              <a:rPr sz="1350" b="1" i="0">
                <a:solidFill>
                  <a:srgbClr val="FFFFFF"/>
                </a:solidFill>
                <a:latin typeface="Calibri"/>
              </a:rPr>
              <a:t>Price follows lot size across this market. SNP Inc. is its floor — drum lots at $0.75, delivered to our spec; every other supplier that can make it charges the top of the band, or more.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28016"/>
            <a:ext cx="9692640" cy="731520"/>
          </a:xfrm>
          <a:prstGeom prst="rect">
            <a:avLst/>
          </a:prstGeom>
          <a:noFill/>
        </p:spPr>
        <p:txBody>
          <a:bodyPr wrap="square">
            <a:spAutoFit/>
          </a:bodyPr>
          <a:lstStyle/>
          <a:p>
            <a:pPr algn="l">
              <a:spcAft>
                <a:spcPts val="400"/>
              </a:spcAft>
            </a:pPr>
            <a:r>
              <a:rPr sz="2500" b="1" i="0">
                <a:solidFill>
                  <a:srgbClr val="FFFFFF"/>
                </a:solidFill>
                <a:latin typeface="Calibri"/>
              </a:rPr>
              <a:t>Annual cost, side by side — what each option adds to today's $50.7k</a:t>
            </a:r>
          </a:p>
        </p:txBody>
      </p:sp>
      <p:sp>
        <p:nvSpPr>
          <p:cNvPr id="4" name="TextBox 3"/>
          <p:cNvSpPr txBox="1"/>
          <p:nvPr/>
        </p:nvSpPr>
        <p:spPr>
          <a:xfrm>
            <a:off x="9966960" y="274320"/>
            <a:ext cx="2011680" cy="457200"/>
          </a:xfrm>
          <a:prstGeom prst="rect">
            <a:avLst/>
          </a:prstGeom>
          <a:noFill/>
        </p:spPr>
        <p:txBody>
          <a:bodyPr wrap="square">
            <a:spAutoFit/>
          </a:bodyPr>
          <a:lstStyle/>
          <a:p>
            <a:pPr algn="r">
              <a:spcAft>
                <a:spcPts val="400"/>
              </a:spcAft>
            </a:pPr>
            <a:r>
              <a:rPr sz="1100" b="0" i="0">
                <a:solidFill>
                  <a:srgbClr val="BDD7EE"/>
                </a:solidFill>
                <a:latin typeface="Calibri"/>
              </a:rPr>
              <a:t>1 · COST</a:t>
            </a:r>
          </a:p>
        </p:txBody>
      </p:sp>
      <p:pic>
        <p:nvPicPr>
          <p:cNvPr id="5" name="Picture 4" descr="chart_annual_side_by_side.png"/>
          <p:cNvPicPr>
            <a:picLocks noChangeAspect="1"/>
          </p:cNvPicPr>
          <p:nvPr/>
        </p:nvPicPr>
        <p:blipFill>
          <a:blip r:embed="rId3"/>
          <a:stretch>
            <a:fillRect/>
          </a:stretch>
        </p:blipFill>
        <p:spPr>
          <a:xfrm>
            <a:off x="548640" y="1051560"/>
            <a:ext cx="7406640" cy="3477901"/>
          </a:xfrm>
          <a:prstGeom prst="rect">
            <a:avLst/>
          </a:prstGeom>
        </p:spPr>
      </p:pic>
      <p:sp>
        <p:nvSpPr>
          <p:cNvPr id="6" name="Rectangle 5"/>
          <p:cNvSpPr/>
          <p:nvPr/>
        </p:nvSpPr>
        <p:spPr>
          <a:xfrm>
            <a:off x="8183879" y="1051560"/>
            <a:ext cx="3429000" cy="4754880"/>
          </a:xfrm>
          <a:prstGeom prst="rect">
            <a:avLst/>
          </a:prstGeom>
          <a:solidFill>
            <a:srgbClr val="F6F8FB"/>
          </a:solidFill>
          <a:ln w="9525">
            <a:solidFill>
              <a:srgbClr val="4E79A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321040" y="1143000"/>
            <a:ext cx="3200400" cy="4617720"/>
          </a:xfrm>
          <a:prstGeom prst="rect">
            <a:avLst/>
          </a:prstGeom>
          <a:noFill/>
        </p:spPr>
        <p:txBody>
          <a:bodyPr wrap="square">
            <a:spAutoFit/>
          </a:bodyPr>
          <a:lstStyle/>
          <a:p>
            <a:pPr algn="l">
              <a:spcAft>
                <a:spcPts val="500"/>
              </a:spcAft>
            </a:pPr>
            <a:r>
              <a:rPr sz="1300" b="1" i="0">
                <a:solidFill>
                  <a:srgbClr val="1F3864"/>
                </a:solidFill>
                <a:latin typeface="Calibri"/>
              </a:rPr>
              <a:t>Reading the chart (one year)</a:t>
            </a:r>
          </a:p>
          <a:p>
            <a:pPr>
              <a:spcAft>
                <a:spcPts val="500"/>
              </a:spcAft>
            </a:pPr>
            <a:r>
              <a:rPr sz="1050" b="1">
                <a:solidFill>
                  <a:srgbClr val="1F3864"/>
                </a:solidFill>
                <a:latin typeface="Calibri"/>
              </a:rPr>
              <a:t>Demand  </a:t>
            </a:r>
            <a:r>
              <a:rPr sz="1000">
                <a:solidFill>
                  <a:srgbClr val="595959"/>
                </a:solidFill>
                <a:latin typeface="Calibri"/>
              </a:rPr>
              <a:t>— 150 drums a year in every bar (1 drum = 450 lb of PVA); SNP Inc. at $0.75/lb keeps whatever the second source does not take</a:t>
            </a:r>
          </a:p>
          <a:p>
            <a:pPr>
              <a:spcAft>
                <a:spcPts val="500"/>
              </a:spcAft>
            </a:pPr>
            <a:r>
              <a:rPr sz="1050" b="1">
                <a:solidFill>
                  <a:srgbClr val="1F3864"/>
                </a:solidFill>
                <a:latin typeface="Calibri"/>
              </a:rPr>
              <a:t>All-SNP  </a:t>
            </a:r>
            <a:r>
              <a:rPr sz="1000">
                <a:solidFill>
                  <a:srgbClr val="595959"/>
                </a:solidFill>
                <a:latin typeface="Calibri"/>
              </a:rPr>
              <a:t>— 150 drums × $337.50 = $50.7k</a:t>
            </a:r>
          </a:p>
          <a:p>
            <a:pPr>
              <a:spcAft>
                <a:spcPts val="500"/>
              </a:spcAft>
            </a:pPr>
            <a:r>
              <a:rPr sz="1050" b="1">
                <a:solidFill>
                  <a:srgbClr val="1F3864"/>
                </a:solidFill>
                <a:latin typeface="Calibri"/>
              </a:rPr>
              <a:t>Option 3, blues  </a:t>
            </a:r>
            <a:r>
              <a:rPr sz="1000">
                <a:solidFill>
                  <a:srgbClr val="595959"/>
                </a:solidFill>
                <a:latin typeface="Calibri"/>
              </a:rPr>
              <a:t>— 1 / 2 / 3 batches of 5 drums a year (3% / 7% / 10% of demand) at $3.50/lb: +$6.2k / +$12.4k / +$18.6k</a:t>
            </a:r>
          </a:p>
          <a:p>
            <a:pPr>
              <a:spcAft>
                <a:spcPts val="500"/>
              </a:spcAft>
            </a:pPr>
            <a:r>
              <a:rPr sz="1050" b="1">
                <a:solidFill>
                  <a:srgbClr val="1F3864"/>
                </a:solidFill>
                <a:latin typeface="Calibri"/>
              </a:rPr>
              <a:t>PCI $3.50  </a:t>
            </a:r>
            <a:r>
              <a:rPr sz="1000">
                <a:solidFill>
                  <a:srgbClr val="595959"/>
                </a:solidFill>
                <a:latin typeface="Calibri"/>
              </a:rPr>
              <a:t>— one-third = 50 drums (10 batches, 33%) at $3.50/lb = $78.8k → $112.6k; +$61.9k (122%)</a:t>
            </a:r>
          </a:p>
          <a:p>
            <a:pPr>
              <a:spcAft>
                <a:spcPts val="500"/>
              </a:spcAft>
            </a:pPr>
            <a:r>
              <a:rPr sz="1050" b="1">
                <a:solidFill>
                  <a:srgbClr val="1F3864"/>
                </a:solidFill>
                <a:latin typeface="Calibri"/>
              </a:rPr>
              <a:t>PCI $6.00  </a:t>
            </a:r>
            <a:r>
              <a:rPr sz="1000">
                <a:solidFill>
                  <a:srgbClr val="595959"/>
                </a:solidFill>
                <a:latin typeface="Calibri"/>
              </a:rPr>
              <a:t>— one drum a week = 52 drums (35%, almost one-third), ordered below batch size → $173.6k; +$122.9k (242%)</a:t>
            </a:r>
          </a:p>
          <a:p>
            <a:pPr>
              <a:spcAft>
                <a:spcPts val="500"/>
              </a:spcAft>
            </a:pPr>
            <a:r>
              <a:rPr sz="1050" b="1">
                <a:solidFill>
                  <a:srgbClr val="1F3864"/>
                </a:solidFill>
                <a:latin typeface="Calibri"/>
              </a:rPr>
              <a:t>CJB $8.42  </a:t>
            </a:r>
            <a:r>
              <a:rPr sz="1000">
                <a:solidFill>
                  <a:srgbClr val="595959"/>
                </a:solidFill>
                <a:latin typeface="Calibri"/>
              </a:rPr>
              <a:t>— one-third = 50 drums, for scale → $223.3k; +$172.6k (340%)</a:t>
            </a:r>
          </a:p>
          <a:p>
            <a:pPr>
              <a:spcAft>
                <a:spcPts val="500"/>
              </a:spcAft>
            </a:pPr>
            <a:r>
              <a:rPr sz="1050" b="1">
                <a:solidFill>
                  <a:srgbClr val="1F3864"/>
                </a:solidFill>
                <a:latin typeface="Calibri"/>
              </a:rPr>
              <a:t>Why the bars differ  </a:t>
            </a:r>
            <a:r>
              <a:rPr sz="1000">
                <a:solidFill>
                  <a:srgbClr val="595959"/>
                </a:solidFill>
                <a:latin typeface="Calibri"/>
              </a:rPr>
              <a:t>— only the second source's quantity and price change</a:t>
            </a:r>
          </a:p>
          <a:p>
            <a:pPr>
              <a:spcAft>
                <a:spcPts val="500"/>
              </a:spcAft>
            </a:pPr>
            <a:r>
              <a:rPr sz="1050" b="1">
                <a:solidFill>
                  <a:srgbClr val="1F3864"/>
                </a:solidFill>
                <a:latin typeface="Calibri"/>
              </a:rPr>
              <a:t>Not in the chart  </a:t>
            </a:r>
            <a:r>
              <a:rPr sz="1000">
                <a:solidFill>
                  <a:srgbClr val="595959"/>
                </a:solidFill>
                <a:latin typeface="Calibri"/>
              </a:rPr>
              <a:t>— internal hours and one-time costs — the options slide</a:t>
            </a:r>
          </a:p>
        </p:txBody>
      </p:sp>
      <p:sp>
        <p:nvSpPr>
          <p:cNvPr id="8" name="Rectangle 7"/>
          <p:cNvSpPr/>
          <p:nvPr/>
        </p:nvSpPr>
        <p:spPr>
          <a:xfrm>
            <a:off x="548640" y="5989320"/>
            <a:ext cx="11064240" cy="56692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20" y="6062472"/>
            <a:ext cx="10698480" cy="457200"/>
          </a:xfrm>
          <a:prstGeom prst="rect">
            <a:avLst/>
          </a:prstGeom>
          <a:noFill/>
        </p:spPr>
        <p:txBody>
          <a:bodyPr wrap="square" anchor="ctr">
            <a:spAutoFit/>
          </a:bodyPr>
          <a:lstStyle/>
          <a:p>
            <a:pPr algn="l">
              <a:spcAft>
                <a:spcPts val="400"/>
              </a:spcAft>
            </a:pPr>
            <a:r>
              <a:rPr sz="1350" b="1" i="0">
                <a:solidFill>
                  <a:srgbClr val="FFFFFF"/>
                </a:solidFill>
                <a:latin typeface="Calibri"/>
              </a:rPr>
              <a:t>Option 3 adds $6–19k a year. A one-third second source at PCI's $3.50 more than doubles the bill (2.2×); one drum a week at $6.00 costs more still.</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28016"/>
            <a:ext cx="9692640" cy="731520"/>
          </a:xfrm>
          <a:prstGeom prst="rect">
            <a:avLst/>
          </a:prstGeom>
          <a:noFill/>
        </p:spPr>
        <p:txBody>
          <a:bodyPr wrap="square">
            <a:spAutoFit/>
          </a:bodyPr>
          <a:lstStyle/>
          <a:p>
            <a:pPr algn="l">
              <a:spcAft>
                <a:spcPts val="400"/>
              </a:spcAft>
            </a:pPr>
            <a:r>
              <a:rPr sz="2500" b="1" i="0">
                <a:solidFill>
                  <a:srgbClr val="FFFFFF"/>
                </a:solidFill>
                <a:latin typeface="Calibri"/>
              </a:rPr>
              <a:t>Three options — what each costs, how the year runs, what each supplier sees</a:t>
            </a:r>
          </a:p>
        </p:txBody>
      </p:sp>
      <p:sp>
        <p:nvSpPr>
          <p:cNvPr id="4" name="TextBox 3"/>
          <p:cNvSpPr txBox="1"/>
          <p:nvPr/>
        </p:nvSpPr>
        <p:spPr>
          <a:xfrm>
            <a:off x="9966960" y="274320"/>
            <a:ext cx="2011680" cy="457200"/>
          </a:xfrm>
          <a:prstGeom prst="rect">
            <a:avLst/>
          </a:prstGeom>
          <a:noFill/>
        </p:spPr>
        <p:txBody>
          <a:bodyPr wrap="square">
            <a:spAutoFit/>
          </a:bodyPr>
          <a:lstStyle/>
          <a:p>
            <a:pPr algn="r">
              <a:spcAft>
                <a:spcPts val="400"/>
              </a:spcAft>
            </a:pPr>
            <a:r>
              <a:rPr sz="1100" b="0" i="0">
                <a:solidFill>
                  <a:srgbClr val="BDD7EE"/>
                </a:solidFill>
                <a:latin typeface="Calibri"/>
              </a:rPr>
              <a:t>3 · OPTIONS</a:t>
            </a:r>
          </a:p>
        </p:txBody>
      </p:sp>
      <p:sp>
        <p:nvSpPr>
          <p:cNvPr id="5" name="TextBox 4"/>
          <p:cNvSpPr txBox="1"/>
          <p:nvPr/>
        </p:nvSpPr>
        <p:spPr>
          <a:xfrm>
            <a:off x="2834640" y="987552"/>
            <a:ext cx="5394960" cy="274320"/>
          </a:xfrm>
          <a:prstGeom prst="rect">
            <a:avLst/>
          </a:prstGeom>
          <a:noFill/>
        </p:spPr>
        <p:txBody>
          <a:bodyPr wrap="square">
            <a:spAutoFit/>
          </a:bodyPr>
          <a:lstStyle/>
          <a:p>
            <a:pPr algn="l">
              <a:spcAft>
                <a:spcPts val="0"/>
              </a:spcAft>
            </a:pPr>
            <a:r>
              <a:rPr sz="900" b="1" i="0">
                <a:solidFill>
                  <a:srgbClr val="1F3864"/>
                </a:solidFill>
                <a:latin typeface="Calibri"/>
              </a:rPr>
              <a:t>The year, week by week — green: SNP Inc. material · colored blocks: PCI batches (5 drums = ~12 days)</a:t>
            </a:r>
          </a:p>
        </p:txBody>
      </p:sp>
      <p:sp>
        <p:nvSpPr>
          <p:cNvPr id="6" name="TextBox 5"/>
          <p:cNvSpPr txBox="1"/>
          <p:nvPr/>
        </p:nvSpPr>
        <p:spPr>
          <a:xfrm>
            <a:off x="548640" y="1325880"/>
            <a:ext cx="2240280" cy="1280160"/>
          </a:xfrm>
          <a:prstGeom prst="rect">
            <a:avLst/>
          </a:prstGeom>
          <a:noFill/>
        </p:spPr>
        <p:txBody>
          <a:bodyPr wrap="square">
            <a:spAutoFit/>
          </a:bodyPr>
          <a:lstStyle/>
          <a:p>
            <a:pPr algn="l">
              <a:spcAft>
                <a:spcPts val="200"/>
              </a:spcAft>
            </a:pPr>
            <a:r>
              <a:rPr sz="1500" b="1" i="0">
                <a:solidFill>
                  <a:srgbClr val="C9741A"/>
                </a:solidFill>
                <a:latin typeface="Calibri"/>
              </a:rPr>
              <a:t>Option 1</a:t>
            </a:r>
          </a:p>
          <a:p>
            <a:pPr algn="l">
              <a:spcAft>
                <a:spcPts val="200"/>
              </a:spcAft>
            </a:pPr>
            <a:r>
              <a:rPr sz="1100" b="1" i="0">
                <a:solidFill>
                  <a:srgbClr val="1F3864"/>
                </a:solidFill>
                <a:latin typeface="Calibri"/>
              </a:rPr>
              <a:t>Second supplier at one-third</a:t>
            </a:r>
          </a:p>
          <a:p>
            <a:pPr algn="l">
              <a:spcAft>
                <a:spcPts val="0"/>
              </a:spcAft>
            </a:pPr>
            <a:r>
              <a:rPr sz="900" b="0" i="0">
                <a:solidFill>
                  <a:srgbClr val="595959"/>
                </a:solidFill>
                <a:latin typeface="Calibri"/>
              </a:rPr>
              <a:t>10 PCI batches a year: ~12 days on PCI material every ~5 weeks</a:t>
            </a:r>
          </a:p>
        </p:txBody>
      </p:sp>
      <p:sp>
        <p:nvSpPr>
          <p:cNvPr id="7" name="Rectangle 6"/>
          <p:cNvSpPr/>
          <p:nvPr/>
        </p:nvSpPr>
        <p:spPr>
          <a:xfrm>
            <a:off x="2834640" y="1490472"/>
            <a:ext cx="5212080" cy="566928"/>
          </a:xfrm>
          <a:prstGeom prst="rect">
            <a:avLst/>
          </a:prstGeom>
          <a:solidFill>
            <a:srgbClr val="2E7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834640" y="1490472"/>
            <a:ext cx="172784" cy="566928"/>
          </a:xfrm>
          <a:prstGeom prst="rect">
            <a:avLst/>
          </a:prstGeom>
          <a:solidFill>
            <a:srgbClr val="C9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816352" y="1490472"/>
            <a:ext cx="18288"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3007424" y="1490472"/>
            <a:ext cx="18288"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353420" y="1490472"/>
            <a:ext cx="172784" cy="566928"/>
          </a:xfrm>
          <a:prstGeom prst="rect">
            <a:avLst/>
          </a:prstGeom>
          <a:solidFill>
            <a:srgbClr val="C9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3335132" y="1490472"/>
            <a:ext cx="18288"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526204" y="1490472"/>
            <a:ext cx="18288"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872200" y="1490472"/>
            <a:ext cx="172784" cy="566928"/>
          </a:xfrm>
          <a:prstGeom prst="rect">
            <a:avLst/>
          </a:prstGeom>
          <a:solidFill>
            <a:srgbClr val="C9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3853912" y="1490472"/>
            <a:ext cx="18288"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4044984" y="1490472"/>
            <a:ext cx="18288"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390981" y="1490472"/>
            <a:ext cx="172784" cy="566928"/>
          </a:xfrm>
          <a:prstGeom prst="rect">
            <a:avLst/>
          </a:prstGeom>
          <a:solidFill>
            <a:srgbClr val="C9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4372693" y="1490472"/>
            <a:ext cx="18288"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4563765" y="1490472"/>
            <a:ext cx="18288"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4909761" y="1490472"/>
            <a:ext cx="172784" cy="566928"/>
          </a:xfrm>
          <a:prstGeom prst="rect">
            <a:avLst/>
          </a:prstGeom>
          <a:solidFill>
            <a:srgbClr val="C9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891473" y="1490472"/>
            <a:ext cx="18288"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5082545" y="1490472"/>
            <a:ext cx="18288"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5428542" y="1490472"/>
            <a:ext cx="172784" cy="566928"/>
          </a:xfrm>
          <a:prstGeom prst="rect">
            <a:avLst/>
          </a:prstGeom>
          <a:solidFill>
            <a:srgbClr val="C9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5410254" y="1490472"/>
            <a:ext cx="18288"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5601326" y="1490472"/>
            <a:ext cx="18288"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5947322" y="1490472"/>
            <a:ext cx="172784" cy="566928"/>
          </a:xfrm>
          <a:prstGeom prst="rect">
            <a:avLst/>
          </a:prstGeom>
          <a:solidFill>
            <a:srgbClr val="C9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5929034" y="1490472"/>
            <a:ext cx="18288"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6120106" y="1490472"/>
            <a:ext cx="18288"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6466103" y="1490472"/>
            <a:ext cx="172784" cy="566928"/>
          </a:xfrm>
          <a:prstGeom prst="rect">
            <a:avLst/>
          </a:prstGeom>
          <a:solidFill>
            <a:srgbClr val="C9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6447815" y="1490472"/>
            <a:ext cx="18288"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6638887" y="1490472"/>
            <a:ext cx="18288"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6984883" y="1490472"/>
            <a:ext cx="172784" cy="566928"/>
          </a:xfrm>
          <a:prstGeom prst="rect">
            <a:avLst/>
          </a:prstGeom>
          <a:solidFill>
            <a:srgbClr val="C9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6966595" y="1490472"/>
            <a:ext cx="18288"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7157667" y="1490472"/>
            <a:ext cx="18288"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7503664" y="1490472"/>
            <a:ext cx="172784" cy="566928"/>
          </a:xfrm>
          <a:prstGeom prst="rect">
            <a:avLst/>
          </a:prstGeom>
          <a:solidFill>
            <a:srgbClr val="C9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7485376" y="1490472"/>
            <a:ext cx="18288"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7676448" y="1490472"/>
            <a:ext cx="18288"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8229600" y="1252728"/>
            <a:ext cx="3429000" cy="1463040"/>
          </a:xfrm>
          <a:prstGeom prst="rect">
            <a:avLst/>
          </a:prstGeom>
          <a:noFill/>
        </p:spPr>
        <p:txBody>
          <a:bodyPr wrap="square">
            <a:spAutoFit/>
          </a:bodyPr>
          <a:lstStyle/>
          <a:p>
            <a:pPr>
              <a:spcAft>
                <a:spcPts val="200"/>
              </a:spcAft>
            </a:pPr>
            <a:r>
              <a:rPr sz="850">
                <a:solidFill>
                  <a:srgbClr val="595959"/>
                </a:solidFill>
                <a:latin typeface="Calibri"/>
              </a:rPr>
              <a:t>Drums a year  </a:t>
            </a:r>
            <a:r>
              <a:rPr sz="1100" b="1">
                <a:solidFill>
                  <a:srgbClr val="1F3864"/>
                </a:solidFill>
                <a:latin typeface="Calibri"/>
              </a:rPr>
              <a:t>150 = SNP 100 + PCI 50 (33%)</a:t>
            </a:r>
          </a:p>
          <a:p>
            <a:pPr>
              <a:spcAft>
                <a:spcPts val="200"/>
              </a:spcAft>
            </a:pPr>
            <a:r>
              <a:rPr sz="850">
                <a:solidFill>
                  <a:srgbClr val="595959"/>
                </a:solidFill>
                <a:latin typeface="Calibri"/>
              </a:rPr>
              <a:t>Money a year  </a:t>
            </a:r>
            <a:r>
              <a:rPr sz="1100" b="1">
                <a:solidFill>
                  <a:srgbClr val="1F3864"/>
                </a:solidFill>
                <a:latin typeface="Calibri"/>
              </a:rPr>
              <a:t>$112.6k = SNP $33.8k + PCI $78.8k</a:t>
            </a:r>
          </a:p>
          <a:p>
            <a:pPr>
              <a:spcAft>
                <a:spcPts val="200"/>
              </a:spcAft>
            </a:pPr>
            <a:r>
              <a:rPr sz="850">
                <a:solidFill>
                  <a:srgbClr val="595959"/>
                </a:solidFill>
                <a:latin typeface="Calibri"/>
              </a:rPr>
              <a:t>SNP Inc. sees  </a:t>
            </a:r>
            <a:r>
              <a:rPr sz="900" b="0">
                <a:solidFill>
                  <a:srgbClr val="1F3864"/>
                </a:solidFill>
                <a:latin typeface="Calibri"/>
              </a:rPr>
              <a:t>10 pauses of ~12 days, or level with a rolling stock</a:t>
            </a:r>
          </a:p>
          <a:p>
            <a:pPr>
              <a:spcAft>
                <a:spcPts val="200"/>
              </a:spcAft>
            </a:pPr>
            <a:r>
              <a:rPr sz="850">
                <a:solidFill>
                  <a:srgbClr val="595959"/>
                </a:solidFill>
                <a:latin typeface="Calibri"/>
              </a:rPr>
              <a:t>If SNP fails, restart in  </a:t>
            </a:r>
            <a:r>
              <a:rPr sz="900" b="0">
                <a:solidFill>
                  <a:srgbClr val="1F3864"/>
                </a:solidFill>
                <a:latin typeface="Calibri"/>
              </a:rPr>
              <a:t>weeks, if PCI's ramp is confirmed in writing</a:t>
            </a:r>
          </a:p>
        </p:txBody>
      </p:sp>
      <p:sp>
        <p:nvSpPr>
          <p:cNvPr id="39" name="TextBox 38"/>
          <p:cNvSpPr txBox="1"/>
          <p:nvPr/>
        </p:nvSpPr>
        <p:spPr>
          <a:xfrm>
            <a:off x="548640" y="2788920"/>
            <a:ext cx="2240280" cy="1280160"/>
          </a:xfrm>
          <a:prstGeom prst="rect">
            <a:avLst/>
          </a:prstGeom>
          <a:noFill/>
        </p:spPr>
        <p:txBody>
          <a:bodyPr wrap="square">
            <a:spAutoFit/>
          </a:bodyPr>
          <a:lstStyle/>
          <a:p>
            <a:pPr algn="l">
              <a:spcAft>
                <a:spcPts val="200"/>
              </a:spcAft>
            </a:pPr>
            <a:r>
              <a:rPr sz="1500" b="1" i="0">
                <a:solidFill>
                  <a:srgbClr val="2F6DB5"/>
                </a:solidFill>
                <a:latin typeface="Calibri"/>
              </a:rPr>
              <a:t>Option 3</a:t>
            </a:r>
          </a:p>
          <a:p>
            <a:pPr algn="l">
              <a:spcAft>
                <a:spcPts val="200"/>
              </a:spcAft>
            </a:pPr>
            <a:r>
              <a:rPr sz="1100" b="1" i="0">
                <a:solidFill>
                  <a:srgbClr val="1F3864"/>
                </a:solidFill>
                <a:latin typeface="Calibri"/>
              </a:rPr>
              <a:t>Keep-alive: 1–3 batches a year</a:t>
            </a:r>
          </a:p>
          <a:p>
            <a:pPr algn="l">
              <a:spcAft>
                <a:spcPts val="0"/>
              </a:spcAft>
            </a:pPr>
            <a:r>
              <a:rPr sz="900" b="0" i="0">
                <a:solidFill>
                  <a:srgbClr val="595959"/>
                </a:solidFill>
                <a:latin typeface="Calibri"/>
              </a:rPr>
              <a:t>one ~12-day block per batch, when we choose</a:t>
            </a:r>
          </a:p>
        </p:txBody>
      </p:sp>
      <p:sp>
        <p:nvSpPr>
          <p:cNvPr id="40" name="Rectangle 39"/>
          <p:cNvSpPr/>
          <p:nvPr/>
        </p:nvSpPr>
        <p:spPr>
          <a:xfrm>
            <a:off x="2834640" y="2953512"/>
            <a:ext cx="5212080" cy="566928"/>
          </a:xfrm>
          <a:prstGeom prst="rect">
            <a:avLst/>
          </a:prstGeom>
          <a:solidFill>
            <a:srgbClr val="2E7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3905615" y="2953512"/>
            <a:ext cx="172784" cy="566928"/>
          </a:xfrm>
          <a:prstGeom prst="rect">
            <a:avLst/>
          </a:prstGeom>
          <a:solidFill>
            <a:srgbClr val="2F6D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3887327" y="2953512"/>
            <a:ext cx="18288"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4078399" y="2953512"/>
            <a:ext cx="18288"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5547777" y="2953512"/>
            <a:ext cx="172784" cy="566928"/>
          </a:xfrm>
          <a:prstGeom prst="rect">
            <a:avLst/>
          </a:prstGeom>
          <a:solidFill>
            <a:srgbClr val="2F6D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5529489" y="2953512"/>
            <a:ext cx="18288"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5720561" y="2953512"/>
            <a:ext cx="18288"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7189939" y="2953512"/>
            <a:ext cx="172784" cy="566928"/>
          </a:xfrm>
          <a:prstGeom prst="rect">
            <a:avLst/>
          </a:prstGeom>
          <a:solidFill>
            <a:srgbClr val="2F6D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7171651" y="2953512"/>
            <a:ext cx="18288"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ectangle 48"/>
          <p:cNvSpPr/>
          <p:nvPr/>
        </p:nvSpPr>
        <p:spPr>
          <a:xfrm>
            <a:off x="7362723" y="2953512"/>
            <a:ext cx="18288"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8229600" y="2715768"/>
            <a:ext cx="3429000" cy="1463040"/>
          </a:xfrm>
          <a:prstGeom prst="rect">
            <a:avLst/>
          </a:prstGeom>
          <a:noFill/>
        </p:spPr>
        <p:txBody>
          <a:bodyPr wrap="square">
            <a:spAutoFit/>
          </a:bodyPr>
          <a:lstStyle/>
          <a:p>
            <a:pPr>
              <a:spcAft>
                <a:spcPts val="200"/>
              </a:spcAft>
            </a:pPr>
            <a:r>
              <a:rPr sz="850">
                <a:solidFill>
                  <a:srgbClr val="595959"/>
                </a:solidFill>
                <a:latin typeface="Calibri"/>
              </a:rPr>
              <a:t>Drums a year  </a:t>
            </a:r>
            <a:r>
              <a:rPr sz="1100" b="1">
                <a:solidFill>
                  <a:srgbClr val="1F3864"/>
                </a:solidFill>
                <a:latin typeface="Calibri"/>
              </a:rPr>
              <a:t>150 = SNP 145 / 140 / 135 + PCI 5 / 10 / 15</a:t>
            </a:r>
          </a:p>
          <a:p>
            <a:pPr>
              <a:spcAft>
                <a:spcPts val="200"/>
              </a:spcAft>
            </a:pPr>
            <a:r>
              <a:rPr sz="850">
                <a:solidFill>
                  <a:srgbClr val="595959"/>
                </a:solidFill>
                <a:latin typeface="Calibri"/>
              </a:rPr>
              <a:t>Money a year  </a:t>
            </a:r>
            <a:r>
              <a:rPr sz="1100" b="1">
                <a:solidFill>
                  <a:srgbClr val="1F3864"/>
                </a:solidFill>
                <a:latin typeface="Calibri"/>
              </a:rPr>
              <a:t>$56.9k / $63.1k / $69.3k (PCI $7.9k / $15.8k / $23.6k)</a:t>
            </a:r>
          </a:p>
          <a:p>
            <a:pPr>
              <a:spcAft>
                <a:spcPts val="200"/>
              </a:spcAft>
            </a:pPr>
            <a:r>
              <a:rPr sz="850">
                <a:solidFill>
                  <a:srgbClr val="595959"/>
                </a:solidFill>
                <a:latin typeface="Calibri"/>
              </a:rPr>
              <a:t>SNP Inc. sees  </a:t>
            </a:r>
            <a:r>
              <a:rPr sz="900" b="0">
                <a:solidFill>
                  <a:srgbClr val="1F3864"/>
                </a:solidFill>
                <a:latin typeface="Calibri"/>
              </a:rPr>
              <a:t>1–3 pre-announced pauses, or none</a:t>
            </a:r>
          </a:p>
          <a:p>
            <a:pPr>
              <a:spcAft>
                <a:spcPts val="200"/>
              </a:spcAft>
            </a:pPr>
            <a:r>
              <a:rPr sz="850">
                <a:solidFill>
                  <a:srgbClr val="595959"/>
                </a:solidFill>
                <a:latin typeface="Calibri"/>
              </a:rPr>
              <a:t>If SNP fails, restart in  </a:t>
            </a:r>
            <a:r>
              <a:rPr sz="900" b="0">
                <a:solidFill>
                  <a:srgbClr val="1F3864"/>
                </a:solidFill>
                <a:latin typeface="Calibri"/>
              </a:rPr>
              <a:t>weeks to a few months</a:t>
            </a:r>
          </a:p>
        </p:txBody>
      </p:sp>
      <p:sp>
        <p:nvSpPr>
          <p:cNvPr id="51" name="TextBox 50"/>
          <p:cNvSpPr txBox="1"/>
          <p:nvPr/>
        </p:nvSpPr>
        <p:spPr>
          <a:xfrm>
            <a:off x="548640" y="4251960"/>
            <a:ext cx="2240280" cy="1280160"/>
          </a:xfrm>
          <a:prstGeom prst="rect">
            <a:avLst/>
          </a:prstGeom>
          <a:noFill/>
        </p:spPr>
        <p:txBody>
          <a:bodyPr wrap="square">
            <a:spAutoFit/>
          </a:bodyPr>
          <a:lstStyle/>
          <a:p>
            <a:pPr algn="l">
              <a:spcAft>
                <a:spcPts val="200"/>
              </a:spcAft>
            </a:pPr>
            <a:r>
              <a:rPr sz="1500" b="1" i="0">
                <a:solidFill>
                  <a:srgbClr val="2E7D46"/>
                </a:solidFill>
                <a:latin typeface="Calibri"/>
              </a:rPr>
              <a:t>Option 2</a:t>
            </a:r>
          </a:p>
          <a:p>
            <a:pPr algn="l">
              <a:spcAft>
                <a:spcPts val="200"/>
              </a:spcAft>
            </a:pPr>
            <a:r>
              <a:rPr sz="1100" b="1" i="0">
                <a:solidFill>
                  <a:srgbClr val="1F3864"/>
                </a:solidFill>
                <a:latin typeface="Calibri"/>
              </a:rPr>
              <a:t>Strengthen SNP Inc. only</a:t>
            </a:r>
          </a:p>
          <a:p>
            <a:pPr algn="l">
              <a:spcAft>
                <a:spcPts val="0"/>
              </a:spcAft>
            </a:pPr>
            <a:r>
              <a:rPr sz="900" b="0" i="0">
                <a:solidFill>
                  <a:srgbClr val="595959"/>
                </a:solidFill>
                <a:latin typeface="Calibri"/>
              </a:rPr>
              <a:t>all year on SNP Inc.; PCI kept as a quoted option</a:t>
            </a:r>
          </a:p>
        </p:txBody>
      </p:sp>
      <p:sp>
        <p:nvSpPr>
          <p:cNvPr id="52" name="Rectangle 51"/>
          <p:cNvSpPr/>
          <p:nvPr/>
        </p:nvSpPr>
        <p:spPr>
          <a:xfrm>
            <a:off x="2834640" y="4416552"/>
            <a:ext cx="5212080" cy="566928"/>
          </a:xfrm>
          <a:prstGeom prst="rect">
            <a:avLst/>
          </a:prstGeom>
          <a:solidFill>
            <a:srgbClr val="2E7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2560320" y="5001768"/>
            <a:ext cx="548640" cy="228600"/>
          </a:xfrm>
          <a:prstGeom prst="rect">
            <a:avLst/>
          </a:prstGeom>
          <a:noFill/>
        </p:spPr>
        <p:txBody>
          <a:bodyPr wrap="square">
            <a:spAutoFit/>
          </a:bodyPr>
          <a:lstStyle/>
          <a:p>
            <a:pPr algn="ctr">
              <a:spcAft>
                <a:spcPts val="0"/>
              </a:spcAft>
            </a:pPr>
            <a:r>
              <a:rPr sz="850" b="0" i="0">
                <a:solidFill>
                  <a:srgbClr val="595959"/>
                </a:solidFill>
                <a:latin typeface="Calibri"/>
              </a:rPr>
              <a:t>Jan</a:t>
            </a:r>
          </a:p>
        </p:txBody>
      </p:sp>
      <p:sp>
        <p:nvSpPr>
          <p:cNvPr id="54" name="TextBox 53"/>
          <p:cNvSpPr txBox="1"/>
          <p:nvPr/>
        </p:nvSpPr>
        <p:spPr>
          <a:xfrm>
            <a:off x="3859770" y="5001768"/>
            <a:ext cx="548640" cy="228600"/>
          </a:xfrm>
          <a:prstGeom prst="rect">
            <a:avLst/>
          </a:prstGeom>
          <a:noFill/>
        </p:spPr>
        <p:txBody>
          <a:bodyPr wrap="square">
            <a:spAutoFit/>
          </a:bodyPr>
          <a:lstStyle/>
          <a:p>
            <a:pPr algn="ctr">
              <a:spcAft>
                <a:spcPts val="0"/>
              </a:spcAft>
            </a:pPr>
            <a:r>
              <a:rPr sz="850" b="0" i="0">
                <a:solidFill>
                  <a:srgbClr val="595959"/>
                </a:solidFill>
                <a:latin typeface="Calibri"/>
              </a:rPr>
              <a:t>Apr</a:t>
            </a:r>
          </a:p>
        </p:txBody>
      </p:sp>
      <p:sp>
        <p:nvSpPr>
          <p:cNvPr id="55" name="TextBox 54"/>
          <p:cNvSpPr txBox="1"/>
          <p:nvPr/>
        </p:nvSpPr>
        <p:spPr>
          <a:xfrm>
            <a:off x="5159220" y="5001768"/>
            <a:ext cx="548640" cy="228600"/>
          </a:xfrm>
          <a:prstGeom prst="rect">
            <a:avLst/>
          </a:prstGeom>
          <a:noFill/>
        </p:spPr>
        <p:txBody>
          <a:bodyPr wrap="square">
            <a:spAutoFit/>
          </a:bodyPr>
          <a:lstStyle/>
          <a:p>
            <a:pPr algn="ctr">
              <a:spcAft>
                <a:spcPts val="0"/>
              </a:spcAft>
            </a:pPr>
            <a:r>
              <a:rPr sz="850" b="0" i="0">
                <a:solidFill>
                  <a:srgbClr val="595959"/>
                </a:solidFill>
                <a:latin typeface="Calibri"/>
              </a:rPr>
              <a:t>Jul</a:t>
            </a:r>
          </a:p>
        </p:txBody>
      </p:sp>
      <p:sp>
        <p:nvSpPr>
          <p:cNvPr id="56" name="TextBox 55"/>
          <p:cNvSpPr txBox="1"/>
          <p:nvPr/>
        </p:nvSpPr>
        <p:spPr>
          <a:xfrm>
            <a:off x="6472949" y="5001768"/>
            <a:ext cx="548640" cy="228600"/>
          </a:xfrm>
          <a:prstGeom prst="rect">
            <a:avLst/>
          </a:prstGeom>
          <a:noFill/>
        </p:spPr>
        <p:txBody>
          <a:bodyPr wrap="square">
            <a:spAutoFit/>
          </a:bodyPr>
          <a:lstStyle/>
          <a:p>
            <a:pPr algn="ctr">
              <a:spcAft>
                <a:spcPts val="0"/>
              </a:spcAft>
            </a:pPr>
            <a:r>
              <a:rPr sz="850" b="0" i="0">
                <a:solidFill>
                  <a:srgbClr val="595959"/>
                </a:solidFill>
                <a:latin typeface="Calibri"/>
              </a:rPr>
              <a:t>Oct</a:t>
            </a:r>
          </a:p>
        </p:txBody>
      </p:sp>
      <p:sp>
        <p:nvSpPr>
          <p:cNvPr id="57" name="TextBox 56"/>
          <p:cNvSpPr txBox="1"/>
          <p:nvPr/>
        </p:nvSpPr>
        <p:spPr>
          <a:xfrm>
            <a:off x="7772400" y="5001768"/>
            <a:ext cx="548640" cy="228600"/>
          </a:xfrm>
          <a:prstGeom prst="rect">
            <a:avLst/>
          </a:prstGeom>
          <a:noFill/>
        </p:spPr>
        <p:txBody>
          <a:bodyPr wrap="square">
            <a:spAutoFit/>
          </a:bodyPr>
          <a:lstStyle/>
          <a:p>
            <a:pPr algn="ctr">
              <a:spcAft>
                <a:spcPts val="0"/>
              </a:spcAft>
            </a:pPr>
            <a:r>
              <a:rPr sz="850" b="0" i="0">
                <a:solidFill>
                  <a:srgbClr val="595959"/>
                </a:solidFill>
                <a:latin typeface="Calibri"/>
              </a:rPr>
              <a:t>Dec</a:t>
            </a:r>
          </a:p>
        </p:txBody>
      </p:sp>
      <p:sp>
        <p:nvSpPr>
          <p:cNvPr id="58" name="TextBox 57"/>
          <p:cNvSpPr txBox="1"/>
          <p:nvPr/>
        </p:nvSpPr>
        <p:spPr>
          <a:xfrm>
            <a:off x="8229600" y="4178808"/>
            <a:ext cx="3429000" cy="1463040"/>
          </a:xfrm>
          <a:prstGeom prst="rect">
            <a:avLst/>
          </a:prstGeom>
          <a:noFill/>
        </p:spPr>
        <p:txBody>
          <a:bodyPr wrap="square">
            <a:spAutoFit/>
          </a:bodyPr>
          <a:lstStyle/>
          <a:p>
            <a:pPr>
              <a:spcAft>
                <a:spcPts val="200"/>
              </a:spcAft>
            </a:pPr>
            <a:r>
              <a:rPr sz="850">
                <a:solidFill>
                  <a:srgbClr val="595959"/>
                </a:solidFill>
                <a:latin typeface="Calibri"/>
              </a:rPr>
              <a:t>Drums a year  </a:t>
            </a:r>
            <a:r>
              <a:rPr sz="1100" b="1">
                <a:solidFill>
                  <a:srgbClr val="1F3864"/>
                </a:solidFill>
                <a:latin typeface="Calibri"/>
              </a:rPr>
              <a:t>150 = SNP 150</a:t>
            </a:r>
          </a:p>
          <a:p>
            <a:pPr>
              <a:spcAft>
                <a:spcPts val="200"/>
              </a:spcAft>
            </a:pPr>
            <a:r>
              <a:rPr sz="850">
                <a:solidFill>
                  <a:srgbClr val="595959"/>
                </a:solidFill>
                <a:latin typeface="Calibri"/>
              </a:rPr>
              <a:t>Money a year  </a:t>
            </a:r>
            <a:r>
              <a:rPr sz="1100" b="1">
                <a:solidFill>
                  <a:srgbClr val="1F3864"/>
                </a:solidFill>
                <a:latin typeface="Calibri"/>
              </a:rPr>
              <a:t>$50.7k = SNP $50.7k — what we pay today</a:t>
            </a:r>
          </a:p>
          <a:p>
            <a:pPr>
              <a:spcAft>
                <a:spcPts val="200"/>
              </a:spcAft>
            </a:pPr>
            <a:r>
              <a:rPr sz="850">
                <a:solidFill>
                  <a:srgbClr val="595959"/>
                </a:solidFill>
                <a:latin typeface="Calibri"/>
              </a:rPr>
              <a:t>SNP Inc. sees  </a:t>
            </a:r>
            <a:r>
              <a:rPr sz="900" b="0">
                <a:solidFill>
                  <a:srgbClr val="1F3864"/>
                </a:solidFill>
                <a:latin typeface="Calibri"/>
              </a:rPr>
              <a:t>a strengthened partner</a:t>
            </a:r>
          </a:p>
          <a:p>
            <a:pPr>
              <a:spcAft>
                <a:spcPts val="200"/>
              </a:spcAft>
            </a:pPr>
            <a:r>
              <a:rPr sz="850">
                <a:solidFill>
                  <a:srgbClr val="595959"/>
                </a:solidFill>
                <a:latin typeface="Calibri"/>
              </a:rPr>
              <a:t>If SNP fails, restart in  </a:t>
            </a:r>
            <a:r>
              <a:rPr sz="900" b="0">
                <a:solidFill>
                  <a:srgbClr val="1F3864"/>
                </a:solidFill>
                <a:latin typeface="Calibri"/>
              </a:rPr>
              <a:t>~3–6 months; decays after ~12 months idle</a:t>
            </a:r>
          </a:p>
        </p:txBody>
      </p:sp>
      <p:sp>
        <p:nvSpPr>
          <p:cNvPr id="59" name="TextBox 58"/>
          <p:cNvSpPr txBox="1"/>
          <p:nvPr/>
        </p:nvSpPr>
        <p:spPr>
          <a:xfrm>
            <a:off x="548640" y="5486400"/>
            <a:ext cx="11064240" cy="457200"/>
          </a:xfrm>
          <a:prstGeom prst="rect">
            <a:avLst/>
          </a:prstGeom>
          <a:noFill/>
        </p:spPr>
        <p:txBody>
          <a:bodyPr wrap="square">
            <a:spAutoFit/>
          </a:bodyPr>
          <a:lstStyle/>
          <a:p>
            <a:pPr algn="l">
              <a:spcAft>
                <a:spcPts val="0"/>
              </a:spcAft>
            </a:pPr>
            <a:r>
              <a:rPr sz="850" b="0" i="0">
                <a:solidFill>
                  <a:srgbClr val="595959"/>
                </a:solidFill>
                <a:latin typeface="Calibri"/>
              </a:rPr>
              <a:t>Demand: 150 drums a year (1 drum = 450 lb of PVA), ~3 a week. A 5-drum PCI batch is used in one ~12-day block (drums land ~4 days old, expire on day 18). Purchases at today's volume: SNP $337.50 a drum, PCI $1,575 a drum; all grow ~10%/yr. Internal hours to finish PCI's qualification (~$15–40k once) are not included.</a:t>
            </a:r>
          </a:p>
        </p:txBody>
      </p:sp>
      <p:sp>
        <p:nvSpPr>
          <p:cNvPr id="60" name="Rectangle 59"/>
          <p:cNvSpPr/>
          <p:nvPr/>
        </p:nvSpPr>
        <p:spPr>
          <a:xfrm>
            <a:off x="548640" y="5989320"/>
            <a:ext cx="11064240" cy="566928"/>
          </a:xfrm>
          <a:prstGeom prst="rect">
            <a:avLst/>
          </a:prstGeom>
          <a:solidFill>
            <a:srgbClr val="2E7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731520" y="6062472"/>
            <a:ext cx="10698480" cy="457200"/>
          </a:xfrm>
          <a:prstGeom prst="rect">
            <a:avLst/>
          </a:prstGeom>
          <a:noFill/>
        </p:spPr>
        <p:txBody>
          <a:bodyPr wrap="square" anchor="ctr">
            <a:spAutoFit/>
          </a:bodyPr>
          <a:lstStyle/>
          <a:p>
            <a:pPr algn="l">
              <a:spcAft>
                <a:spcPts val="400"/>
              </a:spcAft>
            </a:pPr>
            <a:r>
              <a:rPr sz="1350" b="1" i="0">
                <a:solidFill>
                  <a:srgbClr val="FFFFFF"/>
                </a:solidFill>
                <a:latin typeface="Calibri"/>
              </a:rPr>
              <a:t>Option 3 keeps a paid, practiced supplier for $6–19k a year on top of today's $50.7k, with one to three pre-announced pauses for SNP Inc. — Option 1 more than doubles the bill and changes SNP's year.</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28016"/>
            <a:ext cx="9692640" cy="731520"/>
          </a:xfrm>
          <a:prstGeom prst="rect">
            <a:avLst/>
          </a:prstGeom>
          <a:noFill/>
        </p:spPr>
        <p:txBody>
          <a:bodyPr wrap="square">
            <a:spAutoFit/>
          </a:bodyPr>
          <a:lstStyle/>
          <a:p>
            <a:pPr algn="l">
              <a:spcAft>
                <a:spcPts val="400"/>
              </a:spcAft>
            </a:pPr>
            <a:r>
              <a:rPr sz="2500" b="1" i="0">
                <a:solidFill>
                  <a:srgbClr val="FFFFFF"/>
                </a:solidFill>
                <a:latin typeface="Calibri"/>
              </a:rPr>
              <a:t>Cost against protection — where each option sits</a:t>
            </a:r>
          </a:p>
        </p:txBody>
      </p:sp>
      <p:sp>
        <p:nvSpPr>
          <p:cNvPr id="4" name="TextBox 3"/>
          <p:cNvSpPr txBox="1"/>
          <p:nvPr/>
        </p:nvSpPr>
        <p:spPr>
          <a:xfrm>
            <a:off x="9966960" y="274320"/>
            <a:ext cx="2011680" cy="457200"/>
          </a:xfrm>
          <a:prstGeom prst="rect">
            <a:avLst/>
          </a:prstGeom>
          <a:noFill/>
        </p:spPr>
        <p:txBody>
          <a:bodyPr wrap="square">
            <a:spAutoFit/>
          </a:bodyPr>
          <a:lstStyle/>
          <a:p>
            <a:pPr algn="r">
              <a:spcAft>
                <a:spcPts val="400"/>
              </a:spcAft>
            </a:pPr>
            <a:r>
              <a:rPr sz="1100" b="0" i="0">
                <a:solidFill>
                  <a:srgbClr val="BDD7EE"/>
                </a:solidFill>
                <a:latin typeface="Calibri"/>
              </a:rPr>
              <a:t>3 · OPTIONS</a:t>
            </a:r>
          </a:p>
        </p:txBody>
      </p:sp>
      <p:pic>
        <p:nvPicPr>
          <p:cNvPr id="5" name="Picture 4" descr="chart_cost_vs_protection.png"/>
          <p:cNvPicPr>
            <a:picLocks noChangeAspect="1"/>
          </p:cNvPicPr>
          <p:nvPr/>
        </p:nvPicPr>
        <p:blipFill>
          <a:blip r:embed="rId3"/>
          <a:stretch>
            <a:fillRect/>
          </a:stretch>
        </p:blipFill>
        <p:spPr>
          <a:xfrm>
            <a:off x="548640" y="1051560"/>
            <a:ext cx="7406640" cy="4696894"/>
          </a:xfrm>
          <a:prstGeom prst="rect">
            <a:avLst/>
          </a:prstGeom>
        </p:spPr>
      </p:pic>
      <p:sp>
        <p:nvSpPr>
          <p:cNvPr id="6" name="Rectangle 5"/>
          <p:cNvSpPr/>
          <p:nvPr/>
        </p:nvSpPr>
        <p:spPr>
          <a:xfrm>
            <a:off x="8183879" y="1051560"/>
            <a:ext cx="3429000" cy="4754880"/>
          </a:xfrm>
          <a:prstGeom prst="rect">
            <a:avLst/>
          </a:prstGeom>
          <a:solidFill>
            <a:srgbClr val="F6F8FB"/>
          </a:solidFill>
          <a:ln w="9525">
            <a:solidFill>
              <a:srgbClr val="4E79A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321040" y="1143000"/>
            <a:ext cx="3200400" cy="4617720"/>
          </a:xfrm>
          <a:prstGeom prst="rect">
            <a:avLst/>
          </a:prstGeom>
          <a:noFill/>
        </p:spPr>
        <p:txBody>
          <a:bodyPr wrap="square">
            <a:spAutoFit/>
          </a:bodyPr>
          <a:lstStyle/>
          <a:p>
            <a:pPr algn="l">
              <a:spcAft>
                <a:spcPts val="500"/>
              </a:spcAft>
            </a:pPr>
            <a:r>
              <a:rPr sz="1300" b="1" i="0">
                <a:solidFill>
                  <a:srgbClr val="1F3864"/>
                </a:solidFill>
                <a:latin typeface="Calibri"/>
              </a:rPr>
              <a:t>Reading the chart</a:t>
            </a:r>
          </a:p>
          <a:p>
            <a:pPr>
              <a:spcAft>
                <a:spcPts val="600"/>
              </a:spcAft>
            </a:pPr>
            <a:r>
              <a:rPr sz="1050" b="1">
                <a:solidFill>
                  <a:srgbClr val="1F3864"/>
                </a:solidFill>
                <a:latin typeface="Calibri"/>
              </a:rPr>
              <a:t>Left to right  </a:t>
            </a:r>
            <a:r>
              <a:rPr sz="1000">
                <a:solidFill>
                  <a:srgbClr val="595959"/>
                </a:solidFill>
                <a:latin typeface="Calibri"/>
              </a:rPr>
              <a:t>— PVA purchases in a year: SNP Inc. at $0.75/lb plus PCI at $3.50/lb. Today is $50.7k (grey line). Internal hours to finish PCI's qualification are not included</a:t>
            </a:r>
          </a:p>
          <a:p>
            <a:pPr>
              <a:spcAft>
                <a:spcPts val="600"/>
              </a:spcAft>
            </a:pPr>
            <a:r>
              <a:rPr sz="1050" b="1">
                <a:solidFill>
                  <a:srgbClr val="1F3864"/>
                </a:solidFill>
                <a:latin typeface="Calibri"/>
              </a:rPr>
              <a:t>Bottom to top  </a:t>
            </a:r>
            <a:r>
              <a:rPr sz="1000">
                <a:solidFill>
                  <a:srgbClr val="595959"/>
                </a:solidFill>
                <a:latin typeface="Calibri"/>
              </a:rPr>
              <a:t>— how long we would be without PVA if SNP Inc. stopped tomorrow — the time to restart supply elsewhere</a:t>
            </a:r>
          </a:p>
          <a:p>
            <a:pPr>
              <a:spcAft>
                <a:spcPts val="600"/>
              </a:spcAft>
            </a:pPr>
            <a:r>
              <a:rPr sz="1050" b="1">
                <a:solidFill>
                  <a:srgbClr val="1F3864"/>
                </a:solidFill>
                <a:latin typeface="Calibri"/>
              </a:rPr>
              <a:t>Each box  </a:t>
            </a:r>
            <a:r>
              <a:rPr sz="1000">
                <a:solidFill>
                  <a:srgbClr val="595959"/>
                </a:solidFill>
                <a:latin typeface="Calibri"/>
              </a:rPr>
              <a:t>— the range of one option on both measures; a box lower and further left is better</a:t>
            </a:r>
          </a:p>
          <a:p>
            <a:pPr>
              <a:spcAft>
                <a:spcPts val="600"/>
              </a:spcAft>
            </a:pPr>
            <a:r>
              <a:rPr sz="1050" b="1">
                <a:solidFill>
                  <a:srgbClr val="1F3864"/>
                </a:solidFill>
                <a:latin typeface="Calibri"/>
              </a:rPr>
              <a:t>Option 2, green  </a:t>
            </a:r>
            <a:r>
              <a:rPr sz="1000">
                <a:solidFill>
                  <a:srgbClr val="595959"/>
                </a:solidFill>
                <a:latin typeface="Calibri"/>
              </a:rPr>
              <a:t>— $50.7k, what we pay today; least protected — a cold start of ~3–6 months, longer as the file goes stale</a:t>
            </a:r>
          </a:p>
          <a:p>
            <a:pPr>
              <a:spcAft>
                <a:spcPts val="600"/>
              </a:spcAft>
            </a:pPr>
            <a:r>
              <a:rPr sz="1050" b="1">
                <a:solidFill>
                  <a:srgbClr val="1F3864"/>
                </a:solidFill>
                <a:latin typeface="Calibri"/>
              </a:rPr>
              <a:t>Option 3, blue  </a:t>
            </a:r>
            <a:r>
              <a:rPr sz="1000">
                <a:solidFill>
                  <a:srgbClr val="595959"/>
                </a:solidFill>
                <a:latin typeface="Calibri"/>
              </a:rPr>
              <a:t>— $56.9–69.3k (1–3 batches); a practiced supplier restarts in weeks to a few months — $43–56k a year less than Option 1</a:t>
            </a:r>
          </a:p>
          <a:p>
            <a:pPr>
              <a:spcAft>
                <a:spcPts val="600"/>
              </a:spcAft>
            </a:pPr>
            <a:r>
              <a:rPr sz="1050" b="1">
                <a:solidFill>
                  <a:srgbClr val="1F3864"/>
                </a:solidFill>
                <a:latin typeface="Calibri"/>
              </a:rPr>
              <a:t>Option 1, amber  </a:t>
            </a:r>
            <a:r>
              <a:rPr sz="1000">
                <a:solidFill>
                  <a:srgbClr val="595959"/>
                </a:solidFill>
                <a:latin typeface="Calibri"/>
              </a:rPr>
              <a:t>— $112.6k; most protected — weeks, if PCI's ramp is confirmed in writing — and the same every year, growing with volume</a:t>
            </a:r>
          </a:p>
          <a:p>
            <a:pPr>
              <a:spcAft>
                <a:spcPts val="600"/>
              </a:spcAft>
            </a:pPr>
            <a:r>
              <a:rPr sz="1050" b="1">
                <a:solidFill>
                  <a:srgbClr val="1F3864"/>
                </a:solidFill>
                <a:latin typeface="Calibri"/>
              </a:rPr>
              <a:t>Not shown  </a:t>
            </a:r>
            <a:r>
              <a:rPr sz="1000">
                <a:solidFill>
                  <a:srgbClr val="595959"/>
                </a:solidFill>
                <a:latin typeface="Calibri"/>
              </a:rPr>
              <a:t>— what SNP Inc. experiences: 10 pauses a year under Option 1, 1–3 under Option 3, none under Option 2</a:t>
            </a:r>
          </a:p>
        </p:txBody>
      </p:sp>
      <p:sp>
        <p:nvSpPr>
          <p:cNvPr id="8" name="Rectangle 7"/>
          <p:cNvSpPr/>
          <p:nvPr/>
        </p:nvSpPr>
        <p:spPr>
          <a:xfrm>
            <a:off x="548640" y="5989320"/>
            <a:ext cx="11064240" cy="56692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20" y="6062472"/>
            <a:ext cx="10698480" cy="457200"/>
          </a:xfrm>
          <a:prstGeom prst="rect">
            <a:avLst/>
          </a:prstGeom>
          <a:noFill/>
        </p:spPr>
        <p:txBody>
          <a:bodyPr wrap="square" anchor="ctr">
            <a:spAutoFit/>
          </a:bodyPr>
          <a:lstStyle/>
          <a:p>
            <a:pPr algn="l">
              <a:spcAft>
                <a:spcPts val="400"/>
              </a:spcAft>
            </a:pPr>
            <a:r>
              <a:rPr sz="1350" b="1" i="0">
                <a:solidFill>
                  <a:srgbClr val="FFFFFF"/>
                </a:solidFill>
                <a:latin typeface="Calibri"/>
              </a:rPr>
              <a:t>Option 3 buys most of Option 1's protection for ~$50k a year less. Option 1 pays every year for weeks of extra speed — worth it only if the outage would cost far more.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28016"/>
            <a:ext cx="9692640" cy="731520"/>
          </a:xfrm>
          <a:prstGeom prst="rect">
            <a:avLst/>
          </a:prstGeom>
          <a:noFill/>
        </p:spPr>
        <p:txBody>
          <a:bodyPr wrap="square">
            <a:spAutoFit/>
          </a:bodyPr>
          <a:lstStyle/>
          <a:p>
            <a:pPr algn="l">
              <a:spcAft>
                <a:spcPts val="400"/>
              </a:spcAft>
            </a:pPr>
            <a:r>
              <a:rPr sz="2500" b="1" i="0">
                <a:solidFill>
                  <a:srgbClr val="FFFFFF"/>
                </a:solidFill>
                <a:latin typeface="Calibri"/>
              </a:rPr>
              <a:t>Keeping a qualified supplier you barely use — three instruments, weighted</a:t>
            </a:r>
          </a:p>
        </p:txBody>
      </p:sp>
      <p:sp>
        <p:nvSpPr>
          <p:cNvPr id="4" name="TextBox 3"/>
          <p:cNvSpPr txBox="1"/>
          <p:nvPr/>
        </p:nvSpPr>
        <p:spPr>
          <a:xfrm>
            <a:off x="9966960" y="274320"/>
            <a:ext cx="2011680" cy="457200"/>
          </a:xfrm>
          <a:prstGeom prst="rect">
            <a:avLst/>
          </a:prstGeom>
          <a:noFill/>
        </p:spPr>
        <p:txBody>
          <a:bodyPr wrap="square">
            <a:spAutoFit/>
          </a:bodyPr>
          <a:lstStyle/>
          <a:p>
            <a:pPr algn="r">
              <a:spcAft>
                <a:spcPts val="400"/>
              </a:spcAft>
            </a:pPr>
            <a:r>
              <a:rPr sz="1100" b="0" i="0">
                <a:solidFill>
                  <a:srgbClr val="BDD7EE"/>
                </a:solidFill>
                <a:latin typeface="Calibri"/>
              </a:rPr>
              <a:t>4 · STRATEGY</a:t>
            </a:r>
          </a:p>
        </p:txBody>
      </p:sp>
      <p:sp>
        <p:nvSpPr>
          <p:cNvPr id="5" name="TextBox 4"/>
          <p:cNvSpPr txBox="1"/>
          <p:nvPr/>
        </p:nvSpPr>
        <p:spPr>
          <a:xfrm>
            <a:off x="548640" y="1024128"/>
            <a:ext cx="11064240" cy="640080"/>
          </a:xfrm>
          <a:prstGeom prst="rect">
            <a:avLst/>
          </a:prstGeom>
          <a:noFill/>
        </p:spPr>
        <p:txBody>
          <a:bodyPr wrap="square">
            <a:spAutoFit/>
          </a:bodyPr>
          <a:lstStyle/>
          <a:p>
            <a:pPr algn="l">
              <a:spcAft>
                <a:spcPts val="0"/>
              </a:spcAft>
            </a:pPr>
            <a:r>
              <a:rPr sz="1250" b="1" i="0">
                <a:solidFill>
                  <a:srgbClr val="1F3864"/>
                </a:solidFill>
                <a:latin typeface="Calibri"/>
              </a:rPr>
              <a:t>A supplier stays ready without steady volume if it gets a real order now and then, signed terms, and payment for its work. Routine in medical devices, pharma and aerospace; what spoils the relationship is not the 'no' — it is silence and unpaid work.</a:t>
            </a:r>
          </a:p>
        </p:txBody>
      </p:sp>
      <p:sp>
        <p:nvSpPr>
          <p:cNvPr id="6" name="Rectangle 5"/>
          <p:cNvSpPr/>
          <p:nvPr/>
        </p:nvSpPr>
        <p:spPr>
          <a:xfrm>
            <a:off x="548640" y="1828800"/>
            <a:ext cx="4114800" cy="3154680"/>
          </a:xfrm>
          <a:prstGeom prst="rect">
            <a:avLst/>
          </a:prstGeom>
          <a:solidFill>
            <a:srgbClr val="DCE8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48640" y="1828800"/>
            <a:ext cx="4114800" cy="82296"/>
          </a:xfrm>
          <a:prstGeom prst="rect">
            <a:avLst/>
          </a:prstGeom>
          <a:solidFill>
            <a:srgbClr val="2F6D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 y="1993392"/>
            <a:ext cx="548640" cy="640080"/>
          </a:xfrm>
          <a:prstGeom prst="rect">
            <a:avLst/>
          </a:prstGeom>
          <a:noFill/>
        </p:spPr>
        <p:txBody>
          <a:bodyPr wrap="square">
            <a:spAutoFit/>
          </a:bodyPr>
          <a:lstStyle/>
          <a:p>
            <a:pPr algn="l">
              <a:spcAft>
                <a:spcPts val="0"/>
              </a:spcAft>
            </a:pPr>
            <a:r>
              <a:rPr sz="2600" b="1" i="0">
                <a:solidFill>
                  <a:srgbClr val="2F6DB5"/>
                </a:solidFill>
                <a:latin typeface="Calibri"/>
              </a:rPr>
              <a:t>1</a:t>
            </a:r>
          </a:p>
        </p:txBody>
      </p:sp>
      <p:sp>
        <p:nvSpPr>
          <p:cNvPr id="9" name="TextBox 8"/>
          <p:cNvSpPr txBox="1"/>
          <p:nvPr/>
        </p:nvSpPr>
        <p:spPr>
          <a:xfrm>
            <a:off x="1188719" y="2011680"/>
            <a:ext cx="3337560" cy="320040"/>
          </a:xfrm>
          <a:prstGeom prst="rect">
            <a:avLst/>
          </a:prstGeom>
          <a:noFill/>
        </p:spPr>
        <p:txBody>
          <a:bodyPr wrap="square">
            <a:spAutoFit/>
          </a:bodyPr>
          <a:lstStyle/>
          <a:p>
            <a:pPr algn="l">
              <a:spcAft>
                <a:spcPts val="0"/>
              </a:spcAft>
            </a:pPr>
            <a:r>
              <a:rPr sz="950" b="1" i="0">
                <a:solidFill>
                  <a:srgbClr val="2F6DB5"/>
                </a:solidFill>
                <a:latin typeface="Calibri"/>
              </a:rPr>
              <a:t>ESSENTIAL — this is Option 3</a:t>
            </a:r>
          </a:p>
        </p:txBody>
      </p:sp>
      <p:sp>
        <p:nvSpPr>
          <p:cNvPr id="10" name="TextBox 9"/>
          <p:cNvSpPr txBox="1"/>
          <p:nvPr/>
        </p:nvSpPr>
        <p:spPr>
          <a:xfrm>
            <a:off x="1188719" y="2286000"/>
            <a:ext cx="3337560" cy="640080"/>
          </a:xfrm>
          <a:prstGeom prst="rect">
            <a:avLst/>
          </a:prstGeom>
          <a:noFill/>
        </p:spPr>
        <p:txBody>
          <a:bodyPr wrap="square">
            <a:spAutoFit/>
          </a:bodyPr>
          <a:lstStyle/>
          <a:p>
            <a:pPr algn="l">
              <a:spcAft>
                <a:spcPts val="0"/>
              </a:spcAft>
            </a:pPr>
            <a:r>
              <a:rPr sz="1400" b="1" i="0">
                <a:solidFill>
                  <a:srgbClr val="1F3864"/>
                </a:solidFill>
                <a:latin typeface="Calibri"/>
              </a:rPr>
              <a:t>Place a real order</a:t>
            </a:r>
          </a:p>
        </p:txBody>
      </p:sp>
      <p:sp>
        <p:nvSpPr>
          <p:cNvPr id="11" name="TextBox 10"/>
          <p:cNvSpPr txBox="1"/>
          <p:nvPr/>
        </p:nvSpPr>
        <p:spPr>
          <a:xfrm>
            <a:off x="685800" y="2971800"/>
            <a:ext cx="3840480" cy="1371600"/>
          </a:xfrm>
          <a:prstGeom prst="rect">
            <a:avLst/>
          </a:prstGeom>
          <a:noFill/>
        </p:spPr>
        <p:txBody>
          <a:bodyPr wrap="square">
            <a:spAutoFit/>
          </a:bodyPr>
          <a:lstStyle/>
          <a:p>
            <a:pPr algn="l">
              <a:spcAft>
                <a:spcPts val="0"/>
              </a:spcAft>
            </a:pPr>
            <a:r>
              <a:rPr sz="1050" b="0" i="0">
                <a:solidFill>
                  <a:srgbClr val="595959"/>
                </a:solidFill>
                <a:latin typeface="Calibri"/>
              </a:rPr>
              <a:t>One 5-drum batch, repeated 1–3 times a year. The only instrument that pays PCI with revenue and proves production scale; without it the other two are paperwork.</a:t>
            </a:r>
          </a:p>
        </p:txBody>
      </p:sp>
      <p:sp>
        <p:nvSpPr>
          <p:cNvPr id="12" name="TextBox 11"/>
          <p:cNvSpPr txBox="1"/>
          <p:nvPr/>
        </p:nvSpPr>
        <p:spPr>
          <a:xfrm>
            <a:off x="685800" y="4206240"/>
            <a:ext cx="3840480" cy="623248"/>
          </a:xfrm>
          <a:prstGeom prst="rect">
            <a:avLst/>
          </a:prstGeom>
          <a:noFill/>
        </p:spPr>
        <p:txBody>
          <a:bodyPr wrap="square">
            <a:spAutoFit/>
          </a:bodyPr>
          <a:lstStyle/>
          <a:p>
            <a:pPr algn="l">
              <a:spcAft>
                <a:spcPts val="300"/>
              </a:spcAft>
            </a:pPr>
            <a:r>
              <a:rPr sz="1600" b="1" i="0" dirty="0">
                <a:solidFill>
                  <a:srgbClr val="1F3864"/>
                </a:solidFill>
                <a:latin typeface="Calibri"/>
              </a:rPr>
              <a:t>Our cost: $7.9k per batch</a:t>
            </a:r>
          </a:p>
          <a:p>
            <a:pPr algn="l">
              <a:spcAft>
                <a:spcPts val="0"/>
              </a:spcAft>
            </a:pPr>
            <a:r>
              <a:rPr sz="1600" b="0" i="0" dirty="0">
                <a:solidFill>
                  <a:srgbClr val="595959"/>
                </a:solidFill>
                <a:latin typeface="Calibri"/>
              </a:rPr>
              <a:t>PCI gets: A customer, not an experiment</a:t>
            </a:r>
          </a:p>
        </p:txBody>
      </p:sp>
      <p:sp>
        <p:nvSpPr>
          <p:cNvPr id="13" name="Rectangle 12"/>
          <p:cNvSpPr/>
          <p:nvPr/>
        </p:nvSpPr>
        <p:spPr>
          <a:xfrm>
            <a:off x="4800600" y="1828800"/>
            <a:ext cx="3657600" cy="3154680"/>
          </a:xfrm>
          <a:prstGeom prst="rect">
            <a:avLst/>
          </a:prstGeom>
          <a:solidFill>
            <a:srgbClr val="DCE8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800600" y="1828800"/>
            <a:ext cx="3657600" cy="82296"/>
          </a:xfrm>
          <a:prstGeom prst="rect">
            <a:avLst/>
          </a:prstGeom>
          <a:solidFill>
            <a:srgbClr val="2F6D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937760" y="1993392"/>
            <a:ext cx="548640" cy="640080"/>
          </a:xfrm>
          <a:prstGeom prst="rect">
            <a:avLst/>
          </a:prstGeom>
          <a:noFill/>
        </p:spPr>
        <p:txBody>
          <a:bodyPr wrap="square">
            <a:spAutoFit/>
          </a:bodyPr>
          <a:lstStyle/>
          <a:p>
            <a:pPr algn="l">
              <a:spcAft>
                <a:spcPts val="0"/>
              </a:spcAft>
            </a:pPr>
            <a:r>
              <a:rPr sz="2600" b="1" i="0">
                <a:solidFill>
                  <a:srgbClr val="2F6DB5"/>
                </a:solidFill>
                <a:latin typeface="Calibri"/>
              </a:rPr>
              <a:t>2</a:t>
            </a:r>
          </a:p>
        </p:txBody>
      </p:sp>
      <p:sp>
        <p:nvSpPr>
          <p:cNvPr id="16" name="TextBox 15"/>
          <p:cNvSpPr txBox="1"/>
          <p:nvPr/>
        </p:nvSpPr>
        <p:spPr>
          <a:xfrm>
            <a:off x="5440680" y="2011680"/>
            <a:ext cx="2880360" cy="320040"/>
          </a:xfrm>
          <a:prstGeom prst="rect">
            <a:avLst/>
          </a:prstGeom>
          <a:noFill/>
        </p:spPr>
        <p:txBody>
          <a:bodyPr wrap="square">
            <a:spAutoFit/>
          </a:bodyPr>
          <a:lstStyle/>
          <a:p>
            <a:pPr algn="l">
              <a:spcAft>
                <a:spcPts val="0"/>
              </a:spcAft>
            </a:pPr>
            <a:r>
              <a:rPr sz="950" b="1" i="0">
                <a:solidFill>
                  <a:srgbClr val="2F6DB5"/>
                </a:solidFill>
                <a:latin typeface="Calibri"/>
              </a:rPr>
              <a:t>ESSENTIAL — costs almost nothing</a:t>
            </a:r>
          </a:p>
        </p:txBody>
      </p:sp>
      <p:sp>
        <p:nvSpPr>
          <p:cNvPr id="17" name="TextBox 16"/>
          <p:cNvSpPr txBox="1"/>
          <p:nvPr/>
        </p:nvSpPr>
        <p:spPr>
          <a:xfrm>
            <a:off x="5440680" y="2286000"/>
            <a:ext cx="2880360" cy="640080"/>
          </a:xfrm>
          <a:prstGeom prst="rect">
            <a:avLst/>
          </a:prstGeom>
          <a:noFill/>
        </p:spPr>
        <p:txBody>
          <a:bodyPr wrap="square">
            <a:spAutoFit/>
          </a:bodyPr>
          <a:lstStyle/>
          <a:p>
            <a:pPr algn="l">
              <a:spcAft>
                <a:spcPts val="0"/>
              </a:spcAft>
            </a:pPr>
            <a:r>
              <a:rPr sz="1400" b="1" i="0">
                <a:solidFill>
                  <a:srgbClr val="1F3864"/>
                </a:solidFill>
                <a:latin typeface="Calibri"/>
              </a:rPr>
              <a:t>Sign terms with no volume commitment</a:t>
            </a:r>
          </a:p>
        </p:txBody>
      </p:sp>
      <p:sp>
        <p:nvSpPr>
          <p:cNvPr id="18" name="TextBox 17"/>
          <p:cNvSpPr txBox="1"/>
          <p:nvPr/>
        </p:nvSpPr>
        <p:spPr>
          <a:xfrm>
            <a:off x="4937760" y="2971800"/>
            <a:ext cx="3383280" cy="1371600"/>
          </a:xfrm>
          <a:prstGeom prst="rect">
            <a:avLst/>
          </a:prstGeom>
          <a:noFill/>
        </p:spPr>
        <p:txBody>
          <a:bodyPr wrap="square">
            <a:spAutoFit/>
          </a:bodyPr>
          <a:lstStyle/>
          <a:p>
            <a:pPr algn="l">
              <a:spcAft>
                <a:spcPts val="0"/>
              </a:spcAft>
            </a:pPr>
            <a:r>
              <a:rPr sz="1050" b="0" i="0">
                <a:solidFill>
                  <a:srgbClr val="595959"/>
                </a:solidFill>
                <a:latin typeface="Calibri"/>
              </a:rPr>
              <a:t>$3.50/lb, spec, lead time, quality and change-notification terms, valid 12–24 months, zero minimum. Locks the economic core of Option 3 in writing: the batch price with no volume string.</a:t>
            </a:r>
          </a:p>
        </p:txBody>
      </p:sp>
      <p:sp>
        <p:nvSpPr>
          <p:cNvPr id="19" name="TextBox 18"/>
          <p:cNvSpPr txBox="1"/>
          <p:nvPr/>
        </p:nvSpPr>
        <p:spPr>
          <a:xfrm>
            <a:off x="4937760" y="4000105"/>
            <a:ext cx="3383280" cy="869469"/>
          </a:xfrm>
          <a:prstGeom prst="rect">
            <a:avLst/>
          </a:prstGeom>
          <a:noFill/>
        </p:spPr>
        <p:txBody>
          <a:bodyPr wrap="square">
            <a:spAutoFit/>
          </a:bodyPr>
          <a:lstStyle/>
          <a:p>
            <a:pPr algn="l">
              <a:spcAft>
                <a:spcPts val="300"/>
              </a:spcAft>
            </a:pPr>
            <a:r>
              <a:rPr sz="1600" b="1" i="0" dirty="0">
                <a:solidFill>
                  <a:srgbClr val="1F3864"/>
                </a:solidFill>
                <a:latin typeface="Calibri"/>
              </a:rPr>
              <a:t>Our cost: Legal time</a:t>
            </a:r>
          </a:p>
          <a:p>
            <a:pPr algn="l">
              <a:spcAft>
                <a:spcPts val="0"/>
              </a:spcAft>
            </a:pPr>
            <a:r>
              <a:rPr sz="1600" b="0" i="0" dirty="0">
                <a:solidFill>
                  <a:srgbClr val="595959"/>
                </a:solidFill>
                <a:latin typeface="Calibri"/>
              </a:rPr>
              <a:t>PCI gets: 'Approved second source' status they can show</a:t>
            </a:r>
          </a:p>
        </p:txBody>
      </p:sp>
      <p:sp>
        <p:nvSpPr>
          <p:cNvPr id="20" name="Rectangle 19"/>
          <p:cNvSpPr/>
          <p:nvPr/>
        </p:nvSpPr>
        <p:spPr>
          <a:xfrm>
            <a:off x="8595360" y="1828800"/>
            <a:ext cx="3017520" cy="3154680"/>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8595360" y="1828800"/>
            <a:ext cx="3017520" cy="82296"/>
          </a:xfrm>
          <a:prstGeom prst="rect">
            <a:avLst/>
          </a:prstGeom>
          <a:solidFill>
            <a:srgbClr val="8E9B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732520" y="1993392"/>
            <a:ext cx="548640" cy="640080"/>
          </a:xfrm>
          <a:prstGeom prst="rect">
            <a:avLst/>
          </a:prstGeom>
          <a:noFill/>
        </p:spPr>
        <p:txBody>
          <a:bodyPr wrap="square">
            <a:spAutoFit/>
          </a:bodyPr>
          <a:lstStyle/>
          <a:p>
            <a:pPr algn="l">
              <a:spcAft>
                <a:spcPts val="0"/>
              </a:spcAft>
            </a:pPr>
            <a:r>
              <a:rPr sz="2600" b="1" i="0">
                <a:solidFill>
                  <a:srgbClr val="8E9BA7"/>
                </a:solidFill>
                <a:latin typeface="Calibri"/>
              </a:rPr>
              <a:t>3</a:t>
            </a:r>
          </a:p>
        </p:txBody>
      </p:sp>
      <p:sp>
        <p:nvSpPr>
          <p:cNvPr id="23" name="TextBox 22"/>
          <p:cNvSpPr txBox="1"/>
          <p:nvPr/>
        </p:nvSpPr>
        <p:spPr>
          <a:xfrm>
            <a:off x="9235440" y="2011680"/>
            <a:ext cx="2240279" cy="320040"/>
          </a:xfrm>
          <a:prstGeom prst="rect">
            <a:avLst/>
          </a:prstGeom>
          <a:noFill/>
        </p:spPr>
        <p:txBody>
          <a:bodyPr wrap="square">
            <a:spAutoFit/>
          </a:bodyPr>
          <a:lstStyle/>
          <a:p>
            <a:pPr algn="l">
              <a:spcAft>
                <a:spcPts val="0"/>
              </a:spcAft>
            </a:pPr>
            <a:r>
              <a:rPr sz="950" b="1" i="0">
                <a:solidFill>
                  <a:srgbClr val="8E9BA7"/>
                </a:solidFill>
                <a:latin typeface="Calibri"/>
              </a:rPr>
              <a:t>ONLY UNDER OPTION 2</a:t>
            </a:r>
          </a:p>
        </p:txBody>
      </p:sp>
      <p:sp>
        <p:nvSpPr>
          <p:cNvPr id="24" name="TextBox 23"/>
          <p:cNvSpPr txBox="1"/>
          <p:nvPr/>
        </p:nvSpPr>
        <p:spPr>
          <a:xfrm>
            <a:off x="9235440" y="2286000"/>
            <a:ext cx="2240279" cy="640080"/>
          </a:xfrm>
          <a:prstGeom prst="rect">
            <a:avLst/>
          </a:prstGeom>
          <a:noFill/>
        </p:spPr>
        <p:txBody>
          <a:bodyPr wrap="square">
            <a:spAutoFit/>
          </a:bodyPr>
          <a:lstStyle/>
          <a:p>
            <a:pPr algn="l">
              <a:spcAft>
                <a:spcPts val="0"/>
              </a:spcAft>
            </a:pPr>
            <a:r>
              <a:rPr sz="1400" b="1" i="0">
                <a:solidFill>
                  <a:srgbClr val="1F3864"/>
                </a:solidFill>
                <a:latin typeface="Calibri"/>
              </a:rPr>
              <a:t>Pay for the work already done</a:t>
            </a:r>
          </a:p>
        </p:txBody>
      </p:sp>
      <p:sp>
        <p:nvSpPr>
          <p:cNvPr id="25" name="TextBox 24"/>
          <p:cNvSpPr txBox="1"/>
          <p:nvPr/>
        </p:nvSpPr>
        <p:spPr>
          <a:xfrm>
            <a:off x="8732520" y="2971800"/>
            <a:ext cx="2743200" cy="1371600"/>
          </a:xfrm>
          <a:prstGeom prst="rect">
            <a:avLst/>
          </a:prstGeom>
          <a:noFill/>
        </p:spPr>
        <p:txBody>
          <a:bodyPr wrap="square">
            <a:spAutoFit/>
          </a:bodyPr>
          <a:lstStyle/>
          <a:p>
            <a:pPr algn="l">
              <a:spcAft>
                <a:spcPts val="0"/>
              </a:spcAft>
            </a:pPr>
            <a:r>
              <a:rPr sz="1050" b="0" i="0" dirty="0">
                <a:solidFill>
                  <a:srgbClr val="595959"/>
                </a:solidFill>
                <a:latin typeface="Calibri"/>
              </a:rPr>
              <a:t>A development fee for the lab batches, studies and paperwork PCI did for free. Repairs the goodwill if we place no order. Under Option 3 the first batch is the payment, so this drops away.</a:t>
            </a:r>
          </a:p>
        </p:txBody>
      </p:sp>
      <p:sp>
        <p:nvSpPr>
          <p:cNvPr id="26" name="TextBox 25"/>
          <p:cNvSpPr txBox="1"/>
          <p:nvPr/>
        </p:nvSpPr>
        <p:spPr>
          <a:xfrm>
            <a:off x="8732520" y="4206240"/>
            <a:ext cx="2743200" cy="561692"/>
          </a:xfrm>
          <a:prstGeom prst="rect">
            <a:avLst/>
          </a:prstGeom>
          <a:noFill/>
        </p:spPr>
        <p:txBody>
          <a:bodyPr wrap="square">
            <a:spAutoFit/>
          </a:bodyPr>
          <a:lstStyle/>
          <a:p>
            <a:pPr algn="l">
              <a:spcAft>
                <a:spcPts val="300"/>
              </a:spcAft>
            </a:pPr>
            <a:r>
              <a:rPr sz="1400" b="1" i="0">
                <a:solidFill>
                  <a:srgbClr val="1F3864"/>
                </a:solidFill>
                <a:latin typeface="Calibri"/>
              </a:rPr>
              <a:t>Our cost: ~$5–10k once, if at all</a:t>
            </a:r>
          </a:p>
          <a:p>
            <a:pPr algn="l">
              <a:spcAft>
                <a:spcPts val="0"/>
              </a:spcAft>
            </a:pPr>
            <a:r>
              <a:rPr sz="1400" b="0" i="0">
                <a:solidFill>
                  <a:srgbClr val="595959"/>
                </a:solidFill>
                <a:latin typeface="Calibri"/>
              </a:rPr>
              <a:t>PCI gets: Paid for its effort</a:t>
            </a:r>
          </a:p>
        </p:txBody>
      </p:sp>
      <p:sp>
        <p:nvSpPr>
          <p:cNvPr id="27" name="Rectangle 26"/>
          <p:cNvSpPr/>
          <p:nvPr/>
        </p:nvSpPr>
        <p:spPr>
          <a:xfrm>
            <a:off x="548640" y="5120640"/>
            <a:ext cx="11064240" cy="77724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31520" y="5239512"/>
            <a:ext cx="10698480" cy="539496"/>
          </a:xfrm>
          <a:prstGeom prst="rect">
            <a:avLst/>
          </a:prstGeom>
          <a:noFill/>
        </p:spPr>
        <p:txBody>
          <a:bodyPr wrap="square">
            <a:spAutoFit/>
          </a:bodyPr>
          <a:lstStyle/>
          <a:p>
            <a:pPr algn="l">
              <a:spcAft>
                <a:spcPts val="600"/>
              </a:spcAft>
            </a:pPr>
            <a:r>
              <a:rPr sz="1350" b="1" i="0">
                <a:solidFill>
                  <a:srgbClr val="1F3864"/>
                </a:solidFill>
                <a:latin typeface="Calibri"/>
              </a:rPr>
              <a:t>Conduct that keeps it intact</a:t>
            </a:r>
          </a:p>
          <a:p>
            <a:pPr algn="l">
              <a:spcAft>
                <a:spcPts val="500"/>
              </a:spcAft>
            </a:pPr>
            <a:r>
              <a:rPr sz="950" b="0" i="0">
                <a:solidFill>
                  <a:srgbClr val="595959"/>
                </a:solidFill>
                <a:latin typeface="Calibri"/>
              </a:rPr>
              <a:t>•  Tell PCI the volume reality and the exact triggers · pay promptly · share the test results · a quarterly touchpoint. Suppliers allocate goodwill on trust and growth prospects, not on current volume (Pulles, Schiele et al. 2016).</a:t>
            </a:r>
          </a:p>
        </p:txBody>
      </p:sp>
      <p:sp>
        <p:nvSpPr>
          <p:cNvPr id="29" name="Rectangle 28"/>
          <p:cNvSpPr/>
          <p:nvPr/>
        </p:nvSpPr>
        <p:spPr>
          <a:xfrm>
            <a:off x="548640" y="5989320"/>
            <a:ext cx="11064240" cy="566928"/>
          </a:xfrm>
          <a:prstGeom prst="rect">
            <a:avLst/>
          </a:prstGeom>
          <a:solidFill>
            <a:srgbClr val="2E7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31520" y="6062472"/>
            <a:ext cx="10698480" cy="457200"/>
          </a:xfrm>
          <a:prstGeom prst="rect">
            <a:avLst/>
          </a:prstGeom>
          <a:noFill/>
        </p:spPr>
        <p:txBody>
          <a:bodyPr wrap="square" anchor="ctr">
            <a:spAutoFit/>
          </a:bodyPr>
          <a:lstStyle/>
          <a:p>
            <a:pPr algn="l">
              <a:spcAft>
                <a:spcPts val="400"/>
              </a:spcAft>
            </a:pPr>
            <a:r>
              <a:rPr sz="1350" b="1" i="0">
                <a:solidFill>
                  <a:srgbClr val="FFFFFF"/>
                </a:solidFill>
                <a:latin typeface="Calibri"/>
              </a:rPr>
              <a:t>Order a batch or two a year and put the terms in writing — that is what keeps the door open. A fee for the work done is the fallback if we order nothing.</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28016"/>
            <a:ext cx="9692640" cy="731520"/>
          </a:xfrm>
          <a:prstGeom prst="rect">
            <a:avLst/>
          </a:prstGeom>
          <a:noFill/>
        </p:spPr>
        <p:txBody>
          <a:bodyPr wrap="square">
            <a:spAutoFit/>
          </a:bodyPr>
          <a:lstStyle/>
          <a:p>
            <a:pPr algn="l">
              <a:spcAft>
                <a:spcPts val="400"/>
              </a:spcAft>
            </a:pPr>
            <a:r>
              <a:rPr sz="2500" b="1" i="0">
                <a:solidFill>
                  <a:srgbClr val="FFFFFF"/>
                </a:solidFill>
                <a:latin typeface="Calibri"/>
              </a:rPr>
              <a:t>The SNP Inc. conversation — outline, and what we decide before it</a:t>
            </a:r>
          </a:p>
        </p:txBody>
      </p:sp>
      <p:sp>
        <p:nvSpPr>
          <p:cNvPr id="4" name="TextBox 3"/>
          <p:cNvSpPr txBox="1"/>
          <p:nvPr/>
        </p:nvSpPr>
        <p:spPr>
          <a:xfrm>
            <a:off x="9966960" y="274320"/>
            <a:ext cx="2011680" cy="457200"/>
          </a:xfrm>
          <a:prstGeom prst="rect">
            <a:avLst/>
          </a:prstGeom>
          <a:noFill/>
        </p:spPr>
        <p:txBody>
          <a:bodyPr wrap="square">
            <a:spAutoFit/>
          </a:bodyPr>
          <a:lstStyle/>
          <a:p>
            <a:pPr algn="r">
              <a:spcAft>
                <a:spcPts val="400"/>
              </a:spcAft>
            </a:pPr>
            <a:r>
              <a:rPr sz="1100" b="0" i="0">
                <a:solidFill>
                  <a:srgbClr val="BDD7EE"/>
                </a:solidFill>
                <a:latin typeface="Calibri"/>
              </a:rPr>
              <a:t>5 · TIMING</a:t>
            </a:r>
          </a:p>
        </p:txBody>
      </p:sp>
      <p:sp>
        <p:nvSpPr>
          <p:cNvPr id="5" name="TextBox 4"/>
          <p:cNvSpPr txBox="1"/>
          <p:nvPr/>
        </p:nvSpPr>
        <p:spPr>
          <a:xfrm>
            <a:off x="548640" y="1005840"/>
            <a:ext cx="6949440" cy="320040"/>
          </a:xfrm>
          <a:prstGeom prst="rect">
            <a:avLst/>
          </a:prstGeom>
          <a:noFill/>
        </p:spPr>
        <p:txBody>
          <a:bodyPr wrap="square">
            <a:spAutoFit/>
          </a:bodyPr>
          <a:lstStyle/>
          <a:p>
            <a:pPr algn="l">
              <a:spcAft>
                <a:spcPts val="0"/>
              </a:spcAft>
            </a:pPr>
            <a:r>
              <a:rPr sz="1200" b="1" i="0">
                <a:solidFill>
                  <a:srgbClr val="1F3864"/>
                </a:solidFill>
                <a:latin typeface="Calibri"/>
              </a:rPr>
              <a:t>The meeting, in order — what we say, and what we want out of each part</a:t>
            </a:r>
          </a:p>
        </p:txBody>
      </p:sp>
      <p:sp>
        <p:nvSpPr>
          <p:cNvPr id="6" name="TextBox 5"/>
          <p:cNvSpPr txBox="1"/>
          <p:nvPr/>
        </p:nvSpPr>
        <p:spPr>
          <a:xfrm>
            <a:off x="548640" y="1325880"/>
            <a:ext cx="6949440" cy="3262432"/>
          </a:xfrm>
          <a:prstGeom prst="rect">
            <a:avLst/>
          </a:prstGeom>
          <a:noFill/>
        </p:spPr>
        <p:txBody>
          <a:bodyPr wrap="square">
            <a:spAutoFit/>
          </a:bodyPr>
          <a:lstStyle/>
          <a:p>
            <a:pPr>
              <a:spcAft>
                <a:spcPts val="900"/>
              </a:spcAft>
            </a:pPr>
            <a:r>
              <a:rPr sz="1200" b="1" dirty="0">
                <a:solidFill>
                  <a:srgbClr val="1F3864"/>
                </a:solidFill>
                <a:latin typeface="Calibri"/>
              </a:rPr>
              <a:t>1  Why we are here   </a:t>
            </a:r>
            <a:r>
              <a:rPr sz="1100" dirty="0">
                <a:solidFill>
                  <a:srgbClr val="595959"/>
                </a:solidFill>
                <a:latin typeface="Calibri"/>
              </a:rPr>
              <a:t>Years of growth</a:t>
            </a:r>
            <a:r>
              <a:rPr lang="en-US" sz="1100" dirty="0">
                <a:solidFill>
                  <a:srgbClr val="595959"/>
                </a:solidFill>
                <a:latin typeface="Calibri"/>
              </a:rPr>
              <a:t>,  How could we grow the relationship? Projects, </a:t>
            </a:r>
            <a:r>
              <a:rPr sz="1100" dirty="0">
                <a:solidFill>
                  <a:srgbClr val="595959"/>
                </a:solidFill>
                <a:latin typeface="Calibri"/>
              </a:rPr>
              <a:t>partnership.  </a:t>
            </a:r>
            <a:r>
              <a:rPr sz="1100" b="1" dirty="0">
                <a:solidFill>
                  <a:srgbClr val="2E7D46"/>
                </a:solidFill>
                <a:latin typeface="Calibri"/>
              </a:rPr>
              <a:t>→ They hear investment, not audit</a:t>
            </a:r>
            <a:r>
              <a:rPr lang="en-US" sz="1100" b="1" dirty="0">
                <a:solidFill>
                  <a:srgbClr val="2E7D46"/>
                </a:solidFill>
                <a:latin typeface="Calibri"/>
              </a:rPr>
              <a:t> </a:t>
            </a:r>
            <a:endParaRPr sz="1100" b="1" dirty="0">
              <a:solidFill>
                <a:srgbClr val="2E7D46"/>
              </a:solidFill>
              <a:latin typeface="Calibri"/>
            </a:endParaRPr>
          </a:p>
          <a:p>
            <a:pPr>
              <a:spcAft>
                <a:spcPts val="900"/>
              </a:spcAft>
            </a:pPr>
            <a:r>
              <a:rPr sz="1200" b="1" dirty="0">
                <a:solidFill>
                  <a:srgbClr val="1F3864"/>
                </a:solidFill>
                <a:latin typeface="Calibri"/>
              </a:rPr>
              <a:t>2  Our business, shown   </a:t>
            </a:r>
            <a:r>
              <a:rPr sz="1100" dirty="0">
                <a:solidFill>
                  <a:srgbClr val="595959"/>
                </a:solidFill>
                <a:latin typeface="Calibri"/>
              </a:rPr>
              <a:t>Volume history, the forecast (150 drums this year, +10%/yr), our delivery record, what the product does for our mission.  </a:t>
            </a:r>
            <a:r>
              <a:rPr sz="1100" b="1" dirty="0">
                <a:solidFill>
                  <a:srgbClr val="2E7D46"/>
                </a:solidFill>
                <a:latin typeface="Calibri"/>
              </a:rPr>
              <a:t>→ A growing account worth planning for</a:t>
            </a:r>
          </a:p>
          <a:p>
            <a:pPr>
              <a:spcAft>
                <a:spcPts val="900"/>
              </a:spcAft>
            </a:pPr>
            <a:r>
              <a:rPr sz="1200" b="1" dirty="0">
                <a:solidFill>
                  <a:srgbClr val="1F3864"/>
                </a:solidFill>
                <a:latin typeface="Calibri"/>
              </a:rPr>
              <a:t>3  What we bring   </a:t>
            </a:r>
            <a:r>
              <a:rPr sz="1100" dirty="0">
                <a:solidFill>
                  <a:srgbClr val="595959"/>
                </a:solidFill>
                <a:latin typeface="Calibri"/>
              </a:rPr>
              <a:t>Rolling 12-month forecast refreshed monthly; a level weekly cadence through a blanket order; the hydrogel program as a written joint roadmap.  </a:t>
            </a:r>
            <a:r>
              <a:rPr sz="1100" b="1" dirty="0">
                <a:solidFill>
                  <a:srgbClr val="2E7D46"/>
                </a:solidFill>
                <a:latin typeface="Calibri"/>
              </a:rPr>
              <a:t>→ Predictability for their kettle and resin buys</a:t>
            </a:r>
          </a:p>
          <a:p>
            <a:pPr>
              <a:spcAft>
                <a:spcPts val="900"/>
              </a:spcAft>
            </a:pPr>
            <a:r>
              <a:rPr sz="1200" b="1" dirty="0">
                <a:solidFill>
                  <a:srgbClr val="1F3864"/>
                </a:solidFill>
                <a:latin typeface="Calibri"/>
              </a:rPr>
              <a:t>4  Growing together   </a:t>
            </a:r>
            <a:r>
              <a:rPr sz="1100" dirty="0">
                <a:solidFill>
                  <a:srgbClr val="595959"/>
                </a:solidFill>
                <a:latin typeface="Calibri"/>
              </a:rPr>
              <a:t>Their other hydrogel lines — sodium alginate, guar gum — for our other projects.  </a:t>
            </a:r>
            <a:r>
              <a:rPr sz="1100" b="1" dirty="0">
                <a:solidFill>
                  <a:srgbClr val="2E7D46"/>
                </a:solidFill>
                <a:latin typeface="Calibri"/>
              </a:rPr>
              <a:t>→ A second and third line, if R&amp;D has a use</a:t>
            </a:r>
          </a:p>
          <a:p>
            <a:pPr>
              <a:spcAft>
                <a:spcPts val="900"/>
              </a:spcAft>
            </a:pPr>
            <a:r>
              <a:rPr sz="1200" b="1" dirty="0">
                <a:solidFill>
                  <a:srgbClr val="1F3864"/>
                </a:solidFill>
                <a:latin typeface="Calibri"/>
              </a:rPr>
              <a:t>5  Running it as partners   </a:t>
            </a:r>
            <a:r>
              <a:rPr sz="1100" dirty="0">
                <a:solidFill>
                  <a:srgbClr val="595959"/>
                </a:solidFill>
                <a:latin typeface="Calibri"/>
              </a:rPr>
              <a:t>Resin supply and a consignment buffer; capacity for Year-5 volume; cover for the people who run the PVA cook; advance notice of changes; a shelf-life study together.  </a:t>
            </a:r>
            <a:r>
              <a:rPr sz="1100" b="1" dirty="0">
                <a:solidFill>
                  <a:srgbClr val="2E7D46"/>
                </a:solidFill>
                <a:latin typeface="Calibri"/>
              </a:rPr>
              <a:t>→ Continuity agreed as a shared discipline, not a demand</a:t>
            </a:r>
          </a:p>
          <a:p>
            <a:pPr>
              <a:spcAft>
                <a:spcPts val="900"/>
              </a:spcAft>
            </a:pPr>
            <a:r>
              <a:rPr sz="1200" b="1" dirty="0">
                <a:solidFill>
                  <a:srgbClr val="1F3864"/>
                </a:solidFill>
                <a:latin typeface="Calibri"/>
              </a:rPr>
              <a:t>6  Price   </a:t>
            </a:r>
            <a:r>
              <a:rPr sz="1100" dirty="0">
                <a:solidFill>
                  <a:srgbClr val="595959"/>
                </a:solidFill>
                <a:latin typeface="Calibri"/>
              </a:rPr>
              <a:t>A resin-indexed formula in place of ad hoc increases.  </a:t>
            </a:r>
            <a:r>
              <a:rPr sz="1100" b="1" dirty="0">
                <a:solidFill>
                  <a:srgbClr val="2E7D46"/>
                </a:solidFill>
                <a:latin typeface="Calibri"/>
              </a:rPr>
              <a:t>→ Predictability for both sides</a:t>
            </a:r>
          </a:p>
          <a:p>
            <a:pPr>
              <a:spcAft>
                <a:spcPts val="900"/>
              </a:spcAft>
            </a:pPr>
            <a:r>
              <a:rPr sz="1200" b="1" dirty="0">
                <a:solidFill>
                  <a:srgbClr val="1F3864"/>
                </a:solidFill>
                <a:latin typeface="Calibri"/>
              </a:rPr>
              <a:t>7  Close   </a:t>
            </a:r>
            <a:r>
              <a:rPr sz="1100" dirty="0">
                <a:solidFill>
                  <a:srgbClr val="595959"/>
                </a:solidFill>
                <a:latin typeface="Calibri"/>
              </a:rPr>
              <a:t>Quarterly business review, named contacts, an updated Supplier Quality Agreement (SQA).  </a:t>
            </a:r>
            <a:r>
              <a:rPr sz="1100" b="1" dirty="0">
                <a:solidFill>
                  <a:srgbClr val="2E7D46"/>
                </a:solidFill>
                <a:latin typeface="Calibri"/>
              </a:rPr>
              <a:t>→ A cadence that keeps it alive</a:t>
            </a:r>
          </a:p>
        </p:txBody>
      </p:sp>
      <p:sp>
        <p:nvSpPr>
          <p:cNvPr id="7" name="Rectangle 6"/>
          <p:cNvSpPr/>
          <p:nvPr/>
        </p:nvSpPr>
        <p:spPr>
          <a:xfrm>
            <a:off x="7726679" y="1005840"/>
            <a:ext cx="3886200" cy="4846320"/>
          </a:xfrm>
          <a:prstGeom prst="rect">
            <a:avLst/>
          </a:prstGeom>
          <a:solidFill>
            <a:srgbClr val="F6F8FB"/>
          </a:solidFill>
          <a:ln w="9525">
            <a:solidFill>
              <a:srgbClr val="4E79A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863840" y="1097280"/>
            <a:ext cx="3611880" cy="4663440"/>
          </a:xfrm>
          <a:prstGeom prst="rect">
            <a:avLst/>
          </a:prstGeom>
          <a:noFill/>
        </p:spPr>
        <p:txBody>
          <a:bodyPr wrap="square">
            <a:spAutoFit/>
          </a:bodyPr>
          <a:lstStyle/>
          <a:p>
            <a:pPr algn="l">
              <a:spcAft>
                <a:spcPts val="600"/>
              </a:spcAft>
            </a:pPr>
            <a:r>
              <a:rPr sz="1300" b="1" i="0">
                <a:solidFill>
                  <a:srgbClr val="1F3864"/>
                </a:solidFill>
                <a:latin typeface="Calibri"/>
              </a:rPr>
              <a:t>Decide before we walk in</a:t>
            </a:r>
          </a:p>
          <a:p>
            <a:pPr>
              <a:spcAft>
                <a:spcPts val="700"/>
              </a:spcAft>
            </a:pPr>
            <a:r>
              <a:rPr sz="1050" b="1">
                <a:solidFill>
                  <a:srgbClr val="1F3864"/>
                </a:solidFill>
                <a:latin typeface="Calibri"/>
              </a:rPr>
              <a:t>The strategy — Option 1, 2 or 3  </a:t>
            </a:r>
            <a:r>
              <a:rPr sz="1000">
                <a:solidFill>
                  <a:srgbClr val="595959"/>
                </a:solidFill>
                <a:latin typeface="Calibri"/>
              </a:rPr>
              <a:t>— sets the whole posture. Under Option 3 we say a continuity verification lot runs once a year; the supplier is not named. (Leadership)</a:t>
            </a:r>
          </a:p>
          <a:p>
            <a:pPr>
              <a:spcAft>
                <a:spcPts val="700"/>
              </a:spcAft>
            </a:pPr>
            <a:r>
              <a:rPr sz="1050" b="1">
                <a:solidFill>
                  <a:srgbClr val="1F3864"/>
                </a:solidFill>
                <a:latin typeface="Calibri"/>
              </a:rPr>
              <a:t>How much forecast, what commitment  </a:t>
            </a:r>
            <a:r>
              <a:rPr sz="1000">
                <a:solidFill>
                  <a:srgbClr val="595959"/>
                </a:solidFill>
                <a:latin typeface="Calibri"/>
              </a:rPr>
              <a:t>— 12-month rolling and a 3-year outlook; whether a multi-year commitment or letter of intent is on the table. (Leadership, Legal)</a:t>
            </a:r>
          </a:p>
          <a:p>
            <a:pPr>
              <a:spcAft>
                <a:spcPts val="700"/>
              </a:spcAft>
            </a:pPr>
            <a:r>
              <a:rPr sz="1050" b="1">
                <a:solidFill>
                  <a:srgbClr val="1F3864"/>
                </a:solidFill>
                <a:latin typeface="Calibri"/>
              </a:rPr>
              <a:t>The give  </a:t>
            </a:r>
            <a:r>
              <a:rPr sz="1000">
                <a:solidFill>
                  <a:srgbClr val="595959"/>
                </a:solidFill>
                <a:latin typeface="Calibri"/>
              </a:rPr>
              <a:t>— blanket order — yes or no; payment terms as a lever — yes or no. (Finance, Supply Chain)</a:t>
            </a:r>
          </a:p>
          <a:p>
            <a:pPr>
              <a:spcAft>
                <a:spcPts val="700"/>
              </a:spcAft>
            </a:pPr>
            <a:r>
              <a:rPr sz="1050" b="1">
                <a:solidFill>
                  <a:srgbClr val="1F3864"/>
                </a:solidFill>
                <a:latin typeface="Calibri"/>
              </a:rPr>
              <a:t>The other hydrogels  </a:t>
            </a:r>
            <a:r>
              <a:rPr sz="1000">
                <a:solidFill>
                  <a:srgbClr val="595959"/>
                </a:solidFill>
                <a:latin typeface="Calibri"/>
              </a:rPr>
              <a:t>— which projects could use alginate or guar, at what solids. (R&amp;D, before the meeting)</a:t>
            </a:r>
          </a:p>
          <a:p>
            <a:pPr>
              <a:spcAft>
                <a:spcPts val="700"/>
              </a:spcAft>
            </a:pPr>
            <a:r>
              <a:rPr sz="1050" b="1">
                <a:solidFill>
                  <a:srgbClr val="1F3864"/>
                </a:solidFill>
                <a:latin typeface="Calibri"/>
              </a:rPr>
              <a:t>Continuity money  </a:t>
            </a:r>
            <a:r>
              <a:rPr sz="1000">
                <a:solidFill>
                  <a:srgbClr val="595959"/>
                </a:solidFill>
                <a:latin typeface="Calibri"/>
              </a:rPr>
              <a:t>— fund the resin buffer (~$2–6k tied up) and the shelf-life study — or not. (Supply Chain)</a:t>
            </a:r>
          </a:p>
        </p:txBody>
      </p:sp>
      <p:sp>
        <p:nvSpPr>
          <p:cNvPr id="9" name="Rectangle 8"/>
          <p:cNvSpPr/>
          <p:nvPr/>
        </p:nvSpPr>
        <p:spPr>
          <a:xfrm>
            <a:off x="548640" y="5989320"/>
            <a:ext cx="11064240" cy="566928"/>
          </a:xfrm>
          <a:prstGeom prst="rect">
            <a:avLst/>
          </a:prstGeom>
          <a:solidFill>
            <a:srgbClr val="9C5A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6062472"/>
            <a:ext cx="10698480" cy="457200"/>
          </a:xfrm>
          <a:prstGeom prst="rect">
            <a:avLst/>
          </a:prstGeom>
          <a:noFill/>
        </p:spPr>
        <p:txBody>
          <a:bodyPr wrap="square" anchor="ctr">
            <a:spAutoFit/>
          </a:bodyPr>
          <a:lstStyle/>
          <a:p>
            <a:pPr algn="l">
              <a:spcAft>
                <a:spcPts val="400"/>
              </a:spcAft>
            </a:pPr>
            <a:r>
              <a:rPr sz="1350" b="1" i="0">
                <a:solidFill>
                  <a:srgbClr val="FFFFFF"/>
                </a:solidFill>
                <a:latin typeface="Calibri"/>
              </a:rPr>
              <a:t>Decide the strategy and the give before the meeting; the meeting is where we execute the partnership, not where we discover it.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28016"/>
            <a:ext cx="9692640" cy="731520"/>
          </a:xfrm>
          <a:prstGeom prst="rect">
            <a:avLst/>
          </a:prstGeom>
          <a:noFill/>
        </p:spPr>
        <p:txBody>
          <a:bodyPr wrap="square">
            <a:spAutoFit/>
          </a:bodyPr>
          <a:lstStyle/>
          <a:p>
            <a:pPr algn="l">
              <a:spcAft>
                <a:spcPts val="400"/>
              </a:spcAft>
            </a:pPr>
            <a:r>
              <a:rPr sz="2500" b="1" i="0">
                <a:solidFill>
                  <a:srgbClr val="FFFFFF"/>
                </a:solidFill>
                <a:latin typeface="Calibri"/>
              </a:rPr>
              <a:t>Appendix: assumptions, suppliers, acronyms, frameworks</a:t>
            </a:r>
          </a:p>
        </p:txBody>
      </p:sp>
      <p:graphicFrame>
        <p:nvGraphicFramePr>
          <p:cNvPr id="4" name="Table 3"/>
          <p:cNvGraphicFramePr>
            <a:graphicFrameLocks noGrp="1"/>
          </p:cNvGraphicFramePr>
          <p:nvPr/>
        </p:nvGraphicFramePr>
        <p:xfrm>
          <a:off x="548640" y="1051560"/>
          <a:ext cx="6309360" cy="3480261"/>
        </p:xfrm>
        <a:graphic>
          <a:graphicData uri="http://schemas.openxmlformats.org/drawingml/2006/table">
            <a:tbl>
              <a:tblPr firstRow="1" bandRow="1">
                <a:tableStyleId>{5C22544A-7EE6-4342-B048-85BDC9FD1C3A}</a:tableStyleId>
              </a:tblPr>
              <a:tblGrid>
                <a:gridCol w="155448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tblGrid>
              <a:tr h="266007">
                <a:tc>
                  <a:txBody>
                    <a:bodyPr/>
                    <a:lstStyle/>
                    <a:p>
                      <a:pPr algn="l"/>
                      <a:r>
                        <a:rPr sz="800" b="1">
                          <a:solidFill>
                            <a:srgbClr val="FFFFFF"/>
                          </a:solidFill>
                          <a:latin typeface="Calibri"/>
                        </a:rPr>
                        <a:t>Assumption</a:t>
                      </a:r>
                    </a:p>
                  </a:txBody>
                  <a:tcPr>
                    <a:solidFill>
                      <a:srgbClr val="1F3864"/>
                    </a:solidFill>
                  </a:tcPr>
                </a:tc>
                <a:tc>
                  <a:txBody>
                    <a:bodyPr/>
                    <a:lstStyle/>
                    <a:p>
                      <a:pPr algn="ctr"/>
                      <a:r>
                        <a:rPr sz="800" b="1">
                          <a:solidFill>
                            <a:srgbClr val="FFFFFF"/>
                          </a:solidFill>
                          <a:latin typeface="Calibri"/>
                        </a:rPr>
                        <a:t>Value</a:t>
                      </a:r>
                    </a:p>
                  </a:txBody>
                  <a:tcPr>
                    <a:solidFill>
                      <a:srgbClr val="1F3864"/>
                    </a:solidFill>
                  </a:tcPr>
                </a:tc>
                <a:tc>
                  <a:txBody>
                    <a:bodyPr/>
                    <a:lstStyle/>
                    <a:p>
                      <a:pPr algn="ctr"/>
                      <a:r>
                        <a:rPr sz="800" b="1">
                          <a:solidFill>
                            <a:srgbClr val="FFFFFF"/>
                          </a:solidFill>
                          <a:latin typeface="Calibri"/>
                        </a:rPr>
                        <a:t>Basis</a:t>
                      </a:r>
                    </a:p>
                  </a:txBody>
                  <a:tcPr>
                    <a:solidFill>
                      <a:srgbClr val="1F3864"/>
                    </a:solidFill>
                  </a:tcPr>
                </a:tc>
                <a:extLst>
                  <a:ext uri="{0D108BD9-81ED-4DB2-BD59-A6C34878D82A}">
                    <a16:rowId xmlns:a16="http://schemas.microsoft.com/office/drawing/2014/main" val="10000"/>
                  </a:ext>
                </a:extLst>
              </a:tr>
              <a:tr h="266007">
                <a:tc>
                  <a:txBody>
                    <a:bodyPr/>
                    <a:lstStyle/>
                    <a:p>
                      <a:pPr algn="l"/>
                      <a:r>
                        <a:rPr sz="800" b="1">
                          <a:solidFill>
                            <a:srgbClr val="1F3864"/>
                          </a:solidFill>
                          <a:latin typeface="Calibri"/>
                        </a:rPr>
                        <a:t>Demand today</a:t>
                      </a:r>
                    </a:p>
                  </a:txBody>
                  <a:tcPr>
                    <a:solidFill>
                      <a:srgbClr val="FFFFFF"/>
                    </a:solidFill>
                  </a:tcPr>
                </a:tc>
                <a:tc>
                  <a:txBody>
                    <a:bodyPr/>
                    <a:lstStyle/>
                    <a:p>
                      <a:pPr algn="ctr"/>
                      <a:r>
                        <a:rPr sz="800">
                          <a:solidFill>
                            <a:srgbClr val="1F3864"/>
                          </a:solidFill>
                          <a:latin typeface="Calibri"/>
                        </a:rPr>
                        <a:t>150 drums/yr (1 drum = 450 lb) = 1,300 lb/wk = 67,600 lb/yr; +10%/yr</a:t>
                      </a:r>
                    </a:p>
                  </a:txBody>
                  <a:tcPr>
                    <a:solidFill>
                      <a:srgbClr val="FFFFFF"/>
                    </a:solidFill>
                  </a:tcPr>
                </a:tc>
                <a:tc>
                  <a:txBody>
                    <a:bodyPr/>
                    <a:lstStyle/>
                    <a:p>
                      <a:pPr algn="ctr"/>
                      <a:r>
                        <a:rPr sz="800">
                          <a:solidFill>
                            <a:srgbClr val="1F3864"/>
                          </a:solidFill>
                          <a:latin typeface="Calibri"/>
                        </a:rPr>
                        <a:t>Confirmed 2026-06-26; growth assumption</a:t>
                      </a:r>
                    </a:p>
                  </a:txBody>
                  <a:tcPr>
                    <a:solidFill>
                      <a:srgbClr val="FFFFFF"/>
                    </a:solidFill>
                  </a:tcPr>
                </a:tc>
                <a:extLst>
                  <a:ext uri="{0D108BD9-81ED-4DB2-BD59-A6C34878D82A}">
                    <a16:rowId xmlns:a16="http://schemas.microsoft.com/office/drawing/2014/main" val="10001"/>
                  </a:ext>
                </a:extLst>
              </a:tr>
              <a:tr h="266007">
                <a:tc>
                  <a:txBody>
                    <a:bodyPr/>
                    <a:lstStyle/>
                    <a:p>
                      <a:pPr algn="l"/>
                      <a:r>
                        <a:rPr sz="800" b="1">
                          <a:solidFill>
                            <a:srgbClr val="1F3864"/>
                          </a:solidFill>
                          <a:latin typeface="Calibri"/>
                        </a:rPr>
                        <a:t>SNP Inc. price</a:t>
                      </a:r>
                    </a:p>
                  </a:txBody>
                  <a:tcPr>
                    <a:solidFill>
                      <a:srgbClr val="FFFFFF"/>
                    </a:solidFill>
                  </a:tcPr>
                </a:tc>
                <a:tc>
                  <a:txBody>
                    <a:bodyPr/>
                    <a:lstStyle/>
                    <a:p>
                      <a:pPr algn="ctr"/>
                      <a:r>
                        <a:rPr sz="800">
                          <a:solidFill>
                            <a:srgbClr val="1F3864"/>
                          </a:solidFill>
                          <a:latin typeface="Calibri"/>
                        </a:rPr>
                        <a:t>$0.75/lb delivered = $337.50/drum</a:t>
                      </a:r>
                    </a:p>
                  </a:txBody>
                  <a:tcPr>
                    <a:solidFill>
                      <a:srgbClr val="FFFFFF"/>
                    </a:solidFill>
                  </a:tcPr>
                </a:tc>
                <a:tc>
                  <a:txBody>
                    <a:bodyPr/>
                    <a:lstStyle/>
                    <a:p>
                      <a:pPr algn="ctr"/>
                      <a:r>
                        <a:rPr sz="800">
                          <a:solidFill>
                            <a:srgbClr val="1F3864"/>
                          </a:solidFill>
                          <a:latin typeface="Calibri"/>
                        </a:rPr>
                        <a:t>SNP Estimate 012726-1</a:t>
                      </a:r>
                    </a:p>
                  </a:txBody>
                  <a:tcPr>
                    <a:solidFill>
                      <a:srgbClr val="FFFFFF"/>
                    </a:solidFill>
                  </a:tcPr>
                </a:tc>
                <a:extLst>
                  <a:ext uri="{0D108BD9-81ED-4DB2-BD59-A6C34878D82A}">
                    <a16:rowId xmlns:a16="http://schemas.microsoft.com/office/drawing/2014/main" val="10002"/>
                  </a:ext>
                </a:extLst>
              </a:tr>
              <a:tr h="266007">
                <a:tc>
                  <a:txBody>
                    <a:bodyPr/>
                    <a:lstStyle/>
                    <a:p>
                      <a:pPr algn="l"/>
                      <a:r>
                        <a:rPr sz="800" b="1">
                          <a:solidFill>
                            <a:srgbClr val="1F3864"/>
                          </a:solidFill>
                          <a:latin typeface="Calibri"/>
                        </a:rPr>
                        <a:t>PCI price</a:t>
                      </a:r>
                    </a:p>
                  </a:txBody>
                  <a:tcPr>
                    <a:solidFill>
                      <a:srgbClr val="FFFFFF"/>
                    </a:solidFill>
                  </a:tcPr>
                </a:tc>
                <a:tc>
                  <a:txBody>
                    <a:bodyPr/>
                    <a:lstStyle/>
                    <a:p>
                      <a:pPr algn="ctr"/>
                      <a:r>
                        <a:rPr sz="800">
                          <a:solidFill>
                            <a:srgbClr val="1F3864"/>
                          </a:solidFill>
                          <a:latin typeface="Calibri"/>
                        </a:rPr>
                        <a:t>$3.50/lb per 5-drum batch; $6.00/lb below a batch</a:t>
                      </a:r>
                    </a:p>
                  </a:txBody>
                  <a:tcPr>
                    <a:solidFill>
                      <a:srgbClr val="FFFFFF"/>
                    </a:solidFill>
                  </a:tcPr>
                </a:tc>
                <a:tc>
                  <a:txBody>
                    <a:bodyPr/>
                    <a:lstStyle/>
                    <a:p>
                      <a:pPr algn="ctr"/>
                      <a:r>
                        <a:rPr sz="800">
                          <a:solidFill>
                            <a:srgbClr val="1F3864"/>
                          </a:solidFill>
                          <a:latin typeface="Calibri"/>
                        </a:rPr>
                        <a:t>Quote 2026-09-28 — confirm terms in writing</a:t>
                      </a:r>
                    </a:p>
                  </a:txBody>
                  <a:tcPr>
                    <a:solidFill>
                      <a:srgbClr val="FFFFFF"/>
                    </a:solidFill>
                  </a:tcPr>
                </a:tc>
                <a:extLst>
                  <a:ext uri="{0D108BD9-81ED-4DB2-BD59-A6C34878D82A}">
                    <a16:rowId xmlns:a16="http://schemas.microsoft.com/office/drawing/2014/main" val="10003"/>
                  </a:ext>
                </a:extLst>
              </a:tr>
              <a:tr h="266007">
                <a:tc>
                  <a:txBody>
                    <a:bodyPr/>
                    <a:lstStyle/>
                    <a:p>
                      <a:pPr algn="l"/>
                      <a:r>
                        <a:rPr sz="800" b="1">
                          <a:solidFill>
                            <a:srgbClr val="1F3864"/>
                          </a:solidFill>
                          <a:latin typeface="Calibri"/>
                        </a:rPr>
                        <a:t>Option 1 share</a:t>
                      </a:r>
                    </a:p>
                  </a:txBody>
                  <a:tcPr>
                    <a:solidFill>
                      <a:srgbClr val="FFFFFF"/>
                    </a:solidFill>
                  </a:tcPr>
                </a:tc>
                <a:tc>
                  <a:txBody>
                    <a:bodyPr/>
                    <a:lstStyle/>
                    <a:p>
                      <a:pPr algn="ctr"/>
                      <a:r>
                        <a:rPr sz="800">
                          <a:solidFill>
                            <a:srgbClr val="1F3864"/>
                          </a:solidFill>
                          <a:latin typeface="Calibri"/>
                        </a:rPr>
                        <a:t>1/3 = 50 drums/yr = 10 batches (22,500 lb)</a:t>
                      </a:r>
                    </a:p>
                  </a:txBody>
                  <a:tcPr>
                    <a:solidFill>
                      <a:srgbClr val="FFFFFF"/>
                    </a:solidFill>
                  </a:tcPr>
                </a:tc>
                <a:tc>
                  <a:txBody>
                    <a:bodyPr/>
                    <a:lstStyle/>
                    <a:p>
                      <a:pPr algn="ctr"/>
                      <a:r>
                        <a:rPr sz="800">
                          <a:solidFill>
                            <a:srgbClr val="1F3864"/>
                          </a:solidFill>
                          <a:latin typeface="Calibri"/>
                        </a:rPr>
                        <a:t>Every chart bar; five-year uses an exact third</a:t>
                      </a:r>
                    </a:p>
                  </a:txBody>
                  <a:tcPr>
                    <a:solidFill>
                      <a:srgbClr val="FFFFFF"/>
                    </a:solidFill>
                  </a:tcPr>
                </a:tc>
                <a:extLst>
                  <a:ext uri="{0D108BD9-81ED-4DB2-BD59-A6C34878D82A}">
                    <a16:rowId xmlns:a16="http://schemas.microsoft.com/office/drawing/2014/main" val="10004"/>
                  </a:ext>
                </a:extLst>
              </a:tr>
              <a:tr h="266007">
                <a:tc>
                  <a:txBody>
                    <a:bodyPr/>
                    <a:lstStyle/>
                    <a:p>
                      <a:pPr algn="l"/>
                      <a:r>
                        <a:rPr sz="800" b="1">
                          <a:solidFill>
                            <a:srgbClr val="1F3864"/>
                          </a:solidFill>
                          <a:latin typeface="Calibri"/>
                        </a:rPr>
                        <a:t>Option 3 keep-alive</a:t>
                      </a:r>
                    </a:p>
                  </a:txBody>
                  <a:tcPr>
                    <a:solidFill>
                      <a:srgbClr val="FFFFFF"/>
                    </a:solidFill>
                  </a:tcPr>
                </a:tc>
                <a:tc>
                  <a:txBody>
                    <a:bodyPr/>
                    <a:lstStyle/>
                    <a:p>
                      <a:pPr algn="ctr"/>
                      <a:r>
                        <a:rPr sz="800">
                          <a:solidFill>
                            <a:srgbClr val="1F3864"/>
                          </a:solidFill>
                          <a:latin typeface="Calibri"/>
                        </a:rPr>
                        <a:t>1–3 batches/yr = 5–15 drums = 3–10% of demand; +$6.2–18.6k/yr</a:t>
                      </a:r>
                    </a:p>
                  </a:txBody>
                  <a:tcPr>
                    <a:solidFill>
                      <a:srgbClr val="FFFFFF"/>
                    </a:solidFill>
                  </a:tcPr>
                </a:tc>
                <a:tc>
                  <a:txBody>
                    <a:bodyPr/>
                    <a:lstStyle/>
                    <a:p>
                      <a:pPr algn="ctr"/>
                      <a:r>
                        <a:rPr sz="800">
                          <a:solidFill>
                            <a:srgbClr val="1F3864"/>
                          </a:solidFill>
                          <a:latin typeface="Calibri"/>
                        </a:rPr>
                        <a:t>$7.9k per batch ($3.50/lb × 2,250 lb); no volume term on the price so far</a:t>
                      </a:r>
                    </a:p>
                  </a:txBody>
                  <a:tcPr>
                    <a:solidFill>
                      <a:srgbClr val="FFFFFF"/>
                    </a:solidFill>
                  </a:tcPr>
                </a:tc>
                <a:extLst>
                  <a:ext uri="{0D108BD9-81ED-4DB2-BD59-A6C34878D82A}">
                    <a16:rowId xmlns:a16="http://schemas.microsoft.com/office/drawing/2014/main" val="10005"/>
                  </a:ext>
                </a:extLst>
              </a:tr>
              <a:tr h="266007">
                <a:tc>
                  <a:txBody>
                    <a:bodyPr/>
                    <a:lstStyle/>
                    <a:p>
                      <a:pPr algn="l"/>
                      <a:r>
                        <a:rPr sz="800" b="1">
                          <a:solidFill>
                            <a:srgbClr val="1F3864"/>
                          </a:solidFill>
                          <a:latin typeface="Calibri"/>
                        </a:rPr>
                        <a:t>Market reference</a:t>
                      </a:r>
                    </a:p>
                  </a:txBody>
                  <a:tcPr>
                    <a:solidFill>
                      <a:srgbClr val="FFFFFF"/>
                    </a:solidFill>
                  </a:tcPr>
                </a:tc>
                <a:tc>
                  <a:txBody>
                    <a:bodyPr/>
                    <a:lstStyle/>
                    <a:p>
                      <a:pPr algn="ctr"/>
                      <a:r>
                        <a:rPr sz="800">
                          <a:solidFill>
                            <a:srgbClr val="1F3864"/>
                          </a:solidFill>
                          <a:latin typeface="Calibri"/>
                        </a:rPr>
                        <a:t>$1.01 / $2.32 / $4.55 per lb</a:t>
                      </a:r>
                    </a:p>
                  </a:txBody>
                  <a:tcPr>
                    <a:solidFill>
                      <a:srgbClr val="FFFFFF"/>
                    </a:solidFill>
                  </a:tcPr>
                </a:tc>
                <a:tc>
                  <a:txBody>
                    <a:bodyPr/>
                    <a:lstStyle/>
                    <a:p>
                      <a:pPr algn="ctr"/>
                      <a:r>
                        <a:rPr sz="800">
                          <a:solidFill>
                            <a:srgbClr val="1F3864"/>
                          </a:solidFill>
                          <a:latin typeface="Calibri"/>
                        </a:rPr>
                        <a:t>Market study: high / competitive / low quantity</a:t>
                      </a:r>
                    </a:p>
                  </a:txBody>
                  <a:tcPr>
                    <a:solidFill>
                      <a:srgbClr val="FFFFFF"/>
                    </a:solidFill>
                  </a:tcPr>
                </a:tc>
                <a:extLst>
                  <a:ext uri="{0D108BD9-81ED-4DB2-BD59-A6C34878D82A}">
                    <a16:rowId xmlns:a16="http://schemas.microsoft.com/office/drawing/2014/main" val="10006"/>
                  </a:ext>
                </a:extLst>
              </a:tr>
              <a:tr h="266007">
                <a:tc>
                  <a:txBody>
                    <a:bodyPr/>
                    <a:lstStyle/>
                    <a:p>
                      <a:pPr algn="l"/>
                      <a:r>
                        <a:rPr sz="800" b="1">
                          <a:solidFill>
                            <a:srgbClr val="1F3864"/>
                          </a:solidFill>
                          <a:latin typeface="Calibri"/>
                        </a:rPr>
                        <a:t>CJB quote</a:t>
                      </a:r>
                    </a:p>
                  </a:txBody>
                  <a:tcPr>
                    <a:solidFill>
                      <a:srgbClr val="FFFFFF"/>
                    </a:solidFill>
                  </a:tcPr>
                </a:tc>
                <a:tc>
                  <a:txBody>
                    <a:bodyPr/>
                    <a:lstStyle/>
                    <a:p>
                      <a:pPr algn="ctr"/>
                      <a:r>
                        <a:rPr sz="800">
                          <a:solidFill>
                            <a:srgbClr val="1F3864"/>
                          </a:solidFill>
                          <a:latin typeface="Calibri"/>
                        </a:rPr>
                        <a:t>$8.00–8.50/lb toll excl. materials ≈ $8.42 landed</a:t>
                      </a:r>
                    </a:p>
                  </a:txBody>
                  <a:tcPr>
                    <a:solidFill>
                      <a:srgbClr val="FFFFFF"/>
                    </a:solidFill>
                  </a:tcPr>
                </a:tc>
                <a:tc>
                  <a:txBody>
                    <a:bodyPr/>
                    <a:lstStyle/>
                    <a:p>
                      <a:pPr algn="ctr"/>
                      <a:r>
                        <a:rPr sz="800">
                          <a:solidFill>
                            <a:srgbClr val="1F3864"/>
                          </a:solidFill>
                          <a:latin typeface="Calibri"/>
                        </a:rPr>
                        <a:t>$6,400 trial declined; email 'RE: mix test'</a:t>
                      </a:r>
                    </a:p>
                  </a:txBody>
                  <a:tcPr>
                    <a:solidFill>
                      <a:srgbClr val="FFFFFF"/>
                    </a:solidFill>
                  </a:tcPr>
                </a:tc>
                <a:extLst>
                  <a:ext uri="{0D108BD9-81ED-4DB2-BD59-A6C34878D82A}">
                    <a16:rowId xmlns:a16="http://schemas.microsoft.com/office/drawing/2014/main" val="10007"/>
                  </a:ext>
                </a:extLst>
              </a:tr>
              <a:tr h="266007">
                <a:tc>
                  <a:txBody>
                    <a:bodyPr/>
                    <a:lstStyle/>
                    <a:p>
                      <a:pPr algn="l"/>
                      <a:r>
                        <a:rPr sz="800" b="1">
                          <a:solidFill>
                            <a:srgbClr val="1F3864"/>
                          </a:solidFill>
                          <a:latin typeface="Calibri"/>
                        </a:rPr>
                        <a:t>APV estimate</a:t>
                      </a:r>
                    </a:p>
                  </a:txBody>
                  <a:tcPr>
                    <a:solidFill>
                      <a:srgbClr val="FFFFFF"/>
                    </a:solidFill>
                  </a:tcPr>
                </a:tc>
                <a:tc>
                  <a:txBody>
                    <a:bodyPr/>
                    <a:lstStyle/>
                    <a:p>
                      <a:pPr algn="ctr"/>
                      <a:r>
                        <a:rPr sz="800">
                          <a:solidFill>
                            <a:srgbClr val="1F3864"/>
                          </a:solidFill>
                          <a:latin typeface="Calibri"/>
                        </a:rPr>
                        <a:t>≥ $3.00/lb — never confirmed</a:t>
                      </a:r>
                    </a:p>
                  </a:txBody>
                  <a:tcPr>
                    <a:solidFill>
                      <a:srgbClr val="FFFFFF"/>
                    </a:solidFill>
                  </a:tcPr>
                </a:tc>
                <a:tc>
                  <a:txBody>
                    <a:bodyPr/>
                    <a:lstStyle/>
                    <a:p>
                      <a:pPr algn="ctr"/>
                      <a:r>
                        <a:rPr sz="800">
                          <a:solidFill>
                            <a:srgbClr val="1F3864"/>
                          </a:solidFill>
                          <a:latin typeface="Calibri"/>
                        </a:rPr>
                        <a:t>Called $1.50/lb too cheap for our volume on our call</a:t>
                      </a:r>
                    </a:p>
                  </a:txBody>
                  <a:tcPr>
                    <a:solidFill>
                      <a:srgbClr val="FFFFFF"/>
                    </a:solidFill>
                  </a:tcPr>
                </a:tc>
                <a:extLst>
                  <a:ext uri="{0D108BD9-81ED-4DB2-BD59-A6C34878D82A}">
                    <a16:rowId xmlns:a16="http://schemas.microsoft.com/office/drawing/2014/main" val="10008"/>
                  </a:ext>
                </a:extLst>
              </a:tr>
              <a:tr h="266007">
                <a:tc>
                  <a:txBody>
                    <a:bodyPr/>
                    <a:lstStyle/>
                    <a:p>
                      <a:pPr algn="l"/>
                      <a:r>
                        <a:rPr sz="800" b="1">
                          <a:solidFill>
                            <a:srgbClr val="1F3864"/>
                          </a:solidFill>
                          <a:latin typeface="Calibri"/>
                        </a:rPr>
                        <a:t>Qualification cost</a:t>
                      </a:r>
                    </a:p>
                  </a:txBody>
                  <a:tcPr>
                    <a:solidFill>
                      <a:srgbClr val="FFFFFF"/>
                    </a:solidFill>
                  </a:tcPr>
                </a:tc>
                <a:tc>
                  <a:txBody>
                    <a:bodyPr/>
                    <a:lstStyle/>
                    <a:p>
                      <a:pPr algn="ctr"/>
                      <a:r>
                        <a:rPr sz="800">
                          <a:solidFill>
                            <a:srgbClr val="1F3864"/>
                          </a:solidFill>
                          <a:latin typeface="Calibri"/>
                        </a:rPr>
                        <a:t>~$15k of internal hours to date (sunk); ~$15–40k more to production release</a:t>
                      </a:r>
                    </a:p>
                  </a:txBody>
                  <a:tcPr>
                    <a:solidFill>
                      <a:srgbClr val="FFFFFF"/>
                    </a:solidFill>
                  </a:tcPr>
                </a:tc>
                <a:tc>
                  <a:txBody>
                    <a:bodyPr/>
                    <a:lstStyle/>
                    <a:p>
                      <a:pPr algn="ctr"/>
                      <a:r>
                        <a:rPr sz="800">
                          <a:solidFill>
                            <a:srgbClr val="1F3864"/>
                          </a:solidFill>
                          <a:latin typeface="Calibri"/>
                        </a:rPr>
                        <a:t>Placeholders; not in the purchase totals</a:t>
                      </a:r>
                    </a:p>
                  </a:txBody>
                  <a:tcPr>
                    <a:solidFill>
                      <a:srgbClr val="FFFFFF"/>
                    </a:solidFill>
                  </a:tcPr>
                </a:tc>
                <a:extLst>
                  <a:ext uri="{0D108BD9-81ED-4DB2-BD59-A6C34878D82A}">
                    <a16:rowId xmlns:a16="http://schemas.microsoft.com/office/drawing/2014/main" val="10009"/>
                  </a:ext>
                </a:extLst>
              </a:tr>
              <a:tr h="266010">
                <a:tc>
                  <a:txBody>
                    <a:bodyPr/>
                    <a:lstStyle/>
                    <a:p>
                      <a:pPr algn="l"/>
                      <a:r>
                        <a:rPr sz="800" b="1">
                          <a:solidFill>
                            <a:srgbClr val="1F3864"/>
                          </a:solidFill>
                          <a:latin typeface="Calibri"/>
                        </a:rPr>
                        <a:t>Restart time if SNP fails</a:t>
                      </a:r>
                    </a:p>
                  </a:txBody>
                  <a:tcPr>
                    <a:solidFill>
                      <a:srgbClr val="FFFFFF"/>
                    </a:solidFill>
                  </a:tcPr>
                </a:tc>
                <a:tc>
                  <a:txBody>
                    <a:bodyPr/>
                    <a:lstStyle/>
                    <a:p>
                      <a:pPr algn="ctr"/>
                      <a:r>
                        <a:rPr sz="800">
                          <a:solidFill>
                            <a:srgbClr val="1F3864"/>
                          </a:solidFill>
                          <a:latin typeface="Calibri"/>
                        </a:rPr>
                        <a:t>Option 1 weeks (if ramp confirmed); Option 3 weeks to months; Option 2 ~3–6 months</a:t>
                      </a:r>
                    </a:p>
                  </a:txBody>
                  <a:tcPr>
                    <a:solidFill>
                      <a:srgbClr val="FFFFFF"/>
                    </a:solidFill>
                  </a:tcPr>
                </a:tc>
                <a:tc>
                  <a:txBody>
                    <a:bodyPr/>
                    <a:lstStyle/>
                    <a:p>
                      <a:pPr algn="ctr"/>
                      <a:r>
                        <a:rPr sz="800">
                          <a:solidFill>
                            <a:srgbClr val="1F3864"/>
                          </a:solidFill>
                          <a:latin typeface="Calibri"/>
                        </a:rPr>
                        <a:t>Estimates; a cold start decays after ~12 months idle</a:t>
                      </a:r>
                    </a:p>
                  </a:txBody>
                  <a:tcPr>
                    <a:solidFill>
                      <a:srgbClr val="FFFFFF"/>
                    </a:solidFill>
                  </a:tcPr>
                </a:tc>
                <a:extLst>
                  <a:ext uri="{0D108BD9-81ED-4DB2-BD59-A6C34878D82A}">
                    <a16:rowId xmlns:a16="http://schemas.microsoft.com/office/drawing/2014/main" val="10010"/>
                  </a:ext>
                </a:extLst>
              </a:tr>
            </a:tbl>
          </a:graphicData>
        </a:graphic>
      </p:graphicFrame>
      <p:sp>
        <p:nvSpPr>
          <p:cNvPr id="5" name="TextBox 4"/>
          <p:cNvSpPr txBox="1"/>
          <p:nvPr/>
        </p:nvSpPr>
        <p:spPr>
          <a:xfrm>
            <a:off x="548640" y="4846320"/>
            <a:ext cx="6309360" cy="1417320"/>
          </a:xfrm>
          <a:prstGeom prst="rect">
            <a:avLst/>
          </a:prstGeom>
          <a:noFill/>
        </p:spPr>
        <p:txBody>
          <a:bodyPr wrap="square">
            <a:spAutoFit/>
          </a:bodyPr>
          <a:lstStyle/>
          <a:p>
            <a:pPr algn="l">
              <a:spcAft>
                <a:spcPts val="200"/>
              </a:spcAft>
            </a:pPr>
            <a:r>
              <a:rPr sz="1050" b="1" i="0">
                <a:solidFill>
                  <a:srgbClr val="1F3864"/>
                </a:solidFill>
                <a:latin typeface="Calibri"/>
              </a:rPr>
              <a:t>Frameworks (independently fact-checked)</a:t>
            </a:r>
          </a:p>
          <a:p>
            <a:pPr algn="l">
              <a:spcAft>
                <a:spcPts val="400"/>
              </a:spcAft>
            </a:pPr>
            <a:r>
              <a:rPr sz="730" b="0" i="0">
                <a:solidFill>
                  <a:srgbClr val="595959"/>
                </a:solidFill>
                <a:latin typeface="Calibri"/>
              </a:rPr>
              <a:t>Kraljic (HBR 1983), bottleneck items: 'Volume insurance (at cost premium if necessary). Control of vendors. Security of inventories. Backup plans.' Gelderman &amp; van Weele (2003): 'hold' vs 'move'. Simchi-Levi et al. (Interfaces 2015): disruption impact is uncorrelated with spend. Sheffi &amp; Rice (MIT SMR 2005): single sourcing is legitimate only with a deep, managed relationship. Tomlin (2006); Chopra &amp; Sodhi (2014): assuming zero disruption probability is the expensive mistake. Pulles, Schiele et al. (2016): preferential treatment follows attractiveness, not volume. Deloitte Chief Procurement Officer (CPO) Survey 2025: 'active alternative sources' rated most effective (74%). No standard or regulation we work under requires a second source; controls are proportionate to risk. Six lenses; four refuted claims excluded; memo in the repo.</a:t>
            </a:r>
          </a:p>
        </p:txBody>
      </p:sp>
      <p:sp>
        <p:nvSpPr>
          <p:cNvPr id="6" name="Rectangle 5"/>
          <p:cNvSpPr/>
          <p:nvPr/>
        </p:nvSpPr>
        <p:spPr>
          <a:xfrm>
            <a:off x="7086600" y="1051560"/>
            <a:ext cx="4526280" cy="5166360"/>
          </a:xfrm>
          <a:prstGeom prst="rect">
            <a:avLst/>
          </a:prstGeom>
          <a:solidFill>
            <a:srgbClr val="F6F8FB"/>
          </a:solidFill>
          <a:ln w="9525">
            <a:solidFill>
              <a:srgbClr val="4E79A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223760" y="1115568"/>
            <a:ext cx="4297680" cy="5074920"/>
          </a:xfrm>
          <a:prstGeom prst="rect">
            <a:avLst/>
          </a:prstGeom>
          <a:noFill/>
        </p:spPr>
        <p:txBody>
          <a:bodyPr wrap="square">
            <a:spAutoFit/>
          </a:bodyPr>
          <a:lstStyle/>
          <a:p>
            <a:pPr algn="l">
              <a:spcAft>
                <a:spcPts val="300"/>
              </a:spcAft>
            </a:pPr>
            <a:r>
              <a:rPr sz="1200" b="1" i="0">
                <a:solidFill>
                  <a:srgbClr val="1F3864"/>
                </a:solidFill>
                <a:latin typeface="Calibri"/>
              </a:rPr>
              <a:t>Suppliers named</a:t>
            </a:r>
          </a:p>
          <a:p>
            <a:pPr>
              <a:spcAft>
                <a:spcPts val="100"/>
              </a:spcAft>
            </a:pPr>
            <a:r>
              <a:rPr sz="900" b="1">
                <a:solidFill>
                  <a:srgbClr val="1F3864"/>
                </a:solidFill>
                <a:latin typeface="Calibri"/>
              </a:rPr>
              <a:t>SNP Inc.  </a:t>
            </a:r>
            <a:r>
              <a:rPr sz="900">
                <a:solidFill>
                  <a:srgbClr val="595959"/>
                </a:solidFill>
                <a:latin typeface="Calibri"/>
              </a:rPr>
              <a:t>— Durham, NC — incumbent, sole source</a:t>
            </a:r>
          </a:p>
          <a:p>
            <a:pPr>
              <a:spcAft>
                <a:spcPts val="100"/>
              </a:spcAft>
            </a:pPr>
            <a:r>
              <a:rPr sz="900" b="1">
                <a:solidFill>
                  <a:srgbClr val="1F3864"/>
                </a:solidFill>
                <a:latin typeface="Calibri"/>
              </a:rPr>
              <a:t>PCI Manufacturing  </a:t>
            </a:r>
            <a:r>
              <a:rPr sz="900">
                <a:solidFill>
                  <a:srgbClr val="595959"/>
                </a:solidFill>
                <a:latin typeface="Calibri"/>
              </a:rPr>
              <a:t>— St. Louis, MO — CMS Manufacturing group; qualified-capable, quoted</a:t>
            </a:r>
          </a:p>
          <a:p>
            <a:pPr>
              <a:spcAft>
                <a:spcPts val="100"/>
              </a:spcAft>
            </a:pPr>
            <a:r>
              <a:rPr sz="900" b="1">
                <a:solidFill>
                  <a:srgbClr val="1F3864"/>
                </a:solidFill>
                <a:latin typeface="Calibri"/>
              </a:rPr>
              <a:t>CJB Applied Technologies  </a:t>
            </a:r>
            <a:r>
              <a:rPr sz="900">
                <a:solidFill>
                  <a:srgbClr val="595959"/>
                </a:solidFill>
                <a:latin typeface="Calibri"/>
              </a:rPr>
              <a:t>— Valdosta, GA — quoted ~11×; $6,400 trial declined; eliminated 4 Aug 2026</a:t>
            </a:r>
          </a:p>
          <a:p>
            <a:pPr>
              <a:spcAft>
                <a:spcPts val="100"/>
              </a:spcAft>
            </a:pPr>
            <a:r>
              <a:rPr sz="900" b="1">
                <a:solidFill>
                  <a:srgbClr val="1F3864"/>
                </a:solidFill>
                <a:latin typeface="Calibri"/>
              </a:rPr>
              <a:t>ArroChem Inc.  </a:t>
            </a:r>
            <a:r>
              <a:rPr sz="900">
                <a:solidFill>
                  <a:srgbClr val="595959"/>
                </a:solidFill>
                <a:latin typeface="Calibri"/>
              </a:rPr>
              <a:t>— Mount Holly, NC — right kind of company; could not get past 90 °C</a:t>
            </a:r>
          </a:p>
          <a:p>
            <a:pPr>
              <a:spcAft>
                <a:spcPts val="100"/>
              </a:spcAft>
            </a:pPr>
            <a:r>
              <a:rPr sz="900" b="1">
                <a:solidFill>
                  <a:srgbClr val="1F3864"/>
                </a:solidFill>
                <a:latin typeface="Calibri"/>
              </a:rPr>
              <a:t>ILC Dover  </a:t>
            </a:r>
            <a:r>
              <a:rPr sz="900">
                <a:solidFill>
                  <a:srgbClr val="595959"/>
                </a:solidFill>
                <a:latin typeface="Calibri"/>
              </a:rPr>
              <a:t>— Frederica, DE — could not hold temperature</a:t>
            </a:r>
          </a:p>
          <a:p>
            <a:pPr>
              <a:spcAft>
                <a:spcPts val="100"/>
              </a:spcAft>
            </a:pPr>
            <a:r>
              <a:rPr sz="900" b="1">
                <a:solidFill>
                  <a:srgbClr val="1F3864"/>
                </a:solidFill>
                <a:latin typeface="Calibri"/>
              </a:rPr>
              <a:t>Columbus Chemical Industries  </a:t>
            </a:r>
            <a:r>
              <a:rPr sz="900">
                <a:solidFill>
                  <a:srgbClr val="595959"/>
                </a:solidFill>
                <a:latin typeface="Calibri"/>
              </a:rPr>
              <a:t>— Columbus, WI — right kind of company; could not hold 90–95 °C; never quoted</a:t>
            </a:r>
          </a:p>
          <a:p>
            <a:pPr>
              <a:spcAft>
                <a:spcPts val="100"/>
              </a:spcAft>
            </a:pPr>
            <a:r>
              <a:rPr sz="900" b="1">
                <a:solidFill>
                  <a:srgbClr val="1F3864"/>
                </a:solidFill>
                <a:latin typeface="Calibri"/>
              </a:rPr>
              <a:t>Brenntag  </a:t>
            </a:r>
            <a:r>
              <a:rPr sz="900">
                <a:solidFill>
                  <a:srgbClr val="595959"/>
                </a:solidFill>
                <a:latin typeface="Calibri"/>
              </a:rPr>
              <a:t>— distributor — trial blends never met viscosity (Nov 2025); stalled, no quote</a:t>
            </a:r>
          </a:p>
          <a:p>
            <a:pPr>
              <a:spcAft>
                <a:spcPts val="100"/>
              </a:spcAft>
            </a:pPr>
            <a:r>
              <a:rPr sz="900" b="1">
                <a:solidFill>
                  <a:srgbClr val="1F3864"/>
                </a:solidFill>
                <a:latin typeface="Calibri"/>
              </a:rPr>
              <a:t>Piedmont Chemical Industries  </a:t>
            </a:r>
            <a:r>
              <a:rPr sz="900">
                <a:solidFill>
                  <a:srgbClr val="595959"/>
                </a:solidFill>
                <a:latin typeface="Calibri"/>
              </a:rPr>
              <a:t>— High Point, NC — reserve</a:t>
            </a:r>
          </a:p>
          <a:p>
            <a:pPr>
              <a:spcAft>
                <a:spcPts val="100"/>
              </a:spcAft>
            </a:pPr>
            <a:r>
              <a:rPr sz="900" b="1">
                <a:solidFill>
                  <a:srgbClr val="1F3864"/>
                </a:solidFill>
                <a:latin typeface="Calibri"/>
              </a:rPr>
              <a:t>APV Engineered Coatings  </a:t>
            </a:r>
            <a:r>
              <a:rPr sz="900">
                <a:solidFill>
                  <a:srgbClr val="595959"/>
                </a:solidFill>
                <a:latin typeface="Calibri"/>
              </a:rPr>
              <a:t>— Akron, OH — heat confirmed; called $1.50/lb too cheap, likely ≥$3/lb (unconfirmed)</a:t>
            </a:r>
          </a:p>
          <a:p>
            <a:pPr algn="l">
              <a:spcBef>
                <a:spcPts val="500"/>
              </a:spcBef>
              <a:spcAft>
                <a:spcPts val="200"/>
              </a:spcAft>
            </a:pPr>
            <a:r>
              <a:rPr sz="1200" b="1" i="0">
                <a:solidFill>
                  <a:srgbClr val="1F3864"/>
                </a:solidFill>
                <a:latin typeface="Calibri"/>
              </a:rPr>
              <a:t>Acronyms</a:t>
            </a:r>
          </a:p>
          <a:p>
            <a:pPr>
              <a:spcAft>
                <a:spcPts val="100"/>
              </a:spcAft>
            </a:pPr>
            <a:r>
              <a:rPr sz="900" b="1">
                <a:solidFill>
                  <a:srgbClr val="1F3864"/>
                </a:solidFill>
                <a:latin typeface="Calibri"/>
              </a:rPr>
              <a:t>PVA  </a:t>
            </a:r>
            <a:r>
              <a:rPr sz="900">
                <a:solidFill>
                  <a:srgbClr val="595959"/>
                </a:solidFill>
                <a:latin typeface="Calibri"/>
              </a:rPr>
              <a:t>— polyvinyl alcohol</a:t>
            </a:r>
          </a:p>
          <a:p>
            <a:pPr>
              <a:spcAft>
                <a:spcPts val="100"/>
              </a:spcAft>
            </a:pPr>
            <a:r>
              <a:rPr sz="900" b="1">
                <a:solidFill>
                  <a:srgbClr val="1F3864"/>
                </a:solidFill>
                <a:latin typeface="Calibri"/>
              </a:rPr>
              <a:t>cP  </a:t>
            </a:r>
            <a:r>
              <a:rPr sz="900">
                <a:solidFill>
                  <a:srgbClr val="595959"/>
                </a:solidFill>
                <a:latin typeface="Calibri"/>
              </a:rPr>
              <a:t>— centipoise — viscosity unit</a:t>
            </a:r>
          </a:p>
          <a:p>
            <a:pPr>
              <a:spcAft>
                <a:spcPts val="100"/>
              </a:spcAft>
            </a:pPr>
            <a:r>
              <a:rPr sz="900" b="1">
                <a:solidFill>
                  <a:srgbClr val="1F3864"/>
                </a:solidFill>
                <a:latin typeface="Calibri"/>
              </a:rPr>
              <a:t>SQA  </a:t>
            </a:r>
            <a:r>
              <a:rPr sz="900">
                <a:solidFill>
                  <a:srgbClr val="595959"/>
                </a:solidFill>
                <a:latin typeface="Calibri"/>
              </a:rPr>
              <a:t>— Supplier Quality Agreement</a:t>
            </a:r>
          </a:p>
          <a:p>
            <a:pPr>
              <a:spcAft>
                <a:spcPts val="100"/>
              </a:spcAft>
            </a:pPr>
            <a:r>
              <a:rPr sz="900" b="1">
                <a:solidFill>
                  <a:srgbClr val="1F3864"/>
                </a:solidFill>
                <a:latin typeface="Calibri"/>
              </a:rPr>
              <a:t>NDA  </a:t>
            </a:r>
            <a:r>
              <a:rPr sz="900">
                <a:solidFill>
                  <a:srgbClr val="595959"/>
                </a:solidFill>
                <a:latin typeface="Calibri"/>
              </a:rPr>
              <a:t>— non-disclosure agreement</a:t>
            </a:r>
          </a:p>
          <a:p>
            <a:pPr>
              <a:spcAft>
                <a:spcPts val="100"/>
              </a:spcAft>
            </a:pPr>
            <a:r>
              <a:rPr sz="900" b="1">
                <a:solidFill>
                  <a:srgbClr val="1F3864"/>
                </a:solidFill>
                <a:latin typeface="Calibri"/>
              </a:rPr>
              <a:t>CPO  </a:t>
            </a:r>
            <a:r>
              <a:rPr sz="900">
                <a:solidFill>
                  <a:srgbClr val="595959"/>
                </a:solidFill>
                <a:latin typeface="Calibri"/>
              </a:rPr>
              <a:t>— Chief Procurement Officer (Deloitte survey)</a:t>
            </a:r>
          </a:p>
          <a:p>
            <a:pPr>
              <a:spcAft>
                <a:spcPts val="100"/>
              </a:spcAft>
            </a:pPr>
            <a:r>
              <a:rPr sz="900" b="1">
                <a:solidFill>
                  <a:srgbClr val="1F3864"/>
                </a:solidFill>
                <a:latin typeface="Calibri"/>
              </a:rPr>
              <a:t>HBR / MIT SMR  </a:t>
            </a:r>
            <a:r>
              <a:rPr sz="900">
                <a:solidFill>
                  <a:srgbClr val="595959"/>
                </a:solidFill>
                <a:latin typeface="Calibri"/>
              </a:rPr>
              <a:t>— Harvard Business Review / MIT Sloan Management Review</a:t>
            </a:r>
          </a:p>
        </p:txBody>
      </p:sp>
      <p:sp>
        <p:nvSpPr>
          <p:cNvPr id="8" name="TextBox 7"/>
          <p:cNvSpPr txBox="1"/>
          <p:nvPr/>
        </p:nvSpPr>
        <p:spPr>
          <a:xfrm>
            <a:off x="548640" y="6263640"/>
            <a:ext cx="6400800" cy="411480"/>
          </a:xfrm>
          <a:prstGeom prst="rect">
            <a:avLst/>
          </a:prstGeom>
          <a:noFill/>
        </p:spPr>
        <p:txBody>
          <a:bodyPr wrap="square">
            <a:spAutoFit/>
          </a:bodyPr>
          <a:lstStyle/>
          <a:p>
            <a:pPr algn="l">
              <a:spcAft>
                <a:spcPts val="400"/>
              </a:spcAft>
            </a:pPr>
            <a:r>
              <a:rPr sz="900" b="0" i="1">
                <a:solidFill>
                  <a:srgbClr val="595959"/>
                </a:solidFill>
                <a:latin typeface="Calibri"/>
              </a:rPr>
              <a:t>Workbook: PVA_Second_Supplier_Leadership_Model.xlsx — 'Summary' holds every slide figure as a formula; 'Supplier Quotes', 'Market Study', 'PCI Quote Scenarios', 'PCI Experiment' hold the compiled data.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5652</Words>
  <Application>Microsoft Office PowerPoint</Application>
  <PresentationFormat>Widescreen</PresentationFormat>
  <Paragraphs>228</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Oscar Penny</cp:lastModifiedBy>
  <cp:revision>3</cp:revision>
  <dcterms:created xsi:type="dcterms:W3CDTF">2013-01-27T09:14:16Z</dcterms:created>
  <dcterms:modified xsi:type="dcterms:W3CDTF">2026-09-29T13:52:37Z</dcterms:modified>
  <cp:category/>
</cp:coreProperties>
</file>