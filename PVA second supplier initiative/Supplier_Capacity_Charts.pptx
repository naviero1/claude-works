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hartSpace xmlns:a="http://schemas.openxmlformats.org/drawingml/2006/main" xmlns="http://schemas.openxmlformats.org/drawingml/2006/chart">
  <roundedCorners val="0"/>
  <chart>
    <autoTitleDeleted val="1"/>
    <plotArea>
      <layout>
        <manualLayout>
          <xMode val="edge"/>
          <yMode val="edge"/>
          <wMode val="factor"/>
          <hMode val="factor"/>
          <x val="0.055"/>
          <y val="0.05"/>
          <w val="0.93"/>
          <h val="0.78"/>
        </manualLayout>
      </layout>
      <barChart>
        <barDir val="col"/>
        <grouping val="stacked"/>
        <ser>
          <idx val="0"/>
          <order val="0"/>
          <tx>
            <v>Gross kill</v>
          </tx>
          <spPr>
            <a:solidFill>
              <a:srgbClr val="D9D9D9"/>
            </a:solidFill>
            <a:ln>
              <a:noFill/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Data'!$B$15:$F$15</f>
              <numCache>
                <formatCode>General</formatCode>
                <ptCount val="5"/>
                <pt idx="0">
                  <v>41990</v>
                </pt>
                <pt idx="1">
                  <v>41990</v>
                </pt>
                <pt idx="2">
                  <v>41990</v>
                </pt>
                <pt idx="3">
                  <v>41990</v>
                </pt>
                <pt idx="4">
                  <v>41990</v>
                </pt>
              </numCache>
            </numRef>
          </val>
        </ser>
        <gapWidth val="50"/>
        <overlap val="100"/>
        <axId val="10"/>
        <axId val="100"/>
      </barChart>
      <barChart>
        <barDir val="col"/>
        <grouping val="stacked"/>
        <ser>
          <idx val="1"/>
          <order val="1"/>
          <tx>
            <strRef>
              <f>Sheet1!$D$16</f>
              <strCache>
                <ptCount val="1"/>
                <pt idx="0">
                  <v>Martins</v>
                </pt>
              </strCache>
            </strRef>
          </tx>
          <spPr>
            <a:solidFill>
              <a:srgbClr val="2A78D6"/>
            </a:solidFill>
            <a:ln w="15875">
              <a:solidFill>
                <a:srgbClr val="FFFFFF"/>
              </a:solidFill>
              <a:prstDash val="solid"/>
            </a:ln>
          </spPr>
          <dLbls>
            <dLbl>
              <idx val="0"/>
              <numFmt formatCode="#,##0"/>
              <dLblPos val="ctr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Data'!$B$5:$F$5</f>
              <numCache>
                <formatCode>General</formatCode>
                <ptCount val="5"/>
                <pt idx="0">
                  <v>24963.6036960986</v>
                </pt>
                <pt idx="1">
                  <v>24963.6036960986</v>
                </pt>
                <pt idx="2">
                  <v>24963.6036960986</v>
                </pt>
                <pt idx="3">
                  <v>24963.6036960986</v>
                </pt>
                <pt idx="4">
                  <v>24963.6036960986</v>
                </pt>
              </numCache>
            </numRef>
          </val>
        </ser>
        <ser>
          <idx val="2"/>
          <order val="2"/>
          <tx>
            <strRef>
              <f>Sheet1!$D$17</f>
              <strCache>
                <ptCount val="1"/>
                <pt idx="0">
                  <v>Nahunta</v>
                </pt>
              </strCache>
            </strRef>
          </tx>
          <spPr>
            <a:solidFill>
              <a:srgbClr val="EB6834"/>
            </a:solidFill>
            <a:ln w="15875">
              <a:solidFill>
                <a:srgbClr val="FFFFFF"/>
              </a:solidFill>
              <a:prstDash val="solid"/>
            </a:ln>
          </spPr>
          <val>
            <numRef>
              <f>'Chart Data'!$B$6:$F$6</f>
              <numCache>
                <formatCode>General</formatCode>
                <ptCount val="5"/>
                <pt idx="0">
                  <v>1797.3794661191</v>
                </pt>
                <pt idx="1">
                  <v>1797.3794661191</v>
                </pt>
                <pt idx="2">
                  <v>1797.3794661191</v>
                </pt>
                <pt idx="3">
                  <v>1797.3794661191</v>
                </pt>
                <pt idx="4">
                  <v>1797.3794661191</v>
                </pt>
              </numCache>
            </numRef>
          </val>
        </ser>
        <ser>
          <idx val="3"/>
          <order val="3"/>
          <tx>
            <strRef>
              <f>Sheet1!$D$18</f>
              <strCache>
                <ptCount val="1"/>
                <pt idx="0">
                  <v>Customs</v>
                </pt>
              </strCache>
            </strRef>
          </tx>
          <spPr>
            <a:solidFill>
              <a:srgbClr val="1BAF7A"/>
            </a:solidFill>
            <a:ln w="15875">
              <a:solidFill>
                <a:srgbClr val="FFFFFF"/>
              </a:solidFill>
              <a:prstDash val="solid"/>
            </a:ln>
          </spPr>
          <val>
            <numRef>
              <f>'Chart Data'!$B$7:$F$7</f>
              <numCache>
                <formatCode>General</formatCode>
                <ptCount val="5"/>
                <pt idx="0">
                  <v>1497.81622176591</v>
                </pt>
                <pt idx="1">
                  <v>1497.81622176591</v>
                </pt>
                <pt idx="2">
                  <v>1497.81622176591</v>
                </pt>
                <pt idx="3">
                  <v>1497.81622176591</v>
                </pt>
                <pt idx="4">
                  <v>1497.81622176591</v>
                </pt>
              </numCache>
            </numRef>
          </val>
        </ser>
        <ser>
          <idx val="4"/>
          <order val="4"/>
          <tx>
            <strRef>
              <f>Sheet1!$D$19</f>
              <strCache>
                <ptCount val="1"/>
                <pt idx="0">
                  <v>Parks</v>
                </pt>
              </strCache>
            </strRef>
          </tx>
          <spPr>
            <a:solidFill>
              <a:srgbClr val="EDA100"/>
            </a:solidFill>
            <a:ln w="15875">
              <a:solidFill>
                <a:srgbClr val="FFFFFF"/>
              </a:solidFill>
              <a:prstDash val="solid"/>
            </a:ln>
          </spPr>
          <dLbls>
            <dLbl>
              <idx val="0"/>
              <numFmt formatCode="#,##0"/>
              <dLblPos val="ctr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Data'!$B$8:$F$8</f>
              <numCache>
                <formatCode>General</formatCode>
                <ptCount val="5"/>
                <pt idx="0">
                  <v>3474.17659137577</v>
                </pt>
                <pt idx="1">
                  <v>3474.17659137577</v>
                </pt>
                <pt idx="2">
                  <v>3474.17659137577</v>
                </pt>
                <pt idx="3">
                  <v>3474.17659137577</v>
                </pt>
                <pt idx="4">
                  <v>3474.17659137577</v>
                </pt>
              </numCache>
            </numRef>
          </val>
        </ser>
        <gapWidth val="200"/>
        <overlap val="100"/>
        <axId val="10"/>
        <axId val="200"/>
      </barChart>
      <lineChart>
        <grouping val="standard"/>
        <ser>
          <idx val="5"/>
          <order val="5"/>
          <tx>
            <v>Demand</v>
          </tx>
          <spPr>
            <a:ln w="19050" cap="rnd">
              <a:solidFill>
                <a:srgbClr val="0B0B0B"/>
              </a:solidFill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dLbl>
              <idx val="4"/>
              <numFmt formatCode="#,##0"/>
              <dLblPos val="t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Data'!$B$21:$F$21</f>
              <numCache>
                <formatCode>General</formatCode>
                <ptCount val="5"/>
                <pt idx="0">
                  <v>7305</v>
                </pt>
                <pt idx="1">
                  <v>7810</v>
                </pt>
                <pt idx="2">
                  <v>8225</v>
                </pt>
                <pt idx="3">
                  <v>8425</v>
                </pt>
                <pt idx="4">
                  <v>8434</v>
                </pt>
              </numCache>
            </numRef>
          </val>
          <smooth val="0"/>
        </ser>
        <ser>
          <idx val="6"/>
          <order val="6"/>
          <tx>
            <v>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Data'!$B$9:$F$9</f>
              <numCache>
                <formatCode>General</formatCode>
                <ptCount val="5"/>
                <pt idx="0">
                  <v>31732.9759753593</v>
                </pt>
                <pt idx="1">
                  <v>31732.9759753593</v>
                </pt>
                <pt idx="2">
                  <v>31732.9759753593</v>
                </pt>
                <pt idx="3">
                  <v>31732.9759753593</v>
                </pt>
                <pt idx="4">
                  <v>31732.9759753593</v>
                </pt>
              </numCache>
            </numRef>
          </val>
          <smooth val="0"/>
        </ser>
        <axId val="10"/>
        <axId val="200"/>
      </lineChart>
      <lineChart>
        <grouping val="standard"/>
        <ser>
          <idx val="7"/>
          <order val="7"/>
          <tx>
            <v>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Data'!$B$15:$F$15</f>
              <numCache>
                <formatCode>General</formatCode>
                <ptCount val="5"/>
                <pt idx="0">
                  <v>41990</v>
                </pt>
                <pt idx="1">
                  <v>41990</v>
                </pt>
                <pt idx="2">
                  <v>41990</v>
                </pt>
                <pt idx="3">
                  <v>41990</v>
                </pt>
                <pt idx="4">
                  <v>41990</v>
                </pt>
              </numCache>
            </numRef>
          </val>
          <smooth val="0"/>
        </ser>
        <axId val="10"/>
        <axId val="100"/>
      </lineChart>
      <catAx>
        <axId val="10"/>
        <scaling>
          <orientation val="minMax"/>
        </scaling>
        <delete val="0"/>
        <axPos val="l"/>
        <numFmt formatCode="@" sourceLinked="0"/>
        <majorTickMark val="none"/>
        <minorTickMark val="none"/>
        <tickLblPos val="nextTo"/>
        <spPr>
          <a:ln w="9525">
            <a:solidFill>
              <a:srgbClr val="BFBFBF"/>
            </a:solidFill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0"/>
        <lblOffset val="100"/>
      </catAx>
      <valAx>
        <axId val="100"/>
        <scaling>
          <orientation val="minMax"/>
          <max val="45000"/>
          <min val="0"/>
        </scaling>
        <delete val="0"/>
        <axPos val="l"/>
        <majorGridlines>
          <spPr>
            <a:ln w="9525">
              <a:solidFill>
                <a:srgbClr val="E7E7E7"/>
              </a:solidFill>
              <a:prstDash val="solid"/>
            </a:ln>
          </spPr>
        </majorGridlines>
        <numFmt formatCode="[=0]0;#,##0,&quot;K&quot;" sourceLinked="0"/>
        <majorTickMark val="none"/>
        <minorTickMark val="none"/>
        <tickLblPos val="nextTo"/>
        <spPr>
          <a:ln>
            <a:noFill/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"/>
        <majorUnit val="10000"/>
      </valAx>
      <valAx>
        <axId val="200"/>
        <scaling>
          <orientation val="minMax"/>
          <max val="45000"/>
          <min val="0"/>
        </scaling>
        <delete val="1"/>
        <axPos val="l"/>
        <numFmt formatCode="[=0]0;#,##0,&quot;K&quot;" sourceLinked="0"/>
        <majorTickMark val="none"/>
        <minorTickMark val="none"/>
        <crossAx val="10"/>
      </valAx>
    </plotArea>
    <legend>
      <legendPos val="b"/>
      <legendEntry>
        <idx val="6"/>
        <delete val="1"/>
      </legendEntry>
      <legendEntry>
        <idx val="7"/>
        <delete val="1"/>
      </legendEntry>
      <layout>
        <manualLayout>
          <xMode val="edge"/>
          <yMode val="edge"/>
          <wMode val="factor"/>
          <hMode val="factor"/>
          <x val="0.1"/>
          <y val="0.93"/>
          <w val="0.8"/>
          <h val="0.06"/>
        </manualLayout>
      </layout>
      <overlay val="0"/>
      <txPr>
        <a:bodyPr/>
        <a:p>
          <a:pPr>
            <a:defRPr sz="1150" b="0" i="0">
              <a:solidFill>
                <a:srgbClr val="595959"/>
              </a:solidFill>
              <a:latin typeface="Aptos Narrow"/>
            </a:defRPr>
          </a:pPr>
          <a:r>
            <a:t/>
          </a:r>
          <a:endParaRPr sz="1150" b="0" i="0">
            <a:solidFill>
              <a:srgbClr val="595959"/>
            </a:solidFill>
            <a:latin typeface="Aptos Narrow"/>
          </a:endParaRPr>
        </a:p>
      </txPr>
    </legend>
    <plotVisOnly val="1"/>
    <dispBlanksAs val="gap"/>
  </chart>
  <spPr xmlns:a="http://schemas.openxmlformats.org/drawingml/2006/main">
    <a:ln>
      <a:noFill/>
    </a:ln>
  </spPr>
  <externalData xmlns:r="http://schemas.openxmlformats.org/officeDocument/2006/relationships" r:id="rId1">
    <autoUpdate val="0"/>
  </externalData>
</chartSpace>
</file>

<file path=ppt/charts/chart2.xml><?xml version="1.0" encoding="utf-8"?>
<chartSpace xmlns:a="http://schemas.openxmlformats.org/drawingml/2006/main" xmlns="http://schemas.openxmlformats.org/drawingml/2006/chart">
  <roundedCorners val="0"/>
  <chart>
    <autoTitleDeleted val="1"/>
    <plotArea>
      <layout>
        <manualLayout>
          <xMode val="edge"/>
          <yMode val="edge"/>
          <wMode val="factor"/>
          <hMode val="factor"/>
          <x val="0.055"/>
          <y val="0.05"/>
          <w val="0.93"/>
          <h val="0.78"/>
        </manualLayout>
      </layout>
      <barChart>
        <barDir val="col"/>
        <grouping val="stacked"/>
        <ser>
          <idx val="0"/>
          <order val="0"/>
          <tx>
            <v>Net at spec yield</v>
          </tx>
          <spPr>
            <a:solidFill>
              <a:srgbClr val="B3B3B3"/>
            </a:solidFill>
            <a:ln>
              <a:noFill/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Data'!$B$9:$F$9</f>
              <numCache>
                <formatCode>General</formatCode>
                <ptCount val="5"/>
                <pt idx="0">
                  <v>31732.9759753593</v>
                </pt>
                <pt idx="1">
                  <v>31732.9759753593</v>
                </pt>
                <pt idx="2">
                  <v>31732.9759753593</v>
                </pt>
                <pt idx="3">
                  <v>31732.9759753593</v>
                </pt>
                <pt idx="4">
                  <v>31732.9759753593</v>
                </pt>
              </numCache>
            </numRef>
          </val>
        </ser>
        <ser>
          <idx val="1"/>
          <order val="1"/>
          <tx>
            <v>Gross kill</v>
          </tx>
          <spPr>
            <a:solidFill>
              <a:srgbClr val="D9D9D9"/>
            </a:solidFill>
            <a:ln>
              <a:noFill/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Data'!$B$16:$F$16</f>
              <numCache>
                <formatCode>General</formatCode>
                <ptCount val="5"/>
                <pt idx="0">
                  <v>10257.0240246407</v>
                </pt>
                <pt idx="1">
                  <v>10257.0240246407</v>
                </pt>
                <pt idx="2">
                  <v>10257.0240246407</v>
                </pt>
                <pt idx="3">
                  <v>10257.0240246407</v>
                </pt>
                <pt idx="4">
                  <v>10257.0240246407</v>
                </pt>
              </numCache>
            </numRef>
          </val>
        </ser>
        <gapWidth val="50"/>
        <overlap val="100"/>
        <axId val="10"/>
        <axId val="100"/>
      </barChart>
      <barChart>
        <barDir val="col"/>
        <grouping val="stacked"/>
        <ser>
          <idx val="2"/>
          <order val="2"/>
          <tx>
            <strRef>
              <f>Sheet1!$D$16</f>
              <strCache>
                <ptCount val="1"/>
                <pt idx="0">
                  <v>Martins</v>
                </pt>
              </strCache>
            </strRef>
          </tx>
          <spPr>
            <a:solidFill>
              <a:srgbClr val="2A78D6"/>
            </a:solidFill>
            <a:ln w="15875">
              <a:solidFill>
                <a:srgbClr val="FFFFFF"/>
              </a:solidFill>
              <a:prstDash val="solid"/>
            </a:ln>
          </spPr>
          <dLbls>
            <dLbl>
              <idx val="0"/>
              <numFmt formatCode="#,##0"/>
              <dLblPos val="ctr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Data'!$B$10:$F$10</f>
              <numCache>
                <formatCode>General</formatCode>
                <ptCount val="5"/>
                <pt idx="0">
                  <v>17220.7857529863</v>
                </pt>
                <pt idx="1">
                  <v>17220.7857529863</v>
                </pt>
                <pt idx="2">
                  <v>17220.7857529863</v>
                </pt>
                <pt idx="3">
                  <v>17220.7857529863</v>
                </pt>
                <pt idx="4">
                  <v>17220.7857529863</v>
                </pt>
              </numCache>
            </numRef>
          </val>
        </ser>
        <ser>
          <idx val="3"/>
          <order val="3"/>
          <tx>
            <strRef>
              <f>Sheet1!$D$17</f>
              <strCache>
                <ptCount val="1"/>
                <pt idx="0">
                  <v>Nahunta</v>
                </pt>
              </strCache>
            </strRef>
          </tx>
          <spPr>
            <a:solidFill>
              <a:srgbClr val="EB6834"/>
            </a:solidFill>
            <a:ln w="15875">
              <a:solidFill>
                <a:srgbClr val="FFFFFF"/>
              </a:solidFill>
              <a:prstDash val="solid"/>
            </a:ln>
          </spPr>
          <val>
            <numRef>
              <f>'Chart Data'!$B$11:$F$11</f>
              <numCache>
                <formatCode>General</formatCode>
                <ptCount val="5"/>
                <pt idx="0">
                  <v>1239.89657421501</v>
                </pt>
                <pt idx="1">
                  <v>1239.89657421501</v>
                </pt>
                <pt idx="2">
                  <v>1239.89657421501</v>
                </pt>
                <pt idx="3">
                  <v>1239.89657421501</v>
                </pt>
                <pt idx="4">
                  <v>1239.89657421501</v>
                </pt>
              </numCache>
            </numRef>
          </val>
        </ser>
        <ser>
          <idx val="4"/>
          <order val="4"/>
          <tx>
            <strRef>
              <f>Sheet1!$D$18</f>
              <strCache>
                <ptCount val="1"/>
                <pt idx="0">
                  <v>Customs</v>
                </pt>
              </strCache>
            </strRef>
          </tx>
          <spPr>
            <a:solidFill>
              <a:srgbClr val="1BAF7A"/>
            </a:solidFill>
            <a:ln w="15875">
              <a:solidFill>
                <a:srgbClr val="FFFFFF"/>
              </a:solidFill>
              <a:prstDash val="solid"/>
            </a:ln>
          </spPr>
          <val>
            <numRef>
              <f>'Chart Data'!$B$12:$F$12</f>
              <numCache>
                <formatCode>General</formatCode>
                <ptCount val="5"/>
                <pt idx="0">
                  <v>1033.24714517918</v>
                </pt>
                <pt idx="1">
                  <v>1033.24714517918</v>
                </pt>
                <pt idx="2">
                  <v>1033.24714517918</v>
                </pt>
                <pt idx="3">
                  <v>1033.24714517918</v>
                </pt>
                <pt idx="4">
                  <v>1033.24714517918</v>
                </pt>
              </numCache>
            </numRef>
          </val>
        </ser>
        <ser>
          <idx val="5"/>
          <order val="5"/>
          <tx>
            <strRef>
              <f>Sheet1!$D$19</f>
              <strCache>
                <ptCount val="1"/>
                <pt idx="0">
                  <v>Parks</v>
                </pt>
              </strCache>
            </strRef>
          </tx>
          <spPr>
            <a:solidFill>
              <a:srgbClr val="EDA100"/>
            </a:solidFill>
            <a:ln w="15875">
              <a:solidFill>
                <a:srgbClr val="FFFFFF"/>
              </a:solidFill>
              <a:prstDash val="solid"/>
            </a:ln>
          </spPr>
          <val>
            <numRef>
              <f>'Chart Data'!$B$13:$F$13</f>
              <numCache>
                <formatCode>General</formatCode>
                <ptCount val="5"/>
                <pt idx="0">
                  <v>2396.61114142236</v>
                </pt>
                <pt idx="1">
                  <v>2396.61114142236</v>
                </pt>
                <pt idx="2">
                  <v>2396.61114142236</v>
                </pt>
                <pt idx="3">
                  <v>2396.61114142236</v>
                </pt>
                <pt idx="4">
                  <v>2396.61114142236</v>
                </pt>
              </numCache>
            </numRef>
          </val>
        </ser>
        <gapWidth val="200"/>
        <overlap val="100"/>
        <axId val="10"/>
        <axId val="200"/>
      </barChart>
      <lineChart>
        <grouping val="standard"/>
        <ser>
          <idx val="6"/>
          <order val="6"/>
          <tx>
            <v>Demand</v>
          </tx>
          <spPr>
            <a:ln w="19050" cap="rnd">
              <a:solidFill>
                <a:srgbClr val="0B0B0B"/>
              </a:solidFill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dLbl>
              <idx val="4"/>
              <numFmt formatCode="#,##0"/>
              <dLblPos val="t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Data'!$B$21:$F$21</f>
              <numCache>
                <formatCode>General</formatCode>
                <ptCount val="5"/>
                <pt idx="0">
                  <v>7305</v>
                </pt>
                <pt idx="1">
                  <v>7810</v>
                </pt>
                <pt idx="2">
                  <v>8225</v>
                </pt>
                <pt idx="3">
                  <v>8425</v>
                </pt>
                <pt idx="4">
                  <v>8434</v>
                </pt>
              </numCache>
            </numRef>
          </val>
          <smooth val="0"/>
        </ser>
        <ser>
          <idx val="7"/>
          <order val="7"/>
          <tx>
            <v>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Data'!$B$14:$F$14</f>
              <numCache>
                <formatCode>General</formatCode>
                <ptCount val="5"/>
                <pt idx="0">
                  <v>21890.5406138028</v>
                </pt>
                <pt idx="1">
                  <v>21890.5406138028</v>
                </pt>
                <pt idx="2">
                  <v>21890.5406138028</v>
                </pt>
                <pt idx="3">
                  <v>21890.5406138028</v>
                </pt>
                <pt idx="4">
                  <v>21890.5406138028</v>
                </pt>
              </numCache>
            </numRef>
          </val>
          <smooth val="0"/>
        </ser>
        <axId val="10"/>
        <axId val="200"/>
      </lineChart>
      <lineChart>
        <grouping val="standard"/>
        <ser>
          <idx val="8"/>
          <order val="8"/>
          <tx>
            <v>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Data'!$B$15:$F$15</f>
              <numCache>
                <formatCode>General</formatCode>
                <ptCount val="5"/>
                <pt idx="0">
                  <v>41990</v>
                </pt>
                <pt idx="1">
                  <v>41990</v>
                </pt>
                <pt idx="2">
                  <v>41990</v>
                </pt>
                <pt idx="3">
                  <v>41990</v>
                </pt>
                <pt idx="4">
                  <v>41990</v>
                </pt>
              </numCache>
            </numRef>
          </val>
          <smooth val="0"/>
        </ser>
        <axId val="10"/>
        <axId val="100"/>
      </lineChart>
      <catAx>
        <axId val="10"/>
        <scaling>
          <orientation val="minMax"/>
        </scaling>
        <delete val="0"/>
        <axPos val="l"/>
        <numFmt formatCode="@" sourceLinked="0"/>
        <majorTickMark val="none"/>
        <minorTickMark val="none"/>
        <tickLblPos val="nextTo"/>
        <spPr>
          <a:ln w="9525">
            <a:solidFill>
              <a:srgbClr val="BFBFBF"/>
            </a:solidFill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0"/>
        <lblOffset val="100"/>
      </catAx>
      <valAx>
        <axId val="100"/>
        <scaling>
          <orientation val="minMax"/>
          <max val="45000"/>
          <min val="0"/>
        </scaling>
        <delete val="0"/>
        <axPos val="l"/>
        <majorGridlines>
          <spPr>
            <a:ln w="9525">
              <a:solidFill>
                <a:srgbClr val="E7E7E7"/>
              </a:solidFill>
              <a:prstDash val="solid"/>
            </a:ln>
          </spPr>
        </majorGridlines>
        <numFmt formatCode="[=0]0;#,##0,&quot;K&quot;" sourceLinked="0"/>
        <majorTickMark val="none"/>
        <minorTickMark val="none"/>
        <tickLblPos val="nextTo"/>
        <spPr>
          <a:ln>
            <a:noFill/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"/>
        <majorUnit val="10000"/>
      </valAx>
      <valAx>
        <axId val="200"/>
        <scaling>
          <orientation val="minMax"/>
          <max val="45000"/>
          <min val="0"/>
        </scaling>
        <delete val="1"/>
        <axPos val="l"/>
        <numFmt formatCode="[=0]0;#,##0,&quot;K&quot;" sourceLinked="0"/>
        <majorTickMark val="none"/>
        <minorTickMark val="none"/>
        <crossAx val="10"/>
      </valAx>
    </plotArea>
    <legend>
      <legendPos val="b"/>
      <legendEntry>
        <idx val="7"/>
        <delete val="1"/>
      </legendEntry>
      <legendEntry>
        <idx val="8"/>
        <delete val="1"/>
      </legendEntry>
      <layout>
        <manualLayout>
          <xMode val="edge"/>
          <yMode val="edge"/>
          <wMode val="factor"/>
          <hMode val="factor"/>
          <x val="0.1"/>
          <y val="0.93"/>
          <w val="0.8"/>
          <h val="0.06"/>
        </manualLayout>
      </layout>
      <overlay val="0"/>
      <txPr>
        <a:bodyPr/>
        <a:p>
          <a:pPr>
            <a:defRPr sz="1150" b="0" i="0">
              <a:solidFill>
                <a:srgbClr val="595959"/>
              </a:solidFill>
              <a:latin typeface="Aptos Narrow"/>
            </a:defRPr>
          </a:pPr>
          <a:r>
            <a:t/>
          </a:r>
          <a:endParaRPr sz="1150" b="0" i="0">
            <a:solidFill>
              <a:srgbClr val="595959"/>
            </a:solidFill>
            <a:latin typeface="Aptos Narrow"/>
          </a:endParaRPr>
        </a:p>
      </txPr>
    </legend>
    <plotVisOnly val="1"/>
    <dispBlanksAs val="gap"/>
  </chart>
  <spPr xmlns:a="http://schemas.openxmlformats.org/drawingml/2006/main">
    <a:ln>
      <a:noFill/>
    </a:ln>
  </spPr>
  <externalData xmlns:r="http://schemas.openxmlformats.org/officeDocument/2006/relationships" r:id="rId1">
    <autoUpdate val="0"/>
  </externalData>
</chartSpace>
</file>

<file path=ppt/charts/chart3.xml><?xml version="1.0" encoding="utf-8"?>
<chartSpace xmlns:a="http://schemas.openxmlformats.org/drawingml/2006/main" xmlns="http://schemas.openxmlformats.org/drawingml/2006/chart">
  <roundedCorners val="0"/>
  <chart>
    <autoTitleDeleted val="1"/>
    <plotArea>
      <layout>
        <manualLayout>
          <xMode val="edge"/>
          <yMode val="edge"/>
          <wMode val="factor"/>
          <hMode val="factor"/>
          <x val="0.09"/>
          <y val="0.05"/>
          <w val="0.89"/>
          <h val="0.78"/>
        </manualLayout>
      </layout>
      <barChart>
        <barDir val="col"/>
        <grouping val="stacked"/>
        <ser>
          <idx val="0"/>
          <order val="0"/>
          <tx>
            <strRef>
              <f>Sheet1!$D$16</f>
              <strCache>
                <ptCount val="1"/>
                <pt idx="0">
                  <v>Martins</v>
                </pt>
              </strCache>
            </strRef>
          </tx>
          <spPr>
            <a:solidFill>
              <a:srgbClr val="2A78D6"/>
            </a:solidFill>
            <a:ln w="15875">
              <a:solidFill>
                <a:srgbClr val="FFFFFF"/>
              </a:solidFill>
              <a:prstDash val="solid"/>
            </a:ln>
          </spPr>
          <dLbls>
            <dLbl>
              <idx val="0"/>
              <numFmt formatCode="#,##0"/>
              <dLblPos val="ctr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30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30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Data'!$B$10:$F$10</f>
              <numCache>
                <formatCode>General</formatCode>
                <ptCount val="5"/>
                <pt idx="0">
                  <v>17220.7857529863</v>
                </pt>
                <pt idx="1">
                  <v>17220.7857529863</v>
                </pt>
                <pt idx="2">
                  <v>17220.7857529863</v>
                </pt>
                <pt idx="3">
                  <v>17220.7857529863</v>
                </pt>
                <pt idx="4">
                  <v>17220.7857529863</v>
                </pt>
              </numCache>
            </numRef>
          </val>
        </ser>
        <ser>
          <idx val="1"/>
          <order val="1"/>
          <tx>
            <strRef>
              <f>Sheet1!$D$17</f>
              <strCache>
                <ptCount val="1"/>
                <pt idx="0">
                  <v>Nahunta</v>
                </pt>
              </strCache>
            </strRef>
          </tx>
          <spPr>
            <a:solidFill>
              <a:srgbClr val="EB6834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Data'!$B$11:$F$11</f>
              <numCache>
                <formatCode>General</formatCode>
                <ptCount val="5"/>
                <pt idx="0">
                  <v>1239.89657421501</v>
                </pt>
                <pt idx="1">
                  <v>1239.89657421501</v>
                </pt>
                <pt idx="2">
                  <v>1239.89657421501</v>
                </pt>
                <pt idx="3">
                  <v>1239.89657421501</v>
                </pt>
                <pt idx="4">
                  <v>1239.89657421501</v>
                </pt>
              </numCache>
            </numRef>
          </val>
        </ser>
        <ser>
          <idx val="2"/>
          <order val="2"/>
          <tx>
            <strRef>
              <f>Sheet1!$D$18</f>
              <strCache>
                <ptCount val="1"/>
                <pt idx="0">
                  <v>Customs</v>
                </pt>
              </strCache>
            </strRef>
          </tx>
          <spPr>
            <a:solidFill>
              <a:srgbClr val="1BAF7A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Data'!$B$12:$F$12</f>
              <numCache>
                <formatCode>General</formatCode>
                <ptCount val="5"/>
                <pt idx="0">
                  <v>1033.24714517918</v>
                </pt>
                <pt idx="1">
                  <v>1033.24714517918</v>
                </pt>
                <pt idx="2">
                  <v>1033.24714517918</v>
                </pt>
                <pt idx="3">
                  <v>1033.24714517918</v>
                </pt>
                <pt idx="4">
                  <v>1033.24714517918</v>
                </pt>
              </numCache>
            </numRef>
          </val>
        </ser>
        <ser>
          <idx val="3"/>
          <order val="3"/>
          <tx>
            <strRef>
              <f>Sheet1!$D$19</f>
              <strCache>
                <ptCount val="1"/>
                <pt idx="0">
                  <v>Parks</v>
                </pt>
              </strCache>
            </strRef>
          </tx>
          <spPr>
            <a:solidFill>
              <a:srgbClr val="EDA100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Data'!$B$13:$F$13</f>
              <numCache>
                <formatCode>General</formatCode>
                <ptCount val="5"/>
                <pt idx="0">
                  <v>2396.61114142236</v>
                </pt>
                <pt idx="1">
                  <v>2396.61114142236</v>
                </pt>
                <pt idx="2">
                  <v>2396.61114142236</v>
                </pt>
                <pt idx="3">
                  <v>2396.61114142236</v>
                </pt>
                <pt idx="4">
                  <v>2396.61114142236</v>
                </pt>
              </numCache>
            </numRef>
          </val>
        </ser>
        <gapWidth val="120"/>
        <overlap val="100"/>
        <axId val="10"/>
        <axId val="100"/>
      </barChart>
      <lineChart>
        <grouping val="standard"/>
        <ser>
          <idx val="4"/>
          <order val="4"/>
          <tx>
            <v>Demand</v>
          </tx>
          <spPr>
            <a:ln w="19050" cap="rnd">
              <a:solidFill>
                <a:srgbClr val="0B0B0B"/>
              </a:solidFill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dLbl>
              <idx val="4"/>
              <numFmt formatCode="#,##0"/>
              <dLblPos val="t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2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250" b="1" i="0">
                  <a:solidFill>
                    <a:srgbClr val="FFFFFF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Data'!$B$21:$F$21</f>
              <numCache>
                <formatCode>General</formatCode>
                <ptCount val="5"/>
                <pt idx="0">
                  <v>7305</v>
                </pt>
                <pt idx="1">
                  <v>7810</v>
                </pt>
                <pt idx="2">
                  <v>8225</v>
                </pt>
                <pt idx="3">
                  <v>8425</v>
                </pt>
                <pt idx="4">
                  <v>8434</v>
                </pt>
              </numCache>
            </numRef>
          </val>
          <smooth val="0"/>
        </ser>
        <ser>
          <idx val="5"/>
          <order val="5"/>
          <tx>
            <v>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1" i="0">
                    <a:solidFill>
                      <a:srgbClr val="0B0B0B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0B0B0B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Data'!$B$14:$F$14</f>
              <numCache>
                <formatCode>General</formatCode>
                <ptCount val="5"/>
                <pt idx="0">
                  <v>21890.5406138028</v>
                </pt>
                <pt idx="1">
                  <v>21890.5406138028</v>
                </pt>
                <pt idx="2">
                  <v>21890.5406138028</v>
                </pt>
                <pt idx="3">
                  <v>21890.5406138028</v>
                </pt>
                <pt idx="4">
                  <v>21890.5406138028</v>
                </pt>
              </numCache>
            </numRef>
          </val>
          <smooth val="0"/>
        </ser>
        <axId val="10"/>
        <axId val="100"/>
      </lineChart>
      <catAx>
        <axId val="10"/>
        <scaling>
          <orientation val="minMax"/>
        </scaling>
        <delete val="0"/>
        <axPos val="l"/>
        <numFmt formatCode="@" sourceLinked="0"/>
        <majorTickMark val="none"/>
        <minorTickMark val="none"/>
        <tickLblPos val="nextTo"/>
        <spPr>
          <a:ln w="9525">
            <a:solidFill>
              <a:srgbClr val="BFBFBF"/>
            </a:solidFill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0"/>
        <lblOffset val="100"/>
      </catAx>
      <valAx>
        <axId val="100"/>
        <scaling>
          <orientation val="minMax"/>
          <max val="25000"/>
          <min val="0"/>
        </scaling>
        <delete val="0"/>
        <axPos val="l"/>
        <majorGridlines>
          <spPr>
            <a:ln w="9525">
              <a:solidFill>
                <a:srgbClr val="E7E7E7"/>
              </a:solidFill>
              <a:prstDash val="solid"/>
            </a:ln>
          </spPr>
        </majorGridlines>
        <numFmt formatCode="[=0]0;#,##0,&quot;K&quot;" sourceLinked="0"/>
        <majorTickMark val="none"/>
        <minorTickMark val="none"/>
        <tickLblPos val="nextTo"/>
        <spPr>
          <a:ln>
            <a:noFill/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"/>
        <majorUnit val="5000"/>
      </valAx>
    </plotArea>
    <legend>
      <legendPos val="b"/>
      <legendEntry>
        <idx val="5"/>
        <delete val="1"/>
      </legendEntry>
      <overlay val="0"/>
      <txPr>
        <a:bodyPr/>
        <a:p>
          <a:pPr>
            <a:defRPr sz="1150" b="0" i="0">
              <a:solidFill>
                <a:srgbClr val="595959"/>
              </a:solidFill>
              <a:latin typeface="Aptos Narrow"/>
            </a:defRPr>
          </a:pPr>
          <a:r>
            <a:t/>
          </a:r>
          <a:endParaRPr sz="1150" b="0" i="0">
            <a:solidFill>
              <a:srgbClr val="595959"/>
            </a:solidFill>
            <a:latin typeface="Aptos Narrow"/>
          </a:endParaRPr>
        </a:p>
      </txPr>
    </legend>
    <plotVisOnly val="1"/>
    <dispBlanksAs val="gap"/>
  </chart>
  <spPr xmlns:a="http://schemas.openxmlformats.org/drawingml/2006/main">
    <a:ln>
      <a:noFill/>
    </a:ln>
  </spPr>
  <externalData xmlns:r="http://schemas.openxmlformats.org/officeDocument/2006/relationships" r:id="rId1">
    <autoUpdate val="0"/>
  </externalData>
</chartSpace>
</file>

<file path=ppt/charts/chart4.xml><?xml version="1.0" encoding="utf-8"?>
<chartSpace xmlns:a="http://schemas.openxmlformats.org/drawingml/2006/main" xmlns="http://schemas.openxmlformats.org/drawingml/2006/chart">
  <roundedCorners val="0"/>
  <chart>
    <autoTitleDeleted val="1"/>
    <plotArea>
      <layout>
        <manualLayout>
          <xMode val="edge"/>
          <yMode val="edge"/>
          <wMode val="factor"/>
          <hMode val="factor"/>
          <x val="0.055"/>
          <y val="0.05"/>
          <w val="0.93"/>
          <h val="0.78"/>
        </manualLayout>
      </layout>
      <barChart>
        <barDir val="col"/>
        <grouping val="stacked"/>
        <ser>
          <idx val="0"/>
          <order val="0"/>
          <tx>
            <strRef>
              <f>Sheet1!$D$16</f>
              <strCache>
                <ptCount val="1"/>
                <pt idx="0">
                  <v>Martins</v>
                </pt>
              </strCache>
            </strRef>
          </tx>
          <spPr>
            <a:solidFill>
              <a:srgbClr val="2A78D6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Data'!$I$4:$L$4</f>
              <strCache>
                <ptCount val="4"/>
                <pt idx="0">
                  <v>Gross kill
41,990</v>
                </pt>
                <pt idx="1">
                  <v>After spec yield
31,733  (-24%)</v>
                </pt>
                <pt idx="2">
                  <v>After harvest yield
21,891  (-31%)</v>
                </pt>
                <pt idx="3">
                  <v>Peak demand Q4'27
8,434</v>
                </pt>
              </strCache>
            </strRef>
          </cat>
          <val>
            <numRef>
              <f>'Chart Data'!$I$5:$L$5</f>
              <numCache>
                <formatCode>General</formatCode>
                <ptCount val="4"/>
                <pt idx="0">
                  <v>32500</v>
                </pt>
                <pt idx="1">
                  <v>24963.6036960986</v>
                </pt>
                <pt idx="2">
                  <v>17220.7857529863</v>
                </pt>
              </numCache>
            </numRef>
          </val>
        </ser>
        <ser>
          <idx val="1"/>
          <order val="1"/>
          <tx>
            <strRef>
              <f>Sheet1!$D$17</f>
              <strCache>
                <ptCount val="1"/>
                <pt idx="0">
                  <v>Nahunta</v>
                </pt>
              </strCache>
            </strRef>
          </tx>
          <spPr>
            <a:solidFill>
              <a:srgbClr val="EB6834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Data'!$I$4:$L$4</f>
              <strCache>
                <ptCount val="4"/>
                <pt idx="0">
                  <v>Gross kill
41,990</v>
                </pt>
                <pt idx="1">
                  <v>After spec yield
31,733  (-24%)</v>
                </pt>
                <pt idx="2">
                  <v>After harvest yield
21,891  (-31%)</v>
                </pt>
                <pt idx="3">
                  <v>Peak demand Q4'27
8,434</v>
                </pt>
              </strCache>
            </strRef>
          </cat>
          <val>
            <numRef>
              <f>'Chart Data'!$I$6:$L$6</f>
              <numCache>
                <formatCode>General</formatCode>
                <ptCount val="4"/>
                <pt idx="0">
                  <v>2340</v>
                </pt>
                <pt idx="1">
                  <v>1797.3794661191</v>
                </pt>
                <pt idx="2">
                  <v>1239.89657421501</v>
                </pt>
              </numCache>
            </numRef>
          </val>
        </ser>
        <ser>
          <idx val="2"/>
          <order val="2"/>
          <tx>
            <strRef>
              <f>Sheet1!$D$18</f>
              <strCache>
                <ptCount val="1"/>
                <pt idx="0">
                  <v>Customs</v>
                </pt>
              </strCache>
            </strRef>
          </tx>
          <spPr>
            <a:solidFill>
              <a:srgbClr val="1BAF7A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Data'!$I$4:$L$4</f>
              <strCache>
                <ptCount val="4"/>
                <pt idx="0">
                  <v>Gross kill
41,990</v>
                </pt>
                <pt idx="1">
                  <v>After spec yield
31,733  (-24%)</v>
                </pt>
                <pt idx="2">
                  <v>After harvest yield
21,891  (-31%)</v>
                </pt>
                <pt idx="3">
                  <v>Peak demand Q4'27
8,434</v>
                </pt>
              </strCache>
            </strRef>
          </cat>
          <val>
            <numRef>
              <f>'Chart Data'!$I$7:$L$7</f>
              <numCache>
                <formatCode>General</formatCode>
                <ptCount val="4"/>
                <pt idx="0">
                  <v>1950</v>
                </pt>
                <pt idx="1">
                  <v>1497.81622176591</v>
                </pt>
                <pt idx="2">
                  <v>1033.24714517918</v>
                </pt>
              </numCache>
            </numRef>
          </val>
        </ser>
        <ser>
          <idx val="3"/>
          <order val="3"/>
          <tx>
            <strRef>
              <f>Sheet1!$D$19</f>
              <strCache>
                <ptCount val="1"/>
                <pt idx="0">
                  <v>Parks</v>
                </pt>
              </strCache>
            </strRef>
          </tx>
          <spPr>
            <a:solidFill>
              <a:srgbClr val="EDA100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Data'!$I$4:$L$4</f>
              <strCache>
                <ptCount val="4"/>
                <pt idx="0">
                  <v>Gross kill
41,990</v>
                </pt>
                <pt idx="1">
                  <v>After spec yield
31,733  (-24%)</v>
                </pt>
                <pt idx="2">
                  <v>After harvest yield
21,891  (-31%)</v>
                </pt>
                <pt idx="3">
                  <v>Peak demand Q4'27
8,434</v>
                </pt>
              </strCache>
            </strRef>
          </cat>
          <val>
            <numRef>
              <f>'Chart Data'!$I$8:$L$8</f>
              <numCache>
                <formatCode>General</formatCode>
                <ptCount val="4"/>
                <pt idx="0">
                  <v>5200</v>
                </pt>
                <pt idx="1">
                  <v>3474.17659137577</v>
                </pt>
                <pt idx="2">
                  <v>2396.61114142236</v>
                </pt>
              </numCache>
            </numRef>
          </val>
        </ser>
        <ser>
          <idx val="4"/>
          <order val="4"/>
          <tx>
            <strRef>
              <f>'Chart Data'!$H$9</f>
              <strCache>
                <ptCount val="1"/>
                <pt idx="0">
                  <v>Tissue demand</v>
                </pt>
              </strCache>
            </strRef>
          </tx>
          <spPr>
            <a:solidFill>
              <a:srgbClr val="0B0B0B"/>
            </a:solidFill>
            <a:ln w="15875">
              <a:solidFill>
                <a:srgbClr val="FFFFFF"/>
              </a:solidFill>
              <a:prstDash val="solid"/>
            </a:ln>
          </spPr>
          <dLbls>
            <numFmt formatCode="#,##0"/>
            <txPr>
              <a:bodyPr/>
              <a:p>
                <a:pPr>
                  <a:defRPr sz="1150" b="1" i="0">
                    <a:solidFill>
                      <a:srgbClr val="FFFFFF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FFFFFF"/>
                  </a:solidFill>
                  <a:latin typeface="Aptos Narrow"/>
                </a:endParaRPr>
              </a:p>
            </txPr>
            <dLblPos val="ctr"/>
            <showLegendKey val="0"/>
            <showVal val="1"/>
            <showCatName val="0"/>
            <showSerName val="0"/>
            <showPercent val="0"/>
            <showBubbleSize val="0"/>
          </dLbls>
          <cat>
            <strRef>
              <f>'Chart Data'!$I$4:$L$4</f>
              <strCache>
                <ptCount val="4"/>
                <pt idx="0">
                  <v>Gross kill
41,990</v>
                </pt>
                <pt idx="1">
                  <v>After spec yield
31,733  (-24%)</v>
                </pt>
                <pt idx="2">
                  <v>After harvest yield
21,891  (-31%)</v>
                </pt>
                <pt idx="3">
                  <v>Peak demand Q4'27
8,434</v>
                </pt>
              </strCache>
            </strRef>
          </cat>
          <val>
            <numRef>
              <f>'Chart Data'!$I$9:$L$9</f>
              <numCache>
                <formatCode>General</formatCode>
                <ptCount val="4"/>
                <pt idx="3">
                  <v>8434</v>
                </pt>
              </numCache>
            </numRef>
          </val>
        </ser>
        <gapWidth val="120"/>
        <overlap val="100"/>
        <axId val="10"/>
        <axId val="100"/>
      </barChart>
      <catAx>
        <axId val="10"/>
        <scaling>
          <orientation val="minMax"/>
        </scaling>
        <delete val="0"/>
        <axPos val="l"/>
        <numFmt formatCode="@" sourceLinked="0"/>
        <majorTickMark val="none"/>
        <minorTickMark val="none"/>
        <tickLblPos val="nextTo"/>
        <spPr>
          <a:ln w="9525">
            <a:solidFill>
              <a:srgbClr val="BFBFBF"/>
            </a:solidFill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0"/>
        <lblOffset val="100"/>
      </catAx>
      <valAx>
        <axId val="100"/>
        <scaling>
          <orientation val="minMax"/>
          <max val="45000"/>
          <min val="0"/>
        </scaling>
        <delete val="0"/>
        <axPos val="l"/>
        <majorGridlines>
          <spPr>
            <a:ln w="9525">
              <a:solidFill>
                <a:srgbClr val="E7E7E7"/>
              </a:solidFill>
              <a:prstDash val="solid"/>
            </a:ln>
          </spPr>
        </majorGridlines>
        <numFmt formatCode="[=0]0;#,##0,&quot;K&quot;" sourceLinked="0"/>
        <majorTickMark val="none"/>
        <minorTickMark val="none"/>
        <tickLblPos val="nextTo"/>
        <spPr>
          <a:ln>
            <a:noFill/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"/>
        <majorUnit val="10000"/>
      </valAx>
    </plotArea>
    <legend>
      <legendPos val="b"/>
      <overlay val="0"/>
      <txPr>
        <a:bodyPr/>
        <a:p>
          <a:pPr>
            <a:defRPr sz="1150" b="0" i="0">
              <a:solidFill>
                <a:srgbClr val="595959"/>
              </a:solidFill>
              <a:latin typeface="Aptos Narrow"/>
            </a:defRPr>
          </a:pPr>
          <a:r>
            <a:t/>
          </a:r>
          <a:endParaRPr sz="1150" b="0" i="0">
            <a:solidFill>
              <a:srgbClr val="595959"/>
            </a:solidFill>
            <a:latin typeface="Aptos Narrow"/>
          </a:endParaRPr>
        </a:p>
      </txPr>
    </legend>
    <plotVisOnly val="1"/>
    <dispBlanksAs val="gap"/>
  </chart>
  <spPr xmlns:a="http://schemas.openxmlformats.org/drawingml/2006/main">
    <a:ln>
      <a:noFill/>
    </a:ln>
  </spPr>
  <externalData xmlns:r="http://schemas.openxmlformats.org/officeDocument/2006/relationships" r:id="rId1">
    <autoUpdate val="0"/>
  </externalData>
</chartSpace>
</file>

<file path=ppt/charts/chart5.xml><?xml version="1.0" encoding="utf-8"?>
<chartSpace xmlns:a="http://schemas.openxmlformats.org/drawingml/2006/main" xmlns="http://schemas.openxmlformats.org/drawingml/2006/chart">
  <roundedCorners val="0"/>
  <chart>
    <autoTitleDeleted val="1"/>
    <plotArea>
      <layout>
        <manualLayout>
          <xMode val="edge"/>
          <yMode val="edge"/>
          <wMode val="factor"/>
          <hMode val="factor"/>
          <x val="0.055"/>
          <y val="0.05"/>
          <w val="0.93"/>
          <h val="0.78"/>
        </manualLayout>
      </layout>
      <barChart>
        <barDir val="col"/>
        <grouping val="stacked"/>
        <ser>
          <idx val="0"/>
          <order val="0"/>
          <tx>
            <strRef>
              <f>Sheet1!$K$10</f>
              <strCache>
                <ptCount val="1"/>
                <pt idx="0">
                  <v>Part 666501</v>
                </pt>
              </strCache>
            </strRef>
          </tx>
          <spPr>
            <a:solidFill>
              <a:srgbClr val="E87BA4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Data'!$B$17:$F$17</f>
              <numCache>
                <formatCode>General</formatCode>
                <ptCount val="5"/>
                <pt idx="0">
                  <v>2970</v>
                </pt>
                <pt idx="1">
                  <v>3150</v>
                </pt>
                <pt idx="2">
                  <v>3320</v>
                </pt>
                <pt idx="3">
                  <v>3420</v>
                </pt>
                <pt idx="4">
                  <v>3446</v>
                </pt>
              </numCache>
            </numRef>
          </val>
        </ser>
        <ser>
          <idx val="1"/>
          <order val="1"/>
          <tx>
            <strRef>
              <f>Sheet1!$K$11</f>
              <strCache>
                <ptCount val="1"/>
                <pt idx="0">
                  <v>Part 666502</v>
                </pt>
              </strCache>
            </strRef>
          </tx>
          <spPr>
            <a:solidFill>
              <a:srgbClr val="008300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Data'!$B$18:$F$18</f>
              <numCache>
                <formatCode>General</formatCode>
                <ptCount val="5"/>
                <pt idx="0">
                  <v>1800</v>
                </pt>
                <pt idx="1">
                  <v>1950</v>
                </pt>
                <pt idx="2">
                  <v>2050</v>
                </pt>
                <pt idx="3">
                  <v>2075</v>
                </pt>
                <pt idx="4">
                  <v>2050</v>
                </pt>
              </numCache>
            </numRef>
          </val>
        </ser>
        <ser>
          <idx val="2"/>
          <order val="2"/>
          <tx>
            <strRef>
              <f>Sheet1!$K$12</f>
              <strCache>
                <ptCount val="1"/>
                <pt idx="0">
                  <v>Part 666506</v>
                </pt>
              </strCache>
            </strRef>
          </tx>
          <spPr>
            <a:solidFill>
              <a:srgbClr val="4A3AA7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Data'!$B$19:$F$19</f>
              <numCache>
                <formatCode>General</formatCode>
                <ptCount val="5"/>
                <pt idx="0">
                  <v>735</v>
                </pt>
                <pt idx="1">
                  <v>760</v>
                </pt>
                <pt idx="2">
                  <v>805</v>
                </pt>
                <pt idx="3">
                  <v>855</v>
                </pt>
                <pt idx="4">
                  <v>888</v>
                </pt>
              </numCache>
            </numRef>
          </val>
        </ser>
        <ser>
          <idx val="3"/>
          <order val="3"/>
          <tx>
            <strRef>
              <f>Sheet1!$K$13</f>
              <strCache>
                <ptCount val="1"/>
                <pt idx="0">
                  <v>Part 666541</v>
                </pt>
              </strCache>
            </strRef>
          </tx>
          <spPr>
            <a:solidFill>
              <a:srgbClr val="E34948"/>
            </a:solidFill>
            <a:ln w="15875">
              <a:solidFill>
                <a:srgbClr val="FFFFFF"/>
              </a:solidFill>
              <a:prstDash val="solid"/>
            </a:ln>
          </spPr>
          <cat>
            <strRef>
              <f>'Chart Data'!$B$4:$F$4</f>
              <strCache>
                <ptCount val="5"/>
                <pt idx="0">
                  <v>Q4'26</v>
                </pt>
                <pt idx="1">
                  <v>Q1'27</v>
                </pt>
                <pt idx="2">
                  <v>Q2'27</v>
                </pt>
                <pt idx="3">
                  <v>Q3'27</v>
                </pt>
                <pt idx="4">
                  <v>Q4'27</v>
                </pt>
              </strCache>
            </strRef>
          </cat>
          <val>
            <numRef>
              <f>'Chart Data'!$B$20:$F$20</f>
              <numCache>
                <formatCode>General</formatCode>
                <ptCount val="5"/>
                <pt idx="0">
                  <v>1800</v>
                </pt>
                <pt idx="1">
                  <v>1950</v>
                </pt>
                <pt idx="2">
                  <v>2050</v>
                </pt>
                <pt idx="3">
                  <v>2075</v>
                </pt>
                <pt idx="4">
                  <v>2050</v>
                </pt>
              </numCache>
            </numRef>
          </val>
        </ser>
        <gapWidth val="100"/>
        <overlap val="100"/>
        <axId val="10"/>
        <axId val="100"/>
      </barChart>
      <lineChart>
        <grouping val="standard"/>
        <ser>
          <idx val="4"/>
          <order val="4"/>
          <tx>
            <v>Net harvested capacity</v>
          </tx>
          <spPr>
            <a:ln w="19050" cap="rnd">
              <a:solidFill>
                <a:srgbClr val="999999"/>
              </a:solidFill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dLbl>
              <idx val="4"/>
              <numFmt formatCode="#,##0"/>
              <dLblPos val="t"/>
              <showLegendKey val="0"/>
              <showVal val="1"/>
              <showCatName val="0"/>
              <showSerName val="0"/>
              <showPercent val="0"/>
              <showBubbleSize val="0"/>
            </dLbl>
            <numFmt formatCode="#,##0"/>
            <txPr>
              <a:bodyPr/>
              <a:p>
                <a:pPr>
                  <a:defRPr sz="1150" b="1" i="0">
                    <a:solidFill>
                      <a:srgbClr val="595959"/>
                    </a:solidFill>
                    <a:latin typeface="Aptos Narrow"/>
                  </a:defRPr>
                </a:pPr>
                <a:r>
                  <a:t/>
                </a:r>
                <a:endParaRPr sz="1150" b="1" i="0">
                  <a:solidFill>
                    <a:srgbClr val="595959"/>
                  </a:solidFill>
                  <a:latin typeface="Aptos Narrow"/>
                </a:endParaRPr>
              </a:p>
            </txPr>
            <showLegendKey val="0"/>
            <showVal val="0"/>
            <showCatName val="0"/>
            <showSerName val="0"/>
            <showPercent val="0"/>
            <showBubbleSize val="0"/>
          </dLbls>
          <val>
            <numRef>
              <f>'Chart Data'!$B$14:$F$14</f>
              <numCache>
                <formatCode>General</formatCode>
                <ptCount val="5"/>
                <pt idx="0">
                  <v>21890.5406138028</v>
                </pt>
                <pt idx="1">
                  <v>21890.5406138028</v>
                </pt>
                <pt idx="2">
                  <v>21890.5406138028</v>
                </pt>
                <pt idx="3">
                  <v>21890.5406138028</v>
                </pt>
                <pt idx="4">
                  <v>21890.5406138028</v>
                </pt>
              </numCache>
            </numRef>
          </val>
          <smooth val="0"/>
        </ser>
        <ser>
          <idx val="5"/>
          <order val="5"/>
          <tx>
            <v>Demand total</v>
          </tx>
          <spPr>
            <a:ln>
              <a:noFill/>
              <a:prstDash val="solid"/>
            </a:ln>
          </spPr>
          <marker>
            <symbol val="none"/>
            <spPr>
              <a:ln>
                <a:prstDash val="solid"/>
              </a:ln>
            </spPr>
          </marker>
          <dLbls>
            <numFmt formatCode="#,##0"/>
            <txPr>
              <a:bodyPr/>
              <a:p>
                <a:pPr>
                  <a:defRPr sz="1150" b="0" i="0">
                    <a:solidFill>
                      <a:srgbClr val="404040"/>
                    </a:solidFill>
                    <a:latin typeface="Aptos Narrow"/>
                  </a:defRPr>
                </a:pPr>
                <a:r>
                  <a:t/>
                </a:r>
                <a:endParaRPr sz="1150" b="0" i="0">
                  <a:solidFill>
                    <a:srgbClr val="404040"/>
                  </a:solidFill>
                  <a:latin typeface="Aptos Narrow"/>
                </a:endParaRPr>
              </a:p>
            </txPr>
            <dLblPos val="t"/>
            <showLegendKey val="0"/>
            <showVal val="1"/>
            <showCatName val="0"/>
            <showSerName val="0"/>
            <showPercent val="0"/>
            <showBubbleSize val="0"/>
          </dLbls>
          <val>
            <numRef>
              <f>'Chart Data'!$B$21:$F$21</f>
              <numCache>
                <formatCode>General</formatCode>
                <ptCount val="5"/>
                <pt idx="0">
                  <v>7305</v>
                </pt>
                <pt idx="1">
                  <v>7810</v>
                </pt>
                <pt idx="2">
                  <v>8225</v>
                </pt>
                <pt idx="3">
                  <v>8425</v>
                </pt>
                <pt idx="4">
                  <v>8434</v>
                </pt>
              </numCache>
            </numRef>
          </val>
          <smooth val="0"/>
        </ser>
        <axId val="10"/>
        <axId val="100"/>
      </lineChart>
      <catAx>
        <axId val="10"/>
        <scaling>
          <orientation val="minMax"/>
        </scaling>
        <delete val="0"/>
        <axPos val="l"/>
        <numFmt formatCode="@" sourceLinked="0"/>
        <majorTickMark val="none"/>
        <minorTickMark val="none"/>
        <tickLblPos val="nextTo"/>
        <spPr>
          <a:ln w="9525">
            <a:solidFill>
              <a:srgbClr val="BFBFBF"/>
            </a:solidFill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0"/>
        <lblOffset val="100"/>
      </catAx>
      <valAx>
        <axId val="100"/>
        <scaling>
          <orientation val="minMax"/>
          <max val="24000"/>
          <min val="0"/>
        </scaling>
        <delete val="0"/>
        <axPos val="l"/>
        <majorGridlines>
          <spPr>
            <a:ln w="9525">
              <a:solidFill>
                <a:srgbClr val="E7E7E7"/>
              </a:solidFill>
              <a:prstDash val="solid"/>
            </a:ln>
          </spPr>
        </majorGridlines>
        <numFmt formatCode="[=0]0;#,##0,&quot;K&quot;" sourceLinked="0"/>
        <majorTickMark val="none"/>
        <minorTickMark val="none"/>
        <tickLblPos val="nextTo"/>
        <spPr>
          <a:ln>
            <a:noFill/>
            <a:prstDash val="solid"/>
          </a:ln>
        </spPr>
        <txPr>
          <a:bodyPr/>
          <a:p>
            <a:pPr>
              <a:defRPr sz="1150" b="0" i="0">
                <a:solidFill>
                  <a:srgbClr val="595959"/>
                </a:solidFill>
                <a:latin typeface="Aptos Narrow"/>
              </a:defRPr>
            </a:pPr>
            <a:r>
              <a:t/>
            </a:r>
            <a:endParaRPr sz="1150" b="0" i="0">
              <a:solidFill>
                <a:srgbClr val="595959"/>
              </a:solidFill>
              <a:latin typeface="Aptos Narrow"/>
            </a:endParaRPr>
          </a:p>
        </txPr>
        <crossAx val="10"/>
        <majorUnit val="4000"/>
      </valAx>
    </plotArea>
    <legend>
      <legendPos val="b"/>
      <legendEntry>
        <idx val="5"/>
        <delete val="1"/>
      </legendEntry>
      <overlay val="0"/>
      <txPr>
        <a:bodyPr/>
        <a:p>
          <a:pPr>
            <a:defRPr sz="1150" b="0" i="0">
              <a:solidFill>
                <a:srgbClr val="595959"/>
              </a:solidFill>
              <a:latin typeface="Aptos Narrow"/>
            </a:defRPr>
          </a:pPr>
          <a:r>
            <a:t/>
          </a:r>
          <a:endParaRPr sz="1150" b="0" i="0">
            <a:solidFill>
              <a:srgbClr val="595959"/>
            </a:solidFill>
            <a:latin typeface="Aptos Narrow"/>
          </a:endParaRPr>
        </a:p>
      </txPr>
    </legend>
    <plotVisOnly val="1"/>
    <dispBlanksAs val="gap"/>
  </chart>
  <spPr xmlns:a="http://schemas.openxmlformats.org/drawingml/2006/main">
    <a:ln>
      <a:noFill/>
    </a:ln>
  </spPr>
  <externalData xmlns:r="http://schemas.openxmlformats.org/officeDocument/2006/relationships" r:id="rId1">
    <autoUpdate val="0"/>
  </externalData>
</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FA8EA"/>
                </a:solidFill>
                <a:latin typeface="Aptos Narrow"/>
              </a:rPr>
              <a:t>PVA SECOND SUPPLIER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Narrow"/>
              </a:rPr>
              <a:t>Pig tissue supply vs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9C9C9"/>
                </a:solidFill>
                <a:latin typeface="Aptos Narrow"/>
              </a:rPr>
              <a:t>Slaughterhouse capacity against tissue demand, Q4'26–Q4'27 — all figures in pigs per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Narrow"/>
              </a:rPr>
              <a:t>41,990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C9C9"/>
                </a:solidFill>
                <a:latin typeface="Aptos Narrow"/>
              </a:rPr>
              <a:t>gross kill / quarter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4160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Narrow"/>
              </a:rPr>
              <a:t>21,891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C9C9"/>
                </a:solidFill>
                <a:latin typeface="Aptos Narrow"/>
              </a:rPr>
              <a:t>net harvested /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Narrow"/>
              </a:rPr>
              <a:t>8,434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C9C9"/>
                </a:solidFill>
                <a:latin typeface="Aptos Narrow"/>
              </a:rPr>
              <a:t>peak demand (Q4'27)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1605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Narrow"/>
              </a:rPr>
              <a:t>2.6x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754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9C9C9"/>
                </a:solidFill>
                <a:latin typeface="Aptos Narrow"/>
              </a:rPr>
              <a:t>coverage at peak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Aptos Narrow"/>
              </a:rPr>
              <a:t>Net supply at spec yield vs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ptos Narrow"/>
              </a:rPr>
              <a:t>Spec-passed supply of 31,733 pigs per quarter covers peak demand about 3.8x — the gray band marks the 41,990 gross kill.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4048" y="1298448"/>
          <a:ext cx="11430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Aptos Narrow"/>
              </a:rPr>
              <a:t>Net harvested supply vs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ptos Narrow"/>
              </a:rPr>
              <a:t>After harvest yield, 21,891 pigs per quarter still cover peak demand 2.6x — gray bands mark spec-passed (31,733) and gross kill (41,990).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4048" y="1298448"/>
          <a:ext cx="11430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Aptos Narrow"/>
              </a:rPr>
              <a:t>Demand vs net harvested capacity (detail)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ptos Narrow"/>
              </a:rPr>
              <a:t>Demand rises 7,305 to 8,434 while net harvested capacity holds at 21,891 — a 2.6x cushion at peak.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4048" y="1298448"/>
          <a:ext cx="11430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Aptos Narrow"/>
              </a:rPr>
              <a:t>Capacity funnel: gross kill to net harvested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ptos Narrow"/>
              </a:rPr>
              <a:t>Each yield step shrinks supply: 41,990 gross, 31,733 after spec (-24%), 21,891 after harvest (-31%), against 8,434 peak demand.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4048" y="1298448"/>
          <a:ext cx="11430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Aptos Narrow"/>
              </a:rPr>
              <a:t>Tissue demand by part vs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ptos Narrow"/>
              </a:rPr>
              <a:t>Demand mix by tissue part number — every quarter's total sits far below the 21,891-pig net capacity line.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84048" y="1298448"/>
          <a:ext cx="1143000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