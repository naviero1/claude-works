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4" d="100"/>
          <a:sy n="104" d="100"/>
        </p:scale>
        <p:origin x="114" y="2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Pelvic Attainment (506+541)</c:v>
                </c:pt>
              </c:strCache>
            </c:strRef>
          </c:tx>
          <c:spPr>
            <a:ln w="31750" cap="flat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Sheet1!$A$2:$A$26</c:f>
              <c:strCache>
                <c:ptCount val="25"/>
                <c:pt idx="0">
                  <c:v>12/29</c:v>
                </c:pt>
                <c:pt idx="1">
                  <c:v>01/05</c:v>
                </c:pt>
                <c:pt idx="2">
                  <c:v>01/12</c:v>
                </c:pt>
                <c:pt idx="3">
                  <c:v>01/19</c:v>
                </c:pt>
                <c:pt idx="4">
                  <c:v>01/26</c:v>
                </c:pt>
                <c:pt idx="5">
                  <c:v>02/02</c:v>
                </c:pt>
                <c:pt idx="6">
                  <c:v>02/09</c:v>
                </c:pt>
                <c:pt idx="7">
                  <c:v>02/16</c:v>
                </c:pt>
                <c:pt idx="8">
                  <c:v>02/23</c:v>
                </c:pt>
                <c:pt idx="9">
                  <c:v>03/02</c:v>
                </c:pt>
                <c:pt idx="10">
                  <c:v>03/09</c:v>
                </c:pt>
                <c:pt idx="11">
                  <c:v>03/16</c:v>
                </c:pt>
                <c:pt idx="12">
                  <c:v>03/23</c:v>
                </c:pt>
                <c:pt idx="13">
                  <c:v>03/30</c:v>
                </c:pt>
                <c:pt idx="14">
                  <c:v>04/06</c:v>
                </c:pt>
                <c:pt idx="15">
                  <c:v>04/13</c:v>
                </c:pt>
                <c:pt idx="16">
                  <c:v>04/20</c:v>
                </c:pt>
                <c:pt idx="17">
                  <c:v>04/27</c:v>
                </c:pt>
                <c:pt idx="18">
                  <c:v>05/04</c:v>
                </c:pt>
                <c:pt idx="19">
                  <c:v>05/11</c:v>
                </c:pt>
                <c:pt idx="20">
                  <c:v>05/18</c:v>
                </c:pt>
                <c:pt idx="21">
                  <c:v>05/25</c:v>
                </c:pt>
                <c:pt idx="22">
                  <c:v>06/01</c:v>
                </c:pt>
                <c:pt idx="23">
                  <c:v>06/08</c:v>
                </c:pt>
                <c:pt idx="24">
                  <c:v>06/15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60.3</c:v>
                </c:pt>
                <c:pt idx="1">
                  <c:v>91.4</c:v>
                </c:pt>
                <c:pt idx="2">
                  <c:v>57.2</c:v>
                </c:pt>
                <c:pt idx="3">
                  <c:v>51</c:v>
                </c:pt>
                <c:pt idx="4">
                  <c:v>60.7</c:v>
                </c:pt>
                <c:pt idx="5">
                  <c:v>84.1</c:v>
                </c:pt>
                <c:pt idx="6">
                  <c:v>40.7</c:v>
                </c:pt>
                <c:pt idx="7">
                  <c:v>74.1</c:v>
                </c:pt>
                <c:pt idx="8">
                  <c:v>99</c:v>
                </c:pt>
                <c:pt idx="9">
                  <c:v>120</c:v>
                </c:pt>
                <c:pt idx="10">
                  <c:v>94.8</c:v>
                </c:pt>
                <c:pt idx="11">
                  <c:v>129.3</c:v>
                </c:pt>
                <c:pt idx="12">
                  <c:v>56.2</c:v>
                </c:pt>
                <c:pt idx="13">
                  <c:v>56.6</c:v>
                </c:pt>
                <c:pt idx="14">
                  <c:v>84.1</c:v>
                </c:pt>
                <c:pt idx="15">
                  <c:v>132.1</c:v>
                </c:pt>
                <c:pt idx="16">
                  <c:v>135.9</c:v>
                </c:pt>
                <c:pt idx="17">
                  <c:v>107.2</c:v>
                </c:pt>
                <c:pt idx="18">
                  <c:v>104.5</c:v>
                </c:pt>
                <c:pt idx="19">
                  <c:v>107.6</c:v>
                </c:pt>
                <c:pt idx="20">
                  <c:v>139.7</c:v>
                </c:pt>
                <c:pt idx="21">
                  <c:v>65.9</c:v>
                </c:pt>
                <c:pt idx="22">
                  <c:v>92.8</c:v>
                </c:pt>
                <c:pt idx="23">
                  <c:v>42.1</c:v>
                </c:pt>
                <c:pt idx="24">
                  <c:v>83.4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B4F-47DF-96E3-C4C373BE84C4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Ask (100%)</c:v>
                </c:pt>
              </c:strCache>
            </c:strRef>
          </c:tx>
          <c:spPr>
            <a:ln w="31750" cap="flat">
              <a:solidFill>
                <a:srgbClr val="B7C1CB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Sheet1!$A$2:$A$26</c:f>
              <c:strCache>
                <c:ptCount val="25"/>
                <c:pt idx="0">
                  <c:v>12/29</c:v>
                </c:pt>
                <c:pt idx="1">
                  <c:v>01/05</c:v>
                </c:pt>
                <c:pt idx="2">
                  <c:v>01/12</c:v>
                </c:pt>
                <c:pt idx="3">
                  <c:v>01/19</c:v>
                </c:pt>
                <c:pt idx="4">
                  <c:v>01/26</c:v>
                </c:pt>
                <c:pt idx="5">
                  <c:v>02/02</c:v>
                </c:pt>
                <c:pt idx="6">
                  <c:v>02/09</c:v>
                </c:pt>
                <c:pt idx="7">
                  <c:v>02/16</c:v>
                </c:pt>
                <c:pt idx="8">
                  <c:v>02/23</c:v>
                </c:pt>
                <c:pt idx="9">
                  <c:v>03/02</c:v>
                </c:pt>
                <c:pt idx="10">
                  <c:v>03/09</c:v>
                </c:pt>
                <c:pt idx="11">
                  <c:v>03/16</c:v>
                </c:pt>
                <c:pt idx="12">
                  <c:v>03/23</c:v>
                </c:pt>
                <c:pt idx="13">
                  <c:v>03/30</c:v>
                </c:pt>
                <c:pt idx="14">
                  <c:v>04/06</c:v>
                </c:pt>
                <c:pt idx="15">
                  <c:v>04/13</c:v>
                </c:pt>
                <c:pt idx="16">
                  <c:v>04/20</c:v>
                </c:pt>
                <c:pt idx="17">
                  <c:v>04/27</c:v>
                </c:pt>
                <c:pt idx="18">
                  <c:v>05/04</c:v>
                </c:pt>
                <c:pt idx="19">
                  <c:v>05/11</c:v>
                </c:pt>
                <c:pt idx="20">
                  <c:v>05/18</c:v>
                </c:pt>
                <c:pt idx="21">
                  <c:v>05/25</c:v>
                </c:pt>
                <c:pt idx="22">
                  <c:v>06/01</c:v>
                </c:pt>
                <c:pt idx="23">
                  <c:v>06/08</c:v>
                </c:pt>
                <c:pt idx="24">
                  <c:v>06/15</c:v>
                </c:pt>
              </c:strCache>
            </c:strRef>
          </c:cat>
          <c:val>
            <c:numRef>
              <c:f>Sheet1!$D$2:$D$26</c:f>
              <c:numCache>
                <c:formatCode>General</c:formatCode>
                <c:ptCount val="25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  <c:pt idx="5">
                  <c:v>100</c:v>
                </c:pt>
                <c:pt idx="6">
                  <c:v>100</c:v>
                </c:pt>
                <c:pt idx="7">
                  <c:v>100</c:v>
                </c:pt>
                <c:pt idx="8">
                  <c:v>100</c:v>
                </c:pt>
                <c:pt idx="9">
                  <c:v>100</c:v>
                </c:pt>
                <c:pt idx="10">
                  <c:v>100</c:v>
                </c:pt>
                <c:pt idx="11">
                  <c:v>100</c:v>
                </c:pt>
                <c:pt idx="12">
                  <c:v>100</c:v>
                </c:pt>
                <c:pt idx="13">
                  <c:v>100</c:v>
                </c:pt>
                <c:pt idx="14">
                  <c:v>100</c:v>
                </c:pt>
                <c:pt idx="15">
                  <c:v>100</c:v>
                </c:pt>
                <c:pt idx="16">
                  <c:v>100</c:v>
                </c:pt>
                <c:pt idx="17">
                  <c:v>100</c:v>
                </c:pt>
                <c:pt idx="18">
                  <c:v>100</c:v>
                </c:pt>
                <c:pt idx="19">
                  <c:v>100</c:v>
                </c:pt>
                <c:pt idx="20">
                  <c:v>100</c:v>
                </c:pt>
                <c:pt idx="21">
                  <c:v>100</c:v>
                </c:pt>
                <c:pt idx="22">
                  <c:v>100</c:v>
                </c:pt>
                <c:pt idx="23">
                  <c:v>100</c:v>
                </c:pt>
                <c:pt idx="24">
                  <c:v>100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B4F-47DF-96E3-C4C373BE84C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E8EDF2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20303D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5673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Single-slide answer to the goal: do we risk not meeting 125% of 2027 demand, by part-supplier?
Headline: only Martins is at risk. Headroom 1.01x, labor-bound (labor 99% utilized). Cannot absorb 125%; barely clears 100%.
Root cause: pelvic-block harvest yield is low -&gt; heavy rework -&gt; consumes Martins labor.
Per-site headroom (x of 2027 demand before first constraint binds):
  Martins 1.01x (Labor) | Customs 1.27x (Pigs) | Nahunta 1.38x (Pigs) | Parks 2.00x (Pigs).
Customs only clears by ~2 points and is kill-bound; new freezer capacity removed freezer as the limiter.
Spare capacity at the other sites is labor &amp; freezer, NOT pigs (small kill lines), so move labor-/freezer-heavy tissues there, not pig-heavy ones.
CAVEAT to confirm before presenting: the model header cell (A1) reads 'Q4'26 BP'. Confirm the displayed quantities are the busiest-quarter 2027 scenario, not Q4 2026, or relabel.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 — per-tissue constraint map (2027 capacity). Martins LABOR-bound (99%, pelvic family + bariatric). Customs/Nahunta KILL-bound (79/73%). Parks KILL-bound on Female Pelvic (50%, 2.0x), pelvic quality on observation -&gt; potential relief for Martins.
RIGHT — pelvic attainment vs ask, biweekly 2026 YTD (harvested/ask). Female Pelvic ran &gt;=100% through Feb, then slid steadily to ~50% by June -&gt; the worsening, high-volume problem. Pelvic Block was erratic early (batch timing) and recovered to ~100% in Q2. Ask line = 100%. Male Pelvic excluded (wound down: Q2 demand cut to 200, attainment ~1%).
Takeaway: the pelvic shortfall is now concentrated in Female Pelvic and getting worse, exactly where 2027 demand grows fastest.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234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Tissue Supplier Capacity vs. 2027 Demand — Can We Cover 125%?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457200" y="786384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5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 at the busiest quarter of 2027.  </a:t>
            </a:r>
            <a:r>
              <a:rPr lang="en-US" sz="1250" b="1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Headroom</a:t>
            </a:r>
            <a:r>
              <a:rPr lang="en-US" sz="1250" dirty="0">
                <a:solidFill>
                  <a:srgbClr val="65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the demand multiple a site can absorb before its first constraint binds (target ≥ 1.25× = 125%).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89463" y="1133856"/>
            <a:ext cx="11274552" cy="676656"/>
          </a:xfrm>
          <a:prstGeom prst="roundRect">
            <a:avLst>
              <a:gd name="adj" fmla="val 10811"/>
            </a:avLst>
          </a:prstGeom>
          <a:solidFill>
            <a:srgbClr val="FBEEEC"/>
          </a:solidFill>
          <a:ln w="12700">
            <a:solidFill>
              <a:srgbClr val="F1CFC8"/>
            </a:solidFill>
            <a:prstDash val="solid"/>
          </a:ln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51688" y="1472183"/>
            <a:ext cx="182880" cy="182880"/>
          </a:xfrm>
          <a:prstGeom prst="ellipse">
            <a:avLst/>
          </a:prstGeom>
          <a:solidFill>
            <a:srgbClr val="BE3A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96112" y="1134287"/>
            <a:ext cx="10561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— but the risk is isolated to </a:t>
            </a:r>
            <a:r>
              <a:rPr lang="en-US" sz="1450" b="1" dirty="0">
                <a:solidFill>
                  <a:srgbClr val="BE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Martins</a:t>
            </a:r>
            <a:r>
              <a:rPr lang="en-US" sz="14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It sits at </a:t>
            </a:r>
            <a:r>
              <a:rPr lang="en-US" sz="1450" b="1" dirty="0">
                <a:solidFill>
                  <a:srgbClr val="BE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1.14× headroom (labor/freezer-bound after the reallocation)</a:t>
            </a:r>
            <a:r>
              <a:rPr lang="en-US" sz="14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 it cannot cover 125% of 2027 demand. Every other site clears 125%.</a:t>
            </a:r>
            <a:r>
              <a:rPr sz="1100" b="1" i="1" dirty="0">
                <a:solidFill>
                  <a:srgbClr val="12345B"/>
                </a:solidFill>
                <a:latin typeface="Calibri"/>
              </a:rPr>
              <a:t>   ▸ The labor reallocation lifted Martins to 1.14× — now freezer-/labor-bound. Pelvic-yield gains free pigs &amp; labor but don't move freezer, so Martins stays ~1.14× until freezer is addressed too — see slide 3.</a:t>
            </a:r>
            <a:r>
              <a:rPr sz="1100" b="1" i="1" dirty="0" err="1">
                <a:solidFill>
                  <a:srgbClr val="12345B"/>
                </a:solidFill>
                <a:latin typeface="Calibri"/>
              </a:rPr>
              <a:t/>
            </a:r>
            <a:r>
              <a:rPr sz="1100" b="1" i="1" dirty="0">
                <a:solidFill>
                  <a:srgbClr val="12345B"/>
                </a:solidFill>
                <a:latin typeface="Calibri"/>
              </a:rPr>
              <a:t/>
            </a:r>
            <a:r>
              <a:rPr sz="1100" b="1" i="1" dirty="0" err="1">
                <a:solidFill>
                  <a:srgbClr val="12345B"/>
                </a:solidFill>
                <a:latin typeface="Calibri"/>
              </a:rPr>
              <a:t/>
            </a:r>
            <a:r>
              <a:rPr sz="1100" b="1" i="1" dirty="0">
                <a:solidFill>
                  <a:srgbClr val="12345B"/>
                </a:solidFill>
                <a:latin typeface="Calibri"/>
              </a:rPr>
              <a:t/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7114032" y="2286000"/>
            <a:ext cx="0" cy="4041648"/>
          </a:xfrm>
          <a:prstGeom prst="line">
            <a:avLst/>
          </a:prstGeom>
          <a:noFill/>
          <a:ln w="12700">
            <a:solidFill>
              <a:srgbClr val="E2E8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1104" y="209843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1234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BY SUPPLIER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299396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5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627632" y="2299396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5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Pigs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359152" y="2299396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5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090672" y="2299396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5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968496" y="229939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5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Headroom (×)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907024" y="2299396"/>
            <a:ext cx="1088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5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125%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665156"/>
            <a:ext cx="6537960" cy="0"/>
          </a:xfrm>
          <a:prstGeom prst="line">
            <a:avLst/>
          </a:prstGeom>
          <a:noFill/>
          <a:ln w="12700">
            <a:solidFill>
              <a:srgbClr val="E2E8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57200" y="278402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Martins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457200" y="3058348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Labor/Freezer · Pelvic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682496" y="287546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F6DDB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627632" y="28571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81%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2414016" y="287546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EFC4B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359152" y="28571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88%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3145536" y="287546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F6DDB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090672" y="28571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88%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3968496" y="2962336"/>
            <a:ext cx="1188720" cy="155448"/>
          </a:xfrm>
          <a:prstGeom prst="roundRect">
            <a:avLst>
              <a:gd name="adj" fmla="val 17647"/>
            </a:avLst>
          </a:prstGeom>
          <a:solidFill>
            <a:srgbClr val="EC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968496" y="2962336"/>
            <a:ext cx="571718" cy="155448"/>
          </a:xfrm>
          <a:prstGeom prst="roundRect">
            <a:avLst>
              <a:gd name="adj" fmla="val 17647"/>
            </a:avLst>
          </a:prstGeom>
          <a:solidFill>
            <a:srgbClr val="BE3A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230368" y="2857180"/>
            <a:ext cx="603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BE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1.14×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907024" y="2893756"/>
            <a:ext cx="1088136" cy="292608"/>
          </a:xfrm>
          <a:prstGeom prst="roundRect">
            <a:avLst>
              <a:gd name="adj" fmla="val 50000"/>
            </a:avLst>
          </a:prstGeom>
          <a:solidFill>
            <a:srgbClr val="F8DAD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907024" y="2884612"/>
            <a:ext cx="1088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E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125%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7200" y="3360100"/>
            <a:ext cx="6537960" cy="0"/>
          </a:xfrm>
          <a:prstGeom prst="line">
            <a:avLst/>
          </a:prstGeom>
          <a:noFill/>
          <a:ln w="9525">
            <a:solidFill>
              <a:srgbClr val="E2E8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57200" y="342410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Customs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457200" y="3698428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cap · 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1682496" y="351554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F6DDB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1627632" y="349726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79%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2414016" y="351554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DDEDE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2359152" y="349726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47%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3145536" y="351554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DDEDE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3090672" y="349726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44%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3968496" y="3602416"/>
            <a:ext cx="1188720" cy="155448"/>
          </a:xfrm>
          <a:prstGeom prst="roundRect">
            <a:avLst>
              <a:gd name="adj" fmla="val 17647"/>
            </a:avLst>
          </a:prstGeom>
          <a:solidFill>
            <a:srgbClr val="EC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3968496" y="3602416"/>
            <a:ext cx="718893" cy="155448"/>
          </a:xfrm>
          <a:prstGeom prst="roundRect">
            <a:avLst>
              <a:gd name="adj" fmla="val 17647"/>
            </a:avLst>
          </a:prstGeom>
          <a:solidFill>
            <a:srgbClr val="B0741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5230368" y="3497260"/>
            <a:ext cx="603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B074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1.27×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5907024" y="3533836"/>
            <a:ext cx="1088136" cy="292608"/>
          </a:xfrm>
          <a:prstGeom prst="roundRect">
            <a:avLst>
              <a:gd name="adj" fmla="val 50000"/>
            </a:avLst>
          </a:prstGeom>
          <a:solidFill>
            <a:srgbClr val="F6E6C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5907024" y="3524692"/>
            <a:ext cx="1088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074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clears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" y="4000180"/>
            <a:ext cx="6537960" cy="0"/>
          </a:xfrm>
          <a:prstGeom prst="line">
            <a:avLst/>
          </a:prstGeom>
          <a:noFill/>
          <a:ln w="9525">
            <a:solidFill>
              <a:srgbClr val="E2E8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457200" y="406418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Nahunta</a:t>
            </a:r>
            <a:endParaRPr lang="en-US" sz="1450" dirty="0"/>
          </a:p>
        </p:txBody>
      </p:sp>
      <p:sp>
        <p:nvSpPr>
          <p:cNvPr id="45" name="Text 43"/>
          <p:cNvSpPr/>
          <p:nvPr/>
        </p:nvSpPr>
        <p:spPr>
          <a:xfrm>
            <a:off x="457200" y="4338508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cap · Thor/bari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1682496" y="415562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F6DDB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1627632" y="41373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73%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2414016" y="415562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DDEDE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2359152" y="41373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34%</a:t>
            </a:r>
            <a:endParaRPr lang="en-US" sz="1250" dirty="0"/>
          </a:p>
        </p:txBody>
      </p:sp>
      <p:sp>
        <p:nvSpPr>
          <p:cNvPr id="50" name="Shape 48"/>
          <p:cNvSpPr/>
          <p:nvPr/>
        </p:nvSpPr>
        <p:spPr>
          <a:xfrm>
            <a:off x="3145536" y="415562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DDEDE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3090672" y="41373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41%</a:t>
            </a:r>
            <a:endParaRPr lang="en-US" sz="1250" dirty="0"/>
          </a:p>
        </p:txBody>
      </p:sp>
      <p:sp>
        <p:nvSpPr>
          <p:cNvPr id="52" name="Shape 50"/>
          <p:cNvSpPr/>
          <p:nvPr/>
        </p:nvSpPr>
        <p:spPr>
          <a:xfrm>
            <a:off x="3968496" y="4242496"/>
            <a:ext cx="1188720" cy="155448"/>
          </a:xfrm>
          <a:prstGeom prst="roundRect">
            <a:avLst>
              <a:gd name="adj" fmla="val 17647"/>
            </a:avLst>
          </a:prstGeom>
          <a:solidFill>
            <a:srgbClr val="EC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3968496" y="4242496"/>
            <a:ext cx="781159" cy="155448"/>
          </a:xfrm>
          <a:prstGeom prst="roundRect">
            <a:avLst>
              <a:gd name="adj" fmla="val 17647"/>
            </a:avLst>
          </a:prstGeom>
          <a:solidFill>
            <a:srgbClr val="2E7D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5230368" y="4137340"/>
            <a:ext cx="603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1.38×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5907024" y="4173916"/>
            <a:ext cx="1088136" cy="292608"/>
          </a:xfrm>
          <a:prstGeom prst="roundRect">
            <a:avLst>
              <a:gd name="adj" fmla="val 50000"/>
            </a:avLst>
          </a:prstGeom>
          <a:solidFill>
            <a:srgbClr val="DCEDE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5907024" y="4164772"/>
            <a:ext cx="1088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Clears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" y="4640260"/>
            <a:ext cx="6537960" cy="0"/>
          </a:xfrm>
          <a:prstGeom prst="line">
            <a:avLst/>
          </a:prstGeom>
          <a:noFill/>
          <a:ln w="9525">
            <a:solidFill>
              <a:srgbClr val="E2E8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457200" y="470426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Parks</a:t>
            </a:r>
            <a:endParaRPr lang="en-US" sz="1450" dirty="0"/>
          </a:p>
        </p:txBody>
      </p:sp>
      <p:sp>
        <p:nvSpPr>
          <p:cNvPr id="59" name="Text 57"/>
          <p:cNvSpPr/>
          <p:nvPr/>
        </p:nvSpPr>
        <p:spPr>
          <a:xfrm>
            <a:off x="457200" y="4978588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cap · Pelvic (low yield)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1682496" y="479570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FBEFD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1627632" y="47774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1250" dirty="0"/>
          </a:p>
        </p:txBody>
      </p:sp>
      <p:sp>
        <p:nvSpPr>
          <p:cNvPr id="62" name="Shape 60"/>
          <p:cNvSpPr/>
          <p:nvPr/>
        </p:nvSpPr>
        <p:spPr>
          <a:xfrm>
            <a:off x="2414016" y="479570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DDEDE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2359152" y="47774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13%</a:t>
            </a:r>
            <a:endParaRPr lang="en-US" sz="1250" dirty="0"/>
          </a:p>
        </p:txBody>
      </p:sp>
      <p:sp>
        <p:nvSpPr>
          <p:cNvPr id="64" name="Shape 62"/>
          <p:cNvSpPr/>
          <p:nvPr/>
        </p:nvSpPr>
        <p:spPr>
          <a:xfrm>
            <a:off x="3145536" y="479570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DDEDE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5" name="Text 63"/>
          <p:cNvSpPr/>
          <p:nvPr/>
        </p:nvSpPr>
        <p:spPr>
          <a:xfrm>
            <a:off x="3090672" y="47774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</a:t>
            </a:r>
            <a:endParaRPr lang="en-US" sz="1250" dirty="0"/>
          </a:p>
        </p:txBody>
      </p:sp>
      <p:sp>
        <p:nvSpPr>
          <p:cNvPr id="66" name="Shape 64"/>
          <p:cNvSpPr/>
          <p:nvPr/>
        </p:nvSpPr>
        <p:spPr>
          <a:xfrm>
            <a:off x="3968496" y="4882576"/>
            <a:ext cx="1188720" cy="155448"/>
          </a:xfrm>
          <a:prstGeom prst="roundRect">
            <a:avLst>
              <a:gd name="adj" fmla="val 17647"/>
            </a:avLst>
          </a:prstGeom>
          <a:solidFill>
            <a:srgbClr val="EC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7" name="Shape 65"/>
          <p:cNvSpPr/>
          <p:nvPr/>
        </p:nvSpPr>
        <p:spPr>
          <a:xfrm>
            <a:off x="3968496" y="4882576"/>
            <a:ext cx="1132114" cy="155448"/>
          </a:xfrm>
          <a:prstGeom prst="roundRect">
            <a:avLst>
              <a:gd name="adj" fmla="val 17647"/>
            </a:avLst>
          </a:prstGeom>
          <a:solidFill>
            <a:srgbClr val="2E7D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8" name="Text 66"/>
          <p:cNvSpPr/>
          <p:nvPr/>
        </p:nvSpPr>
        <p:spPr>
          <a:xfrm>
            <a:off x="5230368" y="4777420"/>
            <a:ext cx="603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2.00×</a:t>
            </a:r>
            <a:endParaRPr lang="en-US" sz="1250" dirty="0"/>
          </a:p>
        </p:txBody>
      </p:sp>
      <p:sp>
        <p:nvSpPr>
          <p:cNvPr id="69" name="Shape 67"/>
          <p:cNvSpPr/>
          <p:nvPr/>
        </p:nvSpPr>
        <p:spPr>
          <a:xfrm>
            <a:off x="5907024" y="4813996"/>
            <a:ext cx="1088136" cy="292608"/>
          </a:xfrm>
          <a:prstGeom prst="roundRect">
            <a:avLst>
              <a:gd name="adj" fmla="val 50000"/>
            </a:avLst>
          </a:prstGeom>
          <a:solidFill>
            <a:srgbClr val="DCEDE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0" name="Text 68"/>
          <p:cNvSpPr/>
          <p:nvPr/>
        </p:nvSpPr>
        <p:spPr>
          <a:xfrm>
            <a:off x="5907024" y="4804852"/>
            <a:ext cx="1088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Clears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676067" y="2816032"/>
            <a:ext cx="0" cy="2368296"/>
          </a:xfrm>
          <a:prstGeom prst="line">
            <a:avLst/>
          </a:prstGeom>
          <a:noFill/>
          <a:ln w="15875">
            <a:solidFill>
              <a:srgbClr val="12345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70"/>
          <p:cNvSpPr/>
          <p:nvPr/>
        </p:nvSpPr>
        <p:spPr>
          <a:xfrm>
            <a:off x="4264587" y="2578288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234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125%</a:t>
            </a:r>
            <a:endParaRPr lang="en-US" sz="950" dirty="0"/>
          </a:p>
        </p:txBody>
      </p:sp>
      <p:sp>
        <p:nvSpPr>
          <p:cNvPr id="73" name="Text 71"/>
          <p:cNvSpPr/>
          <p:nvPr/>
        </p:nvSpPr>
        <p:spPr>
          <a:xfrm>
            <a:off x="457200" y="5980176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Cells = % of capacity used (red = near limit).  Bar = headroom; dashed line = 125% target.  Caption under each site = binding constraint · driver tissue.</a:t>
            </a:r>
            <a:endParaRPr lang="en-US" sz="950" dirty="0"/>
          </a:p>
        </p:txBody>
      </p:sp>
      <p:sp>
        <p:nvSpPr>
          <p:cNvPr id="74" name="Text 72"/>
          <p:cNvSpPr/>
          <p:nvPr/>
        </p:nvSpPr>
        <p:spPr>
          <a:xfrm>
            <a:off x="7333488" y="2249424"/>
            <a:ext cx="4407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1234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WE'RE SEEING</a:t>
            </a:r>
            <a:endParaRPr lang="en-US" sz="1100" dirty="0"/>
          </a:p>
        </p:txBody>
      </p:sp>
      <p:sp>
        <p:nvSpPr>
          <p:cNvPr id="75" name="Text 73"/>
          <p:cNvSpPr/>
          <p:nvPr/>
        </p:nvSpPr>
        <p:spPr>
          <a:xfrm>
            <a:off x="7333488" y="2542032"/>
            <a:ext cx="440740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Martins eased to ~88% on labor after the reallocation, but freezer is now equally tight at ~88% — so headroom is ~1.14×, still short of 125%. 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 is the pelvic block: low harvest yield, and the rework that follows eats Martins' labor.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site clears 125%, but their limit is kill (pig) capacity — not labor or freezer, which sit wide open at Nahunta and Customs.</a:t>
            </a:r>
            <a:endParaRPr lang="en-US" sz="1250" dirty="0"/>
          </a:p>
        </p:txBody>
      </p:sp>
      <p:sp>
        <p:nvSpPr>
          <p:cNvPr id="76" name="Text 74"/>
          <p:cNvSpPr/>
          <p:nvPr/>
        </p:nvSpPr>
        <p:spPr>
          <a:xfrm>
            <a:off x="7333488" y="4334256"/>
            <a:ext cx="4407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1234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 (MILESTONES)</a:t>
            </a:r>
            <a:endParaRPr lang="en-US" sz="1100" dirty="0"/>
          </a:p>
        </p:txBody>
      </p:sp>
      <p:sp>
        <p:nvSpPr>
          <p:cNvPr id="77" name="Shape 75"/>
          <p:cNvSpPr/>
          <p:nvPr/>
        </p:nvSpPr>
        <p:spPr>
          <a:xfrm>
            <a:off x="7333488" y="4626864"/>
            <a:ext cx="292608" cy="292608"/>
          </a:xfrm>
          <a:prstGeom prst="ellipse">
            <a:avLst/>
          </a:prstGeom>
          <a:solidFill>
            <a:srgbClr val="1234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8" name="Text 76"/>
          <p:cNvSpPr/>
          <p:nvPr/>
        </p:nvSpPr>
        <p:spPr>
          <a:xfrm>
            <a:off x="7333488" y="4617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50" dirty="0"/>
          </a:p>
        </p:txBody>
      </p:sp>
      <p:sp>
        <p:nvSpPr>
          <p:cNvPr id="79" name="Text 77"/>
          <p:cNvSpPr/>
          <p:nvPr/>
        </p:nvSpPr>
        <p:spPr>
          <a:xfrm>
            <a:off x="7754112" y="4572000"/>
            <a:ext cx="3986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Martins pelvic-block yield study — pull bad pelvics and root-cause the harvest loss: Started, on route to complete 30 samples a week for 4 weeks. </a:t>
            </a:r>
            <a:endParaRPr lang="en-US" sz="1150" dirty="0">
              <a:highlight>
                <a:srgbClr val="FFFF00"/>
              </a:highlight>
            </a:endParaRPr>
          </a:p>
        </p:txBody>
      </p:sp>
      <p:sp>
        <p:nvSpPr>
          <p:cNvPr id="80" name="Shape 78"/>
          <p:cNvSpPr/>
          <p:nvPr/>
        </p:nvSpPr>
        <p:spPr>
          <a:xfrm>
            <a:off x="7333488" y="5193792"/>
            <a:ext cx="292608" cy="292608"/>
          </a:xfrm>
          <a:prstGeom prst="ellipse">
            <a:avLst/>
          </a:prstGeom>
          <a:solidFill>
            <a:srgbClr val="1234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1" name="Text 79"/>
          <p:cNvSpPr/>
          <p:nvPr/>
        </p:nvSpPr>
        <p:spPr>
          <a:xfrm>
            <a:off x="7333488" y="5184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50" dirty="0"/>
          </a:p>
        </p:txBody>
      </p:sp>
      <p:sp>
        <p:nvSpPr>
          <p:cNvPr id="82" name="Text 80"/>
          <p:cNvSpPr/>
          <p:nvPr/>
        </p:nvSpPr>
        <p:spPr>
          <a:xfrm>
            <a:off x="7754112" y="5138928"/>
            <a:ext cx="3986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Ramp Parks as a 2nd pelvic source: Already working on root causing harvesting yield specs fails.</a:t>
            </a:r>
            <a:endParaRPr lang="en-US" sz="1150" dirty="0"/>
          </a:p>
        </p:txBody>
      </p:sp>
      <p:sp>
        <p:nvSpPr>
          <p:cNvPr id="83" name="Shape 81"/>
          <p:cNvSpPr/>
          <p:nvPr/>
        </p:nvSpPr>
        <p:spPr>
          <a:xfrm>
            <a:off x="7333488" y="5760720"/>
            <a:ext cx="292608" cy="292608"/>
          </a:xfrm>
          <a:prstGeom prst="ellipse">
            <a:avLst/>
          </a:prstGeom>
          <a:solidFill>
            <a:srgbClr val="1234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4" name="Text 82"/>
          <p:cNvSpPr/>
          <p:nvPr/>
        </p:nvSpPr>
        <p:spPr>
          <a:xfrm>
            <a:off x="7333488" y="57515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50" dirty="0"/>
          </a:p>
        </p:txBody>
      </p:sp>
      <p:sp>
        <p:nvSpPr>
          <p:cNvPr id="85" name="Text 83"/>
          <p:cNvSpPr/>
          <p:nvPr/>
        </p:nvSpPr>
        <p:spPr>
          <a:xfrm>
            <a:off x="7754112" y="5705856"/>
            <a:ext cx="3986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Re-balance labor-/freezer-heavy tissues off Martins → Customs (new freezer) and Nahunta (open labor).</a:t>
            </a:r>
            <a:endParaRPr lang="en-US" sz="1150" dirty="0"/>
          </a:p>
        </p:txBody>
      </p:sp>
      <p:sp>
        <p:nvSpPr>
          <p:cNvPr id="86" name="Shape 84"/>
          <p:cNvSpPr/>
          <p:nvPr/>
        </p:nvSpPr>
        <p:spPr>
          <a:xfrm>
            <a:off x="457200" y="6437376"/>
            <a:ext cx="11274552" cy="0"/>
          </a:xfrm>
          <a:prstGeom prst="line">
            <a:avLst/>
          </a:prstGeom>
          <a:noFill/>
          <a:ln w="9525">
            <a:solidFill>
              <a:srgbClr val="E2E8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Text 85"/>
          <p:cNvSpPr/>
          <p:nvPr/>
        </p:nvSpPr>
        <p:spPr>
          <a:xfrm>
            <a:off x="457200" y="649224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Part_Supplier_RiskAssessmentTool_v2.xlsx · Tissue_Model.  Headroom = 1 ÷ highest constraint utilization at busiest-quarter 2027 demand.</a:t>
            </a:r>
            <a:endParaRPr lang="en-US" sz="900" dirty="0"/>
          </a:p>
        </p:txBody>
      </p:sp>
      <p:sp>
        <p:nvSpPr>
          <p:cNvPr id="88" name="Text 86"/>
          <p:cNvSpPr/>
          <p:nvPr/>
        </p:nvSpPr>
        <p:spPr>
          <a:xfrm>
            <a:off x="9144000" y="6492240"/>
            <a:ext cx="2587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Tissue Models</a:t>
            </a:r>
            <a:endParaRPr lang="en-US" sz="900" dirty="0"/>
          </a:p>
        </p:txBody>
      </p:sp>
      <p:sp>
        <p:nvSpPr>
          <p:cNvPr id="91" name="Text 14">
            <a:extLst>
              <a:ext uri="{FF2B5EF4-FFF2-40B4-BE49-F238E27FC236}">
                <a16:creationId xmlns:a16="http://schemas.microsoft.com/office/drawing/2014/main" id="{DC8B9534-47A6-83C2-DF21-AAAC614A8A44}"/>
              </a:ext>
            </a:extLst>
          </p:cNvPr>
          <p:cNvSpPr/>
          <p:nvPr/>
        </p:nvSpPr>
        <p:spPr>
          <a:xfrm>
            <a:off x="457200" y="5327945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Slaughter House</a:t>
            </a:r>
            <a:endParaRPr lang="en-US" sz="1200" dirty="0"/>
          </a:p>
        </p:txBody>
      </p:sp>
      <p:sp>
        <p:nvSpPr>
          <p:cNvPr id="92" name="Text 15">
            <a:extLst>
              <a:ext uri="{FF2B5EF4-FFF2-40B4-BE49-F238E27FC236}">
                <a16:creationId xmlns:a16="http://schemas.microsoft.com/office/drawing/2014/main" id="{B76DF47B-EA5E-98C1-7AD7-9C1EDFC141B1}"/>
              </a:ext>
            </a:extLst>
          </p:cNvPr>
          <p:cNvSpPr/>
          <p:nvPr/>
        </p:nvSpPr>
        <p:spPr>
          <a:xfrm>
            <a:off x="457200" y="5532327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type – Tissue family</a:t>
            </a:r>
            <a:endParaRPr lang="en-US" sz="950" dirty="0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96D79C75-517A-0410-D7DB-DE0EF0FE9E02}"/>
              </a:ext>
            </a:extLst>
          </p:cNvPr>
          <p:cNvSpPr/>
          <p:nvPr/>
        </p:nvSpPr>
        <p:spPr>
          <a:xfrm>
            <a:off x="322786" y="5363162"/>
            <a:ext cx="1407831" cy="365761"/>
          </a:xfrm>
          <a:prstGeom prst="rect">
            <a:avLst/>
          </a:prstGeom>
          <a:solidFill>
            <a:schemeClr val="tx1">
              <a:alpha val="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234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Each Tissue Is Constrained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457200" y="78638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5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Binding constraint per site and the tissues driving it — busiest quarter of 2027.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25296"/>
            <a:ext cx="562356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58368" y="1316736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34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Martins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286000" y="1344168"/>
            <a:ext cx="2286000" cy="274320"/>
          </a:xfrm>
          <a:prstGeom prst="roundRect">
            <a:avLst>
              <a:gd name="adj" fmla="val 50000"/>
            </a:avLst>
          </a:prstGeom>
          <a:solidFill>
            <a:srgbClr val="F8DAD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286000" y="1339596"/>
            <a:ext cx="22860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BE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LABOR/FREEZER · 88% · 1.14×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58368" y="1673352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Female Pelvic Block (666541),  Pelvic Block (666506),  Bariatric Block (666502),  Aorta Segments (666501)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2240280"/>
            <a:ext cx="562356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58368" y="233172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34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286000" y="2359152"/>
            <a:ext cx="2286000" cy="274320"/>
          </a:xfrm>
          <a:prstGeom prst="roundRect">
            <a:avLst>
              <a:gd name="adj" fmla="val 50000"/>
            </a:avLst>
          </a:prstGeom>
          <a:solidFill>
            <a:srgbClr val="F6E6C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286000" y="2354580"/>
            <a:ext cx="22860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B074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CAP  ·  79%  ·  1.27×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658368" y="2688336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Bariatric Block (666502),  Aorta Segments (666501),  Vena Cava (666523),  Omentum (666516),  Pancreas (666517)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3255264"/>
            <a:ext cx="562356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58368" y="3346704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34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Nahunta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2286000" y="3374136"/>
            <a:ext cx="2286000" cy="274320"/>
          </a:xfrm>
          <a:prstGeom prst="roundRect">
            <a:avLst>
              <a:gd name="adj" fmla="val 50000"/>
            </a:avLst>
          </a:prstGeom>
          <a:solidFill>
            <a:srgbClr val="F6E6C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286000" y="3369564"/>
            <a:ext cx="22860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B074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CAP  ·  73%  ·  1.38×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58368" y="3703320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Aorta Segments (666501),  Thoracic Block (666521),  Pancreas (666517),  Omentum (666516),  Full Thor &amp; Bari Block (666507)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4270248"/>
            <a:ext cx="562356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58368" y="4361688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34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Parks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2286000" y="4389120"/>
            <a:ext cx="2286000" cy="274320"/>
          </a:xfrm>
          <a:prstGeom prst="roundRect">
            <a:avLst>
              <a:gd name="adj" fmla="val 50000"/>
            </a:avLst>
          </a:prstGeom>
          <a:solidFill>
            <a:srgbClr val="DCEDE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2286000" y="4384548"/>
            <a:ext cx="22860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CAP  ·  50%  ·  2.00×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658368" y="4718304"/>
            <a:ext cx="5257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Female Pelvic Block (666541)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58368" y="4937760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B074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observation — </a:t>
            </a:r>
            <a:r>
              <a:rPr lang="en-US" sz="900" i="1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pelvic quality; potential capacity once resolved.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355080" y="1188720"/>
            <a:ext cx="5376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1234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PELVIC ATTAINMENT (506+541) vs 290/WK STANDARD @Martin’s — WEEKLY, 2026 YTD – Harvesting Yield </a:t>
            </a:r>
            <a:endParaRPr lang="en-US" sz="1100" dirty="0"/>
          </a:p>
        </p:txBody>
      </p:sp>
      <p:graphicFrame>
        <p:nvGraphicFramePr>
          <p:cNvPr id="26" name="Chart 0"/>
          <p:cNvGraphicFramePr/>
          <p:nvPr>
            <p:extLst>
              <p:ext uri="{D42A27DB-BD31-4B8C-83A1-F6EECF244321}">
                <p14:modId xmlns:p14="http://schemas.microsoft.com/office/powerpoint/2010/main" val="3802844109"/>
              </p:ext>
            </p:extLst>
          </p:nvPr>
        </p:nvGraphicFramePr>
        <p:xfrm>
          <a:off x="6281928" y="1481328"/>
          <a:ext cx="5486400" cy="371246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7" name="Shape 24"/>
          <p:cNvSpPr/>
          <p:nvPr/>
        </p:nvSpPr>
        <p:spPr>
          <a:xfrm>
            <a:off x="457200" y="5413248"/>
            <a:ext cx="11274552" cy="0"/>
          </a:xfrm>
          <a:prstGeom prst="line">
            <a:avLst/>
          </a:prstGeom>
          <a:noFill/>
          <a:ln w="9525">
            <a:solidFill>
              <a:srgbClr val="E2E8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457200" y="5477256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each site is independent; labor &amp; freezer are shared per site, kill capacity is set by tissues that can't come from one pig.  Right: attainment = (Pelvic Block 506 + Female Pelvic 541) harvested ÷ 290/wk (weekly); 290 = 125% of 2027 Martins pelvic demand; Male Pelvic excluded (wound down).  Codes are Intuitive part numbers.</a:t>
            </a:r>
            <a:endParaRPr lang="en-US" sz="85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A7D2B7E-C16B-22F9-D6E8-0AEDF44B6CC5}"/>
              </a:ext>
            </a:extLst>
          </p:cNvPr>
          <p:cNvSpPr txBox="1"/>
          <p:nvPr/>
        </p:nvSpPr>
        <p:spPr>
          <a:xfrm>
            <a:off x="3268980" y="6071616"/>
            <a:ext cx="81815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✓ 250 denominator applied</a:t>
            </a:r>
          </a:p>
          <a:p>
            <a:r>
              <a:rPr lang="en-US" dirty="0"/>
              <a:t>Why is the attainment dropping? Possible culprits: Seasonality, harvesting yield, labor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2345B"/>
                </a:solidFill>
                <a:latin typeface="Cambria"/>
              </a:rPr>
              <a:t>Reference — Pelvic Harvest-Yield Sensitivity (Martins)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04672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0303D"/>
                </a:solidFill>
                <a:latin typeface="Calibri"/>
              </a:rPr>
              <a:t>Backup for the slide-1 finding. </a:t>
            </a:r>
            <a:r>
              <a:rPr sz="1100" b="0">
                <a:solidFill>
                  <a:srgbClr val="20303D"/>
                </a:solidFill>
                <a:latin typeface="Calibri"/>
              </a:rPr>
              <a:t>Capacity returned at Martins if the pelvic-block study lifts harvesting yield above today's 25%. Follows the Tissue_Model: </a:t>
            </a:r>
            <a:r>
              <a:rPr sz="1100" b="0">
                <a:solidFill>
                  <a:srgbClr val="5A6A7A"/>
                </a:solidFill>
                <a:latin typeface="Calibri"/>
              </a:rPr>
              <a:t>Pigs Consumed = Net Harvest ÷ Harvest Yield;  Planned Labor carries the rework on every wasted pig.  Gains shown as percentage points above the 25% base.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188720" y="1828800"/>
          <a:ext cx="9811512" cy="2606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904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2291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Yield gain</a:t>
                      </a:r>
                    </a:p>
                  </a:txBody>
                  <a:tcPr marL="54864" marR="54864" marT="27432" marB="27432" anchor="ctr">
                    <a:solidFill>
                      <a:srgbClr val="1234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Harvest yield</a:t>
                      </a:r>
                    </a:p>
                  </a:txBody>
                  <a:tcPr marL="54864" marR="54864" marT="27432" marB="27432" anchor="ctr">
                    <a:solidFill>
                      <a:srgbClr val="1234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Pigs freed / wk</a:t>
                      </a:r>
                    </a:p>
                  </a:txBody>
                  <a:tcPr marL="54864" marR="54864" marT="27432" marB="27432" anchor="ctr">
                    <a:solidFill>
                      <a:srgbClr val="1234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Labor freed / wk</a:t>
                      </a:r>
                    </a:p>
                  </a:txBody>
                  <a:tcPr marL="54864" marR="54864" marT="27432" marB="27432" anchor="ctr">
                    <a:solidFill>
                      <a:srgbClr val="1234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Labor headroom</a:t>
                      </a:r>
                    </a:p>
                  </a:txBody>
                  <a:tcPr marL="54864" marR="54864" marT="27432" marB="27432" anchor="ctr">
                    <a:solidFill>
                      <a:srgbClr val="1234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Pig headroom</a:t>
                      </a:r>
                    </a:p>
                  </a:txBody>
                  <a:tcPr marL="54864" marR="54864" marT="27432" marB="27432" anchor="ctr">
                    <a:solidFill>
                      <a:srgbClr val="1234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2345B"/>
                          </a:solidFill>
                          <a:latin typeface="Calibri"/>
                        </a:rPr>
                        <a:t>Today</a:t>
                      </a:r>
                    </a:p>
                  </a:txBody>
                  <a:tcPr marL="54864" marR="54864" marT="27432" marB="27432" anchor="ctr">
                    <a:solidFill>
                      <a:srgbClr val="E3E9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25%</a:t>
                      </a:r>
                    </a:p>
                  </a:txBody>
                  <a:tcPr marL="54864" marR="54864" marT="27432" marB="27432" anchor="ctr">
                    <a:solidFill>
                      <a:srgbClr val="E3E9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3E9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3E9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B0392B"/>
                          </a:solidFill>
                          <a:latin typeface="Calibri"/>
                        </a:rPr>
                        <a:t>1.14×</a:t>
                      </a:r>
                    </a:p>
                  </a:txBody>
                  <a:tcPr marL="54864" marR="54864" marT="27432" marB="27432" anchor="ctr">
                    <a:solidFill>
                      <a:srgbClr val="E3E9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B0392B"/>
                          </a:solidFill>
                          <a:latin typeface="Calibri"/>
                        </a:rPr>
                        <a:t>1.23×</a:t>
                      </a:r>
                    </a:p>
                  </a:txBody>
                  <a:tcPr marL="54864" marR="54864" marT="27432" marB="27432" anchor="ctr">
                    <a:solidFill>
                      <a:srgbClr val="E3E9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2345B"/>
                          </a:solidFill>
                          <a:latin typeface="Calibri"/>
                        </a:rPr>
                        <a:t>+5 pts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144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2.8 h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B0392B"/>
                          </a:solidFill>
                          <a:latin typeface="Calibri"/>
                        </a:rPr>
                        <a:t>1.24×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F3E"/>
                          </a:solidFill>
                          <a:latin typeface="Calibri"/>
                        </a:rPr>
                        <a:t>1.46×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2345B"/>
                          </a:solidFill>
                          <a:latin typeface="Calibri"/>
                        </a:rPr>
                        <a:t>+10 pts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35%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246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4.8 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F3E"/>
                          </a:solidFill>
                          <a:latin typeface="Calibri"/>
                        </a:rPr>
                        <a:t>1.32×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F3E"/>
                          </a:solidFill>
                          <a:latin typeface="Calibri"/>
                        </a:rPr>
                        <a:t>1.68×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2345B"/>
                          </a:solidFill>
                          <a:latin typeface="Calibri"/>
                        </a:rPr>
                        <a:t>+15 pts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40%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324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6.3 h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F3E"/>
                          </a:solidFill>
                          <a:latin typeface="Calibri"/>
                        </a:rPr>
                        <a:t>1.39×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F3E"/>
                          </a:solidFill>
                          <a:latin typeface="Calibri"/>
                        </a:rPr>
                        <a:t>1.90×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2345B"/>
                          </a:solidFill>
                          <a:latin typeface="Calibri"/>
                        </a:rPr>
                        <a:t>+20 pts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384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7.5 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F3E"/>
                          </a:solidFill>
                          <a:latin typeface="Calibri"/>
                        </a:rPr>
                        <a:t>1.44×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F3E"/>
                          </a:solidFill>
                          <a:latin typeface="Calibri"/>
                        </a:rPr>
                        <a:t>2.12×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229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2345B"/>
                          </a:solidFill>
                          <a:latin typeface="Calibri"/>
                        </a:rPr>
                        <a:t>+25 pts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432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8.4 h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F3E"/>
                          </a:solidFill>
                          <a:latin typeface="Calibri"/>
                        </a:rPr>
                        <a:t>1.49×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F3E"/>
                          </a:solidFill>
                          <a:latin typeface="Calibri"/>
                        </a:rPr>
                        <a:t>2.33×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88720" y="4617720"/>
            <a:ext cx="98115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2345B"/>
                </a:solidFill>
                <a:latin typeface="Calibri"/>
              </a:rPr>
              <a:t>How to read:  </a:t>
            </a:r>
            <a:r>
              <a:rPr sz="1100" b="0">
                <a:solidFill>
                  <a:srgbClr val="20303D"/>
                </a:solidFill>
                <a:latin typeface="Calibri"/>
              </a:rPr>
              <a:t>after the labor reallocation Martins sits at 1.14× — now co-limited by labor and freezer (~88% each). Yield still lifts labor (clears 1.25× by ~+10 pts) and pigs, but freezer is unaffected, so Martins overall stays ~1.14× until freezer is also addressed.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5A6A7A"/>
                </a:solidFill>
                <a:latin typeface="Calibri"/>
              </a:rPr>
              <a:t>Source: Part_Supplier_RiskAssessmentTool_v2.xlsx · Tissue_Model (666541 + 666506 @ Martins).  Headroom = 1 ÷ binding-constraint utilization at busiest-quarter 2027 demand.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1264</Words>
  <Application>Microsoft Office PowerPoint</Application>
  <PresentationFormat>Widescreen</PresentationFormat>
  <Paragraphs>124</Paragraphs>
  <Slides>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Tissue Supplier Capacity vs 2027 Demand</dc:title>
  <dc:subject>PptxGenJS Presentation</dc:subject>
  <dc:creator>Oscar</dc:creator>
  <cp:lastModifiedBy>Oscar Penny</cp:lastModifiedBy>
  <cp:revision>6</cp:revision>
  <dcterms:created xsi:type="dcterms:W3CDTF">2026-06-24T15:54:04Z</dcterms:created>
  <dcterms:modified xsi:type="dcterms:W3CDTF">2026-06-29T14:25:36Z</dcterms:modified>
</cp:coreProperties>
</file>