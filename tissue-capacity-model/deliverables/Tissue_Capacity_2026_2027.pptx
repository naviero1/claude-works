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  <p:sldId id="258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Female Pelvic (541's)</c:v>
                </c:pt>
              </c:strCache>
            </c:strRef>
          </c:tx>
          <c:spPr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12/29</c:v>
                </c:pt>
                <c:pt idx="1">
                  <c:v>01/12</c:v>
                </c:pt>
                <c:pt idx="2">
                  <c:v>01/26</c:v>
                </c:pt>
                <c:pt idx="3">
                  <c:v>02/09</c:v>
                </c:pt>
                <c:pt idx="4">
                  <c:v>02/23</c:v>
                </c:pt>
                <c:pt idx="5">
                  <c:v>03/09</c:v>
                </c:pt>
                <c:pt idx="6">
                  <c:v>03/23</c:v>
                </c:pt>
                <c:pt idx="7">
                  <c:v>04/06</c:v>
                </c:pt>
                <c:pt idx="8">
                  <c:v>04/20</c:v>
                </c:pt>
                <c:pt idx="9">
                  <c:v>05/04</c:v>
                </c:pt>
                <c:pt idx="10">
                  <c:v>05/18</c:v>
                </c:pt>
                <c:pt idx="11">
                  <c:v>06/01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48</c:v>
                </c:pt>
                <c:pt idx="1">
                  <c:v>55.8</c:v>
                </c:pt>
                <c:pt idx="2">
                  <c:v>52</c:v>
                </c:pt>
                <c:pt idx="3">
                  <c:v>53.6</c:v>
                </c:pt>
                <c:pt idx="4">
                  <c:v>87</c:v>
                </c:pt>
                <c:pt idx="5">
                  <c:v>114.6</c:v>
                </c:pt>
                <c:pt idx="6">
                  <c:v>61.6</c:v>
                </c:pt>
                <c:pt idx="7">
                  <c:v>108.4</c:v>
                </c:pt>
                <c:pt idx="8">
                  <c:v>85.6</c:v>
                </c:pt>
                <c:pt idx="9">
                  <c:v>69.4</c:v>
                </c:pt>
                <c:pt idx="10">
                  <c:v>78.6</c:v>
                </c:pt>
                <c:pt idx="11">
                  <c:v>49.4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B4F-47DF-96E3-C4C373BE84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Pelvic Block (506's)</c:v>
                </c:pt>
              </c:strCache>
            </c:strRef>
          </c:tx>
          <c:spPr>
            <a:ln w="31750" cap="flat">
              <a:solidFill>
                <a:srgbClr val="12345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12/29</c:v>
                </c:pt>
                <c:pt idx="1">
                  <c:v>01/12</c:v>
                </c:pt>
                <c:pt idx="2">
                  <c:v>01/26</c:v>
                </c:pt>
                <c:pt idx="3">
                  <c:v>02/09</c:v>
                </c:pt>
                <c:pt idx="4">
                  <c:v>02/23</c:v>
                </c:pt>
                <c:pt idx="5">
                  <c:v>03/09</c:v>
                </c:pt>
                <c:pt idx="6">
                  <c:v>03/23</c:v>
                </c:pt>
                <c:pt idx="7">
                  <c:v>04/06</c:v>
                </c:pt>
                <c:pt idx="8">
                  <c:v>04/20</c:v>
                </c:pt>
                <c:pt idx="9">
                  <c:v>05/04</c:v>
                </c:pt>
                <c:pt idx="10">
                  <c:v>05/18</c:v>
                </c:pt>
                <c:pt idx="11">
                  <c:v>06/01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80</c:v>
                </c:pt>
                <c:pt idx="1">
                  <c:v>7</c:v>
                </c:pt>
                <c:pt idx="2">
                  <c:v>32</c:v>
                </c:pt>
                <c:pt idx="3">
                  <c:v>13</c:v>
                </c:pt>
                <c:pt idx="4">
                  <c:v>40</c:v>
                </c:pt>
                <c:pt idx="5">
                  <c:v>15.4</c:v>
                </c:pt>
                <c:pt idx="6">
                  <c:v>3.8</c:v>
                </c:pt>
                <c:pt idx="7">
                  <c:v>17</c:v>
                </c:pt>
                <c:pt idx="8">
                  <c:v>55.4</c:v>
                </c:pt>
                <c:pt idx="9">
                  <c:v>53.6</c:v>
                </c:pt>
                <c:pt idx="10">
                  <c:v>81.2</c:v>
                </c:pt>
                <c:pt idx="11">
                  <c:v>28.8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B4F-47DF-96E3-C4C373BE84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Ask (100%)</c:v>
                </c:pt>
              </c:strCache>
            </c:strRef>
          </c:tx>
          <c:spPr>
            <a:ln w="31750" cap="flat">
              <a:solidFill>
                <a:srgbClr val="B7C1C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12/29</c:v>
                </c:pt>
                <c:pt idx="1">
                  <c:v>01/12</c:v>
                </c:pt>
                <c:pt idx="2">
                  <c:v>01/26</c:v>
                </c:pt>
                <c:pt idx="3">
                  <c:v>02/09</c:v>
                </c:pt>
                <c:pt idx="4">
                  <c:v>02/23</c:v>
                </c:pt>
                <c:pt idx="5">
                  <c:v>03/09</c:v>
                </c:pt>
                <c:pt idx="6">
                  <c:v>03/23</c:v>
                </c:pt>
                <c:pt idx="7">
                  <c:v>04/06</c:v>
                </c:pt>
                <c:pt idx="8">
                  <c:v>04/20</c:v>
                </c:pt>
                <c:pt idx="9">
                  <c:v>05/04</c:v>
                </c:pt>
                <c:pt idx="10">
                  <c:v>05/18</c:v>
                </c:pt>
                <c:pt idx="11">
                  <c:v>06/01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B4F-47DF-96E3-C4C373BE84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8ED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0303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67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Single-slide answer to the goal: do we risk not meeting 125% of 2027 demand, by part-supplier?
Headline: only Martins is at risk. Headroom 1.01x, labor-bound (labor 99% utilized). Cannot absorb 125%; barely clears 100%.
Root cause: pelvic-block harvest yield is low -&gt; heavy rework -&gt; consumes Martins labor.
Per-site headroom (x of 2027 demand before first constraint binds):
  Martins 1.01x (Labor) | Customs 1.27x (Pigs) | Nahunta 1.38x (Pigs) | Parks 2.00x (Pigs).
Customs only clears by ~2 points and is kill-bound; new freezer capacity removed freezer as the limiter.
Spare capacity at the other sites is labor &amp; freezer, NOT pigs (small kill lines), so move labor-/freezer-heavy tissues there, not pig-heavy ones.
CAVEAT to confirm before presenting: the model header cell (A1) reads 'Q4'26 BP'. Confirm the displayed quantities are the busiest-quarter 2027 scenario, not Q4 2026, or relabel.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— per-tissue constraint map (2027 capacity). Martins LABOR-bound (99%, pelvic family + bariatric). Customs/Nahunta KILL-bound (79/73%). Parks KILL-bound on Female Pelvic (50%, 2.0x), pelvic quality on observation -&gt; potential relief for Martins.
RIGHT — pelvic attainment vs ask, biweekly 2026 YTD (harvested/ask). Female Pelvic ran &gt;=100% through Feb, then slid steadily to ~50% by June -&gt; the worsening, high-volume problem. Pelvic Block was erratic early (batch timing) and recovered to ~100% in Q2. Ask line = 100%. Male Pelvic excluded (wound down: Q2 demand cut to 200, attainment ~1%).
Takeaway: the pelvic shortfall is now concentrated in Female Pelvic and getting worse, exactly where 2027 demand grows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 Capacity vs. 2027 Demand — Can We Cover 125%?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at the busiest quarter of 2027.  </a:t>
            </a:r>
            <a:r>
              <a:rPr lang="en-US" sz="12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</a:t>
            </a: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demand multiple a site can absorb before its first constraint binds (target ≥ 1.25× = 125%).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BEEEC"/>
          </a:solidFill>
          <a:ln w="12700">
            <a:solidFill>
              <a:srgbClr val="F1CFC8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13232" y="1545336"/>
            <a:ext cx="182880" cy="182880"/>
          </a:xfrm>
          <a:prstGeom prst="ellipse">
            <a:avLst/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24128" y="1298448"/>
            <a:ext cx="10561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but the risk is isolated to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It sits at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1.0× headroom (labor-bound)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cannot cover 125% of 2027 demand. Every other site clears 125%.</a:t>
            </a:r>
            <a:r>
              <a:rPr sz="1100" b="1" i="1">
                <a:solidFill>
                  <a:srgbClr val="12345B"/>
                </a:solidFill>
                <a:latin typeface="Calibri"/>
              </a:rPr>
              <a:t>   ▸ Lifting pelvic harvest yield pays back hard: +10 pts (25%→35%) frees ~246 pigs &amp; ~4.8 labor-hrs/wk at Martins, and ~+20 pts (→45%) finally clears 125% on labor — see slide 3.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114032" y="2286000"/>
            <a:ext cx="0" cy="4041648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4942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BY SUPPLIER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5968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27632" y="25968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59152" y="25968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90672" y="25968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68496" y="25968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(×)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07024" y="2596896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125%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6537960" cy="0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0815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57200" y="335584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· Pelvic block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82496" y="31729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627632" y="3154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414016" y="31729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EFC4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59152" y="3154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145536" y="31729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090672" y="3154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968496" y="325983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968496" y="3259836"/>
            <a:ext cx="571718" cy="155448"/>
          </a:xfrm>
          <a:prstGeom prst="roundRect">
            <a:avLst>
              <a:gd name="adj" fmla="val 17647"/>
            </a:avLst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230368" y="315468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1.01×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07024" y="319125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07024" y="318211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125%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65760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57200" y="37216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57200" y="39959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682496" y="38130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627632" y="3794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2414016" y="38130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359152" y="3794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3145536" y="38130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90672" y="3794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968496" y="389991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968496" y="3899916"/>
            <a:ext cx="718893" cy="155448"/>
          </a:xfrm>
          <a:prstGeom prst="roundRect">
            <a:avLst>
              <a:gd name="adj" fmla="val 17647"/>
            </a:avLst>
          </a:prstGeom>
          <a:solidFill>
            <a:srgbClr val="B0741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230368" y="379476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1.27×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907024" y="383133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907024" y="382219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clears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429768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57200" y="436168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57200" y="46360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Thor/bari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682496" y="44531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627632" y="4434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2414016" y="44531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359152" y="4434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3145536" y="44531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090672" y="4434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3968496" y="453999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968496" y="4539996"/>
            <a:ext cx="781159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230368" y="443484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1.38×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907024" y="447141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907024" y="446227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493776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57200" y="500176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Parks</a:t>
            </a:r>
            <a:endParaRPr lang="en-US" sz="1450" dirty="0"/>
          </a:p>
        </p:txBody>
      </p:sp>
      <p:sp>
        <p:nvSpPr>
          <p:cNvPr id="59" name="Text 57"/>
          <p:cNvSpPr/>
          <p:nvPr/>
        </p:nvSpPr>
        <p:spPr>
          <a:xfrm>
            <a:off x="457200" y="527608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Pelvic (low yield)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682496" y="50932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BEF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1627632" y="50749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2414016" y="50932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359152" y="50749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3145536" y="50932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090672" y="50749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1250" dirty="0"/>
          </a:p>
        </p:txBody>
      </p:sp>
      <p:sp>
        <p:nvSpPr>
          <p:cNvPr id="66" name="Shape 64"/>
          <p:cNvSpPr/>
          <p:nvPr/>
        </p:nvSpPr>
        <p:spPr>
          <a:xfrm>
            <a:off x="3968496" y="518007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3968496" y="5180076"/>
            <a:ext cx="1132114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230368" y="507492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2.00×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5907024" y="511149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907024" y="510235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676067" y="3113532"/>
            <a:ext cx="0" cy="2368296"/>
          </a:xfrm>
          <a:prstGeom prst="line">
            <a:avLst/>
          </a:prstGeom>
          <a:noFill/>
          <a:ln w="15875">
            <a:solidFill>
              <a:srgbClr val="12345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264587" y="28757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125%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457200" y="574243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= % of capacity used (red = near limit).  Bar = headroom; dashed line = 125% target.  Caption under each site = binding constraint · driver tissue.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7333488" y="2249424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SEEING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7333488" y="2542032"/>
            <a:ext cx="44074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 is labor-bound at 99% — only ~1.0× headroom, so it can't cover 125% of 2027 demand (tight even at 100%). 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is the pelvic block: low harvest yield, and the rework that follows eats Martins' labor.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site clears 125%, but their limit is kill (pig) capacity — not labor or freezer, which sit wide open at Nahunta and Customs.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7333488" y="4334256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 (MILESTONES)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333488" y="4626864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7333488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9" name="Text 77"/>
          <p:cNvSpPr/>
          <p:nvPr/>
        </p:nvSpPr>
        <p:spPr>
          <a:xfrm>
            <a:off x="7754112" y="4572000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Martins pelvic-block yield study — pull bad pelvics and root-cause the harvest loss. </a:t>
            </a:r>
            <a:r>
              <a:rPr lang="en-US" sz="1150" dirty="0">
                <a:solidFill>
                  <a:srgbClr val="20303D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10% + on harvesting yield, should mean headroom improvement or capacity improvement of such % on pigs and such % on labor</a:t>
            </a:r>
            <a:endParaRPr lang="en-US" sz="1150" dirty="0">
              <a:highlight>
                <a:srgbClr val="FFFF00"/>
              </a:highlight>
            </a:endParaRPr>
          </a:p>
        </p:txBody>
      </p:sp>
      <p:sp>
        <p:nvSpPr>
          <p:cNvPr id="80" name="Shape 78"/>
          <p:cNvSpPr/>
          <p:nvPr/>
        </p:nvSpPr>
        <p:spPr>
          <a:xfrm>
            <a:off x="7333488" y="5193792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333488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82" name="Text 80"/>
          <p:cNvSpPr/>
          <p:nvPr/>
        </p:nvSpPr>
        <p:spPr>
          <a:xfrm>
            <a:off x="7754112" y="5138928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Parks as a 2nd pelvic source once its upstream yield root-cause lands.</a:t>
            </a:r>
            <a:endParaRPr lang="en-US" sz="1150" dirty="0"/>
          </a:p>
        </p:txBody>
      </p:sp>
      <p:sp>
        <p:nvSpPr>
          <p:cNvPr id="83" name="Shape 81"/>
          <p:cNvSpPr/>
          <p:nvPr/>
        </p:nvSpPr>
        <p:spPr>
          <a:xfrm>
            <a:off x="7333488" y="5760720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7333488" y="5751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85" name="Text 83"/>
          <p:cNvSpPr/>
          <p:nvPr/>
        </p:nvSpPr>
        <p:spPr>
          <a:xfrm>
            <a:off x="7754112" y="5705856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Re-balance labor-/freezer-heavy tissues off Martins → Customs (new freezer) and Nahunta (open labor).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457200" y="6437376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Part_Supplier_RiskAssessmentTool_v2.xlsx · Tissue_Model.  Headroom = 1 ÷ highest constraint utilization at busiest-quarter 2027 demand.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Tissue Models</a:t>
            </a:r>
            <a:endParaRPr lang="en-US" sz="900" dirty="0"/>
          </a:p>
        </p:txBody>
      </p:sp>
      <p:sp>
        <p:nvSpPr>
          <p:cNvPr id="91" name="Text 14">
            <a:extLst>
              <a:ext uri="{FF2B5EF4-FFF2-40B4-BE49-F238E27FC236}">
                <a16:creationId xmlns:a16="http://schemas.microsoft.com/office/drawing/2014/main" id="{DC8B9534-47A6-83C2-DF21-AAAC614A8A44}"/>
              </a:ext>
            </a:extLst>
          </p:cNvPr>
          <p:cNvSpPr/>
          <p:nvPr/>
        </p:nvSpPr>
        <p:spPr>
          <a:xfrm>
            <a:off x="381963" y="2005103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</a:t>
            </a:r>
            <a:endParaRPr lang="en-US" sz="1450" dirty="0"/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B76DF47B-EA5E-98C1-7AD7-9C1EDFC141B1}"/>
              </a:ext>
            </a:extLst>
          </p:cNvPr>
          <p:cNvSpPr/>
          <p:nvPr/>
        </p:nvSpPr>
        <p:spPr>
          <a:xfrm>
            <a:off x="381963" y="2279423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· Pelvic block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Tissue Is Constrained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constraint per site and the tissues driving it — busiest quarter of 2027.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131673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Martins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86000" y="1344168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0" y="1339596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 ·  99%  ·  1.01×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167335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(666541),  Pelvic Block (666506),  Bariatric Block (666502),  Aorta Segments (666501)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3317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86000" y="2359152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286000" y="2354580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79%  ·  1.27×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58368" y="268833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Bariatric Block (666502),  Aorta Segments (666501),  Vena Cava (666523),  Omentum (666516),  Pancreas (666517)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255264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33467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Nahunta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286000" y="3374136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86000" y="3369564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73%  ·  1.38×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8368" y="3703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Aorta Segments (666501),  Thoracic Block (666521),  Pancreas (666517),  Omentum (666516),  Full Thor &amp; Bari Block (666507)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270248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436168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Parks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286000" y="438912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286000" y="4384548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50%  ·  2.00×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8368" y="4718304"/>
            <a:ext cx="5257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93776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observation — </a:t>
            </a:r>
            <a:r>
              <a:rPr lang="en-US" sz="900" i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pelvic quality; potential capacity once resolved.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55080" y="1188720"/>
            <a:ext cx="5376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ATTAINMENT vs 250/WK STANDARD @Martin’s — BIWEEKLY, 2026 YTD – Harvesting Yield </a:t>
            </a:r>
            <a:endParaRPr lang="en-US" sz="1100" dirty="0"/>
          </a:p>
        </p:txBody>
      </p:sp>
      <p:graphicFrame>
        <p:nvGraphicFramePr>
          <p:cNvPr id="26" name="Chart 0"/>
          <p:cNvGraphicFramePr/>
          <p:nvPr>
            <p:extLst>
              <p:ext uri="{D42A27DB-BD31-4B8C-83A1-F6EECF244321}">
                <p14:modId xmlns:p14="http://schemas.microsoft.com/office/powerpoint/2010/main" val="3802844109"/>
              </p:ext>
            </p:extLst>
          </p:nvPr>
        </p:nvGraphicFramePr>
        <p:xfrm>
          <a:off x="6281928" y="1481328"/>
          <a:ext cx="5486400" cy="37124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Shape 24"/>
          <p:cNvSpPr/>
          <p:nvPr/>
        </p:nvSpPr>
        <p:spPr>
          <a:xfrm>
            <a:off x="457200" y="5413248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57200" y="5477256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each site is independent; labor &amp; freezer are shared per site, kill capacity is set by tissues that can't come from one pig.  Right: attainment = harvested ÷ 250/wk flat ask (biweekly); Male Pelvic excluded (wound down); zero-harvest weeks excluded from each biweekly point.  Codes are Intuitive part numbers.</a:t>
            </a:r>
            <a:endParaRPr lang="en-US" sz="85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7D2B7E-C16B-22F9-D6E8-0AEDF44B6CC5}"/>
              </a:ext>
            </a:extLst>
          </p:cNvPr>
          <p:cNvSpPr txBox="1"/>
          <p:nvPr/>
        </p:nvSpPr>
        <p:spPr>
          <a:xfrm>
            <a:off x="5095104" y="5964782"/>
            <a:ext cx="6979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✓ 250 denominator applied</a:t>
            </a:r>
          </a:p>
          <a:p>
            <a:r>
              <a:rPr lang="en-US" dirty="0"/>
              <a:t>Why is the attainment dropping: Possible culprits: harvesting yield, labor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2345B"/>
                </a:solidFill>
                <a:latin typeface="Cambria"/>
              </a:rPr>
              <a:t>Reference — Pelvic Harvest-Yield Sensitivity (Martins)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0303D"/>
                </a:solidFill>
                <a:latin typeface="Calibri"/>
              </a:rPr>
              <a:t>Backup for the slide-1 finding. </a:t>
            </a:r>
            <a:r>
              <a:rPr sz="1100" b="0">
                <a:solidFill>
                  <a:srgbClr val="20303D"/>
                </a:solidFill>
                <a:latin typeface="Calibri"/>
              </a:rPr>
              <a:t>Capacity returned at Martins if the pelvic-block study lifts harvesting yield above today's 25%. Follows the Tissue_Model: </a:t>
            </a:r>
            <a:r>
              <a:rPr sz="1100" b="0">
                <a:solidFill>
                  <a:srgbClr val="5A6A7A"/>
                </a:solidFill>
                <a:latin typeface="Calibri"/>
              </a:rPr>
              <a:t>Pigs Consumed = Net Harvest ÷ Harvest Yield;  Planned Labor carries the rework on every wasted pig.  Gains shown as percentage points above the 25% base.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188720" y="1828800"/>
          <a:ext cx="9811512" cy="2606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0472"/>
                <a:gridCol w="1600200"/>
                <a:gridCol w="1691640"/>
                <a:gridCol w="1691640"/>
                <a:gridCol w="1691640"/>
                <a:gridCol w="1645920"/>
              </a:tblGrid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Yield gain</a:t>
                      </a:r>
                    </a:p>
                  </a:txBody>
                  <a:tcPr anchor="ctr" marL="54864" marR="54864" marT="27432" marB="27432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Harvest yield</a:t>
                      </a:r>
                    </a:p>
                  </a:txBody>
                  <a:tcPr anchor="ctr" marL="54864" marR="54864" marT="27432" marB="27432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Pigs freed / wk</a:t>
                      </a:r>
                    </a:p>
                  </a:txBody>
                  <a:tcPr anchor="ctr" marL="54864" marR="54864" marT="27432" marB="27432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freed / wk</a:t>
                      </a:r>
                    </a:p>
                  </a:txBody>
                  <a:tcPr anchor="ctr" marL="54864" marR="54864" marT="27432" marB="27432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headroom</a:t>
                      </a:r>
                    </a:p>
                  </a:txBody>
                  <a:tcPr anchor="ctr" marL="54864" marR="54864" marT="27432" marB="27432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 headroom</a:t>
                      </a:r>
                    </a:p>
                  </a:txBody>
                  <a:tcPr anchor="ctr" marL="54864" marR="54864" marT="27432" marB="27432">
                    <a:solidFill>
                      <a:srgbClr val="12345B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anchor="ctr" marL="54864" marR="54864" marT="27432" marB="27432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54864" marR="54864" marT="27432" marB="27432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54864" marR="54864" marT="27432" marB="27432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54864" marR="54864" marT="27432" marB="27432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1.01×</a:t>
                      </a:r>
                    </a:p>
                  </a:txBody>
                  <a:tcPr anchor="ctr" marL="54864" marR="54864" marT="27432" marB="27432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1.23×</a:t>
                      </a:r>
                    </a:p>
                  </a:txBody>
                  <a:tcPr anchor="ctr" marL="54864" marR="54864" marT="27432" marB="27432">
                    <a:solidFill>
                      <a:srgbClr val="E3E9F1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+5 pts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2.8 h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1.10×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1.46×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+10 pts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4.8 h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1.17×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1.68×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+15 pts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6.3 h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1.23×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1.90×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+20 pts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7.5 h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1.28×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2.12×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7229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+25 pts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432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8.4 h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1.33×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2.33×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88720" y="4617720"/>
            <a:ext cx="98115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2345B"/>
                </a:solidFill>
                <a:latin typeface="Calibri"/>
              </a:rPr>
              <a:t>How to read:  </a:t>
            </a:r>
            <a:r>
              <a:rPr sz="1100" b="0">
                <a:solidFill>
                  <a:srgbClr val="20303D"/>
                </a:solidFill>
                <a:latin typeface="Calibri"/>
              </a:rPr>
              <a:t>pigs clear the 125% target immediately, but labor — the binding constraint at Martins — needs about +20 points (yield to 45%) to cross 1.25×. Yield is the lever, yet a sizeable lift is required, so pair it with re-balancing labor off Martins (Milestone 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5A6A7A"/>
                </a:solidFill>
                <a:latin typeface="Calibri"/>
              </a:rPr>
              <a:t>Source: Part_Supplier_RiskAssessmentTool_v2.xlsx · Tissue_Model (666541 + 666506 @ Martins).  Headroom = 1 ÷ binding-constraint utilization at busiest-quarter 2027 demand.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960</Words>
  <Application>Microsoft Office PowerPoint</Application>
  <PresentationFormat>Widescreen</PresentationFormat>
  <Paragraphs>78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Cambria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Capacity vs 2027 Demand</dc:title>
  <dc:subject>PptxGenJS Presentation</dc:subject>
  <dc:creator>Oscar</dc:creator>
  <cp:lastModifiedBy>Oscar Penny</cp:lastModifiedBy>
  <cp:revision>5</cp:revision>
  <dcterms:created xsi:type="dcterms:W3CDTF">2026-06-24T15:54:04Z</dcterms:created>
  <dcterms:modified xsi:type="dcterms:W3CDTF">2026-06-29T12:23:56Z</dcterms:modified>
</cp:coreProperties>
</file>