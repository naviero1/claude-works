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Pelvic (541's)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</c:v>
                </c:pt>
                <c:pt idx="1">
                  <c:v>55.8</c:v>
                </c:pt>
                <c:pt idx="2">
                  <c:v>52</c:v>
                </c:pt>
                <c:pt idx="3">
                  <c:v>53.6</c:v>
                </c:pt>
                <c:pt idx="4">
                  <c:v>87</c:v>
                </c:pt>
                <c:pt idx="5">
                  <c:v>114.6</c:v>
                </c:pt>
                <c:pt idx="6">
                  <c:v>61.6</c:v>
                </c:pt>
                <c:pt idx="7">
                  <c:v>108.4</c:v>
                </c:pt>
                <c:pt idx="8">
                  <c:v>85.6</c:v>
                </c:pt>
                <c:pt idx="9">
                  <c:v>69.4</c:v>
                </c:pt>
                <c:pt idx="10">
                  <c:v>78.6</c:v>
                </c:pt>
                <c:pt idx="11">
                  <c:v>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4F-47DF-96E3-C4C373BE84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Pelvic Block (506's)</c:v>
                </c:pt>
              </c:strCache>
            </c:strRef>
          </c:tx>
          <c:spPr>
            <a:ln w="31750" cap="flat">
              <a:solidFill>
                <a:srgbClr val="1234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</c:v>
                </c:pt>
                <c:pt idx="1">
                  <c:v>7</c:v>
                </c:pt>
                <c:pt idx="2">
                  <c:v>32</c:v>
                </c:pt>
                <c:pt idx="3">
                  <c:v>13</c:v>
                </c:pt>
                <c:pt idx="4">
                  <c:v>40</c:v>
                </c:pt>
                <c:pt idx="5">
                  <c:v>15.4</c:v>
                </c:pt>
                <c:pt idx="6">
                  <c:v>3.8</c:v>
                </c:pt>
                <c:pt idx="7">
                  <c:v>17</c:v>
                </c:pt>
                <c:pt idx="8">
                  <c:v>55.4</c:v>
                </c:pt>
                <c:pt idx="9">
                  <c:v>53.6</c:v>
                </c:pt>
                <c:pt idx="10">
                  <c:v>40.6</c:v>
                </c:pt>
                <c:pt idx="11">
                  <c:v>28.8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4F-47DF-96E3-C4C373BE84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Ask (100%)</c:v>
                </c:pt>
              </c:strCache>
            </c:strRef>
          </c:tx>
          <c:spPr>
            <a:ln w="31750" cap="flat">
              <a:solidFill>
                <a:srgbClr val="B7C1C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4F-47DF-96E3-C4C373BE8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6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answer to the goal: do we risk not meeting 125% of 2027 demand, by part-supplier?
Headline: only Martins is at risk. Headroom 1.01x, labor-bound (labor 99% utilized). Cannot absorb 125%; barely clears 100%.
Root cause: pelvic-block harvest yield is low -&gt; heavy rework -&gt; consumes Martins labor.
Per-site headroom (x of 2027 demand before first constraint binds):
  Martins 1.01x (Labor) | Customs 1.27x (Pigs) | Nahunta 1.38x (Pigs) | Parks 2.00x (Pigs).
Customs only clears by ~2 points and is kill-bound; new freezer capacity removed freezer as the limiter.
Spare capacity at the other sites is labor &amp; freezer, NOT pigs (small kill lines), so move labor-/freezer-heavy tissues there, not pig-heavy ones.
CAVEAT to confirm before presenting: the model header cell (A1) reads 'Q4'26 BP'. Confirm the displayed quantities are the busiest-quarter 2027 scenario, not Q4 2026, or relabel.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— per-tissue constraint map (2027 capacity). Martins LABOR-bound (99%, pelvic family + bariatric). Customs/Nahunta KILL-bound (79/73%). Parks KILL-bound on Female Pelvic (50%, 2.0x), pelvic quality on observation -&gt; potential relief for Martins.
RIGHT — pelvic attainment vs ask, biweekly 2026 YTD (harvested/ask). Female Pelvic ran &gt;=100% through Feb, then slid steadily to ~50% by June -&gt; the worsening, high-volume problem. Pelvic Block was erratic early (batch timing) and recovered to ~100% in Q2. Ask line = 100%. Male Pelvic excluded (wound down: Q2 demand cut to 200, attainment ~1%).
Takeaway: the pelvic shortfall is now concentrated in Female Pelvic and getting worse, exactly where 2027 demand grows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Supplier Capacity vs. 2027 Demand — Can We Cover 125%?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at the busiest quarter of 2027.  </a:t>
            </a:r>
            <a:r>
              <a:rPr lang="en-US" sz="12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demand multiple a site can absorb before its first constraint binds (target ≥ 1.25× = 125%).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BEEEC"/>
          </a:solidFill>
          <a:ln w="12700">
            <a:solidFill>
              <a:srgbClr val="F1CFC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545336"/>
            <a:ext cx="182880" cy="182880"/>
          </a:xfrm>
          <a:prstGeom prst="ellipse">
            <a:avLst/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298448"/>
            <a:ext cx="1056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the risk is isolated to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It sits at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1.0× headroom (labor-bound)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cannot cover 125% of 2027 demand. Every other site clears 125%.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14032" y="2286000"/>
            <a:ext cx="0" cy="4041648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BY SUPPLIER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067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8496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(×)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07024" y="259689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653796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· Pelvic block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8249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2763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41401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EFC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915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4553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9067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68496" y="325983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68496" y="3259836"/>
            <a:ext cx="571718" cy="155448"/>
          </a:xfrm>
          <a:prstGeom prst="roundRect">
            <a:avLst>
              <a:gd name="adj" fmla="val 17647"/>
            </a:avLst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30368" y="31546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1.01×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07024" y="319125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07024" y="31821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721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39959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8249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2763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41401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5915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14553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067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968496" y="389991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68496" y="3899916"/>
            <a:ext cx="718893" cy="155448"/>
          </a:xfrm>
          <a:prstGeom prst="roundRect">
            <a:avLst>
              <a:gd name="adj" fmla="val 17647"/>
            </a:avLst>
          </a:prstGeom>
          <a:solidFill>
            <a:srgbClr val="B074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0368" y="37947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1.27×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907024" y="383133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07024" y="382219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clears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3616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Nahunta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200" y="4636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Thor/bari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8249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2763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41401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5915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14553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9067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968496" y="453999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68496" y="4539996"/>
            <a:ext cx="781159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443484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1.38×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907024" y="447141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07024" y="446227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93776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5001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457200" y="5276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Pelvic (low yield)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8249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BEF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62763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241401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5915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314553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9067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3968496" y="518007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968496" y="5180076"/>
            <a:ext cx="1132114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230368" y="5074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2.00×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907024" y="511149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07024" y="510235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76067" y="3113532"/>
            <a:ext cx="0" cy="2368296"/>
          </a:xfrm>
          <a:prstGeom prst="line">
            <a:avLst/>
          </a:prstGeom>
          <a:noFill/>
          <a:ln w="15875">
            <a:solidFill>
              <a:srgbClr val="1234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264587" y="28757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125%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57200" y="5742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= % of capacity used (red = near limit).  Bar = headroom; dashed line = 125% target.  Caption under each site = binding constraint · driver tissue.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333488" y="2249424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SEEING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33488" y="2542032"/>
            <a:ext cx="4407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 is labor-bound at 99% — only ~1.0× headroom, so it can't cover 125% of 2027 demand (tight even at 100%). 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the pelvic block: low harvest yield, and the rework that follows eats Martins' labor.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site clears 125%, but their limit is kill (pig) capacity — not labor or freezer, which sit wide open at Nahunta and Customs.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7333488" y="433425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(MILESTONES)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333488" y="4626864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333488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7754112" y="457200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Martins pelvic-block yield study — pull bad pelvics and root-cause the harvest loss. </a:t>
            </a:r>
            <a:r>
              <a:rPr lang="en-US" sz="1150" dirty="0">
                <a:solidFill>
                  <a:srgbClr val="20303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10% + on harvesting yield, should mean headroom improvement or capacity improvement of such % on pigs and such % on labor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333488" y="5193792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333488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7754112" y="513892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Parks as a 2nd pelvic source once its upstream yield root-cause lands.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333488" y="5760720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33488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7754112" y="57058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labor-/freezer-heavy tissues off Martins → Customs (new freezer) and Nahunta (open labor).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457200" y="6437376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Part_Supplier_RiskAssessmentTool_v2.xlsx · Tissue_Model.  Headroom = 1 ÷ highest constraint utilization at busiest-quarter 2027 demand.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Tissue Models</a:t>
            </a:r>
            <a:endParaRPr lang="en-US" sz="900" dirty="0"/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DC8B9534-47A6-83C2-DF21-AAAC614A8A44}"/>
              </a:ext>
            </a:extLst>
          </p:cNvPr>
          <p:cNvSpPr/>
          <p:nvPr/>
        </p:nvSpPr>
        <p:spPr>
          <a:xfrm>
            <a:off x="381963" y="200510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45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B76DF47B-EA5E-98C1-7AD7-9C1EDFC141B1}"/>
              </a:ext>
            </a:extLst>
          </p:cNvPr>
          <p:cNvSpPr/>
          <p:nvPr/>
        </p:nvSpPr>
        <p:spPr>
          <a:xfrm>
            <a:off x="381963" y="2279423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· Pelvic block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Tissue Is Constrained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 per site and the tissues driving it — busiest quarter of 2027.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167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13441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33959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 ·  99%  ·  1.01×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(666541),  Pelvic Block (666506),  Bariatric Block (666502),  Aorta Segments (666501)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235915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235458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79%  ·  1.27×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6883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Bariatric Block (666502),  Aorta Segments (666501),  Vena Cava (666523),  Omentum (666516),  Pancreas (666517)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Nahunta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33741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336956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73%  ·  1.38×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3703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Segments (666501),  Thoracic Block (666521),  Pancreas (666517),  Omentum (666516),  Full Thor &amp; Bari Block (666507)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361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286000" y="43891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0" y="438454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50%  ·  2.00×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71830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93776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observation — </a:t>
            </a:r>
            <a:r>
              <a:rPr lang="en-US" sz="900" i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pelvic quality; potential capacity once resolved.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188720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ATTAINMENT vs 250/WK STANDARD @Martin’s — BIWEEKLY, 2026 YTD – Harvesting Yield 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3802844109"/>
              </p:ext>
            </p:extLst>
          </p:nvPr>
        </p:nvGraphicFramePr>
        <p:xfrm>
          <a:off x="6281928" y="1481328"/>
          <a:ext cx="5486400" cy="371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5413248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547725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each site is independent; labor &amp; freezer are shared per site, kill capacity is set by tissues that can't come from one pig.  Right: attainment = harvested ÷ 250/wk flat ask (biweekly); Male Pelvic excluded (being wound down).  Codes are Intuitive part numbers.</a:t>
            </a:r>
            <a:endParaRPr lang="en-US" sz="8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7D2B7E-C16B-22F9-D6E8-0AEDF44B6CC5}"/>
              </a:ext>
            </a:extLst>
          </p:cNvPr>
          <p:cNvSpPr txBox="1"/>
          <p:nvPr/>
        </p:nvSpPr>
        <p:spPr>
          <a:xfrm>
            <a:off x="5095104" y="5964782"/>
            <a:ext cx="6979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✓ 250 denominator applied</a:t>
            </a:r>
          </a:p>
          <a:p>
            <a:r>
              <a:rPr lang="en-US" dirty="0"/>
              <a:t>Why is the attainment dropping: Possible culprits: harvesting yield, labor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Office PowerPoint</Application>
  <PresentationFormat>Widescreen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Tissue Supplier Capacity vs 2027 Demand</dc:title>
  <dc:subject>PptxGenJS Presentation</dc:subject>
  <dc:creator>Oscar</dc:creator>
  <cp:lastModifiedBy>Oscar Penny</cp:lastModifiedBy>
  <cp:revision>5</cp:revision>
  <dcterms:created xsi:type="dcterms:W3CDTF">2026-06-24T15:54:04Z</dcterms:created>
  <dcterms:modified xsi:type="dcterms:W3CDTF">2026-06-29T12:23:56Z</dcterms:modified>
</cp:coreProperties>
</file>