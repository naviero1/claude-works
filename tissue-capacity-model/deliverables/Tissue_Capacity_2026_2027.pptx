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Pelvic Attainment (506+518+541)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12/29</c:v>
                </c:pt>
                <c:pt idx="1">
                  <c:v>01/05</c:v>
                </c:pt>
                <c:pt idx="2">
                  <c:v>01/12</c:v>
                </c:pt>
                <c:pt idx="3">
                  <c:v>01/19</c:v>
                </c:pt>
                <c:pt idx="4">
                  <c:v>01/26</c:v>
                </c:pt>
                <c:pt idx="5">
                  <c:v>02/02</c:v>
                </c:pt>
                <c:pt idx="6">
                  <c:v>02/09</c:v>
                </c:pt>
                <c:pt idx="7">
                  <c:v>02/16</c:v>
                </c:pt>
                <c:pt idx="8">
                  <c:v>02/23</c:v>
                </c:pt>
                <c:pt idx="9">
                  <c:v>03/02</c:v>
                </c:pt>
                <c:pt idx="10">
                  <c:v>03/09</c:v>
                </c:pt>
                <c:pt idx="11">
                  <c:v>03/16</c:v>
                </c:pt>
                <c:pt idx="12">
                  <c:v>03/23</c:v>
                </c:pt>
                <c:pt idx="13">
                  <c:v>03/30</c:v>
                </c:pt>
                <c:pt idx="14">
                  <c:v>04/06</c:v>
                </c:pt>
                <c:pt idx="15">
                  <c:v>04/13</c:v>
                </c:pt>
                <c:pt idx="16">
                  <c:v>04/20</c:v>
                </c:pt>
                <c:pt idx="17">
                  <c:v>04/27</c:v>
                </c:pt>
                <c:pt idx="18">
                  <c:v>05/04</c:v>
                </c:pt>
                <c:pt idx="19">
                  <c:v>05/11</c:v>
                </c:pt>
                <c:pt idx="20">
                  <c:v>05/18</c:v>
                </c:pt>
                <c:pt idx="21">
                  <c:v>05/25</c:v>
                </c:pt>
                <c:pt idx="22">
                  <c:v>06/01</c:v>
                </c:pt>
                <c:pt idx="23">
                  <c:v>06/08</c:v>
                </c:pt>
                <c:pt idx="24">
                  <c:v>06/15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</c:v>
                </c:pt>
                <c:pt idx="1">
                  <c:v>106</c:v>
                </c:pt>
                <c:pt idx="2">
                  <c:v>66.4</c:v>
                </c:pt>
                <c:pt idx="3">
                  <c:v>59.2</c:v>
                </c:pt>
                <c:pt idx="4">
                  <c:v>70.4</c:v>
                </c:pt>
                <c:pt idx="5">
                  <c:v>97.6</c:v>
                </c:pt>
                <c:pt idx="6">
                  <c:v>47.2</c:v>
                </c:pt>
                <c:pt idx="7">
                  <c:v>86</c:v>
                </c:pt>
                <c:pt idx="8">
                  <c:v>114.8</c:v>
                </c:pt>
                <c:pt idx="9">
                  <c:v>139.2</c:v>
                </c:pt>
                <c:pt idx="10">
                  <c:v>110</c:v>
                </c:pt>
                <c:pt idx="11">
                  <c:v>150</c:v>
                </c:pt>
                <c:pt idx="12">
                  <c:v>65.2</c:v>
                </c:pt>
                <c:pt idx="13">
                  <c:v>65.6</c:v>
                </c:pt>
                <c:pt idx="14">
                  <c:v>97.6</c:v>
                </c:pt>
                <c:pt idx="15">
                  <c:v>153.2</c:v>
                </c:pt>
                <c:pt idx="16">
                  <c:v>157.6</c:v>
                </c:pt>
                <c:pt idx="17">
                  <c:v>124.4</c:v>
                </c:pt>
                <c:pt idx="18">
                  <c:v>121.2</c:v>
                </c:pt>
                <c:pt idx="19">
                  <c:v>124.8</c:v>
                </c:pt>
                <c:pt idx="20">
                  <c:v>162</c:v>
                </c:pt>
                <c:pt idx="21">
                  <c:v>76.4</c:v>
                </c:pt>
                <c:pt idx="22">
                  <c:v>107.6</c:v>
                </c:pt>
                <c:pt idx="23">
                  <c:v>48.8</c:v>
                </c:pt>
                <c:pt idx="24">
                  <c:v>96.8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12/29</c:v>
                </c:pt>
                <c:pt idx="1">
                  <c:v>01/05</c:v>
                </c:pt>
                <c:pt idx="2">
                  <c:v>01/12</c:v>
                </c:pt>
                <c:pt idx="3">
                  <c:v>01/19</c:v>
                </c:pt>
                <c:pt idx="4">
                  <c:v>01/26</c:v>
                </c:pt>
                <c:pt idx="5">
                  <c:v>02/02</c:v>
                </c:pt>
                <c:pt idx="6">
                  <c:v>02/09</c:v>
                </c:pt>
                <c:pt idx="7">
                  <c:v>02/16</c:v>
                </c:pt>
                <c:pt idx="8">
                  <c:v>02/23</c:v>
                </c:pt>
                <c:pt idx="9">
                  <c:v>03/02</c:v>
                </c:pt>
                <c:pt idx="10">
                  <c:v>03/09</c:v>
                </c:pt>
                <c:pt idx="11">
                  <c:v>03/16</c:v>
                </c:pt>
                <c:pt idx="12">
                  <c:v>03/23</c:v>
                </c:pt>
                <c:pt idx="13">
                  <c:v>03/30</c:v>
                </c:pt>
                <c:pt idx="14">
                  <c:v>04/06</c:v>
                </c:pt>
                <c:pt idx="15">
                  <c:v>04/13</c:v>
                </c:pt>
                <c:pt idx="16">
                  <c:v>04/20</c:v>
                </c:pt>
                <c:pt idx="17">
                  <c:v>04/27</c:v>
                </c:pt>
                <c:pt idx="18">
                  <c:v>05/04</c:v>
                </c:pt>
                <c:pt idx="19">
                  <c:v>05/11</c:v>
                </c:pt>
                <c:pt idx="20">
                  <c:v>05/18</c:v>
                </c:pt>
                <c:pt idx="21">
                  <c:v>05/25</c:v>
                </c:pt>
                <c:pt idx="22">
                  <c:v>06/01</c:v>
                </c:pt>
                <c:pt idx="23">
                  <c:v>06/08</c:v>
                </c:pt>
                <c:pt idx="24">
                  <c:v>06/15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9463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688" y="1472183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134287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 headroom (labor/freezer-bound after the reallocation)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  ▸ The labor reallocation lifted Martins to 1.14× — now freezer-/labor-bound. Pelvic-yield gains free pigs &amp; labor but don't move freezer, so Martins stays ~1.14× until freezer is addressed too — see slide 3.</a:t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1104" y="20984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993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2993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2993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651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840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058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Pelvic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29623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29623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28571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28937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28846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3601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4241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6984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6024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6024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4972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5338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5246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0001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0641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3385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2424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2424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1373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1739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1647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6402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47042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49785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48825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48825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47774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48139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48048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28160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5782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9801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eased to ~88% on labor after the reallocation, but freezer is now equally tight at ~88% — so headroom is ~1.14×, still short of 125%.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loss: Started, on route to complete 30 samples a week for 4 weeks. 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source: Already working on root causing harvesting yield specs fails.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457200" y="532794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Slaughter House</a:t>
            </a:r>
            <a:endParaRPr lang="en-US" sz="120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457200" y="553232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type – Tissue family</a:t>
            </a:r>
            <a:endParaRPr lang="en-US" sz="950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6D79C75-517A-0410-D7DB-DE0EF0FE9E02}"/>
              </a:ext>
            </a:extLst>
          </p:cNvPr>
          <p:cNvSpPr/>
          <p:nvPr/>
        </p:nvSpPr>
        <p:spPr>
          <a:xfrm>
            <a:off x="322786" y="5363162"/>
            <a:ext cx="1407831" cy="365761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88% · 1.14×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(506+518+541) vs 250/WK STANDARD @Martin’s — 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(Pelvic Block 506 + SM Intact 518 + Female Pelvic 541) harvested ÷ 250/wk (weekly); Male Pelvic excluded (wound down).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3268980" y="6071616"/>
            <a:ext cx="818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dropping? Possible culprits: Seasonality,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1.14×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1.44×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after the labor reallocation Martins sits at 1.14× — now co-limited by labor and freezer (~88% each). Yield still lifts labor (clears 1.25× by ~+10 pts) and pigs, but freezer is unaffected, so Martins overall stays ~1.14× until freezer is also addressed.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1264</Words>
  <Application>Microsoft Office PowerPoint</Application>
  <PresentationFormat>Widescreen</PresentationFormat>
  <Paragraphs>124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6</cp:revision>
  <dcterms:created xsi:type="dcterms:W3CDTF">2026-06-24T15:54:04Z</dcterms:created>
  <dcterms:modified xsi:type="dcterms:W3CDTF">2026-06-29T14:25:36Z</dcterms:modified>
</cp:coreProperties>
</file>