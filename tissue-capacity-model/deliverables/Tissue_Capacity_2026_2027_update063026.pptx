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Pelvic Attainment (506+518+541)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12/29</c:v>
                </c:pt>
                <c:pt idx="1">
                  <c:v>01/05</c:v>
                </c:pt>
                <c:pt idx="2">
                  <c:v>01/12</c:v>
                </c:pt>
                <c:pt idx="3">
                  <c:v>01/19</c:v>
                </c:pt>
                <c:pt idx="4">
                  <c:v>01/26</c:v>
                </c:pt>
                <c:pt idx="5">
                  <c:v>02/02</c:v>
                </c:pt>
                <c:pt idx="6">
                  <c:v>02/09</c:v>
                </c:pt>
                <c:pt idx="7">
                  <c:v>02/16</c:v>
                </c:pt>
                <c:pt idx="8">
                  <c:v>02/23</c:v>
                </c:pt>
                <c:pt idx="9">
                  <c:v>03/02</c:v>
                </c:pt>
                <c:pt idx="10">
                  <c:v>03/09</c:v>
                </c:pt>
                <c:pt idx="11">
                  <c:v>03/16</c:v>
                </c:pt>
                <c:pt idx="12">
                  <c:v>03/23</c:v>
                </c:pt>
                <c:pt idx="13">
                  <c:v>03/30</c:v>
                </c:pt>
                <c:pt idx="14">
                  <c:v>04/06</c:v>
                </c:pt>
                <c:pt idx="15">
                  <c:v>04/13</c:v>
                </c:pt>
                <c:pt idx="16">
                  <c:v>04/20</c:v>
                </c:pt>
                <c:pt idx="17">
                  <c:v>04/27</c:v>
                </c:pt>
                <c:pt idx="18">
                  <c:v>05/04</c:v>
                </c:pt>
                <c:pt idx="19">
                  <c:v>05/11</c:v>
                </c:pt>
                <c:pt idx="20">
                  <c:v>05/18</c:v>
                </c:pt>
                <c:pt idx="21">
                  <c:v>05/25</c:v>
                </c:pt>
                <c:pt idx="22">
                  <c:v>06/01</c:v>
                </c:pt>
                <c:pt idx="23">
                  <c:v>06/08</c:v>
                </c:pt>
                <c:pt idx="24">
                  <c:v>06/15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70</c:v>
                </c:pt>
                <c:pt idx="1">
                  <c:v>106</c:v>
                </c:pt>
                <c:pt idx="2">
                  <c:v>66.4</c:v>
                </c:pt>
                <c:pt idx="3">
                  <c:v>59.2</c:v>
                </c:pt>
                <c:pt idx="4">
                  <c:v>70.4</c:v>
                </c:pt>
                <c:pt idx="5">
                  <c:v>97.6</c:v>
                </c:pt>
                <c:pt idx="6">
                  <c:v>47.2</c:v>
                </c:pt>
                <c:pt idx="7">
                  <c:v>86</c:v>
                </c:pt>
                <c:pt idx="8">
                  <c:v>114.8</c:v>
                </c:pt>
                <c:pt idx="9">
                  <c:v>139.2</c:v>
                </c:pt>
                <c:pt idx="10">
                  <c:v>110</c:v>
                </c:pt>
                <c:pt idx="11">
                  <c:v>150</c:v>
                </c:pt>
                <c:pt idx="12">
                  <c:v>65.2</c:v>
                </c:pt>
                <c:pt idx="13">
                  <c:v>65.6</c:v>
                </c:pt>
                <c:pt idx="14">
                  <c:v>97.6</c:v>
                </c:pt>
                <c:pt idx="15">
                  <c:v>153.2</c:v>
                </c:pt>
                <c:pt idx="16">
                  <c:v>157.6</c:v>
                </c:pt>
                <c:pt idx="17">
                  <c:v>124.4</c:v>
                </c:pt>
                <c:pt idx="18">
                  <c:v>121.2</c:v>
                </c:pt>
                <c:pt idx="19">
                  <c:v>124.8</c:v>
                </c:pt>
                <c:pt idx="20">
                  <c:v>162</c:v>
                </c:pt>
                <c:pt idx="21">
                  <c:v>76.4</c:v>
                </c:pt>
                <c:pt idx="22">
                  <c:v>107.6</c:v>
                </c:pt>
                <c:pt idx="23">
                  <c:v>48.8</c:v>
                </c:pt>
                <c:pt idx="24">
                  <c:v>96.8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4F-47DF-96E3-C4C373BE84C4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Ask (100%)</c:v>
                </c:pt>
              </c:strCache>
            </c:strRef>
          </c:tx>
          <c:spPr>
            <a:ln w="31750" cap="flat">
              <a:solidFill>
                <a:srgbClr val="B7C1C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12/29</c:v>
                </c:pt>
                <c:pt idx="1">
                  <c:v>01/05</c:v>
                </c:pt>
                <c:pt idx="2">
                  <c:v>01/12</c:v>
                </c:pt>
                <c:pt idx="3">
                  <c:v>01/19</c:v>
                </c:pt>
                <c:pt idx="4">
                  <c:v>01/26</c:v>
                </c:pt>
                <c:pt idx="5">
                  <c:v>02/02</c:v>
                </c:pt>
                <c:pt idx="6">
                  <c:v>02/09</c:v>
                </c:pt>
                <c:pt idx="7">
                  <c:v>02/16</c:v>
                </c:pt>
                <c:pt idx="8">
                  <c:v>02/23</c:v>
                </c:pt>
                <c:pt idx="9">
                  <c:v>03/02</c:v>
                </c:pt>
                <c:pt idx="10">
                  <c:v>03/09</c:v>
                </c:pt>
                <c:pt idx="11">
                  <c:v>03/16</c:v>
                </c:pt>
                <c:pt idx="12">
                  <c:v>03/23</c:v>
                </c:pt>
                <c:pt idx="13">
                  <c:v>03/30</c:v>
                </c:pt>
                <c:pt idx="14">
                  <c:v>04/06</c:v>
                </c:pt>
                <c:pt idx="15">
                  <c:v>04/13</c:v>
                </c:pt>
                <c:pt idx="16">
                  <c:v>04/20</c:v>
                </c:pt>
                <c:pt idx="17">
                  <c:v>04/27</c:v>
                </c:pt>
                <c:pt idx="18">
                  <c:v>05/04</c:v>
                </c:pt>
                <c:pt idx="19">
                  <c:v>05/11</c:v>
                </c:pt>
                <c:pt idx="20">
                  <c:v>05/18</c:v>
                </c:pt>
                <c:pt idx="21">
                  <c:v>05/25</c:v>
                </c:pt>
                <c:pt idx="22">
                  <c:v>06/01</c:v>
                </c:pt>
                <c:pt idx="23">
                  <c:v>06/08</c:v>
                </c:pt>
                <c:pt idx="24">
                  <c:v>06/15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B4F-47DF-96E3-C4C373BE84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8ED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0303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 Pelvic 541</c:v>
                </c:pt>
              </c:strCache>
            </c:strRef>
          </c:tx>
          <c:spPr>
            <a:ln w="25400">
              <a:solidFill>
                <a:srgbClr val="12345B"/>
              </a:solidFill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12/29</c:v>
                </c:pt>
                <c:pt idx="1">
                  <c:v>01/05</c:v>
                </c:pt>
                <c:pt idx="2">
                  <c:v>01/12</c:v>
                </c:pt>
                <c:pt idx="3">
                  <c:v>01/19</c:v>
                </c:pt>
                <c:pt idx="4">
                  <c:v>01/26</c:v>
                </c:pt>
                <c:pt idx="5">
                  <c:v>02/02</c:v>
                </c:pt>
                <c:pt idx="6">
                  <c:v>02/09</c:v>
                </c:pt>
                <c:pt idx="7">
                  <c:v>02/16</c:v>
                </c:pt>
                <c:pt idx="8">
                  <c:v>02/23</c:v>
                </c:pt>
                <c:pt idx="9">
                  <c:v>03/02</c:v>
                </c:pt>
                <c:pt idx="10">
                  <c:v>03/09</c:v>
                </c:pt>
                <c:pt idx="11">
                  <c:v>03/16</c:v>
                </c:pt>
                <c:pt idx="12">
                  <c:v>03/23</c:v>
                </c:pt>
                <c:pt idx="13">
                  <c:v>03/30</c:v>
                </c:pt>
                <c:pt idx="14">
                  <c:v>04/06</c:v>
                </c:pt>
                <c:pt idx="15">
                  <c:v>04/13</c:v>
                </c:pt>
                <c:pt idx="16">
                  <c:v>04/20</c:v>
                </c:pt>
                <c:pt idx="17">
                  <c:v>04/27</c:v>
                </c:pt>
                <c:pt idx="18">
                  <c:v>05/04</c:v>
                </c:pt>
                <c:pt idx="19">
                  <c:v>05/11</c:v>
                </c:pt>
                <c:pt idx="20">
                  <c:v>05/18</c:v>
                </c:pt>
                <c:pt idx="21">
                  <c:v>05/25</c:v>
                </c:pt>
                <c:pt idx="22">
                  <c:v>06/01</c:v>
                </c:pt>
                <c:pt idx="23">
                  <c:v>06/08</c:v>
                </c:pt>
                <c:pt idx="24">
                  <c:v>06/15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102.9</c:v>
                </c:pt>
                <c:pt idx="1">
                  <c:v>38.2</c:v>
                </c:pt>
                <c:pt idx="2">
                  <c:v>92.9</c:v>
                </c:pt>
                <c:pt idx="3">
                  <c:v>71.2</c:v>
                </c:pt>
                <c:pt idx="4">
                  <c:v>91.8</c:v>
                </c:pt>
                <c:pt idx="5">
                  <c:v>61.2</c:v>
                </c:pt>
                <c:pt idx="6">
                  <c:v>55.9</c:v>
                </c:pt>
                <c:pt idx="7">
                  <c:v>101.8</c:v>
                </c:pt>
                <c:pt idx="8">
                  <c:v>141.2</c:v>
                </c:pt>
                <c:pt idx="9">
                  <c:v>114.7</c:v>
                </c:pt>
                <c:pt idx="10">
                  <c:v>147.6</c:v>
                </c:pt>
                <c:pt idx="11">
                  <c:v>189.4</c:v>
                </c:pt>
                <c:pt idx="12">
                  <c:v>87.6</c:v>
                </c:pt>
                <c:pt idx="13">
                  <c:v>93.5</c:v>
                </c:pt>
                <c:pt idx="14">
                  <c:v>128.8</c:v>
                </c:pt>
                <c:pt idx="15">
                  <c:v>190.0</c:v>
                </c:pt>
                <c:pt idx="16">
                  <c:v>141.2</c:v>
                </c:pt>
                <c:pt idx="17">
                  <c:v>110.6</c:v>
                </c:pt>
                <c:pt idx="18">
                  <c:v>108.2</c:v>
                </c:pt>
                <c:pt idx="19">
                  <c:v>95.9</c:v>
                </c:pt>
                <c:pt idx="20">
                  <c:v>118.8</c:v>
                </c:pt>
                <c:pt idx="21">
                  <c:v>112.4</c:v>
                </c:pt>
                <c:pt idx="22">
                  <c:v>83.5</c:v>
                </c:pt>
                <c:pt idx="23">
                  <c:v>61.8</c:v>
                </c:pt>
                <c:pt idx="24">
                  <c:v>64.7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Ask (100%)</c:v>
                </c:pt>
              </c:strCache>
            </c:strRef>
          </c:tx>
          <c:spPr>
            <a:ln w="15875">
              <a:solidFill>
                <a:srgbClr val="9AA7B4"/>
              </a:solidFill>
              <a:prstDash val="dash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12/29</c:v>
                </c:pt>
                <c:pt idx="1">
                  <c:v>01/05</c:v>
                </c:pt>
                <c:pt idx="2">
                  <c:v>01/12</c:v>
                </c:pt>
                <c:pt idx="3">
                  <c:v>01/19</c:v>
                </c:pt>
                <c:pt idx="4">
                  <c:v>01/26</c:v>
                </c:pt>
                <c:pt idx="5">
                  <c:v>02/02</c:v>
                </c:pt>
                <c:pt idx="6">
                  <c:v>02/09</c:v>
                </c:pt>
                <c:pt idx="7">
                  <c:v>02/16</c:v>
                </c:pt>
                <c:pt idx="8">
                  <c:v>02/23</c:v>
                </c:pt>
                <c:pt idx="9">
                  <c:v>03/02</c:v>
                </c:pt>
                <c:pt idx="10">
                  <c:v>03/09</c:v>
                </c:pt>
                <c:pt idx="11">
                  <c:v>03/16</c:v>
                </c:pt>
                <c:pt idx="12">
                  <c:v>03/23</c:v>
                </c:pt>
                <c:pt idx="13">
                  <c:v>03/30</c:v>
                </c:pt>
                <c:pt idx="14">
                  <c:v>04/06</c:v>
                </c:pt>
                <c:pt idx="15">
                  <c:v>04/13</c:v>
                </c:pt>
                <c:pt idx="16">
                  <c:v>04/20</c:v>
                </c:pt>
                <c:pt idx="17">
                  <c:v>04/27</c:v>
                </c:pt>
                <c:pt idx="18">
                  <c:v>05/04</c:v>
                </c:pt>
                <c:pt idx="19">
                  <c:v>05/11</c:v>
                </c:pt>
                <c:pt idx="20">
                  <c:v>05/18</c:v>
                </c:pt>
                <c:pt idx="21">
                  <c:v>05/25</c:v>
                </c:pt>
                <c:pt idx="22">
                  <c:v>06/01</c:v>
                </c:pt>
                <c:pt idx="23">
                  <c:v>06/08</c:v>
                </c:pt>
                <c:pt idx="24">
                  <c:v>06/15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700"/>
      </a:pPr>
      <a:endParaRPr lang="en-US"/>
    </a:p>
  </c:txPr>
  <c:externalData r:id="rId1">
    <c:autoUpdate val="0"/>
  </c:externalData>
  <c:dispBlanksAs val="gap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Pelvic Block 506</c:v>
                </c:pt>
              </c:strCache>
            </c:strRef>
          </c:tx>
          <c:spPr>
            <a:ln w="25400">
              <a:solidFill>
                <a:srgbClr val="12345B"/>
              </a:solidFill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12/29</c:v>
                </c:pt>
                <c:pt idx="1">
                  <c:v>01/05</c:v>
                </c:pt>
                <c:pt idx="2">
                  <c:v>01/12</c:v>
                </c:pt>
                <c:pt idx="3">
                  <c:v>01/19</c:v>
                </c:pt>
                <c:pt idx="4">
                  <c:v>01/26</c:v>
                </c:pt>
                <c:pt idx="5">
                  <c:v>02/02</c:v>
                </c:pt>
                <c:pt idx="6">
                  <c:v>02/09</c:v>
                </c:pt>
                <c:pt idx="7">
                  <c:v>02/16</c:v>
                </c:pt>
                <c:pt idx="8">
                  <c:v>02/23</c:v>
                </c:pt>
                <c:pt idx="9">
                  <c:v>03/02</c:v>
                </c:pt>
                <c:pt idx="10">
                  <c:v>03/09</c:v>
                </c:pt>
                <c:pt idx="11">
                  <c:v>03/16</c:v>
                </c:pt>
                <c:pt idx="12">
                  <c:v>03/23</c:v>
                </c:pt>
                <c:pt idx="13">
                  <c:v>03/30</c:v>
                </c:pt>
                <c:pt idx="14">
                  <c:v>04/06</c:v>
                </c:pt>
                <c:pt idx="15">
                  <c:v>04/13</c:v>
                </c:pt>
                <c:pt idx="16">
                  <c:v>04/20</c:v>
                </c:pt>
                <c:pt idx="17">
                  <c:v>04/27</c:v>
                </c:pt>
                <c:pt idx="18">
                  <c:v>05/04</c:v>
                </c:pt>
                <c:pt idx="19">
                  <c:v>05/11</c:v>
                </c:pt>
                <c:pt idx="20">
                  <c:v>05/18</c:v>
                </c:pt>
                <c:pt idx="21">
                  <c:v>05/25</c:v>
                </c:pt>
                <c:pt idx="22">
                  <c:v>06/01</c:v>
                </c:pt>
                <c:pt idx="23">
                  <c:v>06/08</c:v>
                </c:pt>
                <c:pt idx="24">
                  <c:v>06/15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1">
                  <c:v>333.3</c:v>
                </c:pt>
                <c:pt idx="2">
                  <c:v>13.3</c:v>
                </c:pt>
                <c:pt idx="3">
                  <c:v>45.0</c:v>
                </c:pt>
                <c:pt idx="4">
                  <c:v>33.3</c:v>
                </c:pt>
                <c:pt idx="5">
                  <c:v>233.3</c:v>
                </c:pt>
                <c:pt idx="6">
                  <c:v>38.3</c:v>
                </c:pt>
                <c:pt idx="7">
                  <c:v>70.0</c:v>
                </c:pt>
                <c:pt idx="8">
                  <c:v>78.3</c:v>
                </c:pt>
                <c:pt idx="9">
                  <c:v>255.0</c:v>
                </c:pt>
                <c:pt idx="10">
                  <c:v>40.0</c:v>
                </c:pt>
                <c:pt idx="11">
                  <c:v>88.3</c:v>
                </c:pt>
                <c:pt idx="12">
                  <c:v>23.3</c:v>
                </c:pt>
                <c:pt idx="13">
                  <c:v>8.3</c:v>
                </c:pt>
                <c:pt idx="14">
                  <c:v>41.7</c:v>
                </c:pt>
                <c:pt idx="15">
                  <c:v>100.0</c:v>
                </c:pt>
                <c:pt idx="16">
                  <c:v>256.7</c:v>
                </c:pt>
                <c:pt idx="17">
                  <c:v>205.0</c:v>
                </c:pt>
                <c:pt idx="18">
                  <c:v>198.3</c:v>
                </c:pt>
                <c:pt idx="19">
                  <c:v>248.3</c:v>
                </c:pt>
                <c:pt idx="20">
                  <c:v>338.3</c:v>
                </c:pt>
                <c:pt idx="22">
                  <c:v>211.7</c:v>
                </c:pt>
                <c:pt idx="23">
                  <c:v>28.3</c:v>
                </c:pt>
                <c:pt idx="24">
                  <c:v>220.0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Ask (100%)</c:v>
                </c:pt>
              </c:strCache>
            </c:strRef>
          </c:tx>
          <c:spPr>
            <a:ln w="15875">
              <a:solidFill>
                <a:srgbClr val="9AA7B4"/>
              </a:solidFill>
              <a:prstDash val="dash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12/29</c:v>
                </c:pt>
                <c:pt idx="1">
                  <c:v>01/05</c:v>
                </c:pt>
                <c:pt idx="2">
                  <c:v>01/12</c:v>
                </c:pt>
                <c:pt idx="3">
                  <c:v>01/19</c:v>
                </c:pt>
                <c:pt idx="4">
                  <c:v>01/26</c:v>
                </c:pt>
                <c:pt idx="5">
                  <c:v>02/02</c:v>
                </c:pt>
                <c:pt idx="6">
                  <c:v>02/09</c:v>
                </c:pt>
                <c:pt idx="7">
                  <c:v>02/16</c:v>
                </c:pt>
                <c:pt idx="8">
                  <c:v>02/23</c:v>
                </c:pt>
                <c:pt idx="9">
                  <c:v>03/02</c:v>
                </c:pt>
                <c:pt idx="10">
                  <c:v>03/09</c:v>
                </c:pt>
                <c:pt idx="11">
                  <c:v>03/16</c:v>
                </c:pt>
                <c:pt idx="12">
                  <c:v>03/23</c:v>
                </c:pt>
                <c:pt idx="13">
                  <c:v>03/30</c:v>
                </c:pt>
                <c:pt idx="14">
                  <c:v>04/06</c:v>
                </c:pt>
                <c:pt idx="15">
                  <c:v>04/13</c:v>
                </c:pt>
                <c:pt idx="16">
                  <c:v>04/20</c:v>
                </c:pt>
                <c:pt idx="17">
                  <c:v>04/27</c:v>
                </c:pt>
                <c:pt idx="18">
                  <c:v>05/04</c:v>
                </c:pt>
                <c:pt idx="19">
                  <c:v>05/11</c:v>
                </c:pt>
                <c:pt idx="20">
                  <c:v>05/18</c:v>
                </c:pt>
                <c:pt idx="21">
                  <c:v>05/25</c:v>
                </c:pt>
                <c:pt idx="22">
                  <c:v>06/01</c:v>
                </c:pt>
                <c:pt idx="23">
                  <c:v>06/08</c:v>
                </c:pt>
                <c:pt idx="24">
                  <c:v>06/15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700"/>
      </a:pPr>
      <a:endParaRPr lang="en-US"/>
    </a:p>
  </c:txPr>
  <c:externalData r:id="rId1">
    <c:autoUpdate val="0"/>
  </c:externalData>
  <c:dispBlanksAs val="gap"/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67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Single-slide answer to the goal: do we risk not meeting 125% of 2027 demand, by part-supplier?
Headline: only Martins is at risk. Headroom 1.01x, labor-bound (labor 99% utilized). Cannot absorb 125%; barely clears 100%.
Root cause: pelvic-block harvest yield is low -&gt; heavy rework -&gt; consumes Martins labor.
Per-site headroom (x of 2027 demand before first constraint binds):
  Martins 1.01x (Labor) | Customs 1.27x (Pigs) | Nahunta 1.38x (Pigs) | Parks 2.00x (Pigs).
Customs only clears by ~2 points and is kill-bound; new freezer capacity removed freezer as the limiter.
Spare capacity at the other sites is labor &amp; freezer, NOT pigs (small kill lines), so move labor-/freezer-heavy tissues there, not pig-heavy ones.
CAVEAT to confirm before presenting: the model header cell (A1) reads 'Q4'26 BP'. Confirm the displayed quantities are the busiest-quarter 2027 scenario, not Q4 2026, or relabel.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— per-tissue constraint map (2027 capacity). Martins LABOR-bound (99%, pelvic family + bariatric). Customs/Nahunta KILL-bound (79/73%). Parks KILL-bound on Female Pelvic (50%, 2.0x), pelvic quality on observation -&gt; potential relief for Martins.
RIGHT — pelvic attainment vs ask, biweekly 2026 YTD (harvested/ask). Female Pelvic ran &gt;=100% through Feb, then slid steadily to ~50% by June -&gt; the worsening, high-volume problem. Pelvic Block was erratic early (batch timing) and recovered to ~100% in Q2. Ask line = 100%. Male Pelvic excluded (wound down: Q2 demand cut to 200, attainment ~1%).
Takeaway: the pelvic shortfall is now concentrated in Female Pelvic and getting worse, exactly where 2027 demand grows fastest.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Tissue Supplier Capacity vs. 2027 Demand — Can We Cover 125%?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at the busiest quarter of 2027.  </a:t>
            </a:r>
            <a:r>
              <a:rPr lang="en-US" sz="1250" b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</a:t>
            </a:r>
            <a:r>
              <a:rPr lang="en-US" sz="1250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demand multiple a site can absorb before its first constraint binds (target ≥ 1.25× = 125%).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89463" y="1133856"/>
            <a:ext cx="11274552" cy="676656"/>
          </a:xfrm>
          <a:prstGeom prst="roundRect">
            <a:avLst>
              <a:gd name="adj" fmla="val 10811"/>
            </a:avLst>
          </a:prstGeom>
          <a:solidFill>
            <a:srgbClr val="FBEEEC"/>
          </a:solidFill>
          <a:ln w="12700">
            <a:solidFill>
              <a:srgbClr val="F1CFC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51688" y="1472183"/>
            <a:ext cx="182880" cy="182880"/>
          </a:xfrm>
          <a:prstGeom prst="ellipse">
            <a:avLst/>
          </a:prstGeom>
          <a:solidFill>
            <a:srgbClr val="BE3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134287"/>
            <a:ext cx="1056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but the risk is isolated to </a:t>
            </a:r>
            <a:r>
              <a:rPr lang="en-US" sz="1450" b="1" dirty="0">
                <a:solidFill>
                  <a:srgbClr val="B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Martins</a:t>
            </a:r>
            <a:r>
              <a:rPr lang="en-US" sz="14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It sits at </a:t>
            </a:r>
            <a:r>
              <a:rPr lang="en-US" sz="1450" b="1" dirty="0">
                <a:solidFill>
                  <a:srgbClr val="B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1.14× headroom (labor/freezer-bound after the reallocation)</a:t>
            </a:r>
            <a:r>
              <a:rPr lang="en-US" sz="14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it cannot cover 125% of 2027 demand. Every other site clears 125%.</a:t>
            </a:r>
            <a:r>
              <a:rPr sz="1100" b="1" i="1" dirty="0">
                <a:solidFill>
                  <a:srgbClr val="12345B"/>
                </a:solidFill>
                <a:latin typeface="Calibri"/>
              </a:rPr>
              <a:t>   ▸ The labor reallocation lifted Martins to 1.14× — now freezer-/labor-bound. Pelvic-yield gains free pigs &amp; labor but don't move freezer, so Martins stays ~1.14× until freezer is addressed too — see slide 3.</a:t>
            </a:r>
            <a:r>
              <a:rPr sz="1100" b="1" i="1" dirty="0" err="1">
                <a:solidFill>
                  <a:srgbClr val="12345B"/>
                </a:solidFill>
                <a:latin typeface="Calibri"/>
              </a:rPr>
              <a:t/>
            </a:r>
            <a:r>
              <a:rPr sz="1100" b="1" i="1" dirty="0">
                <a:solidFill>
                  <a:srgbClr val="12345B"/>
                </a:solidFill>
                <a:latin typeface="Calibri"/>
              </a:rPr>
              <a:t/>
            </a:r>
            <a:r>
              <a:rPr sz="1100" b="1" i="1" dirty="0" err="1">
                <a:solidFill>
                  <a:srgbClr val="12345B"/>
                </a:solidFill>
                <a:latin typeface="Calibri"/>
              </a:rPr>
              <a:t/>
            </a:r>
            <a:r>
              <a:rPr sz="1100" b="1" i="1" dirty="0">
                <a:solidFill>
                  <a:srgbClr val="12345B"/>
                </a:solidFill>
                <a:latin typeface="Calibri"/>
              </a:rPr>
              <a:t/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114032" y="2286000"/>
            <a:ext cx="0" cy="4041648"/>
          </a:xfrm>
          <a:prstGeom prst="line">
            <a:avLst/>
          </a:prstGeom>
          <a:noFill/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1104" y="20984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3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BY SUPPLIER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993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27632" y="22993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59152" y="22993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90672" y="22993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68496" y="22993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(×)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07024" y="2299396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125%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65156"/>
            <a:ext cx="6537960" cy="0"/>
          </a:xfrm>
          <a:prstGeom prst="line">
            <a:avLst/>
          </a:prstGeom>
          <a:noFill/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7840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30583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Labor/Freezer · Pelvic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82496" y="287546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F6DD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27632" y="28571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414016" y="287546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EFC4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359152" y="28571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145536" y="287546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F6DD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090672" y="28571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968496" y="2962336"/>
            <a:ext cx="1188720" cy="155448"/>
          </a:xfrm>
          <a:prstGeom prst="roundRect">
            <a:avLst>
              <a:gd name="adj" fmla="val 17647"/>
            </a:avLst>
          </a:prstGeom>
          <a:solidFill>
            <a:srgbClr val="EC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68496" y="2962336"/>
            <a:ext cx="571718" cy="155448"/>
          </a:xfrm>
          <a:prstGeom prst="roundRect">
            <a:avLst>
              <a:gd name="adj" fmla="val 17647"/>
            </a:avLst>
          </a:prstGeom>
          <a:solidFill>
            <a:srgbClr val="BE3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30368" y="285718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1.14×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07024" y="2893756"/>
            <a:ext cx="1088136" cy="292608"/>
          </a:xfrm>
          <a:prstGeom prst="roundRect">
            <a:avLst>
              <a:gd name="adj" fmla="val 50000"/>
            </a:avLst>
          </a:prstGeom>
          <a:solidFill>
            <a:srgbClr val="F8DA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07024" y="288461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125%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360100"/>
            <a:ext cx="6537960" cy="0"/>
          </a:xfrm>
          <a:prstGeom prst="line">
            <a:avLst/>
          </a:prstGeom>
          <a:noFill/>
          <a:ln w="9525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4241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57200" y="36984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cap · 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682496" y="351554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F6DD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627632" y="34972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414016" y="351554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DD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359152" y="34972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145536" y="351554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DD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090672" y="34972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968496" y="3602416"/>
            <a:ext cx="1188720" cy="155448"/>
          </a:xfrm>
          <a:prstGeom prst="roundRect">
            <a:avLst>
              <a:gd name="adj" fmla="val 17647"/>
            </a:avLst>
          </a:prstGeom>
          <a:solidFill>
            <a:srgbClr val="EC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968496" y="3602416"/>
            <a:ext cx="718893" cy="155448"/>
          </a:xfrm>
          <a:prstGeom prst="roundRect">
            <a:avLst>
              <a:gd name="adj" fmla="val 17647"/>
            </a:avLst>
          </a:prstGeom>
          <a:solidFill>
            <a:srgbClr val="B074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230368" y="349726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07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1.27×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907024" y="3533836"/>
            <a:ext cx="1088136" cy="292608"/>
          </a:xfrm>
          <a:prstGeom prst="roundRect">
            <a:avLst>
              <a:gd name="adj" fmla="val 50000"/>
            </a:avLst>
          </a:prstGeom>
          <a:solidFill>
            <a:srgbClr val="F6E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07024" y="352469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07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clears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000180"/>
            <a:ext cx="6537960" cy="0"/>
          </a:xfrm>
          <a:prstGeom prst="line">
            <a:avLst/>
          </a:prstGeom>
          <a:noFill/>
          <a:ln w="9525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40641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Nahunta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457200" y="43385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cap · Thor/bari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682496" y="415562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F6DD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627632" y="41373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2414016" y="415562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DD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359152" y="41373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3145536" y="415562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DD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090672" y="41373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3968496" y="4242496"/>
            <a:ext cx="1188720" cy="155448"/>
          </a:xfrm>
          <a:prstGeom prst="roundRect">
            <a:avLst>
              <a:gd name="adj" fmla="val 17647"/>
            </a:avLst>
          </a:prstGeom>
          <a:solidFill>
            <a:srgbClr val="EC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968496" y="4242496"/>
            <a:ext cx="781159" cy="155448"/>
          </a:xfrm>
          <a:prstGeom prst="roundRect">
            <a:avLst>
              <a:gd name="adj" fmla="val 17647"/>
            </a:avLst>
          </a:prstGeom>
          <a:solidFill>
            <a:srgbClr val="2E7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230368" y="413734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1.38×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5907024" y="4173916"/>
            <a:ext cx="1088136" cy="292608"/>
          </a:xfrm>
          <a:prstGeom prst="roundRect">
            <a:avLst>
              <a:gd name="adj" fmla="val 50000"/>
            </a:avLst>
          </a:prstGeom>
          <a:solidFill>
            <a:srgbClr val="DC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907024" y="416477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4640260"/>
            <a:ext cx="6537960" cy="0"/>
          </a:xfrm>
          <a:prstGeom prst="line">
            <a:avLst/>
          </a:prstGeom>
          <a:noFill/>
          <a:ln w="9525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57200" y="47042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Parks</a:t>
            </a:r>
            <a:endParaRPr lang="en-US" sz="1450" dirty="0"/>
          </a:p>
        </p:txBody>
      </p:sp>
      <p:sp>
        <p:nvSpPr>
          <p:cNvPr id="59" name="Text 57"/>
          <p:cNvSpPr/>
          <p:nvPr/>
        </p:nvSpPr>
        <p:spPr>
          <a:xfrm>
            <a:off x="457200" y="49785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cap · Pelvic (low yield)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682496" y="479570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FBEF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627632" y="47774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2414016" y="479570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DD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359152" y="47774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3145536" y="479570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DD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090672" y="47774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3968496" y="4882576"/>
            <a:ext cx="1188720" cy="155448"/>
          </a:xfrm>
          <a:prstGeom prst="roundRect">
            <a:avLst>
              <a:gd name="adj" fmla="val 17647"/>
            </a:avLst>
          </a:prstGeom>
          <a:solidFill>
            <a:srgbClr val="EC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3968496" y="4882576"/>
            <a:ext cx="1132114" cy="155448"/>
          </a:xfrm>
          <a:prstGeom prst="roundRect">
            <a:avLst>
              <a:gd name="adj" fmla="val 17647"/>
            </a:avLst>
          </a:prstGeom>
          <a:solidFill>
            <a:srgbClr val="2E7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230368" y="477742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2.00×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5907024" y="4813996"/>
            <a:ext cx="1088136" cy="292608"/>
          </a:xfrm>
          <a:prstGeom prst="roundRect">
            <a:avLst>
              <a:gd name="adj" fmla="val 50000"/>
            </a:avLst>
          </a:prstGeom>
          <a:solidFill>
            <a:srgbClr val="DC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907024" y="480485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676067" y="2816032"/>
            <a:ext cx="0" cy="2368296"/>
          </a:xfrm>
          <a:prstGeom prst="line">
            <a:avLst/>
          </a:prstGeom>
          <a:noFill/>
          <a:ln w="15875">
            <a:solidFill>
              <a:srgbClr val="12345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264587" y="25782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125%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57200" y="598017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= % of capacity used (red = near limit).  Bar = headroom; dashed line = 125% target.  Caption under each site = binding constraint · driver tissue.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7333488" y="2249424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3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SEEING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333488" y="2542032"/>
            <a:ext cx="44074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Martins eased to ~88% on labor after the reallocation, but freezer is now equally tight at ~88% — so headroom is ~1.14×, still short of 125%. 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is the pelvic block: low harvest yield, and the rework that follows eats Martins' labor.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site clears 125%, but their limit is kill (pig) capacity — not labor or freezer, which sit wide open at Nahunta and Customs.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7333488" y="4334256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3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(MILESTONES)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333488" y="4626864"/>
            <a:ext cx="292608" cy="292608"/>
          </a:xfrm>
          <a:prstGeom prst="ellipse">
            <a:avLst/>
          </a:prstGeom>
          <a:solidFill>
            <a:srgbClr val="123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333488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9" name="Text 77"/>
          <p:cNvSpPr/>
          <p:nvPr/>
        </p:nvSpPr>
        <p:spPr>
          <a:xfrm>
            <a:off x="7754112" y="4572000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Martins pelvic-block yield study — pull bad pelvics and root-cause the harvest loss: Started, on route to complete 30 samples a week for 4 weeks. </a:t>
            </a:r>
            <a:endParaRPr lang="en-US" sz="1150" dirty="0">
              <a:highlight>
                <a:srgbClr val="FFFF00"/>
              </a:highlight>
            </a:endParaRPr>
          </a:p>
        </p:txBody>
      </p:sp>
      <p:sp>
        <p:nvSpPr>
          <p:cNvPr id="80" name="Shape 78"/>
          <p:cNvSpPr/>
          <p:nvPr/>
        </p:nvSpPr>
        <p:spPr>
          <a:xfrm>
            <a:off x="7333488" y="5193792"/>
            <a:ext cx="292608" cy="292608"/>
          </a:xfrm>
          <a:prstGeom prst="ellipse">
            <a:avLst/>
          </a:prstGeom>
          <a:solidFill>
            <a:srgbClr val="123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7333488" y="5184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82" name="Text 80"/>
          <p:cNvSpPr/>
          <p:nvPr/>
        </p:nvSpPr>
        <p:spPr>
          <a:xfrm>
            <a:off x="7754112" y="5138928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Parks as a 2nd pelvic source: Already working on root causing harvesting yield specs fails.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7333488" y="5760720"/>
            <a:ext cx="292608" cy="292608"/>
          </a:xfrm>
          <a:prstGeom prst="ellipse">
            <a:avLst/>
          </a:prstGeom>
          <a:solidFill>
            <a:srgbClr val="123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333488" y="5751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85" name="Text 83"/>
          <p:cNvSpPr/>
          <p:nvPr/>
        </p:nvSpPr>
        <p:spPr>
          <a:xfrm>
            <a:off x="7754112" y="5705856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Re-balance labor-/freezer-heavy tissues off Martins → Customs (new freezer) and Nahunta (open labor).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457200" y="6437376"/>
            <a:ext cx="11274552" cy="0"/>
          </a:xfrm>
          <a:prstGeom prst="line">
            <a:avLst/>
          </a:prstGeom>
          <a:noFill/>
          <a:ln w="9525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Part_Supplier_RiskAssessmentTool_v2.xlsx · Tissue_Model.  Headroom = 1 ÷ highest constraint utilization at busiest-quarter 2027 demand.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9144000" y="649224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Tissue Models</a:t>
            </a:r>
            <a:endParaRPr lang="en-US" sz="900" dirty="0"/>
          </a:p>
        </p:txBody>
      </p:sp>
      <p:sp>
        <p:nvSpPr>
          <p:cNvPr id="91" name="Text 14">
            <a:extLst>
              <a:ext uri="{FF2B5EF4-FFF2-40B4-BE49-F238E27FC236}">
                <a16:creationId xmlns:a16="http://schemas.microsoft.com/office/drawing/2014/main" id="{DC8B9534-47A6-83C2-DF21-AAAC614A8A44}"/>
              </a:ext>
            </a:extLst>
          </p:cNvPr>
          <p:cNvSpPr/>
          <p:nvPr/>
        </p:nvSpPr>
        <p:spPr>
          <a:xfrm>
            <a:off x="457200" y="5327945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Slaughter House</a:t>
            </a:r>
            <a:endParaRPr lang="en-US" sz="1200" dirty="0"/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B76DF47B-EA5E-98C1-7AD7-9C1EDFC141B1}"/>
              </a:ext>
            </a:extLst>
          </p:cNvPr>
          <p:cNvSpPr/>
          <p:nvPr/>
        </p:nvSpPr>
        <p:spPr>
          <a:xfrm>
            <a:off x="457200" y="5532327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type – Tissue family</a:t>
            </a:r>
            <a:endParaRPr lang="en-US" sz="950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6D79C75-517A-0410-D7DB-DE0EF0FE9E02}"/>
              </a:ext>
            </a:extLst>
          </p:cNvPr>
          <p:cNvSpPr/>
          <p:nvPr/>
        </p:nvSpPr>
        <p:spPr>
          <a:xfrm>
            <a:off x="322786" y="5363162"/>
            <a:ext cx="1407831" cy="36576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Tissue Is Constrained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constraint per site and the tissues driving it — busiest quarter of 2027.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3167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Martins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13441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8DA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0" y="1339596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LABOR/FREEZER · 88% · 1.14×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167335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Pelvic Block (666541),  Pelvic Block (666506),  Bariatric Block (666502),  Aorta Segments (666501)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2331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86000" y="235915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6E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0" y="2354580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7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CAP  ·  79%  ·  1.27×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8368" y="268833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Bariatric Block (666502),  Aorta Segments (666501),  Vena Cava (666523),  Omentum (666516),  Pancreas (666517)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33467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Nahunta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286000" y="33741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6E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0" y="3369564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7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CAP  ·  73%  ·  1.38×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8368" y="37033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Aorta Segments (666501),  Thoracic Block (666521),  Pancreas (666517),  Omentum (666516),  Full Thor &amp; Bari Block (666507)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270248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43616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286000" y="438912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DC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86000" y="4384548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CAP  ·  50%  ·  2.00×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8368" y="4718304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Pelvic Block (666541)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8368" y="493776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07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observation — </a:t>
            </a:r>
            <a:r>
              <a:rPr lang="en-US" sz="900" i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pelvic quality; potential capacity once resolved.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5413248"/>
            <a:ext cx="11274552" cy="0"/>
          </a:xfrm>
          <a:prstGeom prst="line">
            <a:avLst/>
          </a:prstGeom>
          <a:noFill/>
          <a:ln w="9525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57200" y="5477256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each site is independent; labor &amp; freezer are shared per site, kill capacity is set by tissues that can't come from one pig.  Right: two charts — each tissue's weekly harvested ÷ its ask (Female Pelvic 541 ÷ 170, Pelvic Block 506 ÷ 60); dashed line = 100% (ask); 506 no-harvest weeks shown as gaps.  Codes are Intuitive part numbers.</a:t>
            </a:r>
            <a:endParaRPr lang="en-US" sz="8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7D2B7E-C16B-22F9-D6E8-0AEDF44B6CC5}"/>
              </a:ext>
            </a:extLst>
          </p:cNvPr>
          <p:cNvSpPr txBox="1"/>
          <p:nvPr/>
        </p:nvSpPr>
        <p:spPr>
          <a:xfrm>
            <a:off x="3268980" y="6071616"/>
            <a:ext cx="8181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✓ 250 denominator applied</a:t>
            </a:r>
          </a:p>
          <a:p>
            <a:r>
              <a:rPr lang="en-US" dirty="0"/>
              <a:t>Why is the attainment dropping? Possible culprits: Seasonality, harvesting yield, labor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1225296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2345B"/>
                </a:solidFill>
                <a:latin typeface="Calibri"/>
              </a:rPr>
              <a:t>Female Pelvic (541)  ·  vs 170/wk ask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6199632" y="1572768"/>
          <a:ext cx="2697480" cy="32918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9006840" y="1225296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2345B"/>
                </a:solidFill>
                <a:latin typeface="Calibri"/>
              </a:rPr>
              <a:t>Pelvic Block (506)  ·  vs 60/wk ask</a:t>
            </a:r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9006840" y="1572768"/>
          <a:ext cx="2697480" cy="3291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45B"/>
                </a:solidFill>
                <a:latin typeface="Cambria"/>
              </a:rPr>
              <a:t>Reference — Pelvic Harvest-Yield Sensitivity (Martins)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03D"/>
                </a:solidFill>
                <a:latin typeface="Calibri"/>
              </a:rPr>
              <a:t>Backup for the slide-1 finding. </a:t>
            </a:r>
            <a:r>
              <a:rPr sz="1100" b="0">
                <a:solidFill>
                  <a:srgbClr val="20303D"/>
                </a:solidFill>
                <a:latin typeface="Calibri"/>
              </a:rPr>
              <a:t>Capacity returned at Martins if the pelvic-block study lifts harvesting yield above today's 25%. Follows the Tissue_Model: </a:t>
            </a:r>
            <a:r>
              <a:rPr sz="1100" b="0">
                <a:solidFill>
                  <a:srgbClr val="5A6A7A"/>
                </a:solidFill>
                <a:latin typeface="Calibri"/>
              </a:rPr>
              <a:t>Pigs Consumed = Net Harvest ÷ Harvest Yield;  Planned Labor carries the rework on every wasted pig.  Gains shown as percentage points above the 25% base.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1828800"/>
          <a:ext cx="9811512" cy="2606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0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Yield gain</a:t>
                      </a:r>
                    </a:p>
                  </a:txBody>
                  <a:tcPr marL="54864" marR="54864" marT="27432" marB="27432" anchor="ctr">
                    <a:solidFill>
                      <a:srgbClr val="1234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Harvest yield</a:t>
                      </a:r>
                    </a:p>
                  </a:txBody>
                  <a:tcPr marL="54864" marR="54864" marT="27432" marB="27432" anchor="ctr">
                    <a:solidFill>
                      <a:srgbClr val="1234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Pigs freed / wk</a:t>
                      </a:r>
                    </a:p>
                  </a:txBody>
                  <a:tcPr marL="54864" marR="54864" marT="27432" marB="27432" anchor="ctr">
                    <a:solidFill>
                      <a:srgbClr val="1234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Labor freed / wk</a:t>
                      </a:r>
                    </a:p>
                  </a:txBody>
                  <a:tcPr marL="54864" marR="54864" marT="27432" marB="27432" anchor="ctr">
                    <a:solidFill>
                      <a:srgbClr val="1234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Labor headroom</a:t>
                      </a:r>
                    </a:p>
                  </a:txBody>
                  <a:tcPr marL="54864" marR="54864" marT="27432" marB="27432" anchor="ctr">
                    <a:solidFill>
                      <a:srgbClr val="1234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Pig headroom</a:t>
                      </a:r>
                    </a:p>
                  </a:txBody>
                  <a:tcPr marL="54864" marR="54864" marT="27432" marB="27432" anchor="ctr">
                    <a:solidFill>
                      <a:srgbClr val="1234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2345B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 marL="54864" marR="54864" marT="27432" marB="27432" anchor="ctr">
                    <a:solidFill>
                      <a:srgbClr val="E3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03D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54864" marR="54864" marT="27432" marB="27432" anchor="ctr">
                    <a:solidFill>
                      <a:srgbClr val="E3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03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3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03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3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B0392B"/>
                          </a:solidFill>
                          <a:latin typeface="Calibri"/>
                        </a:rPr>
                        <a:t>1.14×</a:t>
                      </a:r>
                    </a:p>
                  </a:txBody>
                  <a:tcPr marL="54864" marR="54864" marT="27432" marB="27432" anchor="ctr">
                    <a:solidFill>
                      <a:srgbClr val="E3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B0392B"/>
                          </a:solidFill>
                          <a:latin typeface="Calibri"/>
                        </a:rPr>
                        <a:t>1.23×</a:t>
                      </a:r>
                    </a:p>
                  </a:txBody>
                  <a:tcPr marL="54864" marR="54864" marT="27432" marB="27432" anchor="ctr">
                    <a:solidFill>
                      <a:srgbClr val="E3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2345B"/>
                          </a:solidFill>
                          <a:latin typeface="Calibri"/>
                        </a:rPr>
                        <a:t>+5 pts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03D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03D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03D"/>
                          </a:solidFill>
                          <a:latin typeface="Calibri"/>
                        </a:rPr>
                        <a:t>2.8 h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B0392B"/>
                          </a:solidFill>
                          <a:latin typeface="Calibri"/>
                        </a:rPr>
                        <a:t>1.24×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F3E"/>
                          </a:solidFill>
                          <a:latin typeface="Calibri"/>
                        </a:rPr>
                        <a:t>1.46×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2345B"/>
                          </a:solidFill>
                          <a:latin typeface="Calibri"/>
                        </a:rPr>
                        <a:t>+10 pts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03D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03D"/>
                          </a:solidFill>
                          <a:latin typeface="Calibri"/>
                        </a:rPr>
                        <a:t>246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03D"/>
                          </a:solidFill>
                          <a:latin typeface="Calibri"/>
                        </a:rPr>
                        <a:t>4.8 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F3E"/>
                          </a:solidFill>
                          <a:latin typeface="Calibri"/>
                        </a:rPr>
                        <a:t>1.32×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F3E"/>
                          </a:solidFill>
                          <a:latin typeface="Calibri"/>
                        </a:rPr>
                        <a:t>1.68×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2345B"/>
                          </a:solidFill>
                          <a:latin typeface="Calibri"/>
                        </a:rPr>
                        <a:t>+15 pts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03D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03D"/>
                          </a:solidFill>
                          <a:latin typeface="Calibri"/>
                        </a:rPr>
                        <a:t>324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03D"/>
                          </a:solidFill>
                          <a:latin typeface="Calibri"/>
                        </a:rPr>
                        <a:t>6.3 h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F3E"/>
                          </a:solidFill>
                          <a:latin typeface="Calibri"/>
                        </a:rPr>
                        <a:t>1.39×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F3E"/>
                          </a:solidFill>
                          <a:latin typeface="Calibri"/>
                        </a:rPr>
                        <a:t>1.90×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2345B"/>
                          </a:solidFill>
                          <a:latin typeface="Calibri"/>
                        </a:rPr>
                        <a:t>+20 pts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03D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03D"/>
                          </a:solidFill>
                          <a:latin typeface="Calibri"/>
                        </a:rPr>
                        <a:t>384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03D"/>
                          </a:solidFill>
                          <a:latin typeface="Calibri"/>
                        </a:rPr>
                        <a:t>7.5 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F3E"/>
                          </a:solidFill>
                          <a:latin typeface="Calibri"/>
                        </a:rPr>
                        <a:t>1.44×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F3E"/>
                          </a:solidFill>
                          <a:latin typeface="Calibri"/>
                        </a:rPr>
                        <a:t>2.12×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9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2345B"/>
                          </a:solidFill>
                          <a:latin typeface="Calibri"/>
                        </a:rPr>
                        <a:t>+25 pts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03D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03D"/>
                          </a:solidFill>
                          <a:latin typeface="Calibri"/>
                        </a:rPr>
                        <a:t>432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03D"/>
                          </a:solidFill>
                          <a:latin typeface="Calibri"/>
                        </a:rPr>
                        <a:t>8.4 h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F3E"/>
                          </a:solidFill>
                          <a:latin typeface="Calibri"/>
                        </a:rPr>
                        <a:t>1.49×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F3E"/>
                          </a:solidFill>
                          <a:latin typeface="Calibri"/>
                        </a:rPr>
                        <a:t>2.33×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88720" y="4617720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2345B"/>
                </a:solidFill>
                <a:latin typeface="Calibri"/>
              </a:rPr>
              <a:t>How to read:  </a:t>
            </a:r>
            <a:r>
              <a:rPr sz="1100" b="0">
                <a:solidFill>
                  <a:srgbClr val="20303D"/>
                </a:solidFill>
                <a:latin typeface="Calibri"/>
              </a:rPr>
              <a:t>after the labor reallocation Martins sits at 1.14× — now co-limited by labor and freezer (~88% each). Yield still lifts labor (clears 1.25× by ~+10 pts) and pigs, but freezer is unaffected, so Martins overall stays ~1.14× until freezer is also addressed.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A6A7A"/>
                </a:solidFill>
                <a:latin typeface="Calibri"/>
              </a:rPr>
              <a:t>Source: Part_Supplier_RiskAssessmentTool_v2.xlsx · Tissue_Model (666541 + 666506 @ Martins).  Headroom = 1 ÷ binding-constraint utilization at busiest-quarter 2027 demand.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1264</Words>
  <Application>Microsoft Office PowerPoint</Application>
  <PresentationFormat>Widescreen</PresentationFormat>
  <Paragraphs>124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Tissue Supplier Capacity vs 2027 Demand</dc:title>
  <dc:subject>PptxGenJS Presentation</dc:subject>
  <dc:creator>Oscar</dc:creator>
  <cp:lastModifiedBy>Oscar Penny</cp:lastModifiedBy>
  <cp:revision>6</cp:revision>
  <dcterms:created xsi:type="dcterms:W3CDTF">2026-06-24T15:54:04Z</dcterms:created>
  <dcterms:modified xsi:type="dcterms:W3CDTF">2026-06-29T14:25:36Z</dcterms:modified>
</cp:coreProperties>
</file>